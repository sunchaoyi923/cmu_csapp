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33"/>
  </p:notesMasterIdLst>
  <p:handoutMasterIdLst>
    <p:handoutMasterId r:id="rId34"/>
  </p:handoutMasterIdLst>
  <p:sldIdLst>
    <p:sldId id="256" r:id="rId3"/>
    <p:sldId id="575" r:id="rId4"/>
    <p:sldId id="587" r:id="rId5"/>
    <p:sldId id="576" r:id="rId6"/>
    <p:sldId id="595" r:id="rId7"/>
    <p:sldId id="588" r:id="rId8"/>
    <p:sldId id="446" r:id="rId9"/>
    <p:sldId id="292" r:id="rId10"/>
    <p:sldId id="293" r:id="rId11"/>
    <p:sldId id="294" r:id="rId12"/>
    <p:sldId id="448" r:id="rId13"/>
    <p:sldId id="449" r:id="rId14"/>
    <p:sldId id="661" r:id="rId15"/>
    <p:sldId id="662" r:id="rId16"/>
    <p:sldId id="460" r:id="rId17"/>
    <p:sldId id="463" r:id="rId18"/>
    <p:sldId id="578" r:id="rId19"/>
    <p:sldId id="591" r:id="rId20"/>
    <p:sldId id="579" r:id="rId21"/>
    <p:sldId id="332" r:id="rId22"/>
    <p:sldId id="333" r:id="rId23"/>
    <p:sldId id="499" r:id="rId24"/>
    <p:sldId id="341" r:id="rId25"/>
    <p:sldId id="582" r:id="rId26"/>
    <p:sldId id="596" r:id="rId27"/>
    <p:sldId id="592" r:id="rId28"/>
    <p:sldId id="586" r:id="rId29"/>
    <p:sldId id="589" r:id="rId30"/>
    <p:sldId id="593" r:id="rId31"/>
    <p:sldId id="590"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71316" autoAdjust="0"/>
  </p:normalViewPr>
  <p:slideViewPr>
    <p:cSldViewPr snapToGrid="0">
      <p:cViewPr varScale="1">
        <p:scale>
          <a:sx n="154" d="100"/>
          <a:sy n="154" d="100"/>
        </p:scale>
        <p:origin x="156" y="42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oyi Sun (SDS,124090550)" userId="7336b744-5857-42bc-9fde-1c1347a32774" providerId="ADAL" clId="{3A35FEB6-D186-4DFE-8550-C935A8639321}"/>
    <pc:docChg chg="undo custSel modSld">
      <pc:chgData name="Chaoyi Sun (SDS,124090550)" userId="7336b744-5857-42bc-9fde-1c1347a32774" providerId="ADAL" clId="{3A35FEB6-D186-4DFE-8550-C935A8639321}" dt="2026-01-25T04:17:43.145" v="8" actId="1076"/>
      <pc:docMkLst>
        <pc:docMk/>
      </pc:docMkLst>
      <pc:sldChg chg="modSp mod">
        <pc:chgData name="Chaoyi Sun (SDS,124090550)" userId="7336b744-5857-42bc-9fde-1c1347a32774" providerId="ADAL" clId="{3A35FEB6-D186-4DFE-8550-C935A8639321}" dt="2026-01-25T04:17:43.145" v="8" actId="1076"/>
        <pc:sldMkLst>
          <pc:docMk/>
          <pc:sldMk cId="1059541347" sldId="588"/>
        </pc:sldMkLst>
        <pc:spChg chg="mod">
          <ac:chgData name="Chaoyi Sun (SDS,124090550)" userId="7336b744-5857-42bc-9fde-1c1347a32774" providerId="ADAL" clId="{3A35FEB6-D186-4DFE-8550-C935A8639321}" dt="2026-01-25T04:17:43.145" v="8" actId="1076"/>
          <ac:spMkLst>
            <pc:docMk/>
            <pc:sldMk cId="1059541347" sldId="588"/>
            <ac:spMk id="4" creationId="{9B423056-2046-48D3-A9BC-C73AD908B076}"/>
          </ac:spMkLst>
        </pc:spChg>
        <pc:spChg chg="mod">
          <ac:chgData name="Chaoyi Sun (SDS,124090550)" userId="7336b744-5857-42bc-9fde-1c1347a32774" providerId="ADAL" clId="{3A35FEB6-D186-4DFE-8550-C935A8639321}" dt="2026-01-20T03:16:15.858" v="6" actId="1076"/>
          <ac:spMkLst>
            <pc:docMk/>
            <pc:sldMk cId="1059541347" sldId="588"/>
            <ac:spMk id="8" creationId="{BEB5E0F1-DFCB-4862-95B2-DA03F02AAEF8}"/>
          </ac:spMkLst>
        </pc:spChg>
      </pc:sldChg>
      <pc:sldChg chg="modSp mod">
        <pc:chgData name="Chaoyi Sun (SDS,124090550)" userId="7336b744-5857-42bc-9fde-1c1347a32774" providerId="ADAL" clId="{3A35FEB6-D186-4DFE-8550-C935A8639321}" dt="2026-01-20T03:16:13.889" v="4" actId="1076"/>
        <pc:sldMkLst>
          <pc:docMk/>
          <pc:sldMk cId="2833754955" sldId="662"/>
        </pc:sldMkLst>
        <pc:picChg chg="mod">
          <ac:chgData name="Chaoyi Sun (SDS,124090550)" userId="7336b744-5857-42bc-9fde-1c1347a32774" providerId="ADAL" clId="{3A35FEB6-D186-4DFE-8550-C935A8639321}" dt="2026-01-20T03:16:13.889" v="4" actId="1076"/>
          <ac:picMkLst>
            <pc:docMk/>
            <pc:sldMk cId="2833754955" sldId="662"/>
            <ac:picMk id="4" creationId="{9A6CA6AB-DD46-4C5B-96B6-174232B465A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1/25/2026</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2026/1/25</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of bits (byte, word, double word) can encode char, numbers, color/audio, logic, instructions…..</a:t>
            </a:r>
          </a:p>
          <a:p>
            <a:r>
              <a:rPr lang="en-US" dirty="0"/>
              <a:t>This chapter will look at a more complex encoding: FP numbers.</a:t>
            </a:r>
          </a:p>
          <a:p>
            <a:r>
              <a:rPr lang="en-US" dirty="0"/>
              <a:t>How does HW do */div complex arithmetic?</a:t>
            </a:r>
          </a:p>
          <a:p>
            <a:r>
              <a:rPr lang="en-US" dirty="0"/>
              <a:t>How does HW handle overflows/underflows?</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2485215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Ariane rocket in 1996 and Boeing 787 counter overflow caused the airplane to lose all electricity</a:t>
            </a:r>
          </a:p>
          <a:p>
            <a:r>
              <a:rPr lang="en-US" dirty="0"/>
              <a:t>To use saturation arithmetic, you may use </a:t>
            </a:r>
            <a:r>
              <a:rPr lang="en-US" dirty="0" err="1"/>
              <a:t>intrinsics</a:t>
            </a:r>
            <a:r>
              <a:rPr lang="en-US" dirty="0"/>
              <a:t>, or call libraries because C does not have such data types.</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59119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7</a:t>
            </a:fld>
            <a:endParaRPr lang="zh-TW" altLang="en-US"/>
          </a:p>
        </p:txBody>
      </p:sp>
    </p:spTree>
    <p:extLst>
      <p:ext uri="{BB962C8B-B14F-4D97-AF65-F5344CB8AC3E}">
        <p14:creationId xmlns:p14="http://schemas.microsoft.com/office/powerpoint/2010/main" val="3703916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26"/>
          <p:cNvSpPr>
            <a:spLocks noGrp="1" noChangeArrowheads="1"/>
          </p:cNvSpPr>
          <p:nvPr>
            <p:ph type="body" idx="1"/>
          </p:nvPr>
        </p:nvSpPr>
        <p:spPr>
          <a:xfrm>
            <a:off x="512763" y="4721225"/>
            <a:ext cx="5865812" cy="4471988"/>
          </a:xfrm>
          <a:noFill/>
        </p:spPr>
        <p:txBody>
          <a:bodyPr lIns="92485" tIns="46243" rIns="92485" bIns="46243"/>
          <a:lstStyle/>
          <a:p>
            <a:endParaRPr lang="en-US" altLang="zh-TW"/>
          </a:p>
        </p:txBody>
      </p:sp>
      <p:sp>
        <p:nvSpPr>
          <p:cNvPr id="135171" name="Rectangle 1027"/>
          <p:cNvSpPr>
            <a:spLocks noGrp="1" noRot="1" noChangeAspect="1" noChangeArrowheads="1" noTextEdit="1"/>
          </p:cNvSpPr>
          <p:nvPr>
            <p:ph type="sldImg"/>
          </p:nvPr>
        </p:nvSpPr>
        <p:spPr>
          <a:xfrm>
            <a:off x="111125" y="636588"/>
            <a:ext cx="6604000" cy="3714750"/>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dirty="0"/>
              <a:t>Now that I have shown you how to build a 1-bit full adder, we have all the major components needed for this 1-bit ALU.</a:t>
            </a:r>
          </a:p>
          <a:p>
            <a:r>
              <a:rPr lang="en-US" altLang="zh-TW" dirty="0"/>
              <a:t>In order to build a 4-bit ALU, we simply connect four 1-bit ALUs in series to feed the </a:t>
            </a:r>
            <a:r>
              <a:rPr lang="en-US" altLang="zh-TW" dirty="0" err="1"/>
              <a:t>CarryOut</a:t>
            </a:r>
            <a:r>
              <a:rPr lang="en-US" altLang="zh-TW" dirty="0"/>
              <a:t> of one ALU to the </a:t>
            </a:r>
            <a:r>
              <a:rPr lang="en-US" altLang="zh-TW" dirty="0" err="1"/>
              <a:t>CarryIn</a:t>
            </a:r>
            <a:r>
              <a:rPr lang="en-US" altLang="zh-TW" dirty="0"/>
              <a:t> of the next ALU.</a:t>
            </a:r>
          </a:p>
          <a:p>
            <a:r>
              <a:rPr lang="en-US" altLang="zh-TW" dirty="0"/>
              <a:t>Adders have multiple different implementation, ripple carry or carry lookahead, or carry skip, parallel prefix adder. With sufficient transistors, adder can be faster.</a:t>
            </a:r>
          </a:p>
          <a:p>
            <a:r>
              <a:rPr lang="en-US" altLang="zh-TW" dirty="0"/>
              <a:t>Even though I called this an ALU, I actually lied a little.  There is something missing about this ALU.  This  ALU can NOT perform the subtract operation.</a:t>
            </a:r>
          </a:p>
          <a:p>
            <a:r>
              <a:rPr lang="en-US" altLang="zh-TW" dirty="0"/>
              <a:t>Let see how can we fix this problem.</a:t>
            </a:r>
          </a:p>
          <a:p>
            <a:endParaRPr lang="en-US" altLang="zh-TW" dirty="0"/>
          </a:p>
          <a:p>
            <a:r>
              <a:rPr lang="en-US" altLang="zh-TW" dirty="0"/>
              <a:t>2 min = 35 min. (Y:15)</a:t>
            </a:r>
          </a:p>
        </p:txBody>
      </p:sp>
      <p:sp>
        <p:nvSpPr>
          <p:cNvPr id="137219" name="Rectangle 3"/>
          <p:cNvSpPr>
            <a:spLocks noGrp="1" noRot="1" noChangeAspect="1" noChangeArrowheads="1" noTextEdit="1"/>
          </p:cNvSpPr>
          <p:nvPr>
            <p:ph type="sldImg"/>
          </p:nvPr>
        </p:nvSpPr>
        <p:spPr>
          <a:xfrm>
            <a:off x="93663" y="746125"/>
            <a:ext cx="6623050" cy="37258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idx="1"/>
          </p:nvPr>
        </p:nvSpPr>
        <p:spPr>
          <a:xfrm>
            <a:off x="906463" y="4721225"/>
            <a:ext cx="4994275" cy="4471988"/>
          </a:xfrm>
          <a:noFill/>
        </p:spPr>
        <p:txBody>
          <a:bodyPr lIns="92485" tIns="46243" rIns="92485" bIns="46243"/>
          <a:lstStyle/>
          <a:p>
            <a:r>
              <a:rPr lang="en-US" altLang="zh-TW" dirty="0"/>
              <a:t>Normally, Carry at the first stage is 0. For subtraction, we can set it to 1</a:t>
            </a:r>
          </a:p>
        </p:txBody>
      </p:sp>
      <p:sp>
        <p:nvSpPr>
          <p:cNvPr id="138243" name="Rectangle 3"/>
          <p:cNvSpPr>
            <a:spLocks noGrp="1" noRot="1" noChangeAspect="1" noChangeArrowheads="1" noTextEdit="1"/>
          </p:cNvSpPr>
          <p:nvPr>
            <p:ph type="sldImg"/>
          </p:nvPr>
        </p:nvSpPr>
        <p:spPr>
          <a:xfrm>
            <a:off x="93663" y="746125"/>
            <a:ext cx="6623050" cy="37258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 Carry Lookahead Adder. Just based on the previous four bits of a and b, I could know what would be the carry from the previous group.</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12</a:t>
            </a:fld>
            <a:endParaRPr lang="zh-TW" altLang="en-US"/>
          </a:p>
        </p:txBody>
      </p:sp>
    </p:spTree>
    <p:extLst>
      <p:ext uri="{BB962C8B-B14F-4D97-AF65-F5344CB8AC3E}">
        <p14:creationId xmlns:p14="http://schemas.microsoft.com/office/powerpoint/2010/main" val="4055746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extLst>
      <p:ext uri="{BB962C8B-B14F-4D97-AF65-F5344CB8AC3E}">
        <p14:creationId xmlns:p14="http://schemas.microsoft.com/office/powerpoint/2010/main" val="3833362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extLst>
      <p:ext uri="{BB962C8B-B14F-4D97-AF65-F5344CB8AC3E}">
        <p14:creationId xmlns:p14="http://schemas.microsoft.com/office/powerpoint/2010/main" val="1660339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第一个数叫被乘数 </a:t>
            </a:r>
            <a:r>
              <a:rPr lang="en-US" altLang="zh-CN">
                <a:sym typeface="+mn-ea"/>
              </a:rPr>
              <a:t>multiplicand</a:t>
            </a:r>
            <a:r>
              <a:rPr lang="zh-CN" altLang="en-US">
                <a:sym typeface="+mn-ea"/>
              </a:rPr>
              <a:t>，第二个数是乘数</a:t>
            </a:r>
            <a:r>
              <a:rPr lang="en-US" altLang="zh-CN">
                <a:sym typeface="+mn-ea"/>
              </a:rPr>
              <a:t>multiplier</a:t>
            </a:r>
            <a:r>
              <a:rPr lang="zh-CN" altLang="en-US">
                <a:sym typeface="+mn-ea"/>
              </a:rPr>
              <a:t>，</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170238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832020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r>
              <a:rPr lang="en-US" altLang="zh-TW" dirty="0"/>
              <a:t>In computer industry, this is often called the pyramid in a multiplier.</a:t>
            </a:r>
            <a:endParaRPr lang="zh-TW" altLang="en-US" dirty="0"/>
          </a:p>
        </p:txBody>
      </p:sp>
    </p:spTree>
    <p:extLst>
      <p:ext uri="{BB962C8B-B14F-4D97-AF65-F5344CB8AC3E}">
        <p14:creationId xmlns:p14="http://schemas.microsoft.com/office/powerpoint/2010/main" val="4029681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96611"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197635"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body" idx="1"/>
          </p:nvPr>
        </p:nvSpPr>
        <p:spPr>
          <a:xfrm>
            <a:off x="512763" y="4721225"/>
            <a:ext cx="5865812" cy="4471988"/>
          </a:xfrm>
          <a:noFill/>
        </p:spPr>
        <p:txBody>
          <a:bodyPr lIns="92485" tIns="46243" rIns="92485" bIns="46243"/>
          <a:lstStyle/>
          <a:p>
            <a:r>
              <a:rPr lang="zh-TW" altLang="en-US"/>
              <a:t>	</a:t>
            </a:r>
            <a:r>
              <a:rPr lang="en-US" altLang="zh-TW"/>
              <a:t>Q: 0000	D: 0010 0000	R: 0000 0111  = 1110 0000</a:t>
            </a:r>
          </a:p>
          <a:p>
            <a:r>
              <a:rPr lang="en-US" altLang="zh-TW"/>
              <a:t>1: R = R 	Q: 0000	D: 0010 0000	R: </a:t>
            </a:r>
            <a:r>
              <a:rPr lang="en-US" altLang="zh-TW" u="sng"/>
              <a:t>1110 0111</a:t>
            </a:r>
            <a:endParaRPr lang="en-US" altLang="zh-TW"/>
          </a:p>
          <a:p>
            <a:r>
              <a:rPr lang="en-US" altLang="zh-TW"/>
              <a:t>2b: +D, sl Q, 0	 Q: </a:t>
            </a:r>
            <a:r>
              <a:rPr lang="en-US" altLang="zh-TW" u="sng"/>
              <a:t>0000</a:t>
            </a:r>
            <a:r>
              <a:rPr lang="en-US" altLang="zh-TW"/>
              <a:t>	D: 0010 0000	R: </a:t>
            </a:r>
            <a:r>
              <a:rPr lang="en-US" altLang="zh-TW" u="sng"/>
              <a:t>0000 0111</a:t>
            </a:r>
            <a:endParaRPr lang="en-US" altLang="zh-TW"/>
          </a:p>
          <a:p>
            <a:r>
              <a:rPr lang="en-US" altLang="zh-TW"/>
              <a:t>3: Shr D	Q: 0000	D: </a:t>
            </a:r>
            <a:r>
              <a:rPr lang="en-US" altLang="zh-TW" u="sng"/>
              <a:t>0001 0000 </a:t>
            </a:r>
            <a:r>
              <a:rPr lang="en-US" altLang="zh-TW"/>
              <a:t>	R: 0000 0111  = 1111 0000</a:t>
            </a:r>
          </a:p>
          <a:p>
            <a:r>
              <a:rPr lang="en-US" altLang="zh-TW"/>
              <a:t>1: R = R 	Q: 0000	D: 0001 0000 	R: </a:t>
            </a:r>
            <a:r>
              <a:rPr lang="en-US" altLang="zh-TW" u="sng"/>
              <a:t>1111 0111</a:t>
            </a:r>
            <a:endParaRPr lang="en-US" altLang="zh-TW"/>
          </a:p>
          <a:p>
            <a:r>
              <a:rPr lang="en-US" altLang="zh-TW"/>
              <a:t>2b: +D, sl Q, 0	 Q:</a:t>
            </a:r>
            <a:r>
              <a:rPr lang="en-US" altLang="zh-TW" u="sng"/>
              <a:t> 0000</a:t>
            </a:r>
            <a:r>
              <a:rPr lang="en-US" altLang="zh-TW"/>
              <a:t>	D: 0001 0000 	R:</a:t>
            </a:r>
            <a:r>
              <a:rPr lang="en-US" altLang="zh-TW" u="sng"/>
              <a:t> 0000 0111</a:t>
            </a:r>
            <a:endParaRPr lang="en-US" altLang="zh-TW"/>
          </a:p>
          <a:p>
            <a:r>
              <a:rPr lang="en-US" altLang="zh-TW"/>
              <a:t>3: Shr D	Q: 0000	D: </a:t>
            </a:r>
            <a:r>
              <a:rPr lang="en-US" altLang="zh-TW" u="sng"/>
              <a:t>0000 1000</a:t>
            </a:r>
            <a:r>
              <a:rPr lang="en-US" altLang="zh-TW"/>
              <a:t>	R: 0000 0111  = 1111 1000</a:t>
            </a:r>
          </a:p>
          <a:p>
            <a:r>
              <a:rPr lang="en-US" altLang="zh-TW"/>
              <a:t>1: R = R 	Q: 0000	D: 0000 1000 	R: </a:t>
            </a:r>
            <a:r>
              <a:rPr lang="en-US" altLang="zh-TW" u="sng"/>
              <a:t>1111 1111</a:t>
            </a:r>
            <a:endParaRPr lang="en-US" altLang="zh-TW"/>
          </a:p>
          <a:p>
            <a:r>
              <a:rPr lang="en-US" altLang="zh-TW"/>
              <a:t>2b: +D, sl Q, 0	 Q:</a:t>
            </a:r>
            <a:r>
              <a:rPr lang="en-US" altLang="zh-TW" u="sng"/>
              <a:t> 0000</a:t>
            </a:r>
            <a:r>
              <a:rPr lang="en-US" altLang="zh-TW"/>
              <a:t>	D: 0000 1000 	R: </a:t>
            </a:r>
            <a:r>
              <a:rPr lang="en-US" altLang="zh-TW" u="sng"/>
              <a:t>0000 0111</a:t>
            </a:r>
            <a:endParaRPr lang="en-US" altLang="zh-TW"/>
          </a:p>
          <a:p>
            <a:r>
              <a:rPr lang="en-US" altLang="zh-TW"/>
              <a:t>3: Shr D	Q: 0000	D: </a:t>
            </a:r>
            <a:r>
              <a:rPr lang="en-US" altLang="zh-TW" u="sng"/>
              <a:t>0000 0100</a:t>
            </a:r>
            <a:r>
              <a:rPr lang="en-US" altLang="zh-TW"/>
              <a:t>	R: 0000 0111  = 1111 1100</a:t>
            </a:r>
          </a:p>
          <a:p>
            <a:r>
              <a:rPr lang="en-US" altLang="zh-TW"/>
              <a:t>1: R = R 	Q: 0000	D: 0000 0100 	R:</a:t>
            </a:r>
            <a:r>
              <a:rPr lang="en-US" altLang="zh-TW" u="sng"/>
              <a:t> 0000 0011</a:t>
            </a:r>
            <a:endParaRPr lang="en-US" altLang="zh-TW"/>
          </a:p>
          <a:p>
            <a:r>
              <a:rPr lang="en-US" altLang="zh-TW"/>
              <a:t>2a: sl Q, 1	 Q: </a:t>
            </a:r>
            <a:r>
              <a:rPr lang="en-US" altLang="zh-TW" u="sng"/>
              <a:t>0001</a:t>
            </a:r>
            <a:r>
              <a:rPr lang="en-US" altLang="zh-TW"/>
              <a:t>	D: 0000 0100 	R: 0000 0011</a:t>
            </a:r>
          </a:p>
          <a:p>
            <a:r>
              <a:rPr lang="en-US" altLang="zh-TW"/>
              <a:t>3: Shr D	Q: 0000	D:</a:t>
            </a:r>
            <a:r>
              <a:rPr lang="en-US" altLang="zh-TW" u="sng"/>
              <a:t> 0000 0010</a:t>
            </a:r>
            <a:r>
              <a:rPr lang="en-US" altLang="zh-TW"/>
              <a:t>	R: 0000 0011  = 1111 1110</a:t>
            </a:r>
          </a:p>
          <a:p>
            <a:r>
              <a:rPr lang="en-US" altLang="zh-TW"/>
              <a:t>1: R = R 	Q: 0000	D: 0000 0010 	R: </a:t>
            </a:r>
            <a:r>
              <a:rPr lang="en-US" altLang="zh-TW" u="sng"/>
              <a:t>0000 0001</a:t>
            </a:r>
            <a:endParaRPr lang="en-US" altLang="zh-TW"/>
          </a:p>
          <a:p>
            <a:r>
              <a:rPr lang="en-US" altLang="zh-TW"/>
              <a:t>2a: sl Q, 1	 Q:</a:t>
            </a:r>
            <a:r>
              <a:rPr lang="en-US" altLang="zh-TW" u="sng"/>
              <a:t> 0011</a:t>
            </a:r>
            <a:r>
              <a:rPr lang="en-US" altLang="zh-TW"/>
              <a:t>	D: 0000 0010 	R: 0000 0001</a:t>
            </a:r>
          </a:p>
          <a:p>
            <a:r>
              <a:rPr lang="en-US" altLang="zh-TW"/>
              <a:t>3: Shr D	Q: 0011	D: </a:t>
            </a:r>
            <a:r>
              <a:rPr lang="en-US" altLang="zh-TW" u="sng"/>
              <a:t>0000 0001</a:t>
            </a:r>
            <a:r>
              <a:rPr lang="en-US" altLang="zh-TW"/>
              <a:t>	R: 0000 0001</a:t>
            </a:r>
          </a:p>
          <a:p>
            <a:endParaRPr lang="en-US" altLang="zh-TW"/>
          </a:p>
          <a:p>
            <a:r>
              <a:rPr lang="en-US" altLang="zh-TW"/>
              <a:t>Recommend show 2 comp of divisor, show lines for subtract divisor and restore remainder</a:t>
            </a:r>
          </a:p>
        </p:txBody>
      </p:sp>
      <p:sp>
        <p:nvSpPr>
          <p:cNvPr id="198659"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body" idx="1"/>
          </p:nvPr>
        </p:nvSpPr>
        <p:spPr>
          <a:xfrm>
            <a:off x="512763" y="4721225"/>
            <a:ext cx="5865812" cy="4471988"/>
          </a:xfrm>
          <a:noFill/>
        </p:spPr>
        <p:txBody>
          <a:bodyPr lIns="92485" tIns="46243" rIns="92485" bIns="46243"/>
          <a:lstStyle/>
          <a:p>
            <a:endParaRPr lang="zh-TW" altLang="en-US"/>
          </a:p>
        </p:txBody>
      </p:sp>
      <p:sp>
        <p:nvSpPr>
          <p:cNvPr id="202755" name="Rectangle 3"/>
          <p:cNvSpPr>
            <a:spLocks noGrp="1" noRot="1" noChangeAspect="1" noChangeArrowheads="1" noTextEdit="1"/>
          </p:cNvSpPr>
          <p:nvPr>
            <p:ph type="sldImg"/>
          </p:nvPr>
        </p:nvSpPr>
        <p:spPr>
          <a:xfrm>
            <a:off x="114300" y="641350"/>
            <a:ext cx="6594475" cy="3709988"/>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Note that remainder should be the same sign as the dividend.</a:t>
            </a:r>
          </a:p>
        </p:txBody>
      </p:sp>
    </p:spTree>
    <p:extLst>
      <p:ext uri="{BB962C8B-B14F-4D97-AF65-F5344CB8AC3E}">
        <p14:creationId xmlns:p14="http://schemas.microsoft.com/office/powerpoint/2010/main" val="3114021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r>
              <a:rPr lang="en-US" altLang="zh-TW" dirty="0"/>
              <a:t>C/C++ often leaves overflow as undefined behavior. Leaving the responsibility to programmers.</a:t>
            </a:r>
          </a:p>
          <a:p>
            <a:r>
              <a:rPr lang="en-US" altLang="zh-TW" dirty="0"/>
              <a:t>Some people think overflow rarely happens, can we have the HW to generate a trap? This introduces a challenging issue: precise interrupts</a:t>
            </a:r>
          </a:p>
          <a:p>
            <a:r>
              <a:rPr lang="en-US" altLang="zh-TW" dirty="0"/>
              <a:t>Early days, checking are expensive, so it was undefined behavior. Later this becomes a compatibility requirements.</a:t>
            </a:r>
          </a:p>
          <a:p>
            <a:r>
              <a:rPr lang="en-US" altLang="zh-TW" dirty="0"/>
              <a:t>Java defines overflow as wrapped around.</a:t>
            </a:r>
            <a:endParaRPr lang="zh-TW" altLang="en-US" dirty="0"/>
          </a:p>
        </p:txBody>
      </p:sp>
    </p:spTree>
    <p:extLst>
      <p:ext uri="{BB962C8B-B14F-4D97-AF65-F5344CB8AC3E}">
        <p14:creationId xmlns:p14="http://schemas.microsoft.com/office/powerpoint/2010/main" val="4222066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16145366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3420685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2768372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2075" y="746125"/>
            <a:ext cx="6626225" cy="3727450"/>
          </a:xfrm>
        </p:spPr>
      </p:sp>
      <p:sp>
        <p:nvSpPr>
          <p:cNvPr id="154627" name="Rectangle 3"/>
          <p:cNvSpPr>
            <a:spLocks noGrp="1" noChangeArrowheads="1"/>
          </p:cNvSpPr>
          <p:nvPr>
            <p:ph type="body" idx="1"/>
          </p:nvPr>
        </p:nvSpPr>
        <p:spPr>
          <a:xfrm>
            <a:off x="906463" y="4721225"/>
            <a:ext cx="4994275" cy="4471988"/>
          </a:xfrm>
          <a:noFill/>
        </p:spPr>
        <p:txBody>
          <a:bodyPr/>
          <a:lstStyle/>
          <a:p>
            <a:endParaRPr lang="zh-TW" altLang="en-US"/>
          </a:p>
        </p:txBody>
      </p:sp>
    </p:spTree>
    <p:extLst>
      <p:ext uri="{BB962C8B-B14F-4D97-AF65-F5344CB8AC3E}">
        <p14:creationId xmlns:p14="http://schemas.microsoft.com/office/powerpoint/2010/main" val="188130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414977" cy="569415"/>
            <a:chOff x="86980" y="6239920"/>
            <a:chExt cx="3414977"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672120"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238250" y="1021404"/>
            <a:ext cx="9267825" cy="2683883"/>
          </a:xfrm>
        </p:spPr>
        <p:txBody>
          <a:bodyPr/>
          <a:lstStyle/>
          <a:p>
            <a:pPr algn="ctr"/>
            <a:r>
              <a:rPr lang="en-US" altLang="zh-TW" sz="4000" dirty="0">
                <a:effectLst>
                  <a:outerShdw blurRad="38100" dist="38100" dir="2700000" algn="tl">
                    <a:srgbClr val="000000">
                      <a:alpha val="43137"/>
                    </a:srgbClr>
                  </a:outerShdw>
                </a:effectLst>
              </a:rPr>
              <a:t>CSC3060  </a:t>
            </a: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Chapter 2: </a:t>
            </a: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Integer Arithmetic</a:t>
            </a: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818968" y="3924300"/>
            <a:ext cx="7908692" cy="18442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Addition and Subtraction (I)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42900" y="1125537"/>
                <a:ext cx="4456491" cy="4631796"/>
              </a:xfrm>
            </p:spPr>
            <p:txBody>
              <a:bodyPr>
                <a:normAutofit/>
              </a:bodyPr>
              <a:lstStyle/>
              <a:p>
                <a:r>
                  <a:rPr lang="en-US" dirty="0"/>
                  <a:t>Adding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6</m:t>
                        </m:r>
                      </m:e>
                      <m:sub>
                        <m:r>
                          <a:rPr lang="en-US" b="0" i="1" dirty="0" smtClean="0">
                            <a:latin typeface="Cambria Math" panose="02040503050406030204" pitchFamily="18" charset="0"/>
                          </a:rPr>
                          <m:t>10</m:t>
                        </m:r>
                      </m:sub>
                    </m:sSub>
                    <m:r>
                      <a:rPr lang="en-US" i="1" dirty="0" smtClean="0">
                        <a:latin typeface="Cambria Math" panose="02040503050406030204" pitchFamily="18" charset="0"/>
                      </a:rPr>
                      <m:t> </m:t>
                    </m:r>
                  </m:oMath>
                </a14:m>
                <a:r>
                  <a:rPr lang="en-US" dirty="0"/>
                  <a:t>to </a:t>
                </a:r>
                <a14:m>
                  <m:oMath xmlns:m="http://schemas.openxmlformats.org/officeDocument/2006/math">
                    <m:sSub>
                      <m:sSubPr>
                        <m:ctrlPr>
                          <a:rPr lang="en-US" i="1" dirty="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7</m:t>
                        </m:r>
                      </m:e>
                      <m:sub>
                        <m:r>
                          <a:rPr lang="en-US" i="1" dirty="0">
                            <a:solidFill>
                              <a:prstClr val="black"/>
                            </a:solidFill>
                            <a:latin typeface="Cambria Math" panose="02040503050406030204" pitchFamily="18" charset="0"/>
                          </a:rPr>
                          <m:t>10</m:t>
                        </m:r>
                      </m:sub>
                    </m:sSub>
                  </m:oMath>
                </a14:m>
                <a:endParaRPr lang="en-US" dirty="0"/>
              </a:p>
              <a:p>
                <a:endParaRPr lang="en-US" dirty="0"/>
              </a:p>
              <a:p>
                <a:endParaRPr lang="en-US" dirty="0"/>
              </a:p>
              <a:p>
                <a:endParaRPr lang="en-US" dirty="0"/>
              </a:p>
              <a:p>
                <a:r>
                  <a:rPr lang="en-US" dirty="0"/>
                  <a:t>Subtract </a:t>
                </a:r>
                <a14:m>
                  <m:oMath xmlns:m="http://schemas.openxmlformats.org/officeDocument/2006/math">
                    <m:sSub>
                      <m:sSubPr>
                        <m:ctrlPr>
                          <a:rPr lang="en-US" sz="3200" i="1" dirty="0">
                            <a:solidFill>
                              <a:prstClr val="black"/>
                            </a:solidFill>
                            <a:latin typeface="Cambria Math" panose="02040503050406030204" pitchFamily="18" charset="0"/>
                          </a:rPr>
                        </m:ctrlPr>
                      </m:sSubPr>
                      <m:e>
                        <m:r>
                          <a:rPr lang="en-US" sz="3200" i="1" dirty="0">
                            <a:solidFill>
                              <a:prstClr val="black"/>
                            </a:solidFill>
                            <a:latin typeface="Cambria Math" panose="02040503050406030204" pitchFamily="18" charset="0"/>
                          </a:rPr>
                          <m:t>6</m:t>
                        </m:r>
                      </m:e>
                      <m:sub>
                        <m:r>
                          <a:rPr lang="en-US" sz="3200" i="1" dirty="0">
                            <a:solidFill>
                              <a:prstClr val="black"/>
                            </a:solidFill>
                            <a:latin typeface="Cambria Math" panose="02040503050406030204" pitchFamily="18" charset="0"/>
                          </a:rPr>
                          <m:t>10</m:t>
                        </m:r>
                      </m:sub>
                    </m:sSub>
                    <m:r>
                      <a:rPr lang="en-US" sz="3200" i="1" dirty="0">
                        <a:solidFill>
                          <a:prstClr val="black"/>
                        </a:solidFill>
                        <a:latin typeface="Cambria Math" panose="02040503050406030204" pitchFamily="18" charset="0"/>
                      </a:rPr>
                      <m:t> </m:t>
                    </m:r>
                    <m:r>
                      <m:rPr>
                        <m:sty m:val="p"/>
                      </m:rPr>
                      <a:rPr lang="en-US" sz="3200" dirty="0">
                        <a:solidFill>
                          <a:prstClr val="black"/>
                        </a:solidFill>
                        <a:latin typeface="Cambria Math" panose="02040503050406030204" pitchFamily="18" charset="0"/>
                      </a:rPr>
                      <m:t>from</m:t>
                    </m:r>
                  </m:oMath>
                </a14:m>
                <a:r>
                  <a:rPr lang="en-US" sz="3200" dirty="0">
                    <a:solidFill>
                      <a:prstClr val="black"/>
                    </a:solidFill>
                  </a:rPr>
                  <a:t> </a:t>
                </a:r>
                <a14:m>
                  <m:oMath xmlns:m="http://schemas.openxmlformats.org/officeDocument/2006/math">
                    <m:sSub>
                      <m:sSubPr>
                        <m:ctrlPr>
                          <a:rPr lang="en-US" sz="3200" i="1" dirty="0">
                            <a:solidFill>
                              <a:prstClr val="black"/>
                            </a:solidFill>
                            <a:latin typeface="Cambria Math" panose="02040503050406030204" pitchFamily="18" charset="0"/>
                          </a:rPr>
                        </m:ctrlPr>
                      </m:sSubPr>
                      <m:e>
                        <m:r>
                          <a:rPr lang="en-US" sz="3200" i="1" dirty="0">
                            <a:solidFill>
                              <a:prstClr val="black"/>
                            </a:solidFill>
                            <a:latin typeface="Cambria Math" panose="02040503050406030204" pitchFamily="18" charset="0"/>
                          </a:rPr>
                          <m:t>7</m:t>
                        </m:r>
                      </m:e>
                      <m:sub>
                        <m:r>
                          <a:rPr lang="en-US" sz="3200" i="1" dirty="0">
                            <a:solidFill>
                              <a:prstClr val="black"/>
                            </a:solidFill>
                            <a:latin typeface="Cambria Math" panose="02040503050406030204" pitchFamily="18" charset="0"/>
                          </a:rPr>
                          <m:t>10</m:t>
                        </m:r>
                      </m:sub>
                    </m:sSub>
                  </m:oMath>
                </a14:m>
                <a:r>
                  <a:rPr lang="en-US" dirty="0"/>
                  <a:t>  </a:t>
                </a:r>
                <a:r>
                  <a:rPr lang="en-US" sz="3200" dirty="0"/>
                  <a:t>(7 + (-6))</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42900" y="1125537"/>
                <a:ext cx="4456491" cy="4631796"/>
              </a:xfrm>
              <a:blipFill>
                <a:blip r:embed="rId2"/>
                <a:stretch>
                  <a:fillRect l="-2736" t="-2240"/>
                </a:stretch>
              </a:blipFill>
            </p:spPr>
            <p:txBody>
              <a:bodyPr/>
              <a:lstStyle/>
              <a:p>
                <a:r>
                  <a:rPr lang="en-US">
                    <a:noFill/>
                  </a:rPr>
                  <a:t> </a:t>
                </a:r>
              </a:p>
            </p:txBody>
          </p:sp>
        </mc:Fallback>
      </mc:AlternateContent>
      <p:sp>
        <p:nvSpPr>
          <p:cNvPr id="6" name="灯片编号占位符 5"/>
          <p:cNvSpPr>
            <a:spLocks noGrp="1"/>
          </p:cNvSpPr>
          <p:nvPr>
            <p:ph type="sldNum" sz="quarter" idx="10"/>
          </p:nvPr>
        </p:nvSpPr>
        <p:spPr/>
        <p:txBody>
          <a:bodyPr/>
          <a:lstStyle/>
          <a:p>
            <a:fld id="{D9B6BDF2-6896-4B98-8776-C18582F63BA5}" type="slidenum">
              <a:rPr lang="zh-TW" altLang="en-US" smtClean="0"/>
              <a:t>2</a:t>
            </a:fld>
            <a:endParaRPr lang="zh-TW" altLang="en-US"/>
          </a:p>
        </p:txBody>
      </p:sp>
      <p:sp>
        <p:nvSpPr>
          <p:cNvPr id="4" name="Rectangle 3">
            <a:extLst>
              <a:ext uri="{FF2B5EF4-FFF2-40B4-BE49-F238E27FC236}">
                <a16:creationId xmlns:a16="http://schemas.microsoft.com/office/drawing/2014/main" id="{53AE63E5-C3E5-440D-9663-C29E2A3428C1}"/>
              </a:ext>
            </a:extLst>
          </p:cNvPr>
          <p:cNvSpPr/>
          <p:nvPr/>
        </p:nvSpPr>
        <p:spPr bwMode="auto">
          <a:xfrm>
            <a:off x="5796037" y="1248230"/>
            <a:ext cx="1703009" cy="803119"/>
          </a:xfrm>
          <a:prstGeom prst="rect">
            <a:avLst/>
          </a:prstGeom>
          <a:noFill/>
          <a:ln w="15875" cap="flat" cmpd="sng" algn="ctr">
            <a:noFill/>
            <a:prstDash val="solid"/>
            <a:round/>
            <a:headEnd type="none" w="med" len="med"/>
            <a:tailEnd type="none" w="med" len="med"/>
          </a:ln>
        </p:spPr>
        <p:txBody>
          <a:bodyPr vert="horz" wrap="none" lIns="121920" tIns="60960" rIns="121920" bIns="60960" numCol="1" rtlCol="0" anchor="ctr" anchorCtr="0" compatLnSpc="1"/>
          <a:lstStyle/>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00000110</a:t>
            </a:r>
          </a:p>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00000111</a:t>
            </a:r>
          </a:p>
        </p:txBody>
      </p:sp>
      <p:cxnSp>
        <p:nvCxnSpPr>
          <p:cNvPr id="7" name="Straight Connector 6">
            <a:extLst>
              <a:ext uri="{FF2B5EF4-FFF2-40B4-BE49-F238E27FC236}">
                <a16:creationId xmlns:a16="http://schemas.microsoft.com/office/drawing/2014/main" id="{57A07026-F12D-479B-8D97-3EF76325649F}"/>
              </a:ext>
            </a:extLst>
          </p:cNvPr>
          <p:cNvCxnSpPr/>
          <p:nvPr/>
        </p:nvCxnSpPr>
        <p:spPr bwMode="auto">
          <a:xfrm>
            <a:off x="5537938" y="2041672"/>
            <a:ext cx="1693333" cy="0"/>
          </a:xfrm>
          <a:prstGeom prst="line">
            <a:avLst/>
          </a:prstGeom>
          <a:noFill/>
          <a:ln w="15875" cap="flat" cmpd="sng" algn="ctr">
            <a:solidFill>
              <a:srgbClr val="FF0000"/>
            </a:solidFill>
            <a:prstDash val="solid"/>
            <a:round/>
            <a:headEnd type="none" w="med" len="med"/>
            <a:tailEnd type="none" w="med" len="med"/>
          </a:ln>
        </p:spPr>
      </p:cxnSp>
      <p:sp>
        <p:nvSpPr>
          <p:cNvPr id="8" name="TextBox 7">
            <a:extLst>
              <a:ext uri="{FF2B5EF4-FFF2-40B4-BE49-F238E27FC236}">
                <a16:creationId xmlns:a16="http://schemas.microsoft.com/office/drawing/2014/main" id="{035D4BED-5C0C-4FEE-8E30-6C060FB180C1}"/>
              </a:ext>
            </a:extLst>
          </p:cNvPr>
          <p:cNvSpPr txBox="1"/>
          <p:nvPr/>
        </p:nvSpPr>
        <p:spPr>
          <a:xfrm>
            <a:off x="5454108" y="1574296"/>
            <a:ext cx="364202"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a:t>
            </a:r>
          </a:p>
        </p:txBody>
      </p:sp>
      <p:sp>
        <p:nvSpPr>
          <p:cNvPr id="9" name="TextBox 8">
            <a:extLst>
              <a:ext uri="{FF2B5EF4-FFF2-40B4-BE49-F238E27FC236}">
                <a16:creationId xmlns:a16="http://schemas.microsoft.com/office/drawing/2014/main" id="{FBBCB407-239D-4CF9-9461-A4C9402699E7}"/>
              </a:ext>
            </a:extLst>
          </p:cNvPr>
          <p:cNvSpPr txBox="1"/>
          <p:nvPr/>
        </p:nvSpPr>
        <p:spPr>
          <a:xfrm>
            <a:off x="5796037" y="2057062"/>
            <a:ext cx="1539845" cy="461665"/>
          </a:xfrm>
          <a:prstGeom prst="rect">
            <a:avLst/>
          </a:prstGeom>
          <a:noFill/>
        </p:spPr>
        <p:txBody>
          <a:bodyPr wrap="none" rtlCol="0" anchor="ctr" anchorCtr="1">
            <a:spAutoFit/>
          </a:bodyPr>
          <a:lstStyle/>
          <a:p>
            <a:r>
              <a:rPr lang="en-US" sz="2400" b="1" dirty="0">
                <a:ea typeface="標楷體" panose="02010601000101010101" pitchFamily="65" charset="-120"/>
                <a:cs typeface="Calibri" panose="020F0502020204030204" pitchFamily="34" charset="0"/>
              </a:rPr>
              <a:t>00001101</a:t>
            </a:r>
          </a:p>
        </p:txBody>
      </p:sp>
      <p:sp>
        <p:nvSpPr>
          <p:cNvPr id="10" name="Rectangle 9">
            <a:extLst>
              <a:ext uri="{FF2B5EF4-FFF2-40B4-BE49-F238E27FC236}">
                <a16:creationId xmlns:a16="http://schemas.microsoft.com/office/drawing/2014/main" id="{3E05E09A-F571-4148-9A6B-770697100A62}"/>
              </a:ext>
            </a:extLst>
          </p:cNvPr>
          <p:cNvSpPr/>
          <p:nvPr/>
        </p:nvSpPr>
        <p:spPr bwMode="auto">
          <a:xfrm>
            <a:off x="5737982" y="3696306"/>
            <a:ext cx="1703009" cy="803119"/>
          </a:xfrm>
          <a:prstGeom prst="rect">
            <a:avLst/>
          </a:prstGeom>
          <a:noFill/>
          <a:ln w="15875" cap="flat" cmpd="sng" algn="ctr">
            <a:noFill/>
            <a:prstDash val="solid"/>
            <a:round/>
            <a:headEnd type="none" w="med" len="med"/>
            <a:tailEnd type="none" w="med" len="med"/>
          </a:ln>
        </p:spPr>
        <p:txBody>
          <a:bodyPr vert="horz" wrap="none" lIns="121920" tIns="60960" rIns="121920" bIns="60960" numCol="1" rtlCol="0" anchor="ctr" anchorCtr="0" compatLnSpc="1"/>
          <a:lstStyle/>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11111010</a:t>
            </a:r>
          </a:p>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00000111</a:t>
            </a:r>
          </a:p>
        </p:txBody>
      </p:sp>
      <p:cxnSp>
        <p:nvCxnSpPr>
          <p:cNvPr id="11" name="Straight Connector 10">
            <a:extLst>
              <a:ext uri="{FF2B5EF4-FFF2-40B4-BE49-F238E27FC236}">
                <a16:creationId xmlns:a16="http://schemas.microsoft.com/office/drawing/2014/main" id="{30CD9781-6034-4520-9C01-093E7E0E7A3C}"/>
              </a:ext>
            </a:extLst>
          </p:cNvPr>
          <p:cNvCxnSpPr/>
          <p:nvPr/>
        </p:nvCxnSpPr>
        <p:spPr bwMode="auto">
          <a:xfrm>
            <a:off x="5479883" y="4489748"/>
            <a:ext cx="1693333" cy="0"/>
          </a:xfrm>
          <a:prstGeom prst="line">
            <a:avLst/>
          </a:prstGeom>
          <a:noFill/>
          <a:ln w="15875" cap="flat" cmpd="sng" algn="ctr">
            <a:solidFill>
              <a:srgbClr val="FF0000"/>
            </a:solidFill>
            <a:prstDash val="solid"/>
            <a:round/>
            <a:headEnd type="none" w="med" len="med"/>
            <a:tailEnd type="none" w="med" len="med"/>
          </a:ln>
        </p:spPr>
      </p:cxnSp>
      <p:sp>
        <p:nvSpPr>
          <p:cNvPr id="12" name="TextBox 11">
            <a:extLst>
              <a:ext uri="{FF2B5EF4-FFF2-40B4-BE49-F238E27FC236}">
                <a16:creationId xmlns:a16="http://schemas.microsoft.com/office/drawing/2014/main" id="{B3511D52-5D92-4627-9255-F4940763736B}"/>
              </a:ext>
            </a:extLst>
          </p:cNvPr>
          <p:cNvSpPr txBox="1"/>
          <p:nvPr/>
        </p:nvSpPr>
        <p:spPr>
          <a:xfrm>
            <a:off x="5396053" y="4022372"/>
            <a:ext cx="364202"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a:t>
            </a:r>
          </a:p>
        </p:txBody>
      </p:sp>
      <p:sp>
        <p:nvSpPr>
          <p:cNvPr id="13" name="TextBox 12">
            <a:extLst>
              <a:ext uri="{FF2B5EF4-FFF2-40B4-BE49-F238E27FC236}">
                <a16:creationId xmlns:a16="http://schemas.microsoft.com/office/drawing/2014/main" id="{A1D44FC7-E8E3-4FC7-B401-F82828257BB6}"/>
              </a:ext>
            </a:extLst>
          </p:cNvPr>
          <p:cNvSpPr txBox="1"/>
          <p:nvPr/>
        </p:nvSpPr>
        <p:spPr>
          <a:xfrm>
            <a:off x="5737981" y="4505138"/>
            <a:ext cx="1556836" cy="461665"/>
          </a:xfrm>
          <a:prstGeom prst="rect">
            <a:avLst/>
          </a:prstGeom>
          <a:noFill/>
        </p:spPr>
        <p:txBody>
          <a:bodyPr wrap="none" rtlCol="0" anchor="ctr" anchorCtr="1">
            <a:spAutoFit/>
          </a:bodyPr>
          <a:lstStyle/>
          <a:p>
            <a:r>
              <a:rPr lang="en-US" sz="2400" b="1" dirty="0">
                <a:ea typeface="標楷體" panose="02010601000101010101" pitchFamily="65" charset="-120"/>
                <a:cs typeface="Calibri" panose="020F0502020204030204" pitchFamily="34" charset="0"/>
              </a:rPr>
              <a:t>00000001</a:t>
            </a:r>
          </a:p>
        </p:txBody>
      </p:sp>
      <p:cxnSp>
        <p:nvCxnSpPr>
          <p:cNvPr id="15" name="Straight Arrow Connector 14">
            <a:extLst>
              <a:ext uri="{FF2B5EF4-FFF2-40B4-BE49-F238E27FC236}">
                <a16:creationId xmlns:a16="http://schemas.microsoft.com/office/drawing/2014/main" id="{C9848250-BED7-46A3-A10D-FCB915E9C24F}"/>
              </a:ext>
            </a:extLst>
          </p:cNvPr>
          <p:cNvCxnSpPr/>
          <p:nvPr/>
        </p:nvCxnSpPr>
        <p:spPr bwMode="auto">
          <a:xfrm flipH="1">
            <a:off x="7044267" y="3357639"/>
            <a:ext cx="1393372" cy="551543"/>
          </a:xfrm>
          <a:prstGeom prst="straightConnector1">
            <a:avLst/>
          </a:prstGeom>
          <a:noFill/>
          <a:ln w="15875" cap="flat" cmpd="sng" algn="ctr">
            <a:solidFill>
              <a:srgbClr val="FF0000"/>
            </a:solidFill>
            <a:prstDash val="solid"/>
            <a:round/>
            <a:headEnd type="none" w="med" len="med"/>
            <a:tailEnd type="triangle"/>
          </a:ln>
        </p:spPr>
      </p:cxnSp>
      <p:sp>
        <p:nvSpPr>
          <p:cNvPr id="16" name="TextBox 15">
            <a:extLst>
              <a:ext uri="{FF2B5EF4-FFF2-40B4-BE49-F238E27FC236}">
                <a16:creationId xmlns:a16="http://schemas.microsoft.com/office/drawing/2014/main" id="{F1A6E0B9-19B9-4ACA-B934-5377A99F24AF}"/>
              </a:ext>
            </a:extLst>
          </p:cNvPr>
          <p:cNvSpPr txBox="1"/>
          <p:nvPr/>
        </p:nvSpPr>
        <p:spPr>
          <a:xfrm>
            <a:off x="8437639" y="3058022"/>
            <a:ext cx="2900987"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-6 (2’s complement)</a:t>
            </a:r>
          </a:p>
        </p:txBody>
      </p:sp>
      <p:sp>
        <p:nvSpPr>
          <p:cNvPr id="5" name="TextBox 4">
            <a:extLst>
              <a:ext uri="{FF2B5EF4-FFF2-40B4-BE49-F238E27FC236}">
                <a16:creationId xmlns:a16="http://schemas.microsoft.com/office/drawing/2014/main" id="{0A936C44-3668-4CA7-9323-8EF57BBE5E11}"/>
              </a:ext>
            </a:extLst>
          </p:cNvPr>
          <p:cNvSpPr txBox="1"/>
          <p:nvPr/>
        </p:nvSpPr>
        <p:spPr>
          <a:xfrm>
            <a:off x="7844630" y="1204964"/>
            <a:ext cx="326243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Assuming 8bit signed integers</a:t>
            </a:r>
          </a:p>
        </p:txBody>
      </p:sp>
    </p:spTree>
    <p:extLst>
      <p:ext uri="{BB962C8B-B14F-4D97-AF65-F5344CB8AC3E}">
        <p14:creationId xmlns:p14="http://schemas.microsoft.com/office/powerpoint/2010/main" val="324059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Addition and Subtraction (II)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3487" y="1125537"/>
                <a:ext cx="4556982" cy="4631796"/>
              </a:xfrm>
            </p:spPr>
            <p:txBody>
              <a:bodyPr>
                <a:normAutofit/>
              </a:bodyPr>
              <a:lstStyle/>
              <a:p>
                <a:r>
                  <a:rPr lang="en-US" dirty="0"/>
                  <a:t>Adding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127</m:t>
                        </m:r>
                      </m:e>
                      <m:sub>
                        <m:r>
                          <a:rPr lang="en-US" b="0" i="1" dirty="0" smtClean="0">
                            <a:latin typeface="Cambria Math" panose="02040503050406030204" pitchFamily="18" charset="0"/>
                          </a:rPr>
                          <m:t>10</m:t>
                        </m:r>
                      </m:sub>
                    </m:sSub>
                    <m:r>
                      <a:rPr lang="en-US" i="1" dirty="0" smtClean="0">
                        <a:latin typeface="Cambria Math" panose="02040503050406030204" pitchFamily="18" charset="0"/>
                      </a:rPr>
                      <m:t> </m:t>
                    </m:r>
                  </m:oMath>
                </a14:m>
                <a:r>
                  <a:rPr lang="en-US" dirty="0"/>
                  <a:t>to </a:t>
                </a:r>
                <a14:m>
                  <m:oMath xmlns:m="http://schemas.openxmlformats.org/officeDocument/2006/math">
                    <m:sSub>
                      <m:sSubPr>
                        <m:ctrlPr>
                          <a:rPr lang="en-US" i="1" dirty="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3</m:t>
                        </m:r>
                      </m:e>
                      <m:sub>
                        <m:r>
                          <a:rPr lang="en-US" i="1" dirty="0">
                            <a:solidFill>
                              <a:prstClr val="black"/>
                            </a:solidFill>
                            <a:latin typeface="Cambria Math" panose="02040503050406030204" pitchFamily="18" charset="0"/>
                          </a:rPr>
                          <m:t>10</m:t>
                        </m:r>
                      </m:sub>
                    </m:sSub>
                  </m:oMath>
                </a14:m>
                <a:endParaRPr lang="en-US" dirty="0"/>
              </a:p>
              <a:p>
                <a:endParaRPr lang="en-US" dirty="0"/>
              </a:p>
              <a:p>
                <a:endParaRPr lang="en-US" dirty="0"/>
              </a:p>
              <a:p>
                <a:endParaRPr lang="en-US" dirty="0"/>
              </a:p>
              <a:p>
                <a:r>
                  <a:rPr lang="en-US" dirty="0"/>
                  <a:t>Subtract </a:t>
                </a:r>
                <a14:m>
                  <m:oMath xmlns:m="http://schemas.openxmlformats.org/officeDocument/2006/math">
                    <m:sSub>
                      <m:sSubPr>
                        <m:ctrlPr>
                          <a:rPr lang="en-US" sz="3200" i="1" dirty="0">
                            <a:solidFill>
                              <a:prstClr val="black"/>
                            </a:solidFill>
                            <a:latin typeface="Cambria Math" panose="02040503050406030204" pitchFamily="18" charset="0"/>
                          </a:rPr>
                        </m:ctrlPr>
                      </m:sSubPr>
                      <m:e>
                        <m:r>
                          <a:rPr lang="en-US" sz="3200" i="1" dirty="0">
                            <a:solidFill>
                              <a:prstClr val="black"/>
                            </a:solidFill>
                            <a:latin typeface="Cambria Math" panose="02040503050406030204" pitchFamily="18" charset="0"/>
                          </a:rPr>
                          <m:t>6</m:t>
                        </m:r>
                      </m:e>
                      <m:sub>
                        <m:r>
                          <a:rPr lang="en-US" sz="3200" i="1" dirty="0">
                            <a:solidFill>
                              <a:prstClr val="black"/>
                            </a:solidFill>
                            <a:latin typeface="Cambria Math" panose="02040503050406030204" pitchFamily="18" charset="0"/>
                          </a:rPr>
                          <m:t>10</m:t>
                        </m:r>
                      </m:sub>
                    </m:sSub>
                    <m:r>
                      <a:rPr lang="en-US" sz="3200" i="1" dirty="0">
                        <a:solidFill>
                          <a:prstClr val="black"/>
                        </a:solidFill>
                        <a:latin typeface="Cambria Math" panose="02040503050406030204" pitchFamily="18" charset="0"/>
                      </a:rPr>
                      <m:t> </m:t>
                    </m:r>
                    <m:r>
                      <m:rPr>
                        <m:sty m:val="p"/>
                      </m:rPr>
                      <a:rPr lang="en-US" sz="3200" dirty="0">
                        <a:solidFill>
                          <a:prstClr val="black"/>
                        </a:solidFill>
                        <a:latin typeface="Cambria Math" panose="02040503050406030204" pitchFamily="18" charset="0"/>
                      </a:rPr>
                      <m:t>from</m:t>
                    </m:r>
                  </m:oMath>
                </a14:m>
                <a:r>
                  <a:rPr lang="en-US" sz="3200" dirty="0">
                    <a:solidFill>
                      <a:prstClr val="black"/>
                    </a:solidFill>
                  </a:rPr>
                  <a:t> </a:t>
                </a:r>
                <a14:m>
                  <m:oMath xmlns:m="http://schemas.openxmlformats.org/officeDocument/2006/math">
                    <m:sSub>
                      <m:sSubPr>
                        <m:ctrlPr>
                          <a:rPr lang="en-US" sz="3200" i="1" dirty="0">
                            <a:solidFill>
                              <a:prstClr val="black"/>
                            </a:solidFill>
                            <a:latin typeface="Cambria Math" panose="02040503050406030204" pitchFamily="18" charset="0"/>
                          </a:rPr>
                        </m:ctrlPr>
                      </m:sSubPr>
                      <m:e>
                        <m:r>
                          <a:rPr lang="en-US" sz="3200" b="0" i="1" dirty="0" smtClean="0">
                            <a:solidFill>
                              <a:prstClr val="black"/>
                            </a:solidFill>
                            <a:latin typeface="Cambria Math" panose="02040503050406030204" pitchFamily="18" charset="0"/>
                          </a:rPr>
                          <m:t>−128</m:t>
                        </m:r>
                      </m:e>
                      <m:sub>
                        <m:r>
                          <a:rPr lang="en-US" sz="3200" i="1" dirty="0">
                            <a:solidFill>
                              <a:prstClr val="black"/>
                            </a:solidFill>
                            <a:latin typeface="Cambria Math" panose="02040503050406030204" pitchFamily="18" charset="0"/>
                          </a:rPr>
                          <m:t>10</m:t>
                        </m:r>
                      </m:sub>
                    </m:sSub>
                  </m:oMath>
                </a14:m>
                <a:r>
                  <a:rPr lang="en-US" dirty="0"/>
                  <a:t>  </a:t>
                </a:r>
                <a:r>
                  <a:rPr lang="en-US" sz="3200" dirty="0"/>
                  <a:t>(-128 + (-6))</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3487" y="1125537"/>
                <a:ext cx="4556982" cy="4631796"/>
              </a:xfrm>
              <a:blipFill>
                <a:blip r:embed="rId2"/>
                <a:stretch>
                  <a:fillRect l="-2677" t="-2240"/>
                </a:stretch>
              </a:blipFill>
            </p:spPr>
            <p:txBody>
              <a:bodyPr/>
              <a:lstStyle/>
              <a:p>
                <a:r>
                  <a:rPr lang="en-US">
                    <a:noFill/>
                  </a:rPr>
                  <a:t> </a:t>
                </a:r>
              </a:p>
            </p:txBody>
          </p:sp>
        </mc:Fallback>
      </mc:AlternateContent>
      <p:sp>
        <p:nvSpPr>
          <p:cNvPr id="6" name="灯片编号占位符 5"/>
          <p:cNvSpPr>
            <a:spLocks noGrp="1"/>
          </p:cNvSpPr>
          <p:nvPr>
            <p:ph type="sldNum" sz="quarter" idx="10"/>
          </p:nvPr>
        </p:nvSpPr>
        <p:spPr/>
        <p:txBody>
          <a:bodyPr/>
          <a:lstStyle/>
          <a:p>
            <a:fld id="{D9B6BDF2-6896-4B98-8776-C18582F63BA5}" type="slidenum">
              <a:rPr lang="zh-TW" altLang="en-US" smtClean="0"/>
              <a:t>3</a:t>
            </a:fld>
            <a:endParaRPr lang="zh-TW" altLang="en-US"/>
          </a:p>
        </p:txBody>
      </p:sp>
      <p:sp>
        <p:nvSpPr>
          <p:cNvPr id="4" name="Rectangle 3">
            <a:extLst>
              <a:ext uri="{FF2B5EF4-FFF2-40B4-BE49-F238E27FC236}">
                <a16:creationId xmlns:a16="http://schemas.microsoft.com/office/drawing/2014/main" id="{53AE63E5-C3E5-440D-9663-C29E2A3428C1}"/>
              </a:ext>
            </a:extLst>
          </p:cNvPr>
          <p:cNvSpPr/>
          <p:nvPr/>
        </p:nvSpPr>
        <p:spPr bwMode="auto">
          <a:xfrm>
            <a:off x="5796037" y="1248230"/>
            <a:ext cx="1703009" cy="803119"/>
          </a:xfrm>
          <a:prstGeom prst="rect">
            <a:avLst/>
          </a:prstGeom>
          <a:noFill/>
          <a:ln w="15875" cap="flat" cmpd="sng" algn="ctr">
            <a:noFill/>
            <a:prstDash val="solid"/>
            <a:round/>
            <a:headEnd type="none" w="med" len="med"/>
            <a:tailEnd type="none" w="med" len="med"/>
          </a:ln>
        </p:spPr>
        <p:txBody>
          <a:bodyPr vert="horz" wrap="none" lIns="121920" tIns="60960" rIns="121920" bIns="60960" numCol="1" rtlCol="0" anchor="ctr" anchorCtr="0" compatLnSpc="1"/>
          <a:lstStyle/>
          <a:p>
            <a:pPr defTabSz="1219170" fontAlgn="base">
              <a:spcBef>
                <a:spcPct val="0"/>
              </a:spcBef>
              <a:spcAft>
                <a:spcPct val="0"/>
              </a:spcAft>
            </a:pPr>
            <a:r>
              <a:rPr kumimoji="1" lang="en-US" sz="2400" b="1" dirty="0">
                <a:latin typeface="Tahoma" panose="020B0604030504040204" pitchFamily="34" charset="0"/>
                <a:ea typeface="Tahoma" panose="020B0604030504040204" pitchFamily="34" charset="0"/>
                <a:cs typeface="Tahoma" panose="020B0604030504040204" pitchFamily="34" charset="0"/>
              </a:rPr>
              <a:t>01111111</a:t>
            </a:r>
          </a:p>
          <a:p>
            <a:pPr defTabSz="1219170" fontAlgn="base">
              <a:spcBef>
                <a:spcPct val="0"/>
              </a:spcBef>
              <a:spcAft>
                <a:spcPct val="0"/>
              </a:spcAft>
            </a:pPr>
            <a:r>
              <a:rPr kumimoji="1" lang="en-US" sz="2400" b="1" dirty="0">
                <a:latin typeface="Tahoma" panose="020B0604030504040204" pitchFamily="34" charset="0"/>
                <a:ea typeface="Tahoma" panose="020B0604030504040204" pitchFamily="34" charset="0"/>
                <a:cs typeface="Tahoma" panose="020B0604030504040204" pitchFamily="34" charset="0"/>
              </a:rPr>
              <a:t>00000011</a:t>
            </a:r>
          </a:p>
        </p:txBody>
      </p:sp>
      <p:cxnSp>
        <p:nvCxnSpPr>
          <p:cNvPr id="7" name="Straight Connector 6">
            <a:extLst>
              <a:ext uri="{FF2B5EF4-FFF2-40B4-BE49-F238E27FC236}">
                <a16:creationId xmlns:a16="http://schemas.microsoft.com/office/drawing/2014/main" id="{57A07026-F12D-479B-8D97-3EF76325649F}"/>
              </a:ext>
            </a:extLst>
          </p:cNvPr>
          <p:cNvCxnSpPr>
            <a:cxnSpLocks/>
          </p:cNvCxnSpPr>
          <p:nvPr/>
        </p:nvCxnSpPr>
        <p:spPr bwMode="auto">
          <a:xfrm flipV="1">
            <a:off x="5537938" y="2035961"/>
            <a:ext cx="2177312" cy="5711"/>
          </a:xfrm>
          <a:prstGeom prst="line">
            <a:avLst/>
          </a:prstGeom>
          <a:noFill/>
          <a:ln w="15875" cap="flat" cmpd="sng" algn="ctr">
            <a:solidFill>
              <a:srgbClr val="FF0000"/>
            </a:solidFill>
            <a:prstDash val="solid"/>
            <a:round/>
            <a:headEnd type="none" w="med" len="med"/>
            <a:tailEnd type="none" w="med" len="med"/>
          </a:ln>
        </p:spPr>
      </p:cxnSp>
      <p:sp>
        <p:nvSpPr>
          <p:cNvPr id="8" name="TextBox 7">
            <a:extLst>
              <a:ext uri="{FF2B5EF4-FFF2-40B4-BE49-F238E27FC236}">
                <a16:creationId xmlns:a16="http://schemas.microsoft.com/office/drawing/2014/main" id="{035D4BED-5C0C-4FEE-8E30-6C060FB180C1}"/>
              </a:ext>
            </a:extLst>
          </p:cNvPr>
          <p:cNvSpPr txBox="1"/>
          <p:nvPr/>
        </p:nvSpPr>
        <p:spPr>
          <a:xfrm>
            <a:off x="5454108" y="1574296"/>
            <a:ext cx="364202"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a:t>
            </a:r>
          </a:p>
        </p:txBody>
      </p:sp>
      <p:sp>
        <p:nvSpPr>
          <p:cNvPr id="9" name="TextBox 8">
            <a:extLst>
              <a:ext uri="{FF2B5EF4-FFF2-40B4-BE49-F238E27FC236}">
                <a16:creationId xmlns:a16="http://schemas.microsoft.com/office/drawing/2014/main" id="{FBBCB407-239D-4CF9-9461-A4C9402699E7}"/>
              </a:ext>
            </a:extLst>
          </p:cNvPr>
          <p:cNvSpPr txBox="1"/>
          <p:nvPr/>
        </p:nvSpPr>
        <p:spPr>
          <a:xfrm>
            <a:off x="5807206" y="1967829"/>
            <a:ext cx="1749197" cy="461665"/>
          </a:xfrm>
          <a:prstGeom prst="rect">
            <a:avLst/>
          </a:prstGeom>
          <a:noFill/>
        </p:spPr>
        <p:txBody>
          <a:bodyPr wrap="none" rtlCol="0" anchor="ctr" anchorCtr="1">
            <a:spAutoFit/>
          </a:bodyPr>
          <a:lstStyle/>
          <a:p>
            <a:r>
              <a:rPr lang="en-US" sz="2400" b="1" dirty="0">
                <a:latin typeface="Tahoma" panose="020B0604030504040204" pitchFamily="34" charset="0"/>
                <a:ea typeface="Tahoma" panose="020B0604030504040204" pitchFamily="34" charset="0"/>
                <a:cs typeface="Tahoma" panose="020B0604030504040204" pitchFamily="34" charset="0"/>
              </a:rPr>
              <a:t>10000010</a:t>
            </a:r>
          </a:p>
        </p:txBody>
      </p:sp>
      <p:sp>
        <p:nvSpPr>
          <p:cNvPr id="10" name="Rectangle 9">
            <a:extLst>
              <a:ext uri="{FF2B5EF4-FFF2-40B4-BE49-F238E27FC236}">
                <a16:creationId xmlns:a16="http://schemas.microsoft.com/office/drawing/2014/main" id="{3E05E09A-F571-4148-9A6B-770697100A62}"/>
              </a:ext>
            </a:extLst>
          </p:cNvPr>
          <p:cNvSpPr/>
          <p:nvPr/>
        </p:nvSpPr>
        <p:spPr bwMode="auto">
          <a:xfrm>
            <a:off x="5737982" y="3696306"/>
            <a:ext cx="1703009" cy="803119"/>
          </a:xfrm>
          <a:prstGeom prst="rect">
            <a:avLst/>
          </a:prstGeom>
          <a:noFill/>
          <a:ln w="15875" cap="flat" cmpd="sng" algn="ctr">
            <a:noFill/>
            <a:prstDash val="solid"/>
            <a:round/>
            <a:headEnd type="none" w="med" len="med"/>
            <a:tailEnd type="none" w="med" len="med"/>
          </a:ln>
        </p:spPr>
        <p:txBody>
          <a:bodyPr vert="horz" wrap="none" lIns="121920" tIns="60960" rIns="121920" bIns="60960" numCol="1" rtlCol="0" anchor="ctr" anchorCtr="0" compatLnSpc="1"/>
          <a:lstStyle/>
          <a:p>
            <a:pPr defTabSz="1219170" fontAlgn="base">
              <a:spcBef>
                <a:spcPct val="0"/>
              </a:spcBef>
              <a:spcAft>
                <a:spcPct val="0"/>
              </a:spcAft>
            </a:pPr>
            <a:r>
              <a:rPr kumimoji="1" lang="en-US" sz="2400" b="1" dirty="0">
                <a:latin typeface="Arial" panose="020B0604020202020204" pitchFamily="34" charset="0"/>
                <a:ea typeface="PMingLiU" panose="02020500000000000000" pitchFamily="18" charset="-120"/>
              </a:rPr>
              <a:t> </a:t>
            </a:r>
            <a:r>
              <a:rPr kumimoji="1" lang="en-US" sz="2400" b="1" dirty="0">
                <a:latin typeface="Tahoma" panose="020B0604030504040204" pitchFamily="34" charset="0"/>
                <a:ea typeface="Tahoma" panose="020B0604030504040204" pitchFamily="34" charset="0"/>
                <a:cs typeface="Tahoma" panose="020B0604030504040204" pitchFamily="34" charset="0"/>
              </a:rPr>
              <a:t>11111010</a:t>
            </a:r>
          </a:p>
          <a:p>
            <a:pPr defTabSz="1219170" fontAlgn="base">
              <a:spcBef>
                <a:spcPct val="0"/>
              </a:spcBef>
              <a:spcAft>
                <a:spcPct val="0"/>
              </a:spcAft>
            </a:pPr>
            <a:r>
              <a:rPr kumimoji="1" lang="en-US" sz="2400" b="1" dirty="0">
                <a:latin typeface="Tahoma" panose="020B0604030504040204" pitchFamily="34" charset="0"/>
                <a:ea typeface="Tahoma" panose="020B0604030504040204" pitchFamily="34" charset="0"/>
                <a:cs typeface="Tahoma" panose="020B0604030504040204" pitchFamily="34" charset="0"/>
              </a:rPr>
              <a:t> 10000000</a:t>
            </a:r>
          </a:p>
        </p:txBody>
      </p:sp>
      <p:cxnSp>
        <p:nvCxnSpPr>
          <p:cNvPr id="11" name="Straight Connector 10">
            <a:extLst>
              <a:ext uri="{FF2B5EF4-FFF2-40B4-BE49-F238E27FC236}">
                <a16:creationId xmlns:a16="http://schemas.microsoft.com/office/drawing/2014/main" id="{30CD9781-6034-4520-9C01-093E7E0E7A3C}"/>
              </a:ext>
            </a:extLst>
          </p:cNvPr>
          <p:cNvCxnSpPr>
            <a:cxnSpLocks/>
          </p:cNvCxnSpPr>
          <p:nvPr/>
        </p:nvCxnSpPr>
        <p:spPr bwMode="auto">
          <a:xfrm>
            <a:off x="5479883" y="4489748"/>
            <a:ext cx="2235367" cy="9677"/>
          </a:xfrm>
          <a:prstGeom prst="line">
            <a:avLst/>
          </a:prstGeom>
          <a:noFill/>
          <a:ln w="15875" cap="flat" cmpd="sng" algn="ctr">
            <a:solidFill>
              <a:srgbClr val="FF0000"/>
            </a:solidFill>
            <a:prstDash val="solid"/>
            <a:round/>
            <a:headEnd type="none" w="med" len="med"/>
            <a:tailEnd type="none" w="med" len="med"/>
          </a:ln>
        </p:spPr>
      </p:cxnSp>
      <p:sp>
        <p:nvSpPr>
          <p:cNvPr id="12" name="TextBox 11">
            <a:extLst>
              <a:ext uri="{FF2B5EF4-FFF2-40B4-BE49-F238E27FC236}">
                <a16:creationId xmlns:a16="http://schemas.microsoft.com/office/drawing/2014/main" id="{B3511D52-5D92-4627-9255-F4940763736B}"/>
              </a:ext>
            </a:extLst>
          </p:cNvPr>
          <p:cNvSpPr txBox="1"/>
          <p:nvPr/>
        </p:nvSpPr>
        <p:spPr>
          <a:xfrm>
            <a:off x="5396053" y="4022372"/>
            <a:ext cx="364202"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a:t>
            </a:r>
          </a:p>
        </p:txBody>
      </p:sp>
      <p:sp>
        <p:nvSpPr>
          <p:cNvPr id="13" name="TextBox 12">
            <a:extLst>
              <a:ext uri="{FF2B5EF4-FFF2-40B4-BE49-F238E27FC236}">
                <a16:creationId xmlns:a16="http://schemas.microsoft.com/office/drawing/2014/main" id="{A1D44FC7-E8E3-4FC7-B401-F82828257BB6}"/>
              </a:ext>
            </a:extLst>
          </p:cNvPr>
          <p:cNvSpPr txBox="1"/>
          <p:nvPr/>
        </p:nvSpPr>
        <p:spPr>
          <a:xfrm>
            <a:off x="5796037" y="4556983"/>
            <a:ext cx="1834156" cy="461665"/>
          </a:xfrm>
          <a:prstGeom prst="rect">
            <a:avLst/>
          </a:prstGeom>
          <a:noFill/>
        </p:spPr>
        <p:txBody>
          <a:bodyPr wrap="none" rtlCol="0" anchor="ctr" anchorCtr="1">
            <a:spAutoFit/>
          </a:bodyPr>
          <a:lstStyle/>
          <a:p>
            <a:r>
              <a:rPr lang="en-US" sz="2400" b="1" dirty="0">
                <a:ea typeface="標楷體" panose="02010601000101010101" pitchFamily="65" charset="-120"/>
                <a:cs typeface="Calibri" panose="020F0502020204030204" pitchFamily="34" charset="0"/>
              </a:rPr>
              <a:t> </a:t>
            </a:r>
            <a:r>
              <a:rPr lang="en-US" sz="2400" b="1" dirty="0">
                <a:latin typeface="Tahoma" panose="020B0604030504040204" pitchFamily="34" charset="0"/>
                <a:ea typeface="Tahoma" panose="020B0604030504040204" pitchFamily="34" charset="0"/>
                <a:cs typeface="Tahoma" panose="020B0604030504040204" pitchFamily="34" charset="0"/>
              </a:rPr>
              <a:t>01111010</a:t>
            </a:r>
          </a:p>
        </p:txBody>
      </p:sp>
      <p:cxnSp>
        <p:nvCxnSpPr>
          <p:cNvPr id="15" name="Straight Arrow Connector 14">
            <a:extLst>
              <a:ext uri="{FF2B5EF4-FFF2-40B4-BE49-F238E27FC236}">
                <a16:creationId xmlns:a16="http://schemas.microsoft.com/office/drawing/2014/main" id="{C9848250-BED7-46A3-A10D-FCB915E9C24F}"/>
              </a:ext>
            </a:extLst>
          </p:cNvPr>
          <p:cNvCxnSpPr/>
          <p:nvPr/>
        </p:nvCxnSpPr>
        <p:spPr bwMode="auto">
          <a:xfrm flipH="1">
            <a:off x="7044267" y="3357639"/>
            <a:ext cx="1393372" cy="551543"/>
          </a:xfrm>
          <a:prstGeom prst="straightConnector1">
            <a:avLst/>
          </a:prstGeom>
          <a:noFill/>
          <a:ln w="15875" cap="flat" cmpd="sng" algn="ctr">
            <a:solidFill>
              <a:srgbClr val="FF0000"/>
            </a:solidFill>
            <a:prstDash val="solid"/>
            <a:round/>
            <a:headEnd type="none" w="med" len="med"/>
            <a:tailEnd type="triangle"/>
          </a:ln>
        </p:spPr>
      </p:cxnSp>
      <p:sp>
        <p:nvSpPr>
          <p:cNvPr id="16" name="TextBox 15">
            <a:extLst>
              <a:ext uri="{FF2B5EF4-FFF2-40B4-BE49-F238E27FC236}">
                <a16:creationId xmlns:a16="http://schemas.microsoft.com/office/drawing/2014/main" id="{F1A6E0B9-19B9-4ACA-B934-5377A99F24AF}"/>
              </a:ext>
            </a:extLst>
          </p:cNvPr>
          <p:cNvSpPr txBox="1"/>
          <p:nvPr/>
        </p:nvSpPr>
        <p:spPr>
          <a:xfrm>
            <a:off x="8437639" y="3058022"/>
            <a:ext cx="2900987" cy="461665"/>
          </a:xfrm>
          <a:prstGeom prst="rect">
            <a:avLst/>
          </a:prstGeom>
          <a:noFill/>
        </p:spPr>
        <p:txBody>
          <a:bodyPr wrap="none" rtlCol="0" anchor="ctr" anchorCtr="1">
            <a:spAutoFit/>
          </a:bodyPr>
          <a:lstStyle/>
          <a:p>
            <a:r>
              <a:rPr lang="en-US" sz="2400" dirty="0">
                <a:ea typeface="標楷體" panose="02010601000101010101" pitchFamily="65" charset="-120"/>
                <a:cs typeface="Calibri" panose="020F0502020204030204" pitchFamily="34" charset="0"/>
              </a:rPr>
              <a:t>-6 (2’s complement)</a:t>
            </a:r>
          </a:p>
        </p:txBody>
      </p:sp>
      <p:sp>
        <p:nvSpPr>
          <p:cNvPr id="5" name="TextBox 4">
            <a:extLst>
              <a:ext uri="{FF2B5EF4-FFF2-40B4-BE49-F238E27FC236}">
                <a16:creationId xmlns:a16="http://schemas.microsoft.com/office/drawing/2014/main" id="{0A936C44-3668-4CA7-9323-8EF57BBE5E11}"/>
              </a:ext>
            </a:extLst>
          </p:cNvPr>
          <p:cNvSpPr txBox="1"/>
          <p:nvPr/>
        </p:nvSpPr>
        <p:spPr>
          <a:xfrm>
            <a:off x="7844630" y="1204964"/>
            <a:ext cx="326243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Assuming 8bit signed integers</a:t>
            </a:r>
          </a:p>
        </p:txBody>
      </p:sp>
      <p:sp>
        <p:nvSpPr>
          <p:cNvPr id="17" name="TextBox 16">
            <a:extLst>
              <a:ext uri="{FF2B5EF4-FFF2-40B4-BE49-F238E27FC236}">
                <a16:creationId xmlns:a16="http://schemas.microsoft.com/office/drawing/2014/main" id="{62AE892B-FAEE-4E3E-BA64-C85DB93A726F}"/>
              </a:ext>
            </a:extLst>
          </p:cNvPr>
          <p:cNvSpPr txBox="1"/>
          <p:nvPr/>
        </p:nvSpPr>
        <p:spPr>
          <a:xfrm>
            <a:off x="7840975" y="1981685"/>
            <a:ext cx="321113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Overflowed, result is negative</a:t>
            </a:r>
          </a:p>
        </p:txBody>
      </p:sp>
      <p:sp>
        <p:nvSpPr>
          <p:cNvPr id="18" name="TextBox 17">
            <a:extLst>
              <a:ext uri="{FF2B5EF4-FFF2-40B4-BE49-F238E27FC236}">
                <a16:creationId xmlns:a16="http://schemas.microsoft.com/office/drawing/2014/main" id="{67269D6C-A040-48A4-A340-CBEA82B9FF72}"/>
              </a:ext>
            </a:extLst>
          </p:cNvPr>
          <p:cNvSpPr txBox="1"/>
          <p:nvPr/>
        </p:nvSpPr>
        <p:spPr>
          <a:xfrm>
            <a:off x="7895927" y="4309333"/>
            <a:ext cx="3121367"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Overflowed, result is positive</a:t>
            </a:r>
          </a:p>
          <a:p>
            <a:r>
              <a:rPr lang="en-US" dirty="0">
                <a:ea typeface="標楷體" pitchFamily="65" charset="-120"/>
                <a:cs typeface="Calibri" pitchFamily="34" charset="0"/>
              </a:rPr>
              <a:t>Carry from the MSB is lost.</a:t>
            </a:r>
          </a:p>
        </p:txBody>
      </p:sp>
    </p:spTree>
    <p:extLst>
      <p:ext uri="{BB962C8B-B14F-4D97-AF65-F5344CB8AC3E}">
        <p14:creationId xmlns:p14="http://schemas.microsoft.com/office/powerpoint/2010/main" val="391627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Integer Overflows </a:t>
            </a:r>
          </a:p>
        </p:txBody>
      </p:sp>
      <p:sp>
        <p:nvSpPr>
          <p:cNvPr id="3" name="Content Placeholder 2"/>
          <p:cNvSpPr>
            <a:spLocks noGrp="1"/>
          </p:cNvSpPr>
          <p:nvPr>
            <p:ph idx="1"/>
          </p:nvPr>
        </p:nvSpPr>
        <p:spPr>
          <a:xfrm>
            <a:off x="197963" y="1068976"/>
            <a:ext cx="11754854" cy="5027614"/>
          </a:xfrm>
        </p:spPr>
        <p:txBody>
          <a:bodyPr>
            <a:normAutofit fontScale="92500" lnSpcReduction="10000"/>
          </a:bodyPr>
          <a:lstStyle/>
          <a:p>
            <a:r>
              <a:rPr lang="en-US" sz="2800" dirty="0"/>
              <a:t>Why are there overflows?</a:t>
            </a:r>
          </a:p>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We have a limited number of bits to represent integers (or numbers). When computed results exceed the limit, an overflow occurs.</a:t>
            </a:r>
          </a:p>
          <a:p>
            <a:r>
              <a:rPr lang="en-US" sz="2800" dirty="0"/>
              <a:t>It is dangerous to use incorrect results. What should a system do?</a:t>
            </a:r>
          </a:p>
          <a:p>
            <a:pPr marL="0" indent="0">
              <a:buNone/>
            </a:pPr>
            <a:r>
              <a:rPr lang="en-US" sz="2400" dirty="0"/>
              <a:t>Many systems do not throw an error, because </a:t>
            </a:r>
          </a:p>
          <a:p>
            <a:pPr marL="0" indent="0">
              <a:buNone/>
            </a:pPr>
            <a:r>
              <a:rPr lang="en-US" sz="2400" dirty="0"/>
              <a:t>a) performance</a:t>
            </a:r>
          </a:p>
          <a:p>
            <a:pPr marL="0" indent="0">
              <a:buNone/>
            </a:pPr>
            <a:r>
              <a:rPr lang="en-US" sz="2400" dirty="0"/>
              <a:t>b) historical designs</a:t>
            </a:r>
            <a:br>
              <a:rPr lang="en-US" sz="2400" dirty="0"/>
            </a:br>
            <a:r>
              <a:rPr lang="en-US" sz="2400" dirty="0"/>
              <a:t>c) </a:t>
            </a:r>
            <a:r>
              <a:rPr lang="en-US" sz="2200" dirty="0"/>
              <a:t>integer 2’s complement arithmetic has a well-defined wrap-around behavior </a:t>
            </a:r>
            <a:r>
              <a:rPr lang="en-US" sz="1700" dirty="0"/>
              <a:t>(hashing/cryptography relies on)</a:t>
            </a:r>
          </a:p>
          <a:p>
            <a:pPr marL="0" indent="0">
              <a:buSzPct val="200000"/>
              <a:buNone/>
            </a:pPr>
            <a:r>
              <a:rPr lang="en-US" sz="2400" dirty="0"/>
              <a:t>But “Silent” Errors have caused serious failures</a:t>
            </a:r>
          </a:p>
          <a:p>
            <a:pPr marL="0" indent="0">
              <a:buSzPct val="200000"/>
              <a:buNone/>
            </a:pPr>
            <a:r>
              <a:rPr lang="en-US" sz="2400" dirty="0"/>
              <a:t>What should be done?</a:t>
            </a:r>
          </a:p>
          <a:p>
            <a:pPr lvl="1">
              <a:buSzPct val="200000"/>
              <a:buFont typeface="Wingdings" panose="05000000000000000000" pitchFamily="2" charset="2"/>
              <a:buChar char="§"/>
            </a:pPr>
            <a:r>
              <a:rPr lang="en-US" sz="2000" dirty="0"/>
              <a:t>Python: dynamic size to avoid overflow</a:t>
            </a:r>
          </a:p>
          <a:p>
            <a:pPr lvl="1">
              <a:buSzPct val="200000"/>
              <a:buFont typeface="Wingdings" panose="05000000000000000000" pitchFamily="2" charset="2"/>
              <a:buChar char="§"/>
            </a:pPr>
            <a:r>
              <a:rPr lang="en-US" sz="2000" dirty="0"/>
              <a:t>Rust or C#, use checked arithmetic</a:t>
            </a:r>
          </a:p>
          <a:p>
            <a:pPr lvl="1">
              <a:buSzPct val="200000"/>
              <a:buFont typeface="Wingdings" panose="05000000000000000000" pitchFamily="2" charset="2"/>
              <a:buChar char="§"/>
            </a:pPr>
            <a:r>
              <a:rPr lang="en-US" sz="2000" dirty="0"/>
              <a:t>Raise exceptions: Fortran and Ada require HW to raise exceptions.</a:t>
            </a:r>
          </a:p>
          <a:p>
            <a:pPr lvl="1">
              <a:buSzPct val="200000"/>
              <a:buFont typeface="Wingdings" panose="05000000000000000000" pitchFamily="2" charset="2"/>
              <a:buChar char="§"/>
            </a:pPr>
            <a:r>
              <a:rPr lang="en-US" sz="2000" dirty="0"/>
              <a:t>Saturation arithmetic: using MMX/SSE multimedia instructions</a:t>
            </a:r>
            <a:endParaRPr lang="en-US" dirty="0"/>
          </a:p>
          <a:p>
            <a:endParaRPr lang="en-US"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4</a:t>
            </a:fld>
            <a:endParaRPr lang="zh-TW" altLang="en-US"/>
          </a:p>
        </p:txBody>
      </p:sp>
    </p:spTree>
    <p:extLst>
      <p:ext uri="{BB962C8B-B14F-4D97-AF65-F5344CB8AC3E}">
        <p14:creationId xmlns:p14="http://schemas.microsoft.com/office/powerpoint/2010/main" val="412723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Overflow Detections</a:t>
            </a:r>
          </a:p>
        </p:txBody>
      </p:sp>
      <p:sp>
        <p:nvSpPr>
          <p:cNvPr id="3" name="Content Placeholder 2"/>
          <p:cNvSpPr>
            <a:spLocks noGrp="1"/>
          </p:cNvSpPr>
          <p:nvPr>
            <p:ph idx="1"/>
          </p:nvPr>
        </p:nvSpPr>
        <p:spPr>
          <a:xfrm>
            <a:off x="493487" y="1125537"/>
            <a:ext cx="10779275" cy="692152"/>
          </a:xfrm>
        </p:spPr>
        <p:txBody>
          <a:bodyPr>
            <a:normAutofit/>
          </a:bodyPr>
          <a:lstStyle/>
          <a:p>
            <a:r>
              <a:rPr lang="en-US" sz="3200" dirty="0"/>
              <a:t>Overflow detection for 2’s complement numbers</a:t>
            </a:r>
          </a:p>
          <a:p>
            <a:endParaRPr lang="en-US" dirty="0"/>
          </a:p>
          <a:p>
            <a:endParaRPr lang="en-US" dirty="0"/>
          </a:p>
          <a:p>
            <a:endParaRPr lang="en-US"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5</a:t>
            </a:fld>
            <a:endParaRPr lang="zh-TW" altLang="en-US"/>
          </a:p>
        </p:txBody>
      </p:sp>
      <p:graphicFrame>
        <p:nvGraphicFramePr>
          <p:cNvPr id="5" name="Table 13">
            <a:extLst>
              <a:ext uri="{FF2B5EF4-FFF2-40B4-BE49-F238E27FC236}">
                <a16:creationId xmlns:a16="http://schemas.microsoft.com/office/drawing/2014/main" id="{636592A8-1C17-4DF4-B3C3-60458B3BD696}"/>
              </a:ext>
            </a:extLst>
          </p:cNvPr>
          <p:cNvGraphicFramePr>
            <a:graphicFrameLocks noGrp="1"/>
          </p:cNvGraphicFramePr>
          <p:nvPr/>
        </p:nvGraphicFramePr>
        <p:xfrm>
          <a:off x="980015" y="1817689"/>
          <a:ext cx="10779275" cy="2831591"/>
        </p:xfrm>
        <a:graphic>
          <a:graphicData uri="http://schemas.openxmlformats.org/drawingml/2006/table">
            <a:tbl>
              <a:tblPr firstRow="1" bandRow="1">
                <a:tableStyleId>{5C22544A-7EE6-4342-B048-85BDC9FD1C3A}</a:tableStyleId>
              </a:tblPr>
              <a:tblGrid>
                <a:gridCol w="1967466">
                  <a:extLst>
                    <a:ext uri="{9D8B030D-6E8A-4147-A177-3AD203B41FA5}">
                      <a16:colId xmlns:a16="http://schemas.microsoft.com/office/drawing/2014/main" val="472818852"/>
                    </a:ext>
                  </a:extLst>
                </a:gridCol>
                <a:gridCol w="2033081">
                  <a:extLst>
                    <a:ext uri="{9D8B030D-6E8A-4147-A177-3AD203B41FA5}">
                      <a16:colId xmlns:a16="http://schemas.microsoft.com/office/drawing/2014/main" val="1122120880"/>
                    </a:ext>
                  </a:extLst>
                </a:gridCol>
                <a:gridCol w="1957267">
                  <a:extLst>
                    <a:ext uri="{9D8B030D-6E8A-4147-A177-3AD203B41FA5}">
                      <a16:colId xmlns:a16="http://schemas.microsoft.com/office/drawing/2014/main" val="22366522"/>
                    </a:ext>
                  </a:extLst>
                </a:gridCol>
                <a:gridCol w="4821461">
                  <a:extLst>
                    <a:ext uri="{9D8B030D-6E8A-4147-A177-3AD203B41FA5}">
                      <a16:colId xmlns:a16="http://schemas.microsoft.com/office/drawing/2014/main" val="4165946454"/>
                    </a:ext>
                  </a:extLst>
                </a:gridCol>
              </a:tblGrid>
              <a:tr h="853779">
                <a:tc>
                  <a:txBody>
                    <a:bodyPr/>
                    <a:lstStyle/>
                    <a:p>
                      <a:r>
                        <a:rPr lang="en-US" sz="2400" dirty="0"/>
                        <a:t>Operation</a:t>
                      </a:r>
                    </a:p>
                  </a:txBody>
                  <a:tcPr marL="121920" marR="121920" marT="60960" marB="60960"/>
                </a:tc>
                <a:tc>
                  <a:txBody>
                    <a:bodyPr/>
                    <a:lstStyle/>
                    <a:p>
                      <a:r>
                        <a:rPr lang="en-US" sz="2400" dirty="0"/>
                        <a:t>Operand A</a:t>
                      </a:r>
                    </a:p>
                  </a:txBody>
                  <a:tcPr marL="121920" marR="121920" marT="60960" marB="60960"/>
                </a:tc>
                <a:tc>
                  <a:txBody>
                    <a:bodyPr/>
                    <a:lstStyle/>
                    <a:p>
                      <a:r>
                        <a:rPr lang="en-US" sz="2400" dirty="0"/>
                        <a:t>Operand B</a:t>
                      </a:r>
                    </a:p>
                  </a:txBody>
                  <a:tcPr marL="121920" marR="121920" marT="60960" marB="60960"/>
                </a:tc>
                <a:tc>
                  <a:txBody>
                    <a:bodyPr/>
                    <a:lstStyle/>
                    <a:p>
                      <a:r>
                        <a:rPr lang="en-US" sz="2400" dirty="0"/>
                        <a:t>Result indicating overflow</a:t>
                      </a:r>
                    </a:p>
                  </a:txBody>
                  <a:tcPr marL="121920" marR="121920" marT="60960" marB="60960"/>
                </a:tc>
                <a:extLst>
                  <a:ext uri="{0D108BD9-81ED-4DB2-BD59-A6C34878D82A}">
                    <a16:rowId xmlns:a16="http://schemas.microsoft.com/office/drawing/2014/main" val="3690539309"/>
                  </a:ext>
                </a:extLst>
              </a:tr>
              <a:tr h="494453">
                <a:tc>
                  <a:txBody>
                    <a:bodyPr/>
                    <a:lstStyle/>
                    <a:p>
                      <a:r>
                        <a:rPr lang="en-US" sz="2400" dirty="0"/>
                        <a:t>A + B</a:t>
                      </a:r>
                    </a:p>
                  </a:txBody>
                  <a:tcPr marL="121920" marR="121920" marT="60960" marB="60960"/>
                </a:tc>
                <a:tc>
                  <a:txBody>
                    <a:bodyPr/>
                    <a:lstStyle/>
                    <a:p>
                      <a:r>
                        <a:rPr lang="en-US" sz="2400" dirty="0"/>
                        <a:t>&gt;= 0 </a:t>
                      </a:r>
                    </a:p>
                  </a:txBody>
                  <a:tcPr marL="121920" marR="121920" marT="60960" marB="60960"/>
                </a:tc>
                <a:tc>
                  <a:txBody>
                    <a:bodyPr/>
                    <a:lstStyle/>
                    <a:p>
                      <a:r>
                        <a:rPr lang="en-US" sz="2400" dirty="0"/>
                        <a:t>&gt;= 0</a:t>
                      </a:r>
                    </a:p>
                  </a:txBody>
                  <a:tcPr marL="121920" marR="121920" marT="60960" marB="60960"/>
                </a:tc>
                <a:tc>
                  <a:txBody>
                    <a:bodyPr/>
                    <a:lstStyle/>
                    <a:p>
                      <a:r>
                        <a:rPr lang="en-US" sz="2400" dirty="0"/>
                        <a:t>&lt; 0 </a:t>
                      </a:r>
                    </a:p>
                  </a:txBody>
                  <a:tcPr marL="121920" marR="121920" marT="60960" marB="60960"/>
                </a:tc>
                <a:extLst>
                  <a:ext uri="{0D108BD9-81ED-4DB2-BD59-A6C34878D82A}">
                    <a16:rowId xmlns:a16="http://schemas.microsoft.com/office/drawing/2014/main" val="2422332103"/>
                  </a:ext>
                </a:extLst>
              </a:tr>
              <a:tr h="494453">
                <a:tc>
                  <a:txBody>
                    <a:bodyPr/>
                    <a:lstStyle/>
                    <a:p>
                      <a:r>
                        <a:rPr lang="en-US" sz="2400" dirty="0"/>
                        <a:t>A + B</a:t>
                      </a:r>
                    </a:p>
                  </a:txBody>
                  <a:tcPr marL="121920" marR="121920" marT="60960" marB="60960"/>
                </a:tc>
                <a:tc>
                  <a:txBody>
                    <a:bodyPr/>
                    <a:lstStyle/>
                    <a:p>
                      <a:r>
                        <a:rPr lang="en-US" sz="2400" dirty="0"/>
                        <a:t>&lt; 0</a:t>
                      </a:r>
                    </a:p>
                  </a:txBody>
                  <a:tcPr marL="121920" marR="121920" marT="60960" marB="60960"/>
                </a:tc>
                <a:tc>
                  <a:txBody>
                    <a:bodyPr/>
                    <a:lstStyle/>
                    <a:p>
                      <a:r>
                        <a:rPr lang="en-US" sz="2400" dirty="0"/>
                        <a:t>&lt; 0 </a:t>
                      </a:r>
                    </a:p>
                  </a:txBody>
                  <a:tcPr marL="121920" marR="121920" marT="60960" marB="60960"/>
                </a:tc>
                <a:tc>
                  <a:txBody>
                    <a:bodyPr/>
                    <a:lstStyle/>
                    <a:p>
                      <a:r>
                        <a:rPr lang="en-US" sz="2400" dirty="0"/>
                        <a:t>&gt;= 0</a:t>
                      </a:r>
                    </a:p>
                  </a:txBody>
                  <a:tcPr marL="121920" marR="121920" marT="60960" marB="60960"/>
                </a:tc>
                <a:extLst>
                  <a:ext uri="{0D108BD9-81ED-4DB2-BD59-A6C34878D82A}">
                    <a16:rowId xmlns:a16="http://schemas.microsoft.com/office/drawing/2014/main" val="835495410"/>
                  </a:ext>
                </a:extLst>
              </a:tr>
              <a:tr h="494453">
                <a:tc>
                  <a:txBody>
                    <a:bodyPr/>
                    <a:lstStyle/>
                    <a:p>
                      <a:r>
                        <a:rPr lang="en-US" sz="2400" dirty="0"/>
                        <a:t>A - B</a:t>
                      </a:r>
                    </a:p>
                  </a:txBody>
                  <a:tcPr marL="121920" marR="121920" marT="60960" marB="60960"/>
                </a:tc>
                <a:tc>
                  <a:txBody>
                    <a:bodyPr/>
                    <a:lstStyle/>
                    <a:p>
                      <a:r>
                        <a:rPr lang="en-US" sz="2400" dirty="0"/>
                        <a:t>&gt;= 0</a:t>
                      </a:r>
                    </a:p>
                  </a:txBody>
                  <a:tcPr marL="121920" marR="121920" marT="60960" marB="60960"/>
                </a:tc>
                <a:tc>
                  <a:txBody>
                    <a:bodyPr/>
                    <a:lstStyle/>
                    <a:p>
                      <a:r>
                        <a:rPr lang="en-US" sz="2400" dirty="0"/>
                        <a:t>&lt; 0</a:t>
                      </a:r>
                    </a:p>
                  </a:txBody>
                  <a:tcPr marL="121920" marR="121920" marT="60960" marB="60960"/>
                </a:tc>
                <a:tc>
                  <a:txBody>
                    <a:bodyPr/>
                    <a:lstStyle/>
                    <a:p>
                      <a:r>
                        <a:rPr lang="en-US" sz="2400" dirty="0"/>
                        <a:t>&lt; 0</a:t>
                      </a:r>
                    </a:p>
                  </a:txBody>
                  <a:tcPr marL="121920" marR="121920" marT="60960" marB="60960"/>
                </a:tc>
                <a:extLst>
                  <a:ext uri="{0D108BD9-81ED-4DB2-BD59-A6C34878D82A}">
                    <a16:rowId xmlns:a16="http://schemas.microsoft.com/office/drawing/2014/main" val="1913279375"/>
                  </a:ext>
                </a:extLst>
              </a:tr>
              <a:tr h="494453">
                <a:tc>
                  <a:txBody>
                    <a:bodyPr/>
                    <a:lstStyle/>
                    <a:p>
                      <a:r>
                        <a:rPr lang="en-US" sz="2400" dirty="0"/>
                        <a:t>A - B</a:t>
                      </a:r>
                    </a:p>
                  </a:txBody>
                  <a:tcPr marL="121920" marR="121920" marT="60960" marB="60960"/>
                </a:tc>
                <a:tc>
                  <a:txBody>
                    <a:bodyPr/>
                    <a:lstStyle/>
                    <a:p>
                      <a:r>
                        <a:rPr lang="en-US" sz="2400" dirty="0"/>
                        <a:t>&lt; 0</a:t>
                      </a:r>
                    </a:p>
                  </a:txBody>
                  <a:tcPr marL="121920" marR="121920" marT="60960" marB="60960"/>
                </a:tc>
                <a:tc>
                  <a:txBody>
                    <a:bodyPr/>
                    <a:lstStyle/>
                    <a:p>
                      <a:r>
                        <a:rPr lang="en-US" sz="2400" dirty="0"/>
                        <a:t>&gt;= 0</a:t>
                      </a:r>
                    </a:p>
                  </a:txBody>
                  <a:tcPr marL="121920" marR="121920" marT="60960" marB="60960"/>
                </a:tc>
                <a:tc>
                  <a:txBody>
                    <a:bodyPr/>
                    <a:lstStyle/>
                    <a:p>
                      <a:r>
                        <a:rPr lang="en-US" sz="2400" dirty="0"/>
                        <a:t>&gt;= 0</a:t>
                      </a:r>
                    </a:p>
                  </a:txBody>
                  <a:tcPr marL="121920" marR="121920" marT="60960" marB="60960"/>
                </a:tc>
                <a:extLst>
                  <a:ext uri="{0D108BD9-81ED-4DB2-BD59-A6C34878D82A}">
                    <a16:rowId xmlns:a16="http://schemas.microsoft.com/office/drawing/2014/main" val="2153352633"/>
                  </a:ext>
                </a:extLst>
              </a:tr>
            </a:tbl>
          </a:graphicData>
        </a:graphic>
      </p:graphicFrame>
      <p:sp>
        <p:nvSpPr>
          <p:cNvPr id="17" name="Content Placeholder 2">
            <a:extLst>
              <a:ext uri="{FF2B5EF4-FFF2-40B4-BE49-F238E27FC236}">
                <a16:creationId xmlns:a16="http://schemas.microsoft.com/office/drawing/2014/main" id="{BD09675E-DD52-481F-9C46-B15C9299BDB3}"/>
              </a:ext>
            </a:extLst>
          </p:cNvPr>
          <p:cNvSpPr txBox="1">
            <a:spLocks/>
          </p:cNvSpPr>
          <p:nvPr/>
        </p:nvSpPr>
        <p:spPr bwMode="auto">
          <a:xfrm>
            <a:off x="432710" y="4649280"/>
            <a:ext cx="11619860" cy="1735211"/>
          </a:xfrm>
          <a:prstGeom prst="rect">
            <a:avLst/>
          </a:prstGeom>
          <a:noFill/>
          <a:ln w="9525">
            <a:noFill/>
            <a:miter lim="800000"/>
          </a:ln>
        </p:spPr>
        <p:txBody>
          <a:bodyPr vert="horz" wrap="square" lIns="121920" tIns="60960" rIns="121920" bIns="60960" numCol="1" anchor="t" anchorCtr="0" compatLnSpc="1">
            <a:normAutofit fontScale="92500"/>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sz="3500" kern="0" dirty="0"/>
              <a:t> Overflow detection for unsigned numbers </a:t>
            </a:r>
            <a:r>
              <a:rPr lang="en-US" sz="3200" kern="0" dirty="0"/>
              <a:t>(</a:t>
            </a:r>
            <a:r>
              <a:rPr lang="en-US" sz="2533" kern="0" dirty="0"/>
              <a:t>need to use test/branch</a:t>
            </a:r>
            <a:r>
              <a:rPr lang="en-US" sz="2933" kern="0" dirty="0"/>
              <a:t>)</a:t>
            </a:r>
          </a:p>
          <a:p>
            <a:pPr lvl="1"/>
            <a:r>
              <a:rPr lang="en-US" sz="2667" kern="0" dirty="0"/>
              <a:t>For addition, if the sum is less than either of the addends</a:t>
            </a:r>
          </a:p>
          <a:p>
            <a:pPr lvl="1"/>
            <a:r>
              <a:rPr lang="en-US" sz="2667" kern="0" dirty="0"/>
              <a:t>For subtraction, if the difference is greater than the minuends.</a:t>
            </a:r>
          </a:p>
          <a:p>
            <a:endParaRPr lang="en-US" sz="3200" kern="0" dirty="0"/>
          </a:p>
          <a:p>
            <a:endParaRPr lang="en-US" sz="3200" kern="0" dirty="0"/>
          </a:p>
          <a:p>
            <a:endParaRPr lang="en-US" sz="3200" kern="0" dirty="0"/>
          </a:p>
        </p:txBody>
      </p:sp>
    </p:spTree>
    <p:extLst>
      <p:ext uri="{BB962C8B-B14F-4D97-AF65-F5344CB8AC3E}">
        <p14:creationId xmlns:p14="http://schemas.microsoft.com/office/powerpoint/2010/main" val="3397251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5795" y="144466"/>
            <a:ext cx="10191792" cy="692151"/>
          </a:xfrm>
        </p:spPr>
        <p:txBody>
          <a:bodyPr/>
          <a:lstStyle/>
          <a:p>
            <a:r>
              <a:rPr lang="en-US" dirty="0"/>
              <a:t>Overflow Detections</a:t>
            </a:r>
          </a:p>
        </p:txBody>
      </p:sp>
      <p:sp>
        <p:nvSpPr>
          <p:cNvPr id="3" name="Content Placeholder 2"/>
          <p:cNvSpPr>
            <a:spLocks noGrp="1"/>
          </p:cNvSpPr>
          <p:nvPr>
            <p:ph idx="1"/>
          </p:nvPr>
        </p:nvSpPr>
        <p:spPr>
          <a:xfrm>
            <a:off x="493487" y="1125537"/>
            <a:ext cx="10779275" cy="692152"/>
          </a:xfrm>
        </p:spPr>
        <p:txBody>
          <a:bodyPr>
            <a:normAutofit/>
          </a:bodyPr>
          <a:lstStyle/>
          <a:p>
            <a:r>
              <a:rPr lang="en-US" sz="3200" dirty="0"/>
              <a:t>Overflow detection for 2’s complement numbers</a:t>
            </a:r>
          </a:p>
          <a:p>
            <a:endParaRPr lang="en-US" dirty="0"/>
          </a:p>
          <a:p>
            <a:endParaRPr lang="en-US" dirty="0"/>
          </a:p>
          <a:p>
            <a:endParaRPr lang="en-US"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6</a:t>
            </a:fld>
            <a:endParaRPr lang="zh-TW" altLang="en-US"/>
          </a:p>
        </p:txBody>
      </p:sp>
      <p:graphicFrame>
        <p:nvGraphicFramePr>
          <p:cNvPr id="5" name="Table 13">
            <a:extLst>
              <a:ext uri="{FF2B5EF4-FFF2-40B4-BE49-F238E27FC236}">
                <a16:creationId xmlns:a16="http://schemas.microsoft.com/office/drawing/2014/main" id="{636592A8-1C17-4DF4-B3C3-60458B3BD696}"/>
              </a:ext>
            </a:extLst>
          </p:cNvPr>
          <p:cNvGraphicFramePr>
            <a:graphicFrameLocks noGrp="1"/>
          </p:cNvGraphicFramePr>
          <p:nvPr/>
        </p:nvGraphicFramePr>
        <p:xfrm>
          <a:off x="980015" y="1817689"/>
          <a:ext cx="10779275" cy="2831591"/>
        </p:xfrm>
        <a:graphic>
          <a:graphicData uri="http://schemas.openxmlformats.org/drawingml/2006/table">
            <a:tbl>
              <a:tblPr firstRow="1" bandRow="1">
                <a:tableStyleId>{5C22544A-7EE6-4342-B048-85BDC9FD1C3A}</a:tableStyleId>
              </a:tblPr>
              <a:tblGrid>
                <a:gridCol w="1967466">
                  <a:extLst>
                    <a:ext uri="{9D8B030D-6E8A-4147-A177-3AD203B41FA5}">
                      <a16:colId xmlns:a16="http://schemas.microsoft.com/office/drawing/2014/main" val="472818852"/>
                    </a:ext>
                  </a:extLst>
                </a:gridCol>
                <a:gridCol w="2033081">
                  <a:extLst>
                    <a:ext uri="{9D8B030D-6E8A-4147-A177-3AD203B41FA5}">
                      <a16:colId xmlns:a16="http://schemas.microsoft.com/office/drawing/2014/main" val="1122120880"/>
                    </a:ext>
                  </a:extLst>
                </a:gridCol>
                <a:gridCol w="1957267">
                  <a:extLst>
                    <a:ext uri="{9D8B030D-6E8A-4147-A177-3AD203B41FA5}">
                      <a16:colId xmlns:a16="http://schemas.microsoft.com/office/drawing/2014/main" val="22366522"/>
                    </a:ext>
                  </a:extLst>
                </a:gridCol>
                <a:gridCol w="4821461">
                  <a:extLst>
                    <a:ext uri="{9D8B030D-6E8A-4147-A177-3AD203B41FA5}">
                      <a16:colId xmlns:a16="http://schemas.microsoft.com/office/drawing/2014/main" val="4165946454"/>
                    </a:ext>
                  </a:extLst>
                </a:gridCol>
              </a:tblGrid>
              <a:tr h="853779">
                <a:tc>
                  <a:txBody>
                    <a:bodyPr/>
                    <a:lstStyle/>
                    <a:p>
                      <a:r>
                        <a:rPr lang="en-US" sz="2400" dirty="0"/>
                        <a:t>Operation</a:t>
                      </a:r>
                    </a:p>
                  </a:txBody>
                  <a:tcPr marL="121920" marR="121920" marT="60960" marB="60960"/>
                </a:tc>
                <a:tc>
                  <a:txBody>
                    <a:bodyPr/>
                    <a:lstStyle/>
                    <a:p>
                      <a:r>
                        <a:rPr lang="en-US" sz="2400" dirty="0"/>
                        <a:t>Operand A</a:t>
                      </a:r>
                    </a:p>
                  </a:txBody>
                  <a:tcPr marL="121920" marR="121920" marT="60960" marB="60960"/>
                </a:tc>
                <a:tc>
                  <a:txBody>
                    <a:bodyPr/>
                    <a:lstStyle/>
                    <a:p>
                      <a:r>
                        <a:rPr lang="en-US" sz="2400" dirty="0"/>
                        <a:t>Operand B</a:t>
                      </a:r>
                    </a:p>
                  </a:txBody>
                  <a:tcPr marL="121920" marR="121920" marT="60960" marB="60960"/>
                </a:tc>
                <a:tc>
                  <a:txBody>
                    <a:bodyPr/>
                    <a:lstStyle/>
                    <a:p>
                      <a:r>
                        <a:rPr lang="en-US" sz="2400" dirty="0"/>
                        <a:t>Result indicating overflow</a:t>
                      </a:r>
                    </a:p>
                  </a:txBody>
                  <a:tcPr marL="121920" marR="121920" marT="60960" marB="60960"/>
                </a:tc>
                <a:extLst>
                  <a:ext uri="{0D108BD9-81ED-4DB2-BD59-A6C34878D82A}">
                    <a16:rowId xmlns:a16="http://schemas.microsoft.com/office/drawing/2014/main" val="3690539309"/>
                  </a:ext>
                </a:extLst>
              </a:tr>
              <a:tr h="494453">
                <a:tc>
                  <a:txBody>
                    <a:bodyPr/>
                    <a:lstStyle/>
                    <a:p>
                      <a:r>
                        <a:rPr lang="en-US" sz="2400" dirty="0"/>
                        <a:t>A + B</a:t>
                      </a:r>
                    </a:p>
                  </a:txBody>
                  <a:tcPr marL="121920" marR="121920" marT="60960" marB="60960"/>
                </a:tc>
                <a:tc>
                  <a:txBody>
                    <a:bodyPr/>
                    <a:lstStyle/>
                    <a:p>
                      <a:r>
                        <a:rPr lang="en-US" sz="2400" dirty="0"/>
                        <a:t>&gt;= 0 </a:t>
                      </a:r>
                    </a:p>
                  </a:txBody>
                  <a:tcPr marL="121920" marR="121920" marT="60960" marB="60960"/>
                </a:tc>
                <a:tc>
                  <a:txBody>
                    <a:bodyPr/>
                    <a:lstStyle/>
                    <a:p>
                      <a:r>
                        <a:rPr lang="en-US" sz="2400" dirty="0"/>
                        <a:t>&gt;= 0</a:t>
                      </a:r>
                    </a:p>
                  </a:txBody>
                  <a:tcPr marL="121920" marR="121920" marT="60960" marB="60960"/>
                </a:tc>
                <a:tc>
                  <a:txBody>
                    <a:bodyPr/>
                    <a:lstStyle/>
                    <a:p>
                      <a:r>
                        <a:rPr lang="en-US" sz="2400" dirty="0"/>
                        <a:t>&lt; 0 </a:t>
                      </a:r>
                    </a:p>
                  </a:txBody>
                  <a:tcPr marL="121920" marR="121920" marT="60960" marB="60960"/>
                </a:tc>
                <a:extLst>
                  <a:ext uri="{0D108BD9-81ED-4DB2-BD59-A6C34878D82A}">
                    <a16:rowId xmlns:a16="http://schemas.microsoft.com/office/drawing/2014/main" val="2422332103"/>
                  </a:ext>
                </a:extLst>
              </a:tr>
              <a:tr h="494453">
                <a:tc>
                  <a:txBody>
                    <a:bodyPr/>
                    <a:lstStyle/>
                    <a:p>
                      <a:r>
                        <a:rPr lang="en-US" sz="2400" dirty="0"/>
                        <a:t>A + B</a:t>
                      </a:r>
                    </a:p>
                  </a:txBody>
                  <a:tcPr marL="121920" marR="121920" marT="60960" marB="60960"/>
                </a:tc>
                <a:tc>
                  <a:txBody>
                    <a:bodyPr/>
                    <a:lstStyle/>
                    <a:p>
                      <a:r>
                        <a:rPr lang="en-US" sz="2400" dirty="0"/>
                        <a:t>&lt; 0</a:t>
                      </a:r>
                    </a:p>
                  </a:txBody>
                  <a:tcPr marL="121920" marR="121920" marT="60960" marB="60960"/>
                </a:tc>
                <a:tc>
                  <a:txBody>
                    <a:bodyPr/>
                    <a:lstStyle/>
                    <a:p>
                      <a:r>
                        <a:rPr lang="en-US" sz="2400" dirty="0"/>
                        <a:t>&lt; 0 </a:t>
                      </a:r>
                    </a:p>
                  </a:txBody>
                  <a:tcPr marL="121920" marR="121920" marT="60960" marB="60960"/>
                </a:tc>
                <a:tc>
                  <a:txBody>
                    <a:bodyPr/>
                    <a:lstStyle/>
                    <a:p>
                      <a:r>
                        <a:rPr lang="en-US" sz="2400" dirty="0"/>
                        <a:t>&gt;= 0</a:t>
                      </a:r>
                    </a:p>
                  </a:txBody>
                  <a:tcPr marL="121920" marR="121920" marT="60960" marB="60960"/>
                </a:tc>
                <a:extLst>
                  <a:ext uri="{0D108BD9-81ED-4DB2-BD59-A6C34878D82A}">
                    <a16:rowId xmlns:a16="http://schemas.microsoft.com/office/drawing/2014/main" val="835495410"/>
                  </a:ext>
                </a:extLst>
              </a:tr>
              <a:tr h="494453">
                <a:tc>
                  <a:txBody>
                    <a:bodyPr/>
                    <a:lstStyle/>
                    <a:p>
                      <a:r>
                        <a:rPr lang="en-US" sz="2400" dirty="0"/>
                        <a:t>A - B</a:t>
                      </a:r>
                    </a:p>
                  </a:txBody>
                  <a:tcPr marL="121920" marR="121920" marT="60960" marB="60960"/>
                </a:tc>
                <a:tc>
                  <a:txBody>
                    <a:bodyPr/>
                    <a:lstStyle/>
                    <a:p>
                      <a:r>
                        <a:rPr lang="en-US" sz="2400" dirty="0"/>
                        <a:t>&gt;= 0</a:t>
                      </a:r>
                    </a:p>
                  </a:txBody>
                  <a:tcPr marL="121920" marR="121920" marT="60960" marB="60960"/>
                </a:tc>
                <a:tc>
                  <a:txBody>
                    <a:bodyPr/>
                    <a:lstStyle/>
                    <a:p>
                      <a:r>
                        <a:rPr lang="en-US" sz="2400" dirty="0"/>
                        <a:t>&lt; 0</a:t>
                      </a:r>
                    </a:p>
                  </a:txBody>
                  <a:tcPr marL="121920" marR="121920" marT="60960" marB="60960"/>
                </a:tc>
                <a:tc>
                  <a:txBody>
                    <a:bodyPr/>
                    <a:lstStyle/>
                    <a:p>
                      <a:r>
                        <a:rPr lang="en-US" sz="2400" dirty="0"/>
                        <a:t>&lt; 0</a:t>
                      </a:r>
                    </a:p>
                  </a:txBody>
                  <a:tcPr marL="121920" marR="121920" marT="60960" marB="60960"/>
                </a:tc>
                <a:extLst>
                  <a:ext uri="{0D108BD9-81ED-4DB2-BD59-A6C34878D82A}">
                    <a16:rowId xmlns:a16="http://schemas.microsoft.com/office/drawing/2014/main" val="1913279375"/>
                  </a:ext>
                </a:extLst>
              </a:tr>
              <a:tr h="494453">
                <a:tc>
                  <a:txBody>
                    <a:bodyPr/>
                    <a:lstStyle/>
                    <a:p>
                      <a:r>
                        <a:rPr lang="en-US" sz="2400" dirty="0"/>
                        <a:t>A - B</a:t>
                      </a:r>
                    </a:p>
                  </a:txBody>
                  <a:tcPr marL="121920" marR="121920" marT="60960" marB="60960"/>
                </a:tc>
                <a:tc>
                  <a:txBody>
                    <a:bodyPr/>
                    <a:lstStyle/>
                    <a:p>
                      <a:r>
                        <a:rPr lang="en-US" sz="2400" dirty="0"/>
                        <a:t>&lt; 0</a:t>
                      </a:r>
                    </a:p>
                  </a:txBody>
                  <a:tcPr marL="121920" marR="121920" marT="60960" marB="60960"/>
                </a:tc>
                <a:tc>
                  <a:txBody>
                    <a:bodyPr/>
                    <a:lstStyle/>
                    <a:p>
                      <a:r>
                        <a:rPr lang="en-US" sz="2400" dirty="0"/>
                        <a:t>&gt;= 0</a:t>
                      </a:r>
                    </a:p>
                  </a:txBody>
                  <a:tcPr marL="121920" marR="121920" marT="60960" marB="60960"/>
                </a:tc>
                <a:tc>
                  <a:txBody>
                    <a:bodyPr/>
                    <a:lstStyle/>
                    <a:p>
                      <a:r>
                        <a:rPr lang="en-US" sz="2400" dirty="0"/>
                        <a:t>&gt;= 0</a:t>
                      </a:r>
                    </a:p>
                  </a:txBody>
                  <a:tcPr marL="121920" marR="121920" marT="60960" marB="60960"/>
                </a:tc>
                <a:extLst>
                  <a:ext uri="{0D108BD9-81ED-4DB2-BD59-A6C34878D82A}">
                    <a16:rowId xmlns:a16="http://schemas.microsoft.com/office/drawing/2014/main" val="2153352633"/>
                  </a:ext>
                </a:extLst>
              </a:tr>
            </a:tbl>
          </a:graphicData>
        </a:graphic>
      </p:graphicFrame>
      <p:sp>
        <p:nvSpPr>
          <p:cNvPr id="17" name="Content Placeholder 2">
            <a:extLst>
              <a:ext uri="{FF2B5EF4-FFF2-40B4-BE49-F238E27FC236}">
                <a16:creationId xmlns:a16="http://schemas.microsoft.com/office/drawing/2014/main" id="{BD09675E-DD52-481F-9C46-B15C9299BDB3}"/>
              </a:ext>
            </a:extLst>
          </p:cNvPr>
          <p:cNvSpPr txBox="1">
            <a:spLocks/>
          </p:cNvSpPr>
          <p:nvPr/>
        </p:nvSpPr>
        <p:spPr bwMode="auto">
          <a:xfrm>
            <a:off x="286070" y="4568898"/>
            <a:ext cx="11619860" cy="1735211"/>
          </a:xfrm>
          <a:prstGeom prst="rect">
            <a:avLst/>
          </a:prstGeom>
          <a:noFill/>
          <a:ln w="9525">
            <a:noFill/>
            <a:miter lim="800000"/>
          </a:ln>
        </p:spPr>
        <p:txBody>
          <a:bodyPr vert="horz" wrap="square" lIns="121920" tIns="60960" rIns="121920" bIns="60960" numCol="1" anchor="t" anchorCtr="0" compatLnSpc="1">
            <a:normAutofit fontScale="92500"/>
          </a:bodyPr>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sz="3500" kern="0" dirty="0"/>
              <a:t> Overflow detection for unsigned numbers </a:t>
            </a:r>
            <a:r>
              <a:rPr lang="en-US" sz="3200" kern="0" dirty="0"/>
              <a:t>(</a:t>
            </a:r>
            <a:r>
              <a:rPr lang="en-US" sz="2533" kern="0" dirty="0"/>
              <a:t>need to use branch instructions</a:t>
            </a:r>
            <a:r>
              <a:rPr lang="en-US" sz="2933" kern="0" dirty="0"/>
              <a:t>)</a:t>
            </a:r>
          </a:p>
          <a:p>
            <a:pPr lvl="1"/>
            <a:r>
              <a:rPr lang="en-US" sz="2667" kern="0" dirty="0"/>
              <a:t>For addition, if the sum is less than either of the addends</a:t>
            </a:r>
          </a:p>
          <a:p>
            <a:pPr lvl="1"/>
            <a:r>
              <a:rPr lang="en-US" sz="2667" kern="0" dirty="0"/>
              <a:t>For subtraction, if the difference is greater than the minuends.</a:t>
            </a:r>
          </a:p>
          <a:p>
            <a:endParaRPr lang="en-US" sz="3200" kern="0" dirty="0"/>
          </a:p>
          <a:p>
            <a:endParaRPr lang="en-US" sz="3200" kern="0" dirty="0"/>
          </a:p>
          <a:p>
            <a:endParaRPr lang="en-US" sz="3200" kern="0" dirty="0"/>
          </a:p>
        </p:txBody>
      </p:sp>
      <p:sp>
        <p:nvSpPr>
          <p:cNvPr id="4" name="TextBox 3">
            <a:extLst>
              <a:ext uri="{FF2B5EF4-FFF2-40B4-BE49-F238E27FC236}">
                <a16:creationId xmlns:a16="http://schemas.microsoft.com/office/drawing/2014/main" id="{9B423056-2046-48D3-A9BC-C73AD908B076}"/>
              </a:ext>
            </a:extLst>
          </p:cNvPr>
          <p:cNvSpPr txBox="1"/>
          <p:nvPr/>
        </p:nvSpPr>
        <p:spPr>
          <a:xfrm>
            <a:off x="493487" y="688690"/>
            <a:ext cx="11250900" cy="584775"/>
          </a:xfrm>
          <a:prstGeom prst="rect">
            <a:avLst/>
          </a:prstGeom>
          <a:solidFill>
            <a:srgbClr val="FFFF00"/>
          </a:solidFill>
          <a:ln>
            <a:solidFill>
              <a:schemeClr val="tx2"/>
            </a:solidFill>
          </a:ln>
        </p:spPr>
        <p:txBody>
          <a:bodyPr wrap="none" rtlCol="0" anchor="ctr" anchorCtr="1">
            <a:spAutoFit/>
          </a:bodyPr>
          <a:lstStyle/>
          <a:p>
            <a:r>
              <a:rPr lang="en-US" sz="3200" b="1" dirty="0">
                <a:solidFill>
                  <a:srgbClr val="FF0000"/>
                </a:solidFill>
              </a:rPr>
              <a:t>(NOT (</a:t>
            </a:r>
            <a:r>
              <a:rPr lang="en-US" sz="3200" b="1" dirty="0" err="1">
                <a:solidFill>
                  <a:srgbClr val="FF0000"/>
                </a:solidFill>
              </a:rPr>
              <a:t>sign_A</a:t>
            </a:r>
            <a:r>
              <a:rPr lang="en-US" sz="3200" b="1" dirty="0">
                <a:solidFill>
                  <a:srgbClr val="FF0000"/>
                </a:solidFill>
              </a:rPr>
              <a:t> XOR </a:t>
            </a:r>
            <a:r>
              <a:rPr lang="en-US" sz="3200" b="1" dirty="0" err="1">
                <a:solidFill>
                  <a:srgbClr val="FF0000"/>
                </a:solidFill>
              </a:rPr>
              <a:t>sign_B</a:t>
            </a:r>
            <a:r>
              <a:rPr lang="en-US" sz="3200" b="1" dirty="0">
                <a:solidFill>
                  <a:srgbClr val="FF0000"/>
                </a:solidFill>
              </a:rPr>
              <a:t>)) AND (</a:t>
            </a:r>
            <a:r>
              <a:rPr lang="en-US" sz="3200" b="1" dirty="0" err="1">
                <a:solidFill>
                  <a:srgbClr val="FF0000"/>
                </a:solidFill>
              </a:rPr>
              <a:t>sign_A</a:t>
            </a:r>
            <a:r>
              <a:rPr lang="en-US" sz="3200" b="1" dirty="0">
                <a:solidFill>
                  <a:srgbClr val="FF0000"/>
                </a:solidFill>
              </a:rPr>
              <a:t> XOR </a:t>
            </a:r>
            <a:r>
              <a:rPr lang="en-US" sz="3200" b="1" dirty="0" err="1">
                <a:solidFill>
                  <a:srgbClr val="FF0000"/>
                </a:solidFill>
              </a:rPr>
              <a:t>new_sign</a:t>
            </a:r>
            <a:r>
              <a:rPr lang="en-US" sz="3200" b="1" dirty="0">
                <a:solidFill>
                  <a:srgbClr val="FF0000"/>
                </a:solidFill>
              </a:rPr>
              <a:t>)</a:t>
            </a:r>
            <a:endParaRPr lang="en-US" sz="3200" b="1" dirty="0">
              <a:solidFill>
                <a:srgbClr val="FF0000"/>
              </a:solidFill>
              <a:ea typeface="標楷體" pitchFamily="65" charset="-120"/>
              <a:cs typeface="Calibri" pitchFamily="34" charset="0"/>
            </a:endParaRPr>
          </a:p>
        </p:txBody>
      </p:sp>
      <p:sp>
        <p:nvSpPr>
          <p:cNvPr id="8" name="TextBox 7">
            <a:extLst>
              <a:ext uri="{FF2B5EF4-FFF2-40B4-BE49-F238E27FC236}">
                <a16:creationId xmlns:a16="http://schemas.microsoft.com/office/drawing/2014/main" id="{BEB5E0F1-DFCB-4862-95B2-DA03F02AAEF8}"/>
              </a:ext>
            </a:extLst>
          </p:cNvPr>
          <p:cNvSpPr txBox="1"/>
          <p:nvPr/>
        </p:nvSpPr>
        <p:spPr>
          <a:xfrm>
            <a:off x="142875" y="2013930"/>
            <a:ext cx="11944350" cy="553998"/>
          </a:xfrm>
          <a:prstGeom prst="rect">
            <a:avLst/>
          </a:prstGeom>
          <a:solidFill>
            <a:srgbClr val="FFFF00"/>
          </a:solidFill>
          <a:ln>
            <a:solidFill>
              <a:schemeClr val="tx2"/>
            </a:solidFill>
          </a:ln>
        </p:spPr>
        <p:txBody>
          <a:bodyPr wrap="square" rtlCol="0" anchor="ctr" anchorCtr="1">
            <a:spAutoFit/>
          </a:bodyPr>
          <a:lstStyle/>
          <a:p>
            <a:r>
              <a:rPr lang="en-US" sz="3000" dirty="0">
                <a:solidFill>
                  <a:srgbClr val="FF0000"/>
                </a:solidFill>
                <a:ea typeface="標楷體" pitchFamily="65" charset="-120"/>
                <a:cs typeface="Calibri" pitchFamily="34" charset="0"/>
              </a:rPr>
              <a:t>If two operands have the same sign but the result has a different sign</a:t>
            </a:r>
          </a:p>
        </p:txBody>
      </p:sp>
      <p:sp>
        <p:nvSpPr>
          <p:cNvPr id="9" name="TextBox 8">
            <a:extLst>
              <a:ext uri="{FF2B5EF4-FFF2-40B4-BE49-F238E27FC236}">
                <a16:creationId xmlns:a16="http://schemas.microsoft.com/office/drawing/2014/main" id="{48D82BBE-0895-437F-AE3B-5B760D949C1A}"/>
              </a:ext>
            </a:extLst>
          </p:cNvPr>
          <p:cNvSpPr txBox="1"/>
          <p:nvPr/>
        </p:nvSpPr>
        <p:spPr>
          <a:xfrm>
            <a:off x="9108017" y="5189426"/>
            <a:ext cx="2651273" cy="707886"/>
          </a:xfrm>
          <a:prstGeom prst="rect">
            <a:avLst/>
          </a:prstGeom>
          <a:solidFill>
            <a:srgbClr val="FFFF00"/>
          </a:solidFill>
          <a:ln>
            <a:solidFill>
              <a:schemeClr val="tx2"/>
            </a:solidFill>
          </a:ln>
        </p:spPr>
        <p:txBody>
          <a:bodyPr wrap="square" rtlCol="0" anchor="ctr" anchorCtr="1">
            <a:spAutoFit/>
          </a:bodyPr>
          <a:lstStyle/>
          <a:p>
            <a:r>
              <a:rPr lang="en-US" sz="2000" dirty="0">
                <a:solidFill>
                  <a:srgbClr val="FF0000"/>
                </a:solidFill>
                <a:ea typeface="標楷體" pitchFamily="65" charset="-120"/>
                <a:cs typeface="Calibri" pitchFamily="34" charset="0"/>
              </a:rPr>
              <a:t>c = a + b</a:t>
            </a:r>
          </a:p>
          <a:p>
            <a:r>
              <a:rPr lang="en-US" sz="2000" dirty="0">
                <a:solidFill>
                  <a:srgbClr val="FF0000"/>
                </a:solidFill>
                <a:ea typeface="標楷體" pitchFamily="65" charset="-120"/>
                <a:cs typeface="Calibri" pitchFamily="34" charset="0"/>
              </a:rPr>
              <a:t>overflow= (c &lt; a)</a:t>
            </a:r>
          </a:p>
        </p:txBody>
      </p:sp>
    </p:spTree>
    <p:extLst>
      <p:ext uri="{BB962C8B-B14F-4D97-AF65-F5344CB8AC3E}">
        <p14:creationId xmlns:p14="http://schemas.microsoft.com/office/powerpoint/2010/main" val="105954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One Bit Full Adder</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7</a:t>
            </a:fld>
            <a:endParaRPr lang="zh-TW" altLang="en-US"/>
          </a:p>
        </p:txBody>
      </p:sp>
      <p:sp>
        <p:nvSpPr>
          <p:cNvPr id="3" name="Rectangle 2">
            <a:extLst>
              <a:ext uri="{FF2B5EF4-FFF2-40B4-BE49-F238E27FC236}">
                <a16:creationId xmlns:a16="http://schemas.microsoft.com/office/drawing/2014/main" id="{BA26C8EA-D45C-406C-8A59-7DF6C839EDD2}"/>
              </a:ext>
            </a:extLst>
          </p:cNvPr>
          <p:cNvSpPr/>
          <p:nvPr/>
        </p:nvSpPr>
        <p:spPr bwMode="auto">
          <a:xfrm>
            <a:off x="3086100" y="2162175"/>
            <a:ext cx="2247900" cy="148590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 name="TextBox 3">
            <a:extLst>
              <a:ext uri="{FF2B5EF4-FFF2-40B4-BE49-F238E27FC236}">
                <a16:creationId xmlns:a16="http://schemas.microsoft.com/office/drawing/2014/main" id="{38802720-F9A6-4B11-854A-DF105ED608FC}"/>
              </a:ext>
            </a:extLst>
          </p:cNvPr>
          <p:cNvSpPr txBox="1"/>
          <p:nvPr/>
        </p:nvSpPr>
        <p:spPr>
          <a:xfrm>
            <a:off x="3324225" y="2722602"/>
            <a:ext cx="1941557" cy="369332"/>
          </a:xfrm>
          <a:prstGeom prst="rect">
            <a:avLst/>
          </a:prstGeom>
          <a:noFill/>
        </p:spPr>
        <p:txBody>
          <a:bodyPr wrap="none" rtlCol="0" anchor="ctr" anchorCtr="1">
            <a:spAutoFit/>
          </a:bodyPr>
          <a:lstStyle/>
          <a:p>
            <a:r>
              <a:rPr lang="en-US" dirty="0">
                <a:ea typeface="標楷體" pitchFamily="65" charset="-120"/>
                <a:cs typeface="Calibri" pitchFamily="34" charset="0"/>
              </a:rPr>
              <a:t>One bit full adder</a:t>
            </a:r>
          </a:p>
        </p:txBody>
      </p:sp>
      <p:cxnSp>
        <p:nvCxnSpPr>
          <p:cNvPr id="42" name="Straight Arrow Connector 41">
            <a:extLst>
              <a:ext uri="{FF2B5EF4-FFF2-40B4-BE49-F238E27FC236}">
                <a16:creationId xmlns:a16="http://schemas.microsoft.com/office/drawing/2014/main" id="{A2D1AF67-64A8-45F6-9C6C-E6395B0B074F}"/>
              </a:ext>
            </a:extLst>
          </p:cNvPr>
          <p:cNvCxnSpPr>
            <a:endCxn id="3" idx="1"/>
          </p:cNvCxnSpPr>
          <p:nvPr/>
        </p:nvCxnSpPr>
        <p:spPr bwMode="auto">
          <a:xfrm>
            <a:off x="1457325" y="2905125"/>
            <a:ext cx="1628775" cy="0"/>
          </a:xfrm>
          <a:prstGeom prst="straightConnector1">
            <a:avLst/>
          </a:prstGeom>
          <a:noFill/>
          <a:ln w="15875" cap="flat" cmpd="sng" algn="ctr">
            <a:solidFill>
              <a:srgbClr val="FF0000"/>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1B0F3ACD-6B6B-4F6E-A137-98480786D0F0}"/>
              </a:ext>
            </a:extLst>
          </p:cNvPr>
          <p:cNvCxnSpPr/>
          <p:nvPr/>
        </p:nvCxnSpPr>
        <p:spPr bwMode="auto">
          <a:xfrm>
            <a:off x="5334000" y="2905125"/>
            <a:ext cx="1628775" cy="0"/>
          </a:xfrm>
          <a:prstGeom prst="straightConnector1">
            <a:avLst/>
          </a:prstGeom>
          <a:noFill/>
          <a:ln w="15875" cap="flat" cmpd="sng" algn="ctr">
            <a:solidFill>
              <a:srgbClr val="FF0000"/>
            </a:solidFill>
            <a:prstDash val="solid"/>
            <a:round/>
            <a:headEnd type="none" w="med" len="med"/>
            <a:tailEnd type="triangle"/>
          </a:ln>
          <a:effectLst/>
        </p:spPr>
      </p:cxnSp>
      <p:sp>
        <p:nvSpPr>
          <p:cNvPr id="44" name="TextBox 43">
            <a:extLst>
              <a:ext uri="{FF2B5EF4-FFF2-40B4-BE49-F238E27FC236}">
                <a16:creationId xmlns:a16="http://schemas.microsoft.com/office/drawing/2014/main" id="{57CA9BEB-57AE-4C8A-9177-2AAE1965A757}"/>
              </a:ext>
            </a:extLst>
          </p:cNvPr>
          <p:cNvSpPr txBox="1"/>
          <p:nvPr/>
        </p:nvSpPr>
        <p:spPr>
          <a:xfrm>
            <a:off x="1543887" y="2874348"/>
            <a:ext cx="1189749" cy="430887"/>
          </a:xfrm>
          <a:prstGeom prst="rect">
            <a:avLst/>
          </a:prstGeom>
          <a:noFill/>
        </p:spPr>
        <p:txBody>
          <a:bodyPr wrap="none" rtlCol="0" anchor="ctr" anchorCtr="1">
            <a:spAutoFit/>
          </a:bodyPr>
          <a:lstStyle/>
          <a:p>
            <a:r>
              <a:rPr lang="en-US" sz="2200" dirty="0">
                <a:ea typeface="標楷體" pitchFamily="65" charset="-120"/>
                <a:cs typeface="Calibri" pitchFamily="34" charset="0"/>
              </a:rPr>
              <a:t>Carry-in</a:t>
            </a:r>
          </a:p>
        </p:txBody>
      </p:sp>
      <p:sp>
        <p:nvSpPr>
          <p:cNvPr id="45" name="TextBox 44">
            <a:extLst>
              <a:ext uri="{FF2B5EF4-FFF2-40B4-BE49-F238E27FC236}">
                <a16:creationId xmlns:a16="http://schemas.microsoft.com/office/drawing/2014/main" id="{1E14F2F6-8DB1-4C00-B922-0DE4F25D179D}"/>
              </a:ext>
            </a:extLst>
          </p:cNvPr>
          <p:cNvSpPr txBox="1"/>
          <p:nvPr/>
        </p:nvSpPr>
        <p:spPr>
          <a:xfrm>
            <a:off x="5265782" y="2874347"/>
            <a:ext cx="1362874" cy="430887"/>
          </a:xfrm>
          <a:prstGeom prst="rect">
            <a:avLst/>
          </a:prstGeom>
          <a:noFill/>
        </p:spPr>
        <p:txBody>
          <a:bodyPr wrap="none" rtlCol="0" anchor="ctr" anchorCtr="1">
            <a:spAutoFit/>
          </a:bodyPr>
          <a:lstStyle/>
          <a:p>
            <a:r>
              <a:rPr lang="en-US" sz="2200" dirty="0">
                <a:ea typeface="標楷體" pitchFamily="65" charset="-120"/>
                <a:cs typeface="Calibri" pitchFamily="34" charset="0"/>
              </a:rPr>
              <a:t>Carry-out</a:t>
            </a:r>
          </a:p>
        </p:txBody>
      </p:sp>
      <p:cxnSp>
        <p:nvCxnSpPr>
          <p:cNvPr id="47" name="Straight Arrow Connector 46">
            <a:extLst>
              <a:ext uri="{FF2B5EF4-FFF2-40B4-BE49-F238E27FC236}">
                <a16:creationId xmlns:a16="http://schemas.microsoft.com/office/drawing/2014/main" id="{BA27F6EA-F791-4C43-AFB0-EE51C368063F}"/>
              </a:ext>
            </a:extLst>
          </p:cNvPr>
          <p:cNvCxnSpPr/>
          <p:nvPr/>
        </p:nvCxnSpPr>
        <p:spPr bwMode="auto">
          <a:xfrm>
            <a:off x="3609975" y="1397044"/>
            <a:ext cx="0" cy="765131"/>
          </a:xfrm>
          <a:prstGeom prst="straightConnector1">
            <a:avLst/>
          </a:prstGeom>
          <a:noFill/>
          <a:ln w="15875" cap="flat" cmpd="sng" algn="ctr">
            <a:solidFill>
              <a:srgbClr val="FF0000"/>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66EA0188-9073-4EC4-B662-358D9838A9DF}"/>
              </a:ext>
            </a:extLst>
          </p:cNvPr>
          <p:cNvCxnSpPr/>
          <p:nvPr/>
        </p:nvCxnSpPr>
        <p:spPr bwMode="auto">
          <a:xfrm>
            <a:off x="4762500" y="1397043"/>
            <a:ext cx="0" cy="765131"/>
          </a:xfrm>
          <a:prstGeom prst="straightConnector1">
            <a:avLst/>
          </a:prstGeom>
          <a:noFill/>
          <a:ln w="15875" cap="flat" cmpd="sng" algn="ctr">
            <a:solidFill>
              <a:srgbClr val="FF00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E668CF6-B7EF-4CA1-B507-D4A43C42339E}"/>
                  </a:ext>
                </a:extLst>
              </p:cNvPr>
              <p:cNvSpPr txBox="1"/>
              <p:nvPr/>
            </p:nvSpPr>
            <p:spPr>
              <a:xfrm>
                <a:off x="3138116" y="1515845"/>
                <a:ext cx="532069" cy="430887"/>
              </a:xfrm>
              <a:prstGeom prst="rect">
                <a:avLst/>
              </a:prstGeom>
              <a:noFill/>
            </p:spPr>
            <p:txBody>
              <a:bodyPr wrap="none" rtlCol="0" anchor="ctr" anchorCtr="1">
                <a:spAutoFit/>
              </a:bodyPr>
              <a:lstStyle/>
              <a:p>
                <a:pPr/>
                <a14:m>
                  <m:oMathPara xmlns:m="http://schemas.openxmlformats.org/officeDocument/2006/math">
                    <m:oMathParaPr>
                      <m:jc m:val="centerGroup"/>
                    </m:oMathParaPr>
                    <m:oMath xmlns:m="http://schemas.openxmlformats.org/officeDocument/2006/math">
                      <m:sSub>
                        <m:sSubPr>
                          <m:ctrlPr>
                            <a:rPr lang="pt-BR" sz="2200" i="1" smtClean="0">
                              <a:latin typeface="Cambria Math" panose="02040503050406030204" pitchFamily="18" charset="0"/>
                              <a:ea typeface="標楷體" pitchFamily="65" charset="-120"/>
                              <a:cs typeface="Calibri" pitchFamily="34" charset="0"/>
                            </a:rPr>
                          </m:ctrlPr>
                        </m:sSubPr>
                        <m:e>
                          <m:r>
                            <a:rPr lang="en-US" sz="2200" b="0" i="1" smtClean="0">
                              <a:latin typeface="Cambria Math" panose="02040503050406030204" pitchFamily="18" charset="0"/>
                              <a:ea typeface="標楷體" pitchFamily="65" charset="-120"/>
                              <a:cs typeface="Calibri" pitchFamily="34" charset="0"/>
                            </a:rPr>
                            <m:t>𝐴</m:t>
                          </m:r>
                        </m:e>
                        <m:sub>
                          <m:r>
                            <a:rPr lang="en-US" sz="2200" b="0" i="1" smtClean="0">
                              <a:latin typeface="Cambria Math" panose="02040503050406030204" pitchFamily="18" charset="0"/>
                              <a:ea typeface="標楷體" pitchFamily="65" charset="-120"/>
                              <a:cs typeface="Calibri" pitchFamily="34" charset="0"/>
                            </a:rPr>
                            <m:t>𝑖</m:t>
                          </m:r>
                        </m:sub>
                      </m:sSub>
                    </m:oMath>
                  </m:oMathPara>
                </a14:m>
                <a:endParaRPr lang="en-US" sz="2200" dirty="0">
                  <a:ea typeface="標楷體" pitchFamily="65" charset="-120"/>
                  <a:cs typeface="Calibri" pitchFamily="34" charset="0"/>
                </a:endParaRPr>
              </a:p>
            </p:txBody>
          </p:sp>
        </mc:Choice>
        <mc:Fallback xmlns="">
          <p:sp>
            <p:nvSpPr>
              <p:cNvPr id="49" name="TextBox 48">
                <a:extLst>
                  <a:ext uri="{FF2B5EF4-FFF2-40B4-BE49-F238E27FC236}">
                    <a16:creationId xmlns:a16="http://schemas.microsoft.com/office/drawing/2014/main" id="{6E668CF6-B7EF-4CA1-B507-D4A43C42339E}"/>
                  </a:ext>
                </a:extLst>
              </p:cNvPr>
              <p:cNvSpPr txBox="1">
                <a:spLocks noRot="1" noChangeAspect="1" noMove="1" noResize="1" noEditPoints="1" noAdjustHandles="1" noChangeArrowheads="1" noChangeShapeType="1" noTextEdit="1"/>
              </p:cNvSpPr>
              <p:nvPr/>
            </p:nvSpPr>
            <p:spPr>
              <a:xfrm>
                <a:off x="3138116" y="1515845"/>
                <a:ext cx="532069" cy="430887"/>
              </a:xfrm>
              <a:prstGeom prst="rect">
                <a:avLst/>
              </a:prstGeom>
              <a:blipFill>
                <a:blip r:embed="rId3"/>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CE5B074-D9A9-4336-ABA3-B38DC815F3B7}"/>
                  </a:ext>
                </a:extLst>
              </p:cNvPr>
              <p:cNvSpPr txBox="1"/>
              <p:nvPr/>
            </p:nvSpPr>
            <p:spPr>
              <a:xfrm>
                <a:off x="4718388" y="1515845"/>
                <a:ext cx="527709" cy="430887"/>
              </a:xfrm>
              <a:prstGeom prst="rect">
                <a:avLst/>
              </a:prstGeom>
              <a:noFill/>
            </p:spPr>
            <p:txBody>
              <a:bodyPr wrap="none" rtlCol="0" anchor="ctr" anchorCtr="1">
                <a:spAutoFit/>
              </a:bodyPr>
              <a:lstStyle/>
              <a:p>
                <a:pPr/>
                <a14:m>
                  <m:oMathPara xmlns:m="http://schemas.openxmlformats.org/officeDocument/2006/math">
                    <m:oMathParaPr>
                      <m:jc m:val="centerGroup"/>
                    </m:oMathParaPr>
                    <m:oMath xmlns:m="http://schemas.openxmlformats.org/officeDocument/2006/math">
                      <m:sSub>
                        <m:sSubPr>
                          <m:ctrlPr>
                            <a:rPr lang="pt-BR" sz="2200" i="1" smtClean="0">
                              <a:latin typeface="Cambria Math" panose="02040503050406030204" pitchFamily="18" charset="0"/>
                              <a:ea typeface="標楷體" pitchFamily="65" charset="-120"/>
                              <a:cs typeface="Calibri" pitchFamily="34" charset="0"/>
                            </a:rPr>
                          </m:ctrlPr>
                        </m:sSubPr>
                        <m:e>
                          <m:r>
                            <a:rPr lang="en-US" sz="2200" b="0" i="1" smtClean="0">
                              <a:latin typeface="Cambria Math" panose="02040503050406030204" pitchFamily="18" charset="0"/>
                              <a:ea typeface="標楷體" pitchFamily="65" charset="-120"/>
                              <a:cs typeface="Calibri" pitchFamily="34" charset="0"/>
                            </a:rPr>
                            <m:t>𝐵</m:t>
                          </m:r>
                        </m:e>
                        <m:sub>
                          <m:r>
                            <a:rPr lang="en-US" sz="2200" b="0" i="1" smtClean="0">
                              <a:latin typeface="Cambria Math" panose="02040503050406030204" pitchFamily="18" charset="0"/>
                              <a:ea typeface="標楷體" pitchFamily="65" charset="-120"/>
                              <a:cs typeface="Calibri" pitchFamily="34" charset="0"/>
                            </a:rPr>
                            <m:t>𝑖</m:t>
                          </m:r>
                        </m:sub>
                      </m:sSub>
                    </m:oMath>
                  </m:oMathPara>
                </a14:m>
                <a:endParaRPr lang="en-US" sz="2200" dirty="0">
                  <a:ea typeface="標楷體" pitchFamily="65" charset="-120"/>
                  <a:cs typeface="Calibri" pitchFamily="34" charset="0"/>
                </a:endParaRPr>
              </a:p>
            </p:txBody>
          </p:sp>
        </mc:Choice>
        <mc:Fallback xmlns="">
          <p:sp>
            <p:nvSpPr>
              <p:cNvPr id="50" name="TextBox 49">
                <a:extLst>
                  <a:ext uri="{FF2B5EF4-FFF2-40B4-BE49-F238E27FC236}">
                    <a16:creationId xmlns:a16="http://schemas.microsoft.com/office/drawing/2014/main" id="{8CE5B074-D9A9-4336-ABA3-B38DC815F3B7}"/>
                  </a:ext>
                </a:extLst>
              </p:cNvPr>
              <p:cNvSpPr txBox="1">
                <a:spLocks noRot="1" noChangeAspect="1" noMove="1" noResize="1" noEditPoints="1" noAdjustHandles="1" noChangeArrowheads="1" noChangeShapeType="1" noTextEdit="1"/>
              </p:cNvSpPr>
              <p:nvPr/>
            </p:nvSpPr>
            <p:spPr>
              <a:xfrm>
                <a:off x="4718388" y="1515845"/>
                <a:ext cx="527709" cy="430887"/>
              </a:xfrm>
              <a:prstGeom prst="rect">
                <a:avLst/>
              </a:prstGeom>
              <a:blipFill>
                <a:blip r:embed="rId4"/>
                <a:stretch>
                  <a:fillRect b="-5714"/>
                </a:stretch>
              </a:blipFill>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6A474D86-DF54-465D-84BF-8C4C94E1D3E8}"/>
              </a:ext>
            </a:extLst>
          </p:cNvPr>
          <p:cNvCxnSpPr/>
          <p:nvPr/>
        </p:nvCxnSpPr>
        <p:spPr bwMode="auto">
          <a:xfrm>
            <a:off x="4238625" y="3666416"/>
            <a:ext cx="0" cy="765131"/>
          </a:xfrm>
          <a:prstGeom prst="straightConnector1">
            <a:avLst/>
          </a:prstGeom>
          <a:noFill/>
          <a:ln w="15875" cap="flat" cmpd="sng" algn="ctr">
            <a:solidFill>
              <a:srgbClr val="FF00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D2588EF-E5CA-49B3-BF7D-C7006C02D1F0}"/>
                  </a:ext>
                </a:extLst>
              </p:cNvPr>
              <p:cNvSpPr txBox="1"/>
              <p:nvPr/>
            </p:nvSpPr>
            <p:spPr>
              <a:xfrm>
                <a:off x="3766766" y="3785217"/>
                <a:ext cx="490840" cy="430887"/>
              </a:xfrm>
              <a:prstGeom prst="rect">
                <a:avLst/>
              </a:prstGeom>
              <a:noFill/>
            </p:spPr>
            <p:txBody>
              <a:bodyPr wrap="none" rtlCol="0" anchor="ctr" anchorCtr="1">
                <a:spAutoFit/>
              </a:bodyPr>
              <a:lstStyle/>
              <a:p>
                <a:pPr/>
                <a14:m>
                  <m:oMathPara xmlns:m="http://schemas.openxmlformats.org/officeDocument/2006/math">
                    <m:oMathParaPr>
                      <m:jc m:val="centerGroup"/>
                    </m:oMathParaPr>
                    <m:oMath xmlns:m="http://schemas.openxmlformats.org/officeDocument/2006/math">
                      <m:sSub>
                        <m:sSubPr>
                          <m:ctrlPr>
                            <a:rPr lang="pt-BR" sz="2200" i="1" smtClean="0">
                              <a:latin typeface="Cambria Math" panose="02040503050406030204" pitchFamily="18" charset="0"/>
                              <a:ea typeface="標楷體" pitchFamily="65" charset="-120"/>
                              <a:cs typeface="Calibri" pitchFamily="34" charset="0"/>
                            </a:rPr>
                          </m:ctrlPr>
                        </m:sSubPr>
                        <m:e>
                          <m:r>
                            <a:rPr lang="en-US" sz="2200" b="0" i="1" smtClean="0">
                              <a:latin typeface="Cambria Math" panose="02040503050406030204" pitchFamily="18" charset="0"/>
                              <a:ea typeface="標楷體" pitchFamily="65" charset="-120"/>
                              <a:cs typeface="Calibri" pitchFamily="34" charset="0"/>
                            </a:rPr>
                            <m:t>𝑆</m:t>
                          </m:r>
                        </m:e>
                        <m:sub>
                          <m:r>
                            <a:rPr lang="en-US" sz="2200" b="0" i="1" smtClean="0">
                              <a:latin typeface="Cambria Math" panose="02040503050406030204" pitchFamily="18" charset="0"/>
                              <a:ea typeface="標楷體" pitchFamily="65" charset="-120"/>
                              <a:cs typeface="Calibri" pitchFamily="34" charset="0"/>
                            </a:rPr>
                            <m:t>𝑖</m:t>
                          </m:r>
                        </m:sub>
                      </m:sSub>
                    </m:oMath>
                  </m:oMathPara>
                </a14:m>
                <a:endParaRPr lang="en-US" sz="2200" dirty="0">
                  <a:ea typeface="標楷體" pitchFamily="65" charset="-120"/>
                  <a:cs typeface="Calibri" pitchFamily="34" charset="0"/>
                </a:endParaRPr>
              </a:p>
            </p:txBody>
          </p:sp>
        </mc:Choice>
        <mc:Fallback xmlns="">
          <p:sp>
            <p:nvSpPr>
              <p:cNvPr id="52" name="TextBox 51">
                <a:extLst>
                  <a:ext uri="{FF2B5EF4-FFF2-40B4-BE49-F238E27FC236}">
                    <a16:creationId xmlns:a16="http://schemas.microsoft.com/office/drawing/2014/main" id="{0D2588EF-E5CA-49B3-BF7D-C7006C02D1F0}"/>
                  </a:ext>
                </a:extLst>
              </p:cNvPr>
              <p:cNvSpPr txBox="1">
                <a:spLocks noRot="1" noChangeAspect="1" noMove="1" noResize="1" noEditPoints="1" noAdjustHandles="1" noChangeArrowheads="1" noChangeShapeType="1" noTextEdit="1"/>
              </p:cNvSpPr>
              <p:nvPr/>
            </p:nvSpPr>
            <p:spPr>
              <a:xfrm>
                <a:off x="3766766" y="3785217"/>
                <a:ext cx="490840" cy="430887"/>
              </a:xfrm>
              <a:prstGeom prst="rect">
                <a:avLst/>
              </a:prstGeom>
              <a:blipFill>
                <a:blip r:embed="rId5"/>
                <a:stretch>
                  <a:fillRect b="-42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993CDBA-6CB6-4332-9682-617E0012326E}"/>
                  </a:ext>
                </a:extLst>
              </p:cNvPr>
              <p:cNvSpPr txBox="1"/>
              <p:nvPr/>
            </p:nvSpPr>
            <p:spPr>
              <a:xfrm>
                <a:off x="7238256" y="1948162"/>
                <a:ext cx="3601193" cy="430887"/>
              </a:xfrm>
              <a:prstGeom prst="rect">
                <a:avLst/>
              </a:prstGeom>
              <a:solidFill>
                <a:srgbClr val="FFFF00"/>
              </a:solidFill>
              <a:ln>
                <a:solidFill>
                  <a:srgbClr val="FF0000"/>
                </a:solidFill>
              </a:ln>
            </p:spPr>
            <p:txBody>
              <a:bodyPr wrap="square" rtlCol="0" anchor="ctr" anchorCtr="1">
                <a:spAutoFit/>
              </a:bodyPr>
              <a:lstStyle/>
              <a:p>
                <a:pPr lvl="0"/>
                <a:r>
                  <a:rPr lang="it-IT" b="0" i="0" dirty="0">
                    <a:solidFill>
                      <a:srgbClr val="383A42"/>
                    </a:solidFill>
                    <a:effectLst/>
                    <a:latin typeface="Fira Code" panose="020B0809050000020004" pitchFamily="49" charset="0"/>
                  </a:rPr>
                  <a:t> </a:t>
                </a:r>
                <a14:m>
                  <m:oMath xmlns:m="http://schemas.openxmlformats.org/officeDocument/2006/math">
                    <m:sSub>
                      <m:sSubPr>
                        <m:ctrlPr>
                          <a:rPr lang="pt-BR" sz="2200" i="1" smtClean="0">
                            <a:latin typeface="Cambria Math" panose="02040503050406030204" pitchFamily="18" charset="0"/>
                            <a:ea typeface="標楷體" pitchFamily="65" charset="-120"/>
                            <a:cs typeface="Calibri" pitchFamily="34" charset="0"/>
                          </a:rPr>
                        </m:ctrlPr>
                      </m:sSubPr>
                      <m:e>
                        <m:r>
                          <a:rPr lang="en-US" sz="2200" b="0" i="1" smtClean="0">
                            <a:latin typeface="Cambria Math" panose="02040503050406030204" pitchFamily="18" charset="0"/>
                            <a:ea typeface="標楷體" pitchFamily="65" charset="-120"/>
                            <a:cs typeface="Calibri" pitchFamily="34" charset="0"/>
                          </a:rPr>
                          <m:t>𝑆</m:t>
                        </m:r>
                      </m:e>
                      <m:sub>
                        <m:r>
                          <a:rPr lang="en-US" sz="2200" b="0" i="1" smtClean="0">
                            <a:latin typeface="Cambria Math" panose="02040503050406030204" pitchFamily="18" charset="0"/>
                            <a:ea typeface="標楷體" pitchFamily="65" charset="-120"/>
                            <a:cs typeface="Calibri" pitchFamily="34" charset="0"/>
                          </a:rPr>
                          <m:t>𝑖</m:t>
                        </m:r>
                      </m:sub>
                    </m:sSub>
                    <m:r>
                      <a:rPr lang="en-US" sz="2200" b="0" i="1" smtClean="0">
                        <a:latin typeface="Cambria Math" panose="02040503050406030204" pitchFamily="18" charset="0"/>
                        <a:ea typeface="標楷體" pitchFamily="65" charset="-120"/>
                        <a:cs typeface="Calibri" pitchFamily="34" charset="0"/>
                      </a:rPr>
                      <m:t> </m:t>
                    </m:r>
                  </m:oMath>
                </a14:m>
                <a:r>
                  <a:rPr lang="it-IT" sz="2200" b="0" i="0" dirty="0">
                    <a:solidFill>
                      <a:srgbClr val="4078F2"/>
                    </a:solidFill>
                    <a:effectLst/>
                    <a:latin typeface="Fira Code" panose="020B0809050000020004" pitchFamily="49" charset="0"/>
                  </a:rPr>
                  <a:t>=</a:t>
                </a:r>
                <a:r>
                  <a:rPr lang="it-IT" sz="2200" b="0" i="0" dirty="0">
                    <a:solidFill>
                      <a:srgbClr val="383A42"/>
                    </a:solidFill>
                    <a:effectLst/>
                    <a:latin typeface="Fira Code" panose="020B0809050000020004" pitchFamily="49" charset="0"/>
                  </a:rPr>
                  <a:t> </a:t>
                </a:r>
                <a14:m>
                  <m:oMath xmlns:m="http://schemas.openxmlformats.org/officeDocument/2006/math">
                    <m:sSub>
                      <m:sSubPr>
                        <m:ctrlPr>
                          <a:rPr lang="pt-BR" sz="2200" i="1">
                            <a:solidFill>
                              <a:prstClr val="black"/>
                            </a:solidFill>
                            <a:latin typeface="Cambria Math" panose="02040503050406030204" pitchFamily="18" charset="0"/>
                            <a:ea typeface="標楷體" pitchFamily="65" charset="-120"/>
                            <a:cs typeface="Calibri" pitchFamily="34" charset="0"/>
                          </a:rPr>
                        </m:ctrlPr>
                      </m:sSubPr>
                      <m:e>
                        <m:r>
                          <a:rPr lang="en-US" sz="2200" i="1">
                            <a:solidFill>
                              <a:prstClr val="black"/>
                            </a:solidFill>
                            <a:latin typeface="Cambria Math" panose="02040503050406030204" pitchFamily="18" charset="0"/>
                            <a:ea typeface="標楷體" pitchFamily="65" charset="-120"/>
                            <a:cs typeface="Calibri" pitchFamily="34" charset="0"/>
                          </a:rPr>
                          <m:t>𝐴</m:t>
                        </m:r>
                      </m:e>
                      <m:sub>
                        <m:r>
                          <a:rPr lang="en-US" sz="2200" i="1">
                            <a:solidFill>
                              <a:prstClr val="black"/>
                            </a:solidFill>
                            <a:latin typeface="Cambria Math" panose="02040503050406030204" pitchFamily="18" charset="0"/>
                            <a:ea typeface="標楷體" pitchFamily="65" charset="-120"/>
                            <a:cs typeface="Calibri" pitchFamily="34" charset="0"/>
                          </a:rPr>
                          <m:t>𝑖</m:t>
                        </m:r>
                      </m:sub>
                    </m:sSub>
                    <m:r>
                      <a:rPr lang="en-US" sz="2200" i="1">
                        <a:solidFill>
                          <a:prstClr val="black"/>
                        </a:solidFill>
                        <a:latin typeface="Cambria Math" panose="02040503050406030204" pitchFamily="18" charset="0"/>
                        <a:ea typeface="標楷體" pitchFamily="65" charset="-120"/>
                        <a:cs typeface="Calibri" pitchFamily="34" charset="0"/>
                      </a:rPr>
                      <m:t> </m:t>
                    </m:r>
                  </m:oMath>
                </a14:m>
                <a:r>
                  <a:rPr lang="it-IT" sz="2200" b="0" i="0" dirty="0">
                    <a:solidFill>
                      <a:srgbClr val="4078F2"/>
                    </a:solidFill>
                    <a:effectLst/>
                    <a:latin typeface="Fira Code" panose="020B0809050000020004" pitchFamily="49" charset="0"/>
                  </a:rPr>
                  <a:t>^</a:t>
                </a:r>
                <a:r>
                  <a:rPr lang="pt-BR" sz="2200" dirty="0">
                    <a:solidFill>
                      <a:prstClr val="black"/>
                    </a:solidFill>
                    <a:ea typeface="標楷體" pitchFamily="65" charset="-120"/>
                    <a:cs typeface="Calibri" pitchFamily="34" charset="0"/>
                  </a:rPr>
                  <a:t> </a:t>
                </a:r>
                <a14:m>
                  <m:oMath xmlns:m="http://schemas.openxmlformats.org/officeDocument/2006/math">
                    <m:sSub>
                      <m:sSubPr>
                        <m:ctrlPr>
                          <a:rPr lang="pt-BR" sz="2200" i="1">
                            <a:solidFill>
                              <a:prstClr val="black"/>
                            </a:solidFill>
                            <a:latin typeface="Cambria Math" panose="02040503050406030204" pitchFamily="18" charset="0"/>
                            <a:ea typeface="標楷體" pitchFamily="65" charset="-120"/>
                            <a:cs typeface="Calibri" pitchFamily="34" charset="0"/>
                          </a:rPr>
                        </m:ctrlPr>
                      </m:sSubPr>
                      <m:e>
                        <m:r>
                          <a:rPr lang="en-US" sz="2200" i="1">
                            <a:solidFill>
                              <a:prstClr val="black"/>
                            </a:solidFill>
                            <a:latin typeface="Cambria Math" panose="02040503050406030204" pitchFamily="18" charset="0"/>
                            <a:ea typeface="標楷體" pitchFamily="65" charset="-120"/>
                            <a:cs typeface="Calibri" pitchFamily="34" charset="0"/>
                          </a:rPr>
                          <m:t>𝐵</m:t>
                        </m:r>
                      </m:e>
                      <m:sub>
                        <m:r>
                          <a:rPr lang="en-US" sz="2200" i="1">
                            <a:solidFill>
                              <a:prstClr val="black"/>
                            </a:solidFill>
                            <a:latin typeface="Cambria Math" panose="02040503050406030204" pitchFamily="18" charset="0"/>
                            <a:ea typeface="標楷體" pitchFamily="65" charset="-120"/>
                            <a:cs typeface="Calibri" pitchFamily="34" charset="0"/>
                          </a:rPr>
                          <m:t>𝑖</m:t>
                        </m:r>
                      </m:sub>
                    </m:sSub>
                  </m:oMath>
                </a14:m>
                <a:r>
                  <a:rPr lang="it-IT" sz="2200" b="0" i="0" dirty="0">
                    <a:solidFill>
                      <a:srgbClr val="383A42"/>
                    </a:solidFill>
                    <a:effectLst/>
                    <a:latin typeface="Fira Code" panose="020B0809050000020004" pitchFamily="49" charset="0"/>
                  </a:rPr>
                  <a:t> </a:t>
                </a:r>
                <a:r>
                  <a:rPr lang="it-IT" sz="2200" b="0" i="0" dirty="0">
                    <a:solidFill>
                      <a:srgbClr val="4078F2"/>
                    </a:solidFill>
                    <a:effectLst/>
                    <a:latin typeface="Fira Code" panose="020B0809050000020004" pitchFamily="49" charset="0"/>
                  </a:rPr>
                  <a:t>^ </a:t>
                </a:r>
                <a:r>
                  <a:rPr lang="en-US" sz="2200" dirty="0">
                    <a:solidFill>
                      <a:prstClr val="black"/>
                    </a:solidFill>
                    <a:latin typeface="Cambria Math" panose="02040503050406030204" pitchFamily="18" charset="0"/>
                    <a:ea typeface="Cambria Math" panose="02040503050406030204" pitchFamily="18" charset="0"/>
                    <a:cs typeface="Calibri" pitchFamily="34" charset="0"/>
                  </a:rPr>
                  <a:t>Carry-in</a:t>
                </a:r>
                <a:r>
                  <a:rPr lang="it-IT" sz="2200" b="0" i="0" dirty="0">
                    <a:solidFill>
                      <a:srgbClr val="383A42"/>
                    </a:solidFill>
                    <a:effectLst/>
                    <a:latin typeface="Fira Code" panose="020B0809050000020004" pitchFamily="49" charset="0"/>
                  </a:rPr>
                  <a:t>;</a:t>
                </a:r>
                <a:endParaRPr lang="en-US" sz="2200" dirty="0">
                  <a:ea typeface="標楷體" pitchFamily="65" charset="-120"/>
                  <a:cs typeface="Calibri" pitchFamily="34" charset="0"/>
                </a:endParaRPr>
              </a:p>
            </p:txBody>
          </p:sp>
        </mc:Choice>
        <mc:Fallback xmlns="">
          <p:sp>
            <p:nvSpPr>
              <p:cNvPr id="53" name="TextBox 52">
                <a:extLst>
                  <a:ext uri="{FF2B5EF4-FFF2-40B4-BE49-F238E27FC236}">
                    <a16:creationId xmlns:a16="http://schemas.microsoft.com/office/drawing/2014/main" id="{7993CDBA-6CB6-4332-9682-617E0012326E}"/>
                  </a:ext>
                </a:extLst>
              </p:cNvPr>
              <p:cNvSpPr txBox="1">
                <a:spLocks noRot="1" noChangeAspect="1" noMove="1" noResize="1" noEditPoints="1" noAdjustHandles="1" noChangeArrowheads="1" noChangeShapeType="1" noTextEdit="1"/>
              </p:cNvSpPr>
              <p:nvPr/>
            </p:nvSpPr>
            <p:spPr>
              <a:xfrm>
                <a:off x="7238256" y="1948162"/>
                <a:ext cx="3601193" cy="430887"/>
              </a:xfrm>
              <a:prstGeom prst="rect">
                <a:avLst/>
              </a:prstGeom>
              <a:blipFill>
                <a:blip r:embed="rId6"/>
                <a:stretch>
                  <a:fillRect t="-12500" b="-27778"/>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504B772-60B3-4C17-9224-4D042A5CD5B4}"/>
                  </a:ext>
                </a:extLst>
              </p:cNvPr>
              <p:cNvSpPr txBox="1"/>
              <p:nvPr/>
            </p:nvSpPr>
            <p:spPr>
              <a:xfrm>
                <a:off x="7245494" y="3105874"/>
                <a:ext cx="4117831" cy="769441"/>
              </a:xfrm>
              <a:prstGeom prst="rect">
                <a:avLst/>
              </a:prstGeom>
              <a:solidFill>
                <a:srgbClr val="FFFF00"/>
              </a:solidFill>
              <a:ln>
                <a:solidFill>
                  <a:srgbClr val="FF0000"/>
                </a:solidFill>
              </a:ln>
            </p:spPr>
            <p:txBody>
              <a:bodyPr wrap="square" rtlCol="0" anchor="ctr" anchorCtr="1">
                <a:spAutoFit/>
              </a:bodyPr>
              <a:lstStyle/>
              <a:p>
                <a:pPr lvl="0"/>
                <a:r>
                  <a:rPr lang="it-IT" sz="2200" b="0" i="0" dirty="0">
                    <a:effectLst/>
                    <a:latin typeface="Fira Code" panose="020B0809050000020004" pitchFamily="49" charset="0"/>
                  </a:rPr>
                  <a:t>Carry-out</a:t>
                </a:r>
                <a:r>
                  <a:rPr lang="it-IT" sz="2200" b="0" i="0" dirty="0">
                    <a:solidFill>
                      <a:srgbClr val="4078F2"/>
                    </a:solidFill>
                    <a:effectLst/>
                    <a:latin typeface="Fira Code" panose="020B0809050000020004" pitchFamily="49" charset="0"/>
                  </a:rPr>
                  <a:t> =</a:t>
                </a:r>
                <a:r>
                  <a:rPr lang="it-IT" sz="2200" b="0" i="0" dirty="0">
                    <a:solidFill>
                      <a:srgbClr val="383A42"/>
                    </a:solidFill>
                    <a:effectLst/>
                    <a:latin typeface="Fira Code" panose="020B0809050000020004" pitchFamily="49" charset="0"/>
                  </a:rPr>
                  <a:t> </a:t>
                </a:r>
                <a14:m>
                  <m:oMath xmlns:m="http://schemas.openxmlformats.org/officeDocument/2006/math">
                    <m:sSub>
                      <m:sSubPr>
                        <m:ctrlPr>
                          <a:rPr lang="pt-BR" sz="2200" i="1">
                            <a:solidFill>
                              <a:prstClr val="black"/>
                            </a:solidFill>
                            <a:latin typeface="Cambria Math" panose="02040503050406030204" pitchFamily="18" charset="0"/>
                            <a:ea typeface="標楷體" pitchFamily="65" charset="-120"/>
                            <a:cs typeface="Calibri" pitchFamily="34" charset="0"/>
                          </a:rPr>
                        </m:ctrlPr>
                      </m:sSubPr>
                      <m:e>
                        <m:r>
                          <m:rPr>
                            <m:nor/>
                          </m:rPr>
                          <a:rPr lang="it-IT" sz="2200"/>
                          <m:t>(</m:t>
                        </m:r>
                        <m:sSub>
                          <m:sSubPr>
                            <m:ctrlPr>
                              <a:rPr lang="pt-BR" sz="2200" i="1">
                                <a:solidFill>
                                  <a:prstClr val="black"/>
                                </a:solidFill>
                                <a:latin typeface="Cambria Math" panose="02040503050406030204" pitchFamily="18" charset="0"/>
                                <a:ea typeface="標楷體" pitchFamily="65" charset="-120"/>
                                <a:cs typeface="Calibri" pitchFamily="34" charset="0"/>
                              </a:rPr>
                            </m:ctrlPr>
                          </m:sSubPr>
                          <m:e>
                            <m:r>
                              <a:rPr lang="en-US" sz="2200" i="1">
                                <a:solidFill>
                                  <a:prstClr val="black"/>
                                </a:solidFill>
                                <a:latin typeface="Cambria Math" panose="02040503050406030204" pitchFamily="18" charset="0"/>
                                <a:ea typeface="標楷體" pitchFamily="65" charset="-120"/>
                                <a:cs typeface="Calibri" pitchFamily="34" charset="0"/>
                              </a:rPr>
                              <m:t>𝐴</m:t>
                            </m:r>
                          </m:e>
                          <m:sub>
                            <m:r>
                              <a:rPr lang="en-US" sz="2200" i="1">
                                <a:solidFill>
                                  <a:prstClr val="black"/>
                                </a:solidFill>
                                <a:latin typeface="Cambria Math" panose="02040503050406030204" pitchFamily="18" charset="0"/>
                                <a:ea typeface="標楷體" pitchFamily="65" charset="-120"/>
                                <a:cs typeface="Calibri" pitchFamily="34" charset="0"/>
                              </a:rPr>
                              <m:t>𝑖</m:t>
                            </m:r>
                          </m:sub>
                        </m:sSub>
                        <m:r>
                          <m:rPr>
                            <m:nor/>
                          </m:rPr>
                          <a:rPr lang="it-IT" sz="2200"/>
                          <m:t>&amp;</m:t>
                        </m:r>
                        <m:sSub>
                          <m:sSubPr>
                            <m:ctrlPr>
                              <a:rPr lang="pt-BR" sz="2200" i="1">
                                <a:solidFill>
                                  <a:prstClr val="black"/>
                                </a:solidFill>
                                <a:latin typeface="Cambria Math" panose="02040503050406030204" pitchFamily="18" charset="0"/>
                                <a:ea typeface="標楷體" pitchFamily="65" charset="-120"/>
                                <a:cs typeface="Calibri" pitchFamily="34" charset="0"/>
                              </a:rPr>
                            </m:ctrlPr>
                          </m:sSubPr>
                          <m:e>
                            <m:r>
                              <a:rPr lang="en-US" sz="2200" i="1">
                                <a:solidFill>
                                  <a:prstClr val="black"/>
                                </a:solidFill>
                                <a:latin typeface="Cambria Math" panose="02040503050406030204" pitchFamily="18" charset="0"/>
                                <a:ea typeface="標楷體" pitchFamily="65" charset="-120"/>
                                <a:cs typeface="Calibri" pitchFamily="34" charset="0"/>
                              </a:rPr>
                              <m:t>𝐵</m:t>
                            </m:r>
                          </m:e>
                          <m:sub>
                            <m:r>
                              <a:rPr lang="en-US" sz="2200" i="1">
                                <a:solidFill>
                                  <a:prstClr val="black"/>
                                </a:solidFill>
                                <a:latin typeface="Cambria Math" panose="02040503050406030204" pitchFamily="18" charset="0"/>
                                <a:ea typeface="標楷體" pitchFamily="65" charset="-120"/>
                                <a:cs typeface="Calibri" pitchFamily="34" charset="0"/>
                              </a:rPr>
                              <m:t>𝑖</m:t>
                            </m:r>
                          </m:sub>
                        </m:sSub>
                        <m:r>
                          <m:rPr>
                            <m:nor/>
                          </m:rPr>
                          <a:rPr lang="it-IT" sz="2200"/>
                          <m:t>) | (</m:t>
                        </m:r>
                        <m:r>
                          <m:rPr>
                            <m:nor/>
                          </m:rPr>
                          <a:rPr lang="it-IT" sz="2200"/>
                          <m:t>c</m:t>
                        </m:r>
                        <m:r>
                          <m:rPr>
                            <m:nor/>
                          </m:rPr>
                          <a:rPr lang="en-US" sz="2200" b="0" i="0" smtClean="0"/>
                          <m:t>arry</m:t>
                        </m:r>
                        <m:r>
                          <m:rPr>
                            <m:nor/>
                          </m:rPr>
                          <a:rPr lang="en-US" sz="2200" b="0" i="0" smtClean="0"/>
                          <m:t>−</m:t>
                        </m:r>
                        <m:r>
                          <m:rPr>
                            <m:nor/>
                          </m:rPr>
                          <a:rPr lang="en-US" sz="2200" b="0" i="0" smtClean="0"/>
                          <m:t>in</m:t>
                        </m:r>
                        <m:r>
                          <m:rPr>
                            <m:nor/>
                          </m:rPr>
                          <a:rPr lang="it-IT" sz="2200"/>
                          <m:t> &amp; (</m:t>
                        </m:r>
                        <m:sSub>
                          <m:sSubPr>
                            <m:ctrlPr>
                              <a:rPr lang="pt-BR" sz="2200" i="1">
                                <a:solidFill>
                                  <a:prstClr val="black"/>
                                </a:solidFill>
                                <a:latin typeface="Cambria Math" panose="02040503050406030204" pitchFamily="18" charset="0"/>
                                <a:ea typeface="標楷體" pitchFamily="65" charset="-120"/>
                                <a:cs typeface="Calibri" pitchFamily="34" charset="0"/>
                              </a:rPr>
                            </m:ctrlPr>
                          </m:sSubPr>
                          <m:e>
                            <m:r>
                              <a:rPr lang="en-US" sz="2200" i="1">
                                <a:solidFill>
                                  <a:prstClr val="black"/>
                                </a:solidFill>
                                <a:latin typeface="Cambria Math" panose="02040503050406030204" pitchFamily="18" charset="0"/>
                                <a:ea typeface="標楷體" pitchFamily="65" charset="-120"/>
                                <a:cs typeface="Calibri" pitchFamily="34" charset="0"/>
                              </a:rPr>
                              <m:t>𝐴</m:t>
                            </m:r>
                          </m:e>
                          <m:sub>
                            <m:r>
                              <a:rPr lang="en-US" sz="2200" i="1">
                                <a:solidFill>
                                  <a:prstClr val="black"/>
                                </a:solidFill>
                                <a:latin typeface="Cambria Math" panose="02040503050406030204" pitchFamily="18" charset="0"/>
                                <a:ea typeface="標楷體" pitchFamily="65" charset="-120"/>
                                <a:cs typeface="Calibri" pitchFamily="34" charset="0"/>
                              </a:rPr>
                              <m:t>𝑖</m:t>
                            </m:r>
                          </m:sub>
                        </m:sSub>
                        <m:r>
                          <m:rPr>
                            <m:nor/>
                          </m:rPr>
                          <a:rPr lang="en-US" sz="2200" b="0" i="0" smtClean="0">
                            <a:solidFill>
                              <a:prstClr val="black"/>
                            </a:solidFill>
                            <a:latin typeface="Cambria Math" panose="02040503050406030204" pitchFamily="18" charset="0"/>
                            <a:ea typeface="標楷體" pitchFamily="65" charset="-120"/>
                            <a:cs typeface="Calibri" pitchFamily="34" charset="0"/>
                          </a:rPr>
                          <m:t>^</m:t>
                        </m:r>
                        <m:sSub>
                          <m:sSubPr>
                            <m:ctrlPr>
                              <a:rPr lang="pt-BR" sz="2200" i="1">
                                <a:solidFill>
                                  <a:prstClr val="black"/>
                                </a:solidFill>
                                <a:latin typeface="Cambria Math" panose="02040503050406030204" pitchFamily="18" charset="0"/>
                                <a:ea typeface="標楷體" pitchFamily="65" charset="-120"/>
                                <a:cs typeface="Calibri" pitchFamily="34" charset="0"/>
                              </a:rPr>
                            </m:ctrlPr>
                          </m:sSubPr>
                          <m:e>
                            <m:r>
                              <a:rPr lang="en-US" sz="2200" i="1">
                                <a:solidFill>
                                  <a:prstClr val="black"/>
                                </a:solidFill>
                                <a:latin typeface="Cambria Math" panose="02040503050406030204" pitchFamily="18" charset="0"/>
                                <a:ea typeface="標楷體" pitchFamily="65" charset="-120"/>
                                <a:cs typeface="Calibri" pitchFamily="34" charset="0"/>
                              </a:rPr>
                              <m:t>𝐵</m:t>
                            </m:r>
                          </m:e>
                          <m:sub>
                            <m:r>
                              <a:rPr lang="en-US" sz="2200" i="1">
                                <a:solidFill>
                                  <a:prstClr val="black"/>
                                </a:solidFill>
                                <a:latin typeface="Cambria Math" panose="02040503050406030204" pitchFamily="18" charset="0"/>
                                <a:ea typeface="標楷體" pitchFamily="65" charset="-120"/>
                                <a:cs typeface="Calibri" pitchFamily="34" charset="0"/>
                              </a:rPr>
                              <m:t>𝑖</m:t>
                            </m:r>
                          </m:sub>
                        </m:sSub>
                        <m:r>
                          <m:rPr>
                            <m:nor/>
                          </m:rPr>
                          <a:rPr lang="it-IT" sz="2200"/>
                          <m:t>));</m:t>
                        </m:r>
                      </m:e>
                      <m:sub>
                        <m:r>
                          <a:rPr lang="en-US" sz="2200" b="0" i="1" smtClean="0">
                            <a:solidFill>
                              <a:prstClr val="black"/>
                            </a:solidFill>
                            <a:latin typeface="Cambria Math" panose="02040503050406030204" pitchFamily="18" charset="0"/>
                            <a:ea typeface="標楷體" pitchFamily="65" charset="-120"/>
                            <a:cs typeface="Calibri" pitchFamily="34" charset="0"/>
                          </a:rPr>
                          <m:t> </m:t>
                        </m:r>
                      </m:sub>
                    </m:sSub>
                  </m:oMath>
                </a14:m>
                <a:endParaRPr lang="en-US" sz="2200" dirty="0">
                  <a:ea typeface="標楷體" pitchFamily="65" charset="-120"/>
                  <a:cs typeface="Calibri" pitchFamily="34" charset="0"/>
                </a:endParaRPr>
              </a:p>
            </p:txBody>
          </p:sp>
        </mc:Choice>
        <mc:Fallback xmlns="">
          <p:sp>
            <p:nvSpPr>
              <p:cNvPr id="54" name="TextBox 53">
                <a:extLst>
                  <a:ext uri="{FF2B5EF4-FFF2-40B4-BE49-F238E27FC236}">
                    <a16:creationId xmlns:a16="http://schemas.microsoft.com/office/drawing/2014/main" id="{4504B772-60B3-4C17-9224-4D042A5CD5B4}"/>
                  </a:ext>
                </a:extLst>
              </p:cNvPr>
              <p:cNvSpPr txBox="1">
                <a:spLocks noRot="1" noChangeAspect="1" noMove="1" noResize="1" noEditPoints="1" noAdjustHandles="1" noChangeArrowheads="1" noChangeShapeType="1" noTextEdit="1"/>
              </p:cNvSpPr>
              <p:nvPr/>
            </p:nvSpPr>
            <p:spPr>
              <a:xfrm>
                <a:off x="7245494" y="3105874"/>
                <a:ext cx="4117831" cy="769441"/>
              </a:xfrm>
              <a:prstGeom prst="rect">
                <a:avLst/>
              </a:prstGeom>
              <a:blipFill>
                <a:blip r:embed="rId7"/>
                <a:stretch>
                  <a:fillRect t="-3101" b="-10078"/>
                </a:stretch>
              </a:blipFill>
              <a:ln>
                <a:solidFill>
                  <a:srgbClr val="FF0000"/>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73526560-834C-4117-A98D-17A28619DEDC}"/>
              </a:ext>
            </a:extLst>
          </p:cNvPr>
          <p:cNvSpPr txBox="1"/>
          <p:nvPr/>
        </p:nvSpPr>
        <p:spPr>
          <a:xfrm>
            <a:off x="7101273" y="4289698"/>
            <a:ext cx="3429144" cy="1477328"/>
          </a:xfrm>
          <a:prstGeom prst="rect">
            <a:avLst/>
          </a:prstGeom>
          <a:noFill/>
        </p:spPr>
        <p:txBody>
          <a:bodyPr wrap="none" rtlCol="0" anchor="ctr" anchorCtr="1">
            <a:spAutoFit/>
          </a:bodyPr>
          <a:lstStyle/>
          <a:p>
            <a:r>
              <a:rPr lang="en-US" dirty="0">
                <a:ea typeface="標楷體" pitchFamily="65" charset="-120"/>
                <a:cs typeface="Calibri" pitchFamily="34" charset="0"/>
              </a:rPr>
              <a:t>Three cases:</a:t>
            </a:r>
          </a:p>
          <a:p>
            <a:pPr marL="342900" indent="-342900">
              <a:buAutoNum type="arabicParenR"/>
            </a:pPr>
            <a:r>
              <a:rPr lang="en-US" dirty="0">
                <a:ea typeface="標楷體" pitchFamily="65" charset="-120"/>
                <a:cs typeface="Calibri" pitchFamily="34" charset="0"/>
              </a:rPr>
              <a:t>Both A and B are 1’s</a:t>
            </a:r>
          </a:p>
          <a:p>
            <a:pPr marL="342900" indent="-342900">
              <a:buAutoNum type="arabicParenR"/>
            </a:pPr>
            <a:r>
              <a:rPr lang="en-US" dirty="0">
                <a:ea typeface="標楷體" pitchFamily="65" charset="-120"/>
                <a:cs typeface="Calibri" pitchFamily="34" charset="0"/>
              </a:rPr>
              <a:t>A==1, B==0, and Carry==1</a:t>
            </a:r>
          </a:p>
          <a:p>
            <a:pPr marL="342900" indent="-342900">
              <a:buAutoNum type="arabicParenR"/>
            </a:pPr>
            <a:r>
              <a:rPr lang="en-US" dirty="0">
                <a:ea typeface="標楷體" pitchFamily="65" charset="-120"/>
                <a:cs typeface="Calibri" pitchFamily="34" charset="0"/>
              </a:rPr>
              <a:t>A==0, B==1, and Carry ==1</a:t>
            </a:r>
          </a:p>
          <a:p>
            <a:r>
              <a:rPr lang="en-US" dirty="0">
                <a:ea typeface="標楷體" pitchFamily="65" charset="-120"/>
                <a:cs typeface="Calibri"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5" name="Rectangle 44"/>
          <p:cNvSpPr>
            <a:spLocks noGrp="1" noChangeArrowheads="1"/>
          </p:cNvSpPr>
          <p:nvPr>
            <p:ph type="title"/>
          </p:nvPr>
        </p:nvSpPr>
        <p:spPr>
          <a:xfrm>
            <a:off x="1325233" y="216951"/>
            <a:ext cx="10698154" cy="626379"/>
          </a:xfrm>
        </p:spPr>
        <p:txBody>
          <a:bodyPr/>
          <a:lstStyle/>
          <a:p>
            <a:r>
              <a:rPr lang="en-US" altLang="zh-TW" sz="4400" dirty="0"/>
              <a:t>An 1-bit ALU – And, Or, and Add Operations</a:t>
            </a:r>
          </a:p>
        </p:txBody>
      </p:sp>
      <p:grpSp>
        <p:nvGrpSpPr>
          <p:cNvPr id="2" name="组合 1"/>
          <p:cNvGrpSpPr/>
          <p:nvPr/>
        </p:nvGrpSpPr>
        <p:grpSpPr>
          <a:xfrm>
            <a:off x="2807518" y="1209064"/>
            <a:ext cx="6131959" cy="4711193"/>
            <a:chOff x="2509838" y="1593420"/>
            <a:chExt cx="3604022" cy="3151937"/>
          </a:xfrm>
        </p:grpSpPr>
        <p:grpSp>
          <p:nvGrpSpPr>
            <p:cNvPr id="12290" name="Group 2"/>
            <p:cNvGrpSpPr/>
            <p:nvPr/>
          </p:nvGrpSpPr>
          <p:grpSpPr bwMode="auto">
            <a:xfrm>
              <a:off x="3761185" y="2052638"/>
              <a:ext cx="619125" cy="457200"/>
              <a:chOff x="2251" y="1766"/>
              <a:chExt cx="480" cy="384"/>
            </a:xfrm>
          </p:grpSpPr>
          <p:sp>
            <p:nvSpPr>
              <p:cNvPr id="12333" name="Arc 3"/>
              <p:cNvSpPr/>
              <p:nvPr/>
            </p:nvSpPr>
            <p:spPr bwMode="auto">
              <a:xfrm>
                <a:off x="2531" y="1767"/>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334" name="Arc 4"/>
              <p:cNvSpPr/>
              <p:nvPr/>
            </p:nvSpPr>
            <p:spPr bwMode="auto">
              <a:xfrm>
                <a:off x="2531" y="1958"/>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335" name="Line 5"/>
              <p:cNvSpPr>
                <a:spLocks noChangeShapeType="1"/>
              </p:cNvSpPr>
              <p:nvPr/>
            </p:nvSpPr>
            <p:spPr bwMode="auto">
              <a:xfrm flipH="1">
                <a:off x="2251" y="1766"/>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36" name="Line 6"/>
              <p:cNvSpPr>
                <a:spLocks noChangeShapeType="1"/>
              </p:cNvSpPr>
              <p:nvPr/>
            </p:nvSpPr>
            <p:spPr bwMode="auto">
              <a:xfrm>
                <a:off x="2251" y="1766"/>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37" name="Line 7"/>
              <p:cNvSpPr>
                <a:spLocks noChangeShapeType="1"/>
              </p:cNvSpPr>
              <p:nvPr/>
            </p:nvSpPr>
            <p:spPr bwMode="auto">
              <a:xfrm flipH="1">
                <a:off x="2251" y="2150"/>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grpSp>
        <p:sp>
          <p:nvSpPr>
            <p:cNvPr id="12291" name="Line 8"/>
            <p:cNvSpPr>
              <a:spLocks noChangeShapeType="1"/>
            </p:cNvSpPr>
            <p:nvPr/>
          </p:nvSpPr>
          <p:spPr bwMode="auto">
            <a:xfrm flipH="1">
              <a:off x="2770585" y="2166938"/>
              <a:ext cx="9906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292" name="Line 9"/>
            <p:cNvSpPr>
              <a:spLocks noChangeShapeType="1"/>
            </p:cNvSpPr>
            <p:nvPr/>
          </p:nvSpPr>
          <p:spPr bwMode="auto">
            <a:xfrm flipH="1">
              <a:off x="3451622" y="2395538"/>
              <a:ext cx="309563"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293" name="Line 10"/>
            <p:cNvSpPr>
              <a:spLocks noChangeShapeType="1"/>
            </p:cNvSpPr>
            <p:nvPr/>
          </p:nvSpPr>
          <p:spPr bwMode="auto">
            <a:xfrm>
              <a:off x="4380310" y="228123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294" name="Rectangle 11"/>
            <p:cNvSpPr>
              <a:spLocks noChangeArrowheads="1"/>
            </p:cNvSpPr>
            <p:nvPr/>
          </p:nvSpPr>
          <p:spPr bwMode="auto">
            <a:xfrm>
              <a:off x="2509838" y="2060973"/>
              <a:ext cx="195969"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a:t>
              </a:r>
            </a:p>
          </p:txBody>
        </p:sp>
        <p:sp>
          <p:nvSpPr>
            <p:cNvPr id="12295" name="Arc 12"/>
            <p:cNvSpPr/>
            <p:nvPr/>
          </p:nvSpPr>
          <p:spPr bwMode="auto">
            <a:xfrm>
              <a:off x="3813573" y="2853929"/>
              <a:ext cx="525065" cy="228600"/>
            </a:xfrm>
            <a:custGeom>
              <a:avLst/>
              <a:gdLst>
                <a:gd name="T0" fmla="*/ 0 w 21653"/>
                <a:gd name="T1" fmla="*/ 0 h 21600"/>
                <a:gd name="T2" fmla="*/ 2147483647 w 21653"/>
                <a:gd name="T3" fmla="*/ 2147483647 h 21600"/>
                <a:gd name="T4" fmla="*/ 2147483647 w 21653"/>
                <a:gd name="T5" fmla="*/ 2147483647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296" name="Arc 13"/>
            <p:cNvSpPr/>
            <p:nvPr/>
          </p:nvSpPr>
          <p:spPr bwMode="auto">
            <a:xfrm>
              <a:off x="3812381" y="3081338"/>
              <a:ext cx="525066" cy="228600"/>
            </a:xfrm>
            <a:custGeom>
              <a:avLst/>
              <a:gdLst>
                <a:gd name="T0" fmla="*/ 2147483647 w 21653"/>
                <a:gd name="T1" fmla="*/ 0 h 21600"/>
                <a:gd name="T2" fmla="*/ 0 w 21653"/>
                <a:gd name="T3" fmla="*/ 2147483647 h 21600"/>
                <a:gd name="T4" fmla="*/ 2147483647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297" name="Arc 14"/>
            <p:cNvSpPr/>
            <p:nvPr/>
          </p:nvSpPr>
          <p:spPr bwMode="auto">
            <a:xfrm>
              <a:off x="3761185" y="2853929"/>
              <a:ext cx="157163" cy="2286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298" name="Arc 15"/>
            <p:cNvSpPr/>
            <p:nvPr/>
          </p:nvSpPr>
          <p:spPr bwMode="auto">
            <a:xfrm>
              <a:off x="3761185" y="3081338"/>
              <a:ext cx="157163" cy="22860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299" name="Line 16"/>
            <p:cNvSpPr>
              <a:spLocks noChangeShapeType="1"/>
            </p:cNvSpPr>
            <p:nvPr/>
          </p:nvSpPr>
          <p:spPr bwMode="auto">
            <a:xfrm>
              <a:off x="4318397" y="3081338"/>
              <a:ext cx="7429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0" name="Line 17"/>
            <p:cNvSpPr>
              <a:spLocks noChangeShapeType="1"/>
            </p:cNvSpPr>
            <p:nvPr/>
          </p:nvSpPr>
          <p:spPr bwMode="auto">
            <a:xfrm flipH="1">
              <a:off x="3203972" y="2967038"/>
              <a:ext cx="68103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1" name="Line 18"/>
            <p:cNvSpPr>
              <a:spLocks noChangeShapeType="1"/>
            </p:cNvSpPr>
            <p:nvPr/>
          </p:nvSpPr>
          <p:spPr bwMode="auto">
            <a:xfrm flipH="1">
              <a:off x="3451622" y="3195638"/>
              <a:ext cx="43338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2" name="Rectangle 19"/>
            <p:cNvSpPr>
              <a:spLocks noChangeArrowheads="1"/>
            </p:cNvSpPr>
            <p:nvPr/>
          </p:nvSpPr>
          <p:spPr bwMode="auto">
            <a:xfrm>
              <a:off x="2509838" y="4061224"/>
              <a:ext cx="195969"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a:t>
              </a:r>
            </a:p>
          </p:txBody>
        </p:sp>
        <p:grpSp>
          <p:nvGrpSpPr>
            <p:cNvPr id="12303" name="Group 20"/>
            <p:cNvGrpSpPr/>
            <p:nvPr/>
          </p:nvGrpSpPr>
          <p:grpSpPr bwMode="auto">
            <a:xfrm>
              <a:off x="3894535" y="3662365"/>
              <a:ext cx="784622" cy="666751"/>
              <a:chOff x="2355" y="3118"/>
              <a:chExt cx="608" cy="560"/>
            </a:xfrm>
          </p:grpSpPr>
          <p:sp>
            <p:nvSpPr>
              <p:cNvPr id="12331" name="Rectangle 21"/>
              <p:cNvSpPr>
                <a:spLocks noChangeArrowheads="1"/>
              </p:cNvSpPr>
              <p:nvPr/>
            </p:nvSpPr>
            <p:spPr bwMode="auto">
              <a:xfrm>
                <a:off x="2355" y="3118"/>
                <a:ext cx="608" cy="56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sz="1600"/>
              </a:p>
            </p:txBody>
          </p:sp>
          <p:sp>
            <p:nvSpPr>
              <p:cNvPr id="12332" name="Rectangle 22"/>
              <p:cNvSpPr>
                <a:spLocks noChangeArrowheads="1"/>
              </p:cNvSpPr>
              <p:nvPr/>
            </p:nvSpPr>
            <p:spPr bwMode="auto">
              <a:xfrm>
                <a:off x="2489" y="3165"/>
                <a:ext cx="354"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dirty="0">
                    <a:latin typeface="Arial" panose="020B0604020202020204" pitchFamily="34" charset="0"/>
                  </a:rPr>
                  <a:t>1-</a:t>
                </a:r>
                <a:r>
                  <a:rPr kumimoji="1" lang="en-US" altLang="zh-TW" sz="1600" b="1" dirty="0">
                    <a:latin typeface="Arial" panose="020B0604020202020204" pitchFamily="34" charset="0"/>
                  </a:rPr>
                  <a:t>bit</a:t>
                </a:r>
              </a:p>
              <a:p>
                <a:pPr algn="ctr"/>
                <a:r>
                  <a:rPr kumimoji="1" lang="en-US" altLang="zh-TW" sz="1600" b="1" dirty="0">
                    <a:latin typeface="Arial" panose="020B0604020202020204" pitchFamily="34" charset="0"/>
                  </a:rPr>
                  <a:t>Full</a:t>
                </a:r>
              </a:p>
              <a:p>
                <a:pPr algn="ctr"/>
                <a:r>
                  <a:rPr kumimoji="1" lang="en-US" altLang="zh-TW" sz="1600" b="1" dirty="0">
                    <a:latin typeface="Arial" panose="020B0604020202020204" pitchFamily="34" charset="0"/>
                  </a:rPr>
                  <a:t>Adder</a:t>
                </a:r>
              </a:p>
            </p:txBody>
          </p:sp>
        </p:grpSp>
        <p:sp>
          <p:nvSpPr>
            <p:cNvPr id="12304" name="Line 23"/>
            <p:cNvSpPr>
              <a:spLocks noChangeShapeType="1"/>
            </p:cNvSpPr>
            <p:nvPr/>
          </p:nvSpPr>
          <p:spPr bwMode="auto">
            <a:xfrm>
              <a:off x="2770585" y="4167188"/>
              <a:ext cx="111442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5" name="Line 24"/>
            <p:cNvSpPr>
              <a:spLocks noChangeShapeType="1"/>
            </p:cNvSpPr>
            <p:nvPr/>
          </p:nvSpPr>
          <p:spPr bwMode="auto">
            <a:xfrm>
              <a:off x="3451622" y="2395538"/>
              <a:ext cx="0" cy="17716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6" name="Line 25"/>
            <p:cNvSpPr>
              <a:spLocks noChangeShapeType="1"/>
            </p:cNvSpPr>
            <p:nvPr/>
          </p:nvSpPr>
          <p:spPr bwMode="auto">
            <a:xfrm>
              <a:off x="3203972" y="2166938"/>
              <a:ext cx="0" cy="16573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7" name="Line 26"/>
            <p:cNvSpPr>
              <a:spLocks noChangeShapeType="1"/>
            </p:cNvSpPr>
            <p:nvPr/>
          </p:nvSpPr>
          <p:spPr bwMode="auto">
            <a:xfrm>
              <a:off x="3203972" y="382428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8" name="Line 27"/>
            <p:cNvSpPr>
              <a:spLocks noChangeShapeType="1"/>
            </p:cNvSpPr>
            <p:nvPr/>
          </p:nvSpPr>
          <p:spPr bwMode="auto">
            <a:xfrm>
              <a:off x="4442222" y="1824038"/>
              <a:ext cx="0" cy="1828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09" name="Line 28"/>
            <p:cNvSpPr>
              <a:spLocks noChangeShapeType="1"/>
            </p:cNvSpPr>
            <p:nvPr/>
          </p:nvSpPr>
          <p:spPr bwMode="auto">
            <a:xfrm>
              <a:off x="4318397" y="4338638"/>
              <a:ext cx="0" cy="4000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0" name="Rectangle 29"/>
            <p:cNvSpPr>
              <a:spLocks noChangeArrowheads="1"/>
            </p:cNvSpPr>
            <p:nvPr/>
          </p:nvSpPr>
          <p:spPr bwMode="auto">
            <a:xfrm>
              <a:off x="4367213" y="4518423"/>
              <a:ext cx="632186"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CarryOut</a:t>
              </a:r>
            </a:p>
          </p:txBody>
        </p:sp>
        <p:sp>
          <p:nvSpPr>
            <p:cNvPr id="12311" name="Line 30"/>
            <p:cNvSpPr>
              <a:spLocks noChangeShapeType="1"/>
            </p:cNvSpPr>
            <p:nvPr/>
          </p:nvSpPr>
          <p:spPr bwMode="auto">
            <a:xfrm>
              <a:off x="5061347" y="2052638"/>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2" name="Line 31"/>
            <p:cNvSpPr>
              <a:spLocks noChangeShapeType="1"/>
            </p:cNvSpPr>
            <p:nvPr/>
          </p:nvSpPr>
          <p:spPr bwMode="auto">
            <a:xfrm>
              <a:off x="5061347" y="2052638"/>
              <a:ext cx="37147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3" name="Line 32"/>
            <p:cNvSpPr>
              <a:spLocks noChangeShapeType="1"/>
            </p:cNvSpPr>
            <p:nvPr/>
          </p:nvSpPr>
          <p:spPr bwMode="auto">
            <a:xfrm>
              <a:off x="5432822" y="2224088"/>
              <a:ext cx="0" cy="19431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4" name="Rectangle 33"/>
            <p:cNvSpPr>
              <a:spLocks noChangeArrowheads="1"/>
            </p:cNvSpPr>
            <p:nvPr/>
          </p:nvSpPr>
          <p:spPr bwMode="auto">
            <a:xfrm rot="5400000">
              <a:off x="5076185" y="3378135"/>
              <a:ext cx="398955" cy="19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Mux</a:t>
              </a:r>
            </a:p>
          </p:txBody>
        </p:sp>
        <p:sp>
          <p:nvSpPr>
            <p:cNvPr id="12315" name="Line 34"/>
            <p:cNvSpPr>
              <a:spLocks noChangeShapeType="1"/>
            </p:cNvSpPr>
            <p:nvPr/>
          </p:nvSpPr>
          <p:spPr bwMode="auto">
            <a:xfrm flipV="1">
              <a:off x="5061347" y="4167188"/>
              <a:ext cx="37147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6" name="Line 35"/>
            <p:cNvSpPr>
              <a:spLocks noChangeShapeType="1"/>
            </p:cNvSpPr>
            <p:nvPr/>
          </p:nvSpPr>
          <p:spPr bwMode="auto">
            <a:xfrm>
              <a:off x="4689872" y="3995738"/>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7" name="Line 36"/>
            <p:cNvSpPr>
              <a:spLocks noChangeShapeType="1"/>
            </p:cNvSpPr>
            <p:nvPr/>
          </p:nvSpPr>
          <p:spPr bwMode="auto">
            <a:xfrm>
              <a:off x="5432822" y="3081338"/>
              <a:ext cx="68103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18" name="Rectangle 37"/>
            <p:cNvSpPr>
              <a:spLocks noChangeArrowheads="1"/>
            </p:cNvSpPr>
            <p:nvPr/>
          </p:nvSpPr>
          <p:spPr bwMode="auto">
            <a:xfrm>
              <a:off x="4180929" y="1593420"/>
              <a:ext cx="554830"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p>
              <a:r>
                <a:rPr kumimoji="1" lang="en-US" altLang="zh-TW" sz="1600" b="1" dirty="0" err="1">
                  <a:latin typeface="Arial" panose="020B0604020202020204" pitchFamily="34" charset="0"/>
                </a:rPr>
                <a:t>CarryIn</a:t>
              </a:r>
              <a:endParaRPr kumimoji="1" lang="en-US" altLang="zh-TW" sz="1600" b="1" dirty="0">
                <a:latin typeface="Arial" panose="020B0604020202020204" pitchFamily="34" charset="0"/>
              </a:endParaRPr>
            </a:p>
          </p:txBody>
        </p:sp>
        <p:sp>
          <p:nvSpPr>
            <p:cNvPr id="12319" name="Rectangle 38"/>
            <p:cNvSpPr>
              <a:spLocks noChangeArrowheads="1"/>
            </p:cNvSpPr>
            <p:nvPr/>
          </p:nvSpPr>
          <p:spPr bwMode="auto">
            <a:xfrm>
              <a:off x="5419725" y="2861073"/>
              <a:ext cx="477673"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a:t>
              </a:r>
            </a:p>
          </p:txBody>
        </p:sp>
        <p:sp>
          <p:nvSpPr>
            <p:cNvPr id="12320" name="Rectangle 39"/>
            <p:cNvSpPr>
              <a:spLocks noChangeArrowheads="1"/>
            </p:cNvSpPr>
            <p:nvPr/>
          </p:nvSpPr>
          <p:spPr bwMode="auto">
            <a:xfrm>
              <a:off x="4679982" y="3673078"/>
              <a:ext cx="377805" cy="268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2000" b="1" dirty="0">
                  <a:solidFill>
                    <a:srgbClr val="FF0000"/>
                  </a:solidFill>
                  <a:latin typeface="Arial" panose="020B0604020202020204" pitchFamily="34" charset="0"/>
                </a:rPr>
                <a:t>add</a:t>
              </a:r>
            </a:p>
          </p:txBody>
        </p:sp>
        <p:sp>
          <p:nvSpPr>
            <p:cNvPr id="12321" name="Rectangle 40"/>
            <p:cNvSpPr>
              <a:spLocks noChangeArrowheads="1"/>
            </p:cNvSpPr>
            <p:nvPr/>
          </p:nvSpPr>
          <p:spPr bwMode="auto">
            <a:xfrm>
              <a:off x="4558904" y="1943100"/>
              <a:ext cx="377805" cy="268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2000" b="1" dirty="0">
                  <a:solidFill>
                    <a:srgbClr val="FF0000"/>
                  </a:solidFill>
                  <a:latin typeface="Arial" panose="020B0604020202020204" pitchFamily="34" charset="0"/>
                </a:rPr>
                <a:t>and</a:t>
              </a:r>
            </a:p>
          </p:txBody>
        </p:sp>
        <p:sp>
          <p:nvSpPr>
            <p:cNvPr id="12322" name="Rectangle 41"/>
            <p:cNvSpPr>
              <a:spLocks noChangeArrowheads="1"/>
            </p:cNvSpPr>
            <p:nvPr/>
          </p:nvSpPr>
          <p:spPr bwMode="auto">
            <a:xfrm>
              <a:off x="4620816" y="2800350"/>
              <a:ext cx="260035" cy="268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2000" b="1" dirty="0">
                  <a:solidFill>
                    <a:srgbClr val="FF0000"/>
                  </a:solidFill>
                  <a:latin typeface="Arial" panose="020B0604020202020204" pitchFamily="34" charset="0"/>
                </a:rPr>
                <a:t>or</a:t>
              </a:r>
            </a:p>
          </p:txBody>
        </p:sp>
        <p:sp>
          <p:nvSpPr>
            <p:cNvPr id="12323" name="Line 42"/>
            <p:cNvSpPr>
              <a:spLocks noChangeShapeType="1"/>
            </p:cNvSpPr>
            <p:nvPr/>
          </p:nvSpPr>
          <p:spPr bwMode="auto">
            <a:xfrm>
              <a:off x="5191125" y="1835944"/>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600"/>
            </a:p>
          </p:txBody>
        </p:sp>
        <p:sp>
          <p:nvSpPr>
            <p:cNvPr id="12324" name="Rectangle 43"/>
            <p:cNvSpPr>
              <a:spLocks noChangeArrowheads="1"/>
            </p:cNvSpPr>
            <p:nvPr/>
          </p:nvSpPr>
          <p:spPr bwMode="auto">
            <a:xfrm>
              <a:off x="4992291" y="1600200"/>
              <a:ext cx="679295" cy="22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solidFill>
                    <a:schemeClr val="accent1"/>
                  </a:solidFill>
                  <a:latin typeface="Arial" panose="020B0604020202020204" pitchFamily="34" charset="0"/>
                </a:rPr>
                <a:t>Operation</a:t>
              </a:r>
              <a:endParaRPr kumimoji="1" lang="en-US" altLang="zh-TW" sz="1600" b="1">
                <a:latin typeface="Arial" panose="020B0604020202020204" pitchFamily="34" charset="0"/>
              </a:endParaRPr>
            </a:p>
          </p:txBody>
        </p:sp>
        <p:sp>
          <p:nvSpPr>
            <p:cNvPr id="12327" name="Text Box 46"/>
            <p:cNvSpPr txBox="1">
              <a:spLocks noChangeArrowheads="1"/>
            </p:cNvSpPr>
            <p:nvPr/>
          </p:nvSpPr>
          <p:spPr bwMode="auto">
            <a:xfrm>
              <a:off x="5067300" y="2171701"/>
              <a:ext cx="247650" cy="22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ea typeface="PMingLiU" panose="02020500000000000000" pitchFamily="18" charset="-120"/>
                </a:defRPr>
              </a:lvl1pPr>
              <a:lvl2pPr marL="742950" indent="-285750">
                <a:defRPr sz="2400">
                  <a:solidFill>
                    <a:schemeClr val="tx1"/>
                  </a:solidFill>
                  <a:latin typeface="Times New Roman" panose="02020603050405020304" pitchFamily="18" charset="0"/>
                  <a:ea typeface="PMingLiU" panose="02020500000000000000" pitchFamily="18" charset="-120"/>
                </a:defRPr>
              </a:lvl2pPr>
              <a:lvl3pPr marL="1143000" indent="-228600">
                <a:defRPr sz="2400">
                  <a:solidFill>
                    <a:schemeClr val="tx1"/>
                  </a:solidFill>
                  <a:latin typeface="Times New Roman" panose="02020603050405020304" pitchFamily="18" charset="0"/>
                  <a:ea typeface="PMingLiU" panose="02020500000000000000" pitchFamily="18" charset="-120"/>
                </a:defRPr>
              </a:lvl3pPr>
              <a:lvl4pPr marL="1600200" indent="-228600">
                <a:defRPr sz="2400">
                  <a:solidFill>
                    <a:schemeClr val="tx1"/>
                  </a:solidFill>
                  <a:latin typeface="Times New Roman" panose="02020603050405020304" pitchFamily="18" charset="0"/>
                  <a:ea typeface="PMingLiU" panose="02020500000000000000" pitchFamily="18" charset="-120"/>
                </a:defRPr>
              </a:lvl4pPr>
              <a:lvl5pPr marL="2057400" indent="-228600">
                <a:defRPr sz="2400">
                  <a:solidFill>
                    <a:schemeClr val="tx1"/>
                  </a:solidFill>
                  <a:latin typeface="Times New Roman" panose="02020603050405020304" pitchFamily="18" charset="0"/>
                  <a:ea typeface="PMingLiU" panose="02020500000000000000" pitchFamily="18" charset="-12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9pPr>
            </a:lstStyle>
            <a:p>
              <a:pPr>
                <a:spcBef>
                  <a:spcPct val="50000"/>
                </a:spcBef>
              </a:pPr>
              <a:r>
                <a:rPr kumimoji="1" lang="zh-TW" altLang="en-US" sz="1600" b="1">
                  <a:latin typeface="Century Gothic" panose="020B0502020202020204" pitchFamily="34" charset="0"/>
                </a:rPr>
                <a:t>0</a:t>
              </a:r>
            </a:p>
          </p:txBody>
        </p:sp>
        <p:sp>
          <p:nvSpPr>
            <p:cNvPr id="12328" name="Text Box 47"/>
            <p:cNvSpPr txBox="1">
              <a:spLocks noChangeArrowheads="1"/>
            </p:cNvSpPr>
            <p:nvPr/>
          </p:nvSpPr>
          <p:spPr bwMode="auto">
            <a:xfrm>
              <a:off x="5067300" y="2971800"/>
              <a:ext cx="247650" cy="22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ea typeface="PMingLiU" panose="02020500000000000000" pitchFamily="18" charset="-120"/>
                </a:defRPr>
              </a:lvl1pPr>
              <a:lvl2pPr marL="742950" indent="-285750">
                <a:defRPr sz="2400">
                  <a:solidFill>
                    <a:schemeClr val="tx1"/>
                  </a:solidFill>
                  <a:latin typeface="Times New Roman" panose="02020603050405020304" pitchFamily="18" charset="0"/>
                  <a:ea typeface="PMingLiU" panose="02020500000000000000" pitchFamily="18" charset="-120"/>
                </a:defRPr>
              </a:lvl2pPr>
              <a:lvl3pPr marL="1143000" indent="-228600">
                <a:defRPr sz="2400">
                  <a:solidFill>
                    <a:schemeClr val="tx1"/>
                  </a:solidFill>
                  <a:latin typeface="Times New Roman" panose="02020603050405020304" pitchFamily="18" charset="0"/>
                  <a:ea typeface="PMingLiU" panose="02020500000000000000" pitchFamily="18" charset="-120"/>
                </a:defRPr>
              </a:lvl3pPr>
              <a:lvl4pPr marL="1600200" indent="-228600">
                <a:defRPr sz="2400">
                  <a:solidFill>
                    <a:schemeClr val="tx1"/>
                  </a:solidFill>
                  <a:latin typeface="Times New Roman" panose="02020603050405020304" pitchFamily="18" charset="0"/>
                  <a:ea typeface="PMingLiU" panose="02020500000000000000" pitchFamily="18" charset="-120"/>
                </a:defRPr>
              </a:lvl4pPr>
              <a:lvl5pPr marL="2057400" indent="-228600">
                <a:defRPr sz="2400">
                  <a:solidFill>
                    <a:schemeClr val="tx1"/>
                  </a:solidFill>
                  <a:latin typeface="Times New Roman" panose="02020603050405020304" pitchFamily="18" charset="0"/>
                  <a:ea typeface="PMingLiU" panose="02020500000000000000" pitchFamily="18" charset="-12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9pPr>
            </a:lstStyle>
            <a:p>
              <a:pPr>
                <a:spcBef>
                  <a:spcPct val="50000"/>
                </a:spcBef>
              </a:pPr>
              <a:r>
                <a:rPr kumimoji="1" lang="zh-TW" altLang="en-US" sz="1600" b="1">
                  <a:latin typeface="Century Gothic" panose="020B0502020202020204" pitchFamily="34" charset="0"/>
                </a:rPr>
                <a:t>1</a:t>
              </a:r>
            </a:p>
          </p:txBody>
        </p:sp>
        <p:sp>
          <p:nvSpPr>
            <p:cNvPr id="12329" name="Text Box 48"/>
            <p:cNvSpPr txBox="1">
              <a:spLocks noChangeArrowheads="1"/>
            </p:cNvSpPr>
            <p:nvPr/>
          </p:nvSpPr>
          <p:spPr bwMode="auto">
            <a:xfrm>
              <a:off x="5067300" y="3829051"/>
              <a:ext cx="247650" cy="226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ea typeface="PMingLiU" panose="02020500000000000000" pitchFamily="18" charset="-120"/>
                </a:defRPr>
              </a:lvl1pPr>
              <a:lvl2pPr marL="742950" indent="-285750">
                <a:defRPr sz="2400">
                  <a:solidFill>
                    <a:schemeClr val="tx1"/>
                  </a:solidFill>
                  <a:latin typeface="Times New Roman" panose="02020603050405020304" pitchFamily="18" charset="0"/>
                  <a:ea typeface="PMingLiU" panose="02020500000000000000" pitchFamily="18" charset="-120"/>
                </a:defRPr>
              </a:lvl2pPr>
              <a:lvl3pPr marL="1143000" indent="-228600">
                <a:defRPr sz="2400">
                  <a:solidFill>
                    <a:schemeClr val="tx1"/>
                  </a:solidFill>
                  <a:latin typeface="Times New Roman" panose="02020603050405020304" pitchFamily="18" charset="0"/>
                  <a:ea typeface="PMingLiU" panose="02020500000000000000" pitchFamily="18" charset="-120"/>
                </a:defRPr>
              </a:lvl3pPr>
              <a:lvl4pPr marL="1600200" indent="-228600">
                <a:defRPr sz="2400">
                  <a:solidFill>
                    <a:schemeClr val="tx1"/>
                  </a:solidFill>
                  <a:latin typeface="Times New Roman" panose="02020603050405020304" pitchFamily="18" charset="0"/>
                  <a:ea typeface="PMingLiU" panose="02020500000000000000" pitchFamily="18" charset="-120"/>
                </a:defRPr>
              </a:lvl4pPr>
              <a:lvl5pPr marL="2057400" indent="-228600">
                <a:defRPr sz="2400">
                  <a:solidFill>
                    <a:schemeClr val="tx1"/>
                  </a:solidFill>
                  <a:latin typeface="Times New Roman" panose="02020603050405020304" pitchFamily="18" charset="0"/>
                  <a:ea typeface="PMingLiU" panose="02020500000000000000" pitchFamily="18" charset="-12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PMingLiU" panose="02020500000000000000" pitchFamily="18" charset="-120"/>
                </a:defRPr>
              </a:lvl9pPr>
            </a:lstStyle>
            <a:p>
              <a:pPr>
                <a:spcBef>
                  <a:spcPct val="50000"/>
                </a:spcBef>
              </a:pPr>
              <a:r>
                <a:rPr kumimoji="1" lang="zh-TW" altLang="en-US" sz="1600" b="1">
                  <a:latin typeface="Century Gothic" panose="020B0502020202020204" pitchFamily="34" charset="0"/>
                </a:rPr>
                <a:t>2</a:t>
              </a:r>
            </a:p>
          </p:txBody>
        </p:sp>
      </p:grpSp>
      <p:sp>
        <p:nvSpPr>
          <p:cNvPr id="51"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7878129" y="1097110"/>
            <a:ext cx="1423667" cy="420628"/>
          </a:xfrm>
          <a:noFill/>
        </p:spPr>
        <p:txBody>
          <a:bodyPr vert="horz" wrap="square" lIns="63500" tIns="25400" rIns="63500" bIns="25400" numCol="1" anchor="t" anchorCtr="0" compatLnSpc="1">
            <a:prstTxWarp prst="textNoShape">
              <a:avLst/>
            </a:prstTxWarp>
            <a:spAutoFit/>
          </a:bodyPr>
          <a:lstStyle/>
          <a:p>
            <a:pPr marL="203195" indent="-203195">
              <a:buNone/>
            </a:pPr>
            <a:r>
              <a:rPr lang="en-US" altLang="zh-TW" sz="2400" b="1" u="sng" dirty="0">
                <a:solidFill>
                  <a:srgbClr val="FF0000"/>
                </a:solidFill>
              </a:rPr>
              <a:t>4-bit ALU</a:t>
            </a:r>
          </a:p>
        </p:txBody>
      </p:sp>
      <p:sp>
        <p:nvSpPr>
          <p:cNvPr id="14384" name="Line 85"/>
          <p:cNvSpPr>
            <a:spLocks noChangeShapeType="1"/>
          </p:cNvSpPr>
          <p:nvPr/>
        </p:nvSpPr>
        <p:spPr bwMode="auto">
          <a:xfrm>
            <a:off x="8589963" y="5482205"/>
            <a:ext cx="0" cy="3810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5" name="Rectangle 86"/>
          <p:cNvSpPr>
            <a:spLocks noGrp="1" noChangeArrowheads="1"/>
          </p:cNvSpPr>
          <p:nvPr>
            <p:ph type="title"/>
          </p:nvPr>
        </p:nvSpPr>
        <p:spPr>
          <a:xfrm>
            <a:off x="1297498" y="134225"/>
            <a:ext cx="10212199" cy="648748"/>
          </a:xfrm>
        </p:spPr>
        <p:txBody>
          <a:bodyPr/>
          <a:lstStyle/>
          <a:p>
            <a:r>
              <a:rPr lang="en-US" altLang="zh-TW" sz="4400" dirty="0"/>
              <a:t>A 4-bit ALU – And, Or, and Add Operations</a:t>
            </a:r>
          </a:p>
        </p:txBody>
      </p:sp>
      <p:grpSp>
        <p:nvGrpSpPr>
          <p:cNvPr id="5" name="组合 4"/>
          <p:cNvGrpSpPr/>
          <p:nvPr/>
        </p:nvGrpSpPr>
        <p:grpSpPr>
          <a:xfrm>
            <a:off x="7086603" y="1526156"/>
            <a:ext cx="3485586" cy="4458760"/>
            <a:chOff x="5314951" y="1144617"/>
            <a:chExt cx="2614189" cy="3344070"/>
          </a:xfrm>
        </p:grpSpPr>
        <p:sp>
          <p:nvSpPr>
            <p:cNvPr id="14383" name="Rectangle 84"/>
            <p:cNvSpPr>
              <a:spLocks noChangeArrowheads="1"/>
            </p:cNvSpPr>
            <p:nvPr/>
          </p:nvSpPr>
          <p:spPr bwMode="auto">
            <a:xfrm>
              <a:off x="6429375" y="4234289"/>
              <a:ext cx="89207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CarryOut3</a:t>
              </a:r>
            </a:p>
          </p:txBody>
        </p:sp>
        <p:grpSp>
          <p:nvGrpSpPr>
            <p:cNvPr id="4" name="组合 3"/>
            <p:cNvGrpSpPr/>
            <p:nvPr/>
          </p:nvGrpSpPr>
          <p:grpSpPr>
            <a:xfrm>
              <a:off x="5314951" y="1144617"/>
              <a:ext cx="2614189" cy="3058321"/>
              <a:chOff x="5314951" y="1144617"/>
              <a:chExt cx="2614189" cy="3058321"/>
            </a:xfrm>
          </p:grpSpPr>
          <p:sp>
            <p:nvSpPr>
              <p:cNvPr id="14340" name="Rectangle 41"/>
              <p:cNvSpPr>
                <a:spLocks noChangeArrowheads="1"/>
              </p:cNvSpPr>
              <p:nvPr/>
            </p:nvSpPr>
            <p:spPr bwMode="auto">
              <a:xfrm>
                <a:off x="5314951" y="160538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A0</a:t>
                </a:r>
              </a:p>
            </p:txBody>
          </p:sp>
          <p:sp>
            <p:nvSpPr>
              <p:cNvPr id="14341" name="Rectangle 42"/>
              <p:cNvSpPr>
                <a:spLocks noChangeArrowheads="1"/>
              </p:cNvSpPr>
              <p:nvPr/>
            </p:nvSpPr>
            <p:spPr bwMode="auto">
              <a:xfrm>
                <a:off x="5314951" y="189113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B0</a:t>
                </a:r>
              </a:p>
            </p:txBody>
          </p:sp>
          <p:sp>
            <p:nvSpPr>
              <p:cNvPr id="14342" name="Rectangle 43"/>
              <p:cNvSpPr>
                <a:spLocks noChangeArrowheads="1"/>
              </p:cNvSpPr>
              <p:nvPr/>
            </p:nvSpPr>
            <p:spPr bwMode="auto">
              <a:xfrm>
                <a:off x="6019800" y="1663729"/>
                <a:ext cx="845344"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343" name="Rectangle 44"/>
              <p:cNvSpPr>
                <a:spLocks noChangeArrowheads="1"/>
              </p:cNvSpPr>
              <p:nvPr/>
            </p:nvSpPr>
            <p:spPr bwMode="auto">
              <a:xfrm>
                <a:off x="6197336" y="1662539"/>
                <a:ext cx="465271"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a:latin typeface="Arial" panose="020B0604020202020204" pitchFamily="34" charset="0"/>
                  </a:rPr>
                  <a:t>1-</a:t>
                </a:r>
                <a:r>
                  <a:rPr kumimoji="1" lang="en-US" altLang="zh-TW" sz="1600" b="1">
                    <a:latin typeface="Arial" panose="020B0604020202020204" pitchFamily="34" charset="0"/>
                  </a:rPr>
                  <a:t>bit</a:t>
                </a:r>
              </a:p>
              <a:p>
                <a:pPr algn="ctr"/>
                <a:r>
                  <a:rPr kumimoji="1" lang="en-US" altLang="zh-TW" sz="1600" b="1">
                    <a:latin typeface="Arial" panose="020B0604020202020204" pitchFamily="34" charset="0"/>
                  </a:rPr>
                  <a:t>ALU</a:t>
                </a:r>
              </a:p>
            </p:txBody>
          </p:sp>
          <p:sp>
            <p:nvSpPr>
              <p:cNvPr id="14344" name="Line 45"/>
              <p:cNvSpPr>
                <a:spLocks noChangeShapeType="1"/>
              </p:cNvSpPr>
              <p:nvPr/>
            </p:nvSpPr>
            <p:spPr bwMode="auto">
              <a:xfrm>
                <a:off x="6875860" y="18256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45" name="Line 46"/>
              <p:cNvSpPr>
                <a:spLocks noChangeShapeType="1"/>
              </p:cNvSpPr>
              <p:nvPr/>
            </p:nvSpPr>
            <p:spPr bwMode="auto">
              <a:xfrm>
                <a:off x="5575697" y="17685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46" name="Line 47"/>
              <p:cNvSpPr>
                <a:spLocks noChangeShapeType="1"/>
              </p:cNvSpPr>
              <p:nvPr/>
            </p:nvSpPr>
            <p:spPr bwMode="auto">
              <a:xfrm>
                <a:off x="5575697" y="19399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47" name="Rectangle 48"/>
              <p:cNvSpPr>
                <a:spLocks noChangeArrowheads="1"/>
              </p:cNvSpPr>
              <p:nvPr/>
            </p:nvSpPr>
            <p:spPr bwMode="auto">
              <a:xfrm>
                <a:off x="7234238" y="1719689"/>
                <a:ext cx="69490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Result0</a:t>
                </a:r>
              </a:p>
            </p:txBody>
          </p:sp>
          <p:sp>
            <p:nvSpPr>
              <p:cNvPr id="14348" name="Line 49"/>
              <p:cNvSpPr>
                <a:spLocks noChangeShapeType="1"/>
              </p:cNvSpPr>
              <p:nvPr/>
            </p:nvSpPr>
            <p:spPr bwMode="auto">
              <a:xfrm>
                <a:off x="6442472" y="13684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49" name="Rectangle 50"/>
              <p:cNvSpPr>
                <a:spLocks noChangeArrowheads="1"/>
              </p:cNvSpPr>
              <p:nvPr/>
            </p:nvSpPr>
            <p:spPr bwMode="auto">
              <a:xfrm>
                <a:off x="5685235" y="1197004"/>
                <a:ext cx="76343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CarryIn0</a:t>
                </a:r>
              </a:p>
            </p:txBody>
          </p:sp>
          <p:sp>
            <p:nvSpPr>
              <p:cNvPr id="14350" name="Rectangle 51"/>
              <p:cNvSpPr>
                <a:spLocks noChangeArrowheads="1"/>
              </p:cNvSpPr>
              <p:nvPr/>
            </p:nvSpPr>
            <p:spPr bwMode="auto">
              <a:xfrm>
                <a:off x="6699764" y="2069930"/>
                <a:ext cx="89207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CarryOut0</a:t>
                </a:r>
              </a:p>
            </p:txBody>
          </p:sp>
          <p:sp>
            <p:nvSpPr>
              <p:cNvPr id="14351" name="Rectangle 52"/>
              <p:cNvSpPr>
                <a:spLocks noChangeArrowheads="1"/>
              </p:cNvSpPr>
              <p:nvPr/>
            </p:nvSpPr>
            <p:spPr bwMode="auto">
              <a:xfrm>
                <a:off x="5314951" y="229118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A1</a:t>
                </a:r>
              </a:p>
            </p:txBody>
          </p:sp>
          <p:sp>
            <p:nvSpPr>
              <p:cNvPr id="14352" name="Rectangle 53"/>
              <p:cNvSpPr>
                <a:spLocks noChangeArrowheads="1"/>
              </p:cNvSpPr>
              <p:nvPr/>
            </p:nvSpPr>
            <p:spPr bwMode="auto">
              <a:xfrm>
                <a:off x="5314951" y="257693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B1</a:t>
                </a:r>
              </a:p>
            </p:txBody>
          </p:sp>
          <p:sp>
            <p:nvSpPr>
              <p:cNvPr id="14353" name="Rectangle 54"/>
              <p:cNvSpPr>
                <a:spLocks noChangeArrowheads="1"/>
              </p:cNvSpPr>
              <p:nvPr/>
            </p:nvSpPr>
            <p:spPr bwMode="auto">
              <a:xfrm>
                <a:off x="6019800" y="2349529"/>
                <a:ext cx="845344"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354" name="Rectangle 55"/>
              <p:cNvSpPr>
                <a:spLocks noChangeArrowheads="1"/>
              </p:cNvSpPr>
              <p:nvPr/>
            </p:nvSpPr>
            <p:spPr bwMode="auto">
              <a:xfrm>
                <a:off x="6197336" y="2348339"/>
                <a:ext cx="465271"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dirty="0">
                    <a:latin typeface="Arial" panose="020B0604020202020204" pitchFamily="34" charset="0"/>
                  </a:rPr>
                  <a:t>1-</a:t>
                </a:r>
                <a:r>
                  <a:rPr kumimoji="1" lang="en-US" altLang="zh-TW" sz="1600" b="1" dirty="0">
                    <a:latin typeface="Arial" panose="020B0604020202020204" pitchFamily="34" charset="0"/>
                  </a:rPr>
                  <a:t>bit</a:t>
                </a:r>
              </a:p>
              <a:p>
                <a:pPr algn="ctr"/>
                <a:r>
                  <a:rPr kumimoji="1" lang="en-US" altLang="zh-TW" sz="1600" b="1" dirty="0">
                    <a:latin typeface="Arial" panose="020B0604020202020204" pitchFamily="34" charset="0"/>
                  </a:rPr>
                  <a:t>ALU</a:t>
                </a:r>
              </a:p>
            </p:txBody>
          </p:sp>
          <p:sp>
            <p:nvSpPr>
              <p:cNvPr id="14355" name="Line 56"/>
              <p:cNvSpPr>
                <a:spLocks noChangeShapeType="1"/>
              </p:cNvSpPr>
              <p:nvPr/>
            </p:nvSpPr>
            <p:spPr bwMode="auto">
              <a:xfrm>
                <a:off x="6875860" y="25114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56" name="Line 57"/>
              <p:cNvSpPr>
                <a:spLocks noChangeShapeType="1"/>
              </p:cNvSpPr>
              <p:nvPr/>
            </p:nvSpPr>
            <p:spPr bwMode="auto">
              <a:xfrm>
                <a:off x="5575697" y="24543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57" name="Line 58"/>
              <p:cNvSpPr>
                <a:spLocks noChangeShapeType="1"/>
              </p:cNvSpPr>
              <p:nvPr/>
            </p:nvSpPr>
            <p:spPr bwMode="auto">
              <a:xfrm>
                <a:off x="5575697" y="26257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58" name="Rectangle 59"/>
              <p:cNvSpPr>
                <a:spLocks noChangeArrowheads="1"/>
              </p:cNvSpPr>
              <p:nvPr/>
            </p:nvSpPr>
            <p:spPr bwMode="auto">
              <a:xfrm>
                <a:off x="7234238" y="2405489"/>
                <a:ext cx="69490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Result1</a:t>
                </a:r>
              </a:p>
            </p:txBody>
          </p:sp>
          <p:sp>
            <p:nvSpPr>
              <p:cNvPr id="14359" name="Line 60"/>
              <p:cNvSpPr>
                <a:spLocks noChangeShapeType="1"/>
              </p:cNvSpPr>
              <p:nvPr/>
            </p:nvSpPr>
            <p:spPr bwMode="auto">
              <a:xfrm>
                <a:off x="6442472" y="20542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60" name="Rectangle 61"/>
              <p:cNvSpPr>
                <a:spLocks noChangeArrowheads="1"/>
              </p:cNvSpPr>
              <p:nvPr/>
            </p:nvSpPr>
            <p:spPr bwMode="auto">
              <a:xfrm>
                <a:off x="5637610" y="2119739"/>
                <a:ext cx="76343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CarryIn1</a:t>
                </a:r>
              </a:p>
            </p:txBody>
          </p:sp>
          <p:sp>
            <p:nvSpPr>
              <p:cNvPr id="14361" name="Rectangle 62"/>
              <p:cNvSpPr>
                <a:spLocks noChangeArrowheads="1"/>
              </p:cNvSpPr>
              <p:nvPr/>
            </p:nvSpPr>
            <p:spPr bwMode="auto">
              <a:xfrm>
                <a:off x="6719989" y="2765852"/>
                <a:ext cx="89207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CarryOut1</a:t>
                </a:r>
              </a:p>
            </p:txBody>
          </p:sp>
          <p:sp>
            <p:nvSpPr>
              <p:cNvPr id="14362" name="Rectangle 63"/>
              <p:cNvSpPr>
                <a:spLocks noChangeArrowheads="1"/>
              </p:cNvSpPr>
              <p:nvPr/>
            </p:nvSpPr>
            <p:spPr bwMode="auto">
              <a:xfrm>
                <a:off x="5314951" y="297698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A2</a:t>
                </a:r>
              </a:p>
            </p:txBody>
          </p:sp>
          <p:sp>
            <p:nvSpPr>
              <p:cNvPr id="14363" name="Rectangle 64"/>
              <p:cNvSpPr>
                <a:spLocks noChangeArrowheads="1"/>
              </p:cNvSpPr>
              <p:nvPr/>
            </p:nvSpPr>
            <p:spPr bwMode="auto">
              <a:xfrm>
                <a:off x="5314951" y="326273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B2</a:t>
                </a:r>
              </a:p>
            </p:txBody>
          </p:sp>
          <p:sp>
            <p:nvSpPr>
              <p:cNvPr id="14364" name="Rectangle 65"/>
              <p:cNvSpPr>
                <a:spLocks noChangeArrowheads="1"/>
              </p:cNvSpPr>
              <p:nvPr/>
            </p:nvSpPr>
            <p:spPr bwMode="auto">
              <a:xfrm>
                <a:off x="6019800" y="3035329"/>
                <a:ext cx="845344"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365" name="Rectangle 66"/>
              <p:cNvSpPr>
                <a:spLocks noChangeArrowheads="1"/>
              </p:cNvSpPr>
              <p:nvPr/>
            </p:nvSpPr>
            <p:spPr bwMode="auto">
              <a:xfrm>
                <a:off x="6197336" y="3034139"/>
                <a:ext cx="465271"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a:latin typeface="Arial" panose="020B0604020202020204" pitchFamily="34" charset="0"/>
                  </a:rPr>
                  <a:t>1-</a:t>
                </a:r>
                <a:r>
                  <a:rPr kumimoji="1" lang="en-US" altLang="zh-TW" sz="1600" b="1">
                    <a:latin typeface="Arial" panose="020B0604020202020204" pitchFamily="34" charset="0"/>
                  </a:rPr>
                  <a:t>bit</a:t>
                </a:r>
              </a:p>
              <a:p>
                <a:pPr algn="ctr"/>
                <a:r>
                  <a:rPr kumimoji="1" lang="en-US" altLang="zh-TW" sz="1600" b="1">
                    <a:latin typeface="Arial" panose="020B0604020202020204" pitchFamily="34" charset="0"/>
                  </a:rPr>
                  <a:t>ALU</a:t>
                </a:r>
              </a:p>
            </p:txBody>
          </p:sp>
          <p:sp>
            <p:nvSpPr>
              <p:cNvPr id="14366" name="Line 67"/>
              <p:cNvSpPr>
                <a:spLocks noChangeShapeType="1"/>
              </p:cNvSpPr>
              <p:nvPr/>
            </p:nvSpPr>
            <p:spPr bwMode="auto">
              <a:xfrm>
                <a:off x="6875860" y="31972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67" name="Line 68"/>
              <p:cNvSpPr>
                <a:spLocks noChangeShapeType="1"/>
              </p:cNvSpPr>
              <p:nvPr/>
            </p:nvSpPr>
            <p:spPr bwMode="auto">
              <a:xfrm>
                <a:off x="5575697" y="31401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68" name="Line 69"/>
              <p:cNvSpPr>
                <a:spLocks noChangeShapeType="1"/>
              </p:cNvSpPr>
              <p:nvPr/>
            </p:nvSpPr>
            <p:spPr bwMode="auto">
              <a:xfrm>
                <a:off x="5575697" y="33115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69" name="Rectangle 70"/>
              <p:cNvSpPr>
                <a:spLocks noChangeArrowheads="1"/>
              </p:cNvSpPr>
              <p:nvPr/>
            </p:nvSpPr>
            <p:spPr bwMode="auto">
              <a:xfrm>
                <a:off x="7234238" y="3091289"/>
                <a:ext cx="69490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Result2</a:t>
                </a:r>
              </a:p>
            </p:txBody>
          </p:sp>
          <p:sp>
            <p:nvSpPr>
              <p:cNvPr id="14370" name="Line 71"/>
              <p:cNvSpPr>
                <a:spLocks noChangeShapeType="1"/>
              </p:cNvSpPr>
              <p:nvPr/>
            </p:nvSpPr>
            <p:spPr bwMode="auto">
              <a:xfrm>
                <a:off x="6442472" y="27400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71" name="Rectangle 72"/>
              <p:cNvSpPr>
                <a:spLocks noChangeArrowheads="1"/>
              </p:cNvSpPr>
              <p:nvPr/>
            </p:nvSpPr>
            <p:spPr bwMode="auto">
              <a:xfrm>
                <a:off x="5637610" y="2805539"/>
                <a:ext cx="76343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CarryIn2</a:t>
                </a:r>
              </a:p>
            </p:txBody>
          </p:sp>
          <p:sp>
            <p:nvSpPr>
              <p:cNvPr id="14372" name="Rectangle 73"/>
              <p:cNvSpPr>
                <a:spLocks noChangeArrowheads="1"/>
              </p:cNvSpPr>
              <p:nvPr/>
            </p:nvSpPr>
            <p:spPr bwMode="auto">
              <a:xfrm>
                <a:off x="6728222" y="3434189"/>
                <a:ext cx="892071"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CarryOut2</a:t>
                </a:r>
              </a:p>
            </p:txBody>
          </p:sp>
          <p:sp>
            <p:nvSpPr>
              <p:cNvPr id="14373" name="Rectangle 74"/>
              <p:cNvSpPr>
                <a:spLocks noChangeArrowheads="1"/>
              </p:cNvSpPr>
              <p:nvPr/>
            </p:nvSpPr>
            <p:spPr bwMode="auto">
              <a:xfrm>
                <a:off x="5314951" y="366278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A3</a:t>
                </a:r>
              </a:p>
            </p:txBody>
          </p:sp>
          <p:sp>
            <p:nvSpPr>
              <p:cNvPr id="14374" name="Rectangle 75"/>
              <p:cNvSpPr>
                <a:spLocks noChangeArrowheads="1"/>
              </p:cNvSpPr>
              <p:nvPr/>
            </p:nvSpPr>
            <p:spPr bwMode="auto">
              <a:xfrm>
                <a:off x="5314951" y="3948539"/>
                <a:ext cx="335428"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B3</a:t>
                </a:r>
              </a:p>
            </p:txBody>
          </p:sp>
          <p:sp>
            <p:nvSpPr>
              <p:cNvPr id="14375" name="Rectangle 76"/>
              <p:cNvSpPr>
                <a:spLocks noChangeArrowheads="1"/>
              </p:cNvSpPr>
              <p:nvPr/>
            </p:nvSpPr>
            <p:spPr bwMode="auto">
              <a:xfrm>
                <a:off x="6019800" y="3721129"/>
                <a:ext cx="845344" cy="3810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376" name="Rectangle 77"/>
              <p:cNvSpPr>
                <a:spLocks noChangeArrowheads="1"/>
              </p:cNvSpPr>
              <p:nvPr/>
            </p:nvSpPr>
            <p:spPr bwMode="auto">
              <a:xfrm>
                <a:off x="6197336" y="3719939"/>
                <a:ext cx="465271" cy="43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a:latin typeface="Arial" panose="020B0604020202020204" pitchFamily="34" charset="0"/>
                  </a:rPr>
                  <a:t>1-</a:t>
                </a:r>
                <a:r>
                  <a:rPr kumimoji="1" lang="en-US" altLang="zh-TW" sz="1600" b="1">
                    <a:latin typeface="Arial" panose="020B0604020202020204" pitchFamily="34" charset="0"/>
                  </a:rPr>
                  <a:t>bit</a:t>
                </a:r>
              </a:p>
              <a:p>
                <a:pPr algn="ctr"/>
                <a:r>
                  <a:rPr kumimoji="1" lang="en-US" altLang="zh-TW" sz="1600" b="1">
                    <a:latin typeface="Arial" panose="020B0604020202020204" pitchFamily="34" charset="0"/>
                  </a:rPr>
                  <a:t>ALU</a:t>
                </a:r>
              </a:p>
            </p:txBody>
          </p:sp>
          <p:sp>
            <p:nvSpPr>
              <p:cNvPr id="14377" name="Line 78"/>
              <p:cNvSpPr>
                <a:spLocks noChangeShapeType="1"/>
              </p:cNvSpPr>
              <p:nvPr/>
            </p:nvSpPr>
            <p:spPr bwMode="auto">
              <a:xfrm>
                <a:off x="6875860" y="3883054"/>
                <a:ext cx="371475"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78" name="Line 79"/>
              <p:cNvSpPr>
                <a:spLocks noChangeShapeType="1"/>
              </p:cNvSpPr>
              <p:nvPr/>
            </p:nvSpPr>
            <p:spPr bwMode="auto">
              <a:xfrm>
                <a:off x="5575697" y="382590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79" name="Line 80"/>
              <p:cNvSpPr>
                <a:spLocks noChangeShapeType="1"/>
              </p:cNvSpPr>
              <p:nvPr/>
            </p:nvSpPr>
            <p:spPr bwMode="auto">
              <a:xfrm>
                <a:off x="5575697" y="3997354"/>
                <a:ext cx="4333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0" name="Rectangle 81"/>
              <p:cNvSpPr>
                <a:spLocks noChangeArrowheads="1"/>
              </p:cNvSpPr>
              <p:nvPr/>
            </p:nvSpPr>
            <p:spPr bwMode="auto">
              <a:xfrm>
                <a:off x="7234238" y="3777089"/>
                <a:ext cx="694902"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Result3</a:t>
                </a:r>
              </a:p>
            </p:txBody>
          </p:sp>
          <p:sp>
            <p:nvSpPr>
              <p:cNvPr id="14381" name="Line 82"/>
              <p:cNvSpPr>
                <a:spLocks noChangeShapeType="1"/>
              </p:cNvSpPr>
              <p:nvPr/>
            </p:nvSpPr>
            <p:spPr bwMode="auto">
              <a:xfrm>
                <a:off x="6442472" y="3425854"/>
                <a:ext cx="0" cy="2857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2" name="Rectangle 83"/>
              <p:cNvSpPr>
                <a:spLocks noChangeArrowheads="1"/>
              </p:cNvSpPr>
              <p:nvPr/>
            </p:nvSpPr>
            <p:spPr bwMode="auto">
              <a:xfrm>
                <a:off x="5637610" y="3491339"/>
                <a:ext cx="763430" cy="25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CarryIn3</a:t>
                </a:r>
              </a:p>
            </p:txBody>
          </p:sp>
          <p:sp>
            <p:nvSpPr>
              <p:cNvPr id="14388" name="Line 89"/>
              <p:cNvSpPr>
                <a:spLocks noChangeShapeType="1"/>
              </p:cNvSpPr>
              <p:nvPr/>
            </p:nvSpPr>
            <p:spPr bwMode="auto">
              <a:xfrm>
                <a:off x="6714067" y="1380360"/>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9" name="Rectangle 90"/>
              <p:cNvSpPr>
                <a:spLocks noChangeArrowheads="1"/>
              </p:cNvSpPr>
              <p:nvPr/>
            </p:nvSpPr>
            <p:spPr bwMode="auto">
              <a:xfrm>
                <a:off x="6557963" y="1144617"/>
                <a:ext cx="95699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Operation</a:t>
                </a:r>
                <a:endParaRPr kumimoji="1" lang="en-US" altLang="zh-TW" b="1">
                  <a:latin typeface="Arial" panose="020B0604020202020204" pitchFamily="34" charset="0"/>
                </a:endParaRPr>
              </a:p>
            </p:txBody>
          </p:sp>
          <p:sp>
            <p:nvSpPr>
              <p:cNvPr id="14390" name="Line 91"/>
              <p:cNvSpPr>
                <a:spLocks noChangeShapeType="1"/>
              </p:cNvSpPr>
              <p:nvPr/>
            </p:nvSpPr>
            <p:spPr bwMode="auto">
              <a:xfrm>
                <a:off x="6717506" y="2078067"/>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1" name="Line 92"/>
              <p:cNvSpPr>
                <a:spLocks noChangeShapeType="1"/>
              </p:cNvSpPr>
              <p:nvPr/>
            </p:nvSpPr>
            <p:spPr bwMode="auto">
              <a:xfrm>
                <a:off x="6711130" y="2732910"/>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2" name="Line 93"/>
              <p:cNvSpPr>
                <a:spLocks noChangeShapeType="1"/>
              </p:cNvSpPr>
              <p:nvPr/>
            </p:nvSpPr>
            <p:spPr bwMode="auto">
              <a:xfrm>
                <a:off x="6717506" y="3429426"/>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grpSp>
      </p:grpSp>
      <p:sp>
        <p:nvSpPr>
          <p:cNvPr id="132"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9</a:t>
            </a:fld>
            <a:endParaRPr lang="zh-TW" altLang="en-US"/>
          </a:p>
        </p:txBody>
      </p:sp>
      <p:grpSp>
        <p:nvGrpSpPr>
          <p:cNvPr id="6" name="组合 5"/>
          <p:cNvGrpSpPr/>
          <p:nvPr/>
        </p:nvGrpSpPr>
        <p:grpSpPr>
          <a:xfrm>
            <a:off x="716847" y="1623395"/>
            <a:ext cx="5624029" cy="4494213"/>
            <a:chOff x="520522" y="1263625"/>
            <a:chExt cx="4218022" cy="3370660"/>
          </a:xfrm>
        </p:grpSpPr>
        <p:grpSp>
          <p:nvGrpSpPr>
            <p:cNvPr id="3" name="组合 2"/>
            <p:cNvGrpSpPr/>
            <p:nvPr/>
          </p:nvGrpSpPr>
          <p:grpSpPr>
            <a:xfrm>
              <a:off x="520522" y="1263625"/>
              <a:ext cx="4218022" cy="3370660"/>
              <a:chOff x="1401366" y="1272014"/>
              <a:chExt cx="4218022" cy="3370660"/>
            </a:xfrm>
          </p:grpSpPr>
          <p:grpSp>
            <p:nvGrpSpPr>
              <p:cNvPr id="14339" name="Group 3"/>
              <p:cNvGrpSpPr/>
              <p:nvPr/>
            </p:nvGrpSpPr>
            <p:grpSpPr bwMode="auto">
              <a:xfrm>
                <a:off x="1401366" y="1272014"/>
                <a:ext cx="4218022" cy="3370660"/>
                <a:chOff x="422" y="1167"/>
                <a:chExt cx="3270" cy="2831"/>
              </a:xfrm>
            </p:grpSpPr>
            <p:grpSp>
              <p:nvGrpSpPr>
                <p:cNvPr id="14394" name="Group 4"/>
                <p:cNvGrpSpPr/>
                <p:nvPr/>
              </p:nvGrpSpPr>
              <p:grpSpPr bwMode="auto">
                <a:xfrm>
                  <a:off x="1392" y="1584"/>
                  <a:ext cx="480" cy="384"/>
                  <a:chOff x="1392" y="1584"/>
                  <a:chExt cx="480" cy="384"/>
                </a:xfrm>
              </p:grpSpPr>
              <p:sp>
                <p:nvSpPr>
                  <p:cNvPr id="14426" name="Arc 5"/>
                  <p:cNvSpPr/>
                  <p:nvPr/>
                </p:nvSpPr>
                <p:spPr bwMode="auto">
                  <a:xfrm>
                    <a:off x="1672" y="1585"/>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27" name="Arc 6"/>
                  <p:cNvSpPr/>
                  <p:nvPr/>
                </p:nvSpPr>
                <p:spPr bwMode="auto">
                  <a:xfrm>
                    <a:off x="1672" y="1776"/>
                    <a:ext cx="200"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28" name="Line 7"/>
                  <p:cNvSpPr>
                    <a:spLocks noChangeShapeType="1"/>
                  </p:cNvSpPr>
                  <p:nvPr/>
                </p:nvSpPr>
                <p:spPr bwMode="auto">
                  <a:xfrm flipH="1">
                    <a:off x="1392" y="1584"/>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29" name="Line 8"/>
                  <p:cNvSpPr>
                    <a:spLocks noChangeShapeType="1"/>
                  </p:cNvSpPr>
                  <p:nvPr/>
                </p:nvSpPr>
                <p:spPr bwMode="auto">
                  <a:xfrm>
                    <a:off x="1392" y="1584"/>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30" name="Line 9"/>
                  <p:cNvSpPr>
                    <a:spLocks noChangeShapeType="1"/>
                  </p:cNvSpPr>
                  <p:nvPr/>
                </p:nvSpPr>
                <p:spPr bwMode="auto">
                  <a:xfrm flipH="1">
                    <a:off x="1392" y="1968"/>
                    <a:ext cx="28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sp>
              <p:nvSpPr>
                <p:cNvPr id="14395" name="Line 10"/>
                <p:cNvSpPr>
                  <a:spLocks noChangeShapeType="1"/>
                </p:cNvSpPr>
                <p:nvPr/>
              </p:nvSpPr>
              <p:spPr bwMode="auto">
                <a:xfrm flipH="1">
                  <a:off x="624" y="1680"/>
                  <a:ext cx="768"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6" name="Line 11"/>
                <p:cNvSpPr>
                  <a:spLocks noChangeShapeType="1"/>
                </p:cNvSpPr>
                <p:nvPr/>
              </p:nvSpPr>
              <p:spPr bwMode="auto">
                <a:xfrm flipH="1">
                  <a:off x="1152" y="1872"/>
                  <a:ext cx="240"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7" name="Line 12"/>
                <p:cNvSpPr>
                  <a:spLocks noChangeShapeType="1"/>
                </p:cNvSpPr>
                <p:nvPr/>
              </p:nvSpPr>
              <p:spPr bwMode="auto">
                <a:xfrm>
                  <a:off x="1872" y="1776"/>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98" name="Rectangle 13"/>
                <p:cNvSpPr>
                  <a:spLocks noChangeArrowheads="1"/>
                </p:cNvSpPr>
                <p:nvPr/>
              </p:nvSpPr>
              <p:spPr bwMode="auto">
                <a:xfrm>
                  <a:off x="422" y="1591"/>
                  <a:ext cx="19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A</a:t>
                  </a:r>
                </a:p>
              </p:txBody>
            </p:sp>
            <p:sp>
              <p:nvSpPr>
                <p:cNvPr id="14399" name="Arc 14"/>
                <p:cNvSpPr/>
                <p:nvPr/>
              </p:nvSpPr>
              <p:spPr bwMode="auto">
                <a:xfrm>
                  <a:off x="1433" y="2257"/>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0" y="0"/>
                      </a:moveTo>
                      <a:cubicBezTo>
                        <a:pt x="17" y="0"/>
                        <a:pt x="35" y="-1"/>
                        <a:pt x="53" y="0"/>
                      </a:cubicBezTo>
                      <a:cubicBezTo>
                        <a:pt x="11982" y="0"/>
                        <a:pt x="21653" y="9670"/>
                        <a:pt x="21653" y="21600"/>
                      </a:cubicBezTo>
                    </a:path>
                    <a:path w="21653" h="21600" stroke="0" extrusionOk="0">
                      <a:moveTo>
                        <a:pt x="0" y="0"/>
                      </a:moveTo>
                      <a:cubicBezTo>
                        <a:pt x="17" y="0"/>
                        <a:pt x="35" y="-1"/>
                        <a:pt x="53" y="0"/>
                      </a:cubicBezTo>
                      <a:cubicBezTo>
                        <a:pt x="11982" y="0"/>
                        <a:pt x="21653" y="9670"/>
                        <a:pt x="21653" y="21600"/>
                      </a:cubicBezTo>
                      <a:lnTo>
                        <a:pt x="53" y="21600"/>
                      </a:lnTo>
                      <a:lnTo>
                        <a:pt x="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00" name="Arc 15"/>
                <p:cNvSpPr/>
                <p:nvPr/>
              </p:nvSpPr>
              <p:spPr bwMode="auto">
                <a:xfrm>
                  <a:off x="1432" y="2448"/>
                  <a:ext cx="407" cy="192"/>
                </a:xfrm>
                <a:custGeom>
                  <a:avLst/>
                  <a:gdLst>
                    <a:gd name="T0" fmla="*/ 0 w 21653"/>
                    <a:gd name="T1" fmla="*/ 0 h 21600"/>
                    <a:gd name="T2" fmla="*/ 0 w 21653"/>
                    <a:gd name="T3" fmla="*/ 0 h 21600"/>
                    <a:gd name="T4" fmla="*/ 0 w 21653"/>
                    <a:gd name="T5" fmla="*/ 0 h 21600"/>
                    <a:gd name="T6" fmla="*/ 0 60000 65536"/>
                    <a:gd name="T7" fmla="*/ 0 60000 65536"/>
                    <a:gd name="T8" fmla="*/ 0 60000 65536"/>
                    <a:gd name="T9" fmla="*/ 0 w 21653"/>
                    <a:gd name="T10" fmla="*/ 0 h 21600"/>
                    <a:gd name="T11" fmla="*/ 21653 w 21653"/>
                    <a:gd name="T12" fmla="*/ 21600 h 21600"/>
                  </a:gdLst>
                  <a:ahLst/>
                  <a:cxnLst>
                    <a:cxn ang="T6">
                      <a:pos x="T0" y="T1"/>
                    </a:cxn>
                    <a:cxn ang="T7">
                      <a:pos x="T2" y="T3"/>
                    </a:cxn>
                    <a:cxn ang="T8">
                      <a:pos x="T4" y="T5"/>
                    </a:cxn>
                  </a:cxnLst>
                  <a:rect l="T9" t="T10" r="T11" b="T12"/>
                  <a:pathLst>
                    <a:path w="21653" h="21600" fill="none" extrusionOk="0">
                      <a:moveTo>
                        <a:pt x="21653" y="0"/>
                      </a:moveTo>
                      <a:cubicBezTo>
                        <a:pt x="21653" y="11929"/>
                        <a:pt x="11982" y="21600"/>
                        <a:pt x="53" y="21600"/>
                      </a:cubicBezTo>
                      <a:cubicBezTo>
                        <a:pt x="35" y="21600"/>
                        <a:pt x="17" y="21599"/>
                        <a:pt x="0" y="21599"/>
                      </a:cubicBezTo>
                    </a:path>
                    <a:path w="21653" h="21600" stroke="0" extrusionOk="0">
                      <a:moveTo>
                        <a:pt x="21653" y="0"/>
                      </a:moveTo>
                      <a:cubicBezTo>
                        <a:pt x="21653" y="11929"/>
                        <a:pt x="11982" y="21600"/>
                        <a:pt x="53" y="21600"/>
                      </a:cubicBezTo>
                      <a:cubicBezTo>
                        <a:pt x="35" y="21600"/>
                        <a:pt x="17" y="21599"/>
                        <a:pt x="0" y="21599"/>
                      </a:cubicBezTo>
                      <a:lnTo>
                        <a:pt x="53" y="0"/>
                      </a:lnTo>
                      <a:lnTo>
                        <a:pt x="21653"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01" name="Arc 16"/>
                <p:cNvSpPr/>
                <p:nvPr/>
              </p:nvSpPr>
              <p:spPr bwMode="auto">
                <a:xfrm>
                  <a:off x="1392" y="2257"/>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02" name="Arc 17"/>
                <p:cNvSpPr/>
                <p:nvPr/>
              </p:nvSpPr>
              <p:spPr bwMode="auto">
                <a:xfrm>
                  <a:off x="1392" y="2448"/>
                  <a:ext cx="12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03" name="Line 18"/>
                <p:cNvSpPr>
                  <a:spLocks noChangeShapeType="1"/>
                </p:cNvSpPr>
                <p:nvPr/>
              </p:nvSpPr>
              <p:spPr bwMode="auto">
                <a:xfrm>
                  <a:off x="1824" y="2448"/>
                  <a:ext cx="576"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04" name="Line 19"/>
                <p:cNvSpPr>
                  <a:spLocks noChangeShapeType="1"/>
                </p:cNvSpPr>
                <p:nvPr/>
              </p:nvSpPr>
              <p:spPr bwMode="auto">
                <a:xfrm flipH="1">
                  <a:off x="960" y="2352"/>
                  <a:ext cx="52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05" name="Line 20"/>
                <p:cNvSpPr>
                  <a:spLocks noChangeShapeType="1"/>
                </p:cNvSpPr>
                <p:nvPr/>
              </p:nvSpPr>
              <p:spPr bwMode="auto">
                <a:xfrm flipH="1">
                  <a:off x="1152" y="2544"/>
                  <a:ext cx="336"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06" name="Rectangle 21"/>
                <p:cNvSpPr>
                  <a:spLocks noChangeArrowheads="1"/>
                </p:cNvSpPr>
                <p:nvPr/>
              </p:nvSpPr>
              <p:spPr bwMode="auto">
                <a:xfrm>
                  <a:off x="422" y="3271"/>
                  <a:ext cx="19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B</a:t>
                  </a:r>
                </a:p>
              </p:txBody>
            </p:sp>
            <p:grpSp>
              <p:nvGrpSpPr>
                <p:cNvPr id="14407" name="Group 22"/>
                <p:cNvGrpSpPr/>
                <p:nvPr/>
              </p:nvGrpSpPr>
              <p:grpSpPr bwMode="auto">
                <a:xfrm>
                  <a:off x="1496" y="2936"/>
                  <a:ext cx="608" cy="571"/>
                  <a:chOff x="1496" y="2936"/>
                  <a:chExt cx="608" cy="571"/>
                </a:xfrm>
              </p:grpSpPr>
              <p:sp>
                <p:nvSpPr>
                  <p:cNvPr id="14424" name="Rectangle 23"/>
                  <p:cNvSpPr>
                    <a:spLocks noChangeArrowheads="1"/>
                  </p:cNvSpPr>
                  <p:nvPr/>
                </p:nvSpPr>
                <p:spPr bwMode="auto">
                  <a:xfrm>
                    <a:off x="1496" y="2936"/>
                    <a:ext cx="608" cy="56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4425" name="Rectangle 24"/>
                  <p:cNvSpPr>
                    <a:spLocks noChangeArrowheads="1"/>
                  </p:cNvSpPr>
                  <p:nvPr/>
                </p:nvSpPr>
                <p:spPr bwMode="auto">
                  <a:xfrm>
                    <a:off x="1580" y="2983"/>
                    <a:ext cx="45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r>
                      <a:rPr kumimoji="1" lang="zh-TW" altLang="en-US" sz="1600" b="1" dirty="0">
                        <a:latin typeface="Arial" panose="020B0604020202020204" pitchFamily="34" charset="0"/>
                      </a:rPr>
                      <a:t>1-</a:t>
                    </a:r>
                    <a:r>
                      <a:rPr kumimoji="1" lang="en-US" altLang="zh-TW" sz="1600" b="1" dirty="0">
                        <a:latin typeface="Arial" panose="020B0604020202020204" pitchFamily="34" charset="0"/>
                      </a:rPr>
                      <a:t>bit</a:t>
                    </a:r>
                  </a:p>
                  <a:p>
                    <a:pPr algn="ctr"/>
                    <a:r>
                      <a:rPr kumimoji="1" lang="en-US" altLang="zh-TW" sz="1600" b="1" dirty="0">
                        <a:latin typeface="Arial" panose="020B0604020202020204" pitchFamily="34" charset="0"/>
                      </a:rPr>
                      <a:t>Full</a:t>
                    </a:r>
                  </a:p>
                  <a:p>
                    <a:pPr algn="ctr"/>
                    <a:r>
                      <a:rPr kumimoji="1" lang="en-US" altLang="zh-TW" sz="1600" b="1" dirty="0">
                        <a:latin typeface="Arial" panose="020B0604020202020204" pitchFamily="34" charset="0"/>
                      </a:rPr>
                      <a:t>Adder</a:t>
                    </a:r>
                  </a:p>
                </p:txBody>
              </p:sp>
            </p:grpSp>
            <p:sp>
              <p:nvSpPr>
                <p:cNvPr id="14408" name="Line 25"/>
                <p:cNvSpPr>
                  <a:spLocks noChangeShapeType="1"/>
                </p:cNvSpPr>
                <p:nvPr/>
              </p:nvSpPr>
              <p:spPr bwMode="auto">
                <a:xfrm>
                  <a:off x="624" y="3360"/>
                  <a:ext cx="864"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09" name="Line 26"/>
                <p:cNvSpPr>
                  <a:spLocks noChangeShapeType="1"/>
                </p:cNvSpPr>
                <p:nvPr/>
              </p:nvSpPr>
              <p:spPr bwMode="auto">
                <a:xfrm>
                  <a:off x="1152" y="1872"/>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0" name="Line 27"/>
                <p:cNvSpPr>
                  <a:spLocks noChangeShapeType="1"/>
                </p:cNvSpPr>
                <p:nvPr/>
              </p:nvSpPr>
              <p:spPr bwMode="auto">
                <a:xfrm>
                  <a:off x="960" y="1680"/>
                  <a:ext cx="0" cy="13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1" name="Line 28"/>
                <p:cNvSpPr>
                  <a:spLocks noChangeShapeType="1"/>
                </p:cNvSpPr>
                <p:nvPr/>
              </p:nvSpPr>
              <p:spPr bwMode="auto">
                <a:xfrm>
                  <a:off x="960" y="3072"/>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2" name="Line 29"/>
                <p:cNvSpPr>
                  <a:spLocks noChangeShapeType="1"/>
                </p:cNvSpPr>
                <p:nvPr/>
              </p:nvSpPr>
              <p:spPr bwMode="auto">
                <a:xfrm>
                  <a:off x="1920" y="1392"/>
                  <a:ext cx="0" cy="153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3" name="Line 30"/>
                <p:cNvSpPr>
                  <a:spLocks noChangeShapeType="1"/>
                </p:cNvSpPr>
                <p:nvPr/>
              </p:nvSpPr>
              <p:spPr bwMode="auto">
                <a:xfrm>
                  <a:off x="1824" y="3504"/>
                  <a:ext cx="0" cy="336"/>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4" name="Rectangle 31"/>
                <p:cNvSpPr>
                  <a:spLocks noChangeArrowheads="1"/>
                </p:cNvSpPr>
                <p:nvPr/>
              </p:nvSpPr>
              <p:spPr bwMode="auto">
                <a:xfrm>
                  <a:off x="1510" y="3784"/>
                  <a:ext cx="62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err="1">
                      <a:latin typeface="Arial" panose="020B0604020202020204" pitchFamily="34" charset="0"/>
                    </a:rPr>
                    <a:t>CarryOut</a:t>
                  </a:r>
                  <a:endParaRPr kumimoji="1" lang="en-US" altLang="zh-TW" sz="1600" b="1" dirty="0">
                    <a:latin typeface="Arial" panose="020B0604020202020204" pitchFamily="34" charset="0"/>
                  </a:endParaRPr>
                </a:p>
              </p:txBody>
            </p:sp>
            <p:sp>
              <p:nvSpPr>
                <p:cNvPr id="14415" name="Line 32"/>
                <p:cNvSpPr>
                  <a:spLocks noChangeShapeType="1"/>
                </p:cNvSpPr>
                <p:nvPr/>
              </p:nvSpPr>
              <p:spPr bwMode="auto">
                <a:xfrm>
                  <a:off x="2400" y="1584"/>
                  <a:ext cx="0" cy="192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6" name="Line 33"/>
                <p:cNvSpPr>
                  <a:spLocks noChangeShapeType="1"/>
                </p:cNvSpPr>
                <p:nvPr/>
              </p:nvSpPr>
              <p:spPr bwMode="auto">
                <a:xfrm>
                  <a:off x="2400" y="1584"/>
                  <a:ext cx="28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7" name="Line 34"/>
                <p:cNvSpPr>
                  <a:spLocks noChangeShapeType="1"/>
                </p:cNvSpPr>
                <p:nvPr/>
              </p:nvSpPr>
              <p:spPr bwMode="auto">
                <a:xfrm>
                  <a:off x="2688" y="1728"/>
                  <a:ext cx="0" cy="163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18" name="Rectangle 35"/>
                <p:cNvSpPr>
                  <a:spLocks noChangeArrowheads="1"/>
                </p:cNvSpPr>
                <p:nvPr/>
              </p:nvSpPr>
              <p:spPr bwMode="auto">
                <a:xfrm rot="5400000">
                  <a:off x="2347" y="2413"/>
                  <a:ext cx="37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a:latin typeface="Arial" panose="020B0604020202020204" pitchFamily="34" charset="0"/>
                    </a:rPr>
                    <a:t>Mux</a:t>
                  </a:r>
                </a:p>
              </p:txBody>
            </p:sp>
            <p:sp>
              <p:nvSpPr>
                <p:cNvPr id="14419" name="Line 36"/>
                <p:cNvSpPr>
                  <a:spLocks noChangeShapeType="1"/>
                </p:cNvSpPr>
                <p:nvPr/>
              </p:nvSpPr>
              <p:spPr bwMode="auto">
                <a:xfrm flipV="1">
                  <a:off x="2400" y="3360"/>
                  <a:ext cx="28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20" name="Line 37"/>
                <p:cNvSpPr>
                  <a:spLocks noChangeShapeType="1"/>
                </p:cNvSpPr>
                <p:nvPr/>
              </p:nvSpPr>
              <p:spPr bwMode="auto">
                <a:xfrm>
                  <a:off x="2112" y="3216"/>
                  <a:ext cx="28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21" name="Line 38"/>
                <p:cNvSpPr>
                  <a:spLocks noChangeShapeType="1"/>
                </p:cNvSpPr>
                <p:nvPr/>
              </p:nvSpPr>
              <p:spPr bwMode="auto">
                <a:xfrm>
                  <a:off x="2688" y="2448"/>
                  <a:ext cx="52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422" name="Rectangle 39"/>
                <p:cNvSpPr>
                  <a:spLocks noChangeArrowheads="1"/>
                </p:cNvSpPr>
                <p:nvPr/>
              </p:nvSpPr>
              <p:spPr bwMode="auto">
                <a:xfrm>
                  <a:off x="1658" y="1167"/>
                  <a:ext cx="52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err="1">
                      <a:latin typeface="Arial" panose="020B0604020202020204" pitchFamily="34" charset="0"/>
                    </a:rPr>
                    <a:t>CarryIn</a:t>
                  </a:r>
                  <a:endParaRPr kumimoji="1" lang="en-US" altLang="zh-TW" sz="1600" b="1" dirty="0">
                    <a:latin typeface="Arial" panose="020B0604020202020204" pitchFamily="34" charset="0"/>
                  </a:endParaRPr>
                </a:p>
              </p:txBody>
            </p:sp>
            <p:sp>
              <p:nvSpPr>
                <p:cNvPr id="14423" name="Rectangle 40"/>
                <p:cNvSpPr>
                  <a:spLocks noChangeArrowheads="1"/>
                </p:cNvSpPr>
                <p:nvPr/>
              </p:nvSpPr>
              <p:spPr bwMode="auto">
                <a:xfrm>
                  <a:off x="3219" y="2332"/>
                  <a:ext cx="4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600" b="1" dirty="0">
                      <a:latin typeface="Arial" panose="020B0604020202020204" pitchFamily="34" charset="0"/>
                    </a:rPr>
                    <a:t>Result</a:t>
                  </a:r>
                </a:p>
              </p:txBody>
            </p:sp>
          </p:grpSp>
          <p:sp>
            <p:nvSpPr>
              <p:cNvPr id="14386" name="Line 87"/>
              <p:cNvSpPr>
                <a:spLocks noChangeShapeType="1"/>
              </p:cNvSpPr>
              <p:nvPr/>
            </p:nvSpPr>
            <p:spPr bwMode="auto">
              <a:xfrm>
                <a:off x="4115991" y="1544667"/>
                <a:ext cx="0" cy="2857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4387" name="Rectangle 88"/>
              <p:cNvSpPr>
                <a:spLocks noChangeArrowheads="1"/>
              </p:cNvSpPr>
              <p:nvPr/>
            </p:nvSpPr>
            <p:spPr bwMode="auto">
              <a:xfrm>
                <a:off x="3917156" y="1308923"/>
                <a:ext cx="956993"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Operation</a:t>
                </a:r>
                <a:endParaRPr kumimoji="1" lang="en-US" altLang="zh-TW" b="1">
                  <a:latin typeface="Arial" panose="020B0604020202020204" pitchFamily="34" charset="0"/>
                </a:endParaRPr>
              </a:p>
            </p:txBody>
          </p:sp>
        </p:grpSp>
        <p:sp>
          <p:nvSpPr>
            <p:cNvPr id="2" name="矩形 1"/>
            <p:cNvSpPr/>
            <p:nvPr/>
          </p:nvSpPr>
          <p:spPr bwMode="auto">
            <a:xfrm>
              <a:off x="947956" y="1654204"/>
              <a:ext cx="2655141" cy="2580085"/>
            </a:xfrm>
            <a:prstGeom prst="rect">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20204" pitchFamily="34" charset="0"/>
                <a:ea typeface="PMingLiU" panose="02020500000000000000" pitchFamily="18" charset="-120"/>
              </a:endParaRPr>
            </a:p>
          </p:txBody>
        </p:sp>
      </p:grpSp>
      <p:sp>
        <p:nvSpPr>
          <p:cNvPr id="100" name="Rectangle 2"/>
          <p:cNvSpPr txBox="1">
            <a:spLocks noChangeArrowheads="1"/>
          </p:cNvSpPr>
          <p:nvPr/>
        </p:nvSpPr>
        <p:spPr bwMode="auto">
          <a:xfrm>
            <a:off x="2550246" y="1128763"/>
            <a:ext cx="1389669" cy="420628"/>
          </a:xfrm>
          <a:prstGeom prst="rect">
            <a:avLst/>
          </a:prstGeom>
          <a:noFill/>
          <a:ln w="9525">
            <a:noFill/>
            <a:miter lim="800000"/>
          </a:ln>
        </p:spPr>
        <p:txBody>
          <a:bodyPr vert="horz" wrap="square" lIns="63500" tIns="25400" rIns="63500" bIns="25400" numCol="1" anchor="t" anchorCtr="0" compatLnSpc="1">
            <a:spAutoFit/>
          </a:bodyPr>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203195" indent="-203195">
              <a:buNone/>
            </a:pPr>
            <a:r>
              <a:rPr lang="zh-TW" altLang="en-US" b="1" u="sng" kern="0" dirty="0">
                <a:solidFill>
                  <a:srgbClr val="FF0000"/>
                </a:solidFill>
              </a:rPr>
              <a:t>1-</a:t>
            </a:r>
            <a:r>
              <a:rPr lang="en-US" altLang="zh-TW" b="1" u="sng" kern="0" dirty="0">
                <a:solidFill>
                  <a:srgbClr val="FF0000"/>
                </a:solidFill>
              </a:rPr>
              <a:t>bit ALU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8" name="Rectangle 42"/>
          <p:cNvSpPr>
            <a:spLocks noGrp="1" noChangeArrowheads="1"/>
          </p:cNvSpPr>
          <p:nvPr>
            <p:ph type="title"/>
          </p:nvPr>
        </p:nvSpPr>
        <p:spPr>
          <a:xfrm>
            <a:off x="1420537" y="156594"/>
            <a:ext cx="8885515" cy="682305"/>
          </a:xfrm>
        </p:spPr>
        <p:txBody>
          <a:bodyPr/>
          <a:lstStyle/>
          <a:p>
            <a:r>
              <a:rPr lang="en-US" altLang="zh-TW" dirty="0"/>
              <a:t>Subtraction Operation</a:t>
            </a:r>
          </a:p>
        </p:txBody>
      </p:sp>
      <p:sp>
        <p:nvSpPr>
          <p:cNvPr id="15389" name="Rectangle 43"/>
          <p:cNvSpPr>
            <a:spLocks noGrp="1" noChangeArrowheads="1"/>
          </p:cNvSpPr>
          <p:nvPr>
            <p:ph type="body" idx="1"/>
          </p:nvPr>
        </p:nvSpPr>
        <p:spPr>
          <a:xfrm>
            <a:off x="971868" y="1111943"/>
            <a:ext cx="10544517" cy="1481443"/>
          </a:xfrm>
        </p:spPr>
        <p:txBody>
          <a:bodyPr/>
          <a:lstStyle/>
          <a:p>
            <a:pPr marL="286166" indent="-286166"/>
            <a:r>
              <a:rPr lang="zh-TW" altLang="en-US" sz="2667" dirty="0">
                <a:latin typeface="Times New Roman" panose="02020603050405020304" pitchFamily="18" charset="0"/>
                <a:cs typeface="Times New Roman" panose="02020603050405020304" pitchFamily="18" charset="0"/>
              </a:rPr>
              <a:t>2</a:t>
            </a:r>
            <a:r>
              <a:rPr lang="en-US" altLang="zh-TW" sz="2667" dirty="0">
                <a:latin typeface="Times New Roman" panose="02020603050405020304" pitchFamily="18" charset="0"/>
                <a:cs typeface="Times New Roman" panose="02020603050405020304" pitchFamily="18" charset="0"/>
              </a:rPr>
              <a:t>’s</a:t>
            </a:r>
            <a:r>
              <a:rPr lang="en-US" altLang="zh-TW" sz="2667" dirty="0"/>
              <a:t> complement: </a:t>
            </a:r>
            <a:r>
              <a:rPr lang="en-US" altLang="zh-CN" sz="2667" dirty="0"/>
              <a:t>T</a:t>
            </a:r>
            <a:r>
              <a:rPr lang="en-US" altLang="zh-TW" sz="2667" dirty="0"/>
              <a:t>ake inverse of every bit and add 1 (at </a:t>
            </a:r>
            <a:r>
              <a:rPr lang="en-US" altLang="zh-TW" sz="2667" dirty="0" err="1"/>
              <a:t>c</a:t>
            </a:r>
            <a:r>
              <a:rPr lang="en-US" altLang="zh-TW" sz="2667" baseline="-25000" dirty="0" err="1"/>
              <a:t>in</a:t>
            </a:r>
            <a:r>
              <a:rPr lang="en-US" altLang="zh-TW" sz="2667" dirty="0"/>
              <a:t> of first stage)</a:t>
            </a:r>
          </a:p>
          <a:p>
            <a:pPr marL="705256" lvl="1" indent="-228594"/>
            <a:r>
              <a:rPr lang="en-US" altLang="zh-TW" sz="2400" dirty="0"/>
              <a:t>A + B’ + 1 = A + (B’ + 1) = A + (-B) = A - B</a:t>
            </a:r>
          </a:p>
          <a:p>
            <a:pPr marL="705256" lvl="1" indent="-228594"/>
            <a:r>
              <a:rPr lang="en-US" altLang="zh-TW" sz="2400" dirty="0"/>
              <a:t>Bit-wise inverse of B is B’</a:t>
            </a:r>
          </a:p>
        </p:txBody>
      </p:sp>
      <p:grpSp>
        <p:nvGrpSpPr>
          <p:cNvPr id="2" name="组合 1"/>
          <p:cNvGrpSpPr/>
          <p:nvPr/>
        </p:nvGrpSpPr>
        <p:grpSpPr>
          <a:xfrm>
            <a:off x="2555478" y="2633339"/>
            <a:ext cx="7501033" cy="3248392"/>
            <a:chOff x="1834754" y="2228850"/>
            <a:chExt cx="5199304" cy="2200275"/>
          </a:xfrm>
        </p:grpSpPr>
        <p:sp>
          <p:nvSpPr>
            <p:cNvPr id="15362" name="Line 2"/>
            <p:cNvSpPr>
              <a:spLocks noChangeShapeType="1"/>
            </p:cNvSpPr>
            <p:nvPr/>
          </p:nvSpPr>
          <p:spPr bwMode="auto">
            <a:xfrm flipH="1">
              <a:off x="4138613" y="2895600"/>
              <a:ext cx="74295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nvGrpSpPr>
            <p:cNvPr id="15363" name="Group 3"/>
            <p:cNvGrpSpPr/>
            <p:nvPr/>
          </p:nvGrpSpPr>
          <p:grpSpPr bwMode="auto">
            <a:xfrm>
              <a:off x="4881563" y="2724150"/>
              <a:ext cx="619125" cy="685800"/>
              <a:chOff x="3504" y="2448"/>
              <a:chExt cx="480" cy="576"/>
            </a:xfrm>
          </p:grpSpPr>
          <p:sp>
            <p:nvSpPr>
              <p:cNvPr id="15402" name="Line 4"/>
              <p:cNvSpPr>
                <a:spLocks noChangeShapeType="1"/>
              </p:cNvSpPr>
              <p:nvPr/>
            </p:nvSpPr>
            <p:spPr bwMode="auto">
              <a:xfrm>
                <a:off x="3504" y="2448"/>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3" name="Line 5"/>
              <p:cNvSpPr>
                <a:spLocks noChangeShapeType="1"/>
              </p:cNvSpPr>
              <p:nvPr/>
            </p:nvSpPr>
            <p:spPr bwMode="auto">
              <a:xfrm>
                <a:off x="3504" y="2448"/>
                <a:ext cx="48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4" name="Line 6"/>
              <p:cNvSpPr>
                <a:spLocks noChangeShapeType="1"/>
              </p:cNvSpPr>
              <p:nvPr/>
            </p:nvSpPr>
            <p:spPr bwMode="auto">
              <a:xfrm>
                <a:off x="3504" y="2736"/>
                <a:ext cx="192"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5" name="Line 7"/>
              <p:cNvSpPr>
                <a:spLocks noChangeShapeType="1"/>
              </p:cNvSpPr>
              <p:nvPr/>
            </p:nvSpPr>
            <p:spPr bwMode="auto">
              <a:xfrm>
                <a:off x="3696" y="2832"/>
                <a:ext cx="0"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6" name="Line 8"/>
              <p:cNvSpPr>
                <a:spLocks noChangeShapeType="1"/>
              </p:cNvSpPr>
              <p:nvPr/>
            </p:nvSpPr>
            <p:spPr bwMode="auto">
              <a:xfrm>
                <a:off x="3984" y="2688"/>
                <a:ext cx="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grpSp>
          <p:nvGrpSpPr>
            <p:cNvPr id="15364" name="Group 9"/>
            <p:cNvGrpSpPr/>
            <p:nvPr/>
          </p:nvGrpSpPr>
          <p:grpSpPr bwMode="auto">
            <a:xfrm>
              <a:off x="4881563" y="3409950"/>
              <a:ext cx="619125" cy="685800"/>
              <a:chOff x="3504" y="3024"/>
              <a:chExt cx="480" cy="576"/>
            </a:xfrm>
          </p:grpSpPr>
          <p:sp>
            <p:nvSpPr>
              <p:cNvPr id="15397" name="Line 10"/>
              <p:cNvSpPr>
                <a:spLocks noChangeShapeType="1"/>
              </p:cNvSpPr>
              <p:nvPr/>
            </p:nvSpPr>
            <p:spPr bwMode="auto">
              <a:xfrm flipV="1">
                <a:off x="3504" y="3312"/>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8" name="Line 11"/>
              <p:cNvSpPr>
                <a:spLocks noChangeShapeType="1"/>
              </p:cNvSpPr>
              <p:nvPr/>
            </p:nvSpPr>
            <p:spPr bwMode="auto">
              <a:xfrm flipV="1">
                <a:off x="3504" y="3360"/>
                <a:ext cx="480" cy="24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9" name="Line 12"/>
              <p:cNvSpPr>
                <a:spLocks noChangeShapeType="1"/>
              </p:cNvSpPr>
              <p:nvPr/>
            </p:nvSpPr>
            <p:spPr bwMode="auto">
              <a:xfrm flipV="1">
                <a:off x="3504" y="3216"/>
                <a:ext cx="192"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0" name="Line 13"/>
              <p:cNvSpPr>
                <a:spLocks noChangeShapeType="1"/>
              </p:cNvSpPr>
              <p:nvPr/>
            </p:nvSpPr>
            <p:spPr bwMode="auto">
              <a:xfrm flipV="1">
                <a:off x="3696" y="3024"/>
                <a:ext cx="0" cy="19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401" name="Line 14"/>
              <p:cNvSpPr>
                <a:spLocks noChangeShapeType="1"/>
              </p:cNvSpPr>
              <p:nvPr/>
            </p:nvSpPr>
            <p:spPr bwMode="auto">
              <a:xfrm flipV="1">
                <a:off x="3984" y="3024"/>
                <a:ext cx="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sp>
          <p:nvSpPr>
            <p:cNvPr id="15365" name="Line 15"/>
            <p:cNvSpPr>
              <a:spLocks noChangeShapeType="1"/>
            </p:cNvSpPr>
            <p:nvPr/>
          </p:nvSpPr>
          <p:spPr bwMode="auto">
            <a:xfrm>
              <a:off x="5500687" y="3409950"/>
              <a:ext cx="928688" cy="1191"/>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66" name="Line 16"/>
            <p:cNvSpPr>
              <a:spLocks noChangeShapeType="1"/>
            </p:cNvSpPr>
            <p:nvPr/>
          </p:nvSpPr>
          <p:spPr bwMode="auto">
            <a:xfrm flipH="1">
              <a:off x="4138613" y="3924300"/>
              <a:ext cx="74295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67" name="Rectangle 17"/>
            <p:cNvSpPr>
              <a:spLocks noChangeArrowheads="1"/>
            </p:cNvSpPr>
            <p:nvPr/>
          </p:nvSpPr>
          <p:spPr bwMode="auto">
            <a:xfrm rot="5400000">
              <a:off x="5009721" y="3249580"/>
              <a:ext cx="447342" cy="256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ALU</a:t>
              </a:r>
            </a:p>
          </p:txBody>
        </p:sp>
        <p:sp>
          <p:nvSpPr>
            <p:cNvPr id="15368" name="Rectangle 18"/>
            <p:cNvSpPr>
              <a:spLocks noChangeArrowheads="1"/>
            </p:cNvSpPr>
            <p:nvPr/>
          </p:nvSpPr>
          <p:spPr bwMode="auto">
            <a:xfrm>
              <a:off x="4063604" y="2675335"/>
              <a:ext cx="244445"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A</a:t>
              </a:r>
            </a:p>
          </p:txBody>
        </p:sp>
        <p:sp>
          <p:nvSpPr>
            <p:cNvPr id="15369" name="Rectangle 19"/>
            <p:cNvSpPr>
              <a:spLocks noChangeArrowheads="1"/>
            </p:cNvSpPr>
            <p:nvPr/>
          </p:nvSpPr>
          <p:spPr bwMode="auto">
            <a:xfrm>
              <a:off x="3320654" y="4161235"/>
              <a:ext cx="288890"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B’</a:t>
              </a:r>
            </a:p>
          </p:txBody>
        </p:sp>
        <p:sp>
          <p:nvSpPr>
            <p:cNvPr id="15370" name="Rectangle 20"/>
            <p:cNvSpPr>
              <a:spLocks noChangeArrowheads="1"/>
            </p:cNvSpPr>
            <p:nvPr/>
          </p:nvSpPr>
          <p:spPr bwMode="auto">
            <a:xfrm>
              <a:off x="6416279" y="3303985"/>
              <a:ext cx="617779"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Result</a:t>
              </a:r>
            </a:p>
          </p:txBody>
        </p:sp>
        <p:sp>
          <p:nvSpPr>
            <p:cNvPr id="15371" name="Line 21"/>
            <p:cNvSpPr>
              <a:spLocks noChangeShapeType="1"/>
            </p:cNvSpPr>
            <p:nvPr/>
          </p:nvSpPr>
          <p:spPr bwMode="auto">
            <a:xfrm>
              <a:off x="5092304" y="2499122"/>
              <a:ext cx="1190" cy="342900"/>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72" name="Rectangle 22"/>
            <p:cNvSpPr>
              <a:spLocks noChangeArrowheads="1"/>
            </p:cNvSpPr>
            <p:nvPr/>
          </p:nvSpPr>
          <p:spPr bwMode="auto">
            <a:xfrm>
              <a:off x="4405313" y="2256235"/>
              <a:ext cx="688891"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CarryIn</a:t>
              </a:r>
            </a:p>
          </p:txBody>
        </p:sp>
        <p:sp>
          <p:nvSpPr>
            <p:cNvPr id="15373" name="Line 23"/>
            <p:cNvSpPr>
              <a:spLocks noChangeShapeType="1"/>
            </p:cNvSpPr>
            <p:nvPr/>
          </p:nvSpPr>
          <p:spPr bwMode="auto">
            <a:xfrm>
              <a:off x="5253038" y="3924300"/>
              <a:ext cx="1191" cy="457200"/>
            </a:xfrm>
            <a:prstGeom prst="line">
              <a:avLst/>
            </a:prstGeom>
            <a:noFill/>
            <a:ln w="28575">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74" name="Rectangle 24"/>
            <p:cNvSpPr>
              <a:spLocks noChangeArrowheads="1"/>
            </p:cNvSpPr>
            <p:nvPr/>
          </p:nvSpPr>
          <p:spPr bwMode="auto">
            <a:xfrm>
              <a:off x="5301853" y="4161235"/>
              <a:ext cx="822224"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CarryOut</a:t>
              </a:r>
            </a:p>
          </p:txBody>
        </p:sp>
        <p:sp>
          <p:nvSpPr>
            <p:cNvPr id="15375" name="Line 25"/>
            <p:cNvSpPr>
              <a:spLocks noChangeShapeType="1"/>
            </p:cNvSpPr>
            <p:nvPr/>
          </p:nvSpPr>
          <p:spPr bwMode="auto">
            <a:xfrm flipH="1">
              <a:off x="2095500" y="3752850"/>
              <a:ext cx="1547813"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76" name="Rectangle 26"/>
            <p:cNvSpPr>
              <a:spLocks noChangeArrowheads="1"/>
            </p:cNvSpPr>
            <p:nvPr/>
          </p:nvSpPr>
          <p:spPr bwMode="auto">
            <a:xfrm>
              <a:off x="1834754" y="3646885"/>
              <a:ext cx="244445"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B</a:t>
              </a:r>
            </a:p>
          </p:txBody>
        </p:sp>
        <p:grpSp>
          <p:nvGrpSpPr>
            <p:cNvPr id="15377" name="Group 27"/>
            <p:cNvGrpSpPr/>
            <p:nvPr/>
          </p:nvGrpSpPr>
          <p:grpSpPr bwMode="auto">
            <a:xfrm>
              <a:off x="2714626" y="3924300"/>
              <a:ext cx="422672" cy="342900"/>
              <a:chOff x="1824" y="3456"/>
              <a:chExt cx="328" cy="288"/>
            </a:xfrm>
          </p:grpSpPr>
          <p:sp>
            <p:nvSpPr>
              <p:cNvPr id="15393" name="Oval 28"/>
              <p:cNvSpPr>
                <a:spLocks noChangeArrowheads="1"/>
              </p:cNvSpPr>
              <p:nvPr/>
            </p:nvSpPr>
            <p:spPr bwMode="auto">
              <a:xfrm>
                <a:off x="2072" y="3560"/>
                <a:ext cx="80" cy="80"/>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5394" name="Line 29"/>
              <p:cNvSpPr>
                <a:spLocks noChangeShapeType="1"/>
              </p:cNvSpPr>
              <p:nvPr/>
            </p:nvSpPr>
            <p:spPr bwMode="auto">
              <a:xfrm flipH="1" flipV="1">
                <a:off x="1824" y="3456"/>
                <a:ext cx="240" cy="14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5" name="Line 30"/>
              <p:cNvSpPr>
                <a:spLocks noChangeShapeType="1"/>
              </p:cNvSpPr>
              <p:nvPr/>
            </p:nvSpPr>
            <p:spPr bwMode="auto">
              <a:xfrm flipH="1">
                <a:off x="1824" y="3600"/>
                <a:ext cx="240" cy="14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6" name="Line 31"/>
              <p:cNvSpPr>
                <a:spLocks noChangeShapeType="1"/>
              </p:cNvSpPr>
              <p:nvPr/>
            </p:nvSpPr>
            <p:spPr bwMode="auto">
              <a:xfrm>
                <a:off x="1824" y="3456"/>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grpSp>
        <p:sp>
          <p:nvSpPr>
            <p:cNvPr id="15378" name="Line 32"/>
            <p:cNvSpPr>
              <a:spLocks noChangeShapeType="1"/>
            </p:cNvSpPr>
            <p:nvPr/>
          </p:nvSpPr>
          <p:spPr bwMode="auto">
            <a:xfrm>
              <a:off x="2528888" y="3752850"/>
              <a:ext cx="1191" cy="3429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79" name="Line 33"/>
            <p:cNvSpPr>
              <a:spLocks noChangeShapeType="1"/>
            </p:cNvSpPr>
            <p:nvPr/>
          </p:nvSpPr>
          <p:spPr bwMode="auto">
            <a:xfrm>
              <a:off x="2528887" y="4095750"/>
              <a:ext cx="185738" cy="1191"/>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80" name="Line 34"/>
            <p:cNvSpPr>
              <a:spLocks noChangeShapeType="1"/>
            </p:cNvSpPr>
            <p:nvPr/>
          </p:nvSpPr>
          <p:spPr bwMode="auto">
            <a:xfrm flipH="1">
              <a:off x="3148013" y="4095750"/>
              <a:ext cx="495300" cy="1191"/>
            </a:xfrm>
            <a:prstGeom prst="line">
              <a:avLst/>
            </a:prstGeom>
            <a:noFill/>
            <a:ln w="28575">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81" name="Rectangle 35"/>
            <p:cNvSpPr>
              <a:spLocks noChangeArrowheads="1"/>
            </p:cNvSpPr>
            <p:nvPr/>
          </p:nvSpPr>
          <p:spPr bwMode="auto">
            <a:xfrm>
              <a:off x="3654029" y="3476625"/>
              <a:ext cx="473869" cy="952500"/>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5382" name="Rectangle 36"/>
            <p:cNvSpPr>
              <a:spLocks noChangeArrowheads="1"/>
            </p:cNvSpPr>
            <p:nvPr/>
          </p:nvSpPr>
          <p:spPr bwMode="auto">
            <a:xfrm>
              <a:off x="3630216" y="3646885"/>
              <a:ext cx="217779"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zh-TW" altLang="en-US" b="1">
                  <a:latin typeface="Arial" panose="020B0604020202020204" pitchFamily="34" charset="0"/>
                </a:rPr>
                <a:t>0</a:t>
              </a:r>
            </a:p>
          </p:txBody>
        </p:sp>
        <p:sp>
          <p:nvSpPr>
            <p:cNvPr id="15383" name="Rectangle 37"/>
            <p:cNvSpPr>
              <a:spLocks noChangeArrowheads="1"/>
            </p:cNvSpPr>
            <p:nvPr/>
          </p:nvSpPr>
          <p:spPr bwMode="auto">
            <a:xfrm>
              <a:off x="3630216" y="3989785"/>
              <a:ext cx="217779"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zh-TW" altLang="en-US" b="1">
                  <a:latin typeface="Arial" panose="020B0604020202020204" pitchFamily="34" charset="0"/>
                </a:rPr>
                <a:t>1</a:t>
              </a:r>
            </a:p>
          </p:txBody>
        </p:sp>
        <p:sp>
          <p:nvSpPr>
            <p:cNvPr id="15384" name="Rectangle 38"/>
            <p:cNvSpPr>
              <a:spLocks noChangeArrowheads="1"/>
            </p:cNvSpPr>
            <p:nvPr/>
          </p:nvSpPr>
          <p:spPr bwMode="auto">
            <a:xfrm rot="5400000">
              <a:off x="3689806" y="3824651"/>
              <a:ext cx="482087" cy="256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zh-TW" altLang="en-US" b="1" dirty="0">
                  <a:latin typeface="Arial" panose="020B0604020202020204" pitchFamily="34" charset="0"/>
                </a:rPr>
                <a:t> </a:t>
              </a:r>
              <a:r>
                <a:rPr kumimoji="1" lang="en-US" altLang="zh-TW" b="1" dirty="0">
                  <a:latin typeface="Arial" panose="020B0604020202020204" pitchFamily="34" charset="0"/>
                </a:rPr>
                <a:t>Mux</a:t>
              </a:r>
            </a:p>
          </p:txBody>
        </p:sp>
        <p:sp>
          <p:nvSpPr>
            <p:cNvPr id="15385" name="Line 39"/>
            <p:cNvSpPr>
              <a:spLocks noChangeShapeType="1"/>
            </p:cNvSpPr>
            <p:nvPr/>
          </p:nvSpPr>
          <p:spPr bwMode="auto">
            <a:xfrm flipV="1">
              <a:off x="3890963" y="2324100"/>
              <a:ext cx="1191" cy="1143000"/>
            </a:xfrm>
            <a:prstGeom prst="line">
              <a:avLst/>
            </a:prstGeom>
            <a:noFill/>
            <a:ln w="28575">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86" name="Rectangle 40"/>
            <p:cNvSpPr>
              <a:spLocks noChangeArrowheads="1"/>
            </p:cNvSpPr>
            <p:nvPr/>
          </p:nvSpPr>
          <p:spPr bwMode="auto">
            <a:xfrm>
              <a:off x="3692129" y="3475435"/>
              <a:ext cx="368890"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latin typeface="Arial" panose="020B0604020202020204" pitchFamily="34" charset="0"/>
                </a:rPr>
                <a:t>Sel</a:t>
              </a:r>
            </a:p>
          </p:txBody>
        </p:sp>
        <p:sp>
          <p:nvSpPr>
            <p:cNvPr id="15387" name="Rectangle 41"/>
            <p:cNvSpPr>
              <a:spLocks noChangeArrowheads="1"/>
            </p:cNvSpPr>
            <p:nvPr/>
          </p:nvSpPr>
          <p:spPr bwMode="auto">
            <a:xfrm>
              <a:off x="2988469" y="2228850"/>
              <a:ext cx="866668" cy="438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Subtract</a:t>
              </a:r>
            </a:p>
            <a:p>
              <a:r>
                <a:rPr kumimoji="1" lang="en-US" altLang="zh-TW" b="1">
                  <a:solidFill>
                    <a:schemeClr val="accent1"/>
                  </a:solidFill>
                  <a:latin typeface="Arial" panose="020B0604020202020204" pitchFamily="34" charset="0"/>
                </a:rPr>
                <a:t>(</a:t>
              </a:r>
              <a:r>
                <a:rPr kumimoji="1" lang="en-US" altLang="zh-TW" b="1" i="1">
                  <a:solidFill>
                    <a:schemeClr val="accent1"/>
                  </a:solidFill>
                  <a:latin typeface="Arial" panose="020B0604020202020204" pitchFamily="34" charset="0"/>
                </a:rPr>
                <a:t>Bnegate</a:t>
              </a:r>
              <a:r>
                <a:rPr kumimoji="1" lang="en-US" altLang="zh-TW" b="1">
                  <a:solidFill>
                    <a:schemeClr val="accent1"/>
                  </a:solidFill>
                  <a:latin typeface="Arial" panose="020B0604020202020204" pitchFamily="34" charset="0"/>
                </a:rPr>
                <a:t>)</a:t>
              </a:r>
            </a:p>
          </p:txBody>
        </p:sp>
        <p:sp>
          <p:nvSpPr>
            <p:cNvPr id="15390" name="Line 45"/>
            <p:cNvSpPr>
              <a:spLocks noChangeShapeType="1"/>
            </p:cNvSpPr>
            <p:nvPr/>
          </p:nvSpPr>
          <p:spPr bwMode="auto">
            <a:xfrm flipH="1">
              <a:off x="5388769" y="2537223"/>
              <a:ext cx="0" cy="42029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15391" name="Rectangle 46"/>
            <p:cNvSpPr>
              <a:spLocks noChangeArrowheads="1"/>
            </p:cNvSpPr>
            <p:nvPr/>
          </p:nvSpPr>
          <p:spPr bwMode="auto">
            <a:xfrm>
              <a:off x="5189935" y="2264569"/>
              <a:ext cx="884446" cy="250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chemeClr val="accent1"/>
                  </a:solidFill>
                  <a:latin typeface="Arial" panose="020B0604020202020204" pitchFamily="34" charset="0"/>
                </a:rPr>
                <a:t>Operation</a:t>
              </a:r>
              <a:endParaRPr kumimoji="1" lang="en-US" altLang="zh-TW" b="1">
                <a:latin typeface="Arial" panose="020B0604020202020204" pitchFamily="34" charset="0"/>
              </a:endParaRPr>
            </a:p>
          </p:txBody>
        </p:sp>
      </p:grpSp>
      <p:sp>
        <p:nvSpPr>
          <p:cNvPr id="47"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1-bit ALU </a:t>
            </a:r>
          </a:p>
        </p:txBody>
      </p:sp>
      <p:sp>
        <p:nvSpPr>
          <p:cNvPr id="8" name="Content Placeholder 7"/>
          <p:cNvSpPr>
            <a:spLocks noGrp="1"/>
          </p:cNvSpPr>
          <p:nvPr>
            <p:ph idx="1"/>
          </p:nvPr>
        </p:nvSpPr>
        <p:spPr>
          <a:xfrm>
            <a:off x="1453219" y="1073792"/>
            <a:ext cx="6969327" cy="626379"/>
          </a:xfrm>
        </p:spPr>
        <p:txBody>
          <a:bodyPr>
            <a:noAutofit/>
          </a:bodyPr>
          <a:lstStyle/>
          <a:p>
            <a:r>
              <a:rPr lang="en-US" dirty="0">
                <a:cs typeface="Calibri" panose="020F0502020204030204" pitchFamily="34" charset="0"/>
              </a:rPr>
              <a:t>and, or, add, sub, </a:t>
            </a:r>
            <a:r>
              <a:rPr lang="en-US" dirty="0" err="1">
                <a:cs typeface="Calibri" panose="020F0502020204030204" pitchFamily="34" charset="0"/>
              </a:rPr>
              <a:t>slt</a:t>
            </a:r>
            <a:endParaRPr lang="en-US" dirty="0">
              <a:cs typeface="Calibri" panose="020F0502020204030204" pitchFamily="34" charset="0"/>
            </a:endParaRPr>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433896" y="1674300"/>
            <a:ext cx="5301841" cy="4455256"/>
          </a:xfrm>
          <a:prstGeom prst="rect">
            <a:avLst/>
          </a:prstGeom>
        </p:spPr>
      </p:pic>
      <p:sp>
        <p:nvSpPr>
          <p:cNvPr id="3" name="灯片编号占位符 2"/>
          <p:cNvSpPr>
            <a:spLocks noGrp="1"/>
          </p:cNvSpPr>
          <p:nvPr>
            <p:ph type="sldNum" sz="quarter" idx="10"/>
          </p:nvPr>
        </p:nvSpPr>
        <p:spPr/>
        <p:txBody>
          <a:bodyPr/>
          <a:lstStyle/>
          <a:p>
            <a:fld id="{D9B6BDF2-6896-4B98-8776-C18582F63BA5}" type="slidenum">
              <a:rPr lang="zh-TW" altLang="en-US" smtClean="0"/>
              <a:t>11</a:t>
            </a:fld>
            <a:endParaRPr lang="zh-TW" altLang="en-US"/>
          </a:p>
        </p:txBody>
      </p:sp>
      <p:sp>
        <p:nvSpPr>
          <p:cNvPr id="4" name="TextBox 3">
            <a:extLst>
              <a:ext uri="{FF2B5EF4-FFF2-40B4-BE49-F238E27FC236}">
                <a16:creationId xmlns:a16="http://schemas.microsoft.com/office/drawing/2014/main" id="{B36C761B-396B-4155-A5D4-4AA2701C5ABC}"/>
              </a:ext>
            </a:extLst>
          </p:cNvPr>
          <p:cNvSpPr txBox="1"/>
          <p:nvPr/>
        </p:nvSpPr>
        <p:spPr>
          <a:xfrm>
            <a:off x="8891080" y="2276432"/>
            <a:ext cx="2281522" cy="369332"/>
          </a:xfrm>
          <a:prstGeom prst="rect">
            <a:avLst/>
          </a:prstGeom>
          <a:noFill/>
        </p:spPr>
        <p:txBody>
          <a:bodyPr wrap="none" rtlCol="0" anchor="ctr" anchorCtr="1">
            <a:spAutoFit/>
          </a:bodyPr>
          <a:lstStyle/>
          <a:p>
            <a:r>
              <a:rPr lang="en-US" dirty="0">
                <a:ea typeface="標楷體" pitchFamily="65" charset="-120"/>
                <a:cs typeface="Calibri" pitchFamily="34" charset="0"/>
              </a:rPr>
              <a:t>A nor B = ~A and ~B</a:t>
            </a:r>
          </a:p>
        </p:txBody>
      </p:sp>
      <p:sp>
        <p:nvSpPr>
          <p:cNvPr id="5" name="TextBox 4">
            <a:extLst>
              <a:ext uri="{FF2B5EF4-FFF2-40B4-BE49-F238E27FC236}">
                <a16:creationId xmlns:a16="http://schemas.microsoft.com/office/drawing/2014/main" id="{779A6582-BC46-475E-8E4D-9EDF37865552}"/>
              </a:ext>
            </a:extLst>
          </p:cNvPr>
          <p:cNvSpPr txBox="1"/>
          <p:nvPr/>
        </p:nvSpPr>
        <p:spPr>
          <a:xfrm>
            <a:off x="8946293" y="4253816"/>
            <a:ext cx="2689775" cy="923330"/>
          </a:xfrm>
          <a:prstGeom prst="rect">
            <a:avLst/>
          </a:prstGeom>
          <a:noFill/>
        </p:spPr>
        <p:txBody>
          <a:bodyPr wrap="none" rtlCol="0" anchor="ctr" anchorCtr="1">
            <a:spAutoFit/>
          </a:bodyPr>
          <a:lstStyle/>
          <a:p>
            <a:r>
              <a:rPr lang="en-US" dirty="0">
                <a:ea typeface="標楷體" pitchFamily="65" charset="-120"/>
                <a:cs typeface="Calibri" pitchFamily="34" charset="0"/>
              </a:rPr>
              <a:t>SLT A,B is computed as </a:t>
            </a:r>
          </a:p>
          <a:p>
            <a:r>
              <a:rPr lang="en-US" dirty="0">
                <a:ea typeface="標楷體" pitchFamily="65" charset="-120"/>
                <a:cs typeface="Calibri" pitchFamily="34" charset="0"/>
              </a:rPr>
              <a:t>taking the sign bit from </a:t>
            </a:r>
          </a:p>
          <a:p>
            <a:r>
              <a:rPr lang="en-US" dirty="0">
                <a:ea typeface="標楷體" pitchFamily="65" charset="-120"/>
                <a:cs typeface="Calibri" pitchFamily="34" charset="0"/>
              </a:rPr>
              <a:t>A-B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32-bit ALU</a:t>
            </a:r>
          </a:p>
        </p:txBody>
      </p:sp>
      <p:pic>
        <p:nvPicPr>
          <p:cNvPr id="7" name="Picture 6"/>
          <p:cNvPicPr>
            <a:picLocks noChangeAspect="1"/>
          </p:cNvPicPr>
          <p:nvPr/>
        </p:nvPicPr>
        <p:blipFill>
          <a:blip r:embed="rId3"/>
          <a:stretch>
            <a:fillRect/>
          </a:stretch>
        </p:blipFill>
        <p:spPr>
          <a:xfrm>
            <a:off x="5738274" y="1159220"/>
            <a:ext cx="5229460" cy="4959149"/>
          </a:xfrm>
          <a:prstGeom prst="rect">
            <a:avLst/>
          </a:prstGeom>
        </p:spPr>
      </p:pic>
      <p:grpSp>
        <p:nvGrpSpPr>
          <p:cNvPr id="10" name="Group 9"/>
          <p:cNvGrpSpPr/>
          <p:nvPr/>
        </p:nvGrpSpPr>
        <p:grpSpPr>
          <a:xfrm>
            <a:off x="1252758" y="1748992"/>
            <a:ext cx="3873836" cy="3922967"/>
            <a:chOff x="476250" y="1445126"/>
            <a:chExt cx="2372381" cy="2303108"/>
          </a:xfrm>
        </p:grpSpPr>
        <p:pic>
          <p:nvPicPr>
            <p:cNvPr id="8" name="Picture 7"/>
            <p:cNvPicPr>
              <a:picLocks noChangeAspect="1"/>
            </p:cNvPicPr>
            <p:nvPr/>
          </p:nvPicPr>
          <p:blipFill>
            <a:blip r:embed="rId4"/>
            <a:stretch>
              <a:fillRect/>
            </a:stretch>
          </p:blipFill>
          <p:spPr>
            <a:xfrm>
              <a:off x="476250" y="1445126"/>
              <a:ext cx="2372381" cy="1993565"/>
            </a:xfrm>
            <a:prstGeom prst="rect">
              <a:avLst/>
            </a:prstGeom>
            <a:ln w="19050">
              <a:solidFill>
                <a:schemeClr val="tx1"/>
              </a:solidFill>
              <a:prstDash val="dash"/>
            </a:ln>
          </p:spPr>
        </p:pic>
        <p:sp>
          <p:nvSpPr>
            <p:cNvPr id="9" name="TextBox 8"/>
            <p:cNvSpPr txBox="1"/>
            <p:nvPr/>
          </p:nvSpPr>
          <p:spPr>
            <a:xfrm>
              <a:off x="1095586" y="3531405"/>
              <a:ext cx="694296" cy="216829"/>
            </a:xfrm>
            <a:prstGeom prst="rect">
              <a:avLst/>
            </a:prstGeom>
            <a:noFill/>
          </p:spPr>
          <p:txBody>
            <a:bodyPr wrap="none" rtlCol="0">
              <a:spAutoFit/>
            </a:bodyPr>
            <a:lstStyle/>
            <a:p>
              <a:r>
                <a:rPr lang="en-US" dirty="0"/>
                <a:t>1-bit ALU</a:t>
              </a:r>
            </a:p>
          </p:txBody>
        </p:sp>
      </p:grpSp>
      <p:sp>
        <p:nvSpPr>
          <p:cNvPr id="3"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Carry Lookahead Adder</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13</a:t>
            </a:fld>
            <a:endParaRPr lang="zh-TW" altLang="en-US">
              <a:solidFill>
                <a:prstClr val="white"/>
              </a:solidFill>
            </a:endParaRPr>
          </a:p>
        </p:txBody>
      </p:sp>
      <mc:AlternateContent xmlns:mc="http://schemas.openxmlformats.org/markup-compatibility/2006" xmlns:a14="http://schemas.microsoft.com/office/drawing/2010/main">
        <mc:Choice Requires="a14">
          <p:sp>
            <p:nvSpPr>
              <p:cNvPr id="8" name="Rectangle 3"/>
              <p:cNvSpPr txBox="1">
                <a:spLocks noChangeArrowheads="1"/>
              </p:cNvSpPr>
              <p:nvPr/>
            </p:nvSpPr>
            <p:spPr bwMode="auto">
              <a:xfrm>
                <a:off x="781050" y="1053819"/>
                <a:ext cx="10639425" cy="506267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7020304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90204" pitchFamily="34" charset="0"/>
                  <a:buChar char="–"/>
                  <a:defRPr kumimoji="1" sz="2000">
                    <a:solidFill>
                      <a:schemeClr val="tx1"/>
                    </a:solidFill>
                    <a:latin typeface="Calibri" panose="020F07020304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30204" pitchFamily="34" charset="0"/>
                    <a:ea typeface="標楷體" panose="02010601000101010101" pitchFamily="65" charset="-120"/>
                    <a:cs typeface="Calibri" panose="020F07020304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30204" pitchFamily="34" charset="0"/>
                    <a:ea typeface="標楷體" panose="02010601000101010101" pitchFamily="65" charset="-120"/>
                    <a:cs typeface="Calibri" panose="020F07020304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30204" pitchFamily="34" charset="0"/>
                    <a:ea typeface="標楷體" panose="02010601000101010101" pitchFamily="65" charset="-120"/>
                    <a:cs typeface="Calibri" panose="020F07020304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342891" indent="-342891" defTabSz="1219170">
                  <a:buClr>
                    <a:srgbClr val="8064A2"/>
                  </a:buClr>
                </a:pPr>
                <a:r>
                  <a:rPr lang="en-US" altLang="zh-TW" sz="2400" kern="0" dirty="0">
                    <a:solidFill>
                      <a:prstClr val="black"/>
                    </a:solidFill>
                  </a:rPr>
                  <a:t>In a ripple-carry adder, the carry bit from each stage must propagate to the next stage before the sum can be calculated. This carry propagation delay can become significant for large binary numbers (e.g. 64b adder), slowing down the overall addition process.</a:t>
                </a:r>
              </a:p>
              <a:p>
                <a:pPr marL="342891" indent="-342891" defTabSz="1219170">
                  <a:buClr>
                    <a:srgbClr val="8064A2"/>
                  </a:buClr>
                </a:pPr>
                <a:r>
                  <a:rPr lang="en-US" altLang="zh-TW" kern="0" dirty="0">
                    <a:solidFill>
                      <a:prstClr val="black"/>
                    </a:solidFill>
                  </a:rPr>
                  <a:t>In a ripple-carry adder</a:t>
                </a:r>
              </a:p>
              <a:p>
                <a:pPr marL="299720" lvl="1" indent="0" defTabSz="1219170">
                  <a:buClr>
                    <a:srgbClr val="8064A2"/>
                  </a:buClr>
                  <a:buNone/>
                </a:pP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a:t>
                </a:r>
              </a:p>
              <a:p>
                <a:pPr defTabSz="1219170">
                  <a:buClrTx/>
                  <a:buSzPct val="200000"/>
                  <a:buFont typeface="Arial" panose="020B0604020202020204" pitchFamily="34" charset="0"/>
                  <a:buChar char="•"/>
                </a:pPr>
                <a:r>
                  <a:rPr lang="pt-BR" altLang="zh-TW" kern="0" dirty="0">
                    <a:solidFill>
                      <a:prstClr val="black"/>
                    </a:solidFill>
                  </a:rPr>
                  <a:t> In a carry lookahead adder</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smtClea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xor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0</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0</m:t>
                        </m:r>
                      </m:sub>
                    </m:sSub>
                  </m:oMath>
                </a14:m>
                <a:r>
                  <a:rPr lang="pt-BR" altLang="zh-TW" kern="0" dirty="0">
                    <a:solidFill>
                      <a:prstClr val="black"/>
                    </a:solidFill>
                  </a:rPr>
                  <a:t>)</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𝑔</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sSub>
                          <m:sSubPr>
                            <m:ctrlPr>
                              <a:rPr lang="pt-BR" altLang="zh-TW" i="1" kern="0" smtClea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1</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e>
                      <m:sub/>
                    </m:sSub>
                  </m:oMath>
                </a14:m>
                <a:endParaRPr lang="pt-BR" altLang="zh-TW" kern="0" dirty="0">
                  <a:solidFill>
                    <a:prstClr val="black"/>
                  </a:solidFill>
                </a:endParaRP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3</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1</m:t>
                            </m:r>
                          </m:sub>
                        </m:sSub>
                        <m:r>
                          <a:rPr lang="en-US" altLang="zh-TW" b="0" i="1" kern="0" smtClean="0">
                            <a:solidFill>
                              <a:prstClr val="black"/>
                            </a:solidFill>
                            <a:latin typeface="Cambria Math" panose="02040503050406030204" pitchFamily="18" charset="0"/>
                          </a:rPr>
                          <m:t>)+(</m:t>
                        </m:r>
                        <m:sSub>
                          <m:sSubPr>
                            <m:ctrlPr>
                              <a:rPr lang="pt-BR" altLang="zh-TW" i="1" kern="0" smtClea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2</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1</m:t>
                                </m:r>
                              </m:sub>
                            </m:sSub>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𝑔</m:t>
                            </m:r>
                          </m:e>
                          <m:sub>
                            <m:r>
                              <a:rPr lang="en-US" altLang="zh-TW" i="1" kern="0">
                                <a:solidFill>
                                  <a:prstClr val="black"/>
                                </a:solidFill>
                                <a:latin typeface="Cambria Math" panose="02040503050406030204" pitchFamily="18" charset="0"/>
                              </a:rPr>
                              <m:t>0</m:t>
                            </m:r>
                          </m:sub>
                        </m:sSub>
                        <m:r>
                          <a:rPr lang="en-US" altLang="zh-TW" i="1" kern="0">
                            <a:solidFill>
                              <a:prstClr val="black"/>
                            </a:solidFill>
                            <a:latin typeface="Cambria Math" panose="02040503050406030204" pitchFamily="18" charset="0"/>
                          </a:rPr>
                          <m:t>)+(</m:t>
                        </m:r>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2</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1</m:t>
                                </m:r>
                              </m:sub>
                            </m:sSub>
                            <m:r>
                              <a:rPr lang="en-US" altLang="zh-TW" i="1" ker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0</m:t>
                            </m:r>
                          </m:sub>
                        </m:sSub>
                        <m:r>
                          <a:rPr lang="en-US" altLang="zh-TW" i="1" kern="0">
                            <a:solidFill>
                              <a:prstClr val="black"/>
                            </a:solidFill>
                            <a:latin typeface="Cambria Math" panose="02040503050406030204" pitchFamily="18" charset="0"/>
                          </a:rPr>
                          <m:t>)</m:t>
                        </m:r>
                      </m:e>
                      <m:sub/>
                    </m:sSub>
                  </m:oMath>
                </a14:m>
                <a:endParaRPr lang="pt-BR" altLang="zh-TW" kern="0" dirty="0">
                  <a:solidFill>
                    <a:prstClr val="black"/>
                  </a:solidFill>
                </a:endParaRPr>
              </a:p>
            </p:txBody>
          </p:sp>
        </mc:Choice>
        <mc:Fallback xmlns="">
          <p:sp>
            <p:nvSpPr>
              <p:cNvPr id="8" name="Rectangle 3"/>
              <p:cNvSpPr txBox="1">
                <a:spLocks noRot="1" noChangeAspect="1" noMove="1" noResize="1" noEditPoints="1" noAdjustHandles="1" noChangeArrowheads="1" noChangeShapeType="1" noTextEdit="1"/>
              </p:cNvSpPr>
              <p:nvPr/>
            </p:nvSpPr>
            <p:spPr bwMode="auto">
              <a:xfrm>
                <a:off x="781050" y="1053819"/>
                <a:ext cx="10639425" cy="5062672"/>
              </a:xfrm>
              <a:prstGeom prst="rect">
                <a:avLst/>
              </a:prstGeom>
              <a:blipFill>
                <a:blip r:embed="rId3"/>
                <a:stretch>
                  <a:fillRect l="-2063" t="-723" r="-57" b="-1687"/>
                </a:stretch>
              </a:blipFill>
              <a:ln w="9525">
                <a:noFill/>
                <a:miter lim="800000"/>
              </a:ln>
            </p:spPr>
            <p:txBody>
              <a:bodyPr/>
              <a:lstStyle/>
              <a:p>
                <a:r>
                  <a:rPr lang="en-US">
                    <a:noFill/>
                  </a:rPr>
                  <a:t> </a:t>
                </a:r>
              </a:p>
            </p:txBody>
          </p:sp>
        </mc:Fallback>
      </mc:AlternateContent>
      <p:sp>
        <p:nvSpPr>
          <p:cNvPr id="2" name="TextBox 1">
            <a:extLst>
              <a:ext uri="{FF2B5EF4-FFF2-40B4-BE49-F238E27FC236}">
                <a16:creationId xmlns:a16="http://schemas.microsoft.com/office/drawing/2014/main" id="{F607D960-9D8D-4EE4-AF20-8C4878FF969E}"/>
              </a:ext>
            </a:extLst>
          </p:cNvPr>
          <p:cNvSpPr txBox="1"/>
          <p:nvPr/>
        </p:nvSpPr>
        <p:spPr>
          <a:xfrm>
            <a:off x="6566733" y="5105370"/>
            <a:ext cx="5256824" cy="400110"/>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Now, the carry propagation chain disappears</a:t>
            </a:r>
          </a:p>
        </p:txBody>
      </p:sp>
      <p:pic>
        <p:nvPicPr>
          <p:cNvPr id="3" name="Picture 2">
            <a:extLst>
              <a:ext uri="{FF2B5EF4-FFF2-40B4-BE49-F238E27FC236}">
                <a16:creationId xmlns:a16="http://schemas.microsoft.com/office/drawing/2014/main" id="{4EC144F9-2AD8-4631-AAEB-E2A40EDA6AC8}"/>
              </a:ext>
            </a:extLst>
          </p:cNvPr>
          <p:cNvPicPr>
            <a:picLocks noChangeAspect="1"/>
          </p:cNvPicPr>
          <p:nvPr/>
        </p:nvPicPr>
        <p:blipFill>
          <a:blip r:embed="rId4"/>
          <a:stretch>
            <a:fillRect/>
          </a:stretch>
        </p:blipFill>
        <p:spPr>
          <a:xfrm>
            <a:off x="9134391" y="2408901"/>
            <a:ext cx="2636492" cy="1776779"/>
          </a:xfrm>
          <a:prstGeom prst="rect">
            <a:avLst/>
          </a:prstGeom>
        </p:spPr>
      </p:pic>
      <p:sp>
        <p:nvSpPr>
          <p:cNvPr id="4" name="Oval 3">
            <a:extLst>
              <a:ext uri="{FF2B5EF4-FFF2-40B4-BE49-F238E27FC236}">
                <a16:creationId xmlns:a16="http://schemas.microsoft.com/office/drawing/2014/main" id="{8815ABB8-A878-47DC-86C0-A24CFBE09FB6}"/>
              </a:ext>
            </a:extLst>
          </p:cNvPr>
          <p:cNvSpPr/>
          <p:nvPr/>
        </p:nvSpPr>
        <p:spPr bwMode="auto">
          <a:xfrm>
            <a:off x="854209"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2" name="Oval 61">
            <a:extLst>
              <a:ext uri="{FF2B5EF4-FFF2-40B4-BE49-F238E27FC236}">
                <a16:creationId xmlns:a16="http://schemas.microsoft.com/office/drawing/2014/main" id="{0F5AD2FD-EA06-43DD-9851-51926B29B21B}"/>
              </a:ext>
            </a:extLst>
          </p:cNvPr>
          <p:cNvSpPr/>
          <p:nvPr/>
        </p:nvSpPr>
        <p:spPr bwMode="auto">
          <a:xfrm>
            <a:off x="5181600"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5" name="Oval 64">
            <a:extLst>
              <a:ext uri="{FF2B5EF4-FFF2-40B4-BE49-F238E27FC236}">
                <a16:creationId xmlns:a16="http://schemas.microsoft.com/office/drawing/2014/main" id="{70908B4E-2F91-4F93-BE47-91DAF2BBC924}"/>
              </a:ext>
            </a:extLst>
          </p:cNvPr>
          <p:cNvSpPr/>
          <p:nvPr/>
        </p:nvSpPr>
        <p:spPr bwMode="auto">
          <a:xfrm>
            <a:off x="3586121"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47252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2" grpId="0" animBg="1"/>
      <p:bldP spid="6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A Practical Carry Lookahead Adder</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14</a:t>
            </a:fld>
            <a:endParaRPr lang="zh-TW" altLang="en-US">
              <a:solidFill>
                <a:prstClr val="white"/>
              </a:solidFill>
            </a:endParaRPr>
          </a:p>
        </p:txBody>
      </p:sp>
      <p:pic>
        <p:nvPicPr>
          <p:cNvPr id="4" name="Picture 3">
            <a:extLst>
              <a:ext uri="{FF2B5EF4-FFF2-40B4-BE49-F238E27FC236}">
                <a16:creationId xmlns:a16="http://schemas.microsoft.com/office/drawing/2014/main" id="{9A6CA6AB-DD46-4C5B-96B6-174232B465AC}"/>
              </a:ext>
            </a:extLst>
          </p:cNvPr>
          <p:cNvPicPr>
            <a:picLocks noChangeAspect="1"/>
          </p:cNvPicPr>
          <p:nvPr/>
        </p:nvPicPr>
        <p:blipFill>
          <a:blip r:embed="rId3"/>
          <a:stretch>
            <a:fillRect/>
          </a:stretch>
        </p:blipFill>
        <p:spPr>
          <a:xfrm>
            <a:off x="1219200" y="1228725"/>
            <a:ext cx="9486900" cy="4124325"/>
          </a:xfrm>
          <a:prstGeom prst="rect">
            <a:avLst/>
          </a:prstGeom>
        </p:spPr>
      </p:pic>
    </p:spTree>
    <p:extLst>
      <p:ext uri="{BB962C8B-B14F-4D97-AF65-F5344CB8AC3E}">
        <p14:creationId xmlns:p14="http://schemas.microsoft.com/office/powerpoint/2010/main" val="2833754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a:t>
            </a:r>
          </a:p>
        </p:txBody>
      </p:sp>
      <p:sp>
        <p:nvSpPr>
          <p:cNvPr id="3" name="Content Placeholder 2"/>
          <p:cNvSpPr>
            <a:spLocks noGrp="1"/>
          </p:cNvSpPr>
          <p:nvPr>
            <p:ph idx="1"/>
          </p:nvPr>
        </p:nvSpPr>
        <p:spPr>
          <a:xfrm>
            <a:off x="1364611" y="1152089"/>
            <a:ext cx="8674741" cy="4753761"/>
          </a:xfrm>
        </p:spPr>
        <p:txBody>
          <a:bodyPr>
            <a:normAutofit fontScale="92500" lnSpcReduction="20000"/>
          </a:bodyPr>
          <a:lstStyle/>
          <a:p>
            <a:r>
              <a:rPr lang="en-US" sz="2667" dirty="0"/>
              <a:t>More complicated than addition</a:t>
            </a:r>
          </a:p>
          <a:p>
            <a:pPr lvl="1"/>
            <a:r>
              <a:rPr lang="en-US" sz="2133" dirty="0"/>
              <a:t>Can be accomplished via </a:t>
            </a:r>
            <a:r>
              <a:rPr lang="en-US" sz="2133" b="1" dirty="0">
                <a:solidFill>
                  <a:schemeClr val="accent1"/>
                </a:solidFill>
              </a:rPr>
              <a:t>shifting</a:t>
            </a:r>
            <a:r>
              <a:rPr lang="en-US" sz="2133" dirty="0">
                <a:solidFill>
                  <a:schemeClr val="accent1"/>
                </a:solidFill>
              </a:rPr>
              <a:t> </a:t>
            </a:r>
            <a:r>
              <a:rPr lang="en-US" sz="2133" dirty="0"/>
              <a:t>and </a:t>
            </a:r>
            <a:r>
              <a:rPr lang="en-US" sz="2133" b="1" dirty="0">
                <a:solidFill>
                  <a:schemeClr val="accent1"/>
                </a:solidFill>
              </a:rPr>
              <a:t>adding</a:t>
            </a: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b="1" dirty="0">
              <a:solidFill>
                <a:schemeClr val="accent1"/>
              </a:solidFill>
            </a:endParaRPr>
          </a:p>
          <a:p>
            <a:endParaRPr lang="en-US" sz="2400" dirty="0"/>
          </a:p>
          <a:p>
            <a:r>
              <a:rPr lang="en-US" sz="2667" b="1" dirty="0">
                <a:solidFill>
                  <a:schemeClr val="accent1"/>
                </a:solidFill>
              </a:rPr>
              <a:t>Double precision</a:t>
            </a:r>
            <a:r>
              <a:rPr lang="en-US" sz="2667" dirty="0"/>
              <a:t> product is produced</a:t>
            </a:r>
          </a:p>
          <a:p>
            <a:r>
              <a:rPr lang="en-US" sz="2667" dirty="0"/>
              <a:t>More time and more area are required</a:t>
            </a:r>
          </a:p>
        </p:txBody>
      </p:sp>
      <p:grpSp>
        <p:nvGrpSpPr>
          <p:cNvPr id="11" name="Group 10"/>
          <p:cNvGrpSpPr/>
          <p:nvPr/>
        </p:nvGrpSpPr>
        <p:grpSpPr>
          <a:xfrm>
            <a:off x="3619698" y="2217092"/>
            <a:ext cx="2202927" cy="2389950"/>
            <a:chOff x="2095697" y="2499118"/>
            <a:chExt cx="2202926" cy="2389950"/>
          </a:xfrm>
        </p:grpSpPr>
        <p:sp>
          <p:nvSpPr>
            <p:cNvPr id="6" name="TextBox 5"/>
            <p:cNvSpPr txBox="1"/>
            <p:nvPr/>
          </p:nvSpPr>
          <p:spPr>
            <a:xfrm>
              <a:off x="2095697" y="2499118"/>
              <a:ext cx="2064470" cy="2389950"/>
            </a:xfrm>
            <a:prstGeom prst="rect">
              <a:avLst/>
            </a:prstGeom>
            <a:noFill/>
          </p:spPr>
          <p:txBody>
            <a:bodyPr wrap="square" rtlCol="0">
              <a:spAutoFit/>
            </a:bodyPr>
            <a:lstStyle/>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rPr>
                <a:t>0010</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rPr>
                <a:t>×       1011</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rPr>
                <a:t>0010</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rPr>
                <a:t>0010</a:t>
              </a:r>
              <a:r>
                <a:rPr lang="en-US" sz="21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0</a:t>
              </a:r>
              <a:endParaRPr lang="en-US" sz="21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endParaRP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0000</a:t>
              </a:r>
              <a:r>
                <a:rPr lang="en-US" sz="21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0010</a:t>
              </a:r>
              <a:r>
                <a:rPr lang="en-US" sz="21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a:t>
              </a:r>
            </a:p>
            <a:p>
              <a:pPr algn="r"/>
              <a:r>
                <a:rPr lang="en-US" sz="2133" dirty="0">
                  <a:latin typeface="Arial Unicode MS" panose="020B0604020202020204" pitchFamily="34" charset="-128"/>
                  <a:ea typeface="Arial Unicode MS" panose="020B0604020202020204" pitchFamily="34" charset="-128"/>
                  <a:cs typeface="Arial Unicode MS" panose="020B0604020202020204" pitchFamily="34" charset="-128"/>
                  <a:sym typeface="Symbol" panose="05050102010706020507" pitchFamily="18" charset="2"/>
                </a:rPr>
                <a:t>00010110</a:t>
              </a:r>
              <a:endParaRPr lang="en-US" sz="2133"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cxnSp>
          <p:nvCxnSpPr>
            <p:cNvPr id="7" name="Straight Connector 6"/>
            <p:cNvCxnSpPr/>
            <p:nvPr/>
          </p:nvCxnSpPr>
          <p:spPr>
            <a:xfrm>
              <a:off x="2479249" y="3271101"/>
              <a:ext cx="18193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479249" y="4769963"/>
              <a:ext cx="18193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6454221" y="2187796"/>
            <a:ext cx="1975221" cy="420564"/>
          </a:xfrm>
          <a:prstGeom prst="rect">
            <a:avLst/>
          </a:prstGeom>
          <a:noFill/>
        </p:spPr>
        <p:txBody>
          <a:bodyPr wrap="none" rtlCol="0">
            <a:spAutoFit/>
          </a:bodyPr>
          <a:lstStyle/>
          <a:p>
            <a:r>
              <a:rPr lang="en-US" sz="2133" dirty="0"/>
              <a:t>(</a:t>
            </a:r>
            <a:r>
              <a:rPr lang="en-US" sz="2133" b="1" dirty="0">
                <a:solidFill>
                  <a:schemeClr val="accent1"/>
                </a:solidFill>
              </a:rPr>
              <a:t>multiplicand</a:t>
            </a:r>
            <a:r>
              <a:rPr lang="en-US" sz="2133" dirty="0"/>
              <a:t>)</a:t>
            </a:r>
          </a:p>
        </p:txBody>
      </p:sp>
      <p:sp>
        <p:nvSpPr>
          <p:cNvPr id="12" name="TextBox 11"/>
          <p:cNvSpPr txBox="1"/>
          <p:nvPr/>
        </p:nvSpPr>
        <p:spPr>
          <a:xfrm>
            <a:off x="6454219" y="2527409"/>
            <a:ext cx="1595309" cy="420564"/>
          </a:xfrm>
          <a:prstGeom prst="rect">
            <a:avLst/>
          </a:prstGeom>
          <a:noFill/>
        </p:spPr>
        <p:txBody>
          <a:bodyPr wrap="none" rtlCol="0">
            <a:spAutoFit/>
          </a:bodyPr>
          <a:lstStyle/>
          <a:p>
            <a:r>
              <a:rPr lang="en-US" sz="2133" dirty="0"/>
              <a:t>(</a:t>
            </a:r>
            <a:r>
              <a:rPr lang="en-US" sz="2133" b="1" dirty="0">
                <a:solidFill>
                  <a:schemeClr val="accent1"/>
                </a:solidFill>
              </a:rPr>
              <a:t>multiplier</a:t>
            </a:r>
            <a:r>
              <a:rPr lang="en-US" sz="2133" dirty="0"/>
              <a:t>)</a:t>
            </a:r>
          </a:p>
        </p:txBody>
      </p:sp>
      <p:sp>
        <p:nvSpPr>
          <p:cNvPr id="13" name="TextBox 12"/>
          <p:cNvSpPr txBox="1"/>
          <p:nvPr/>
        </p:nvSpPr>
        <p:spPr>
          <a:xfrm>
            <a:off x="6454219" y="3496859"/>
            <a:ext cx="3021981" cy="420564"/>
          </a:xfrm>
          <a:prstGeom prst="rect">
            <a:avLst/>
          </a:prstGeom>
          <a:noFill/>
        </p:spPr>
        <p:txBody>
          <a:bodyPr wrap="none" rtlCol="0">
            <a:spAutoFit/>
          </a:bodyPr>
          <a:lstStyle/>
          <a:p>
            <a:r>
              <a:rPr lang="en-US" sz="2133" dirty="0"/>
              <a:t>(</a:t>
            </a:r>
            <a:r>
              <a:rPr lang="en-US" sz="2133" b="1" dirty="0">
                <a:solidFill>
                  <a:schemeClr val="accent1"/>
                </a:solidFill>
              </a:rPr>
              <a:t>partial product array</a:t>
            </a:r>
            <a:r>
              <a:rPr lang="en-US" sz="2133" dirty="0"/>
              <a:t>)</a:t>
            </a:r>
          </a:p>
        </p:txBody>
      </p:sp>
      <p:sp>
        <p:nvSpPr>
          <p:cNvPr id="14" name="TextBox 13"/>
          <p:cNvSpPr txBox="1"/>
          <p:nvPr/>
        </p:nvSpPr>
        <p:spPr>
          <a:xfrm>
            <a:off x="6454219" y="4175821"/>
            <a:ext cx="1383712" cy="420564"/>
          </a:xfrm>
          <a:prstGeom prst="rect">
            <a:avLst/>
          </a:prstGeom>
          <a:noFill/>
        </p:spPr>
        <p:txBody>
          <a:bodyPr wrap="none" rtlCol="0">
            <a:spAutoFit/>
          </a:bodyPr>
          <a:lstStyle/>
          <a:p>
            <a:r>
              <a:rPr lang="en-US" sz="2133" dirty="0"/>
              <a:t>(</a:t>
            </a:r>
            <a:r>
              <a:rPr lang="en-US" sz="2133" b="1" dirty="0">
                <a:solidFill>
                  <a:schemeClr val="accent1"/>
                </a:solidFill>
              </a:rPr>
              <a:t>product</a:t>
            </a:r>
            <a:r>
              <a:rPr lang="en-US" sz="2133" dirty="0"/>
              <a:t>)</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Multiplication Hardware (1</a:t>
            </a:r>
            <a:r>
              <a:rPr lang="en-US" baseline="30000" dirty="0">
                <a:sym typeface="+mn-ea"/>
              </a:rPr>
              <a:t>st</a:t>
            </a:r>
            <a:r>
              <a:rPr lang="en-US" dirty="0">
                <a:sym typeface="+mn-ea"/>
              </a:rPr>
              <a:t> Version)</a:t>
            </a:r>
            <a:endParaRPr lang="en-US" dirty="0"/>
          </a:p>
        </p:txBody>
      </p:sp>
      <p:pic>
        <p:nvPicPr>
          <p:cNvPr id="9" name="Picture 8"/>
          <p:cNvPicPr>
            <a:picLocks noChangeAspect="1"/>
          </p:cNvPicPr>
          <p:nvPr/>
        </p:nvPicPr>
        <p:blipFill>
          <a:blip r:embed="rId2">
            <a:clrChange>
              <a:clrFrom>
                <a:srgbClr val="FFFFFF"/>
              </a:clrFrom>
              <a:clrTo>
                <a:srgbClr val="FFFFFF">
                  <a:alpha val="0"/>
                </a:srgbClr>
              </a:clrTo>
            </a:clrChange>
          </a:blip>
          <a:stretch>
            <a:fillRect/>
          </a:stretch>
        </p:blipFill>
        <p:spPr>
          <a:xfrm>
            <a:off x="6845355" y="1075796"/>
            <a:ext cx="4200971" cy="5508264"/>
          </a:xfrm>
          <a:prstGeom prst="rect">
            <a:avLst/>
          </a:prstGeom>
        </p:spPr>
      </p:pic>
      <p:pic>
        <p:nvPicPr>
          <p:cNvPr id="10" name="Picture 9"/>
          <p:cNvPicPr>
            <a:picLocks noChangeAspect="1"/>
          </p:cNvPicPr>
          <p:nvPr/>
        </p:nvPicPr>
        <p:blipFill>
          <a:blip r:embed="rId3"/>
          <a:stretch>
            <a:fillRect/>
          </a:stretch>
        </p:blipFill>
        <p:spPr>
          <a:xfrm>
            <a:off x="290819" y="2104166"/>
            <a:ext cx="5687784" cy="3264788"/>
          </a:xfrm>
          <a:prstGeom prst="rect">
            <a:avLst/>
          </a:prstGeom>
          <a:ln w="19050">
            <a:solidFill>
              <a:schemeClr val="tx1"/>
            </a:solidFill>
            <a:prstDash val="sysDot"/>
          </a:ln>
        </p:spPr>
      </p:pic>
      <p:sp>
        <p:nvSpPr>
          <p:cNvPr id="3" name="灯片编号占位符 2"/>
          <p:cNvSpPr>
            <a:spLocks noGrp="1"/>
          </p:cNvSpPr>
          <p:nvPr>
            <p:ph type="sldNum" sz="quarter" idx="10"/>
          </p:nvPr>
        </p:nvSpPr>
        <p:spPr/>
        <p:txBody>
          <a:bodyPr/>
          <a:lstStyle/>
          <a:p>
            <a:fld id="{D9B6BDF2-6896-4B98-8776-C18582F63BA5}" type="slidenum">
              <a:rPr lang="zh-TW" altLang="en-US" smtClean="0"/>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Signed Multiplication</a:t>
            </a:r>
          </a:p>
        </p:txBody>
      </p:sp>
      <p:sp>
        <p:nvSpPr>
          <p:cNvPr id="31747" name="Rectangle 3"/>
          <p:cNvSpPr>
            <a:spLocks noGrp="1" noChangeArrowheads="1"/>
          </p:cNvSpPr>
          <p:nvPr>
            <p:ph type="body" idx="1"/>
          </p:nvPr>
        </p:nvSpPr>
        <p:spPr>
          <a:xfrm>
            <a:off x="513761" y="1014842"/>
            <a:ext cx="11164477" cy="5074873"/>
          </a:xfrm>
        </p:spPr>
        <p:txBody>
          <a:bodyPr/>
          <a:lstStyle/>
          <a:p>
            <a:r>
              <a:rPr lang="en-US" altLang="zh-TW" sz="3200" dirty="0"/>
              <a:t>Convert multiplier and multiplicand to positive numbers.</a:t>
            </a:r>
          </a:p>
          <a:p>
            <a:r>
              <a:rPr lang="en-US" altLang="zh-TW" sz="3200" dirty="0"/>
              <a:t>Remember their original signs.</a:t>
            </a:r>
          </a:p>
          <a:p>
            <a:r>
              <a:rPr lang="en-US" altLang="zh-TW" sz="3200" dirty="0"/>
              <a:t>Multiply as before, leaving the sign out of the calculation</a:t>
            </a:r>
          </a:p>
          <a:p>
            <a:r>
              <a:rPr lang="en-US" altLang="zh-TW" sz="3200" dirty="0"/>
              <a:t>We negate the product only if the original signs disagree.</a:t>
            </a:r>
          </a:p>
          <a:p>
            <a:pPr marL="0" indent="0">
              <a:buNone/>
            </a:pPr>
            <a:r>
              <a:rPr lang="en-US" altLang="zh-TW" sz="3200" dirty="0"/>
              <a:t>	A×B=(</a:t>
            </a:r>
            <a:r>
              <a:rPr lang="en-US" altLang="zh-TW" sz="3200" dirty="0" err="1"/>
              <a:t>signA⊕signB</a:t>
            </a:r>
            <a:r>
              <a:rPr lang="en-US" altLang="zh-TW" sz="3200" dirty="0"/>
              <a:t>)×(∣A∣×∣B∣)</a:t>
            </a:r>
          </a:p>
          <a:p>
            <a:pPr>
              <a:buSzPct val="200000"/>
              <a:buFont typeface="Arial" panose="020B0604020202020204" pitchFamily="34" charset="0"/>
              <a:buChar char="•"/>
            </a:pPr>
            <a:r>
              <a:rPr lang="en-US" altLang="zh-TW" sz="3200" dirty="0"/>
              <a:t>On modern computers (after 70’s and 80’s), when 2’s complement was adopted as standards. Signed integer multiplication just works like unsigned multiplication. (</a:t>
            </a:r>
            <a:r>
              <a:rPr lang="en-US" sz="2000" i="1" dirty="0">
                <a:solidFill>
                  <a:srgbClr val="111827"/>
                </a:solidFill>
                <a:effectLst/>
                <a:latin typeface="ui-sans-serif"/>
              </a:rPr>
              <a:t>If you treat two’s‑complement numbers as unsigned bit patterns and multiply them, the low N bits of the result are correct for signed multiplication</a:t>
            </a:r>
            <a:r>
              <a:rPr lang="en-US" sz="1400" b="1" i="1" dirty="0">
                <a:solidFill>
                  <a:srgbClr val="111827"/>
                </a:solidFill>
                <a:effectLst/>
                <a:latin typeface="ui-sans-serif"/>
              </a:rPr>
              <a:t>)</a:t>
            </a:r>
            <a:endParaRPr lang="en-US" altLang="zh-TW" sz="3200" dirty="0"/>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17</a:t>
            </a:fld>
            <a:endParaRPr lang="zh-TW" altLang="en-US"/>
          </a:p>
        </p:txBody>
      </p:sp>
    </p:spTree>
    <p:extLst>
      <p:ext uri="{BB962C8B-B14F-4D97-AF65-F5344CB8AC3E}">
        <p14:creationId xmlns:p14="http://schemas.microsoft.com/office/powerpoint/2010/main" val="2572490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446656" y="81690"/>
            <a:ext cx="9019739" cy="592821"/>
          </a:xfrm>
        </p:spPr>
        <p:txBody>
          <a:bodyPr/>
          <a:lstStyle/>
          <a:p>
            <a:r>
              <a:rPr lang="en-AU" altLang="zh-TW" dirty="0">
                <a:ea typeface="PMingLiU" panose="02020500000000000000" pitchFamily="18" charset="-120"/>
              </a:rPr>
              <a:t>Shift and Add to replace Multiply</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18</a:t>
            </a:fld>
            <a:endParaRPr lang="zh-TW" altLang="en-US"/>
          </a:p>
        </p:txBody>
      </p:sp>
      <p:sp>
        <p:nvSpPr>
          <p:cNvPr id="2" name="Text Placeholder 1">
            <a:extLst>
              <a:ext uri="{FF2B5EF4-FFF2-40B4-BE49-F238E27FC236}">
                <a16:creationId xmlns:a16="http://schemas.microsoft.com/office/drawing/2014/main" id="{0FC05AB3-DF2E-4FA4-954B-FE8763ADDB60}"/>
              </a:ext>
            </a:extLst>
          </p:cNvPr>
          <p:cNvSpPr>
            <a:spLocks noGrp="1" noChangeArrowheads="1"/>
          </p:cNvSpPr>
          <p:nvPr>
            <p:ph type="body" idx="1"/>
          </p:nvPr>
        </p:nvSpPr>
        <p:spPr bwMode="auto">
          <a:xfrm>
            <a:off x="392469" y="1279287"/>
            <a:ext cx="11407062"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hangingPunct="0">
              <a:spcBef>
                <a:spcPct val="0"/>
              </a:spcBef>
              <a:buClrTx/>
              <a:buSzTx/>
              <a:buFont typeface="Wingdings" panose="05000000000000000000" pitchFamily="2" charset="2"/>
              <a:buChar char="§"/>
            </a:pPr>
            <a:r>
              <a:rPr kumimoji="0" lang="en-US" altLang="en-US" sz="2400" dirty="0">
                <a:latin typeface="Arial" panose="020B0604020202020204" pitchFamily="34" charset="0"/>
              </a:rPr>
              <a:t>Compilers are clever at replacing multiplication with shifts and adds, especially when dealing with multiplication by </a:t>
            </a:r>
            <a:r>
              <a:rPr kumimoji="0" lang="en-US" altLang="en-US" sz="2400" b="1" i="1" dirty="0">
                <a:latin typeface="Arial" panose="020B0604020202020204" pitchFamily="34" charset="0"/>
              </a:rPr>
              <a:t>constants</a:t>
            </a:r>
            <a:r>
              <a:rPr kumimoji="0" lang="en-US" altLang="en-US" sz="2400" dirty="0">
                <a:latin typeface="Arial" panose="020B0604020202020204" pitchFamily="34" charset="0"/>
              </a:rPr>
              <a:t>.</a:t>
            </a:r>
          </a:p>
          <a:p>
            <a:pPr lvl="0" eaLnBrk="0" hangingPunct="0">
              <a:spcBef>
                <a:spcPct val="0"/>
              </a:spcBef>
              <a:buClrTx/>
              <a:buSzTx/>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Decompose the constant:  </a:t>
            </a:r>
          </a:p>
          <a:p>
            <a:pPr marL="0" lvl="0" indent="0" eaLnBrk="0" hangingPunct="0">
              <a:spcBef>
                <a:spcPct val="0"/>
              </a:spcBef>
              <a:buClrTx/>
              <a:buSzTx/>
              <a:buNone/>
            </a:pPr>
            <a:r>
              <a:rPr kumimoji="0" lang="en-US" altLang="en-US" sz="2400" dirty="0">
                <a:latin typeface="Arial" panose="020B0604020202020204" pitchFamily="34" charset="0"/>
              </a:rPr>
              <a:t>	The compiler </a:t>
            </a:r>
            <a:r>
              <a:rPr kumimoji="0" lang="en-US" altLang="en-US" sz="2400" b="0" i="0" u="none" strike="noStrike" cap="none" normalizeH="0" baseline="0" dirty="0">
                <a:ln>
                  <a:noFill/>
                </a:ln>
                <a:solidFill>
                  <a:schemeClr val="tx1"/>
                </a:solidFill>
                <a:effectLst/>
                <a:latin typeface="Arial" panose="020B0604020202020204" pitchFamily="34" charset="0"/>
              </a:rPr>
              <a:t>breaks down the constant into a sum of powers of 2. </a:t>
            </a:r>
          </a:p>
          <a:p>
            <a:pPr marL="0" lvl="0" indent="0" eaLnBrk="0" hangingPunct="0">
              <a:spcBef>
                <a:spcPct val="0"/>
              </a:spcBef>
              <a:buClrTx/>
              <a:buSzTx/>
              <a:buNone/>
            </a:pPr>
            <a:r>
              <a:rPr kumimoji="0" lang="en-US" altLang="en-US" sz="2400" b="0" i="0" u="none" strike="noStrike" cap="none" normalizeH="0" baseline="0" dirty="0">
                <a:ln>
                  <a:noFill/>
                </a:ln>
                <a:solidFill>
                  <a:schemeClr val="tx1"/>
                </a:solidFill>
                <a:effectLst/>
                <a:latin typeface="Arial" panose="020B0604020202020204" pitchFamily="34" charset="0"/>
              </a:rPr>
              <a:t>    For example:</a:t>
            </a:r>
          </a:p>
          <a:p>
            <a:pPr marL="0" lvl="0" indent="0" eaLnBrk="0" hangingPunct="0">
              <a:spcBef>
                <a:spcPct val="0"/>
              </a:spcBef>
              <a:buClrTx/>
              <a:buSzTx/>
              <a:buNone/>
            </a:pPr>
            <a:r>
              <a:rPr kumimoji="0"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10 = 8 + 2 (2^3 + 2^1)</a:t>
            </a:r>
          </a:p>
          <a:p>
            <a:pPr marL="0" lvl="0" indent="0" eaLnBrk="0" hangingPunct="0">
              <a:spcBef>
                <a:spcPct val="0"/>
              </a:spcBef>
              <a:buClrTx/>
              <a:buSzTx/>
              <a:buNone/>
            </a:pPr>
            <a:r>
              <a:rPr kumimoji="0"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13 = 8 + 4 + 1 (2^3 + 2^2 + 2^0)</a:t>
            </a:r>
          </a:p>
          <a:p>
            <a:pPr marL="0" lvl="0" indent="0" eaLnBrk="0" hangingPunct="0">
              <a:spcBef>
                <a:spcPct val="0"/>
              </a:spcBef>
              <a:buClrTx/>
              <a:buSzTx/>
              <a:buNone/>
            </a:pPr>
            <a:r>
              <a:rPr kumimoji="0" lang="en-US" altLang="en-US" sz="2400" dirty="0">
                <a:latin typeface="Arial" panose="020B0604020202020204" pitchFamily="34" charset="0"/>
              </a:rPr>
              <a:t>    So, </a:t>
            </a:r>
            <a:r>
              <a:rPr kumimoji="0" lang="en-US" altLang="en-US" sz="2400" b="0" i="0" u="none" strike="noStrike" cap="none" normalizeH="0" baseline="0" dirty="0">
                <a:ln>
                  <a:noFill/>
                </a:ln>
                <a:solidFill>
                  <a:schemeClr val="tx1"/>
                </a:solidFill>
                <a:effectLst/>
                <a:latin typeface="Arial" panose="020B0604020202020204" pitchFamily="34" charset="0"/>
              </a:rPr>
              <a:t> x*13 = </a:t>
            </a:r>
            <a:r>
              <a:rPr lang="en-US" sz="2400" dirty="0"/>
              <a:t> </a:t>
            </a:r>
            <a:r>
              <a:rPr lang="en-US" sz="2400" dirty="0">
                <a:latin typeface="+mn-lt"/>
              </a:rPr>
              <a:t>(x &lt;&lt; 3) + (x &lt;&lt; 2) + x</a:t>
            </a:r>
            <a:endParaRPr kumimoji="0" lang="en-US" altLang="en-US" sz="2400" b="0" i="0" u="none" strike="noStrike" cap="none" normalizeH="0" baseline="0" dirty="0">
              <a:ln>
                <a:noFill/>
              </a:ln>
              <a:solidFill>
                <a:schemeClr val="tx1"/>
              </a:solidFill>
              <a:effectLst/>
              <a:latin typeface="+mn-lt"/>
            </a:endParaRPr>
          </a:p>
        </p:txBody>
      </p:sp>
      <p:sp>
        <p:nvSpPr>
          <p:cNvPr id="6" name="Text Placeholder 1">
            <a:extLst>
              <a:ext uri="{FF2B5EF4-FFF2-40B4-BE49-F238E27FC236}">
                <a16:creationId xmlns:a16="http://schemas.microsoft.com/office/drawing/2014/main" id="{726D847A-CB48-4D13-AAE5-C87C5A66D30E}"/>
              </a:ext>
            </a:extLst>
          </p:cNvPr>
          <p:cNvSpPr txBox="1">
            <a:spLocks noChangeArrowheads="1"/>
          </p:cNvSpPr>
          <p:nvPr/>
        </p:nvSpPr>
        <p:spPr bwMode="auto">
          <a:xfrm>
            <a:off x="658478" y="4724151"/>
            <a:ext cx="11407062" cy="830997"/>
          </a:xfrm>
          <a:prstGeom prst="rect">
            <a:avLst/>
          </a:prstGeom>
          <a:solidFill>
            <a:srgbClr val="FFFFFF"/>
          </a:solidFill>
          <a:ln w="9525">
            <a:noFill/>
            <a:miter lim="800000"/>
            <a:headEnd/>
            <a:tailEnd/>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0" indent="0" eaLnBrk="0" hangingPunct="0">
              <a:spcBef>
                <a:spcPct val="0"/>
              </a:spcBef>
              <a:buClrTx/>
              <a:buSzTx/>
              <a:buFont typeface="Wingdings" pitchFamily="2" charset="2"/>
              <a:buNone/>
            </a:pPr>
            <a:r>
              <a:rPr kumimoji="0" lang="en-US" altLang="en-US" sz="2400" kern="0" dirty="0">
                <a:latin typeface="Arial" panose="020B0604020202020204" pitchFamily="34" charset="0"/>
              </a:rPr>
              <a:t>Exercise: 	X*1054 = (2^? + 2^? - 2^?)</a:t>
            </a:r>
          </a:p>
          <a:p>
            <a:pPr marL="0" indent="0" eaLnBrk="0" hangingPunct="0">
              <a:spcBef>
                <a:spcPct val="0"/>
              </a:spcBef>
              <a:buClrTx/>
              <a:buSzTx/>
              <a:buFont typeface="Wingdings" pitchFamily="2" charset="2"/>
              <a:buNone/>
            </a:pPr>
            <a:r>
              <a:rPr kumimoji="0" lang="en-US" altLang="en-US" sz="2400" kern="0" dirty="0">
                <a:latin typeface="Arial" panose="020B0604020202020204" pitchFamily="34" charset="0"/>
              </a:rPr>
              <a:t>    So,  x*1054 = </a:t>
            </a:r>
            <a:r>
              <a:rPr lang="en-US" sz="2400" kern="0" dirty="0"/>
              <a:t> </a:t>
            </a:r>
            <a:r>
              <a:rPr lang="en-US" sz="2400" kern="0" dirty="0">
                <a:latin typeface="+mn-lt"/>
              </a:rPr>
              <a:t>(x &lt;&lt; ?) + (x &lt;&lt; ?) +…</a:t>
            </a:r>
            <a:endParaRPr kumimoji="0" lang="en-US" altLang="en-US" sz="2400" kern="0" dirty="0">
              <a:latin typeface="+mn-lt"/>
            </a:endParaRPr>
          </a:p>
        </p:txBody>
      </p:sp>
    </p:spTree>
    <p:extLst>
      <p:ext uri="{BB962C8B-B14F-4D97-AF65-F5344CB8AC3E}">
        <p14:creationId xmlns:p14="http://schemas.microsoft.com/office/powerpoint/2010/main" val="953389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Faster Multiplication</a:t>
            </a:r>
          </a:p>
        </p:txBody>
      </p:sp>
      <p:sp>
        <p:nvSpPr>
          <p:cNvPr id="31747" name="Rectangle 3"/>
          <p:cNvSpPr>
            <a:spLocks noGrp="1" noChangeArrowheads="1"/>
          </p:cNvSpPr>
          <p:nvPr>
            <p:ph type="body" idx="1"/>
          </p:nvPr>
        </p:nvSpPr>
        <p:spPr>
          <a:xfrm>
            <a:off x="428017" y="982494"/>
            <a:ext cx="11420272" cy="5137411"/>
          </a:xfrm>
        </p:spPr>
        <p:txBody>
          <a:bodyPr/>
          <a:lstStyle/>
          <a:p>
            <a:pPr marL="0" indent="0">
              <a:buNone/>
            </a:pPr>
            <a:r>
              <a:rPr lang="en-US" altLang="zh-TW" sz="2400" dirty="0"/>
              <a:t>With Moore’s law, we could use more transistors to make the multiplication go faster. Whether the multiplicand should be added at each step can be predetermined by looking at the respective bit in the multiplier. So 31 adders could be used in a </a:t>
            </a:r>
            <a:r>
              <a:rPr lang="en-US" altLang="zh-TW" sz="2400" dirty="0">
                <a:solidFill>
                  <a:srgbClr val="FF0000"/>
                </a:solidFill>
              </a:rPr>
              <a:t>pyramid</a:t>
            </a:r>
            <a:r>
              <a:rPr lang="en-US" altLang="zh-TW" sz="2400" dirty="0"/>
              <a:t>. The delay could be reduced from 31 to 5 or even lower.</a:t>
            </a:r>
          </a:p>
        </p:txBody>
      </p:sp>
      <p:sp>
        <p:nvSpPr>
          <p:cNvPr id="5" name="灯片编号占位符 2"/>
          <p:cNvSpPr>
            <a:spLocks noGrp="1"/>
          </p:cNvSpPr>
          <p:nvPr>
            <p:ph type="sldNum" sz="quarter" idx="10"/>
          </p:nvPr>
        </p:nvSpPr>
        <p:spPr>
          <a:xfrm>
            <a:off x="9108017" y="6518275"/>
            <a:ext cx="2844800" cy="339725"/>
          </a:xfrm>
        </p:spPr>
        <p:txBody>
          <a:bodyPr/>
          <a:lstStyle/>
          <a:p>
            <a:fld id="{D9B6BDF2-6896-4B98-8776-C18582F63BA5}" type="slidenum">
              <a:rPr lang="zh-TW" altLang="en-US" smtClean="0"/>
              <a:t>19</a:t>
            </a:fld>
            <a:endParaRPr lang="zh-TW" altLang="en-US"/>
          </a:p>
        </p:txBody>
      </p:sp>
      <p:pic>
        <p:nvPicPr>
          <p:cNvPr id="3" name="Picture 2">
            <a:extLst>
              <a:ext uri="{FF2B5EF4-FFF2-40B4-BE49-F238E27FC236}">
                <a16:creationId xmlns:a16="http://schemas.microsoft.com/office/drawing/2014/main" id="{8C8A3927-C667-464C-AE14-B4DE79942BE2}"/>
              </a:ext>
            </a:extLst>
          </p:cNvPr>
          <p:cNvPicPr>
            <a:picLocks noChangeAspect="1"/>
          </p:cNvPicPr>
          <p:nvPr/>
        </p:nvPicPr>
        <p:blipFill>
          <a:blip r:embed="rId3"/>
          <a:stretch>
            <a:fillRect/>
          </a:stretch>
        </p:blipFill>
        <p:spPr>
          <a:xfrm>
            <a:off x="1461351" y="2597285"/>
            <a:ext cx="9069066" cy="3522620"/>
          </a:xfrm>
          <a:prstGeom prst="rect">
            <a:avLst/>
          </a:prstGeom>
        </p:spPr>
      </p:pic>
    </p:spTree>
    <p:extLst>
      <p:ext uri="{BB962C8B-B14F-4D97-AF65-F5344CB8AC3E}">
        <p14:creationId xmlns:p14="http://schemas.microsoft.com/office/powerpoint/2010/main" val="2676704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1" name="Rectangle 7"/>
          <p:cNvSpPr>
            <a:spLocks noGrp="1" noChangeArrowheads="1"/>
          </p:cNvSpPr>
          <p:nvPr>
            <p:ph type="title"/>
          </p:nvPr>
        </p:nvSpPr>
        <p:spPr>
          <a:xfrm>
            <a:off x="1386981" y="156595"/>
            <a:ext cx="8762476" cy="659935"/>
          </a:xfrm>
        </p:spPr>
        <p:txBody>
          <a:bodyPr/>
          <a:lstStyle/>
          <a:p>
            <a:r>
              <a:rPr lang="en-US" altLang="zh-TW" dirty="0"/>
              <a:t>Divide: Paper &amp; Pencil</a:t>
            </a:r>
          </a:p>
        </p:txBody>
      </p:sp>
      <p:sp>
        <p:nvSpPr>
          <p:cNvPr id="9"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20</a:t>
            </a:fld>
            <a:endParaRPr lang="zh-TW" altLang="en-US"/>
          </a:p>
        </p:txBody>
      </p:sp>
      <p:pic>
        <p:nvPicPr>
          <p:cNvPr id="6" name="图片 5"/>
          <p:cNvPicPr>
            <a:picLocks noChangeAspect="1"/>
          </p:cNvPicPr>
          <p:nvPr/>
        </p:nvPicPr>
        <p:blipFill>
          <a:blip r:embed="rId3"/>
          <a:stretch>
            <a:fillRect/>
          </a:stretch>
        </p:blipFill>
        <p:spPr>
          <a:xfrm>
            <a:off x="1756095" y="1114277"/>
            <a:ext cx="8623883" cy="493379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9565" y="2621822"/>
            <a:ext cx="8241072" cy="3306764"/>
            <a:chOff x="1643063" y="2050256"/>
            <a:chExt cx="6180804" cy="2480073"/>
          </a:xfrm>
        </p:grpSpPr>
        <p:sp>
          <p:nvSpPr>
            <p:cNvPr id="78850" name="Rectangle 2"/>
            <p:cNvSpPr>
              <a:spLocks noChangeArrowheads="1"/>
            </p:cNvSpPr>
            <p:nvPr/>
          </p:nvSpPr>
          <p:spPr bwMode="auto">
            <a:xfrm>
              <a:off x="2019300" y="3867150"/>
              <a:ext cx="2300288" cy="2940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a:p>
          </p:txBody>
        </p:sp>
        <p:sp>
          <p:nvSpPr>
            <p:cNvPr id="78851" name="Rectangle 3"/>
            <p:cNvSpPr>
              <a:spLocks noChangeArrowheads="1"/>
            </p:cNvSpPr>
            <p:nvPr/>
          </p:nvSpPr>
          <p:spPr bwMode="auto">
            <a:xfrm>
              <a:off x="2030016" y="3876675"/>
              <a:ext cx="2299097" cy="292894"/>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78852" name="Rectangle 4"/>
            <p:cNvSpPr>
              <a:spLocks noChangeArrowheads="1"/>
            </p:cNvSpPr>
            <p:nvPr/>
          </p:nvSpPr>
          <p:spPr bwMode="auto">
            <a:xfrm>
              <a:off x="2601516" y="3882629"/>
              <a:ext cx="1033937"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Remainder</a:t>
              </a:r>
            </a:p>
          </p:txBody>
        </p:sp>
        <p:sp>
          <p:nvSpPr>
            <p:cNvPr id="78853" name="Rectangle 5"/>
            <p:cNvSpPr>
              <a:spLocks noChangeArrowheads="1"/>
            </p:cNvSpPr>
            <p:nvPr/>
          </p:nvSpPr>
          <p:spPr bwMode="auto">
            <a:xfrm>
              <a:off x="5687616" y="2953941"/>
              <a:ext cx="1219200" cy="361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a:p>
          </p:txBody>
        </p:sp>
        <p:sp>
          <p:nvSpPr>
            <p:cNvPr id="78854" name="Rectangle 6"/>
            <p:cNvSpPr>
              <a:spLocks noChangeArrowheads="1"/>
            </p:cNvSpPr>
            <p:nvPr/>
          </p:nvSpPr>
          <p:spPr bwMode="auto">
            <a:xfrm>
              <a:off x="5698332" y="2963466"/>
              <a:ext cx="1216819" cy="359569"/>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78855" name="Rectangle 7"/>
            <p:cNvSpPr>
              <a:spLocks noChangeArrowheads="1"/>
            </p:cNvSpPr>
            <p:nvPr/>
          </p:nvSpPr>
          <p:spPr bwMode="auto">
            <a:xfrm>
              <a:off x="5820966" y="3001566"/>
              <a:ext cx="85119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Quotient</a:t>
              </a:r>
            </a:p>
          </p:txBody>
        </p:sp>
        <p:sp>
          <p:nvSpPr>
            <p:cNvPr id="78856" name="Rectangle 8"/>
            <p:cNvSpPr>
              <a:spLocks noChangeArrowheads="1"/>
            </p:cNvSpPr>
            <p:nvPr/>
          </p:nvSpPr>
          <p:spPr bwMode="auto">
            <a:xfrm>
              <a:off x="2680097" y="2199198"/>
              <a:ext cx="2300288" cy="295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a:p>
          </p:txBody>
        </p:sp>
        <p:sp>
          <p:nvSpPr>
            <p:cNvPr id="78857" name="Rectangle 9"/>
            <p:cNvSpPr>
              <a:spLocks noChangeArrowheads="1"/>
            </p:cNvSpPr>
            <p:nvPr/>
          </p:nvSpPr>
          <p:spPr bwMode="auto">
            <a:xfrm>
              <a:off x="2690813" y="2201466"/>
              <a:ext cx="2297906" cy="292894"/>
            </a:xfrm>
            <a:prstGeom prst="rect">
              <a:avLst/>
            </a:prstGeom>
            <a:noFill/>
            <a:ln w="254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78858" name="Rectangle 10"/>
            <p:cNvSpPr>
              <a:spLocks noChangeArrowheads="1"/>
            </p:cNvSpPr>
            <p:nvPr/>
          </p:nvSpPr>
          <p:spPr bwMode="auto">
            <a:xfrm>
              <a:off x="3370660" y="2215074"/>
              <a:ext cx="72616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dirty="0">
                  <a:solidFill>
                    <a:srgbClr val="000000"/>
                  </a:solidFill>
                  <a:latin typeface="Arial" panose="020B0604020202020204" pitchFamily="34" charset="0"/>
                </a:rPr>
                <a:t>Divisor</a:t>
              </a:r>
            </a:p>
          </p:txBody>
        </p:sp>
        <p:sp>
          <p:nvSpPr>
            <p:cNvPr id="78859" name="Rectangle 11"/>
            <p:cNvSpPr>
              <a:spLocks noChangeArrowheads="1"/>
            </p:cNvSpPr>
            <p:nvPr/>
          </p:nvSpPr>
          <p:spPr bwMode="auto">
            <a:xfrm>
              <a:off x="2663428" y="3205163"/>
              <a:ext cx="99863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a:solidFill>
                    <a:srgbClr val="000000"/>
                  </a:solidFill>
                  <a:latin typeface="Arial" panose="020B0604020202020204" pitchFamily="34" charset="0"/>
                </a:rPr>
                <a:t>64-</a:t>
              </a:r>
              <a:r>
                <a:rPr kumimoji="1" lang="en-US" altLang="zh-TW" b="1">
                  <a:solidFill>
                    <a:srgbClr val="000000"/>
                  </a:solidFill>
                  <a:latin typeface="Arial" panose="020B0604020202020204" pitchFamily="34" charset="0"/>
                </a:rPr>
                <a:t>bit ALU</a:t>
              </a:r>
            </a:p>
          </p:txBody>
        </p:sp>
        <p:sp>
          <p:nvSpPr>
            <p:cNvPr id="78860" name="Line 12"/>
            <p:cNvSpPr>
              <a:spLocks noChangeShapeType="1"/>
            </p:cNvSpPr>
            <p:nvPr/>
          </p:nvSpPr>
          <p:spPr bwMode="auto">
            <a:xfrm>
              <a:off x="3596878" y="2050256"/>
              <a:ext cx="576263" cy="0"/>
            </a:xfrm>
            <a:prstGeom prst="line">
              <a:avLst/>
            </a:prstGeom>
            <a:noFill/>
            <a:ln w="25400">
              <a:solidFill>
                <a:schemeClr val="hlink"/>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a:p>
          </p:txBody>
        </p:sp>
        <p:sp>
          <p:nvSpPr>
            <p:cNvPr id="78861" name="Line 13"/>
            <p:cNvSpPr>
              <a:spLocks noChangeShapeType="1"/>
            </p:cNvSpPr>
            <p:nvPr/>
          </p:nvSpPr>
          <p:spPr bwMode="auto">
            <a:xfrm>
              <a:off x="5991225" y="2811066"/>
              <a:ext cx="576263"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TW" altLang="en-US"/>
            </a:p>
          </p:txBody>
        </p:sp>
        <p:sp>
          <p:nvSpPr>
            <p:cNvPr id="78862" name="Rectangle 14"/>
            <p:cNvSpPr>
              <a:spLocks noChangeArrowheads="1"/>
            </p:cNvSpPr>
            <p:nvPr/>
          </p:nvSpPr>
          <p:spPr bwMode="auto">
            <a:xfrm>
              <a:off x="5078016" y="2133600"/>
              <a:ext cx="101470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Shift Right</a:t>
              </a:r>
            </a:p>
          </p:txBody>
        </p:sp>
        <p:sp>
          <p:nvSpPr>
            <p:cNvPr id="78863" name="Rectangle 15"/>
            <p:cNvSpPr>
              <a:spLocks noChangeArrowheads="1"/>
            </p:cNvSpPr>
            <p:nvPr/>
          </p:nvSpPr>
          <p:spPr bwMode="auto">
            <a:xfrm>
              <a:off x="6934200" y="2997994"/>
              <a:ext cx="889667"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Shift Left</a:t>
              </a:r>
            </a:p>
          </p:txBody>
        </p:sp>
        <p:sp>
          <p:nvSpPr>
            <p:cNvPr id="78864" name="Rectangle 16"/>
            <p:cNvSpPr>
              <a:spLocks noChangeArrowheads="1"/>
            </p:cNvSpPr>
            <p:nvPr/>
          </p:nvSpPr>
          <p:spPr bwMode="auto">
            <a:xfrm>
              <a:off x="4523185" y="3793331"/>
              <a:ext cx="569147"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00"/>
                  </a:solidFill>
                  <a:latin typeface="Arial" panose="020B0604020202020204" pitchFamily="34" charset="0"/>
                </a:rPr>
                <a:t>Write</a:t>
              </a:r>
            </a:p>
          </p:txBody>
        </p:sp>
        <p:sp>
          <p:nvSpPr>
            <p:cNvPr id="78865" name="AutoShape 17"/>
            <p:cNvSpPr>
              <a:spLocks noChangeArrowheads="1"/>
            </p:cNvSpPr>
            <p:nvPr/>
          </p:nvSpPr>
          <p:spPr bwMode="auto">
            <a:xfrm>
              <a:off x="5238750" y="3775473"/>
              <a:ext cx="1454944" cy="596503"/>
            </a:xfrm>
            <a:prstGeom prst="roundRect">
              <a:avLst>
                <a:gd name="adj" fmla="val 48565"/>
              </a:avLst>
            </a:prstGeom>
            <a:noFill/>
            <a:ln w="25400">
              <a:solidFill>
                <a:srgbClr val="0000FF"/>
              </a:solidFill>
              <a:rou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78866" name="Rectangle 18"/>
            <p:cNvSpPr>
              <a:spLocks noChangeArrowheads="1"/>
            </p:cNvSpPr>
            <p:nvPr/>
          </p:nvSpPr>
          <p:spPr bwMode="auto">
            <a:xfrm>
              <a:off x="5573316" y="3905250"/>
              <a:ext cx="75501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b="1">
                  <a:solidFill>
                    <a:srgbClr val="0000FF"/>
                  </a:solidFill>
                  <a:latin typeface="Arial" panose="020B0604020202020204" pitchFamily="34" charset="0"/>
                </a:rPr>
                <a:t>Control</a:t>
              </a:r>
            </a:p>
          </p:txBody>
        </p:sp>
        <p:sp>
          <p:nvSpPr>
            <p:cNvPr id="78867" name="Rectangle 19"/>
            <p:cNvSpPr>
              <a:spLocks noChangeArrowheads="1"/>
            </p:cNvSpPr>
            <p:nvPr/>
          </p:nvSpPr>
          <p:spPr bwMode="auto">
            <a:xfrm>
              <a:off x="6059092" y="3307556"/>
              <a:ext cx="68768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a:solidFill>
                    <a:srgbClr val="000000"/>
                  </a:solidFill>
                  <a:latin typeface="Arial" panose="020B0604020202020204" pitchFamily="34" charset="0"/>
                </a:rPr>
                <a:t>32 </a:t>
              </a:r>
              <a:r>
                <a:rPr kumimoji="1" lang="en-US" altLang="zh-TW" b="1">
                  <a:solidFill>
                    <a:srgbClr val="000000"/>
                  </a:solidFill>
                  <a:latin typeface="Arial" panose="020B0604020202020204" pitchFamily="34" charset="0"/>
                </a:rPr>
                <a:t>bits</a:t>
              </a:r>
            </a:p>
          </p:txBody>
        </p:sp>
        <p:sp>
          <p:nvSpPr>
            <p:cNvPr id="78868" name="Rectangle 20"/>
            <p:cNvSpPr>
              <a:spLocks noChangeArrowheads="1"/>
            </p:cNvSpPr>
            <p:nvPr/>
          </p:nvSpPr>
          <p:spPr bwMode="auto">
            <a:xfrm>
              <a:off x="3771843" y="2569877"/>
              <a:ext cx="68768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dirty="0">
                  <a:solidFill>
                    <a:srgbClr val="000000"/>
                  </a:solidFill>
                  <a:latin typeface="Arial" panose="020B0604020202020204" pitchFamily="34" charset="0"/>
                </a:rPr>
                <a:t>64 </a:t>
              </a:r>
              <a:r>
                <a:rPr kumimoji="1" lang="en-US" altLang="zh-TW" b="1" dirty="0">
                  <a:solidFill>
                    <a:srgbClr val="000000"/>
                  </a:solidFill>
                  <a:latin typeface="Arial" panose="020B0604020202020204" pitchFamily="34" charset="0"/>
                </a:rPr>
                <a:t>bits</a:t>
              </a:r>
            </a:p>
          </p:txBody>
        </p:sp>
        <p:sp>
          <p:nvSpPr>
            <p:cNvPr id="78869" name="Rectangle 21"/>
            <p:cNvSpPr>
              <a:spLocks noChangeArrowheads="1"/>
            </p:cNvSpPr>
            <p:nvPr/>
          </p:nvSpPr>
          <p:spPr bwMode="auto">
            <a:xfrm>
              <a:off x="3205163" y="4189185"/>
              <a:ext cx="68768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b="1" dirty="0">
                  <a:solidFill>
                    <a:srgbClr val="000000"/>
                  </a:solidFill>
                  <a:latin typeface="Arial" panose="020B0604020202020204" pitchFamily="34" charset="0"/>
                </a:rPr>
                <a:t>64 </a:t>
              </a:r>
              <a:r>
                <a:rPr kumimoji="1" lang="en-US" altLang="zh-TW" b="1" dirty="0">
                  <a:solidFill>
                    <a:srgbClr val="000000"/>
                  </a:solidFill>
                  <a:latin typeface="Arial" panose="020B0604020202020204" pitchFamily="34" charset="0"/>
                </a:rPr>
                <a:t>bits</a:t>
              </a:r>
            </a:p>
          </p:txBody>
        </p:sp>
        <p:sp>
          <p:nvSpPr>
            <p:cNvPr id="78870" name="Freeform 22"/>
            <p:cNvSpPr/>
            <p:nvPr/>
          </p:nvSpPr>
          <p:spPr bwMode="auto">
            <a:xfrm>
              <a:off x="6705600" y="3259931"/>
              <a:ext cx="538163" cy="801291"/>
            </a:xfrm>
            <a:custGeom>
              <a:avLst/>
              <a:gdLst>
                <a:gd name="T0" fmla="*/ 0 w 417"/>
                <a:gd name="T1" fmla="*/ 2147483647 h 673"/>
                <a:gd name="T2" fmla="*/ 2147483647 w 417"/>
                <a:gd name="T3" fmla="*/ 2147483647 h 673"/>
                <a:gd name="T4" fmla="*/ 2147483647 w 417"/>
                <a:gd name="T5" fmla="*/ 0 h 673"/>
                <a:gd name="T6" fmla="*/ 2147483647 w 417"/>
                <a:gd name="T7" fmla="*/ 0 h 673"/>
                <a:gd name="T8" fmla="*/ 0 60000 65536"/>
                <a:gd name="T9" fmla="*/ 0 60000 65536"/>
                <a:gd name="T10" fmla="*/ 0 60000 65536"/>
                <a:gd name="T11" fmla="*/ 0 60000 65536"/>
                <a:gd name="T12" fmla="*/ 0 w 417"/>
                <a:gd name="T13" fmla="*/ 0 h 673"/>
                <a:gd name="T14" fmla="*/ 417 w 417"/>
                <a:gd name="T15" fmla="*/ 673 h 673"/>
              </a:gdLst>
              <a:ahLst/>
              <a:cxnLst>
                <a:cxn ang="T8">
                  <a:pos x="T0" y="T1"/>
                </a:cxn>
                <a:cxn ang="T9">
                  <a:pos x="T2" y="T3"/>
                </a:cxn>
                <a:cxn ang="T10">
                  <a:pos x="T4" y="T5"/>
                </a:cxn>
                <a:cxn ang="T11">
                  <a:pos x="T6" y="T7"/>
                </a:cxn>
              </a:cxnLst>
              <a:rect l="T12" t="T13" r="T14" b="T15"/>
              <a:pathLst>
                <a:path w="417" h="673">
                  <a:moveTo>
                    <a:pt x="0" y="672"/>
                  </a:moveTo>
                  <a:lnTo>
                    <a:pt x="416" y="672"/>
                  </a:lnTo>
                  <a:lnTo>
                    <a:pt x="416" y="0"/>
                  </a:lnTo>
                  <a:lnTo>
                    <a:pt x="171"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1" name="Freeform 23"/>
            <p:cNvSpPr/>
            <p:nvPr/>
          </p:nvSpPr>
          <p:spPr bwMode="auto">
            <a:xfrm>
              <a:off x="5013722" y="2408635"/>
              <a:ext cx="552450" cy="1359694"/>
            </a:xfrm>
            <a:custGeom>
              <a:avLst/>
              <a:gdLst>
                <a:gd name="T0" fmla="*/ 2147483647 w 428"/>
                <a:gd name="T1" fmla="*/ 2147483647 h 1142"/>
                <a:gd name="T2" fmla="*/ 2147483647 w 428"/>
                <a:gd name="T3" fmla="*/ 0 h 1142"/>
                <a:gd name="T4" fmla="*/ 0 w 428"/>
                <a:gd name="T5" fmla="*/ 0 h 1142"/>
                <a:gd name="T6" fmla="*/ 0 w 428"/>
                <a:gd name="T7" fmla="*/ 0 h 1142"/>
                <a:gd name="T8" fmla="*/ 0 w 428"/>
                <a:gd name="T9" fmla="*/ 0 h 1142"/>
                <a:gd name="T10" fmla="*/ 0 60000 65536"/>
                <a:gd name="T11" fmla="*/ 0 60000 65536"/>
                <a:gd name="T12" fmla="*/ 0 60000 65536"/>
                <a:gd name="T13" fmla="*/ 0 60000 65536"/>
                <a:gd name="T14" fmla="*/ 0 60000 65536"/>
                <a:gd name="T15" fmla="*/ 0 w 428"/>
                <a:gd name="T16" fmla="*/ 0 h 1142"/>
                <a:gd name="T17" fmla="*/ 428 w 428"/>
                <a:gd name="T18" fmla="*/ 1142 h 1142"/>
              </a:gdLst>
              <a:ahLst/>
              <a:cxnLst>
                <a:cxn ang="T10">
                  <a:pos x="T0" y="T1"/>
                </a:cxn>
                <a:cxn ang="T11">
                  <a:pos x="T2" y="T3"/>
                </a:cxn>
                <a:cxn ang="T12">
                  <a:pos x="T4" y="T5"/>
                </a:cxn>
                <a:cxn ang="T13">
                  <a:pos x="T6" y="T7"/>
                </a:cxn>
                <a:cxn ang="T14">
                  <a:pos x="T8" y="T9"/>
                </a:cxn>
              </a:cxnLst>
              <a:rect l="T15" t="T16" r="T17" b="T18"/>
              <a:pathLst>
                <a:path w="428" h="1142">
                  <a:moveTo>
                    <a:pt x="427" y="1141"/>
                  </a:moveTo>
                  <a:lnTo>
                    <a:pt x="427"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2" name="Freeform 24"/>
            <p:cNvSpPr/>
            <p:nvPr/>
          </p:nvSpPr>
          <p:spPr bwMode="auto">
            <a:xfrm>
              <a:off x="3871912" y="3348038"/>
              <a:ext cx="1472804" cy="484585"/>
            </a:xfrm>
            <a:custGeom>
              <a:avLst/>
              <a:gdLst>
                <a:gd name="T0" fmla="*/ 2147483647 w 1142"/>
                <a:gd name="T1" fmla="*/ 2147483647 h 407"/>
                <a:gd name="T2" fmla="*/ 2147483647 w 1142"/>
                <a:gd name="T3" fmla="*/ 0 h 407"/>
                <a:gd name="T4" fmla="*/ 0 w 1142"/>
                <a:gd name="T5" fmla="*/ 0 h 407"/>
                <a:gd name="T6" fmla="*/ 0 60000 65536"/>
                <a:gd name="T7" fmla="*/ 0 60000 65536"/>
                <a:gd name="T8" fmla="*/ 0 60000 65536"/>
                <a:gd name="T9" fmla="*/ 0 w 1142"/>
                <a:gd name="T10" fmla="*/ 0 h 407"/>
                <a:gd name="T11" fmla="*/ 1142 w 1142"/>
                <a:gd name="T12" fmla="*/ 407 h 407"/>
              </a:gdLst>
              <a:ahLst/>
              <a:cxnLst>
                <a:cxn ang="T6">
                  <a:pos x="T0" y="T1"/>
                </a:cxn>
                <a:cxn ang="T7">
                  <a:pos x="T2" y="T3"/>
                </a:cxn>
                <a:cxn ang="T8">
                  <a:pos x="T4" y="T5"/>
                </a:cxn>
              </a:cxnLst>
              <a:rect l="T9" t="T10" r="T11" b="T12"/>
              <a:pathLst>
                <a:path w="1142" h="407">
                  <a:moveTo>
                    <a:pt x="1141" y="406"/>
                  </a:moveTo>
                  <a:lnTo>
                    <a:pt x="1141" y="0"/>
                  </a:ln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3" name="Freeform 25"/>
            <p:cNvSpPr/>
            <p:nvPr/>
          </p:nvSpPr>
          <p:spPr bwMode="auto">
            <a:xfrm>
              <a:off x="4331154" y="4071938"/>
              <a:ext cx="896541" cy="1191"/>
            </a:xfrm>
            <a:custGeom>
              <a:avLst/>
              <a:gdLst>
                <a:gd name="T0" fmla="*/ 2147483647 w 695"/>
                <a:gd name="T1" fmla="*/ 0 h 1"/>
                <a:gd name="T2" fmla="*/ 0 w 695"/>
                <a:gd name="T3" fmla="*/ 0 h 1"/>
                <a:gd name="T4" fmla="*/ 0 60000 65536"/>
                <a:gd name="T5" fmla="*/ 0 60000 65536"/>
                <a:gd name="T6" fmla="*/ 0 w 695"/>
                <a:gd name="T7" fmla="*/ 0 h 1"/>
                <a:gd name="T8" fmla="*/ 695 w 695"/>
                <a:gd name="T9" fmla="*/ 1 h 1"/>
              </a:gdLst>
              <a:ahLst/>
              <a:cxnLst>
                <a:cxn ang="T4">
                  <a:pos x="T0" y="T1"/>
                </a:cxn>
                <a:cxn ang="T5">
                  <a:pos x="T2" y="T3"/>
                </a:cxn>
              </a:cxnLst>
              <a:rect l="T6" t="T7" r="T8" b="T9"/>
              <a:pathLst>
                <a:path w="695" h="1">
                  <a:moveTo>
                    <a:pt x="694" y="0"/>
                  </a:moveTo>
                  <a:lnTo>
                    <a:pt x="0" y="0"/>
                  </a:lnTo>
                </a:path>
              </a:pathLst>
            </a:custGeom>
            <a:noFill/>
            <a:ln w="25400" cap="rnd">
              <a:solidFill>
                <a:schemeClr val="accent2"/>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4" name="Freeform 26"/>
            <p:cNvSpPr/>
            <p:nvPr/>
          </p:nvSpPr>
          <p:spPr bwMode="auto">
            <a:xfrm>
              <a:off x="2220517" y="2942035"/>
              <a:ext cx="1955006" cy="648890"/>
            </a:xfrm>
            <a:custGeom>
              <a:avLst/>
              <a:gdLst>
                <a:gd name="T0" fmla="*/ 0 w 1515"/>
                <a:gd name="T1" fmla="*/ 2147483647 h 545"/>
                <a:gd name="T2" fmla="*/ 2147483647 w 1515"/>
                <a:gd name="T3" fmla="*/ 2147483647 h 545"/>
                <a:gd name="T4" fmla="*/ 2147483647 w 1515"/>
                <a:gd name="T5" fmla="*/ 2147483647 h 545"/>
                <a:gd name="T6" fmla="*/ 2147483647 w 1515"/>
                <a:gd name="T7" fmla="*/ 2147483647 h 545"/>
                <a:gd name="T8" fmla="*/ 2147483647 w 1515"/>
                <a:gd name="T9" fmla="*/ 2147483647 h 545"/>
                <a:gd name="T10" fmla="*/ 2147483647 w 1515"/>
                <a:gd name="T11" fmla="*/ 2147483647 h 545"/>
                <a:gd name="T12" fmla="*/ 2147483647 w 1515"/>
                <a:gd name="T13" fmla="*/ 0 h 545"/>
                <a:gd name="T14" fmla="*/ 0 w 1515"/>
                <a:gd name="T15" fmla="*/ 2147483647 h 545"/>
                <a:gd name="T16" fmla="*/ 0 60000 65536"/>
                <a:gd name="T17" fmla="*/ 0 60000 65536"/>
                <a:gd name="T18" fmla="*/ 0 60000 65536"/>
                <a:gd name="T19" fmla="*/ 0 60000 65536"/>
                <a:gd name="T20" fmla="*/ 0 60000 65536"/>
                <a:gd name="T21" fmla="*/ 0 60000 65536"/>
                <a:gd name="T22" fmla="*/ 0 60000 65536"/>
                <a:gd name="T23" fmla="*/ 0 60000 65536"/>
                <a:gd name="T24" fmla="*/ 0 w 1515"/>
                <a:gd name="T25" fmla="*/ 0 h 545"/>
                <a:gd name="T26" fmla="*/ 1515 w 1515"/>
                <a:gd name="T27" fmla="*/ 545 h 5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15" h="545">
                  <a:moveTo>
                    <a:pt x="0" y="10"/>
                  </a:moveTo>
                  <a:lnTo>
                    <a:pt x="394" y="544"/>
                  </a:lnTo>
                  <a:lnTo>
                    <a:pt x="1130" y="544"/>
                  </a:lnTo>
                  <a:lnTo>
                    <a:pt x="1514" y="21"/>
                  </a:lnTo>
                  <a:lnTo>
                    <a:pt x="906" y="21"/>
                  </a:lnTo>
                  <a:lnTo>
                    <a:pt x="768" y="202"/>
                  </a:lnTo>
                  <a:lnTo>
                    <a:pt x="608" y="0"/>
                  </a:lnTo>
                  <a:lnTo>
                    <a:pt x="0" y="10"/>
                  </a:lnTo>
                </a:path>
              </a:pathLst>
            </a:custGeom>
            <a:noFill/>
            <a:ln w="2540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5" name="Freeform 27"/>
            <p:cNvSpPr/>
            <p:nvPr/>
          </p:nvSpPr>
          <p:spPr bwMode="auto">
            <a:xfrm>
              <a:off x="3198019" y="3620179"/>
              <a:ext cx="1191" cy="280988"/>
            </a:xfrm>
            <a:custGeom>
              <a:avLst/>
              <a:gdLst>
                <a:gd name="T0" fmla="*/ 0 w 1"/>
                <a:gd name="T1" fmla="*/ 0 h 236"/>
                <a:gd name="T2" fmla="*/ 0 w 1"/>
                <a:gd name="T3" fmla="*/ 2147483647 h 236"/>
                <a:gd name="T4" fmla="*/ 0 60000 65536"/>
                <a:gd name="T5" fmla="*/ 0 60000 65536"/>
                <a:gd name="T6" fmla="*/ 0 w 1"/>
                <a:gd name="T7" fmla="*/ 0 h 236"/>
                <a:gd name="T8" fmla="*/ 1 w 1"/>
                <a:gd name="T9" fmla="*/ 236 h 236"/>
              </a:gdLst>
              <a:ahLst/>
              <a:cxnLst>
                <a:cxn ang="T4">
                  <a:pos x="T0" y="T1"/>
                </a:cxn>
                <a:cxn ang="T5">
                  <a:pos x="T2" y="T3"/>
                </a:cxn>
              </a:cxnLst>
              <a:rect l="T6" t="T7" r="T8" b="T9"/>
              <a:pathLst>
                <a:path w="1" h="236">
                  <a:moveTo>
                    <a:pt x="0" y="0"/>
                  </a:moveTo>
                  <a:lnTo>
                    <a:pt x="0" y="235"/>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6" name="Freeform 28"/>
            <p:cNvSpPr/>
            <p:nvPr/>
          </p:nvSpPr>
          <p:spPr bwMode="auto">
            <a:xfrm>
              <a:off x="1643063" y="2599135"/>
              <a:ext cx="1556147" cy="1931194"/>
            </a:xfrm>
            <a:custGeom>
              <a:avLst/>
              <a:gdLst>
                <a:gd name="T0" fmla="*/ 2147483647 w 1206"/>
                <a:gd name="T1" fmla="*/ 2147483647 h 1622"/>
                <a:gd name="T2" fmla="*/ 2147483647 w 1206"/>
                <a:gd name="T3" fmla="*/ 2147483647 h 1622"/>
                <a:gd name="T4" fmla="*/ 0 w 1206"/>
                <a:gd name="T5" fmla="*/ 2147483647 h 1622"/>
                <a:gd name="T6" fmla="*/ 0 w 1206"/>
                <a:gd name="T7" fmla="*/ 0 h 1622"/>
                <a:gd name="T8" fmla="*/ 2147483647 w 1206"/>
                <a:gd name="T9" fmla="*/ 0 h 1622"/>
                <a:gd name="T10" fmla="*/ 2147483647 w 1206"/>
                <a:gd name="T11" fmla="*/ 2147483647 h 1622"/>
                <a:gd name="T12" fmla="*/ 0 60000 65536"/>
                <a:gd name="T13" fmla="*/ 0 60000 65536"/>
                <a:gd name="T14" fmla="*/ 0 60000 65536"/>
                <a:gd name="T15" fmla="*/ 0 60000 65536"/>
                <a:gd name="T16" fmla="*/ 0 60000 65536"/>
                <a:gd name="T17" fmla="*/ 0 60000 65536"/>
                <a:gd name="T18" fmla="*/ 0 w 1206"/>
                <a:gd name="T19" fmla="*/ 0 h 1622"/>
                <a:gd name="T20" fmla="*/ 1206 w 1206"/>
                <a:gd name="T21" fmla="*/ 1622 h 1622"/>
              </a:gdLst>
              <a:ahLst/>
              <a:cxnLst>
                <a:cxn ang="T12">
                  <a:pos x="T0" y="T1"/>
                </a:cxn>
                <a:cxn ang="T13">
                  <a:pos x="T2" y="T3"/>
                </a:cxn>
                <a:cxn ang="T14">
                  <a:pos x="T4" y="T5"/>
                </a:cxn>
                <a:cxn ang="T15">
                  <a:pos x="T6" y="T7"/>
                </a:cxn>
                <a:cxn ang="T16">
                  <a:pos x="T8" y="T9"/>
                </a:cxn>
                <a:cxn ang="T17">
                  <a:pos x="T10" y="T11"/>
                </a:cxn>
              </a:cxnLst>
              <a:rect l="T18" t="T19" r="T20" b="T21"/>
              <a:pathLst>
                <a:path w="1206" h="1622">
                  <a:moveTo>
                    <a:pt x="1205" y="1323"/>
                  </a:moveTo>
                  <a:lnTo>
                    <a:pt x="1205" y="1621"/>
                  </a:lnTo>
                  <a:lnTo>
                    <a:pt x="0" y="1621"/>
                  </a:lnTo>
                  <a:lnTo>
                    <a:pt x="0" y="0"/>
                  </a:lnTo>
                  <a:lnTo>
                    <a:pt x="779" y="0"/>
                  </a:lnTo>
                  <a:lnTo>
                    <a:pt x="779" y="288"/>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7" name="Freeform 29"/>
            <p:cNvSpPr/>
            <p:nvPr/>
          </p:nvSpPr>
          <p:spPr bwMode="auto">
            <a:xfrm>
              <a:off x="3706417" y="2509837"/>
              <a:ext cx="2381" cy="433388"/>
            </a:xfrm>
            <a:custGeom>
              <a:avLst/>
              <a:gdLst>
                <a:gd name="T0" fmla="*/ 0 w 1"/>
                <a:gd name="T1" fmla="*/ 0 h 364"/>
                <a:gd name="T2" fmla="*/ 0 w 1"/>
                <a:gd name="T3" fmla="*/ 2147483647 h 364"/>
                <a:gd name="T4" fmla="*/ 0 60000 65536"/>
                <a:gd name="T5" fmla="*/ 0 60000 65536"/>
                <a:gd name="T6" fmla="*/ 0 w 1"/>
                <a:gd name="T7" fmla="*/ 0 h 364"/>
                <a:gd name="T8" fmla="*/ 1 w 1"/>
                <a:gd name="T9" fmla="*/ 364 h 364"/>
              </a:gdLst>
              <a:ahLst/>
              <a:cxnLst>
                <a:cxn ang="T4">
                  <a:pos x="T0" y="T1"/>
                </a:cxn>
                <a:cxn ang="T5">
                  <a:pos x="T2" y="T3"/>
                </a:cxn>
              </a:cxnLst>
              <a:rect l="T6" t="T7" r="T8" b="T9"/>
              <a:pathLst>
                <a:path w="1" h="364">
                  <a:moveTo>
                    <a:pt x="0" y="0"/>
                  </a:moveTo>
                  <a:lnTo>
                    <a:pt x="0" y="363"/>
                  </a:lnTo>
                </a:path>
              </a:pathLst>
            </a:custGeom>
            <a:noFill/>
            <a:ln w="5715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sp>
          <p:nvSpPr>
            <p:cNvPr id="78878" name="Freeform 30"/>
            <p:cNvSpPr/>
            <p:nvPr/>
          </p:nvSpPr>
          <p:spPr bwMode="auto">
            <a:xfrm>
              <a:off x="3201591" y="4361260"/>
              <a:ext cx="2818209" cy="158353"/>
            </a:xfrm>
            <a:custGeom>
              <a:avLst/>
              <a:gdLst>
                <a:gd name="T0" fmla="*/ 0 w 2185"/>
                <a:gd name="T1" fmla="*/ 2147483647 h 133"/>
                <a:gd name="T2" fmla="*/ 2147483647 w 2185"/>
                <a:gd name="T3" fmla="*/ 2147483647 h 133"/>
                <a:gd name="T4" fmla="*/ 2147483647 w 2185"/>
                <a:gd name="T5" fmla="*/ 0 h 133"/>
                <a:gd name="T6" fmla="*/ 0 60000 65536"/>
                <a:gd name="T7" fmla="*/ 0 60000 65536"/>
                <a:gd name="T8" fmla="*/ 0 60000 65536"/>
                <a:gd name="T9" fmla="*/ 0 w 2185"/>
                <a:gd name="T10" fmla="*/ 0 h 133"/>
                <a:gd name="T11" fmla="*/ 2185 w 2185"/>
                <a:gd name="T12" fmla="*/ 133 h 133"/>
              </a:gdLst>
              <a:ahLst/>
              <a:cxnLst>
                <a:cxn ang="T6">
                  <a:pos x="T0" y="T1"/>
                </a:cxn>
                <a:cxn ang="T7">
                  <a:pos x="T2" y="T3"/>
                </a:cxn>
                <a:cxn ang="T8">
                  <a:pos x="T4" y="T5"/>
                </a:cxn>
              </a:cxnLst>
              <a:rect l="T9" t="T10" r="T11" b="T12"/>
              <a:pathLst>
                <a:path w="2185" h="133">
                  <a:moveTo>
                    <a:pt x="0" y="132"/>
                  </a:moveTo>
                  <a:lnTo>
                    <a:pt x="2184" y="132"/>
                  </a:lnTo>
                  <a:lnTo>
                    <a:pt x="2184"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a:p>
          </p:txBody>
        </p:sp>
      </p:grpSp>
      <p:sp>
        <p:nvSpPr>
          <p:cNvPr id="78879" name="Rectangle 31"/>
          <p:cNvSpPr>
            <a:spLocks noGrp="1" noChangeArrowheads="1"/>
          </p:cNvSpPr>
          <p:nvPr>
            <p:ph type="title"/>
          </p:nvPr>
        </p:nvSpPr>
        <p:spPr>
          <a:xfrm>
            <a:off x="1528021" y="223707"/>
            <a:ext cx="8420100" cy="514524"/>
          </a:xfrm>
        </p:spPr>
        <p:txBody>
          <a:bodyPr/>
          <a:lstStyle/>
          <a:p>
            <a:r>
              <a:rPr lang="en-US" altLang="zh-TW" dirty="0"/>
              <a:t>Divide Hardware - Version 1 (1)</a:t>
            </a:r>
          </a:p>
        </p:txBody>
      </p:sp>
      <p:sp>
        <p:nvSpPr>
          <p:cNvPr id="78880" name="Rectangle 32"/>
          <p:cNvSpPr>
            <a:spLocks noGrp="1" noChangeArrowheads="1"/>
          </p:cNvSpPr>
          <p:nvPr>
            <p:ph type="body" idx="1"/>
          </p:nvPr>
        </p:nvSpPr>
        <p:spPr>
          <a:xfrm>
            <a:off x="1588317" y="1125538"/>
            <a:ext cx="9994084" cy="1301677"/>
          </a:xfrm>
        </p:spPr>
        <p:txBody>
          <a:bodyPr/>
          <a:lstStyle/>
          <a:p>
            <a:r>
              <a:rPr lang="zh-TW" altLang="en-US" sz="2667" dirty="0"/>
              <a:t>64-</a:t>
            </a:r>
            <a:r>
              <a:rPr lang="en-US" altLang="zh-TW" sz="2667" dirty="0"/>
              <a:t>bit Divisor register (initialized with 32-bit divisor in left half), 64-bit ALU, 64-bit Remainder register (initialized with 64-bit dividend), 32-bit Quotient register</a:t>
            </a:r>
          </a:p>
        </p:txBody>
      </p:sp>
      <p:sp>
        <p:nvSpPr>
          <p:cNvPr id="34"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670957" y="1163271"/>
            <a:ext cx="5302280" cy="4932728"/>
            <a:chOff x="3536157" y="95250"/>
            <a:chExt cx="4643437" cy="4967288"/>
          </a:xfrm>
        </p:grpSpPr>
        <p:grpSp>
          <p:nvGrpSpPr>
            <p:cNvPr id="2" name="Group 1041"/>
            <p:cNvGrpSpPr/>
            <p:nvPr/>
          </p:nvGrpSpPr>
          <p:grpSpPr bwMode="auto">
            <a:xfrm>
              <a:off x="3771901" y="3420674"/>
              <a:ext cx="3212306" cy="283369"/>
              <a:chOff x="1761" y="2873"/>
              <a:chExt cx="2491" cy="238"/>
            </a:xfrm>
            <a:solidFill>
              <a:srgbClr val="92D050"/>
            </a:solidFill>
          </p:grpSpPr>
          <p:sp>
            <p:nvSpPr>
              <p:cNvPr id="75812" name="Rectangle 1043"/>
              <p:cNvSpPr>
                <a:spLocks noChangeArrowheads="1"/>
              </p:cNvSpPr>
              <p:nvPr/>
            </p:nvSpPr>
            <p:spPr bwMode="auto">
              <a:xfrm>
                <a:off x="1761" y="2874"/>
                <a:ext cx="2491" cy="237"/>
              </a:xfrm>
              <a:prstGeom prst="rect">
                <a:avLst/>
              </a:prstGeom>
              <a:grpFill/>
              <a:ln w="25400">
                <a:noFill/>
                <a:miter lim="800000"/>
              </a:ln>
            </p:spPr>
            <p:txBody>
              <a:bodyPr wrap="none" anchor="ctr"/>
              <a:lstStyle/>
              <a:p>
                <a:pPr>
                  <a:defRPr/>
                </a:pPr>
                <a:endParaRPr lang="zh-TW" altLang="en-US" sz="1200"/>
              </a:p>
            </p:txBody>
          </p:sp>
          <p:sp>
            <p:nvSpPr>
              <p:cNvPr id="75811" name="Rectangle 1042"/>
              <p:cNvSpPr>
                <a:spLocks noChangeArrowheads="1"/>
              </p:cNvSpPr>
              <p:nvPr/>
            </p:nvSpPr>
            <p:spPr bwMode="auto">
              <a:xfrm>
                <a:off x="1785" y="2873"/>
                <a:ext cx="1778" cy="235"/>
              </a:xfrm>
              <a:prstGeom prst="rect">
                <a:avLst/>
              </a:prstGeom>
              <a:noFill/>
              <a:ln w="9525">
                <a:noFill/>
                <a:miter lim="800000"/>
              </a:ln>
            </p:spPr>
            <p:txBody>
              <a:bodyPr wrap="none" lIns="92075" tIns="46039" rIns="92075" bIns="46039">
                <a:spAutoFit/>
              </a:bodyPr>
              <a:lstStyle/>
              <a:p>
                <a:pPr>
                  <a:defRPr/>
                </a:pPr>
                <a:r>
                  <a:rPr kumimoji="1" lang="zh-TW" altLang="en-US" sz="1200" b="1" dirty="0">
                    <a:latin typeface="Arial" panose="020B0604020202020204" pitchFamily="34" charset="0"/>
                  </a:rPr>
                  <a:t>3. </a:t>
                </a:r>
                <a:r>
                  <a:rPr kumimoji="1" lang="en-US" altLang="zh-TW" sz="1200" b="1" dirty="0">
                    <a:latin typeface="Arial" panose="020B0604020202020204" pitchFamily="34" charset="0"/>
                  </a:rPr>
                  <a:t>Shift Divisor register right 1 bit</a:t>
                </a:r>
              </a:p>
            </p:txBody>
          </p:sp>
        </p:grpSp>
        <p:sp>
          <p:nvSpPr>
            <p:cNvPr id="79875" name="AutoShape 1052"/>
            <p:cNvSpPr>
              <a:spLocks noChangeArrowheads="1"/>
            </p:cNvSpPr>
            <p:nvPr/>
          </p:nvSpPr>
          <p:spPr bwMode="auto">
            <a:xfrm>
              <a:off x="5124450" y="1528762"/>
              <a:ext cx="1444229" cy="490538"/>
            </a:xfrm>
            <a:prstGeom prst="diamond">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p>
              <a:endParaRPr lang="zh-TW" altLang="en-US" sz="1200"/>
            </a:p>
          </p:txBody>
        </p:sp>
        <p:sp>
          <p:nvSpPr>
            <p:cNvPr id="79876" name="Rectangle 1061"/>
            <p:cNvSpPr>
              <a:spLocks noChangeArrowheads="1"/>
            </p:cNvSpPr>
            <p:nvPr/>
          </p:nvSpPr>
          <p:spPr bwMode="auto">
            <a:xfrm>
              <a:off x="5354241" y="3996929"/>
              <a:ext cx="1455761"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200" b="1">
                  <a:latin typeface="Arial" panose="020B0604020202020204" pitchFamily="34" charset="0"/>
                </a:rPr>
                <a:t> </a:t>
              </a:r>
              <a:r>
                <a:rPr kumimoji="1" lang="en-US" altLang="zh-TW" sz="1200" b="1">
                  <a:latin typeface="Arial" panose="020B0604020202020204" pitchFamily="34" charset="0"/>
                </a:rPr>
                <a:t>No: &lt; 33 repetitions</a:t>
              </a:r>
            </a:p>
          </p:txBody>
        </p:sp>
        <p:sp>
          <p:nvSpPr>
            <p:cNvPr id="79877" name="Rectangle 1027"/>
            <p:cNvSpPr>
              <a:spLocks noChangeArrowheads="1"/>
            </p:cNvSpPr>
            <p:nvPr/>
          </p:nvSpPr>
          <p:spPr bwMode="auto">
            <a:xfrm>
              <a:off x="5301853" y="2237281"/>
              <a:ext cx="2727723" cy="836819"/>
            </a:xfrm>
            <a:prstGeom prst="rect">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kumimoji="1" lang="zh-TW" altLang="en-US" sz="1200" b="1">
                  <a:latin typeface="Arial" panose="020B0604020202020204" pitchFamily="34" charset="0"/>
                </a:rPr>
                <a:t>2</a:t>
              </a:r>
              <a:r>
                <a:rPr kumimoji="1" lang="en-US" altLang="zh-TW" sz="1200" b="1">
                  <a:latin typeface="Arial" panose="020B0604020202020204" pitchFamily="34" charset="0"/>
                </a:rPr>
                <a:t>b. Restore original value by adding Divisor to Remainder, place sum in Remainder, shift Quotient to the left, setting new least significant bit to 0</a:t>
              </a:r>
              <a:endParaRPr lang="zh-TW" altLang="en-US" sz="1200"/>
            </a:p>
          </p:txBody>
        </p:sp>
        <p:sp>
          <p:nvSpPr>
            <p:cNvPr id="79880" name="Rectangle 1030"/>
            <p:cNvSpPr>
              <a:spLocks noChangeArrowheads="1"/>
            </p:cNvSpPr>
            <p:nvPr/>
          </p:nvSpPr>
          <p:spPr bwMode="auto">
            <a:xfrm>
              <a:off x="5334000" y="833438"/>
              <a:ext cx="2733675"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200"/>
            </a:p>
          </p:txBody>
        </p:sp>
        <p:sp>
          <p:nvSpPr>
            <p:cNvPr id="79881" name="Rectangle 1032"/>
            <p:cNvSpPr>
              <a:spLocks noChangeArrowheads="1"/>
            </p:cNvSpPr>
            <p:nvPr/>
          </p:nvSpPr>
          <p:spPr bwMode="auto">
            <a:xfrm>
              <a:off x="5457582" y="1548242"/>
              <a:ext cx="857734" cy="428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lnSpc>
                  <a:spcPct val="90000"/>
                </a:lnSpc>
              </a:pPr>
              <a:r>
                <a:rPr kumimoji="1" lang="en-US" altLang="zh-TW" sz="1200" b="1" dirty="0">
                  <a:latin typeface="Arial" panose="020B0604020202020204" pitchFamily="34" charset="0"/>
                </a:rPr>
                <a:t>Test </a:t>
              </a:r>
              <a:br>
                <a:rPr kumimoji="1" lang="en-US" altLang="zh-TW" sz="1200" b="1" dirty="0">
                  <a:latin typeface="Arial" panose="020B0604020202020204" pitchFamily="34" charset="0"/>
                </a:rPr>
              </a:br>
              <a:r>
                <a:rPr kumimoji="1" lang="en-US" altLang="zh-TW" sz="1200" b="1" dirty="0">
                  <a:latin typeface="Arial" panose="020B0604020202020204" pitchFamily="34" charset="0"/>
                </a:rPr>
                <a:t>Remainder</a:t>
              </a:r>
            </a:p>
          </p:txBody>
        </p:sp>
        <p:sp>
          <p:nvSpPr>
            <p:cNvPr id="79882" name="Rectangle 1033"/>
            <p:cNvSpPr>
              <a:spLocks noChangeArrowheads="1"/>
            </p:cNvSpPr>
            <p:nvPr/>
          </p:nvSpPr>
          <p:spPr bwMode="auto">
            <a:xfrm>
              <a:off x="6574631" y="1468041"/>
              <a:ext cx="1086556"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a:latin typeface="Arial" panose="020B0604020202020204" pitchFamily="34" charset="0"/>
                </a:rPr>
                <a:t>Remainder &lt; 0</a:t>
              </a:r>
            </a:p>
          </p:txBody>
        </p:sp>
        <p:sp>
          <p:nvSpPr>
            <p:cNvPr id="79883" name="Rectangle 1034"/>
            <p:cNvSpPr>
              <a:spLocks noChangeArrowheads="1"/>
            </p:cNvSpPr>
            <p:nvPr/>
          </p:nvSpPr>
          <p:spPr bwMode="auto">
            <a:xfrm>
              <a:off x="3769519" y="1484711"/>
              <a:ext cx="1082345"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a:latin typeface="Arial" panose="020B0604020202020204" pitchFamily="34" charset="0"/>
                </a:rPr>
                <a:t>Remainder </a:t>
              </a:r>
              <a:r>
                <a:rPr kumimoji="1" lang="en-US" altLang="zh-TW" sz="1200" b="1">
                  <a:latin typeface="Arial" panose="020B0604020202020204" pitchFamily="34" charset="0"/>
                  <a:sym typeface="Symbol" panose="05050102010706020507" pitchFamily="18" charset="2"/>
                </a:rPr>
                <a:t> </a:t>
              </a:r>
              <a:r>
                <a:rPr kumimoji="1" lang="en-US" altLang="zh-TW" sz="1200" b="1">
                  <a:latin typeface="Arial" panose="020B0604020202020204" pitchFamily="34" charset="0"/>
                </a:rPr>
                <a:t>0</a:t>
              </a:r>
            </a:p>
          </p:txBody>
        </p:sp>
        <p:sp>
          <p:nvSpPr>
            <p:cNvPr id="79884" name="Rectangle 1036"/>
            <p:cNvSpPr>
              <a:spLocks noChangeArrowheads="1"/>
            </p:cNvSpPr>
            <p:nvPr/>
          </p:nvSpPr>
          <p:spPr bwMode="auto">
            <a:xfrm>
              <a:off x="4714875" y="641748"/>
              <a:ext cx="2318717" cy="65150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200" b="1">
                  <a:latin typeface="Arial" panose="020B0604020202020204" pitchFamily="34" charset="0"/>
                </a:rPr>
                <a:t>1. </a:t>
              </a:r>
              <a:r>
                <a:rPr kumimoji="1" lang="en-US" altLang="zh-TW" sz="1200" b="1">
                  <a:latin typeface="Arial" panose="020B0604020202020204" pitchFamily="34" charset="0"/>
                </a:rPr>
                <a:t>Subtract Divisor register from</a:t>
              </a:r>
            </a:p>
            <a:p>
              <a:r>
                <a:rPr kumimoji="1" lang="en-US" altLang="zh-TW" sz="1200" b="1">
                  <a:latin typeface="Arial" panose="020B0604020202020204" pitchFamily="34" charset="0"/>
                </a:rPr>
                <a:t>Remainder register, and place the</a:t>
              </a:r>
            </a:p>
            <a:p>
              <a:r>
                <a:rPr kumimoji="1" lang="en-US" altLang="zh-TW" sz="1200" b="1">
                  <a:latin typeface="Arial" panose="020B0604020202020204" pitchFamily="34" charset="0"/>
                </a:rPr>
                <a:t>result in Remainder register</a:t>
              </a:r>
            </a:p>
          </p:txBody>
        </p:sp>
        <p:sp>
          <p:nvSpPr>
            <p:cNvPr id="79885" name="Rectangle 1037"/>
            <p:cNvSpPr>
              <a:spLocks noChangeArrowheads="1"/>
            </p:cNvSpPr>
            <p:nvPr/>
          </p:nvSpPr>
          <p:spPr bwMode="auto">
            <a:xfrm>
              <a:off x="4736307" y="639366"/>
              <a:ext cx="3261122" cy="63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200"/>
            </a:p>
          </p:txBody>
        </p:sp>
        <p:sp>
          <p:nvSpPr>
            <p:cNvPr id="79886" name="Rectangle 1040"/>
            <p:cNvSpPr>
              <a:spLocks noChangeArrowheads="1"/>
            </p:cNvSpPr>
            <p:nvPr/>
          </p:nvSpPr>
          <p:spPr bwMode="auto">
            <a:xfrm>
              <a:off x="3536157" y="2317759"/>
              <a:ext cx="1640681" cy="650859"/>
            </a:xfrm>
            <a:prstGeom prst="rect">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r>
                <a:rPr kumimoji="1" lang="zh-TW" altLang="en-US" sz="1200" b="1" dirty="0">
                  <a:latin typeface="Arial" panose="020B0604020202020204" pitchFamily="34" charset="0"/>
                </a:rPr>
                <a:t>2</a:t>
              </a:r>
              <a:r>
                <a:rPr kumimoji="1" lang="en-US" altLang="zh-TW" sz="1200" b="1" dirty="0">
                  <a:latin typeface="Arial" panose="020B0604020202020204" pitchFamily="34" charset="0"/>
                </a:rPr>
                <a:t>a. Shift Quotient register to left, setting new rightmost bit to 1</a:t>
              </a:r>
              <a:endParaRPr lang="zh-TW" altLang="en-US" sz="1200" dirty="0"/>
            </a:p>
          </p:txBody>
        </p:sp>
        <p:grpSp>
          <p:nvGrpSpPr>
            <p:cNvPr id="3" name="Group 1045"/>
            <p:cNvGrpSpPr/>
            <p:nvPr/>
          </p:nvGrpSpPr>
          <p:grpSpPr bwMode="auto">
            <a:xfrm>
              <a:off x="4146948" y="4738688"/>
              <a:ext cx="816769" cy="323850"/>
              <a:chOff x="2550" y="3980"/>
              <a:chExt cx="634" cy="272"/>
            </a:xfrm>
            <a:solidFill>
              <a:srgbClr val="92D050"/>
            </a:solidFill>
          </p:grpSpPr>
          <p:sp>
            <p:nvSpPr>
              <p:cNvPr id="75809" name="AutoShape 1046"/>
              <p:cNvSpPr>
                <a:spLocks noChangeArrowheads="1"/>
              </p:cNvSpPr>
              <p:nvPr/>
            </p:nvSpPr>
            <p:spPr bwMode="auto">
              <a:xfrm>
                <a:off x="2550" y="3980"/>
                <a:ext cx="634" cy="272"/>
              </a:xfrm>
              <a:prstGeom prst="roundRect">
                <a:avLst>
                  <a:gd name="adj" fmla="val 46292"/>
                </a:avLst>
              </a:prstGeom>
              <a:grpFill/>
              <a:ln w="25400">
                <a:noFill/>
                <a:round/>
              </a:ln>
            </p:spPr>
            <p:txBody>
              <a:bodyPr wrap="none" anchor="ctr"/>
              <a:lstStyle/>
              <a:p>
                <a:pPr>
                  <a:defRPr/>
                </a:pPr>
                <a:endParaRPr lang="zh-TW" altLang="en-US" sz="1200"/>
              </a:p>
            </p:txBody>
          </p:sp>
          <p:sp>
            <p:nvSpPr>
              <p:cNvPr id="75810" name="Rectangle 1047"/>
              <p:cNvSpPr>
                <a:spLocks noChangeArrowheads="1"/>
              </p:cNvSpPr>
              <p:nvPr/>
            </p:nvSpPr>
            <p:spPr bwMode="auto">
              <a:xfrm>
                <a:off x="2672" y="4007"/>
                <a:ext cx="388" cy="235"/>
              </a:xfrm>
              <a:prstGeom prst="rect">
                <a:avLst/>
              </a:prstGeom>
              <a:noFill/>
              <a:ln w="9525">
                <a:noFill/>
                <a:miter lim="800000"/>
              </a:ln>
            </p:spPr>
            <p:txBody>
              <a:bodyPr wrap="none" lIns="92075" tIns="46039" rIns="92075" bIns="46039">
                <a:spAutoFit/>
              </a:bodyPr>
              <a:lstStyle/>
              <a:p>
                <a:pPr>
                  <a:defRPr/>
                </a:pPr>
                <a:r>
                  <a:rPr kumimoji="1" lang="en-US" altLang="zh-TW" sz="1200" b="1" dirty="0">
                    <a:latin typeface="Arial" panose="020B0604020202020204" pitchFamily="34" charset="0"/>
                  </a:rPr>
                  <a:t>Done</a:t>
                </a:r>
              </a:p>
            </p:txBody>
          </p:sp>
        </p:grpSp>
        <p:sp>
          <p:nvSpPr>
            <p:cNvPr id="79888" name="Rectangle 1048"/>
            <p:cNvSpPr>
              <a:spLocks noChangeArrowheads="1"/>
            </p:cNvSpPr>
            <p:nvPr/>
          </p:nvSpPr>
          <p:spPr bwMode="auto">
            <a:xfrm>
              <a:off x="5753101" y="4200525"/>
              <a:ext cx="640556" cy="27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TW" altLang="en-US" sz="1200"/>
            </a:p>
          </p:txBody>
        </p:sp>
        <p:sp>
          <p:nvSpPr>
            <p:cNvPr id="79889" name="Rectangle 1049"/>
            <p:cNvSpPr>
              <a:spLocks noChangeArrowheads="1"/>
            </p:cNvSpPr>
            <p:nvPr/>
          </p:nvSpPr>
          <p:spPr bwMode="auto">
            <a:xfrm>
              <a:off x="4827985" y="4468415"/>
              <a:ext cx="1388377"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zh-TW" altLang="en-US" sz="1200" b="1">
                  <a:latin typeface="Arial" panose="020B0604020202020204" pitchFamily="34" charset="0"/>
                </a:rPr>
                <a:t> </a:t>
              </a:r>
              <a:r>
                <a:rPr kumimoji="1" lang="en-US" altLang="zh-TW" sz="1200" b="1">
                  <a:latin typeface="Arial" panose="020B0604020202020204" pitchFamily="34" charset="0"/>
                </a:rPr>
                <a:t>Yes: 33 repetitions</a:t>
              </a:r>
            </a:p>
          </p:txBody>
        </p:sp>
        <p:sp>
          <p:nvSpPr>
            <p:cNvPr id="79890" name="AutoShape 1050"/>
            <p:cNvSpPr>
              <a:spLocks noChangeArrowheads="1"/>
            </p:cNvSpPr>
            <p:nvPr/>
          </p:nvSpPr>
          <p:spPr bwMode="auto">
            <a:xfrm>
              <a:off x="4799411" y="95250"/>
              <a:ext cx="2359795" cy="295336"/>
            </a:xfrm>
            <a:prstGeom prst="roundRect">
              <a:avLst>
                <a:gd name="adj" fmla="val 43597"/>
              </a:avLst>
            </a:prstGeom>
            <a:solidFill>
              <a:srgbClr val="92D050"/>
            </a:solidFill>
            <a:ln>
              <a:noFill/>
            </a:ln>
            <a:extLst>
              <a:ext uri="{91240B29-F687-4F45-9708-019B960494DF}">
                <a14:hiddenLine xmlns:a14="http://schemas.microsoft.com/office/drawing/2010/main" w="25400">
                  <a:solidFill>
                    <a:srgbClr val="000000"/>
                  </a:solidFill>
                  <a:round/>
                </a14:hiddenLine>
              </a:ext>
            </a:extLst>
          </p:spPr>
          <p:txBody>
            <a:bodyPr wrap="none" anchor="ctr"/>
            <a:lstStyle/>
            <a:p>
              <a:endParaRPr lang="zh-TW" altLang="en-US" sz="1200"/>
            </a:p>
          </p:txBody>
        </p:sp>
        <p:sp>
          <p:nvSpPr>
            <p:cNvPr id="79891" name="Rectangle 1051"/>
            <p:cNvSpPr>
              <a:spLocks noChangeArrowheads="1"/>
            </p:cNvSpPr>
            <p:nvPr/>
          </p:nvSpPr>
          <p:spPr bwMode="auto">
            <a:xfrm>
              <a:off x="4757739" y="107156"/>
              <a:ext cx="2401936" cy="2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r>
                <a:rPr kumimoji="1" lang="en-US" altLang="zh-TW" sz="1200" b="1" dirty="0">
                  <a:latin typeface="Arial" panose="020B0604020202020204" pitchFamily="34" charset="0"/>
                </a:rPr>
                <a:t>Start: Place Dividend in Remainder</a:t>
              </a:r>
            </a:p>
          </p:txBody>
        </p:sp>
        <p:sp>
          <p:nvSpPr>
            <p:cNvPr id="79893" name="Freeform 1054"/>
            <p:cNvSpPr/>
            <p:nvPr/>
          </p:nvSpPr>
          <p:spPr bwMode="auto">
            <a:xfrm>
              <a:off x="6553200" y="1775223"/>
              <a:ext cx="577454" cy="297656"/>
            </a:xfrm>
            <a:custGeom>
              <a:avLst/>
              <a:gdLst>
                <a:gd name="T0" fmla="*/ 0 w 445"/>
                <a:gd name="T1" fmla="*/ 0 h 289"/>
                <a:gd name="T2" fmla="*/ 2147483647 w 445"/>
                <a:gd name="T3" fmla="*/ 0 h 289"/>
                <a:gd name="T4" fmla="*/ 2147483647 w 445"/>
                <a:gd name="T5" fmla="*/ 2147483647 h 289"/>
                <a:gd name="T6" fmla="*/ 0 60000 65536"/>
                <a:gd name="T7" fmla="*/ 0 60000 65536"/>
                <a:gd name="T8" fmla="*/ 0 60000 65536"/>
                <a:gd name="T9" fmla="*/ 0 w 445"/>
                <a:gd name="T10" fmla="*/ 0 h 289"/>
                <a:gd name="T11" fmla="*/ 445 w 445"/>
                <a:gd name="T12" fmla="*/ 289 h 289"/>
              </a:gdLst>
              <a:ahLst/>
              <a:cxnLst>
                <a:cxn ang="T6">
                  <a:pos x="T0" y="T1"/>
                </a:cxn>
                <a:cxn ang="T7">
                  <a:pos x="T2" y="T3"/>
                </a:cxn>
                <a:cxn ang="T8">
                  <a:pos x="T4" y="T5"/>
                </a:cxn>
              </a:cxnLst>
              <a:rect l="T9" t="T10" r="T11" b="T12"/>
              <a:pathLst>
                <a:path w="445" h="289">
                  <a:moveTo>
                    <a:pt x="0" y="0"/>
                  </a:moveTo>
                  <a:lnTo>
                    <a:pt x="444" y="0"/>
                  </a:lnTo>
                  <a:lnTo>
                    <a:pt x="444" y="288"/>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79894" name="Freeform 1055"/>
            <p:cNvSpPr/>
            <p:nvPr/>
          </p:nvSpPr>
          <p:spPr bwMode="auto">
            <a:xfrm>
              <a:off x="4144567" y="1790700"/>
              <a:ext cx="1001315" cy="410766"/>
            </a:xfrm>
            <a:custGeom>
              <a:avLst/>
              <a:gdLst>
                <a:gd name="T0" fmla="*/ 2147483647 w 1429"/>
                <a:gd name="T1" fmla="*/ 0 h 301"/>
                <a:gd name="T2" fmla="*/ 0 w 1429"/>
                <a:gd name="T3" fmla="*/ 0 h 301"/>
                <a:gd name="T4" fmla="*/ 0 w 1429"/>
                <a:gd name="T5" fmla="*/ 2147483647 h 301"/>
                <a:gd name="T6" fmla="*/ 0 60000 65536"/>
                <a:gd name="T7" fmla="*/ 0 60000 65536"/>
                <a:gd name="T8" fmla="*/ 0 60000 65536"/>
                <a:gd name="T9" fmla="*/ 0 w 1429"/>
                <a:gd name="T10" fmla="*/ 0 h 301"/>
                <a:gd name="T11" fmla="*/ 1429 w 1429"/>
                <a:gd name="T12" fmla="*/ 301 h 301"/>
              </a:gdLst>
              <a:ahLst/>
              <a:cxnLst>
                <a:cxn ang="T6">
                  <a:pos x="T0" y="T1"/>
                </a:cxn>
                <a:cxn ang="T7">
                  <a:pos x="T2" y="T3"/>
                </a:cxn>
                <a:cxn ang="T8">
                  <a:pos x="T4" y="T5"/>
                </a:cxn>
              </a:cxnLst>
              <a:rect l="T9" t="T10" r="T11" b="T12"/>
              <a:pathLst>
                <a:path w="1429" h="301">
                  <a:moveTo>
                    <a:pt x="1428" y="0"/>
                  </a:moveTo>
                  <a:lnTo>
                    <a:pt x="0" y="0"/>
                  </a:lnTo>
                  <a:lnTo>
                    <a:pt x="0" y="30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grpSp>
          <p:nvGrpSpPr>
            <p:cNvPr id="79895" name="Group 1056"/>
            <p:cNvGrpSpPr/>
            <p:nvPr/>
          </p:nvGrpSpPr>
          <p:grpSpPr bwMode="auto">
            <a:xfrm>
              <a:off x="3824287" y="3967162"/>
              <a:ext cx="1433513" cy="566738"/>
              <a:chOff x="2300" y="3332"/>
              <a:chExt cx="1112" cy="476"/>
            </a:xfrm>
          </p:grpSpPr>
          <p:sp>
            <p:nvSpPr>
              <p:cNvPr id="79903" name="AutoShape 1058"/>
              <p:cNvSpPr>
                <a:spLocks noChangeArrowheads="1"/>
              </p:cNvSpPr>
              <p:nvPr/>
            </p:nvSpPr>
            <p:spPr bwMode="auto">
              <a:xfrm>
                <a:off x="2300" y="3332"/>
                <a:ext cx="1112" cy="476"/>
              </a:xfrm>
              <a:prstGeom prst="diamond">
                <a:avLst/>
              </a:prstGeom>
              <a:solidFill>
                <a:srgbClr val="92D05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lstStyle/>
              <a:p>
                <a:endParaRPr lang="zh-TW" altLang="en-US" sz="1200"/>
              </a:p>
            </p:txBody>
          </p:sp>
          <p:sp>
            <p:nvSpPr>
              <p:cNvPr id="79904" name="Rectangle 1057"/>
              <p:cNvSpPr>
                <a:spLocks noChangeArrowheads="1"/>
              </p:cNvSpPr>
              <p:nvPr/>
            </p:nvSpPr>
            <p:spPr bwMode="auto">
              <a:xfrm>
                <a:off x="2567" y="3355"/>
                <a:ext cx="66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p>
                <a:pPr algn="ctr">
                  <a:lnSpc>
                    <a:spcPct val="90000"/>
                  </a:lnSpc>
                </a:pPr>
                <a:r>
                  <a:rPr kumimoji="1" lang="zh-TW" altLang="en-US" sz="1200" b="1">
                    <a:latin typeface="Arial" panose="020B0604020202020204" pitchFamily="34" charset="0"/>
                  </a:rPr>
                  <a:t>33</a:t>
                </a:r>
                <a:r>
                  <a:rPr kumimoji="1" lang="en-US" altLang="zh-TW" sz="1200" b="1">
                    <a:latin typeface="Arial" panose="020B0604020202020204" pitchFamily="34" charset="0"/>
                  </a:rPr>
                  <a:t>rd</a:t>
                </a:r>
              </a:p>
              <a:p>
                <a:pPr algn="ctr">
                  <a:lnSpc>
                    <a:spcPct val="90000"/>
                  </a:lnSpc>
                </a:pPr>
                <a:r>
                  <a:rPr kumimoji="1" lang="en-US" altLang="zh-TW" sz="1200" b="1">
                    <a:latin typeface="Arial" panose="020B0604020202020204" pitchFamily="34" charset="0"/>
                  </a:rPr>
                  <a:t>repetition?</a:t>
                </a:r>
              </a:p>
            </p:txBody>
          </p:sp>
        </p:grpSp>
        <p:sp>
          <p:nvSpPr>
            <p:cNvPr id="79896" name="Line 1059"/>
            <p:cNvSpPr>
              <a:spLocks noChangeShapeType="1"/>
            </p:cNvSpPr>
            <p:nvPr/>
          </p:nvSpPr>
          <p:spPr bwMode="auto">
            <a:xfrm>
              <a:off x="4572000" y="3657600"/>
              <a:ext cx="0" cy="3429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9897" name="Line 1060"/>
            <p:cNvSpPr>
              <a:spLocks noChangeShapeType="1"/>
            </p:cNvSpPr>
            <p:nvPr/>
          </p:nvSpPr>
          <p:spPr bwMode="auto">
            <a:xfrm>
              <a:off x="4556522" y="4557713"/>
              <a:ext cx="0" cy="17145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9898" name="Line 1062"/>
            <p:cNvSpPr>
              <a:spLocks noChangeShapeType="1"/>
            </p:cNvSpPr>
            <p:nvPr/>
          </p:nvSpPr>
          <p:spPr bwMode="auto">
            <a:xfrm>
              <a:off x="5856685" y="371475"/>
              <a:ext cx="0" cy="25717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
          <p:nvSpPr>
            <p:cNvPr id="79899" name="Freeform 1063"/>
            <p:cNvSpPr/>
            <p:nvPr/>
          </p:nvSpPr>
          <p:spPr bwMode="auto">
            <a:xfrm>
              <a:off x="5253038" y="529153"/>
              <a:ext cx="2926556" cy="3729713"/>
            </a:xfrm>
            <a:custGeom>
              <a:avLst/>
              <a:gdLst>
                <a:gd name="T0" fmla="*/ 0 w 2269"/>
                <a:gd name="T1" fmla="*/ 2147483647 h 3181"/>
                <a:gd name="T2" fmla="*/ 2147483647 w 2269"/>
                <a:gd name="T3" fmla="*/ 2147483647 h 3181"/>
                <a:gd name="T4" fmla="*/ 2147483647 w 2269"/>
                <a:gd name="T5" fmla="*/ 0 h 3181"/>
                <a:gd name="T6" fmla="*/ 2147483647 w 2269"/>
                <a:gd name="T7" fmla="*/ 0 h 3181"/>
                <a:gd name="T8" fmla="*/ 0 60000 65536"/>
                <a:gd name="T9" fmla="*/ 0 60000 65536"/>
                <a:gd name="T10" fmla="*/ 0 60000 65536"/>
                <a:gd name="T11" fmla="*/ 0 60000 65536"/>
                <a:gd name="T12" fmla="*/ 0 w 2269"/>
                <a:gd name="T13" fmla="*/ 0 h 3181"/>
                <a:gd name="T14" fmla="*/ 2269 w 2269"/>
                <a:gd name="T15" fmla="*/ 3181 h 3181"/>
              </a:gdLst>
              <a:ahLst/>
              <a:cxnLst>
                <a:cxn ang="T8">
                  <a:pos x="T0" y="T1"/>
                </a:cxn>
                <a:cxn ang="T9">
                  <a:pos x="T2" y="T3"/>
                </a:cxn>
                <a:cxn ang="T10">
                  <a:pos x="T4" y="T5"/>
                </a:cxn>
                <a:cxn ang="T11">
                  <a:pos x="T6" y="T7"/>
                </a:cxn>
              </a:cxnLst>
              <a:rect l="T12" t="T13" r="T14" b="T15"/>
              <a:pathLst>
                <a:path w="2269" h="3181">
                  <a:moveTo>
                    <a:pt x="0" y="3180"/>
                  </a:moveTo>
                  <a:lnTo>
                    <a:pt x="2268" y="3180"/>
                  </a:lnTo>
                  <a:lnTo>
                    <a:pt x="2268" y="0"/>
                  </a:lnTo>
                  <a:lnTo>
                    <a:pt x="492" y="0"/>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79900" name="Freeform 1064"/>
            <p:cNvSpPr/>
            <p:nvPr/>
          </p:nvSpPr>
          <p:spPr bwMode="auto">
            <a:xfrm>
              <a:off x="5918598" y="3243262"/>
              <a:ext cx="1190" cy="186929"/>
            </a:xfrm>
            <a:custGeom>
              <a:avLst/>
              <a:gdLst>
                <a:gd name="T0" fmla="*/ 0 w 1"/>
                <a:gd name="T1" fmla="*/ 0 h 157"/>
                <a:gd name="T2" fmla="*/ 0 w 1"/>
                <a:gd name="T3" fmla="*/ 2147483647 h 157"/>
                <a:gd name="T4" fmla="*/ 0 60000 65536"/>
                <a:gd name="T5" fmla="*/ 0 60000 65536"/>
                <a:gd name="T6" fmla="*/ 0 w 1"/>
                <a:gd name="T7" fmla="*/ 0 h 157"/>
                <a:gd name="T8" fmla="*/ 1 w 1"/>
                <a:gd name="T9" fmla="*/ 157 h 157"/>
              </a:gdLst>
              <a:ahLst/>
              <a:cxnLst>
                <a:cxn ang="T4">
                  <a:pos x="T0" y="T1"/>
                </a:cxn>
                <a:cxn ang="T5">
                  <a:pos x="T2" y="T3"/>
                </a:cxn>
              </a:cxnLst>
              <a:rect l="T6" t="T7" r="T8" b="T9"/>
              <a:pathLst>
                <a:path w="1" h="157">
                  <a:moveTo>
                    <a:pt x="0" y="0"/>
                  </a:moveTo>
                  <a:lnTo>
                    <a:pt x="0" y="156"/>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sp>
          <p:nvSpPr>
            <p:cNvPr id="79901" name="Freeform 1065"/>
            <p:cNvSpPr/>
            <p:nvPr/>
          </p:nvSpPr>
          <p:spPr bwMode="auto">
            <a:xfrm flipH="1">
              <a:off x="4235053" y="3077766"/>
              <a:ext cx="32147" cy="352425"/>
            </a:xfrm>
            <a:custGeom>
              <a:avLst/>
              <a:gdLst>
                <a:gd name="T0" fmla="*/ 0 w 1"/>
                <a:gd name="T1" fmla="*/ 0 h 157"/>
                <a:gd name="T2" fmla="*/ 0 w 1"/>
                <a:gd name="T3" fmla="*/ 2147483647 h 157"/>
                <a:gd name="T4" fmla="*/ 0 60000 65536"/>
                <a:gd name="T5" fmla="*/ 0 60000 65536"/>
                <a:gd name="T6" fmla="*/ 0 w 1"/>
                <a:gd name="T7" fmla="*/ 0 h 157"/>
                <a:gd name="T8" fmla="*/ 1 w 1"/>
                <a:gd name="T9" fmla="*/ 157 h 157"/>
              </a:gdLst>
              <a:ahLst/>
              <a:cxnLst>
                <a:cxn ang="T4">
                  <a:pos x="T0" y="T1"/>
                </a:cxn>
                <a:cxn ang="T5">
                  <a:pos x="T2" y="T3"/>
                </a:cxn>
              </a:cxnLst>
              <a:rect l="T6" t="T7" r="T8" b="T9"/>
              <a:pathLst>
                <a:path w="1" h="157">
                  <a:moveTo>
                    <a:pt x="0" y="0"/>
                  </a:moveTo>
                  <a:lnTo>
                    <a:pt x="0" y="156"/>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TW" altLang="en-US" sz="1200"/>
            </a:p>
          </p:txBody>
        </p:sp>
      </p:grpSp>
      <p:sp>
        <p:nvSpPr>
          <p:cNvPr id="433194" name="Rectangle 1066"/>
          <p:cNvSpPr>
            <a:spLocks noChangeArrowheads="1"/>
          </p:cNvSpPr>
          <p:nvPr/>
        </p:nvSpPr>
        <p:spPr bwMode="auto">
          <a:xfrm>
            <a:off x="1364610" y="1177561"/>
            <a:ext cx="3635229" cy="4870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lstStyle/>
          <a:p>
            <a:pPr>
              <a:lnSpc>
                <a:spcPct val="90000"/>
              </a:lnSpc>
              <a:spcBef>
                <a:spcPct val="15000"/>
              </a:spcBef>
              <a:buClr>
                <a:schemeClr val="folHlink"/>
              </a:buClr>
              <a:buSzPct val="75000"/>
              <a:tabLst>
                <a:tab pos="1028674" algn="l"/>
                <a:tab pos="2914154" algn="l"/>
              </a:tabLst>
            </a:pPr>
            <a:r>
              <a:rPr lang="en-US" altLang="zh-TW" sz="1867" b="1" dirty="0"/>
              <a:t>0111 /  0010</a:t>
            </a:r>
          </a:p>
          <a:p>
            <a:pPr>
              <a:lnSpc>
                <a:spcPct val="90000"/>
              </a:lnSpc>
              <a:spcBef>
                <a:spcPct val="15000"/>
              </a:spcBef>
              <a:buClr>
                <a:schemeClr val="folHlink"/>
              </a:buClr>
              <a:buSzPct val="75000"/>
              <a:tabLst>
                <a:tab pos="1028674" algn="l"/>
                <a:tab pos="2914154" algn="l"/>
              </a:tabLst>
            </a:pPr>
            <a:r>
              <a:rPr lang="en-US" altLang="zh-TW" sz="1867" b="1" dirty="0">
                <a:latin typeface="Century Gothic" panose="020B0502020202020204" pitchFamily="34" charset="0"/>
                <a:ea typeface="標楷體" panose="02010601000101010101" pitchFamily="65" charset="-120"/>
              </a:rPr>
              <a:t>Quot. Divisor        Rem.</a:t>
            </a:r>
          </a:p>
          <a:p>
            <a:pPr>
              <a:lnSpc>
                <a:spcPct val="90000"/>
              </a:lnSpc>
              <a:spcBef>
                <a:spcPct val="15000"/>
              </a:spcBef>
              <a:buClr>
                <a:schemeClr val="folHlink"/>
              </a:buClr>
              <a:buSzPct val="75000"/>
              <a:tabLst>
                <a:tab pos="1028674" algn="l"/>
                <a:tab pos="2914154" algn="l"/>
              </a:tabLst>
            </a:pPr>
            <a:r>
              <a:rPr lang="en-US" altLang="zh-TW" sz="1867" b="1" dirty="0">
                <a:latin typeface="Courier New" panose="02070309020205020404" pitchFamily="49" charset="0"/>
                <a:ea typeface="標楷體" panose="02010601000101010101" pitchFamily="65" charset="-120"/>
              </a:rPr>
              <a:t>0000 </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0000 </a:t>
            </a:r>
            <a:r>
              <a:rPr lang="en-US" altLang="zh-TW" sz="1867" b="1" u="sng" dirty="0">
                <a:latin typeface="Courier New" panose="02070309020205020404" pitchFamily="49" charset="0"/>
                <a:ea typeface="標楷體" panose="02010601000101010101" pitchFamily="65" charset="-120"/>
              </a:rPr>
              <a:t>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11100111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000</a:t>
            </a:r>
            <a:r>
              <a:rPr lang="en-US" altLang="zh-TW" sz="1867" b="1" dirty="0">
                <a:solidFill>
                  <a:schemeClr val="accent2"/>
                </a:solidFill>
                <a:latin typeface="Courier New" panose="02070309020205020404" pitchFamily="49" charset="0"/>
                <a:ea typeface="標楷體" panose="02010601000101010101" pitchFamily="65" charset="-120"/>
              </a:rPr>
              <a:t>0</a:t>
            </a:r>
            <a:r>
              <a:rPr lang="en-US" altLang="zh-TW" sz="1867" b="1" dirty="0">
                <a:latin typeface="Courier New" panose="02070309020205020404" pitchFamily="49" charset="0"/>
                <a:ea typeface="標楷體" panose="02010601000101010101" pitchFamily="65" charset="-120"/>
              </a:rPr>
              <a:t> 0</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000 00000111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11110111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00</a:t>
            </a:r>
            <a:r>
              <a:rPr lang="en-US" altLang="zh-TW" sz="1867" b="1" dirty="0">
                <a:solidFill>
                  <a:schemeClr val="accent2"/>
                </a:solidFill>
                <a:latin typeface="Courier New" panose="02070309020205020404" pitchFamily="49" charset="0"/>
                <a:ea typeface="標楷體" panose="02010601000101010101" pitchFamily="65" charset="-120"/>
              </a:rPr>
              <a:t>00</a:t>
            </a:r>
            <a:r>
              <a:rPr lang="en-US" altLang="zh-TW" sz="1867" b="1" dirty="0">
                <a:latin typeface="Courier New" panose="02070309020205020404" pitchFamily="49" charset="0"/>
                <a:ea typeface="標楷體" panose="02010601000101010101" pitchFamily="65" charset="-120"/>
              </a:rPr>
              <a:t> 00</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00 00000111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11111111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0</a:t>
            </a:r>
            <a:r>
              <a:rPr lang="en-US" altLang="zh-TW" sz="1867" b="1" dirty="0">
                <a:solidFill>
                  <a:schemeClr val="accent2"/>
                </a:solidFill>
                <a:latin typeface="Courier New" panose="02070309020205020404" pitchFamily="49" charset="0"/>
                <a:ea typeface="標楷體" panose="02010601000101010101" pitchFamily="65" charset="-120"/>
              </a:rPr>
              <a:t>000</a:t>
            </a:r>
            <a:r>
              <a:rPr lang="en-US" altLang="zh-TW" sz="1867" b="1" dirty="0">
                <a:latin typeface="Courier New" panose="02070309020205020404" pitchFamily="49" charset="0"/>
                <a:ea typeface="標楷體" panose="02010601000101010101" pitchFamily="65" charset="-120"/>
              </a:rPr>
              <a:t> 000</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0 00000111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00000011</a:t>
            </a:r>
            <a:br>
              <a:rPr lang="en-US" altLang="zh-TW" sz="1867" b="1" dirty="0">
                <a:latin typeface="Courier New" panose="02070309020205020404" pitchFamily="49" charset="0"/>
                <a:ea typeface="標楷體" panose="02010601000101010101" pitchFamily="65" charset="-120"/>
              </a:rPr>
            </a:br>
            <a:r>
              <a:rPr lang="en-US" altLang="zh-TW" sz="1867" b="1" dirty="0">
                <a:solidFill>
                  <a:schemeClr val="accent2"/>
                </a:solidFill>
                <a:latin typeface="Courier New" panose="02070309020205020404" pitchFamily="49" charset="0"/>
                <a:ea typeface="標楷體" panose="02010601000101010101" pitchFamily="65" charset="-120"/>
              </a:rPr>
              <a:t>0001</a:t>
            </a:r>
            <a:r>
              <a:rPr lang="en-US" altLang="zh-TW" sz="1867" b="1" dirty="0">
                <a:latin typeface="Courier New" panose="02070309020205020404" pitchFamily="49" charset="0"/>
                <a:ea typeface="標楷體" panose="02010601000101010101" pitchFamily="65" charset="-120"/>
              </a:rPr>
              <a:t>          00000011</a:t>
            </a:r>
            <a:br>
              <a:rPr lang="en-US" altLang="zh-TW" sz="1867" b="1" dirty="0">
                <a:latin typeface="Courier New" panose="02070309020205020404" pitchFamily="49" charset="0"/>
                <a:ea typeface="標楷體" panose="02010601000101010101" pitchFamily="65" charset="-120"/>
              </a:rPr>
            </a:br>
            <a:r>
              <a:rPr lang="en-US" altLang="zh-TW" sz="1867" b="1" dirty="0">
                <a:solidFill>
                  <a:schemeClr val="accent2"/>
                </a:solidFill>
                <a:latin typeface="Courier New" panose="02070309020205020404" pitchFamily="49" charset="0"/>
                <a:ea typeface="標楷體" panose="02010601000101010101" pitchFamily="65" charset="-120"/>
              </a:rPr>
              <a:t>0001</a:t>
            </a:r>
            <a:r>
              <a:rPr lang="en-US" altLang="zh-TW" sz="1867" b="1" dirty="0">
                <a:latin typeface="Courier New" panose="02070309020205020404" pitchFamily="49" charset="0"/>
                <a:ea typeface="標楷體" panose="02010601000101010101" pitchFamily="65" charset="-120"/>
              </a:rPr>
              <a:t> 0000</a:t>
            </a:r>
            <a:r>
              <a:rPr lang="en-US" altLang="zh-TW" sz="1867" b="1" u="sng" dirty="0">
                <a:latin typeface="Courier New" panose="02070309020205020404" pitchFamily="49" charset="0"/>
                <a:ea typeface="標楷體" panose="02010601000101010101" pitchFamily="65" charset="-120"/>
              </a:rPr>
              <a:t>0010</a:t>
            </a:r>
            <a:r>
              <a:rPr lang="en-US" altLang="zh-TW" sz="1867" b="1" dirty="0">
                <a:latin typeface="Courier New" panose="02070309020205020404" pitchFamily="49" charset="0"/>
                <a:ea typeface="標楷體" panose="02010601000101010101" pitchFamily="65" charset="-120"/>
              </a:rPr>
              <a:t> 00000011</a:t>
            </a:r>
            <a:br>
              <a:rPr lang="en-US" altLang="zh-TW" sz="1867" b="1" dirty="0">
                <a:latin typeface="Courier New" panose="02070309020205020404" pitchFamily="49" charset="0"/>
                <a:ea typeface="標楷體" panose="02010601000101010101" pitchFamily="65" charset="-120"/>
              </a:rPr>
            </a:br>
            <a:r>
              <a:rPr lang="en-US" altLang="zh-TW" sz="1867" b="1" dirty="0">
                <a:latin typeface="Courier New" panose="02070309020205020404" pitchFamily="49" charset="0"/>
                <a:ea typeface="標楷體" panose="02010601000101010101" pitchFamily="65" charset="-120"/>
              </a:rPr>
              <a:t>              00000001</a:t>
            </a:r>
            <a:br>
              <a:rPr lang="en-US" altLang="zh-TW" sz="1867" b="1" dirty="0">
                <a:latin typeface="Courier New" panose="02070309020205020404" pitchFamily="49" charset="0"/>
                <a:ea typeface="標楷體" panose="02010601000101010101" pitchFamily="65" charset="-120"/>
              </a:rPr>
            </a:br>
            <a:r>
              <a:rPr lang="en-US" altLang="zh-TW" sz="1867" b="1" dirty="0">
                <a:solidFill>
                  <a:schemeClr val="accent2"/>
                </a:solidFill>
                <a:latin typeface="Courier New" panose="02070309020205020404" pitchFamily="49" charset="0"/>
                <a:ea typeface="標楷體" panose="02010601000101010101" pitchFamily="65" charset="-120"/>
              </a:rPr>
              <a:t>0011</a:t>
            </a:r>
            <a:r>
              <a:rPr lang="en-US" altLang="zh-TW" sz="1867" b="1" dirty="0">
                <a:latin typeface="Courier New" panose="02070309020205020404" pitchFamily="49" charset="0"/>
                <a:ea typeface="標楷體" panose="02010601000101010101" pitchFamily="65" charset="-120"/>
              </a:rPr>
              <a:t>          00000001</a:t>
            </a:r>
            <a:br>
              <a:rPr lang="en-US" altLang="zh-TW" sz="1867" b="1" dirty="0">
                <a:latin typeface="Courier New" panose="02070309020205020404" pitchFamily="49" charset="0"/>
                <a:ea typeface="標楷體" panose="02010601000101010101" pitchFamily="65" charset="-120"/>
              </a:rPr>
            </a:br>
            <a:r>
              <a:rPr lang="en-US" altLang="zh-TW" sz="1867" b="1" dirty="0">
                <a:solidFill>
                  <a:schemeClr val="accent2"/>
                </a:solidFill>
                <a:latin typeface="Courier New" panose="02070309020205020404" pitchFamily="49" charset="0"/>
                <a:ea typeface="標楷體" panose="02010601000101010101" pitchFamily="65" charset="-120"/>
              </a:rPr>
              <a:t>0011</a:t>
            </a:r>
            <a:r>
              <a:rPr lang="en-US" altLang="zh-TW" sz="1867" b="1" dirty="0">
                <a:latin typeface="Courier New" panose="02070309020205020404" pitchFamily="49" charset="0"/>
                <a:ea typeface="標楷體" panose="02010601000101010101" pitchFamily="65" charset="-120"/>
              </a:rPr>
              <a:t> 00000001 00000001</a:t>
            </a:r>
          </a:p>
        </p:txBody>
      </p:sp>
      <p:sp>
        <p:nvSpPr>
          <p:cNvPr id="37"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22</a:t>
            </a:fld>
            <a:endParaRPr lang="zh-TW" altLang="en-US"/>
          </a:p>
        </p:txBody>
      </p:sp>
      <p:sp>
        <p:nvSpPr>
          <p:cNvPr id="39" name="Rectangle 31"/>
          <p:cNvSpPr txBox="1">
            <a:spLocks noChangeArrowheads="1"/>
          </p:cNvSpPr>
          <p:nvPr/>
        </p:nvSpPr>
        <p:spPr>
          <a:xfrm>
            <a:off x="1404982" y="111854"/>
            <a:ext cx="8420100" cy="648748"/>
          </a:xfrm>
          <a:prstGeom prst="rect">
            <a:avLst/>
          </a:prstGeom>
        </p:spPr>
        <p:txBody>
          <a:bodyPr/>
          <a:lstStyle>
            <a:lvl1pPr algn="l" rtl="0" eaLnBrk="1" fontAlgn="base" hangingPunct="1">
              <a:spcBef>
                <a:spcPct val="0"/>
              </a:spcBef>
              <a:spcAft>
                <a:spcPct val="0"/>
              </a:spcAft>
              <a:defRPr kumimoji="1" sz="3600" b="1">
                <a:solidFill>
                  <a:schemeClr val="tx2"/>
                </a:solidFill>
                <a:latin typeface="Calibri" panose="020F0502020204030204" pitchFamily="34" charset="0"/>
                <a:ea typeface="標楷體" panose="02010601000101010101" pitchFamily="65" charset="-120"/>
                <a:cs typeface="+mj-cs"/>
              </a:defRPr>
            </a:lvl1pPr>
            <a:lvl2pPr algn="l" rtl="0" eaLnBrk="1" fontAlgn="base" hangingPunct="1">
              <a:spcBef>
                <a:spcPct val="0"/>
              </a:spcBef>
              <a:spcAft>
                <a:spcPct val="0"/>
              </a:spcAft>
              <a:defRPr kumimoji="1" sz="2700" b="1">
                <a:solidFill>
                  <a:schemeClr val="tx2"/>
                </a:solidFill>
                <a:latin typeface="Calibri" panose="020F0502020204030204" pitchFamily="34" charset="0"/>
                <a:ea typeface="標楷體" panose="02010601000101010101"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502020204030204" pitchFamily="34" charset="0"/>
                <a:ea typeface="標楷體" panose="02010601000101010101"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502020204030204" pitchFamily="34" charset="0"/>
                <a:ea typeface="標楷體" panose="02010601000101010101"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502020204030204" pitchFamily="34" charset="0"/>
                <a:ea typeface="標楷體" panose="02010601000101010101"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r>
              <a:rPr lang="en-US" altLang="zh-TW" sz="4267" kern="0" dirty="0"/>
              <a:t>Divide Hardware - Version 1 (2)</a:t>
            </a:r>
          </a:p>
        </p:txBody>
      </p:sp>
      <p:sp>
        <p:nvSpPr>
          <p:cNvPr id="38" name="Line 1062"/>
          <p:cNvSpPr>
            <a:spLocks noChangeShapeType="1"/>
          </p:cNvSpPr>
          <p:nvPr/>
        </p:nvSpPr>
        <p:spPr bwMode="auto">
          <a:xfrm>
            <a:off x="8338972" y="2331425"/>
            <a:ext cx="0" cy="255385"/>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TW" altLang="en-US"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342239" y="212521"/>
            <a:ext cx="8963812" cy="548080"/>
          </a:xfrm>
        </p:spPr>
        <p:txBody>
          <a:bodyPr/>
          <a:lstStyle/>
          <a:p>
            <a:r>
              <a:rPr lang="en-US" altLang="zh-TW" dirty="0"/>
              <a:t>Signed Division </a:t>
            </a:r>
          </a:p>
        </p:txBody>
      </p:sp>
      <p:sp>
        <p:nvSpPr>
          <p:cNvPr id="83971" name="Rectangle 3"/>
          <p:cNvSpPr>
            <a:spLocks noGrp="1" noChangeArrowheads="1"/>
          </p:cNvSpPr>
          <p:nvPr>
            <p:ph type="body" idx="1"/>
          </p:nvPr>
        </p:nvSpPr>
        <p:spPr>
          <a:xfrm>
            <a:off x="291831" y="1047717"/>
            <a:ext cx="11660986" cy="4265788"/>
          </a:xfrm>
        </p:spPr>
        <p:txBody>
          <a:bodyPr/>
          <a:lstStyle/>
          <a:p>
            <a:pPr marL="0" indent="0">
              <a:buNone/>
            </a:pPr>
            <a:r>
              <a:rPr lang="en-US" sz="2800" dirty="0"/>
              <a:t>Dividend = Quotient X Divisor + Remainder</a:t>
            </a:r>
          </a:p>
          <a:p>
            <a:pPr marL="0" indent="0">
              <a:buNone/>
            </a:pPr>
            <a:r>
              <a:rPr lang="en-US" sz="2800" dirty="0"/>
              <a:t>+7 div +2 = +3 , remainder +1</a:t>
            </a:r>
          </a:p>
          <a:p>
            <a:pPr marL="0" indent="0">
              <a:buNone/>
            </a:pPr>
            <a:r>
              <a:rPr lang="en-US" sz="2800" dirty="0"/>
              <a:t>-7 div +2 = -3, remainder -1 </a:t>
            </a:r>
            <a:r>
              <a:rPr lang="en-US" sz="2800" dirty="0">
                <a:sym typeface="Wingdings" panose="05000000000000000000" pitchFamily="2" charset="2"/>
              </a:rPr>
              <a:t> </a:t>
            </a:r>
            <a:r>
              <a:rPr lang="en-US" sz="2800" dirty="0">
                <a:solidFill>
                  <a:srgbClr val="FF0000"/>
                </a:solidFill>
                <a:sym typeface="Wingdings" panose="05000000000000000000" pitchFamily="2" charset="2"/>
              </a:rPr>
              <a:t>why not quotient -4, remainder +1</a:t>
            </a:r>
          </a:p>
          <a:p>
            <a:pPr marL="0" indent="0">
              <a:buNone/>
            </a:pPr>
            <a:r>
              <a:rPr lang="en-US" sz="2800" b="1" dirty="0">
                <a:solidFill>
                  <a:srgbClr val="0070C0"/>
                </a:solidFill>
                <a:sym typeface="Wingdings" panose="05000000000000000000" pitchFamily="2" charset="2"/>
              </a:rPr>
              <a:t>Rule: the dividend and the remainder must have the same sign</a:t>
            </a:r>
          </a:p>
          <a:p>
            <a:r>
              <a:rPr lang="en-US" altLang="zh-TW" sz="2800" dirty="0"/>
              <a:t>Division steps: </a:t>
            </a:r>
          </a:p>
          <a:p>
            <a:pPr lvl="1"/>
            <a:r>
              <a:rPr lang="en-US" altLang="zh-TW" sz="2400" dirty="0"/>
              <a:t>Remember signs, make positive, complement quotient and remainder if necessary</a:t>
            </a:r>
          </a:p>
          <a:p>
            <a:pPr lvl="1"/>
            <a:r>
              <a:rPr lang="en-US" altLang="zh-TW" sz="2400" dirty="0"/>
              <a:t>Let Dividend and Remainder have same sign and negate Quotient if Divisor sign &amp; Dividend sign disagree.</a:t>
            </a:r>
          </a:p>
        </p:txBody>
      </p:sp>
      <p:sp>
        <p:nvSpPr>
          <p:cNvPr id="5" name="灯片编号占位符 2"/>
          <p:cNvSpPr>
            <a:spLocks noGrp="1"/>
          </p:cNvSpPr>
          <p:nvPr>
            <p:ph type="sldNum" sz="quarter" idx="10"/>
          </p:nvPr>
        </p:nvSpPr>
        <p:spPr>
          <a:xfrm>
            <a:off x="9108017" y="6524628"/>
            <a:ext cx="2844800" cy="339725"/>
          </a:xfrm>
        </p:spPr>
        <p:txBody>
          <a:bodyPr/>
          <a:lstStyle/>
          <a:p>
            <a:fld id="{D9B6BDF2-6896-4B98-8776-C18582F63BA5}" type="slidenum">
              <a:rPr lang="zh-TW" altLang="en-US" smtClean="0"/>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Multiply/Divide by Power of 2</a:t>
            </a:r>
          </a:p>
        </p:txBody>
      </p:sp>
      <p:sp>
        <p:nvSpPr>
          <p:cNvPr id="3" name="Content Placeholder 2"/>
          <p:cNvSpPr>
            <a:spLocks noGrp="1"/>
          </p:cNvSpPr>
          <p:nvPr>
            <p:ph idx="1"/>
          </p:nvPr>
        </p:nvSpPr>
        <p:spPr>
          <a:xfrm>
            <a:off x="0" y="1206231"/>
            <a:ext cx="12192000" cy="4679003"/>
          </a:xfrm>
        </p:spPr>
        <p:txBody>
          <a:bodyPr>
            <a:normAutofit fontScale="85000" lnSpcReduction="20000"/>
          </a:bodyPr>
          <a:lstStyle/>
          <a:p>
            <a:pPr marL="0" indent="0">
              <a:buNone/>
            </a:pPr>
            <a:r>
              <a:rPr lang="en-US" sz="2800" dirty="0"/>
              <a:t>Multiply by power of 2 can use shift left</a:t>
            </a:r>
          </a:p>
          <a:p>
            <a:pPr marL="0" indent="0">
              <a:buNone/>
            </a:pPr>
            <a:r>
              <a:rPr lang="en-US" sz="2400" dirty="0"/>
              <a:t>X * 2 = X &lt;&lt; 1, 	X * 4 = X &lt;&lt; 2, …</a:t>
            </a:r>
          </a:p>
          <a:p>
            <a:pPr marL="0" indent="0">
              <a:buNone/>
            </a:pPr>
            <a:r>
              <a:rPr lang="en-US" sz="2400" dirty="0"/>
              <a:t>-X *2 = (-X) &lt;&lt; 1, -X *4 = (-X) &lt;&lt; 2</a:t>
            </a:r>
          </a:p>
          <a:p>
            <a:pPr marL="0" indent="0">
              <a:buNone/>
            </a:pPr>
            <a:endParaRPr lang="en-US" sz="2800" dirty="0"/>
          </a:p>
          <a:p>
            <a:pPr marL="0" indent="0">
              <a:buNone/>
            </a:pPr>
            <a:r>
              <a:rPr lang="en-US" sz="2800" dirty="0"/>
              <a:t>How about division?</a:t>
            </a:r>
          </a:p>
          <a:p>
            <a:pPr marL="0" indent="0">
              <a:buNone/>
            </a:pPr>
            <a:r>
              <a:rPr lang="en-US" sz="2800" dirty="0"/>
              <a:t>X div 2 = X &gt;&gt; 1. </a:t>
            </a:r>
            <a:r>
              <a:rPr lang="en-US" sz="2600" dirty="0"/>
              <a:t>This works for positive numbers</a:t>
            </a:r>
          </a:p>
          <a:p>
            <a:pPr marL="0" indent="0">
              <a:buNone/>
            </a:pPr>
            <a:r>
              <a:rPr lang="en-US" sz="2800" dirty="0"/>
              <a:t>How about negative number such as -7/2?</a:t>
            </a:r>
          </a:p>
          <a:p>
            <a:pPr marL="0" indent="0">
              <a:buNone/>
            </a:pPr>
            <a:r>
              <a:rPr lang="en-US" sz="2800" dirty="0"/>
              <a:t>Assume 8bit integer, 7 is 00000111 and -7 is 11111001</a:t>
            </a:r>
          </a:p>
          <a:p>
            <a:pPr marL="0" indent="0">
              <a:buNone/>
            </a:pPr>
            <a:r>
              <a:rPr lang="en-US" sz="2800" dirty="0"/>
              <a:t>11111001 &gt;&gt; (SRA) 1 = 1111100         -4, this quotient is wrong, it should be -3</a:t>
            </a:r>
          </a:p>
          <a:p>
            <a:pPr marL="0" indent="0">
              <a:buNone/>
            </a:pPr>
            <a:r>
              <a:rPr lang="en-US" sz="2800" dirty="0"/>
              <a:t>The correct way to use &gt;&gt; for X div N, where X is a negative number, and N is a power of 2, is as follows:</a:t>
            </a:r>
          </a:p>
          <a:p>
            <a:pPr marL="0" indent="0">
              <a:buNone/>
            </a:pPr>
            <a:r>
              <a:rPr lang="en-US" sz="2800" b="0" i="0" dirty="0">
                <a:solidFill>
                  <a:srgbClr val="0D0D0D"/>
                </a:solidFill>
                <a:effectLst/>
                <a:latin typeface="KaTeX_Main"/>
              </a:rPr>
              <a:t>				</a:t>
            </a:r>
            <a:r>
              <a:rPr lang="en-US" sz="3000" b="0" i="0" dirty="0">
                <a:solidFill>
                  <a:srgbClr val="FF0000"/>
                </a:solidFill>
                <a:effectLst/>
                <a:latin typeface="KaTeX_Main"/>
              </a:rPr>
              <a:t>(</a:t>
            </a:r>
            <a:r>
              <a:rPr lang="en-US" sz="3000" b="0" i="1" dirty="0">
                <a:solidFill>
                  <a:srgbClr val="FF0000"/>
                </a:solidFill>
                <a:effectLst/>
                <a:latin typeface="KaTeX_Math"/>
              </a:rPr>
              <a:t>X</a:t>
            </a:r>
            <a:r>
              <a:rPr lang="en-US" sz="3000" b="0" i="0" dirty="0">
                <a:solidFill>
                  <a:srgbClr val="FF0000"/>
                </a:solidFill>
                <a:effectLst/>
                <a:latin typeface="KaTeX_Main"/>
              </a:rPr>
              <a:t>+(</a:t>
            </a:r>
            <a:r>
              <a:rPr lang="en-US" sz="3000" b="0" i="1" dirty="0">
                <a:solidFill>
                  <a:srgbClr val="FF0000"/>
                </a:solidFill>
                <a:effectLst/>
                <a:latin typeface="KaTeX_Math"/>
              </a:rPr>
              <a:t>N</a:t>
            </a:r>
            <a:r>
              <a:rPr lang="en-US" sz="3000" b="0" i="0" dirty="0">
                <a:solidFill>
                  <a:srgbClr val="FF0000"/>
                </a:solidFill>
                <a:effectLst/>
                <a:latin typeface="KaTeX_Main"/>
              </a:rPr>
              <a:t>−1)) ≫ log2​(</a:t>
            </a:r>
            <a:r>
              <a:rPr lang="en-US" sz="3000" b="0" i="1" dirty="0">
                <a:solidFill>
                  <a:srgbClr val="FF0000"/>
                </a:solidFill>
                <a:effectLst/>
                <a:latin typeface="KaTeX_Math"/>
              </a:rPr>
              <a:t>N</a:t>
            </a:r>
            <a:r>
              <a:rPr lang="en-US" sz="3000" b="0" i="0" dirty="0">
                <a:solidFill>
                  <a:srgbClr val="FF0000"/>
                </a:solidFill>
                <a:effectLst/>
                <a:latin typeface="KaTeX_Main"/>
              </a:rPr>
              <a:t>)</a:t>
            </a:r>
          </a:p>
          <a:p>
            <a:pPr marL="0" indent="0">
              <a:buNone/>
            </a:pPr>
            <a:r>
              <a:rPr lang="en-US" sz="3000" dirty="0">
                <a:latin typeface="KaTeX_Main"/>
              </a:rPr>
              <a:t>For example, -7/2, should use (-7+1) &gt;&gt; 1 </a:t>
            </a:r>
            <a:endParaRPr lang="en-US" sz="3000" dirty="0"/>
          </a:p>
        </p:txBody>
      </p:sp>
      <p:sp>
        <p:nvSpPr>
          <p:cNvPr id="8" name="灯片编号占位符 7"/>
          <p:cNvSpPr>
            <a:spLocks noGrp="1"/>
          </p:cNvSpPr>
          <p:nvPr>
            <p:ph type="sldNum" sz="quarter" idx="10"/>
          </p:nvPr>
        </p:nvSpPr>
        <p:spPr/>
        <p:txBody>
          <a:bodyPr/>
          <a:lstStyle/>
          <a:p>
            <a:fld id="{D9B6BDF2-6896-4B98-8776-C18582F63BA5}" type="slidenum">
              <a:rPr lang="zh-TW" altLang="en-US" smtClean="0"/>
              <a:t>24</a:t>
            </a:fld>
            <a:endParaRPr lang="zh-TW" altLang="en-US"/>
          </a:p>
        </p:txBody>
      </p:sp>
      <p:sp>
        <p:nvSpPr>
          <p:cNvPr id="4" name="Arrow: Right 3">
            <a:extLst>
              <a:ext uri="{FF2B5EF4-FFF2-40B4-BE49-F238E27FC236}">
                <a16:creationId xmlns:a16="http://schemas.microsoft.com/office/drawing/2014/main" id="{AA2AE70D-B3C8-4CB8-873E-FD246E72957E}"/>
              </a:ext>
            </a:extLst>
          </p:cNvPr>
          <p:cNvSpPr/>
          <p:nvPr/>
        </p:nvSpPr>
        <p:spPr bwMode="auto">
          <a:xfrm>
            <a:off x="4075888" y="4114800"/>
            <a:ext cx="544749" cy="175099"/>
          </a:xfrm>
          <a:prstGeom prst="rightArrow">
            <a:avLst/>
          </a:prstGeom>
          <a:solidFill>
            <a:srgbClr val="FF00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TextBox 4">
            <a:extLst>
              <a:ext uri="{FF2B5EF4-FFF2-40B4-BE49-F238E27FC236}">
                <a16:creationId xmlns:a16="http://schemas.microsoft.com/office/drawing/2014/main" id="{5E010421-FA59-478B-B94F-885B2DA1F035}"/>
              </a:ext>
            </a:extLst>
          </p:cNvPr>
          <p:cNvSpPr txBox="1"/>
          <p:nvPr/>
        </p:nvSpPr>
        <p:spPr>
          <a:xfrm>
            <a:off x="7934325" y="5205493"/>
            <a:ext cx="1204176"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-9/4 ? </a:t>
            </a:r>
          </a:p>
        </p:txBody>
      </p:sp>
      <p:sp>
        <p:nvSpPr>
          <p:cNvPr id="7" name="TextBox 6">
            <a:extLst>
              <a:ext uri="{FF2B5EF4-FFF2-40B4-BE49-F238E27FC236}">
                <a16:creationId xmlns:a16="http://schemas.microsoft.com/office/drawing/2014/main" id="{E0803C33-94A1-45DA-9A2F-8CECEAF495C7}"/>
              </a:ext>
            </a:extLst>
          </p:cNvPr>
          <p:cNvSpPr txBox="1"/>
          <p:nvPr/>
        </p:nvSpPr>
        <p:spPr>
          <a:xfrm>
            <a:off x="9686925" y="5205493"/>
            <a:ext cx="1975221"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(-9+3)&gt;&gt; 2 </a:t>
            </a:r>
          </a:p>
        </p:txBody>
      </p:sp>
      <p:sp>
        <p:nvSpPr>
          <p:cNvPr id="9" name="TextBox 8">
            <a:extLst>
              <a:ext uri="{FF2B5EF4-FFF2-40B4-BE49-F238E27FC236}">
                <a16:creationId xmlns:a16="http://schemas.microsoft.com/office/drawing/2014/main" id="{2972487B-E550-4DE3-99ED-8968737DA537}"/>
              </a:ext>
            </a:extLst>
          </p:cNvPr>
          <p:cNvSpPr txBox="1"/>
          <p:nvPr/>
        </p:nvSpPr>
        <p:spPr>
          <a:xfrm>
            <a:off x="9820275" y="5681711"/>
            <a:ext cx="914033"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 -2 </a:t>
            </a:r>
          </a:p>
        </p:txBody>
      </p:sp>
    </p:spTree>
    <p:extLst>
      <p:ext uri="{BB962C8B-B14F-4D97-AF65-F5344CB8AC3E}">
        <p14:creationId xmlns:p14="http://schemas.microsoft.com/office/powerpoint/2010/main" val="27294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9C1F01-CD4C-4257-AD13-A3DCC556725A}"/>
              </a:ext>
            </a:extLst>
          </p:cNvPr>
          <p:cNvSpPr>
            <a:spLocks noGrp="1"/>
          </p:cNvSpPr>
          <p:nvPr>
            <p:ph type="body" idx="1"/>
          </p:nvPr>
        </p:nvSpPr>
        <p:spPr/>
        <p:txBody>
          <a:bodyPr/>
          <a:lstStyle/>
          <a:p>
            <a:pPr algn="ctr"/>
            <a:r>
              <a:rPr lang="en-US" sz="5400" dirty="0"/>
              <a:t>Backup Slides</a:t>
            </a:r>
          </a:p>
        </p:txBody>
      </p:sp>
      <p:sp>
        <p:nvSpPr>
          <p:cNvPr id="4" name="Slide Number Placeholder 3">
            <a:extLst>
              <a:ext uri="{FF2B5EF4-FFF2-40B4-BE49-F238E27FC236}">
                <a16:creationId xmlns:a16="http://schemas.microsoft.com/office/drawing/2014/main" id="{CE74FAA6-7B4B-4601-B419-17D97B736539}"/>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extLst>
      <p:ext uri="{BB962C8B-B14F-4D97-AF65-F5344CB8AC3E}">
        <p14:creationId xmlns:p14="http://schemas.microsoft.com/office/powerpoint/2010/main" val="2227317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US" altLang="zh-TW" dirty="0"/>
              <a:t>Let HW Traps on Overflow</a:t>
            </a:r>
            <a:endParaRPr lang="en-AU" altLang="zh-TW" dirty="0">
              <a:ea typeface="PMingLiU" panose="02020500000000000000" pitchFamily="18" charset="-120"/>
            </a:endParaRPr>
          </a:p>
        </p:txBody>
      </p:sp>
      <p:sp>
        <p:nvSpPr>
          <p:cNvPr id="31747" name="Rectangle 3"/>
          <p:cNvSpPr>
            <a:spLocks noGrp="1" noChangeArrowheads="1"/>
          </p:cNvSpPr>
          <p:nvPr>
            <p:ph type="body" idx="1"/>
          </p:nvPr>
        </p:nvSpPr>
        <p:spPr>
          <a:xfrm>
            <a:off x="476250" y="1125477"/>
            <a:ext cx="10944022" cy="5039109"/>
          </a:xfrm>
        </p:spPr>
        <p:txBody>
          <a:bodyPr/>
          <a:lstStyle/>
          <a:p>
            <a:pPr>
              <a:buSzPct val="100000"/>
            </a:pPr>
            <a:r>
              <a:rPr lang="en-US" altLang="zh-TW" sz="2200" dirty="0"/>
              <a:t> </a:t>
            </a:r>
            <a:r>
              <a:rPr lang="en-US" altLang="zh-TW" sz="2800" dirty="0"/>
              <a:t>Performance impact</a:t>
            </a:r>
          </a:p>
          <a:p>
            <a:pPr lvl="1"/>
            <a:r>
              <a:rPr lang="en-US" altLang="zh-TW" sz="2200" dirty="0"/>
              <a:t>Checking for overflow incurs significant overhead (not HW, but to SW)</a:t>
            </a:r>
          </a:p>
          <a:p>
            <a:pPr lvl="1"/>
            <a:r>
              <a:rPr lang="en-US" altLang="zh-TW" sz="2200" dirty="0"/>
              <a:t>Traps are expensive to handle</a:t>
            </a:r>
          </a:p>
          <a:p>
            <a:pPr lvl="1"/>
            <a:r>
              <a:rPr lang="en-US" altLang="zh-TW" sz="2200" dirty="0"/>
              <a:t>Overflows are rare cases. Adding checking and trapping overhead slows down everyone.</a:t>
            </a:r>
          </a:p>
          <a:p>
            <a:r>
              <a:rPr lang="en-US" altLang="zh-TW" sz="2800" dirty="0"/>
              <a:t>Exception handling increases the complexity of high-performance implementations (pipelining, out-of-order execution). </a:t>
            </a:r>
          </a:p>
          <a:p>
            <a:r>
              <a:rPr lang="en-US" altLang="zh-TW" sz="2800" dirty="0"/>
              <a:t>Flexibility</a:t>
            </a:r>
          </a:p>
          <a:p>
            <a:pPr lvl="1"/>
            <a:r>
              <a:rPr lang="en-US" altLang="zh-TW" sz="2267" dirty="0"/>
              <a:t>Some applications want the wraparound behavior of the unsigned integers</a:t>
            </a:r>
            <a:endParaRPr lang="en-US" altLang="zh-TW" sz="2800" dirty="0"/>
          </a:p>
          <a:p>
            <a:pPr marL="0" indent="0">
              <a:buNone/>
            </a:pPr>
            <a:r>
              <a:rPr lang="en-US" altLang="zh-TW" sz="2400" dirty="0"/>
              <a:t>The potential performance impact and added complexity of traps have led to alternative approaches that rely on software or compiler support for overflow detection and handling.</a:t>
            </a:r>
          </a:p>
        </p:txBody>
      </p:sp>
      <p:sp>
        <p:nvSpPr>
          <p:cNvPr id="5" name="灯片编号占位符 2"/>
          <p:cNvSpPr>
            <a:spLocks noGrp="1"/>
          </p:cNvSpPr>
          <p:nvPr>
            <p:ph type="sldNum" sz="quarter" idx="10"/>
          </p:nvPr>
        </p:nvSpPr>
        <p:spPr>
          <a:xfrm>
            <a:off x="9108017" y="6518275"/>
            <a:ext cx="2844800" cy="3397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Tree>
    <p:extLst>
      <p:ext uri="{BB962C8B-B14F-4D97-AF65-F5344CB8AC3E}">
        <p14:creationId xmlns:p14="http://schemas.microsoft.com/office/powerpoint/2010/main" val="3620516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US" altLang="zh-TW" dirty="0"/>
              <a:t>Overflow Handling in RISC-V</a:t>
            </a:r>
            <a:endParaRPr lang="en-AU" altLang="zh-TW" dirty="0">
              <a:ea typeface="PMingLiU" panose="02020500000000000000" pitchFamily="18" charset="-120"/>
            </a:endParaRPr>
          </a:p>
        </p:txBody>
      </p:sp>
      <p:sp>
        <p:nvSpPr>
          <p:cNvPr id="31747" name="Rectangle 3"/>
          <p:cNvSpPr>
            <a:spLocks noGrp="1" noChangeArrowheads="1"/>
          </p:cNvSpPr>
          <p:nvPr>
            <p:ph type="body" idx="1"/>
          </p:nvPr>
        </p:nvSpPr>
        <p:spPr>
          <a:xfrm>
            <a:off x="212004" y="1125477"/>
            <a:ext cx="11767991" cy="5039109"/>
          </a:xfrm>
        </p:spPr>
        <p:txBody>
          <a:bodyPr/>
          <a:lstStyle/>
          <a:p>
            <a:r>
              <a:rPr lang="en-US" altLang="zh-TW" sz="2600" dirty="0"/>
              <a:t>RISC-V shifts the burden of </a:t>
            </a:r>
            <a:r>
              <a:rPr lang="en-US" altLang="zh-TW" sz="2600" i="1" dirty="0">
                <a:solidFill>
                  <a:srgbClr val="FF0000"/>
                </a:solidFill>
              </a:rPr>
              <a:t>arithmetic exception </a:t>
            </a:r>
            <a:r>
              <a:rPr lang="en-US" altLang="zh-TW" sz="2600" dirty="0"/>
              <a:t>handling to software. It does not require the hardware to generate traps. </a:t>
            </a:r>
          </a:p>
          <a:p>
            <a:r>
              <a:rPr lang="en-US" altLang="zh-TW" sz="2600" dirty="0"/>
              <a:t>For signed/unsigned integer operations, the responsibility is shifted to software. If the program needs to check for overflows, the compiler should explicitly generate instructions to do so. (e.g., </a:t>
            </a:r>
            <a:r>
              <a:rPr lang="en-US" sz="2000" b="0" i="0" dirty="0">
                <a:solidFill>
                  <a:srgbClr val="1F2937"/>
                </a:solidFill>
                <a:effectLst/>
                <a:latin typeface="ui-monospace"/>
              </a:rPr>
              <a:t>-</a:t>
            </a:r>
            <a:r>
              <a:rPr lang="en-US" sz="2000" b="0" i="0" dirty="0" err="1">
                <a:solidFill>
                  <a:srgbClr val="1F2937"/>
                </a:solidFill>
                <a:effectLst/>
                <a:latin typeface="ui-monospace"/>
              </a:rPr>
              <a:t>fsanitize</a:t>
            </a:r>
            <a:r>
              <a:rPr lang="en-US" sz="2000" b="0" i="0" dirty="0">
                <a:solidFill>
                  <a:srgbClr val="1F2937"/>
                </a:solidFill>
                <a:effectLst/>
                <a:latin typeface="ui-monospace"/>
              </a:rPr>
              <a:t>=undefined, or –</a:t>
            </a:r>
            <a:r>
              <a:rPr lang="en-US" sz="2000" b="0" i="0" dirty="0" err="1">
                <a:solidFill>
                  <a:srgbClr val="1F2937"/>
                </a:solidFill>
                <a:effectLst/>
                <a:latin typeface="ui-monospace"/>
              </a:rPr>
              <a:t>ftrapv</a:t>
            </a:r>
            <a:r>
              <a:rPr lang="en-US" sz="2000" b="0" i="0" dirty="0">
                <a:solidFill>
                  <a:srgbClr val="1F2937"/>
                </a:solidFill>
                <a:effectLst/>
                <a:latin typeface="ui-monospace"/>
              </a:rPr>
              <a:t> </a:t>
            </a:r>
            <a:r>
              <a:rPr lang="en-US" sz="2600" b="0" i="0" dirty="0">
                <a:solidFill>
                  <a:srgbClr val="1F2937"/>
                </a:solidFill>
                <a:effectLst/>
                <a:ea typeface="Calibri" panose="020F0502020204030204" pitchFamily="34" charset="0"/>
                <a:cs typeface="Calibri" panose="020F0502020204030204" pitchFamily="34" charset="0"/>
              </a:rPr>
              <a:t>)</a:t>
            </a:r>
            <a:endParaRPr lang="en-US" altLang="zh-TW" sz="2600" dirty="0">
              <a:ea typeface="Calibri" panose="020F0502020204030204" pitchFamily="34" charset="0"/>
              <a:cs typeface="Calibri" panose="020F0502020204030204" pitchFamily="34" charset="0"/>
            </a:endParaRPr>
          </a:p>
          <a:p>
            <a:r>
              <a:rPr lang="en-US" altLang="zh-TW" sz="2600" dirty="0"/>
              <a:t>For floating point operations, the hardware sets flags (</a:t>
            </a:r>
            <a:r>
              <a:rPr lang="en-US" altLang="zh-TW" sz="2600" dirty="0" err="1"/>
              <a:t>fflags</a:t>
            </a:r>
            <a:r>
              <a:rPr lang="en-US" altLang="zh-TW" sz="2600" dirty="0"/>
              <a:t> in </a:t>
            </a:r>
            <a:r>
              <a:rPr lang="en-US" altLang="zh-TW" sz="2600" b="1" dirty="0" err="1"/>
              <a:t>fcsr</a:t>
            </a:r>
            <a:r>
              <a:rPr lang="en-US" altLang="zh-TW" sz="2600" dirty="0"/>
              <a:t>) to indicate that the overflow/underflow has occurred. The software must explicitly check the flags if it cares about such exceptions.</a:t>
            </a:r>
          </a:p>
          <a:p>
            <a:r>
              <a:rPr lang="en-US" altLang="zh-TW" sz="2600" dirty="0"/>
              <a:t>Shifting overflow/underflow detection responsibility to software is not new for RISC machines. However, MIPS/ARM/Power ISA still provides instructions to demand the hardware to trap. RISC-V simply does not support such instructions in the core set. (if you really want that, add them to some extensions)</a:t>
            </a:r>
          </a:p>
        </p:txBody>
      </p:sp>
      <p:sp>
        <p:nvSpPr>
          <p:cNvPr id="5" name="灯片编号占位符 2"/>
          <p:cNvSpPr>
            <a:spLocks noGrp="1"/>
          </p:cNvSpPr>
          <p:nvPr>
            <p:ph type="sldNum" sz="quarter" idx="10"/>
          </p:nvPr>
        </p:nvSpPr>
        <p:spPr>
          <a:xfrm>
            <a:off x="9108017" y="6518275"/>
            <a:ext cx="2844800" cy="3397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Tree>
    <p:extLst>
      <p:ext uri="{BB962C8B-B14F-4D97-AF65-F5344CB8AC3E}">
        <p14:creationId xmlns:p14="http://schemas.microsoft.com/office/powerpoint/2010/main" val="3638209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US" altLang="zh-TW" dirty="0"/>
              <a:t>Overflow Handling in RISC-V</a:t>
            </a:r>
            <a:endParaRPr lang="en-AU" altLang="zh-TW" dirty="0">
              <a:ea typeface="PMingLiU" panose="02020500000000000000" pitchFamily="18" charset="-120"/>
            </a:endParaRPr>
          </a:p>
        </p:txBody>
      </p:sp>
      <p:sp>
        <p:nvSpPr>
          <p:cNvPr id="31747" name="Rectangle 3"/>
          <p:cNvSpPr>
            <a:spLocks noGrp="1" noChangeArrowheads="1"/>
          </p:cNvSpPr>
          <p:nvPr>
            <p:ph type="body" idx="1"/>
          </p:nvPr>
        </p:nvSpPr>
        <p:spPr>
          <a:xfrm>
            <a:off x="212004" y="1125477"/>
            <a:ext cx="11767991" cy="5039109"/>
          </a:xfrm>
        </p:spPr>
        <p:txBody>
          <a:bodyPr/>
          <a:lstStyle/>
          <a:p>
            <a:r>
              <a:rPr lang="en-US" altLang="zh-TW" sz="2600" dirty="0"/>
              <a:t>RISC-V shifts the burden of </a:t>
            </a:r>
            <a:r>
              <a:rPr lang="en-US" altLang="zh-TW" sz="2600" i="1" dirty="0">
                <a:solidFill>
                  <a:srgbClr val="FF0000"/>
                </a:solidFill>
              </a:rPr>
              <a:t>arithmetic exception </a:t>
            </a:r>
            <a:r>
              <a:rPr lang="en-US" altLang="zh-TW" sz="2600" dirty="0"/>
              <a:t>handling to software. It does not require the hardware to generate traps. </a:t>
            </a:r>
          </a:p>
          <a:p>
            <a:r>
              <a:rPr lang="en-US" altLang="zh-TW" sz="2600" dirty="0"/>
              <a:t>For signed/unsigned integer operations, the responsibility is shifted to software. If the program needs to check for overflows, the compiler should explicitly generate instructions to check for overflows.</a:t>
            </a:r>
          </a:p>
          <a:p>
            <a:r>
              <a:rPr lang="en-US" altLang="zh-TW" sz="2600" dirty="0"/>
              <a:t>For floating point operations, the hardware sets a flag to inform that the overflow/underflow has occurred. The software must explicitly check the flags if it cares about such exceptions.</a:t>
            </a:r>
          </a:p>
          <a:p>
            <a:r>
              <a:rPr lang="en-US" altLang="zh-TW" sz="2600" dirty="0"/>
              <a:t>Shifting overflow/underflow detection responsibility to software is not new for RISC machines. However, MIPS/ARM/Power ISA still provides instructions to demand the hardware to trap. RISC-V simply does not support such instructions in the core set. (if you really want that, add them to some extensions)</a:t>
            </a:r>
          </a:p>
        </p:txBody>
      </p:sp>
      <p:sp>
        <p:nvSpPr>
          <p:cNvPr id="5" name="灯片编号占位符 2"/>
          <p:cNvSpPr>
            <a:spLocks noGrp="1"/>
          </p:cNvSpPr>
          <p:nvPr>
            <p:ph type="sldNum" sz="quarter" idx="10"/>
          </p:nvPr>
        </p:nvSpPr>
        <p:spPr>
          <a:xfrm>
            <a:off x="9108017" y="6518275"/>
            <a:ext cx="2844800" cy="3397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2" name="TextBox 1">
            <a:extLst>
              <a:ext uri="{FF2B5EF4-FFF2-40B4-BE49-F238E27FC236}">
                <a16:creationId xmlns:a16="http://schemas.microsoft.com/office/drawing/2014/main" id="{AF2EE4FA-6B1D-4975-9D4B-6D3DC860EC20}"/>
              </a:ext>
            </a:extLst>
          </p:cNvPr>
          <p:cNvSpPr txBox="1"/>
          <p:nvPr/>
        </p:nvSpPr>
        <p:spPr>
          <a:xfrm>
            <a:off x="212005" y="2521059"/>
            <a:ext cx="11598996" cy="1384995"/>
          </a:xfrm>
          <a:prstGeom prst="rect">
            <a:avLst/>
          </a:prstGeom>
          <a:solidFill>
            <a:srgbClr val="FFFF00"/>
          </a:solidFill>
          <a:ln>
            <a:solidFill>
              <a:schemeClr val="tx2"/>
            </a:solidFill>
          </a:ln>
        </p:spPr>
        <p:txBody>
          <a:bodyPr wrap="squar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rial"/>
                <a:ea typeface="標楷體" pitchFamily="65" charset="-120"/>
                <a:cs typeface="Calibri" pitchFamily="34" charset="0"/>
              </a:rPr>
              <a:t>To support such traps, the hardware must have precise exceptions.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rial"/>
                <a:ea typeface="標楷體" pitchFamily="65" charset="-120"/>
                <a:cs typeface="Calibri" pitchFamily="34" charset="0"/>
              </a:rPr>
              <a:t>This necessitates that the execution pipeline retires instructions in order.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rial"/>
                <a:ea typeface="標楷體" pitchFamily="65" charset="-120"/>
                <a:cs typeface="Calibri" pitchFamily="34" charset="0"/>
              </a:rPr>
              <a:t>Such requirements limit the efficiency of pipeline implementation.</a:t>
            </a:r>
          </a:p>
        </p:txBody>
      </p:sp>
      <p:cxnSp>
        <p:nvCxnSpPr>
          <p:cNvPr id="4" name="Straight Arrow Connector 3">
            <a:extLst>
              <a:ext uri="{FF2B5EF4-FFF2-40B4-BE49-F238E27FC236}">
                <a16:creationId xmlns:a16="http://schemas.microsoft.com/office/drawing/2014/main" id="{C5AC8BBE-9354-46F5-A7A3-48E57B23F03E}"/>
              </a:ext>
            </a:extLst>
          </p:cNvPr>
          <p:cNvCxnSpPr>
            <a:cxnSpLocks/>
          </p:cNvCxnSpPr>
          <p:nvPr/>
        </p:nvCxnSpPr>
        <p:spPr bwMode="auto">
          <a:xfrm flipH="1">
            <a:off x="2743200" y="3906054"/>
            <a:ext cx="3981450" cy="1580346"/>
          </a:xfrm>
          <a:prstGeom prst="straightConnector1">
            <a:avLst/>
          </a:prstGeom>
          <a:noFill/>
          <a:ln w="571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547633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Instruction Execution Orders</a:t>
            </a:r>
          </a:p>
        </p:txBody>
      </p:sp>
      <p:sp>
        <p:nvSpPr>
          <p:cNvPr id="31747" name="Rectangle 3"/>
          <p:cNvSpPr>
            <a:spLocks noGrp="1" noChangeArrowheads="1"/>
          </p:cNvSpPr>
          <p:nvPr>
            <p:ph type="body" idx="1"/>
          </p:nvPr>
        </p:nvSpPr>
        <p:spPr>
          <a:xfrm>
            <a:off x="0" y="1125477"/>
            <a:ext cx="11767991" cy="5039109"/>
          </a:xfrm>
        </p:spPr>
        <p:txBody>
          <a:bodyPr/>
          <a:lstStyle/>
          <a:p>
            <a:r>
              <a:rPr lang="en-US" altLang="zh-TW" sz="2600" dirty="0"/>
              <a:t>Example code</a:t>
            </a:r>
          </a:p>
          <a:p>
            <a:pPr marL="0" indent="0">
              <a:buNone/>
            </a:pPr>
            <a:r>
              <a:rPr lang="en-US" altLang="zh-TW" sz="2600" dirty="0"/>
              <a:t>1	LD 	X2, 4(X10)</a:t>
            </a:r>
          </a:p>
          <a:p>
            <a:pPr marL="0" indent="0">
              <a:buNone/>
            </a:pPr>
            <a:r>
              <a:rPr lang="en-US" altLang="zh-TW" sz="2600" dirty="0"/>
              <a:t>2	ADD	X3, X2, X4</a:t>
            </a:r>
          </a:p>
          <a:p>
            <a:pPr marL="0" indent="0">
              <a:buNone/>
            </a:pPr>
            <a:r>
              <a:rPr lang="en-US" altLang="zh-TW" sz="2600" dirty="0"/>
              <a:t>3	DIV	X5, X6, X7</a:t>
            </a:r>
          </a:p>
          <a:p>
            <a:pPr marL="0" indent="0">
              <a:buNone/>
            </a:pPr>
            <a:r>
              <a:rPr lang="en-US" altLang="zh-TW" sz="2600" dirty="0"/>
              <a:t>4	ADD	X8, X5, X9</a:t>
            </a:r>
          </a:p>
          <a:p>
            <a:pPr marL="0" indent="0">
              <a:buNone/>
            </a:pPr>
            <a:r>
              <a:rPr lang="en-US" altLang="zh-TW" sz="2600" dirty="0"/>
              <a:t>5	AND 	X13, X11,X12</a:t>
            </a:r>
          </a:p>
          <a:p>
            <a:pPr marL="0" indent="0">
              <a:buNone/>
            </a:pPr>
            <a:r>
              <a:rPr lang="en-US" altLang="zh-TW" sz="2600" dirty="0"/>
              <a:t>6	…</a:t>
            </a:r>
          </a:p>
          <a:p>
            <a:pPr marL="0" indent="0">
              <a:buNone/>
            </a:pPr>
            <a:r>
              <a:rPr lang="en-US" altLang="zh-TW" sz="2600" dirty="0"/>
              <a:t>		</a:t>
            </a:r>
          </a:p>
        </p:txBody>
      </p:sp>
      <p:sp>
        <p:nvSpPr>
          <p:cNvPr id="5" name="灯片编号占位符 2"/>
          <p:cNvSpPr>
            <a:spLocks noGrp="1"/>
          </p:cNvSpPr>
          <p:nvPr>
            <p:ph type="sldNum" sz="quarter" idx="10"/>
          </p:nvPr>
        </p:nvSpPr>
        <p:spPr>
          <a:xfrm>
            <a:off x="9108017" y="6518275"/>
            <a:ext cx="2844800" cy="3397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2" name="Rectangle 1">
            <a:extLst>
              <a:ext uri="{FF2B5EF4-FFF2-40B4-BE49-F238E27FC236}">
                <a16:creationId xmlns:a16="http://schemas.microsoft.com/office/drawing/2014/main" id="{68800229-6B30-4709-9E9A-BA67AEFB50EE}"/>
              </a:ext>
            </a:extLst>
          </p:cNvPr>
          <p:cNvSpPr/>
          <p:nvPr/>
        </p:nvSpPr>
        <p:spPr bwMode="auto">
          <a:xfrm>
            <a:off x="4897981" y="1125477"/>
            <a:ext cx="3108032" cy="498551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1800" b="1" i="0" u="none" strike="noStrike" kern="1200" cap="none" spc="0" normalizeH="0" baseline="0" noProof="0">
              <a:ln>
                <a:noFill/>
              </a:ln>
              <a:solidFill>
                <a:prstClr val="black"/>
              </a:solidFill>
              <a:effectLst/>
              <a:uLnTx/>
              <a:uFillTx/>
              <a:latin typeface="Arial" pitchFamily="34" charset="0"/>
              <a:ea typeface="新細明體" pitchFamily="18" charset="-120"/>
              <a:cs typeface="+mn-cs"/>
            </a:endParaRPr>
          </a:p>
        </p:txBody>
      </p:sp>
      <p:sp>
        <p:nvSpPr>
          <p:cNvPr id="3" name="TextBox 2">
            <a:extLst>
              <a:ext uri="{FF2B5EF4-FFF2-40B4-BE49-F238E27FC236}">
                <a16:creationId xmlns:a16="http://schemas.microsoft.com/office/drawing/2014/main" id="{DC15F964-9814-4F53-9EF8-D913C4B30221}"/>
              </a:ext>
            </a:extLst>
          </p:cNvPr>
          <p:cNvSpPr txBox="1"/>
          <p:nvPr/>
        </p:nvSpPr>
        <p:spPr>
          <a:xfrm>
            <a:off x="5126955" y="1155579"/>
            <a:ext cx="2650084" cy="461665"/>
          </a:xfrm>
          <a:prstGeom prst="rect">
            <a:avLst/>
          </a:prstGeom>
          <a:noFill/>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a:ea typeface="標楷體" pitchFamily="65" charset="-120"/>
                <a:cs typeface="Calibri" pitchFamily="34" charset="0"/>
              </a:rPr>
              <a:t>In order execution</a:t>
            </a:r>
          </a:p>
        </p:txBody>
      </p:sp>
      <p:sp>
        <p:nvSpPr>
          <p:cNvPr id="7" name="TextBox 6">
            <a:extLst>
              <a:ext uri="{FF2B5EF4-FFF2-40B4-BE49-F238E27FC236}">
                <a16:creationId xmlns:a16="http://schemas.microsoft.com/office/drawing/2014/main" id="{96FA0F86-151A-4A0C-A4B4-CAB4CB1E2C7A}"/>
              </a:ext>
            </a:extLst>
          </p:cNvPr>
          <p:cNvSpPr txBox="1"/>
          <p:nvPr/>
        </p:nvSpPr>
        <p:spPr>
          <a:xfrm>
            <a:off x="4950080" y="1755976"/>
            <a:ext cx="2916183" cy="3785652"/>
          </a:xfrm>
          <a:prstGeom prst="rect">
            <a:avLst/>
          </a:prstGeom>
          <a:noFill/>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Architecture states 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updated in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X2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X3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X5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X8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X13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If any </a:t>
            </a:r>
            <a:r>
              <a:rPr kumimoji="0" lang="en-US" sz="2000" b="0" i="0" u="none" strike="noStrike" kern="1200" cap="none" spc="0" normalizeH="0" baseline="0" noProof="0" dirty="0" err="1">
                <a:ln>
                  <a:noFill/>
                </a:ln>
                <a:solidFill>
                  <a:prstClr val="black"/>
                </a:solidFill>
                <a:effectLst/>
                <a:uLnTx/>
                <a:uFillTx/>
                <a:latin typeface="Arial"/>
                <a:ea typeface="標楷體" pitchFamily="65" charset="-120"/>
                <a:cs typeface="Calibri" pitchFamily="34" charset="0"/>
              </a:rPr>
              <a:t>inst</a:t>
            </a: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 generates an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exception, the updated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Arch states are precise.</a:t>
            </a:r>
          </a:p>
        </p:txBody>
      </p:sp>
      <p:sp>
        <p:nvSpPr>
          <p:cNvPr id="8" name="Rectangle 7">
            <a:extLst>
              <a:ext uri="{FF2B5EF4-FFF2-40B4-BE49-F238E27FC236}">
                <a16:creationId xmlns:a16="http://schemas.microsoft.com/office/drawing/2014/main" id="{C87D3A0B-658A-41CF-B77D-7944029F9304}"/>
              </a:ext>
            </a:extLst>
          </p:cNvPr>
          <p:cNvSpPr/>
          <p:nvPr/>
        </p:nvSpPr>
        <p:spPr bwMode="auto">
          <a:xfrm>
            <a:off x="8182831" y="1125477"/>
            <a:ext cx="3769986" cy="498551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1800" b="1" i="0" u="none" strike="noStrike" kern="1200" cap="none" spc="0" normalizeH="0" baseline="0" noProof="0">
              <a:ln>
                <a:noFill/>
              </a:ln>
              <a:solidFill>
                <a:prstClr val="black"/>
              </a:solidFill>
              <a:effectLst/>
              <a:uLnTx/>
              <a:uFillTx/>
              <a:latin typeface="Arial" pitchFamily="34" charset="0"/>
              <a:ea typeface="新細明體" pitchFamily="18" charset="-120"/>
              <a:cs typeface="+mn-cs"/>
            </a:endParaRPr>
          </a:p>
        </p:txBody>
      </p:sp>
      <p:sp>
        <p:nvSpPr>
          <p:cNvPr id="9" name="TextBox 8">
            <a:extLst>
              <a:ext uri="{FF2B5EF4-FFF2-40B4-BE49-F238E27FC236}">
                <a16:creationId xmlns:a16="http://schemas.microsoft.com/office/drawing/2014/main" id="{2D364D9A-81C2-4ADA-AC44-2305EFE6A517}"/>
              </a:ext>
            </a:extLst>
          </p:cNvPr>
          <p:cNvSpPr txBox="1"/>
          <p:nvPr/>
        </p:nvSpPr>
        <p:spPr>
          <a:xfrm>
            <a:off x="8323361" y="1184154"/>
            <a:ext cx="3230372" cy="461665"/>
          </a:xfrm>
          <a:prstGeom prst="rect">
            <a:avLst/>
          </a:prstGeom>
          <a:noFill/>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a:ea typeface="標楷體" pitchFamily="65" charset="-120"/>
                <a:cs typeface="Calibri" pitchFamily="34" charset="0"/>
              </a:rPr>
              <a:t>Out of order execution</a:t>
            </a:r>
          </a:p>
        </p:txBody>
      </p:sp>
      <p:sp>
        <p:nvSpPr>
          <p:cNvPr id="10" name="TextBox 9">
            <a:extLst>
              <a:ext uri="{FF2B5EF4-FFF2-40B4-BE49-F238E27FC236}">
                <a16:creationId xmlns:a16="http://schemas.microsoft.com/office/drawing/2014/main" id="{C58AE0CB-32C1-4DF0-944A-59F173EACAF0}"/>
              </a:ext>
            </a:extLst>
          </p:cNvPr>
          <p:cNvSpPr txBox="1"/>
          <p:nvPr/>
        </p:nvSpPr>
        <p:spPr>
          <a:xfrm>
            <a:off x="8257543" y="2075458"/>
            <a:ext cx="3929281" cy="3785652"/>
          </a:xfrm>
          <a:prstGeom prst="rect">
            <a:avLst/>
          </a:prstGeom>
          <a:noFill/>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What if the execution order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1 LD,   X2,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3 DIV,  X5,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5 AND X13,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AND, instruction 5 would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finish before </a:t>
            </a:r>
            <a:r>
              <a:rPr kumimoji="0" lang="en-US" sz="2000" b="0" i="0" u="none" strike="noStrike" kern="1200" cap="none" spc="0" normalizeH="0" baseline="0" noProof="0" dirty="0" err="1">
                <a:ln>
                  <a:noFill/>
                </a:ln>
                <a:solidFill>
                  <a:prstClr val="black"/>
                </a:solidFill>
                <a:effectLst/>
                <a:uLnTx/>
                <a:uFillTx/>
                <a:latin typeface="Arial"/>
                <a:ea typeface="標楷體" pitchFamily="65" charset="-120"/>
                <a:cs typeface="Calibri" pitchFamily="34" charset="0"/>
              </a:rPr>
              <a:t>inst</a:t>
            </a: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If </a:t>
            </a:r>
            <a:r>
              <a:rPr kumimoji="0" lang="en-US" sz="2000" b="0" i="0" u="none" strike="noStrike" kern="1200" cap="none" spc="0" normalizeH="0" baseline="0" noProof="0" dirty="0" err="1">
                <a:ln>
                  <a:noFill/>
                </a:ln>
                <a:solidFill>
                  <a:prstClr val="black"/>
                </a:solidFill>
                <a:effectLst/>
                <a:uLnTx/>
                <a:uFillTx/>
                <a:latin typeface="Arial"/>
                <a:ea typeface="標楷體" pitchFamily="65" charset="-120"/>
                <a:cs typeface="Calibri" pitchFamily="34" charset="0"/>
              </a:rPr>
              <a:t>inst</a:t>
            </a: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 3 generates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標楷體" pitchFamily="65" charset="-120"/>
                <a:cs typeface="Calibri" pitchFamily="34" charset="0"/>
              </a:rPr>
              <a:t>Trap (e.g., div by 0)</a:t>
            </a: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X13 may be incorrectly updated. </a:t>
            </a:r>
          </a:p>
        </p:txBody>
      </p:sp>
      <p:sp>
        <p:nvSpPr>
          <p:cNvPr id="4" name="Arrow: Left 3">
            <a:extLst>
              <a:ext uri="{FF2B5EF4-FFF2-40B4-BE49-F238E27FC236}">
                <a16:creationId xmlns:a16="http://schemas.microsoft.com/office/drawing/2014/main" id="{81836C55-9486-4272-9E09-C4F810BAA2EA}"/>
              </a:ext>
            </a:extLst>
          </p:cNvPr>
          <p:cNvSpPr/>
          <p:nvPr/>
        </p:nvSpPr>
        <p:spPr bwMode="auto">
          <a:xfrm>
            <a:off x="3133725" y="1946871"/>
            <a:ext cx="476250" cy="257175"/>
          </a:xfrm>
          <a:prstGeom prst="lef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1800" b="1" i="0" u="none" strike="noStrike" kern="1200" cap="none" spc="0" normalizeH="0" baseline="0" noProof="0">
              <a:ln>
                <a:noFill/>
              </a:ln>
              <a:solidFill>
                <a:prstClr val="black"/>
              </a:solidFill>
              <a:effectLst/>
              <a:uLnTx/>
              <a:uFillTx/>
              <a:latin typeface="Arial" pitchFamily="34" charset="0"/>
              <a:ea typeface="新細明體" pitchFamily="18" charset="-120"/>
              <a:cs typeface="+mn-cs"/>
            </a:endParaRPr>
          </a:p>
        </p:txBody>
      </p:sp>
      <p:sp>
        <p:nvSpPr>
          <p:cNvPr id="12" name="Arrow: Left 11">
            <a:extLst>
              <a:ext uri="{FF2B5EF4-FFF2-40B4-BE49-F238E27FC236}">
                <a16:creationId xmlns:a16="http://schemas.microsoft.com/office/drawing/2014/main" id="{C5D5DC85-0458-4EC0-9B64-D4F42ED7AC40}"/>
              </a:ext>
            </a:extLst>
          </p:cNvPr>
          <p:cNvSpPr/>
          <p:nvPr/>
        </p:nvSpPr>
        <p:spPr bwMode="auto">
          <a:xfrm>
            <a:off x="3107835" y="2896852"/>
            <a:ext cx="476250" cy="257175"/>
          </a:xfrm>
          <a:prstGeom prst="lef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1800" b="1" i="0" u="none" strike="noStrike" kern="1200" cap="none" spc="0" normalizeH="0" baseline="0" noProof="0">
              <a:ln>
                <a:noFill/>
              </a:ln>
              <a:solidFill>
                <a:prstClr val="black"/>
              </a:solidFill>
              <a:effectLst/>
              <a:uLnTx/>
              <a:uFillTx/>
              <a:latin typeface="Arial" pitchFamily="34" charset="0"/>
              <a:ea typeface="新細明體" pitchFamily="18" charset="-120"/>
              <a:cs typeface="+mn-cs"/>
            </a:endParaRPr>
          </a:p>
        </p:txBody>
      </p:sp>
      <p:sp>
        <p:nvSpPr>
          <p:cNvPr id="6" name="TextBox 5">
            <a:extLst>
              <a:ext uri="{FF2B5EF4-FFF2-40B4-BE49-F238E27FC236}">
                <a16:creationId xmlns:a16="http://schemas.microsoft.com/office/drawing/2014/main" id="{5951A6A9-43BE-40C2-A12F-38DDE3D7EA09}"/>
              </a:ext>
            </a:extLst>
          </p:cNvPr>
          <p:cNvSpPr txBox="1"/>
          <p:nvPr/>
        </p:nvSpPr>
        <p:spPr>
          <a:xfrm>
            <a:off x="3584085" y="1858845"/>
            <a:ext cx="915635" cy="369332"/>
          </a:xfrm>
          <a:prstGeom prst="rect">
            <a:avLst/>
          </a:prstGeom>
          <a:solidFill>
            <a:srgbClr val="FFFF00"/>
          </a:solidFill>
          <a:ln>
            <a:solidFill>
              <a:srgbClr val="FF0000"/>
            </a:solidFill>
          </a:ln>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latency</a:t>
            </a:r>
          </a:p>
        </p:txBody>
      </p:sp>
      <p:sp>
        <p:nvSpPr>
          <p:cNvPr id="14" name="TextBox 13">
            <a:extLst>
              <a:ext uri="{FF2B5EF4-FFF2-40B4-BE49-F238E27FC236}">
                <a16:creationId xmlns:a16="http://schemas.microsoft.com/office/drawing/2014/main" id="{30EEFD14-9F8B-426E-BEF9-7432157A56A2}"/>
              </a:ext>
            </a:extLst>
          </p:cNvPr>
          <p:cNvSpPr txBox="1"/>
          <p:nvPr/>
        </p:nvSpPr>
        <p:spPr>
          <a:xfrm>
            <a:off x="3599986" y="2840773"/>
            <a:ext cx="915635" cy="369332"/>
          </a:xfrm>
          <a:prstGeom prst="rect">
            <a:avLst/>
          </a:prstGeom>
          <a:solidFill>
            <a:srgbClr val="FFFF00"/>
          </a:solidFill>
          <a:ln>
            <a:solidFill>
              <a:srgbClr val="FF0000"/>
            </a:solidFill>
          </a:ln>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latency</a:t>
            </a:r>
          </a:p>
        </p:txBody>
      </p:sp>
      <p:cxnSp>
        <p:nvCxnSpPr>
          <p:cNvPr id="13" name="Straight Arrow Connector 12">
            <a:extLst>
              <a:ext uri="{FF2B5EF4-FFF2-40B4-BE49-F238E27FC236}">
                <a16:creationId xmlns:a16="http://schemas.microsoft.com/office/drawing/2014/main" id="{38FF2936-F477-4DE1-8F60-D6BEB7E5F163}"/>
              </a:ext>
            </a:extLst>
          </p:cNvPr>
          <p:cNvCxnSpPr/>
          <p:nvPr/>
        </p:nvCxnSpPr>
        <p:spPr bwMode="auto">
          <a:xfrm>
            <a:off x="2114550" y="1946871"/>
            <a:ext cx="266700" cy="281306"/>
          </a:xfrm>
          <a:prstGeom prst="straightConnector1">
            <a:avLst/>
          </a:prstGeom>
          <a:noFill/>
          <a:ln w="15875"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F9321822-D7DE-4999-8486-4FC1686C3DEE}"/>
              </a:ext>
            </a:extLst>
          </p:cNvPr>
          <p:cNvCxnSpPr/>
          <p:nvPr/>
        </p:nvCxnSpPr>
        <p:spPr bwMode="auto">
          <a:xfrm>
            <a:off x="2247900" y="2908918"/>
            <a:ext cx="266700" cy="281306"/>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4222967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297499" y="178967"/>
            <a:ext cx="9019739" cy="592821"/>
          </a:xfrm>
        </p:spPr>
        <p:txBody>
          <a:bodyPr/>
          <a:lstStyle/>
          <a:p>
            <a:r>
              <a:rPr lang="en-AU" altLang="zh-TW" dirty="0">
                <a:ea typeface="PMingLiU" panose="02020500000000000000" pitchFamily="18" charset="-120"/>
              </a:rPr>
              <a:t>Precise Exception</a:t>
            </a:r>
          </a:p>
        </p:txBody>
      </p:sp>
      <p:sp>
        <p:nvSpPr>
          <p:cNvPr id="5" name="灯片编号占位符 2"/>
          <p:cNvSpPr>
            <a:spLocks noGrp="1"/>
          </p:cNvSpPr>
          <p:nvPr>
            <p:ph type="sldNum" sz="quarter" idx="10"/>
          </p:nvPr>
        </p:nvSpPr>
        <p:spPr>
          <a:xfrm>
            <a:off x="9108017" y="6518275"/>
            <a:ext cx="2844800" cy="3397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3" name="Rectangle 1">
            <a:extLst>
              <a:ext uri="{FF2B5EF4-FFF2-40B4-BE49-F238E27FC236}">
                <a16:creationId xmlns:a16="http://schemas.microsoft.com/office/drawing/2014/main" id="{CFFE51D7-089C-403E-922C-0F7717626080}"/>
              </a:ext>
            </a:extLst>
          </p:cNvPr>
          <p:cNvSpPr>
            <a:spLocks noGrp="1" noChangeArrowheads="1"/>
          </p:cNvSpPr>
          <p:nvPr>
            <p:ph type="body" idx="1"/>
          </p:nvPr>
        </p:nvSpPr>
        <p:spPr bwMode="auto">
          <a:xfrm>
            <a:off x="402344" y="1151945"/>
            <a:ext cx="10030310" cy="4986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precise exception is a type of exception or interrupt that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Arial" panose="020B0604020202020204" pitchFamily="34" charset="0"/>
              </a:rPr>
              <a:t>allows a program to be stopped and then resumed in a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1" u="none" strike="noStrike" cap="none" normalizeH="0" baseline="0" dirty="0">
                <a:ln>
                  <a:noFill/>
                </a:ln>
                <a:solidFill>
                  <a:srgbClr val="FF0000"/>
                </a:solidFill>
                <a:effectLst/>
                <a:latin typeface="Arial" panose="020B0604020202020204" pitchFamily="34" charset="0"/>
              </a:rPr>
              <a:t>well-defined state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Think of it like hitting "pause" on a movie—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you can resume from the exact frame where you stopped.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panose="020B0604020202020204" pitchFamily="34" charset="0"/>
              </a:rPr>
              <a:t>Precise</a:t>
            </a:r>
          </a:p>
          <a:p>
            <a:pPr lvl="1" eaLnBrk="0" hangingPunct="0">
              <a:spcBef>
                <a:spcPct val="0"/>
              </a:spcBef>
              <a:buClrTx/>
              <a:buSzTx/>
              <a:buFont typeface="Wingdings" panose="05000000000000000000" pitchFamily="2" charset="2"/>
              <a:buChar char="§"/>
            </a:pPr>
            <a:r>
              <a:rPr kumimoji="0" lang="en-US" altLang="en-US" sz="2267" dirty="0">
                <a:latin typeface="Arial" panose="020B0604020202020204" pitchFamily="34" charset="0"/>
              </a:rPr>
              <a:t>Clean state</a:t>
            </a:r>
          </a:p>
          <a:p>
            <a:pPr lvl="1" eaLnBrk="0" hangingPunct="0">
              <a:spcBef>
                <a:spcPct val="0"/>
              </a:spcBef>
              <a:buClrTx/>
              <a:buSzTx/>
              <a:buFont typeface="Wingdings" panose="05000000000000000000" pitchFamily="2" charset="2"/>
              <a:buChar char="§"/>
            </a:pPr>
            <a:r>
              <a:rPr kumimoji="0" lang="en-US" altLang="en-US" sz="2267" b="0" i="0" u="none" strike="noStrike" cap="none" normalizeH="0" baseline="0" dirty="0">
                <a:ln>
                  <a:noFill/>
                </a:ln>
                <a:solidFill>
                  <a:schemeClr val="tx1"/>
                </a:solidFill>
                <a:effectLst/>
                <a:latin typeface="Arial" panose="020B0604020202020204" pitchFamily="34" charset="0"/>
              </a:rPr>
              <a:t>Re-</a:t>
            </a:r>
            <a:r>
              <a:rPr kumimoji="0" lang="en-US" altLang="en-US" sz="2267" b="0" i="0" u="none" strike="noStrike" cap="none" normalizeH="0" baseline="0" dirty="0" err="1">
                <a:ln>
                  <a:noFill/>
                </a:ln>
                <a:solidFill>
                  <a:schemeClr val="tx1"/>
                </a:solidFill>
                <a:effectLst/>
                <a:latin typeface="Arial" panose="020B0604020202020204" pitchFamily="34" charset="0"/>
              </a:rPr>
              <a:t>startable</a:t>
            </a:r>
            <a:endParaRPr kumimoji="0" lang="en-US" altLang="en-US" sz="2267" b="0" i="0" u="none" strike="noStrike" cap="none" normalizeH="0" baseline="0" dirty="0">
              <a:ln>
                <a:noFill/>
              </a:ln>
              <a:solidFill>
                <a:schemeClr val="tx1"/>
              </a:solidFill>
              <a:effectLst/>
              <a:latin typeface="Arial" panose="020B0604020202020204" pitchFamily="34" charset="0"/>
            </a:endParaRPr>
          </a:p>
          <a:p>
            <a:pPr lvl="2" eaLnBrk="0" hangingPunct="0">
              <a:spcBef>
                <a:spcPct val="0"/>
              </a:spcBef>
              <a:buFont typeface="Wingdings" panose="05000000000000000000" pitchFamily="2" charset="2"/>
              <a:buChar char="§"/>
            </a:pPr>
            <a:r>
              <a:rPr kumimoji="0" lang="en-US" altLang="en-US" sz="2200" b="0" i="0" u="none" strike="noStrike" cap="none" normalizeH="0" baseline="0" dirty="0">
                <a:ln>
                  <a:noFill/>
                </a:ln>
                <a:solidFill>
                  <a:schemeClr val="tx1"/>
                </a:solidFill>
                <a:effectLst/>
                <a:latin typeface="Arial" panose="020B0604020202020204" pitchFamily="34" charset="0"/>
              </a:rPr>
              <a:t>The program can be resumed from the exact instruction that caused </a:t>
            </a:r>
          </a:p>
          <a:p>
            <a:pPr marL="914354" lvl="2" indent="0" eaLnBrk="0" hangingPunct="0">
              <a:spcBef>
                <a:spcPct val="0"/>
              </a:spcBef>
              <a:buNone/>
            </a:pPr>
            <a:r>
              <a:rPr kumimoji="0" lang="en-US" altLang="en-US" sz="2200" b="0" i="0" u="none" strike="noStrike" cap="none" normalizeH="0" baseline="0" dirty="0">
                <a:ln>
                  <a:noFill/>
                </a:ln>
                <a:solidFill>
                  <a:schemeClr val="tx1"/>
                </a:solidFill>
                <a:effectLst/>
                <a:latin typeface="Arial" panose="020B0604020202020204" pitchFamily="34" charset="0"/>
              </a:rPr>
              <a:t>   the exception</a:t>
            </a:r>
          </a:p>
          <a:p>
            <a:pPr lvl="1" eaLnBrk="0" hangingPunct="0">
              <a:spcBef>
                <a:spcPct val="0"/>
              </a:spcBef>
              <a:buClrTx/>
              <a:buSzTx/>
              <a:buFont typeface="Wingdings" panose="05000000000000000000" pitchFamily="2" charset="2"/>
              <a:buChar char="§"/>
            </a:pPr>
            <a:r>
              <a:rPr kumimoji="0" lang="en-US" altLang="en-US" sz="2267" dirty="0">
                <a:latin typeface="Arial" panose="020B0604020202020204" pitchFamily="34" charset="0"/>
              </a:rPr>
              <a:t>Consistent execution</a:t>
            </a:r>
          </a:p>
          <a:p>
            <a:pPr lvl="2" eaLnBrk="0" hangingPunct="0">
              <a:spcBef>
                <a:spcPct val="0"/>
              </a:spcBef>
              <a:buFont typeface="Wingdings" panose="05000000000000000000" pitchFamily="2" charset="2"/>
              <a:buChar char="§"/>
            </a:pPr>
            <a:r>
              <a:rPr lang="en-US" sz="2200" dirty="0"/>
              <a:t>It is as if the exception never happened</a:t>
            </a:r>
          </a:p>
          <a:p>
            <a:pPr eaLnBrk="0" hangingPunct="0">
              <a:spcBef>
                <a:spcPct val="0"/>
              </a:spcBef>
              <a:buFont typeface="Wingdings" panose="05000000000000000000" pitchFamily="2" charset="2"/>
              <a:buChar char="§"/>
            </a:pPr>
            <a:r>
              <a:rPr kumimoji="0" lang="en-US" altLang="en-US" sz="2400" b="0" i="0" u="none" strike="noStrike" cap="none" normalizeH="0" baseline="0" dirty="0">
                <a:ln>
                  <a:noFill/>
                </a:ln>
                <a:solidFill>
                  <a:schemeClr val="tx1"/>
                </a:solidFill>
                <a:effectLst/>
                <a:highlight>
                  <a:srgbClr val="FFFF00"/>
                </a:highlight>
                <a:latin typeface="Arial" panose="020B0604020202020204" pitchFamily="34" charset="0"/>
              </a:rPr>
              <a:t>Precise exception makes out-of-order execution difficult to implement.</a:t>
            </a:r>
          </a:p>
        </p:txBody>
      </p:sp>
    </p:spTree>
    <p:extLst>
      <p:ext uri="{BB962C8B-B14F-4D97-AF65-F5344CB8AC3E}">
        <p14:creationId xmlns:p14="http://schemas.microsoft.com/office/powerpoint/2010/main" val="2753233941"/>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30169</TotalTime>
  <Words>3187</Words>
  <Application>Microsoft Office PowerPoint</Application>
  <PresentationFormat>宽屏</PresentationFormat>
  <Paragraphs>472</Paragraphs>
  <Slides>30</Slides>
  <Notes>23</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30</vt:i4>
      </vt:variant>
    </vt:vector>
  </HeadingPairs>
  <TitlesOfParts>
    <vt:vector size="51" baseType="lpstr">
      <vt:lpstr>Arial Unicode MS</vt:lpstr>
      <vt:lpstr>標楷體</vt:lpstr>
      <vt:lpstr>KaTeX_Main</vt:lpstr>
      <vt:lpstr>KaTeX_Math</vt:lpstr>
      <vt:lpstr>MS Sans Serif</vt:lpstr>
      <vt:lpstr>PMingLiU</vt:lpstr>
      <vt:lpstr>ui-monospace</vt:lpstr>
      <vt:lpstr>ui-sans-serif</vt:lpstr>
      <vt:lpstr>华文楷体</vt:lpstr>
      <vt:lpstr>Arial</vt:lpstr>
      <vt:lpstr>Calibri</vt:lpstr>
      <vt:lpstr>Calibri Light</vt:lpstr>
      <vt:lpstr>Cambria Math</vt:lpstr>
      <vt:lpstr>Century Gothic</vt:lpstr>
      <vt:lpstr>Courier New</vt:lpstr>
      <vt:lpstr>Fira Code</vt:lpstr>
      <vt:lpstr>Tahoma</vt:lpstr>
      <vt:lpstr>Times New Roman</vt:lpstr>
      <vt:lpstr>Wingdings</vt:lpstr>
      <vt:lpstr>NTHU UniCloud</vt:lpstr>
      <vt:lpstr>自訂設計</vt:lpstr>
      <vt:lpstr>CSC3060   Chapter 2:  Integer Arithmetic</vt:lpstr>
      <vt:lpstr>Addition and Subtraction (I)</vt:lpstr>
      <vt:lpstr>Addition and Subtraction (II)</vt:lpstr>
      <vt:lpstr>Integer Overflows </vt:lpstr>
      <vt:lpstr>Overflow Detections</vt:lpstr>
      <vt:lpstr>Overflow Detections</vt:lpstr>
      <vt:lpstr>One Bit Full Adder</vt:lpstr>
      <vt:lpstr>An 1-bit ALU – And, Or, and Add Operations</vt:lpstr>
      <vt:lpstr>A 4-bit ALU – And, Or, and Add Operations</vt:lpstr>
      <vt:lpstr>Subtraction Operation</vt:lpstr>
      <vt:lpstr>(Simplified) 1-bit ALU </vt:lpstr>
      <vt:lpstr>(Simplified) 32-bit ALU</vt:lpstr>
      <vt:lpstr>Carry Lookahead Adder</vt:lpstr>
      <vt:lpstr>A Practical Carry Lookahead Adder</vt:lpstr>
      <vt:lpstr>Multiplication</vt:lpstr>
      <vt:lpstr>Multiplication Hardware (1st Version)</vt:lpstr>
      <vt:lpstr>Signed Multiplication</vt:lpstr>
      <vt:lpstr>Shift and Add to replace Multiply</vt:lpstr>
      <vt:lpstr>Faster Multiplication</vt:lpstr>
      <vt:lpstr>Divide: Paper &amp; Pencil</vt:lpstr>
      <vt:lpstr>Divide Hardware - Version 1 (1)</vt:lpstr>
      <vt:lpstr>PowerPoint 演示文稿</vt:lpstr>
      <vt:lpstr>Signed Division </vt:lpstr>
      <vt:lpstr>Multiply/Divide by Power of 2</vt:lpstr>
      <vt:lpstr>PowerPoint 演示文稿</vt:lpstr>
      <vt:lpstr>Let HW Traps on Overflow</vt:lpstr>
      <vt:lpstr>Overflow Handling in RISC-V</vt:lpstr>
      <vt:lpstr>Overflow Handling in RISC-V</vt:lpstr>
      <vt:lpstr>Instruction Execution Orders</vt:lpstr>
      <vt:lpstr>Precise Exception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Chaoyi Sun (SDS,124090550)</cp:lastModifiedBy>
  <cp:revision>330</cp:revision>
  <dcterms:created xsi:type="dcterms:W3CDTF">2020-07-15T11:13:39Z</dcterms:created>
  <dcterms:modified xsi:type="dcterms:W3CDTF">2026-01-25T04:17:54Z</dcterms:modified>
</cp:coreProperties>
</file>