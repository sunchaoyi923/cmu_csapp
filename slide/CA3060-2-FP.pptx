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60" r:id="rId2"/>
    <p:sldMasterId id="2147483686" r:id="rId3"/>
  </p:sldMasterIdLst>
  <p:notesMasterIdLst>
    <p:notesMasterId r:id="rId50"/>
  </p:notesMasterIdLst>
  <p:handoutMasterIdLst>
    <p:handoutMasterId r:id="rId51"/>
  </p:handoutMasterIdLst>
  <p:sldIdLst>
    <p:sldId id="256" r:id="rId4"/>
    <p:sldId id="1389" r:id="rId5"/>
    <p:sldId id="581" r:id="rId6"/>
    <p:sldId id="328" r:id="rId7"/>
    <p:sldId id="597" r:id="rId8"/>
    <p:sldId id="471" r:id="rId9"/>
    <p:sldId id="475" r:id="rId10"/>
    <p:sldId id="583" r:id="rId11"/>
    <p:sldId id="598" r:id="rId12"/>
    <p:sldId id="1390" r:id="rId13"/>
    <p:sldId id="599" r:id="rId14"/>
    <p:sldId id="600" r:id="rId15"/>
    <p:sldId id="606" r:id="rId16"/>
    <p:sldId id="1383" r:id="rId17"/>
    <p:sldId id="1385" r:id="rId18"/>
    <p:sldId id="1386" r:id="rId19"/>
    <p:sldId id="473" r:id="rId20"/>
    <p:sldId id="602" r:id="rId21"/>
    <p:sldId id="474" r:id="rId22"/>
    <p:sldId id="572" r:id="rId23"/>
    <p:sldId id="573" r:id="rId24"/>
    <p:sldId id="588" r:id="rId25"/>
    <p:sldId id="589" r:id="rId26"/>
    <p:sldId id="1384" r:id="rId27"/>
    <p:sldId id="1387" r:id="rId28"/>
    <p:sldId id="1388" r:id="rId29"/>
    <p:sldId id="476" r:id="rId30"/>
    <p:sldId id="477" r:id="rId31"/>
    <p:sldId id="478" r:id="rId32"/>
    <p:sldId id="479" r:id="rId33"/>
    <p:sldId id="480" r:id="rId34"/>
    <p:sldId id="1380" r:id="rId35"/>
    <p:sldId id="1381" r:id="rId36"/>
    <p:sldId id="1382" r:id="rId37"/>
    <p:sldId id="584" r:id="rId38"/>
    <p:sldId id="1365" r:id="rId39"/>
    <p:sldId id="1394" r:id="rId40"/>
    <p:sldId id="1359" r:id="rId41"/>
    <p:sldId id="1362" r:id="rId42"/>
    <p:sldId id="1360" r:id="rId43"/>
    <p:sldId id="1363" r:id="rId44"/>
    <p:sldId id="1391" r:id="rId45"/>
    <p:sldId id="1392" r:id="rId46"/>
    <p:sldId id="1395" r:id="rId47"/>
    <p:sldId id="1393" r:id="rId48"/>
    <p:sldId id="1396" r:id="rId49"/>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rof. HSU Wei-Chung (SDS)" initials="PHWC(" lastIdx="1" clrIdx="0">
    <p:extLst>
      <p:ext uri="{19B8F6BF-5375-455C-9EA6-DF929625EA0E}">
        <p15:presenceInfo xmlns:p15="http://schemas.microsoft.com/office/powerpoint/2012/main" userId="S::hsuweichung@cuhk.edu.cn::ab9b4de3-ae37-4051-85ad-bf43c49dbd3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00" autoAdjust="0"/>
    <p:restoredTop sz="94660"/>
  </p:normalViewPr>
  <p:slideViewPr>
    <p:cSldViewPr snapToGrid="0">
      <p:cViewPr varScale="1">
        <p:scale>
          <a:sx n="102" d="100"/>
          <a:sy n="102" d="100"/>
        </p:scale>
        <p:origin x="92" y="88"/>
      </p:cViewPr>
      <p:guideLst/>
    </p:cSldViewPr>
  </p:slideViewPr>
  <p:notesTextViewPr>
    <p:cViewPr>
      <p:scale>
        <a:sx n="1" d="1"/>
        <a:sy n="1" d="1"/>
      </p:scale>
      <p:origin x="0" y="0"/>
    </p:cViewPr>
  </p:notesTextViewPr>
  <p:sorterViewPr>
    <p:cViewPr varScale="1">
      <p:scale>
        <a:sx n="100" d="100"/>
        <a:sy n="100" d="100"/>
      </p:scale>
      <p:origin x="0" y="-19146"/>
    </p:cViewPr>
  </p:sorterViewPr>
  <p:notesViewPr>
    <p:cSldViewPr snapToGrid="0">
      <p:cViewPr varScale="1">
        <p:scale>
          <a:sx n="57" d="100"/>
          <a:sy n="57" d="100"/>
        </p:scale>
        <p:origin x="3006" y="6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notesMaster" Target="notesMasters/notesMaster1.xml"/><Relationship Id="rId55" Type="http://schemas.openxmlformats.org/officeDocument/2006/relationships/theme" Target="theme/theme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presProps" Target="presProps.xml"/><Relationship Id="rId5" Type="http://schemas.openxmlformats.org/officeDocument/2006/relationships/slide" Target="slides/slide2.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tableStyles" Target="tableStyles.xml"/><Relationship Id="rId8" Type="http://schemas.openxmlformats.org/officeDocument/2006/relationships/slide" Target="slides/slide5.xml"/><Relationship Id="rId51" Type="http://schemas.openxmlformats.org/officeDocument/2006/relationships/handoutMaster" Target="handoutMasters/handoutMaster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microsoft.com/office/2016/11/relationships/changesInfo" Target="changesInfos/changesInfo1.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oyi Sun (SDS,124090550)" userId="7336b744-5857-42bc-9fde-1c1347a32774" providerId="ADAL" clId="{3A35FEB6-D186-4DFE-8550-C935A8639321}"/>
    <pc:docChg chg="undo custSel modSld sldOrd">
      <pc:chgData name="Chaoyi Sun (SDS,124090550)" userId="7336b744-5857-42bc-9fde-1c1347a32774" providerId="ADAL" clId="{3A35FEB6-D186-4DFE-8550-C935A8639321}" dt="2026-01-28T14:02:29.377" v="2" actId="20578"/>
      <pc:docMkLst>
        <pc:docMk/>
      </pc:docMkLst>
      <pc:sldChg chg="ord">
        <pc:chgData name="Chaoyi Sun (SDS,124090550)" userId="7336b744-5857-42bc-9fde-1c1347a32774" providerId="ADAL" clId="{3A35FEB6-D186-4DFE-8550-C935A8639321}" dt="2026-01-28T14:02:29.377" v="2" actId="20578"/>
        <pc:sldMkLst>
          <pc:docMk/>
          <pc:sldMk cId="564410088" sldId="1395"/>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815C594-135F-4D15-8E4B-45F1BE861EA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2CDB0960-189E-46E1-8D29-6FB05B6F72F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F43A5A2-ABA0-4772-A51C-C5F6F247E980}" type="datetimeFigureOut">
              <a:rPr lang="en-US" smtClean="0"/>
              <a:t>1/28/2026</a:t>
            </a:fld>
            <a:endParaRPr lang="en-US"/>
          </a:p>
        </p:txBody>
      </p:sp>
      <p:sp>
        <p:nvSpPr>
          <p:cNvPr id="4" name="Footer Placeholder 3">
            <a:extLst>
              <a:ext uri="{FF2B5EF4-FFF2-40B4-BE49-F238E27FC236}">
                <a16:creationId xmlns:a16="http://schemas.microsoft.com/office/drawing/2014/main" id="{66C1DB78-23CB-4BEF-89B3-77D711E9DAE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C9CDE08-0A77-4F04-A3CE-DB3F76D6147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C243270-4340-4F2C-881F-076058FFD61F}" type="slidenum">
              <a:rPr lang="en-US" smtClean="0"/>
              <a:t>‹#›</a:t>
            </a:fld>
            <a:endParaRPr lang="en-US"/>
          </a:p>
        </p:txBody>
      </p:sp>
    </p:spTree>
    <p:extLst>
      <p:ext uri="{BB962C8B-B14F-4D97-AF65-F5344CB8AC3E}">
        <p14:creationId xmlns:p14="http://schemas.microsoft.com/office/powerpoint/2010/main" val="326356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1F4A7B-8284-4E61-88F9-84C6CA6E31E8}" type="datetimeFigureOut">
              <a:rPr lang="zh-TW" altLang="en-US" smtClean="0"/>
              <a:t>2026/1/28</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1D5518-E2B7-47D3-A483-775D39982443}" type="slidenum">
              <a:rPr lang="zh-TW" altLang="en-US" smtClean="0"/>
              <a:t>‹#›</a:t>
            </a:fld>
            <a:endParaRPr lang="zh-TW" altLang="en-US"/>
          </a:p>
        </p:txBody>
      </p:sp>
    </p:spTree>
    <p:extLst>
      <p:ext uri="{BB962C8B-B14F-4D97-AF65-F5344CB8AC3E}">
        <p14:creationId xmlns:p14="http://schemas.microsoft.com/office/powerpoint/2010/main" val="26370072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11D5518-E2B7-47D3-A483-775D39982443}" type="slidenum">
              <a:rPr lang="zh-TW" altLang="en-US" smtClean="0"/>
              <a:t>1</a:t>
            </a:fld>
            <a:endParaRPr lang="zh-TW" altLang="en-US"/>
          </a:p>
        </p:txBody>
      </p:sp>
    </p:spTree>
    <p:extLst>
      <p:ext uri="{BB962C8B-B14F-4D97-AF65-F5344CB8AC3E}">
        <p14:creationId xmlns:p14="http://schemas.microsoft.com/office/powerpoint/2010/main" val="24852157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t>Real numbers as opposed to “imaginary numbers” </a:t>
            </a:r>
          </a:p>
          <a:p>
            <a:r>
              <a:rPr lang="zh-CN" altLang="en-US" dirty="0"/>
              <a:t>小数点左边只有一位非</a:t>
            </a:r>
            <a:r>
              <a:rPr lang="en-US" altLang="zh-CN" dirty="0"/>
              <a:t>0</a:t>
            </a:r>
            <a:r>
              <a:rPr lang="zh-CN" altLang="en-US" dirty="0"/>
              <a:t>数字的，叫做</a:t>
            </a:r>
            <a:r>
              <a:rPr lang="en-US" altLang="zh-CN" dirty="0"/>
              <a:t>normalized number.  2.0</a:t>
            </a:r>
            <a:r>
              <a:rPr kumimoji="0" lang="en-US" altLang="zh-CN" sz="12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x</a:t>
            </a:r>
            <a:r>
              <a:rPr kumimoji="1" lang="en-US" sz="35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10</a:t>
            </a:r>
            <a:r>
              <a:rPr kumimoji="1" lang="en-US" sz="3500" b="0" i="0" u="none" strike="noStrike" kern="0" cap="none" spc="0" normalizeH="0" baseline="30000" noProof="0" dirty="0">
                <a:ln>
                  <a:noFill/>
                </a:ln>
                <a:solidFill>
                  <a:prstClr val="black"/>
                </a:solidFill>
                <a:effectLst/>
                <a:uLnTx/>
                <a:uFillTx/>
                <a:latin typeface="Calibri" pitchFamily="34" charset="0"/>
                <a:ea typeface="標楷體" pitchFamily="65" charset="-120"/>
                <a:cs typeface="+mn-cs"/>
              </a:rPr>
              <a:t>–7</a:t>
            </a:r>
            <a:r>
              <a:rPr lang="en-US" altLang="zh-CN" dirty="0"/>
              <a:t>   = 0.002x</a:t>
            </a:r>
            <a:r>
              <a:rPr kumimoji="1" lang="en-US" sz="35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10</a:t>
            </a:r>
            <a:r>
              <a:rPr kumimoji="1" lang="en-US" sz="3500" b="0" i="0" u="none" strike="noStrike" kern="0" cap="none" spc="0" normalizeH="0" baseline="30000" noProof="0" dirty="0">
                <a:ln>
                  <a:noFill/>
                </a:ln>
                <a:solidFill>
                  <a:prstClr val="black"/>
                </a:solidFill>
                <a:effectLst/>
                <a:uLnTx/>
                <a:uFillTx/>
                <a:latin typeface="Calibri" pitchFamily="34" charset="0"/>
                <a:ea typeface="標楷體" pitchFamily="65" charset="-120"/>
                <a:cs typeface="+mn-cs"/>
              </a:rPr>
              <a:t>–4       </a:t>
            </a:r>
          </a:p>
          <a:p>
            <a:endParaRPr kumimoji="1" lang="en-US" sz="3500" b="0" i="0" u="none" strike="noStrike" kern="0" cap="none" spc="0" normalizeH="0" baseline="30000" noProof="0" dirty="0">
              <a:ln>
                <a:noFill/>
              </a:ln>
              <a:solidFill>
                <a:prstClr val="black"/>
              </a:solidFill>
              <a:effectLst/>
              <a:uLnTx/>
              <a:uFillTx/>
              <a:latin typeface="Calibri" pitchFamily="34" charset="0"/>
              <a:ea typeface="標楷體" pitchFamily="65" charset="-120"/>
              <a:cs typeface="+mn-cs"/>
            </a:endParaRPr>
          </a:p>
          <a:p>
            <a:r>
              <a:rPr kumimoji="1" lang="en-US" sz="3600" b="0" i="0" u="none" strike="noStrike" kern="0" cap="none" spc="0" normalizeH="0" baseline="30000" noProof="0" dirty="0">
                <a:ln>
                  <a:noFill/>
                </a:ln>
                <a:solidFill>
                  <a:prstClr val="black"/>
                </a:solidFill>
                <a:effectLst/>
                <a:uLnTx/>
                <a:uFillTx/>
                <a:latin typeface="Calibri" pitchFamily="34" charset="0"/>
                <a:ea typeface="標楷體" pitchFamily="65" charset="-120"/>
                <a:cs typeface="+mn-cs"/>
              </a:rPr>
              <a:t>Scientific notation allows the decimal point to float. The Exponent value determines the decimal point.</a:t>
            </a:r>
          </a:p>
        </p:txBody>
      </p:sp>
    </p:spTree>
    <p:extLst>
      <p:ext uri="{BB962C8B-B14F-4D97-AF65-F5344CB8AC3E}">
        <p14:creationId xmlns:p14="http://schemas.microsoft.com/office/powerpoint/2010/main" val="30256264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t>Real numbers as opposed to “imaginary numbers” </a:t>
            </a:r>
          </a:p>
          <a:p>
            <a:r>
              <a:rPr lang="zh-CN" altLang="en-US" dirty="0"/>
              <a:t>小数点左边只有一位非</a:t>
            </a:r>
            <a:r>
              <a:rPr lang="en-US" altLang="zh-CN" dirty="0"/>
              <a:t>0</a:t>
            </a:r>
            <a:r>
              <a:rPr lang="zh-CN" altLang="en-US" dirty="0"/>
              <a:t>数字的，叫做</a:t>
            </a:r>
            <a:r>
              <a:rPr lang="en-US" altLang="zh-CN" dirty="0"/>
              <a:t>normalized number.  2.0</a:t>
            </a:r>
            <a:r>
              <a:rPr kumimoji="0" lang="en-US" altLang="zh-CN" sz="12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x</a:t>
            </a:r>
            <a:r>
              <a:rPr kumimoji="1" lang="en-US" sz="35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10</a:t>
            </a:r>
            <a:r>
              <a:rPr kumimoji="1" lang="en-US" sz="3500" b="0" i="0" u="none" strike="noStrike" kern="0" cap="none" spc="0" normalizeH="0" baseline="30000" noProof="0" dirty="0">
                <a:ln>
                  <a:noFill/>
                </a:ln>
                <a:solidFill>
                  <a:prstClr val="black"/>
                </a:solidFill>
                <a:effectLst/>
                <a:uLnTx/>
                <a:uFillTx/>
                <a:latin typeface="Calibri" pitchFamily="34" charset="0"/>
                <a:ea typeface="標楷體" pitchFamily="65" charset="-120"/>
                <a:cs typeface="+mn-cs"/>
              </a:rPr>
              <a:t>–7</a:t>
            </a:r>
            <a:r>
              <a:rPr lang="en-US" altLang="zh-CN" dirty="0"/>
              <a:t>   = 0.002x</a:t>
            </a:r>
            <a:r>
              <a:rPr kumimoji="1" lang="en-US" sz="35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10</a:t>
            </a:r>
            <a:r>
              <a:rPr kumimoji="1" lang="en-US" sz="3500" b="0" i="0" u="none" strike="noStrike" kern="0" cap="none" spc="0" normalizeH="0" baseline="30000" noProof="0" dirty="0">
                <a:ln>
                  <a:noFill/>
                </a:ln>
                <a:solidFill>
                  <a:prstClr val="black"/>
                </a:solidFill>
                <a:effectLst/>
                <a:uLnTx/>
                <a:uFillTx/>
                <a:latin typeface="Calibri" pitchFamily="34" charset="0"/>
                <a:ea typeface="標楷體" pitchFamily="65" charset="-120"/>
                <a:cs typeface="+mn-cs"/>
              </a:rPr>
              <a:t>–4       </a:t>
            </a:r>
          </a:p>
          <a:p>
            <a:endParaRPr kumimoji="1" lang="en-US" sz="3500" b="0" i="0" u="none" strike="noStrike" kern="0" cap="none" spc="0" normalizeH="0" baseline="30000" noProof="0" dirty="0">
              <a:ln>
                <a:noFill/>
              </a:ln>
              <a:solidFill>
                <a:prstClr val="black"/>
              </a:solidFill>
              <a:effectLst/>
              <a:uLnTx/>
              <a:uFillTx/>
              <a:latin typeface="Calibri" pitchFamily="34" charset="0"/>
              <a:ea typeface="標楷體" pitchFamily="65" charset="-120"/>
              <a:cs typeface="+mn-cs"/>
            </a:endParaRPr>
          </a:p>
          <a:p>
            <a:r>
              <a:rPr kumimoji="1" lang="en-US" sz="3600" b="0" i="0" u="none" strike="noStrike" kern="0" cap="none" spc="0" normalizeH="0" baseline="30000" noProof="0" dirty="0">
                <a:ln>
                  <a:noFill/>
                </a:ln>
                <a:solidFill>
                  <a:prstClr val="black"/>
                </a:solidFill>
                <a:effectLst/>
                <a:uLnTx/>
                <a:uFillTx/>
                <a:latin typeface="Calibri" pitchFamily="34" charset="0"/>
                <a:ea typeface="標楷體" pitchFamily="65" charset="-120"/>
                <a:cs typeface="+mn-cs"/>
              </a:rPr>
              <a:t>Scientific notation allows the decimal point to float. The Exponent value determines the decimal point.</a:t>
            </a:r>
          </a:p>
        </p:txBody>
      </p:sp>
    </p:spTree>
    <p:extLst>
      <p:ext uri="{BB962C8B-B14F-4D97-AF65-F5344CB8AC3E}">
        <p14:creationId xmlns:p14="http://schemas.microsoft.com/office/powerpoint/2010/main" val="12414866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10</a:t>
            </a:r>
            <a:r>
              <a:rPr lang="zh-CN" altLang="en-US"/>
              <a:t>的</a:t>
            </a:r>
            <a:r>
              <a:rPr lang="en-US" altLang="zh-CN"/>
              <a:t>3</a:t>
            </a:r>
            <a:r>
              <a:rPr lang="zh-CN" altLang="en-US"/>
              <a:t>次幂： </a:t>
            </a:r>
            <a:r>
              <a:rPr lang="en-US" altLang="zh-CN"/>
              <a:t>ten to the power of three</a:t>
            </a:r>
          </a:p>
          <a:p>
            <a:r>
              <a:rPr lang="zh-CN" altLang="en-US"/>
              <a:t>乘以： </a:t>
            </a:r>
            <a:r>
              <a:rPr lang="en-US" altLang="zh-CN"/>
              <a:t>multiply</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sz="4000" dirty="0"/>
          </a:p>
        </p:txBody>
      </p:sp>
    </p:spTree>
    <p:extLst>
      <p:ext uri="{BB962C8B-B14F-4D97-AF65-F5344CB8AC3E}">
        <p14:creationId xmlns:p14="http://schemas.microsoft.com/office/powerpoint/2010/main" val="28627182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t>IEEE 754 uses a bias of 127 for single precision,</a:t>
            </a:r>
            <a:r>
              <a:rPr lang="zh-CN" altLang="en-US"/>
              <a:t> </a:t>
            </a:r>
            <a:r>
              <a:rPr lang="en-US" altLang="zh-CN"/>
              <a:t>double precision</a:t>
            </a:r>
            <a:r>
              <a:rPr lang="zh-CN" altLang="en-US"/>
              <a:t>的</a:t>
            </a:r>
            <a:r>
              <a:rPr lang="en-US" altLang="zh-CN"/>
              <a:t>bias</a:t>
            </a:r>
            <a:r>
              <a:rPr lang="zh-CN" altLang="en-US"/>
              <a:t>是</a:t>
            </a:r>
            <a:r>
              <a:rPr lang="en-US" altLang="zh-CN"/>
              <a:t>1023</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t>IEEE 754 uses a bias of 127 for single precision,</a:t>
            </a:r>
            <a:r>
              <a:rPr lang="zh-CN" altLang="en-US"/>
              <a:t> </a:t>
            </a:r>
            <a:r>
              <a:rPr lang="en-US" altLang="zh-CN"/>
              <a:t>double precision</a:t>
            </a:r>
            <a:r>
              <a:rPr lang="zh-CN" altLang="en-US"/>
              <a:t>的</a:t>
            </a:r>
            <a:r>
              <a:rPr lang="en-US" altLang="zh-CN"/>
              <a:t>bias</a:t>
            </a:r>
            <a:r>
              <a:rPr lang="zh-CN" altLang="en-US"/>
              <a:t>是</a:t>
            </a:r>
            <a:r>
              <a:rPr lang="en-US" altLang="zh-CN"/>
              <a:t>1023</a:t>
            </a:r>
          </a:p>
        </p:txBody>
      </p:sp>
    </p:spTree>
    <p:extLst>
      <p:ext uri="{BB962C8B-B14F-4D97-AF65-F5344CB8AC3E}">
        <p14:creationId xmlns:p14="http://schemas.microsoft.com/office/powerpoint/2010/main" val="14979376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t>Real numbers as opposed to “imaginary numbers” </a:t>
            </a:r>
          </a:p>
          <a:p>
            <a:r>
              <a:rPr lang="zh-CN" altLang="en-US" dirty="0"/>
              <a:t>小数点左边只有一位非</a:t>
            </a:r>
            <a:r>
              <a:rPr lang="en-US" altLang="zh-CN" dirty="0"/>
              <a:t>0</a:t>
            </a:r>
            <a:r>
              <a:rPr lang="zh-CN" altLang="en-US" dirty="0"/>
              <a:t>数字的，叫做</a:t>
            </a:r>
            <a:r>
              <a:rPr lang="en-US" altLang="zh-CN" dirty="0"/>
              <a:t>normalized number.  2.0</a:t>
            </a:r>
            <a:r>
              <a:rPr kumimoji="0" lang="en-US" altLang="zh-CN" sz="12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x</a:t>
            </a:r>
            <a:r>
              <a:rPr kumimoji="1" lang="en-US" sz="35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10</a:t>
            </a:r>
            <a:r>
              <a:rPr kumimoji="1" lang="en-US" sz="3500" b="0" i="0" u="none" strike="noStrike" kern="0" cap="none" spc="0" normalizeH="0" baseline="30000" noProof="0" dirty="0">
                <a:ln>
                  <a:noFill/>
                </a:ln>
                <a:solidFill>
                  <a:prstClr val="black"/>
                </a:solidFill>
                <a:effectLst/>
                <a:uLnTx/>
                <a:uFillTx/>
                <a:latin typeface="Calibri" pitchFamily="34" charset="0"/>
                <a:ea typeface="標楷體" pitchFamily="65" charset="-120"/>
                <a:cs typeface="+mn-cs"/>
              </a:rPr>
              <a:t>–7</a:t>
            </a:r>
            <a:r>
              <a:rPr lang="en-US" altLang="zh-CN" dirty="0"/>
              <a:t>   = 0.002x</a:t>
            </a:r>
            <a:r>
              <a:rPr kumimoji="1" lang="en-US" sz="35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10</a:t>
            </a:r>
            <a:r>
              <a:rPr kumimoji="1" lang="en-US" sz="3500" b="0" i="0" u="none" strike="noStrike" kern="0" cap="none" spc="0" normalizeH="0" baseline="30000" noProof="0" dirty="0">
                <a:ln>
                  <a:noFill/>
                </a:ln>
                <a:solidFill>
                  <a:prstClr val="black"/>
                </a:solidFill>
                <a:effectLst/>
                <a:uLnTx/>
                <a:uFillTx/>
                <a:latin typeface="Calibri" pitchFamily="34" charset="0"/>
                <a:ea typeface="標楷體" pitchFamily="65" charset="-120"/>
                <a:cs typeface="+mn-cs"/>
              </a:rPr>
              <a:t>–4       </a:t>
            </a:r>
          </a:p>
          <a:p>
            <a:endParaRPr kumimoji="1" lang="en-US" sz="3500" b="0" i="0" u="none" strike="noStrike" kern="0" cap="none" spc="0" normalizeH="0" baseline="30000" noProof="0" dirty="0">
              <a:ln>
                <a:noFill/>
              </a:ln>
              <a:solidFill>
                <a:prstClr val="black"/>
              </a:solidFill>
              <a:effectLst/>
              <a:uLnTx/>
              <a:uFillTx/>
              <a:latin typeface="Calibri" pitchFamily="34" charset="0"/>
              <a:ea typeface="標楷體" pitchFamily="65" charset="-120"/>
              <a:cs typeface="+mn-cs"/>
            </a:endParaRPr>
          </a:p>
          <a:p>
            <a:r>
              <a:rPr kumimoji="1" lang="en-US" sz="3600" b="0" i="0" u="none" strike="noStrike" kern="0" cap="none" spc="0" normalizeH="0" baseline="30000" noProof="0" dirty="0">
                <a:ln>
                  <a:noFill/>
                </a:ln>
                <a:solidFill>
                  <a:prstClr val="black"/>
                </a:solidFill>
                <a:effectLst/>
                <a:uLnTx/>
                <a:uFillTx/>
                <a:latin typeface="Calibri" pitchFamily="34" charset="0"/>
                <a:ea typeface="標楷體" pitchFamily="65" charset="-120"/>
                <a:cs typeface="+mn-cs"/>
              </a:rPr>
              <a:t>Scientific notation allows the decimal point to float. The Exponent value determines the decimal point.</a:t>
            </a:r>
          </a:p>
        </p:txBody>
      </p:sp>
    </p:spTree>
    <p:extLst>
      <p:ext uri="{BB962C8B-B14F-4D97-AF65-F5344CB8AC3E}">
        <p14:creationId xmlns:p14="http://schemas.microsoft.com/office/powerpoint/2010/main" val="10585384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t>Real numbers as opposed to “imaginary numbers” </a:t>
            </a:r>
          </a:p>
          <a:p>
            <a:r>
              <a:rPr lang="zh-CN" altLang="en-US" dirty="0"/>
              <a:t>小数点左边只有一位非</a:t>
            </a:r>
            <a:r>
              <a:rPr lang="en-US" altLang="zh-CN" dirty="0"/>
              <a:t>0</a:t>
            </a:r>
            <a:r>
              <a:rPr lang="zh-CN" altLang="en-US" dirty="0"/>
              <a:t>数字的，叫做</a:t>
            </a:r>
            <a:r>
              <a:rPr lang="en-US" altLang="zh-CN" dirty="0"/>
              <a:t>normalized number.  2.0</a:t>
            </a:r>
            <a:r>
              <a:rPr kumimoji="0" lang="en-US" altLang="zh-CN" sz="12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x</a:t>
            </a:r>
            <a:r>
              <a:rPr kumimoji="1" lang="en-US" sz="35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10</a:t>
            </a:r>
            <a:r>
              <a:rPr kumimoji="1" lang="en-US" sz="3500" b="0" i="0" u="none" strike="noStrike" kern="0" cap="none" spc="0" normalizeH="0" baseline="30000" noProof="0" dirty="0">
                <a:ln>
                  <a:noFill/>
                </a:ln>
                <a:solidFill>
                  <a:prstClr val="black"/>
                </a:solidFill>
                <a:effectLst/>
                <a:uLnTx/>
                <a:uFillTx/>
                <a:latin typeface="Calibri" pitchFamily="34" charset="0"/>
                <a:ea typeface="標楷體" pitchFamily="65" charset="-120"/>
                <a:cs typeface="+mn-cs"/>
              </a:rPr>
              <a:t>–7</a:t>
            </a:r>
            <a:r>
              <a:rPr lang="en-US" altLang="zh-CN" dirty="0"/>
              <a:t>   = 0.002x</a:t>
            </a:r>
            <a:r>
              <a:rPr kumimoji="1" lang="en-US" sz="35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10</a:t>
            </a:r>
            <a:r>
              <a:rPr kumimoji="1" lang="en-US" sz="3500" b="0" i="0" u="none" strike="noStrike" kern="0" cap="none" spc="0" normalizeH="0" baseline="30000" noProof="0" dirty="0">
                <a:ln>
                  <a:noFill/>
                </a:ln>
                <a:solidFill>
                  <a:prstClr val="black"/>
                </a:solidFill>
                <a:effectLst/>
                <a:uLnTx/>
                <a:uFillTx/>
                <a:latin typeface="Calibri" pitchFamily="34" charset="0"/>
                <a:ea typeface="標楷體" pitchFamily="65" charset="-120"/>
                <a:cs typeface="+mn-cs"/>
              </a:rPr>
              <a:t>–4       </a:t>
            </a:r>
          </a:p>
          <a:p>
            <a:endParaRPr kumimoji="1" lang="en-US" sz="3500" b="0" i="0" u="none" strike="noStrike" kern="0" cap="none" spc="0" normalizeH="0" baseline="30000" noProof="0" dirty="0">
              <a:ln>
                <a:noFill/>
              </a:ln>
              <a:solidFill>
                <a:prstClr val="black"/>
              </a:solidFill>
              <a:effectLst/>
              <a:uLnTx/>
              <a:uFillTx/>
              <a:latin typeface="Calibri" pitchFamily="34" charset="0"/>
              <a:ea typeface="標楷體" pitchFamily="65" charset="-120"/>
              <a:cs typeface="+mn-cs"/>
            </a:endParaRPr>
          </a:p>
          <a:p>
            <a:r>
              <a:rPr kumimoji="1" lang="en-US" sz="3600" b="0" i="0" u="none" strike="noStrike" kern="0" cap="none" spc="0" normalizeH="0" baseline="30000" noProof="0" dirty="0">
                <a:ln>
                  <a:noFill/>
                </a:ln>
                <a:solidFill>
                  <a:prstClr val="black"/>
                </a:solidFill>
                <a:effectLst/>
                <a:uLnTx/>
                <a:uFillTx/>
                <a:latin typeface="Calibri" pitchFamily="34" charset="0"/>
                <a:ea typeface="標楷體" pitchFamily="65" charset="-120"/>
                <a:cs typeface="+mn-cs"/>
              </a:rPr>
              <a:t>Scientific notation allows the decimal point to float. The Exponent value determines the decimal point.</a:t>
            </a:r>
          </a:p>
        </p:txBody>
      </p:sp>
    </p:spTree>
    <p:extLst>
      <p:ext uri="{BB962C8B-B14F-4D97-AF65-F5344CB8AC3E}">
        <p14:creationId xmlns:p14="http://schemas.microsoft.com/office/powerpoint/2010/main" val="39793329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kumimoji="1" lang="en-US" sz="3600" b="0" i="0" u="none" strike="noStrike" kern="0" cap="none" spc="0" normalizeH="0" baseline="30000" noProof="0" dirty="0">
              <a:ln>
                <a:noFill/>
              </a:ln>
              <a:solidFill>
                <a:prstClr val="black"/>
              </a:solidFill>
              <a:effectLst/>
              <a:uLnTx/>
              <a:uFillTx/>
              <a:latin typeface="Calibri" pitchFamily="34" charset="0"/>
              <a:ea typeface="標楷體" pitchFamily="65" charset="-120"/>
              <a:cs typeface="+mn-cs"/>
            </a:endParaRPr>
          </a:p>
        </p:txBody>
      </p:sp>
    </p:spTree>
    <p:extLst>
      <p:ext uri="{BB962C8B-B14F-4D97-AF65-F5344CB8AC3E}">
        <p14:creationId xmlns:p14="http://schemas.microsoft.com/office/powerpoint/2010/main" val="12045435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dirty="0"/>
              <a:t>Real numbers as opposed to “imaginary numbers” </a:t>
            </a:r>
          </a:p>
          <a:p>
            <a:r>
              <a:rPr lang="zh-CN" altLang="en-US" dirty="0"/>
              <a:t>小数点左边只有一位非</a:t>
            </a:r>
            <a:r>
              <a:rPr lang="en-US" altLang="zh-CN" dirty="0"/>
              <a:t>0</a:t>
            </a:r>
            <a:r>
              <a:rPr lang="zh-CN" altLang="en-US" dirty="0"/>
              <a:t>数字的，叫做</a:t>
            </a:r>
            <a:r>
              <a:rPr lang="en-US" altLang="zh-CN" dirty="0"/>
              <a:t>normalized number.  2.0</a:t>
            </a:r>
            <a:r>
              <a:rPr kumimoji="0" lang="en-US" altLang="zh-CN" sz="12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x</a:t>
            </a:r>
            <a:r>
              <a:rPr kumimoji="1" lang="en-US" sz="35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10</a:t>
            </a:r>
            <a:r>
              <a:rPr kumimoji="1" lang="en-US" sz="3500" b="0" i="0" u="none" strike="noStrike" kern="0" cap="none" spc="0" normalizeH="0" baseline="30000" noProof="0" dirty="0">
                <a:ln>
                  <a:noFill/>
                </a:ln>
                <a:solidFill>
                  <a:prstClr val="black"/>
                </a:solidFill>
                <a:effectLst/>
                <a:uLnTx/>
                <a:uFillTx/>
                <a:latin typeface="Calibri" pitchFamily="34" charset="0"/>
                <a:ea typeface="標楷體" pitchFamily="65" charset="-120"/>
                <a:cs typeface="+mn-cs"/>
              </a:rPr>
              <a:t>–7</a:t>
            </a:r>
            <a:r>
              <a:rPr lang="en-US" altLang="zh-CN" dirty="0"/>
              <a:t>   = 0.002x</a:t>
            </a:r>
            <a:r>
              <a:rPr kumimoji="1" lang="en-US" sz="35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10</a:t>
            </a:r>
            <a:r>
              <a:rPr kumimoji="1" lang="en-US" sz="3500" b="0" i="0" u="none" strike="noStrike" kern="0" cap="none" spc="0" normalizeH="0" baseline="30000" noProof="0" dirty="0">
                <a:ln>
                  <a:noFill/>
                </a:ln>
                <a:solidFill>
                  <a:prstClr val="black"/>
                </a:solidFill>
                <a:effectLst/>
                <a:uLnTx/>
                <a:uFillTx/>
                <a:latin typeface="Calibri" pitchFamily="34" charset="0"/>
                <a:ea typeface="標楷體" pitchFamily="65" charset="-120"/>
                <a:cs typeface="+mn-cs"/>
              </a:rPr>
              <a:t>–4       </a:t>
            </a:r>
          </a:p>
          <a:p>
            <a:endParaRPr kumimoji="1" lang="en-US" sz="3500" b="0" i="0" u="none" strike="noStrike" kern="0" cap="none" spc="0" normalizeH="0" baseline="30000" noProof="0" dirty="0">
              <a:ln>
                <a:noFill/>
              </a:ln>
              <a:solidFill>
                <a:prstClr val="black"/>
              </a:solidFill>
              <a:effectLst/>
              <a:uLnTx/>
              <a:uFillTx/>
              <a:latin typeface="Calibri" pitchFamily="34" charset="0"/>
              <a:ea typeface="標楷體" pitchFamily="65" charset="-120"/>
              <a:cs typeface="+mn-cs"/>
            </a:endParaRPr>
          </a:p>
          <a:p>
            <a:r>
              <a:rPr kumimoji="1" lang="en-US" sz="3600" b="0" i="0" u="none" strike="noStrike" kern="0" cap="none" spc="0" normalizeH="0" baseline="30000" noProof="0" dirty="0">
                <a:ln>
                  <a:noFill/>
                </a:ln>
                <a:solidFill>
                  <a:prstClr val="black"/>
                </a:solidFill>
                <a:effectLst/>
                <a:uLnTx/>
                <a:uFillTx/>
                <a:latin typeface="Calibri" pitchFamily="34" charset="0"/>
                <a:ea typeface="標楷體" pitchFamily="65" charset="-120"/>
                <a:cs typeface="+mn-cs"/>
              </a:rPr>
              <a:t>Scientific notation allows the decimal point to float. The Exponent value determines the decimal point.</a:t>
            </a:r>
          </a:p>
        </p:txBody>
      </p:sp>
    </p:spTree>
    <p:extLst>
      <p:ext uri="{BB962C8B-B14F-4D97-AF65-F5344CB8AC3E}">
        <p14:creationId xmlns:p14="http://schemas.microsoft.com/office/powerpoint/2010/main" val="10346309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kumimoji="1" lang="en-US" sz="3600" b="0" i="0" u="none" strike="noStrike" kern="0" cap="none" spc="0" normalizeH="0" baseline="30000" noProof="0" dirty="0">
              <a:ln>
                <a:noFill/>
              </a:ln>
              <a:solidFill>
                <a:prstClr val="black"/>
              </a:solidFill>
              <a:effectLst/>
              <a:uLnTx/>
              <a:uFillTx/>
              <a:latin typeface="Calibri" pitchFamily="34" charset="0"/>
              <a:ea typeface="標楷體" pitchFamily="65" charset="-120"/>
              <a:cs typeface="+mn-cs"/>
            </a:endParaRPr>
          </a:p>
        </p:txBody>
      </p:sp>
    </p:spTree>
    <p:extLst>
      <p:ext uri="{BB962C8B-B14F-4D97-AF65-F5344CB8AC3E}">
        <p14:creationId xmlns:p14="http://schemas.microsoft.com/office/powerpoint/2010/main" val="18077265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kumimoji="1" lang="en-US" sz="3600" b="0" i="0" u="none" strike="noStrike" kern="0" cap="none" spc="0" normalizeH="0" baseline="30000" noProof="0" dirty="0">
              <a:ln>
                <a:noFill/>
              </a:ln>
              <a:solidFill>
                <a:prstClr val="black"/>
              </a:solidFill>
              <a:effectLst/>
              <a:uLnTx/>
              <a:uFillTx/>
              <a:latin typeface="Calibri" pitchFamily="34" charset="0"/>
              <a:ea typeface="標楷體" pitchFamily="65" charset="-120"/>
              <a:cs typeface="+mn-cs"/>
            </a:endParaRPr>
          </a:p>
        </p:txBody>
      </p:sp>
    </p:spTree>
    <p:extLst>
      <p:ext uri="{BB962C8B-B14F-4D97-AF65-F5344CB8AC3E}">
        <p14:creationId xmlns:p14="http://schemas.microsoft.com/office/powerpoint/2010/main" val="16759166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kumimoji="1" lang="en-US" sz="3600" b="0" i="0" u="none" strike="noStrike" kern="0" cap="none" spc="0" normalizeH="0" baseline="30000" noProof="0" dirty="0">
              <a:ln>
                <a:noFill/>
              </a:ln>
              <a:solidFill>
                <a:prstClr val="black"/>
              </a:solidFill>
              <a:effectLst/>
              <a:uLnTx/>
              <a:uFillTx/>
              <a:latin typeface="Calibri" pitchFamily="34" charset="0"/>
              <a:ea typeface="標楷體" pitchFamily="65" charset="-120"/>
              <a:cs typeface="+mn-cs"/>
            </a:endParaRPr>
          </a:p>
        </p:txBody>
      </p:sp>
    </p:spTree>
    <p:extLst>
      <p:ext uri="{BB962C8B-B14F-4D97-AF65-F5344CB8AC3E}">
        <p14:creationId xmlns:p14="http://schemas.microsoft.com/office/powerpoint/2010/main" val="26904139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kumimoji="1" lang="en-US" sz="3600" b="0" i="0" u="none" strike="noStrike" kern="0" cap="none" spc="0" normalizeH="0" baseline="30000" noProof="0" dirty="0">
              <a:ln>
                <a:noFill/>
              </a:ln>
              <a:solidFill>
                <a:prstClr val="black"/>
              </a:solidFill>
              <a:effectLst/>
              <a:uLnTx/>
              <a:uFillTx/>
              <a:latin typeface="Calibri" pitchFamily="34" charset="0"/>
              <a:ea typeface="標楷體" pitchFamily="65" charset="-120"/>
              <a:cs typeface="+mn-cs"/>
            </a:endParaRPr>
          </a:p>
        </p:txBody>
      </p:sp>
    </p:spTree>
    <p:extLst>
      <p:ext uri="{BB962C8B-B14F-4D97-AF65-F5344CB8AC3E}">
        <p14:creationId xmlns:p14="http://schemas.microsoft.com/office/powerpoint/2010/main" val="40465177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Binary: [0][100 0000 1][100 0000 0000 0000 0000 0000]</a:t>
            </a:r>
          </a:p>
          <a:p>
            <a:r>
              <a:rPr lang="en-US" sz="1200" b="0" i="0" u="none" strike="noStrike" kern="1200" baseline="0" dirty="0">
                <a:solidFill>
                  <a:schemeClr val="tx1"/>
                </a:solidFill>
                <a:latin typeface="+mn-lt"/>
                <a:ea typeface="+mn-ea"/>
                <a:cs typeface="+mn-cs"/>
              </a:rPr>
              <a:t>Sign: +</a:t>
            </a:r>
          </a:p>
          <a:p>
            <a:r>
              <a:rPr lang="en-US" sz="1200" b="0" i="0" u="none" strike="noStrike" kern="1200" baseline="0" dirty="0">
                <a:solidFill>
                  <a:schemeClr val="tx1"/>
                </a:solidFill>
                <a:latin typeface="+mn-lt"/>
                <a:ea typeface="+mn-ea"/>
                <a:cs typeface="+mn-cs"/>
              </a:rPr>
              <a:t>Exponent: 129 – 127 = +2</a:t>
            </a:r>
          </a:p>
          <a:p>
            <a:r>
              <a:rPr lang="fr-FR" sz="1200" b="0" i="0" u="none" strike="noStrike" kern="1200" baseline="0" dirty="0" err="1">
                <a:solidFill>
                  <a:schemeClr val="tx1"/>
                </a:solidFill>
                <a:latin typeface="+mn-lt"/>
                <a:ea typeface="+mn-ea"/>
                <a:cs typeface="+mn-cs"/>
              </a:rPr>
              <a:t>Mantissa</a:t>
            </a:r>
            <a:r>
              <a:rPr lang="fr-FR" sz="1200" b="0" i="0" u="none" strike="noStrike" kern="1200" baseline="0" dirty="0">
                <a:solidFill>
                  <a:schemeClr val="tx1"/>
                </a:solidFill>
                <a:latin typeface="+mn-lt"/>
                <a:ea typeface="+mn-ea"/>
                <a:cs typeface="+mn-cs"/>
              </a:rPr>
              <a:t>: 0b1.1</a:t>
            </a:r>
          </a:p>
          <a:p>
            <a:endParaRPr lang="fr-FR" sz="1200" b="0" i="0" u="none" strike="noStrike" kern="1200" baseline="0" dirty="0">
              <a:solidFill>
                <a:schemeClr val="tx1"/>
              </a:solidFill>
              <a:latin typeface="+mn-lt"/>
              <a:ea typeface="+mn-ea"/>
              <a:cs typeface="+mn-cs"/>
            </a:endParaRPr>
          </a:p>
          <a:p>
            <a:r>
              <a:rPr lang="fr-FR" sz="1200" b="0" i="0" u="none" strike="noStrike" kern="1200" baseline="0" dirty="0">
                <a:solidFill>
                  <a:schemeClr val="tx1"/>
                </a:solidFill>
                <a:latin typeface="+mn-lt"/>
                <a:ea typeface="+mn-ea"/>
                <a:cs typeface="+mn-cs"/>
              </a:rPr>
              <a:t>x = +0b1.1 x 2^(2) = +0b110 = +6</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Binary: [0][100 0000 1][100 0000 0000 0000 0000 0000]</a:t>
            </a:r>
          </a:p>
          <a:p>
            <a:r>
              <a:rPr lang="en-US" sz="1200" b="0" i="0" u="none" strike="noStrike" kern="1200" baseline="0" dirty="0">
                <a:solidFill>
                  <a:schemeClr val="tx1"/>
                </a:solidFill>
                <a:latin typeface="+mn-lt"/>
                <a:ea typeface="+mn-ea"/>
                <a:cs typeface="+mn-cs"/>
              </a:rPr>
              <a:t>Sign: +</a:t>
            </a:r>
          </a:p>
          <a:p>
            <a:r>
              <a:rPr lang="en-US" sz="1200" b="0" i="0" u="none" strike="noStrike" kern="1200" baseline="0" dirty="0">
                <a:solidFill>
                  <a:schemeClr val="tx1"/>
                </a:solidFill>
                <a:latin typeface="+mn-lt"/>
                <a:ea typeface="+mn-ea"/>
                <a:cs typeface="+mn-cs"/>
              </a:rPr>
              <a:t>Exponent: 129 – 127 = +2</a:t>
            </a:r>
          </a:p>
          <a:p>
            <a:r>
              <a:rPr lang="fr-FR" sz="1200" b="0" i="0" u="none" strike="noStrike" kern="1200" baseline="0" dirty="0" err="1">
                <a:solidFill>
                  <a:schemeClr val="tx1"/>
                </a:solidFill>
                <a:latin typeface="+mn-lt"/>
                <a:ea typeface="+mn-ea"/>
                <a:cs typeface="+mn-cs"/>
              </a:rPr>
              <a:t>Mantissa</a:t>
            </a:r>
            <a:r>
              <a:rPr lang="fr-FR" sz="1200" b="0" i="0" u="none" strike="noStrike" kern="1200" baseline="0" dirty="0">
                <a:solidFill>
                  <a:schemeClr val="tx1"/>
                </a:solidFill>
                <a:latin typeface="+mn-lt"/>
                <a:ea typeface="+mn-ea"/>
                <a:cs typeface="+mn-cs"/>
              </a:rPr>
              <a:t>: 0b1.1</a:t>
            </a:r>
          </a:p>
          <a:p>
            <a:endParaRPr lang="fr-FR" sz="1200" b="0" i="0" u="none" strike="noStrike" kern="1200" baseline="0" dirty="0">
              <a:solidFill>
                <a:schemeClr val="tx1"/>
              </a:solidFill>
              <a:latin typeface="+mn-lt"/>
              <a:ea typeface="+mn-ea"/>
              <a:cs typeface="+mn-cs"/>
            </a:endParaRPr>
          </a:p>
          <a:p>
            <a:r>
              <a:rPr lang="fr-FR" sz="1200" b="0" i="0" u="none" strike="noStrike" kern="1200" baseline="0" dirty="0">
                <a:solidFill>
                  <a:schemeClr val="tx1"/>
                </a:solidFill>
                <a:latin typeface="+mn-lt"/>
                <a:ea typeface="+mn-ea"/>
                <a:cs typeface="+mn-cs"/>
              </a:rPr>
              <a:t>x = +0b1.1 x 2^(2) = +0b110 = +6</a:t>
            </a:r>
          </a:p>
        </p:txBody>
      </p:sp>
    </p:spTree>
    <p:extLst>
      <p:ext uri="{BB962C8B-B14F-4D97-AF65-F5344CB8AC3E}">
        <p14:creationId xmlns:p14="http://schemas.microsoft.com/office/powerpoint/2010/main" val="27068588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 = 0b0.1 = 0b1 x 2^(-1)</a:t>
            </a:r>
          </a:p>
          <a:p>
            <a:endParaRPr lang="en-US" dirty="0"/>
          </a:p>
          <a:p>
            <a:r>
              <a:rPr lang="en-US" dirty="0"/>
              <a:t>Exponent: (-1)+127 = 126 = 0b01111110</a:t>
            </a:r>
          </a:p>
          <a:p>
            <a:r>
              <a:rPr lang="en-US" dirty="0"/>
              <a:t>Sign = 1</a:t>
            </a:r>
          </a:p>
          <a:p>
            <a:r>
              <a:rPr lang="en-US" dirty="0"/>
              <a:t>Mantissa</a:t>
            </a:r>
            <a:r>
              <a:rPr lang="en-US" baseline="0" dirty="0"/>
              <a:t>: 0000 … 0000</a:t>
            </a:r>
          </a:p>
          <a:p>
            <a:endParaRPr lang="en-US" baseline="0" dirty="0"/>
          </a:p>
          <a:p>
            <a:r>
              <a:rPr lang="en-US" baseline="0" dirty="0"/>
              <a:t>Answer: </a:t>
            </a:r>
          </a:p>
          <a:p>
            <a:r>
              <a:rPr lang="en-US" sz="1200" b="0" i="0" u="none" strike="noStrike" kern="1200" baseline="0" dirty="0">
                <a:solidFill>
                  <a:schemeClr val="tx1"/>
                </a:solidFill>
                <a:latin typeface="+mn-lt"/>
                <a:ea typeface="+mn-ea"/>
                <a:cs typeface="+mn-cs"/>
              </a:rPr>
              <a:t>1 01111110 000 0000 0000 0000 0000 0000</a:t>
            </a:r>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 = 0b0.1 = 0b1 x 2^(-1)</a:t>
            </a:r>
          </a:p>
          <a:p>
            <a:endParaRPr lang="en-US" dirty="0"/>
          </a:p>
          <a:p>
            <a:r>
              <a:rPr lang="en-US" dirty="0"/>
              <a:t>Exponent: (-1)+127 = 126 = 0b01111110</a:t>
            </a:r>
          </a:p>
          <a:p>
            <a:r>
              <a:rPr lang="en-US" dirty="0"/>
              <a:t>Sign = 1</a:t>
            </a:r>
          </a:p>
          <a:p>
            <a:r>
              <a:rPr lang="en-US" dirty="0"/>
              <a:t>Mantissa</a:t>
            </a:r>
            <a:r>
              <a:rPr lang="en-US" baseline="0" dirty="0"/>
              <a:t>: 0000 … 0000</a:t>
            </a:r>
          </a:p>
          <a:p>
            <a:endParaRPr lang="en-US" baseline="0" dirty="0"/>
          </a:p>
          <a:p>
            <a:r>
              <a:rPr lang="en-US" baseline="0" dirty="0"/>
              <a:t>Answer: </a:t>
            </a:r>
          </a:p>
          <a:p>
            <a:r>
              <a:rPr lang="en-US" sz="1200" b="0" i="0" u="none" strike="noStrike" kern="1200" baseline="0" dirty="0">
                <a:solidFill>
                  <a:schemeClr val="tx1"/>
                </a:solidFill>
                <a:latin typeface="+mn-lt"/>
                <a:ea typeface="+mn-ea"/>
                <a:cs typeface="+mn-cs"/>
              </a:rPr>
              <a:t>1 01111110 000 0000 0000 0000 0000 0000</a:t>
            </a:r>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cannot represent 1/3 exactly, we only get an approximation</a:t>
            </a:r>
          </a:p>
          <a:p>
            <a:endParaRPr lang="en-US" dirty="0"/>
          </a:p>
          <a:p>
            <a:r>
              <a:rPr lang="en-US" dirty="0"/>
              <a:t>Exponent: (-1)+127 = 126 = 0b01111110</a:t>
            </a:r>
          </a:p>
          <a:p>
            <a:r>
              <a:rPr lang="en-US" dirty="0"/>
              <a:t>Sign = 1</a:t>
            </a:r>
          </a:p>
          <a:p>
            <a:r>
              <a:rPr lang="en-US" dirty="0"/>
              <a:t>Mantissa</a:t>
            </a:r>
            <a:r>
              <a:rPr lang="en-US" baseline="0" dirty="0"/>
              <a:t>: 0000 … 0000</a:t>
            </a:r>
          </a:p>
          <a:p>
            <a:endParaRPr lang="en-US" baseline="0" dirty="0"/>
          </a:p>
          <a:p>
            <a:r>
              <a:rPr lang="en-US" baseline="0" dirty="0"/>
              <a:t>Answer: </a:t>
            </a:r>
          </a:p>
          <a:p>
            <a:r>
              <a:rPr lang="en-US" sz="1200" b="0" i="0" u="none" strike="noStrike" kern="1200" baseline="0" dirty="0">
                <a:solidFill>
                  <a:schemeClr val="tx1"/>
                </a:solidFill>
                <a:latin typeface="+mn-lt"/>
                <a:ea typeface="+mn-ea"/>
                <a:cs typeface="+mn-cs"/>
              </a:rPr>
              <a:t>1 01111110 000 0000 0000 0000 0000 0000</a:t>
            </a:r>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 = 0b0.1 = 0b1 x 2^(-1)</a:t>
            </a:r>
          </a:p>
          <a:p>
            <a:endParaRPr lang="en-US" dirty="0"/>
          </a:p>
          <a:p>
            <a:r>
              <a:rPr lang="en-US" dirty="0"/>
              <a:t>Exponent: (-1)+127 = 126 = 0b01111110</a:t>
            </a:r>
          </a:p>
          <a:p>
            <a:r>
              <a:rPr lang="en-US" dirty="0"/>
              <a:t>Sign = 1</a:t>
            </a:r>
          </a:p>
          <a:p>
            <a:r>
              <a:rPr lang="en-US" dirty="0"/>
              <a:t>Mantissa</a:t>
            </a:r>
            <a:r>
              <a:rPr lang="en-US" baseline="0" dirty="0"/>
              <a:t>: 0000 … 0000</a:t>
            </a:r>
          </a:p>
          <a:p>
            <a:endParaRPr lang="en-US" baseline="0" dirty="0"/>
          </a:p>
          <a:p>
            <a:r>
              <a:rPr lang="en-US" baseline="0" dirty="0"/>
              <a:t>Answer: </a:t>
            </a:r>
          </a:p>
          <a:p>
            <a:r>
              <a:rPr lang="en-US" sz="1200" b="0" i="0" u="none" strike="noStrike" kern="1200" baseline="0" dirty="0">
                <a:solidFill>
                  <a:schemeClr val="tx1"/>
                </a:solidFill>
                <a:latin typeface="+mn-lt"/>
                <a:ea typeface="+mn-ea"/>
                <a:cs typeface="+mn-cs"/>
              </a:rPr>
              <a:t>1 01111110 000 0000 0000 0000 0000 0000</a:t>
            </a:r>
            <a:endParaRPr lang="en-US" dirty="0"/>
          </a:p>
        </p:txBody>
      </p:sp>
    </p:spTree>
    <p:extLst>
      <p:ext uri="{BB962C8B-B14F-4D97-AF65-F5344CB8AC3E}">
        <p14:creationId xmlns:p14="http://schemas.microsoft.com/office/powerpoint/2010/main" val="210973076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 is neither a normalized nor a denormalized number</a:t>
            </a:r>
          </a:p>
          <a:p>
            <a:endParaRPr lang="en-US" dirty="0"/>
          </a:p>
          <a:p>
            <a:r>
              <a:rPr lang="en-US" dirty="0"/>
              <a:t>Exponent: (-1)+127 = 126 = 0b01111110</a:t>
            </a:r>
          </a:p>
          <a:p>
            <a:r>
              <a:rPr lang="en-US" dirty="0"/>
              <a:t>Sign = 1</a:t>
            </a:r>
          </a:p>
          <a:p>
            <a:r>
              <a:rPr lang="en-US" dirty="0"/>
              <a:t>Mantissa</a:t>
            </a:r>
            <a:r>
              <a:rPr lang="en-US" baseline="0" dirty="0"/>
              <a:t>: 0000 … 0000</a:t>
            </a:r>
          </a:p>
          <a:p>
            <a:endParaRPr lang="en-US" baseline="0" dirty="0"/>
          </a:p>
          <a:p>
            <a:r>
              <a:rPr lang="en-US" baseline="0" dirty="0"/>
              <a:t>Answer: </a:t>
            </a:r>
          </a:p>
          <a:p>
            <a:r>
              <a:rPr lang="en-US" sz="1200" b="0" i="0" u="none" strike="noStrike" kern="1200" baseline="0" dirty="0">
                <a:solidFill>
                  <a:schemeClr val="tx1"/>
                </a:solidFill>
                <a:latin typeface="+mn-lt"/>
                <a:ea typeface="+mn-ea"/>
                <a:cs typeface="+mn-cs"/>
              </a:rPr>
              <a:t>1 01111110 000 0000 0000 0000 0000 0000</a:t>
            </a:r>
            <a:endParaRPr lang="en-US" dirty="0"/>
          </a:p>
        </p:txBody>
      </p:sp>
    </p:spTree>
    <p:extLst>
      <p:ext uri="{BB962C8B-B14F-4D97-AF65-F5344CB8AC3E}">
        <p14:creationId xmlns:p14="http://schemas.microsoft.com/office/powerpoint/2010/main" val="418542575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kumimoji="1" lang="en-US" sz="3600" b="0" i="0" u="none" strike="noStrike" kern="0" cap="none" spc="0" normalizeH="0" baseline="30000" noProof="0" dirty="0">
              <a:ln>
                <a:noFill/>
              </a:ln>
              <a:solidFill>
                <a:prstClr val="black"/>
              </a:solidFill>
              <a:effectLst/>
              <a:uLnTx/>
              <a:uFillTx/>
              <a:latin typeface="Calibri" pitchFamily="34" charset="0"/>
              <a:ea typeface="標楷體" pitchFamily="65" charset="-120"/>
              <a:cs typeface="+mn-cs"/>
            </a:endParaRPr>
          </a:p>
        </p:txBody>
      </p:sp>
    </p:spTree>
    <p:extLst>
      <p:ext uri="{BB962C8B-B14F-4D97-AF65-F5344CB8AC3E}">
        <p14:creationId xmlns:p14="http://schemas.microsoft.com/office/powerpoint/2010/main" val="16997660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kumimoji="1" lang="en-US" sz="3600" b="0" i="0" u="none" strike="noStrike" kern="0" cap="none" spc="0" normalizeH="0" baseline="30000" noProof="0" dirty="0">
              <a:ln>
                <a:noFill/>
              </a:ln>
              <a:solidFill>
                <a:prstClr val="black"/>
              </a:solidFill>
              <a:effectLst/>
              <a:uLnTx/>
              <a:uFillTx/>
              <a:latin typeface="Calibri" pitchFamily="34" charset="0"/>
              <a:ea typeface="標楷體" pitchFamily="65" charset="-120"/>
              <a:cs typeface="+mn-cs"/>
            </a:endParaRPr>
          </a:p>
        </p:txBody>
      </p:sp>
    </p:spTree>
    <p:extLst>
      <p:ext uri="{BB962C8B-B14F-4D97-AF65-F5344CB8AC3E}">
        <p14:creationId xmlns:p14="http://schemas.microsoft.com/office/powerpoint/2010/main" val="78344608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kumimoji="1" lang="en-US" sz="3600" b="0" i="0" u="none" strike="noStrike" kern="0" cap="none" spc="0" normalizeH="0" baseline="30000" noProof="0" dirty="0">
              <a:ln>
                <a:noFill/>
              </a:ln>
              <a:solidFill>
                <a:prstClr val="black"/>
              </a:solidFill>
              <a:effectLst/>
              <a:uLnTx/>
              <a:uFillTx/>
              <a:latin typeface="Calibri" pitchFamily="34" charset="0"/>
              <a:ea typeface="標楷體" pitchFamily="65" charset="-120"/>
              <a:cs typeface="+mn-cs"/>
            </a:endParaRPr>
          </a:p>
        </p:txBody>
      </p:sp>
    </p:spTree>
    <p:extLst>
      <p:ext uri="{BB962C8B-B14F-4D97-AF65-F5344CB8AC3E}">
        <p14:creationId xmlns:p14="http://schemas.microsoft.com/office/powerpoint/2010/main" val="239302978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reciprocal</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reciprocal</a:t>
            </a:r>
          </a:p>
        </p:txBody>
      </p:sp>
    </p:spTree>
    <p:extLst>
      <p:ext uri="{BB962C8B-B14F-4D97-AF65-F5344CB8AC3E}">
        <p14:creationId xmlns:p14="http://schemas.microsoft.com/office/powerpoint/2010/main" val="287975184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jump instruction may be out of the 1MB range</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11D5518-E2B7-47D3-A483-775D39982443}" type="slidenum">
              <a:rPr kumimoji="0" lang="zh-TW" altLang="en-US" sz="1200" b="0" i="0" u="none" strike="noStrike" kern="1200" cap="none" spc="0" normalizeH="0" baseline="0" noProof="0" smtClean="0">
                <a:ln>
                  <a:noFill/>
                </a:ln>
                <a:solidFill>
                  <a:prstClr val="black"/>
                </a:solidFill>
                <a:effectLst/>
                <a:uLnTx/>
                <a:uFillTx/>
                <a:latin typeface="Calibri" panose="020F0502020204030204"/>
                <a:ea typeface="新細明體" panose="02020500000000000000"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zh-TW" altLang="en-US" sz="1200" b="0" i="0" u="none" strike="noStrike" kern="1200" cap="none" spc="0" normalizeH="0" baseline="0" noProof="0">
              <a:ln>
                <a:noFill/>
              </a:ln>
              <a:solidFill>
                <a:prstClr val="black"/>
              </a:solidFill>
              <a:effectLst/>
              <a:uLnTx/>
              <a:uFillTx/>
              <a:latin typeface="Calibri" panose="020F0502020204030204"/>
              <a:ea typeface="新細明體" panose="02020500000000000000" pitchFamily="18" charset="-120"/>
              <a:cs typeface="+mn-cs"/>
            </a:endParaRPr>
          </a:p>
        </p:txBody>
      </p:sp>
    </p:spTree>
    <p:extLst>
      <p:ext uri="{BB962C8B-B14F-4D97-AF65-F5344CB8AC3E}">
        <p14:creationId xmlns:p14="http://schemas.microsoft.com/office/powerpoint/2010/main" val="9368497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dirty="0"/>
          </a:p>
        </p:txBody>
      </p:sp>
      <p:sp>
        <p:nvSpPr>
          <p:cNvPr id="3" name="內容版面配置區 2"/>
          <p:cNvSpPr>
            <a:spLocks noGrp="1"/>
          </p:cNvSpPr>
          <p:nvPr>
            <p:ph idx="1"/>
          </p:nvPr>
        </p:nvSpPr>
        <p:spPr/>
        <p:txBody>
          <a:bodyPr/>
          <a:lstStyle>
            <a:lvl3pPr>
              <a:defRPr sz="2667">
                <a:latin typeface="Calibri" pitchFamily="34" charset="0"/>
                <a:ea typeface="標楷體" pitchFamily="65" charset="-120"/>
                <a:cs typeface="Calibri" pitchFamily="34" charset="0"/>
              </a:defRPr>
            </a:lvl3pPr>
            <a:lvl4pPr>
              <a:defRPr sz="2400">
                <a:latin typeface="Calibri" pitchFamily="34" charset="0"/>
                <a:ea typeface="標楷體" pitchFamily="65" charset="-120"/>
                <a:cs typeface="Calibri" pitchFamily="34" charset="0"/>
              </a:defRPr>
            </a:lvl4pPr>
            <a:lvl5pPr>
              <a:defRPr sz="2133">
                <a:latin typeface="Calibri" pitchFamily="34" charset="0"/>
                <a:ea typeface="標楷體" pitchFamily="65" charset="-120"/>
                <a:cs typeface="Calibri" pitchFamily="34" charset="0"/>
              </a:defRPr>
            </a:lvl5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3848391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963084" y="4406903"/>
            <a:ext cx="10363200" cy="1362075"/>
          </a:xfrm>
        </p:spPr>
        <p:txBody>
          <a:bodyPr anchor="t"/>
          <a:lstStyle>
            <a:lvl1pPr algn="l">
              <a:defRPr sz="4267" b="1" cap="all"/>
            </a:lvl1pPr>
          </a:lstStyle>
          <a:p>
            <a:r>
              <a:rPr lang="en-US" altLang="zh-TW" dirty="0"/>
              <a:t>Click to edit Master title style</a:t>
            </a:r>
            <a:endParaRPr lang="zh-TW" altLang="en-US" dirty="0"/>
          </a:p>
        </p:txBody>
      </p:sp>
      <p:sp>
        <p:nvSpPr>
          <p:cNvPr id="3" name="文字版面配置區 2"/>
          <p:cNvSpPr>
            <a:spLocks noGrp="1"/>
          </p:cNvSpPr>
          <p:nvPr>
            <p:ph type="body" idx="1"/>
          </p:nvPr>
        </p:nvSpPr>
        <p:spPr>
          <a:xfrm>
            <a:off x="963084" y="2906713"/>
            <a:ext cx="10363200" cy="1500187"/>
          </a:xfrm>
        </p:spPr>
        <p:txBody>
          <a:bodyPr anchor="b"/>
          <a:lstStyle>
            <a:lvl1pPr marL="0" indent="0">
              <a:buNone/>
              <a:defRPr sz="3733"/>
            </a:lvl1pPr>
            <a:lvl2pPr marL="457177" indent="0">
              <a:buNone/>
              <a:defRPr sz="1801"/>
            </a:lvl2pPr>
            <a:lvl3pPr marL="914354" indent="0">
              <a:buNone/>
              <a:defRPr sz="1600"/>
            </a:lvl3pPr>
            <a:lvl4pPr marL="1371531" indent="0">
              <a:buNone/>
              <a:defRPr sz="1401"/>
            </a:lvl4pPr>
            <a:lvl5pPr marL="1828709" indent="0">
              <a:buNone/>
              <a:defRPr sz="1401"/>
            </a:lvl5pPr>
            <a:lvl6pPr marL="2285886" indent="0">
              <a:buNone/>
              <a:defRPr sz="1401"/>
            </a:lvl6pPr>
            <a:lvl7pPr marL="2743063" indent="0">
              <a:buNone/>
              <a:defRPr sz="1401"/>
            </a:lvl7pPr>
            <a:lvl8pPr marL="3200240" indent="0">
              <a:buNone/>
              <a:defRPr sz="1401"/>
            </a:lvl8pPr>
            <a:lvl9pPr marL="3657417" indent="0">
              <a:buNone/>
              <a:defRPr sz="1401"/>
            </a:lvl9pPr>
          </a:lstStyle>
          <a:p>
            <a:pPr lvl="0"/>
            <a:r>
              <a:rPr lang="en-US" altLang="zh-TW" dirty="0"/>
              <a:t>Click to edit Master text styles</a:t>
            </a:r>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716034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Click to edit Master title style</a:t>
            </a:r>
            <a:endParaRPr lang="zh-TW" altLang="en-US" dirty="0"/>
          </a:p>
        </p:txBody>
      </p:sp>
      <p:sp>
        <p:nvSpPr>
          <p:cNvPr id="3" name="內容版面配置區 2"/>
          <p:cNvSpPr>
            <a:spLocks noGrp="1"/>
          </p:cNvSpPr>
          <p:nvPr>
            <p:ph sz="half" idx="1"/>
          </p:nvPr>
        </p:nvSpPr>
        <p:spPr>
          <a:xfrm>
            <a:off x="609600" y="1125536"/>
            <a:ext cx="5384800" cy="4227699"/>
          </a:xfrm>
        </p:spPr>
        <p:txBody>
          <a:bodyPr/>
          <a:lstStyle>
            <a:lvl1pPr>
              <a:defRPr sz="3733"/>
            </a:lvl1pPr>
            <a:lvl2pPr>
              <a:defRPr sz="3200"/>
            </a:lvl2pPr>
            <a:lvl3pPr>
              <a:defRPr sz="2400"/>
            </a:lvl3pPr>
            <a:lvl4pPr>
              <a:defRPr sz="2133"/>
            </a:lvl4pPr>
            <a:lvl5pPr>
              <a:defRPr sz="2133"/>
            </a:lvl5pPr>
            <a:lvl6pPr>
              <a:defRPr sz="1801"/>
            </a:lvl6pPr>
            <a:lvl7pPr>
              <a:defRPr sz="1801"/>
            </a:lvl7pPr>
            <a:lvl8pPr>
              <a:defRPr sz="1801"/>
            </a:lvl8pPr>
            <a:lvl9pPr>
              <a:defRPr sz="180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內容版面配置區 3"/>
          <p:cNvSpPr>
            <a:spLocks noGrp="1"/>
          </p:cNvSpPr>
          <p:nvPr>
            <p:ph sz="half" idx="2"/>
          </p:nvPr>
        </p:nvSpPr>
        <p:spPr>
          <a:xfrm>
            <a:off x="6197600" y="1125536"/>
            <a:ext cx="5384800" cy="4227699"/>
          </a:xfrm>
        </p:spPr>
        <p:txBody>
          <a:bodyPr/>
          <a:lstStyle>
            <a:lvl1pPr>
              <a:defRPr sz="3733"/>
            </a:lvl1pPr>
            <a:lvl2pPr>
              <a:defRPr sz="3200"/>
            </a:lvl2pPr>
            <a:lvl3pPr>
              <a:defRPr sz="2400"/>
            </a:lvl3pPr>
            <a:lvl4pPr>
              <a:defRPr sz="2133"/>
            </a:lvl4pPr>
            <a:lvl5pPr>
              <a:defRPr sz="2133"/>
            </a:lvl5pPr>
            <a:lvl6pPr>
              <a:defRPr sz="1801"/>
            </a:lvl6pPr>
            <a:lvl7pPr>
              <a:defRPr sz="1801"/>
            </a:lvl7pPr>
            <a:lvl8pPr>
              <a:defRPr sz="1801"/>
            </a:lvl8pPr>
            <a:lvl9pPr>
              <a:defRPr sz="180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1649854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比對">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609602" y="1268773"/>
            <a:ext cx="5386917" cy="639763"/>
          </a:xfrm>
        </p:spPr>
        <p:txBody>
          <a:bodyPr anchor="b"/>
          <a:lstStyle>
            <a:lvl1pPr marL="0" indent="0">
              <a:buNone/>
              <a:defRPr sz="2667" b="1"/>
            </a:lvl1pPr>
            <a:lvl2pPr marL="457177" indent="0">
              <a:buNone/>
              <a:defRPr sz="2000" b="1"/>
            </a:lvl2pPr>
            <a:lvl3pPr marL="914354" indent="0">
              <a:buNone/>
              <a:defRPr sz="1801" b="1"/>
            </a:lvl3pPr>
            <a:lvl4pPr marL="1371531"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ltLang="zh-TW"/>
              <a:t>Click to edit Master text styles</a:t>
            </a:r>
          </a:p>
        </p:txBody>
      </p:sp>
      <p:sp>
        <p:nvSpPr>
          <p:cNvPr id="4" name="內容版面配置區 3"/>
          <p:cNvSpPr>
            <a:spLocks noGrp="1"/>
          </p:cNvSpPr>
          <p:nvPr>
            <p:ph sz="half" idx="2"/>
          </p:nvPr>
        </p:nvSpPr>
        <p:spPr>
          <a:xfrm>
            <a:off x="609602" y="1908535"/>
            <a:ext cx="5386917" cy="3951288"/>
          </a:xfrm>
        </p:spPr>
        <p:txBody>
          <a:bodyPr/>
          <a:lstStyle>
            <a:lvl1pPr>
              <a:defRPr sz="2667"/>
            </a:lvl1pPr>
            <a:lvl2pPr>
              <a:defRPr sz="2133"/>
            </a:lvl2pPr>
            <a:lvl3pPr>
              <a:defRPr sz="1867"/>
            </a:lvl3pPr>
            <a:lvl4pPr>
              <a:defRPr sz="1867"/>
            </a:lvl4pPr>
            <a:lvl5pPr>
              <a:defRPr sz="1867"/>
            </a:lvl5pPr>
            <a:lvl6pPr>
              <a:defRPr sz="1600"/>
            </a:lvl6pPr>
            <a:lvl7pPr>
              <a:defRPr sz="1600"/>
            </a:lvl7pPr>
            <a:lvl8pPr>
              <a:defRPr sz="1600"/>
            </a:lvl8pPr>
            <a:lvl9pPr>
              <a:defRPr sz="160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文字版面配置區 4"/>
          <p:cNvSpPr>
            <a:spLocks noGrp="1"/>
          </p:cNvSpPr>
          <p:nvPr>
            <p:ph type="body" sz="quarter" idx="3"/>
          </p:nvPr>
        </p:nvSpPr>
        <p:spPr>
          <a:xfrm>
            <a:off x="6193373" y="1268773"/>
            <a:ext cx="5389033" cy="639763"/>
          </a:xfrm>
        </p:spPr>
        <p:txBody>
          <a:bodyPr anchor="b"/>
          <a:lstStyle>
            <a:lvl1pPr marL="0" indent="0">
              <a:buNone/>
              <a:defRPr sz="2667" b="1"/>
            </a:lvl1pPr>
            <a:lvl2pPr marL="457177" indent="0">
              <a:buNone/>
              <a:defRPr sz="2000" b="1"/>
            </a:lvl2pPr>
            <a:lvl3pPr marL="914354" indent="0">
              <a:buNone/>
              <a:defRPr sz="1801" b="1"/>
            </a:lvl3pPr>
            <a:lvl4pPr marL="1371531"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ltLang="zh-TW"/>
              <a:t>Click to edit Master text styles</a:t>
            </a:r>
          </a:p>
        </p:txBody>
      </p:sp>
      <p:sp>
        <p:nvSpPr>
          <p:cNvPr id="6" name="內容版面配置區 5"/>
          <p:cNvSpPr>
            <a:spLocks noGrp="1"/>
          </p:cNvSpPr>
          <p:nvPr>
            <p:ph sz="quarter" idx="4"/>
          </p:nvPr>
        </p:nvSpPr>
        <p:spPr>
          <a:xfrm>
            <a:off x="6193373" y="1908535"/>
            <a:ext cx="5389033" cy="3951288"/>
          </a:xfrm>
        </p:spPr>
        <p:txBody>
          <a:bodyPr/>
          <a:lstStyle>
            <a:lvl1pPr>
              <a:defRPr sz="2667"/>
            </a:lvl1pPr>
            <a:lvl2pPr>
              <a:defRPr sz="2133"/>
            </a:lvl2pPr>
            <a:lvl3pPr>
              <a:defRPr sz="1867"/>
            </a:lvl3pPr>
            <a:lvl4pPr>
              <a:defRPr sz="1867"/>
            </a:lvl4pPr>
            <a:lvl5pPr>
              <a:defRPr sz="1867"/>
            </a:lvl5pPr>
            <a:lvl6pPr>
              <a:defRPr sz="1600"/>
            </a:lvl6pPr>
            <a:lvl7pPr>
              <a:defRPr sz="1600"/>
            </a:lvl7pPr>
            <a:lvl8pPr>
              <a:defRPr sz="1600"/>
            </a:lvl8pPr>
            <a:lvl9pPr>
              <a:defRPr sz="16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
        <p:nvSpPr>
          <p:cNvPr id="8" name="標題 1"/>
          <p:cNvSpPr>
            <a:spLocks noGrp="1"/>
          </p:cNvSpPr>
          <p:nvPr>
            <p:ph type="title"/>
          </p:nvPr>
        </p:nvSpPr>
        <p:spPr>
          <a:xfrm>
            <a:off x="624421" y="144466"/>
            <a:ext cx="10943167" cy="692151"/>
          </a:xfrm>
        </p:spPr>
        <p:txBody>
          <a:bodyPr/>
          <a:lstStyle/>
          <a:p>
            <a:r>
              <a:rPr lang="en-US" altLang="zh-TW" dirty="0"/>
              <a:t>Click to edit Master title style</a:t>
            </a:r>
            <a:endParaRPr lang="zh-TW" altLang="en-US" dirty="0"/>
          </a:p>
        </p:txBody>
      </p:sp>
    </p:spTree>
    <p:extLst>
      <p:ext uri="{BB962C8B-B14F-4D97-AF65-F5344CB8AC3E}">
        <p14:creationId xmlns:p14="http://schemas.microsoft.com/office/powerpoint/2010/main" val="37794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40307014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2633198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609606" y="273049"/>
            <a:ext cx="4011084" cy="1162051"/>
          </a:xfrm>
        </p:spPr>
        <p:txBody>
          <a:bodyPr anchor="b"/>
          <a:lstStyle>
            <a:lvl1pPr algn="l">
              <a:defRPr sz="2000" b="1"/>
            </a:lvl1pPr>
          </a:lstStyle>
          <a:p>
            <a:r>
              <a:rPr lang="en-US" altLang="zh-TW"/>
              <a:t>Click to edit Master title style</a:t>
            </a:r>
            <a:endParaRPr lang="zh-TW" altLang="en-US"/>
          </a:p>
        </p:txBody>
      </p:sp>
      <p:sp>
        <p:nvSpPr>
          <p:cNvPr id="3" name="內容版面配置區 2"/>
          <p:cNvSpPr>
            <a:spLocks noGrp="1"/>
          </p:cNvSpPr>
          <p:nvPr>
            <p:ph idx="1"/>
          </p:nvPr>
        </p:nvSpPr>
        <p:spPr>
          <a:xfrm>
            <a:off x="4766734" y="273056"/>
            <a:ext cx="6815668"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文字版面配置區 3"/>
          <p:cNvSpPr>
            <a:spLocks noGrp="1"/>
          </p:cNvSpPr>
          <p:nvPr>
            <p:ph type="body" sz="half" idx="2"/>
          </p:nvPr>
        </p:nvSpPr>
        <p:spPr>
          <a:xfrm>
            <a:off x="609606" y="1435104"/>
            <a:ext cx="4011084" cy="4691063"/>
          </a:xfrm>
        </p:spPr>
        <p:txBody>
          <a:bodyPr/>
          <a:lstStyle>
            <a:lvl1pPr marL="0" indent="0">
              <a:buNone/>
              <a:defRPr sz="1401"/>
            </a:lvl1pPr>
            <a:lvl2pPr marL="457177" indent="0">
              <a:buNone/>
              <a:defRPr sz="1200"/>
            </a:lvl2pPr>
            <a:lvl3pPr marL="914354" indent="0">
              <a:buNone/>
              <a:defRPr sz="1001"/>
            </a:lvl3pPr>
            <a:lvl4pPr marL="1371531"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8504832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2389717" y="4800600"/>
            <a:ext cx="7315200" cy="566739"/>
          </a:xfrm>
        </p:spPr>
        <p:txBody>
          <a:bodyPr anchor="b"/>
          <a:lstStyle>
            <a:lvl1pPr algn="l">
              <a:defRPr sz="2000" b="1"/>
            </a:lvl1pPr>
          </a:lstStyle>
          <a:p>
            <a:r>
              <a:rPr lang="en-US" altLang="zh-TW"/>
              <a:t>Click to edit Master title style</a:t>
            </a:r>
            <a:endParaRPr lang="zh-TW" altLang="en-US"/>
          </a:p>
        </p:txBody>
      </p:sp>
      <p:sp>
        <p:nvSpPr>
          <p:cNvPr id="3" name="圖片版面配置區 2"/>
          <p:cNvSpPr>
            <a:spLocks noGrp="1"/>
          </p:cNvSpPr>
          <p:nvPr>
            <p:ph type="pic" idx="1"/>
          </p:nvPr>
        </p:nvSpPr>
        <p:spPr>
          <a:xfrm>
            <a:off x="2389717" y="612775"/>
            <a:ext cx="7315200" cy="4114800"/>
          </a:xfrm>
        </p:spPr>
        <p:txBody>
          <a:bodyPr/>
          <a:lstStyle>
            <a:lvl1pPr marL="0" indent="0">
              <a:buNone/>
              <a:defRPr sz="3200"/>
            </a:lvl1pPr>
            <a:lvl2pPr marL="457177" indent="0">
              <a:buNone/>
              <a:defRPr sz="2800"/>
            </a:lvl2pPr>
            <a:lvl3pPr marL="914354" indent="0">
              <a:buNone/>
              <a:defRPr sz="2400"/>
            </a:lvl3pPr>
            <a:lvl4pPr marL="1371531" indent="0">
              <a:buNone/>
              <a:defRPr sz="2000"/>
            </a:lvl4pPr>
            <a:lvl5pPr marL="1828709" indent="0">
              <a:buNone/>
              <a:defRPr sz="2000"/>
            </a:lvl5pPr>
            <a:lvl6pPr marL="2285886" indent="0">
              <a:buNone/>
              <a:defRPr sz="2000"/>
            </a:lvl6pPr>
            <a:lvl7pPr marL="2743063" indent="0">
              <a:buNone/>
              <a:defRPr sz="2000"/>
            </a:lvl7pPr>
            <a:lvl8pPr marL="3200240" indent="0">
              <a:buNone/>
              <a:defRPr sz="2000"/>
            </a:lvl8pPr>
            <a:lvl9pPr marL="3657417" indent="0">
              <a:buNone/>
              <a:defRPr sz="2000"/>
            </a:lvl9pPr>
          </a:lstStyle>
          <a:p>
            <a:pPr lvl="0"/>
            <a:r>
              <a:rPr lang="en-US" altLang="zh-TW" noProof="0"/>
              <a:t>Click icon to add picture</a:t>
            </a:r>
            <a:endParaRPr lang="zh-TW" altLang="en-US" noProof="0"/>
          </a:p>
        </p:txBody>
      </p:sp>
      <p:sp>
        <p:nvSpPr>
          <p:cNvPr id="4" name="文字版面配置區 3"/>
          <p:cNvSpPr>
            <a:spLocks noGrp="1"/>
          </p:cNvSpPr>
          <p:nvPr>
            <p:ph type="body" sz="half" idx="2"/>
          </p:nvPr>
        </p:nvSpPr>
        <p:spPr>
          <a:xfrm>
            <a:off x="2389717" y="5367341"/>
            <a:ext cx="7315200" cy="804863"/>
          </a:xfrm>
        </p:spPr>
        <p:txBody>
          <a:bodyPr/>
          <a:lstStyle>
            <a:lvl1pPr marL="0" indent="0">
              <a:buNone/>
              <a:defRPr sz="1401"/>
            </a:lvl1pPr>
            <a:lvl2pPr marL="457177" indent="0">
              <a:buNone/>
              <a:defRPr sz="1200"/>
            </a:lvl2pPr>
            <a:lvl3pPr marL="914354" indent="0">
              <a:buNone/>
              <a:defRPr sz="1001"/>
            </a:lvl3pPr>
            <a:lvl4pPr marL="1371531"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1256574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直排文字版面配置區 2"/>
          <p:cNvSpPr>
            <a:spLocks noGrp="1"/>
          </p:cNvSpPr>
          <p:nvPr>
            <p:ph type="body" orient="vert" idx="1"/>
          </p:nvPr>
        </p:nvSpPr>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1736764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直排標題及文字">
    <p:spTree>
      <p:nvGrpSpPr>
        <p:cNvPr id="1" name=""/>
        <p:cNvGrpSpPr/>
        <p:nvPr/>
      </p:nvGrpSpPr>
      <p:grpSpPr>
        <a:xfrm>
          <a:off x="0" y="0"/>
          <a:ext cx="0" cy="0"/>
          <a:chOff x="0" y="0"/>
          <a:chExt cx="0" cy="0"/>
        </a:xfrm>
      </p:grpSpPr>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533043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Only" preserve="1">
  <p:cSld name="物件">
    <p:spTree>
      <p:nvGrpSpPr>
        <p:cNvPr id="1" name=""/>
        <p:cNvGrpSpPr/>
        <p:nvPr/>
      </p:nvGrpSpPr>
      <p:grpSpPr>
        <a:xfrm>
          <a:off x="0" y="0"/>
          <a:ext cx="0" cy="0"/>
          <a:chOff x="0" y="0"/>
          <a:chExt cx="0" cy="0"/>
        </a:xfrm>
      </p:grpSpPr>
      <p:sp>
        <p:nvSpPr>
          <p:cNvPr id="2" name="內容版面配置區 1"/>
          <p:cNvSpPr>
            <a:spLocks noGrp="1"/>
          </p:cNvSpPr>
          <p:nvPr>
            <p:ph/>
          </p:nvPr>
        </p:nvSpPr>
        <p:spPr>
          <a:xfrm>
            <a:off x="609600" y="73028"/>
            <a:ext cx="10972800" cy="1700213"/>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518601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標題及表格">
    <p:spTree>
      <p:nvGrpSpPr>
        <p:cNvPr id="1" name=""/>
        <p:cNvGrpSpPr/>
        <p:nvPr/>
      </p:nvGrpSpPr>
      <p:grpSpPr>
        <a:xfrm>
          <a:off x="0" y="0"/>
          <a:ext cx="0" cy="0"/>
          <a:chOff x="0" y="0"/>
          <a:chExt cx="0" cy="0"/>
        </a:xfrm>
      </p:grpSpPr>
      <p:sp>
        <p:nvSpPr>
          <p:cNvPr id="3" name="表格版面配置區 2"/>
          <p:cNvSpPr>
            <a:spLocks noGrp="1"/>
          </p:cNvSpPr>
          <p:nvPr>
            <p:ph type="tbl" idx="1"/>
          </p:nvPr>
        </p:nvSpPr>
        <p:spPr>
          <a:xfrm>
            <a:off x="609600" y="1125542"/>
            <a:ext cx="10972800" cy="647700"/>
          </a:xfrm>
        </p:spPr>
        <p:txBody>
          <a:bodyPr/>
          <a:lstStyle/>
          <a:p>
            <a:pPr lvl="0"/>
            <a:r>
              <a:rPr lang="en-US" altLang="zh-TW" noProof="0"/>
              <a:t>Click icon to add table</a:t>
            </a:r>
            <a:endParaRPr lang="zh-TW" altLang="en-US" noProof="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1992217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914400" y="2130432"/>
            <a:ext cx="10363200" cy="1470025"/>
          </a:xfrm>
        </p:spPr>
        <p:txBody>
          <a:bodyPr/>
          <a:lstStyle>
            <a:lvl1pPr algn="ctr">
              <a:defRPr sz="5333"/>
            </a:lvl1pPr>
          </a:lstStyle>
          <a:p>
            <a:r>
              <a:rPr lang="en-US" altLang="zh-TW"/>
              <a:t>Click to edit Master title style</a:t>
            </a:r>
            <a:endParaRPr lang="zh-TW" altLang="en-US"/>
          </a:p>
        </p:txBody>
      </p:sp>
      <p:sp>
        <p:nvSpPr>
          <p:cNvPr id="3" name="副標題 2"/>
          <p:cNvSpPr>
            <a:spLocks noGrp="1"/>
          </p:cNvSpPr>
          <p:nvPr>
            <p:ph type="subTitle" idx="1"/>
          </p:nvPr>
        </p:nvSpPr>
        <p:spPr>
          <a:xfrm>
            <a:off x="1828800" y="3886200"/>
            <a:ext cx="8534400" cy="1752600"/>
          </a:xfrm>
        </p:spPr>
        <p:txBody>
          <a:bodyPr/>
          <a:lstStyle>
            <a:lvl1pPr marL="0" indent="0" algn="ctr">
              <a:buNone/>
              <a:defRPr/>
            </a:lvl1pPr>
            <a:lvl2pPr marL="457177" indent="0" algn="ctr">
              <a:buNone/>
              <a:defRPr/>
            </a:lvl2pPr>
            <a:lvl3pPr marL="914354" indent="0" algn="ctr">
              <a:buNone/>
              <a:defRPr/>
            </a:lvl3pPr>
            <a:lvl4pPr marL="1371531" indent="0" algn="ctr">
              <a:buNone/>
              <a:defRPr/>
            </a:lvl4pPr>
            <a:lvl5pPr marL="1828709" indent="0" algn="ctr">
              <a:buNone/>
              <a:defRPr/>
            </a:lvl5pPr>
            <a:lvl6pPr marL="2285886" indent="0" algn="ctr">
              <a:buNone/>
              <a:defRPr/>
            </a:lvl6pPr>
            <a:lvl7pPr marL="2743063" indent="0" algn="ctr">
              <a:buNone/>
              <a:defRPr/>
            </a:lvl7pPr>
            <a:lvl8pPr marL="3200240" indent="0" algn="ctr">
              <a:buNone/>
              <a:defRPr/>
            </a:lvl8pPr>
            <a:lvl9pPr marL="3657417" indent="0" algn="ctr">
              <a:buNone/>
              <a:defRPr/>
            </a:lvl9pPr>
          </a:lstStyle>
          <a:p>
            <a:r>
              <a:rPr lang="en-US" altLang="zh-TW"/>
              <a:t>Click to edit Master subtitle style</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1499471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0798655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0283935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5634368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86378302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17755558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9984383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7388628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0185375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30796229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74827845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72736785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dirty="0"/>
          </a:p>
        </p:txBody>
      </p:sp>
      <p:sp>
        <p:nvSpPr>
          <p:cNvPr id="3" name="內容版面配置區 2"/>
          <p:cNvSpPr>
            <a:spLocks noGrp="1"/>
          </p:cNvSpPr>
          <p:nvPr>
            <p:ph idx="1"/>
          </p:nvPr>
        </p:nvSpPr>
        <p:spPr/>
        <p:txBody>
          <a:bodyPr/>
          <a:lstStyle>
            <a:lvl3pPr>
              <a:defRPr sz="2667">
                <a:latin typeface="Calibri" pitchFamily="34" charset="0"/>
                <a:ea typeface="標楷體" pitchFamily="65" charset="-120"/>
                <a:cs typeface="Calibri" pitchFamily="34" charset="0"/>
              </a:defRPr>
            </a:lvl3pPr>
            <a:lvl4pPr>
              <a:defRPr sz="2400">
                <a:latin typeface="Calibri" pitchFamily="34" charset="0"/>
                <a:ea typeface="標楷體" pitchFamily="65" charset="-120"/>
                <a:cs typeface="Calibri" pitchFamily="34" charset="0"/>
              </a:defRPr>
            </a:lvl4pPr>
            <a:lvl5pPr>
              <a:defRPr sz="2133">
                <a:latin typeface="Calibri" pitchFamily="34" charset="0"/>
                <a:ea typeface="標楷體" pitchFamily="65" charset="-120"/>
                <a:cs typeface="Calibri" pitchFamily="34" charset="0"/>
              </a:defRPr>
            </a:lvl5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06806470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963084" y="4406903"/>
            <a:ext cx="10363200" cy="1362075"/>
          </a:xfrm>
        </p:spPr>
        <p:txBody>
          <a:bodyPr anchor="t"/>
          <a:lstStyle>
            <a:lvl1pPr algn="l">
              <a:defRPr sz="4267" b="1" cap="all"/>
            </a:lvl1pPr>
          </a:lstStyle>
          <a:p>
            <a:r>
              <a:rPr lang="en-US" altLang="zh-TW" dirty="0"/>
              <a:t>Click to edit Master title style</a:t>
            </a:r>
            <a:endParaRPr lang="zh-TW" altLang="en-US" dirty="0"/>
          </a:p>
        </p:txBody>
      </p:sp>
      <p:sp>
        <p:nvSpPr>
          <p:cNvPr id="3" name="文字版面配置區 2"/>
          <p:cNvSpPr>
            <a:spLocks noGrp="1"/>
          </p:cNvSpPr>
          <p:nvPr>
            <p:ph type="body" idx="1"/>
          </p:nvPr>
        </p:nvSpPr>
        <p:spPr>
          <a:xfrm>
            <a:off x="963084" y="2906713"/>
            <a:ext cx="10363200" cy="1500187"/>
          </a:xfrm>
        </p:spPr>
        <p:txBody>
          <a:bodyPr anchor="b"/>
          <a:lstStyle>
            <a:lvl1pPr marL="0" indent="0">
              <a:buNone/>
              <a:defRPr sz="3733"/>
            </a:lvl1pPr>
            <a:lvl2pPr marL="457177" indent="0">
              <a:buNone/>
              <a:defRPr sz="1801"/>
            </a:lvl2pPr>
            <a:lvl3pPr marL="914354" indent="0">
              <a:buNone/>
              <a:defRPr sz="1600"/>
            </a:lvl3pPr>
            <a:lvl4pPr marL="1371531" indent="0">
              <a:buNone/>
              <a:defRPr sz="1401"/>
            </a:lvl4pPr>
            <a:lvl5pPr marL="1828709" indent="0">
              <a:buNone/>
              <a:defRPr sz="1401"/>
            </a:lvl5pPr>
            <a:lvl6pPr marL="2285886" indent="0">
              <a:buNone/>
              <a:defRPr sz="1401"/>
            </a:lvl6pPr>
            <a:lvl7pPr marL="2743063" indent="0">
              <a:buNone/>
              <a:defRPr sz="1401"/>
            </a:lvl7pPr>
            <a:lvl8pPr marL="3200240" indent="0">
              <a:buNone/>
              <a:defRPr sz="1401"/>
            </a:lvl8pPr>
            <a:lvl9pPr marL="3657417" indent="0">
              <a:buNone/>
              <a:defRPr sz="1401"/>
            </a:lvl9pPr>
          </a:lstStyle>
          <a:p>
            <a:pPr lvl="0"/>
            <a:r>
              <a:rPr lang="en-US" altLang="zh-TW" dirty="0"/>
              <a:t>Click to edit Master text styles</a:t>
            </a:r>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75978685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Click to edit Master title style</a:t>
            </a:r>
            <a:endParaRPr lang="zh-TW" altLang="en-US" dirty="0"/>
          </a:p>
        </p:txBody>
      </p:sp>
      <p:sp>
        <p:nvSpPr>
          <p:cNvPr id="3" name="內容版面配置區 2"/>
          <p:cNvSpPr>
            <a:spLocks noGrp="1"/>
          </p:cNvSpPr>
          <p:nvPr>
            <p:ph sz="half" idx="1"/>
          </p:nvPr>
        </p:nvSpPr>
        <p:spPr>
          <a:xfrm>
            <a:off x="609600" y="1125536"/>
            <a:ext cx="5384800" cy="4227699"/>
          </a:xfrm>
        </p:spPr>
        <p:txBody>
          <a:bodyPr/>
          <a:lstStyle>
            <a:lvl1pPr>
              <a:defRPr sz="3733"/>
            </a:lvl1pPr>
            <a:lvl2pPr>
              <a:defRPr sz="3200"/>
            </a:lvl2pPr>
            <a:lvl3pPr>
              <a:defRPr sz="2400"/>
            </a:lvl3pPr>
            <a:lvl4pPr>
              <a:defRPr sz="2133"/>
            </a:lvl4pPr>
            <a:lvl5pPr>
              <a:defRPr sz="2133"/>
            </a:lvl5pPr>
            <a:lvl6pPr>
              <a:defRPr sz="1801"/>
            </a:lvl6pPr>
            <a:lvl7pPr>
              <a:defRPr sz="1801"/>
            </a:lvl7pPr>
            <a:lvl8pPr>
              <a:defRPr sz="1801"/>
            </a:lvl8pPr>
            <a:lvl9pPr>
              <a:defRPr sz="180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內容版面配置區 3"/>
          <p:cNvSpPr>
            <a:spLocks noGrp="1"/>
          </p:cNvSpPr>
          <p:nvPr>
            <p:ph sz="half" idx="2"/>
          </p:nvPr>
        </p:nvSpPr>
        <p:spPr>
          <a:xfrm>
            <a:off x="6197600" y="1125536"/>
            <a:ext cx="5384800" cy="4227699"/>
          </a:xfrm>
        </p:spPr>
        <p:txBody>
          <a:bodyPr/>
          <a:lstStyle>
            <a:lvl1pPr>
              <a:defRPr sz="3733"/>
            </a:lvl1pPr>
            <a:lvl2pPr>
              <a:defRPr sz="3200"/>
            </a:lvl2pPr>
            <a:lvl3pPr>
              <a:defRPr sz="2400"/>
            </a:lvl3pPr>
            <a:lvl4pPr>
              <a:defRPr sz="2133"/>
            </a:lvl4pPr>
            <a:lvl5pPr>
              <a:defRPr sz="2133"/>
            </a:lvl5pPr>
            <a:lvl6pPr>
              <a:defRPr sz="1801"/>
            </a:lvl6pPr>
            <a:lvl7pPr>
              <a:defRPr sz="1801"/>
            </a:lvl7pPr>
            <a:lvl8pPr>
              <a:defRPr sz="1801"/>
            </a:lvl8pPr>
            <a:lvl9pPr>
              <a:defRPr sz="180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59469226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比對">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609602" y="1268773"/>
            <a:ext cx="5386917" cy="639763"/>
          </a:xfrm>
        </p:spPr>
        <p:txBody>
          <a:bodyPr anchor="b"/>
          <a:lstStyle>
            <a:lvl1pPr marL="0" indent="0">
              <a:buNone/>
              <a:defRPr sz="2667" b="1"/>
            </a:lvl1pPr>
            <a:lvl2pPr marL="457177" indent="0">
              <a:buNone/>
              <a:defRPr sz="2000" b="1"/>
            </a:lvl2pPr>
            <a:lvl3pPr marL="914354" indent="0">
              <a:buNone/>
              <a:defRPr sz="1801" b="1"/>
            </a:lvl3pPr>
            <a:lvl4pPr marL="1371531"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ltLang="zh-TW"/>
              <a:t>Click to edit Master text styles</a:t>
            </a:r>
          </a:p>
        </p:txBody>
      </p:sp>
      <p:sp>
        <p:nvSpPr>
          <p:cNvPr id="4" name="內容版面配置區 3"/>
          <p:cNvSpPr>
            <a:spLocks noGrp="1"/>
          </p:cNvSpPr>
          <p:nvPr>
            <p:ph sz="half" idx="2"/>
          </p:nvPr>
        </p:nvSpPr>
        <p:spPr>
          <a:xfrm>
            <a:off x="609602" y="1908535"/>
            <a:ext cx="5386917" cy="3951288"/>
          </a:xfrm>
        </p:spPr>
        <p:txBody>
          <a:bodyPr/>
          <a:lstStyle>
            <a:lvl1pPr>
              <a:defRPr sz="2667"/>
            </a:lvl1pPr>
            <a:lvl2pPr>
              <a:defRPr sz="2133"/>
            </a:lvl2pPr>
            <a:lvl3pPr>
              <a:defRPr sz="1867"/>
            </a:lvl3pPr>
            <a:lvl4pPr>
              <a:defRPr sz="1867"/>
            </a:lvl4pPr>
            <a:lvl5pPr>
              <a:defRPr sz="1867"/>
            </a:lvl5pPr>
            <a:lvl6pPr>
              <a:defRPr sz="1600"/>
            </a:lvl6pPr>
            <a:lvl7pPr>
              <a:defRPr sz="1600"/>
            </a:lvl7pPr>
            <a:lvl8pPr>
              <a:defRPr sz="1600"/>
            </a:lvl8pPr>
            <a:lvl9pPr>
              <a:defRPr sz="160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文字版面配置區 4"/>
          <p:cNvSpPr>
            <a:spLocks noGrp="1"/>
          </p:cNvSpPr>
          <p:nvPr>
            <p:ph type="body" sz="quarter" idx="3"/>
          </p:nvPr>
        </p:nvSpPr>
        <p:spPr>
          <a:xfrm>
            <a:off x="6193373" y="1268773"/>
            <a:ext cx="5389033" cy="639763"/>
          </a:xfrm>
        </p:spPr>
        <p:txBody>
          <a:bodyPr anchor="b"/>
          <a:lstStyle>
            <a:lvl1pPr marL="0" indent="0">
              <a:buNone/>
              <a:defRPr sz="2667" b="1"/>
            </a:lvl1pPr>
            <a:lvl2pPr marL="457177" indent="0">
              <a:buNone/>
              <a:defRPr sz="2000" b="1"/>
            </a:lvl2pPr>
            <a:lvl3pPr marL="914354" indent="0">
              <a:buNone/>
              <a:defRPr sz="1801" b="1"/>
            </a:lvl3pPr>
            <a:lvl4pPr marL="1371531"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ltLang="zh-TW"/>
              <a:t>Click to edit Master text styles</a:t>
            </a:r>
          </a:p>
        </p:txBody>
      </p:sp>
      <p:sp>
        <p:nvSpPr>
          <p:cNvPr id="6" name="內容版面配置區 5"/>
          <p:cNvSpPr>
            <a:spLocks noGrp="1"/>
          </p:cNvSpPr>
          <p:nvPr>
            <p:ph sz="quarter" idx="4"/>
          </p:nvPr>
        </p:nvSpPr>
        <p:spPr>
          <a:xfrm>
            <a:off x="6193373" y="1908535"/>
            <a:ext cx="5389033" cy="3951288"/>
          </a:xfrm>
        </p:spPr>
        <p:txBody>
          <a:bodyPr/>
          <a:lstStyle>
            <a:lvl1pPr>
              <a:defRPr sz="2667"/>
            </a:lvl1pPr>
            <a:lvl2pPr>
              <a:defRPr sz="2133"/>
            </a:lvl2pPr>
            <a:lvl3pPr>
              <a:defRPr sz="1867"/>
            </a:lvl3pPr>
            <a:lvl4pPr>
              <a:defRPr sz="1867"/>
            </a:lvl4pPr>
            <a:lvl5pPr>
              <a:defRPr sz="1867"/>
            </a:lvl5pPr>
            <a:lvl6pPr>
              <a:defRPr sz="1600"/>
            </a:lvl6pPr>
            <a:lvl7pPr>
              <a:defRPr sz="1600"/>
            </a:lvl7pPr>
            <a:lvl8pPr>
              <a:defRPr sz="1600"/>
            </a:lvl8pPr>
            <a:lvl9pPr>
              <a:defRPr sz="16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
        <p:nvSpPr>
          <p:cNvPr id="8" name="標題 1"/>
          <p:cNvSpPr>
            <a:spLocks noGrp="1"/>
          </p:cNvSpPr>
          <p:nvPr>
            <p:ph type="title"/>
          </p:nvPr>
        </p:nvSpPr>
        <p:spPr>
          <a:xfrm>
            <a:off x="624421" y="144466"/>
            <a:ext cx="10943167" cy="692151"/>
          </a:xfrm>
        </p:spPr>
        <p:txBody>
          <a:bodyPr/>
          <a:lstStyle/>
          <a:p>
            <a:r>
              <a:rPr lang="en-US" altLang="zh-TW" dirty="0"/>
              <a:t>Click to edit Master title style</a:t>
            </a:r>
            <a:endParaRPr lang="zh-TW" altLang="en-US" dirty="0"/>
          </a:p>
        </p:txBody>
      </p:sp>
    </p:spTree>
    <p:extLst>
      <p:ext uri="{BB962C8B-B14F-4D97-AF65-F5344CB8AC3E}">
        <p14:creationId xmlns:p14="http://schemas.microsoft.com/office/powerpoint/2010/main" val="117231009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96217830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25131225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609606" y="273049"/>
            <a:ext cx="4011084" cy="1162051"/>
          </a:xfrm>
        </p:spPr>
        <p:txBody>
          <a:bodyPr anchor="b"/>
          <a:lstStyle>
            <a:lvl1pPr algn="l">
              <a:defRPr sz="2000" b="1"/>
            </a:lvl1pPr>
          </a:lstStyle>
          <a:p>
            <a:r>
              <a:rPr lang="en-US" altLang="zh-TW"/>
              <a:t>Click to edit Master title style</a:t>
            </a:r>
            <a:endParaRPr lang="zh-TW" altLang="en-US"/>
          </a:p>
        </p:txBody>
      </p:sp>
      <p:sp>
        <p:nvSpPr>
          <p:cNvPr id="3" name="內容版面配置區 2"/>
          <p:cNvSpPr>
            <a:spLocks noGrp="1"/>
          </p:cNvSpPr>
          <p:nvPr>
            <p:ph idx="1"/>
          </p:nvPr>
        </p:nvSpPr>
        <p:spPr>
          <a:xfrm>
            <a:off x="4766734" y="273056"/>
            <a:ext cx="6815668"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文字版面配置區 3"/>
          <p:cNvSpPr>
            <a:spLocks noGrp="1"/>
          </p:cNvSpPr>
          <p:nvPr>
            <p:ph type="body" sz="half" idx="2"/>
          </p:nvPr>
        </p:nvSpPr>
        <p:spPr>
          <a:xfrm>
            <a:off x="609606" y="1435104"/>
            <a:ext cx="4011084" cy="4691063"/>
          </a:xfrm>
        </p:spPr>
        <p:txBody>
          <a:bodyPr/>
          <a:lstStyle>
            <a:lvl1pPr marL="0" indent="0">
              <a:buNone/>
              <a:defRPr sz="1401"/>
            </a:lvl1pPr>
            <a:lvl2pPr marL="457177" indent="0">
              <a:buNone/>
              <a:defRPr sz="1200"/>
            </a:lvl2pPr>
            <a:lvl3pPr marL="914354" indent="0">
              <a:buNone/>
              <a:defRPr sz="1001"/>
            </a:lvl3pPr>
            <a:lvl4pPr marL="1371531"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63831654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2389717" y="4800600"/>
            <a:ext cx="7315200" cy="566739"/>
          </a:xfrm>
        </p:spPr>
        <p:txBody>
          <a:bodyPr anchor="b"/>
          <a:lstStyle>
            <a:lvl1pPr algn="l">
              <a:defRPr sz="2000" b="1"/>
            </a:lvl1pPr>
          </a:lstStyle>
          <a:p>
            <a:r>
              <a:rPr lang="en-US" altLang="zh-TW"/>
              <a:t>Click to edit Master title style</a:t>
            </a:r>
            <a:endParaRPr lang="zh-TW" altLang="en-US"/>
          </a:p>
        </p:txBody>
      </p:sp>
      <p:sp>
        <p:nvSpPr>
          <p:cNvPr id="3" name="圖片版面配置區 2"/>
          <p:cNvSpPr>
            <a:spLocks noGrp="1"/>
          </p:cNvSpPr>
          <p:nvPr>
            <p:ph type="pic" idx="1"/>
          </p:nvPr>
        </p:nvSpPr>
        <p:spPr>
          <a:xfrm>
            <a:off x="2389717" y="612775"/>
            <a:ext cx="7315200" cy="4114800"/>
          </a:xfrm>
        </p:spPr>
        <p:txBody>
          <a:bodyPr/>
          <a:lstStyle>
            <a:lvl1pPr marL="0" indent="0">
              <a:buNone/>
              <a:defRPr sz="3200"/>
            </a:lvl1pPr>
            <a:lvl2pPr marL="457177" indent="0">
              <a:buNone/>
              <a:defRPr sz="2800"/>
            </a:lvl2pPr>
            <a:lvl3pPr marL="914354" indent="0">
              <a:buNone/>
              <a:defRPr sz="2400"/>
            </a:lvl3pPr>
            <a:lvl4pPr marL="1371531" indent="0">
              <a:buNone/>
              <a:defRPr sz="2000"/>
            </a:lvl4pPr>
            <a:lvl5pPr marL="1828709" indent="0">
              <a:buNone/>
              <a:defRPr sz="2000"/>
            </a:lvl5pPr>
            <a:lvl6pPr marL="2285886" indent="0">
              <a:buNone/>
              <a:defRPr sz="2000"/>
            </a:lvl6pPr>
            <a:lvl7pPr marL="2743063" indent="0">
              <a:buNone/>
              <a:defRPr sz="2000"/>
            </a:lvl7pPr>
            <a:lvl8pPr marL="3200240" indent="0">
              <a:buNone/>
              <a:defRPr sz="2000"/>
            </a:lvl8pPr>
            <a:lvl9pPr marL="3657417" indent="0">
              <a:buNone/>
              <a:defRPr sz="2000"/>
            </a:lvl9pPr>
          </a:lstStyle>
          <a:p>
            <a:pPr lvl="0"/>
            <a:r>
              <a:rPr lang="en-US" altLang="zh-TW" noProof="0"/>
              <a:t>Click icon to add picture</a:t>
            </a:r>
            <a:endParaRPr lang="zh-TW" altLang="en-US" noProof="0"/>
          </a:p>
        </p:txBody>
      </p:sp>
      <p:sp>
        <p:nvSpPr>
          <p:cNvPr id="4" name="文字版面配置區 3"/>
          <p:cNvSpPr>
            <a:spLocks noGrp="1"/>
          </p:cNvSpPr>
          <p:nvPr>
            <p:ph type="body" sz="half" idx="2"/>
          </p:nvPr>
        </p:nvSpPr>
        <p:spPr>
          <a:xfrm>
            <a:off x="2389717" y="5367341"/>
            <a:ext cx="7315200" cy="804863"/>
          </a:xfrm>
        </p:spPr>
        <p:txBody>
          <a:bodyPr/>
          <a:lstStyle>
            <a:lvl1pPr marL="0" indent="0">
              <a:buNone/>
              <a:defRPr sz="1401"/>
            </a:lvl1pPr>
            <a:lvl2pPr marL="457177" indent="0">
              <a:buNone/>
              <a:defRPr sz="1200"/>
            </a:lvl2pPr>
            <a:lvl3pPr marL="914354" indent="0">
              <a:buNone/>
              <a:defRPr sz="1001"/>
            </a:lvl3pPr>
            <a:lvl4pPr marL="1371531"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48358057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直排文字版面配置區 2"/>
          <p:cNvSpPr>
            <a:spLocks noGrp="1"/>
          </p:cNvSpPr>
          <p:nvPr>
            <p:ph type="body" orient="vert" idx="1"/>
          </p:nvPr>
        </p:nvSpPr>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89594371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直排標題及文字">
    <p:spTree>
      <p:nvGrpSpPr>
        <p:cNvPr id="1" name=""/>
        <p:cNvGrpSpPr/>
        <p:nvPr/>
      </p:nvGrpSpPr>
      <p:grpSpPr>
        <a:xfrm>
          <a:off x="0" y="0"/>
          <a:ext cx="0" cy="0"/>
          <a:chOff x="0" y="0"/>
          <a:chExt cx="0" cy="0"/>
        </a:xfrm>
      </p:grpSpPr>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419830242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Only" preserve="1">
  <p:cSld name="物件">
    <p:spTree>
      <p:nvGrpSpPr>
        <p:cNvPr id="1" name=""/>
        <p:cNvGrpSpPr/>
        <p:nvPr/>
      </p:nvGrpSpPr>
      <p:grpSpPr>
        <a:xfrm>
          <a:off x="0" y="0"/>
          <a:ext cx="0" cy="0"/>
          <a:chOff x="0" y="0"/>
          <a:chExt cx="0" cy="0"/>
        </a:xfrm>
      </p:grpSpPr>
      <p:sp>
        <p:nvSpPr>
          <p:cNvPr id="2" name="內容版面配置區 1"/>
          <p:cNvSpPr>
            <a:spLocks noGrp="1"/>
          </p:cNvSpPr>
          <p:nvPr>
            <p:ph/>
          </p:nvPr>
        </p:nvSpPr>
        <p:spPr>
          <a:xfrm>
            <a:off x="609600" y="73028"/>
            <a:ext cx="10972800" cy="1700213"/>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8963124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標題及表格">
    <p:spTree>
      <p:nvGrpSpPr>
        <p:cNvPr id="1" name=""/>
        <p:cNvGrpSpPr/>
        <p:nvPr/>
      </p:nvGrpSpPr>
      <p:grpSpPr>
        <a:xfrm>
          <a:off x="0" y="0"/>
          <a:ext cx="0" cy="0"/>
          <a:chOff x="0" y="0"/>
          <a:chExt cx="0" cy="0"/>
        </a:xfrm>
      </p:grpSpPr>
      <p:sp>
        <p:nvSpPr>
          <p:cNvPr id="3" name="表格版面配置區 2"/>
          <p:cNvSpPr>
            <a:spLocks noGrp="1"/>
          </p:cNvSpPr>
          <p:nvPr>
            <p:ph type="tbl" idx="1"/>
          </p:nvPr>
        </p:nvSpPr>
        <p:spPr>
          <a:xfrm>
            <a:off x="609600" y="1125542"/>
            <a:ext cx="10972800" cy="647700"/>
          </a:xfrm>
        </p:spPr>
        <p:txBody>
          <a:bodyPr/>
          <a:lstStyle/>
          <a:p>
            <a:pPr lvl="0"/>
            <a:r>
              <a:rPr lang="en-US" altLang="zh-TW" noProof="0"/>
              <a:t>Click icon to add table</a:t>
            </a:r>
            <a:endParaRPr lang="zh-TW" altLang="en-US" noProof="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41258937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1_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914400" y="2130432"/>
            <a:ext cx="10363200" cy="1470025"/>
          </a:xfrm>
        </p:spPr>
        <p:txBody>
          <a:bodyPr/>
          <a:lstStyle>
            <a:lvl1pPr algn="ctr">
              <a:defRPr sz="5333"/>
            </a:lvl1pPr>
          </a:lstStyle>
          <a:p>
            <a:r>
              <a:rPr lang="en-US" altLang="zh-TW"/>
              <a:t>Click to edit Master title style</a:t>
            </a:r>
            <a:endParaRPr lang="zh-TW" altLang="en-US"/>
          </a:p>
        </p:txBody>
      </p:sp>
      <p:sp>
        <p:nvSpPr>
          <p:cNvPr id="3" name="副標題 2"/>
          <p:cNvSpPr>
            <a:spLocks noGrp="1"/>
          </p:cNvSpPr>
          <p:nvPr>
            <p:ph type="subTitle" idx="1"/>
          </p:nvPr>
        </p:nvSpPr>
        <p:spPr>
          <a:xfrm>
            <a:off x="1828800" y="3886200"/>
            <a:ext cx="8534400" cy="1752600"/>
          </a:xfrm>
        </p:spPr>
        <p:txBody>
          <a:bodyPr/>
          <a:lstStyle>
            <a:lvl1pPr marL="0" indent="0" algn="ctr">
              <a:buNone/>
              <a:defRPr/>
            </a:lvl1pPr>
            <a:lvl2pPr marL="457177" indent="0" algn="ctr">
              <a:buNone/>
              <a:defRPr/>
            </a:lvl2pPr>
            <a:lvl3pPr marL="914354" indent="0" algn="ctr">
              <a:buNone/>
              <a:defRPr/>
            </a:lvl3pPr>
            <a:lvl4pPr marL="1371531" indent="0" algn="ctr">
              <a:buNone/>
              <a:defRPr/>
            </a:lvl4pPr>
            <a:lvl5pPr marL="1828709" indent="0" algn="ctr">
              <a:buNone/>
              <a:defRPr/>
            </a:lvl5pPr>
            <a:lvl6pPr marL="2285886" indent="0" algn="ctr">
              <a:buNone/>
              <a:defRPr/>
            </a:lvl6pPr>
            <a:lvl7pPr marL="2743063" indent="0" algn="ctr">
              <a:buNone/>
              <a:defRPr/>
            </a:lvl7pPr>
            <a:lvl8pPr marL="3200240" indent="0" algn="ctr">
              <a:buNone/>
              <a:defRPr/>
            </a:lvl8pPr>
            <a:lvl9pPr marL="3657417" indent="0" algn="ctr">
              <a:buNone/>
              <a:defRPr/>
            </a:lvl9pPr>
          </a:lstStyle>
          <a:p>
            <a:r>
              <a:rPr lang="en-US" altLang="zh-TW"/>
              <a:t>Click to edit Master subtitle style</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1082108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17" Type="http://schemas.openxmlformats.org/officeDocument/2006/relationships/image" Target="../media/image3.png"/><Relationship Id="rId2" Type="http://schemas.openxmlformats.org/officeDocument/2006/relationships/slideLayout" Target="../slideLayouts/slideLayout26.xml"/><Relationship Id="rId16" Type="http://schemas.openxmlformats.org/officeDocument/2006/relationships/image" Target="../media/image2.jpg"/><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image" Target="../media/image1.png"/><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17"/>
          <p:cNvSpPr>
            <a:spLocks noGrp="1" noChangeArrowheads="1"/>
          </p:cNvSpPr>
          <p:nvPr>
            <p:ph type="title"/>
          </p:nvPr>
        </p:nvSpPr>
        <p:spPr bwMode="auto">
          <a:xfrm>
            <a:off x="1049867" y="144466"/>
            <a:ext cx="10517721" cy="692151"/>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TW" altLang="en-US" dirty="0"/>
              <a:t>按一下以編輯母片標題樣式</a:t>
            </a:r>
          </a:p>
        </p:txBody>
      </p:sp>
      <p:sp>
        <p:nvSpPr>
          <p:cNvPr id="1028" name="Rectangle 18"/>
          <p:cNvSpPr>
            <a:spLocks noGrp="1" noChangeArrowheads="1"/>
          </p:cNvSpPr>
          <p:nvPr>
            <p:ph type="body" idx="1"/>
          </p:nvPr>
        </p:nvSpPr>
        <p:spPr bwMode="auto">
          <a:xfrm>
            <a:off x="609600" y="1125537"/>
            <a:ext cx="10972800" cy="48958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TW" altLang="en-US" dirty="0"/>
              <a:t>按一下以編輯母片</a:t>
            </a:r>
          </a:p>
          <a:p>
            <a:pPr lvl="1"/>
            <a:r>
              <a:rPr lang="zh-TW" altLang="en-US" dirty="0"/>
              <a:t>按一下以編輯母片</a:t>
            </a:r>
          </a:p>
          <a:p>
            <a:pPr lvl="1"/>
            <a:endParaRPr lang="zh-TW" altLang="en-US" dirty="0"/>
          </a:p>
          <a:p>
            <a:pPr lvl="0"/>
            <a:endParaRPr lang="en-US" altLang="zh-TW" dirty="0"/>
          </a:p>
        </p:txBody>
      </p:sp>
      <p:pic>
        <p:nvPicPr>
          <p:cNvPr id="1029" name="Picture 25" descr="name"/>
          <p:cNvPicPr>
            <a:picLocks noChangeAspect="1" noChangeArrowheads="1"/>
          </p:cNvPicPr>
          <p:nvPr/>
        </p:nvPicPr>
        <p:blipFill>
          <a:blip r:embed="rId15" cstate="print"/>
          <a:srcRect/>
          <a:stretch>
            <a:fillRect/>
          </a:stretch>
        </p:blipFill>
        <p:spPr bwMode="auto">
          <a:xfrm>
            <a:off x="3" y="6357940"/>
            <a:ext cx="5111751" cy="198437"/>
          </a:xfrm>
          <a:prstGeom prst="rect">
            <a:avLst/>
          </a:prstGeom>
          <a:noFill/>
          <a:ln w="9525">
            <a:noFill/>
            <a:miter lim="800000"/>
            <a:headEnd/>
            <a:tailEnd/>
          </a:ln>
        </p:spPr>
      </p:pic>
      <p:sp>
        <p:nvSpPr>
          <p:cNvPr id="8" name="矩形 7"/>
          <p:cNvSpPr/>
          <p:nvPr/>
        </p:nvSpPr>
        <p:spPr>
          <a:xfrm>
            <a:off x="792808" y="6581777"/>
            <a:ext cx="3574825" cy="276999"/>
          </a:xfrm>
          <a:prstGeom prst="rect">
            <a:avLst/>
          </a:prstGeom>
        </p:spPr>
        <p:txBody>
          <a:bodyPr wrap="none">
            <a:spAutoFit/>
          </a:bodyPr>
          <a:lstStyle/>
          <a:p>
            <a:pPr algn="ctr">
              <a:defRPr/>
            </a:pPr>
            <a:r>
              <a:rPr lang="en-US" sz="1200" b="1" dirty="0">
                <a:solidFill>
                  <a:schemeClr val="bg1"/>
                </a:solidFill>
                <a:latin typeface="Arial" pitchFamily="34" charset="0"/>
                <a:ea typeface="新細明體" pitchFamily="18" charset="-120"/>
                <a:cs typeface="Arial" pitchFamily="34" charset="0"/>
              </a:rPr>
              <a:t>National Tsing Hua University ® copyright OIA</a:t>
            </a:r>
            <a:endParaRPr lang="zh-TW" altLang="en-US" sz="1200" b="1" dirty="0">
              <a:solidFill>
                <a:schemeClr val="bg1"/>
              </a:solidFill>
              <a:latin typeface="Arial" pitchFamily="34" charset="0"/>
              <a:ea typeface="新細明體" pitchFamily="18" charset="-120"/>
              <a:cs typeface="Arial" pitchFamily="34" charset="0"/>
            </a:endParaRPr>
          </a:p>
        </p:txBody>
      </p:sp>
      <p:sp>
        <p:nvSpPr>
          <p:cNvPr id="4105" name="Rectangle 9"/>
          <p:cNvSpPr>
            <a:spLocks noChangeArrowheads="1"/>
          </p:cNvSpPr>
          <p:nvPr/>
        </p:nvSpPr>
        <p:spPr bwMode="auto">
          <a:xfrm>
            <a:off x="0" y="908055"/>
            <a:ext cx="12192000" cy="144463"/>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801">
              <a:ea typeface="新細明體" pitchFamily="18" charset="-120"/>
            </a:endParaRPr>
          </a:p>
        </p:txBody>
      </p:sp>
      <p:sp>
        <p:nvSpPr>
          <p:cNvPr id="4106" name="Rectangle 10"/>
          <p:cNvSpPr>
            <a:spLocks noChangeArrowheads="1"/>
          </p:cNvSpPr>
          <p:nvPr userDrawn="1"/>
        </p:nvSpPr>
        <p:spPr bwMode="auto">
          <a:xfrm>
            <a:off x="0" y="6165849"/>
            <a:ext cx="12192000" cy="719139"/>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801">
              <a:ea typeface="新細明體" pitchFamily="18" charset="-120"/>
            </a:endParaRPr>
          </a:p>
        </p:txBody>
      </p:sp>
      <p:sp>
        <p:nvSpPr>
          <p:cNvPr id="1043" name="Rectangle 19"/>
          <p:cNvSpPr>
            <a:spLocks noGrp="1" noChangeArrowheads="1"/>
          </p:cNvSpPr>
          <p:nvPr>
            <p:ph type="sldNum" sz="quarter" idx="4"/>
          </p:nvPr>
        </p:nvSpPr>
        <p:spPr bwMode="auto">
          <a:xfrm>
            <a:off x="9108017" y="6524628"/>
            <a:ext cx="2844800"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solidFill>
                  <a:schemeClr val="bg1"/>
                </a:solidFill>
                <a:latin typeface="Arial" pitchFamily="34" charset="0"/>
                <a:ea typeface="新細明體" pitchFamily="18" charset="-120"/>
              </a:defRPr>
            </a:lvl1pPr>
          </a:lstStyle>
          <a:p>
            <a:fld id="{D9B6BDF2-6896-4B98-8776-C18582F63BA5}" type="slidenum">
              <a:rPr lang="zh-TW" altLang="en-US" smtClean="0"/>
              <a:pPr/>
              <a:t>‹#›</a:t>
            </a:fld>
            <a:endParaRPr lang="zh-TW" altLang="en-US"/>
          </a:p>
        </p:txBody>
      </p:sp>
      <p:pic>
        <p:nvPicPr>
          <p:cNvPr id="14" name="圖片 13"/>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133280" y="124614"/>
            <a:ext cx="916587" cy="672311"/>
          </a:xfrm>
          <a:prstGeom prst="rect">
            <a:avLst/>
          </a:prstGeom>
        </p:spPr>
      </p:pic>
      <p:grpSp>
        <p:nvGrpSpPr>
          <p:cNvPr id="2" name="群組 1"/>
          <p:cNvGrpSpPr/>
          <p:nvPr userDrawn="1"/>
        </p:nvGrpSpPr>
        <p:grpSpPr>
          <a:xfrm>
            <a:off x="86980" y="6239920"/>
            <a:ext cx="3414977" cy="569415"/>
            <a:chOff x="86980" y="6239920"/>
            <a:chExt cx="3414977" cy="569415"/>
          </a:xfrm>
        </p:grpSpPr>
        <p:pic>
          <p:nvPicPr>
            <p:cNvPr id="12" name="圖片 11"/>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86980" y="6239920"/>
              <a:ext cx="817930" cy="569415"/>
            </a:xfrm>
            <a:prstGeom prst="rect">
              <a:avLst/>
            </a:prstGeom>
          </p:spPr>
        </p:pic>
        <p:sp>
          <p:nvSpPr>
            <p:cNvPr id="15" name="矩形 14"/>
            <p:cNvSpPr/>
            <p:nvPr userDrawn="1"/>
          </p:nvSpPr>
          <p:spPr>
            <a:xfrm>
              <a:off x="829837" y="6347770"/>
              <a:ext cx="2672120" cy="430887"/>
            </a:xfrm>
            <a:prstGeom prst="rect">
              <a:avLst/>
            </a:prstGeom>
          </p:spPr>
          <p:txBody>
            <a:bodyPr wrap="square">
              <a:spAutoFit/>
            </a:bodyPr>
            <a:lstStyle/>
            <a:p>
              <a:pPr algn="ctr">
                <a:spcAft>
                  <a:spcPts val="0"/>
                </a:spcAft>
              </a:pPr>
              <a:r>
                <a:rPr lang="zh-CN" altLang="zh-TW" sz="12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香港中文大学（深圳）数据科学</a:t>
              </a:r>
              <a:r>
                <a:rPr kumimoji="0" lang="zh-CN" altLang="zh-TW" sz="1200" b="0" i="0" u="none" strike="noStrike" kern="100" cap="none" spc="0" normalizeH="0" baseline="0" noProof="0" dirty="0">
                  <a:ln>
                    <a:noFill/>
                  </a:ln>
                  <a:solidFill>
                    <a:prstClr val="white"/>
                  </a:solidFill>
                  <a:effectLst/>
                  <a:uLnTx/>
                  <a:uFillTx/>
                  <a:latin typeface="华文楷体" panose="02010600040101010101" pitchFamily="2" charset="-122"/>
                  <a:ea typeface="华文楷体" panose="02010600040101010101" pitchFamily="2" charset="-122"/>
                  <a:cs typeface="Times New Roman" panose="02020603050405020304" pitchFamily="18" charset="0"/>
                </a:rPr>
                <a:t>学</a:t>
              </a:r>
              <a:r>
                <a:rPr lang="zh-CN" altLang="zh-TW" sz="12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院</a:t>
              </a:r>
              <a:endParaRPr lang="zh-TW" altLang="zh-TW" sz="12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endParaRPr>
            </a:p>
            <a:p>
              <a:pPr algn="ctr">
                <a:spcAft>
                  <a:spcPts val="0"/>
                </a:spcAft>
              </a:pPr>
              <a:r>
                <a:rPr lang="en-US" altLang="zh-TW" sz="1000" kern="100" dirty="0">
                  <a:solidFill>
                    <a:schemeClr val="bg1"/>
                  </a:solidFill>
                  <a:latin typeface="Times New Roman" panose="02020603050405020304" pitchFamily="18" charset="0"/>
                  <a:ea typeface="標楷體" panose="03000509000000000000" pitchFamily="65" charset="-120"/>
                  <a:cs typeface="Times New Roman" panose="02020603050405020304" pitchFamily="18" charset="0"/>
                </a:rPr>
                <a:t>CUHK</a:t>
              </a:r>
              <a:r>
                <a:rPr lang="en-US" altLang="zh-TW" sz="1000" kern="100" dirty="0">
                  <a:solidFill>
                    <a:schemeClr val="bg1"/>
                  </a:solidFill>
                  <a:latin typeface="Times New Roman" panose="02020603050405020304" pitchFamily="18" charset="0"/>
                  <a:ea typeface="DengXian"/>
                  <a:cs typeface="Times New Roman" panose="02020603050405020304" pitchFamily="18" charset="0"/>
                </a:rPr>
                <a:t>-SZ Sc</a:t>
              </a:r>
              <a:r>
                <a:rPr lang="en-US" altLang="zh-TW" sz="1000" kern="100" dirty="0">
                  <a:solidFill>
                    <a:schemeClr val="bg1"/>
                  </a:solidFill>
                  <a:latin typeface="Times New Roman" panose="02020603050405020304" pitchFamily="18" charset="0"/>
                  <a:ea typeface="標楷體" panose="03000509000000000000" pitchFamily="65" charset="-120"/>
                  <a:cs typeface="Times New Roman" panose="02020603050405020304" pitchFamily="18" charset="0"/>
                </a:rPr>
                <a:t>hool of Data Science</a:t>
              </a:r>
              <a:endParaRPr lang="zh-TW" altLang="zh-TW" sz="1000" kern="100" dirty="0">
                <a:solidFill>
                  <a:schemeClr val="bg1"/>
                </a:solidFill>
                <a:latin typeface="Calibri" panose="020F0502020204030204" pitchFamily="34" charset="0"/>
                <a:ea typeface="新細明體" panose="02020500000000000000" pitchFamily="18" charset="-120"/>
                <a:cs typeface="Times New Roman" panose="02020603050405020304" pitchFamily="18" charset="0"/>
              </a:endParaRPr>
            </a:p>
          </p:txBody>
        </p:sp>
      </p:grpSp>
    </p:spTree>
    <p:extLst>
      <p:ext uri="{BB962C8B-B14F-4D97-AF65-F5344CB8AC3E}">
        <p14:creationId xmlns:p14="http://schemas.microsoft.com/office/powerpoint/2010/main" val="156623121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Lst>
  <p:hf hdr="0" ftr="0" dt="0"/>
  <p:txStyles>
    <p:titleStyle>
      <a:lvl1pPr algn="l" rtl="0" eaLnBrk="1" fontAlgn="base" hangingPunct="1">
        <a:spcBef>
          <a:spcPct val="0"/>
        </a:spcBef>
        <a:spcAft>
          <a:spcPct val="0"/>
        </a:spcAft>
        <a:defRPr kumimoji="1" sz="4800" b="1">
          <a:solidFill>
            <a:schemeClr val="tx2"/>
          </a:solidFill>
          <a:latin typeface="Calibri" pitchFamily="34" charset="0"/>
          <a:ea typeface="標楷體" pitchFamily="65" charset="-120"/>
          <a:cs typeface="+mj-cs"/>
        </a:defRPr>
      </a:lvl1pPr>
      <a:lvl2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5pPr>
      <a:lvl6pPr marL="457177" algn="l" rtl="0" eaLnBrk="1" fontAlgn="base" hangingPunct="1">
        <a:spcBef>
          <a:spcPct val="0"/>
        </a:spcBef>
        <a:spcAft>
          <a:spcPct val="0"/>
        </a:spcAft>
        <a:defRPr kumimoji="1" sz="3001" b="1">
          <a:solidFill>
            <a:schemeClr val="tx2"/>
          </a:solidFill>
          <a:latin typeface="MS Sans Serif"/>
          <a:ea typeface="MS Sans Serif"/>
          <a:cs typeface="MS Sans Serif"/>
        </a:defRPr>
      </a:lvl6pPr>
      <a:lvl7pPr marL="914354" algn="l" rtl="0" eaLnBrk="1" fontAlgn="base" hangingPunct="1">
        <a:spcBef>
          <a:spcPct val="0"/>
        </a:spcBef>
        <a:spcAft>
          <a:spcPct val="0"/>
        </a:spcAft>
        <a:defRPr kumimoji="1" sz="3001" b="1">
          <a:solidFill>
            <a:schemeClr val="tx2"/>
          </a:solidFill>
          <a:latin typeface="MS Sans Serif"/>
          <a:ea typeface="MS Sans Serif"/>
          <a:cs typeface="MS Sans Serif"/>
        </a:defRPr>
      </a:lvl7pPr>
      <a:lvl8pPr marL="1371531" algn="l" rtl="0" eaLnBrk="1" fontAlgn="base" hangingPunct="1">
        <a:spcBef>
          <a:spcPct val="0"/>
        </a:spcBef>
        <a:spcAft>
          <a:spcPct val="0"/>
        </a:spcAft>
        <a:defRPr kumimoji="1" sz="3001" b="1">
          <a:solidFill>
            <a:schemeClr val="tx2"/>
          </a:solidFill>
          <a:latin typeface="MS Sans Serif"/>
          <a:ea typeface="MS Sans Serif"/>
          <a:cs typeface="MS Sans Serif"/>
        </a:defRPr>
      </a:lvl8pPr>
      <a:lvl9pPr marL="1828709" algn="l" rtl="0" eaLnBrk="1" fontAlgn="base" hangingPunct="1">
        <a:spcBef>
          <a:spcPct val="0"/>
        </a:spcBef>
        <a:spcAft>
          <a:spcPct val="0"/>
        </a:spcAft>
        <a:defRPr kumimoji="1" sz="3001" b="1">
          <a:solidFill>
            <a:schemeClr val="tx2"/>
          </a:solidFill>
          <a:latin typeface="MS Sans Serif"/>
          <a:ea typeface="MS Sans Serif"/>
          <a:cs typeface="MS Sans Serif"/>
        </a:defRPr>
      </a:lvl9pPr>
    </p:titleStyle>
    <p:body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400">
          <a:solidFill>
            <a:schemeClr val="tx1"/>
          </a:solidFill>
          <a:latin typeface="+mn-lt"/>
          <a:ea typeface="+mn-ea"/>
        </a:defRPr>
      </a:lvl3pPr>
      <a:lvl4pPr marL="1600121" indent="-228589" algn="l" rtl="0" eaLnBrk="1" fontAlgn="base" hangingPunct="1">
        <a:spcBef>
          <a:spcPct val="20000"/>
        </a:spcBef>
        <a:spcAft>
          <a:spcPct val="0"/>
        </a:spcAft>
        <a:buChar char="–"/>
        <a:defRPr kumimoji="1" sz="2000">
          <a:solidFill>
            <a:schemeClr val="tx1"/>
          </a:solidFill>
          <a:latin typeface="+mn-lt"/>
          <a:ea typeface="+mn-ea"/>
        </a:defRPr>
      </a:lvl4pPr>
      <a:lvl5pPr marL="2057298" indent="-228589" algn="l" rtl="0" eaLnBrk="1" fontAlgn="base" hangingPunct="1">
        <a:spcBef>
          <a:spcPct val="20000"/>
        </a:spcBef>
        <a:spcAft>
          <a:spcPct val="0"/>
        </a:spcAft>
        <a:buChar char="»"/>
        <a:defRPr kumimoji="1" sz="2000">
          <a:solidFill>
            <a:schemeClr val="tx1"/>
          </a:solidFill>
          <a:latin typeface="+mn-lt"/>
          <a:ea typeface="+mn-ea"/>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p:bodyStyle>
    <p:otherStyle>
      <a:defPPr>
        <a:defRPr lang="zh-TW"/>
      </a:defPPr>
      <a:lvl1pPr marL="0" algn="l" defTabSz="914354" rtl="0" eaLnBrk="1" latinLnBrk="0" hangingPunct="1">
        <a:defRPr sz="1801" kern="1200">
          <a:solidFill>
            <a:schemeClr val="tx1"/>
          </a:solidFill>
          <a:latin typeface="+mn-lt"/>
          <a:ea typeface="+mn-ea"/>
          <a:cs typeface="+mn-cs"/>
        </a:defRPr>
      </a:lvl1pPr>
      <a:lvl2pPr marL="457177" algn="l" defTabSz="914354" rtl="0" eaLnBrk="1" latinLnBrk="0" hangingPunct="1">
        <a:defRPr sz="1801" kern="1200">
          <a:solidFill>
            <a:schemeClr val="tx1"/>
          </a:solidFill>
          <a:latin typeface="+mn-lt"/>
          <a:ea typeface="+mn-ea"/>
          <a:cs typeface="+mn-cs"/>
        </a:defRPr>
      </a:lvl2pPr>
      <a:lvl3pPr marL="914354" algn="l" defTabSz="914354" rtl="0" eaLnBrk="1" latinLnBrk="0" hangingPunct="1">
        <a:defRPr sz="1801" kern="1200">
          <a:solidFill>
            <a:schemeClr val="tx1"/>
          </a:solidFill>
          <a:latin typeface="+mn-lt"/>
          <a:ea typeface="+mn-ea"/>
          <a:cs typeface="+mn-cs"/>
        </a:defRPr>
      </a:lvl3pPr>
      <a:lvl4pPr marL="1371531" algn="l" defTabSz="914354" rtl="0" eaLnBrk="1" latinLnBrk="0" hangingPunct="1">
        <a:defRPr sz="1801" kern="1200">
          <a:solidFill>
            <a:schemeClr val="tx1"/>
          </a:solidFill>
          <a:latin typeface="+mn-lt"/>
          <a:ea typeface="+mn-ea"/>
          <a:cs typeface="+mn-cs"/>
        </a:defRPr>
      </a:lvl4pPr>
      <a:lvl5pPr marL="1828709" algn="l" defTabSz="914354" rtl="0" eaLnBrk="1" latinLnBrk="0" hangingPunct="1">
        <a:defRPr sz="1801" kern="1200">
          <a:solidFill>
            <a:schemeClr val="tx1"/>
          </a:solidFill>
          <a:latin typeface="+mn-lt"/>
          <a:ea typeface="+mn-ea"/>
          <a:cs typeface="+mn-cs"/>
        </a:defRPr>
      </a:lvl5pPr>
      <a:lvl6pPr marL="2285886" algn="l" defTabSz="914354" rtl="0" eaLnBrk="1" latinLnBrk="0" hangingPunct="1">
        <a:defRPr sz="1801" kern="1200">
          <a:solidFill>
            <a:schemeClr val="tx1"/>
          </a:solidFill>
          <a:latin typeface="+mn-lt"/>
          <a:ea typeface="+mn-ea"/>
          <a:cs typeface="+mn-cs"/>
        </a:defRPr>
      </a:lvl6pPr>
      <a:lvl7pPr marL="2743063" algn="l" defTabSz="914354" rtl="0" eaLnBrk="1" latinLnBrk="0" hangingPunct="1">
        <a:defRPr sz="1801" kern="1200">
          <a:solidFill>
            <a:schemeClr val="tx1"/>
          </a:solidFill>
          <a:latin typeface="+mn-lt"/>
          <a:ea typeface="+mn-ea"/>
          <a:cs typeface="+mn-cs"/>
        </a:defRPr>
      </a:lvl7pPr>
      <a:lvl8pPr marL="3200240" algn="l" defTabSz="914354" rtl="0" eaLnBrk="1" latinLnBrk="0" hangingPunct="1">
        <a:defRPr sz="1801" kern="1200">
          <a:solidFill>
            <a:schemeClr val="tx1"/>
          </a:solidFill>
          <a:latin typeface="+mn-lt"/>
          <a:ea typeface="+mn-ea"/>
          <a:cs typeface="+mn-cs"/>
        </a:defRPr>
      </a:lvl8pPr>
      <a:lvl9pPr marL="3657417" algn="l" defTabSz="914354" rtl="0" eaLnBrk="1" latinLnBrk="0" hangingPunct="1">
        <a:defRPr sz="1801"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4568717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17"/>
          <p:cNvSpPr>
            <a:spLocks noGrp="1" noChangeArrowheads="1"/>
          </p:cNvSpPr>
          <p:nvPr>
            <p:ph type="title"/>
          </p:nvPr>
        </p:nvSpPr>
        <p:spPr bwMode="auto">
          <a:xfrm>
            <a:off x="1049867" y="144466"/>
            <a:ext cx="10517721" cy="692151"/>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TW" altLang="en-US" dirty="0"/>
              <a:t>按一下以編輯母片標題樣式</a:t>
            </a:r>
          </a:p>
        </p:txBody>
      </p:sp>
      <p:sp>
        <p:nvSpPr>
          <p:cNvPr id="1028" name="Rectangle 18"/>
          <p:cNvSpPr>
            <a:spLocks noGrp="1" noChangeArrowheads="1"/>
          </p:cNvSpPr>
          <p:nvPr>
            <p:ph type="body" idx="1"/>
          </p:nvPr>
        </p:nvSpPr>
        <p:spPr bwMode="auto">
          <a:xfrm>
            <a:off x="609600" y="1125537"/>
            <a:ext cx="10972800" cy="48958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TW" altLang="en-US" dirty="0"/>
              <a:t>按一下以編輯母片</a:t>
            </a:r>
          </a:p>
          <a:p>
            <a:pPr lvl="1"/>
            <a:r>
              <a:rPr lang="zh-TW" altLang="en-US" dirty="0"/>
              <a:t>按一下以編輯母片</a:t>
            </a:r>
          </a:p>
          <a:p>
            <a:pPr lvl="1"/>
            <a:endParaRPr lang="zh-TW" altLang="en-US" dirty="0"/>
          </a:p>
          <a:p>
            <a:pPr lvl="0"/>
            <a:endParaRPr lang="en-US" altLang="zh-TW" dirty="0"/>
          </a:p>
        </p:txBody>
      </p:sp>
      <p:pic>
        <p:nvPicPr>
          <p:cNvPr id="1029" name="Picture 25" descr="name"/>
          <p:cNvPicPr>
            <a:picLocks noChangeAspect="1" noChangeArrowheads="1"/>
          </p:cNvPicPr>
          <p:nvPr/>
        </p:nvPicPr>
        <p:blipFill>
          <a:blip r:embed="rId15" cstate="print"/>
          <a:srcRect/>
          <a:stretch>
            <a:fillRect/>
          </a:stretch>
        </p:blipFill>
        <p:spPr bwMode="auto">
          <a:xfrm>
            <a:off x="3" y="6357940"/>
            <a:ext cx="5111751" cy="198437"/>
          </a:xfrm>
          <a:prstGeom prst="rect">
            <a:avLst/>
          </a:prstGeom>
          <a:noFill/>
          <a:ln w="9525">
            <a:noFill/>
            <a:miter lim="800000"/>
            <a:headEnd/>
            <a:tailEnd/>
          </a:ln>
        </p:spPr>
      </p:pic>
      <p:sp>
        <p:nvSpPr>
          <p:cNvPr id="8" name="矩形 7"/>
          <p:cNvSpPr/>
          <p:nvPr/>
        </p:nvSpPr>
        <p:spPr>
          <a:xfrm>
            <a:off x="792808" y="6581777"/>
            <a:ext cx="3574825" cy="276999"/>
          </a:xfrm>
          <a:prstGeom prst="rect">
            <a:avLst/>
          </a:prstGeom>
        </p:spPr>
        <p:txBody>
          <a:bodyPr wrap="none">
            <a:spAutoFit/>
          </a:bodyPr>
          <a:lstStyle/>
          <a:p>
            <a:pPr algn="ctr">
              <a:defRPr/>
            </a:pPr>
            <a:r>
              <a:rPr lang="en-US" sz="1200" b="1" dirty="0">
                <a:solidFill>
                  <a:schemeClr val="bg1"/>
                </a:solidFill>
                <a:latin typeface="Arial" pitchFamily="34" charset="0"/>
                <a:ea typeface="新細明體" pitchFamily="18" charset="-120"/>
                <a:cs typeface="Arial" pitchFamily="34" charset="0"/>
              </a:rPr>
              <a:t>National Tsing Hua University ® copyright OIA</a:t>
            </a:r>
            <a:endParaRPr lang="zh-TW" altLang="en-US" sz="1200" b="1" dirty="0">
              <a:solidFill>
                <a:schemeClr val="bg1"/>
              </a:solidFill>
              <a:latin typeface="Arial" pitchFamily="34" charset="0"/>
              <a:ea typeface="新細明體" pitchFamily="18" charset="-120"/>
              <a:cs typeface="Arial" pitchFamily="34" charset="0"/>
            </a:endParaRPr>
          </a:p>
        </p:txBody>
      </p:sp>
      <p:sp>
        <p:nvSpPr>
          <p:cNvPr id="4105" name="Rectangle 9"/>
          <p:cNvSpPr>
            <a:spLocks noChangeArrowheads="1"/>
          </p:cNvSpPr>
          <p:nvPr/>
        </p:nvSpPr>
        <p:spPr bwMode="auto">
          <a:xfrm>
            <a:off x="0" y="908055"/>
            <a:ext cx="12192000" cy="144463"/>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801">
              <a:ea typeface="新細明體" pitchFamily="18" charset="-120"/>
            </a:endParaRPr>
          </a:p>
        </p:txBody>
      </p:sp>
      <p:sp>
        <p:nvSpPr>
          <p:cNvPr id="4106" name="Rectangle 10"/>
          <p:cNvSpPr>
            <a:spLocks noChangeArrowheads="1"/>
          </p:cNvSpPr>
          <p:nvPr userDrawn="1"/>
        </p:nvSpPr>
        <p:spPr bwMode="auto">
          <a:xfrm>
            <a:off x="0" y="6165849"/>
            <a:ext cx="12192000" cy="719139"/>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801">
              <a:ea typeface="新細明體" pitchFamily="18" charset="-120"/>
            </a:endParaRPr>
          </a:p>
        </p:txBody>
      </p:sp>
      <p:sp>
        <p:nvSpPr>
          <p:cNvPr id="1043" name="Rectangle 19"/>
          <p:cNvSpPr>
            <a:spLocks noGrp="1" noChangeArrowheads="1"/>
          </p:cNvSpPr>
          <p:nvPr>
            <p:ph type="sldNum" sz="quarter" idx="4"/>
          </p:nvPr>
        </p:nvSpPr>
        <p:spPr bwMode="auto">
          <a:xfrm>
            <a:off x="9108017" y="6524628"/>
            <a:ext cx="2844800"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solidFill>
                  <a:schemeClr val="bg1"/>
                </a:solidFill>
                <a:latin typeface="Arial" pitchFamily="34" charset="0"/>
                <a:ea typeface="新細明體" pitchFamily="18" charset="-120"/>
              </a:defRPr>
            </a:lvl1pPr>
          </a:lstStyle>
          <a:p>
            <a:fld id="{D9B6BDF2-6896-4B98-8776-C18582F63BA5}" type="slidenum">
              <a:rPr lang="zh-TW" altLang="en-US" smtClean="0"/>
              <a:pPr/>
              <a:t>‹#›</a:t>
            </a:fld>
            <a:endParaRPr lang="zh-TW" altLang="en-US"/>
          </a:p>
        </p:txBody>
      </p:sp>
      <p:pic>
        <p:nvPicPr>
          <p:cNvPr id="14" name="圖片 13"/>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133280" y="124614"/>
            <a:ext cx="916587" cy="672311"/>
          </a:xfrm>
          <a:prstGeom prst="rect">
            <a:avLst/>
          </a:prstGeom>
        </p:spPr>
      </p:pic>
      <p:grpSp>
        <p:nvGrpSpPr>
          <p:cNvPr id="2" name="群組 1"/>
          <p:cNvGrpSpPr/>
          <p:nvPr userDrawn="1"/>
        </p:nvGrpSpPr>
        <p:grpSpPr>
          <a:xfrm>
            <a:off x="86980" y="6239920"/>
            <a:ext cx="3223375" cy="569415"/>
            <a:chOff x="86980" y="6239920"/>
            <a:chExt cx="3223375" cy="569415"/>
          </a:xfrm>
        </p:grpSpPr>
        <p:pic>
          <p:nvPicPr>
            <p:cNvPr id="12" name="圖片 11"/>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86980" y="6239920"/>
              <a:ext cx="817930" cy="569415"/>
            </a:xfrm>
            <a:prstGeom prst="rect">
              <a:avLst/>
            </a:prstGeom>
          </p:spPr>
        </p:pic>
        <p:sp>
          <p:nvSpPr>
            <p:cNvPr id="15" name="矩形 14"/>
            <p:cNvSpPr/>
            <p:nvPr userDrawn="1"/>
          </p:nvSpPr>
          <p:spPr>
            <a:xfrm>
              <a:off x="829837" y="6347770"/>
              <a:ext cx="2480518" cy="430887"/>
            </a:xfrm>
            <a:prstGeom prst="rect">
              <a:avLst/>
            </a:prstGeom>
          </p:spPr>
          <p:txBody>
            <a:bodyPr wrap="square">
              <a:spAutoFit/>
            </a:bodyPr>
            <a:lstStyle/>
            <a:p>
              <a:pPr algn="ctr">
                <a:spcAft>
                  <a:spcPts val="0"/>
                </a:spcAft>
              </a:pPr>
              <a:r>
                <a:rPr lang="zh-CN" altLang="zh-TW" sz="12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香港中文大学（深圳）数据科学院</a:t>
              </a:r>
              <a:endParaRPr lang="zh-TW" altLang="zh-TW" sz="12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endParaRPr>
            </a:p>
            <a:p>
              <a:pPr algn="ctr">
                <a:spcAft>
                  <a:spcPts val="0"/>
                </a:spcAft>
              </a:pPr>
              <a:r>
                <a:rPr lang="en-US" altLang="zh-TW" sz="1000" kern="100" dirty="0">
                  <a:solidFill>
                    <a:schemeClr val="bg1"/>
                  </a:solidFill>
                  <a:latin typeface="Times New Roman" panose="02020603050405020304" pitchFamily="18" charset="0"/>
                  <a:ea typeface="標楷體" panose="03000509000000000000" pitchFamily="65" charset="-120"/>
                  <a:cs typeface="Times New Roman" panose="02020603050405020304" pitchFamily="18" charset="0"/>
                </a:rPr>
                <a:t>CUHK</a:t>
              </a:r>
              <a:r>
                <a:rPr lang="en-US" altLang="zh-TW" sz="1000" kern="100" dirty="0">
                  <a:solidFill>
                    <a:schemeClr val="bg1"/>
                  </a:solidFill>
                  <a:latin typeface="Times New Roman" panose="02020603050405020304" pitchFamily="18" charset="0"/>
                  <a:ea typeface="DengXian"/>
                  <a:cs typeface="Times New Roman" panose="02020603050405020304" pitchFamily="18" charset="0"/>
                </a:rPr>
                <a:t>-SZ Sc</a:t>
              </a:r>
              <a:r>
                <a:rPr lang="en-US" altLang="zh-TW" sz="1000" kern="100" dirty="0">
                  <a:solidFill>
                    <a:schemeClr val="bg1"/>
                  </a:solidFill>
                  <a:latin typeface="Times New Roman" panose="02020603050405020304" pitchFamily="18" charset="0"/>
                  <a:ea typeface="標楷體" panose="03000509000000000000" pitchFamily="65" charset="-120"/>
                  <a:cs typeface="Times New Roman" panose="02020603050405020304" pitchFamily="18" charset="0"/>
                </a:rPr>
                <a:t>hool of Data Science</a:t>
              </a:r>
              <a:endParaRPr lang="zh-TW" altLang="zh-TW" sz="1000" kern="100" dirty="0">
                <a:solidFill>
                  <a:schemeClr val="bg1"/>
                </a:solidFill>
                <a:latin typeface="Calibri" panose="020F0502020204030204" pitchFamily="34" charset="0"/>
                <a:ea typeface="新細明體" panose="02020500000000000000" pitchFamily="18" charset="-120"/>
                <a:cs typeface="Times New Roman" panose="02020603050405020304" pitchFamily="18" charset="0"/>
              </a:endParaRPr>
            </a:p>
          </p:txBody>
        </p:sp>
      </p:grpSp>
    </p:spTree>
    <p:extLst>
      <p:ext uri="{BB962C8B-B14F-4D97-AF65-F5344CB8AC3E}">
        <p14:creationId xmlns:p14="http://schemas.microsoft.com/office/powerpoint/2010/main" val="4201752098"/>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hf hdr="0" ftr="0" dt="0"/>
  <p:txStyles>
    <p:titleStyle>
      <a:lvl1pPr algn="l" rtl="0" eaLnBrk="1" fontAlgn="base" hangingPunct="1">
        <a:spcBef>
          <a:spcPct val="0"/>
        </a:spcBef>
        <a:spcAft>
          <a:spcPct val="0"/>
        </a:spcAft>
        <a:defRPr kumimoji="1" sz="4800" b="1">
          <a:solidFill>
            <a:schemeClr val="tx2"/>
          </a:solidFill>
          <a:latin typeface="Calibri" pitchFamily="34" charset="0"/>
          <a:ea typeface="標楷體" pitchFamily="65" charset="-120"/>
          <a:cs typeface="+mj-cs"/>
        </a:defRPr>
      </a:lvl1pPr>
      <a:lvl2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5pPr>
      <a:lvl6pPr marL="457177" algn="l" rtl="0" eaLnBrk="1" fontAlgn="base" hangingPunct="1">
        <a:spcBef>
          <a:spcPct val="0"/>
        </a:spcBef>
        <a:spcAft>
          <a:spcPct val="0"/>
        </a:spcAft>
        <a:defRPr kumimoji="1" sz="3001" b="1">
          <a:solidFill>
            <a:schemeClr val="tx2"/>
          </a:solidFill>
          <a:latin typeface="MS Sans Serif"/>
          <a:ea typeface="MS Sans Serif"/>
          <a:cs typeface="MS Sans Serif"/>
        </a:defRPr>
      </a:lvl6pPr>
      <a:lvl7pPr marL="914354" algn="l" rtl="0" eaLnBrk="1" fontAlgn="base" hangingPunct="1">
        <a:spcBef>
          <a:spcPct val="0"/>
        </a:spcBef>
        <a:spcAft>
          <a:spcPct val="0"/>
        </a:spcAft>
        <a:defRPr kumimoji="1" sz="3001" b="1">
          <a:solidFill>
            <a:schemeClr val="tx2"/>
          </a:solidFill>
          <a:latin typeface="MS Sans Serif"/>
          <a:ea typeface="MS Sans Serif"/>
          <a:cs typeface="MS Sans Serif"/>
        </a:defRPr>
      </a:lvl7pPr>
      <a:lvl8pPr marL="1371531" algn="l" rtl="0" eaLnBrk="1" fontAlgn="base" hangingPunct="1">
        <a:spcBef>
          <a:spcPct val="0"/>
        </a:spcBef>
        <a:spcAft>
          <a:spcPct val="0"/>
        </a:spcAft>
        <a:defRPr kumimoji="1" sz="3001" b="1">
          <a:solidFill>
            <a:schemeClr val="tx2"/>
          </a:solidFill>
          <a:latin typeface="MS Sans Serif"/>
          <a:ea typeface="MS Sans Serif"/>
          <a:cs typeface="MS Sans Serif"/>
        </a:defRPr>
      </a:lvl8pPr>
      <a:lvl9pPr marL="1828709" algn="l" rtl="0" eaLnBrk="1" fontAlgn="base" hangingPunct="1">
        <a:spcBef>
          <a:spcPct val="0"/>
        </a:spcBef>
        <a:spcAft>
          <a:spcPct val="0"/>
        </a:spcAft>
        <a:defRPr kumimoji="1" sz="3001" b="1">
          <a:solidFill>
            <a:schemeClr val="tx2"/>
          </a:solidFill>
          <a:latin typeface="MS Sans Serif"/>
          <a:ea typeface="MS Sans Serif"/>
          <a:cs typeface="MS Sans Serif"/>
        </a:defRPr>
      </a:lvl9pPr>
    </p:titleStyle>
    <p:body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400">
          <a:solidFill>
            <a:schemeClr val="tx1"/>
          </a:solidFill>
          <a:latin typeface="+mn-lt"/>
          <a:ea typeface="+mn-ea"/>
        </a:defRPr>
      </a:lvl3pPr>
      <a:lvl4pPr marL="1600121" indent="-228589" algn="l" rtl="0" eaLnBrk="1" fontAlgn="base" hangingPunct="1">
        <a:spcBef>
          <a:spcPct val="20000"/>
        </a:spcBef>
        <a:spcAft>
          <a:spcPct val="0"/>
        </a:spcAft>
        <a:buChar char="–"/>
        <a:defRPr kumimoji="1" sz="2000">
          <a:solidFill>
            <a:schemeClr val="tx1"/>
          </a:solidFill>
          <a:latin typeface="+mn-lt"/>
          <a:ea typeface="+mn-ea"/>
        </a:defRPr>
      </a:lvl4pPr>
      <a:lvl5pPr marL="2057298" indent="-228589" algn="l" rtl="0" eaLnBrk="1" fontAlgn="base" hangingPunct="1">
        <a:spcBef>
          <a:spcPct val="20000"/>
        </a:spcBef>
        <a:spcAft>
          <a:spcPct val="0"/>
        </a:spcAft>
        <a:buChar char="»"/>
        <a:defRPr kumimoji="1" sz="2000">
          <a:solidFill>
            <a:schemeClr val="tx1"/>
          </a:solidFill>
          <a:latin typeface="+mn-lt"/>
          <a:ea typeface="+mn-ea"/>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p:bodyStyle>
    <p:otherStyle>
      <a:defPPr>
        <a:defRPr lang="zh-TW"/>
      </a:defPPr>
      <a:lvl1pPr marL="0" algn="l" defTabSz="914354" rtl="0" eaLnBrk="1" latinLnBrk="0" hangingPunct="1">
        <a:defRPr sz="1801" kern="1200">
          <a:solidFill>
            <a:schemeClr val="tx1"/>
          </a:solidFill>
          <a:latin typeface="+mn-lt"/>
          <a:ea typeface="+mn-ea"/>
          <a:cs typeface="+mn-cs"/>
        </a:defRPr>
      </a:lvl1pPr>
      <a:lvl2pPr marL="457177" algn="l" defTabSz="914354" rtl="0" eaLnBrk="1" latinLnBrk="0" hangingPunct="1">
        <a:defRPr sz="1801" kern="1200">
          <a:solidFill>
            <a:schemeClr val="tx1"/>
          </a:solidFill>
          <a:latin typeface="+mn-lt"/>
          <a:ea typeface="+mn-ea"/>
          <a:cs typeface="+mn-cs"/>
        </a:defRPr>
      </a:lvl2pPr>
      <a:lvl3pPr marL="914354" algn="l" defTabSz="914354" rtl="0" eaLnBrk="1" latinLnBrk="0" hangingPunct="1">
        <a:defRPr sz="1801" kern="1200">
          <a:solidFill>
            <a:schemeClr val="tx1"/>
          </a:solidFill>
          <a:latin typeface="+mn-lt"/>
          <a:ea typeface="+mn-ea"/>
          <a:cs typeface="+mn-cs"/>
        </a:defRPr>
      </a:lvl3pPr>
      <a:lvl4pPr marL="1371531" algn="l" defTabSz="914354" rtl="0" eaLnBrk="1" latinLnBrk="0" hangingPunct="1">
        <a:defRPr sz="1801" kern="1200">
          <a:solidFill>
            <a:schemeClr val="tx1"/>
          </a:solidFill>
          <a:latin typeface="+mn-lt"/>
          <a:ea typeface="+mn-ea"/>
          <a:cs typeface="+mn-cs"/>
        </a:defRPr>
      </a:lvl4pPr>
      <a:lvl5pPr marL="1828709" algn="l" defTabSz="914354" rtl="0" eaLnBrk="1" latinLnBrk="0" hangingPunct="1">
        <a:defRPr sz="1801" kern="1200">
          <a:solidFill>
            <a:schemeClr val="tx1"/>
          </a:solidFill>
          <a:latin typeface="+mn-lt"/>
          <a:ea typeface="+mn-ea"/>
          <a:cs typeface="+mn-cs"/>
        </a:defRPr>
      </a:lvl5pPr>
      <a:lvl6pPr marL="2285886" algn="l" defTabSz="914354" rtl="0" eaLnBrk="1" latinLnBrk="0" hangingPunct="1">
        <a:defRPr sz="1801" kern="1200">
          <a:solidFill>
            <a:schemeClr val="tx1"/>
          </a:solidFill>
          <a:latin typeface="+mn-lt"/>
          <a:ea typeface="+mn-ea"/>
          <a:cs typeface="+mn-cs"/>
        </a:defRPr>
      </a:lvl6pPr>
      <a:lvl7pPr marL="2743063" algn="l" defTabSz="914354" rtl="0" eaLnBrk="1" latinLnBrk="0" hangingPunct="1">
        <a:defRPr sz="1801" kern="1200">
          <a:solidFill>
            <a:schemeClr val="tx1"/>
          </a:solidFill>
          <a:latin typeface="+mn-lt"/>
          <a:ea typeface="+mn-ea"/>
          <a:cs typeface="+mn-cs"/>
        </a:defRPr>
      </a:lvl7pPr>
      <a:lvl8pPr marL="3200240" algn="l" defTabSz="914354" rtl="0" eaLnBrk="1" latinLnBrk="0" hangingPunct="1">
        <a:defRPr sz="1801" kern="1200">
          <a:solidFill>
            <a:schemeClr val="tx1"/>
          </a:solidFill>
          <a:latin typeface="+mn-lt"/>
          <a:ea typeface="+mn-ea"/>
          <a:cs typeface="+mn-cs"/>
        </a:defRPr>
      </a:lvl8pPr>
      <a:lvl9pPr marL="3657417" algn="l" defTabSz="914354" rtl="0" eaLnBrk="1" latinLnBrk="0" hangingPunct="1">
        <a:defRPr sz="180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wmf"/><Relationship Id="rId5" Type="http://schemas.openxmlformats.org/officeDocument/2006/relationships/oleObject" Target="../embeddings/oleObject2.bin"/><Relationship Id="rId4" Type="http://schemas.openxmlformats.org/officeDocument/2006/relationships/image" Target="../media/image4.wmf"/></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71E74415-30E6-4BE5-9E20-77352570E8FC}"/>
              </a:ext>
            </a:extLst>
          </p:cNvPr>
          <p:cNvSpPr>
            <a:spLocks noGrp="1"/>
          </p:cNvSpPr>
          <p:nvPr>
            <p:ph type="sldNum" sz="quarter" idx="10"/>
          </p:nvPr>
        </p:nvSpPr>
        <p:spPr/>
        <p:txBody>
          <a:bodyPr/>
          <a:lstStyle/>
          <a:p>
            <a:fld id="{D9B6BDF2-6896-4B98-8776-C18582F63BA5}" type="slidenum">
              <a:rPr lang="zh-TW" altLang="en-US" smtClean="0"/>
              <a:pPr/>
              <a:t>1</a:t>
            </a:fld>
            <a:endParaRPr lang="zh-TW" altLang="en-US"/>
          </a:p>
        </p:txBody>
      </p:sp>
      <p:sp>
        <p:nvSpPr>
          <p:cNvPr id="7" name="Title 1">
            <a:extLst>
              <a:ext uri="{FF2B5EF4-FFF2-40B4-BE49-F238E27FC236}">
                <a16:creationId xmlns:a16="http://schemas.microsoft.com/office/drawing/2014/main" id="{6CCF4834-0539-4513-8D25-641B751175CF}"/>
              </a:ext>
            </a:extLst>
          </p:cNvPr>
          <p:cNvSpPr>
            <a:spLocks noGrp="1"/>
          </p:cNvSpPr>
          <p:nvPr>
            <p:ph type="ctrTitle"/>
          </p:nvPr>
        </p:nvSpPr>
        <p:spPr>
          <a:xfrm>
            <a:off x="1818968" y="1021404"/>
            <a:ext cx="8160657" cy="2683883"/>
          </a:xfrm>
        </p:spPr>
        <p:txBody>
          <a:bodyPr/>
          <a:lstStyle/>
          <a:p>
            <a:pPr algn="ctr"/>
            <a:r>
              <a:rPr lang="en-US" altLang="zh-TW" sz="4000" dirty="0">
                <a:effectLst>
                  <a:outerShdw blurRad="38100" dist="38100" dir="2700000" algn="tl">
                    <a:srgbClr val="000000">
                      <a:alpha val="43137"/>
                    </a:srgbClr>
                  </a:outerShdw>
                </a:effectLst>
              </a:rPr>
              <a:t>CSC3060 – Computer Systems</a:t>
            </a:r>
            <a:br>
              <a:rPr lang="en-US" altLang="zh-TW" sz="4000" dirty="0">
                <a:effectLst>
                  <a:outerShdw blurRad="38100" dist="38100" dir="2700000" algn="tl">
                    <a:srgbClr val="000000">
                      <a:alpha val="43137"/>
                    </a:srgbClr>
                  </a:outerShdw>
                </a:effectLst>
              </a:rPr>
            </a:br>
            <a:r>
              <a:rPr lang="en-US" altLang="zh-TW" sz="4000" dirty="0">
                <a:effectLst>
                  <a:outerShdw blurRad="38100" dist="38100" dir="2700000" algn="tl">
                    <a:srgbClr val="000000">
                      <a:alpha val="43137"/>
                    </a:srgbClr>
                  </a:outerShdw>
                </a:effectLst>
              </a:rPr>
              <a:t>FP Numbers and Computation</a:t>
            </a:r>
            <a:endParaRPr lang="zh-TW" altLang="en-US" sz="4000" dirty="0">
              <a:effectLst>
                <a:outerShdw blurRad="38100" dist="38100" dir="2700000" algn="tl">
                  <a:srgbClr val="000000">
                    <a:alpha val="43137"/>
                  </a:srgbClr>
                </a:outerShdw>
              </a:effectLst>
            </a:endParaRPr>
          </a:p>
        </p:txBody>
      </p:sp>
      <p:sp>
        <p:nvSpPr>
          <p:cNvPr id="10" name="Subtitle 2">
            <a:extLst>
              <a:ext uri="{FF2B5EF4-FFF2-40B4-BE49-F238E27FC236}">
                <a16:creationId xmlns:a16="http://schemas.microsoft.com/office/drawing/2014/main" id="{37EF043F-0047-4EC5-B297-23522E981511}"/>
              </a:ext>
            </a:extLst>
          </p:cNvPr>
          <p:cNvSpPr>
            <a:spLocks noGrp="1"/>
          </p:cNvSpPr>
          <p:nvPr>
            <p:ph type="subTitle" idx="1"/>
          </p:nvPr>
        </p:nvSpPr>
        <p:spPr>
          <a:xfrm>
            <a:off x="1818968" y="3429000"/>
            <a:ext cx="7908692" cy="2339502"/>
          </a:xfrm>
        </p:spPr>
        <p:txBody>
          <a:bodyPr/>
          <a:lstStyle/>
          <a:p>
            <a:r>
              <a:rPr lang="en-US" altLang="zh-TW" sz="2400" dirty="0"/>
              <a:t>Prof. Wei Chung Hsu</a:t>
            </a:r>
          </a:p>
          <a:p>
            <a:endParaRPr lang="en-US" altLang="zh-TW" sz="2400" dirty="0">
              <a:effectLst>
                <a:outerShdw blurRad="38100" dist="38100" dir="2700000" algn="tl">
                  <a:srgbClr val="000000">
                    <a:alpha val="43137"/>
                  </a:srgbClr>
                </a:outerShdw>
              </a:effectLst>
            </a:endParaRPr>
          </a:p>
          <a:p>
            <a:r>
              <a:rPr lang="en-US" altLang="zh-TW" sz="2400" dirty="0"/>
              <a:t>School of Data Science</a:t>
            </a:r>
          </a:p>
          <a:p>
            <a:r>
              <a:rPr lang="en-US" altLang="zh-TW" sz="2400" dirty="0"/>
              <a:t>Chinese University of Hong Kong, Shenzhen</a:t>
            </a:r>
          </a:p>
        </p:txBody>
      </p:sp>
    </p:spTree>
    <p:extLst>
      <p:ext uri="{BB962C8B-B14F-4D97-AF65-F5344CB8AC3E}">
        <p14:creationId xmlns:p14="http://schemas.microsoft.com/office/powerpoint/2010/main" val="76936012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2.4 Floating-Point Numbers</a:t>
            </a:r>
          </a:p>
        </p:txBody>
      </p:sp>
      <p:sp>
        <p:nvSpPr>
          <p:cNvPr id="3" name="Content Placeholder 2"/>
          <p:cNvSpPr>
            <a:spLocks noGrp="1"/>
          </p:cNvSpPr>
          <p:nvPr>
            <p:ph idx="1"/>
          </p:nvPr>
        </p:nvSpPr>
        <p:spPr>
          <a:xfrm>
            <a:off x="612844" y="1125537"/>
            <a:ext cx="10969556" cy="4895851"/>
          </a:xfrm>
        </p:spPr>
        <p:txBody>
          <a:bodyPr>
            <a:normAutofit fontScale="92500"/>
          </a:bodyPr>
          <a:lstStyle/>
          <a:p>
            <a:r>
              <a:rPr lang="en-US" dirty="0"/>
              <a:t>Representation for non-integral (real) numbers</a:t>
            </a:r>
          </a:p>
          <a:p>
            <a:pPr lvl="1">
              <a:buFont typeface="Wingdings" panose="05000000000000000000" pitchFamily="2" charset="2"/>
              <a:buChar char="§"/>
            </a:pPr>
            <a:r>
              <a:rPr lang="en-US" dirty="0"/>
              <a:t>Include very small and very large numbers</a:t>
            </a:r>
          </a:p>
          <a:p>
            <a:r>
              <a:rPr lang="en-US" dirty="0"/>
              <a:t>Like scientific notation </a:t>
            </a:r>
            <a:r>
              <a:rPr lang="en-US" sz="2600" dirty="0"/>
              <a:t>(i.e. single digit to the left of the decimal point)</a:t>
            </a:r>
          </a:p>
          <a:p>
            <a:pPr lvl="1">
              <a:buFont typeface="Wingdings" panose="05000000000000000000" pitchFamily="2" charset="2"/>
              <a:buChar char="§"/>
            </a:pPr>
            <a:r>
              <a:rPr lang="en-US" dirty="0"/>
              <a:t>–2.34 × 10</a:t>
            </a:r>
            <a:r>
              <a:rPr lang="en-US" baseline="30000" dirty="0"/>
              <a:t>56</a:t>
            </a:r>
          </a:p>
          <a:p>
            <a:pPr lvl="1">
              <a:buFont typeface="Wingdings" panose="05000000000000000000" pitchFamily="2" charset="2"/>
              <a:buChar char="§"/>
            </a:pPr>
            <a:r>
              <a:rPr lang="en-US" dirty="0"/>
              <a:t>+0.002 × 10</a:t>
            </a:r>
            <a:r>
              <a:rPr lang="en-US" baseline="30000" dirty="0"/>
              <a:t>–4</a:t>
            </a:r>
          </a:p>
          <a:p>
            <a:r>
              <a:rPr lang="en-US" dirty="0"/>
              <a:t>In binary, normalized numbers are represented as </a:t>
            </a:r>
          </a:p>
          <a:p>
            <a:pPr lvl="1"/>
            <a:r>
              <a:rPr lang="en-US" dirty="0"/>
              <a:t>±1.xxxxxxx</a:t>
            </a:r>
            <a:r>
              <a:rPr lang="en-US" baseline="-25000" dirty="0"/>
              <a:t>2</a:t>
            </a:r>
            <a:r>
              <a:rPr lang="en-US" dirty="0"/>
              <a:t> × 2</a:t>
            </a:r>
            <a:r>
              <a:rPr lang="en-US" baseline="30000" dirty="0"/>
              <a:t>yyyy</a:t>
            </a:r>
          </a:p>
          <a:p>
            <a:r>
              <a:rPr lang="en-US" dirty="0"/>
              <a:t>Types </a:t>
            </a:r>
            <a:r>
              <a:rPr lang="en-US" dirty="0">
                <a:latin typeface="Courier New" panose="02070309020205020404" pitchFamily="49" charset="0"/>
                <a:cs typeface="Courier New" panose="02070309020205020404" pitchFamily="49" charset="0"/>
              </a:rPr>
              <a:t>float</a:t>
            </a:r>
            <a:r>
              <a:rPr lang="en-US" dirty="0"/>
              <a:t> and </a:t>
            </a:r>
            <a:r>
              <a:rPr lang="en-US" dirty="0">
                <a:latin typeface="Courier New" panose="02070309020205020404" pitchFamily="49" charset="0"/>
                <a:cs typeface="Courier New" panose="02070309020205020404" pitchFamily="49" charset="0"/>
              </a:rPr>
              <a:t>double</a:t>
            </a:r>
            <a:r>
              <a:rPr lang="en-US" dirty="0"/>
              <a:t> in C</a:t>
            </a:r>
          </a:p>
        </p:txBody>
      </p:sp>
      <p:sp>
        <p:nvSpPr>
          <p:cNvPr id="6" name="TextBox 5"/>
          <p:cNvSpPr txBox="1"/>
          <p:nvPr/>
        </p:nvSpPr>
        <p:spPr>
          <a:xfrm>
            <a:off x="4669635" y="2984827"/>
            <a:ext cx="5190845" cy="461665"/>
          </a:xfrm>
          <a:prstGeom prst="rect">
            <a:avLst/>
          </a:prstGeom>
          <a:noFill/>
        </p:spPr>
        <p:txBody>
          <a:bodyPr wrap="none" rtlCol="0">
            <a:spAutoFit/>
          </a:bodyPr>
          <a:lstStyle/>
          <a:p>
            <a:r>
              <a:rPr lang="en-US" dirty="0"/>
              <a:t>(</a:t>
            </a:r>
            <a:r>
              <a:rPr lang="en-US" sz="2400" b="1" dirty="0">
                <a:solidFill>
                  <a:schemeClr val="accent1"/>
                </a:solidFill>
              </a:rPr>
              <a:t>normalized: has no leading zeros</a:t>
            </a:r>
            <a:r>
              <a:rPr lang="en-US" dirty="0"/>
              <a:t>)</a:t>
            </a:r>
          </a:p>
        </p:txBody>
      </p:sp>
      <p:sp>
        <p:nvSpPr>
          <p:cNvPr id="7" name="TextBox 6"/>
          <p:cNvSpPr txBox="1"/>
          <p:nvPr/>
        </p:nvSpPr>
        <p:spPr>
          <a:xfrm>
            <a:off x="4714359" y="3557418"/>
            <a:ext cx="6521337" cy="461665"/>
          </a:xfrm>
          <a:prstGeom prst="rect">
            <a:avLst/>
          </a:prstGeom>
          <a:noFill/>
        </p:spPr>
        <p:txBody>
          <a:bodyPr wrap="none" rtlCol="0">
            <a:spAutoFit/>
          </a:bodyPr>
          <a:lstStyle/>
          <a:p>
            <a:r>
              <a:rPr lang="en-US" dirty="0"/>
              <a:t>(</a:t>
            </a:r>
            <a:r>
              <a:rPr lang="en-US" sz="2400" b="1" dirty="0">
                <a:solidFill>
                  <a:schemeClr val="accent1"/>
                </a:solidFill>
              </a:rPr>
              <a:t>not normalized</a:t>
            </a:r>
            <a:r>
              <a:rPr lang="en-US" sz="2400" dirty="0"/>
              <a:t>) </a:t>
            </a:r>
            <a:r>
              <a:rPr lang="en-US" sz="2400" dirty="0">
                <a:sym typeface="Wingdings" panose="05000000000000000000" pitchFamily="2" charset="2"/>
              </a:rPr>
              <a:t> normalized to </a:t>
            </a:r>
            <a:r>
              <a:rPr lang="en-US" sz="2400" dirty="0"/>
              <a:t>2.0 X </a:t>
            </a:r>
            <a:r>
              <a:rPr kumimoji="1" lang="en-US" sz="24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10</a:t>
            </a:r>
            <a:r>
              <a:rPr kumimoji="1" lang="en-US" sz="2400" b="0" i="0" u="none" strike="noStrike" kern="0" cap="none" spc="0" normalizeH="0" baseline="30000" noProof="0" dirty="0">
                <a:ln>
                  <a:noFill/>
                </a:ln>
                <a:solidFill>
                  <a:prstClr val="black"/>
                </a:solidFill>
                <a:effectLst/>
                <a:uLnTx/>
                <a:uFillTx/>
                <a:latin typeface="Calibri" pitchFamily="34" charset="0"/>
                <a:ea typeface="標楷體" pitchFamily="65" charset="-120"/>
                <a:cs typeface="+mn-cs"/>
              </a:rPr>
              <a:t>–7 </a:t>
            </a:r>
            <a:r>
              <a:rPr lang="en-US" sz="2400" dirty="0"/>
              <a:t>  </a:t>
            </a:r>
          </a:p>
        </p:txBody>
      </p:sp>
      <p:sp>
        <p:nvSpPr>
          <p:cNvPr id="8" name="灯片编号占位符 7"/>
          <p:cNvSpPr>
            <a:spLocks noGrp="1"/>
          </p:cNvSpPr>
          <p:nvPr>
            <p:ph type="sldNum" sz="quarter" idx="10"/>
          </p:nvPr>
        </p:nvSpPr>
        <p:spPr/>
        <p:txBody>
          <a:bodyPr/>
          <a:lstStyle/>
          <a:p>
            <a:fld id="{D9B6BDF2-6896-4B98-8776-C18582F63BA5}" type="slidenum">
              <a:rPr lang="zh-TW" altLang="en-US" smtClean="0"/>
              <a:t>2</a:t>
            </a:fld>
            <a:endParaRPr lang="zh-TW" altLang="en-US"/>
          </a:p>
        </p:txBody>
      </p:sp>
      <p:sp>
        <p:nvSpPr>
          <p:cNvPr id="4" name="TextBox 3">
            <a:extLst>
              <a:ext uri="{FF2B5EF4-FFF2-40B4-BE49-F238E27FC236}">
                <a16:creationId xmlns:a16="http://schemas.microsoft.com/office/drawing/2014/main" id="{01D3D5D2-55C5-410F-B57E-A41821534CB2}"/>
              </a:ext>
            </a:extLst>
          </p:cNvPr>
          <p:cNvSpPr txBox="1"/>
          <p:nvPr/>
        </p:nvSpPr>
        <p:spPr>
          <a:xfrm>
            <a:off x="8309964" y="1134340"/>
            <a:ext cx="3320140" cy="1015663"/>
          </a:xfrm>
          <a:prstGeom prst="rect">
            <a:avLst/>
          </a:prstGeom>
          <a:solidFill>
            <a:srgbClr val="FFFF00"/>
          </a:solidFill>
          <a:ln>
            <a:solidFill>
              <a:srgbClr val="FF0000"/>
            </a:solidFill>
          </a:ln>
        </p:spPr>
        <p:txBody>
          <a:bodyPr wrap="none" rtlCol="0" anchor="ctr" anchorCtr="1">
            <a:spAutoFit/>
          </a:bodyPr>
          <a:lstStyle/>
          <a:p>
            <a:r>
              <a:rPr lang="en-US" sz="2000" dirty="0"/>
              <a:t>Int32: max </a:t>
            </a:r>
            <a:r>
              <a:rPr lang="en-US" sz="2000" dirty="0">
                <a:solidFill>
                  <a:prstClr val="black"/>
                </a:solidFill>
              </a:rPr>
              <a:t>= 4 × 10^9 </a:t>
            </a:r>
            <a:endParaRPr lang="en-US" sz="2000" dirty="0"/>
          </a:p>
          <a:p>
            <a:r>
              <a:rPr lang="en-US" sz="2000" dirty="0"/>
              <a:t>int64: max ≈ 9 × 10^18 </a:t>
            </a:r>
          </a:p>
          <a:p>
            <a:r>
              <a:rPr lang="en-US" sz="2000" dirty="0"/>
              <a:t>float64: max ≈ 1.8 × 10^308</a:t>
            </a:r>
          </a:p>
        </p:txBody>
      </p:sp>
      <p:sp>
        <p:nvSpPr>
          <p:cNvPr id="11" name="TextBox 10">
            <a:extLst>
              <a:ext uri="{FF2B5EF4-FFF2-40B4-BE49-F238E27FC236}">
                <a16:creationId xmlns:a16="http://schemas.microsoft.com/office/drawing/2014/main" id="{70A27B5F-0333-4E64-B16A-026D60877738}"/>
              </a:ext>
            </a:extLst>
          </p:cNvPr>
          <p:cNvSpPr txBox="1"/>
          <p:nvPr/>
        </p:nvSpPr>
        <p:spPr>
          <a:xfrm>
            <a:off x="8309885" y="2618699"/>
            <a:ext cx="3882115" cy="1877437"/>
          </a:xfrm>
          <a:prstGeom prst="rect">
            <a:avLst/>
          </a:prstGeom>
          <a:solidFill>
            <a:srgbClr val="FFFF00"/>
          </a:solidFill>
          <a:ln>
            <a:solidFill>
              <a:srgbClr val="FF0000"/>
            </a:solidFill>
          </a:ln>
        </p:spPr>
        <p:txBody>
          <a:bodyPr wrap="square" rtlCol="0" anchor="ctr" anchorCtr="1">
            <a:spAutoFit/>
          </a:bodyPr>
          <a:lstStyle/>
          <a:p>
            <a:r>
              <a:rPr lang="en-US" sz="2000" dirty="0"/>
              <a:t>Example of very large numbers</a:t>
            </a:r>
          </a:p>
          <a:p>
            <a:r>
              <a:rPr lang="en-US" sz="2000" dirty="0">
                <a:solidFill>
                  <a:srgbClr val="111827"/>
                </a:solidFill>
                <a:latin typeface="ui-sans-serif"/>
              </a:rPr>
              <a:t>Number of atoms</a:t>
            </a:r>
          </a:p>
          <a:p>
            <a:r>
              <a:rPr lang="en-US" sz="2000" dirty="0">
                <a:solidFill>
                  <a:srgbClr val="374151"/>
                </a:solidFill>
                <a:latin typeface="ui-sans-serif"/>
              </a:rPr>
              <a:t>Diameter of Milky Way / Universe</a:t>
            </a:r>
          </a:p>
          <a:p>
            <a:r>
              <a:rPr lang="en-US" dirty="0"/>
              <a:t>Atomic or quantum events</a:t>
            </a:r>
          </a:p>
          <a:p>
            <a:r>
              <a:rPr lang="en-US" dirty="0"/>
              <a:t>Energy of a supernova </a:t>
            </a:r>
          </a:p>
          <a:p>
            <a:r>
              <a:rPr lang="en-US" sz="2000" dirty="0"/>
              <a:t>….</a:t>
            </a:r>
          </a:p>
        </p:txBody>
      </p:sp>
      <p:sp>
        <p:nvSpPr>
          <p:cNvPr id="12" name="TextBox 11">
            <a:extLst>
              <a:ext uri="{FF2B5EF4-FFF2-40B4-BE49-F238E27FC236}">
                <a16:creationId xmlns:a16="http://schemas.microsoft.com/office/drawing/2014/main" id="{E53F4C2E-0232-42F9-9206-1D739C69E7B8}"/>
              </a:ext>
            </a:extLst>
          </p:cNvPr>
          <p:cNvSpPr txBox="1"/>
          <p:nvPr/>
        </p:nvSpPr>
        <p:spPr>
          <a:xfrm>
            <a:off x="8326954" y="4921810"/>
            <a:ext cx="3067051" cy="1015663"/>
          </a:xfrm>
          <a:prstGeom prst="rect">
            <a:avLst/>
          </a:prstGeom>
          <a:solidFill>
            <a:srgbClr val="FFFF00"/>
          </a:solidFill>
          <a:ln>
            <a:solidFill>
              <a:srgbClr val="FF0000"/>
            </a:solidFill>
          </a:ln>
        </p:spPr>
        <p:txBody>
          <a:bodyPr wrap="square" rtlCol="0" anchor="ctr" anchorCtr="1">
            <a:spAutoFit/>
          </a:bodyPr>
          <a:lstStyle/>
          <a:p>
            <a:r>
              <a:rPr lang="en-US" sz="2000" dirty="0"/>
              <a:t>Fractional numbers</a:t>
            </a:r>
          </a:p>
          <a:p>
            <a:r>
              <a:rPr lang="en-US" sz="2000" dirty="0"/>
              <a:t>½, 3.14159, 0.001</a:t>
            </a:r>
          </a:p>
          <a:p>
            <a:r>
              <a:rPr lang="en-US" sz="2000" dirty="0"/>
              <a:t>1.0e-9</a:t>
            </a:r>
          </a:p>
        </p:txBody>
      </p:sp>
    </p:spTree>
    <p:extLst>
      <p:ext uri="{BB962C8B-B14F-4D97-AF65-F5344CB8AC3E}">
        <p14:creationId xmlns:p14="http://schemas.microsoft.com/office/powerpoint/2010/main" val="4132439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1" grpId="0" animBg="1"/>
      <p:bldP spid="1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2.4 Floating-Point Numbers</a:t>
            </a:r>
          </a:p>
        </p:txBody>
      </p:sp>
      <p:sp>
        <p:nvSpPr>
          <p:cNvPr id="3" name="Content Placeholder 2"/>
          <p:cNvSpPr>
            <a:spLocks noGrp="1"/>
          </p:cNvSpPr>
          <p:nvPr>
            <p:ph idx="1"/>
          </p:nvPr>
        </p:nvSpPr>
        <p:spPr>
          <a:xfrm>
            <a:off x="612844" y="1125537"/>
            <a:ext cx="10969556" cy="4895851"/>
          </a:xfrm>
        </p:spPr>
        <p:txBody>
          <a:bodyPr>
            <a:normAutofit fontScale="92500"/>
          </a:bodyPr>
          <a:lstStyle/>
          <a:p>
            <a:r>
              <a:rPr lang="en-US" dirty="0"/>
              <a:t>Representation for non-integral (real) numbers</a:t>
            </a:r>
          </a:p>
          <a:p>
            <a:pPr lvl="1">
              <a:buFont typeface="Wingdings" panose="05000000000000000000" pitchFamily="2" charset="2"/>
              <a:buChar char="§"/>
            </a:pPr>
            <a:r>
              <a:rPr lang="en-US" dirty="0"/>
              <a:t>Include very small and very large numbers</a:t>
            </a:r>
          </a:p>
          <a:p>
            <a:r>
              <a:rPr lang="en-US" dirty="0"/>
              <a:t>Like scientific notation </a:t>
            </a:r>
            <a:r>
              <a:rPr lang="en-US" sz="2600" dirty="0"/>
              <a:t>(i.e. single digit to the left of the decimal point)</a:t>
            </a:r>
          </a:p>
          <a:p>
            <a:pPr lvl="1">
              <a:buFont typeface="Wingdings" panose="05000000000000000000" pitchFamily="2" charset="2"/>
              <a:buChar char="§"/>
            </a:pPr>
            <a:r>
              <a:rPr lang="en-US" dirty="0"/>
              <a:t>–2.34 × 10</a:t>
            </a:r>
            <a:r>
              <a:rPr lang="en-US" baseline="30000" dirty="0"/>
              <a:t>56</a:t>
            </a:r>
          </a:p>
          <a:p>
            <a:pPr lvl="1">
              <a:buFont typeface="Wingdings" panose="05000000000000000000" pitchFamily="2" charset="2"/>
              <a:buChar char="§"/>
            </a:pPr>
            <a:r>
              <a:rPr lang="en-US" dirty="0"/>
              <a:t>+0.002 × 10</a:t>
            </a:r>
            <a:r>
              <a:rPr lang="en-US" baseline="30000" dirty="0"/>
              <a:t>–4</a:t>
            </a:r>
          </a:p>
          <a:p>
            <a:r>
              <a:rPr lang="en-US" dirty="0"/>
              <a:t>In binary, normalized numbers are represented as </a:t>
            </a:r>
          </a:p>
          <a:p>
            <a:pPr lvl="1"/>
            <a:r>
              <a:rPr lang="en-US" dirty="0"/>
              <a:t>±1.xxxxxxx</a:t>
            </a:r>
            <a:r>
              <a:rPr lang="en-US" baseline="-25000" dirty="0"/>
              <a:t>2</a:t>
            </a:r>
            <a:r>
              <a:rPr lang="en-US" dirty="0"/>
              <a:t> × 2</a:t>
            </a:r>
            <a:r>
              <a:rPr lang="en-US" baseline="30000" dirty="0"/>
              <a:t>yyyy</a:t>
            </a:r>
          </a:p>
          <a:p>
            <a:r>
              <a:rPr lang="en-US" dirty="0"/>
              <a:t>Types </a:t>
            </a:r>
            <a:r>
              <a:rPr lang="en-US" dirty="0">
                <a:latin typeface="Courier New" panose="02070309020205020404" pitchFamily="49" charset="0"/>
                <a:cs typeface="Courier New" panose="02070309020205020404" pitchFamily="49" charset="0"/>
              </a:rPr>
              <a:t>float</a:t>
            </a:r>
            <a:r>
              <a:rPr lang="en-US" dirty="0"/>
              <a:t> and </a:t>
            </a:r>
            <a:r>
              <a:rPr lang="en-US" dirty="0">
                <a:latin typeface="Courier New" panose="02070309020205020404" pitchFamily="49" charset="0"/>
                <a:cs typeface="Courier New" panose="02070309020205020404" pitchFamily="49" charset="0"/>
              </a:rPr>
              <a:t>double</a:t>
            </a:r>
            <a:r>
              <a:rPr lang="en-US" dirty="0"/>
              <a:t> in C</a:t>
            </a:r>
          </a:p>
        </p:txBody>
      </p:sp>
      <p:sp>
        <p:nvSpPr>
          <p:cNvPr id="6" name="TextBox 5"/>
          <p:cNvSpPr txBox="1"/>
          <p:nvPr/>
        </p:nvSpPr>
        <p:spPr>
          <a:xfrm>
            <a:off x="4669635" y="2984827"/>
            <a:ext cx="5190845" cy="461665"/>
          </a:xfrm>
          <a:prstGeom prst="rect">
            <a:avLst/>
          </a:prstGeom>
          <a:noFill/>
        </p:spPr>
        <p:txBody>
          <a:bodyPr wrap="none" rtlCol="0">
            <a:spAutoFit/>
          </a:bodyPr>
          <a:lstStyle/>
          <a:p>
            <a:r>
              <a:rPr lang="en-US" dirty="0"/>
              <a:t>(</a:t>
            </a:r>
            <a:r>
              <a:rPr lang="en-US" sz="2400" b="1" dirty="0">
                <a:solidFill>
                  <a:schemeClr val="accent1"/>
                </a:solidFill>
              </a:rPr>
              <a:t>normalized: has no leading zeros</a:t>
            </a:r>
            <a:r>
              <a:rPr lang="en-US" dirty="0"/>
              <a:t>)</a:t>
            </a:r>
          </a:p>
        </p:txBody>
      </p:sp>
      <p:sp>
        <p:nvSpPr>
          <p:cNvPr id="7" name="TextBox 6"/>
          <p:cNvSpPr txBox="1"/>
          <p:nvPr/>
        </p:nvSpPr>
        <p:spPr>
          <a:xfrm>
            <a:off x="4714359" y="3557418"/>
            <a:ext cx="6521337" cy="461665"/>
          </a:xfrm>
          <a:prstGeom prst="rect">
            <a:avLst/>
          </a:prstGeom>
          <a:noFill/>
        </p:spPr>
        <p:txBody>
          <a:bodyPr wrap="none" rtlCol="0">
            <a:spAutoFit/>
          </a:bodyPr>
          <a:lstStyle/>
          <a:p>
            <a:r>
              <a:rPr lang="en-US" dirty="0"/>
              <a:t>(</a:t>
            </a:r>
            <a:r>
              <a:rPr lang="en-US" sz="2400" b="1" dirty="0">
                <a:solidFill>
                  <a:schemeClr val="accent1"/>
                </a:solidFill>
              </a:rPr>
              <a:t>not normalized</a:t>
            </a:r>
            <a:r>
              <a:rPr lang="en-US" sz="2400" dirty="0"/>
              <a:t>) </a:t>
            </a:r>
            <a:r>
              <a:rPr lang="en-US" sz="2400" dirty="0">
                <a:sym typeface="Wingdings" panose="05000000000000000000" pitchFamily="2" charset="2"/>
              </a:rPr>
              <a:t> normalized to </a:t>
            </a:r>
            <a:r>
              <a:rPr lang="en-US" sz="2400" dirty="0"/>
              <a:t>2.0 X </a:t>
            </a:r>
            <a:r>
              <a:rPr kumimoji="1" lang="en-US" sz="24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10</a:t>
            </a:r>
            <a:r>
              <a:rPr kumimoji="1" lang="en-US" sz="2400" b="0" i="0" u="none" strike="noStrike" kern="0" cap="none" spc="0" normalizeH="0" baseline="30000" noProof="0" dirty="0">
                <a:ln>
                  <a:noFill/>
                </a:ln>
                <a:solidFill>
                  <a:prstClr val="black"/>
                </a:solidFill>
                <a:effectLst/>
                <a:uLnTx/>
                <a:uFillTx/>
                <a:latin typeface="Calibri" pitchFamily="34" charset="0"/>
                <a:ea typeface="標楷體" pitchFamily="65" charset="-120"/>
                <a:cs typeface="+mn-cs"/>
              </a:rPr>
              <a:t>–7 </a:t>
            </a:r>
            <a:r>
              <a:rPr lang="en-US" sz="2400" dirty="0"/>
              <a:t>  </a:t>
            </a:r>
          </a:p>
        </p:txBody>
      </p:sp>
      <p:sp>
        <p:nvSpPr>
          <p:cNvPr id="8" name="灯片编号占位符 7"/>
          <p:cNvSpPr>
            <a:spLocks noGrp="1"/>
          </p:cNvSpPr>
          <p:nvPr>
            <p:ph type="sldNum" sz="quarter" idx="10"/>
          </p:nvPr>
        </p:nvSpPr>
        <p:spPr/>
        <p:txBody>
          <a:bodyPr/>
          <a:lstStyle/>
          <a:p>
            <a:fld id="{D9B6BDF2-6896-4B98-8776-C18582F63BA5}" type="slidenum">
              <a:rPr lang="zh-TW" altLang="en-US" smtClean="0"/>
              <a:t>3</a:t>
            </a:fld>
            <a:endParaRPr lang="zh-TW" altLang="en-US"/>
          </a:p>
        </p:txBody>
      </p:sp>
      <p:sp>
        <p:nvSpPr>
          <p:cNvPr id="4" name="TextBox 3">
            <a:extLst>
              <a:ext uri="{FF2B5EF4-FFF2-40B4-BE49-F238E27FC236}">
                <a16:creationId xmlns:a16="http://schemas.microsoft.com/office/drawing/2014/main" id="{01D3D5D2-55C5-410F-B57E-A41821534CB2}"/>
              </a:ext>
            </a:extLst>
          </p:cNvPr>
          <p:cNvSpPr txBox="1"/>
          <p:nvPr/>
        </p:nvSpPr>
        <p:spPr>
          <a:xfrm>
            <a:off x="9391233" y="1292192"/>
            <a:ext cx="2800767" cy="1200329"/>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Why normalization?</a:t>
            </a:r>
          </a:p>
          <a:p>
            <a:pPr marL="342900" indent="-342900">
              <a:buAutoNum type="alphaLcParenR"/>
            </a:pPr>
            <a:r>
              <a:rPr lang="en-US" dirty="0">
                <a:ea typeface="標楷體" pitchFamily="65" charset="-120"/>
                <a:cs typeface="Calibri" pitchFamily="34" charset="0"/>
              </a:rPr>
              <a:t>Unique representation</a:t>
            </a:r>
          </a:p>
          <a:p>
            <a:pPr marL="342900" indent="-342900">
              <a:buAutoNum type="alphaLcParenR"/>
            </a:pPr>
            <a:r>
              <a:rPr lang="en-US" dirty="0">
                <a:ea typeface="標楷體" pitchFamily="65" charset="-120"/>
                <a:cs typeface="Calibri" pitchFamily="34" charset="0"/>
              </a:rPr>
              <a:t>Maximize precision</a:t>
            </a:r>
          </a:p>
          <a:p>
            <a:pPr marL="342900" indent="-342900">
              <a:buAutoNum type="alphaLcParenR"/>
            </a:pPr>
            <a:r>
              <a:rPr lang="en-US" dirty="0">
                <a:ea typeface="標楷體" pitchFamily="65" charset="-120"/>
                <a:cs typeface="Calibri" pitchFamily="34" charset="0"/>
              </a:rPr>
              <a:t>Standards </a:t>
            </a:r>
          </a:p>
        </p:txBody>
      </p:sp>
      <p:sp>
        <p:nvSpPr>
          <p:cNvPr id="9" name="TextBox 8">
            <a:extLst>
              <a:ext uri="{FF2B5EF4-FFF2-40B4-BE49-F238E27FC236}">
                <a16:creationId xmlns:a16="http://schemas.microsoft.com/office/drawing/2014/main" id="{0EF3CBA8-59F6-40A2-9987-49200DDF92EC}"/>
              </a:ext>
            </a:extLst>
          </p:cNvPr>
          <p:cNvSpPr txBox="1"/>
          <p:nvPr/>
        </p:nvSpPr>
        <p:spPr>
          <a:xfrm>
            <a:off x="6671321" y="4782562"/>
            <a:ext cx="2097049" cy="523220"/>
          </a:xfrm>
          <a:prstGeom prst="rect">
            <a:avLst/>
          </a:prstGeom>
          <a:solidFill>
            <a:srgbClr val="FFFF00"/>
          </a:solidFill>
          <a:ln>
            <a:solidFill>
              <a:srgbClr val="FF0000"/>
            </a:solidFill>
          </a:ln>
        </p:spPr>
        <p:txBody>
          <a:bodyPr wrap="none" rtlCol="0" anchor="ctr" anchorCtr="1">
            <a:spAutoFit/>
          </a:bodyPr>
          <a:lstStyle/>
          <a:p>
            <a:r>
              <a:rPr kumimoji="1" lang="en-US" sz="2800" kern="0" dirty="0">
                <a:solidFill>
                  <a:prstClr val="black"/>
                </a:solidFill>
                <a:latin typeface="Calibri" pitchFamily="34" charset="0"/>
                <a:ea typeface="標楷體" pitchFamily="65" charset="-120"/>
              </a:rPr>
              <a:t>0.0001</a:t>
            </a:r>
            <a:r>
              <a:rPr kumimoji="1" lang="en-US" sz="2800" kern="0" baseline="-25000" dirty="0">
                <a:solidFill>
                  <a:prstClr val="black"/>
                </a:solidFill>
                <a:latin typeface="Calibri" pitchFamily="34" charset="0"/>
                <a:ea typeface="標楷體" pitchFamily="65" charset="-120"/>
              </a:rPr>
              <a:t>2</a:t>
            </a:r>
            <a:r>
              <a:rPr kumimoji="1" lang="en-US" sz="2800" kern="0" dirty="0">
                <a:solidFill>
                  <a:prstClr val="black"/>
                </a:solidFill>
                <a:latin typeface="Calibri" pitchFamily="34" charset="0"/>
                <a:ea typeface="標楷體" pitchFamily="65" charset="-120"/>
              </a:rPr>
              <a:t> x </a:t>
            </a:r>
            <a:r>
              <a:rPr lang="en-US" sz="2800" dirty="0"/>
              <a:t>2</a:t>
            </a:r>
            <a:r>
              <a:rPr lang="en-US" sz="2800" baseline="30000" dirty="0"/>
              <a:t>10</a:t>
            </a:r>
            <a:endParaRPr lang="en-US" sz="2800" dirty="0">
              <a:ea typeface="標楷體" pitchFamily="65" charset="-120"/>
              <a:cs typeface="Calibri" pitchFamily="34" charset="0"/>
            </a:endParaRPr>
          </a:p>
        </p:txBody>
      </p:sp>
      <p:sp>
        <p:nvSpPr>
          <p:cNvPr id="10" name="TextBox 9">
            <a:extLst>
              <a:ext uri="{FF2B5EF4-FFF2-40B4-BE49-F238E27FC236}">
                <a16:creationId xmlns:a16="http://schemas.microsoft.com/office/drawing/2014/main" id="{67BBAE94-07E2-4B11-B5FE-E45D2C2D6749}"/>
              </a:ext>
            </a:extLst>
          </p:cNvPr>
          <p:cNvSpPr txBox="1"/>
          <p:nvPr/>
        </p:nvSpPr>
        <p:spPr>
          <a:xfrm>
            <a:off x="7508570" y="5450673"/>
            <a:ext cx="1415772" cy="523220"/>
          </a:xfrm>
          <a:prstGeom prst="rect">
            <a:avLst/>
          </a:prstGeom>
          <a:solidFill>
            <a:srgbClr val="FFFF00"/>
          </a:solidFill>
          <a:ln>
            <a:solidFill>
              <a:srgbClr val="FF0000"/>
            </a:solidFill>
          </a:ln>
        </p:spPr>
        <p:txBody>
          <a:bodyPr wrap="none" rtlCol="0" anchor="ctr" anchorCtr="1">
            <a:spAutoFit/>
          </a:bodyPr>
          <a:lstStyle/>
          <a:p>
            <a:r>
              <a:rPr kumimoji="1" lang="en-US" sz="2800" kern="0" dirty="0">
                <a:solidFill>
                  <a:prstClr val="black"/>
                </a:solidFill>
                <a:latin typeface="Calibri" pitchFamily="34" charset="0"/>
                <a:ea typeface="標楷體" pitchFamily="65" charset="-120"/>
              </a:rPr>
              <a:t>1.0</a:t>
            </a:r>
            <a:r>
              <a:rPr kumimoji="1" lang="en-US" sz="2800" kern="0" baseline="-25000" dirty="0">
                <a:solidFill>
                  <a:prstClr val="black"/>
                </a:solidFill>
                <a:latin typeface="Calibri" pitchFamily="34" charset="0"/>
                <a:ea typeface="標楷體" pitchFamily="65" charset="-120"/>
              </a:rPr>
              <a:t>2</a:t>
            </a:r>
            <a:r>
              <a:rPr kumimoji="1" lang="en-US" sz="2800" kern="0" dirty="0">
                <a:solidFill>
                  <a:prstClr val="black"/>
                </a:solidFill>
                <a:latin typeface="Calibri" pitchFamily="34" charset="0"/>
                <a:ea typeface="標楷體" pitchFamily="65" charset="-120"/>
              </a:rPr>
              <a:t> x </a:t>
            </a:r>
            <a:r>
              <a:rPr lang="en-US" sz="2800" dirty="0"/>
              <a:t>2</a:t>
            </a:r>
            <a:r>
              <a:rPr lang="en-US" sz="2800" baseline="30000" dirty="0"/>
              <a:t>6</a:t>
            </a:r>
            <a:endParaRPr lang="en-US" sz="2800" dirty="0">
              <a:ea typeface="標楷體" pitchFamily="65" charset="-120"/>
              <a:cs typeface="Calibri" pitchFamily="34" charset="0"/>
            </a:endParaRPr>
          </a:p>
        </p:txBody>
      </p:sp>
      <p:sp>
        <p:nvSpPr>
          <p:cNvPr id="5" name="Arrow: Right 4">
            <a:extLst>
              <a:ext uri="{FF2B5EF4-FFF2-40B4-BE49-F238E27FC236}">
                <a16:creationId xmlns:a16="http://schemas.microsoft.com/office/drawing/2014/main" id="{CD9D7094-9B17-47B6-A916-86DEA1EB8DF6}"/>
              </a:ext>
            </a:extLst>
          </p:cNvPr>
          <p:cNvSpPr/>
          <p:nvPr/>
        </p:nvSpPr>
        <p:spPr bwMode="auto">
          <a:xfrm>
            <a:off x="7082895" y="5535949"/>
            <a:ext cx="425675" cy="244682"/>
          </a:xfrm>
          <a:prstGeom prst="rightArrow">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1" name="TextBox 10">
            <a:extLst>
              <a:ext uri="{FF2B5EF4-FFF2-40B4-BE49-F238E27FC236}">
                <a16:creationId xmlns:a16="http://schemas.microsoft.com/office/drawing/2014/main" id="{1A9A3386-B8FB-4276-B79C-F457A4D1A1E7}"/>
              </a:ext>
            </a:extLst>
          </p:cNvPr>
          <p:cNvSpPr txBox="1"/>
          <p:nvPr/>
        </p:nvSpPr>
        <p:spPr>
          <a:xfrm>
            <a:off x="8924342" y="4697070"/>
            <a:ext cx="3086101" cy="646331"/>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Left shift   </a:t>
            </a:r>
            <a:r>
              <a:rPr lang="en-US" dirty="0">
                <a:ea typeface="標楷體" pitchFamily="65" charset="-120"/>
                <a:cs typeface="Calibri" pitchFamily="34" charset="0"/>
                <a:sym typeface="Wingdings" panose="05000000000000000000" pitchFamily="2" charset="2"/>
              </a:rPr>
              <a:t> decrement exp</a:t>
            </a:r>
          </a:p>
          <a:p>
            <a:r>
              <a:rPr lang="en-US" dirty="0">
                <a:ea typeface="標楷體" pitchFamily="65" charset="-120"/>
                <a:cs typeface="Calibri" pitchFamily="34" charset="0"/>
                <a:sym typeface="Wingdings" panose="05000000000000000000" pitchFamily="2" charset="2"/>
              </a:rPr>
              <a:t>Right shift  increment exp</a:t>
            </a:r>
            <a:endParaRPr lang="en-US" dirty="0">
              <a:ea typeface="標楷體" pitchFamily="65" charset="-120"/>
              <a:cs typeface="Calibri" pitchFamily="34" charset="0"/>
            </a:endParaRPr>
          </a:p>
        </p:txBody>
      </p:sp>
    </p:spTree>
    <p:extLst>
      <p:ext uri="{BB962C8B-B14F-4D97-AF65-F5344CB8AC3E}">
        <p14:creationId xmlns:p14="http://schemas.microsoft.com/office/powerpoint/2010/main" val="2885801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9" grpId="0" animBg="1"/>
      <p:bldP spid="10" grpId="0" animBg="1"/>
      <p:bldP spid="5" grpId="0" animBg="1"/>
      <p:bldP spid="11"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86312" y="144466"/>
            <a:ext cx="10281275" cy="692151"/>
          </a:xfrm>
        </p:spPr>
        <p:txBody>
          <a:bodyPr/>
          <a:lstStyle/>
          <a:p>
            <a:r>
              <a:rPr lang="en-US" altLang="en-US" sz="4267" dirty="0"/>
              <a:t>Number Systems</a:t>
            </a:r>
            <a:endParaRPr lang="en-US" sz="4267" dirty="0"/>
          </a:p>
        </p:txBody>
      </p:sp>
      <p:sp>
        <p:nvSpPr>
          <p:cNvPr id="3" name="Content Placeholder 2"/>
          <p:cNvSpPr>
            <a:spLocks noGrp="1"/>
          </p:cNvSpPr>
          <p:nvPr>
            <p:ph idx="1"/>
          </p:nvPr>
        </p:nvSpPr>
        <p:spPr>
          <a:xfrm>
            <a:off x="1301125" y="1126210"/>
            <a:ext cx="10281275" cy="3806517"/>
          </a:xfrm>
        </p:spPr>
        <p:txBody>
          <a:bodyPr/>
          <a:lstStyle/>
          <a:p>
            <a:r>
              <a:rPr lang="en-US" sz="3200" b="1" dirty="0">
                <a:solidFill>
                  <a:schemeClr val="accent1"/>
                </a:solidFill>
              </a:rPr>
              <a:t>Decimal numbers</a:t>
            </a:r>
          </a:p>
          <a:p>
            <a:endParaRPr lang="en-US" sz="2667" dirty="0"/>
          </a:p>
          <a:p>
            <a:endParaRPr lang="en-US" sz="2667" dirty="0"/>
          </a:p>
          <a:p>
            <a:pPr marL="0" indent="0">
              <a:buNone/>
            </a:pPr>
            <a:endParaRPr lang="en-US" sz="2667" dirty="0"/>
          </a:p>
          <a:p>
            <a:endParaRPr lang="en-US" sz="3200" b="1" dirty="0">
              <a:solidFill>
                <a:schemeClr val="accent1"/>
              </a:solidFill>
            </a:endParaRPr>
          </a:p>
          <a:p>
            <a:r>
              <a:rPr lang="en-US" sz="3200" b="1" dirty="0">
                <a:solidFill>
                  <a:schemeClr val="accent1"/>
                </a:solidFill>
              </a:rPr>
              <a:t>Binary numbers</a:t>
            </a:r>
          </a:p>
        </p:txBody>
      </p:sp>
      <p:grpSp>
        <p:nvGrpSpPr>
          <p:cNvPr id="9" name="Group 8"/>
          <p:cNvGrpSpPr/>
          <p:nvPr/>
        </p:nvGrpSpPr>
        <p:grpSpPr>
          <a:xfrm>
            <a:off x="4229623" y="1801346"/>
            <a:ext cx="5722524" cy="2120018"/>
            <a:chOff x="2146357" y="1814554"/>
            <a:chExt cx="5722523" cy="2120016"/>
          </a:xfrm>
        </p:grpSpPr>
        <p:graphicFrame>
          <p:nvGraphicFramePr>
            <p:cNvPr id="7" name="Object 6"/>
            <p:cNvGraphicFramePr>
              <a:graphicFrameLocks noChangeAspect="1"/>
            </p:cNvGraphicFramePr>
            <p:nvPr/>
          </p:nvGraphicFramePr>
          <p:xfrm>
            <a:off x="2156249" y="3067840"/>
            <a:ext cx="5712631" cy="540000"/>
          </p:xfrm>
          <a:graphic>
            <a:graphicData uri="http://schemas.openxmlformats.org/presentationml/2006/ole">
              <mc:AlternateContent xmlns:mc="http://schemas.openxmlformats.org/markup-compatibility/2006">
                <mc:Choice xmlns:v="urn:schemas-microsoft-com:vml" Requires="v">
                  <p:oleObj name="Equation" r:id="rId3" imgW="61264800" imgH="5791200" progId="Equation.3">
                    <p:embed/>
                  </p:oleObj>
                </mc:Choice>
                <mc:Fallback>
                  <p:oleObj name="Equation" r:id="rId3" imgW="61264800" imgH="5791200" progId="Equation.3">
                    <p:embed/>
                    <p:pic>
                      <p:nvPicPr>
                        <p:cNvPr id="7" name="Object 6"/>
                        <p:cNvPicPr/>
                        <p:nvPr/>
                      </p:nvPicPr>
                      <p:blipFill>
                        <a:blip r:embed="rId4"/>
                        <a:stretch>
                          <a:fillRect/>
                        </a:stretch>
                      </p:blipFill>
                      <p:spPr>
                        <a:xfrm>
                          <a:off x="2156249" y="3067840"/>
                          <a:ext cx="5712631" cy="540000"/>
                        </a:xfrm>
                        <a:prstGeom prst="rect">
                          <a:avLst/>
                        </a:prstGeom>
                      </p:spPr>
                    </p:pic>
                  </p:oleObj>
                </mc:Fallback>
              </mc:AlternateContent>
            </a:graphicData>
          </a:graphic>
        </p:graphicFrame>
        <p:sp>
          <p:nvSpPr>
            <p:cNvPr id="11" name="TextBox 10"/>
            <p:cNvSpPr txBox="1"/>
            <p:nvPr/>
          </p:nvSpPr>
          <p:spPr>
            <a:xfrm rot="5400000">
              <a:off x="1632467" y="2328444"/>
              <a:ext cx="1335557" cy="307777"/>
            </a:xfrm>
            <a:prstGeom prst="rect">
              <a:avLst/>
            </a:prstGeom>
            <a:noFill/>
          </p:spPr>
          <p:txBody>
            <a:bodyPr wrap="none" rtlCol="0">
              <a:spAutoFit/>
            </a:bodyPr>
            <a:lstStyle/>
            <a:p>
              <a:r>
                <a:rPr lang="en-US" sz="1400" dirty="0"/>
                <a:t>1000’s column</a:t>
              </a:r>
            </a:p>
          </p:txBody>
        </p:sp>
        <p:sp>
          <p:nvSpPr>
            <p:cNvPr id="12" name="TextBox 11"/>
            <p:cNvSpPr txBox="1"/>
            <p:nvPr/>
          </p:nvSpPr>
          <p:spPr>
            <a:xfrm rot="5400000">
              <a:off x="1862520" y="2278751"/>
              <a:ext cx="1236171" cy="307777"/>
            </a:xfrm>
            <a:prstGeom prst="rect">
              <a:avLst/>
            </a:prstGeom>
            <a:noFill/>
          </p:spPr>
          <p:txBody>
            <a:bodyPr wrap="none" rtlCol="0">
              <a:spAutoFit/>
            </a:bodyPr>
            <a:lstStyle/>
            <a:p>
              <a:r>
                <a:rPr lang="en-US" sz="1400" dirty="0"/>
                <a:t>100’s column</a:t>
              </a:r>
            </a:p>
          </p:txBody>
        </p:sp>
        <p:sp>
          <p:nvSpPr>
            <p:cNvPr id="13" name="TextBox 12"/>
            <p:cNvSpPr txBox="1"/>
            <p:nvPr/>
          </p:nvSpPr>
          <p:spPr>
            <a:xfrm rot="5400000">
              <a:off x="2092576" y="2229059"/>
              <a:ext cx="1136785" cy="307777"/>
            </a:xfrm>
            <a:prstGeom prst="rect">
              <a:avLst/>
            </a:prstGeom>
            <a:noFill/>
          </p:spPr>
          <p:txBody>
            <a:bodyPr wrap="none" rtlCol="0">
              <a:spAutoFit/>
            </a:bodyPr>
            <a:lstStyle/>
            <a:p>
              <a:r>
                <a:rPr lang="en-US" sz="1400" dirty="0"/>
                <a:t>10’s column</a:t>
              </a:r>
            </a:p>
          </p:txBody>
        </p:sp>
        <p:sp>
          <p:nvSpPr>
            <p:cNvPr id="14" name="TextBox 13"/>
            <p:cNvSpPr txBox="1"/>
            <p:nvPr/>
          </p:nvSpPr>
          <p:spPr>
            <a:xfrm rot="5400000">
              <a:off x="2322636" y="2179366"/>
              <a:ext cx="1037399" cy="307777"/>
            </a:xfrm>
            <a:prstGeom prst="rect">
              <a:avLst/>
            </a:prstGeom>
            <a:noFill/>
          </p:spPr>
          <p:txBody>
            <a:bodyPr wrap="none" rtlCol="0">
              <a:spAutoFit/>
            </a:bodyPr>
            <a:lstStyle/>
            <a:p>
              <a:r>
                <a:rPr lang="en-US" sz="1400" dirty="0"/>
                <a:t>1’s column</a:t>
              </a:r>
            </a:p>
          </p:txBody>
        </p:sp>
        <p:sp>
          <p:nvSpPr>
            <p:cNvPr id="15" name="TextBox 14"/>
            <p:cNvSpPr txBox="1"/>
            <p:nvPr/>
          </p:nvSpPr>
          <p:spPr>
            <a:xfrm>
              <a:off x="3308602" y="3411349"/>
              <a:ext cx="1010212" cy="523220"/>
            </a:xfrm>
            <a:prstGeom prst="rect">
              <a:avLst/>
            </a:prstGeom>
            <a:noFill/>
          </p:spPr>
          <p:txBody>
            <a:bodyPr wrap="none" rtlCol="0">
              <a:spAutoFit/>
            </a:bodyPr>
            <a:lstStyle/>
            <a:p>
              <a:pPr algn="ctr"/>
              <a:r>
                <a:rPr lang="en-US" sz="1400" dirty="0"/>
                <a:t>five</a:t>
              </a:r>
            </a:p>
            <a:p>
              <a:pPr algn="ctr"/>
              <a:r>
                <a:rPr lang="en-US" sz="1400" dirty="0"/>
                <a:t>thousands</a:t>
              </a:r>
            </a:p>
          </p:txBody>
        </p:sp>
        <p:sp>
          <p:nvSpPr>
            <p:cNvPr id="17" name="TextBox 16"/>
            <p:cNvSpPr txBox="1"/>
            <p:nvPr/>
          </p:nvSpPr>
          <p:spPr>
            <a:xfrm>
              <a:off x="4510924" y="3411350"/>
              <a:ext cx="930063" cy="523220"/>
            </a:xfrm>
            <a:prstGeom prst="rect">
              <a:avLst/>
            </a:prstGeom>
            <a:noFill/>
          </p:spPr>
          <p:txBody>
            <a:bodyPr wrap="none" rtlCol="0">
              <a:spAutoFit/>
            </a:bodyPr>
            <a:lstStyle/>
            <a:p>
              <a:pPr algn="ctr"/>
              <a:r>
                <a:rPr lang="en-US" sz="1400" dirty="0"/>
                <a:t>three</a:t>
              </a:r>
            </a:p>
            <a:p>
              <a:pPr algn="ctr"/>
              <a:r>
                <a:rPr lang="en-US" sz="1400" dirty="0"/>
                <a:t>hundreds</a:t>
              </a:r>
            </a:p>
          </p:txBody>
        </p:sp>
        <p:sp>
          <p:nvSpPr>
            <p:cNvPr id="18" name="TextBox 17"/>
            <p:cNvSpPr txBox="1"/>
            <p:nvPr/>
          </p:nvSpPr>
          <p:spPr>
            <a:xfrm>
              <a:off x="5804741" y="3411350"/>
              <a:ext cx="662361" cy="523220"/>
            </a:xfrm>
            <a:prstGeom prst="rect">
              <a:avLst/>
            </a:prstGeom>
            <a:noFill/>
          </p:spPr>
          <p:txBody>
            <a:bodyPr wrap="none" rtlCol="0">
              <a:spAutoFit/>
            </a:bodyPr>
            <a:lstStyle/>
            <a:p>
              <a:pPr algn="ctr"/>
              <a:r>
                <a:rPr lang="en-US" sz="1400" dirty="0"/>
                <a:t>seven</a:t>
              </a:r>
            </a:p>
            <a:p>
              <a:pPr algn="ctr"/>
              <a:r>
                <a:rPr lang="en-US" sz="1400" dirty="0"/>
                <a:t>tens</a:t>
              </a:r>
            </a:p>
          </p:txBody>
        </p:sp>
        <p:sp>
          <p:nvSpPr>
            <p:cNvPr id="19" name="TextBox 18"/>
            <p:cNvSpPr txBox="1"/>
            <p:nvPr/>
          </p:nvSpPr>
          <p:spPr>
            <a:xfrm>
              <a:off x="7067043" y="3411350"/>
              <a:ext cx="572593" cy="523220"/>
            </a:xfrm>
            <a:prstGeom prst="rect">
              <a:avLst/>
            </a:prstGeom>
            <a:noFill/>
          </p:spPr>
          <p:txBody>
            <a:bodyPr wrap="none" rtlCol="0">
              <a:spAutoFit/>
            </a:bodyPr>
            <a:lstStyle/>
            <a:p>
              <a:pPr algn="ctr"/>
              <a:r>
                <a:rPr lang="en-US" sz="1400" dirty="0"/>
                <a:t>four</a:t>
              </a:r>
            </a:p>
            <a:p>
              <a:pPr algn="ctr"/>
              <a:r>
                <a:rPr lang="en-US" sz="1400" dirty="0"/>
                <a:t>ones</a:t>
              </a:r>
            </a:p>
          </p:txBody>
        </p:sp>
      </p:grpSp>
      <p:grpSp>
        <p:nvGrpSpPr>
          <p:cNvPr id="10" name="Group 9"/>
          <p:cNvGrpSpPr/>
          <p:nvPr/>
        </p:nvGrpSpPr>
        <p:grpSpPr>
          <a:xfrm>
            <a:off x="4184883" y="4299194"/>
            <a:ext cx="5795034" cy="1804897"/>
            <a:chOff x="2146356" y="4438852"/>
            <a:chExt cx="5795033" cy="1804898"/>
          </a:xfrm>
        </p:grpSpPr>
        <p:graphicFrame>
          <p:nvGraphicFramePr>
            <p:cNvPr id="8" name="Object 7"/>
            <p:cNvGraphicFramePr>
              <a:graphicFrameLocks noChangeAspect="1"/>
            </p:cNvGraphicFramePr>
            <p:nvPr/>
          </p:nvGraphicFramePr>
          <p:xfrm>
            <a:off x="2200989" y="5331699"/>
            <a:ext cx="5740400" cy="539750"/>
          </p:xfrm>
          <a:graphic>
            <a:graphicData uri="http://schemas.openxmlformats.org/presentationml/2006/ole">
              <mc:AlternateContent xmlns:mc="http://schemas.openxmlformats.org/markup-compatibility/2006">
                <mc:Choice xmlns:v="urn:schemas-microsoft-com:vml" Requires="v">
                  <p:oleObj name="Equation" r:id="rId5" imgW="61569600" imgH="5791200" progId="Equation.3">
                    <p:embed/>
                  </p:oleObj>
                </mc:Choice>
                <mc:Fallback>
                  <p:oleObj name="Equation" r:id="rId5" imgW="61569600" imgH="5791200" progId="Equation.3">
                    <p:embed/>
                    <p:pic>
                      <p:nvPicPr>
                        <p:cNvPr id="8" name="Object 7"/>
                        <p:cNvPicPr/>
                        <p:nvPr/>
                      </p:nvPicPr>
                      <p:blipFill>
                        <a:blip r:embed="rId6"/>
                        <a:stretch>
                          <a:fillRect/>
                        </a:stretch>
                      </p:blipFill>
                      <p:spPr>
                        <a:xfrm>
                          <a:off x="2200989" y="5331699"/>
                          <a:ext cx="5740400" cy="539750"/>
                        </a:xfrm>
                        <a:prstGeom prst="rect">
                          <a:avLst/>
                        </a:prstGeom>
                      </p:spPr>
                    </p:pic>
                  </p:oleObj>
                </mc:Fallback>
              </mc:AlternateContent>
            </a:graphicData>
          </a:graphic>
        </p:graphicFrame>
        <p:sp>
          <p:nvSpPr>
            <p:cNvPr id="20" name="TextBox 19"/>
            <p:cNvSpPr txBox="1"/>
            <p:nvPr/>
          </p:nvSpPr>
          <p:spPr>
            <a:xfrm rot="5400000">
              <a:off x="1781545" y="4803663"/>
              <a:ext cx="1037400" cy="307777"/>
            </a:xfrm>
            <a:prstGeom prst="rect">
              <a:avLst/>
            </a:prstGeom>
            <a:noFill/>
          </p:spPr>
          <p:txBody>
            <a:bodyPr wrap="none" rtlCol="0">
              <a:spAutoFit/>
            </a:bodyPr>
            <a:lstStyle/>
            <a:p>
              <a:r>
                <a:rPr lang="en-US" sz="1400" dirty="0"/>
                <a:t>8’s column</a:t>
              </a:r>
            </a:p>
          </p:txBody>
        </p:sp>
        <p:sp>
          <p:nvSpPr>
            <p:cNvPr id="21" name="TextBox 20"/>
            <p:cNvSpPr txBox="1"/>
            <p:nvPr/>
          </p:nvSpPr>
          <p:spPr>
            <a:xfrm rot="5400000">
              <a:off x="1961908" y="4803663"/>
              <a:ext cx="1037400" cy="307777"/>
            </a:xfrm>
            <a:prstGeom prst="rect">
              <a:avLst/>
            </a:prstGeom>
            <a:noFill/>
          </p:spPr>
          <p:txBody>
            <a:bodyPr wrap="none" rtlCol="0">
              <a:spAutoFit/>
            </a:bodyPr>
            <a:lstStyle/>
            <a:p>
              <a:r>
                <a:rPr lang="en-US" sz="1400" dirty="0"/>
                <a:t>4’s column</a:t>
              </a:r>
            </a:p>
          </p:txBody>
        </p:sp>
        <p:sp>
          <p:nvSpPr>
            <p:cNvPr id="22" name="TextBox 21"/>
            <p:cNvSpPr txBox="1"/>
            <p:nvPr/>
          </p:nvSpPr>
          <p:spPr>
            <a:xfrm rot="5400000">
              <a:off x="2142272" y="4803663"/>
              <a:ext cx="1037400" cy="307777"/>
            </a:xfrm>
            <a:prstGeom prst="rect">
              <a:avLst/>
            </a:prstGeom>
            <a:noFill/>
          </p:spPr>
          <p:txBody>
            <a:bodyPr wrap="none" rtlCol="0">
              <a:spAutoFit/>
            </a:bodyPr>
            <a:lstStyle/>
            <a:p>
              <a:r>
                <a:rPr lang="en-US" sz="1400" dirty="0"/>
                <a:t>2’s column</a:t>
              </a:r>
            </a:p>
          </p:txBody>
        </p:sp>
        <p:sp>
          <p:nvSpPr>
            <p:cNvPr id="23" name="TextBox 22"/>
            <p:cNvSpPr txBox="1"/>
            <p:nvPr/>
          </p:nvSpPr>
          <p:spPr>
            <a:xfrm rot="5400000">
              <a:off x="2322636" y="4803663"/>
              <a:ext cx="1037400" cy="307777"/>
            </a:xfrm>
            <a:prstGeom prst="rect">
              <a:avLst/>
            </a:prstGeom>
            <a:noFill/>
          </p:spPr>
          <p:txBody>
            <a:bodyPr wrap="none" rtlCol="0">
              <a:spAutoFit/>
            </a:bodyPr>
            <a:lstStyle/>
            <a:p>
              <a:r>
                <a:rPr lang="en-US" sz="1400" dirty="0"/>
                <a:t>1’s column</a:t>
              </a:r>
            </a:p>
          </p:txBody>
        </p:sp>
        <p:sp>
          <p:nvSpPr>
            <p:cNvPr id="24" name="TextBox 23"/>
            <p:cNvSpPr txBox="1"/>
            <p:nvPr/>
          </p:nvSpPr>
          <p:spPr>
            <a:xfrm>
              <a:off x="3334465" y="5720528"/>
              <a:ext cx="572593" cy="523220"/>
            </a:xfrm>
            <a:prstGeom prst="rect">
              <a:avLst/>
            </a:prstGeom>
            <a:noFill/>
          </p:spPr>
          <p:txBody>
            <a:bodyPr wrap="none" rtlCol="0">
              <a:spAutoFit/>
            </a:bodyPr>
            <a:lstStyle/>
            <a:p>
              <a:pPr algn="ctr"/>
              <a:r>
                <a:rPr lang="en-US" sz="1400" dirty="0"/>
                <a:t>one</a:t>
              </a:r>
            </a:p>
            <a:p>
              <a:pPr algn="ctr"/>
              <a:r>
                <a:rPr lang="en-US" sz="1400" dirty="0"/>
                <a:t>eight</a:t>
              </a:r>
            </a:p>
          </p:txBody>
        </p:sp>
        <p:sp>
          <p:nvSpPr>
            <p:cNvPr id="25" name="TextBox 24"/>
            <p:cNvSpPr txBox="1"/>
            <p:nvPr/>
          </p:nvSpPr>
          <p:spPr>
            <a:xfrm>
              <a:off x="4377396" y="5720530"/>
              <a:ext cx="492443" cy="523220"/>
            </a:xfrm>
            <a:prstGeom prst="rect">
              <a:avLst/>
            </a:prstGeom>
            <a:noFill/>
          </p:spPr>
          <p:txBody>
            <a:bodyPr wrap="none" rtlCol="0">
              <a:spAutoFit/>
            </a:bodyPr>
            <a:lstStyle/>
            <a:p>
              <a:pPr algn="ctr"/>
              <a:r>
                <a:rPr lang="en-US" sz="1400" dirty="0"/>
                <a:t>one</a:t>
              </a:r>
            </a:p>
            <a:p>
              <a:pPr algn="ctr"/>
              <a:r>
                <a:rPr lang="en-US" sz="1400" dirty="0"/>
                <a:t>four</a:t>
              </a:r>
            </a:p>
          </p:txBody>
        </p:sp>
        <p:sp>
          <p:nvSpPr>
            <p:cNvPr id="26" name="TextBox 25"/>
            <p:cNvSpPr txBox="1"/>
            <p:nvPr/>
          </p:nvSpPr>
          <p:spPr>
            <a:xfrm>
              <a:off x="5383100" y="5720529"/>
              <a:ext cx="532517" cy="523220"/>
            </a:xfrm>
            <a:prstGeom prst="rect">
              <a:avLst/>
            </a:prstGeom>
            <a:noFill/>
          </p:spPr>
          <p:txBody>
            <a:bodyPr wrap="none" rtlCol="0">
              <a:spAutoFit/>
            </a:bodyPr>
            <a:lstStyle/>
            <a:p>
              <a:pPr algn="ctr"/>
              <a:r>
                <a:rPr lang="en-US" sz="1400" dirty="0"/>
                <a:t>zero</a:t>
              </a:r>
            </a:p>
            <a:p>
              <a:pPr algn="ctr"/>
              <a:r>
                <a:rPr lang="en-US" sz="1400" dirty="0"/>
                <a:t>two</a:t>
              </a:r>
            </a:p>
          </p:txBody>
        </p:sp>
        <p:sp>
          <p:nvSpPr>
            <p:cNvPr id="27" name="TextBox 26"/>
            <p:cNvSpPr txBox="1"/>
            <p:nvPr/>
          </p:nvSpPr>
          <p:spPr>
            <a:xfrm>
              <a:off x="6373696" y="5720529"/>
              <a:ext cx="482824" cy="523220"/>
            </a:xfrm>
            <a:prstGeom prst="rect">
              <a:avLst/>
            </a:prstGeom>
            <a:noFill/>
          </p:spPr>
          <p:txBody>
            <a:bodyPr wrap="none" rtlCol="0">
              <a:spAutoFit/>
            </a:bodyPr>
            <a:lstStyle/>
            <a:p>
              <a:pPr algn="ctr"/>
              <a:r>
                <a:rPr lang="en-US" sz="1400" dirty="0"/>
                <a:t>one</a:t>
              </a:r>
            </a:p>
            <a:p>
              <a:pPr algn="ctr"/>
              <a:r>
                <a:rPr lang="en-US" sz="1400" dirty="0"/>
                <a:t>one</a:t>
              </a:r>
            </a:p>
          </p:txBody>
        </p:sp>
      </p:grpSp>
      <p:sp>
        <p:nvSpPr>
          <p:cNvPr id="4" name="灯片编号占位符 3"/>
          <p:cNvSpPr>
            <a:spLocks noGrp="1"/>
          </p:cNvSpPr>
          <p:nvPr>
            <p:ph type="sldNum" sz="quarter" idx="10"/>
          </p:nvPr>
        </p:nvSpPr>
        <p:spPr/>
        <p:txBody>
          <a:bodyPr/>
          <a:lstStyle/>
          <a:p>
            <a:fld id="{D9B6BDF2-6896-4B98-8776-C18582F63BA5}" type="slidenum">
              <a:rPr lang="zh-TW" altLang="en-US" smtClean="0"/>
              <a:t>4</a:t>
            </a:fld>
            <a:endParaRPr lang="zh-TW" altLang="en-US"/>
          </a:p>
        </p:txBody>
      </p:sp>
      <p:sp>
        <p:nvSpPr>
          <p:cNvPr id="28" name="TextBox 27">
            <a:extLst>
              <a:ext uri="{FF2B5EF4-FFF2-40B4-BE49-F238E27FC236}">
                <a16:creationId xmlns:a16="http://schemas.microsoft.com/office/drawing/2014/main" id="{54BB9264-BCB4-446B-B058-6522C2CEB4C1}"/>
              </a:ext>
            </a:extLst>
          </p:cNvPr>
          <p:cNvSpPr txBox="1"/>
          <p:nvPr/>
        </p:nvSpPr>
        <p:spPr>
          <a:xfrm>
            <a:off x="6734759" y="4379910"/>
            <a:ext cx="1596143" cy="461665"/>
          </a:xfrm>
          <a:prstGeom prst="rect">
            <a:avLst/>
          </a:prstGeom>
          <a:solidFill>
            <a:srgbClr val="FFFF00"/>
          </a:solidFill>
          <a:ln>
            <a:solidFill>
              <a:srgbClr val="FF0000"/>
            </a:solidFill>
          </a:ln>
        </p:spPr>
        <p:txBody>
          <a:bodyPr wrap="none" rtlCol="0" anchor="ctr" anchorCtr="1">
            <a:spAutoFit/>
          </a:bodyPr>
          <a:lstStyle/>
          <a:p>
            <a:r>
              <a:rPr lang="en-US" sz="2400" dirty="0">
                <a:ea typeface="標楷體" pitchFamily="65" charset="-120"/>
                <a:cs typeface="Calibri" pitchFamily="34" charset="0"/>
              </a:rPr>
              <a:t>1101.1011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4679" y="0"/>
            <a:ext cx="10517721" cy="692151"/>
          </a:xfrm>
        </p:spPr>
        <p:txBody>
          <a:bodyPr/>
          <a:lstStyle/>
          <a:p>
            <a:r>
              <a:rPr lang="en-US" dirty="0"/>
              <a:t>FP to Decimal conversion</a:t>
            </a:r>
          </a:p>
        </p:txBody>
      </p:sp>
      <p:sp>
        <p:nvSpPr>
          <p:cNvPr id="3" name="Content Placeholder 2"/>
          <p:cNvSpPr>
            <a:spLocks noGrp="1"/>
          </p:cNvSpPr>
          <p:nvPr>
            <p:ph idx="1"/>
          </p:nvPr>
        </p:nvSpPr>
        <p:spPr>
          <a:xfrm>
            <a:off x="612844" y="1125537"/>
            <a:ext cx="10969556" cy="4895851"/>
          </a:xfrm>
        </p:spPr>
        <p:txBody>
          <a:bodyPr>
            <a:normAutofit fontScale="92500" lnSpcReduction="20000"/>
          </a:bodyPr>
          <a:lstStyle/>
          <a:p>
            <a:r>
              <a:rPr lang="en-US" dirty="0"/>
              <a:t>Convert 1.1011 to decimal</a:t>
            </a:r>
          </a:p>
          <a:p>
            <a:pPr lvl="1">
              <a:buFont typeface="Wingdings" panose="05000000000000000000" pitchFamily="2" charset="2"/>
              <a:buChar char="§"/>
            </a:pPr>
            <a:r>
              <a:rPr lang="en-US" dirty="0"/>
              <a:t>1 x </a:t>
            </a:r>
            <a:r>
              <a:rPr lang="en-US" sz="3500" dirty="0">
                <a:solidFill>
                  <a:prstClr val="black"/>
                </a:solidFill>
                <a:cs typeface="+mn-cs"/>
              </a:rPr>
              <a:t>2</a:t>
            </a:r>
            <a:r>
              <a:rPr lang="en-US" sz="3500" baseline="30000" dirty="0">
                <a:solidFill>
                  <a:prstClr val="black"/>
                </a:solidFill>
                <a:cs typeface="+mn-cs"/>
              </a:rPr>
              <a:t>0 </a:t>
            </a:r>
            <a:r>
              <a:rPr lang="en-US" sz="3733" dirty="0">
                <a:solidFill>
                  <a:prstClr val="black"/>
                </a:solidFill>
                <a:cs typeface="+mn-cs"/>
              </a:rPr>
              <a:t>+</a:t>
            </a:r>
            <a:r>
              <a:rPr kumimoji="1" lang="en-US" sz="3733"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 1 x </a:t>
            </a:r>
            <a:r>
              <a:rPr kumimoji="1" lang="en-US" sz="35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2</a:t>
            </a:r>
            <a:r>
              <a:rPr lang="en-US" sz="3500" baseline="30000" dirty="0">
                <a:solidFill>
                  <a:prstClr val="black"/>
                </a:solidFill>
                <a:cs typeface="+mn-cs"/>
              </a:rPr>
              <a:t>-1 </a:t>
            </a:r>
            <a:r>
              <a:rPr kumimoji="1" lang="en-US" sz="3733"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+ 0 x </a:t>
            </a:r>
            <a:r>
              <a:rPr kumimoji="1" lang="en-US" sz="35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2</a:t>
            </a:r>
            <a:r>
              <a:rPr kumimoji="1" lang="en-US" sz="3500" b="0" i="0" u="none" strike="noStrike" kern="0" cap="none" spc="0" normalizeH="0" baseline="30000" noProof="0" dirty="0">
                <a:ln>
                  <a:noFill/>
                </a:ln>
                <a:solidFill>
                  <a:prstClr val="black"/>
                </a:solidFill>
                <a:effectLst/>
                <a:uLnTx/>
                <a:uFillTx/>
                <a:latin typeface="Calibri" pitchFamily="34" charset="0"/>
                <a:ea typeface="標楷體" pitchFamily="65" charset="-120"/>
                <a:cs typeface="+mn-cs"/>
              </a:rPr>
              <a:t>-2 </a:t>
            </a:r>
            <a:r>
              <a:rPr kumimoji="1" lang="en-US" sz="3733"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+ 1 x </a:t>
            </a:r>
            <a:r>
              <a:rPr kumimoji="1" lang="en-US" sz="35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2</a:t>
            </a:r>
            <a:r>
              <a:rPr kumimoji="1" lang="en-US" sz="3500" b="0" i="0" u="none" strike="noStrike" kern="0" cap="none" spc="0" normalizeH="0" baseline="30000" noProof="0" dirty="0">
                <a:ln>
                  <a:noFill/>
                </a:ln>
                <a:solidFill>
                  <a:prstClr val="black"/>
                </a:solidFill>
                <a:effectLst/>
                <a:uLnTx/>
                <a:uFillTx/>
                <a:latin typeface="Calibri" pitchFamily="34" charset="0"/>
                <a:ea typeface="標楷體" pitchFamily="65" charset="-120"/>
                <a:cs typeface="+mn-cs"/>
              </a:rPr>
              <a:t>-3 </a:t>
            </a:r>
            <a:r>
              <a:rPr kumimoji="1" lang="en-US" sz="3733"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+ 1 x </a:t>
            </a:r>
            <a:r>
              <a:rPr kumimoji="1" lang="en-US" sz="35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2</a:t>
            </a:r>
            <a:r>
              <a:rPr kumimoji="1" lang="en-US" sz="3500" b="0" i="0" u="none" strike="noStrike" kern="0" cap="none" spc="0" normalizeH="0" baseline="30000" noProof="0" dirty="0">
                <a:ln>
                  <a:noFill/>
                </a:ln>
                <a:solidFill>
                  <a:prstClr val="black"/>
                </a:solidFill>
                <a:effectLst/>
                <a:uLnTx/>
                <a:uFillTx/>
                <a:latin typeface="Calibri" pitchFamily="34" charset="0"/>
                <a:ea typeface="標楷體" pitchFamily="65" charset="-120"/>
                <a:cs typeface="+mn-cs"/>
              </a:rPr>
              <a:t>-4</a:t>
            </a:r>
          </a:p>
          <a:p>
            <a:pPr marL="457176" lvl="1" indent="0">
              <a:buNone/>
            </a:pPr>
            <a:r>
              <a:rPr lang="en-US" sz="3500" baseline="30000" dirty="0">
                <a:solidFill>
                  <a:prstClr val="black"/>
                </a:solidFill>
                <a:cs typeface="+mn-cs"/>
              </a:rPr>
              <a:t>= </a:t>
            </a:r>
            <a:r>
              <a:rPr lang="en-US" sz="4000" baseline="30000" dirty="0">
                <a:solidFill>
                  <a:prstClr val="black"/>
                </a:solidFill>
                <a:cs typeface="+mn-cs"/>
              </a:rPr>
              <a:t>1.6875</a:t>
            </a:r>
            <a:r>
              <a:rPr kumimoji="1" lang="en-US" sz="4000" b="0" i="0" u="none" strike="noStrike" kern="0" cap="none" spc="0" normalizeH="0" baseline="30000" noProof="0" dirty="0">
                <a:ln>
                  <a:noFill/>
                </a:ln>
                <a:solidFill>
                  <a:prstClr val="black"/>
                </a:solidFill>
                <a:effectLst/>
                <a:uLnTx/>
                <a:uFillTx/>
                <a:latin typeface="Calibri" pitchFamily="34" charset="0"/>
                <a:ea typeface="標楷體" pitchFamily="65" charset="-120"/>
                <a:cs typeface="+mn-cs"/>
              </a:rPr>
              <a:t> </a:t>
            </a:r>
          </a:p>
          <a:p>
            <a:pPr lvl="0"/>
            <a:r>
              <a:rPr lang="en-US" dirty="0">
                <a:solidFill>
                  <a:prstClr val="black"/>
                </a:solidFill>
              </a:rPr>
              <a:t>Convert 0.5 to binary</a:t>
            </a:r>
          </a:p>
          <a:p>
            <a:pPr lvl="1">
              <a:buFont typeface="Wingdings" panose="05000000000000000000" pitchFamily="2" charset="2"/>
              <a:buChar char="§"/>
            </a:pPr>
            <a:r>
              <a:rPr lang="en-US" sz="3733" dirty="0">
                <a:solidFill>
                  <a:prstClr val="black"/>
                </a:solidFill>
                <a:cs typeface="+mn-cs"/>
              </a:rPr>
              <a:t> 0.1</a:t>
            </a:r>
          </a:p>
          <a:p>
            <a:pPr marL="457176" lvl="1" indent="0">
              <a:buNone/>
            </a:pPr>
            <a:r>
              <a:rPr lang="en-US" sz="3733" dirty="0">
                <a:solidFill>
                  <a:prstClr val="black"/>
                </a:solidFill>
                <a:cs typeface="+mn-cs"/>
              </a:rPr>
              <a:t>= 1.0 x </a:t>
            </a:r>
            <a:r>
              <a:rPr lang="en-US" sz="3500" dirty="0">
                <a:solidFill>
                  <a:prstClr val="black"/>
                </a:solidFill>
                <a:cs typeface="+mn-cs"/>
              </a:rPr>
              <a:t>2</a:t>
            </a:r>
            <a:r>
              <a:rPr lang="en-US" sz="3500" baseline="30000" dirty="0">
                <a:solidFill>
                  <a:prstClr val="black"/>
                </a:solidFill>
                <a:cs typeface="+mn-cs"/>
              </a:rPr>
              <a:t>-1    (</a:t>
            </a:r>
            <a:r>
              <a:rPr lang="en-US" sz="4200" baseline="30000" dirty="0">
                <a:solidFill>
                  <a:prstClr val="black"/>
                </a:solidFill>
                <a:cs typeface="+mn-cs"/>
              </a:rPr>
              <a:t>normalized</a:t>
            </a:r>
            <a:r>
              <a:rPr lang="en-US" sz="3500" baseline="30000" dirty="0">
                <a:solidFill>
                  <a:prstClr val="black"/>
                </a:solidFill>
                <a:cs typeface="+mn-cs"/>
              </a:rPr>
              <a:t>)</a:t>
            </a:r>
            <a:endParaRPr lang="en-US" sz="3500" dirty="0">
              <a:solidFill>
                <a:prstClr val="black"/>
              </a:solidFill>
              <a:cs typeface="+mn-cs"/>
            </a:endParaRPr>
          </a:p>
          <a:p>
            <a:pPr lvl="0"/>
            <a:r>
              <a:rPr lang="en-US" dirty="0">
                <a:solidFill>
                  <a:prstClr val="black"/>
                </a:solidFill>
              </a:rPr>
              <a:t>Convert 0.7 to binary		</a:t>
            </a:r>
            <a:r>
              <a:rPr lang="en-US" sz="3500" baseline="30000" dirty="0">
                <a:solidFill>
                  <a:prstClr val="black"/>
                </a:solidFill>
                <a:cs typeface="+mn-cs"/>
              </a:rPr>
              <a:t> </a:t>
            </a:r>
          </a:p>
          <a:p>
            <a:pPr lvl="1">
              <a:buFont typeface="Wingdings" panose="05000000000000000000" pitchFamily="2" charset="2"/>
              <a:buChar char="§"/>
            </a:pPr>
            <a:r>
              <a:rPr lang="en-US" sz="3500" dirty="0">
                <a:solidFill>
                  <a:prstClr val="black"/>
                </a:solidFill>
                <a:cs typeface="+mn-cs"/>
              </a:rPr>
              <a:t>0.1011001…. </a:t>
            </a:r>
          </a:p>
          <a:p>
            <a:pPr marL="457176" lvl="1" indent="0">
              <a:buNone/>
            </a:pPr>
            <a:r>
              <a:rPr lang="en-US" sz="3500" dirty="0">
                <a:solidFill>
                  <a:prstClr val="black"/>
                </a:solidFill>
                <a:cs typeface="+mn-cs"/>
              </a:rPr>
              <a:t>Getting close to 0.7 (0.6953125..)</a:t>
            </a:r>
          </a:p>
          <a:p>
            <a:pPr marL="457176" lvl="1" indent="0">
              <a:buNone/>
            </a:pPr>
            <a:endParaRPr lang="en-US" dirty="0">
              <a:solidFill>
                <a:prstClr val="black"/>
              </a:solidFill>
            </a:endParaRPr>
          </a:p>
          <a:p>
            <a:pPr marL="457176" lvl="1" indent="0">
              <a:buNone/>
            </a:pPr>
            <a:endParaRPr lang="en-US" sz="4000" dirty="0"/>
          </a:p>
          <a:p>
            <a:pPr marL="0" indent="0">
              <a:buNone/>
            </a:pPr>
            <a:endParaRPr lang="en-US" dirty="0"/>
          </a:p>
        </p:txBody>
      </p:sp>
      <p:sp>
        <p:nvSpPr>
          <p:cNvPr id="8" name="灯片编号占位符 7"/>
          <p:cNvSpPr>
            <a:spLocks noGrp="1"/>
          </p:cNvSpPr>
          <p:nvPr>
            <p:ph type="sldNum" sz="quarter" idx="10"/>
          </p:nvPr>
        </p:nvSpPr>
        <p:spPr/>
        <p:txBody>
          <a:bodyPr/>
          <a:lstStyle/>
          <a:p>
            <a:fld id="{D9B6BDF2-6896-4B98-8776-C18582F63BA5}" type="slidenum">
              <a:rPr lang="zh-TW" altLang="en-US" smtClean="0"/>
              <a:t>5</a:t>
            </a:fld>
            <a:endParaRPr lang="zh-TW" altLang="en-US"/>
          </a:p>
        </p:txBody>
      </p:sp>
      <p:graphicFrame>
        <p:nvGraphicFramePr>
          <p:cNvPr id="4" name="Table 4">
            <a:extLst>
              <a:ext uri="{FF2B5EF4-FFF2-40B4-BE49-F238E27FC236}">
                <a16:creationId xmlns:a16="http://schemas.microsoft.com/office/drawing/2014/main" id="{2894C8FF-3828-4F6E-8F11-7A5797BF0673}"/>
              </a:ext>
            </a:extLst>
          </p:cNvPr>
          <p:cNvGraphicFramePr>
            <a:graphicFrameLocks noGrp="1"/>
          </p:cNvGraphicFramePr>
          <p:nvPr>
            <p:extLst>
              <p:ext uri="{D42A27DB-BD31-4B8C-83A1-F6EECF244321}">
                <p14:modId xmlns:p14="http://schemas.microsoft.com/office/powerpoint/2010/main" val="2624274009"/>
              </p:ext>
            </p:extLst>
          </p:nvPr>
        </p:nvGraphicFramePr>
        <p:xfrm>
          <a:off x="6936629" y="3117334"/>
          <a:ext cx="4642527" cy="2961767"/>
        </p:xfrm>
        <a:graphic>
          <a:graphicData uri="http://schemas.openxmlformats.org/drawingml/2006/table">
            <a:tbl>
              <a:tblPr firstRow="1" bandRow="1">
                <a:tableStyleId>{5C22544A-7EE6-4342-B048-85BDC9FD1C3A}</a:tableStyleId>
              </a:tblPr>
              <a:tblGrid>
                <a:gridCol w="1547509">
                  <a:extLst>
                    <a:ext uri="{9D8B030D-6E8A-4147-A177-3AD203B41FA5}">
                      <a16:colId xmlns:a16="http://schemas.microsoft.com/office/drawing/2014/main" val="1609312311"/>
                    </a:ext>
                  </a:extLst>
                </a:gridCol>
                <a:gridCol w="1547509">
                  <a:extLst>
                    <a:ext uri="{9D8B030D-6E8A-4147-A177-3AD203B41FA5}">
                      <a16:colId xmlns:a16="http://schemas.microsoft.com/office/drawing/2014/main" val="4118043607"/>
                    </a:ext>
                  </a:extLst>
                </a:gridCol>
                <a:gridCol w="1547509">
                  <a:extLst>
                    <a:ext uri="{9D8B030D-6E8A-4147-A177-3AD203B41FA5}">
                      <a16:colId xmlns:a16="http://schemas.microsoft.com/office/drawing/2014/main" val="1789565925"/>
                    </a:ext>
                  </a:extLst>
                </a:gridCol>
              </a:tblGrid>
              <a:tr h="0">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534885874"/>
                  </a:ext>
                </a:extLst>
              </a:tr>
              <a:tr h="370840">
                <a:tc>
                  <a:txBody>
                    <a:bodyPr/>
                    <a:lstStyle/>
                    <a:p>
                      <a:r>
                        <a:rPr lang="en-US" dirty="0"/>
                        <a:t>0.7 x 2</a:t>
                      </a:r>
                    </a:p>
                  </a:txBody>
                  <a:tcPr/>
                </a:tc>
                <a:tc>
                  <a:txBody>
                    <a:bodyPr/>
                    <a:lstStyle/>
                    <a:p>
                      <a:r>
                        <a:rPr lang="en-US" dirty="0"/>
                        <a:t>1.4</a:t>
                      </a:r>
                    </a:p>
                  </a:txBody>
                  <a:tcPr/>
                </a:tc>
                <a:tc>
                  <a:txBody>
                    <a:bodyPr/>
                    <a:lstStyle/>
                    <a:p>
                      <a:r>
                        <a:rPr lang="en-US" dirty="0"/>
                        <a:t>1</a:t>
                      </a:r>
                    </a:p>
                  </a:txBody>
                  <a:tcPr/>
                </a:tc>
                <a:extLst>
                  <a:ext uri="{0D108BD9-81ED-4DB2-BD59-A6C34878D82A}">
                    <a16:rowId xmlns:a16="http://schemas.microsoft.com/office/drawing/2014/main" val="600615200"/>
                  </a:ext>
                </a:extLst>
              </a:tr>
              <a:tr h="370840">
                <a:tc>
                  <a:txBody>
                    <a:bodyPr/>
                    <a:lstStyle/>
                    <a:p>
                      <a:r>
                        <a:rPr lang="en-US" dirty="0"/>
                        <a:t>0.4 x 2</a:t>
                      </a:r>
                    </a:p>
                  </a:txBody>
                  <a:tcPr/>
                </a:tc>
                <a:tc>
                  <a:txBody>
                    <a:bodyPr/>
                    <a:lstStyle/>
                    <a:p>
                      <a:r>
                        <a:rPr lang="en-US" dirty="0"/>
                        <a:t>0.8</a:t>
                      </a:r>
                    </a:p>
                  </a:txBody>
                  <a:tcPr/>
                </a:tc>
                <a:tc>
                  <a:txBody>
                    <a:bodyPr/>
                    <a:lstStyle/>
                    <a:p>
                      <a:r>
                        <a:rPr lang="en-US" dirty="0"/>
                        <a:t>0</a:t>
                      </a:r>
                    </a:p>
                  </a:txBody>
                  <a:tcPr/>
                </a:tc>
                <a:extLst>
                  <a:ext uri="{0D108BD9-81ED-4DB2-BD59-A6C34878D82A}">
                    <a16:rowId xmlns:a16="http://schemas.microsoft.com/office/drawing/2014/main" val="3793426829"/>
                  </a:ext>
                </a:extLst>
              </a:tr>
              <a:tr h="370840">
                <a:tc>
                  <a:txBody>
                    <a:bodyPr/>
                    <a:lstStyle/>
                    <a:p>
                      <a:r>
                        <a:rPr lang="en-US" dirty="0"/>
                        <a:t>0.8 x 2 </a:t>
                      </a:r>
                    </a:p>
                  </a:txBody>
                  <a:tcPr/>
                </a:tc>
                <a:tc>
                  <a:txBody>
                    <a:bodyPr/>
                    <a:lstStyle/>
                    <a:p>
                      <a:r>
                        <a:rPr lang="en-US" dirty="0"/>
                        <a:t>1.6</a:t>
                      </a:r>
                    </a:p>
                  </a:txBody>
                  <a:tcPr/>
                </a:tc>
                <a:tc>
                  <a:txBody>
                    <a:bodyPr/>
                    <a:lstStyle/>
                    <a:p>
                      <a:r>
                        <a:rPr lang="en-US" dirty="0"/>
                        <a:t>1</a:t>
                      </a:r>
                    </a:p>
                  </a:txBody>
                  <a:tcPr/>
                </a:tc>
                <a:extLst>
                  <a:ext uri="{0D108BD9-81ED-4DB2-BD59-A6C34878D82A}">
                    <a16:rowId xmlns:a16="http://schemas.microsoft.com/office/drawing/2014/main" val="587073187"/>
                  </a:ext>
                </a:extLst>
              </a:tr>
              <a:tr h="370840">
                <a:tc>
                  <a:txBody>
                    <a:bodyPr/>
                    <a:lstStyle/>
                    <a:p>
                      <a:r>
                        <a:rPr lang="en-US" dirty="0"/>
                        <a:t>0.6 x 2</a:t>
                      </a:r>
                    </a:p>
                  </a:txBody>
                  <a:tcPr/>
                </a:tc>
                <a:tc>
                  <a:txBody>
                    <a:bodyPr/>
                    <a:lstStyle/>
                    <a:p>
                      <a:r>
                        <a:rPr lang="en-US" dirty="0"/>
                        <a:t>1.2 </a:t>
                      </a:r>
                    </a:p>
                  </a:txBody>
                  <a:tcPr/>
                </a:tc>
                <a:tc>
                  <a:txBody>
                    <a:bodyPr/>
                    <a:lstStyle/>
                    <a:p>
                      <a:r>
                        <a:rPr lang="en-US" dirty="0"/>
                        <a:t>1</a:t>
                      </a:r>
                    </a:p>
                  </a:txBody>
                  <a:tcPr/>
                </a:tc>
                <a:extLst>
                  <a:ext uri="{0D108BD9-81ED-4DB2-BD59-A6C34878D82A}">
                    <a16:rowId xmlns:a16="http://schemas.microsoft.com/office/drawing/2014/main" val="583427263"/>
                  </a:ext>
                </a:extLst>
              </a:tr>
              <a:tr h="370840">
                <a:tc>
                  <a:txBody>
                    <a:bodyPr/>
                    <a:lstStyle/>
                    <a:p>
                      <a:r>
                        <a:rPr lang="en-US" dirty="0"/>
                        <a:t>0.2 x 2 </a:t>
                      </a:r>
                    </a:p>
                  </a:txBody>
                  <a:tcPr/>
                </a:tc>
                <a:tc>
                  <a:txBody>
                    <a:bodyPr/>
                    <a:lstStyle/>
                    <a:p>
                      <a:r>
                        <a:rPr lang="en-US" dirty="0"/>
                        <a:t>0.4</a:t>
                      </a:r>
                    </a:p>
                  </a:txBody>
                  <a:tcPr/>
                </a:tc>
                <a:tc>
                  <a:txBody>
                    <a:bodyPr/>
                    <a:lstStyle/>
                    <a:p>
                      <a:r>
                        <a:rPr lang="en-US" dirty="0"/>
                        <a:t>0</a:t>
                      </a:r>
                    </a:p>
                  </a:txBody>
                  <a:tcPr/>
                </a:tc>
                <a:extLst>
                  <a:ext uri="{0D108BD9-81ED-4DB2-BD59-A6C34878D82A}">
                    <a16:rowId xmlns:a16="http://schemas.microsoft.com/office/drawing/2014/main" val="2823992346"/>
                  </a:ext>
                </a:extLst>
              </a:tr>
              <a:tr h="370840">
                <a:tc>
                  <a:txBody>
                    <a:bodyPr/>
                    <a:lstStyle/>
                    <a:p>
                      <a:r>
                        <a:rPr lang="en-US" dirty="0"/>
                        <a:t>0.4 x 2 </a:t>
                      </a:r>
                    </a:p>
                  </a:txBody>
                  <a:tcPr/>
                </a:tc>
                <a:tc>
                  <a:txBody>
                    <a:bodyPr/>
                    <a:lstStyle/>
                    <a:p>
                      <a:r>
                        <a:rPr lang="en-US" dirty="0"/>
                        <a:t>0.8</a:t>
                      </a:r>
                    </a:p>
                  </a:txBody>
                  <a:tcPr/>
                </a:tc>
                <a:tc>
                  <a:txBody>
                    <a:bodyPr/>
                    <a:lstStyle/>
                    <a:p>
                      <a:r>
                        <a:rPr lang="en-US" dirty="0"/>
                        <a:t>0</a:t>
                      </a:r>
                    </a:p>
                  </a:txBody>
                  <a:tcPr/>
                </a:tc>
                <a:extLst>
                  <a:ext uri="{0D108BD9-81ED-4DB2-BD59-A6C34878D82A}">
                    <a16:rowId xmlns:a16="http://schemas.microsoft.com/office/drawing/2014/main" val="1669305056"/>
                  </a:ext>
                </a:extLst>
              </a:tr>
              <a:tr h="370840">
                <a:tc>
                  <a:txBody>
                    <a:bodyPr/>
                    <a:lstStyle/>
                    <a:p>
                      <a:r>
                        <a:rPr lang="en-US" dirty="0"/>
                        <a:t>0.8 x 2</a:t>
                      </a:r>
                    </a:p>
                  </a:txBody>
                  <a:tcPr/>
                </a:tc>
                <a:tc>
                  <a:txBody>
                    <a:bodyPr/>
                    <a:lstStyle/>
                    <a:p>
                      <a:r>
                        <a:rPr lang="en-US" dirty="0"/>
                        <a:t>1.6</a:t>
                      </a:r>
                    </a:p>
                  </a:txBody>
                  <a:tcPr/>
                </a:tc>
                <a:tc>
                  <a:txBody>
                    <a:bodyPr/>
                    <a:lstStyle/>
                    <a:p>
                      <a:r>
                        <a:rPr lang="en-US" dirty="0"/>
                        <a:t>1</a:t>
                      </a:r>
                    </a:p>
                  </a:txBody>
                  <a:tcPr/>
                </a:tc>
                <a:extLst>
                  <a:ext uri="{0D108BD9-81ED-4DB2-BD59-A6C34878D82A}">
                    <a16:rowId xmlns:a16="http://schemas.microsoft.com/office/drawing/2014/main" val="2336115214"/>
                  </a:ext>
                </a:extLst>
              </a:tr>
            </a:tbl>
          </a:graphicData>
        </a:graphic>
      </p:graphicFrame>
      <p:sp>
        <p:nvSpPr>
          <p:cNvPr id="5" name="TextBox 4">
            <a:extLst>
              <a:ext uri="{FF2B5EF4-FFF2-40B4-BE49-F238E27FC236}">
                <a16:creationId xmlns:a16="http://schemas.microsoft.com/office/drawing/2014/main" id="{4A97766C-9C79-4909-9FB9-F100979335E1}"/>
              </a:ext>
            </a:extLst>
          </p:cNvPr>
          <p:cNvSpPr txBox="1"/>
          <p:nvPr/>
        </p:nvSpPr>
        <p:spPr>
          <a:xfrm>
            <a:off x="8982075" y="1137678"/>
            <a:ext cx="1351652" cy="1200329"/>
          </a:xfrm>
          <a:prstGeom prst="rect">
            <a:avLst/>
          </a:prstGeom>
          <a:solidFill>
            <a:srgbClr val="FFFF00"/>
          </a:solidFill>
        </p:spPr>
        <p:txBody>
          <a:bodyPr wrap="none" rtlCol="0" anchor="ctr" anchorCtr="1">
            <a:spAutoFit/>
          </a:bodyPr>
          <a:lstStyle/>
          <a:p>
            <a:r>
              <a:rPr lang="en-US" dirty="0">
                <a:ea typeface="標楷體" pitchFamily="65" charset="-120"/>
                <a:cs typeface="Calibri" pitchFamily="34" charset="0"/>
              </a:rPr>
              <a:t>How about </a:t>
            </a:r>
          </a:p>
          <a:p>
            <a:r>
              <a:rPr lang="en-US" dirty="0">
                <a:ea typeface="標楷體" pitchFamily="65" charset="-120"/>
                <a:cs typeface="Calibri" pitchFamily="34" charset="0"/>
              </a:rPr>
              <a:t>0.11111</a:t>
            </a:r>
          </a:p>
          <a:p>
            <a:r>
              <a:rPr lang="en-US" dirty="0">
                <a:ea typeface="標楷體" pitchFamily="65" charset="-120"/>
                <a:cs typeface="Calibri" pitchFamily="34" charset="0"/>
              </a:rPr>
              <a:t>1.000001</a:t>
            </a:r>
          </a:p>
          <a:p>
            <a:endParaRPr lang="en-US" dirty="0">
              <a:ea typeface="標楷體" pitchFamily="65" charset="-120"/>
              <a:cs typeface="Calibri" pitchFamily="34" charset="0"/>
            </a:endParaRPr>
          </a:p>
        </p:txBody>
      </p:sp>
      <p:sp>
        <p:nvSpPr>
          <p:cNvPr id="7" name="TextBox 6">
            <a:extLst>
              <a:ext uri="{FF2B5EF4-FFF2-40B4-BE49-F238E27FC236}">
                <a16:creationId xmlns:a16="http://schemas.microsoft.com/office/drawing/2014/main" id="{57960DA6-1EA2-4DDD-97E7-DD69F33FA5D0}"/>
              </a:ext>
            </a:extLst>
          </p:cNvPr>
          <p:cNvSpPr txBox="1"/>
          <p:nvPr/>
        </p:nvSpPr>
        <p:spPr>
          <a:xfrm>
            <a:off x="10530417" y="1137678"/>
            <a:ext cx="1146468" cy="1477328"/>
          </a:xfrm>
          <a:prstGeom prst="rect">
            <a:avLst/>
          </a:prstGeom>
          <a:solidFill>
            <a:srgbClr val="FFFF00"/>
          </a:solidFill>
        </p:spPr>
        <p:txBody>
          <a:bodyPr wrap="none" rtlCol="0" anchor="ctr" anchorCtr="1">
            <a:spAutoFit/>
          </a:bodyPr>
          <a:lstStyle/>
          <a:p>
            <a:r>
              <a:rPr lang="en-US" dirty="0">
                <a:ea typeface="標楷體" pitchFamily="65" charset="-120"/>
                <a:cs typeface="Calibri" pitchFamily="34" charset="0"/>
              </a:rPr>
              <a:t>0.11111</a:t>
            </a:r>
          </a:p>
          <a:p>
            <a:r>
              <a:rPr lang="en-US" dirty="0">
                <a:ea typeface="標楷體" pitchFamily="65" charset="-120"/>
                <a:cs typeface="Calibri" pitchFamily="34" charset="0"/>
              </a:rPr>
              <a:t>= 31/32</a:t>
            </a:r>
          </a:p>
          <a:p>
            <a:r>
              <a:rPr lang="en-US" dirty="0">
                <a:ea typeface="標楷體" pitchFamily="65" charset="-120"/>
                <a:cs typeface="Calibri" pitchFamily="34" charset="0"/>
              </a:rPr>
              <a:t>1.000001</a:t>
            </a:r>
          </a:p>
          <a:p>
            <a:r>
              <a:rPr lang="en-US" dirty="0">
                <a:ea typeface="標楷體" pitchFamily="65" charset="-120"/>
                <a:cs typeface="Calibri" pitchFamily="34" charset="0"/>
              </a:rPr>
              <a:t>= 1+1/64</a:t>
            </a:r>
          </a:p>
          <a:p>
            <a:endParaRPr lang="en-US" dirty="0">
              <a:ea typeface="標楷體" pitchFamily="65" charset="-120"/>
              <a:cs typeface="Calibri" pitchFamily="34" charset="0"/>
            </a:endParaRPr>
          </a:p>
        </p:txBody>
      </p:sp>
    </p:spTree>
    <p:extLst>
      <p:ext uri="{BB962C8B-B14F-4D97-AF65-F5344CB8AC3E}">
        <p14:creationId xmlns:p14="http://schemas.microsoft.com/office/powerpoint/2010/main" val="3719134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10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Floating-Point Standard </a:t>
            </a:r>
          </a:p>
        </p:txBody>
      </p:sp>
      <p:sp>
        <p:nvSpPr>
          <p:cNvPr id="3" name="Content Placeholder 2"/>
          <p:cNvSpPr>
            <a:spLocks noGrp="1"/>
          </p:cNvSpPr>
          <p:nvPr>
            <p:ph idx="1"/>
          </p:nvPr>
        </p:nvSpPr>
        <p:spPr>
          <a:xfrm>
            <a:off x="809625" y="1125537"/>
            <a:ext cx="10896600" cy="4895851"/>
          </a:xfrm>
        </p:spPr>
        <p:txBody>
          <a:bodyPr>
            <a:normAutofit lnSpcReduction="10000"/>
          </a:bodyPr>
          <a:lstStyle/>
          <a:p>
            <a:r>
              <a:rPr lang="en-US" dirty="0"/>
              <a:t>Defined by the IEEE 754-1985 standard.  </a:t>
            </a:r>
          </a:p>
          <a:p>
            <a:r>
              <a:rPr lang="en-US" dirty="0"/>
              <a:t>Developed to address inconsistencies in data representation and manipulation.  </a:t>
            </a:r>
          </a:p>
          <a:p>
            <a:r>
              <a:rPr lang="en-US" dirty="0"/>
              <a:t>Portability issues arise for scientific code and data.  </a:t>
            </a:r>
          </a:p>
          <a:p>
            <a:r>
              <a:rPr lang="en-US" dirty="0"/>
              <a:t>Now nearly universally adopted.  </a:t>
            </a:r>
          </a:p>
          <a:p>
            <a:r>
              <a:rPr lang="en-US" dirty="0"/>
              <a:t>Two main representations exist:    </a:t>
            </a:r>
          </a:p>
          <a:p>
            <a:pPr lvl="1"/>
            <a:r>
              <a:rPr lang="en-US" dirty="0"/>
              <a:t>Single precision (32-bit).   </a:t>
            </a:r>
          </a:p>
          <a:p>
            <a:pPr lvl="1"/>
            <a:r>
              <a:rPr lang="en-US" dirty="0"/>
              <a:t>Double precision (64-bit).</a:t>
            </a:r>
          </a:p>
        </p:txBody>
      </p:sp>
      <p:sp>
        <p:nvSpPr>
          <p:cNvPr id="6" name="灯片编号占位符 5"/>
          <p:cNvSpPr>
            <a:spLocks noGrp="1"/>
          </p:cNvSpPr>
          <p:nvPr>
            <p:ph type="sldNum" sz="quarter" idx="10"/>
          </p:nvPr>
        </p:nvSpPr>
        <p:spPr/>
        <p:txBody>
          <a:bodyPr/>
          <a:lstStyle/>
          <a:p>
            <a:fld id="{D9B6BDF2-6896-4B98-8776-C18582F63BA5}" type="slidenum">
              <a:rPr lang="zh-TW" altLang="en-US" smtClean="0"/>
              <a:t>6</a:t>
            </a:fld>
            <a:endParaRPr lang="zh-TW" altLang="en-US"/>
          </a:p>
        </p:txBody>
      </p:sp>
      <p:sp>
        <p:nvSpPr>
          <p:cNvPr id="7" name="TextBox 6">
            <a:extLst>
              <a:ext uri="{FF2B5EF4-FFF2-40B4-BE49-F238E27FC236}">
                <a16:creationId xmlns:a16="http://schemas.microsoft.com/office/drawing/2014/main" id="{3FB808E1-78F8-48D8-95F2-25DBFB1096F9}"/>
              </a:ext>
            </a:extLst>
          </p:cNvPr>
          <p:cNvSpPr txBox="1"/>
          <p:nvPr/>
        </p:nvSpPr>
        <p:spPr>
          <a:xfrm>
            <a:off x="8086725" y="374947"/>
            <a:ext cx="3619500" cy="461665"/>
          </a:xfrm>
          <a:prstGeom prst="rect">
            <a:avLst/>
          </a:prstGeom>
          <a:solidFill>
            <a:srgbClr val="FFFF00"/>
          </a:solidFill>
          <a:ln>
            <a:solidFill>
              <a:srgbClr val="FF0000"/>
            </a:solidFill>
          </a:ln>
        </p:spPr>
        <p:txBody>
          <a:bodyPr wrap="square">
            <a:spAutoFit/>
          </a:bodyPr>
          <a:lstStyle/>
          <a:p>
            <a:pPr lvl="1"/>
            <a:r>
              <a:rPr lang="en-US" sz="2400" dirty="0">
                <a:solidFill>
                  <a:srgbClr val="FF0000"/>
                </a:solidFill>
              </a:rPr>
              <a:t>±1.xxxxxxx</a:t>
            </a:r>
            <a:r>
              <a:rPr lang="en-US" sz="2400" baseline="-25000" dirty="0">
                <a:solidFill>
                  <a:srgbClr val="FF0000"/>
                </a:solidFill>
              </a:rPr>
              <a:t>2</a:t>
            </a:r>
            <a:r>
              <a:rPr lang="en-US" sz="2400" dirty="0">
                <a:solidFill>
                  <a:srgbClr val="FF0000"/>
                </a:solidFill>
              </a:rPr>
              <a:t> × 2</a:t>
            </a:r>
            <a:r>
              <a:rPr lang="en-US" sz="2400" baseline="30000" dirty="0">
                <a:solidFill>
                  <a:srgbClr val="FF0000"/>
                </a:solidFill>
              </a:rPr>
              <a:t>yyyy</a:t>
            </a:r>
          </a:p>
        </p:txBody>
      </p:sp>
      <p:sp>
        <p:nvSpPr>
          <p:cNvPr id="5" name="Oval 4">
            <a:extLst>
              <a:ext uri="{FF2B5EF4-FFF2-40B4-BE49-F238E27FC236}">
                <a16:creationId xmlns:a16="http://schemas.microsoft.com/office/drawing/2014/main" id="{1798134D-12FD-47D0-BA40-41C32A814FBF}"/>
              </a:ext>
            </a:extLst>
          </p:cNvPr>
          <p:cNvSpPr/>
          <p:nvPr/>
        </p:nvSpPr>
        <p:spPr bwMode="auto">
          <a:xfrm>
            <a:off x="8353425" y="379409"/>
            <a:ext cx="495300" cy="485775"/>
          </a:xfrm>
          <a:prstGeom prst="ellipse">
            <a:avLst/>
          </a:prstGeom>
          <a:noFill/>
          <a:ln w="15875" cap="flat" cmpd="sng" algn="ctr">
            <a:solidFill>
              <a:schemeClr val="tx2"/>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8" name="Oval 7">
            <a:extLst>
              <a:ext uri="{FF2B5EF4-FFF2-40B4-BE49-F238E27FC236}">
                <a16:creationId xmlns:a16="http://schemas.microsoft.com/office/drawing/2014/main" id="{D1AA98AD-83B8-4290-967C-7611B7CDEA88}"/>
              </a:ext>
            </a:extLst>
          </p:cNvPr>
          <p:cNvSpPr/>
          <p:nvPr/>
        </p:nvSpPr>
        <p:spPr bwMode="auto">
          <a:xfrm>
            <a:off x="9029699" y="388142"/>
            <a:ext cx="1095375" cy="485775"/>
          </a:xfrm>
          <a:prstGeom prst="ellipse">
            <a:avLst/>
          </a:prstGeom>
          <a:noFill/>
          <a:ln w="15875" cap="flat" cmpd="sng" algn="ctr">
            <a:solidFill>
              <a:schemeClr val="tx2"/>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9" name="Oval 8">
            <a:extLst>
              <a:ext uri="{FF2B5EF4-FFF2-40B4-BE49-F238E27FC236}">
                <a16:creationId xmlns:a16="http://schemas.microsoft.com/office/drawing/2014/main" id="{CD833EEC-B0A7-484E-AA61-30A8E0FCE5F3}"/>
              </a:ext>
            </a:extLst>
          </p:cNvPr>
          <p:cNvSpPr/>
          <p:nvPr/>
        </p:nvSpPr>
        <p:spPr bwMode="auto">
          <a:xfrm>
            <a:off x="10667998" y="388142"/>
            <a:ext cx="552451" cy="350043"/>
          </a:xfrm>
          <a:prstGeom prst="ellipse">
            <a:avLst/>
          </a:prstGeom>
          <a:noFill/>
          <a:ln w="15875" cap="flat" cmpd="sng" algn="ctr">
            <a:solidFill>
              <a:schemeClr val="tx2"/>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5" grpId="0" animBg="1"/>
      <p:bldP spid="8" grpId="0" animBg="1"/>
      <p:bldP spid="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IEEE Floating-Point Format</a:t>
            </a:r>
          </a:p>
        </p:txBody>
      </p:sp>
      <p:grpSp>
        <p:nvGrpSpPr>
          <p:cNvPr id="6" name="Group 5"/>
          <p:cNvGrpSpPr/>
          <p:nvPr/>
        </p:nvGrpSpPr>
        <p:grpSpPr>
          <a:xfrm>
            <a:off x="1703371" y="5191133"/>
            <a:ext cx="8785259" cy="655163"/>
            <a:chOff x="1749390" y="1291236"/>
            <a:chExt cx="8785259" cy="655162"/>
          </a:xfrm>
        </p:grpSpPr>
        <p:grpSp>
          <p:nvGrpSpPr>
            <p:cNvPr id="7" name="Group 6"/>
            <p:cNvGrpSpPr/>
            <p:nvPr/>
          </p:nvGrpSpPr>
          <p:grpSpPr>
            <a:xfrm>
              <a:off x="1879601" y="1599014"/>
              <a:ext cx="8655048" cy="347384"/>
              <a:chOff x="2969147" y="5536856"/>
              <a:chExt cx="8655048" cy="347384"/>
            </a:xfrm>
          </p:grpSpPr>
          <p:sp>
            <p:nvSpPr>
              <p:cNvPr id="11" name="Rectangle 10"/>
              <p:cNvSpPr/>
              <p:nvPr/>
            </p:nvSpPr>
            <p:spPr>
              <a:xfrm>
                <a:off x="2969147" y="5536856"/>
                <a:ext cx="262478" cy="34738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b="1" dirty="0">
                    <a:solidFill>
                      <a:schemeClr val="accent1"/>
                    </a:solidFill>
                  </a:rPr>
                  <a:t>s</a:t>
                </a:r>
              </a:p>
            </p:txBody>
          </p:sp>
          <p:sp>
            <p:nvSpPr>
              <p:cNvPr id="12" name="Rectangle 11"/>
              <p:cNvSpPr/>
              <p:nvPr/>
            </p:nvSpPr>
            <p:spPr>
              <a:xfrm>
                <a:off x="3231624" y="5536856"/>
                <a:ext cx="1655187" cy="34738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b="1" dirty="0">
                    <a:solidFill>
                      <a:schemeClr val="accent1"/>
                    </a:solidFill>
                  </a:rPr>
                  <a:t>exponent</a:t>
                </a:r>
              </a:p>
            </p:txBody>
          </p:sp>
          <p:sp>
            <p:nvSpPr>
              <p:cNvPr id="13" name="Rectangle 12"/>
              <p:cNvSpPr/>
              <p:nvPr/>
            </p:nvSpPr>
            <p:spPr>
              <a:xfrm>
                <a:off x="4886811" y="5536856"/>
                <a:ext cx="6737384" cy="34738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b="1" dirty="0">
                    <a:solidFill>
                      <a:schemeClr val="accent1"/>
                    </a:solidFill>
                  </a:rPr>
                  <a:t>fraction</a:t>
                </a:r>
                <a:r>
                  <a:rPr lang="en-US" dirty="0">
                    <a:solidFill>
                      <a:schemeClr val="tx1"/>
                    </a:solidFill>
                  </a:rPr>
                  <a:t>/</a:t>
                </a:r>
                <a:r>
                  <a:rPr lang="en-US" b="1" dirty="0">
                    <a:solidFill>
                      <a:schemeClr val="accent1"/>
                    </a:solidFill>
                  </a:rPr>
                  <a:t>mantissa</a:t>
                </a:r>
              </a:p>
            </p:txBody>
          </p:sp>
        </p:grpSp>
        <p:sp>
          <p:nvSpPr>
            <p:cNvPr id="8" name="TextBox 7"/>
            <p:cNvSpPr txBox="1"/>
            <p:nvPr/>
          </p:nvSpPr>
          <p:spPr>
            <a:xfrm>
              <a:off x="1749390" y="1291237"/>
              <a:ext cx="522900" cy="307777"/>
            </a:xfrm>
            <a:prstGeom prst="rect">
              <a:avLst/>
            </a:prstGeom>
            <a:noFill/>
          </p:spPr>
          <p:txBody>
            <a:bodyPr wrap="none" rtlCol="0">
              <a:spAutoFit/>
            </a:bodyPr>
            <a:lstStyle/>
            <a:p>
              <a:r>
                <a:rPr lang="en-US" sz="1400" dirty="0"/>
                <a:t>1 bit</a:t>
              </a:r>
            </a:p>
          </p:txBody>
        </p:sp>
        <p:sp>
          <p:nvSpPr>
            <p:cNvPr id="9" name="TextBox 8"/>
            <p:cNvSpPr txBox="1"/>
            <p:nvPr/>
          </p:nvSpPr>
          <p:spPr>
            <a:xfrm>
              <a:off x="2530815" y="1291236"/>
              <a:ext cx="698717" cy="307777"/>
            </a:xfrm>
            <a:prstGeom prst="rect">
              <a:avLst/>
            </a:prstGeom>
            <a:noFill/>
          </p:spPr>
          <p:txBody>
            <a:bodyPr wrap="none" rtlCol="0">
              <a:spAutoFit/>
            </a:bodyPr>
            <a:lstStyle/>
            <a:p>
              <a:r>
                <a:rPr lang="en-US" sz="1400" dirty="0"/>
                <a:t>11 bits</a:t>
              </a:r>
            </a:p>
          </p:txBody>
        </p:sp>
        <p:sp>
          <p:nvSpPr>
            <p:cNvPr id="10" name="TextBox 9"/>
            <p:cNvSpPr txBox="1"/>
            <p:nvPr/>
          </p:nvSpPr>
          <p:spPr>
            <a:xfrm>
              <a:off x="6809930" y="1291236"/>
              <a:ext cx="712054" cy="307777"/>
            </a:xfrm>
            <a:prstGeom prst="rect">
              <a:avLst/>
            </a:prstGeom>
            <a:noFill/>
          </p:spPr>
          <p:txBody>
            <a:bodyPr wrap="none" rtlCol="0">
              <a:spAutoFit/>
            </a:bodyPr>
            <a:lstStyle/>
            <a:p>
              <a:r>
                <a:rPr lang="en-US" sz="1400" dirty="0"/>
                <a:t>52 bits</a:t>
              </a:r>
            </a:p>
          </p:txBody>
        </p:sp>
      </p:grpSp>
      <p:sp>
        <p:nvSpPr>
          <p:cNvPr id="14" name="TextBox 13"/>
          <p:cNvSpPr txBox="1"/>
          <p:nvPr/>
        </p:nvSpPr>
        <p:spPr>
          <a:xfrm>
            <a:off x="4207742" y="5767798"/>
            <a:ext cx="5288627" cy="461665"/>
          </a:xfrm>
          <a:prstGeom prst="rect">
            <a:avLst/>
          </a:prstGeom>
          <a:noFill/>
          <a:ln w="19050">
            <a:solidFill>
              <a:srgbClr val="FF0000"/>
            </a:solidFill>
          </a:ln>
        </p:spPr>
        <p:txBody>
          <a:bodyPr wrap="none" rtlCol="0">
            <a:spAutoFit/>
          </a:bodyPr>
          <a:lstStyle/>
          <a:p>
            <a:r>
              <a:rPr lang="en-US" sz="2400" dirty="0"/>
              <a:t>x = (−1)</a:t>
            </a:r>
            <a:r>
              <a:rPr lang="en-US" sz="2400" baseline="30000" dirty="0"/>
              <a:t>s</a:t>
            </a:r>
            <a:r>
              <a:rPr lang="en-US" sz="2400" dirty="0"/>
              <a:t> × (1+fraction) × 2</a:t>
            </a:r>
            <a:r>
              <a:rPr lang="en-US" sz="2400" baseline="30000" dirty="0"/>
              <a:t>(exponent−1023)</a:t>
            </a:r>
          </a:p>
        </p:txBody>
      </p:sp>
      <p:grpSp>
        <p:nvGrpSpPr>
          <p:cNvPr id="15" name="Group 14"/>
          <p:cNvGrpSpPr/>
          <p:nvPr/>
        </p:nvGrpSpPr>
        <p:grpSpPr>
          <a:xfrm>
            <a:off x="3495642" y="1214347"/>
            <a:ext cx="5515009" cy="655163"/>
            <a:chOff x="1749390" y="1291236"/>
            <a:chExt cx="5515009" cy="655162"/>
          </a:xfrm>
        </p:grpSpPr>
        <p:grpSp>
          <p:nvGrpSpPr>
            <p:cNvPr id="16" name="Group 15"/>
            <p:cNvGrpSpPr/>
            <p:nvPr/>
          </p:nvGrpSpPr>
          <p:grpSpPr>
            <a:xfrm>
              <a:off x="1879601" y="1599014"/>
              <a:ext cx="5384798" cy="347384"/>
              <a:chOff x="2969147" y="5536856"/>
              <a:chExt cx="5384798" cy="347384"/>
            </a:xfrm>
          </p:grpSpPr>
          <p:sp>
            <p:nvSpPr>
              <p:cNvPr id="20" name="Rectangle 19"/>
              <p:cNvSpPr/>
              <p:nvPr/>
            </p:nvSpPr>
            <p:spPr>
              <a:xfrm>
                <a:off x="2969147" y="5536856"/>
                <a:ext cx="262478" cy="34738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b="1" dirty="0">
                    <a:solidFill>
                      <a:schemeClr val="accent1"/>
                    </a:solidFill>
                  </a:rPr>
                  <a:t>s</a:t>
                </a:r>
              </a:p>
            </p:txBody>
          </p:sp>
          <p:sp>
            <p:nvSpPr>
              <p:cNvPr id="21" name="Rectangle 20"/>
              <p:cNvSpPr/>
              <p:nvPr/>
            </p:nvSpPr>
            <p:spPr>
              <a:xfrm>
                <a:off x="3231625" y="5536856"/>
                <a:ext cx="1213896" cy="34738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b="1" dirty="0">
                    <a:solidFill>
                      <a:schemeClr val="accent1"/>
                    </a:solidFill>
                  </a:rPr>
                  <a:t>exponent</a:t>
                </a:r>
              </a:p>
            </p:txBody>
          </p:sp>
          <p:sp>
            <p:nvSpPr>
              <p:cNvPr id="22" name="Rectangle 21"/>
              <p:cNvSpPr/>
              <p:nvPr/>
            </p:nvSpPr>
            <p:spPr>
              <a:xfrm>
                <a:off x="4445520" y="5536856"/>
                <a:ext cx="3908425" cy="34738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b="1" dirty="0">
                    <a:solidFill>
                      <a:schemeClr val="accent1"/>
                    </a:solidFill>
                  </a:rPr>
                  <a:t>fraction</a:t>
                </a:r>
                <a:r>
                  <a:rPr lang="en-US" dirty="0">
                    <a:solidFill>
                      <a:schemeClr val="tx1"/>
                    </a:solidFill>
                  </a:rPr>
                  <a:t>/</a:t>
                </a:r>
                <a:r>
                  <a:rPr lang="en-US" b="1" dirty="0">
                    <a:solidFill>
                      <a:schemeClr val="accent1"/>
                    </a:solidFill>
                  </a:rPr>
                  <a:t>mantissa</a:t>
                </a:r>
              </a:p>
            </p:txBody>
          </p:sp>
        </p:grpSp>
        <p:sp>
          <p:nvSpPr>
            <p:cNvPr id="17" name="TextBox 16"/>
            <p:cNvSpPr txBox="1"/>
            <p:nvPr/>
          </p:nvSpPr>
          <p:spPr>
            <a:xfrm>
              <a:off x="1749390" y="1291237"/>
              <a:ext cx="522900" cy="307777"/>
            </a:xfrm>
            <a:prstGeom prst="rect">
              <a:avLst/>
            </a:prstGeom>
            <a:noFill/>
          </p:spPr>
          <p:txBody>
            <a:bodyPr wrap="none" rtlCol="0">
              <a:spAutoFit/>
            </a:bodyPr>
            <a:lstStyle/>
            <a:p>
              <a:r>
                <a:rPr lang="en-US" sz="1400" dirty="0"/>
                <a:t>1 bit</a:t>
              </a:r>
            </a:p>
          </p:txBody>
        </p:sp>
        <p:sp>
          <p:nvSpPr>
            <p:cNvPr id="18" name="TextBox 17"/>
            <p:cNvSpPr txBox="1"/>
            <p:nvPr/>
          </p:nvSpPr>
          <p:spPr>
            <a:xfrm>
              <a:off x="2461490" y="1291236"/>
              <a:ext cx="612668" cy="307777"/>
            </a:xfrm>
            <a:prstGeom prst="rect">
              <a:avLst/>
            </a:prstGeom>
            <a:noFill/>
          </p:spPr>
          <p:txBody>
            <a:bodyPr wrap="none" rtlCol="0">
              <a:spAutoFit/>
            </a:bodyPr>
            <a:lstStyle/>
            <a:p>
              <a:r>
                <a:rPr lang="en-US" sz="1400" dirty="0"/>
                <a:t>8 bits</a:t>
              </a:r>
            </a:p>
          </p:txBody>
        </p:sp>
        <p:sp>
          <p:nvSpPr>
            <p:cNvPr id="19" name="TextBox 18"/>
            <p:cNvSpPr txBox="1"/>
            <p:nvPr/>
          </p:nvSpPr>
          <p:spPr>
            <a:xfrm>
              <a:off x="4937864" y="1291236"/>
              <a:ext cx="712054" cy="307777"/>
            </a:xfrm>
            <a:prstGeom prst="rect">
              <a:avLst/>
            </a:prstGeom>
            <a:noFill/>
          </p:spPr>
          <p:txBody>
            <a:bodyPr wrap="none" rtlCol="0">
              <a:spAutoFit/>
            </a:bodyPr>
            <a:lstStyle/>
            <a:p>
              <a:r>
                <a:rPr lang="en-US" sz="1400" dirty="0"/>
                <a:t>23 bits</a:t>
              </a:r>
            </a:p>
          </p:txBody>
        </p:sp>
      </p:grpSp>
      <p:sp>
        <p:nvSpPr>
          <p:cNvPr id="23" name="TextBox 22"/>
          <p:cNvSpPr txBox="1"/>
          <p:nvPr/>
        </p:nvSpPr>
        <p:spPr>
          <a:xfrm>
            <a:off x="4150856" y="1965686"/>
            <a:ext cx="5174815" cy="461665"/>
          </a:xfrm>
          <a:prstGeom prst="rect">
            <a:avLst/>
          </a:prstGeom>
          <a:noFill/>
          <a:ln w="19050">
            <a:solidFill>
              <a:srgbClr val="FF0000"/>
            </a:solidFill>
          </a:ln>
        </p:spPr>
        <p:txBody>
          <a:bodyPr wrap="none" rtlCol="0">
            <a:spAutoFit/>
          </a:bodyPr>
          <a:lstStyle/>
          <a:p>
            <a:r>
              <a:rPr lang="en-US" sz="2400" dirty="0"/>
              <a:t>x = (−1)</a:t>
            </a:r>
            <a:r>
              <a:rPr lang="en-US" sz="2400" baseline="30000" dirty="0"/>
              <a:t>s</a:t>
            </a:r>
            <a:r>
              <a:rPr lang="en-US" sz="2400" dirty="0"/>
              <a:t> × (1+fraction) × 2</a:t>
            </a:r>
            <a:r>
              <a:rPr lang="en-US" sz="2400" baseline="30000" dirty="0"/>
              <a:t>(exponent−127)</a:t>
            </a:r>
          </a:p>
        </p:txBody>
      </p:sp>
      <p:sp>
        <p:nvSpPr>
          <p:cNvPr id="24" name="TextBox 23"/>
          <p:cNvSpPr txBox="1"/>
          <p:nvPr/>
        </p:nvSpPr>
        <p:spPr>
          <a:xfrm>
            <a:off x="297739" y="1756314"/>
            <a:ext cx="2593980" cy="461665"/>
          </a:xfrm>
          <a:prstGeom prst="rect">
            <a:avLst/>
          </a:prstGeom>
          <a:noFill/>
        </p:spPr>
        <p:txBody>
          <a:bodyPr wrap="none" rtlCol="0">
            <a:spAutoFit/>
          </a:bodyPr>
          <a:lstStyle/>
          <a:p>
            <a:r>
              <a:rPr lang="en-US" sz="2400" b="1" u="sng" dirty="0"/>
              <a:t>Single-Precision</a:t>
            </a:r>
          </a:p>
        </p:txBody>
      </p:sp>
      <p:sp>
        <p:nvSpPr>
          <p:cNvPr id="25" name="TextBox 24"/>
          <p:cNvSpPr txBox="1"/>
          <p:nvPr/>
        </p:nvSpPr>
        <p:spPr>
          <a:xfrm>
            <a:off x="272912" y="4821801"/>
            <a:ext cx="2714205" cy="461665"/>
          </a:xfrm>
          <a:prstGeom prst="rect">
            <a:avLst/>
          </a:prstGeom>
          <a:noFill/>
        </p:spPr>
        <p:txBody>
          <a:bodyPr wrap="none" rtlCol="0">
            <a:spAutoFit/>
          </a:bodyPr>
          <a:lstStyle/>
          <a:p>
            <a:r>
              <a:rPr lang="en-US" sz="2400" b="1" u="sng" dirty="0"/>
              <a:t>Double-Precision</a:t>
            </a:r>
          </a:p>
        </p:txBody>
      </p:sp>
      <p:graphicFrame>
        <p:nvGraphicFramePr>
          <p:cNvPr id="26" name="Table 25"/>
          <p:cNvGraphicFramePr>
            <a:graphicFrameLocks noGrp="1"/>
          </p:cNvGraphicFramePr>
          <p:nvPr>
            <p:extLst>
              <p:ext uri="{D42A27DB-BD31-4B8C-83A1-F6EECF244321}">
                <p14:modId xmlns:p14="http://schemas.microsoft.com/office/powerpoint/2010/main" val="3587665691"/>
              </p:ext>
            </p:extLst>
          </p:nvPr>
        </p:nvGraphicFramePr>
        <p:xfrm>
          <a:off x="3625852" y="2707013"/>
          <a:ext cx="4965923" cy="1905000"/>
        </p:xfrm>
        <a:graphic>
          <a:graphicData uri="http://schemas.openxmlformats.org/drawingml/2006/table">
            <a:tbl>
              <a:tblPr firstRow="1" bandRow="1">
                <a:tableStyleId>{5940675A-B579-460E-94D1-54222C63F5DA}</a:tableStyleId>
              </a:tblPr>
              <a:tblGrid>
                <a:gridCol w="1325880">
                  <a:extLst>
                    <a:ext uri="{9D8B030D-6E8A-4147-A177-3AD203B41FA5}">
                      <a16:colId xmlns:a16="http://schemas.microsoft.com/office/drawing/2014/main" val="20000"/>
                    </a:ext>
                  </a:extLst>
                </a:gridCol>
                <a:gridCol w="1148080">
                  <a:extLst>
                    <a:ext uri="{9D8B030D-6E8A-4147-A177-3AD203B41FA5}">
                      <a16:colId xmlns:a16="http://schemas.microsoft.com/office/drawing/2014/main" val="20001"/>
                    </a:ext>
                  </a:extLst>
                </a:gridCol>
                <a:gridCol w="2491963">
                  <a:extLst>
                    <a:ext uri="{9D8B030D-6E8A-4147-A177-3AD203B41FA5}">
                      <a16:colId xmlns:a16="http://schemas.microsoft.com/office/drawing/2014/main" val="20002"/>
                    </a:ext>
                  </a:extLst>
                </a:gridCol>
              </a:tblGrid>
              <a:tr h="375920">
                <a:tc>
                  <a:txBody>
                    <a:bodyPr/>
                    <a:lstStyle/>
                    <a:p>
                      <a:pPr algn="ctr"/>
                      <a:r>
                        <a:rPr lang="en-US" sz="1900" b="1" dirty="0">
                          <a:solidFill>
                            <a:schemeClr val="accent1"/>
                          </a:solidFill>
                        </a:rPr>
                        <a:t>exponent</a:t>
                      </a:r>
                    </a:p>
                  </a:txBody>
                  <a:tcPr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sz="1900" b="1" dirty="0">
                          <a:solidFill>
                            <a:schemeClr val="accent1"/>
                          </a:solidFill>
                        </a:rPr>
                        <a:t>fraction</a:t>
                      </a:r>
                    </a:p>
                  </a:txBody>
                  <a:tcPr anchor="ct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a:r>
                        <a:rPr lang="en-US" sz="1900" b="1" dirty="0"/>
                        <a:t>Value represented</a:t>
                      </a:r>
                    </a:p>
                  </a:txBody>
                  <a:tcPr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5920">
                <a:tc>
                  <a:txBody>
                    <a:bodyPr/>
                    <a:lstStyle/>
                    <a:p>
                      <a:pPr algn="ctr"/>
                      <a:r>
                        <a:rPr lang="en-US" sz="1900" dirty="0">
                          <a:latin typeface="Arial Unicode MS" panose="020B0604020202020204" pitchFamily="34" charset="-128"/>
                          <a:ea typeface="Arial Unicode MS" panose="020B0604020202020204" pitchFamily="34" charset="-128"/>
                          <a:cs typeface="Arial Unicode MS" panose="020B0604020202020204" pitchFamily="34" charset="-128"/>
                        </a:rPr>
                        <a:t>00000000</a:t>
                      </a:r>
                    </a:p>
                  </a:txBody>
                  <a:tcPr anchor="ctr">
                    <a:lnL w="28575" cap="flat" cmpd="sng" algn="ctr">
                      <a:solidFill>
                        <a:schemeClr val="tx1"/>
                      </a:solidFill>
                      <a:prstDash val="solid"/>
                      <a:round/>
                      <a:headEnd type="none" w="med" len="med"/>
                      <a:tailEnd type="none" w="med" len="med"/>
                    </a:lnL>
                    <a:lnT w="28575" cap="flat" cmpd="sng" algn="ctr">
                      <a:solidFill>
                        <a:schemeClr val="tx1"/>
                      </a:solidFill>
                      <a:prstDash val="solid"/>
                      <a:round/>
                      <a:headEnd type="none" w="med" len="med"/>
                      <a:tailEnd type="none" w="med" len="med"/>
                    </a:lnT>
                  </a:tcPr>
                </a:tc>
                <a:tc>
                  <a:txBody>
                    <a:bodyPr/>
                    <a:lstStyle/>
                    <a:p>
                      <a:pPr algn="ctr"/>
                      <a:r>
                        <a:rPr lang="en-US" sz="1900" dirty="0"/>
                        <a:t>0</a:t>
                      </a:r>
                    </a:p>
                  </a:txBody>
                  <a:tcPr anchor="ctr">
                    <a:lnT w="28575" cap="flat" cmpd="sng" algn="ctr">
                      <a:solidFill>
                        <a:schemeClr val="tx1"/>
                      </a:solidFill>
                      <a:prstDash val="solid"/>
                      <a:round/>
                      <a:headEnd type="none" w="med" len="med"/>
                      <a:tailEnd type="none" w="med" len="med"/>
                    </a:lnT>
                  </a:tcPr>
                </a:tc>
                <a:tc>
                  <a:txBody>
                    <a:bodyPr/>
                    <a:lstStyle/>
                    <a:p>
                      <a:pPr algn="ctr"/>
                      <a:r>
                        <a:rPr lang="en-US" sz="1900" dirty="0"/>
                        <a:t>0</a:t>
                      </a:r>
                    </a:p>
                  </a:txBody>
                  <a:tcPr anchor="ctr">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1"/>
                  </a:ext>
                </a:extLst>
              </a:tr>
              <a:tr h="375920">
                <a:tc>
                  <a:txBody>
                    <a:bodyPr/>
                    <a:lstStyle/>
                    <a:p>
                      <a:pPr algn="ctr"/>
                      <a:r>
                        <a:rPr lang="en-US" sz="1900" dirty="0">
                          <a:latin typeface="Arial Unicode MS" panose="020B0604020202020204" pitchFamily="34" charset="-128"/>
                          <a:ea typeface="Arial Unicode MS" panose="020B0604020202020204" pitchFamily="34" charset="-128"/>
                          <a:cs typeface="Arial Unicode MS" panose="020B0604020202020204" pitchFamily="34" charset="-128"/>
                        </a:rPr>
                        <a:t>00000000</a:t>
                      </a:r>
                    </a:p>
                  </a:txBody>
                  <a:tcPr anchor="ctr">
                    <a:lnL w="28575" cap="flat" cmpd="sng" algn="ctr">
                      <a:solidFill>
                        <a:schemeClr val="tx1"/>
                      </a:solidFill>
                      <a:prstDash val="solid"/>
                      <a:round/>
                      <a:headEnd type="none" w="med" len="med"/>
                      <a:tailEnd type="none" w="med" len="med"/>
                    </a:lnL>
                  </a:tcPr>
                </a:tc>
                <a:tc>
                  <a:txBody>
                    <a:bodyPr/>
                    <a:lstStyle/>
                    <a:p>
                      <a:pPr algn="ctr"/>
                      <a:r>
                        <a:rPr lang="en-US" sz="1900" dirty="0"/>
                        <a:t>nonzero</a:t>
                      </a:r>
                    </a:p>
                  </a:txBody>
                  <a:tcPr anchor="ctr"/>
                </a:tc>
                <a:tc>
                  <a:txBody>
                    <a:bodyPr/>
                    <a:lstStyle/>
                    <a:p>
                      <a:pPr algn="ctr"/>
                      <a:r>
                        <a:rPr lang="en-US" sz="1900" dirty="0"/>
                        <a:t>denormalized</a:t>
                      </a:r>
                    </a:p>
                  </a:txBody>
                  <a:tcPr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820941409"/>
                  </a:ext>
                </a:extLst>
              </a:tr>
              <a:tr h="375920">
                <a:tc>
                  <a:txBody>
                    <a:bodyPr/>
                    <a:lstStyle/>
                    <a:p>
                      <a:pPr algn="ctr"/>
                      <a:r>
                        <a:rPr lang="en-US" sz="1900" dirty="0">
                          <a:latin typeface="Arial Unicode MS" panose="020B0604020202020204" pitchFamily="34" charset="-128"/>
                          <a:ea typeface="Arial Unicode MS" panose="020B0604020202020204" pitchFamily="34" charset="-128"/>
                          <a:cs typeface="Arial Unicode MS" panose="020B0604020202020204" pitchFamily="34" charset="-128"/>
                        </a:rPr>
                        <a:t>1111 1111</a:t>
                      </a:r>
                    </a:p>
                  </a:txBody>
                  <a:tcPr anchor="ctr">
                    <a:lnL w="28575" cap="flat" cmpd="sng" algn="ctr">
                      <a:solidFill>
                        <a:schemeClr val="tx1"/>
                      </a:solidFill>
                      <a:prstDash val="solid"/>
                      <a:round/>
                      <a:headEnd type="none" w="med" len="med"/>
                      <a:tailEnd type="none" w="med" len="med"/>
                    </a:lnL>
                  </a:tcPr>
                </a:tc>
                <a:tc>
                  <a:txBody>
                    <a:bodyPr/>
                    <a:lstStyle/>
                    <a:p>
                      <a:pPr algn="ctr"/>
                      <a:r>
                        <a:rPr lang="en-US" sz="1900" dirty="0"/>
                        <a:t>0</a:t>
                      </a:r>
                    </a:p>
                  </a:txBody>
                  <a:tcPr anchor="ctr"/>
                </a:tc>
                <a:tc>
                  <a:txBody>
                    <a:bodyPr/>
                    <a:lstStyle/>
                    <a:p>
                      <a:pPr algn="ctr"/>
                      <a:r>
                        <a:rPr lang="en-US" sz="1900" dirty="0"/>
                        <a:t>±∞</a:t>
                      </a:r>
                    </a:p>
                  </a:txBody>
                  <a:tcPr anchor="ctr">
                    <a:lnR w="28575"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375920">
                <a:tc>
                  <a:txBody>
                    <a:bodyPr/>
                    <a:lstStyle/>
                    <a:p>
                      <a:pPr algn="ctr"/>
                      <a:r>
                        <a:rPr lang="en-US" sz="1900" dirty="0">
                          <a:latin typeface="Arial Unicode MS" panose="020B0604020202020204" pitchFamily="34" charset="-128"/>
                          <a:ea typeface="Arial Unicode MS" panose="020B0604020202020204" pitchFamily="34" charset="-128"/>
                          <a:cs typeface="Arial Unicode MS" panose="020B0604020202020204" pitchFamily="34" charset="-128"/>
                        </a:rPr>
                        <a:t>1111 1111</a:t>
                      </a:r>
                    </a:p>
                  </a:txBody>
                  <a:tcPr anchor="ctr">
                    <a:lnL w="28575" cap="flat" cmpd="sng" algn="ctr">
                      <a:solidFill>
                        <a:schemeClr val="tx1"/>
                      </a:solidFill>
                      <a:prstDash val="solid"/>
                      <a:round/>
                      <a:headEnd type="none" w="med" len="med"/>
                      <a:tailEnd type="none" w="med" len="med"/>
                    </a:lnL>
                    <a:lnB w="28575" cap="flat" cmpd="sng" algn="ctr">
                      <a:solidFill>
                        <a:schemeClr val="tx1"/>
                      </a:solidFill>
                      <a:prstDash val="solid"/>
                      <a:round/>
                      <a:headEnd type="none" w="med" len="med"/>
                      <a:tailEnd type="none" w="med" len="med"/>
                    </a:lnB>
                  </a:tcPr>
                </a:tc>
                <a:tc>
                  <a:txBody>
                    <a:bodyPr/>
                    <a:lstStyle/>
                    <a:p>
                      <a:pPr algn="ctr"/>
                      <a:r>
                        <a:rPr lang="en-US" sz="1900" dirty="0"/>
                        <a:t>non-zero</a:t>
                      </a:r>
                    </a:p>
                  </a:txBody>
                  <a:tcPr anchor="ctr">
                    <a:lnB w="28575" cap="flat" cmpd="sng" algn="ctr">
                      <a:solidFill>
                        <a:schemeClr val="tx1"/>
                      </a:solidFill>
                      <a:prstDash val="solid"/>
                      <a:round/>
                      <a:headEnd type="none" w="med" len="med"/>
                      <a:tailEnd type="none" w="med" len="med"/>
                    </a:lnB>
                  </a:tcPr>
                </a:tc>
                <a:tc>
                  <a:txBody>
                    <a:bodyPr/>
                    <a:lstStyle/>
                    <a:p>
                      <a:pPr algn="ctr"/>
                      <a:r>
                        <a:rPr lang="en-US" sz="1900" dirty="0" err="1"/>
                        <a:t>NaN</a:t>
                      </a:r>
                      <a:endParaRPr lang="en-US" sz="1900" dirty="0"/>
                    </a:p>
                  </a:txBody>
                  <a:tcPr anchor="ctr">
                    <a:lnR w="28575" cap="flat" cmpd="sng" algn="ctr">
                      <a:solidFill>
                        <a:schemeClr val="tx1"/>
                      </a:solidFill>
                      <a:prstDash val="solid"/>
                      <a:round/>
                      <a:headEnd type="none" w="med" len="med"/>
                      <a:tailEnd type="none" w="med" len="med"/>
                    </a:lnR>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cxnSp>
        <p:nvCxnSpPr>
          <p:cNvPr id="29" name="Straight Connector 28"/>
          <p:cNvCxnSpPr/>
          <p:nvPr/>
        </p:nvCxnSpPr>
        <p:spPr>
          <a:xfrm>
            <a:off x="1703371" y="4591620"/>
            <a:ext cx="8785259" cy="0"/>
          </a:xfrm>
          <a:prstGeom prst="line">
            <a:avLst/>
          </a:prstGeom>
          <a:ln w="19050">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 name="灯片编号占位符 2"/>
          <p:cNvSpPr>
            <a:spLocks noGrp="1"/>
          </p:cNvSpPr>
          <p:nvPr>
            <p:ph type="sldNum" sz="quarter" idx="10"/>
          </p:nvPr>
        </p:nvSpPr>
        <p:spPr/>
        <p:txBody>
          <a:bodyPr/>
          <a:lstStyle/>
          <a:p>
            <a:fld id="{D9B6BDF2-6896-4B98-8776-C18582F63BA5}" type="slidenum">
              <a:rPr lang="zh-TW" altLang="en-US" smtClean="0"/>
              <a:t>7</a:t>
            </a:fld>
            <a:endParaRPr lang="zh-TW" altLang="en-US"/>
          </a:p>
        </p:txBody>
      </p:sp>
      <p:sp>
        <p:nvSpPr>
          <p:cNvPr id="4" name="TextBox 3">
            <a:extLst>
              <a:ext uri="{FF2B5EF4-FFF2-40B4-BE49-F238E27FC236}">
                <a16:creationId xmlns:a16="http://schemas.microsoft.com/office/drawing/2014/main" id="{1F2B608E-65BA-4A1E-B995-9095E9511292}"/>
              </a:ext>
            </a:extLst>
          </p:cNvPr>
          <p:cNvSpPr txBox="1"/>
          <p:nvPr/>
        </p:nvSpPr>
        <p:spPr>
          <a:xfrm>
            <a:off x="1116181" y="3521894"/>
            <a:ext cx="2172390" cy="461665"/>
          </a:xfrm>
          <a:prstGeom prst="rect">
            <a:avLst/>
          </a:prstGeom>
          <a:solidFill>
            <a:srgbClr val="FFFF00"/>
          </a:solidFill>
          <a:ln>
            <a:solidFill>
              <a:srgbClr val="FF0000"/>
            </a:solidFill>
          </a:ln>
        </p:spPr>
        <p:txBody>
          <a:bodyPr wrap="none" rtlCol="0" anchor="ctr" anchorCtr="1">
            <a:spAutoFit/>
          </a:bodyPr>
          <a:lstStyle/>
          <a:p>
            <a:r>
              <a:rPr lang="en-US" sz="2400" dirty="0">
                <a:solidFill>
                  <a:srgbClr val="FF0000"/>
                </a:solidFill>
                <a:ea typeface="標楷體" pitchFamily="65" charset="-120"/>
                <a:cs typeface="Calibri" pitchFamily="34" charset="0"/>
              </a:rPr>
              <a:t>Special values</a:t>
            </a:r>
          </a:p>
        </p:txBody>
      </p:sp>
      <p:sp>
        <p:nvSpPr>
          <p:cNvPr id="5" name="TextBox 4">
            <a:extLst>
              <a:ext uri="{FF2B5EF4-FFF2-40B4-BE49-F238E27FC236}">
                <a16:creationId xmlns:a16="http://schemas.microsoft.com/office/drawing/2014/main" id="{B8CAE43D-6A22-48B7-B041-1CACBEA5A9E0}"/>
              </a:ext>
            </a:extLst>
          </p:cNvPr>
          <p:cNvSpPr txBox="1"/>
          <p:nvPr/>
        </p:nvSpPr>
        <p:spPr>
          <a:xfrm>
            <a:off x="8591775" y="3337228"/>
            <a:ext cx="3172663" cy="646331"/>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For </a:t>
            </a:r>
            <a:r>
              <a:rPr lang="en-US" b="1" dirty="0">
                <a:ea typeface="標楷體" pitchFamily="65" charset="-120"/>
                <a:cs typeface="Calibri" pitchFamily="34" charset="0"/>
              </a:rPr>
              <a:t>denormalized </a:t>
            </a:r>
            <a:r>
              <a:rPr lang="en-US" dirty="0">
                <a:ea typeface="標楷體" pitchFamily="65" charset="-120"/>
                <a:cs typeface="Calibri" pitchFamily="34" charset="0"/>
              </a:rPr>
              <a:t>numbers, </a:t>
            </a:r>
          </a:p>
          <a:p>
            <a:r>
              <a:rPr lang="en-US" dirty="0">
                <a:ea typeface="標楷體" pitchFamily="65" charset="-120"/>
                <a:cs typeface="Calibri" pitchFamily="34" charset="0"/>
              </a:rPr>
              <a:t>there is no hidden 1.</a:t>
            </a:r>
          </a:p>
        </p:txBody>
      </p:sp>
      <p:cxnSp>
        <p:nvCxnSpPr>
          <p:cNvPr id="28" name="Straight Arrow Connector 27">
            <a:extLst>
              <a:ext uri="{FF2B5EF4-FFF2-40B4-BE49-F238E27FC236}">
                <a16:creationId xmlns:a16="http://schemas.microsoft.com/office/drawing/2014/main" id="{BC5E25FA-A21A-414B-8085-525591CBF69A}"/>
              </a:ext>
            </a:extLst>
          </p:cNvPr>
          <p:cNvCxnSpPr>
            <a:cxnSpLocks/>
          </p:cNvCxnSpPr>
          <p:nvPr/>
        </p:nvCxnSpPr>
        <p:spPr bwMode="auto">
          <a:xfrm flipH="1">
            <a:off x="5977890" y="1214347"/>
            <a:ext cx="4224090" cy="807264"/>
          </a:xfrm>
          <a:prstGeom prst="straightConnector1">
            <a:avLst/>
          </a:prstGeom>
          <a:noFill/>
          <a:ln w="15875" cap="flat" cmpd="sng" algn="ctr">
            <a:solidFill>
              <a:srgbClr val="FF0000"/>
            </a:solidFill>
            <a:prstDash val="solid"/>
            <a:round/>
            <a:headEnd type="none" w="med" len="med"/>
            <a:tailEnd type="triangle"/>
          </a:ln>
          <a:effectLst/>
        </p:spPr>
      </p:cxnSp>
      <p:sp>
        <p:nvSpPr>
          <p:cNvPr id="31" name="TextBox 30">
            <a:extLst>
              <a:ext uri="{FF2B5EF4-FFF2-40B4-BE49-F238E27FC236}">
                <a16:creationId xmlns:a16="http://schemas.microsoft.com/office/drawing/2014/main" id="{C604EE99-E97C-4CF3-9D35-8AA2D479BDE8}"/>
              </a:ext>
            </a:extLst>
          </p:cNvPr>
          <p:cNvSpPr txBox="1"/>
          <p:nvPr/>
        </p:nvSpPr>
        <p:spPr>
          <a:xfrm>
            <a:off x="10201980" y="1064975"/>
            <a:ext cx="1107996" cy="369332"/>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Hidden 1</a:t>
            </a:r>
          </a:p>
        </p:txBody>
      </p:sp>
      <p:sp>
        <p:nvSpPr>
          <p:cNvPr id="27" name="TextBox 26">
            <a:extLst>
              <a:ext uri="{FF2B5EF4-FFF2-40B4-BE49-F238E27FC236}">
                <a16:creationId xmlns:a16="http://schemas.microsoft.com/office/drawing/2014/main" id="{E4430074-5698-4FF6-BFAD-C11FE0477D91}"/>
              </a:ext>
            </a:extLst>
          </p:cNvPr>
          <p:cNvSpPr txBox="1"/>
          <p:nvPr/>
        </p:nvSpPr>
        <p:spPr>
          <a:xfrm>
            <a:off x="10156" y="1175225"/>
            <a:ext cx="2937022" cy="461665"/>
          </a:xfrm>
          <a:prstGeom prst="rect">
            <a:avLst/>
          </a:prstGeom>
          <a:solidFill>
            <a:srgbClr val="FFFF00"/>
          </a:solidFill>
          <a:ln>
            <a:solidFill>
              <a:srgbClr val="00B050"/>
            </a:solidFill>
          </a:ln>
        </p:spPr>
        <p:txBody>
          <a:bodyPr wrap="none" rtlCol="0" anchor="ctr" anchorCtr="1">
            <a:spAutoFit/>
          </a:bodyPr>
          <a:lstStyle/>
          <a:p>
            <a:r>
              <a:rPr lang="en-US" sz="2400" dirty="0">
                <a:ea typeface="標楷體" pitchFamily="65" charset="-120"/>
                <a:cs typeface="Calibri" pitchFamily="34" charset="0"/>
              </a:rPr>
              <a:t> </a:t>
            </a:r>
            <a:r>
              <a:rPr lang="en-US" sz="2400" dirty="0"/>
              <a:t>±1.xxxxxxx</a:t>
            </a:r>
            <a:r>
              <a:rPr lang="en-US" sz="2400" baseline="-25000" dirty="0"/>
              <a:t>2</a:t>
            </a:r>
            <a:r>
              <a:rPr lang="en-US" sz="2400" dirty="0"/>
              <a:t> </a:t>
            </a:r>
            <a:r>
              <a:rPr lang="en-US" sz="2400" dirty="0">
                <a:ea typeface="標楷體" pitchFamily="65" charset="-120"/>
                <a:cs typeface="Calibri" pitchFamily="34" charset="0"/>
              </a:rPr>
              <a:t>×</a:t>
            </a:r>
            <a:r>
              <a:rPr lang="en-US" sz="2400" dirty="0"/>
              <a:t> 2</a:t>
            </a:r>
            <a:r>
              <a:rPr lang="en-US" sz="2400" baseline="30000" dirty="0"/>
              <a:t>yyyy</a:t>
            </a:r>
            <a:r>
              <a:rPr lang="en-US" sz="2400" dirty="0">
                <a:ea typeface="標楷體" pitchFamily="65" charset="-120"/>
                <a:cs typeface="Calibri" pitchFamily="34" charset="0"/>
              </a:rPr>
              <a:t> </a:t>
            </a:r>
          </a:p>
        </p:txBody>
      </p:sp>
      <p:sp>
        <p:nvSpPr>
          <p:cNvPr id="32" name="TextBox 31">
            <a:extLst>
              <a:ext uri="{FF2B5EF4-FFF2-40B4-BE49-F238E27FC236}">
                <a16:creationId xmlns:a16="http://schemas.microsoft.com/office/drawing/2014/main" id="{DB12DD38-22AC-46B2-95C9-9471C9E30C07}"/>
              </a:ext>
            </a:extLst>
          </p:cNvPr>
          <p:cNvSpPr txBox="1"/>
          <p:nvPr/>
        </p:nvSpPr>
        <p:spPr>
          <a:xfrm>
            <a:off x="10201980" y="1774813"/>
            <a:ext cx="1903085" cy="369332"/>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Biased exponent</a:t>
            </a:r>
          </a:p>
        </p:txBody>
      </p:sp>
      <p:cxnSp>
        <p:nvCxnSpPr>
          <p:cNvPr id="33" name="Straight Arrow Connector 32">
            <a:extLst>
              <a:ext uri="{FF2B5EF4-FFF2-40B4-BE49-F238E27FC236}">
                <a16:creationId xmlns:a16="http://schemas.microsoft.com/office/drawing/2014/main" id="{FEC13135-1BAA-4876-8875-12A3BB9560E7}"/>
              </a:ext>
            </a:extLst>
          </p:cNvPr>
          <p:cNvCxnSpPr>
            <a:cxnSpLocks/>
          </p:cNvCxnSpPr>
          <p:nvPr/>
        </p:nvCxnSpPr>
        <p:spPr bwMode="auto">
          <a:xfrm flipH="1">
            <a:off x="9182100" y="1984762"/>
            <a:ext cx="1019880" cy="127877"/>
          </a:xfrm>
          <a:prstGeom prst="straightConnector1">
            <a:avLst/>
          </a:prstGeom>
          <a:noFill/>
          <a:ln w="15875" cap="flat" cmpd="sng" algn="ctr">
            <a:solidFill>
              <a:srgbClr val="FF0000"/>
            </a:solidFill>
            <a:prstDash val="solid"/>
            <a:round/>
            <a:headEnd type="none" w="med" len="med"/>
            <a:tailEnd type="triangle"/>
          </a:ln>
          <a:effectLst/>
        </p:spPr>
      </p:cxnSp>
      <p:sp>
        <p:nvSpPr>
          <p:cNvPr id="30" name="Left Brace 29">
            <a:extLst>
              <a:ext uri="{FF2B5EF4-FFF2-40B4-BE49-F238E27FC236}">
                <a16:creationId xmlns:a16="http://schemas.microsoft.com/office/drawing/2014/main" id="{0ABC52E1-8567-4FE9-86DA-09B64DEA1034}"/>
              </a:ext>
            </a:extLst>
          </p:cNvPr>
          <p:cNvSpPr/>
          <p:nvPr/>
        </p:nvSpPr>
        <p:spPr bwMode="auto">
          <a:xfrm>
            <a:off x="3288571" y="3249566"/>
            <a:ext cx="313719" cy="1106745"/>
          </a:xfrm>
          <a:prstGeom prst="leftBrace">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1" grpId="0" animBg="1"/>
      <p:bldP spid="27" grpId="0" animBg="1"/>
      <p:bldP spid="3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IEEE Single Precision Floating-Point Numbers</a:t>
            </a:r>
          </a:p>
        </p:txBody>
      </p:sp>
      <p:grpSp>
        <p:nvGrpSpPr>
          <p:cNvPr id="15" name="Group 14"/>
          <p:cNvGrpSpPr/>
          <p:nvPr/>
        </p:nvGrpSpPr>
        <p:grpSpPr>
          <a:xfrm>
            <a:off x="3495642" y="1073570"/>
            <a:ext cx="5515009" cy="655163"/>
            <a:chOff x="1749390" y="1291236"/>
            <a:chExt cx="5515009" cy="655162"/>
          </a:xfrm>
        </p:grpSpPr>
        <p:grpSp>
          <p:nvGrpSpPr>
            <p:cNvPr id="16" name="Group 15"/>
            <p:cNvGrpSpPr/>
            <p:nvPr/>
          </p:nvGrpSpPr>
          <p:grpSpPr>
            <a:xfrm>
              <a:off x="1879601" y="1599014"/>
              <a:ext cx="5384798" cy="347384"/>
              <a:chOff x="2969147" y="5536856"/>
              <a:chExt cx="5384798" cy="347384"/>
            </a:xfrm>
          </p:grpSpPr>
          <p:sp>
            <p:nvSpPr>
              <p:cNvPr id="20" name="Rectangle 19"/>
              <p:cNvSpPr/>
              <p:nvPr/>
            </p:nvSpPr>
            <p:spPr>
              <a:xfrm>
                <a:off x="2969147" y="5536856"/>
                <a:ext cx="262478" cy="347384"/>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b="1" dirty="0">
                    <a:solidFill>
                      <a:schemeClr val="accent1"/>
                    </a:solidFill>
                  </a:rPr>
                  <a:t>s</a:t>
                </a:r>
              </a:p>
            </p:txBody>
          </p:sp>
          <p:sp>
            <p:nvSpPr>
              <p:cNvPr id="21" name="Rectangle 20"/>
              <p:cNvSpPr/>
              <p:nvPr/>
            </p:nvSpPr>
            <p:spPr>
              <a:xfrm>
                <a:off x="3231625" y="5536856"/>
                <a:ext cx="1213896" cy="347384"/>
              </a:xfrm>
              <a:prstGeom prst="rect">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b="1" dirty="0">
                    <a:solidFill>
                      <a:schemeClr val="accent1"/>
                    </a:solidFill>
                  </a:rPr>
                  <a:t>exponent</a:t>
                </a:r>
              </a:p>
            </p:txBody>
          </p:sp>
          <p:sp>
            <p:nvSpPr>
              <p:cNvPr id="22" name="Rectangle 21"/>
              <p:cNvSpPr/>
              <p:nvPr/>
            </p:nvSpPr>
            <p:spPr>
              <a:xfrm>
                <a:off x="4445520" y="5536856"/>
                <a:ext cx="3908425" cy="347384"/>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b="1" dirty="0">
                    <a:solidFill>
                      <a:schemeClr val="accent1"/>
                    </a:solidFill>
                  </a:rPr>
                  <a:t>fraction</a:t>
                </a:r>
                <a:r>
                  <a:rPr lang="en-US" dirty="0">
                    <a:solidFill>
                      <a:schemeClr val="tx1"/>
                    </a:solidFill>
                  </a:rPr>
                  <a:t>/</a:t>
                </a:r>
                <a:r>
                  <a:rPr lang="en-US" b="1" dirty="0">
                    <a:solidFill>
                      <a:schemeClr val="accent1"/>
                    </a:solidFill>
                  </a:rPr>
                  <a:t>mantissa</a:t>
                </a:r>
              </a:p>
            </p:txBody>
          </p:sp>
        </p:grpSp>
        <p:sp>
          <p:nvSpPr>
            <p:cNvPr id="17" name="TextBox 16"/>
            <p:cNvSpPr txBox="1"/>
            <p:nvPr/>
          </p:nvSpPr>
          <p:spPr>
            <a:xfrm>
              <a:off x="1749390" y="1291237"/>
              <a:ext cx="522900" cy="307777"/>
            </a:xfrm>
            <a:prstGeom prst="rect">
              <a:avLst/>
            </a:prstGeom>
            <a:noFill/>
          </p:spPr>
          <p:txBody>
            <a:bodyPr wrap="none" rtlCol="0">
              <a:spAutoFit/>
            </a:bodyPr>
            <a:lstStyle/>
            <a:p>
              <a:r>
                <a:rPr lang="en-US" sz="1400" dirty="0"/>
                <a:t>1 bit</a:t>
              </a:r>
            </a:p>
          </p:txBody>
        </p:sp>
        <p:sp>
          <p:nvSpPr>
            <p:cNvPr id="18" name="TextBox 17"/>
            <p:cNvSpPr txBox="1"/>
            <p:nvPr/>
          </p:nvSpPr>
          <p:spPr>
            <a:xfrm>
              <a:off x="2461490" y="1291236"/>
              <a:ext cx="612668" cy="307777"/>
            </a:xfrm>
            <a:prstGeom prst="rect">
              <a:avLst/>
            </a:prstGeom>
            <a:noFill/>
          </p:spPr>
          <p:txBody>
            <a:bodyPr wrap="none" rtlCol="0">
              <a:spAutoFit/>
            </a:bodyPr>
            <a:lstStyle/>
            <a:p>
              <a:r>
                <a:rPr lang="en-US" sz="1400" dirty="0"/>
                <a:t>8 bits</a:t>
              </a:r>
            </a:p>
          </p:txBody>
        </p:sp>
        <p:sp>
          <p:nvSpPr>
            <p:cNvPr id="19" name="TextBox 18"/>
            <p:cNvSpPr txBox="1"/>
            <p:nvPr/>
          </p:nvSpPr>
          <p:spPr>
            <a:xfrm>
              <a:off x="4937864" y="1291236"/>
              <a:ext cx="712054" cy="307777"/>
            </a:xfrm>
            <a:prstGeom prst="rect">
              <a:avLst/>
            </a:prstGeom>
            <a:noFill/>
          </p:spPr>
          <p:txBody>
            <a:bodyPr wrap="none" rtlCol="0">
              <a:spAutoFit/>
            </a:bodyPr>
            <a:lstStyle/>
            <a:p>
              <a:r>
                <a:rPr lang="en-US" sz="1400" dirty="0"/>
                <a:t>23 bits</a:t>
              </a:r>
            </a:p>
          </p:txBody>
        </p:sp>
      </p:grpSp>
      <p:sp>
        <p:nvSpPr>
          <p:cNvPr id="23" name="TextBox 22"/>
          <p:cNvSpPr txBox="1"/>
          <p:nvPr/>
        </p:nvSpPr>
        <p:spPr>
          <a:xfrm>
            <a:off x="4150856" y="1824909"/>
            <a:ext cx="5174815" cy="461665"/>
          </a:xfrm>
          <a:prstGeom prst="rect">
            <a:avLst/>
          </a:prstGeom>
          <a:noFill/>
          <a:ln w="19050">
            <a:solidFill>
              <a:srgbClr val="FF0000"/>
            </a:solidFill>
          </a:ln>
        </p:spPr>
        <p:txBody>
          <a:bodyPr wrap="none" rtlCol="0">
            <a:spAutoFit/>
          </a:bodyPr>
          <a:lstStyle/>
          <a:p>
            <a:r>
              <a:rPr lang="en-US" sz="2400" dirty="0"/>
              <a:t>x = (−1)</a:t>
            </a:r>
            <a:r>
              <a:rPr lang="en-US" sz="2400" baseline="30000" dirty="0"/>
              <a:t>s</a:t>
            </a:r>
            <a:r>
              <a:rPr lang="en-US" sz="2400" dirty="0"/>
              <a:t> × (1+fraction) × 2</a:t>
            </a:r>
            <a:r>
              <a:rPr lang="en-US" sz="2400" baseline="30000" dirty="0"/>
              <a:t>(exponent−127)</a:t>
            </a:r>
          </a:p>
        </p:txBody>
      </p:sp>
      <p:sp>
        <p:nvSpPr>
          <p:cNvPr id="24" name="TextBox 23"/>
          <p:cNvSpPr txBox="1"/>
          <p:nvPr/>
        </p:nvSpPr>
        <p:spPr>
          <a:xfrm>
            <a:off x="1990020" y="1880834"/>
            <a:ext cx="1992853" cy="369332"/>
          </a:xfrm>
          <a:prstGeom prst="rect">
            <a:avLst/>
          </a:prstGeom>
          <a:noFill/>
        </p:spPr>
        <p:txBody>
          <a:bodyPr wrap="none" rtlCol="0">
            <a:spAutoFit/>
          </a:bodyPr>
          <a:lstStyle/>
          <a:p>
            <a:r>
              <a:rPr lang="en-US" b="1" u="sng" dirty="0"/>
              <a:t>Single-Precision</a:t>
            </a:r>
          </a:p>
        </p:txBody>
      </p:sp>
      <p:sp>
        <p:nvSpPr>
          <p:cNvPr id="3" name="灯片编号占位符 2"/>
          <p:cNvSpPr>
            <a:spLocks noGrp="1"/>
          </p:cNvSpPr>
          <p:nvPr>
            <p:ph type="sldNum" sz="quarter" idx="10"/>
          </p:nvPr>
        </p:nvSpPr>
        <p:spPr/>
        <p:txBody>
          <a:bodyPr/>
          <a:lstStyle/>
          <a:p>
            <a:fld id="{D9B6BDF2-6896-4B98-8776-C18582F63BA5}" type="slidenum">
              <a:rPr lang="zh-TW" altLang="en-US" smtClean="0"/>
              <a:t>8</a:t>
            </a:fld>
            <a:endParaRPr lang="zh-TW" altLang="en-US"/>
          </a:p>
        </p:txBody>
      </p:sp>
      <p:sp>
        <p:nvSpPr>
          <p:cNvPr id="27" name="TextBox 26">
            <a:extLst>
              <a:ext uri="{FF2B5EF4-FFF2-40B4-BE49-F238E27FC236}">
                <a16:creationId xmlns:a16="http://schemas.microsoft.com/office/drawing/2014/main" id="{12AE6109-038E-478B-8624-BD4810E96565}"/>
              </a:ext>
            </a:extLst>
          </p:cNvPr>
          <p:cNvSpPr txBox="1"/>
          <p:nvPr/>
        </p:nvSpPr>
        <p:spPr>
          <a:xfrm>
            <a:off x="622570" y="2523527"/>
            <a:ext cx="11245173" cy="4062651"/>
          </a:xfrm>
          <a:prstGeom prst="rect">
            <a:avLst/>
          </a:prstGeom>
          <a:noFill/>
        </p:spPr>
        <p:txBody>
          <a:bodyPr wrap="square">
            <a:spAutoFit/>
          </a:bodyPr>
          <a:lstStyle/>
          <a:p>
            <a:pPr marL="342900" indent="-342900">
              <a:buSzPct val="150000"/>
              <a:buFont typeface="Arial" panose="020B0604020202020204" pitchFamily="34" charset="0"/>
              <a:buChar char="•"/>
            </a:pPr>
            <a:r>
              <a:rPr kumimoji="0" lang="en-US" sz="2400" b="0" i="0" u="none" strike="noStrike" kern="1200" cap="none" spc="0" normalizeH="0" baseline="0" noProof="0" dirty="0">
                <a:ln>
                  <a:noFill/>
                </a:ln>
                <a:solidFill>
                  <a:prstClr val="black"/>
                </a:solidFill>
                <a:effectLst/>
                <a:uLnTx/>
                <a:uFillTx/>
                <a:latin typeface="Arial"/>
                <a:ea typeface="新細明體"/>
                <a:cs typeface="+mn-cs"/>
              </a:rPr>
              <a:t>(1+fraction) is called the </a:t>
            </a:r>
            <a:r>
              <a:rPr kumimoji="0" lang="en-US" sz="2400" b="0" i="1" u="none" strike="noStrike" kern="1200" cap="none" spc="0" normalizeH="0" baseline="0" noProof="0" dirty="0">
                <a:ln>
                  <a:noFill/>
                </a:ln>
                <a:solidFill>
                  <a:prstClr val="black"/>
                </a:solidFill>
                <a:effectLst/>
                <a:uLnTx/>
                <a:uFillTx/>
                <a:latin typeface="Arial"/>
                <a:ea typeface="新細明體"/>
                <a:cs typeface="+mn-cs"/>
              </a:rPr>
              <a:t>significand</a:t>
            </a:r>
          </a:p>
          <a:p>
            <a:pPr marL="342900" indent="-342900">
              <a:buSzPct val="150000"/>
              <a:buFont typeface="Arial" panose="020B0604020202020204" pitchFamily="34" charset="0"/>
              <a:buChar char="•"/>
            </a:pPr>
            <a:r>
              <a:rPr lang="en-US" sz="2400" i="1" dirty="0">
                <a:solidFill>
                  <a:prstClr val="black"/>
                </a:solidFill>
                <a:latin typeface="Arial"/>
                <a:ea typeface="新細明體"/>
              </a:rPr>
              <a:t>The largest </a:t>
            </a:r>
            <a:r>
              <a:rPr kumimoji="0" lang="en-US" sz="2400" b="0" i="1" u="none" strike="noStrike" kern="1200" cap="none" spc="0" normalizeH="0" baseline="0" noProof="0" dirty="0">
                <a:ln>
                  <a:noFill/>
                </a:ln>
                <a:solidFill>
                  <a:prstClr val="black"/>
                </a:solidFill>
                <a:effectLst/>
                <a:uLnTx/>
                <a:uFillTx/>
                <a:latin typeface="Arial"/>
                <a:ea typeface="新細明體"/>
                <a:cs typeface="+mn-cs"/>
              </a:rPr>
              <a:t> SP number is (1+0.111111…) x </a:t>
            </a:r>
            <a:r>
              <a:rPr kumimoji="0" lang="en-US" sz="2400" b="0" i="0" u="none" strike="noStrike" kern="1200" cap="none" spc="0" normalizeH="0" baseline="0" noProof="0" dirty="0">
                <a:ln>
                  <a:noFill/>
                </a:ln>
                <a:solidFill>
                  <a:prstClr val="black"/>
                </a:solidFill>
                <a:effectLst/>
                <a:uLnTx/>
                <a:uFillTx/>
                <a:latin typeface="Arial"/>
                <a:ea typeface="新細明體"/>
                <a:cs typeface="+mn-cs"/>
              </a:rPr>
              <a:t>2</a:t>
            </a:r>
            <a:r>
              <a:rPr kumimoji="0" lang="en-US" sz="2400" b="0" i="0" u="none" strike="noStrike" kern="1200" cap="none" spc="0" normalizeH="0" baseline="30000" noProof="0" dirty="0">
                <a:ln>
                  <a:noFill/>
                </a:ln>
                <a:solidFill>
                  <a:prstClr val="black"/>
                </a:solidFill>
                <a:effectLst/>
                <a:uLnTx/>
                <a:uFillTx/>
                <a:latin typeface="Arial"/>
                <a:ea typeface="新細明體"/>
                <a:cs typeface="+mn-cs"/>
              </a:rPr>
              <a:t>(254−127)</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400" baseline="30000" dirty="0">
                <a:solidFill>
                  <a:prstClr val="black"/>
                </a:solidFill>
                <a:latin typeface="Arial"/>
                <a:ea typeface="新細明體"/>
              </a:rPr>
              <a:t> 	</a:t>
            </a:r>
            <a:r>
              <a:rPr lang="en-US" sz="2400" dirty="0">
                <a:solidFill>
                  <a:prstClr val="black"/>
                </a:solidFill>
                <a:latin typeface="Arial"/>
                <a:ea typeface="新細明體"/>
              </a:rPr>
              <a:t>which is</a:t>
            </a:r>
            <a:r>
              <a:rPr lang="en-US" sz="2400" baseline="30000" dirty="0">
                <a:solidFill>
                  <a:prstClr val="black"/>
                </a:solidFill>
                <a:latin typeface="Arial"/>
                <a:ea typeface="新細明體"/>
              </a:rPr>
              <a:t>   </a:t>
            </a:r>
            <a:r>
              <a:rPr kumimoji="0" lang="en-US" sz="2400" b="0" i="0" u="none" strike="noStrike" kern="1200" cap="none" spc="0" normalizeH="0" baseline="0" noProof="0" dirty="0">
                <a:ln>
                  <a:noFill/>
                </a:ln>
                <a:solidFill>
                  <a:prstClr val="black"/>
                </a:solidFill>
                <a:effectLst/>
                <a:uLnTx/>
                <a:uFillTx/>
                <a:latin typeface="Arial"/>
                <a:ea typeface="新細明體"/>
                <a:cs typeface="+mn-cs"/>
              </a:rPr>
              <a:t>2</a:t>
            </a:r>
            <a:r>
              <a:rPr kumimoji="0" lang="en-US" sz="2400" b="0" i="0" u="none" strike="noStrike" kern="1200" cap="none" spc="0" normalizeH="0" baseline="30000" noProof="0" dirty="0">
                <a:ln>
                  <a:noFill/>
                </a:ln>
                <a:solidFill>
                  <a:prstClr val="black"/>
                </a:solidFill>
                <a:effectLst/>
                <a:uLnTx/>
                <a:uFillTx/>
                <a:latin typeface="Arial"/>
                <a:ea typeface="新細明體"/>
                <a:cs typeface="+mn-cs"/>
              </a:rPr>
              <a:t>127</a:t>
            </a:r>
            <a:r>
              <a:rPr lang="el-GR" sz="2400" b="0" i="0" dirty="0">
                <a:solidFill>
                  <a:srgbClr val="0D0D0D"/>
                </a:solidFill>
                <a:effectLst/>
                <a:latin typeface="KaTeX_Main"/>
              </a:rPr>
              <a:t>×(2−</a:t>
            </a:r>
            <a:r>
              <a:rPr lang="el-GR" sz="2400" b="0" i="1" dirty="0">
                <a:solidFill>
                  <a:srgbClr val="0D0D0D"/>
                </a:solidFill>
                <a:effectLst/>
                <a:latin typeface="KaTeX_Math"/>
              </a:rPr>
              <a:t>ϵ</a:t>
            </a:r>
            <a:r>
              <a:rPr lang="el-GR" sz="2400" b="0" i="0" dirty="0">
                <a:solidFill>
                  <a:srgbClr val="0D0D0D"/>
                </a:solidFill>
                <a:effectLst/>
                <a:latin typeface="KaTeX_Main"/>
              </a:rPr>
              <a:t>)</a:t>
            </a:r>
            <a:r>
              <a:rPr lang="en-US" sz="2400" dirty="0">
                <a:solidFill>
                  <a:srgbClr val="0D0D0D"/>
                </a:solidFill>
                <a:latin typeface="Söhne"/>
              </a:rPr>
              <a:t>  </a:t>
            </a:r>
            <a:r>
              <a:rPr lang="en-US" sz="2400" dirty="0">
                <a:solidFill>
                  <a:srgbClr val="0D0D0D"/>
                </a:solidFill>
              </a:rPr>
              <a:t>~ </a:t>
            </a:r>
            <a:r>
              <a:rPr lang="en-US" sz="2400" b="0" i="0" dirty="0">
                <a:solidFill>
                  <a:srgbClr val="0D0D0D"/>
                </a:solidFill>
                <a:effectLst/>
              </a:rPr>
              <a:t>3.4028235 </a:t>
            </a:r>
            <a:r>
              <a:rPr lang="en-US" b="0" i="0" dirty="0">
                <a:solidFill>
                  <a:srgbClr val="0D0D0D"/>
                </a:solidFill>
                <a:effectLst/>
                <a:latin typeface="KaTeX_Main"/>
              </a:rPr>
              <a:t>× </a:t>
            </a:r>
            <a:r>
              <a:rPr lang="en-US" sz="2400" dirty="0">
                <a:solidFill>
                  <a:prstClr val="black"/>
                </a:solidFill>
                <a:latin typeface="Arial"/>
                <a:ea typeface="新細明體"/>
              </a:rPr>
              <a:t>10</a:t>
            </a:r>
            <a:r>
              <a:rPr lang="en-US" sz="2400" baseline="30000" dirty="0">
                <a:solidFill>
                  <a:prstClr val="black"/>
                </a:solidFill>
                <a:latin typeface="Arial"/>
                <a:ea typeface="新細明體"/>
              </a:rPr>
              <a:t>38  </a:t>
            </a:r>
            <a:br>
              <a:rPr lang="en-US" dirty="0"/>
            </a:br>
            <a:r>
              <a:rPr lang="en-US" dirty="0"/>
              <a:t> 	</a:t>
            </a:r>
            <a:r>
              <a:rPr kumimoji="0" lang="en-US" sz="2400" b="0" i="0" u="none" strike="noStrike" kern="1200" cap="none" spc="0" normalizeH="0" baseline="0" noProof="0" dirty="0">
                <a:ln>
                  <a:noFill/>
                </a:ln>
                <a:solidFill>
                  <a:prstClr val="black"/>
                </a:solidFill>
                <a:effectLst/>
                <a:uLnTx/>
                <a:uFillTx/>
                <a:latin typeface="Arial"/>
                <a:ea typeface="新細明體"/>
                <a:cs typeface="+mn-cs"/>
              </a:rPr>
              <a:t>The bit pattern is  </a:t>
            </a:r>
            <a:r>
              <a:rPr kumimoji="0" lang="en-US" sz="2400" b="0" i="0" u="none" strike="noStrike" kern="1200" cap="none" spc="0" normalizeH="0" baseline="0" noProof="0" dirty="0">
                <a:ln>
                  <a:noFill/>
                </a:ln>
                <a:solidFill>
                  <a:srgbClr val="FF0000"/>
                </a:solidFill>
                <a:effectLst/>
                <a:uLnTx/>
                <a:uFillTx/>
                <a:latin typeface="Arial"/>
                <a:ea typeface="新細明體"/>
                <a:cs typeface="+mn-cs"/>
              </a:rPr>
              <a:t>0</a:t>
            </a:r>
            <a:r>
              <a:rPr kumimoji="0" lang="en-US" sz="2400" b="0" i="0" u="none" strike="noStrike" kern="1200" cap="none" spc="0" normalizeH="0" baseline="0" noProof="0" dirty="0">
                <a:ln>
                  <a:noFill/>
                </a:ln>
                <a:solidFill>
                  <a:prstClr val="black"/>
                </a:solidFill>
                <a:effectLst/>
                <a:uLnTx/>
                <a:uFillTx/>
                <a:latin typeface="Arial"/>
                <a:ea typeface="新細明體"/>
                <a:cs typeface="+mn-cs"/>
              </a:rPr>
              <a:t> </a:t>
            </a:r>
            <a:r>
              <a:rPr kumimoji="0" lang="en-US" sz="2400" b="0" i="0" u="none" strike="noStrike" kern="1200" cap="none" spc="0" normalizeH="0" baseline="0" noProof="0" dirty="0">
                <a:ln>
                  <a:noFill/>
                </a:ln>
                <a:solidFill>
                  <a:srgbClr val="92D050"/>
                </a:solidFill>
                <a:effectLst/>
                <a:uLnTx/>
                <a:uFillTx/>
                <a:latin typeface="Arial"/>
                <a:ea typeface="新細明體"/>
                <a:cs typeface="+mn-cs"/>
              </a:rPr>
              <a:t>11111110</a:t>
            </a:r>
            <a:r>
              <a:rPr kumimoji="0" lang="en-US" sz="2400" b="0" i="0" u="none" strike="noStrike" kern="1200" cap="none" spc="0" normalizeH="0" baseline="0" noProof="0" dirty="0">
                <a:ln>
                  <a:noFill/>
                </a:ln>
                <a:solidFill>
                  <a:prstClr val="black"/>
                </a:solidFill>
                <a:effectLst/>
                <a:uLnTx/>
                <a:uFillTx/>
                <a:latin typeface="Arial"/>
                <a:ea typeface="新細明體"/>
                <a:cs typeface="+mn-cs"/>
              </a:rPr>
              <a:t> </a:t>
            </a:r>
            <a:r>
              <a:rPr kumimoji="0" lang="en-US" sz="2400" b="0" i="0" u="none" strike="noStrike" kern="1200" cap="none" spc="0" normalizeH="0" baseline="0" noProof="0" dirty="0">
                <a:ln>
                  <a:noFill/>
                </a:ln>
                <a:solidFill>
                  <a:schemeClr val="accent6"/>
                </a:solidFill>
                <a:effectLst/>
                <a:uLnTx/>
                <a:uFillTx/>
                <a:latin typeface="Arial"/>
                <a:ea typeface="新細明體"/>
                <a:cs typeface="+mn-cs"/>
              </a:rPr>
              <a:t>11111111111111111111111</a:t>
            </a:r>
          </a:p>
          <a:p>
            <a:pPr marL="342900" marR="0" lvl="0" indent="-342900" algn="l" defTabSz="914400" rtl="0" eaLnBrk="1" fontAlgn="auto" latinLnBrk="0" hangingPunct="1">
              <a:lnSpc>
                <a:spcPct val="100000"/>
              </a:lnSpc>
              <a:spcBef>
                <a:spcPts val="0"/>
              </a:spcBef>
              <a:spcAft>
                <a:spcPts val="0"/>
              </a:spcAft>
              <a:buClrTx/>
              <a:buSzPct val="150000"/>
              <a:buFont typeface="Arial" panose="020B0604020202020204" pitchFamily="34" charset="0"/>
              <a:buChar char="•"/>
              <a:tabLst/>
              <a:defRPr/>
            </a:pPr>
            <a:r>
              <a:rPr kumimoji="0" lang="en-US" sz="2400" b="0" i="1" u="none" strike="noStrike" kern="1200" cap="none" spc="0" normalizeH="0" baseline="0" noProof="0" dirty="0">
                <a:ln>
                  <a:noFill/>
                </a:ln>
                <a:solidFill>
                  <a:prstClr val="black"/>
                </a:solidFill>
                <a:effectLst/>
                <a:uLnTx/>
                <a:uFillTx/>
                <a:latin typeface="Arial"/>
                <a:ea typeface="新細明體"/>
                <a:cs typeface="+mn-cs"/>
              </a:rPr>
              <a:t>The smallest SP number (normalized) is (1+0.00000…) x </a:t>
            </a:r>
            <a:r>
              <a:rPr kumimoji="0" lang="en-US" sz="2400" b="0" i="0" u="none" strike="noStrike" kern="1200" cap="none" spc="0" normalizeH="0" baseline="0" noProof="0" dirty="0">
                <a:ln>
                  <a:noFill/>
                </a:ln>
                <a:solidFill>
                  <a:prstClr val="black"/>
                </a:solidFill>
                <a:effectLst/>
                <a:uLnTx/>
                <a:uFillTx/>
                <a:latin typeface="Arial"/>
                <a:ea typeface="新細明體"/>
                <a:cs typeface="+mn-cs"/>
              </a:rPr>
              <a:t>2</a:t>
            </a:r>
            <a:r>
              <a:rPr kumimoji="0" lang="en-US" sz="2400" b="0" i="0" u="none" strike="noStrike" kern="1200" cap="none" spc="0" normalizeH="0" baseline="30000" noProof="0" dirty="0">
                <a:ln>
                  <a:noFill/>
                </a:ln>
                <a:solidFill>
                  <a:prstClr val="black"/>
                </a:solidFill>
                <a:effectLst/>
                <a:uLnTx/>
                <a:uFillTx/>
                <a:latin typeface="Arial"/>
                <a:ea typeface="新細明體"/>
                <a:cs typeface="+mn-cs"/>
              </a:rPr>
              <a:t>(1−127)</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30000" noProof="0" dirty="0">
                <a:ln>
                  <a:noFill/>
                </a:ln>
                <a:solidFill>
                  <a:prstClr val="black"/>
                </a:solidFill>
                <a:effectLst/>
                <a:uLnTx/>
                <a:uFillTx/>
                <a:latin typeface="Arial"/>
                <a:ea typeface="新細明體"/>
                <a:cs typeface="+mn-cs"/>
              </a:rPr>
              <a:t> 	</a:t>
            </a:r>
            <a:r>
              <a:rPr kumimoji="0" lang="en-US" sz="2400" b="0" i="0" u="none" strike="noStrike" kern="1200" cap="none" spc="0" normalizeH="0" baseline="0" noProof="0" dirty="0">
                <a:ln>
                  <a:noFill/>
                </a:ln>
                <a:solidFill>
                  <a:prstClr val="black"/>
                </a:solidFill>
                <a:effectLst/>
                <a:uLnTx/>
                <a:uFillTx/>
                <a:latin typeface="Arial"/>
                <a:ea typeface="新細明體"/>
                <a:cs typeface="+mn-cs"/>
              </a:rPr>
              <a:t>which is</a:t>
            </a:r>
            <a:r>
              <a:rPr kumimoji="0" lang="en-US" sz="2400" b="0" i="0" u="none" strike="noStrike" kern="1200" cap="none" spc="0" normalizeH="0" baseline="30000" noProof="0" dirty="0">
                <a:ln>
                  <a:noFill/>
                </a:ln>
                <a:solidFill>
                  <a:prstClr val="black"/>
                </a:solidFill>
                <a:effectLst/>
                <a:uLnTx/>
                <a:uFillTx/>
                <a:latin typeface="Arial"/>
                <a:ea typeface="新細明體"/>
                <a:cs typeface="+mn-cs"/>
              </a:rPr>
              <a:t>   </a:t>
            </a:r>
            <a:r>
              <a:rPr kumimoji="0" lang="en-US" sz="2400" b="0" i="0" u="none" strike="noStrike" kern="1200" cap="none" spc="0" normalizeH="0" baseline="0" noProof="0" dirty="0">
                <a:ln>
                  <a:noFill/>
                </a:ln>
                <a:solidFill>
                  <a:prstClr val="black"/>
                </a:solidFill>
                <a:effectLst/>
                <a:uLnTx/>
                <a:uFillTx/>
                <a:latin typeface="Arial"/>
                <a:ea typeface="新細明體"/>
                <a:cs typeface="+mn-cs"/>
              </a:rPr>
              <a:t>2</a:t>
            </a:r>
            <a:r>
              <a:rPr kumimoji="0" lang="en-US" sz="2400" b="0" i="0" u="none" strike="noStrike" kern="1200" cap="none" spc="0" normalizeH="0" baseline="30000" noProof="0" dirty="0">
                <a:ln>
                  <a:noFill/>
                </a:ln>
                <a:solidFill>
                  <a:prstClr val="black"/>
                </a:solidFill>
                <a:effectLst/>
                <a:uLnTx/>
                <a:uFillTx/>
                <a:latin typeface="Arial"/>
                <a:ea typeface="新細明體"/>
                <a:cs typeface="+mn-cs"/>
              </a:rPr>
              <a:t>-126</a:t>
            </a:r>
            <a:r>
              <a:rPr lang="en-US" sz="2400" dirty="0">
                <a:solidFill>
                  <a:srgbClr val="0D0D0D"/>
                </a:solidFill>
                <a:latin typeface="KaTeX_Main"/>
                <a:ea typeface="新細明體"/>
              </a:rPr>
              <a:t> </a:t>
            </a:r>
            <a:r>
              <a:rPr kumimoji="0" lang="en-US" sz="2400" b="0" i="0" u="none" strike="noStrike" kern="1200" cap="none" spc="0" normalizeH="0" baseline="0" noProof="0" dirty="0">
                <a:ln>
                  <a:noFill/>
                </a:ln>
                <a:solidFill>
                  <a:srgbClr val="0D0D0D"/>
                </a:solidFill>
                <a:effectLst/>
                <a:uLnTx/>
                <a:uFillTx/>
                <a:latin typeface="Söhne"/>
                <a:ea typeface="新細明體"/>
                <a:cs typeface="+mn-cs"/>
              </a:rPr>
              <a:t>  </a:t>
            </a:r>
            <a:br>
              <a:rPr kumimoji="0" lang="en-US" sz="1800" b="0" i="0" u="none" strike="noStrike" kern="1200" cap="none" spc="0" normalizeH="0" baseline="0" noProof="0" dirty="0">
                <a:ln>
                  <a:noFill/>
                </a:ln>
                <a:solidFill>
                  <a:prstClr val="black"/>
                </a:solidFill>
                <a:effectLst/>
                <a:uLnTx/>
                <a:uFillTx/>
                <a:latin typeface="Arial"/>
                <a:ea typeface="新細明體"/>
                <a:cs typeface="+mn-cs"/>
              </a:rPr>
            </a:br>
            <a:r>
              <a:rPr kumimoji="0" lang="en-US" sz="1800" b="0" i="0" u="none" strike="noStrike" kern="1200" cap="none" spc="0" normalizeH="0" baseline="0" noProof="0" dirty="0">
                <a:ln>
                  <a:noFill/>
                </a:ln>
                <a:solidFill>
                  <a:prstClr val="black"/>
                </a:solidFill>
                <a:effectLst/>
                <a:uLnTx/>
                <a:uFillTx/>
                <a:latin typeface="Arial"/>
                <a:ea typeface="新細明體"/>
                <a:cs typeface="+mn-cs"/>
              </a:rPr>
              <a:t> 	</a:t>
            </a:r>
            <a:r>
              <a:rPr kumimoji="0" lang="en-US" sz="2400" b="0" i="0" u="none" strike="noStrike" kern="1200" cap="none" spc="0" normalizeH="0" baseline="0" noProof="0" dirty="0">
                <a:ln>
                  <a:noFill/>
                </a:ln>
                <a:solidFill>
                  <a:prstClr val="black"/>
                </a:solidFill>
                <a:effectLst/>
                <a:uLnTx/>
                <a:uFillTx/>
                <a:latin typeface="Arial"/>
                <a:ea typeface="新細明體"/>
                <a:cs typeface="+mn-cs"/>
              </a:rPr>
              <a:t>The bit pattern is  </a:t>
            </a:r>
            <a:r>
              <a:rPr kumimoji="0" lang="en-US" sz="2400" b="0" i="0" u="none" strike="noStrike" kern="1200" cap="none" spc="0" normalizeH="0" baseline="0" noProof="0" dirty="0">
                <a:ln>
                  <a:noFill/>
                </a:ln>
                <a:solidFill>
                  <a:srgbClr val="FF0000"/>
                </a:solidFill>
                <a:effectLst/>
                <a:uLnTx/>
                <a:uFillTx/>
                <a:latin typeface="Arial"/>
                <a:ea typeface="新細明體"/>
                <a:cs typeface="+mn-cs"/>
              </a:rPr>
              <a:t>0</a:t>
            </a:r>
            <a:r>
              <a:rPr kumimoji="0" lang="en-US" sz="2400" b="0" i="0" u="none" strike="noStrike" kern="1200" cap="none" spc="0" normalizeH="0" baseline="0" noProof="0" dirty="0">
                <a:ln>
                  <a:noFill/>
                </a:ln>
                <a:solidFill>
                  <a:prstClr val="black"/>
                </a:solidFill>
                <a:effectLst/>
                <a:uLnTx/>
                <a:uFillTx/>
                <a:latin typeface="Arial"/>
                <a:ea typeface="新細明體"/>
                <a:cs typeface="+mn-cs"/>
              </a:rPr>
              <a:t> </a:t>
            </a:r>
            <a:r>
              <a:rPr lang="en-US" sz="2400" dirty="0">
                <a:solidFill>
                  <a:srgbClr val="92D050"/>
                </a:solidFill>
                <a:latin typeface="Arial"/>
                <a:ea typeface="新細明體"/>
              </a:rPr>
              <a:t>00000001</a:t>
            </a:r>
            <a:r>
              <a:rPr kumimoji="0" lang="en-US" sz="2400" b="0" i="0" u="none" strike="noStrike" kern="1200" cap="none" spc="0" normalizeH="0" baseline="0" noProof="0" dirty="0">
                <a:ln>
                  <a:noFill/>
                </a:ln>
                <a:solidFill>
                  <a:prstClr val="black"/>
                </a:solidFill>
                <a:effectLst/>
                <a:uLnTx/>
                <a:uFillTx/>
                <a:latin typeface="Arial"/>
                <a:ea typeface="新細明體"/>
                <a:cs typeface="+mn-cs"/>
              </a:rPr>
              <a:t> </a:t>
            </a:r>
            <a:r>
              <a:rPr lang="en-US" sz="2400" dirty="0">
                <a:solidFill>
                  <a:srgbClr val="F79646"/>
                </a:solidFill>
                <a:latin typeface="Arial"/>
                <a:ea typeface="新細明體"/>
              </a:rPr>
              <a:t>00000000000000000000000</a:t>
            </a:r>
            <a:endParaRPr kumimoji="0" lang="en-US" sz="2400" b="0" i="0" u="none" strike="noStrike" kern="1200" cap="none" spc="0" normalizeH="0" baseline="0" noProof="0" dirty="0">
              <a:ln>
                <a:noFill/>
              </a:ln>
              <a:solidFill>
                <a:srgbClr val="F79646"/>
              </a:solidFill>
              <a:effectLst/>
              <a:uLnTx/>
              <a:uFillTx/>
              <a:latin typeface="Arial"/>
              <a:ea typeface="新細明體"/>
              <a:cs typeface="+mn-cs"/>
            </a:endParaRPr>
          </a:p>
          <a:p>
            <a:pPr marL="342900" marR="0" lvl="0" indent="-342900" algn="l" defTabSz="914400" rtl="0" eaLnBrk="1" fontAlgn="auto" latinLnBrk="0" hangingPunct="1">
              <a:lnSpc>
                <a:spcPct val="100000"/>
              </a:lnSpc>
              <a:spcBef>
                <a:spcPts val="0"/>
              </a:spcBef>
              <a:spcAft>
                <a:spcPts val="0"/>
              </a:spcAft>
              <a:buClrTx/>
              <a:buSzPct val="150000"/>
              <a:buFont typeface="Arial" panose="020B0604020202020204" pitchFamily="34" charset="0"/>
              <a:buChar char="•"/>
              <a:tabLst/>
              <a:defRPr/>
            </a:pPr>
            <a:r>
              <a:rPr lang="en-US" sz="2400" b="0" i="0" dirty="0">
                <a:solidFill>
                  <a:srgbClr val="0D0D0D"/>
                </a:solidFill>
                <a:effectLst/>
                <a:latin typeface="Söhne"/>
              </a:rPr>
              <a:t>However, smaller values can be represented using </a:t>
            </a:r>
            <a:r>
              <a:rPr lang="en-US" sz="2400" b="1" i="1" dirty="0">
                <a:solidFill>
                  <a:srgbClr val="FF0000"/>
                </a:solidFill>
                <a:latin typeface="Söhne"/>
              </a:rPr>
              <a:t>denormalized</a:t>
            </a:r>
            <a:r>
              <a:rPr lang="en-US" sz="2400" dirty="0">
                <a:solidFill>
                  <a:srgbClr val="0D0D0D"/>
                </a:solidFill>
                <a:latin typeface="Söhne"/>
              </a:rPr>
              <a:t> </a:t>
            </a:r>
            <a:r>
              <a:rPr lang="en-US" sz="2400" b="0" i="0" dirty="0">
                <a:solidFill>
                  <a:srgbClr val="0D0D0D"/>
                </a:solidFill>
                <a:effectLst/>
                <a:latin typeface="Söhne"/>
              </a:rPr>
              <a:t>numbers, where the exponent is 0, </a:t>
            </a:r>
            <a:r>
              <a:rPr lang="en-US" sz="2400" dirty="0">
                <a:solidFill>
                  <a:srgbClr val="0D0D0D"/>
                </a:solidFill>
                <a:latin typeface="Söhne"/>
              </a:rPr>
              <a:t>and</a:t>
            </a:r>
            <a:r>
              <a:rPr lang="en-US" sz="2400" b="0" i="0" dirty="0">
                <a:solidFill>
                  <a:srgbClr val="0D0D0D"/>
                </a:solidFill>
                <a:effectLst/>
                <a:latin typeface="Söhne"/>
              </a:rPr>
              <a:t> the leading bit of the mantissa is no longer assumed to be 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solidFill>
                  <a:prstClr val="black"/>
                </a:solidFill>
                <a:latin typeface="Arial"/>
                <a:ea typeface="新細明體"/>
              </a:rPr>
              <a:t>    so the smallest number would</a:t>
            </a:r>
            <a:r>
              <a:rPr kumimoji="0" lang="en-US" sz="2400" b="0" i="0" u="none" strike="noStrike" kern="1200" cap="none" spc="0" normalizeH="0" baseline="0" noProof="0" dirty="0">
                <a:ln>
                  <a:noFill/>
                </a:ln>
                <a:solidFill>
                  <a:prstClr val="black"/>
                </a:solidFill>
                <a:effectLst/>
                <a:uLnTx/>
                <a:uFillTx/>
                <a:latin typeface="Arial"/>
                <a:ea typeface="新細明體"/>
                <a:cs typeface="+mn-cs"/>
              </a:rPr>
              <a:t> be 2</a:t>
            </a:r>
            <a:r>
              <a:rPr kumimoji="0" lang="en-US" sz="2400" b="0" i="0" u="none" strike="noStrike" kern="1200" cap="none" spc="0" normalizeH="0" baseline="30000" noProof="0" dirty="0">
                <a:ln>
                  <a:noFill/>
                </a:ln>
                <a:solidFill>
                  <a:prstClr val="black"/>
                </a:solidFill>
                <a:effectLst/>
                <a:uLnTx/>
                <a:uFillTx/>
                <a:latin typeface="Arial"/>
                <a:ea typeface="新細明體"/>
                <a:cs typeface="+mn-cs"/>
              </a:rPr>
              <a:t>-149</a:t>
            </a:r>
            <a:endParaRPr kumimoji="0" lang="en-US" sz="2400" b="0" i="1" u="none" strike="noStrike" kern="1200" cap="none" spc="0" normalizeH="0" baseline="0" noProof="0" dirty="0">
              <a:ln>
                <a:noFill/>
              </a:ln>
              <a:solidFill>
                <a:srgbClr val="F79646"/>
              </a:solidFill>
              <a:effectLst/>
              <a:uLnTx/>
              <a:uFillTx/>
              <a:latin typeface="Arial"/>
              <a:ea typeface="新細明體"/>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i="1" dirty="0">
              <a:solidFill>
                <a:schemeClr val="accent6"/>
              </a:solidFill>
            </a:endParaRPr>
          </a:p>
        </p:txBody>
      </p:sp>
    </p:spTree>
    <p:extLst>
      <p:ext uri="{BB962C8B-B14F-4D97-AF65-F5344CB8AC3E}">
        <p14:creationId xmlns:p14="http://schemas.microsoft.com/office/powerpoint/2010/main" val="21763257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Exponents in Biased Form</a:t>
            </a:r>
          </a:p>
        </p:txBody>
      </p:sp>
      <p:sp>
        <p:nvSpPr>
          <p:cNvPr id="8" name="灯片编号占位符 7"/>
          <p:cNvSpPr>
            <a:spLocks noGrp="1"/>
          </p:cNvSpPr>
          <p:nvPr>
            <p:ph type="sldNum" sz="quarter" idx="10"/>
          </p:nvPr>
        </p:nvSpPr>
        <p:spPr/>
        <p:txBody>
          <a:bodyPr/>
          <a:lstStyle/>
          <a:p>
            <a:fld id="{D9B6BDF2-6896-4B98-8776-C18582F63BA5}" type="slidenum">
              <a:rPr lang="zh-TW" altLang="en-US" smtClean="0"/>
              <a:t>9</a:t>
            </a:fld>
            <a:endParaRPr lang="zh-TW" altLang="en-US"/>
          </a:p>
        </p:txBody>
      </p:sp>
      <p:sp>
        <p:nvSpPr>
          <p:cNvPr id="9" name="TextBox 8">
            <a:extLst>
              <a:ext uri="{FF2B5EF4-FFF2-40B4-BE49-F238E27FC236}">
                <a16:creationId xmlns:a16="http://schemas.microsoft.com/office/drawing/2014/main" id="{04D27AB1-5739-4270-BFD3-271B6E1E8C4C}"/>
              </a:ext>
            </a:extLst>
          </p:cNvPr>
          <p:cNvSpPr txBox="1"/>
          <p:nvPr/>
        </p:nvSpPr>
        <p:spPr>
          <a:xfrm>
            <a:off x="612844" y="1443593"/>
            <a:ext cx="11245173" cy="156966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The biased representation simplifies comparisons. We can sort floating-point numbers like integers. A number with a larger exponent will be greater than a number with a smaller exponent (i.e. just call an integer sort routine to sort a group of floating point numbers)</a:t>
            </a:r>
          </a:p>
        </p:txBody>
      </p:sp>
      <p:sp>
        <p:nvSpPr>
          <p:cNvPr id="6" name="TextBox 5">
            <a:extLst>
              <a:ext uri="{FF2B5EF4-FFF2-40B4-BE49-F238E27FC236}">
                <a16:creationId xmlns:a16="http://schemas.microsoft.com/office/drawing/2014/main" id="{E18900C1-AAD0-482F-A31D-D463B766C708}"/>
              </a:ext>
            </a:extLst>
          </p:cNvPr>
          <p:cNvSpPr txBox="1"/>
          <p:nvPr/>
        </p:nvSpPr>
        <p:spPr>
          <a:xfrm>
            <a:off x="612843" y="3727148"/>
            <a:ext cx="11245173" cy="156966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If the exponent is represented in 2’s complement numbers, then a comparison of the exponents must be separated out, not as part of an integer number. Since if treated as part of an integer number, the exponents will be compared like unsigned numbers. </a:t>
            </a:r>
          </a:p>
        </p:txBody>
      </p:sp>
    </p:spTree>
    <p:extLst>
      <p:ext uri="{BB962C8B-B14F-4D97-AF65-F5344CB8AC3E}">
        <p14:creationId xmlns:p14="http://schemas.microsoft.com/office/powerpoint/2010/main" val="42619695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Denormalized Numbers</a:t>
            </a:r>
          </a:p>
        </p:txBody>
      </p:sp>
      <p:sp>
        <p:nvSpPr>
          <p:cNvPr id="8" name="灯片编号占位符 7"/>
          <p:cNvSpPr>
            <a:spLocks noGrp="1"/>
          </p:cNvSpPr>
          <p:nvPr>
            <p:ph type="sldNum" sz="quarter" idx="10"/>
          </p:nvPr>
        </p:nvSpPr>
        <p:spPr/>
        <p:txBody>
          <a:bodyPr/>
          <a:lstStyle/>
          <a:p>
            <a:fld id="{D9B6BDF2-6896-4B98-8776-C18582F63BA5}" type="slidenum">
              <a:rPr lang="zh-TW" altLang="en-US" smtClean="0"/>
              <a:t>10</a:t>
            </a:fld>
            <a:endParaRPr lang="zh-TW" altLang="en-US"/>
          </a:p>
        </p:txBody>
      </p:sp>
      <p:sp>
        <p:nvSpPr>
          <p:cNvPr id="7" name="TextBox 6">
            <a:extLst>
              <a:ext uri="{FF2B5EF4-FFF2-40B4-BE49-F238E27FC236}">
                <a16:creationId xmlns:a16="http://schemas.microsoft.com/office/drawing/2014/main" id="{61A17801-8C7B-41B0-8263-FDB37177C190}"/>
              </a:ext>
            </a:extLst>
          </p:cNvPr>
          <p:cNvSpPr txBox="1"/>
          <p:nvPr/>
        </p:nvSpPr>
        <p:spPr>
          <a:xfrm>
            <a:off x="2522081" y="2164234"/>
            <a:ext cx="4280339" cy="461665"/>
          </a:xfrm>
          <a:prstGeom prst="rect">
            <a:avLst/>
          </a:prstGeom>
          <a:noFill/>
          <a:ln w="19050">
            <a:solidFill>
              <a:srgbClr val="FF0000"/>
            </a:solidFill>
          </a:ln>
        </p:spPr>
        <p:txBody>
          <a:bodyPr wrap="none" rtlCol="0">
            <a:spAutoFit/>
          </a:bodyPr>
          <a:lstStyle/>
          <a:p>
            <a:r>
              <a:rPr lang="en-US" sz="2400" dirty="0"/>
              <a:t>x = (−1)</a:t>
            </a:r>
            <a:r>
              <a:rPr lang="en-US" sz="2400" baseline="30000" dirty="0"/>
              <a:t>s</a:t>
            </a:r>
            <a:r>
              <a:rPr lang="en-US" sz="2400" dirty="0"/>
              <a:t> × (0+fraction) × 2</a:t>
            </a:r>
            <a:r>
              <a:rPr lang="en-US" sz="2400" baseline="30000" dirty="0"/>
              <a:t>-126</a:t>
            </a:r>
          </a:p>
        </p:txBody>
      </p:sp>
      <p:sp>
        <p:nvSpPr>
          <p:cNvPr id="10" name="TextBox 9">
            <a:extLst>
              <a:ext uri="{FF2B5EF4-FFF2-40B4-BE49-F238E27FC236}">
                <a16:creationId xmlns:a16="http://schemas.microsoft.com/office/drawing/2014/main" id="{EFA6D85E-2B81-424B-83B2-57CDDB9A4AD3}"/>
              </a:ext>
            </a:extLst>
          </p:cNvPr>
          <p:cNvSpPr txBox="1"/>
          <p:nvPr/>
        </p:nvSpPr>
        <p:spPr>
          <a:xfrm>
            <a:off x="800440" y="1459684"/>
            <a:ext cx="11245173"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For </a:t>
            </a:r>
            <a:r>
              <a:rPr lang="en-US" sz="2400" dirty="0">
                <a:solidFill>
                  <a:srgbClr val="FF0000"/>
                </a:solidFill>
              </a:rPr>
              <a:t>denormalized </a:t>
            </a:r>
            <a:r>
              <a:rPr lang="en-US" sz="2400" dirty="0"/>
              <a:t>numbers, the hidden one is going away</a:t>
            </a:r>
          </a:p>
        </p:txBody>
      </p:sp>
      <p:cxnSp>
        <p:nvCxnSpPr>
          <p:cNvPr id="4" name="Straight Arrow Connector 3">
            <a:extLst>
              <a:ext uri="{FF2B5EF4-FFF2-40B4-BE49-F238E27FC236}">
                <a16:creationId xmlns:a16="http://schemas.microsoft.com/office/drawing/2014/main" id="{AF0A85BB-2586-4D2E-9BBA-FEF84D24D6CA}"/>
              </a:ext>
            </a:extLst>
          </p:cNvPr>
          <p:cNvCxnSpPr/>
          <p:nvPr/>
        </p:nvCxnSpPr>
        <p:spPr bwMode="auto">
          <a:xfrm flipH="1">
            <a:off x="6581775" y="2247900"/>
            <a:ext cx="2028825" cy="0"/>
          </a:xfrm>
          <a:prstGeom prst="straightConnector1">
            <a:avLst/>
          </a:prstGeom>
          <a:noFill/>
          <a:ln w="15875" cap="flat" cmpd="sng" algn="ctr">
            <a:solidFill>
              <a:srgbClr val="FF0000"/>
            </a:solidFill>
            <a:prstDash val="solid"/>
            <a:round/>
            <a:headEnd type="none" w="med" len="med"/>
            <a:tailEnd type="triangle"/>
          </a:ln>
          <a:effectLst/>
        </p:spPr>
      </p:cxnSp>
      <p:sp>
        <p:nvSpPr>
          <p:cNvPr id="5" name="TextBox 4">
            <a:extLst>
              <a:ext uri="{FF2B5EF4-FFF2-40B4-BE49-F238E27FC236}">
                <a16:creationId xmlns:a16="http://schemas.microsoft.com/office/drawing/2014/main" id="{1FEB7ACB-BACA-4C09-BDE9-1D86203D1307}"/>
              </a:ext>
            </a:extLst>
          </p:cNvPr>
          <p:cNvSpPr txBox="1"/>
          <p:nvPr/>
        </p:nvSpPr>
        <p:spPr>
          <a:xfrm>
            <a:off x="8610600" y="2063234"/>
            <a:ext cx="1441420" cy="369332"/>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Always -126</a:t>
            </a:r>
          </a:p>
        </p:txBody>
      </p:sp>
      <p:sp>
        <p:nvSpPr>
          <p:cNvPr id="12" name="TextBox 11">
            <a:extLst>
              <a:ext uri="{FF2B5EF4-FFF2-40B4-BE49-F238E27FC236}">
                <a16:creationId xmlns:a16="http://schemas.microsoft.com/office/drawing/2014/main" id="{E24AAF5D-89E3-4C35-A13E-AC7F14F57BFE}"/>
              </a:ext>
            </a:extLst>
          </p:cNvPr>
          <p:cNvSpPr txBox="1"/>
          <p:nvPr/>
        </p:nvSpPr>
        <p:spPr>
          <a:xfrm>
            <a:off x="2522080" y="4627092"/>
            <a:ext cx="4394152" cy="461665"/>
          </a:xfrm>
          <a:prstGeom prst="rect">
            <a:avLst/>
          </a:prstGeom>
          <a:noFill/>
          <a:ln w="19050">
            <a:solidFill>
              <a:srgbClr val="FF0000"/>
            </a:solidFill>
          </a:ln>
        </p:spPr>
        <p:txBody>
          <a:bodyPr wrap="none" rtlCol="0">
            <a:spAutoFit/>
          </a:bodyPr>
          <a:lstStyle/>
          <a:p>
            <a:r>
              <a:rPr lang="en-US" sz="2400" dirty="0"/>
              <a:t>x = (−1)</a:t>
            </a:r>
            <a:r>
              <a:rPr lang="en-US" sz="2400" baseline="30000" dirty="0"/>
              <a:t>s</a:t>
            </a:r>
            <a:r>
              <a:rPr lang="en-US" sz="2400" dirty="0"/>
              <a:t> × (0+fraction) × 2</a:t>
            </a:r>
            <a:r>
              <a:rPr lang="en-US" sz="2400" baseline="30000" dirty="0"/>
              <a:t>(0-127)</a:t>
            </a:r>
          </a:p>
        </p:txBody>
      </p:sp>
      <p:sp>
        <p:nvSpPr>
          <p:cNvPr id="13" name="TextBox 12">
            <a:extLst>
              <a:ext uri="{FF2B5EF4-FFF2-40B4-BE49-F238E27FC236}">
                <a16:creationId xmlns:a16="http://schemas.microsoft.com/office/drawing/2014/main" id="{C6B4518C-A282-4854-922D-A0062EA79FD9}"/>
              </a:ext>
            </a:extLst>
          </p:cNvPr>
          <p:cNvSpPr txBox="1"/>
          <p:nvPr/>
        </p:nvSpPr>
        <p:spPr>
          <a:xfrm>
            <a:off x="8831245" y="4596315"/>
            <a:ext cx="1598630" cy="430887"/>
          </a:xfrm>
          <a:prstGeom prst="rect">
            <a:avLst/>
          </a:prstGeom>
          <a:solidFill>
            <a:srgbClr val="FFFF00"/>
          </a:solidFill>
          <a:ln>
            <a:solidFill>
              <a:srgbClr val="FF0000"/>
            </a:solidFill>
          </a:ln>
        </p:spPr>
        <p:txBody>
          <a:bodyPr wrap="square" rtlCol="0" anchor="ctr" anchorCtr="1">
            <a:spAutoFit/>
          </a:bodyPr>
          <a:lstStyle/>
          <a:p>
            <a:r>
              <a:rPr lang="en-US" sz="2200" dirty="0">
                <a:ea typeface="標楷體" pitchFamily="65" charset="-120"/>
                <a:cs typeface="Calibri" pitchFamily="34" charset="0"/>
              </a:rPr>
              <a:t>WRONG!</a:t>
            </a:r>
          </a:p>
        </p:txBody>
      </p:sp>
      <p:cxnSp>
        <p:nvCxnSpPr>
          <p:cNvPr id="14" name="Straight Arrow Connector 13">
            <a:extLst>
              <a:ext uri="{FF2B5EF4-FFF2-40B4-BE49-F238E27FC236}">
                <a16:creationId xmlns:a16="http://schemas.microsoft.com/office/drawing/2014/main" id="{4E056828-1285-432A-BE2D-C3473CF435B2}"/>
              </a:ext>
            </a:extLst>
          </p:cNvPr>
          <p:cNvCxnSpPr/>
          <p:nvPr/>
        </p:nvCxnSpPr>
        <p:spPr bwMode="auto">
          <a:xfrm flipH="1">
            <a:off x="6802420" y="4838874"/>
            <a:ext cx="2028825" cy="0"/>
          </a:xfrm>
          <a:prstGeom prst="straightConnector1">
            <a:avLst/>
          </a:prstGeom>
          <a:noFill/>
          <a:ln w="15875" cap="flat" cmpd="sng" algn="ctr">
            <a:solidFill>
              <a:srgbClr val="FF0000"/>
            </a:solidFill>
            <a:prstDash val="solid"/>
            <a:round/>
            <a:headEnd type="none" w="med" len="med"/>
            <a:tailEnd type="triangle"/>
          </a:ln>
          <a:effectLst/>
        </p:spPr>
      </p:cxnSp>
    </p:spTree>
    <p:extLst>
      <p:ext uri="{BB962C8B-B14F-4D97-AF65-F5344CB8AC3E}">
        <p14:creationId xmlns:p14="http://schemas.microsoft.com/office/powerpoint/2010/main" val="25525882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not Fixed-Point Numbers</a:t>
            </a:r>
          </a:p>
        </p:txBody>
      </p:sp>
      <p:sp>
        <p:nvSpPr>
          <p:cNvPr id="3" name="Content Placeholder 2"/>
          <p:cNvSpPr>
            <a:spLocks noGrp="1"/>
          </p:cNvSpPr>
          <p:nvPr>
            <p:ph idx="1"/>
          </p:nvPr>
        </p:nvSpPr>
        <p:spPr>
          <a:xfrm>
            <a:off x="322414" y="3343274"/>
            <a:ext cx="11355235" cy="2585323"/>
          </a:xfrm>
        </p:spPr>
        <p:txBody>
          <a:bodyPr>
            <a:normAutofit fontScale="92500"/>
          </a:bodyPr>
          <a:lstStyle/>
          <a:p>
            <a:pPr>
              <a:buSzPct val="150000"/>
              <a:buFont typeface="Arial" panose="020B0604020202020204" pitchFamily="34" charset="0"/>
              <a:buChar char="•"/>
            </a:pPr>
            <a:r>
              <a:rPr lang="en-US" sz="2800" dirty="0"/>
              <a:t>The range of real numbers we can represent in floating-point numbers is</a:t>
            </a:r>
          </a:p>
          <a:p>
            <a:pPr marL="0" indent="0">
              <a:buNone/>
            </a:pPr>
            <a:r>
              <a:rPr lang="en-US" sz="2800" dirty="0"/>
              <a:t> 		</a:t>
            </a:r>
            <a:r>
              <a:rPr kumimoji="0" lang="en-US" sz="2400" b="0" i="0" u="none" strike="noStrike" kern="1200" cap="none" spc="0" normalizeH="0" baseline="0" noProof="0" dirty="0">
                <a:ln>
                  <a:noFill/>
                </a:ln>
                <a:solidFill>
                  <a:prstClr val="black"/>
                </a:solidFill>
                <a:effectLst/>
                <a:uLnTx/>
                <a:uFillTx/>
                <a:latin typeface="Arial"/>
                <a:ea typeface="新細明體"/>
                <a:cs typeface="+mn-cs"/>
              </a:rPr>
              <a:t>10</a:t>
            </a:r>
            <a:r>
              <a:rPr kumimoji="0" lang="en-US" sz="2400" b="0" i="0" u="none" strike="noStrike" kern="1200" cap="none" spc="0" normalizeH="0" baseline="30000" noProof="0" dirty="0">
                <a:ln>
                  <a:noFill/>
                </a:ln>
                <a:solidFill>
                  <a:prstClr val="black"/>
                </a:solidFill>
                <a:effectLst/>
                <a:uLnTx/>
                <a:uFillTx/>
                <a:latin typeface="Arial"/>
                <a:ea typeface="新細明體"/>
                <a:cs typeface="+mn-cs"/>
              </a:rPr>
              <a:t>38 </a:t>
            </a:r>
            <a:r>
              <a:rPr kumimoji="0" lang="en-US" sz="2400" b="0" i="0" u="none" strike="noStrike" kern="1200" cap="none" spc="0" normalizeH="0" baseline="0" noProof="0" dirty="0">
                <a:ln>
                  <a:noFill/>
                </a:ln>
                <a:solidFill>
                  <a:prstClr val="black"/>
                </a:solidFill>
                <a:effectLst/>
                <a:uLnTx/>
                <a:uFillTx/>
                <a:latin typeface="Arial"/>
                <a:ea typeface="新細明體"/>
                <a:cs typeface="+mn-cs"/>
              </a:rPr>
              <a:t>to </a:t>
            </a:r>
            <a:r>
              <a:rPr kumimoji="1" lang="en-US" sz="28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 </a:t>
            </a:r>
            <a:r>
              <a:rPr kumimoji="0" lang="en-US" sz="2400" b="0" i="0" u="none" strike="noStrike" kern="1200" cap="none" spc="0" normalizeH="0" baseline="0" noProof="0" dirty="0">
                <a:ln>
                  <a:noFill/>
                </a:ln>
                <a:solidFill>
                  <a:prstClr val="black"/>
                </a:solidFill>
                <a:effectLst/>
                <a:uLnTx/>
                <a:uFillTx/>
                <a:latin typeface="Arial"/>
                <a:ea typeface="新細明體"/>
                <a:cs typeface="+mn-cs"/>
              </a:rPr>
              <a:t>10</a:t>
            </a:r>
            <a:r>
              <a:rPr kumimoji="0" lang="en-US" sz="2400" b="0" i="0" u="none" strike="noStrike" kern="1200" cap="none" spc="0" normalizeH="0" baseline="30000" noProof="0" dirty="0">
                <a:ln>
                  <a:noFill/>
                </a:ln>
                <a:solidFill>
                  <a:prstClr val="black"/>
                </a:solidFill>
                <a:effectLst/>
                <a:uLnTx/>
                <a:uFillTx/>
                <a:latin typeface="Arial"/>
                <a:ea typeface="新細明體"/>
                <a:cs typeface="+mn-cs"/>
              </a:rPr>
              <a:t>-38  </a:t>
            </a:r>
          </a:p>
          <a:p>
            <a:pPr marL="0" indent="0">
              <a:buNone/>
            </a:pPr>
            <a:r>
              <a:rPr kumimoji="0" lang="en-US" sz="2400" b="0" i="0" u="none" strike="noStrike" kern="1200" cap="none" spc="0" normalizeH="0" baseline="0" noProof="0" dirty="0">
                <a:ln>
                  <a:noFill/>
                </a:ln>
                <a:solidFill>
                  <a:prstClr val="black"/>
                </a:solidFill>
                <a:effectLst/>
                <a:uLnTx/>
                <a:uFillTx/>
                <a:latin typeface="Arial"/>
                <a:ea typeface="新細明體"/>
                <a:cs typeface="+mn-cs"/>
              </a:rPr>
              <a:t> 	What if we use a </a:t>
            </a:r>
            <a:r>
              <a:rPr kumimoji="0" lang="en-US" sz="2600" b="0" i="0" u="none" strike="noStrike" kern="1200" cap="none" spc="0" normalizeH="0" baseline="0" noProof="0" dirty="0">
                <a:ln>
                  <a:noFill/>
                </a:ln>
                <a:solidFill>
                  <a:srgbClr val="FF0000"/>
                </a:solidFill>
                <a:effectLst/>
                <a:uLnTx/>
                <a:uFillTx/>
                <a:latin typeface="Arial"/>
                <a:ea typeface="新細明體"/>
                <a:cs typeface="+mn-cs"/>
              </a:rPr>
              <a:t>fixed-point representation</a:t>
            </a:r>
            <a:r>
              <a:rPr kumimoji="0" lang="en-US" sz="2400" b="0" i="0" u="none" strike="noStrike" kern="1200" cap="none" spc="0" normalizeH="0" baseline="0" noProof="0" dirty="0">
                <a:ln>
                  <a:noFill/>
                </a:ln>
                <a:solidFill>
                  <a:prstClr val="black"/>
                </a:solidFill>
                <a:effectLst/>
                <a:uLnTx/>
                <a:uFillTx/>
                <a:latin typeface="Arial"/>
                <a:ea typeface="新細明體"/>
                <a:cs typeface="+mn-cs"/>
              </a:rPr>
              <a:t>:</a:t>
            </a:r>
          </a:p>
          <a:p>
            <a:pPr marL="0" indent="0">
              <a:buNone/>
            </a:pPr>
            <a:r>
              <a:rPr kumimoji="0" lang="en-US" sz="2400" kern="1200" dirty="0">
                <a:solidFill>
                  <a:prstClr val="black"/>
                </a:solidFill>
                <a:latin typeface="Arial"/>
                <a:ea typeface="新細明體"/>
              </a:rPr>
              <a:t>	</a:t>
            </a:r>
            <a:r>
              <a:rPr kumimoji="0" lang="en-US" sz="2400" kern="1200" dirty="0" err="1">
                <a:solidFill>
                  <a:srgbClr val="FF0000"/>
                </a:solidFill>
                <a:latin typeface="Arial"/>
                <a:ea typeface="新細明體"/>
              </a:rPr>
              <a:t>xxxxx.yyyyy</a:t>
            </a:r>
            <a:r>
              <a:rPr kumimoji="0" lang="en-US" sz="2400" kern="1200" dirty="0">
                <a:solidFill>
                  <a:srgbClr val="FF0000"/>
                </a:solidFill>
                <a:latin typeface="Arial"/>
                <a:ea typeface="新細明體"/>
              </a:rPr>
              <a:t> </a:t>
            </a:r>
            <a:r>
              <a:rPr kumimoji="0" lang="en-US" sz="2400" kern="1200" dirty="0">
                <a:solidFill>
                  <a:prstClr val="black"/>
                </a:solidFill>
                <a:latin typeface="Arial"/>
                <a:ea typeface="新細明體"/>
              </a:rPr>
              <a:t>where the binary point is fixed. </a:t>
            </a:r>
          </a:p>
          <a:p>
            <a:pPr marL="0" indent="0">
              <a:buNone/>
            </a:pPr>
            <a:r>
              <a:rPr kumimoji="0" lang="en-US" sz="2400" kern="1200" dirty="0">
                <a:solidFill>
                  <a:prstClr val="black"/>
                </a:solidFill>
                <a:latin typeface="Arial"/>
                <a:ea typeface="新細明體"/>
              </a:rPr>
              <a:t>	Assume 32-bit numbers are divided into two parts: the integer part (</a:t>
            </a:r>
            <a:r>
              <a:rPr kumimoji="0" lang="en-US" sz="2400" kern="1200" dirty="0" err="1">
                <a:solidFill>
                  <a:prstClr val="black"/>
                </a:solidFill>
                <a:latin typeface="Arial"/>
                <a:ea typeface="新細明體"/>
              </a:rPr>
              <a:t>xxxxx</a:t>
            </a:r>
            <a:r>
              <a:rPr kumimoji="0" lang="en-US" sz="2400" kern="1200" dirty="0">
                <a:solidFill>
                  <a:prstClr val="black"/>
                </a:solidFill>
                <a:latin typeface="Arial"/>
                <a:ea typeface="新細明體"/>
              </a:rPr>
              <a:t>) and the 	fraction part </a:t>
            </a:r>
            <a:r>
              <a:rPr kumimoji="0" lang="en-US" sz="2400" kern="1200" dirty="0" err="1">
                <a:solidFill>
                  <a:prstClr val="black"/>
                </a:solidFill>
                <a:latin typeface="Arial"/>
                <a:ea typeface="新細明體"/>
              </a:rPr>
              <a:t>yyyyy</a:t>
            </a:r>
            <a:r>
              <a:rPr kumimoji="0" lang="en-US" sz="2400" kern="1200" dirty="0">
                <a:solidFill>
                  <a:prstClr val="black"/>
                </a:solidFill>
                <a:latin typeface="Arial"/>
                <a:ea typeface="新細明體"/>
              </a:rPr>
              <a:t>. Each takes 16 bits. What range can this number system cover?</a:t>
            </a:r>
          </a:p>
          <a:p>
            <a:pPr marL="0" indent="0">
              <a:buNone/>
            </a:pPr>
            <a:endParaRPr kumimoji="0" lang="en-US" sz="2400" kern="1200" dirty="0">
              <a:solidFill>
                <a:prstClr val="black"/>
              </a:solidFill>
              <a:latin typeface="Arial"/>
              <a:ea typeface="新細明體"/>
            </a:endParaRPr>
          </a:p>
        </p:txBody>
      </p:sp>
      <p:sp>
        <p:nvSpPr>
          <p:cNvPr id="8" name="灯片编号占位符 7"/>
          <p:cNvSpPr>
            <a:spLocks noGrp="1"/>
          </p:cNvSpPr>
          <p:nvPr>
            <p:ph type="sldNum" sz="quarter" idx="10"/>
          </p:nvPr>
        </p:nvSpPr>
        <p:spPr/>
        <p:txBody>
          <a:bodyPr/>
          <a:lstStyle/>
          <a:p>
            <a:fld id="{D9B6BDF2-6896-4B98-8776-C18582F63BA5}" type="slidenum">
              <a:rPr lang="zh-TW" altLang="en-US" smtClean="0"/>
              <a:t>11</a:t>
            </a:fld>
            <a:endParaRPr lang="zh-TW" altLang="en-US"/>
          </a:p>
        </p:txBody>
      </p:sp>
      <p:sp>
        <p:nvSpPr>
          <p:cNvPr id="9" name="TextBox 8">
            <a:extLst>
              <a:ext uri="{FF2B5EF4-FFF2-40B4-BE49-F238E27FC236}">
                <a16:creationId xmlns:a16="http://schemas.microsoft.com/office/drawing/2014/main" id="{04D27AB1-5739-4270-BFD3-271B6E1E8C4C}"/>
              </a:ext>
            </a:extLst>
          </p:cNvPr>
          <p:cNvSpPr txBox="1"/>
          <p:nvPr/>
        </p:nvSpPr>
        <p:spPr>
          <a:xfrm>
            <a:off x="322415" y="1005443"/>
            <a:ext cx="11245173" cy="2585323"/>
          </a:xfrm>
          <a:prstGeom prst="rect">
            <a:avLst/>
          </a:prstGeom>
          <a:noFill/>
        </p:spPr>
        <p:txBody>
          <a:bodyPr wrap="square">
            <a:spAutoFit/>
          </a:bodyPr>
          <a:lstStyle/>
          <a:p>
            <a:pPr marL="342900" indent="-342900">
              <a:buSzPct val="150000"/>
              <a:buFont typeface="Arial" panose="020B0604020202020204" pitchFamily="34" charset="0"/>
              <a:buChar char="•"/>
            </a:pPr>
            <a:r>
              <a:rPr lang="en-US" sz="2400" i="1" dirty="0">
                <a:solidFill>
                  <a:prstClr val="black"/>
                </a:solidFill>
                <a:latin typeface="Arial"/>
                <a:ea typeface="新細明體"/>
              </a:rPr>
              <a:t>The largest </a:t>
            </a:r>
            <a:r>
              <a:rPr kumimoji="0" lang="en-US" sz="2400" b="0" i="1" u="none" strike="noStrike" kern="1200" cap="none" spc="0" normalizeH="0" baseline="0" noProof="0" dirty="0">
                <a:ln>
                  <a:noFill/>
                </a:ln>
                <a:solidFill>
                  <a:prstClr val="black"/>
                </a:solidFill>
                <a:effectLst/>
                <a:uLnTx/>
                <a:uFillTx/>
                <a:latin typeface="Arial"/>
                <a:ea typeface="新細明體"/>
                <a:cs typeface="+mn-cs"/>
              </a:rPr>
              <a:t> SP number is </a:t>
            </a:r>
            <a:r>
              <a:rPr lang="en-US" sz="2400" dirty="0">
                <a:solidFill>
                  <a:srgbClr val="0D0D0D"/>
                </a:solidFill>
              </a:rPr>
              <a:t>~ </a:t>
            </a:r>
            <a:r>
              <a:rPr lang="en-US" sz="2400" b="0" i="0" dirty="0">
                <a:solidFill>
                  <a:srgbClr val="0D0D0D"/>
                </a:solidFill>
                <a:effectLst/>
              </a:rPr>
              <a:t>3.4028235 </a:t>
            </a:r>
            <a:r>
              <a:rPr lang="en-US" b="0" i="0" dirty="0">
                <a:solidFill>
                  <a:srgbClr val="0D0D0D"/>
                </a:solidFill>
                <a:effectLst/>
                <a:latin typeface="KaTeX_Main"/>
              </a:rPr>
              <a:t>× </a:t>
            </a:r>
            <a:r>
              <a:rPr lang="en-US" sz="2400" dirty="0">
                <a:solidFill>
                  <a:prstClr val="black"/>
                </a:solidFill>
                <a:latin typeface="Arial"/>
                <a:ea typeface="新細明體"/>
              </a:rPr>
              <a:t>10</a:t>
            </a:r>
            <a:r>
              <a:rPr lang="en-US" sz="2400" baseline="30000" dirty="0">
                <a:solidFill>
                  <a:prstClr val="black"/>
                </a:solidFill>
                <a:latin typeface="Arial"/>
                <a:ea typeface="新細明體"/>
              </a:rPr>
              <a:t>38  </a:t>
            </a:r>
            <a:br>
              <a:rPr lang="en-US" dirty="0"/>
            </a:br>
            <a:r>
              <a:rPr lang="en-US" dirty="0"/>
              <a:t> 	</a:t>
            </a:r>
            <a:r>
              <a:rPr kumimoji="0" lang="en-US" sz="2400" b="0" i="0" u="none" strike="noStrike" kern="1200" cap="none" spc="0" normalizeH="0" baseline="0" noProof="0" dirty="0">
                <a:ln>
                  <a:noFill/>
                </a:ln>
                <a:solidFill>
                  <a:prstClr val="black"/>
                </a:solidFill>
                <a:effectLst/>
                <a:uLnTx/>
                <a:uFillTx/>
                <a:latin typeface="Arial"/>
                <a:ea typeface="新細明體"/>
                <a:cs typeface="+mn-cs"/>
              </a:rPr>
              <a:t>The bit pattern is  </a:t>
            </a:r>
            <a:r>
              <a:rPr kumimoji="0" lang="en-US" sz="2400" b="0" i="0" u="none" strike="noStrike" kern="1200" cap="none" spc="0" normalizeH="0" baseline="0" noProof="0" dirty="0">
                <a:ln>
                  <a:noFill/>
                </a:ln>
                <a:solidFill>
                  <a:srgbClr val="FF0000"/>
                </a:solidFill>
                <a:effectLst/>
                <a:uLnTx/>
                <a:uFillTx/>
                <a:latin typeface="Arial"/>
                <a:ea typeface="新細明體"/>
                <a:cs typeface="+mn-cs"/>
              </a:rPr>
              <a:t>0</a:t>
            </a:r>
            <a:r>
              <a:rPr kumimoji="0" lang="en-US" sz="2400" b="0" i="0" u="none" strike="noStrike" kern="1200" cap="none" spc="0" normalizeH="0" baseline="0" noProof="0" dirty="0">
                <a:ln>
                  <a:noFill/>
                </a:ln>
                <a:solidFill>
                  <a:prstClr val="black"/>
                </a:solidFill>
                <a:effectLst/>
                <a:uLnTx/>
                <a:uFillTx/>
                <a:latin typeface="Arial"/>
                <a:ea typeface="新細明體"/>
                <a:cs typeface="+mn-cs"/>
              </a:rPr>
              <a:t> </a:t>
            </a:r>
            <a:r>
              <a:rPr kumimoji="0" lang="en-US" sz="2400" b="0" i="0" u="none" strike="noStrike" kern="1200" cap="none" spc="0" normalizeH="0" baseline="0" noProof="0" dirty="0">
                <a:ln>
                  <a:noFill/>
                </a:ln>
                <a:solidFill>
                  <a:srgbClr val="92D050"/>
                </a:solidFill>
                <a:effectLst/>
                <a:uLnTx/>
                <a:uFillTx/>
                <a:latin typeface="Arial"/>
                <a:ea typeface="新細明體"/>
                <a:cs typeface="+mn-cs"/>
              </a:rPr>
              <a:t>11111110</a:t>
            </a:r>
            <a:r>
              <a:rPr kumimoji="0" lang="en-US" sz="2400" b="0" i="0" u="none" strike="noStrike" kern="1200" cap="none" spc="0" normalizeH="0" baseline="0" noProof="0" dirty="0">
                <a:ln>
                  <a:noFill/>
                </a:ln>
                <a:solidFill>
                  <a:prstClr val="black"/>
                </a:solidFill>
                <a:effectLst/>
                <a:uLnTx/>
                <a:uFillTx/>
                <a:latin typeface="Arial"/>
                <a:ea typeface="新細明體"/>
                <a:cs typeface="+mn-cs"/>
              </a:rPr>
              <a:t> </a:t>
            </a:r>
            <a:r>
              <a:rPr kumimoji="0" lang="en-US" sz="2400" b="0" i="0" u="none" strike="noStrike" kern="1200" cap="none" spc="0" normalizeH="0" baseline="0" noProof="0" dirty="0">
                <a:ln>
                  <a:noFill/>
                </a:ln>
                <a:solidFill>
                  <a:schemeClr val="accent6"/>
                </a:solidFill>
                <a:effectLst/>
                <a:uLnTx/>
                <a:uFillTx/>
                <a:latin typeface="Arial"/>
                <a:ea typeface="新細明體"/>
                <a:cs typeface="+mn-cs"/>
              </a:rPr>
              <a:t>11111111111111111111111</a:t>
            </a:r>
          </a:p>
          <a:p>
            <a:pPr marR="0" lvl="0" algn="l" defTabSz="914400" rtl="0" eaLnBrk="1" fontAlgn="auto" latinLnBrk="0" hangingPunct="1">
              <a:lnSpc>
                <a:spcPct val="100000"/>
              </a:lnSpc>
              <a:spcBef>
                <a:spcPts val="0"/>
              </a:spcBef>
              <a:spcAft>
                <a:spcPts val="0"/>
              </a:spcAft>
              <a:buClrTx/>
              <a:buSzTx/>
              <a:tabLst/>
              <a:defRPr/>
            </a:pPr>
            <a:r>
              <a:rPr kumimoji="0" lang="en-US" sz="2400" b="0" i="1" u="none" strike="noStrike" kern="1200" cap="none" spc="0" normalizeH="0" baseline="0" noProof="0" dirty="0">
                <a:ln>
                  <a:noFill/>
                </a:ln>
                <a:solidFill>
                  <a:prstClr val="black"/>
                </a:solidFill>
                <a:effectLst/>
                <a:uLnTx/>
                <a:uFillTx/>
                <a:latin typeface="Arial"/>
                <a:ea typeface="新細明體"/>
                <a:cs typeface="+mn-cs"/>
              </a:rPr>
              <a:t>	The smallest SP number (normalized) is</a:t>
            </a:r>
            <a:r>
              <a:rPr kumimoji="0" lang="en-US" sz="2400" b="0" i="0" u="none" strike="noStrike" kern="1200" cap="none" spc="0" normalizeH="0" baseline="30000" noProof="0" dirty="0">
                <a:ln>
                  <a:noFill/>
                </a:ln>
                <a:solidFill>
                  <a:prstClr val="black"/>
                </a:solidFill>
                <a:effectLst/>
                <a:uLnTx/>
                <a:uFillTx/>
                <a:latin typeface="Arial"/>
                <a:ea typeface="新細明體"/>
                <a:cs typeface="+mn-cs"/>
              </a:rPr>
              <a:t>  </a:t>
            </a:r>
            <a:r>
              <a:rPr kumimoji="0" lang="en-US" sz="2400" b="0" i="0" u="none" strike="noStrike" kern="1200" cap="none" spc="0" normalizeH="0" baseline="0" noProof="0" dirty="0">
                <a:ln>
                  <a:noFill/>
                </a:ln>
                <a:solidFill>
                  <a:prstClr val="black"/>
                </a:solidFill>
                <a:effectLst/>
                <a:uLnTx/>
                <a:uFillTx/>
                <a:latin typeface="Arial"/>
                <a:ea typeface="新細明體"/>
                <a:cs typeface="+mn-cs"/>
              </a:rPr>
              <a:t>2</a:t>
            </a:r>
            <a:r>
              <a:rPr kumimoji="0" lang="en-US" sz="2400" b="0" i="0" u="none" strike="noStrike" kern="1200" cap="none" spc="0" normalizeH="0" baseline="30000" noProof="0" dirty="0">
                <a:ln>
                  <a:noFill/>
                </a:ln>
                <a:solidFill>
                  <a:prstClr val="black"/>
                </a:solidFill>
                <a:effectLst/>
                <a:uLnTx/>
                <a:uFillTx/>
                <a:latin typeface="Arial"/>
                <a:ea typeface="新細明體"/>
                <a:cs typeface="+mn-cs"/>
              </a:rPr>
              <a:t>-126</a:t>
            </a:r>
            <a:r>
              <a:rPr lang="en-US" sz="2400" dirty="0">
                <a:solidFill>
                  <a:srgbClr val="0D0D0D"/>
                </a:solidFill>
                <a:latin typeface="KaTeX_Main"/>
                <a:ea typeface="新細明體"/>
              </a:rPr>
              <a:t> </a:t>
            </a:r>
            <a:r>
              <a:rPr kumimoji="0" lang="en-US" sz="2400" b="0" i="0" u="none" strike="noStrike" kern="1200" cap="none" spc="0" normalizeH="0" baseline="0" noProof="0" dirty="0">
                <a:ln>
                  <a:noFill/>
                </a:ln>
                <a:solidFill>
                  <a:srgbClr val="0D0D0D"/>
                </a:solidFill>
                <a:effectLst/>
                <a:uLnTx/>
                <a:uFillTx/>
                <a:latin typeface="Söhne"/>
                <a:ea typeface="新細明體"/>
                <a:cs typeface="+mn-cs"/>
              </a:rPr>
              <a:t>  </a:t>
            </a:r>
            <a:br>
              <a:rPr kumimoji="0" lang="en-US" sz="1800" b="0" i="0" u="none" strike="noStrike" kern="1200" cap="none" spc="0" normalizeH="0" baseline="0" noProof="0" dirty="0">
                <a:ln>
                  <a:noFill/>
                </a:ln>
                <a:solidFill>
                  <a:prstClr val="black"/>
                </a:solidFill>
                <a:effectLst/>
                <a:uLnTx/>
                <a:uFillTx/>
                <a:latin typeface="Arial"/>
                <a:ea typeface="新細明體"/>
                <a:cs typeface="+mn-cs"/>
              </a:rPr>
            </a:br>
            <a:r>
              <a:rPr kumimoji="0" lang="en-US" sz="1800" b="0" i="0" u="none" strike="noStrike" kern="1200" cap="none" spc="0" normalizeH="0" baseline="0" noProof="0" dirty="0">
                <a:ln>
                  <a:noFill/>
                </a:ln>
                <a:solidFill>
                  <a:prstClr val="black"/>
                </a:solidFill>
                <a:effectLst/>
                <a:uLnTx/>
                <a:uFillTx/>
                <a:latin typeface="Arial"/>
                <a:ea typeface="新細明體"/>
                <a:cs typeface="+mn-cs"/>
              </a:rPr>
              <a:t> 	</a:t>
            </a:r>
            <a:r>
              <a:rPr kumimoji="0" lang="en-US" sz="2400" b="0" i="0" u="none" strike="noStrike" kern="1200" cap="none" spc="0" normalizeH="0" baseline="0" noProof="0" dirty="0">
                <a:ln>
                  <a:noFill/>
                </a:ln>
                <a:solidFill>
                  <a:prstClr val="black"/>
                </a:solidFill>
                <a:effectLst/>
                <a:uLnTx/>
                <a:uFillTx/>
                <a:latin typeface="Arial"/>
                <a:ea typeface="新細明體"/>
                <a:cs typeface="+mn-cs"/>
              </a:rPr>
              <a:t>The bit pattern is  </a:t>
            </a:r>
            <a:r>
              <a:rPr kumimoji="0" lang="en-US" sz="2400" b="0" i="0" u="none" strike="noStrike" kern="1200" cap="none" spc="0" normalizeH="0" baseline="0" noProof="0" dirty="0">
                <a:ln>
                  <a:noFill/>
                </a:ln>
                <a:solidFill>
                  <a:srgbClr val="FF0000"/>
                </a:solidFill>
                <a:effectLst/>
                <a:uLnTx/>
                <a:uFillTx/>
                <a:latin typeface="Arial"/>
                <a:ea typeface="新細明體"/>
                <a:cs typeface="+mn-cs"/>
              </a:rPr>
              <a:t>0</a:t>
            </a:r>
            <a:r>
              <a:rPr kumimoji="0" lang="en-US" sz="2400" b="0" i="0" u="none" strike="noStrike" kern="1200" cap="none" spc="0" normalizeH="0" baseline="0" noProof="0" dirty="0">
                <a:ln>
                  <a:noFill/>
                </a:ln>
                <a:solidFill>
                  <a:prstClr val="black"/>
                </a:solidFill>
                <a:effectLst/>
                <a:uLnTx/>
                <a:uFillTx/>
                <a:latin typeface="Arial"/>
                <a:ea typeface="新細明體"/>
                <a:cs typeface="+mn-cs"/>
              </a:rPr>
              <a:t> </a:t>
            </a:r>
            <a:r>
              <a:rPr lang="en-US" sz="2400" dirty="0">
                <a:solidFill>
                  <a:srgbClr val="92D050"/>
                </a:solidFill>
                <a:latin typeface="Arial"/>
                <a:ea typeface="新細明體"/>
              </a:rPr>
              <a:t>00000001</a:t>
            </a:r>
            <a:r>
              <a:rPr kumimoji="0" lang="en-US" sz="2400" b="0" i="0" u="none" strike="noStrike" kern="1200" cap="none" spc="0" normalizeH="0" baseline="0" noProof="0" dirty="0">
                <a:ln>
                  <a:noFill/>
                </a:ln>
                <a:solidFill>
                  <a:prstClr val="black"/>
                </a:solidFill>
                <a:effectLst/>
                <a:uLnTx/>
                <a:uFillTx/>
                <a:latin typeface="Arial"/>
                <a:ea typeface="新細明體"/>
                <a:cs typeface="+mn-cs"/>
              </a:rPr>
              <a:t> </a:t>
            </a:r>
            <a:r>
              <a:rPr lang="en-US" sz="2400" dirty="0">
                <a:solidFill>
                  <a:srgbClr val="F79646"/>
                </a:solidFill>
                <a:latin typeface="Arial"/>
                <a:ea typeface="新細明體"/>
              </a:rPr>
              <a:t>00000000000000000000000</a:t>
            </a:r>
            <a:endParaRPr kumimoji="0" lang="en-US" sz="2400" b="0" i="0" u="none" strike="noStrike" kern="1200" cap="none" spc="0" normalizeH="0" baseline="0" noProof="0" dirty="0">
              <a:ln>
                <a:noFill/>
              </a:ln>
              <a:solidFill>
                <a:srgbClr val="F79646"/>
              </a:solidFill>
              <a:effectLst/>
              <a:uLnTx/>
              <a:uFillTx/>
              <a:latin typeface="Arial"/>
              <a:ea typeface="新細明體"/>
              <a:cs typeface="+mn-cs"/>
            </a:endParaRPr>
          </a:p>
          <a:p>
            <a:pPr marL="342900" marR="0" lvl="0" indent="-342900" algn="l" defTabSz="914400" rtl="0" eaLnBrk="1" fontAlgn="auto" latinLnBrk="0" hangingPunct="1">
              <a:lnSpc>
                <a:spcPct val="100000"/>
              </a:lnSpc>
              <a:spcBef>
                <a:spcPts val="0"/>
              </a:spcBef>
              <a:spcAft>
                <a:spcPts val="0"/>
              </a:spcAft>
              <a:buSzPct val="150000"/>
              <a:buFont typeface="Arial" panose="020B0604020202020204" pitchFamily="34" charset="0"/>
              <a:buChar char="•"/>
              <a:tabLst/>
              <a:defRPr/>
            </a:pPr>
            <a:r>
              <a:rPr lang="en-US" sz="2400" b="1" i="1" dirty="0">
                <a:latin typeface="Söhne"/>
              </a:rPr>
              <a:t>Denormalized</a:t>
            </a:r>
            <a:r>
              <a:rPr lang="en-US" sz="2400" dirty="0">
                <a:solidFill>
                  <a:srgbClr val="0D0D0D"/>
                </a:solidFill>
                <a:latin typeface="Söhne"/>
              </a:rPr>
              <a:t> </a:t>
            </a:r>
            <a:r>
              <a:rPr lang="en-US" sz="2400" b="0" i="0" dirty="0">
                <a:solidFill>
                  <a:srgbClr val="0D0D0D"/>
                </a:solidFill>
                <a:effectLst/>
                <a:latin typeface="Söhne"/>
              </a:rPr>
              <a:t>numbers, where the exponent is 0, </a:t>
            </a:r>
            <a:r>
              <a:rPr lang="en-US" sz="2400" dirty="0">
                <a:solidFill>
                  <a:srgbClr val="0D0D0D"/>
                </a:solidFill>
                <a:latin typeface="Söhne"/>
              </a:rPr>
              <a:t>and</a:t>
            </a:r>
            <a:r>
              <a:rPr lang="en-US" sz="2400" b="0" i="0" dirty="0">
                <a:solidFill>
                  <a:srgbClr val="0D0D0D"/>
                </a:solidFill>
                <a:effectLst/>
                <a:latin typeface="Söhne"/>
              </a:rPr>
              <a:t> the leading bit of the mantissa is no longer assumed to be 1,</a:t>
            </a:r>
            <a:r>
              <a:rPr lang="en-US" sz="2400" b="0" i="0" dirty="0">
                <a:solidFill>
                  <a:prstClr val="black"/>
                </a:solidFill>
                <a:effectLst/>
                <a:latin typeface="Arial"/>
                <a:ea typeface="新細明體"/>
              </a:rPr>
              <a:t> </a:t>
            </a:r>
            <a:r>
              <a:rPr lang="en-US" sz="2400" dirty="0">
                <a:solidFill>
                  <a:prstClr val="black"/>
                </a:solidFill>
                <a:latin typeface="Arial"/>
                <a:ea typeface="新細明體"/>
              </a:rPr>
              <a:t>the smallest </a:t>
            </a:r>
            <a:r>
              <a:rPr lang="en-US" sz="2400" dirty="0" err="1">
                <a:solidFill>
                  <a:prstClr val="black"/>
                </a:solidFill>
                <a:latin typeface="Arial"/>
                <a:ea typeface="新細明體"/>
              </a:rPr>
              <a:t>denorm</a:t>
            </a:r>
            <a:r>
              <a:rPr lang="en-US" sz="2400" dirty="0">
                <a:solidFill>
                  <a:prstClr val="black"/>
                </a:solidFill>
                <a:latin typeface="Arial"/>
                <a:ea typeface="新細明體"/>
              </a:rPr>
              <a:t> is</a:t>
            </a:r>
            <a:r>
              <a:rPr kumimoji="0" lang="en-US" sz="2400" b="0" i="0" u="none" strike="noStrike" kern="1200" cap="none" spc="0" normalizeH="0" baseline="0" noProof="0" dirty="0">
                <a:ln>
                  <a:noFill/>
                </a:ln>
                <a:solidFill>
                  <a:prstClr val="black"/>
                </a:solidFill>
                <a:effectLst/>
                <a:uLnTx/>
                <a:uFillTx/>
                <a:latin typeface="Arial"/>
                <a:ea typeface="新細明體"/>
                <a:cs typeface="+mn-cs"/>
              </a:rPr>
              <a:t> 2</a:t>
            </a:r>
            <a:r>
              <a:rPr kumimoji="0" lang="en-US" sz="2400" b="0" i="0" u="none" strike="noStrike" kern="1200" cap="none" spc="0" normalizeH="0" baseline="30000" noProof="0" dirty="0">
                <a:ln>
                  <a:noFill/>
                </a:ln>
                <a:solidFill>
                  <a:prstClr val="black"/>
                </a:solidFill>
                <a:effectLst/>
                <a:uLnTx/>
                <a:uFillTx/>
                <a:latin typeface="Arial"/>
                <a:ea typeface="新細明體"/>
                <a:cs typeface="+mn-cs"/>
              </a:rPr>
              <a:t>-149</a:t>
            </a:r>
            <a:endParaRPr kumimoji="0" lang="en-US" sz="2400" b="0" i="1" u="none" strike="noStrike" kern="1200" cap="none" spc="0" normalizeH="0" baseline="0" noProof="0" dirty="0">
              <a:ln>
                <a:noFill/>
              </a:ln>
              <a:solidFill>
                <a:srgbClr val="F79646"/>
              </a:solidFill>
              <a:effectLst/>
              <a:uLnTx/>
              <a:uFillTx/>
              <a:latin typeface="Arial"/>
              <a:ea typeface="新細明體"/>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i="1" dirty="0">
              <a:solidFill>
                <a:schemeClr val="accent6"/>
              </a:solidFill>
            </a:endParaRPr>
          </a:p>
        </p:txBody>
      </p:sp>
    </p:spTree>
    <p:extLst>
      <p:ext uri="{BB962C8B-B14F-4D97-AF65-F5344CB8AC3E}">
        <p14:creationId xmlns:p14="http://schemas.microsoft.com/office/powerpoint/2010/main" val="803970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not Fixed-Point Numbers</a:t>
            </a:r>
          </a:p>
        </p:txBody>
      </p:sp>
      <p:sp>
        <p:nvSpPr>
          <p:cNvPr id="3" name="Content Placeholder 2"/>
          <p:cNvSpPr>
            <a:spLocks noGrp="1"/>
          </p:cNvSpPr>
          <p:nvPr>
            <p:ph idx="1"/>
          </p:nvPr>
        </p:nvSpPr>
        <p:spPr>
          <a:xfrm>
            <a:off x="322415" y="3343274"/>
            <a:ext cx="10969556" cy="2585323"/>
          </a:xfrm>
        </p:spPr>
        <p:txBody>
          <a:bodyPr>
            <a:normAutofit fontScale="92500"/>
          </a:bodyPr>
          <a:lstStyle/>
          <a:p>
            <a:pPr marL="0" indent="0">
              <a:buNone/>
            </a:pPr>
            <a:r>
              <a:rPr lang="en-US" sz="2800" dirty="0"/>
              <a:t>The range of real numbers we can represent in floating point numbers is</a:t>
            </a:r>
          </a:p>
          <a:p>
            <a:pPr marL="0" indent="0">
              <a:buNone/>
            </a:pPr>
            <a:r>
              <a:rPr lang="en-US" sz="2800" dirty="0"/>
              <a:t> </a:t>
            </a:r>
            <a:r>
              <a:rPr kumimoji="0" lang="en-US" sz="2400" b="0" i="0" u="none" strike="noStrike" kern="1200" cap="none" spc="0" normalizeH="0" baseline="0" noProof="0" dirty="0">
                <a:ln>
                  <a:noFill/>
                </a:ln>
                <a:solidFill>
                  <a:prstClr val="black"/>
                </a:solidFill>
                <a:effectLst/>
                <a:uLnTx/>
                <a:uFillTx/>
                <a:latin typeface="Arial"/>
                <a:ea typeface="新細明體"/>
                <a:cs typeface="+mn-cs"/>
              </a:rPr>
              <a:t>10</a:t>
            </a:r>
            <a:r>
              <a:rPr kumimoji="0" lang="en-US" sz="2400" b="0" i="0" u="none" strike="noStrike" kern="1200" cap="none" spc="0" normalizeH="0" baseline="30000" noProof="0" dirty="0">
                <a:ln>
                  <a:noFill/>
                </a:ln>
                <a:solidFill>
                  <a:prstClr val="black"/>
                </a:solidFill>
                <a:effectLst/>
                <a:uLnTx/>
                <a:uFillTx/>
                <a:latin typeface="Arial"/>
                <a:ea typeface="新細明體"/>
                <a:cs typeface="+mn-cs"/>
              </a:rPr>
              <a:t>38 </a:t>
            </a:r>
            <a:r>
              <a:rPr kumimoji="0" lang="en-US" sz="2400" b="0" i="0" u="none" strike="noStrike" kern="1200" cap="none" spc="0" normalizeH="0" baseline="0" noProof="0" dirty="0">
                <a:ln>
                  <a:noFill/>
                </a:ln>
                <a:solidFill>
                  <a:prstClr val="black"/>
                </a:solidFill>
                <a:effectLst/>
                <a:uLnTx/>
                <a:uFillTx/>
                <a:latin typeface="Arial"/>
                <a:ea typeface="新細明體"/>
                <a:cs typeface="+mn-cs"/>
              </a:rPr>
              <a:t>to </a:t>
            </a:r>
            <a:r>
              <a:rPr kumimoji="1" lang="en-US" sz="28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 </a:t>
            </a:r>
            <a:r>
              <a:rPr kumimoji="0" lang="en-US" sz="2400" b="0" i="0" u="none" strike="noStrike" kern="1200" cap="none" spc="0" normalizeH="0" baseline="0" noProof="0" dirty="0">
                <a:ln>
                  <a:noFill/>
                </a:ln>
                <a:solidFill>
                  <a:prstClr val="black"/>
                </a:solidFill>
                <a:effectLst/>
                <a:uLnTx/>
                <a:uFillTx/>
                <a:latin typeface="Arial"/>
                <a:ea typeface="新細明體"/>
                <a:cs typeface="+mn-cs"/>
              </a:rPr>
              <a:t>10</a:t>
            </a:r>
            <a:r>
              <a:rPr kumimoji="0" lang="en-US" sz="2400" b="0" i="0" u="none" strike="noStrike" kern="1200" cap="none" spc="0" normalizeH="0" baseline="30000" noProof="0" dirty="0">
                <a:ln>
                  <a:noFill/>
                </a:ln>
                <a:solidFill>
                  <a:prstClr val="black"/>
                </a:solidFill>
                <a:effectLst/>
                <a:uLnTx/>
                <a:uFillTx/>
                <a:latin typeface="Arial"/>
                <a:ea typeface="新細明體"/>
                <a:cs typeface="+mn-cs"/>
              </a:rPr>
              <a:t>-38  </a:t>
            </a:r>
          </a:p>
          <a:p>
            <a:pPr marL="0" indent="0">
              <a:buNone/>
            </a:pPr>
            <a:r>
              <a:rPr kumimoji="0" lang="en-US" sz="2400" b="0" i="0" u="none" strike="noStrike" kern="1200" cap="none" spc="0" normalizeH="0" baseline="0" noProof="0" dirty="0">
                <a:ln>
                  <a:noFill/>
                </a:ln>
                <a:solidFill>
                  <a:prstClr val="black"/>
                </a:solidFill>
                <a:effectLst/>
                <a:uLnTx/>
                <a:uFillTx/>
                <a:latin typeface="Arial"/>
                <a:ea typeface="新細明體"/>
                <a:cs typeface="+mn-cs"/>
              </a:rPr>
              <a:t> What if we use a fixed point representation:</a:t>
            </a:r>
          </a:p>
          <a:p>
            <a:pPr marL="0" indent="0">
              <a:buNone/>
            </a:pPr>
            <a:r>
              <a:rPr kumimoji="0" lang="en-US" sz="2400" kern="1200" dirty="0">
                <a:solidFill>
                  <a:prstClr val="black"/>
                </a:solidFill>
                <a:latin typeface="Arial"/>
                <a:ea typeface="新細明體"/>
              </a:rPr>
              <a:t>	</a:t>
            </a:r>
            <a:r>
              <a:rPr kumimoji="0" lang="en-US" sz="2400" kern="1200" dirty="0" err="1">
                <a:solidFill>
                  <a:prstClr val="black"/>
                </a:solidFill>
                <a:latin typeface="Arial"/>
                <a:ea typeface="新細明體"/>
              </a:rPr>
              <a:t>xxxxx.yyyyy</a:t>
            </a:r>
            <a:r>
              <a:rPr kumimoji="0" lang="en-US" sz="2400" kern="1200" dirty="0">
                <a:solidFill>
                  <a:prstClr val="black"/>
                </a:solidFill>
                <a:latin typeface="Arial"/>
                <a:ea typeface="新細明體"/>
              </a:rPr>
              <a:t> where the binary point is fixed. </a:t>
            </a:r>
          </a:p>
          <a:p>
            <a:pPr marL="0" indent="0">
              <a:buNone/>
            </a:pPr>
            <a:r>
              <a:rPr kumimoji="0" lang="en-US" sz="2400" kern="1200" dirty="0">
                <a:solidFill>
                  <a:prstClr val="black"/>
                </a:solidFill>
                <a:latin typeface="Arial"/>
                <a:ea typeface="新細明體"/>
              </a:rPr>
              <a:t>Assume 32 bit are divided into two parts: the integer part (</a:t>
            </a:r>
            <a:r>
              <a:rPr kumimoji="0" lang="en-US" sz="2400" kern="1200" dirty="0" err="1">
                <a:solidFill>
                  <a:prstClr val="black"/>
                </a:solidFill>
                <a:latin typeface="Arial"/>
                <a:ea typeface="新細明體"/>
              </a:rPr>
              <a:t>xxxxx</a:t>
            </a:r>
            <a:r>
              <a:rPr kumimoji="0" lang="en-US" sz="2400" kern="1200" dirty="0">
                <a:solidFill>
                  <a:prstClr val="black"/>
                </a:solidFill>
                <a:latin typeface="Arial"/>
                <a:ea typeface="新細明體"/>
              </a:rPr>
              <a:t>) and the fraction part </a:t>
            </a:r>
            <a:r>
              <a:rPr kumimoji="0" lang="en-US" sz="2400" kern="1200" dirty="0" err="1">
                <a:solidFill>
                  <a:prstClr val="black"/>
                </a:solidFill>
                <a:latin typeface="Arial"/>
                <a:ea typeface="新細明體"/>
              </a:rPr>
              <a:t>yyyyy</a:t>
            </a:r>
            <a:r>
              <a:rPr kumimoji="0" lang="en-US" sz="2400" kern="1200" dirty="0">
                <a:solidFill>
                  <a:prstClr val="black"/>
                </a:solidFill>
                <a:latin typeface="Arial"/>
                <a:ea typeface="新細明體"/>
              </a:rPr>
              <a:t>. Each takes 16 bits. What range can this number system cover?</a:t>
            </a:r>
          </a:p>
          <a:p>
            <a:pPr marL="0" indent="0">
              <a:buNone/>
            </a:pPr>
            <a:endParaRPr kumimoji="0" lang="en-US" sz="2400" kern="1200" dirty="0">
              <a:solidFill>
                <a:prstClr val="black"/>
              </a:solidFill>
              <a:latin typeface="Arial"/>
              <a:ea typeface="新細明體"/>
            </a:endParaRPr>
          </a:p>
        </p:txBody>
      </p:sp>
      <p:sp>
        <p:nvSpPr>
          <p:cNvPr id="8" name="灯片编号占位符 7"/>
          <p:cNvSpPr>
            <a:spLocks noGrp="1"/>
          </p:cNvSpPr>
          <p:nvPr>
            <p:ph type="sldNum" sz="quarter" idx="10"/>
          </p:nvPr>
        </p:nvSpPr>
        <p:spPr/>
        <p:txBody>
          <a:bodyPr/>
          <a:lstStyle/>
          <a:p>
            <a:fld id="{D9B6BDF2-6896-4B98-8776-C18582F63BA5}" type="slidenum">
              <a:rPr lang="zh-TW" altLang="en-US" smtClean="0"/>
              <a:t>12</a:t>
            </a:fld>
            <a:endParaRPr lang="zh-TW" altLang="en-US"/>
          </a:p>
        </p:txBody>
      </p:sp>
      <p:sp>
        <p:nvSpPr>
          <p:cNvPr id="9" name="TextBox 8">
            <a:extLst>
              <a:ext uri="{FF2B5EF4-FFF2-40B4-BE49-F238E27FC236}">
                <a16:creationId xmlns:a16="http://schemas.microsoft.com/office/drawing/2014/main" id="{04D27AB1-5739-4270-BFD3-271B6E1E8C4C}"/>
              </a:ext>
            </a:extLst>
          </p:cNvPr>
          <p:cNvSpPr txBox="1"/>
          <p:nvPr/>
        </p:nvSpPr>
        <p:spPr>
          <a:xfrm>
            <a:off x="322415" y="1005443"/>
            <a:ext cx="11245173" cy="2585323"/>
          </a:xfrm>
          <a:prstGeom prst="rect">
            <a:avLst/>
          </a:prstGeom>
          <a:noFill/>
        </p:spPr>
        <p:txBody>
          <a:bodyPr wrap="square">
            <a:spAutoFit/>
          </a:bodyPr>
          <a:lstStyle/>
          <a:p>
            <a:r>
              <a:rPr lang="en-US" sz="2400" i="1" dirty="0">
                <a:solidFill>
                  <a:prstClr val="black"/>
                </a:solidFill>
                <a:latin typeface="Arial"/>
                <a:ea typeface="新細明體"/>
              </a:rPr>
              <a:t>The largest </a:t>
            </a:r>
            <a:r>
              <a:rPr kumimoji="0" lang="en-US" sz="2400" b="0" i="1" u="none" strike="noStrike" kern="1200" cap="none" spc="0" normalizeH="0" baseline="0" noProof="0" dirty="0">
                <a:ln>
                  <a:noFill/>
                </a:ln>
                <a:solidFill>
                  <a:prstClr val="black"/>
                </a:solidFill>
                <a:effectLst/>
                <a:uLnTx/>
                <a:uFillTx/>
                <a:latin typeface="Arial"/>
                <a:ea typeface="新細明體"/>
                <a:cs typeface="+mn-cs"/>
              </a:rPr>
              <a:t> SP number is </a:t>
            </a:r>
            <a:r>
              <a:rPr lang="en-US" sz="2400" dirty="0">
                <a:solidFill>
                  <a:srgbClr val="0D0D0D"/>
                </a:solidFill>
              </a:rPr>
              <a:t>~ </a:t>
            </a:r>
            <a:r>
              <a:rPr lang="en-US" sz="2400" b="0" i="0" dirty="0">
                <a:solidFill>
                  <a:srgbClr val="0D0D0D"/>
                </a:solidFill>
                <a:effectLst/>
              </a:rPr>
              <a:t>3.4028235 </a:t>
            </a:r>
            <a:r>
              <a:rPr lang="en-US" b="0" i="0" dirty="0">
                <a:solidFill>
                  <a:srgbClr val="0D0D0D"/>
                </a:solidFill>
                <a:effectLst/>
                <a:latin typeface="KaTeX_Main"/>
              </a:rPr>
              <a:t>× </a:t>
            </a:r>
            <a:r>
              <a:rPr lang="en-US" sz="2400" dirty="0">
                <a:solidFill>
                  <a:prstClr val="black"/>
                </a:solidFill>
                <a:latin typeface="Arial"/>
                <a:ea typeface="新細明體"/>
              </a:rPr>
              <a:t>10</a:t>
            </a:r>
            <a:r>
              <a:rPr lang="en-US" sz="2400" baseline="30000" dirty="0">
                <a:solidFill>
                  <a:prstClr val="black"/>
                </a:solidFill>
                <a:latin typeface="Arial"/>
                <a:ea typeface="新細明體"/>
              </a:rPr>
              <a:t>38  </a:t>
            </a:r>
            <a:br>
              <a:rPr lang="en-US" dirty="0"/>
            </a:br>
            <a:r>
              <a:rPr lang="en-US" dirty="0"/>
              <a:t> </a:t>
            </a:r>
            <a:r>
              <a:rPr kumimoji="0" lang="en-US" sz="2400" b="0" i="0" u="none" strike="noStrike" kern="1200" cap="none" spc="0" normalizeH="0" baseline="0" noProof="0" dirty="0">
                <a:ln>
                  <a:noFill/>
                </a:ln>
                <a:solidFill>
                  <a:prstClr val="black"/>
                </a:solidFill>
                <a:effectLst/>
                <a:uLnTx/>
                <a:uFillTx/>
                <a:latin typeface="Arial"/>
                <a:ea typeface="新細明體"/>
                <a:cs typeface="+mn-cs"/>
              </a:rPr>
              <a:t>The bit pattern is  </a:t>
            </a:r>
            <a:r>
              <a:rPr kumimoji="0" lang="en-US" sz="2400" b="0" i="0" u="none" strike="noStrike" kern="1200" cap="none" spc="0" normalizeH="0" baseline="0" noProof="0" dirty="0">
                <a:ln>
                  <a:noFill/>
                </a:ln>
                <a:solidFill>
                  <a:srgbClr val="FF0000"/>
                </a:solidFill>
                <a:effectLst/>
                <a:uLnTx/>
                <a:uFillTx/>
                <a:latin typeface="Arial"/>
                <a:ea typeface="新細明體"/>
                <a:cs typeface="+mn-cs"/>
              </a:rPr>
              <a:t>0</a:t>
            </a:r>
            <a:r>
              <a:rPr kumimoji="0" lang="en-US" sz="2400" b="0" i="0" u="none" strike="noStrike" kern="1200" cap="none" spc="0" normalizeH="0" baseline="0" noProof="0" dirty="0">
                <a:ln>
                  <a:noFill/>
                </a:ln>
                <a:solidFill>
                  <a:prstClr val="black"/>
                </a:solidFill>
                <a:effectLst/>
                <a:uLnTx/>
                <a:uFillTx/>
                <a:latin typeface="Arial"/>
                <a:ea typeface="新細明體"/>
                <a:cs typeface="+mn-cs"/>
              </a:rPr>
              <a:t> </a:t>
            </a:r>
            <a:r>
              <a:rPr kumimoji="0" lang="en-US" sz="2400" b="0" i="0" u="none" strike="noStrike" kern="1200" cap="none" spc="0" normalizeH="0" baseline="0" noProof="0" dirty="0">
                <a:ln>
                  <a:noFill/>
                </a:ln>
                <a:solidFill>
                  <a:srgbClr val="92D050"/>
                </a:solidFill>
                <a:effectLst/>
                <a:uLnTx/>
                <a:uFillTx/>
                <a:latin typeface="Arial"/>
                <a:ea typeface="新細明體"/>
                <a:cs typeface="+mn-cs"/>
              </a:rPr>
              <a:t>11111110</a:t>
            </a:r>
            <a:r>
              <a:rPr kumimoji="0" lang="en-US" sz="2400" b="0" i="0" u="none" strike="noStrike" kern="1200" cap="none" spc="0" normalizeH="0" baseline="0" noProof="0" dirty="0">
                <a:ln>
                  <a:noFill/>
                </a:ln>
                <a:solidFill>
                  <a:prstClr val="black"/>
                </a:solidFill>
                <a:effectLst/>
                <a:uLnTx/>
                <a:uFillTx/>
                <a:latin typeface="Arial"/>
                <a:ea typeface="新細明體"/>
                <a:cs typeface="+mn-cs"/>
              </a:rPr>
              <a:t> </a:t>
            </a:r>
            <a:r>
              <a:rPr kumimoji="0" lang="en-US" sz="2400" b="0" i="0" u="none" strike="noStrike" kern="1200" cap="none" spc="0" normalizeH="0" baseline="0" noProof="0" dirty="0">
                <a:ln>
                  <a:noFill/>
                </a:ln>
                <a:solidFill>
                  <a:schemeClr val="accent6"/>
                </a:solidFill>
                <a:effectLst/>
                <a:uLnTx/>
                <a:uFillTx/>
                <a:latin typeface="Arial"/>
                <a:ea typeface="新細明體"/>
                <a:cs typeface="+mn-cs"/>
              </a:rPr>
              <a:t>11111111111111111111111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1" u="none" strike="noStrike" kern="1200" cap="none" spc="0" normalizeH="0" baseline="0" noProof="0" dirty="0">
                <a:ln>
                  <a:noFill/>
                </a:ln>
                <a:solidFill>
                  <a:prstClr val="black"/>
                </a:solidFill>
                <a:effectLst/>
                <a:uLnTx/>
                <a:uFillTx/>
                <a:latin typeface="Arial"/>
                <a:ea typeface="新細明體"/>
                <a:cs typeface="+mn-cs"/>
              </a:rPr>
              <a:t>The smallest SP number (normalized) is</a:t>
            </a:r>
            <a:r>
              <a:rPr kumimoji="0" lang="en-US" sz="2400" b="0" i="0" u="none" strike="noStrike" kern="1200" cap="none" spc="0" normalizeH="0" baseline="30000" noProof="0" dirty="0">
                <a:ln>
                  <a:noFill/>
                </a:ln>
                <a:solidFill>
                  <a:prstClr val="black"/>
                </a:solidFill>
                <a:effectLst/>
                <a:uLnTx/>
                <a:uFillTx/>
                <a:latin typeface="Arial"/>
                <a:ea typeface="新細明體"/>
                <a:cs typeface="+mn-cs"/>
              </a:rPr>
              <a:t>  </a:t>
            </a:r>
            <a:r>
              <a:rPr kumimoji="0" lang="en-US" sz="2400" b="0" i="0" u="none" strike="noStrike" kern="1200" cap="none" spc="0" normalizeH="0" baseline="0" noProof="0" dirty="0">
                <a:ln>
                  <a:noFill/>
                </a:ln>
                <a:solidFill>
                  <a:prstClr val="black"/>
                </a:solidFill>
                <a:effectLst/>
                <a:uLnTx/>
                <a:uFillTx/>
                <a:latin typeface="Arial"/>
                <a:ea typeface="新細明體"/>
                <a:cs typeface="+mn-cs"/>
              </a:rPr>
              <a:t>2</a:t>
            </a:r>
            <a:r>
              <a:rPr kumimoji="0" lang="en-US" sz="2400" b="0" i="0" u="none" strike="noStrike" kern="1200" cap="none" spc="0" normalizeH="0" baseline="30000" noProof="0" dirty="0">
                <a:ln>
                  <a:noFill/>
                </a:ln>
                <a:solidFill>
                  <a:prstClr val="black"/>
                </a:solidFill>
                <a:effectLst/>
                <a:uLnTx/>
                <a:uFillTx/>
                <a:latin typeface="Arial"/>
                <a:ea typeface="新細明體"/>
                <a:cs typeface="+mn-cs"/>
              </a:rPr>
              <a:t>-126</a:t>
            </a:r>
            <a:r>
              <a:rPr lang="en-US" sz="2400" dirty="0">
                <a:solidFill>
                  <a:srgbClr val="0D0D0D"/>
                </a:solidFill>
                <a:latin typeface="KaTeX_Main"/>
                <a:ea typeface="新細明體"/>
              </a:rPr>
              <a:t> </a:t>
            </a:r>
            <a:r>
              <a:rPr kumimoji="0" lang="en-US" sz="2400" b="0" i="0" u="none" strike="noStrike" kern="1200" cap="none" spc="0" normalizeH="0" baseline="0" noProof="0" dirty="0">
                <a:ln>
                  <a:noFill/>
                </a:ln>
                <a:solidFill>
                  <a:srgbClr val="0D0D0D"/>
                </a:solidFill>
                <a:effectLst/>
                <a:uLnTx/>
                <a:uFillTx/>
                <a:latin typeface="Söhne"/>
                <a:ea typeface="新細明體"/>
                <a:cs typeface="+mn-cs"/>
              </a:rPr>
              <a:t>  </a:t>
            </a:r>
            <a:br>
              <a:rPr kumimoji="0" lang="en-US" sz="1800" b="0" i="0" u="none" strike="noStrike" kern="1200" cap="none" spc="0" normalizeH="0" baseline="0" noProof="0" dirty="0">
                <a:ln>
                  <a:noFill/>
                </a:ln>
                <a:solidFill>
                  <a:prstClr val="black"/>
                </a:solidFill>
                <a:effectLst/>
                <a:uLnTx/>
                <a:uFillTx/>
                <a:latin typeface="Arial"/>
                <a:ea typeface="新細明體"/>
                <a:cs typeface="+mn-cs"/>
              </a:rPr>
            </a:br>
            <a:r>
              <a:rPr kumimoji="0" lang="en-US" sz="1800" b="0" i="0" u="none" strike="noStrike" kern="1200" cap="none" spc="0" normalizeH="0" baseline="0" noProof="0" dirty="0">
                <a:ln>
                  <a:noFill/>
                </a:ln>
                <a:solidFill>
                  <a:prstClr val="black"/>
                </a:solidFill>
                <a:effectLst/>
                <a:uLnTx/>
                <a:uFillTx/>
                <a:latin typeface="Arial"/>
                <a:ea typeface="新細明體"/>
                <a:cs typeface="+mn-cs"/>
              </a:rPr>
              <a:t> </a:t>
            </a:r>
            <a:r>
              <a:rPr kumimoji="0" lang="en-US" sz="2400" b="0" i="0" u="none" strike="noStrike" kern="1200" cap="none" spc="0" normalizeH="0" baseline="0" noProof="0" dirty="0">
                <a:ln>
                  <a:noFill/>
                </a:ln>
                <a:solidFill>
                  <a:prstClr val="black"/>
                </a:solidFill>
                <a:effectLst/>
                <a:uLnTx/>
                <a:uFillTx/>
                <a:latin typeface="Arial"/>
                <a:ea typeface="新細明體"/>
                <a:cs typeface="+mn-cs"/>
              </a:rPr>
              <a:t>The bit pattern is  </a:t>
            </a:r>
            <a:r>
              <a:rPr kumimoji="0" lang="en-US" sz="2400" b="0" i="0" u="none" strike="noStrike" kern="1200" cap="none" spc="0" normalizeH="0" baseline="0" noProof="0" dirty="0">
                <a:ln>
                  <a:noFill/>
                </a:ln>
                <a:solidFill>
                  <a:srgbClr val="FF0000"/>
                </a:solidFill>
                <a:effectLst/>
                <a:uLnTx/>
                <a:uFillTx/>
                <a:latin typeface="Arial"/>
                <a:ea typeface="新細明體"/>
                <a:cs typeface="+mn-cs"/>
              </a:rPr>
              <a:t>0</a:t>
            </a:r>
            <a:r>
              <a:rPr kumimoji="0" lang="en-US" sz="2400" b="0" i="0" u="none" strike="noStrike" kern="1200" cap="none" spc="0" normalizeH="0" baseline="0" noProof="0" dirty="0">
                <a:ln>
                  <a:noFill/>
                </a:ln>
                <a:solidFill>
                  <a:prstClr val="black"/>
                </a:solidFill>
                <a:effectLst/>
                <a:uLnTx/>
                <a:uFillTx/>
                <a:latin typeface="Arial"/>
                <a:ea typeface="新細明體"/>
                <a:cs typeface="+mn-cs"/>
              </a:rPr>
              <a:t> </a:t>
            </a:r>
            <a:r>
              <a:rPr lang="en-US" sz="2400" dirty="0">
                <a:solidFill>
                  <a:srgbClr val="92D050"/>
                </a:solidFill>
                <a:latin typeface="Arial"/>
                <a:ea typeface="新細明體"/>
              </a:rPr>
              <a:t>00000001</a:t>
            </a:r>
            <a:r>
              <a:rPr kumimoji="0" lang="en-US" sz="2400" b="0" i="0" u="none" strike="noStrike" kern="1200" cap="none" spc="0" normalizeH="0" baseline="0" noProof="0" dirty="0">
                <a:ln>
                  <a:noFill/>
                </a:ln>
                <a:solidFill>
                  <a:prstClr val="black"/>
                </a:solidFill>
                <a:effectLst/>
                <a:uLnTx/>
                <a:uFillTx/>
                <a:latin typeface="Arial"/>
                <a:ea typeface="新細明體"/>
                <a:cs typeface="+mn-cs"/>
              </a:rPr>
              <a:t> </a:t>
            </a:r>
            <a:r>
              <a:rPr lang="en-US" sz="2400" dirty="0">
                <a:solidFill>
                  <a:srgbClr val="F79646"/>
                </a:solidFill>
                <a:latin typeface="Arial"/>
                <a:ea typeface="新細明體"/>
              </a:rPr>
              <a:t>00000000000000000000000</a:t>
            </a:r>
            <a:endParaRPr kumimoji="0" lang="en-US" sz="2400" b="0" i="0" u="none" strike="noStrike" kern="1200" cap="none" spc="0" normalizeH="0" baseline="0" noProof="0" dirty="0">
              <a:ln>
                <a:noFill/>
              </a:ln>
              <a:solidFill>
                <a:srgbClr val="F79646"/>
              </a:solidFill>
              <a:effectLst/>
              <a:uLnTx/>
              <a:uFillTx/>
              <a:latin typeface="Arial"/>
              <a:ea typeface="新細明體"/>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i="1" dirty="0">
                <a:solidFill>
                  <a:srgbClr val="FF0000"/>
                </a:solidFill>
                <a:latin typeface="Söhne"/>
              </a:rPr>
              <a:t>denormalized</a:t>
            </a:r>
            <a:r>
              <a:rPr lang="en-US" sz="2400" dirty="0">
                <a:solidFill>
                  <a:srgbClr val="0D0D0D"/>
                </a:solidFill>
                <a:latin typeface="Söhne"/>
              </a:rPr>
              <a:t> </a:t>
            </a:r>
            <a:r>
              <a:rPr lang="en-US" sz="2400" b="0" i="0" dirty="0">
                <a:solidFill>
                  <a:srgbClr val="0D0D0D"/>
                </a:solidFill>
                <a:effectLst/>
                <a:latin typeface="Söhne"/>
              </a:rPr>
              <a:t>numbers, where the exponent is 0, </a:t>
            </a:r>
            <a:r>
              <a:rPr lang="en-US" sz="2400" dirty="0">
                <a:solidFill>
                  <a:srgbClr val="0D0D0D"/>
                </a:solidFill>
                <a:latin typeface="Söhne"/>
              </a:rPr>
              <a:t>and</a:t>
            </a:r>
            <a:r>
              <a:rPr lang="en-US" sz="2400" b="0" i="0" dirty="0">
                <a:solidFill>
                  <a:srgbClr val="0D0D0D"/>
                </a:solidFill>
                <a:effectLst/>
                <a:latin typeface="Söhne"/>
              </a:rPr>
              <a:t> the leading bit of the mantissa is no longer assumed to be 1,</a:t>
            </a:r>
            <a:r>
              <a:rPr lang="en-US" sz="2400" b="0" i="0" dirty="0">
                <a:solidFill>
                  <a:prstClr val="black"/>
                </a:solidFill>
                <a:effectLst/>
                <a:latin typeface="Arial"/>
                <a:ea typeface="新細明體"/>
              </a:rPr>
              <a:t> </a:t>
            </a:r>
            <a:r>
              <a:rPr lang="en-US" sz="2400" dirty="0">
                <a:solidFill>
                  <a:prstClr val="black"/>
                </a:solidFill>
                <a:latin typeface="Arial"/>
                <a:ea typeface="新細明體"/>
              </a:rPr>
              <a:t>the smallest </a:t>
            </a:r>
            <a:r>
              <a:rPr lang="en-US" sz="2400" dirty="0" err="1">
                <a:solidFill>
                  <a:prstClr val="black"/>
                </a:solidFill>
                <a:latin typeface="Arial"/>
                <a:ea typeface="新細明體"/>
              </a:rPr>
              <a:t>denorm</a:t>
            </a:r>
            <a:r>
              <a:rPr lang="en-US" sz="2400" dirty="0">
                <a:solidFill>
                  <a:prstClr val="black"/>
                </a:solidFill>
                <a:latin typeface="Arial"/>
                <a:ea typeface="新細明體"/>
              </a:rPr>
              <a:t> would</a:t>
            </a:r>
            <a:r>
              <a:rPr kumimoji="0" lang="en-US" sz="2400" b="0" i="0" u="none" strike="noStrike" kern="1200" cap="none" spc="0" normalizeH="0" baseline="0" noProof="0" dirty="0">
                <a:ln>
                  <a:noFill/>
                </a:ln>
                <a:solidFill>
                  <a:prstClr val="black"/>
                </a:solidFill>
                <a:effectLst/>
                <a:uLnTx/>
                <a:uFillTx/>
                <a:latin typeface="Arial"/>
                <a:ea typeface="新細明體"/>
                <a:cs typeface="+mn-cs"/>
              </a:rPr>
              <a:t> be 2</a:t>
            </a:r>
            <a:r>
              <a:rPr kumimoji="0" lang="en-US" sz="2400" b="0" i="0" u="none" strike="noStrike" kern="1200" cap="none" spc="0" normalizeH="0" baseline="30000" noProof="0" dirty="0">
                <a:ln>
                  <a:noFill/>
                </a:ln>
                <a:solidFill>
                  <a:prstClr val="black"/>
                </a:solidFill>
                <a:effectLst/>
                <a:uLnTx/>
                <a:uFillTx/>
                <a:latin typeface="Arial"/>
                <a:ea typeface="新細明體"/>
                <a:cs typeface="+mn-cs"/>
              </a:rPr>
              <a:t>-149</a:t>
            </a:r>
            <a:endParaRPr kumimoji="0" lang="en-US" sz="2400" b="0" i="1" u="none" strike="noStrike" kern="1200" cap="none" spc="0" normalizeH="0" baseline="0" noProof="0" dirty="0">
              <a:ln>
                <a:noFill/>
              </a:ln>
              <a:solidFill>
                <a:srgbClr val="F79646"/>
              </a:solidFill>
              <a:effectLst/>
              <a:uLnTx/>
              <a:uFillTx/>
              <a:latin typeface="Arial"/>
              <a:ea typeface="新細明體"/>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i="1" dirty="0">
              <a:solidFill>
                <a:schemeClr val="accent6"/>
              </a:solidFill>
            </a:endParaRPr>
          </a:p>
        </p:txBody>
      </p:sp>
      <p:sp>
        <p:nvSpPr>
          <p:cNvPr id="6" name="TextBox 5">
            <a:extLst>
              <a:ext uri="{FF2B5EF4-FFF2-40B4-BE49-F238E27FC236}">
                <a16:creationId xmlns:a16="http://schemas.microsoft.com/office/drawing/2014/main" id="{4FA831D5-A5A2-4201-81FF-4068B6384EDE}"/>
              </a:ext>
            </a:extLst>
          </p:cNvPr>
          <p:cNvSpPr txBox="1"/>
          <p:nvPr/>
        </p:nvSpPr>
        <p:spPr>
          <a:xfrm>
            <a:off x="7056332" y="4236461"/>
            <a:ext cx="2315057" cy="523220"/>
          </a:xfrm>
          <a:prstGeom prst="rect">
            <a:avLst/>
          </a:prstGeom>
          <a:solidFill>
            <a:srgbClr val="FFFF00"/>
          </a:solidFill>
          <a:ln>
            <a:solidFill>
              <a:srgbClr val="FF0000"/>
            </a:solidFill>
          </a:ln>
        </p:spPr>
        <p:txBody>
          <a:bodyPr wrap="none" rtlCol="0" anchor="ctr" anchorCtr="1">
            <a:spAutoFit/>
          </a:bodyPr>
          <a:lstStyle/>
          <a:p>
            <a:r>
              <a:rPr lang="en-US" sz="2800" dirty="0">
                <a:solidFill>
                  <a:prstClr val="black"/>
                </a:solidFill>
              </a:rPr>
              <a:t>~2</a:t>
            </a:r>
            <a:r>
              <a:rPr lang="en-US" sz="2800" baseline="30000" dirty="0">
                <a:solidFill>
                  <a:prstClr val="black"/>
                </a:solidFill>
              </a:rPr>
              <a:t>15</a:t>
            </a:r>
            <a:r>
              <a:rPr lang="en-US" sz="2800" dirty="0">
                <a:solidFill>
                  <a:prstClr val="black"/>
                </a:solidFill>
              </a:rPr>
              <a:t>  to ~2</a:t>
            </a:r>
            <a:r>
              <a:rPr lang="en-US" sz="2800" baseline="30000" dirty="0">
                <a:solidFill>
                  <a:prstClr val="black"/>
                </a:solidFill>
              </a:rPr>
              <a:t>-16</a:t>
            </a:r>
            <a:r>
              <a:rPr lang="en-US" sz="2800" dirty="0">
                <a:solidFill>
                  <a:prstClr val="black"/>
                </a:solidFill>
              </a:rPr>
              <a:t> </a:t>
            </a:r>
            <a:endParaRPr lang="en-US" sz="2800" dirty="0">
              <a:ea typeface="標楷體" pitchFamily="65" charset="-120"/>
              <a:cs typeface="Calibri" pitchFamily="34" charset="0"/>
            </a:endParaRPr>
          </a:p>
        </p:txBody>
      </p:sp>
      <p:sp>
        <p:nvSpPr>
          <p:cNvPr id="7" name="TextBox 6">
            <a:extLst>
              <a:ext uri="{FF2B5EF4-FFF2-40B4-BE49-F238E27FC236}">
                <a16:creationId xmlns:a16="http://schemas.microsoft.com/office/drawing/2014/main" id="{34B43A77-F2E7-4FC7-9AB3-BE37E65EB5BD}"/>
              </a:ext>
            </a:extLst>
          </p:cNvPr>
          <p:cNvSpPr txBox="1"/>
          <p:nvPr/>
        </p:nvSpPr>
        <p:spPr>
          <a:xfrm>
            <a:off x="9554528" y="4759681"/>
            <a:ext cx="2518638" cy="523220"/>
          </a:xfrm>
          <a:prstGeom prst="rect">
            <a:avLst/>
          </a:prstGeom>
          <a:solidFill>
            <a:srgbClr val="FFFF00"/>
          </a:solidFill>
          <a:ln>
            <a:solidFill>
              <a:srgbClr val="FF0000"/>
            </a:solidFill>
          </a:ln>
        </p:spPr>
        <p:txBody>
          <a:bodyPr wrap="none" rtlCol="0" anchor="ctr" anchorCtr="1">
            <a:spAutoFit/>
          </a:bodyPr>
          <a:lstStyle/>
          <a:p>
            <a:r>
              <a:rPr lang="en-US" sz="2800" dirty="0">
                <a:solidFill>
                  <a:prstClr val="black"/>
                </a:solidFill>
              </a:rPr>
              <a:t>~10</a:t>
            </a:r>
            <a:r>
              <a:rPr lang="en-US" sz="2800" baseline="30000" dirty="0">
                <a:solidFill>
                  <a:prstClr val="black"/>
                </a:solidFill>
              </a:rPr>
              <a:t>5   </a:t>
            </a:r>
            <a:r>
              <a:rPr lang="en-US" sz="2800" dirty="0">
                <a:solidFill>
                  <a:prstClr val="black"/>
                </a:solidFill>
              </a:rPr>
              <a:t>to </a:t>
            </a:r>
            <a:r>
              <a:rPr kumimoji="1" lang="en-US" sz="2800" kern="0" dirty="0">
                <a:solidFill>
                  <a:prstClr val="black"/>
                </a:solidFill>
                <a:latin typeface="Calibri" pitchFamily="34" charset="0"/>
                <a:ea typeface="標楷體" pitchFamily="65" charset="-120"/>
              </a:rPr>
              <a:t> </a:t>
            </a:r>
            <a:r>
              <a:rPr lang="en-US" sz="2800" dirty="0">
                <a:solidFill>
                  <a:prstClr val="black"/>
                </a:solidFill>
              </a:rPr>
              <a:t>10</a:t>
            </a:r>
            <a:r>
              <a:rPr lang="en-US" sz="2800" baseline="30000" dirty="0">
                <a:solidFill>
                  <a:prstClr val="black"/>
                </a:solidFill>
              </a:rPr>
              <a:t>-5</a:t>
            </a:r>
            <a:r>
              <a:rPr lang="en-US" sz="2800" dirty="0">
                <a:solidFill>
                  <a:prstClr val="black"/>
                </a:solidFill>
              </a:rPr>
              <a:t>   </a:t>
            </a:r>
            <a:endParaRPr lang="en-US" sz="2800" dirty="0">
              <a:ea typeface="標楷體" pitchFamily="65" charset="-120"/>
              <a:cs typeface="Calibri" pitchFamily="34" charset="0"/>
            </a:endParaRPr>
          </a:p>
        </p:txBody>
      </p:sp>
      <p:sp>
        <p:nvSpPr>
          <p:cNvPr id="10" name="TextBox 9">
            <a:extLst>
              <a:ext uri="{FF2B5EF4-FFF2-40B4-BE49-F238E27FC236}">
                <a16:creationId xmlns:a16="http://schemas.microsoft.com/office/drawing/2014/main" id="{4E39AEDF-3109-41E6-A296-580B7DAAE703}"/>
              </a:ext>
            </a:extLst>
          </p:cNvPr>
          <p:cNvSpPr txBox="1"/>
          <p:nvPr/>
        </p:nvSpPr>
        <p:spPr>
          <a:xfrm>
            <a:off x="322415" y="5466615"/>
            <a:ext cx="11800025" cy="523220"/>
          </a:xfrm>
          <a:prstGeom prst="rect">
            <a:avLst/>
          </a:prstGeom>
          <a:solidFill>
            <a:srgbClr val="FFFF00"/>
          </a:solidFill>
          <a:ln>
            <a:solidFill>
              <a:srgbClr val="FF0000"/>
            </a:solidFill>
          </a:ln>
        </p:spPr>
        <p:txBody>
          <a:bodyPr wrap="none" rtlCol="0" anchor="ctr" anchorCtr="1">
            <a:spAutoFit/>
          </a:bodyPr>
          <a:lstStyle/>
          <a:p>
            <a:r>
              <a:rPr lang="en-US" sz="2800" dirty="0">
                <a:solidFill>
                  <a:prstClr val="black"/>
                </a:solidFill>
              </a:rPr>
              <a:t>Floating point number system can cover a much more extensive range!!  </a:t>
            </a:r>
            <a:endParaRPr lang="en-US" sz="2800" dirty="0">
              <a:ea typeface="標楷體" pitchFamily="65" charset="-120"/>
              <a:cs typeface="Calibri" pitchFamily="34" charset="0"/>
            </a:endParaRPr>
          </a:p>
        </p:txBody>
      </p:sp>
      <p:sp>
        <p:nvSpPr>
          <p:cNvPr id="11" name="TextBox 10">
            <a:extLst>
              <a:ext uri="{FF2B5EF4-FFF2-40B4-BE49-F238E27FC236}">
                <a16:creationId xmlns:a16="http://schemas.microsoft.com/office/drawing/2014/main" id="{3795E84D-DF7C-4B9B-B4F4-501F3B66C11E}"/>
              </a:ext>
            </a:extLst>
          </p:cNvPr>
          <p:cNvSpPr txBox="1"/>
          <p:nvPr/>
        </p:nvSpPr>
        <p:spPr>
          <a:xfrm>
            <a:off x="9048950" y="6112311"/>
            <a:ext cx="2784737" cy="523220"/>
          </a:xfrm>
          <a:prstGeom prst="rect">
            <a:avLst/>
          </a:prstGeom>
          <a:solidFill>
            <a:srgbClr val="FFFF00"/>
          </a:solidFill>
          <a:ln>
            <a:solidFill>
              <a:srgbClr val="FF0000"/>
            </a:solidFill>
          </a:ln>
        </p:spPr>
        <p:txBody>
          <a:bodyPr wrap="none" rtlCol="0" anchor="ctr" anchorCtr="1">
            <a:spAutoFit/>
          </a:bodyPr>
          <a:lstStyle/>
          <a:p>
            <a:r>
              <a:rPr lang="en-US" sz="2800" dirty="0">
                <a:solidFill>
                  <a:prstClr val="black"/>
                </a:solidFill>
              </a:rPr>
              <a:t>~10</a:t>
            </a:r>
            <a:r>
              <a:rPr lang="en-US" sz="2800" baseline="30000" dirty="0">
                <a:solidFill>
                  <a:prstClr val="black"/>
                </a:solidFill>
              </a:rPr>
              <a:t>38   </a:t>
            </a:r>
            <a:r>
              <a:rPr lang="en-US" sz="2800" dirty="0">
                <a:solidFill>
                  <a:prstClr val="black"/>
                </a:solidFill>
              </a:rPr>
              <a:t>to </a:t>
            </a:r>
            <a:r>
              <a:rPr kumimoji="1" lang="en-US" sz="2800" kern="0" dirty="0">
                <a:solidFill>
                  <a:prstClr val="black"/>
                </a:solidFill>
                <a:latin typeface="Calibri" pitchFamily="34" charset="0"/>
                <a:ea typeface="標楷體" pitchFamily="65" charset="-120"/>
              </a:rPr>
              <a:t> </a:t>
            </a:r>
            <a:r>
              <a:rPr lang="en-US" sz="2800" dirty="0">
                <a:solidFill>
                  <a:prstClr val="black"/>
                </a:solidFill>
              </a:rPr>
              <a:t>10</a:t>
            </a:r>
            <a:r>
              <a:rPr lang="en-US" sz="2800" baseline="30000" dirty="0">
                <a:solidFill>
                  <a:prstClr val="black"/>
                </a:solidFill>
              </a:rPr>
              <a:t>-38</a:t>
            </a:r>
            <a:r>
              <a:rPr lang="en-US" sz="2800" dirty="0">
                <a:solidFill>
                  <a:prstClr val="black"/>
                </a:solidFill>
              </a:rPr>
              <a:t>   </a:t>
            </a:r>
            <a:endParaRPr lang="en-US" sz="2800" dirty="0">
              <a:ea typeface="標楷體" pitchFamily="65" charset="-120"/>
              <a:cs typeface="Calibri" pitchFamily="34" charset="0"/>
            </a:endParaRPr>
          </a:p>
        </p:txBody>
      </p:sp>
    </p:spTree>
    <p:extLst>
      <p:ext uri="{BB962C8B-B14F-4D97-AF65-F5344CB8AC3E}">
        <p14:creationId xmlns:p14="http://schemas.microsoft.com/office/powerpoint/2010/main" val="1593796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10" grpId="0" animBg="1"/>
      <p:bldP spid="1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does Float cover a Large Range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79564" y="1095299"/>
                <a:ext cx="11431436" cy="4972126"/>
              </a:xfrm>
            </p:spPr>
            <p:txBody>
              <a:bodyPr>
                <a:normAutofit lnSpcReduction="10000"/>
              </a:bodyPr>
              <a:lstStyle/>
              <a:p>
                <a:pPr marL="0" indent="0">
                  <a:buNone/>
                </a:pPr>
                <a:r>
                  <a:rPr kumimoji="1" lang="en-US" sz="2400" i="0" u="none" strike="noStrike" kern="0" cap="none" spc="0" normalizeH="0" baseline="0" noProof="0" dirty="0">
                    <a:ln>
                      <a:noFill/>
                    </a:ln>
                    <a:solidFill>
                      <a:srgbClr val="1F497D"/>
                    </a:solidFill>
                    <a:effectLst/>
                    <a:uLnTx/>
                    <a:uFillTx/>
                    <a:latin typeface="Calibri" pitchFamily="34" charset="0"/>
                    <a:ea typeface="標楷體" pitchFamily="65" charset="-120"/>
                  </a:rPr>
                  <a:t>Both Integer and Float are 32-bit, so why can a float cover such a big range?</a:t>
                </a:r>
              </a:p>
              <a:p>
                <a:pPr marL="0" indent="0">
                  <a:buNone/>
                </a:pPr>
                <a:r>
                  <a:rPr lang="en-US" sz="2400" dirty="0">
                    <a:solidFill>
                      <a:srgbClr val="1F497D"/>
                    </a:solidFill>
                  </a:rPr>
                  <a:t>The mantissa of a float is 23 bits. It means it can cover integer numbers exactly from 0 to </a:t>
                </a:r>
                <a14:m>
                  <m:oMath xmlns:m="http://schemas.openxmlformats.org/officeDocument/2006/math">
                    <m:sSup>
                      <m:sSupPr>
                        <m:ctrlPr>
                          <a:rPr lang="en-US" sz="2400" i="1" smtClean="0">
                            <a:solidFill>
                              <a:srgbClr val="1F497D"/>
                            </a:solidFill>
                            <a:latin typeface="Cambria Math" panose="02040503050406030204" pitchFamily="18" charset="0"/>
                          </a:rPr>
                        </m:ctrlPr>
                      </m:sSupPr>
                      <m:e>
                        <m:r>
                          <a:rPr lang="en-US" sz="2400" b="0" i="1" smtClean="0">
                            <a:solidFill>
                              <a:srgbClr val="1F497D"/>
                            </a:solidFill>
                            <a:latin typeface="Cambria Math" panose="02040503050406030204" pitchFamily="18" charset="0"/>
                          </a:rPr>
                          <m:t>2</m:t>
                        </m:r>
                      </m:e>
                      <m:sup>
                        <m:r>
                          <a:rPr lang="en-US" sz="2400" i="1" smtClean="0">
                            <a:solidFill>
                              <a:srgbClr val="1F497D"/>
                            </a:solidFill>
                            <a:latin typeface="Cambria Math" panose="02040503050406030204" pitchFamily="18" charset="0"/>
                          </a:rPr>
                          <m:t>2</m:t>
                        </m:r>
                        <m:r>
                          <a:rPr lang="en-US" sz="2400" b="0" i="1" smtClean="0">
                            <a:solidFill>
                              <a:srgbClr val="1F497D"/>
                            </a:solidFill>
                            <a:latin typeface="Cambria Math" panose="02040503050406030204" pitchFamily="18" charset="0"/>
                          </a:rPr>
                          <m:t>4</m:t>
                        </m:r>
                      </m:sup>
                    </m:sSup>
                    <m:r>
                      <a:rPr lang="en-US" sz="2400" b="0" i="0" smtClean="0">
                        <a:solidFill>
                          <a:srgbClr val="1F497D"/>
                        </a:solidFill>
                        <a:latin typeface="Cambria Math" panose="02040503050406030204" pitchFamily="18" charset="0"/>
                      </a:rPr>
                      <m:t>= </m:t>
                    </m:r>
                  </m:oMath>
                </a14:m>
                <a:r>
                  <a:rPr lang="en-US" sz="2400" b="0" i="0" dirty="0">
                    <a:solidFill>
                      <a:srgbClr val="374151"/>
                    </a:solidFill>
                    <a:effectLst/>
                    <a:latin typeface="KaTeX_Main"/>
                  </a:rPr>
                  <a:t>16,777,216. After this value, the 23 bits of the mantissa no longer hold the precision. So, for example, you can represent 123456789, 123456790, 123456791 in integers, but not in floating point. The numbers around 123456789 can be represented as:</a:t>
                </a:r>
              </a:p>
              <a:p>
                <a:pPr marL="0" indent="0">
                  <a:buNone/>
                </a:pPr>
                <a:endParaRPr lang="en-US" sz="2400" b="0" i="0" dirty="0">
                  <a:solidFill>
                    <a:srgbClr val="374151"/>
                  </a:solidFill>
                  <a:effectLst/>
                  <a:latin typeface="KaTeX_Main"/>
                </a:endParaRPr>
              </a:p>
              <a:p>
                <a:pPr marL="0" indent="0" algn="l">
                  <a:buNone/>
                </a:pPr>
                <a:r>
                  <a:rPr lang="en-US" sz="2400" b="1" i="0" dirty="0">
                    <a:solidFill>
                      <a:srgbClr val="111827"/>
                    </a:solidFill>
                    <a:effectLst/>
                    <a:latin typeface="ui-sans-serif"/>
                  </a:rPr>
                  <a:t>123,456,784</a:t>
                </a:r>
                <a:r>
                  <a:rPr lang="en-US" sz="2400" b="0" i="0" dirty="0">
                    <a:solidFill>
                      <a:srgbClr val="374151"/>
                    </a:solidFill>
                    <a:effectLst/>
                    <a:latin typeface="ui-sans-serif"/>
                  </a:rPr>
                  <a:t> — exactly representable (multiple of 16)</a:t>
                </a:r>
              </a:p>
              <a:p>
                <a:pPr marL="0" indent="0" algn="l">
                  <a:buNone/>
                </a:pPr>
                <a:r>
                  <a:rPr lang="en-US" sz="2400" b="1" i="0" dirty="0">
                    <a:solidFill>
                      <a:srgbClr val="111827"/>
                    </a:solidFill>
                    <a:effectLst/>
                    <a:latin typeface="ui-sans-serif"/>
                  </a:rPr>
                  <a:t>123,456,789</a:t>
                </a:r>
                <a:r>
                  <a:rPr lang="en-US" sz="2400" b="0" i="0" dirty="0">
                    <a:solidFill>
                      <a:srgbClr val="374151"/>
                    </a:solidFill>
                    <a:effectLst/>
                    <a:latin typeface="ui-sans-serif"/>
                  </a:rPr>
                  <a:t> — gets rounded to </a:t>
                </a:r>
                <a:r>
                  <a:rPr lang="en-US" sz="2400" b="1" i="0" dirty="0">
                    <a:solidFill>
                      <a:srgbClr val="111827"/>
                    </a:solidFill>
                    <a:effectLst/>
                    <a:latin typeface="ui-sans-serif"/>
                  </a:rPr>
                  <a:t>123,456,784</a:t>
                </a:r>
                <a:r>
                  <a:rPr lang="en-US" sz="2400" b="0" i="0" dirty="0">
                    <a:solidFill>
                      <a:srgbClr val="374151"/>
                    </a:solidFill>
                    <a:effectLst/>
                    <a:latin typeface="ui-sans-serif"/>
                  </a:rPr>
                  <a:t> in single precision float</a:t>
                </a:r>
              </a:p>
              <a:p>
                <a:pPr marL="0" indent="0" algn="l">
                  <a:buNone/>
                </a:pPr>
                <a:r>
                  <a:rPr lang="en-US" sz="2400" b="1" i="0" dirty="0">
                    <a:solidFill>
                      <a:srgbClr val="111827"/>
                    </a:solidFill>
                    <a:effectLst/>
                    <a:latin typeface="ui-sans-serif"/>
                  </a:rPr>
                  <a:t>123,456,790</a:t>
                </a:r>
                <a:r>
                  <a:rPr lang="en-US" sz="2400" b="0" i="0" dirty="0">
                    <a:solidFill>
                      <a:srgbClr val="374151"/>
                    </a:solidFill>
                    <a:effectLst/>
                    <a:latin typeface="ui-sans-serif"/>
                  </a:rPr>
                  <a:t> — gets rounded to </a:t>
                </a:r>
                <a:r>
                  <a:rPr lang="en-US" sz="2400" b="1" i="0" dirty="0">
                    <a:solidFill>
                      <a:srgbClr val="111827"/>
                    </a:solidFill>
                    <a:effectLst/>
                    <a:latin typeface="ui-sans-serif"/>
                  </a:rPr>
                  <a:t>123,456,784</a:t>
                </a:r>
                <a:r>
                  <a:rPr lang="en-US" sz="2400" b="0" i="0" dirty="0">
                    <a:solidFill>
                      <a:srgbClr val="374151"/>
                    </a:solidFill>
                    <a:effectLst/>
                    <a:latin typeface="ui-sans-serif"/>
                  </a:rPr>
                  <a:t> (same as above)</a:t>
                </a:r>
              </a:p>
              <a:p>
                <a:pPr marL="0" indent="0" algn="l">
                  <a:buNone/>
                </a:pPr>
                <a:r>
                  <a:rPr lang="en-US" sz="2400" b="1" i="0" dirty="0">
                    <a:solidFill>
                      <a:srgbClr val="111827"/>
                    </a:solidFill>
                    <a:effectLst/>
                    <a:latin typeface="ui-sans-serif"/>
                  </a:rPr>
                  <a:t>123,456,791</a:t>
                </a:r>
                <a:r>
                  <a:rPr lang="en-US" sz="2400" b="0" i="0" dirty="0">
                    <a:solidFill>
                      <a:srgbClr val="374151"/>
                    </a:solidFill>
                    <a:effectLst/>
                    <a:latin typeface="ui-sans-serif"/>
                  </a:rPr>
                  <a:t> — also rounded to </a:t>
                </a:r>
                <a:r>
                  <a:rPr lang="en-US" sz="2400" b="1" i="0" dirty="0">
                    <a:solidFill>
                      <a:srgbClr val="111827"/>
                    </a:solidFill>
                    <a:effectLst/>
                    <a:latin typeface="ui-sans-serif"/>
                  </a:rPr>
                  <a:t>123,456,800</a:t>
                </a:r>
              </a:p>
              <a:p>
                <a:pPr marL="0" indent="0" algn="l">
                  <a:buNone/>
                </a:pPr>
                <a:endParaRPr lang="en-US" sz="2400" b="1" i="0" dirty="0">
                  <a:solidFill>
                    <a:srgbClr val="111827"/>
                  </a:solidFill>
                  <a:effectLst/>
                  <a:latin typeface="ui-sans-serif"/>
                </a:endParaRPr>
              </a:p>
              <a:p>
                <a:pPr marL="0" indent="0" algn="l">
                  <a:buNone/>
                </a:pPr>
                <a:r>
                  <a:rPr lang="en-US" sz="2400" b="0" i="0" dirty="0">
                    <a:solidFill>
                      <a:srgbClr val="374151"/>
                    </a:solidFill>
                    <a:effectLst/>
                    <a:latin typeface="ui-sans-serif"/>
                  </a:rPr>
                  <a:t>Floating-point format is like a telescope with a zoom knob; you can zoom out for a large range or zoom in for very small numbers.</a:t>
                </a:r>
                <a:endParaRPr kumimoji="0" lang="en-US" sz="2400" kern="1200" dirty="0">
                  <a:solidFill>
                    <a:prstClr val="black"/>
                  </a:solidFill>
                  <a:latin typeface="Arial"/>
                  <a:ea typeface="新細明體"/>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79564" y="1095299"/>
                <a:ext cx="11431436" cy="4972126"/>
              </a:xfrm>
              <a:blipFill>
                <a:blip r:embed="rId3"/>
                <a:stretch>
                  <a:fillRect l="-800" t="-1718" r="-213" b="-2577"/>
                </a:stretch>
              </a:blipFill>
            </p:spPr>
            <p:txBody>
              <a:bodyPr/>
              <a:lstStyle/>
              <a:p>
                <a:r>
                  <a:rPr lang="en-US">
                    <a:noFill/>
                  </a:rPr>
                  <a:t> </a:t>
                </a:r>
              </a:p>
            </p:txBody>
          </p:sp>
        </mc:Fallback>
      </mc:AlternateContent>
      <p:sp>
        <p:nvSpPr>
          <p:cNvPr id="8" name="灯片编号占位符 7"/>
          <p:cNvSpPr>
            <a:spLocks noGrp="1"/>
          </p:cNvSpPr>
          <p:nvPr>
            <p:ph type="sldNum" sz="quarter" idx="10"/>
          </p:nvPr>
        </p:nvSpPr>
        <p:spPr/>
        <p:txBody>
          <a:bodyPr/>
          <a:lstStyle/>
          <a:p>
            <a:fld id="{D9B6BDF2-6896-4B98-8776-C18582F63BA5}" type="slidenum">
              <a:rPr lang="zh-TW" altLang="en-US" smtClean="0"/>
              <a:t>13</a:t>
            </a:fld>
            <a:endParaRPr lang="zh-TW" altLang="en-US"/>
          </a:p>
        </p:txBody>
      </p:sp>
    </p:spTree>
    <p:extLst>
      <p:ext uri="{BB962C8B-B14F-4D97-AF65-F5344CB8AC3E}">
        <p14:creationId xmlns:p14="http://schemas.microsoft.com/office/powerpoint/2010/main" val="19939171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does Float cover a Large Range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79564" y="1095299"/>
                <a:ext cx="11431436" cy="4972126"/>
              </a:xfrm>
            </p:spPr>
            <p:txBody>
              <a:bodyPr>
                <a:normAutofit lnSpcReduction="10000"/>
              </a:bodyPr>
              <a:lstStyle/>
              <a:p>
                <a:pPr marL="0" indent="0">
                  <a:buNone/>
                </a:pPr>
                <a:r>
                  <a:rPr kumimoji="1" lang="en-US" sz="2400" i="0" u="none" strike="noStrike" kern="0" cap="none" spc="0" normalizeH="0" baseline="0" noProof="0" dirty="0">
                    <a:ln>
                      <a:noFill/>
                    </a:ln>
                    <a:solidFill>
                      <a:srgbClr val="1F497D"/>
                    </a:solidFill>
                    <a:effectLst/>
                    <a:uLnTx/>
                    <a:uFillTx/>
                    <a:latin typeface="Calibri" pitchFamily="34" charset="0"/>
                    <a:ea typeface="標楷體" pitchFamily="65" charset="-120"/>
                  </a:rPr>
                  <a:t>Both Integer and Float are 32-bit, so why can a float cover such a big range?</a:t>
                </a:r>
              </a:p>
              <a:p>
                <a:pPr marL="0" indent="0">
                  <a:buNone/>
                </a:pPr>
                <a:r>
                  <a:rPr lang="en-US" sz="2400" dirty="0">
                    <a:solidFill>
                      <a:srgbClr val="1F497D"/>
                    </a:solidFill>
                  </a:rPr>
                  <a:t>The mantissa of a float is 23 bits. It means it can cover integer numbers exactly from 0 to </a:t>
                </a:r>
                <a14:m>
                  <m:oMath xmlns:m="http://schemas.openxmlformats.org/officeDocument/2006/math">
                    <m:sSup>
                      <m:sSupPr>
                        <m:ctrlPr>
                          <a:rPr lang="en-US" sz="2400" i="1" smtClean="0">
                            <a:solidFill>
                              <a:srgbClr val="1F497D"/>
                            </a:solidFill>
                            <a:latin typeface="Cambria Math" panose="02040503050406030204" pitchFamily="18" charset="0"/>
                          </a:rPr>
                        </m:ctrlPr>
                      </m:sSupPr>
                      <m:e>
                        <m:r>
                          <a:rPr lang="en-US" sz="2400" b="0" i="1" smtClean="0">
                            <a:solidFill>
                              <a:srgbClr val="1F497D"/>
                            </a:solidFill>
                            <a:latin typeface="Cambria Math" panose="02040503050406030204" pitchFamily="18" charset="0"/>
                          </a:rPr>
                          <m:t>2</m:t>
                        </m:r>
                      </m:e>
                      <m:sup>
                        <m:r>
                          <a:rPr lang="en-US" sz="2400" i="1" smtClean="0">
                            <a:solidFill>
                              <a:srgbClr val="1F497D"/>
                            </a:solidFill>
                            <a:latin typeface="Cambria Math" panose="02040503050406030204" pitchFamily="18" charset="0"/>
                          </a:rPr>
                          <m:t>2</m:t>
                        </m:r>
                        <m:r>
                          <a:rPr lang="en-US" sz="2400" b="0" i="1" smtClean="0">
                            <a:solidFill>
                              <a:srgbClr val="1F497D"/>
                            </a:solidFill>
                            <a:latin typeface="Cambria Math" panose="02040503050406030204" pitchFamily="18" charset="0"/>
                          </a:rPr>
                          <m:t>4</m:t>
                        </m:r>
                      </m:sup>
                    </m:sSup>
                    <m:r>
                      <a:rPr lang="en-US" sz="2400" b="0" i="0" smtClean="0">
                        <a:solidFill>
                          <a:srgbClr val="1F497D"/>
                        </a:solidFill>
                        <a:latin typeface="Cambria Math" panose="02040503050406030204" pitchFamily="18" charset="0"/>
                      </a:rPr>
                      <m:t>= </m:t>
                    </m:r>
                  </m:oMath>
                </a14:m>
                <a:r>
                  <a:rPr lang="en-US" sz="2400" b="0" i="0" dirty="0">
                    <a:solidFill>
                      <a:srgbClr val="374151"/>
                    </a:solidFill>
                    <a:effectLst/>
                    <a:latin typeface="KaTeX_Main"/>
                  </a:rPr>
                  <a:t>16,777,216. After this value, the 23 bits of the mantissa no longer hold the precision. So, for example, you can represent 123456789, 123456790, 123456791 in integers, but not in floating point. The numbers around 123456789 can be represented as:</a:t>
                </a:r>
              </a:p>
              <a:p>
                <a:pPr marL="0" indent="0">
                  <a:buNone/>
                </a:pPr>
                <a:endParaRPr lang="en-US" sz="2400" b="0" i="0" dirty="0">
                  <a:solidFill>
                    <a:srgbClr val="374151"/>
                  </a:solidFill>
                  <a:effectLst/>
                  <a:latin typeface="KaTeX_Main"/>
                </a:endParaRPr>
              </a:p>
              <a:p>
                <a:pPr marL="0" indent="0" algn="l">
                  <a:buNone/>
                </a:pPr>
                <a:r>
                  <a:rPr lang="en-US" sz="2400" b="1" i="0" dirty="0">
                    <a:solidFill>
                      <a:srgbClr val="111827"/>
                    </a:solidFill>
                    <a:effectLst/>
                    <a:latin typeface="ui-sans-serif"/>
                  </a:rPr>
                  <a:t>123,456,784</a:t>
                </a:r>
                <a:r>
                  <a:rPr lang="en-US" sz="2400" b="0" i="0" dirty="0">
                    <a:solidFill>
                      <a:srgbClr val="374151"/>
                    </a:solidFill>
                    <a:effectLst/>
                    <a:latin typeface="ui-sans-serif"/>
                  </a:rPr>
                  <a:t> — exactly representable (multiple of 16)</a:t>
                </a:r>
              </a:p>
              <a:p>
                <a:pPr marL="0" indent="0" algn="l">
                  <a:buNone/>
                </a:pPr>
                <a:r>
                  <a:rPr lang="en-US" sz="2400" b="1" i="0" dirty="0">
                    <a:solidFill>
                      <a:srgbClr val="111827"/>
                    </a:solidFill>
                    <a:effectLst/>
                    <a:latin typeface="ui-sans-serif"/>
                  </a:rPr>
                  <a:t>123,456,789</a:t>
                </a:r>
                <a:r>
                  <a:rPr lang="en-US" sz="2400" b="0" i="0" dirty="0">
                    <a:solidFill>
                      <a:srgbClr val="374151"/>
                    </a:solidFill>
                    <a:effectLst/>
                    <a:latin typeface="ui-sans-serif"/>
                  </a:rPr>
                  <a:t> — gets rounded to </a:t>
                </a:r>
                <a:r>
                  <a:rPr lang="en-US" sz="2400" b="1" i="0" dirty="0">
                    <a:solidFill>
                      <a:srgbClr val="111827"/>
                    </a:solidFill>
                    <a:effectLst/>
                    <a:latin typeface="ui-sans-serif"/>
                  </a:rPr>
                  <a:t>123,456,784</a:t>
                </a:r>
                <a:r>
                  <a:rPr lang="en-US" sz="2400" b="0" i="0" dirty="0">
                    <a:solidFill>
                      <a:srgbClr val="374151"/>
                    </a:solidFill>
                    <a:effectLst/>
                    <a:latin typeface="ui-sans-serif"/>
                  </a:rPr>
                  <a:t> in single precision float</a:t>
                </a:r>
              </a:p>
              <a:p>
                <a:pPr marL="0" indent="0" algn="l">
                  <a:buNone/>
                </a:pPr>
                <a:r>
                  <a:rPr lang="en-US" sz="2400" b="1" i="0" dirty="0">
                    <a:solidFill>
                      <a:srgbClr val="111827"/>
                    </a:solidFill>
                    <a:effectLst/>
                    <a:latin typeface="ui-sans-serif"/>
                  </a:rPr>
                  <a:t>123,456,790</a:t>
                </a:r>
                <a:r>
                  <a:rPr lang="en-US" sz="2400" b="0" i="0" dirty="0">
                    <a:solidFill>
                      <a:srgbClr val="374151"/>
                    </a:solidFill>
                    <a:effectLst/>
                    <a:latin typeface="ui-sans-serif"/>
                  </a:rPr>
                  <a:t> — gets rounded to </a:t>
                </a:r>
                <a:r>
                  <a:rPr lang="en-US" sz="2400" b="1" i="0" dirty="0">
                    <a:solidFill>
                      <a:srgbClr val="111827"/>
                    </a:solidFill>
                    <a:effectLst/>
                    <a:latin typeface="ui-sans-serif"/>
                  </a:rPr>
                  <a:t>123,456,784</a:t>
                </a:r>
                <a:r>
                  <a:rPr lang="en-US" sz="2400" b="0" i="0" dirty="0">
                    <a:solidFill>
                      <a:srgbClr val="374151"/>
                    </a:solidFill>
                    <a:effectLst/>
                    <a:latin typeface="ui-sans-serif"/>
                  </a:rPr>
                  <a:t> (same as above)</a:t>
                </a:r>
              </a:p>
              <a:p>
                <a:pPr marL="0" indent="0" algn="l">
                  <a:buNone/>
                </a:pPr>
                <a:r>
                  <a:rPr lang="en-US" sz="2400" b="1" i="0" dirty="0">
                    <a:solidFill>
                      <a:srgbClr val="111827"/>
                    </a:solidFill>
                    <a:effectLst/>
                    <a:latin typeface="ui-sans-serif"/>
                  </a:rPr>
                  <a:t>123,456,791</a:t>
                </a:r>
                <a:r>
                  <a:rPr lang="en-US" sz="2400" b="0" i="0" dirty="0">
                    <a:solidFill>
                      <a:srgbClr val="374151"/>
                    </a:solidFill>
                    <a:effectLst/>
                    <a:latin typeface="ui-sans-serif"/>
                  </a:rPr>
                  <a:t> — also rounded to </a:t>
                </a:r>
                <a:r>
                  <a:rPr lang="en-US" sz="2400" b="1" i="0" dirty="0">
                    <a:solidFill>
                      <a:srgbClr val="111827"/>
                    </a:solidFill>
                    <a:effectLst/>
                    <a:latin typeface="ui-sans-serif"/>
                  </a:rPr>
                  <a:t>123,456,800</a:t>
                </a:r>
              </a:p>
              <a:p>
                <a:pPr marL="0" indent="0" algn="l">
                  <a:buNone/>
                </a:pPr>
                <a:endParaRPr lang="en-US" sz="2400" b="1" i="0" dirty="0">
                  <a:solidFill>
                    <a:srgbClr val="111827"/>
                  </a:solidFill>
                  <a:effectLst/>
                  <a:latin typeface="ui-sans-serif"/>
                </a:endParaRPr>
              </a:p>
              <a:p>
                <a:pPr marL="0" indent="0" algn="l">
                  <a:buNone/>
                </a:pPr>
                <a:r>
                  <a:rPr lang="en-US" sz="2400" b="0" i="0" dirty="0">
                    <a:solidFill>
                      <a:srgbClr val="374151"/>
                    </a:solidFill>
                    <a:effectLst/>
                    <a:latin typeface="ui-sans-serif"/>
                  </a:rPr>
                  <a:t>Floating-point format is like a telescope with a zoom knob; you can zoom out for a large range or zoom in for very small numbers.</a:t>
                </a:r>
                <a:endParaRPr kumimoji="0" lang="en-US" sz="2400" kern="1200" dirty="0">
                  <a:solidFill>
                    <a:prstClr val="black"/>
                  </a:solidFill>
                  <a:latin typeface="Arial"/>
                  <a:ea typeface="新細明體"/>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79564" y="1095299"/>
                <a:ext cx="11431436" cy="4972126"/>
              </a:xfrm>
              <a:blipFill>
                <a:blip r:embed="rId3"/>
                <a:stretch>
                  <a:fillRect l="-800" t="-1718" r="-213" b="-2577"/>
                </a:stretch>
              </a:blipFill>
            </p:spPr>
            <p:txBody>
              <a:bodyPr/>
              <a:lstStyle/>
              <a:p>
                <a:r>
                  <a:rPr lang="en-US">
                    <a:noFill/>
                  </a:rPr>
                  <a:t> </a:t>
                </a:r>
              </a:p>
            </p:txBody>
          </p:sp>
        </mc:Fallback>
      </mc:AlternateContent>
      <p:sp>
        <p:nvSpPr>
          <p:cNvPr id="8" name="灯片编号占位符 7"/>
          <p:cNvSpPr>
            <a:spLocks noGrp="1"/>
          </p:cNvSpPr>
          <p:nvPr>
            <p:ph type="sldNum" sz="quarter" idx="10"/>
          </p:nvPr>
        </p:nvSpPr>
        <p:spPr/>
        <p:txBody>
          <a:bodyPr/>
          <a:lstStyle/>
          <a:p>
            <a:fld id="{D9B6BDF2-6896-4B98-8776-C18582F63BA5}" type="slidenum">
              <a:rPr lang="zh-TW" altLang="en-US" smtClean="0"/>
              <a:t>14</a:t>
            </a:fld>
            <a:endParaRPr lang="zh-TW" alt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3D784694-D6DA-4255-9691-2832214BF338}"/>
                  </a:ext>
                </a:extLst>
              </p:cNvPr>
              <p:cNvSpPr txBox="1"/>
              <p:nvPr/>
            </p:nvSpPr>
            <p:spPr>
              <a:xfrm>
                <a:off x="1906218" y="937525"/>
                <a:ext cx="8378127" cy="1323439"/>
              </a:xfrm>
              <a:prstGeom prst="rect">
                <a:avLst/>
              </a:prstGeom>
              <a:solidFill>
                <a:srgbClr val="FFFF00"/>
              </a:solidFill>
              <a:ln>
                <a:solidFill>
                  <a:srgbClr val="FF0000"/>
                </a:solidFill>
              </a:ln>
            </p:spPr>
            <p:txBody>
              <a:bodyPr wrap="none" rtlCol="0" anchor="ctr" anchorCtr="1">
                <a:spAutoFit/>
              </a:bodyPr>
              <a:lstStyle/>
              <a:p>
                <a:r>
                  <a:rPr lang="en-US" sz="2800" dirty="0">
                    <a:ea typeface="標楷體" pitchFamily="65" charset="-120"/>
                    <a:cs typeface="Calibri" pitchFamily="34" charset="0"/>
                  </a:rPr>
                  <a:t>123456789 in binary is </a:t>
                </a:r>
                <a:r>
                  <a:rPr lang="en-US" sz="2400" dirty="0"/>
                  <a:t>111010110111100110100010101</a:t>
                </a:r>
              </a:p>
              <a:p>
                <a:r>
                  <a:rPr lang="en-US" sz="2400" dirty="0"/>
                  <a:t>To represent it in Single Precision FP is</a:t>
                </a:r>
              </a:p>
              <a:p>
                <a:r>
                  <a:rPr lang="en-US" dirty="0"/>
                  <a:t> </a:t>
                </a:r>
                <a:r>
                  <a:rPr lang="en-US" sz="2400" dirty="0">
                    <a:solidFill>
                      <a:prstClr val="black"/>
                    </a:solidFill>
                  </a:rPr>
                  <a:t>1.11010110111100110100010101 x </a:t>
                </a:r>
                <a14:m>
                  <m:oMath xmlns:m="http://schemas.openxmlformats.org/officeDocument/2006/math">
                    <m:sSup>
                      <m:sSupPr>
                        <m:ctrlPr>
                          <a:rPr lang="en-US" sz="2400" i="1" smtClean="0">
                            <a:solidFill>
                              <a:prstClr val="black"/>
                            </a:solidFill>
                            <a:latin typeface="Cambria Math" panose="02040503050406030204" pitchFamily="18" charset="0"/>
                          </a:rPr>
                        </m:ctrlPr>
                      </m:sSupPr>
                      <m:e>
                        <m:r>
                          <a:rPr lang="en-US" sz="2400" b="0" i="1" smtClean="0">
                            <a:solidFill>
                              <a:prstClr val="black"/>
                            </a:solidFill>
                            <a:latin typeface="Cambria Math" panose="02040503050406030204" pitchFamily="18" charset="0"/>
                          </a:rPr>
                          <m:t>2</m:t>
                        </m:r>
                      </m:e>
                      <m:sup>
                        <m:r>
                          <a:rPr lang="en-US" sz="2400" i="1" smtClean="0">
                            <a:solidFill>
                              <a:prstClr val="black"/>
                            </a:solidFill>
                            <a:latin typeface="Cambria Math" panose="02040503050406030204" pitchFamily="18" charset="0"/>
                          </a:rPr>
                          <m:t>2</m:t>
                        </m:r>
                        <m:r>
                          <a:rPr lang="en-US" sz="2400" b="0" i="1" smtClean="0">
                            <a:solidFill>
                              <a:prstClr val="black"/>
                            </a:solidFill>
                            <a:latin typeface="Cambria Math" panose="02040503050406030204" pitchFamily="18" charset="0"/>
                          </a:rPr>
                          <m:t>6</m:t>
                        </m:r>
                      </m:sup>
                    </m:sSup>
                  </m:oMath>
                </a14:m>
                <a:r>
                  <a:rPr lang="en-US" sz="2800" dirty="0">
                    <a:ea typeface="標楷體" pitchFamily="65" charset="-120"/>
                    <a:cs typeface="Calibri" pitchFamily="34" charset="0"/>
                  </a:rPr>
                  <a:t> </a:t>
                </a:r>
              </a:p>
            </p:txBody>
          </p:sp>
        </mc:Choice>
        <mc:Fallback xmlns="">
          <p:sp>
            <p:nvSpPr>
              <p:cNvPr id="5" name="TextBox 4">
                <a:extLst>
                  <a:ext uri="{FF2B5EF4-FFF2-40B4-BE49-F238E27FC236}">
                    <a16:creationId xmlns:a16="http://schemas.microsoft.com/office/drawing/2014/main" id="{3D784694-D6DA-4255-9691-2832214BF338}"/>
                  </a:ext>
                </a:extLst>
              </p:cNvPr>
              <p:cNvSpPr txBox="1">
                <a:spLocks noRot="1" noChangeAspect="1" noMove="1" noResize="1" noEditPoints="1" noAdjustHandles="1" noChangeArrowheads="1" noChangeShapeType="1" noTextEdit="1"/>
              </p:cNvSpPr>
              <p:nvPr/>
            </p:nvSpPr>
            <p:spPr>
              <a:xfrm>
                <a:off x="1906218" y="937525"/>
                <a:ext cx="8378127" cy="1323439"/>
              </a:xfrm>
              <a:prstGeom prst="rect">
                <a:avLst/>
              </a:prstGeom>
              <a:blipFill>
                <a:blip r:embed="rId4"/>
                <a:stretch>
                  <a:fillRect l="-945" t="-4110" r="-727" b="-9132"/>
                </a:stretch>
              </a:blipFill>
              <a:ln>
                <a:solidFill>
                  <a:srgbClr val="FF000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ABCA8CCB-F2B1-4E02-83D8-559961E07370}"/>
                  </a:ext>
                </a:extLst>
              </p:cNvPr>
              <p:cNvSpPr txBox="1"/>
              <p:nvPr/>
            </p:nvSpPr>
            <p:spPr>
              <a:xfrm>
                <a:off x="3363085" y="2527995"/>
                <a:ext cx="5839281" cy="3539430"/>
              </a:xfrm>
              <a:prstGeom prst="rect">
                <a:avLst/>
              </a:prstGeom>
              <a:solidFill>
                <a:srgbClr val="FFFF00"/>
              </a:solidFill>
              <a:ln>
                <a:solidFill>
                  <a:srgbClr val="FF0000"/>
                </a:solidFill>
              </a:ln>
            </p:spPr>
            <p:txBody>
              <a:bodyPr wrap="square" rtlCol="0" anchor="ctr" anchorCtr="1">
                <a:spAutoFit/>
              </a:bodyPr>
              <a:lstStyle/>
              <a:p>
                <a:r>
                  <a:rPr lang="en-US" sz="2400" dirty="0">
                    <a:solidFill>
                      <a:prstClr val="black"/>
                    </a:solidFill>
                  </a:rPr>
                  <a:t>But the fraction part has only 23 bits </a:t>
                </a:r>
              </a:p>
              <a:p>
                <a:r>
                  <a:rPr lang="en-US" sz="2400" dirty="0">
                    <a:solidFill>
                      <a:prstClr val="black"/>
                    </a:solidFill>
                  </a:rPr>
                  <a:t>1.11010110111100110100010101 x </a:t>
                </a:r>
                <a14:m>
                  <m:oMath xmlns:m="http://schemas.openxmlformats.org/officeDocument/2006/math">
                    <m:sSup>
                      <m:sSupPr>
                        <m:ctrlPr>
                          <a:rPr lang="en-US" sz="2400" i="1" smtClean="0">
                            <a:solidFill>
                              <a:prstClr val="black"/>
                            </a:solidFill>
                            <a:latin typeface="Cambria Math" panose="02040503050406030204" pitchFamily="18" charset="0"/>
                          </a:rPr>
                        </m:ctrlPr>
                      </m:sSupPr>
                      <m:e>
                        <m:r>
                          <a:rPr lang="en-US" sz="2400" b="0" i="1" smtClean="0">
                            <a:solidFill>
                              <a:prstClr val="black"/>
                            </a:solidFill>
                            <a:latin typeface="Cambria Math" panose="02040503050406030204" pitchFamily="18" charset="0"/>
                          </a:rPr>
                          <m:t>2</m:t>
                        </m:r>
                      </m:e>
                      <m:sup>
                        <m:r>
                          <a:rPr lang="en-US" sz="2400" i="1" smtClean="0">
                            <a:solidFill>
                              <a:prstClr val="black"/>
                            </a:solidFill>
                            <a:latin typeface="Cambria Math" panose="02040503050406030204" pitchFamily="18" charset="0"/>
                          </a:rPr>
                          <m:t>2</m:t>
                        </m:r>
                        <m:r>
                          <a:rPr lang="en-US" sz="2400" b="0" i="1" smtClean="0">
                            <a:solidFill>
                              <a:prstClr val="black"/>
                            </a:solidFill>
                            <a:latin typeface="Cambria Math" panose="02040503050406030204" pitchFamily="18" charset="0"/>
                          </a:rPr>
                          <m:t>6</m:t>
                        </m:r>
                      </m:sup>
                    </m:sSup>
                  </m:oMath>
                </a14:m>
                <a:r>
                  <a:rPr lang="en-US" sz="2800" dirty="0">
                    <a:ea typeface="標楷體" pitchFamily="65" charset="-120"/>
                    <a:cs typeface="Calibri" pitchFamily="34" charset="0"/>
                  </a:rPr>
                  <a:t> </a:t>
                </a:r>
              </a:p>
              <a:p>
                <a:r>
                  <a:rPr lang="en-US" sz="2800" dirty="0">
                    <a:ea typeface="標楷體" pitchFamily="65" charset="-120"/>
                    <a:cs typeface="Calibri" pitchFamily="34" charset="0"/>
                  </a:rPr>
                  <a:t> </a:t>
                </a:r>
                <a:r>
                  <a:rPr lang="en-US" sz="2400" b="1" dirty="0">
                    <a:solidFill>
                      <a:prstClr val="black"/>
                    </a:solidFill>
                  </a:rPr>
                  <a:t>11010110111100110100010</a:t>
                </a:r>
                <a:r>
                  <a:rPr lang="en-US" sz="2400" dirty="0">
                    <a:solidFill>
                      <a:prstClr val="black"/>
                    </a:solidFill>
                  </a:rPr>
                  <a:t>  </a:t>
                </a:r>
                <a:r>
                  <a:rPr lang="en-US" sz="2400" dirty="0">
                    <a:solidFill>
                      <a:srgbClr val="FF0000"/>
                    </a:solidFill>
                  </a:rPr>
                  <a:t>101</a:t>
                </a:r>
              </a:p>
              <a:p>
                <a:r>
                  <a:rPr lang="en-US" sz="2400" dirty="0">
                    <a:solidFill>
                      <a:srgbClr val="FF0000"/>
                    </a:solidFill>
                    <a:ea typeface="標楷體" pitchFamily="65" charset="-120"/>
                    <a:cs typeface="Calibri" pitchFamily="34" charset="0"/>
                  </a:rPr>
                  <a:t>101</a:t>
                </a:r>
                <a:r>
                  <a:rPr lang="en-US" sz="2400" dirty="0">
                    <a:solidFill>
                      <a:prstClr val="black"/>
                    </a:solidFill>
                    <a:ea typeface="標楷體" pitchFamily="65" charset="-120"/>
                    <a:cs typeface="Calibri" pitchFamily="34" charset="0"/>
                  </a:rPr>
                  <a:t> has no room to be kept</a:t>
                </a:r>
              </a:p>
              <a:p>
                <a:r>
                  <a:rPr lang="en-US" sz="2400" dirty="0">
                    <a:solidFill>
                      <a:prstClr val="black"/>
                    </a:solidFill>
                    <a:ea typeface="標楷體" pitchFamily="65" charset="-120"/>
                    <a:cs typeface="Calibri" pitchFamily="34" charset="0"/>
                  </a:rPr>
                  <a:t>It must be rounded to 1 in the LSB</a:t>
                </a:r>
              </a:p>
              <a:p>
                <a:r>
                  <a:rPr lang="en-US" sz="2400" dirty="0">
                    <a:solidFill>
                      <a:prstClr val="black"/>
                    </a:solidFill>
                    <a:ea typeface="標楷體" pitchFamily="65" charset="-120"/>
                    <a:cs typeface="Calibri" pitchFamily="34" charset="0"/>
                  </a:rPr>
                  <a:t>So the final representation is </a:t>
                </a:r>
              </a:p>
              <a:p>
                <a:r>
                  <a:rPr lang="en-US" sz="2400" dirty="0">
                    <a:solidFill>
                      <a:prstClr val="black"/>
                    </a:solidFill>
                    <a:ea typeface="標楷體" pitchFamily="65" charset="-120"/>
                    <a:cs typeface="Calibri" pitchFamily="34" charset="0"/>
                  </a:rPr>
                  <a:t>1 </a:t>
                </a:r>
                <a:r>
                  <a:rPr lang="en-US" sz="2400" dirty="0"/>
                  <a:t>10011001 </a:t>
                </a:r>
                <a:r>
                  <a:rPr lang="en-US" sz="2400" b="1" dirty="0">
                    <a:solidFill>
                      <a:prstClr val="black"/>
                    </a:solidFill>
                  </a:rPr>
                  <a:t>11010110111100110100011</a:t>
                </a:r>
              </a:p>
              <a:p>
                <a:pPr marL="342900" indent="-342900">
                  <a:buFont typeface="Wingdings" panose="05000000000000000000" pitchFamily="2" charset="2"/>
                  <a:buChar char="à"/>
                </a:pPr>
                <a:r>
                  <a:rPr lang="en-US" sz="2400" b="1" dirty="0">
                    <a:solidFill>
                      <a:prstClr val="black"/>
                    </a:solidFill>
                    <a:ea typeface="標楷體" pitchFamily="65" charset="-120"/>
                    <a:cs typeface="Calibri" pitchFamily="34" charset="0"/>
                    <a:sym typeface="Wingdings" panose="05000000000000000000" pitchFamily="2" charset="2"/>
                  </a:rPr>
                  <a:t>To cover a broader range, you need to sacrifice some precision.</a:t>
                </a:r>
                <a:endParaRPr lang="en-US" sz="2400" dirty="0">
                  <a:ea typeface="標楷體" pitchFamily="65" charset="-120"/>
                  <a:cs typeface="Calibri" pitchFamily="34" charset="0"/>
                </a:endParaRPr>
              </a:p>
            </p:txBody>
          </p:sp>
        </mc:Choice>
        <mc:Fallback xmlns="">
          <p:sp>
            <p:nvSpPr>
              <p:cNvPr id="6" name="TextBox 5">
                <a:extLst>
                  <a:ext uri="{FF2B5EF4-FFF2-40B4-BE49-F238E27FC236}">
                    <a16:creationId xmlns:a16="http://schemas.microsoft.com/office/drawing/2014/main" id="{ABCA8CCB-F2B1-4E02-83D8-559961E07370}"/>
                  </a:ext>
                </a:extLst>
              </p:cNvPr>
              <p:cNvSpPr txBox="1">
                <a:spLocks noRot="1" noChangeAspect="1" noMove="1" noResize="1" noEditPoints="1" noAdjustHandles="1" noChangeArrowheads="1" noChangeShapeType="1" noTextEdit="1"/>
              </p:cNvSpPr>
              <p:nvPr/>
            </p:nvSpPr>
            <p:spPr>
              <a:xfrm>
                <a:off x="3363085" y="2527995"/>
                <a:ext cx="5839281" cy="3539430"/>
              </a:xfrm>
              <a:prstGeom prst="rect">
                <a:avLst/>
              </a:prstGeom>
              <a:blipFill>
                <a:blip r:embed="rId5"/>
                <a:stretch>
                  <a:fillRect l="-104" t="-515" r="-1354" b="-3608"/>
                </a:stretch>
              </a:blipFill>
              <a:ln>
                <a:solidFill>
                  <a:srgbClr val="FF0000"/>
                </a:solidFill>
              </a:ln>
            </p:spPr>
            <p:txBody>
              <a:bodyPr/>
              <a:lstStyle/>
              <a:p>
                <a:r>
                  <a:rPr lang="en-US">
                    <a:noFill/>
                  </a:rPr>
                  <a:t> </a:t>
                </a:r>
              </a:p>
            </p:txBody>
          </p:sp>
        </mc:Fallback>
      </mc:AlternateContent>
    </p:spTree>
    <p:extLst>
      <p:ext uri="{BB962C8B-B14F-4D97-AF65-F5344CB8AC3E}">
        <p14:creationId xmlns:p14="http://schemas.microsoft.com/office/powerpoint/2010/main" val="1992235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2.4.3 Example Numbers</a:t>
            </a:r>
          </a:p>
        </p:txBody>
      </p:sp>
      <p:sp>
        <p:nvSpPr>
          <p:cNvPr id="8" name="灯片编号占位符 7"/>
          <p:cNvSpPr>
            <a:spLocks noGrp="1"/>
          </p:cNvSpPr>
          <p:nvPr>
            <p:ph type="sldNum" sz="quarter" idx="10"/>
          </p:nvPr>
        </p:nvSpPr>
        <p:spPr/>
        <p:txBody>
          <a:bodyPr/>
          <a:lstStyle/>
          <a:p>
            <a:fld id="{D9B6BDF2-6896-4B98-8776-C18582F63BA5}" type="slidenum">
              <a:rPr lang="zh-TW" altLang="en-US" smtClean="0"/>
              <a:t>15</a:t>
            </a:fld>
            <a:endParaRPr lang="zh-TW" altLang="en-US"/>
          </a:p>
        </p:txBody>
      </p:sp>
      <p:pic>
        <p:nvPicPr>
          <p:cNvPr id="7" name="Picture 6">
            <a:extLst>
              <a:ext uri="{FF2B5EF4-FFF2-40B4-BE49-F238E27FC236}">
                <a16:creationId xmlns:a16="http://schemas.microsoft.com/office/drawing/2014/main" id="{9C4F780E-3C78-4C90-B79D-EB5A1D71E8B5}"/>
              </a:ext>
            </a:extLst>
          </p:cNvPr>
          <p:cNvPicPr>
            <a:picLocks noChangeAspect="1"/>
          </p:cNvPicPr>
          <p:nvPr/>
        </p:nvPicPr>
        <p:blipFill>
          <a:blip r:embed="rId3"/>
          <a:stretch>
            <a:fillRect/>
          </a:stretch>
        </p:blipFill>
        <p:spPr>
          <a:xfrm>
            <a:off x="0" y="1085705"/>
            <a:ext cx="8067675" cy="5305569"/>
          </a:xfrm>
          <a:prstGeom prst="rect">
            <a:avLst/>
          </a:prstGeom>
        </p:spPr>
      </p:pic>
      <p:sp>
        <p:nvSpPr>
          <p:cNvPr id="9" name="TextBox 8">
            <a:extLst>
              <a:ext uri="{FF2B5EF4-FFF2-40B4-BE49-F238E27FC236}">
                <a16:creationId xmlns:a16="http://schemas.microsoft.com/office/drawing/2014/main" id="{41B5B385-8104-474D-990B-3644855ED7D1}"/>
              </a:ext>
            </a:extLst>
          </p:cNvPr>
          <p:cNvSpPr txBox="1"/>
          <p:nvPr/>
        </p:nvSpPr>
        <p:spPr>
          <a:xfrm>
            <a:off x="7875297" y="1112434"/>
            <a:ext cx="384756" cy="369332"/>
          </a:xfrm>
          <a:prstGeom prst="rect">
            <a:avLst/>
          </a:prstGeom>
          <a:solidFill>
            <a:srgbClr val="FFC000"/>
          </a:solidFill>
          <a:ln>
            <a:solidFill>
              <a:srgbClr val="00B0F0"/>
            </a:solidFill>
          </a:ln>
        </p:spPr>
        <p:txBody>
          <a:bodyPr wrap="square" rtlCol="0" anchor="ctr" anchorCtr="1">
            <a:spAutoFit/>
          </a:bodyPr>
          <a:lstStyle/>
          <a:p>
            <a:r>
              <a:rPr lang="en-US" dirty="0">
                <a:ea typeface="標楷體" pitchFamily="65" charset="-120"/>
                <a:cs typeface="Calibri" pitchFamily="34" charset="0"/>
              </a:rPr>
              <a:t>S</a:t>
            </a:r>
          </a:p>
        </p:txBody>
      </p:sp>
      <p:sp>
        <p:nvSpPr>
          <p:cNvPr id="10" name="TextBox 9">
            <a:extLst>
              <a:ext uri="{FF2B5EF4-FFF2-40B4-BE49-F238E27FC236}">
                <a16:creationId xmlns:a16="http://schemas.microsoft.com/office/drawing/2014/main" id="{81E4866F-E413-4661-8E50-254BBDB88110}"/>
              </a:ext>
            </a:extLst>
          </p:cNvPr>
          <p:cNvSpPr txBox="1"/>
          <p:nvPr/>
        </p:nvSpPr>
        <p:spPr>
          <a:xfrm>
            <a:off x="8522997" y="1112434"/>
            <a:ext cx="384756" cy="369332"/>
          </a:xfrm>
          <a:prstGeom prst="rect">
            <a:avLst/>
          </a:prstGeom>
          <a:solidFill>
            <a:srgbClr val="FFC000"/>
          </a:solidFill>
          <a:ln>
            <a:solidFill>
              <a:srgbClr val="00B050"/>
            </a:solidFill>
          </a:ln>
        </p:spPr>
        <p:txBody>
          <a:bodyPr wrap="square" rtlCol="0" anchor="ctr" anchorCtr="1">
            <a:spAutoFit/>
          </a:bodyPr>
          <a:lstStyle/>
          <a:p>
            <a:r>
              <a:rPr lang="en-US" dirty="0">
                <a:ea typeface="標楷體" pitchFamily="65" charset="-120"/>
                <a:cs typeface="Calibri" pitchFamily="34" charset="0"/>
              </a:rPr>
              <a:t>e</a:t>
            </a:r>
          </a:p>
        </p:txBody>
      </p:sp>
      <p:sp>
        <p:nvSpPr>
          <p:cNvPr id="11" name="TextBox 10">
            <a:extLst>
              <a:ext uri="{FF2B5EF4-FFF2-40B4-BE49-F238E27FC236}">
                <a16:creationId xmlns:a16="http://schemas.microsoft.com/office/drawing/2014/main" id="{9755A1AD-761B-4C1B-9604-1590BA3F10A6}"/>
              </a:ext>
            </a:extLst>
          </p:cNvPr>
          <p:cNvSpPr txBox="1"/>
          <p:nvPr/>
        </p:nvSpPr>
        <p:spPr>
          <a:xfrm>
            <a:off x="8907753" y="1112433"/>
            <a:ext cx="384756" cy="369332"/>
          </a:xfrm>
          <a:prstGeom prst="rect">
            <a:avLst/>
          </a:prstGeom>
          <a:solidFill>
            <a:srgbClr val="FFC000"/>
          </a:solidFill>
          <a:ln>
            <a:solidFill>
              <a:srgbClr val="00B0F0"/>
            </a:solidFill>
          </a:ln>
        </p:spPr>
        <p:txBody>
          <a:bodyPr wrap="square" rtlCol="0" anchor="ctr" anchorCtr="1">
            <a:spAutoFit/>
          </a:bodyPr>
          <a:lstStyle/>
          <a:p>
            <a:r>
              <a:rPr lang="en-US" dirty="0">
                <a:ea typeface="標楷體" pitchFamily="65" charset="-120"/>
                <a:cs typeface="Calibri" pitchFamily="34" charset="0"/>
              </a:rPr>
              <a:t>e</a:t>
            </a:r>
          </a:p>
        </p:txBody>
      </p:sp>
      <p:sp>
        <p:nvSpPr>
          <p:cNvPr id="12" name="TextBox 11">
            <a:extLst>
              <a:ext uri="{FF2B5EF4-FFF2-40B4-BE49-F238E27FC236}">
                <a16:creationId xmlns:a16="http://schemas.microsoft.com/office/drawing/2014/main" id="{8F4A646C-A277-4271-B2DA-079B9D2E9ABE}"/>
              </a:ext>
            </a:extLst>
          </p:cNvPr>
          <p:cNvSpPr txBox="1"/>
          <p:nvPr/>
        </p:nvSpPr>
        <p:spPr>
          <a:xfrm>
            <a:off x="9940209" y="1112432"/>
            <a:ext cx="384756" cy="369332"/>
          </a:xfrm>
          <a:prstGeom prst="rect">
            <a:avLst/>
          </a:prstGeom>
          <a:solidFill>
            <a:srgbClr val="FFC000"/>
          </a:solidFill>
          <a:ln>
            <a:solidFill>
              <a:srgbClr val="00B050"/>
            </a:solidFill>
          </a:ln>
        </p:spPr>
        <p:txBody>
          <a:bodyPr wrap="square" rtlCol="0" anchor="ctr" anchorCtr="1">
            <a:spAutoFit/>
          </a:bodyPr>
          <a:lstStyle/>
          <a:p>
            <a:r>
              <a:rPr lang="en-US" dirty="0">
                <a:ea typeface="標楷體" pitchFamily="65" charset="-120"/>
                <a:cs typeface="Calibri" pitchFamily="34" charset="0"/>
              </a:rPr>
              <a:t>f</a:t>
            </a:r>
          </a:p>
        </p:txBody>
      </p:sp>
      <p:sp>
        <p:nvSpPr>
          <p:cNvPr id="13" name="TextBox 12">
            <a:extLst>
              <a:ext uri="{FF2B5EF4-FFF2-40B4-BE49-F238E27FC236}">
                <a16:creationId xmlns:a16="http://schemas.microsoft.com/office/drawing/2014/main" id="{FAAB5E79-08A1-40DF-B19D-148A8FF57E43}"/>
              </a:ext>
            </a:extLst>
          </p:cNvPr>
          <p:cNvSpPr txBox="1"/>
          <p:nvPr/>
        </p:nvSpPr>
        <p:spPr>
          <a:xfrm>
            <a:off x="10324965" y="1112431"/>
            <a:ext cx="384756" cy="369332"/>
          </a:xfrm>
          <a:prstGeom prst="rect">
            <a:avLst/>
          </a:prstGeom>
          <a:solidFill>
            <a:srgbClr val="FFC000"/>
          </a:solidFill>
          <a:ln>
            <a:solidFill>
              <a:srgbClr val="00B0F0"/>
            </a:solidFill>
          </a:ln>
        </p:spPr>
        <p:txBody>
          <a:bodyPr wrap="square" rtlCol="0" anchor="ctr" anchorCtr="1">
            <a:spAutoFit/>
          </a:bodyPr>
          <a:lstStyle/>
          <a:p>
            <a:r>
              <a:rPr lang="en-US" dirty="0">
                <a:ea typeface="標楷體" pitchFamily="65" charset="-120"/>
                <a:cs typeface="Calibri" pitchFamily="34" charset="0"/>
              </a:rPr>
              <a:t>f</a:t>
            </a:r>
          </a:p>
        </p:txBody>
      </p:sp>
      <p:sp>
        <p:nvSpPr>
          <p:cNvPr id="14" name="TextBox 13">
            <a:extLst>
              <a:ext uri="{FF2B5EF4-FFF2-40B4-BE49-F238E27FC236}">
                <a16:creationId xmlns:a16="http://schemas.microsoft.com/office/drawing/2014/main" id="{E97E98CE-A9E4-434A-A4F5-3EE3FDD03D27}"/>
              </a:ext>
            </a:extLst>
          </p:cNvPr>
          <p:cNvSpPr txBox="1"/>
          <p:nvPr/>
        </p:nvSpPr>
        <p:spPr>
          <a:xfrm>
            <a:off x="9307803" y="1112433"/>
            <a:ext cx="384756" cy="369332"/>
          </a:xfrm>
          <a:prstGeom prst="rect">
            <a:avLst/>
          </a:prstGeom>
          <a:solidFill>
            <a:srgbClr val="FFC000"/>
          </a:solidFill>
          <a:ln>
            <a:solidFill>
              <a:srgbClr val="00B0F0"/>
            </a:solidFill>
          </a:ln>
        </p:spPr>
        <p:txBody>
          <a:bodyPr wrap="square" rtlCol="0" anchor="ctr" anchorCtr="1">
            <a:spAutoFit/>
          </a:bodyPr>
          <a:lstStyle/>
          <a:p>
            <a:r>
              <a:rPr lang="en-US" dirty="0">
                <a:ea typeface="標楷體" pitchFamily="65" charset="-120"/>
                <a:cs typeface="Calibri" pitchFamily="34" charset="0"/>
              </a:rPr>
              <a:t>e</a:t>
            </a:r>
          </a:p>
        </p:txBody>
      </p:sp>
      <p:sp>
        <p:nvSpPr>
          <p:cNvPr id="15" name="TextBox 14">
            <a:extLst>
              <a:ext uri="{FF2B5EF4-FFF2-40B4-BE49-F238E27FC236}">
                <a16:creationId xmlns:a16="http://schemas.microsoft.com/office/drawing/2014/main" id="{9E696246-1C7A-4431-A548-49078BA0144E}"/>
              </a:ext>
            </a:extLst>
          </p:cNvPr>
          <p:cNvSpPr txBox="1"/>
          <p:nvPr/>
        </p:nvSpPr>
        <p:spPr>
          <a:xfrm>
            <a:off x="7875297" y="1678678"/>
            <a:ext cx="3890809" cy="369332"/>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64 patterns, 32 positive, 32 negative</a:t>
            </a:r>
          </a:p>
        </p:txBody>
      </p:sp>
      <p:sp>
        <p:nvSpPr>
          <p:cNvPr id="16" name="TextBox 15">
            <a:extLst>
              <a:ext uri="{FF2B5EF4-FFF2-40B4-BE49-F238E27FC236}">
                <a16:creationId xmlns:a16="http://schemas.microsoft.com/office/drawing/2014/main" id="{C820D14F-006F-46A4-9F72-84944403C075}"/>
              </a:ext>
            </a:extLst>
          </p:cNvPr>
          <p:cNvSpPr txBox="1"/>
          <p:nvPr/>
        </p:nvSpPr>
        <p:spPr>
          <a:xfrm>
            <a:off x="7862571" y="2243740"/>
            <a:ext cx="3659976" cy="646331"/>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Positive numbers, 4 denormalized</a:t>
            </a:r>
          </a:p>
          <a:p>
            <a:r>
              <a:rPr lang="en-US" dirty="0">
                <a:ea typeface="標楷體" pitchFamily="65" charset="-120"/>
                <a:cs typeface="Calibri" pitchFamily="34" charset="0"/>
              </a:rPr>
              <a:t>24 normalized, 4 for inf and </a:t>
            </a:r>
            <a:r>
              <a:rPr lang="en-US" dirty="0" err="1">
                <a:ea typeface="標楷體" pitchFamily="65" charset="-120"/>
                <a:cs typeface="Calibri" pitchFamily="34" charset="0"/>
              </a:rPr>
              <a:t>NaN</a:t>
            </a:r>
            <a:endParaRPr lang="en-US" dirty="0">
              <a:ea typeface="標楷體" pitchFamily="65" charset="-120"/>
              <a:cs typeface="Calibri" pitchFamily="34" charset="0"/>
            </a:endParaRPr>
          </a:p>
        </p:txBody>
      </p:sp>
      <p:sp>
        <p:nvSpPr>
          <p:cNvPr id="17" name="TextBox 16">
            <a:extLst>
              <a:ext uri="{FF2B5EF4-FFF2-40B4-BE49-F238E27FC236}">
                <a16:creationId xmlns:a16="http://schemas.microsoft.com/office/drawing/2014/main" id="{A2564ADB-DD3E-475A-B11B-4B492ADFC2A2}"/>
              </a:ext>
            </a:extLst>
          </p:cNvPr>
          <p:cNvSpPr txBox="1"/>
          <p:nvPr/>
        </p:nvSpPr>
        <p:spPr>
          <a:xfrm>
            <a:off x="7497751" y="3084995"/>
            <a:ext cx="4455066" cy="2031325"/>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1 is  0 011 00</a:t>
            </a:r>
          </a:p>
          <a:p>
            <a:r>
              <a:rPr lang="en-US" dirty="0">
                <a:ea typeface="標楷體" pitchFamily="65" charset="-120"/>
                <a:cs typeface="Calibri" pitchFamily="34" charset="0"/>
              </a:rPr>
              <a:t>-1 is 1 011 00</a:t>
            </a:r>
          </a:p>
          <a:p>
            <a:r>
              <a:rPr lang="en-US" dirty="0">
                <a:ea typeface="標楷體" pitchFamily="65" charset="-120"/>
                <a:cs typeface="Calibri" pitchFamily="34" charset="0"/>
              </a:rPr>
              <a:t>How many bit patterns between 1 and -1?</a:t>
            </a:r>
          </a:p>
          <a:p>
            <a:r>
              <a:rPr lang="en-US" dirty="0">
                <a:ea typeface="標楷體" pitchFamily="65" charset="-120"/>
                <a:cs typeface="Calibri" pitchFamily="34" charset="0"/>
              </a:rPr>
              <a:t>24  bit-patterns</a:t>
            </a:r>
          </a:p>
          <a:p>
            <a:r>
              <a:rPr lang="en-US" dirty="0">
                <a:ea typeface="標楷體" pitchFamily="65" charset="-120"/>
                <a:cs typeface="Calibri" pitchFamily="34" charset="0"/>
              </a:rPr>
              <a:t>0010xx    1010xx    xx means 00 01 10 11</a:t>
            </a:r>
          </a:p>
          <a:p>
            <a:r>
              <a:rPr lang="en-US" dirty="0">
                <a:ea typeface="標楷體" pitchFamily="65" charset="-120"/>
                <a:cs typeface="Calibri" pitchFamily="34" charset="0"/>
              </a:rPr>
              <a:t>0001xx    1001xx</a:t>
            </a:r>
          </a:p>
          <a:p>
            <a:r>
              <a:rPr lang="en-US" dirty="0">
                <a:ea typeface="標楷體" pitchFamily="65" charset="-120"/>
                <a:cs typeface="Calibri" pitchFamily="34" charset="0"/>
              </a:rPr>
              <a:t>0000xx    1000xx</a:t>
            </a:r>
          </a:p>
        </p:txBody>
      </p:sp>
      <p:sp>
        <p:nvSpPr>
          <p:cNvPr id="18" name="TextBox 17">
            <a:extLst>
              <a:ext uri="{FF2B5EF4-FFF2-40B4-BE49-F238E27FC236}">
                <a16:creationId xmlns:a16="http://schemas.microsoft.com/office/drawing/2014/main" id="{4CC474BD-3638-4ED2-86B3-C5DF7E449ACF}"/>
              </a:ext>
            </a:extLst>
          </p:cNvPr>
          <p:cNvSpPr txBox="1"/>
          <p:nvPr/>
        </p:nvSpPr>
        <p:spPr>
          <a:xfrm>
            <a:off x="741680" y="5847008"/>
            <a:ext cx="2048702" cy="430887"/>
          </a:xfrm>
          <a:prstGeom prst="rect">
            <a:avLst/>
          </a:prstGeom>
          <a:solidFill>
            <a:srgbClr val="FFFF00"/>
          </a:solidFill>
          <a:ln>
            <a:solidFill>
              <a:srgbClr val="FF0000"/>
            </a:solidFill>
          </a:ln>
        </p:spPr>
        <p:txBody>
          <a:bodyPr wrap="none" rtlCol="0" anchor="ctr" anchorCtr="1">
            <a:spAutoFit/>
          </a:bodyPr>
          <a:lstStyle/>
          <a:p>
            <a:r>
              <a:rPr lang="en-US" sz="2200" dirty="0">
                <a:ea typeface="標楷體" pitchFamily="65" charset="-120"/>
                <a:cs typeface="Calibri" pitchFamily="34" charset="0"/>
              </a:rPr>
              <a:t>6-bit FP format</a:t>
            </a:r>
          </a:p>
        </p:txBody>
      </p:sp>
    </p:spTree>
    <p:extLst>
      <p:ext uri="{BB962C8B-B14F-4D97-AF65-F5344CB8AC3E}">
        <p14:creationId xmlns:p14="http://schemas.microsoft.com/office/powerpoint/2010/main" val="2151871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lstStyle/>
              <a:p>
                <a:r>
                  <a:rPr lang="en-US" dirty="0"/>
                  <a:t>Figure 2.35 Bit Patterns from 0 to </a:t>
                </a:r>
                <a14:m>
                  <m:oMath xmlns:m="http://schemas.openxmlformats.org/officeDocument/2006/math">
                    <m:r>
                      <a:rPr lang="en-US" i="1" smtClean="0">
                        <a:latin typeface="Cambria Math" panose="02040503050406030204" pitchFamily="18" charset="0"/>
                      </a:rPr>
                      <m:t>∞</m:t>
                    </m:r>
                  </m:oMath>
                </a14:m>
                <a:endParaRPr lang="en-US"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a:blip r:embed="rId3"/>
                <a:stretch>
                  <a:fillRect l="-2607" t="-29204" b="-57522"/>
                </a:stretch>
              </a:blipFill>
            </p:spPr>
            <p:txBody>
              <a:bodyPr/>
              <a:lstStyle/>
              <a:p>
                <a:r>
                  <a:rPr lang="en-US">
                    <a:noFill/>
                  </a:rPr>
                  <a:t> </a:t>
                </a:r>
              </a:p>
            </p:txBody>
          </p:sp>
        </mc:Fallback>
      </mc:AlternateContent>
      <p:sp>
        <p:nvSpPr>
          <p:cNvPr id="8" name="灯片编号占位符 7"/>
          <p:cNvSpPr>
            <a:spLocks noGrp="1"/>
          </p:cNvSpPr>
          <p:nvPr>
            <p:ph type="sldNum" sz="quarter" idx="10"/>
          </p:nvPr>
        </p:nvSpPr>
        <p:spPr/>
        <p:txBody>
          <a:bodyPr/>
          <a:lstStyle/>
          <a:p>
            <a:fld id="{D9B6BDF2-6896-4B98-8776-C18582F63BA5}" type="slidenum">
              <a:rPr lang="zh-TW" altLang="en-US" smtClean="0"/>
              <a:t>16</a:t>
            </a:fld>
            <a:endParaRPr lang="zh-TW" altLang="en-US"/>
          </a:p>
        </p:txBody>
      </p:sp>
      <p:sp>
        <p:nvSpPr>
          <p:cNvPr id="18" name="TextBox 17">
            <a:extLst>
              <a:ext uri="{FF2B5EF4-FFF2-40B4-BE49-F238E27FC236}">
                <a16:creationId xmlns:a16="http://schemas.microsoft.com/office/drawing/2014/main" id="{4CC474BD-3638-4ED2-86B3-C5DF7E449ACF}"/>
              </a:ext>
            </a:extLst>
          </p:cNvPr>
          <p:cNvSpPr txBox="1"/>
          <p:nvPr/>
        </p:nvSpPr>
        <p:spPr>
          <a:xfrm>
            <a:off x="84455" y="5498244"/>
            <a:ext cx="2213298" cy="461665"/>
          </a:xfrm>
          <a:prstGeom prst="rect">
            <a:avLst/>
          </a:prstGeom>
          <a:solidFill>
            <a:srgbClr val="FFFF00"/>
          </a:solidFill>
          <a:ln>
            <a:solidFill>
              <a:srgbClr val="FF0000"/>
            </a:solidFill>
          </a:ln>
        </p:spPr>
        <p:txBody>
          <a:bodyPr wrap="none" rtlCol="0" anchor="ctr" anchorCtr="1">
            <a:spAutoFit/>
          </a:bodyPr>
          <a:lstStyle/>
          <a:p>
            <a:r>
              <a:rPr lang="en-US" sz="2400" dirty="0">
                <a:ea typeface="標楷體" pitchFamily="65" charset="-120"/>
                <a:cs typeface="Calibri" pitchFamily="34" charset="0"/>
              </a:rPr>
              <a:t>8-bit FP format</a:t>
            </a:r>
          </a:p>
        </p:txBody>
      </p:sp>
      <p:pic>
        <p:nvPicPr>
          <p:cNvPr id="4" name="Picture 3">
            <a:extLst>
              <a:ext uri="{FF2B5EF4-FFF2-40B4-BE49-F238E27FC236}">
                <a16:creationId xmlns:a16="http://schemas.microsoft.com/office/drawing/2014/main" id="{BF83E2A9-2AD1-45EC-A0A9-0B844A5ED335}"/>
              </a:ext>
            </a:extLst>
          </p:cNvPr>
          <p:cNvPicPr>
            <a:picLocks noChangeAspect="1"/>
          </p:cNvPicPr>
          <p:nvPr/>
        </p:nvPicPr>
        <p:blipFill>
          <a:blip r:embed="rId4"/>
          <a:stretch>
            <a:fillRect/>
          </a:stretch>
        </p:blipFill>
        <p:spPr>
          <a:xfrm>
            <a:off x="2490787" y="1120989"/>
            <a:ext cx="8434388" cy="4947816"/>
          </a:xfrm>
          <a:prstGeom prst="rect">
            <a:avLst/>
          </a:prstGeom>
        </p:spPr>
      </p:pic>
      <p:sp>
        <p:nvSpPr>
          <p:cNvPr id="6" name="TextBox 5">
            <a:extLst>
              <a:ext uri="{FF2B5EF4-FFF2-40B4-BE49-F238E27FC236}">
                <a16:creationId xmlns:a16="http://schemas.microsoft.com/office/drawing/2014/main" id="{A2A601FB-DEEB-49C6-A212-0F5D059B8475}"/>
              </a:ext>
            </a:extLst>
          </p:cNvPr>
          <p:cNvSpPr txBox="1"/>
          <p:nvPr/>
        </p:nvSpPr>
        <p:spPr>
          <a:xfrm>
            <a:off x="160176" y="2175694"/>
            <a:ext cx="2213298" cy="338554"/>
          </a:xfrm>
          <a:prstGeom prst="rect">
            <a:avLst/>
          </a:prstGeom>
          <a:solidFill>
            <a:srgbClr val="FFFF00"/>
          </a:solidFill>
          <a:ln>
            <a:solidFill>
              <a:srgbClr val="FF0000"/>
            </a:solidFill>
          </a:ln>
        </p:spPr>
        <p:txBody>
          <a:bodyPr wrap="square" rtlCol="0" anchor="ctr" anchorCtr="1">
            <a:spAutoFit/>
          </a:bodyPr>
          <a:lstStyle/>
          <a:p>
            <a:r>
              <a:rPr lang="en-US" sz="1600" dirty="0">
                <a:solidFill>
                  <a:srgbClr val="FF0000"/>
                </a:solidFill>
                <a:ea typeface="標楷體" pitchFamily="65" charset="-120"/>
                <a:cs typeface="Calibri" pitchFamily="34" charset="0"/>
              </a:rPr>
              <a:t>Denormalized values</a:t>
            </a:r>
          </a:p>
        </p:txBody>
      </p:sp>
      <p:sp>
        <p:nvSpPr>
          <p:cNvPr id="7" name="Left Brace 6">
            <a:extLst>
              <a:ext uri="{FF2B5EF4-FFF2-40B4-BE49-F238E27FC236}">
                <a16:creationId xmlns:a16="http://schemas.microsoft.com/office/drawing/2014/main" id="{588414EF-FFA0-43DC-AB95-AFEC68D7A4B0}"/>
              </a:ext>
            </a:extLst>
          </p:cNvPr>
          <p:cNvSpPr/>
          <p:nvPr/>
        </p:nvSpPr>
        <p:spPr bwMode="auto">
          <a:xfrm>
            <a:off x="2415066" y="1926142"/>
            <a:ext cx="369247" cy="929810"/>
          </a:xfrm>
          <a:prstGeom prst="leftBrace">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9" name="TextBox 8">
            <a:extLst>
              <a:ext uri="{FF2B5EF4-FFF2-40B4-BE49-F238E27FC236}">
                <a16:creationId xmlns:a16="http://schemas.microsoft.com/office/drawing/2014/main" id="{4AAC836D-CD0F-477D-976F-EF37A5893C05}"/>
              </a:ext>
            </a:extLst>
          </p:cNvPr>
          <p:cNvSpPr txBox="1"/>
          <p:nvPr/>
        </p:nvSpPr>
        <p:spPr>
          <a:xfrm>
            <a:off x="180972" y="3963320"/>
            <a:ext cx="2213298" cy="338554"/>
          </a:xfrm>
          <a:prstGeom prst="rect">
            <a:avLst/>
          </a:prstGeom>
          <a:solidFill>
            <a:srgbClr val="FFFF00"/>
          </a:solidFill>
          <a:ln>
            <a:solidFill>
              <a:srgbClr val="FF0000"/>
            </a:solidFill>
          </a:ln>
        </p:spPr>
        <p:txBody>
          <a:bodyPr wrap="square" rtlCol="0" anchor="ctr" anchorCtr="1">
            <a:spAutoFit/>
          </a:bodyPr>
          <a:lstStyle/>
          <a:p>
            <a:r>
              <a:rPr lang="en-US" sz="1600" dirty="0">
                <a:solidFill>
                  <a:srgbClr val="FF0000"/>
                </a:solidFill>
                <a:ea typeface="標楷體" pitchFamily="65" charset="-120"/>
                <a:cs typeface="Calibri" pitchFamily="34" charset="0"/>
              </a:rPr>
              <a:t>Normalized values</a:t>
            </a:r>
          </a:p>
        </p:txBody>
      </p:sp>
      <p:sp>
        <p:nvSpPr>
          <p:cNvPr id="10" name="Left Brace 9">
            <a:extLst>
              <a:ext uri="{FF2B5EF4-FFF2-40B4-BE49-F238E27FC236}">
                <a16:creationId xmlns:a16="http://schemas.microsoft.com/office/drawing/2014/main" id="{1E76B3B6-C25B-4400-99E4-8BA02980A7DC}"/>
              </a:ext>
            </a:extLst>
          </p:cNvPr>
          <p:cNvSpPr/>
          <p:nvPr/>
        </p:nvSpPr>
        <p:spPr bwMode="auto">
          <a:xfrm>
            <a:off x="2415066" y="3094248"/>
            <a:ext cx="369247" cy="2087352"/>
          </a:xfrm>
          <a:prstGeom prst="leftBrace">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Tree>
    <p:extLst>
      <p:ext uri="{BB962C8B-B14F-4D97-AF65-F5344CB8AC3E}">
        <p14:creationId xmlns:p14="http://schemas.microsoft.com/office/powerpoint/2010/main" val="2499918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Traditional Supercomputers Are FP Machines </a:t>
            </a:r>
          </a:p>
        </p:txBody>
      </p:sp>
      <p:sp>
        <p:nvSpPr>
          <p:cNvPr id="6" name="灯片编号占位符 5"/>
          <p:cNvSpPr>
            <a:spLocks noGrp="1"/>
          </p:cNvSpPr>
          <p:nvPr>
            <p:ph type="sldNum" sz="quarter" idx="10"/>
          </p:nvPr>
        </p:nvSpPr>
        <p:spPr/>
        <p:txBody>
          <a:bodyPr/>
          <a:lstStyle/>
          <a:p>
            <a:fld id="{D9B6BDF2-6896-4B98-8776-C18582F63BA5}" type="slidenum">
              <a:rPr lang="zh-TW" altLang="en-US" smtClean="0"/>
              <a:t>17</a:t>
            </a:fld>
            <a:endParaRPr lang="zh-TW" altLang="en-US"/>
          </a:p>
        </p:txBody>
      </p:sp>
      <p:pic>
        <p:nvPicPr>
          <p:cNvPr id="2050" name="Picture 2">
            <a:extLst>
              <a:ext uri="{FF2B5EF4-FFF2-40B4-BE49-F238E27FC236}">
                <a16:creationId xmlns:a16="http://schemas.microsoft.com/office/drawing/2014/main" id="{55857505-539C-4F3D-BDEE-6D3BD5A58C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9867" y="1142999"/>
            <a:ext cx="7094008" cy="49434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 1</a:t>
            </a:r>
          </a:p>
        </p:txBody>
      </p:sp>
      <p:sp>
        <p:nvSpPr>
          <p:cNvPr id="3" name="Content Placeholder 2"/>
          <p:cNvSpPr>
            <a:spLocks noGrp="1"/>
          </p:cNvSpPr>
          <p:nvPr>
            <p:ph idx="1"/>
          </p:nvPr>
        </p:nvSpPr>
        <p:spPr>
          <a:xfrm>
            <a:off x="1289378" y="990815"/>
            <a:ext cx="10251347" cy="1089156"/>
          </a:xfrm>
        </p:spPr>
        <p:txBody>
          <a:bodyPr/>
          <a:lstStyle/>
          <a:p>
            <a:r>
              <a:rPr lang="en-US" dirty="0"/>
              <a:t>What is the IEEE single precision number 0x40C00000 representing in decimal?</a:t>
            </a:r>
          </a:p>
        </p:txBody>
      </p:sp>
      <p:sp>
        <p:nvSpPr>
          <p:cNvPr id="6" name="灯片编号占位符 5"/>
          <p:cNvSpPr>
            <a:spLocks noGrp="1"/>
          </p:cNvSpPr>
          <p:nvPr>
            <p:ph type="sldNum" sz="quarter" idx="10"/>
          </p:nvPr>
        </p:nvSpPr>
        <p:spPr/>
        <p:txBody>
          <a:bodyPr/>
          <a:lstStyle/>
          <a:p>
            <a:fld id="{D9B6BDF2-6896-4B98-8776-C18582F63BA5}" type="slidenum">
              <a:rPr lang="zh-TW" altLang="en-US" smtClean="0"/>
              <a:t>18</a:t>
            </a:fld>
            <a:endParaRPr lang="zh-TW" altLang="en-US"/>
          </a:p>
        </p:txBody>
      </p:sp>
      <p:sp>
        <p:nvSpPr>
          <p:cNvPr id="5" name="Content Placeholder 2"/>
          <p:cNvSpPr txBox="1"/>
          <p:nvPr/>
        </p:nvSpPr>
        <p:spPr bwMode="auto">
          <a:xfrm>
            <a:off x="1323646" y="3342808"/>
            <a:ext cx="10217079" cy="2543427"/>
          </a:xfrm>
          <a:prstGeom prst="rect">
            <a:avLst/>
          </a:prstGeom>
          <a:noFill/>
          <a:ln w="9525">
            <a:noFill/>
            <a:miter lim="800000"/>
          </a:ln>
        </p:spPr>
        <p:txBody>
          <a:bodyPr vert="horz" wrap="square" lIns="121920" tIns="60960" rIns="121920" bIns="60960" numCol="1" anchor="t" anchorCtr="0" compatLnSpc="1"/>
          <a:lstStyle>
            <a:lvl1pPr marL="257175" indent="-257175" algn="l" rtl="0" eaLnBrk="1" fontAlgn="base" hangingPunct="1">
              <a:spcBef>
                <a:spcPct val="20000"/>
              </a:spcBef>
              <a:spcAft>
                <a:spcPct val="0"/>
              </a:spcAft>
              <a:buClr>
                <a:srgbClr val="0000FF"/>
              </a:buClr>
              <a:buSzPct val="80000"/>
              <a:buFont typeface="Wingdings" panose="05000000000000000000" pitchFamily="2" charset="2"/>
              <a:buChar char="l"/>
              <a:defRPr kumimoji="1" sz="2400">
                <a:solidFill>
                  <a:schemeClr val="tx1"/>
                </a:solidFill>
                <a:latin typeface="Calibri" panose="020F0502020204030204" pitchFamily="34" charset="0"/>
                <a:ea typeface="標楷體" panose="02010601000101010101" pitchFamily="65" charset="-120"/>
                <a:cs typeface="+mn-cs"/>
              </a:defRPr>
            </a:lvl1pPr>
            <a:lvl2pPr marL="556895" indent="-213995" algn="l" rtl="0" eaLnBrk="1" fontAlgn="base" hangingPunct="1">
              <a:spcBef>
                <a:spcPct val="20000"/>
              </a:spcBef>
              <a:spcAft>
                <a:spcPct val="0"/>
              </a:spcAft>
              <a:buClr>
                <a:srgbClr val="0000FF"/>
              </a:buClr>
              <a:buSzPct val="90000"/>
              <a:buFont typeface="Arial" panose="020B0604020202020204" pitchFamily="34" charset="0"/>
              <a:buChar char="–"/>
              <a:defRPr kumimoji="1" sz="2000">
                <a:solidFill>
                  <a:schemeClr val="tx1"/>
                </a:solidFill>
                <a:latin typeface="Calibri" panose="020F0502020204030204" pitchFamily="34" charset="0"/>
                <a:ea typeface="標楷體" panose="02010601000101010101"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502020204030204" pitchFamily="34" charset="0"/>
                <a:ea typeface="標楷體" panose="02010601000101010101" pitchFamily="65" charset="-120"/>
                <a:cs typeface="Calibri" panose="020F050202020403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502020204030204" pitchFamily="34" charset="0"/>
                <a:ea typeface="標楷體" panose="02010601000101010101" pitchFamily="65" charset="-120"/>
                <a:cs typeface="Calibri" panose="020F0502020204030204" pitchFamily="34" charset="0"/>
              </a:defRPr>
            </a:lvl4pPr>
            <a:lvl5pPr marL="1543050" indent="-171450" algn="l" rtl="0" eaLnBrk="1" fontAlgn="base" hangingPunct="1">
              <a:spcBef>
                <a:spcPct val="20000"/>
              </a:spcBef>
              <a:spcAft>
                <a:spcPct val="0"/>
              </a:spcAft>
              <a:buChar char="»"/>
              <a:defRPr kumimoji="1" sz="1400">
                <a:solidFill>
                  <a:schemeClr val="tx1"/>
                </a:solidFill>
                <a:latin typeface="Calibri" panose="020F0502020204030204" pitchFamily="34" charset="0"/>
                <a:ea typeface="標楷體" panose="02010601000101010101" pitchFamily="65" charset="-120"/>
                <a:cs typeface="Calibri" panose="020F050202020403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pPr marL="0" indent="0">
              <a:buNone/>
            </a:pPr>
            <a:r>
              <a:rPr lang="en-US" sz="3200" kern="0" dirty="0"/>
              <a:t>0x40C00000 = </a:t>
            </a:r>
            <a:r>
              <a:rPr lang="en-US" sz="3200" kern="0" dirty="0">
                <a:solidFill>
                  <a:srgbClr val="FF0000"/>
                </a:solidFill>
              </a:rPr>
              <a:t>0 </a:t>
            </a:r>
            <a:r>
              <a:rPr lang="en-US" sz="3200" kern="0" dirty="0">
                <a:solidFill>
                  <a:srgbClr val="0000FF"/>
                </a:solidFill>
              </a:rPr>
              <a:t>100 0000 1 </a:t>
            </a:r>
            <a:r>
              <a:rPr lang="en-US" sz="3200" kern="0" dirty="0">
                <a:solidFill>
                  <a:schemeClr val="accent6"/>
                </a:solidFill>
              </a:rPr>
              <a:t>100 0000 0000 0000 0000 0000</a:t>
            </a:r>
          </a:p>
          <a:p>
            <a:pPr marL="0" indent="0">
              <a:buNone/>
            </a:pPr>
            <a:r>
              <a:rPr lang="en-US" sz="3200" kern="0" dirty="0"/>
              <a:t>                       = </a:t>
            </a:r>
            <a:r>
              <a:rPr lang="en-US" altLang="zh-CN" sz="3200" dirty="0"/>
              <a:t>(−1)</a:t>
            </a:r>
            <a:r>
              <a:rPr lang="en-US" altLang="zh-CN" sz="3200" baseline="30000" dirty="0"/>
              <a:t>0</a:t>
            </a:r>
            <a:r>
              <a:rPr lang="en-US" altLang="zh-CN" sz="3200" dirty="0"/>
              <a:t> × (1+0.100…000) × 2</a:t>
            </a:r>
            <a:r>
              <a:rPr lang="en-US" altLang="zh-CN" sz="3200" baseline="30000" dirty="0"/>
              <a:t>(129−127)</a:t>
            </a:r>
          </a:p>
          <a:p>
            <a:pPr marL="0" indent="0">
              <a:buNone/>
            </a:pPr>
            <a:r>
              <a:rPr lang="en-US" altLang="zh-CN" sz="3200" kern="0" dirty="0"/>
              <a:t>                       = </a:t>
            </a:r>
            <a:r>
              <a:rPr lang="en-US" altLang="zh-CN" sz="3200" dirty="0"/>
              <a:t>1.100…000 × 2</a:t>
            </a:r>
            <a:r>
              <a:rPr lang="en-US" altLang="zh-CN" sz="3200" baseline="30000" dirty="0"/>
              <a:t>2</a:t>
            </a:r>
          </a:p>
          <a:p>
            <a:pPr marL="0" indent="0">
              <a:buNone/>
            </a:pPr>
            <a:r>
              <a:rPr lang="en-US" altLang="zh-CN" sz="3200" kern="0" dirty="0"/>
              <a:t>                       = 110</a:t>
            </a:r>
            <a:r>
              <a:rPr lang="en-US" altLang="zh-CN" sz="1600" kern="0" dirty="0"/>
              <a:t>2</a:t>
            </a:r>
          </a:p>
          <a:p>
            <a:pPr marL="0" indent="0">
              <a:buNone/>
            </a:pPr>
            <a:r>
              <a:rPr lang="en-US" altLang="zh-CN" sz="1600" kern="0" baseline="30000" dirty="0"/>
              <a:t>		</a:t>
            </a:r>
            <a:r>
              <a:rPr lang="en-US" altLang="zh-CN" sz="1600" kern="0" dirty="0"/>
              <a:t>       </a:t>
            </a:r>
            <a:r>
              <a:rPr lang="en-US" altLang="zh-CN" sz="3200" kern="0" dirty="0"/>
              <a:t>= 6</a:t>
            </a:r>
            <a:r>
              <a:rPr lang="en-US" altLang="zh-CN" kern="0" dirty="0"/>
              <a:t> </a:t>
            </a:r>
            <a:r>
              <a:rPr lang="en-US" altLang="zh-CN" sz="1600" kern="0" baseline="30000" dirty="0"/>
              <a:t>	</a:t>
            </a:r>
            <a:endParaRPr lang="en-US" altLang="zh-CN" sz="3200" baseline="30000" dirty="0"/>
          </a:p>
        </p:txBody>
      </p:sp>
      <p:sp>
        <p:nvSpPr>
          <p:cNvPr id="7" name="TextBox 22"/>
          <p:cNvSpPr txBox="1"/>
          <p:nvPr/>
        </p:nvSpPr>
        <p:spPr>
          <a:xfrm>
            <a:off x="3252966" y="2809645"/>
            <a:ext cx="5174815" cy="461665"/>
          </a:xfrm>
          <a:prstGeom prst="rect">
            <a:avLst/>
          </a:prstGeom>
          <a:noFill/>
          <a:ln w="19050">
            <a:solidFill>
              <a:srgbClr val="FF0000"/>
            </a:solidFill>
          </a:ln>
        </p:spPr>
        <p:txBody>
          <a:bodyPr wrap="none" rtlCol="0">
            <a:spAutoFit/>
          </a:bodyPr>
          <a:lstStyle/>
          <a:p>
            <a:r>
              <a:rPr lang="en-US" sz="2400" dirty="0"/>
              <a:t>x = (−1)</a:t>
            </a:r>
            <a:r>
              <a:rPr lang="en-US" sz="2400" baseline="30000" dirty="0">
                <a:solidFill>
                  <a:srgbClr val="FF0000"/>
                </a:solidFill>
              </a:rPr>
              <a:t>s</a:t>
            </a:r>
            <a:r>
              <a:rPr lang="en-US" sz="2400" dirty="0"/>
              <a:t> × (1+</a:t>
            </a:r>
            <a:r>
              <a:rPr lang="en-US" sz="2400" dirty="0">
                <a:solidFill>
                  <a:schemeClr val="accent6"/>
                </a:solidFill>
              </a:rPr>
              <a:t>fraction</a:t>
            </a:r>
            <a:r>
              <a:rPr lang="en-US" sz="2400" dirty="0"/>
              <a:t>) × 2</a:t>
            </a:r>
            <a:r>
              <a:rPr lang="en-US" sz="2400" baseline="30000" dirty="0"/>
              <a:t>(</a:t>
            </a:r>
            <a:r>
              <a:rPr lang="en-US" sz="2400" baseline="30000" dirty="0">
                <a:solidFill>
                  <a:srgbClr val="0000FF"/>
                </a:solidFill>
              </a:rPr>
              <a:t>exponent</a:t>
            </a:r>
            <a:r>
              <a:rPr lang="en-US" sz="2400" baseline="30000" dirty="0"/>
              <a:t>−127)</a:t>
            </a:r>
          </a:p>
        </p:txBody>
      </p:sp>
      <p:sp>
        <p:nvSpPr>
          <p:cNvPr id="8" name="Content Placeholder 2"/>
          <p:cNvSpPr txBox="1"/>
          <p:nvPr/>
        </p:nvSpPr>
        <p:spPr bwMode="auto">
          <a:xfrm>
            <a:off x="1285546" y="2185817"/>
            <a:ext cx="10217079" cy="576436"/>
          </a:xfrm>
          <a:prstGeom prst="rect">
            <a:avLst/>
          </a:prstGeom>
          <a:noFill/>
          <a:ln w="9525">
            <a:noFill/>
            <a:miter lim="800000"/>
          </a:ln>
        </p:spPr>
        <p:txBody>
          <a:bodyPr vert="horz" wrap="square" lIns="121920" tIns="60960" rIns="121920" bIns="60960" numCol="1" anchor="t" anchorCtr="0" compatLnSpc="1"/>
          <a:lstStyle>
            <a:lvl1pPr marL="257175" indent="-257175" algn="l" rtl="0" eaLnBrk="1" fontAlgn="base" hangingPunct="1">
              <a:spcBef>
                <a:spcPct val="20000"/>
              </a:spcBef>
              <a:spcAft>
                <a:spcPct val="0"/>
              </a:spcAft>
              <a:buClr>
                <a:srgbClr val="0000FF"/>
              </a:buClr>
              <a:buSzPct val="80000"/>
              <a:buFont typeface="Wingdings" panose="05000000000000000000" pitchFamily="2" charset="2"/>
              <a:buChar char="l"/>
              <a:defRPr kumimoji="1" sz="2400">
                <a:solidFill>
                  <a:schemeClr val="tx1"/>
                </a:solidFill>
                <a:latin typeface="Calibri" panose="020F0502020204030204" pitchFamily="34" charset="0"/>
                <a:ea typeface="標楷體" panose="02010601000101010101" pitchFamily="65" charset="-120"/>
                <a:cs typeface="+mn-cs"/>
              </a:defRPr>
            </a:lvl1pPr>
            <a:lvl2pPr marL="556895" indent="-213995" algn="l" rtl="0" eaLnBrk="1" fontAlgn="base" hangingPunct="1">
              <a:spcBef>
                <a:spcPct val="20000"/>
              </a:spcBef>
              <a:spcAft>
                <a:spcPct val="0"/>
              </a:spcAft>
              <a:buClr>
                <a:srgbClr val="0000FF"/>
              </a:buClr>
              <a:buSzPct val="90000"/>
              <a:buFont typeface="Arial" panose="020B0604020202020204" pitchFamily="34" charset="0"/>
              <a:buChar char="–"/>
              <a:defRPr kumimoji="1" sz="2000">
                <a:solidFill>
                  <a:schemeClr val="tx1"/>
                </a:solidFill>
                <a:latin typeface="Calibri" panose="020F0502020204030204" pitchFamily="34" charset="0"/>
                <a:ea typeface="標楷體" panose="02010601000101010101"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502020204030204" pitchFamily="34" charset="0"/>
                <a:ea typeface="標楷體" panose="02010601000101010101" pitchFamily="65" charset="-120"/>
                <a:cs typeface="Calibri" panose="020F050202020403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502020204030204" pitchFamily="34" charset="0"/>
                <a:ea typeface="標楷體" panose="02010601000101010101" pitchFamily="65" charset="-120"/>
                <a:cs typeface="Calibri" panose="020F0502020204030204" pitchFamily="34" charset="0"/>
              </a:defRPr>
            </a:lvl4pPr>
            <a:lvl5pPr marL="1543050" indent="-171450" algn="l" rtl="0" eaLnBrk="1" fontAlgn="base" hangingPunct="1">
              <a:spcBef>
                <a:spcPct val="20000"/>
              </a:spcBef>
              <a:spcAft>
                <a:spcPct val="0"/>
              </a:spcAft>
              <a:buChar char="»"/>
              <a:defRPr kumimoji="1" sz="1400">
                <a:solidFill>
                  <a:schemeClr val="tx1"/>
                </a:solidFill>
                <a:latin typeface="Calibri" panose="020F0502020204030204" pitchFamily="34" charset="0"/>
                <a:ea typeface="標楷體" panose="02010601000101010101" pitchFamily="65" charset="-120"/>
                <a:cs typeface="Calibri" panose="020F050202020403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pPr marL="0" indent="0">
              <a:buNone/>
            </a:pPr>
            <a:r>
              <a:rPr lang="en-US" sz="3200" kern="0" dirty="0"/>
              <a:t>0x</a:t>
            </a:r>
            <a:r>
              <a:rPr lang="en-US" sz="3200" kern="0" dirty="0">
                <a:solidFill>
                  <a:srgbClr val="FF0000"/>
                </a:solidFill>
              </a:rPr>
              <a:t>4</a:t>
            </a:r>
            <a:r>
              <a:rPr lang="en-US" sz="3200" kern="0" dirty="0"/>
              <a:t>0</a:t>
            </a:r>
            <a:r>
              <a:rPr lang="en-US" sz="3200" kern="0" dirty="0">
                <a:solidFill>
                  <a:srgbClr val="00B050"/>
                </a:solidFill>
              </a:rPr>
              <a:t>C</a:t>
            </a:r>
            <a:r>
              <a:rPr lang="en-US" sz="3200" kern="0" dirty="0"/>
              <a:t>00000 = </a:t>
            </a:r>
            <a:r>
              <a:rPr lang="en-US" sz="3200" kern="0" dirty="0">
                <a:solidFill>
                  <a:srgbClr val="FF0000"/>
                </a:solidFill>
              </a:rPr>
              <a:t>0100</a:t>
            </a:r>
            <a:r>
              <a:rPr lang="en-US" sz="3200" kern="0" dirty="0"/>
              <a:t> 0000 </a:t>
            </a:r>
            <a:r>
              <a:rPr lang="en-US" sz="3200" kern="0" dirty="0">
                <a:solidFill>
                  <a:srgbClr val="00B050"/>
                </a:solidFill>
              </a:rPr>
              <a:t>1100 </a:t>
            </a:r>
            <a:r>
              <a:rPr lang="en-US" sz="3200" kern="0" dirty="0"/>
              <a:t>0000 0000 0000 0000 0000</a:t>
            </a:r>
          </a:p>
        </p:txBody>
      </p:sp>
    </p:spTree>
    <p:extLst>
      <p:ext uri="{BB962C8B-B14F-4D97-AF65-F5344CB8AC3E}">
        <p14:creationId xmlns:p14="http://schemas.microsoft.com/office/powerpoint/2010/main" val="3540851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animBg="1"/>
      <p:bldP spid="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 2</a:t>
            </a:r>
          </a:p>
        </p:txBody>
      </p:sp>
      <p:sp>
        <p:nvSpPr>
          <p:cNvPr id="3" name="Content Placeholder 2"/>
          <p:cNvSpPr>
            <a:spLocks noGrp="1"/>
          </p:cNvSpPr>
          <p:nvPr>
            <p:ph idx="1"/>
          </p:nvPr>
        </p:nvSpPr>
        <p:spPr>
          <a:xfrm>
            <a:off x="1409350" y="1125538"/>
            <a:ext cx="10173049" cy="1231519"/>
          </a:xfrm>
        </p:spPr>
        <p:txBody>
          <a:bodyPr/>
          <a:lstStyle/>
          <a:p>
            <a:r>
              <a:rPr lang="en-US" dirty="0"/>
              <a:t>How to represent –0.5 in IEEE single precision binary floating-point format?</a:t>
            </a:r>
          </a:p>
        </p:txBody>
      </p:sp>
      <p:sp>
        <p:nvSpPr>
          <p:cNvPr id="6" name="灯片编号占位符 5"/>
          <p:cNvSpPr>
            <a:spLocks noGrp="1"/>
          </p:cNvSpPr>
          <p:nvPr>
            <p:ph type="sldNum" sz="quarter" idx="10"/>
          </p:nvPr>
        </p:nvSpPr>
        <p:spPr/>
        <p:txBody>
          <a:bodyPr/>
          <a:lstStyle/>
          <a:p>
            <a:fld id="{D9B6BDF2-6896-4B98-8776-C18582F63BA5}" type="slidenum">
              <a:rPr lang="zh-TW" altLang="en-US" smtClean="0"/>
              <a:t>19</a:t>
            </a:fld>
            <a:endParaRPr lang="zh-TW" altLang="en-US"/>
          </a:p>
        </p:txBody>
      </p:sp>
      <p:sp>
        <p:nvSpPr>
          <p:cNvPr id="7" name="Content Placeholder 2"/>
          <p:cNvSpPr txBox="1"/>
          <p:nvPr/>
        </p:nvSpPr>
        <p:spPr bwMode="auto">
          <a:xfrm>
            <a:off x="3262047" y="2433654"/>
            <a:ext cx="8364381" cy="1828821"/>
          </a:xfrm>
          <a:prstGeom prst="rect">
            <a:avLst/>
          </a:prstGeom>
          <a:noFill/>
          <a:ln w="9525">
            <a:noFill/>
            <a:miter lim="800000"/>
          </a:ln>
        </p:spPr>
        <p:txBody>
          <a:bodyPr vert="horz" wrap="square" lIns="121920" tIns="60960" rIns="121920" bIns="60960" numCol="1" anchor="t" anchorCtr="0" compatLnSpc="1"/>
          <a:lstStyle>
            <a:lvl1pPr marL="257175" indent="-257175" algn="l" rtl="0" eaLnBrk="1" fontAlgn="base" hangingPunct="1">
              <a:spcBef>
                <a:spcPct val="20000"/>
              </a:spcBef>
              <a:spcAft>
                <a:spcPct val="0"/>
              </a:spcAft>
              <a:buClr>
                <a:srgbClr val="0000FF"/>
              </a:buClr>
              <a:buSzPct val="80000"/>
              <a:buFont typeface="Wingdings" panose="05000000000000000000" pitchFamily="2" charset="2"/>
              <a:buChar char="l"/>
              <a:defRPr kumimoji="1" sz="2400">
                <a:solidFill>
                  <a:schemeClr val="tx1"/>
                </a:solidFill>
                <a:latin typeface="Calibri" panose="020F0502020204030204" pitchFamily="34" charset="0"/>
                <a:ea typeface="標楷體" panose="02010601000101010101" pitchFamily="65" charset="-120"/>
                <a:cs typeface="+mn-cs"/>
              </a:defRPr>
            </a:lvl1pPr>
            <a:lvl2pPr marL="556895" indent="-213995" algn="l" rtl="0" eaLnBrk="1" fontAlgn="base" hangingPunct="1">
              <a:spcBef>
                <a:spcPct val="20000"/>
              </a:spcBef>
              <a:spcAft>
                <a:spcPct val="0"/>
              </a:spcAft>
              <a:buClr>
                <a:srgbClr val="0000FF"/>
              </a:buClr>
              <a:buSzPct val="90000"/>
              <a:buFont typeface="Arial" panose="020B0604020202020204" pitchFamily="34" charset="0"/>
              <a:buChar char="–"/>
              <a:defRPr kumimoji="1" sz="2000">
                <a:solidFill>
                  <a:schemeClr val="tx1"/>
                </a:solidFill>
                <a:latin typeface="Calibri" panose="020F0502020204030204" pitchFamily="34" charset="0"/>
                <a:ea typeface="標楷體" panose="02010601000101010101"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502020204030204" pitchFamily="34" charset="0"/>
                <a:ea typeface="標楷體" panose="02010601000101010101" pitchFamily="65" charset="-120"/>
                <a:cs typeface="Calibri" panose="020F050202020403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502020204030204" pitchFamily="34" charset="0"/>
                <a:ea typeface="標楷體" panose="02010601000101010101" pitchFamily="65" charset="-120"/>
                <a:cs typeface="Calibri" panose="020F0502020204030204" pitchFamily="34" charset="0"/>
              </a:defRPr>
            </a:lvl4pPr>
            <a:lvl5pPr marL="1543050" indent="-171450" algn="l" rtl="0" eaLnBrk="1" fontAlgn="base" hangingPunct="1">
              <a:spcBef>
                <a:spcPct val="20000"/>
              </a:spcBef>
              <a:spcAft>
                <a:spcPct val="0"/>
              </a:spcAft>
              <a:buChar char="»"/>
              <a:defRPr kumimoji="1" sz="1400">
                <a:solidFill>
                  <a:schemeClr val="tx1"/>
                </a:solidFill>
                <a:latin typeface="Calibri" panose="020F0502020204030204" pitchFamily="34" charset="0"/>
                <a:ea typeface="標楷體" panose="02010601000101010101" pitchFamily="65" charset="-120"/>
                <a:cs typeface="Calibri" panose="020F050202020403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pPr marL="0" indent="0">
              <a:buNone/>
            </a:pPr>
            <a:r>
              <a:rPr lang="en-US" altLang="zh-CN" sz="3200" dirty="0"/>
              <a:t>–0.5</a:t>
            </a:r>
            <a:r>
              <a:rPr lang="en-US" sz="3200" kern="0" dirty="0"/>
              <a:t> = </a:t>
            </a:r>
            <a:r>
              <a:rPr lang="en-US" altLang="zh-CN" sz="3200" dirty="0"/>
              <a:t>(−1)</a:t>
            </a:r>
            <a:r>
              <a:rPr lang="en-US" altLang="zh-CN" sz="3200" baseline="30000" dirty="0"/>
              <a:t>1</a:t>
            </a:r>
            <a:r>
              <a:rPr lang="en-US" altLang="zh-CN" sz="3200" dirty="0"/>
              <a:t> × </a:t>
            </a:r>
            <a:r>
              <a:rPr lang="en-US" altLang="zh-CN" sz="3200" kern="0" dirty="0"/>
              <a:t>0.5 (decimal)</a:t>
            </a:r>
          </a:p>
          <a:p>
            <a:pPr marL="0" indent="0">
              <a:buNone/>
            </a:pPr>
            <a:r>
              <a:rPr lang="en-US" altLang="zh-CN" sz="3200" kern="0" dirty="0"/>
              <a:t>         = </a:t>
            </a:r>
            <a:r>
              <a:rPr lang="en-US" altLang="zh-CN" sz="3200" dirty="0"/>
              <a:t>(−1)</a:t>
            </a:r>
            <a:r>
              <a:rPr lang="en-US" altLang="zh-CN" sz="3200" baseline="30000" dirty="0"/>
              <a:t>1</a:t>
            </a:r>
            <a:r>
              <a:rPr lang="en-US" altLang="zh-CN" sz="3200" dirty="0"/>
              <a:t> × </a:t>
            </a:r>
            <a:r>
              <a:rPr lang="en-US" altLang="zh-CN" sz="3200" kern="0" dirty="0"/>
              <a:t>1/2 (decimal)</a:t>
            </a:r>
          </a:p>
          <a:p>
            <a:pPr marL="0" indent="0">
              <a:buNone/>
            </a:pPr>
            <a:r>
              <a:rPr lang="en-US" altLang="zh-CN" sz="3200" dirty="0">
                <a:sym typeface="Symbol" panose="05050102010706020507" pitchFamily="18" charset="2"/>
              </a:rPr>
              <a:t>         = </a:t>
            </a:r>
            <a:r>
              <a:rPr lang="en-US" altLang="zh-CN" sz="3200" dirty="0"/>
              <a:t>(−1)</a:t>
            </a:r>
            <a:r>
              <a:rPr lang="en-US" altLang="zh-CN" sz="3200" baseline="30000" dirty="0"/>
              <a:t>1</a:t>
            </a:r>
            <a:r>
              <a:rPr lang="en-US" altLang="zh-CN" sz="3200" dirty="0"/>
              <a:t> × 1.0 × 2</a:t>
            </a:r>
            <a:r>
              <a:rPr lang="en-US" altLang="zh-CN" sz="3200" baseline="30000" dirty="0"/>
              <a:t>−1 </a:t>
            </a:r>
            <a:r>
              <a:rPr lang="en-US" altLang="zh-CN" sz="3200" kern="0" dirty="0"/>
              <a:t>(binary)</a:t>
            </a:r>
          </a:p>
          <a:p>
            <a:pPr marL="0" indent="0">
              <a:buNone/>
            </a:pPr>
            <a:endParaRPr lang="en-US" altLang="zh-CN" sz="3200" kern="0" dirty="0"/>
          </a:p>
        </p:txBody>
      </p:sp>
      <p:sp>
        <p:nvSpPr>
          <p:cNvPr id="5" name="TextBox 22"/>
          <p:cNvSpPr txBox="1"/>
          <p:nvPr/>
        </p:nvSpPr>
        <p:spPr>
          <a:xfrm>
            <a:off x="3935304" y="4440889"/>
            <a:ext cx="5944781" cy="461665"/>
          </a:xfrm>
          <a:prstGeom prst="rect">
            <a:avLst/>
          </a:prstGeom>
          <a:noFill/>
          <a:ln w="19050">
            <a:solidFill>
              <a:srgbClr val="FF0000"/>
            </a:solidFill>
          </a:ln>
        </p:spPr>
        <p:txBody>
          <a:bodyPr wrap="square" rtlCol="0">
            <a:spAutoFit/>
          </a:bodyPr>
          <a:lstStyle/>
          <a:p>
            <a:r>
              <a:rPr lang="en-US" sz="2400" dirty="0"/>
              <a:t>x = (−1)</a:t>
            </a:r>
            <a:r>
              <a:rPr lang="en-US" sz="2400" baseline="30000" dirty="0">
                <a:solidFill>
                  <a:srgbClr val="FF0000"/>
                </a:solidFill>
              </a:rPr>
              <a:t>s</a:t>
            </a:r>
            <a:r>
              <a:rPr lang="en-US" sz="2400" dirty="0"/>
              <a:t> × (1+</a:t>
            </a:r>
            <a:r>
              <a:rPr lang="en-US" sz="2400" dirty="0">
                <a:solidFill>
                  <a:schemeClr val="accent6"/>
                </a:solidFill>
              </a:rPr>
              <a:t>fraction</a:t>
            </a:r>
            <a:r>
              <a:rPr lang="en-US" sz="2400" dirty="0"/>
              <a:t>) × 2</a:t>
            </a:r>
            <a:r>
              <a:rPr lang="en-US" sz="2400" baseline="30000" dirty="0"/>
              <a:t>(</a:t>
            </a:r>
            <a:r>
              <a:rPr lang="en-US" sz="2400" baseline="30000" dirty="0">
                <a:solidFill>
                  <a:srgbClr val="0000FF"/>
                </a:solidFill>
              </a:rPr>
              <a:t>exponent</a:t>
            </a:r>
            <a:r>
              <a:rPr lang="en-US" sz="2400" baseline="30000" dirty="0"/>
              <a:t>−127)</a:t>
            </a:r>
          </a:p>
        </p:txBody>
      </p:sp>
      <p:sp>
        <p:nvSpPr>
          <p:cNvPr id="8" name="Content Placeholder 2"/>
          <p:cNvSpPr txBox="1"/>
          <p:nvPr/>
        </p:nvSpPr>
        <p:spPr bwMode="auto">
          <a:xfrm>
            <a:off x="2937098" y="5040311"/>
            <a:ext cx="8364381" cy="692152"/>
          </a:xfrm>
          <a:prstGeom prst="rect">
            <a:avLst/>
          </a:prstGeom>
          <a:noFill/>
          <a:ln w="9525">
            <a:noFill/>
            <a:miter lim="800000"/>
          </a:ln>
        </p:spPr>
        <p:txBody>
          <a:bodyPr vert="horz" wrap="square" lIns="121920" tIns="60960" rIns="121920" bIns="60960" numCol="1" anchor="t" anchorCtr="0" compatLnSpc="1"/>
          <a:lstStyle>
            <a:lvl1pPr marL="257175" indent="-257175" algn="l" rtl="0" eaLnBrk="1" fontAlgn="base" hangingPunct="1">
              <a:spcBef>
                <a:spcPct val="20000"/>
              </a:spcBef>
              <a:spcAft>
                <a:spcPct val="0"/>
              </a:spcAft>
              <a:buClr>
                <a:srgbClr val="0000FF"/>
              </a:buClr>
              <a:buSzPct val="80000"/>
              <a:buFont typeface="Wingdings" panose="05000000000000000000" pitchFamily="2" charset="2"/>
              <a:buChar char="l"/>
              <a:defRPr kumimoji="1" sz="2400">
                <a:solidFill>
                  <a:schemeClr val="tx1"/>
                </a:solidFill>
                <a:latin typeface="Calibri" panose="020F0502020204030204" pitchFamily="34" charset="0"/>
                <a:ea typeface="標楷體" panose="02010601000101010101" pitchFamily="65" charset="-120"/>
                <a:cs typeface="+mn-cs"/>
              </a:defRPr>
            </a:lvl1pPr>
            <a:lvl2pPr marL="556895" indent="-213995" algn="l" rtl="0" eaLnBrk="1" fontAlgn="base" hangingPunct="1">
              <a:spcBef>
                <a:spcPct val="20000"/>
              </a:spcBef>
              <a:spcAft>
                <a:spcPct val="0"/>
              </a:spcAft>
              <a:buClr>
                <a:srgbClr val="0000FF"/>
              </a:buClr>
              <a:buSzPct val="90000"/>
              <a:buFont typeface="Arial" panose="020B0604020202020204" pitchFamily="34" charset="0"/>
              <a:buChar char="–"/>
              <a:defRPr kumimoji="1" sz="2000">
                <a:solidFill>
                  <a:schemeClr val="tx1"/>
                </a:solidFill>
                <a:latin typeface="Calibri" panose="020F0502020204030204" pitchFamily="34" charset="0"/>
                <a:ea typeface="標楷體" panose="02010601000101010101" pitchFamily="65" charset="-120"/>
              </a:defRPr>
            </a:lvl2pPr>
            <a:lvl3pPr marL="857250" indent="-171450" algn="l" rtl="0" eaLnBrk="1" fontAlgn="base" hangingPunct="1">
              <a:spcBef>
                <a:spcPct val="20000"/>
              </a:spcBef>
              <a:spcAft>
                <a:spcPct val="0"/>
              </a:spcAft>
              <a:buChar char="•"/>
              <a:defRPr kumimoji="1" sz="1800">
                <a:solidFill>
                  <a:schemeClr val="tx1"/>
                </a:solidFill>
                <a:latin typeface="Calibri" panose="020F0502020204030204" pitchFamily="34" charset="0"/>
                <a:ea typeface="標楷體" panose="02010601000101010101" pitchFamily="65" charset="-120"/>
                <a:cs typeface="Calibri" panose="020F0502020204030204" pitchFamily="34" charset="0"/>
              </a:defRPr>
            </a:lvl3pPr>
            <a:lvl4pPr marL="1200150" indent="-171450" algn="l" rtl="0" eaLnBrk="1" fontAlgn="base" hangingPunct="1">
              <a:spcBef>
                <a:spcPct val="20000"/>
              </a:spcBef>
              <a:spcAft>
                <a:spcPct val="0"/>
              </a:spcAft>
              <a:buChar char="–"/>
              <a:defRPr kumimoji="1" sz="1600">
                <a:solidFill>
                  <a:schemeClr val="tx1"/>
                </a:solidFill>
                <a:latin typeface="Calibri" panose="020F0502020204030204" pitchFamily="34" charset="0"/>
                <a:ea typeface="標楷體" panose="02010601000101010101" pitchFamily="65" charset="-120"/>
                <a:cs typeface="Calibri" panose="020F0502020204030204" pitchFamily="34" charset="0"/>
              </a:defRPr>
            </a:lvl4pPr>
            <a:lvl5pPr marL="1543050" indent="-171450" algn="l" rtl="0" eaLnBrk="1" fontAlgn="base" hangingPunct="1">
              <a:spcBef>
                <a:spcPct val="20000"/>
              </a:spcBef>
              <a:spcAft>
                <a:spcPct val="0"/>
              </a:spcAft>
              <a:buChar char="»"/>
              <a:defRPr kumimoji="1" sz="1400">
                <a:solidFill>
                  <a:schemeClr val="tx1"/>
                </a:solidFill>
                <a:latin typeface="Calibri" panose="020F0502020204030204" pitchFamily="34" charset="0"/>
                <a:ea typeface="標楷體" panose="02010601000101010101" pitchFamily="65" charset="-120"/>
                <a:cs typeface="Calibri" panose="020F0502020204030204" pitchFamily="34" charset="0"/>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a:lstStyle>
          <a:p>
            <a:pPr marL="0" indent="0">
              <a:buNone/>
            </a:pPr>
            <a:r>
              <a:rPr lang="en-US" altLang="zh-CN" sz="3200" kern="0" dirty="0">
                <a:solidFill>
                  <a:srgbClr val="FF0000"/>
                </a:solidFill>
              </a:rPr>
              <a:t>1</a:t>
            </a:r>
            <a:r>
              <a:rPr lang="en-US" sz="3200" kern="0" dirty="0">
                <a:solidFill>
                  <a:srgbClr val="FF0000"/>
                </a:solidFill>
              </a:rPr>
              <a:t> </a:t>
            </a:r>
            <a:r>
              <a:rPr lang="en-US" altLang="zh-CN" sz="3200" kern="0" dirty="0">
                <a:solidFill>
                  <a:srgbClr val="0000FF"/>
                </a:solidFill>
              </a:rPr>
              <a:t>011</a:t>
            </a:r>
            <a:r>
              <a:rPr lang="en-US" sz="3200" kern="0" dirty="0">
                <a:solidFill>
                  <a:srgbClr val="0000FF"/>
                </a:solidFill>
              </a:rPr>
              <a:t> </a:t>
            </a:r>
            <a:r>
              <a:rPr lang="en-US" altLang="zh-CN" sz="3200" kern="0" dirty="0">
                <a:solidFill>
                  <a:srgbClr val="0000FF"/>
                </a:solidFill>
              </a:rPr>
              <a:t>1111</a:t>
            </a:r>
            <a:r>
              <a:rPr lang="en-US" sz="3200" kern="0" dirty="0">
                <a:solidFill>
                  <a:srgbClr val="0000FF"/>
                </a:solidFill>
              </a:rPr>
              <a:t> </a:t>
            </a:r>
            <a:r>
              <a:rPr lang="en-US" altLang="zh-CN" sz="3200" kern="0" dirty="0">
                <a:solidFill>
                  <a:srgbClr val="0000FF"/>
                </a:solidFill>
              </a:rPr>
              <a:t>0</a:t>
            </a:r>
            <a:r>
              <a:rPr lang="en-US" sz="3200" kern="0" dirty="0">
                <a:solidFill>
                  <a:srgbClr val="0000FF"/>
                </a:solidFill>
              </a:rPr>
              <a:t> </a:t>
            </a:r>
            <a:r>
              <a:rPr lang="en-US" altLang="zh-CN" sz="3200" kern="0" dirty="0">
                <a:solidFill>
                  <a:schemeClr val="accent6"/>
                </a:solidFill>
              </a:rPr>
              <a:t>0</a:t>
            </a:r>
            <a:r>
              <a:rPr lang="en-US" sz="3200" kern="0" dirty="0">
                <a:solidFill>
                  <a:schemeClr val="accent6"/>
                </a:solidFill>
              </a:rPr>
              <a:t>00 0000 0000 0000 0000 0000</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5" grpId="0" animBg="1"/>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 3 </a:t>
            </a:r>
          </a:p>
        </p:txBody>
      </p:sp>
      <p:sp>
        <p:nvSpPr>
          <p:cNvPr id="3" name="Content Placeholder 2"/>
          <p:cNvSpPr>
            <a:spLocks noGrp="1"/>
          </p:cNvSpPr>
          <p:nvPr>
            <p:ph idx="1"/>
          </p:nvPr>
        </p:nvSpPr>
        <p:spPr>
          <a:xfrm>
            <a:off x="1409350" y="1125538"/>
            <a:ext cx="10173049" cy="1231519"/>
          </a:xfrm>
        </p:spPr>
        <p:txBody>
          <a:bodyPr/>
          <a:lstStyle/>
          <a:p>
            <a:r>
              <a:rPr lang="en-US" dirty="0"/>
              <a:t>How to represent 1/3 in IEEE single precision binary floating-point format?</a:t>
            </a:r>
          </a:p>
        </p:txBody>
      </p:sp>
      <p:sp>
        <p:nvSpPr>
          <p:cNvPr id="6" name="灯片编号占位符 5"/>
          <p:cNvSpPr>
            <a:spLocks noGrp="1"/>
          </p:cNvSpPr>
          <p:nvPr>
            <p:ph type="sldNum" sz="quarter" idx="10"/>
          </p:nvPr>
        </p:nvSpPr>
        <p:spPr/>
        <p:txBody>
          <a:bodyPr/>
          <a:lstStyle/>
          <a:p>
            <a:fld id="{D9B6BDF2-6896-4B98-8776-C18582F63BA5}" type="slidenum">
              <a:rPr lang="zh-TW" altLang="en-US" smtClean="0"/>
              <a:t>20</a:t>
            </a:fld>
            <a:endParaRPr lang="zh-TW"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 3 </a:t>
            </a:r>
          </a:p>
        </p:txBody>
      </p:sp>
      <p:sp>
        <p:nvSpPr>
          <p:cNvPr id="3" name="Content Placeholder 2"/>
          <p:cNvSpPr>
            <a:spLocks noGrp="1"/>
          </p:cNvSpPr>
          <p:nvPr>
            <p:ph idx="1"/>
          </p:nvPr>
        </p:nvSpPr>
        <p:spPr>
          <a:xfrm>
            <a:off x="671209" y="1008806"/>
            <a:ext cx="10896379" cy="1034003"/>
          </a:xfrm>
        </p:spPr>
        <p:txBody>
          <a:bodyPr/>
          <a:lstStyle/>
          <a:p>
            <a:r>
              <a:rPr lang="en-US" sz="3200" dirty="0"/>
              <a:t>How to represent 1/3 in IEEE single precision binary floating-point format?</a:t>
            </a:r>
          </a:p>
        </p:txBody>
      </p:sp>
      <p:sp>
        <p:nvSpPr>
          <p:cNvPr id="6" name="灯片编号占位符 5"/>
          <p:cNvSpPr>
            <a:spLocks noGrp="1"/>
          </p:cNvSpPr>
          <p:nvPr>
            <p:ph type="sldNum" sz="quarter" idx="10"/>
          </p:nvPr>
        </p:nvSpPr>
        <p:spPr/>
        <p:txBody>
          <a:bodyPr/>
          <a:lstStyle/>
          <a:p>
            <a:fld id="{D9B6BDF2-6896-4B98-8776-C18582F63BA5}" type="slidenum">
              <a:rPr lang="zh-TW" altLang="en-US" smtClean="0"/>
              <a:t>21</a:t>
            </a:fld>
            <a:endParaRPr lang="zh-TW" altLang="en-US"/>
          </a:p>
        </p:txBody>
      </p:sp>
      <p:sp>
        <p:nvSpPr>
          <p:cNvPr id="4" name="文本框 3"/>
          <p:cNvSpPr txBox="1"/>
          <p:nvPr/>
        </p:nvSpPr>
        <p:spPr>
          <a:xfrm>
            <a:off x="3686782" y="1525807"/>
            <a:ext cx="7227651" cy="4524315"/>
          </a:xfrm>
          <a:prstGeom prst="rect">
            <a:avLst/>
          </a:prstGeom>
          <a:noFill/>
        </p:spPr>
        <p:txBody>
          <a:bodyPr wrap="square" rtlCol="0" anchor="ctr" anchorCtr="1">
            <a:spAutoFit/>
          </a:bodyPr>
          <a:lstStyle/>
          <a:p>
            <a:r>
              <a:rPr lang="en-US" altLang="zh-CN" sz="2400" dirty="0">
                <a:solidFill>
                  <a:srgbClr val="C00000"/>
                </a:solidFill>
                <a:ea typeface="標楷體" panose="02010601000101010101" pitchFamily="65" charset="-120"/>
                <a:cs typeface="Calibri" panose="020F0502020204030204" pitchFamily="34" charset="0"/>
              </a:rPr>
              <a:t>Multiply by 2, then fetch the integral part</a:t>
            </a:r>
          </a:p>
          <a:p>
            <a:r>
              <a:rPr lang="en-US" altLang="zh-CN" sz="2400" dirty="0">
                <a:solidFill>
                  <a:srgbClr val="C00000"/>
                </a:solidFill>
                <a:ea typeface="標楷體" panose="02010601000101010101" pitchFamily="65" charset="-120"/>
                <a:cs typeface="Calibri" panose="020F0502020204030204" pitchFamily="34" charset="0"/>
              </a:rPr>
              <a:t>0.3333 x 2 = 0.6666		0</a:t>
            </a:r>
          </a:p>
          <a:p>
            <a:r>
              <a:rPr lang="en-US" altLang="zh-CN" sz="2400" dirty="0">
                <a:solidFill>
                  <a:srgbClr val="C00000"/>
                </a:solidFill>
                <a:ea typeface="標楷體" panose="02010601000101010101" pitchFamily="65" charset="-120"/>
                <a:cs typeface="Calibri" panose="020F0502020204030204" pitchFamily="34" charset="0"/>
              </a:rPr>
              <a:t>0.6666 x 2 = 1.3332		1</a:t>
            </a:r>
          </a:p>
          <a:p>
            <a:r>
              <a:rPr lang="en-US" altLang="zh-CN" sz="2400" dirty="0">
                <a:solidFill>
                  <a:srgbClr val="C00000"/>
                </a:solidFill>
                <a:ea typeface="標楷體" panose="02010601000101010101" pitchFamily="65" charset="-120"/>
                <a:cs typeface="Calibri" panose="020F0502020204030204" pitchFamily="34" charset="0"/>
              </a:rPr>
              <a:t>0.3332 x 2 = 0.6664		0</a:t>
            </a:r>
          </a:p>
          <a:p>
            <a:r>
              <a:rPr lang="en-US" altLang="zh-CN" sz="2400" dirty="0">
                <a:solidFill>
                  <a:srgbClr val="C00000"/>
                </a:solidFill>
                <a:ea typeface="標楷體" panose="02010601000101010101" pitchFamily="65" charset="-120"/>
                <a:cs typeface="Calibri" panose="020F0502020204030204" pitchFamily="34" charset="0"/>
              </a:rPr>
              <a:t>0.6664 x 2 = 1.3328		1</a:t>
            </a:r>
          </a:p>
          <a:p>
            <a:r>
              <a:rPr lang="en-US" altLang="zh-CN" sz="2400" dirty="0">
                <a:solidFill>
                  <a:srgbClr val="C00000"/>
                </a:solidFill>
                <a:ea typeface="標楷體" panose="02010601000101010101" pitchFamily="65" charset="-120"/>
                <a:cs typeface="Calibri" panose="020F0502020204030204" pitchFamily="34" charset="0"/>
              </a:rPr>
              <a:t>0.3328 x 2 = 0.6656		0</a:t>
            </a:r>
          </a:p>
          <a:p>
            <a:r>
              <a:rPr lang="en-US" altLang="zh-CN" sz="2400" dirty="0">
                <a:solidFill>
                  <a:srgbClr val="C00000"/>
                </a:solidFill>
                <a:ea typeface="標楷體" panose="02010601000101010101" pitchFamily="65" charset="-120"/>
                <a:cs typeface="Calibri" panose="020F0502020204030204" pitchFamily="34" charset="0"/>
              </a:rPr>
              <a:t>0.6656 x 2 = 1.3312		1</a:t>
            </a:r>
          </a:p>
          <a:p>
            <a:r>
              <a:rPr lang="en-US" altLang="zh-CN" sz="2400" dirty="0">
                <a:solidFill>
                  <a:schemeClr val="accent1"/>
                </a:solidFill>
                <a:ea typeface="標楷體" panose="02010601000101010101" pitchFamily="65" charset="-120"/>
                <a:cs typeface="Calibri" panose="020F0502020204030204" pitchFamily="34" charset="0"/>
              </a:rPr>
              <a:t>0.010101</a:t>
            </a:r>
            <a:r>
              <a:rPr lang="en-US" altLang="zh-CN" sz="2400" dirty="0">
                <a:solidFill>
                  <a:srgbClr val="C00000"/>
                </a:solidFill>
                <a:ea typeface="標楷體" panose="02010601000101010101" pitchFamily="65" charset="-120"/>
                <a:cs typeface="Calibri" panose="020F0502020204030204" pitchFamily="34" charset="0"/>
              </a:rPr>
              <a:t>…. Normalize to 1.0101… x </a:t>
            </a:r>
            <a:r>
              <a:rPr kumimoji="0" lang="en-US" altLang="zh-CN" sz="2400" b="0" i="0" u="none" strike="noStrike" kern="1200" cap="none" spc="0" normalizeH="0" baseline="0" noProof="0" dirty="0">
                <a:ln>
                  <a:noFill/>
                </a:ln>
                <a:solidFill>
                  <a:prstClr val="black"/>
                </a:solidFill>
                <a:effectLst/>
                <a:uLnTx/>
                <a:uFillTx/>
                <a:latin typeface="Arial"/>
                <a:ea typeface="新細明體"/>
                <a:cs typeface="+mn-cs"/>
                <a:sym typeface="+mn-ea"/>
              </a:rPr>
              <a:t> </a:t>
            </a:r>
            <a:r>
              <a:rPr kumimoji="0" lang="en-US" altLang="zh-CN" sz="2400" b="0" i="0" u="none" strike="noStrike" kern="1200" cap="none" spc="0" normalizeH="0" baseline="0" noProof="0" dirty="0">
                <a:ln>
                  <a:noFill/>
                </a:ln>
                <a:solidFill>
                  <a:srgbClr val="FF0000"/>
                </a:solidFill>
                <a:effectLst/>
                <a:uLnTx/>
                <a:uFillTx/>
                <a:latin typeface="Arial"/>
                <a:ea typeface="新細明體"/>
                <a:cs typeface="+mn-cs"/>
                <a:sym typeface="+mn-ea"/>
              </a:rPr>
              <a:t>2</a:t>
            </a:r>
            <a:r>
              <a:rPr kumimoji="0" lang="en-US" altLang="zh-CN" sz="2400" b="0" i="0" u="none" strike="noStrike" kern="1200" cap="none" spc="0" normalizeH="0" baseline="30000" noProof="0" dirty="0">
                <a:ln>
                  <a:noFill/>
                </a:ln>
                <a:solidFill>
                  <a:srgbClr val="FF0000"/>
                </a:solidFill>
                <a:effectLst/>
                <a:uLnTx/>
                <a:uFillTx/>
                <a:latin typeface="Arial"/>
                <a:ea typeface="新細明體"/>
                <a:cs typeface="+mn-cs"/>
                <a:sym typeface="+mn-ea"/>
              </a:rPr>
              <a:t>−2</a:t>
            </a:r>
            <a:endParaRPr lang="en-US" altLang="zh-CN" sz="2400" dirty="0">
              <a:solidFill>
                <a:srgbClr val="FF0000"/>
              </a:solidFill>
              <a:ea typeface="標楷體" panose="02010601000101010101" pitchFamily="65" charset="-120"/>
              <a:cs typeface="Calibri" panose="020F0502020204030204" pitchFamily="34" charset="0"/>
            </a:endParaRPr>
          </a:p>
          <a:p>
            <a:endParaRPr lang="en-US" altLang="zh-CN" sz="2400" dirty="0">
              <a:solidFill>
                <a:srgbClr val="C00000"/>
              </a:solidFill>
              <a:ea typeface="標楷體" panose="02010601000101010101" pitchFamily="65" charset="-120"/>
              <a:cs typeface="Calibri" panose="020F0502020204030204" pitchFamily="34" charset="0"/>
            </a:endParaRPr>
          </a:p>
          <a:p>
            <a:endParaRPr lang="en-US" altLang="zh-CN" sz="2400" dirty="0">
              <a:solidFill>
                <a:srgbClr val="C00000"/>
              </a:solidFill>
              <a:ea typeface="標楷體" panose="02010601000101010101" pitchFamily="65" charset="-120"/>
              <a:cs typeface="Calibri" panose="020F0502020204030204" pitchFamily="34" charset="0"/>
            </a:endParaRPr>
          </a:p>
          <a:p>
            <a:r>
              <a:rPr lang="en-US" altLang="zh-CN" sz="2400" dirty="0">
                <a:solidFill>
                  <a:srgbClr val="C00000"/>
                </a:solidFill>
                <a:ea typeface="標楷體" panose="02010601000101010101" pitchFamily="65" charset="-120"/>
                <a:cs typeface="Calibri" panose="020F0502020204030204" pitchFamily="34" charset="0"/>
              </a:rPr>
              <a:t>Final bit pattern is </a:t>
            </a:r>
          </a:p>
          <a:p>
            <a:r>
              <a:rPr lang="en-US" sz="2400" b="1" i="0" dirty="0">
                <a:solidFill>
                  <a:srgbClr val="0D0D0D"/>
                </a:solidFill>
                <a:effectLst/>
                <a:latin typeface="Söhne Mono"/>
              </a:rPr>
              <a:t>0 01111101 01010101010101010101010</a:t>
            </a:r>
            <a:endParaRPr lang="en-US" altLang="zh-CN" sz="2400" dirty="0">
              <a:solidFill>
                <a:srgbClr val="C00000"/>
              </a:solidFill>
              <a:ea typeface="標楷體" panose="02010601000101010101" pitchFamily="65" charset="-120"/>
              <a:cs typeface="Calibri" panose="020F0502020204030204" pitchFamily="34" charset="0"/>
            </a:endParaRPr>
          </a:p>
        </p:txBody>
      </p:sp>
      <p:sp>
        <p:nvSpPr>
          <p:cNvPr id="7" name="TextBox 22">
            <a:extLst>
              <a:ext uri="{FF2B5EF4-FFF2-40B4-BE49-F238E27FC236}">
                <a16:creationId xmlns:a16="http://schemas.microsoft.com/office/drawing/2014/main" id="{5B1ED934-18B5-4012-8F13-2AE4F95DC97D}"/>
              </a:ext>
            </a:extLst>
          </p:cNvPr>
          <p:cNvSpPr txBox="1"/>
          <p:nvPr/>
        </p:nvSpPr>
        <p:spPr>
          <a:xfrm>
            <a:off x="3996887" y="4652693"/>
            <a:ext cx="5312484" cy="461665"/>
          </a:xfrm>
          <a:prstGeom prst="rect">
            <a:avLst/>
          </a:prstGeom>
          <a:noFill/>
          <a:ln w="19050">
            <a:solidFill>
              <a:srgbClr val="FF0000"/>
            </a:solidFill>
          </a:ln>
        </p:spPr>
        <p:txBody>
          <a:bodyPr wrap="square" rtlCol="0">
            <a:spAutoFit/>
          </a:bodyPr>
          <a:lstStyle/>
          <a:p>
            <a:r>
              <a:rPr lang="en-US" sz="2400" dirty="0"/>
              <a:t>x = (−1)</a:t>
            </a:r>
            <a:r>
              <a:rPr lang="en-US" sz="2400" baseline="30000" dirty="0">
                <a:solidFill>
                  <a:srgbClr val="FF0000"/>
                </a:solidFill>
              </a:rPr>
              <a:t>s</a:t>
            </a:r>
            <a:r>
              <a:rPr lang="en-US" sz="2400" dirty="0"/>
              <a:t> × (1+</a:t>
            </a:r>
            <a:r>
              <a:rPr lang="en-US" sz="2400" dirty="0">
                <a:solidFill>
                  <a:schemeClr val="accent6"/>
                </a:solidFill>
              </a:rPr>
              <a:t>fraction</a:t>
            </a:r>
            <a:r>
              <a:rPr lang="en-US" sz="2400" dirty="0"/>
              <a:t>) × 2</a:t>
            </a:r>
            <a:r>
              <a:rPr lang="en-US" sz="2400" baseline="30000" dirty="0"/>
              <a:t>(</a:t>
            </a:r>
            <a:r>
              <a:rPr lang="en-US" sz="2400" baseline="30000" dirty="0">
                <a:solidFill>
                  <a:srgbClr val="0000FF"/>
                </a:solidFill>
              </a:rPr>
              <a:t>125</a:t>
            </a:r>
            <a:r>
              <a:rPr lang="en-US" sz="2400" baseline="30000" dirty="0"/>
              <a:t>−127)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 4 </a:t>
            </a:r>
          </a:p>
        </p:txBody>
      </p:sp>
      <p:sp>
        <p:nvSpPr>
          <p:cNvPr id="3" name="Content Placeholder 2"/>
          <p:cNvSpPr>
            <a:spLocks noGrp="1"/>
          </p:cNvSpPr>
          <p:nvPr>
            <p:ph idx="1"/>
          </p:nvPr>
        </p:nvSpPr>
        <p:spPr>
          <a:xfrm>
            <a:off x="160020" y="911384"/>
            <a:ext cx="11792797" cy="5215096"/>
          </a:xfrm>
        </p:spPr>
        <p:txBody>
          <a:bodyPr/>
          <a:lstStyle/>
          <a:p>
            <a:r>
              <a:rPr lang="en-US" dirty="0"/>
              <a:t> </a:t>
            </a:r>
            <a:r>
              <a:rPr lang="en-US" sz="3200" dirty="0"/>
              <a:t>What are the SP FP values of the following binary numbers</a:t>
            </a:r>
          </a:p>
          <a:p>
            <a:pPr marL="0" indent="0">
              <a:buNone/>
            </a:pPr>
            <a:r>
              <a:rPr lang="en-US" sz="3200" dirty="0"/>
              <a:t>	0 00000000 00000000000000000000000</a:t>
            </a:r>
          </a:p>
          <a:p>
            <a:pPr marL="0" indent="0">
              <a:buNone/>
            </a:pPr>
            <a:r>
              <a:rPr lang="en-US" sz="3200" dirty="0"/>
              <a:t>	0 00000000 00000000000000000000001</a:t>
            </a:r>
          </a:p>
          <a:p>
            <a:pPr marL="0" indent="0">
              <a:buNone/>
            </a:pPr>
            <a:r>
              <a:rPr lang="en-US" sz="3200" dirty="0"/>
              <a:t>	0 00000000 10000000000000000000000 </a:t>
            </a:r>
          </a:p>
          <a:p>
            <a:pPr marL="0" indent="0">
              <a:buNone/>
            </a:pPr>
            <a:r>
              <a:rPr lang="en-US" sz="3200" dirty="0"/>
              <a:t>	</a:t>
            </a:r>
            <a:r>
              <a:rPr kumimoji="1" lang="en-US" sz="32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0 00000001 00000000000000000000000</a:t>
            </a:r>
          </a:p>
          <a:p>
            <a:pPr marL="0" indent="0">
              <a:buNone/>
            </a:pPr>
            <a:r>
              <a:rPr lang="en-US" sz="3200" dirty="0">
                <a:solidFill>
                  <a:prstClr val="black"/>
                </a:solidFill>
              </a:rPr>
              <a:t>	</a:t>
            </a:r>
            <a:r>
              <a:rPr kumimoji="1" lang="en-US" sz="32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0 10000000 00000000000000000000000</a:t>
            </a:r>
          </a:p>
          <a:p>
            <a:pPr marL="0" indent="0">
              <a:buNone/>
            </a:pPr>
            <a:r>
              <a:rPr lang="en-US" sz="3200" dirty="0">
                <a:solidFill>
                  <a:prstClr val="black"/>
                </a:solidFill>
              </a:rPr>
              <a:t>	</a:t>
            </a:r>
            <a:r>
              <a:rPr kumimoji="1" lang="en-US" sz="32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0 01111111 00000000000000000000000</a:t>
            </a:r>
          </a:p>
          <a:p>
            <a:pPr marL="0" indent="0">
              <a:buNone/>
            </a:pPr>
            <a:r>
              <a:rPr lang="en-US" sz="3200" dirty="0">
                <a:solidFill>
                  <a:prstClr val="black"/>
                </a:solidFill>
              </a:rPr>
              <a:t>	</a:t>
            </a:r>
            <a:r>
              <a:rPr kumimoji="1" lang="en-US" sz="32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0 11111111 10000000000000000000000 </a:t>
            </a:r>
          </a:p>
          <a:p>
            <a:pPr marL="0" indent="0">
              <a:buNone/>
            </a:pPr>
            <a:r>
              <a:rPr lang="en-US" sz="3200" dirty="0">
                <a:solidFill>
                  <a:prstClr val="black"/>
                </a:solidFill>
              </a:rPr>
              <a:t>	</a:t>
            </a:r>
            <a:r>
              <a:rPr kumimoji="1" lang="en-US" sz="32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1 11111111 00000000000000000000000</a:t>
            </a:r>
            <a:endParaRPr lang="en-US" sz="3200" dirty="0"/>
          </a:p>
        </p:txBody>
      </p:sp>
      <p:sp>
        <p:nvSpPr>
          <p:cNvPr id="6" name="灯片编号占位符 5"/>
          <p:cNvSpPr>
            <a:spLocks noGrp="1"/>
          </p:cNvSpPr>
          <p:nvPr>
            <p:ph type="sldNum" sz="quarter" idx="10"/>
          </p:nvPr>
        </p:nvSpPr>
        <p:spPr/>
        <p:txBody>
          <a:bodyPr/>
          <a:lstStyle/>
          <a:p>
            <a:fld id="{D9B6BDF2-6896-4B98-8776-C18582F63BA5}" type="slidenum">
              <a:rPr lang="zh-TW" altLang="en-US" smtClean="0"/>
              <a:t>22</a:t>
            </a:fld>
            <a:endParaRPr lang="zh-TW" altLang="en-US"/>
          </a:p>
        </p:txBody>
      </p:sp>
    </p:spTree>
    <p:extLst>
      <p:ext uri="{BB962C8B-B14F-4D97-AF65-F5344CB8AC3E}">
        <p14:creationId xmlns:p14="http://schemas.microsoft.com/office/powerpoint/2010/main" val="8564945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 4 </a:t>
            </a:r>
          </a:p>
        </p:txBody>
      </p:sp>
      <p:sp>
        <p:nvSpPr>
          <p:cNvPr id="3" name="Content Placeholder 2"/>
          <p:cNvSpPr>
            <a:spLocks noGrp="1"/>
          </p:cNvSpPr>
          <p:nvPr>
            <p:ph idx="1"/>
          </p:nvPr>
        </p:nvSpPr>
        <p:spPr>
          <a:xfrm>
            <a:off x="160020" y="836617"/>
            <a:ext cx="12031980" cy="5215096"/>
          </a:xfrm>
        </p:spPr>
        <p:txBody>
          <a:bodyPr/>
          <a:lstStyle/>
          <a:p>
            <a:r>
              <a:rPr lang="en-US" dirty="0"/>
              <a:t> </a:t>
            </a:r>
            <a:r>
              <a:rPr lang="en-US" sz="3200" dirty="0"/>
              <a:t>What are the SP FP values of the following binary numbers</a:t>
            </a:r>
          </a:p>
          <a:p>
            <a:pPr marL="0" indent="0">
              <a:buNone/>
            </a:pPr>
            <a:r>
              <a:rPr lang="en-US" sz="3200" dirty="0"/>
              <a:t>	0 00000000 00000000000000000000000		</a:t>
            </a:r>
          </a:p>
          <a:p>
            <a:pPr marL="0" indent="0">
              <a:buNone/>
            </a:pPr>
            <a:r>
              <a:rPr lang="en-US" sz="3200" dirty="0"/>
              <a:t>	0 00000000 00000000000000000000001		</a:t>
            </a:r>
          </a:p>
          <a:p>
            <a:pPr marL="0" indent="0">
              <a:buNone/>
            </a:pPr>
            <a:r>
              <a:rPr lang="en-US" sz="3200" dirty="0"/>
              <a:t>	0 00000000 10000000000000000000000 		</a:t>
            </a:r>
          </a:p>
          <a:p>
            <a:pPr marL="0" indent="0">
              <a:buNone/>
            </a:pPr>
            <a:r>
              <a:rPr lang="en-US" sz="3200" dirty="0"/>
              <a:t>	</a:t>
            </a:r>
            <a:r>
              <a:rPr kumimoji="1" lang="en-US" sz="32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0 00000001 00000000000000000000000		</a:t>
            </a:r>
            <a:endParaRPr kumimoji="1" lang="en-US" sz="24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endParaRPr>
          </a:p>
          <a:p>
            <a:pPr marL="0" indent="0">
              <a:buNone/>
            </a:pPr>
            <a:r>
              <a:rPr lang="en-US" sz="3200" dirty="0">
                <a:solidFill>
                  <a:prstClr val="black"/>
                </a:solidFill>
              </a:rPr>
              <a:t>	</a:t>
            </a:r>
            <a:r>
              <a:rPr kumimoji="1" lang="en-US" sz="32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0 10000000 00000000000000000000000		</a:t>
            </a:r>
            <a:endParaRPr kumimoji="1" lang="en-US" sz="24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endParaRPr>
          </a:p>
          <a:p>
            <a:pPr marL="0" indent="0">
              <a:buNone/>
            </a:pPr>
            <a:r>
              <a:rPr lang="en-US" sz="3200" dirty="0">
                <a:solidFill>
                  <a:prstClr val="black"/>
                </a:solidFill>
              </a:rPr>
              <a:t>	</a:t>
            </a:r>
            <a:r>
              <a:rPr kumimoji="1" lang="en-US" sz="32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0 01111111 00000000000000000000000		</a:t>
            </a:r>
          </a:p>
          <a:p>
            <a:pPr marL="0" indent="0">
              <a:buNone/>
            </a:pPr>
            <a:r>
              <a:rPr lang="en-US" sz="3200" dirty="0">
                <a:solidFill>
                  <a:prstClr val="black"/>
                </a:solidFill>
              </a:rPr>
              <a:t>	</a:t>
            </a:r>
            <a:r>
              <a:rPr kumimoji="1" lang="en-US" sz="32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0 11111111 10000000000000000000000 		</a:t>
            </a:r>
            <a:endParaRPr lang="en-US" sz="3200" dirty="0">
              <a:solidFill>
                <a:prstClr val="black"/>
              </a:solidFill>
            </a:endParaRPr>
          </a:p>
          <a:p>
            <a:pPr marL="0" indent="0">
              <a:buNone/>
            </a:pPr>
            <a:r>
              <a:rPr lang="en-US" sz="3200" dirty="0">
                <a:solidFill>
                  <a:prstClr val="black"/>
                </a:solidFill>
              </a:rPr>
              <a:t>	1 11111111</a:t>
            </a:r>
            <a:r>
              <a:rPr kumimoji="1" lang="en-US" sz="32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 </a:t>
            </a:r>
            <a:r>
              <a:rPr lang="en-US" sz="3200" dirty="0">
                <a:solidFill>
                  <a:prstClr val="black"/>
                </a:solidFill>
              </a:rPr>
              <a:t>0</a:t>
            </a:r>
            <a:r>
              <a:rPr kumimoji="1" lang="en-US" sz="32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0000000000000000000000 	</a:t>
            </a:r>
            <a:endParaRPr lang="en-US" sz="3200" dirty="0"/>
          </a:p>
        </p:txBody>
      </p:sp>
      <p:sp>
        <p:nvSpPr>
          <p:cNvPr id="6" name="灯片编号占位符 5"/>
          <p:cNvSpPr>
            <a:spLocks noGrp="1"/>
          </p:cNvSpPr>
          <p:nvPr>
            <p:ph type="sldNum" sz="quarter" idx="10"/>
          </p:nvPr>
        </p:nvSpPr>
        <p:spPr/>
        <p:txBody>
          <a:bodyPr/>
          <a:lstStyle/>
          <a:p>
            <a:fld id="{D9B6BDF2-6896-4B98-8776-C18582F63BA5}" type="slidenum">
              <a:rPr lang="zh-TW" altLang="en-US" smtClean="0"/>
              <a:t>23</a:t>
            </a:fld>
            <a:endParaRPr lang="zh-TW" altLang="en-US"/>
          </a:p>
        </p:txBody>
      </p:sp>
      <p:sp>
        <p:nvSpPr>
          <p:cNvPr id="4" name="TextBox 3">
            <a:extLst>
              <a:ext uri="{FF2B5EF4-FFF2-40B4-BE49-F238E27FC236}">
                <a16:creationId xmlns:a16="http://schemas.microsoft.com/office/drawing/2014/main" id="{A09D8918-FEF8-426B-A0A8-30D26AE36D5A}"/>
              </a:ext>
            </a:extLst>
          </p:cNvPr>
          <p:cNvSpPr txBox="1"/>
          <p:nvPr/>
        </p:nvSpPr>
        <p:spPr>
          <a:xfrm>
            <a:off x="8040849" y="1412036"/>
            <a:ext cx="684803" cy="523220"/>
          </a:xfrm>
          <a:prstGeom prst="rect">
            <a:avLst/>
          </a:prstGeom>
          <a:solidFill>
            <a:srgbClr val="FFFF00"/>
          </a:solidFill>
          <a:ln>
            <a:solidFill>
              <a:srgbClr val="FF0000"/>
            </a:solidFill>
          </a:ln>
        </p:spPr>
        <p:txBody>
          <a:bodyPr wrap="none" rtlCol="0" anchor="ctr" anchorCtr="1">
            <a:spAutoFit/>
          </a:bodyPr>
          <a:lstStyle/>
          <a:p>
            <a:r>
              <a:rPr lang="en-US" sz="2800" dirty="0">
                <a:ea typeface="標楷體" pitchFamily="65" charset="-120"/>
                <a:cs typeface="Calibri" pitchFamily="34" charset="0"/>
              </a:rPr>
              <a:t>0.0</a:t>
            </a:r>
          </a:p>
        </p:txBody>
      </p:sp>
      <p:sp>
        <p:nvSpPr>
          <p:cNvPr id="7" name="TextBox 6">
            <a:extLst>
              <a:ext uri="{FF2B5EF4-FFF2-40B4-BE49-F238E27FC236}">
                <a16:creationId xmlns:a16="http://schemas.microsoft.com/office/drawing/2014/main" id="{F15B3A9F-30C6-4B6F-8D8F-694FD8EA12B4}"/>
              </a:ext>
            </a:extLst>
          </p:cNvPr>
          <p:cNvSpPr txBox="1"/>
          <p:nvPr/>
        </p:nvSpPr>
        <p:spPr>
          <a:xfrm>
            <a:off x="7970098" y="1941087"/>
            <a:ext cx="864339" cy="523220"/>
          </a:xfrm>
          <a:prstGeom prst="rect">
            <a:avLst/>
          </a:prstGeom>
          <a:solidFill>
            <a:srgbClr val="FFFF00"/>
          </a:solidFill>
          <a:ln>
            <a:solidFill>
              <a:srgbClr val="FF0000"/>
            </a:solidFill>
          </a:ln>
        </p:spPr>
        <p:txBody>
          <a:bodyPr wrap="none" rtlCol="0" anchor="ctr" anchorCtr="1">
            <a:spAutoFit/>
          </a:bodyPr>
          <a:lstStyle/>
          <a:p>
            <a:r>
              <a:rPr lang="en-US" sz="2800">
                <a:solidFill>
                  <a:prstClr val="black"/>
                </a:solidFill>
              </a:rPr>
              <a:t>2</a:t>
            </a:r>
            <a:r>
              <a:rPr lang="en-US" sz="2800" baseline="30000">
                <a:solidFill>
                  <a:prstClr val="black"/>
                </a:solidFill>
              </a:rPr>
              <a:t>-149</a:t>
            </a:r>
            <a:endParaRPr lang="en-US" sz="2800" dirty="0">
              <a:ea typeface="標楷體" pitchFamily="65" charset="-120"/>
              <a:cs typeface="Calibri" pitchFamily="34" charset="0"/>
            </a:endParaRPr>
          </a:p>
        </p:txBody>
      </p:sp>
      <p:sp>
        <p:nvSpPr>
          <p:cNvPr id="8" name="TextBox 7">
            <a:extLst>
              <a:ext uri="{FF2B5EF4-FFF2-40B4-BE49-F238E27FC236}">
                <a16:creationId xmlns:a16="http://schemas.microsoft.com/office/drawing/2014/main" id="{269BB48A-769A-4C92-A217-8B749A3FDEF3}"/>
              </a:ext>
            </a:extLst>
          </p:cNvPr>
          <p:cNvSpPr txBox="1"/>
          <p:nvPr/>
        </p:nvSpPr>
        <p:spPr>
          <a:xfrm>
            <a:off x="7976729" y="2497917"/>
            <a:ext cx="864339" cy="523220"/>
          </a:xfrm>
          <a:prstGeom prst="rect">
            <a:avLst/>
          </a:prstGeom>
          <a:solidFill>
            <a:srgbClr val="FFFF00"/>
          </a:solidFill>
          <a:ln>
            <a:solidFill>
              <a:srgbClr val="FF0000"/>
            </a:solidFill>
          </a:ln>
        </p:spPr>
        <p:txBody>
          <a:bodyPr wrap="none" rtlCol="0" anchor="ctr" anchorCtr="1">
            <a:spAutoFit/>
          </a:bodyPr>
          <a:lstStyle/>
          <a:p>
            <a:r>
              <a:rPr lang="en-US" sz="2800" dirty="0">
                <a:solidFill>
                  <a:prstClr val="black"/>
                </a:solidFill>
              </a:rPr>
              <a:t>2</a:t>
            </a:r>
            <a:r>
              <a:rPr lang="en-US" sz="2800" baseline="30000" dirty="0">
                <a:solidFill>
                  <a:prstClr val="black"/>
                </a:solidFill>
              </a:rPr>
              <a:t>-127</a:t>
            </a:r>
            <a:endParaRPr lang="en-US" sz="2800" dirty="0">
              <a:ea typeface="標楷體" pitchFamily="65" charset="-120"/>
              <a:cs typeface="Calibri" pitchFamily="34" charset="0"/>
            </a:endParaRPr>
          </a:p>
        </p:txBody>
      </p:sp>
      <p:sp>
        <p:nvSpPr>
          <p:cNvPr id="9" name="TextBox 8">
            <a:extLst>
              <a:ext uri="{FF2B5EF4-FFF2-40B4-BE49-F238E27FC236}">
                <a16:creationId xmlns:a16="http://schemas.microsoft.com/office/drawing/2014/main" id="{157E3D69-9EC7-4FC3-9F35-8DEC47160568}"/>
              </a:ext>
            </a:extLst>
          </p:cNvPr>
          <p:cNvSpPr txBox="1"/>
          <p:nvPr/>
        </p:nvSpPr>
        <p:spPr>
          <a:xfrm>
            <a:off x="7970098" y="3065823"/>
            <a:ext cx="864339" cy="523220"/>
          </a:xfrm>
          <a:prstGeom prst="rect">
            <a:avLst/>
          </a:prstGeom>
          <a:solidFill>
            <a:srgbClr val="FFFF00"/>
          </a:solidFill>
          <a:ln>
            <a:solidFill>
              <a:srgbClr val="FF0000"/>
            </a:solidFill>
          </a:ln>
        </p:spPr>
        <p:txBody>
          <a:bodyPr wrap="none" rtlCol="0" anchor="ctr" anchorCtr="1">
            <a:spAutoFit/>
          </a:bodyPr>
          <a:lstStyle/>
          <a:p>
            <a:r>
              <a:rPr lang="en-US" sz="2800" dirty="0">
                <a:solidFill>
                  <a:prstClr val="black"/>
                </a:solidFill>
              </a:rPr>
              <a:t>2</a:t>
            </a:r>
            <a:r>
              <a:rPr lang="en-US" sz="2800" baseline="30000" dirty="0">
                <a:solidFill>
                  <a:prstClr val="black"/>
                </a:solidFill>
              </a:rPr>
              <a:t>-126</a:t>
            </a:r>
            <a:endParaRPr lang="en-US" sz="2800" dirty="0">
              <a:ea typeface="標楷體" pitchFamily="65" charset="-120"/>
              <a:cs typeface="Calibri" pitchFamily="34" charset="0"/>
            </a:endParaRPr>
          </a:p>
        </p:txBody>
      </p:sp>
      <p:sp>
        <p:nvSpPr>
          <p:cNvPr id="10" name="TextBox 9">
            <a:extLst>
              <a:ext uri="{FF2B5EF4-FFF2-40B4-BE49-F238E27FC236}">
                <a16:creationId xmlns:a16="http://schemas.microsoft.com/office/drawing/2014/main" id="{7560625D-3766-41E9-9E23-E7C3F8E4D962}"/>
              </a:ext>
            </a:extLst>
          </p:cNvPr>
          <p:cNvSpPr txBox="1"/>
          <p:nvPr/>
        </p:nvSpPr>
        <p:spPr>
          <a:xfrm>
            <a:off x="8013325" y="3674839"/>
            <a:ext cx="684803" cy="523220"/>
          </a:xfrm>
          <a:prstGeom prst="rect">
            <a:avLst/>
          </a:prstGeom>
          <a:solidFill>
            <a:srgbClr val="FFFF00"/>
          </a:solidFill>
          <a:ln>
            <a:solidFill>
              <a:srgbClr val="FF0000"/>
            </a:solidFill>
          </a:ln>
        </p:spPr>
        <p:txBody>
          <a:bodyPr wrap="none" rtlCol="0" anchor="ctr" anchorCtr="1">
            <a:spAutoFit/>
          </a:bodyPr>
          <a:lstStyle/>
          <a:p>
            <a:r>
              <a:rPr lang="en-US" sz="2800" dirty="0">
                <a:ea typeface="標楷體" pitchFamily="65" charset="-120"/>
                <a:cs typeface="Calibri" pitchFamily="34" charset="0"/>
              </a:rPr>
              <a:t>2.0</a:t>
            </a:r>
          </a:p>
        </p:txBody>
      </p:sp>
      <p:sp>
        <p:nvSpPr>
          <p:cNvPr id="11" name="TextBox 10">
            <a:extLst>
              <a:ext uri="{FF2B5EF4-FFF2-40B4-BE49-F238E27FC236}">
                <a16:creationId xmlns:a16="http://schemas.microsoft.com/office/drawing/2014/main" id="{64B3F919-D40F-4D97-80CD-AA0225C49FCA}"/>
              </a:ext>
            </a:extLst>
          </p:cNvPr>
          <p:cNvSpPr txBox="1"/>
          <p:nvPr/>
        </p:nvSpPr>
        <p:spPr>
          <a:xfrm>
            <a:off x="8020736" y="4347292"/>
            <a:ext cx="684803" cy="523220"/>
          </a:xfrm>
          <a:prstGeom prst="rect">
            <a:avLst/>
          </a:prstGeom>
          <a:solidFill>
            <a:srgbClr val="FFFF00"/>
          </a:solidFill>
          <a:ln>
            <a:solidFill>
              <a:srgbClr val="FF0000"/>
            </a:solidFill>
          </a:ln>
        </p:spPr>
        <p:txBody>
          <a:bodyPr wrap="none" rtlCol="0" anchor="ctr" anchorCtr="1">
            <a:spAutoFit/>
          </a:bodyPr>
          <a:lstStyle/>
          <a:p>
            <a:r>
              <a:rPr lang="en-US" sz="2800" dirty="0">
                <a:ea typeface="標楷體" pitchFamily="65" charset="-120"/>
                <a:cs typeface="Calibri" pitchFamily="34" charset="0"/>
              </a:rPr>
              <a:t>1.0</a:t>
            </a:r>
          </a:p>
        </p:txBody>
      </p:sp>
      <p:sp>
        <p:nvSpPr>
          <p:cNvPr id="12" name="TextBox 11">
            <a:extLst>
              <a:ext uri="{FF2B5EF4-FFF2-40B4-BE49-F238E27FC236}">
                <a16:creationId xmlns:a16="http://schemas.microsoft.com/office/drawing/2014/main" id="{950B83DF-BF5A-43E3-8C85-89E6BE771506}"/>
              </a:ext>
            </a:extLst>
          </p:cNvPr>
          <p:cNvSpPr txBox="1"/>
          <p:nvPr/>
        </p:nvSpPr>
        <p:spPr>
          <a:xfrm>
            <a:off x="8040849" y="4959819"/>
            <a:ext cx="904415" cy="523220"/>
          </a:xfrm>
          <a:prstGeom prst="rect">
            <a:avLst/>
          </a:prstGeom>
          <a:solidFill>
            <a:srgbClr val="FFFF00"/>
          </a:solidFill>
          <a:ln>
            <a:solidFill>
              <a:srgbClr val="FF0000"/>
            </a:solidFill>
          </a:ln>
        </p:spPr>
        <p:txBody>
          <a:bodyPr wrap="none" rtlCol="0" anchor="ctr" anchorCtr="1">
            <a:spAutoFit/>
          </a:bodyPr>
          <a:lstStyle/>
          <a:p>
            <a:r>
              <a:rPr lang="en-US" sz="2800" dirty="0" err="1">
                <a:ea typeface="標楷體" pitchFamily="65" charset="-120"/>
                <a:cs typeface="Calibri" pitchFamily="34" charset="0"/>
              </a:rPr>
              <a:t>NaN</a:t>
            </a:r>
            <a:endParaRPr lang="en-US" sz="2800" dirty="0">
              <a:ea typeface="標楷體" pitchFamily="65" charset="-120"/>
              <a:cs typeface="Calibri" pitchFamily="34" charset="0"/>
            </a:endParaRPr>
          </a:p>
        </p:txBody>
      </p:sp>
      <p:sp>
        <p:nvSpPr>
          <p:cNvPr id="13" name="TextBox 12">
            <a:extLst>
              <a:ext uri="{FF2B5EF4-FFF2-40B4-BE49-F238E27FC236}">
                <a16:creationId xmlns:a16="http://schemas.microsoft.com/office/drawing/2014/main" id="{71DBA0E3-3444-433E-B667-DC530CB9DAF2}"/>
              </a:ext>
            </a:extLst>
          </p:cNvPr>
          <p:cNvSpPr txBox="1"/>
          <p:nvPr/>
        </p:nvSpPr>
        <p:spPr>
          <a:xfrm>
            <a:off x="8040849" y="5550260"/>
            <a:ext cx="923986" cy="646331"/>
          </a:xfrm>
          <a:prstGeom prst="rect">
            <a:avLst/>
          </a:prstGeom>
          <a:solidFill>
            <a:srgbClr val="FFFF00"/>
          </a:solidFill>
          <a:ln>
            <a:solidFill>
              <a:srgbClr val="FF0000"/>
            </a:solidFill>
          </a:ln>
        </p:spPr>
        <p:txBody>
          <a:bodyPr wrap="square" rtlCol="0" anchor="ctr" anchorCtr="1">
            <a:spAutoFit/>
          </a:bodyPr>
          <a:lstStyle/>
          <a:p>
            <a:r>
              <a:rPr lang="en-US" sz="1900" dirty="0">
                <a:solidFill>
                  <a:prstClr val="black"/>
                </a:solidFill>
              </a:rPr>
              <a:t> </a:t>
            </a:r>
            <a:r>
              <a:rPr lang="en-US" sz="2800" dirty="0">
                <a:solidFill>
                  <a:prstClr val="black"/>
                </a:solidFill>
              </a:rPr>
              <a:t>-</a:t>
            </a:r>
            <a:r>
              <a:rPr lang="en-US" sz="3600" dirty="0">
                <a:solidFill>
                  <a:prstClr val="black"/>
                </a:solidFill>
              </a:rPr>
              <a:t>∞</a:t>
            </a:r>
            <a:endParaRPr lang="en-US" sz="2800" dirty="0">
              <a:ea typeface="標楷體" pitchFamily="65" charset="-120"/>
              <a:cs typeface="Calibri" pitchFamily="34" charset="0"/>
            </a:endParaRPr>
          </a:p>
        </p:txBody>
      </p:sp>
      <p:sp>
        <p:nvSpPr>
          <p:cNvPr id="5" name="TextBox 4">
            <a:extLst>
              <a:ext uri="{FF2B5EF4-FFF2-40B4-BE49-F238E27FC236}">
                <a16:creationId xmlns:a16="http://schemas.microsoft.com/office/drawing/2014/main" id="{9610CDD7-23D5-41DB-BBF8-BAC162B85D7C}"/>
              </a:ext>
            </a:extLst>
          </p:cNvPr>
          <p:cNvSpPr txBox="1"/>
          <p:nvPr/>
        </p:nvSpPr>
        <p:spPr>
          <a:xfrm>
            <a:off x="8964835" y="1935256"/>
            <a:ext cx="3227165" cy="1200329"/>
          </a:xfrm>
          <a:prstGeom prst="rect">
            <a:avLst/>
          </a:prstGeom>
          <a:solidFill>
            <a:schemeClr val="accent5">
              <a:lumMod val="20000"/>
              <a:lumOff val="80000"/>
            </a:schemeClr>
          </a:solidFill>
          <a:ln>
            <a:solidFill>
              <a:srgbClr val="FF0000"/>
            </a:solidFill>
          </a:ln>
        </p:spPr>
        <p:txBody>
          <a:bodyPr wrap="none" rtlCol="0" anchor="ctr" anchorCtr="1">
            <a:spAutoFit/>
          </a:bodyPr>
          <a:lstStyle/>
          <a:p>
            <a:r>
              <a:rPr lang="en-US" sz="2400" b="1" dirty="0">
                <a:solidFill>
                  <a:srgbClr val="FF0000"/>
                </a:solidFill>
                <a:ea typeface="標楷體" pitchFamily="65" charset="-120"/>
                <a:cs typeface="Calibri" pitchFamily="34" charset="0"/>
              </a:rPr>
              <a:t>For denormalized</a:t>
            </a:r>
          </a:p>
          <a:p>
            <a:r>
              <a:rPr lang="en-US" sz="2400" b="1" dirty="0">
                <a:solidFill>
                  <a:srgbClr val="FF0000"/>
                </a:solidFill>
                <a:ea typeface="標楷體" pitchFamily="65" charset="-120"/>
                <a:cs typeface="Calibri" pitchFamily="34" charset="0"/>
              </a:rPr>
              <a:t>values, the exponent</a:t>
            </a:r>
          </a:p>
          <a:p>
            <a:r>
              <a:rPr lang="en-US" sz="2400" b="1" dirty="0">
                <a:solidFill>
                  <a:srgbClr val="FF0000"/>
                </a:solidFill>
                <a:ea typeface="標楷體" pitchFamily="65" charset="-120"/>
                <a:cs typeface="Calibri" pitchFamily="34" charset="0"/>
              </a:rPr>
              <a:t>is always set to -126</a:t>
            </a:r>
          </a:p>
        </p:txBody>
      </p:sp>
      <p:cxnSp>
        <p:nvCxnSpPr>
          <p:cNvPr id="15" name="Straight Arrow Connector 14">
            <a:extLst>
              <a:ext uri="{FF2B5EF4-FFF2-40B4-BE49-F238E27FC236}">
                <a16:creationId xmlns:a16="http://schemas.microsoft.com/office/drawing/2014/main" id="{862F770D-AB27-4714-A89F-AF98D3FF8848}"/>
              </a:ext>
            </a:extLst>
          </p:cNvPr>
          <p:cNvCxnSpPr/>
          <p:nvPr/>
        </p:nvCxnSpPr>
        <p:spPr bwMode="auto">
          <a:xfrm flipH="1">
            <a:off x="7694579" y="2535420"/>
            <a:ext cx="1250685" cy="224107"/>
          </a:xfrm>
          <a:prstGeom prst="straightConnector1">
            <a:avLst/>
          </a:prstGeom>
          <a:noFill/>
          <a:ln w="15875" cap="flat" cmpd="sng" algn="ctr">
            <a:solidFill>
              <a:srgbClr val="FF0000"/>
            </a:solidFill>
            <a:prstDash val="solid"/>
            <a:round/>
            <a:headEnd type="none" w="med" len="med"/>
            <a:tailEnd type="triangle"/>
          </a:ln>
          <a:effectLst/>
        </p:spPr>
      </p:cxnSp>
      <p:sp>
        <p:nvSpPr>
          <p:cNvPr id="14" name="Left Brace 13">
            <a:extLst>
              <a:ext uri="{FF2B5EF4-FFF2-40B4-BE49-F238E27FC236}">
                <a16:creationId xmlns:a16="http://schemas.microsoft.com/office/drawing/2014/main" id="{25A8752C-BEBE-48E4-AC82-EAA861839C00}"/>
              </a:ext>
            </a:extLst>
          </p:cNvPr>
          <p:cNvSpPr/>
          <p:nvPr/>
        </p:nvSpPr>
        <p:spPr bwMode="auto">
          <a:xfrm>
            <a:off x="388620" y="2308860"/>
            <a:ext cx="661248" cy="731520"/>
          </a:xfrm>
          <a:prstGeom prst="leftBrace">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6" name="TextBox 15">
            <a:extLst>
              <a:ext uri="{FF2B5EF4-FFF2-40B4-BE49-F238E27FC236}">
                <a16:creationId xmlns:a16="http://schemas.microsoft.com/office/drawing/2014/main" id="{6697D19C-6B2F-4BD9-BE3D-C9C7A06D049B}"/>
              </a:ext>
            </a:extLst>
          </p:cNvPr>
          <p:cNvSpPr txBox="1"/>
          <p:nvPr/>
        </p:nvSpPr>
        <p:spPr>
          <a:xfrm>
            <a:off x="125589" y="2305288"/>
            <a:ext cx="889987" cy="369332"/>
          </a:xfrm>
          <a:prstGeom prst="rect">
            <a:avLst/>
          </a:prstGeom>
          <a:noFill/>
        </p:spPr>
        <p:txBody>
          <a:bodyPr wrap="none" rtlCol="0" anchor="ctr" anchorCtr="1">
            <a:spAutoFit/>
          </a:bodyPr>
          <a:lstStyle/>
          <a:p>
            <a:r>
              <a:rPr lang="en-US" dirty="0" err="1">
                <a:solidFill>
                  <a:srgbClr val="FF0000"/>
                </a:solidFill>
                <a:ea typeface="標楷體" pitchFamily="65" charset="-120"/>
                <a:cs typeface="Calibri" pitchFamily="34" charset="0"/>
              </a:rPr>
              <a:t>denom</a:t>
            </a:r>
            <a:endParaRPr lang="en-US" dirty="0">
              <a:solidFill>
                <a:srgbClr val="FF0000"/>
              </a:solidFill>
              <a:ea typeface="標楷體" pitchFamily="65" charset="-120"/>
              <a:cs typeface="Calibri" pitchFamily="34" charset="0"/>
            </a:endParaRPr>
          </a:p>
        </p:txBody>
      </p:sp>
    </p:spTree>
    <p:extLst>
      <p:ext uri="{BB962C8B-B14F-4D97-AF65-F5344CB8AC3E}">
        <p14:creationId xmlns:p14="http://schemas.microsoft.com/office/powerpoint/2010/main" val="2200826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8" grpId="0" animBg="1"/>
      <p:bldP spid="9" grpId="0" animBg="1"/>
      <p:bldP spid="10" grpId="0" animBg="1"/>
      <p:bldP spid="11" grpId="0" animBg="1"/>
      <p:bldP spid="12" grpId="0" animBg="1"/>
      <p:bldP spid="13" grpId="0" animBg="1"/>
      <p:bldP spid="5" grpId="0" animBg="1"/>
      <p:bldP spid="14" grpId="0" animBg="1"/>
      <p:bldP spid="1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2.4.4 FP Rounding</a:t>
            </a:r>
          </a:p>
        </p:txBody>
      </p:sp>
      <p:sp>
        <p:nvSpPr>
          <p:cNvPr id="3" name="Content Placeholder 2"/>
          <p:cNvSpPr>
            <a:spLocks noGrp="1"/>
          </p:cNvSpPr>
          <p:nvPr>
            <p:ph idx="1"/>
          </p:nvPr>
        </p:nvSpPr>
        <p:spPr>
          <a:xfrm>
            <a:off x="379564" y="1095299"/>
            <a:ext cx="11431436" cy="4972126"/>
          </a:xfrm>
        </p:spPr>
        <p:txBody>
          <a:bodyPr>
            <a:normAutofit lnSpcReduction="10000"/>
          </a:bodyPr>
          <a:lstStyle/>
          <a:p>
            <a:pPr algn="l"/>
            <a:r>
              <a:rPr lang="en-US" sz="2400" b="0" i="0" u="none" strike="noStrike" baseline="0" dirty="0">
                <a:latin typeface="TimesTen-Roman"/>
              </a:rPr>
              <a:t>Floating-point arithmetic can only </a:t>
            </a:r>
            <a:r>
              <a:rPr lang="en-US" sz="2400" b="0" i="0" u="none" strike="noStrike" baseline="0" dirty="0">
                <a:solidFill>
                  <a:srgbClr val="FF0000"/>
                </a:solidFill>
                <a:latin typeface="TimesTen-Roman"/>
              </a:rPr>
              <a:t>approximate</a:t>
            </a:r>
            <a:r>
              <a:rPr lang="en-US" sz="2400" b="0" i="0" u="none" strike="noStrike" baseline="0" dirty="0">
                <a:latin typeface="TimesTen-Roman"/>
              </a:rPr>
              <a:t> real arithmetic, since the representation</a:t>
            </a:r>
          </a:p>
          <a:p>
            <a:pPr marL="0" indent="0" algn="l">
              <a:buNone/>
            </a:pPr>
            <a:r>
              <a:rPr lang="en-US" sz="2400" b="0" i="0" u="none" strike="noStrike" baseline="0" dirty="0">
                <a:latin typeface="TimesTen-Roman"/>
              </a:rPr>
              <a:t>	has a </a:t>
            </a:r>
            <a:r>
              <a:rPr lang="en-US" sz="2400" b="1" i="1" u="none" strike="noStrike" baseline="0" dirty="0">
                <a:solidFill>
                  <a:srgbClr val="FF0000"/>
                </a:solidFill>
                <a:latin typeface="TimesTen-Roman"/>
              </a:rPr>
              <a:t>limited range and precision</a:t>
            </a:r>
            <a:r>
              <a:rPr lang="en-US" sz="2400" b="0" i="0" u="none" strike="noStrike" baseline="0" dirty="0">
                <a:latin typeface="TimesTen-Roman"/>
              </a:rPr>
              <a:t>. </a:t>
            </a:r>
          </a:p>
          <a:p>
            <a:pPr algn="l">
              <a:buSzPct val="200000"/>
              <a:buFont typeface="Arial" panose="020B0604020202020204" pitchFamily="34" charset="0"/>
              <a:buChar char="•"/>
            </a:pPr>
            <a:r>
              <a:rPr lang="en-US" sz="2400" b="1" dirty="0">
                <a:solidFill>
                  <a:srgbClr val="FF0000"/>
                </a:solidFill>
                <a:latin typeface="TimesTen-Roman"/>
              </a:rPr>
              <a:t>Rounding</a:t>
            </a:r>
            <a:r>
              <a:rPr lang="en-US" sz="2400" dirty="0">
                <a:latin typeface="TimesTen-Roman"/>
              </a:rPr>
              <a:t> is the task of getting </a:t>
            </a:r>
            <a:r>
              <a:rPr lang="en-US" sz="2400" b="0" i="0" u="none" strike="noStrike" baseline="0" dirty="0">
                <a:latin typeface="TimesTen-Roman"/>
              </a:rPr>
              <a:t>the “closest” matching value </a:t>
            </a:r>
            <a:r>
              <a:rPr lang="en-US" sz="2400" b="0" i="1" u="none" strike="noStrike" baseline="0" dirty="0">
                <a:latin typeface="MTMIZ"/>
              </a:rPr>
              <a:t>x </a:t>
            </a:r>
            <a:r>
              <a:rPr lang="en-US" sz="2400" b="0" i="0" u="none" strike="noStrike" baseline="0" dirty="0">
                <a:latin typeface="TimesTen-Roman"/>
              </a:rPr>
              <a:t>that can be represented in the floating-point format. </a:t>
            </a:r>
          </a:p>
          <a:p>
            <a:pPr algn="l">
              <a:buSzPct val="200000"/>
              <a:buFont typeface="Arial" panose="020B0604020202020204" pitchFamily="34" charset="0"/>
              <a:buChar char="•"/>
            </a:pPr>
            <a:r>
              <a:rPr lang="en-US" sz="2400" b="1" u="none" strike="noStrike" baseline="0" dirty="0">
                <a:latin typeface="TimesTen-Roman"/>
              </a:rPr>
              <a:t>IEEE </a:t>
            </a:r>
            <a:r>
              <a:rPr lang="en-US" sz="2400" u="none" strike="noStrike" baseline="0" dirty="0">
                <a:latin typeface="TimesTen-Roman"/>
              </a:rPr>
              <a:t>offers 4 rounding modes: Round-to-even, Round-towards 0, Round down, and Round up. The most commonly used (and default) mode is round-to-even.</a:t>
            </a:r>
          </a:p>
          <a:p>
            <a:pPr algn="l">
              <a:buSzPct val="200000"/>
              <a:buFont typeface="Arial" panose="020B0604020202020204" pitchFamily="34" charset="0"/>
              <a:buChar char="•"/>
            </a:pPr>
            <a:r>
              <a:rPr lang="en-US" sz="2400" dirty="0">
                <a:latin typeface="TimesTen-Roman"/>
              </a:rPr>
              <a:t>Round-to-even is also called Round-to-nearest, Ties to even mode.</a:t>
            </a:r>
          </a:p>
          <a:p>
            <a:pPr algn="l">
              <a:buSzPct val="200000"/>
              <a:buFont typeface="Arial" panose="020B0604020202020204" pitchFamily="34" charset="0"/>
              <a:buChar char="•"/>
            </a:pPr>
            <a:r>
              <a:rPr lang="en-US" sz="2400" u="none" strike="noStrike" baseline="0" dirty="0">
                <a:latin typeface="TimesTen-Roman"/>
              </a:rPr>
              <a:t>Round-to</a:t>
            </a:r>
            <a:r>
              <a:rPr lang="en-US" sz="2400" dirty="0">
                <a:latin typeface="TimesTen-Roman"/>
              </a:rPr>
              <a:t>-Nearest is easy to understand. What is “ties to even”?</a:t>
            </a:r>
          </a:p>
          <a:p>
            <a:pPr algn="l">
              <a:buSzPct val="200000"/>
              <a:buFont typeface="Arial" panose="020B0604020202020204" pitchFamily="34" charset="0"/>
              <a:buChar char="•"/>
            </a:pPr>
            <a:r>
              <a:rPr lang="en-US" sz="2400" u="none" strike="noStrike" baseline="0" dirty="0">
                <a:latin typeface="TimesTen-Roman"/>
              </a:rPr>
              <a:t>Example:</a:t>
            </a:r>
          </a:p>
          <a:p>
            <a:pPr marL="0" indent="0" algn="l">
              <a:buSzPct val="200000"/>
              <a:buNone/>
            </a:pPr>
            <a:r>
              <a:rPr lang="en-US" sz="2400" dirty="0">
                <a:latin typeface="TimesTen-Roman"/>
              </a:rPr>
              <a:t>	Value		Binary (Fraction)	Situation	Result (Ties to Even)</a:t>
            </a:r>
          </a:p>
          <a:p>
            <a:pPr marL="0" indent="0" algn="l">
              <a:buSzPct val="200000"/>
              <a:buNone/>
            </a:pPr>
            <a:r>
              <a:rPr lang="en-US" sz="2400" dirty="0">
                <a:latin typeface="TimesTen-Roman"/>
              </a:rPr>
              <a:t>12.5	1100.1		Halfway between 	12 and 13	12 (Even, 1100)</a:t>
            </a:r>
          </a:p>
          <a:p>
            <a:pPr marL="0" indent="0" algn="l">
              <a:buSzPct val="200000"/>
              <a:buNone/>
            </a:pPr>
            <a:r>
              <a:rPr lang="en-US" sz="2400" dirty="0">
                <a:latin typeface="TimesTen-Roman"/>
              </a:rPr>
              <a:t>13.5	1101.1		Halfway between 	13 and 14	14 (Even, 1110)</a:t>
            </a:r>
            <a:endParaRPr lang="en-US" sz="2400" u="none" strike="noStrike" baseline="0" dirty="0">
              <a:latin typeface="TimesTen-Italic"/>
            </a:endParaRPr>
          </a:p>
          <a:p>
            <a:pPr algn="l">
              <a:buSzPct val="200000"/>
              <a:buFont typeface="Arial" panose="020B0604020202020204" pitchFamily="34" charset="0"/>
              <a:buChar char="•"/>
            </a:pPr>
            <a:endParaRPr lang="en-US" sz="2400" b="1" i="1" u="none" strike="noStrike" baseline="0" dirty="0">
              <a:solidFill>
                <a:srgbClr val="FF0000"/>
              </a:solidFill>
              <a:latin typeface="TimesTen-Italic"/>
            </a:endParaRPr>
          </a:p>
          <a:p>
            <a:pPr marL="0" indent="0" algn="l">
              <a:buNone/>
            </a:pPr>
            <a:endParaRPr lang="en-US" sz="2400" b="1" i="0" dirty="0">
              <a:solidFill>
                <a:srgbClr val="111827"/>
              </a:solidFill>
              <a:effectLst/>
              <a:latin typeface="ui-sans-serif"/>
            </a:endParaRPr>
          </a:p>
        </p:txBody>
      </p:sp>
      <p:sp>
        <p:nvSpPr>
          <p:cNvPr id="8" name="灯片编号占位符 7"/>
          <p:cNvSpPr>
            <a:spLocks noGrp="1"/>
          </p:cNvSpPr>
          <p:nvPr>
            <p:ph type="sldNum" sz="quarter" idx="10"/>
          </p:nvPr>
        </p:nvSpPr>
        <p:spPr/>
        <p:txBody>
          <a:bodyPr/>
          <a:lstStyle/>
          <a:p>
            <a:fld id="{D9B6BDF2-6896-4B98-8776-C18582F63BA5}" type="slidenum">
              <a:rPr lang="zh-TW" altLang="en-US" smtClean="0"/>
              <a:t>24</a:t>
            </a:fld>
            <a:endParaRPr lang="zh-TW" altLang="en-US"/>
          </a:p>
        </p:txBody>
      </p:sp>
    </p:spTree>
    <p:extLst>
      <p:ext uri="{BB962C8B-B14F-4D97-AF65-F5344CB8AC3E}">
        <p14:creationId xmlns:p14="http://schemas.microsoft.com/office/powerpoint/2010/main" val="3845868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2.4.5 FP Operations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79564" y="1238249"/>
                <a:ext cx="11431436" cy="4829175"/>
              </a:xfrm>
            </p:spPr>
            <p:txBody>
              <a:bodyPr>
                <a:normAutofit lnSpcReduction="10000"/>
              </a:bodyPr>
              <a:lstStyle/>
              <a:p>
                <a:pPr algn="l"/>
                <a:r>
                  <a:rPr lang="en-US" sz="2400" b="0" i="0" u="none" strike="noStrike" baseline="0" dirty="0">
                    <a:latin typeface="TimesTen-Roman"/>
                  </a:rPr>
                  <a:t>Some special rules: 1</a:t>
                </a:r>
                <a:r>
                  <a:rPr lang="en-US" sz="2400" b="0" i="1" u="none" strike="noStrike" baseline="0" dirty="0">
                    <a:latin typeface="MTMIZ"/>
                  </a:rPr>
                  <a:t>/</a:t>
                </a:r>
                <a:r>
                  <a:rPr lang="en-US" sz="2400" b="0" i="0" u="none" strike="noStrike" baseline="0" dirty="0">
                    <a:latin typeface="MTSYN"/>
                  </a:rPr>
                  <a:t>−</a:t>
                </a:r>
                <a:r>
                  <a:rPr lang="en-US" sz="2400" b="0" i="0" u="none" strike="noStrike" baseline="0" dirty="0">
                    <a:latin typeface="TimesTen-Roman"/>
                  </a:rPr>
                  <a:t>0 is defined to yield </a:t>
                </a:r>
                <a:r>
                  <a:rPr lang="en-US" sz="2400" b="0" i="0" u="none" strike="noStrike" baseline="0" dirty="0">
                    <a:latin typeface="MTSYN"/>
                  </a:rPr>
                  <a:t>−∞</a:t>
                </a:r>
                <a:r>
                  <a:rPr lang="en-US" sz="2400" b="0" i="0" u="none" strike="noStrike" baseline="0" dirty="0">
                    <a:latin typeface="TimesTen-Roman"/>
                  </a:rPr>
                  <a:t>, while 1</a:t>
                </a:r>
                <a:r>
                  <a:rPr lang="en-US" sz="2400" b="0" i="1" u="none" strike="noStrike" baseline="0" dirty="0">
                    <a:latin typeface="MTMIZ"/>
                  </a:rPr>
                  <a:t>/</a:t>
                </a:r>
                <a:r>
                  <a:rPr lang="en-US" sz="2400" b="0" i="0" u="none" strike="noStrike" baseline="0" dirty="0">
                    <a:latin typeface="MTSYN"/>
                  </a:rPr>
                  <a:t>+</a:t>
                </a:r>
                <a:r>
                  <a:rPr lang="en-US" sz="2400" b="0" i="0" u="none" strike="noStrike" baseline="0" dirty="0">
                    <a:latin typeface="TimesTen-Roman"/>
                  </a:rPr>
                  <a:t>0 is defined to yield </a:t>
                </a:r>
                <a:r>
                  <a:rPr lang="en-US" sz="2400" b="0" i="0" u="none" strike="noStrike" baseline="0" dirty="0">
                    <a:latin typeface="MTSYN"/>
                  </a:rPr>
                  <a:t>+∞</a:t>
                </a:r>
                <a:r>
                  <a:rPr lang="en-US" sz="2400" b="0" i="0" u="none" strike="noStrike" baseline="0" dirty="0">
                    <a:latin typeface="TimesTen-Roman"/>
                  </a:rPr>
                  <a:t>.</a:t>
                </a:r>
              </a:p>
              <a:p>
                <a:pPr algn="l"/>
                <a14:m>
                  <m:oMath xmlns:m="http://schemas.openxmlformats.org/officeDocument/2006/math">
                    <m:rad>
                      <m:radPr>
                        <m:degHide m:val="on"/>
                        <m:ctrlPr>
                          <a:rPr kumimoji="1" lang="en-US" sz="2400" b="1" i="1" u="none" strike="noStrike" kern="0" cap="none" spc="0" normalizeH="0" baseline="0" noProof="0" smtClean="0">
                            <a:ln>
                              <a:noFill/>
                            </a:ln>
                            <a:solidFill>
                              <a:schemeClr val="tx1"/>
                            </a:solidFill>
                            <a:effectLst/>
                            <a:uLnTx/>
                            <a:uFillTx/>
                            <a:latin typeface="Cambria Math" panose="02040503050406030204" pitchFamily="18" charset="0"/>
                            <a:cs typeface="+mn-cs"/>
                          </a:rPr>
                        </m:ctrlPr>
                      </m:radPr>
                      <m:deg/>
                      <m:e>
                        <m:r>
                          <a:rPr kumimoji="1" lang="en-US" sz="2400" b="1" i="1" u="none" strike="noStrike" kern="0" cap="none" spc="0" normalizeH="0" baseline="0" noProof="0" smtClean="0">
                            <a:ln>
                              <a:noFill/>
                            </a:ln>
                            <a:solidFill>
                              <a:schemeClr val="tx1"/>
                            </a:solidFill>
                            <a:effectLst/>
                            <a:uLnTx/>
                            <a:uFillTx/>
                            <a:latin typeface="Cambria Math" panose="02040503050406030204" pitchFamily="18" charset="0"/>
                            <a:cs typeface="+mn-cs"/>
                          </a:rPr>
                          <m:t>−</m:t>
                        </m:r>
                        <m:r>
                          <a:rPr kumimoji="1" lang="en-US" sz="2400" b="1" i="1" u="none" strike="noStrike" kern="0" cap="none" spc="0" normalizeH="0" baseline="0" noProof="0" smtClean="0">
                            <a:ln>
                              <a:noFill/>
                            </a:ln>
                            <a:solidFill>
                              <a:schemeClr val="tx1"/>
                            </a:solidFill>
                            <a:effectLst/>
                            <a:uLnTx/>
                            <a:uFillTx/>
                            <a:latin typeface="Cambria Math" panose="02040503050406030204" pitchFamily="18" charset="0"/>
                            <a:cs typeface="+mn-cs"/>
                          </a:rPr>
                          <m:t>𝟏</m:t>
                        </m:r>
                      </m:e>
                    </m:rad>
                  </m:oMath>
                </a14:m>
                <a:r>
                  <a:rPr lang="en-US" sz="2400" b="1" i="1" u="none" strike="noStrike" baseline="0" dirty="0">
                    <a:solidFill>
                      <a:srgbClr val="FF0000"/>
                    </a:solidFill>
                    <a:latin typeface="TimesTen-Italic"/>
                  </a:rPr>
                  <a:t> </a:t>
                </a:r>
                <a:r>
                  <a:rPr lang="en-US" sz="2400" u="none" strike="noStrike" baseline="0" dirty="0">
                    <a:latin typeface="TimesTen-Italic"/>
                  </a:rPr>
                  <a:t>returns </a:t>
                </a:r>
                <a:r>
                  <a:rPr lang="en-US" sz="2400" u="none" strike="noStrike" baseline="0" dirty="0" err="1">
                    <a:latin typeface="TimesTen-Italic"/>
                  </a:rPr>
                  <a:t>NaN</a:t>
                </a:r>
                <a:endParaRPr lang="en-US" sz="2400" u="none" strike="noStrike" baseline="0" dirty="0">
                  <a:latin typeface="TimesTen-Italic"/>
                </a:endParaRPr>
              </a:p>
              <a:p>
                <a:pPr algn="l"/>
                <a:r>
                  <a:rPr lang="en-US" sz="2400" dirty="0">
                    <a:latin typeface="TimesTen-Italic"/>
                  </a:rPr>
                  <a:t>Floating point operations are commutative: (a </a:t>
                </a:r>
                <a:r>
                  <a:rPr lang="en-US" sz="2400" b="1" dirty="0">
                    <a:latin typeface="TimesTen-Italic"/>
                  </a:rPr>
                  <a:t>op</a:t>
                </a:r>
                <a:r>
                  <a:rPr lang="en-US" sz="2400" dirty="0">
                    <a:latin typeface="TimesTen-Italic"/>
                  </a:rPr>
                  <a:t> b) is the same as </a:t>
                </a:r>
                <a:r>
                  <a:rPr kumimoji="1" lang="en-US" sz="2400" b="0" i="0" u="none" strike="noStrike" kern="0" cap="none" spc="0" normalizeH="0" baseline="0" noProof="0" dirty="0">
                    <a:ln>
                      <a:noFill/>
                    </a:ln>
                    <a:solidFill>
                      <a:prstClr val="black"/>
                    </a:solidFill>
                    <a:effectLst/>
                    <a:uLnTx/>
                    <a:uFillTx/>
                    <a:latin typeface="TimesTen-Italic"/>
                    <a:ea typeface="標楷體" pitchFamily="65" charset="-120"/>
                    <a:cs typeface="+mn-cs"/>
                  </a:rPr>
                  <a:t>(b </a:t>
                </a:r>
                <a:r>
                  <a:rPr kumimoji="1" lang="en-US" sz="2400" b="1" i="0" u="none" strike="noStrike" kern="0" cap="none" spc="0" normalizeH="0" baseline="0" noProof="0" dirty="0">
                    <a:ln>
                      <a:noFill/>
                    </a:ln>
                    <a:solidFill>
                      <a:prstClr val="black"/>
                    </a:solidFill>
                    <a:effectLst/>
                    <a:uLnTx/>
                    <a:uFillTx/>
                    <a:latin typeface="TimesTen-Italic"/>
                    <a:ea typeface="標楷體" pitchFamily="65" charset="-120"/>
                    <a:cs typeface="+mn-cs"/>
                  </a:rPr>
                  <a:t>op</a:t>
                </a:r>
                <a:r>
                  <a:rPr kumimoji="1" lang="en-US" sz="2400" b="0" i="0" u="none" strike="noStrike" kern="0" cap="none" spc="0" normalizeH="0" baseline="0" noProof="0" dirty="0">
                    <a:ln>
                      <a:noFill/>
                    </a:ln>
                    <a:solidFill>
                      <a:prstClr val="black"/>
                    </a:solidFill>
                    <a:effectLst/>
                    <a:uLnTx/>
                    <a:uFillTx/>
                    <a:latin typeface="TimesTen-Italic"/>
                    <a:ea typeface="標楷體" pitchFamily="65" charset="-120"/>
                    <a:cs typeface="+mn-cs"/>
                  </a:rPr>
                  <a:t> a)</a:t>
                </a:r>
              </a:p>
              <a:p>
                <a:pPr algn="l"/>
                <a:r>
                  <a:rPr lang="en-US" sz="2400" dirty="0">
                    <a:latin typeface="TimesTen-Roman"/>
                  </a:rPr>
                  <a:t>FP</a:t>
                </a:r>
                <a:r>
                  <a:rPr lang="en-US" sz="2400" b="0" i="0" u="none" strike="noStrike" baseline="0" dirty="0">
                    <a:latin typeface="TimesTen-Roman"/>
                  </a:rPr>
                  <a:t> operation is </a:t>
                </a:r>
                <a:r>
                  <a:rPr lang="en-US" sz="2600" b="1" i="0" u="none" strike="noStrike" baseline="0" dirty="0">
                    <a:latin typeface="TimesTen-Roman"/>
                  </a:rPr>
                  <a:t>not</a:t>
                </a:r>
                <a:r>
                  <a:rPr lang="en-US" sz="2400" b="0" i="0" u="none" strike="noStrike" baseline="0" dirty="0">
                    <a:latin typeface="TimesTen-Roman"/>
                  </a:rPr>
                  <a:t> associative. For example, with single precision</a:t>
                </a:r>
                <a:r>
                  <a:rPr lang="en-US" sz="2400" dirty="0">
                    <a:latin typeface="TimesTen-Roman"/>
                  </a:rPr>
                  <a:t> </a:t>
                </a:r>
                <a:r>
                  <a:rPr lang="en-US" sz="2400" b="0" i="0" u="none" strike="noStrike" baseline="0" dirty="0">
                    <a:latin typeface="TimesTen-Roman"/>
                  </a:rPr>
                  <a:t>floating point, the expression </a:t>
                </a:r>
                <a:r>
                  <a:rPr lang="en-US" sz="2400" b="0" i="0" u="none" strike="noStrike" baseline="0" dirty="0">
                    <a:latin typeface="ZztexMono-Regular"/>
                  </a:rPr>
                  <a:t>(3.14+1e10) -1e10  </a:t>
                </a:r>
                <a:r>
                  <a:rPr lang="en-US" sz="2400" b="0" i="0" u="none" strike="noStrike" baseline="0" dirty="0">
                    <a:latin typeface="TimesTen-Roman"/>
                  </a:rPr>
                  <a:t>evaluates to </a:t>
                </a:r>
                <a:r>
                  <a:rPr lang="en-US" sz="2400" b="0" i="0" u="none" strike="noStrike" baseline="0" dirty="0">
                    <a:latin typeface="ZztexMono-Regular"/>
                  </a:rPr>
                  <a:t>0.0 </a:t>
                </a:r>
                <a:r>
                  <a:rPr lang="en-US" sz="2400" b="0" i="0" u="none" strike="noStrike" baseline="0" dirty="0">
                    <a:latin typeface="TimesTen-Roman"/>
                  </a:rPr>
                  <a:t>— the</a:t>
                </a:r>
                <a:r>
                  <a:rPr lang="en-US" sz="2400" dirty="0">
                    <a:latin typeface="TimesTen-Roman"/>
                  </a:rPr>
                  <a:t> </a:t>
                </a:r>
                <a:r>
                  <a:rPr lang="en-US" sz="2400" b="0" i="0" u="none" strike="noStrike" baseline="0" dirty="0">
                    <a:latin typeface="TimesTen-Roman"/>
                  </a:rPr>
                  <a:t>value 3.14 is lost due to rounding. On the other hand, the expression </a:t>
                </a:r>
                <a:r>
                  <a:rPr lang="en-US" sz="2400" b="0" i="0" u="none" strike="noStrike" baseline="0" dirty="0">
                    <a:latin typeface="ZztexMono-Regular"/>
                  </a:rPr>
                  <a:t>3.14+(1e10-1e10) </a:t>
                </a:r>
                <a:r>
                  <a:rPr lang="en-US" sz="2400" b="0" i="0" u="none" strike="noStrike" baseline="0" dirty="0">
                    <a:latin typeface="TimesTen-Roman"/>
                  </a:rPr>
                  <a:t>evaluates to </a:t>
                </a:r>
                <a:r>
                  <a:rPr lang="en-US" sz="2400" b="0" i="0" u="none" strike="noStrike" baseline="0" dirty="0">
                    <a:latin typeface="ZztexMono-Regular"/>
                  </a:rPr>
                  <a:t>3.14</a:t>
                </a:r>
                <a:r>
                  <a:rPr lang="en-US" sz="2400" b="0" i="0" u="none" strike="noStrike" baseline="0" dirty="0">
                    <a:latin typeface="TimesTen-Roman"/>
                  </a:rPr>
                  <a:t>.</a:t>
                </a:r>
              </a:p>
              <a:p>
                <a:pPr marL="0" indent="0" algn="l">
                  <a:buNone/>
                </a:pPr>
                <a:r>
                  <a:rPr lang="en-US" sz="2400" dirty="0">
                    <a:solidFill>
                      <a:srgbClr val="111827"/>
                    </a:solidFill>
                    <a:effectLst/>
                    <a:latin typeface="TimesTen-Roman"/>
                  </a:rPr>
                  <a:t>		</a:t>
                </a:r>
                <a:r>
                  <a:rPr lang="en-US" sz="2800" b="1" dirty="0">
                    <a:solidFill>
                      <a:srgbClr val="111827"/>
                    </a:solidFill>
                    <a:effectLst/>
                    <a:latin typeface="TimesTen-Roman"/>
                  </a:rPr>
                  <a:t>(</a:t>
                </a:r>
                <a:r>
                  <a:rPr lang="en-US" sz="2800" b="1" dirty="0" err="1">
                    <a:solidFill>
                      <a:srgbClr val="111827"/>
                    </a:solidFill>
                    <a:effectLst/>
                    <a:latin typeface="TimesTen-Roman"/>
                  </a:rPr>
                  <a:t>a+b</a:t>
                </a:r>
                <a:r>
                  <a:rPr lang="en-US" sz="2800" b="1" dirty="0">
                    <a:solidFill>
                      <a:srgbClr val="111827"/>
                    </a:solidFill>
                    <a:effectLst/>
                    <a:latin typeface="TimesTen-Roman"/>
                  </a:rPr>
                  <a:t>)+c is not identical to </a:t>
                </a:r>
                <a:r>
                  <a:rPr lang="en-US" sz="2800" b="1" dirty="0">
                    <a:solidFill>
                      <a:srgbClr val="111827"/>
                    </a:solidFill>
                    <a:latin typeface="TimesTen-Roman"/>
                  </a:rPr>
                  <a:t>a+(</a:t>
                </a:r>
                <a:r>
                  <a:rPr lang="en-US" sz="2800" b="1" dirty="0" err="1">
                    <a:solidFill>
                      <a:srgbClr val="111827"/>
                    </a:solidFill>
                    <a:latin typeface="TimesTen-Roman"/>
                  </a:rPr>
                  <a:t>b+c</a:t>
                </a:r>
                <a:r>
                  <a:rPr lang="en-US" sz="2800" b="1" dirty="0">
                    <a:solidFill>
                      <a:srgbClr val="111827"/>
                    </a:solidFill>
                    <a:latin typeface="TimesTen-Roman"/>
                  </a:rPr>
                  <a:t>)</a:t>
                </a:r>
              </a:p>
              <a:p>
                <a:pPr algn="l">
                  <a:buSzPct val="200000"/>
                  <a:buFont typeface="Arial" panose="020B0604020202020204" pitchFamily="34" charset="0"/>
                  <a:buChar char="•"/>
                </a:pPr>
                <a:r>
                  <a:rPr lang="en-US" sz="2800" i="0" dirty="0">
                    <a:solidFill>
                      <a:srgbClr val="111827"/>
                    </a:solidFill>
                    <a:effectLst/>
                    <a:latin typeface="Times New Roman" panose="02020603050405020304" pitchFamily="18" charset="0"/>
                    <a:cs typeface="Times New Roman" panose="02020603050405020304" pitchFamily="18" charset="0"/>
                  </a:rPr>
                  <a:t>Impact on compiler or programmer:</a:t>
                </a:r>
              </a:p>
              <a:p>
                <a:pPr marL="0" indent="0" algn="l">
                  <a:buSzPct val="200000"/>
                  <a:buNone/>
                </a:pPr>
                <a:r>
                  <a:rPr lang="en-US" sz="2800" dirty="0">
                    <a:solidFill>
                      <a:srgbClr val="111827"/>
                    </a:solidFill>
                    <a:latin typeface="Times New Roman" panose="02020603050405020304" pitchFamily="18" charset="0"/>
                    <a:cs typeface="Times New Roman" panose="02020603050405020304" pitchFamily="18" charset="0"/>
                  </a:rPr>
                  <a:t>	</a:t>
                </a:r>
                <a:r>
                  <a:rPr lang="en-US" sz="2400" dirty="0">
                    <a:solidFill>
                      <a:srgbClr val="111827"/>
                    </a:solidFill>
                    <a:latin typeface="Times New Roman" panose="02020603050405020304" pitchFamily="18" charset="0"/>
                    <a:cs typeface="Times New Roman" panose="02020603050405020304" pitchFamily="18" charset="0"/>
                  </a:rPr>
                  <a:t>(A+B+C)  (A+(B+C))  (B+A+C) … Can (B+C) be treated as a </a:t>
                </a:r>
              </a:p>
              <a:p>
                <a:pPr marL="0" indent="0" algn="l">
                  <a:buSzPct val="200000"/>
                  <a:buNone/>
                </a:pPr>
                <a:r>
                  <a:rPr lang="en-US" sz="2400" dirty="0">
                    <a:solidFill>
                      <a:srgbClr val="111827"/>
                    </a:solidFill>
                    <a:latin typeface="Times New Roman" panose="02020603050405020304" pitchFamily="18" charset="0"/>
                    <a:cs typeface="Times New Roman" panose="02020603050405020304" pitchFamily="18" charset="0"/>
                  </a:rPr>
                  <a:t>	CSE (Common Sub-Expression)?  </a:t>
                </a:r>
              </a:p>
              <a:p>
                <a:pPr marL="0" indent="0" algn="l">
                  <a:buSzPct val="200000"/>
                  <a:buNone/>
                </a:pPr>
                <a:r>
                  <a:rPr lang="en-US" sz="2400" dirty="0">
                    <a:solidFill>
                      <a:srgbClr val="111827"/>
                    </a:solidFill>
                    <a:latin typeface="Times New Roman" panose="02020603050405020304" pitchFamily="18" charset="0"/>
                    <a:cs typeface="Times New Roman" panose="02020603050405020304" pitchFamily="18" charset="0"/>
                  </a:rPr>
                  <a:t>	Can (</a:t>
                </a:r>
                <a:r>
                  <a:rPr lang="en-US" sz="2400" dirty="0" err="1">
                    <a:solidFill>
                      <a:srgbClr val="111827"/>
                    </a:solidFill>
                    <a:latin typeface="Times New Roman" panose="02020603050405020304" pitchFamily="18" charset="0"/>
                    <a:cs typeface="Times New Roman" panose="02020603050405020304" pitchFamily="18" charset="0"/>
                  </a:rPr>
                  <a:t>a+b+c+d</a:t>
                </a:r>
                <a:r>
                  <a:rPr lang="en-US" sz="2400" dirty="0">
                    <a:solidFill>
                      <a:srgbClr val="111827"/>
                    </a:solidFill>
                    <a:latin typeface="Times New Roman" panose="02020603050405020304" pitchFamily="18" charset="0"/>
                    <a:cs typeface="Times New Roman" panose="02020603050405020304" pitchFamily="18" charset="0"/>
                  </a:rPr>
                  <a:t>) be converted to  </a:t>
                </a:r>
                <a:r>
                  <a:rPr lang="en-US" sz="2400" i="0" dirty="0">
                    <a:solidFill>
                      <a:srgbClr val="111827"/>
                    </a:solidFill>
                    <a:effectLst/>
                    <a:latin typeface="Times New Roman" panose="02020603050405020304" pitchFamily="18" charset="0"/>
                    <a:cs typeface="Times New Roman" panose="02020603050405020304" pitchFamily="18" charset="0"/>
                  </a:rPr>
                  <a:t>((</a:t>
                </a:r>
                <a:r>
                  <a:rPr lang="en-US" sz="2400" i="0" dirty="0" err="1">
                    <a:solidFill>
                      <a:srgbClr val="111827"/>
                    </a:solidFill>
                    <a:effectLst/>
                    <a:latin typeface="Times New Roman" panose="02020603050405020304" pitchFamily="18" charset="0"/>
                    <a:cs typeface="Times New Roman" panose="02020603050405020304" pitchFamily="18" charset="0"/>
                  </a:rPr>
                  <a:t>a+b</a:t>
                </a:r>
                <a:r>
                  <a:rPr lang="en-US" sz="2400" i="0" dirty="0">
                    <a:solidFill>
                      <a:srgbClr val="111827"/>
                    </a:solidFill>
                    <a:effectLst/>
                    <a:latin typeface="Times New Roman" panose="02020603050405020304" pitchFamily="18" charset="0"/>
                    <a:cs typeface="Times New Roman" panose="02020603050405020304" pitchFamily="18" charset="0"/>
                  </a:rPr>
                  <a:t>) + (</a:t>
                </a:r>
                <a:r>
                  <a:rPr lang="en-US" sz="2400" i="0" dirty="0" err="1">
                    <a:solidFill>
                      <a:srgbClr val="111827"/>
                    </a:solidFill>
                    <a:effectLst/>
                    <a:latin typeface="Times New Roman" panose="02020603050405020304" pitchFamily="18" charset="0"/>
                    <a:cs typeface="Times New Roman" panose="02020603050405020304" pitchFamily="18" charset="0"/>
                  </a:rPr>
                  <a:t>c+d</a:t>
                </a:r>
                <a:r>
                  <a:rPr lang="en-US" sz="2400" i="0" dirty="0">
                    <a:solidFill>
                      <a:srgbClr val="111827"/>
                    </a:solidFill>
                    <a:effectLst/>
                    <a:latin typeface="Times New Roman" panose="02020603050405020304" pitchFamily="18" charset="0"/>
                    <a:cs typeface="Times New Roman" panose="02020603050405020304" pitchFamily="18" charset="0"/>
                  </a:rPr>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79564" y="1238249"/>
                <a:ext cx="11431436" cy="4829175"/>
              </a:xfrm>
              <a:blipFill>
                <a:blip r:embed="rId3"/>
                <a:stretch>
                  <a:fillRect l="-2719" t="-1894"/>
                </a:stretch>
              </a:blipFill>
            </p:spPr>
            <p:txBody>
              <a:bodyPr/>
              <a:lstStyle/>
              <a:p>
                <a:r>
                  <a:rPr lang="en-US">
                    <a:noFill/>
                  </a:rPr>
                  <a:t> </a:t>
                </a:r>
              </a:p>
            </p:txBody>
          </p:sp>
        </mc:Fallback>
      </mc:AlternateContent>
      <p:sp>
        <p:nvSpPr>
          <p:cNvPr id="8" name="灯片编号占位符 7"/>
          <p:cNvSpPr>
            <a:spLocks noGrp="1"/>
          </p:cNvSpPr>
          <p:nvPr>
            <p:ph type="sldNum" sz="quarter" idx="10"/>
          </p:nvPr>
        </p:nvSpPr>
        <p:spPr/>
        <p:txBody>
          <a:bodyPr/>
          <a:lstStyle/>
          <a:p>
            <a:fld id="{D9B6BDF2-6896-4B98-8776-C18582F63BA5}" type="slidenum">
              <a:rPr lang="zh-TW" altLang="en-US" smtClean="0"/>
              <a:t>25</a:t>
            </a:fld>
            <a:endParaRPr lang="zh-TW" altLang="en-US"/>
          </a:p>
        </p:txBody>
      </p:sp>
    </p:spTree>
    <p:extLst>
      <p:ext uri="{BB962C8B-B14F-4D97-AF65-F5344CB8AC3E}">
        <p14:creationId xmlns:p14="http://schemas.microsoft.com/office/powerpoint/2010/main" val="39978428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2.4.5 FP/Int Type Casting</a:t>
            </a:r>
          </a:p>
        </p:txBody>
      </p:sp>
      <p:sp>
        <p:nvSpPr>
          <p:cNvPr id="3" name="Content Placeholder 2"/>
          <p:cNvSpPr>
            <a:spLocks noGrp="1"/>
          </p:cNvSpPr>
          <p:nvPr>
            <p:ph idx="1"/>
          </p:nvPr>
        </p:nvSpPr>
        <p:spPr>
          <a:xfrm>
            <a:off x="379564" y="1095299"/>
            <a:ext cx="11431436" cy="4972126"/>
          </a:xfrm>
        </p:spPr>
        <p:txBody>
          <a:bodyPr>
            <a:normAutofit fontScale="85000" lnSpcReduction="20000"/>
          </a:bodyPr>
          <a:lstStyle/>
          <a:p>
            <a:pPr algn="l"/>
            <a:r>
              <a:rPr lang="en-US" sz="3300" b="0" i="0" u="none" strike="noStrike" baseline="0" dirty="0">
                <a:solidFill>
                  <a:srgbClr val="000000"/>
                </a:solidFill>
                <a:latin typeface="Times New Roman" panose="02020603050405020304" pitchFamily="18" charset="0"/>
                <a:cs typeface="Times New Roman" panose="02020603050405020304" pitchFamily="18" charset="0"/>
              </a:rPr>
              <a:t>What would happen when casting values to different types?</a:t>
            </a:r>
          </a:p>
          <a:p>
            <a:pPr algn="l">
              <a:buFont typeface="Wingdings" panose="05000000000000000000" pitchFamily="2" charset="2"/>
              <a:buChar char="Ø"/>
            </a:pPr>
            <a:r>
              <a:rPr lang="en-US" sz="2600" b="0" i="0" u="none" strike="noStrike" baseline="0" dirty="0">
                <a:solidFill>
                  <a:srgbClr val="000000"/>
                </a:solidFill>
                <a:latin typeface="Times New Roman" panose="02020603050405020304" pitchFamily="18" charset="0"/>
                <a:cs typeface="Times New Roman" panose="02020603050405020304" pitchFamily="18" charset="0"/>
              </a:rPr>
              <a:t>From int to float, the number cannot overflow, but it may be rounded.</a:t>
            </a:r>
          </a:p>
          <a:p>
            <a:pPr algn="l">
              <a:buFont typeface="Wingdings" panose="05000000000000000000" pitchFamily="2" charset="2"/>
              <a:buChar char="Ø"/>
            </a:pPr>
            <a:r>
              <a:rPr lang="en-US" sz="2600" b="0" i="0" u="none" strike="noStrike" baseline="0" dirty="0">
                <a:solidFill>
                  <a:srgbClr val="000000"/>
                </a:solidFill>
                <a:latin typeface="Times New Roman" panose="02020603050405020304" pitchFamily="18" charset="0"/>
                <a:cs typeface="Times New Roman" panose="02020603050405020304" pitchFamily="18" charset="0"/>
              </a:rPr>
              <a:t>From int or float to double, the exact numeric value can be preserved</a:t>
            </a:r>
          </a:p>
          <a:p>
            <a:pPr marL="0" indent="0" algn="l">
              <a:buNone/>
            </a:pPr>
            <a:r>
              <a:rPr lang="en-US" sz="2600" dirty="0">
                <a:solidFill>
                  <a:srgbClr val="000000"/>
                </a:solidFill>
                <a:latin typeface="Times New Roman" panose="02020603050405020304" pitchFamily="18" charset="0"/>
                <a:cs typeface="Times New Roman" panose="02020603050405020304" pitchFamily="18" charset="0"/>
              </a:rPr>
              <a:t>	</a:t>
            </a:r>
            <a:r>
              <a:rPr lang="en-US" sz="2600" b="0" i="0" u="none" strike="noStrike" baseline="0" dirty="0">
                <a:solidFill>
                  <a:srgbClr val="000000"/>
                </a:solidFill>
                <a:latin typeface="Times New Roman" panose="02020603050405020304" pitchFamily="18" charset="0"/>
                <a:cs typeface="Times New Roman" panose="02020603050405020304" pitchFamily="18" charset="0"/>
              </a:rPr>
              <a:t>Double has both a greater range and a greater precision.</a:t>
            </a:r>
          </a:p>
          <a:p>
            <a:pPr algn="l">
              <a:buFont typeface="Wingdings" panose="05000000000000000000" pitchFamily="2" charset="2"/>
              <a:buChar char="Ø"/>
            </a:pPr>
            <a:r>
              <a:rPr lang="en-US" sz="2600" b="0" i="0" u="none" strike="noStrike" baseline="0" dirty="0">
                <a:solidFill>
                  <a:srgbClr val="000000"/>
                </a:solidFill>
                <a:latin typeface="Times New Roman" panose="02020603050405020304" pitchFamily="18" charset="0"/>
                <a:cs typeface="Times New Roman" panose="02020603050405020304" pitchFamily="18" charset="0"/>
              </a:rPr>
              <a:t>From double to float, the value can overflow to +∞ or −∞, since the range is smaller. 	Otherwise, it may be rounded, because the precision is smaller.</a:t>
            </a:r>
          </a:p>
          <a:p>
            <a:pPr algn="l">
              <a:buFont typeface="Wingdings" panose="05000000000000000000" pitchFamily="2" charset="2"/>
              <a:buChar char="Ø"/>
            </a:pPr>
            <a:r>
              <a:rPr lang="en-US" sz="2600" dirty="0">
                <a:solidFill>
                  <a:srgbClr val="000000"/>
                </a:solidFill>
                <a:latin typeface="Times New Roman" panose="02020603050405020304" pitchFamily="18" charset="0"/>
                <a:cs typeface="Times New Roman" panose="02020603050405020304" pitchFamily="18" charset="0"/>
              </a:rPr>
              <a:t>F</a:t>
            </a:r>
            <a:r>
              <a:rPr lang="en-US" sz="2600" b="0" i="0" u="none" strike="noStrike" baseline="0" dirty="0">
                <a:solidFill>
                  <a:srgbClr val="000000"/>
                </a:solidFill>
                <a:latin typeface="Times New Roman" panose="02020603050405020304" pitchFamily="18" charset="0"/>
                <a:cs typeface="Times New Roman" panose="02020603050405020304" pitchFamily="18" charset="0"/>
              </a:rPr>
              <a:t>rom float or double to int, the value is rounded toward zero. </a:t>
            </a:r>
          </a:p>
          <a:p>
            <a:pPr marL="0" indent="0" algn="l">
              <a:buNone/>
            </a:pPr>
            <a:r>
              <a:rPr lang="en-US" sz="2600" b="0" i="0" u="none" strike="noStrike" baseline="0" dirty="0">
                <a:solidFill>
                  <a:srgbClr val="000000"/>
                </a:solidFill>
                <a:latin typeface="Times New Roman" panose="02020603050405020304" pitchFamily="18" charset="0"/>
                <a:cs typeface="Times New Roman" panose="02020603050405020304" pitchFamily="18" charset="0"/>
              </a:rPr>
              <a:t>	For </a:t>
            </a:r>
            <a:r>
              <a:rPr lang="en-US" sz="2400" b="0" i="0" u="none" strike="noStrike" baseline="0" dirty="0">
                <a:solidFill>
                  <a:srgbClr val="000000"/>
                </a:solidFill>
                <a:latin typeface="TimesTen-Roman"/>
              </a:rPr>
              <a:t>example, 1</a:t>
            </a:r>
            <a:r>
              <a:rPr lang="en-US" sz="2400" b="0" i="1" u="none" strike="noStrike" baseline="0" dirty="0">
                <a:solidFill>
                  <a:srgbClr val="000000"/>
                </a:solidFill>
                <a:latin typeface="MTMIZ"/>
              </a:rPr>
              <a:t>.</a:t>
            </a:r>
            <a:r>
              <a:rPr lang="en-US" sz="2400" b="0" i="0" u="none" strike="noStrike" baseline="0" dirty="0">
                <a:solidFill>
                  <a:srgbClr val="000000"/>
                </a:solidFill>
                <a:latin typeface="TimesTen-Roman"/>
              </a:rPr>
              <a:t>999 will be converted to 1, while </a:t>
            </a:r>
            <a:r>
              <a:rPr lang="en-US" sz="2400" b="0" i="0" u="none" strike="noStrike" baseline="0" dirty="0">
                <a:solidFill>
                  <a:srgbClr val="000000"/>
                </a:solidFill>
                <a:latin typeface="MTSYN"/>
              </a:rPr>
              <a:t>−</a:t>
            </a:r>
            <a:r>
              <a:rPr lang="en-US" sz="2400" b="0" i="0" u="none" strike="noStrike" baseline="0" dirty="0">
                <a:solidFill>
                  <a:srgbClr val="000000"/>
                </a:solidFill>
                <a:latin typeface="TimesTen-Roman"/>
              </a:rPr>
              <a:t>1</a:t>
            </a:r>
            <a:r>
              <a:rPr lang="en-US" sz="2400" b="0" i="1" u="none" strike="noStrike" baseline="0" dirty="0">
                <a:solidFill>
                  <a:srgbClr val="000000"/>
                </a:solidFill>
                <a:latin typeface="MTMIZ"/>
              </a:rPr>
              <a:t>.</a:t>
            </a:r>
            <a:r>
              <a:rPr lang="en-US" sz="2400" b="0" i="0" u="none" strike="noStrike" baseline="0" dirty="0">
                <a:solidFill>
                  <a:srgbClr val="000000"/>
                </a:solidFill>
                <a:latin typeface="TimesTen-Roman"/>
              </a:rPr>
              <a:t>999 will be converted to </a:t>
            </a:r>
            <a:r>
              <a:rPr lang="en-US" sz="2400" b="0" i="0" u="none" strike="noStrike" baseline="0" dirty="0">
                <a:solidFill>
                  <a:srgbClr val="000000"/>
                </a:solidFill>
                <a:latin typeface="MTSYN"/>
              </a:rPr>
              <a:t>−</a:t>
            </a:r>
            <a:r>
              <a:rPr lang="en-US" sz="2400" b="0" i="0" u="none" strike="noStrike" baseline="0" dirty="0">
                <a:solidFill>
                  <a:srgbClr val="000000"/>
                </a:solidFill>
                <a:latin typeface="TimesTen-Roman"/>
              </a:rPr>
              <a:t>1. </a:t>
            </a:r>
          </a:p>
          <a:p>
            <a:pPr marL="0" indent="0" algn="l">
              <a:buNone/>
            </a:pPr>
            <a:r>
              <a:rPr lang="en-US" sz="2400" dirty="0">
                <a:solidFill>
                  <a:srgbClr val="000000"/>
                </a:solidFill>
                <a:latin typeface="TimesTen-Roman"/>
              </a:rPr>
              <a:t>	</a:t>
            </a:r>
            <a:r>
              <a:rPr lang="en-US" sz="2400" b="0" i="0" u="none" strike="noStrike" baseline="0" dirty="0">
                <a:solidFill>
                  <a:srgbClr val="000000"/>
                </a:solidFill>
                <a:latin typeface="TimesTen-Roman"/>
              </a:rPr>
              <a:t>Furthermore, the value may overflow. The C standards do not specify</a:t>
            </a:r>
          </a:p>
          <a:p>
            <a:pPr marL="0" indent="0" algn="l">
              <a:buNone/>
            </a:pPr>
            <a:r>
              <a:rPr lang="en-US" sz="2400" dirty="0">
                <a:solidFill>
                  <a:srgbClr val="000000"/>
                </a:solidFill>
                <a:latin typeface="TimesTen-Roman"/>
              </a:rPr>
              <a:t>	</a:t>
            </a:r>
            <a:r>
              <a:rPr lang="en-US" sz="2400" b="0" i="0" u="none" strike="noStrike" baseline="0" dirty="0">
                <a:solidFill>
                  <a:srgbClr val="000000"/>
                </a:solidFill>
                <a:latin typeface="TimesTen-Roman"/>
              </a:rPr>
              <a:t>a fixed result for this case. Intel-compatible microprocessors designate the</a:t>
            </a:r>
          </a:p>
          <a:p>
            <a:pPr marL="0" indent="0" algn="l">
              <a:buNone/>
            </a:pPr>
            <a:r>
              <a:rPr lang="en-US" sz="2400" dirty="0">
                <a:solidFill>
                  <a:srgbClr val="000000"/>
                </a:solidFill>
                <a:latin typeface="TimesTen-Roman"/>
              </a:rPr>
              <a:t>	</a:t>
            </a:r>
            <a:r>
              <a:rPr lang="en-US" sz="2400" b="0" i="0" u="none" strike="noStrike" baseline="0" dirty="0">
                <a:solidFill>
                  <a:srgbClr val="000000"/>
                </a:solidFill>
                <a:latin typeface="TimesTen-Roman"/>
              </a:rPr>
              <a:t>bit pattern [10 </a:t>
            </a:r>
            <a:r>
              <a:rPr lang="en-US" sz="2400" b="0" i="1" u="none" strike="noStrike" baseline="0" dirty="0">
                <a:solidFill>
                  <a:srgbClr val="000000"/>
                </a:solidFill>
                <a:latin typeface="MTMIZ"/>
              </a:rPr>
              <a:t>. . . </a:t>
            </a:r>
            <a:r>
              <a:rPr lang="en-US" sz="2400" b="0" i="0" u="none" strike="noStrike" baseline="0" dirty="0">
                <a:solidFill>
                  <a:srgbClr val="000000"/>
                </a:solidFill>
                <a:latin typeface="TimesTen-Roman"/>
              </a:rPr>
              <a:t>00] (</a:t>
            </a:r>
            <a:r>
              <a:rPr lang="en-US" sz="2400" b="0" i="1" u="none" strike="noStrike" baseline="0" dirty="0" err="1">
                <a:solidFill>
                  <a:srgbClr val="000000"/>
                </a:solidFill>
                <a:latin typeface="TimesTen-Italic"/>
              </a:rPr>
              <a:t>TMin</a:t>
            </a:r>
            <a:r>
              <a:rPr lang="en-US" sz="800" b="0" i="1" u="none" strike="noStrike" baseline="0" dirty="0" err="1">
                <a:solidFill>
                  <a:srgbClr val="000000"/>
                </a:solidFill>
                <a:latin typeface="MTMIZ"/>
              </a:rPr>
              <a:t>w</a:t>
            </a:r>
            <a:r>
              <a:rPr lang="en-US" sz="800" b="0" i="1" u="none" strike="noStrike" baseline="0" dirty="0">
                <a:solidFill>
                  <a:srgbClr val="000000"/>
                </a:solidFill>
                <a:latin typeface="MTMIZ"/>
              </a:rPr>
              <a:t> </a:t>
            </a:r>
            <a:r>
              <a:rPr lang="en-US" sz="2400" b="0" i="0" u="none" strike="noStrike" baseline="0" dirty="0">
                <a:solidFill>
                  <a:srgbClr val="000000"/>
                </a:solidFill>
                <a:latin typeface="TimesTen-Roman"/>
              </a:rPr>
              <a:t>for word size </a:t>
            </a:r>
            <a:r>
              <a:rPr lang="en-US" sz="2400" b="0" i="1" u="none" strike="noStrike" baseline="0" dirty="0">
                <a:solidFill>
                  <a:srgbClr val="000000"/>
                </a:solidFill>
                <a:latin typeface="MTMIZ"/>
              </a:rPr>
              <a:t>w</a:t>
            </a:r>
            <a:r>
              <a:rPr lang="en-US" sz="2400" b="0" i="0" u="none" strike="noStrike" baseline="0" dirty="0">
                <a:solidFill>
                  <a:srgbClr val="000000"/>
                </a:solidFill>
                <a:latin typeface="TimesTen-Roman"/>
              </a:rPr>
              <a:t>) as an </a:t>
            </a:r>
            <a:r>
              <a:rPr lang="en-US" sz="2400" b="0" i="1" u="none" strike="noStrike" baseline="0" dirty="0">
                <a:solidFill>
                  <a:srgbClr val="000000"/>
                </a:solidFill>
                <a:latin typeface="TimesTen-Italic"/>
              </a:rPr>
              <a:t>integer indefinite </a:t>
            </a:r>
            <a:r>
              <a:rPr lang="en-US" sz="2400" b="0" i="0" u="none" strike="noStrike" baseline="0" dirty="0">
                <a:solidFill>
                  <a:srgbClr val="000000"/>
                </a:solidFill>
                <a:latin typeface="TimesTen-Roman"/>
              </a:rPr>
              <a:t>value.</a:t>
            </a:r>
          </a:p>
          <a:p>
            <a:pPr algn="l">
              <a:buFont typeface="Wingdings" panose="05000000000000000000" pitchFamily="2" charset="2"/>
              <a:buChar char="Ø"/>
            </a:pPr>
            <a:r>
              <a:rPr lang="en-US" sz="2400" b="0" i="0" u="none" strike="noStrike" baseline="0" dirty="0">
                <a:solidFill>
                  <a:srgbClr val="000000"/>
                </a:solidFill>
                <a:latin typeface="TimesTen-Roman"/>
              </a:rPr>
              <a:t>Any conversion from floating point to integer that cannot assign a reasonable</a:t>
            </a:r>
          </a:p>
          <a:p>
            <a:pPr marL="0" indent="0" algn="l">
              <a:buNone/>
            </a:pPr>
            <a:r>
              <a:rPr lang="en-US" sz="2400" dirty="0">
                <a:solidFill>
                  <a:srgbClr val="000000"/>
                </a:solidFill>
                <a:latin typeface="TimesTen-Roman"/>
              </a:rPr>
              <a:t>	</a:t>
            </a:r>
            <a:r>
              <a:rPr lang="en-US" sz="2400" b="0" i="0" u="none" strike="noStrike" baseline="0" dirty="0">
                <a:solidFill>
                  <a:srgbClr val="000000"/>
                </a:solidFill>
                <a:latin typeface="TimesTen-Roman"/>
              </a:rPr>
              <a:t>integer approximation yields this value. Thus, the expression </a:t>
            </a:r>
            <a:r>
              <a:rPr lang="en-US" sz="2400" b="0" i="0" u="none" strike="noStrike" baseline="0" dirty="0">
                <a:solidFill>
                  <a:srgbClr val="000000"/>
                </a:solidFill>
                <a:latin typeface="ZztexMono-Regular"/>
              </a:rPr>
              <a:t>(int) +1e10 </a:t>
            </a:r>
            <a:r>
              <a:rPr lang="en-US" sz="2400" b="0" i="0" u="none" strike="noStrike" baseline="0" dirty="0">
                <a:solidFill>
                  <a:srgbClr val="000000"/>
                </a:solidFill>
                <a:latin typeface="TimesTen-Roman"/>
              </a:rPr>
              <a:t>yields </a:t>
            </a:r>
            <a:r>
              <a:rPr lang="en-US" sz="2400" b="0" i="0" u="none" strike="noStrike" baseline="0" dirty="0">
                <a:solidFill>
                  <a:srgbClr val="000000"/>
                </a:solidFill>
                <a:latin typeface="ZztexMono-Regular"/>
              </a:rPr>
              <a:t>-21483648</a:t>
            </a:r>
            <a:r>
              <a:rPr lang="en-US" sz="2400" b="0" i="0" u="none" strike="noStrike" baseline="0" dirty="0">
                <a:solidFill>
                  <a:srgbClr val="000000"/>
                </a:solidFill>
                <a:latin typeface="TimesTen-Roman"/>
              </a:rPr>
              <a:t>, </a:t>
            </a:r>
          </a:p>
          <a:p>
            <a:pPr marL="0" indent="0" algn="l">
              <a:buNone/>
            </a:pPr>
            <a:r>
              <a:rPr lang="en-US" sz="2400" dirty="0">
                <a:solidFill>
                  <a:srgbClr val="000000"/>
                </a:solidFill>
                <a:latin typeface="TimesTen-Roman"/>
              </a:rPr>
              <a:t>	</a:t>
            </a:r>
            <a:r>
              <a:rPr lang="en-US" sz="2400" b="0" i="0" u="none" strike="noStrike" baseline="0" dirty="0">
                <a:solidFill>
                  <a:srgbClr val="000000"/>
                </a:solidFill>
                <a:latin typeface="TimesTen-Roman"/>
              </a:rPr>
              <a:t>generating a negative value from a positive one.</a:t>
            </a:r>
            <a:endParaRPr lang="en-US" sz="2400" i="0" dirty="0">
              <a:solidFill>
                <a:srgbClr val="111827"/>
              </a:solidFill>
              <a:effectLst/>
              <a:latin typeface="Times New Roman" panose="02020603050405020304" pitchFamily="18" charset="0"/>
              <a:cs typeface="Times New Roman" panose="02020603050405020304" pitchFamily="18" charset="0"/>
            </a:endParaRPr>
          </a:p>
        </p:txBody>
      </p:sp>
      <p:sp>
        <p:nvSpPr>
          <p:cNvPr id="8" name="灯片编号占位符 7"/>
          <p:cNvSpPr>
            <a:spLocks noGrp="1"/>
          </p:cNvSpPr>
          <p:nvPr>
            <p:ph type="sldNum" sz="quarter" idx="10"/>
          </p:nvPr>
        </p:nvSpPr>
        <p:spPr/>
        <p:txBody>
          <a:bodyPr/>
          <a:lstStyle/>
          <a:p>
            <a:fld id="{D9B6BDF2-6896-4B98-8776-C18582F63BA5}" type="slidenum">
              <a:rPr lang="zh-TW" altLang="en-US" smtClean="0"/>
              <a:t>26</a:t>
            </a:fld>
            <a:endParaRPr lang="zh-TW" altLang="en-US"/>
          </a:p>
        </p:txBody>
      </p:sp>
    </p:spTree>
    <p:extLst>
      <p:ext uri="{BB962C8B-B14F-4D97-AF65-F5344CB8AC3E}">
        <p14:creationId xmlns:p14="http://schemas.microsoft.com/office/powerpoint/2010/main" val="27479117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cs typeface="Calibri" panose="020F0502020204030204" pitchFamily="34" charset="0"/>
              </a:rPr>
              <a:t>Floating-Point Addition</a:t>
            </a:r>
            <a:r>
              <a:rPr lang="zh-CN" altLang="en-US" dirty="0">
                <a:cs typeface="Calibri" panose="020F0502020204030204" pitchFamily="34" charset="0"/>
              </a:rPr>
              <a:t> </a:t>
            </a:r>
            <a:r>
              <a:rPr lang="en-US" altLang="zh-CN" dirty="0">
                <a:cs typeface="Calibri" panose="020F0502020204030204" pitchFamily="34" charset="0"/>
              </a:rPr>
              <a:t>(1)</a:t>
            </a:r>
            <a:endParaRPr lang="en-US" dirty="0">
              <a:cs typeface="Calibri" panose="020F0502020204030204" pitchFamily="34" charset="0"/>
            </a:endParaRPr>
          </a:p>
        </p:txBody>
      </p:sp>
      <p:sp>
        <p:nvSpPr>
          <p:cNvPr id="3" name="Content Placeholder 2"/>
          <p:cNvSpPr>
            <a:spLocks noGrp="1"/>
          </p:cNvSpPr>
          <p:nvPr>
            <p:ph idx="1"/>
          </p:nvPr>
        </p:nvSpPr>
        <p:spPr>
          <a:xfrm>
            <a:off x="1331053" y="1080796"/>
            <a:ext cx="10251347" cy="5071131"/>
          </a:xfrm>
        </p:spPr>
        <p:txBody>
          <a:bodyPr>
            <a:noAutofit/>
          </a:bodyPr>
          <a:lstStyle/>
          <a:p>
            <a:r>
              <a:rPr lang="en-US" sz="2667" dirty="0"/>
              <a:t>Consider a 4-digit </a:t>
            </a:r>
            <a:r>
              <a:rPr lang="en-US" sz="2667" b="1" dirty="0">
                <a:solidFill>
                  <a:schemeClr val="accent1"/>
                </a:solidFill>
              </a:rPr>
              <a:t>decimal</a:t>
            </a:r>
            <a:r>
              <a:rPr lang="en-US" sz="2667" dirty="0">
                <a:solidFill>
                  <a:schemeClr val="accent1"/>
                </a:solidFill>
              </a:rPr>
              <a:t> </a:t>
            </a:r>
            <a:r>
              <a:rPr lang="en-US" sz="2667" dirty="0"/>
              <a:t>example</a:t>
            </a:r>
          </a:p>
          <a:p>
            <a:pPr lvl="1"/>
            <a:r>
              <a:rPr lang="en-US" sz="2400" dirty="0"/>
              <a:t>9.999 × 10</a:t>
            </a:r>
            <a:r>
              <a:rPr lang="en-US" sz="2400" baseline="30000" dirty="0"/>
              <a:t>1</a:t>
            </a:r>
            <a:r>
              <a:rPr lang="en-US" sz="2400" dirty="0"/>
              <a:t> + 1.610 × 10</a:t>
            </a:r>
            <a:r>
              <a:rPr lang="en-US" sz="2400" baseline="30000" dirty="0"/>
              <a:t>–1</a:t>
            </a:r>
          </a:p>
          <a:p>
            <a:r>
              <a:rPr lang="en-US" sz="2667" b="1" dirty="0">
                <a:solidFill>
                  <a:schemeClr val="accent1"/>
                </a:solidFill>
              </a:rPr>
              <a:t>1.</a:t>
            </a:r>
            <a:r>
              <a:rPr lang="en-US" sz="2667" dirty="0"/>
              <a:t> Align decimal points</a:t>
            </a:r>
          </a:p>
          <a:p>
            <a:pPr lvl="1"/>
            <a:r>
              <a:rPr lang="en-US" sz="2400" dirty="0"/>
              <a:t>Shift number with smaller exponent</a:t>
            </a:r>
          </a:p>
          <a:p>
            <a:pPr lvl="1"/>
            <a:r>
              <a:rPr lang="en-US" sz="2400" dirty="0"/>
              <a:t>9.999 × 10</a:t>
            </a:r>
            <a:r>
              <a:rPr lang="en-US" sz="2400" baseline="30000" dirty="0"/>
              <a:t>1 </a:t>
            </a:r>
            <a:r>
              <a:rPr lang="en-US" sz="2400" dirty="0"/>
              <a:t>+ 0.016 × 10</a:t>
            </a:r>
            <a:r>
              <a:rPr lang="en-US" sz="2400" baseline="30000" dirty="0"/>
              <a:t>1</a:t>
            </a:r>
          </a:p>
          <a:p>
            <a:r>
              <a:rPr lang="en-US" sz="2667" b="1" dirty="0">
                <a:solidFill>
                  <a:schemeClr val="accent1"/>
                </a:solidFill>
              </a:rPr>
              <a:t>2. </a:t>
            </a:r>
            <a:r>
              <a:rPr lang="en-US" sz="2667" dirty="0"/>
              <a:t>Add significands</a:t>
            </a:r>
          </a:p>
          <a:p>
            <a:pPr lvl="1"/>
            <a:r>
              <a:rPr lang="en-US" sz="2400" dirty="0"/>
              <a:t>9.999 × 10</a:t>
            </a:r>
            <a:r>
              <a:rPr lang="en-US" sz="2400" baseline="30000" dirty="0"/>
              <a:t>1 </a:t>
            </a:r>
            <a:r>
              <a:rPr lang="en-US" sz="2400" dirty="0"/>
              <a:t>+ 0.016 × 10</a:t>
            </a:r>
            <a:r>
              <a:rPr lang="en-US" sz="2400" baseline="30000" dirty="0"/>
              <a:t>1 </a:t>
            </a:r>
            <a:r>
              <a:rPr lang="en-US" sz="2400" dirty="0"/>
              <a:t>= 10.015 × 10</a:t>
            </a:r>
            <a:r>
              <a:rPr lang="en-US" sz="2400" baseline="30000" dirty="0"/>
              <a:t>1</a:t>
            </a:r>
          </a:p>
          <a:p>
            <a:r>
              <a:rPr lang="en-US" sz="2667" b="1" dirty="0">
                <a:solidFill>
                  <a:schemeClr val="accent1"/>
                </a:solidFill>
              </a:rPr>
              <a:t>3.</a:t>
            </a:r>
            <a:r>
              <a:rPr lang="en-US" sz="2667" dirty="0"/>
              <a:t> Normalize result &amp; check for over/underflow</a:t>
            </a:r>
          </a:p>
          <a:p>
            <a:pPr lvl="1"/>
            <a:r>
              <a:rPr lang="en-US" sz="2400" dirty="0"/>
              <a:t>1.0015 × 10</a:t>
            </a:r>
            <a:r>
              <a:rPr lang="en-US" sz="2400" baseline="30000" dirty="0"/>
              <a:t>2</a:t>
            </a:r>
          </a:p>
          <a:p>
            <a:r>
              <a:rPr lang="en-US" sz="2667" b="1" dirty="0">
                <a:solidFill>
                  <a:schemeClr val="accent1"/>
                </a:solidFill>
              </a:rPr>
              <a:t>4. </a:t>
            </a:r>
            <a:r>
              <a:rPr lang="en-US" sz="2667" dirty="0"/>
              <a:t>Round and renormalize if necessary</a:t>
            </a:r>
          </a:p>
          <a:p>
            <a:pPr lvl="1"/>
            <a:r>
              <a:rPr lang="en-US" sz="2400" dirty="0"/>
              <a:t>1.002 × 10</a:t>
            </a:r>
            <a:r>
              <a:rPr lang="en-US" sz="2400" baseline="30000" dirty="0"/>
              <a:t>2</a:t>
            </a:r>
          </a:p>
        </p:txBody>
      </p:sp>
      <p:sp>
        <p:nvSpPr>
          <p:cNvPr id="6" name="灯片编号占位符 5"/>
          <p:cNvSpPr>
            <a:spLocks noGrp="1"/>
          </p:cNvSpPr>
          <p:nvPr>
            <p:ph type="sldNum" sz="quarter" idx="10"/>
          </p:nvPr>
        </p:nvSpPr>
        <p:spPr/>
        <p:txBody>
          <a:bodyPr/>
          <a:lstStyle/>
          <a:p>
            <a:fld id="{D9B6BDF2-6896-4B98-8776-C18582F63BA5}" type="slidenum">
              <a:rPr lang="zh-TW" altLang="en-US" smtClean="0"/>
              <a:t>27</a:t>
            </a:fld>
            <a:endParaRPr lang="zh-TW"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Floating-Point Addition (2)</a:t>
            </a:r>
          </a:p>
        </p:txBody>
      </p:sp>
      <p:sp>
        <p:nvSpPr>
          <p:cNvPr id="3" name="Content Placeholder 2"/>
          <p:cNvSpPr>
            <a:spLocks noGrp="1"/>
          </p:cNvSpPr>
          <p:nvPr>
            <p:ph idx="1"/>
          </p:nvPr>
        </p:nvSpPr>
        <p:spPr>
          <a:xfrm>
            <a:off x="1409350" y="1047240"/>
            <a:ext cx="10173049" cy="5093501"/>
          </a:xfrm>
        </p:spPr>
        <p:txBody>
          <a:bodyPr>
            <a:noAutofit/>
          </a:bodyPr>
          <a:lstStyle/>
          <a:p>
            <a:r>
              <a:rPr lang="en-US" sz="2667" dirty="0"/>
              <a:t>Now consider a 4-digit </a:t>
            </a:r>
            <a:r>
              <a:rPr lang="en-US" sz="2667" b="1" dirty="0">
                <a:solidFill>
                  <a:schemeClr val="accent1"/>
                </a:solidFill>
              </a:rPr>
              <a:t>binary</a:t>
            </a:r>
            <a:r>
              <a:rPr lang="en-US" sz="2667" dirty="0">
                <a:solidFill>
                  <a:schemeClr val="accent1"/>
                </a:solidFill>
              </a:rPr>
              <a:t> </a:t>
            </a:r>
            <a:r>
              <a:rPr lang="en-US" sz="2667" dirty="0"/>
              <a:t>example</a:t>
            </a:r>
          </a:p>
          <a:p>
            <a:pPr lvl="1"/>
            <a:r>
              <a:rPr lang="en-US" sz="2400" dirty="0"/>
              <a:t>1.000</a:t>
            </a:r>
            <a:r>
              <a:rPr lang="en-US" sz="2400" baseline="-25000" dirty="0"/>
              <a:t>2</a:t>
            </a:r>
            <a:r>
              <a:rPr lang="en-US" sz="2400" dirty="0"/>
              <a:t> × 2</a:t>
            </a:r>
            <a:r>
              <a:rPr lang="en-US" sz="2400" baseline="30000" dirty="0"/>
              <a:t>–1</a:t>
            </a:r>
            <a:r>
              <a:rPr lang="en-US" sz="2400" dirty="0"/>
              <a:t> + –1.110</a:t>
            </a:r>
            <a:r>
              <a:rPr lang="en-US" sz="2400" baseline="-25000" dirty="0"/>
              <a:t>2</a:t>
            </a:r>
            <a:r>
              <a:rPr lang="en-US" sz="2400" dirty="0"/>
              <a:t> × 2</a:t>
            </a:r>
            <a:r>
              <a:rPr lang="en-US" sz="2400" baseline="30000" dirty="0"/>
              <a:t>–2</a:t>
            </a:r>
            <a:r>
              <a:rPr lang="en-US" sz="2400" dirty="0"/>
              <a:t>   (0.5 + –0.4375)</a:t>
            </a:r>
          </a:p>
          <a:p>
            <a:r>
              <a:rPr lang="en-US" sz="2667" b="1" dirty="0">
                <a:solidFill>
                  <a:schemeClr val="accent1"/>
                </a:solidFill>
              </a:rPr>
              <a:t>1. </a:t>
            </a:r>
            <a:r>
              <a:rPr lang="en-US" sz="2667" dirty="0"/>
              <a:t>Align binary points</a:t>
            </a:r>
          </a:p>
          <a:p>
            <a:pPr lvl="1"/>
            <a:r>
              <a:rPr lang="en-US" sz="2400" dirty="0"/>
              <a:t>Shift number with smaller exponent</a:t>
            </a:r>
          </a:p>
          <a:p>
            <a:pPr lvl="1"/>
            <a:r>
              <a:rPr lang="en-US" sz="2400" dirty="0"/>
              <a:t>1.000</a:t>
            </a:r>
            <a:r>
              <a:rPr lang="en-US" sz="2400" baseline="-25000" dirty="0"/>
              <a:t>2</a:t>
            </a:r>
            <a:r>
              <a:rPr lang="en-US" sz="2400" dirty="0"/>
              <a:t> × 2</a:t>
            </a:r>
            <a:r>
              <a:rPr lang="en-US" sz="2400" baseline="30000" dirty="0"/>
              <a:t>–1</a:t>
            </a:r>
            <a:r>
              <a:rPr lang="en-US" sz="2400" dirty="0"/>
              <a:t> + –0.111</a:t>
            </a:r>
            <a:r>
              <a:rPr lang="en-US" sz="2400" baseline="-25000" dirty="0"/>
              <a:t>2</a:t>
            </a:r>
            <a:r>
              <a:rPr lang="en-US" sz="2400" dirty="0"/>
              <a:t> × 2</a:t>
            </a:r>
            <a:r>
              <a:rPr lang="en-US" sz="2400" baseline="30000" dirty="0"/>
              <a:t>–1</a:t>
            </a:r>
          </a:p>
          <a:p>
            <a:r>
              <a:rPr lang="en-US" sz="2667" b="1" dirty="0">
                <a:solidFill>
                  <a:schemeClr val="accent1"/>
                </a:solidFill>
              </a:rPr>
              <a:t>2. </a:t>
            </a:r>
            <a:r>
              <a:rPr lang="en-US" sz="2667" dirty="0"/>
              <a:t>Add significands</a:t>
            </a:r>
          </a:p>
          <a:p>
            <a:pPr lvl="1"/>
            <a:r>
              <a:rPr lang="en-US" sz="2400" dirty="0"/>
              <a:t>1.000</a:t>
            </a:r>
            <a:r>
              <a:rPr lang="en-US" sz="2400" baseline="-25000" dirty="0"/>
              <a:t>2</a:t>
            </a:r>
            <a:r>
              <a:rPr lang="en-US" sz="2400" dirty="0"/>
              <a:t> × 2</a:t>
            </a:r>
            <a:r>
              <a:rPr lang="en-US" sz="2400" baseline="30000" dirty="0"/>
              <a:t>–1</a:t>
            </a:r>
            <a:r>
              <a:rPr lang="en-US" sz="2400" dirty="0"/>
              <a:t> + –0.111</a:t>
            </a:r>
            <a:r>
              <a:rPr lang="en-US" sz="2400" baseline="-25000" dirty="0"/>
              <a:t>2</a:t>
            </a:r>
            <a:r>
              <a:rPr lang="en-US" sz="2400" dirty="0"/>
              <a:t> × 2</a:t>
            </a:r>
            <a:r>
              <a:rPr lang="en-US" sz="2400" baseline="30000" dirty="0"/>
              <a:t>–1</a:t>
            </a:r>
            <a:r>
              <a:rPr lang="en-US" sz="2400" dirty="0"/>
              <a:t> = 0.001</a:t>
            </a:r>
            <a:r>
              <a:rPr lang="en-US" sz="2400" baseline="-25000" dirty="0"/>
              <a:t>2</a:t>
            </a:r>
            <a:r>
              <a:rPr lang="en-US" sz="2400" dirty="0"/>
              <a:t> × 2</a:t>
            </a:r>
            <a:r>
              <a:rPr lang="en-US" sz="2400" baseline="30000" dirty="0"/>
              <a:t>–1</a:t>
            </a:r>
          </a:p>
          <a:p>
            <a:r>
              <a:rPr lang="en-US" sz="2667" b="1" dirty="0">
                <a:solidFill>
                  <a:schemeClr val="accent1"/>
                </a:solidFill>
              </a:rPr>
              <a:t>3. </a:t>
            </a:r>
            <a:r>
              <a:rPr lang="en-US" sz="2667" dirty="0"/>
              <a:t>Normalize result &amp; check for over/underflow</a:t>
            </a:r>
          </a:p>
          <a:p>
            <a:pPr lvl="1"/>
            <a:r>
              <a:rPr lang="en-US" sz="2400" dirty="0"/>
              <a:t>1.000</a:t>
            </a:r>
            <a:r>
              <a:rPr lang="en-US" sz="2400" baseline="-25000" dirty="0"/>
              <a:t>2</a:t>
            </a:r>
            <a:r>
              <a:rPr lang="en-US" sz="2400" dirty="0"/>
              <a:t> × 2</a:t>
            </a:r>
            <a:r>
              <a:rPr lang="en-US" sz="2400" baseline="30000" dirty="0"/>
              <a:t>–4</a:t>
            </a:r>
            <a:r>
              <a:rPr lang="en-US" sz="2400" dirty="0"/>
              <a:t>, with no over/underflow</a:t>
            </a:r>
          </a:p>
          <a:p>
            <a:r>
              <a:rPr lang="en-US" sz="2667" b="1" dirty="0">
                <a:solidFill>
                  <a:schemeClr val="accent1"/>
                </a:solidFill>
              </a:rPr>
              <a:t>4. </a:t>
            </a:r>
            <a:r>
              <a:rPr lang="en-US" sz="2667" dirty="0"/>
              <a:t>Round and renormalize if necessary</a:t>
            </a:r>
          </a:p>
          <a:p>
            <a:pPr lvl="1"/>
            <a:r>
              <a:rPr lang="en-US" sz="2400" dirty="0"/>
              <a:t>1.000</a:t>
            </a:r>
            <a:r>
              <a:rPr lang="en-US" sz="2400" baseline="-25000" dirty="0"/>
              <a:t>2</a:t>
            </a:r>
            <a:r>
              <a:rPr lang="en-US" sz="2400" dirty="0"/>
              <a:t> × 2</a:t>
            </a:r>
            <a:r>
              <a:rPr lang="en-US" sz="2400" baseline="30000" dirty="0"/>
              <a:t>–4</a:t>
            </a:r>
            <a:r>
              <a:rPr lang="en-US" sz="2400" dirty="0"/>
              <a:t> (no change) = 0.0625</a:t>
            </a:r>
          </a:p>
        </p:txBody>
      </p:sp>
      <p:sp>
        <p:nvSpPr>
          <p:cNvPr id="6" name="灯片编号占位符 5"/>
          <p:cNvSpPr>
            <a:spLocks noGrp="1"/>
          </p:cNvSpPr>
          <p:nvPr>
            <p:ph type="sldNum" sz="quarter" idx="10"/>
          </p:nvPr>
        </p:nvSpPr>
        <p:spPr/>
        <p:txBody>
          <a:bodyPr/>
          <a:lstStyle/>
          <a:p>
            <a:fld id="{D9B6BDF2-6896-4B98-8776-C18582F63BA5}" type="slidenum">
              <a:rPr lang="zh-TW" altLang="en-US" smtClean="0"/>
              <a:t>28</a:t>
            </a:fld>
            <a:endParaRPr lang="zh-TW"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cs typeface="Calibri" panose="020F0502020204030204" pitchFamily="34" charset="0"/>
              </a:rPr>
              <a:t>FP Adder Hardware (1)</a:t>
            </a:r>
          </a:p>
        </p:txBody>
      </p:sp>
      <p:sp>
        <p:nvSpPr>
          <p:cNvPr id="3" name="Content Placeholder 2"/>
          <p:cNvSpPr>
            <a:spLocks noGrp="1"/>
          </p:cNvSpPr>
          <p:nvPr>
            <p:ph idx="1"/>
          </p:nvPr>
        </p:nvSpPr>
        <p:spPr>
          <a:xfrm>
            <a:off x="1297497" y="1125538"/>
            <a:ext cx="10284903" cy="3471629"/>
          </a:xfrm>
        </p:spPr>
        <p:txBody>
          <a:bodyPr>
            <a:normAutofit lnSpcReduction="10000"/>
          </a:bodyPr>
          <a:lstStyle/>
          <a:p>
            <a:r>
              <a:rPr lang="en-US" dirty="0"/>
              <a:t>Much more complex than integer adder</a:t>
            </a:r>
          </a:p>
          <a:p>
            <a:r>
              <a:rPr lang="en-US" dirty="0"/>
              <a:t>Doing it in one clock cycle would take too long</a:t>
            </a:r>
          </a:p>
          <a:p>
            <a:pPr lvl="1"/>
            <a:r>
              <a:rPr lang="en-US" dirty="0"/>
              <a:t>Much longer than integer operations</a:t>
            </a:r>
          </a:p>
          <a:p>
            <a:pPr lvl="1"/>
            <a:r>
              <a:rPr lang="en-US" dirty="0"/>
              <a:t>Slower clock would penalize all instructions</a:t>
            </a:r>
          </a:p>
          <a:p>
            <a:r>
              <a:rPr lang="en-US" dirty="0"/>
              <a:t>FP adder usually takes several cycles</a:t>
            </a:r>
          </a:p>
          <a:p>
            <a:pPr lvl="1"/>
            <a:r>
              <a:rPr lang="en-US" dirty="0"/>
              <a:t>Can be pipelined</a:t>
            </a:r>
          </a:p>
        </p:txBody>
      </p:sp>
      <p:sp>
        <p:nvSpPr>
          <p:cNvPr id="6" name="灯片编号占位符 5"/>
          <p:cNvSpPr>
            <a:spLocks noGrp="1"/>
          </p:cNvSpPr>
          <p:nvPr>
            <p:ph type="sldNum" sz="quarter" idx="10"/>
          </p:nvPr>
        </p:nvSpPr>
        <p:spPr/>
        <p:txBody>
          <a:bodyPr/>
          <a:lstStyle/>
          <a:p>
            <a:fld id="{D9B6BDF2-6896-4B98-8776-C18582F63BA5}" type="slidenum">
              <a:rPr lang="zh-TW" altLang="en-US" smtClean="0"/>
              <a:t>29</a:t>
            </a:fld>
            <a:endParaRPr lang="zh-TW"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FP Adder Hardware (2)</a:t>
            </a:r>
          </a:p>
        </p:txBody>
      </p:sp>
      <p:grpSp>
        <p:nvGrpSpPr>
          <p:cNvPr id="4" name="组合 3"/>
          <p:cNvGrpSpPr/>
          <p:nvPr/>
        </p:nvGrpSpPr>
        <p:grpSpPr>
          <a:xfrm>
            <a:off x="1296786" y="1144377"/>
            <a:ext cx="9842268" cy="4918067"/>
            <a:chOff x="2267216" y="875061"/>
            <a:chExt cx="4835743" cy="3624131"/>
          </a:xfrm>
        </p:grpSpPr>
        <p:pic>
          <p:nvPicPr>
            <p:cNvPr id="8" name="Picture 7"/>
            <p:cNvPicPr>
              <a:picLocks noChangeAspect="1"/>
            </p:cNvPicPr>
            <p:nvPr/>
          </p:nvPicPr>
          <p:blipFill>
            <a:blip r:embed="rId2"/>
            <a:stretch>
              <a:fillRect/>
            </a:stretch>
          </p:blipFill>
          <p:spPr>
            <a:xfrm>
              <a:off x="2267216" y="875061"/>
              <a:ext cx="3839969" cy="3624131"/>
            </a:xfrm>
            <a:prstGeom prst="rect">
              <a:avLst/>
            </a:prstGeom>
          </p:spPr>
        </p:pic>
        <p:sp>
          <p:nvSpPr>
            <p:cNvPr id="9" name="TextBox 8"/>
            <p:cNvSpPr txBox="1"/>
            <p:nvPr/>
          </p:nvSpPr>
          <p:spPr>
            <a:xfrm>
              <a:off x="6336382" y="1823953"/>
              <a:ext cx="430971" cy="272161"/>
            </a:xfrm>
            <a:prstGeom prst="rect">
              <a:avLst/>
            </a:prstGeom>
            <a:noFill/>
          </p:spPr>
          <p:txBody>
            <a:bodyPr wrap="none" rtlCol="0">
              <a:spAutoFit/>
            </a:bodyPr>
            <a:lstStyle/>
            <a:p>
              <a:r>
                <a:rPr lang="en-US" b="1" dirty="0">
                  <a:solidFill>
                    <a:schemeClr val="accent1"/>
                  </a:solidFill>
                </a:rPr>
                <a:t>Step 1</a:t>
              </a:r>
            </a:p>
          </p:txBody>
        </p:sp>
        <p:sp>
          <p:nvSpPr>
            <p:cNvPr id="10" name="TextBox 9"/>
            <p:cNvSpPr txBox="1"/>
            <p:nvPr/>
          </p:nvSpPr>
          <p:spPr>
            <a:xfrm>
              <a:off x="6311215" y="2788975"/>
              <a:ext cx="430971" cy="272161"/>
            </a:xfrm>
            <a:prstGeom prst="rect">
              <a:avLst/>
            </a:prstGeom>
            <a:noFill/>
          </p:spPr>
          <p:txBody>
            <a:bodyPr wrap="none" rtlCol="0">
              <a:spAutoFit/>
            </a:bodyPr>
            <a:lstStyle/>
            <a:p>
              <a:r>
                <a:rPr lang="en-US" b="1" dirty="0">
                  <a:solidFill>
                    <a:schemeClr val="accent1"/>
                  </a:solidFill>
                </a:rPr>
                <a:t>Step 2</a:t>
              </a:r>
            </a:p>
          </p:txBody>
        </p:sp>
        <p:sp>
          <p:nvSpPr>
            <p:cNvPr id="11" name="TextBox 10"/>
            <p:cNvSpPr txBox="1"/>
            <p:nvPr/>
          </p:nvSpPr>
          <p:spPr>
            <a:xfrm>
              <a:off x="6294437" y="3497017"/>
              <a:ext cx="430971" cy="272161"/>
            </a:xfrm>
            <a:prstGeom prst="rect">
              <a:avLst/>
            </a:prstGeom>
            <a:noFill/>
          </p:spPr>
          <p:txBody>
            <a:bodyPr wrap="none" rtlCol="0">
              <a:spAutoFit/>
            </a:bodyPr>
            <a:lstStyle/>
            <a:p>
              <a:r>
                <a:rPr lang="en-US" b="1" dirty="0">
                  <a:solidFill>
                    <a:schemeClr val="accent1"/>
                  </a:solidFill>
                </a:rPr>
                <a:t>Step 3</a:t>
              </a:r>
            </a:p>
          </p:txBody>
        </p:sp>
        <p:sp>
          <p:nvSpPr>
            <p:cNvPr id="12" name="TextBox 11"/>
            <p:cNvSpPr txBox="1"/>
            <p:nvPr/>
          </p:nvSpPr>
          <p:spPr>
            <a:xfrm>
              <a:off x="6294437" y="3926042"/>
              <a:ext cx="430971" cy="272161"/>
            </a:xfrm>
            <a:prstGeom prst="rect">
              <a:avLst/>
            </a:prstGeom>
            <a:noFill/>
          </p:spPr>
          <p:txBody>
            <a:bodyPr wrap="none" rtlCol="0">
              <a:spAutoFit/>
            </a:bodyPr>
            <a:lstStyle/>
            <a:p>
              <a:r>
                <a:rPr lang="en-US" b="1">
                  <a:solidFill>
                    <a:schemeClr val="accent1"/>
                  </a:solidFill>
                </a:rPr>
                <a:t>Step 4</a:t>
              </a:r>
              <a:endParaRPr lang="en-US" b="1" dirty="0">
                <a:solidFill>
                  <a:schemeClr val="accent1"/>
                </a:solidFill>
              </a:endParaRPr>
            </a:p>
          </p:txBody>
        </p:sp>
        <p:sp>
          <p:nvSpPr>
            <p:cNvPr id="13" name="Curved Left Arrow 12"/>
            <p:cNvSpPr/>
            <p:nvPr/>
          </p:nvSpPr>
          <p:spPr>
            <a:xfrm flipV="1">
              <a:off x="6933073" y="3635516"/>
              <a:ext cx="169886" cy="488467"/>
            </a:xfrm>
            <a:prstGeom prst="curvedLef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solidFill>
                  <a:schemeClr val="tx1"/>
                </a:solidFill>
              </a:endParaRPr>
            </a:p>
          </p:txBody>
        </p:sp>
        <p:sp>
          <p:nvSpPr>
            <p:cNvPr id="14" name="Right Brace 13"/>
            <p:cNvSpPr/>
            <p:nvPr/>
          </p:nvSpPr>
          <p:spPr>
            <a:xfrm>
              <a:off x="6137184" y="1258054"/>
              <a:ext cx="148665" cy="1407319"/>
            </a:xfrm>
            <a:prstGeom prst="rightBrace">
              <a:avLst>
                <a:gd name="adj1" fmla="val 121257"/>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Right Brace 14"/>
            <p:cNvSpPr/>
            <p:nvPr/>
          </p:nvSpPr>
          <p:spPr>
            <a:xfrm>
              <a:off x="6112017" y="2745236"/>
              <a:ext cx="148665" cy="406994"/>
            </a:xfrm>
            <a:prstGeom prst="rightBrace">
              <a:avLst>
                <a:gd name="adj1" fmla="val 121257"/>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Right Brace 15"/>
            <p:cNvSpPr/>
            <p:nvPr/>
          </p:nvSpPr>
          <p:spPr>
            <a:xfrm>
              <a:off x="6095239" y="3443222"/>
              <a:ext cx="148665" cy="400250"/>
            </a:xfrm>
            <a:prstGeom prst="rightBrace">
              <a:avLst>
                <a:gd name="adj1" fmla="val 121257"/>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Right Brace 16"/>
            <p:cNvSpPr/>
            <p:nvPr/>
          </p:nvSpPr>
          <p:spPr>
            <a:xfrm>
              <a:off x="6095239" y="3926042"/>
              <a:ext cx="148665" cy="317480"/>
            </a:xfrm>
            <a:prstGeom prst="rightBrace">
              <a:avLst>
                <a:gd name="adj1" fmla="val 121257"/>
                <a:gd name="adj2"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3" name="灯片编号占位符 2"/>
          <p:cNvSpPr>
            <a:spLocks noGrp="1"/>
          </p:cNvSpPr>
          <p:nvPr>
            <p:ph type="sldNum" sz="quarter" idx="10"/>
          </p:nvPr>
        </p:nvSpPr>
        <p:spPr/>
        <p:txBody>
          <a:bodyPr/>
          <a:lstStyle/>
          <a:p>
            <a:fld id="{D9B6BDF2-6896-4B98-8776-C18582F63BA5}" type="slidenum">
              <a:rPr lang="zh-TW" altLang="en-US" smtClean="0"/>
              <a:t>30</a:t>
            </a:fld>
            <a:endParaRPr lang="zh-TW"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FP Arithmetic Hardware</a:t>
            </a:r>
          </a:p>
        </p:txBody>
      </p:sp>
      <p:sp>
        <p:nvSpPr>
          <p:cNvPr id="3" name="Content Placeholder 2"/>
          <p:cNvSpPr>
            <a:spLocks noGrp="1"/>
          </p:cNvSpPr>
          <p:nvPr>
            <p:ph idx="1"/>
          </p:nvPr>
        </p:nvSpPr>
        <p:spPr>
          <a:xfrm>
            <a:off x="445771" y="1125538"/>
            <a:ext cx="11590020" cy="4806632"/>
          </a:xfrm>
        </p:spPr>
        <p:txBody>
          <a:bodyPr>
            <a:normAutofit fontScale="92500" lnSpcReduction="20000"/>
          </a:bodyPr>
          <a:lstStyle/>
          <a:p>
            <a:r>
              <a:rPr lang="en-US" dirty="0"/>
              <a:t>FP multiplier is of similar complexity to FP adder</a:t>
            </a:r>
          </a:p>
          <a:p>
            <a:pPr lvl="1"/>
            <a:r>
              <a:rPr lang="en-US" dirty="0"/>
              <a:t>But uses a multiplier for significands instead of an adder</a:t>
            </a:r>
          </a:p>
          <a:p>
            <a:r>
              <a:rPr lang="en-US" dirty="0"/>
              <a:t>FP arithmetic hardware usually does</a:t>
            </a:r>
          </a:p>
          <a:p>
            <a:pPr lvl="1"/>
            <a:r>
              <a:rPr lang="en-US" dirty="0"/>
              <a:t>Addition, subtraction, multiplication, division, reciprocal, square-root</a:t>
            </a:r>
          </a:p>
          <a:p>
            <a:pPr lvl="1"/>
            <a:r>
              <a:rPr lang="en-US" dirty="0"/>
              <a:t>FP ↔ integer conversion</a:t>
            </a:r>
          </a:p>
          <a:p>
            <a:pPr marL="457176" lvl="1" indent="0">
              <a:buNone/>
            </a:pPr>
            <a:r>
              <a:rPr lang="en-US" dirty="0"/>
              <a:t>(conversion is a relatively expensive operation partly due to the separate FP and Int register files)</a:t>
            </a:r>
          </a:p>
          <a:p>
            <a:r>
              <a:rPr lang="en-US" dirty="0"/>
              <a:t>Operations usually takes several cycles</a:t>
            </a:r>
          </a:p>
          <a:p>
            <a:pPr lvl="1"/>
            <a:r>
              <a:rPr lang="en-US" dirty="0"/>
              <a:t>Can be pipelined (the conversion unit may be not)</a:t>
            </a:r>
          </a:p>
        </p:txBody>
      </p:sp>
      <p:sp>
        <p:nvSpPr>
          <p:cNvPr id="6" name="灯片编号占位符 5"/>
          <p:cNvSpPr>
            <a:spLocks noGrp="1"/>
          </p:cNvSpPr>
          <p:nvPr>
            <p:ph type="sldNum" sz="quarter" idx="10"/>
          </p:nvPr>
        </p:nvSpPr>
        <p:spPr/>
        <p:txBody>
          <a:bodyPr/>
          <a:lstStyle/>
          <a:p>
            <a:fld id="{D9B6BDF2-6896-4B98-8776-C18582F63BA5}" type="slidenum">
              <a:rPr lang="zh-TW" altLang="en-US" smtClean="0"/>
              <a:t>31</a:t>
            </a:fld>
            <a:endParaRPr lang="zh-TW"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cs typeface="Calibri" panose="020F0502020204030204" pitchFamily="34" charset="0"/>
              </a:rPr>
              <a:t>FP Multiply Hardware</a:t>
            </a:r>
          </a:p>
        </p:txBody>
      </p:sp>
      <p:sp>
        <p:nvSpPr>
          <p:cNvPr id="3" name="Content Placeholder 2"/>
          <p:cNvSpPr>
            <a:spLocks noGrp="1"/>
          </p:cNvSpPr>
          <p:nvPr>
            <p:ph idx="1"/>
          </p:nvPr>
        </p:nvSpPr>
        <p:spPr>
          <a:xfrm>
            <a:off x="600075" y="1125538"/>
            <a:ext cx="11352742" cy="4789487"/>
          </a:xfrm>
        </p:spPr>
        <p:txBody>
          <a:bodyPr>
            <a:normAutofit/>
          </a:bodyPr>
          <a:lstStyle/>
          <a:p>
            <a:r>
              <a:rPr lang="en-US" dirty="0"/>
              <a:t>FP multiply skips the first step of exponent alignment</a:t>
            </a:r>
          </a:p>
          <a:p>
            <a:r>
              <a:rPr lang="en-US" dirty="0"/>
              <a:t>They do partial products and add two exponents, two operations in parallel.</a:t>
            </a:r>
          </a:p>
          <a:p>
            <a:r>
              <a:rPr lang="en-US" dirty="0"/>
              <a:t>Then reduction, normalization, and rounding.</a:t>
            </a:r>
          </a:p>
          <a:p>
            <a:r>
              <a:rPr lang="en-US" dirty="0"/>
              <a:t>So FP multiply usually takes 4-5 cycles. One cycle longer than FADD. </a:t>
            </a:r>
          </a:p>
        </p:txBody>
      </p:sp>
      <p:sp>
        <p:nvSpPr>
          <p:cNvPr id="6" name="灯片编号占位符 5"/>
          <p:cNvSpPr>
            <a:spLocks noGrp="1"/>
          </p:cNvSpPr>
          <p:nvPr>
            <p:ph type="sldNum" sz="quarter" idx="10"/>
          </p:nvPr>
        </p:nvSpPr>
        <p:spPr/>
        <p:txBody>
          <a:bodyPr/>
          <a:lstStyle/>
          <a:p>
            <a:fld id="{D9B6BDF2-6896-4B98-8776-C18582F63BA5}" type="slidenum">
              <a:rPr lang="zh-TW" altLang="en-US" smtClean="0"/>
              <a:t>32</a:t>
            </a:fld>
            <a:endParaRPr lang="zh-TW" altLang="en-US"/>
          </a:p>
        </p:txBody>
      </p:sp>
      <p:pic>
        <p:nvPicPr>
          <p:cNvPr id="5" name="Picture 4">
            <a:extLst>
              <a:ext uri="{FF2B5EF4-FFF2-40B4-BE49-F238E27FC236}">
                <a16:creationId xmlns:a16="http://schemas.microsoft.com/office/drawing/2014/main" id="{19E894D0-4E15-44CA-98BE-F236755B60E7}"/>
              </a:ext>
            </a:extLst>
          </p:cNvPr>
          <p:cNvPicPr>
            <a:picLocks noChangeAspect="1"/>
          </p:cNvPicPr>
          <p:nvPr/>
        </p:nvPicPr>
        <p:blipFill>
          <a:blip r:embed="rId2"/>
          <a:stretch>
            <a:fillRect/>
          </a:stretch>
        </p:blipFill>
        <p:spPr>
          <a:xfrm>
            <a:off x="7658100" y="4625871"/>
            <a:ext cx="4057650" cy="1578075"/>
          </a:xfrm>
          <a:prstGeom prst="rect">
            <a:avLst/>
          </a:prstGeom>
        </p:spPr>
      </p:pic>
      <p:sp>
        <p:nvSpPr>
          <p:cNvPr id="4" name="TextBox 3">
            <a:extLst>
              <a:ext uri="{FF2B5EF4-FFF2-40B4-BE49-F238E27FC236}">
                <a16:creationId xmlns:a16="http://schemas.microsoft.com/office/drawing/2014/main" id="{492CF205-9C02-4DCB-A8BD-7D6F86505CBC}"/>
              </a:ext>
            </a:extLst>
          </p:cNvPr>
          <p:cNvSpPr txBox="1"/>
          <p:nvPr/>
        </p:nvSpPr>
        <p:spPr>
          <a:xfrm>
            <a:off x="6434688" y="5363130"/>
            <a:ext cx="1223412" cy="369332"/>
          </a:xfrm>
          <a:prstGeom prst="rect">
            <a:avLst/>
          </a:prstGeom>
          <a:noFill/>
        </p:spPr>
        <p:txBody>
          <a:bodyPr wrap="none" rtlCol="0" anchor="ctr" anchorCtr="1">
            <a:spAutoFit/>
          </a:bodyPr>
          <a:lstStyle/>
          <a:p>
            <a:r>
              <a:rPr lang="en-US" dirty="0">
                <a:ea typeface="標楷體" pitchFamily="65" charset="-120"/>
                <a:cs typeface="Calibri" pitchFamily="34" charset="0"/>
              </a:rPr>
              <a:t>Reduction</a:t>
            </a:r>
          </a:p>
        </p:txBody>
      </p:sp>
    </p:spTree>
    <p:extLst>
      <p:ext uri="{BB962C8B-B14F-4D97-AF65-F5344CB8AC3E}">
        <p14:creationId xmlns:p14="http://schemas.microsoft.com/office/powerpoint/2010/main" val="291990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cs typeface="Calibri" panose="020F0502020204030204" pitchFamily="34" charset="0"/>
              </a:rPr>
              <a:t>FMA or FMAC Instructions (1) </a:t>
            </a:r>
          </a:p>
        </p:txBody>
      </p:sp>
      <p:sp>
        <p:nvSpPr>
          <p:cNvPr id="3" name="Content Placeholder 2"/>
          <p:cNvSpPr>
            <a:spLocks noGrp="1"/>
          </p:cNvSpPr>
          <p:nvPr>
            <p:ph idx="1"/>
          </p:nvPr>
        </p:nvSpPr>
        <p:spPr>
          <a:xfrm>
            <a:off x="600075" y="1125538"/>
            <a:ext cx="11352742" cy="4789487"/>
          </a:xfrm>
        </p:spPr>
        <p:txBody>
          <a:bodyPr>
            <a:normAutofit lnSpcReduction="10000"/>
          </a:bodyPr>
          <a:lstStyle/>
          <a:p>
            <a:r>
              <a:rPr lang="en-US" sz="3200" dirty="0"/>
              <a:t>Fused Multiply and Add (FMA) or Fused Multiply and Accumulate (FMAC) combines multiply and add in one instruction.</a:t>
            </a:r>
          </a:p>
          <a:p>
            <a:r>
              <a:rPr lang="en-US" sz="3200" dirty="0"/>
              <a:t>Latency is still 5-6 cycles: </a:t>
            </a:r>
          </a:p>
          <a:p>
            <a:pPr marL="0" indent="0">
              <a:buNone/>
            </a:pPr>
            <a:r>
              <a:rPr lang="en-US" sz="3200" b="0" i="0" dirty="0">
                <a:solidFill>
                  <a:srgbClr val="374151"/>
                </a:solidFill>
                <a:effectLst/>
                <a:latin typeface="ui-sans-serif"/>
              </a:rPr>
              <a:t>	</a:t>
            </a:r>
            <a:r>
              <a:rPr lang="en-US" sz="2800" b="0" i="0" dirty="0">
                <a:solidFill>
                  <a:srgbClr val="374151"/>
                </a:solidFill>
                <a:effectLst/>
                <a:latin typeface="ui-sans-serif"/>
              </a:rPr>
              <a:t>The intermediate product is </a:t>
            </a:r>
            <a:r>
              <a:rPr lang="en-US" sz="2800" b="1" i="0" dirty="0">
                <a:solidFill>
                  <a:srgbClr val="111827"/>
                </a:solidFill>
                <a:effectLst/>
                <a:latin typeface="ui-sans-serif"/>
              </a:rPr>
              <a:t>not rounded</a:t>
            </a:r>
            <a:r>
              <a:rPr lang="en-US" sz="2800" b="0" i="0" dirty="0">
                <a:solidFill>
                  <a:srgbClr val="374151"/>
                </a:solidFill>
                <a:effectLst/>
                <a:latin typeface="ui-sans-serif"/>
              </a:rPr>
              <a:t> before the addition — the 	addition happens with the full-precision product, and only one 	rounding is done at the end. So the four steps look like</a:t>
            </a:r>
          </a:p>
          <a:p>
            <a:pPr marL="0" indent="0">
              <a:buNone/>
            </a:pPr>
            <a:r>
              <a:rPr lang="en-US" sz="2800" dirty="0">
                <a:solidFill>
                  <a:srgbClr val="374151"/>
                </a:solidFill>
                <a:latin typeface="ui-sans-serif"/>
              </a:rPr>
              <a:t>	</a:t>
            </a:r>
            <a:r>
              <a:rPr lang="en-US" sz="2400" b="1" dirty="0">
                <a:solidFill>
                  <a:srgbClr val="374151"/>
                </a:solidFill>
                <a:latin typeface="ui-sans-serif"/>
              </a:rPr>
              <a:t>1.</a:t>
            </a:r>
            <a:r>
              <a:rPr lang="en-US" sz="2800" dirty="0">
                <a:solidFill>
                  <a:srgbClr val="374151"/>
                </a:solidFill>
                <a:latin typeface="ui-sans-serif"/>
              </a:rPr>
              <a:t> </a:t>
            </a:r>
            <a:r>
              <a:rPr lang="en-US" sz="2400" b="1" i="0" dirty="0">
                <a:solidFill>
                  <a:srgbClr val="111827"/>
                </a:solidFill>
                <a:effectLst/>
                <a:latin typeface="ui-sans-serif"/>
              </a:rPr>
              <a:t>Partial Product Generation</a:t>
            </a:r>
          </a:p>
          <a:p>
            <a:pPr marL="0" indent="0">
              <a:buNone/>
            </a:pPr>
            <a:r>
              <a:rPr lang="en-US" sz="2400" b="1" dirty="0">
                <a:solidFill>
                  <a:srgbClr val="111827"/>
                </a:solidFill>
                <a:latin typeface="ui-sans-serif"/>
              </a:rPr>
              <a:t>	2. </a:t>
            </a:r>
            <a:r>
              <a:rPr lang="en-US" sz="2400" b="1" i="0" dirty="0">
                <a:solidFill>
                  <a:srgbClr val="111827"/>
                </a:solidFill>
                <a:effectLst/>
                <a:latin typeface="ui-sans-serif"/>
              </a:rPr>
              <a:t>Partial Product Reduction</a:t>
            </a:r>
          </a:p>
          <a:p>
            <a:pPr marL="0" indent="0">
              <a:buNone/>
            </a:pPr>
            <a:r>
              <a:rPr lang="en-US" sz="2400" b="1" dirty="0">
                <a:solidFill>
                  <a:srgbClr val="111827"/>
                </a:solidFill>
                <a:latin typeface="ui-sans-serif"/>
              </a:rPr>
              <a:t>	3. Final add together with the last step of reduction</a:t>
            </a:r>
          </a:p>
          <a:p>
            <a:pPr marL="0" indent="0">
              <a:buNone/>
            </a:pPr>
            <a:r>
              <a:rPr lang="en-US" sz="2400" b="1" i="0" dirty="0">
                <a:solidFill>
                  <a:srgbClr val="111827"/>
                </a:solidFill>
                <a:effectLst/>
                <a:latin typeface="ui-sans-serif"/>
              </a:rPr>
              <a:t>	4. Normalization &amp; Rounding</a:t>
            </a:r>
          </a:p>
        </p:txBody>
      </p:sp>
      <p:sp>
        <p:nvSpPr>
          <p:cNvPr id="6" name="灯片编号占位符 5"/>
          <p:cNvSpPr>
            <a:spLocks noGrp="1"/>
          </p:cNvSpPr>
          <p:nvPr>
            <p:ph type="sldNum" sz="quarter" idx="10"/>
          </p:nvPr>
        </p:nvSpPr>
        <p:spPr/>
        <p:txBody>
          <a:bodyPr/>
          <a:lstStyle/>
          <a:p>
            <a:fld id="{D9B6BDF2-6896-4B98-8776-C18582F63BA5}" type="slidenum">
              <a:rPr lang="zh-TW" altLang="en-US" smtClean="0"/>
              <a:t>33</a:t>
            </a:fld>
            <a:endParaRPr lang="zh-TW" altLang="en-US"/>
          </a:p>
        </p:txBody>
      </p:sp>
      <p:sp>
        <p:nvSpPr>
          <p:cNvPr id="4" name="TextBox 3">
            <a:extLst>
              <a:ext uri="{FF2B5EF4-FFF2-40B4-BE49-F238E27FC236}">
                <a16:creationId xmlns:a16="http://schemas.microsoft.com/office/drawing/2014/main" id="{8E410D2C-EE06-4D22-9320-CDCFCE71AF1D}"/>
              </a:ext>
            </a:extLst>
          </p:cNvPr>
          <p:cNvSpPr txBox="1"/>
          <p:nvPr/>
        </p:nvSpPr>
        <p:spPr>
          <a:xfrm>
            <a:off x="10580110" y="1832432"/>
            <a:ext cx="1194558" cy="430887"/>
          </a:xfrm>
          <a:prstGeom prst="rect">
            <a:avLst/>
          </a:prstGeom>
          <a:solidFill>
            <a:srgbClr val="FFFF00"/>
          </a:solidFill>
          <a:ln>
            <a:solidFill>
              <a:srgbClr val="FF0000"/>
            </a:solidFill>
          </a:ln>
        </p:spPr>
        <p:txBody>
          <a:bodyPr wrap="none" rtlCol="0" anchor="ctr" anchorCtr="1">
            <a:spAutoFit/>
          </a:bodyPr>
          <a:lstStyle/>
          <a:p>
            <a:r>
              <a:rPr lang="en-US" sz="2200" dirty="0">
                <a:ea typeface="標楷體" pitchFamily="65" charset="-120"/>
                <a:cs typeface="Calibri" pitchFamily="34" charset="0"/>
              </a:rPr>
              <a:t>A*B + C</a:t>
            </a:r>
          </a:p>
        </p:txBody>
      </p:sp>
    </p:spTree>
    <p:extLst>
      <p:ext uri="{BB962C8B-B14F-4D97-AF65-F5344CB8AC3E}">
        <p14:creationId xmlns:p14="http://schemas.microsoft.com/office/powerpoint/2010/main" val="2606737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cs typeface="Calibri" panose="020F0502020204030204" pitchFamily="34" charset="0"/>
              </a:rPr>
              <a:t>FMA or FMAC Instructions (2) </a:t>
            </a:r>
          </a:p>
        </p:txBody>
      </p:sp>
      <p:sp>
        <p:nvSpPr>
          <p:cNvPr id="3" name="Content Placeholder 2"/>
          <p:cNvSpPr>
            <a:spLocks noGrp="1"/>
          </p:cNvSpPr>
          <p:nvPr>
            <p:ph idx="1"/>
          </p:nvPr>
        </p:nvSpPr>
        <p:spPr>
          <a:xfrm>
            <a:off x="600075" y="1038226"/>
            <a:ext cx="11352742" cy="4876800"/>
          </a:xfrm>
        </p:spPr>
        <p:txBody>
          <a:bodyPr>
            <a:normAutofit lnSpcReduction="10000"/>
          </a:bodyPr>
          <a:lstStyle/>
          <a:p>
            <a:r>
              <a:rPr lang="en-US" sz="2800" i="0" dirty="0">
                <a:solidFill>
                  <a:srgbClr val="111827"/>
                </a:solidFill>
                <a:effectLst/>
                <a:ea typeface="Calibri" panose="020F0502020204030204" pitchFamily="34" charset="0"/>
                <a:cs typeface="Calibri" panose="020F0502020204030204" pitchFamily="34" charset="0"/>
              </a:rPr>
              <a:t>FMA (FMAC) offers </a:t>
            </a:r>
          </a:p>
          <a:p>
            <a:pPr lvl="1"/>
            <a:r>
              <a:rPr lang="en-US" sz="2267" i="0" dirty="0">
                <a:solidFill>
                  <a:srgbClr val="111827"/>
                </a:solidFill>
                <a:effectLst/>
                <a:ea typeface="Calibri" panose="020F0502020204030204" pitchFamily="34" charset="0"/>
                <a:cs typeface="Calibri" panose="020F0502020204030204" pitchFamily="34" charset="0"/>
              </a:rPr>
              <a:t>higher throughput (two FLOPs per cycle), </a:t>
            </a:r>
          </a:p>
          <a:p>
            <a:pPr lvl="1"/>
            <a:r>
              <a:rPr lang="en-US" sz="2267" dirty="0">
                <a:solidFill>
                  <a:srgbClr val="111827"/>
                </a:solidFill>
                <a:ea typeface="Calibri" panose="020F0502020204030204" pitchFamily="34" charset="0"/>
                <a:cs typeface="Calibri" panose="020F0502020204030204" pitchFamily="34" charset="0"/>
              </a:rPr>
              <a:t>Lower latency</a:t>
            </a:r>
          </a:p>
          <a:p>
            <a:pPr lvl="1"/>
            <a:r>
              <a:rPr lang="en-US" sz="2267" i="0" dirty="0">
                <a:solidFill>
                  <a:srgbClr val="111827"/>
                </a:solidFill>
                <a:effectLst/>
                <a:ea typeface="Calibri" panose="020F0502020204030204" pitchFamily="34" charset="0"/>
                <a:cs typeface="Calibri" panose="020F0502020204030204" pitchFamily="34" charset="0"/>
              </a:rPr>
              <a:t>higher precision (one rounding instead of two), </a:t>
            </a:r>
          </a:p>
          <a:p>
            <a:pPr lvl="1"/>
            <a:r>
              <a:rPr lang="en-US" sz="2267" i="0" dirty="0">
                <a:solidFill>
                  <a:srgbClr val="111827"/>
                </a:solidFill>
                <a:effectLst/>
                <a:ea typeface="Calibri" panose="020F0502020204030204" pitchFamily="34" charset="0"/>
                <a:cs typeface="Calibri" panose="020F0502020204030204" pitchFamily="34" charset="0"/>
              </a:rPr>
              <a:t>smaller code size, and greater energy efficiency. </a:t>
            </a:r>
          </a:p>
          <a:p>
            <a:r>
              <a:rPr lang="en-US" sz="2800" i="0" dirty="0">
                <a:solidFill>
                  <a:srgbClr val="111827"/>
                </a:solidFill>
                <a:effectLst/>
                <a:ea typeface="Calibri" panose="020F0502020204030204" pitchFamily="34" charset="0"/>
                <a:cs typeface="Calibri" panose="020F0502020204030204" pitchFamily="34" charset="0"/>
              </a:rPr>
              <a:t>Unfortunately, FMA generation is not on by default! You need to turn on some compiler flags:</a:t>
            </a:r>
          </a:p>
          <a:p>
            <a:pPr marL="0" indent="0">
              <a:buNone/>
            </a:pPr>
            <a:r>
              <a:rPr lang="en-US" sz="2800" dirty="0">
                <a:solidFill>
                  <a:srgbClr val="111827"/>
                </a:solidFill>
                <a:ea typeface="Calibri" panose="020F0502020204030204" pitchFamily="34" charset="0"/>
                <a:cs typeface="Calibri" panose="020F0502020204030204" pitchFamily="34" charset="0"/>
              </a:rPr>
              <a:t>	</a:t>
            </a:r>
            <a:r>
              <a:rPr lang="en-US" sz="2400" b="0" i="0" dirty="0" err="1">
                <a:solidFill>
                  <a:srgbClr val="383A42"/>
                </a:solidFill>
                <a:effectLst/>
                <a:latin typeface="Fira Code" panose="020B0809050000020004" pitchFamily="49" charset="0"/>
              </a:rPr>
              <a:t>gcc</a:t>
            </a:r>
            <a:r>
              <a:rPr lang="en-US" sz="2400" b="0" i="0" dirty="0">
                <a:solidFill>
                  <a:srgbClr val="383A42"/>
                </a:solidFill>
                <a:effectLst/>
                <a:latin typeface="Fira Code" panose="020B0809050000020004" pitchFamily="49" charset="0"/>
              </a:rPr>
              <a:t> -O3 -march</a:t>
            </a:r>
            <a:r>
              <a:rPr lang="en-US" sz="2400" b="0" i="0" dirty="0">
                <a:solidFill>
                  <a:srgbClr val="4078F2"/>
                </a:solidFill>
                <a:effectLst/>
                <a:latin typeface="Fira Code" panose="020B0809050000020004" pitchFamily="49" charset="0"/>
              </a:rPr>
              <a:t>=</a:t>
            </a:r>
            <a:r>
              <a:rPr lang="en-US" sz="2400" b="0" i="0" dirty="0">
                <a:solidFill>
                  <a:srgbClr val="383A42"/>
                </a:solidFill>
                <a:effectLst/>
                <a:latin typeface="Fira Code" panose="020B0809050000020004" pitchFamily="49" charset="0"/>
              </a:rPr>
              <a:t>native </a:t>
            </a:r>
            <a:r>
              <a:rPr lang="en-US" sz="2400" b="1" i="0" dirty="0">
                <a:solidFill>
                  <a:srgbClr val="383A42"/>
                </a:solidFill>
                <a:effectLst/>
                <a:latin typeface="Fira Code" panose="020B0809050000020004" pitchFamily="49" charset="0"/>
              </a:rPr>
              <a:t>-</a:t>
            </a:r>
            <a:r>
              <a:rPr lang="en-US" sz="2400" b="1" i="0" dirty="0" err="1">
                <a:solidFill>
                  <a:srgbClr val="383A42"/>
                </a:solidFill>
                <a:effectLst/>
                <a:latin typeface="Fira Code" panose="020B0809050000020004" pitchFamily="49" charset="0"/>
              </a:rPr>
              <a:t>mfma</a:t>
            </a:r>
            <a:r>
              <a:rPr lang="en-US" sz="2400" b="1" i="0" dirty="0">
                <a:solidFill>
                  <a:srgbClr val="383A42"/>
                </a:solidFill>
                <a:effectLst/>
                <a:latin typeface="Fira Code" panose="020B0809050000020004" pitchFamily="49" charset="0"/>
              </a:rPr>
              <a:t> -</a:t>
            </a:r>
            <a:r>
              <a:rPr lang="en-US" sz="2400" b="1" i="0" dirty="0" err="1">
                <a:solidFill>
                  <a:srgbClr val="383A42"/>
                </a:solidFill>
                <a:effectLst/>
                <a:latin typeface="Fira Code" panose="020B0809050000020004" pitchFamily="49" charset="0"/>
              </a:rPr>
              <a:t>ffp</a:t>
            </a:r>
            <a:r>
              <a:rPr lang="en-US" sz="2400" b="1" i="0" dirty="0">
                <a:solidFill>
                  <a:srgbClr val="383A42"/>
                </a:solidFill>
                <a:effectLst/>
                <a:latin typeface="Fira Code" panose="020B0809050000020004" pitchFamily="49" charset="0"/>
              </a:rPr>
              <a:t>-contract</a:t>
            </a:r>
            <a:r>
              <a:rPr lang="en-US" sz="2400" b="1" i="0" dirty="0">
                <a:solidFill>
                  <a:srgbClr val="4078F2"/>
                </a:solidFill>
                <a:effectLst/>
                <a:latin typeface="Fira Code" panose="020B0809050000020004" pitchFamily="49" charset="0"/>
              </a:rPr>
              <a:t>=</a:t>
            </a:r>
            <a:r>
              <a:rPr lang="en-US" sz="2400" b="1" i="0" dirty="0">
                <a:solidFill>
                  <a:srgbClr val="383A42"/>
                </a:solidFill>
                <a:effectLst/>
                <a:latin typeface="Fira Code" panose="020B0809050000020004" pitchFamily="49" charset="0"/>
              </a:rPr>
              <a:t>fast </a:t>
            </a:r>
            <a:endParaRPr lang="en-US" sz="2400" b="1" i="0" dirty="0">
              <a:solidFill>
                <a:srgbClr val="111827"/>
              </a:solidFill>
              <a:effectLst/>
              <a:ea typeface="Calibri" panose="020F0502020204030204" pitchFamily="34" charset="0"/>
              <a:cs typeface="Calibri" panose="020F0502020204030204" pitchFamily="34" charset="0"/>
            </a:endParaRPr>
          </a:p>
          <a:p>
            <a:r>
              <a:rPr lang="en-US" sz="2800" i="0" dirty="0">
                <a:solidFill>
                  <a:srgbClr val="111827"/>
                </a:solidFill>
                <a:effectLst/>
                <a:ea typeface="Calibri" panose="020F0502020204030204" pitchFamily="34" charset="0"/>
                <a:cs typeface="Calibri" panose="020F0502020204030204" pitchFamily="34" charset="0"/>
              </a:rPr>
              <a:t>This is because the greater precision may cause the answers generated from FMA to be different from those obtained by separately multiplying and adding – legacy and compatibility issue.</a:t>
            </a:r>
          </a:p>
        </p:txBody>
      </p:sp>
      <p:sp>
        <p:nvSpPr>
          <p:cNvPr id="6" name="灯片编号占位符 5"/>
          <p:cNvSpPr>
            <a:spLocks noGrp="1"/>
          </p:cNvSpPr>
          <p:nvPr>
            <p:ph type="sldNum" sz="quarter" idx="10"/>
          </p:nvPr>
        </p:nvSpPr>
        <p:spPr/>
        <p:txBody>
          <a:bodyPr/>
          <a:lstStyle/>
          <a:p>
            <a:fld id="{D9B6BDF2-6896-4B98-8776-C18582F63BA5}" type="slidenum">
              <a:rPr lang="zh-TW" altLang="en-US" smtClean="0"/>
              <a:t>34</a:t>
            </a:fld>
            <a:endParaRPr lang="zh-TW" altLang="en-US"/>
          </a:p>
        </p:txBody>
      </p:sp>
    </p:spTree>
    <p:extLst>
      <p:ext uri="{BB962C8B-B14F-4D97-AF65-F5344CB8AC3E}">
        <p14:creationId xmlns:p14="http://schemas.microsoft.com/office/powerpoint/2010/main" val="35508475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Quadruple Precision, Half-float and </a:t>
            </a:r>
            <a:r>
              <a:rPr lang="en-US" sz="4000" dirty="0" err="1"/>
              <a:t>minifloat</a:t>
            </a:r>
            <a:endParaRPr lang="en-US" sz="4000" dirty="0"/>
          </a:p>
        </p:txBody>
      </p:sp>
      <p:sp>
        <p:nvSpPr>
          <p:cNvPr id="3" name="Content Placeholder 2"/>
          <p:cNvSpPr>
            <a:spLocks noGrp="1"/>
          </p:cNvSpPr>
          <p:nvPr>
            <p:ph idx="1"/>
          </p:nvPr>
        </p:nvSpPr>
        <p:spPr>
          <a:xfrm>
            <a:off x="160020" y="1125538"/>
            <a:ext cx="11819961" cy="4954249"/>
          </a:xfrm>
        </p:spPr>
        <p:txBody>
          <a:bodyPr>
            <a:normAutofit fontScale="92500" lnSpcReduction="10000"/>
          </a:bodyPr>
          <a:lstStyle/>
          <a:p>
            <a:r>
              <a:rPr lang="en-US" dirty="0"/>
              <a:t>Quad-precision float and half float format were defined in IEEE 754-2008.</a:t>
            </a:r>
          </a:p>
          <a:p>
            <a:pPr lvl="1"/>
            <a:r>
              <a:rPr lang="en-US" dirty="0"/>
              <a:t>Quad precision: 1, 15, 112</a:t>
            </a:r>
          </a:p>
          <a:p>
            <a:pPr lvl="1"/>
            <a:r>
              <a:rPr lang="en-US" dirty="0"/>
              <a:t>Double precision: 1, 11, 52</a:t>
            </a:r>
          </a:p>
          <a:p>
            <a:pPr lvl="1"/>
            <a:r>
              <a:rPr lang="en-US" dirty="0"/>
              <a:t>Single precision: 1, 8, 23</a:t>
            </a:r>
          </a:p>
          <a:p>
            <a:pPr lvl="1"/>
            <a:r>
              <a:rPr lang="en-US" dirty="0"/>
              <a:t>Half precision: 1, 5, 10 (fp16), </a:t>
            </a:r>
          </a:p>
          <a:p>
            <a:pPr marL="914354" lvl="2" indent="0">
              <a:buNone/>
            </a:pPr>
            <a:r>
              <a:rPr lang="en-US" sz="2400" dirty="0">
                <a:solidFill>
                  <a:srgbClr val="FF0000"/>
                </a:solidFill>
              </a:rPr>
              <a:t>bfloat16</a:t>
            </a:r>
            <a:r>
              <a:rPr lang="en-US" sz="2400" dirty="0"/>
              <a:t> (1,8,7) has the same range as fp32</a:t>
            </a:r>
          </a:p>
          <a:p>
            <a:pPr lvl="1"/>
            <a:r>
              <a:rPr lang="en-US" dirty="0"/>
              <a:t>Mini-float:	1, 4, 3  (fp8)</a:t>
            </a:r>
          </a:p>
          <a:p>
            <a:pPr lvl="1"/>
            <a:r>
              <a:rPr lang="en-US" dirty="0"/>
              <a:t>FP4: 1,2,1 </a:t>
            </a:r>
          </a:p>
          <a:p>
            <a:pPr marL="457176" lvl="1" indent="0">
              <a:buNone/>
            </a:pPr>
            <a:r>
              <a:rPr lang="en-US" dirty="0"/>
              <a:t>Half-float, mini-float, and fp4, are defined to support AI applications. </a:t>
            </a:r>
          </a:p>
        </p:txBody>
      </p:sp>
      <p:sp>
        <p:nvSpPr>
          <p:cNvPr id="6" name="灯片编号占位符 5"/>
          <p:cNvSpPr>
            <a:spLocks noGrp="1"/>
          </p:cNvSpPr>
          <p:nvPr>
            <p:ph type="sldNum" sz="quarter" idx="10"/>
          </p:nvPr>
        </p:nvSpPr>
        <p:spPr/>
        <p:txBody>
          <a:bodyPr/>
          <a:lstStyle/>
          <a:p>
            <a:fld id="{D9B6BDF2-6896-4B98-8776-C18582F63BA5}" type="slidenum">
              <a:rPr lang="zh-TW" altLang="en-US" smtClean="0"/>
              <a:t>35</a:t>
            </a:fld>
            <a:endParaRPr lang="zh-TW" altLang="en-US"/>
          </a:p>
        </p:txBody>
      </p:sp>
      <p:sp>
        <p:nvSpPr>
          <p:cNvPr id="4" name="Right Brace 3">
            <a:extLst>
              <a:ext uri="{FF2B5EF4-FFF2-40B4-BE49-F238E27FC236}">
                <a16:creationId xmlns:a16="http://schemas.microsoft.com/office/drawing/2014/main" id="{093CE5EB-30CD-483E-956D-95F0AD58FF3B}"/>
              </a:ext>
            </a:extLst>
          </p:cNvPr>
          <p:cNvSpPr/>
          <p:nvPr/>
        </p:nvSpPr>
        <p:spPr bwMode="auto">
          <a:xfrm>
            <a:off x="6652260" y="2461098"/>
            <a:ext cx="721306" cy="1542060"/>
          </a:xfrm>
          <a:prstGeom prst="rightBrace">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5" name="TextBox 4">
            <a:extLst>
              <a:ext uri="{FF2B5EF4-FFF2-40B4-BE49-F238E27FC236}">
                <a16:creationId xmlns:a16="http://schemas.microsoft.com/office/drawing/2014/main" id="{94C30256-7BC7-4B08-BB4B-BBD0A6D4B49E}"/>
              </a:ext>
            </a:extLst>
          </p:cNvPr>
          <p:cNvSpPr txBox="1"/>
          <p:nvPr/>
        </p:nvSpPr>
        <p:spPr>
          <a:xfrm>
            <a:off x="7441660" y="3171376"/>
            <a:ext cx="3288080" cy="369332"/>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Defined by IEEE </a:t>
            </a:r>
            <a:r>
              <a:rPr lang="en-US">
                <a:ea typeface="標楷體" pitchFamily="65" charset="-120"/>
                <a:cs typeface="Calibri" pitchFamily="34" charset="0"/>
              </a:rPr>
              <a:t>754 standard</a:t>
            </a:r>
            <a:endParaRPr lang="en-US" dirty="0">
              <a:ea typeface="標楷體" pitchFamily="65" charset="-120"/>
              <a:cs typeface="Calibri" pitchFamily="34" charset="0"/>
            </a:endParaRPr>
          </a:p>
        </p:txBody>
      </p:sp>
      <p:sp>
        <p:nvSpPr>
          <p:cNvPr id="7" name="TextBox 6">
            <a:extLst>
              <a:ext uri="{FF2B5EF4-FFF2-40B4-BE49-F238E27FC236}">
                <a16:creationId xmlns:a16="http://schemas.microsoft.com/office/drawing/2014/main" id="{D83CE305-DA9C-4415-8552-5CFBDD5760D8}"/>
              </a:ext>
            </a:extLst>
          </p:cNvPr>
          <p:cNvSpPr txBox="1"/>
          <p:nvPr/>
        </p:nvSpPr>
        <p:spPr>
          <a:xfrm>
            <a:off x="5368873" y="4625581"/>
            <a:ext cx="4762842" cy="369332"/>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Starting in Hopper H100 tensor core, in 2022</a:t>
            </a:r>
          </a:p>
        </p:txBody>
      </p:sp>
      <p:sp>
        <p:nvSpPr>
          <p:cNvPr id="8" name="TextBox 7">
            <a:extLst>
              <a:ext uri="{FF2B5EF4-FFF2-40B4-BE49-F238E27FC236}">
                <a16:creationId xmlns:a16="http://schemas.microsoft.com/office/drawing/2014/main" id="{687A4404-02C9-490A-812C-6E3712EA4B2A}"/>
              </a:ext>
            </a:extLst>
          </p:cNvPr>
          <p:cNvSpPr txBox="1"/>
          <p:nvPr/>
        </p:nvSpPr>
        <p:spPr>
          <a:xfrm>
            <a:off x="5368873" y="5152167"/>
            <a:ext cx="5557932" cy="369332"/>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Starting in Blackwell B100/B200 tensor core, in 2025</a:t>
            </a:r>
          </a:p>
        </p:txBody>
      </p:sp>
      <p:sp>
        <p:nvSpPr>
          <p:cNvPr id="9" name="TextBox 8">
            <a:extLst>
              <a:ext uri="{FF2B5EF4-FFF2-40B4-BE49-F238E27FC236}">
                <a16:creationId xmlns:a16="http://schemas.microsoft.com/office/drawing/2014/main" id="{2130C614-74C5-4A15-B823-46BC931EB063}"/>
              </a:ext>
            </a:extLst>
          </p:cNvPr>
          <p:cNvSpPr txBox="1"/>
          <p:nvPr/>
        </p:nvSpPr>
        <p:spPr>
          <a:xfrm>
            <a:off x="7086542" y="3702344"/>
            <a:ext cx="3309624" cy="369332"/>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Starting in Tesla P100, in 2016</a:t>
            </a:r>
          </a:p>
        </p:txBody>
      </p:sp>
      <p:sp>
        <p:nvSpPr>
          <p:cNvPr id="10" name="TextBox 9">
            <a:extLst>
              <a:ext uri="{FF2B5EF4-FFF2-40B4-BE49-F238E27FC236}">
                <a16:creationId xmlns:a16="http://schemas.microsoft.com/office/drawing/2014/main" id="{62C88BE2-5173-4A47-9458-493EC32B4C12}"/>
              </a:ext>
            </a:extLst>
          </p:cNvPr>
          <p:cNvSpPr txBox="1"/>
          <p:nvPr/>
        </p:nvSpPr>
        <p:spPr>
          <a:xfrm>
            <a:off x="2961588" y="6188418"/>
            <a:ext cx="9230412" cy="400110"/>
          </a:xfrm>
          <a:prstGeom prst="rect">
            <a:avLst/>
          </a:prstGeom>
          <a:solidFill>
            <a:srgbClr val="FFFF00"/>
          </a:solidFill>
          <a:ln>
            <a:solidFill>
              <a:srgbClr val="FF0000"/>
            </a:solidFill>
          </a:ln>
        </p:spPr>
        <p:txBody>
          <a:bodyPr wrap="none" rtlCol="0" anchor="ctr" anchorCtr="1">
            <a:spAutoFit/>
          </a:bodyPr>
          <a:lstStyle/>
          <a:p>
            <a:r>
              <a:rPr lang="en-US" sz="2000" dirty="0">
                <a:ea typeface="標楷體" pitchFamily="65" charset="-120"/>
                <a:cs typeface="Calibri" pitchFamily="34" charset="0"/>
              </a:rPr>
              <a:t>AI/LLM is based on predictions – approximation does not require high precision </a:t>
            </a:r>
          </a:p>
        </p:txBody>
      </p:sp>
      <p:sp>
        <p:nvSpPr>
          <p:cNvPr id="11" name="TextBox 10">
            <a:extLst>
              <a:ext uri="{FF2B5EF4-FFF2-40B4-BE49-F238E27FC236}">
                <a16:creationId xmlns:a16="http://schemas.microsoft.com/office/drawing/2014/main" id="{4A8131D2-5CDF-4879-9073-2280BC09FBB0}"/>
              </a:ext>
            </a:extLst>
          </p:cNvPr>
          <p:cNvSpPr txBox="1"/>
          <p:nvPr/>
        </p:nvSpPr>
        <p:spPr>
          <a:xfrm>
            <a:off x="6493027" y="4165090"/>
            <a:ext cx="5733301" cy="369332"/>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Defined by Google, first adopted by TPU, then NVIDIA</a:t>
            </a:r>
          </a:p>
        </p:txBody>
      </p:sp>
    </p:spTree>
    <p:extLst>
      <p:ext uri="{BB962C8B-B14F-4D97-AF65-F5344CB8AC3E}">
        <p14:creationId xmlns:p14="http://schemas.microsoft.com/office/powerpoint/2010/main" val="2251862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57521" y="2736849"/>
            <a:ext cx="5905504" cy="692151"/>
          </a:xfrm>
        </p:spPr>
        <p:txBody>
          <a:bodyPr/>
          <a:lstStyle/>
          <a:p>
            <a:r>
              <a:rPr lang="en-US" sz="5400" dirty="0"/>
              <a:t>Quick Review Quiz</a:t>
            </a:r>
          </a:p>
        </p:txBody>
      </p:sp>
      <p:sp>
        <p:nvSpPr>
          <p:cNvPr id="3" name="Content Placeholder 2"/>
          <p:cNvSpPr>
            <a:spLocks noGrp="1"/>
          </p:cNvSpPr>
          <p:nvPr>
            <p:ph idx="1"/>
          </p:nvPr>
        </p:nvSpPr>
        <p:spPr>
          <a:xfrm>
            <a:off x="214009" y="1209675"/>
            <a:ext cx="11738808" cy="4909023"/>
          </a:xfrm>
        </p:spPr>
        <p:txBody>
          <a:bodyPr/>
          <a:lstStyle/>
          <a:p>
            <a:pPr marL="457165" lvl="1" indent="0" defTabSz="1219170">
              <a:buNone/>
              <a:defRPr/>
            </a:pPr>
            <a:endParaRPr lang="en-US" sz="2933" dirty="0">
              <a:solidFill>
                <a:prstClr val="black"/>
              </a:solidFill>
              <a:latin typeface="Times New Roman" panose="02020603050405020304" pitchFamily="18" charset="0"/>
              <a:cs typeface="Times New Roman" panose="02020603050405020304" pitchFamily="18" charset="0"/>
            </a:endParaRPr>
          </a:p>
          <a:p>
            <a:pPr marL="1066749" lvl="1" indent="-609585">
              <a:buAutoNum type="alphaLcParenR"/>
            </a:pPr>
            <a:endParaRPr lang="en-US" sz="2933" dirty="0">
              <a:solidFill>
                <a:prstClr val="black"/>
              </a:solidFill>
              <a:latin typeface="Times New Roman" panose="02020603050405020304" pitchFamily="18" charset="0"/>
              <a:cs typeface="Times New Roman" panose="02020603050405020304" pitchFamily="18" charset="0"/>
            </a:endParaRPr>
          </a:p>
        </p:txBody>
      </p:sp>
      <p:sp>
        <p:nvSpPr>
          <p:cNvPr id="7" name="Date Placeholder 6"/>
          <p:cNvSpPr>
            <a:spLocks noGrp="1"/>
          </p:cNvSpPr>
          <p:nvPr>
            <p:ph type="dt" sz="half" idx="10"/>
          </p:nvPr>
        </p:nvSpPr>
        <p:spPr/>
        <p:txBody>
          <a:bodyPr/>
          <a:lstStyle/>
          <a:p>
            <a:pPr defTabSz="914377">
              <a:defRPr/>
            </a:pPr>
            <a:r>
              <a:rPr lang="en-US">
                <a:solidFill>
                  <a:prstClr val="white"/>
                </a:solidFill>
              </a:rPr>
              <a:t>September 27, 2017</a:t>
            </a:r>
            <a:endParaRPr lang="en-US" dirty="0">
              <a:solidFill>
                <a:prstClr val="white"/>
              </a:solidFill>
            </a:endParaRPr>
          </a:p>
        </p:txBody>
      </p:sp>
      <p:sp>
        <p:nvSpPr>
          <p:cNvPr id="8" name="Footer Placeholder 7"/>
          <p:cNvSpPr>
            <a:spLocks noGrp="1"/>
          </p:cNvSpPr>
          <p:nvPr>
            <p:ph type="ftr" sz="quarter" idx="12"/>
          </p:nvPr>
        </p:nvSpPr>
        <p:spPr bwMode="auto">
          <a:xfrm>
            <a:off x="4093931"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70" algn="l" rtl="0" fontAlgn="base">
              <a:spcBef>
                <a:spcPct val="0"/>
              </a:spcBef>
              <a:spcAft>
                <a:spcPct val="0"/>
              </a:spcAft>
              <a:defRPr sz="2667" kern="1200">
                <a:solidFill>
                  <a:schemeClr val="tx1"/>
                </a:solidFill>
                <a:latin typeface="Verdana" pitchFamily="34" charset="0"/>
                <a:ea typeface="+mn-ea"/>
                <a:cs typeface="+mn-cs"/>
              </a:defRPr>
            </a:lvl2pPr>
            <a:lvl3pPr marL="1219140" algn="l" rtl="0" fontAlgn="base">
              <a:spcBef>
                <a:spcPct val="0"/>
              </a:spcBef>
              <a:spcAft>
                <a:spcPct val="0"/>
              </a:spcAft>
              <a:defRPr sz="2667" kern="1200">
                <a:solidFill>
                  <a:schemeClr val="tx1"/>
                </a:solidFill>
                <a:latin typeface="Verdana" pitchFamily="34" charset="0"/>
                <a:ea typeface="+mn-ea"/>
                <a:cs typeface="+mn-cs"/>
              </a:defRPr>
            </a:lvl3pPr>
            <a:lvl4pPr marL="1828709" algn="l" rtl="0" fontAlgn="base">
              <a:spcBef>
                <a:spcPct val="0"/>
              </a:spcBef>
              <a:spcAft>
                <a:spcPct val="0"/>
              </a:spcAft>
              <a:defRPr sz="2667" kern="1200">
                <a:solidFill>
                  <a:schemeClr val="tx1"/>
                </a:solidFill>
                <a:latin typeface="Verdana" pitchFamily="34" charset="0"/>
                <a:ea typeface="+mn-ea"/>
                <a:cs typeface="+mn-cs"/>
              </a:defRPr>
            </a:lvl4pPr>
            <a:lvl5pPr marL="2438278" algn="l" rtl="0" fontAlgn="base">
              <a:spcBef>
                <a:spcPct val="0"/>
              </a:spcBef>
              <a:spcAft>
                <a:spcPct val="0"/>
              </a:spcAft>
              <a:defRPr sz="2667" kern="1200">
                <a:solidFill>
                  <a:schemeClr val="tx1"/>
                </a:solidFill>
                <a:latin typeface="Verdana" pitchFamily="34" charset="0"/>
                <a:ea typeface="+mn-ea"/>
                <a:cs typeface="+mn-cs"/>
              </a:defRPr>
            </a:lvl5pPr>
            <a:lvl6pPr marL="3047848" algn="l" defTabSz="1219140" rtl="0" eaLnBrk="1" latinLnBrk="0" hangingPunct="1">
              <a:defRPr sz="2667" kern="1200">
                <a:solidFill>
                  <a:schemeClr val="tx1"/>
                </a:solidFill>
                <a:latin typeface="Verdana" pitchFamily="34" charset="0"/>
                <a:ea typeface="+mn-ea"/>
                <a:cs typeface="+mn-cs"/>
              </a:defRPr>
            </a:lvl6pPr>
            <a:lvl7pPr marL="3657418" algn="l" defTabSz="1219140" rtl="0" eaLnBrk="1" latinLnBrk="0" hangingPunct="1">
              <a:defRPr sz="2667" kern="1200">
                <a:solidFill>
                  <a:schemeClr val="tx1"/>
                </a:solidFill>
                <a:latin typeface="Verdana" pitchFamily="34" charset="0"/>
                <a:ea typeface="+mn-ea"/>
                <a:cs typeface="+mn-cs"/>
              </a:defRPr>
            </a:lvl7pPr>
            <a:lvl8pPr marL="4266987" algn="l" defTabSz="1219140" rtl="0" eaLnBrk="1" latinLnBrk="0" hangingPunct="1">
              <a:defRPr sz="2667" kern="1200">
                <a:solidFill>
                  <a:schemeClr val="tx1"/>
                </a:solidFill>
                <a:latin typeface="Verdana" pitchFamily="34" charset="0"/>
                <a:ea typeface="+mn-ea"/>
                <a:cs typeface="+mn-cs"/>
              </a:defRPr>
            </a:lvl8pPr>
            <a:lvl9pPr marL="4876557" algn="l" defTabSz="1219140" rtl="0" eaLnBrk="1" latinLnBrk="0" hangingPunct="1">
              <a:defRPr sz="2667" kern="1200">
                <a:solidFill>
                  <a:schemeClr val="tx1"/>
                </a:solidFill>
                <a:latin typeface="Verdana" pitchFamily="34" charset="0"/>
                <a:ea typeface="+mn-ea"/>
                <a:cs typeface="+mn-cs"/>
              </a:defRPr>
            </a:lvl9pPr>
          </a:lstStyle>
          <a:p>
            <a:pPr defTabSz="914377">
              <a:defRPr/>
            </a:pPr>
            <a:r>
              <a:rPr lang="en-US">
                <a:solidFill>
                  <a:prstClr val="black"/>
                </a:solidFill>
                <a:latin typeface="Arial"/>
                <a:ea typeface="新細明體"/>
              </a:rPr>
              <a:t>http://csg.csail.mit.edu/6.175</a:t>
            </a:r>
            <a:endParaRPr lang="en-US" dirty="0">
              <a:solidFill>
                <a:prstClr val="black"/>
              </a:solidFill>
              <a:latin typeface="Arial"/>
              <a:ea typeface="新細明體"/>
            </a:endParaRPr>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70" algn="l" rtl="0" fontAlgn="base">
              <a:spcBef>
                <a:spcPct val="0"/>
              </a:spcBef>
              <a:spcAft>
                <a:spcPct val="0"/>
              </a:spcAft>
              <a:defRPr sz="2667" kern="1200">
                <a:solidFill>
                  <a:schemeClr val="tx1"/>
                </a:solidFill>
                <a:latin typeface="Verdana" pitchFamily="34" charset="0"/>
                <a:ea typeface="+mn-ea"/>
                <a:cs typeface="+mn-cs"/>
              </a:defRPr>
            </a:lvl2pPr>
            <a:lvl3pPr marL="1219140" algn="l" rtl="0" fontAlgn="base">
              <a:spcBef>
                <a:spcPct val="0"/>
              </a:spcBef>
              <a:spcAft>
                <a:spcPct val="0"/>
              </a:spcAft>
              <a:defRPr sz="2667" kern="1200">
                <a:solidFill>
                  <a:schemeClr val="tx1"/>
                </a:solidFill>
                <a:latin typeface="Verdana" pitchFamily="34" charset="0"/>
                <a:ea typeface="+mn-ea"/>
                <a:cs typeface="+mn-cs"/>
              </a:defRPr>
            </a:lvl3pPr>
            <a:lvl4pPr marL="1828709" algn="l" rtl="0" fontAlgn="base">
              <a:spcBef>
                <a:spcPct val="0"/>
              </a:spcBef>
              <a:spcAft>
                <a:spcPct val="0"/>
              </a:spcAft>
              <a:defRPr sz="2667" kern="1200">
                <a:solidFill>
                  <a:schemeClr val="tx1"/>
                </a:solidFill>
                <a:latin typeface="Verdana" pitchFamily="34" charset="0"/>
                <a:ea typeface="+mn-ea"/>
                <a:cs typeface="+mn-cs"/>
              </a:defRPr>
            </a:lvl4pPr>
            <a:lvl5pPr marL="2438278" algn="l" rtl="0" fontAlgn="base">
              <a:spcBef>
                <a:spcPct val="0"/>
              </a:spcBef>
              <a:spcAft>
                <a:spcPct val="0"/>
              </a:spcAft>
              <a:defRPr sz="2667" kern="1200">
                <a:solidFill>
                  <a:schemeClr val="tx1"/>
                </a:solidFill>
                <a:latin typeface="Verdana" pitchFamily="34" charset="0"/>
                <a:ea typeface="+mn-ea"/>
                <a:cs typeface="+mn-cs"/>
              </a:defRPr>
            </a:lvl5pPr>
            <a:lvl6pPr marL="3047848" algn="l" defTabSz="1219140" rtl="0" eaLnBrk="1" latinLnBrk="0" hangingPunct="1">
              <a:defRPr sz="2667" kern="1200">
                <a:solidFill>
                  <a:schemeClr val="tx1"/>
                </a:solidFill>
                <a:latin typeface="Verdana" pitchFamily="34" charset="0"/>
                <a:ea typeface="+mn-ea"/>
                <a:cs typeface="+mn-cs"/>
              </a:defRPr>
            </a:lvl6pPr>
            <a:lvl7pPr marL="3657418" algn="l" defTabSz="1219140" rtl="0" eaLnBrk="1" latinLnBrk="0" hangingPunct="1">
              <a:defRPr sz="2667" kern="1200">
                <a:solidFill>
                  <a:schemeClr val="tx1"/>
                </a:solidFill>
                <a:latin typeface="Verdana" pitchFamily="34" charset="0"/>
                <a:ea typeface="+mn-ea"/>
                <a:cs typeface="+mn-cs"/>
              </a:defRPr>
            </a:lvl7pPr>
            <a:lvl8pPr marL="4266987" algn="l" defTabSz="1219140" rtl="0" eaLnBrk="1" latinLnBrk="0" hangingPunct="1">
              <a:defRPr sz="2667" kern="1200">
                <a:solidFill>
                  <a:schemeClr val="tx1"/>
                </a:solidFill>
                <a:latin typeface="Verdana" pitchFamily="34" charset="0"/>
                <a:ea typeface="+mn-ea"/>
                <a:cs typeface="+mn-cs"/>
              </a:defRPr>
            </a:lvl8pPr>
            <a:lvl9pPr marL="4876557" algn="l" defTabSz="1219140" rtl="0" eaLnBrk="1" latinLnBrk="0" hangingPunct="1">
              <a:defRPr sz="2667" kern="1200">
                <a:solidFill>
                  <a:schemeClr val="tx1"/>
                </a:solidFill>
                <a:latin typeface="Verdana" pitchFamily="34" charset="0"/>
                <a:ea typeface="+mn-ea"/>
                <a:cs typeface="+mn-cs"/>
              </a:defRPr>
            </a:lvl9pPr>
          </a:lstStyle>
          <a:p>
            <a:pPr defTabSz="914377">
              <a:defRPr/>
            </a:pPr>
            <a:r>
              <a:rPr lang="en-US">
                <a:solidFill>
                  <a:prstClr val="black"/>
                </a:solidFill>
                <a:latin typeface="Arial"/>
                <a:ea typeface="新細明體"/>
              </a:rPr>
              <a:t>L09-</a:t>
            </a:r>
            <a:fld id="{D02EE386-C9BD-4FB7-9577-6096B5320EC4}" type="slidenum">
              <a:rPr lang="en-US">
                <a:solidFill>
                  <a:prstClr val="black"/>
                </a:solidFill>
                <a:latin typeface="Arial"/>
                <a:ea typeface="新細明體"/>
              </a:rPr>
              <a:pPr defTabSz="914377">
                <a:defRPr/>
              </a:pPr>
              <a:t>36</a:t>
            </a:fld>
            <a:endParaRPr lang="en-US" dirty="0">
              <a:solidFill>
                <a:prstClr val="black"/>
              </a:solidFill>
              <a:latin typeface="Arial"/>
              <a:ea typeface="新細明體"/>
            </a:endParaRPr>
          </a:p>
        </p:txBody>
      </p:sp>
    </p:spTree>
    <p:extLst>
      <p:ext uri="{BB962C8B-B14F-4D97-AF65-F5344CB8AC3E}">
        <p14:creationId xmlns:p14="http://schemas.microsoft.com/office/powerpoint/2010/main" val="22764639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Quick Review</a:t>
            </a:r>
          </a:p>
        </p:txBody>
      </p:sp>
      <p:sp>
        <p:nvSpPr>
          <p:cNvPr id="3" name="Content Placeholder 2"/>
          <p:cNvSpPr>
            <a:spLocks noGrp="1"/>
          </p:cNvSpPr>
          <p:nvPr>
            <p:ph idx="1"/>
          </p:nvPr>
        </p:nvSpPr>
        <p:spPr>
          <a:xfrm>
            <a:off x="214009" y="1209675"/>
            <a:ext cx="11738808" cy="4909023"/>
          </a:xfrm>
        </p:spPr>
        <p:txBody>
          <a:bodyPr/>
          <a:lstStyle/>
          <a:p>
            <a:pPr marL="514350" indent="-514350">
              <a:buAutoNum type="arabicParenR"/>
            </a:pPr>
            <a:r>
              <a:rPr lang="en-US" sz="2800" dirty="0">
                <a:latin typeface="Times New Roman" panose="02020603050405020304" pitchFamily="18" charset="0"/>
                <a:cs typeface="Times New Roman" panose="02020603050405020304" pitchFamily="18" charset="0"/>
              </a:rPr>
              <a:t>If you are concerned that your integer (data type </a:t>
            </a:r>
            <a:r>
              <a:rPr lang="en-US" sz="2800" b="1" dirty="0">
                <a:latin typeface="Times New Roman" panose="02020603050405020304" pitchFamily="18" charset="0"/>
                <a:cs typeface="Times New Roman" panose="02020603050405020304" pitchFamily="18" charset="0"/>
              </a:rPr>
              <a:t>int</a:t>
            </a:r>
            <a:r>
              <a:rPr lang="en-US" sz="2800" dirty="0">
                <a:latin typeface="Times New Roman" panose="02020603050405020304" pitchFamily="18" charset="0"/>
                <a:cs typeface="Times New Roman" panose="02020603050405020304" pitchFamily="18" charset="0"/>
              </a:rPr>
              <a:t>) computation may occasionally exceed 4 B (billion), but always &lt; 32 Billion, and want to avoid wrap-around results, what options do you have?</a:t>
            </a:r>
          </a:p>
          <a:p>
            <a:pPr marL="0" indent="0">
              <a:buNone/>
            </a:pPr>
            <a:endParaRPr lang="en-US" sz="2800" dirty="0">
              <a:latin typeface="Times New Roman" panose="02020603050405020304" pitchFamily="18" charset="0"/>
              <a:cs typeface="Times New Roman" panose="02020603050405020304" pitchFamily="18" charset="0"/>
            </a:endParaRPr>
          </a:p>
          <a:p>
            <a:pPr marL="1066749" lvl="1" indent="-609585">
              <a:buAutoNum type="alphaLcParenR"/>
            </a:pPr>
            <a:r>
              <a:rPr lang="en-US" sz="2600" dirty="0">
                <a:solidFill>
                  <a:prstClr val="black"/>
                </a:solidFill>
                <a:latin typeface="Times New Roman" panose="02020603050405020304" pitchFamily="18" charset="0"/>
                <a:cs typeface="Times New Roman" panose="02020603050405020304" pitchFamily="18" charset="0"/>
              </a:rPr>
              <a:t>Use data type </a:t>
            </a:r>
            <a:r>
              <a:rPr lang="en-US" sz="2600" b="1" dirty="0">
                <a:solidFill>
                  <a:prstClr val="black"/>
                </a:solidFill>
                <a:latin typeface="Times New Roman" panose="02020603050405020304" pitchFamily="18" charset="0"/>
                <a:cs typeface="Times New Roman" panose="02020603050405020304" pitchFamily="18" charset="0"/>
              </a:rPr>
              <a:t>long</a:t>
            </a:r>
            <a:r>
              <a:rPr lang="en-US" sz="2600" dirty="0">
                <a:solidFill>
                  <a:prstClr val="black"/>
                </a:solidFill>
                <a:latin typeface="Times New Roman" panose="02020603050405020304" pitchFamily="18" charset="0"/>
                <a:cs typeface="Times New Roman" panose="02020603050405020304" pitchFamily="18" charset="0"/>
              </a:rPr>
              <a:t> or </a:t>
            </a:r>
            <a:r>
              <a:rPr lang="en-US" sz="2600" b="1" dirty="0">
                <a:solidFill>
                  <a:prstClr val="black"/>
                </a:solidFill>
                <a:latin typeface="Times New Roman" panose="02020603050405020304" pitchFamily="18" charset="0"/>
                <a:cs typeface="Times New Roman" panose="02020603050405020304" pitchFamily="18" charset="0"/>
              </a:rPr>
              <a:t>long </a:t>
            </a:r>
            <a:r>
              <a:rPr lang="en-US" sz="2600" b="1" dirty="0" err="1">
                <a:solidFill>
                  <a:prstClr val="black"/>
                </a:solidFill>
                <a:latin typeface="Times New Roman" panose="02020603050405020304" pitchFamily="18" charset="0"/>
                <a:cs typeface="Times New Roman" panose="02020603050405020304" pitchFamily="18" charset="0"/>
              </a:rPr>
              <a:t>long</a:t>
            </a:r>
            <a:r>
              <a:rPr lang="en-US" sz="2600" b="1" dirty="0">
                <a:solidFill>
                  <a:prstClr val="black"/>
                </a:solidFill>
                <a:latin typeface="Times New Roman" panose="02020603050405020304" pitchFamily="18" charset="0"/>
                <a:cs typeface="Times New Roman" panose="02020603050405020304" pitchFamily="18" charset="0"/>
              </a:rPr>
              <a:t> </a:t>
            </a:r>
            <a:r>
              <a:rPr lang="en-US" sz="2600" dirty="0">
                <a:solidFill>
                  <a:prstClr val="black"/>
                </a:solidFill>
                <a:latin typeface="Times New Roman" panose="02020603050405020304" pitchFamily="18" charset="0"/>
                <a:cs typeface="Times New Roman" panose="02020603050405020304" pitchFamily="18" charset="0"/>
              </a:rPr>
              <a:t>instead of </a:t>
            </a:r>
            <a:r>
              <a:rPr lang="en-US" sz="2600" b="1" dirty="0">
                <a:solidFill>
                  <a:prstClr val="black"/>
                </a:solidFill>
                <a:latin typeface="Times New Roman" panose="02020603050405020304" pitchFamily="18" charset="0"/>
                <a:cs typeface="Times New Roman" panose="02020603050405020304" pitchFamily="18" charset="0"/>
              </a:rPr>
              <a:t>int</a:t>
            </a:r>
          </a:p>
          <a:p>
            <a:pPr marL="1066749" lvl="1" indent="-609585" defTabSz="1219170">
              <a:buFont typeface="Arial" charset="0"/>
              <a:buAutoNum type="alphaLcParenR"/>
              <a:defRPr/>
            </a:pPr>
            <a:r>
              <a:rPr lang="en-US" sz="2600" dirty="0">
                <a:solidFill>
                  <a:prstClr val="black"/>
                </a:solidFill>
                <a:latin typeface="Times New Roman" panose="02020603050405020304" pitchFamily="18" charset="0"/>
                <a:cs typeface="Times New Roman" panose="02020603050405020304" pitchFamily="18" charset="0"/>
              </a:rPr>
              <a:t>Use </a:t>
            </a:r>
            <a:r>
              <a:rPr lang="en-US" sz="2600" b="1" dirty="0">
                <a:solidFill>
                  <a:prstClr val="black"/>
                </a:solidFill>
                <a:latin typeface="Times New Roman" panose="02020603050405020304" pitchFamily="18" charset="0"/>
                <a:cs typeface="Times New Roman" panose="02020603050405020304" pitchFamily="18" charset="0"/>
              </a:rPr>
              <a:t>double </a:t>
            </a:r>
            <a:r>
              <a:rPr lang="en-US" sz="2600" dirty="0">
                <a:solidFill>
                  <a:prstClr val="black"/>
                </a:solidFill>
                <a:latin typeface="Times New Roman" panose="02020603050405020304" pitchFamily="18" charset="0"/>
                <a:cs typeface="Times New Roman" panose="02020603050405020304" pitchFamily="18" charset="0"/>
              </a:rPr>
              <a:t>data type instead of </a:t>
            </a:r>
            <a:r>
              <a:rPr lang="en-US" sz="2600" b="1" dirty="0">
                <a:solidFill>
                  <a:prstClr val="black"/>
                </a:solidFill>
                <a:latin typeface="Times New Roman" panose="02020603050405020304" pitchFamily="18" charset="0"/>
                <a:cs typeface="Times New Roman" panose="02020603050405020304" pitchFamily="18" charset="0"/>
              </a:rPr>
              <a:t>int</a:t>
            </a:r>
          </a:p>
          <a:p>
            <a:pPr marL="1066749" lvl="1" indent="-609585" defTabSz="1219170">
              <a:buFont typeface="Arial" charset="0"/>
              <a:buAutoNum type="alphaLcParenR"/>
              <a:defRPr/>
            </a:pPr>
            <a:r>
              <a:rPr lang="en-US" sz="2600" dirty="0">
                <a:solidFill>
                  <a:prstClr val="black"/>
                </a:solidFill>
                <a:latin typeface="Times New Roman" panose="02020603050405020304" pitchFamily="18" charset="0"/>
                <a:cs typeface="Times New Roman" panose="02020603050405020304" pitchFamily="18" charset="0"/>
              </a:rPr>
              <a:t>Check for integer overflows explicitly to protect from using incorrect data</a:t>
            </a:r>
          </a:p>
          <a:p>
            <a:pPr marL="1066749" lvl="1" indent="-609585" defTabSz="1219170">
              <a:buFont typeface="Arial" charset="0"/>
              <a:buAutoNum type="alphaLcParenR"/>
              <a:defRPr/>
            </a:pPr>
            <a:r>
              <a:rPr lang="en-US" sz="2600" dirty="0">
                <a:solidFill>
                  <a:prstClr val="black"/>
                </a:solidFill>
                <a:latin typeface="Times New Roman" panose="02020603050405020304" pitchFamily="18" charset="0"/>
                <a:cs typeface="Times New Roman" panose="02020603050405020304" pitchFamily="18" charset="0"/>
              </a:rPr>
              <a:t>Run your programs on 64-bit machines (assuming the LP64 model)</a:t>
            </a:r>
          </a:p>
          <a:p>
            <a:pPr marL="1066749" lvl="1" indent="-609585" defTabSz="1219170">
              <a:buFont typeface="Arial" charset="0"/>
              <a:buAutoNum type="alphaLcParenR"/>
              <a:defRPr/>
            </a:pPr>
            <a:endParaRPr lang="en-US" sz="2600" dirty="0">
              <a:solidFill>
                <a:prstClr val="black"/>
              </a:solidFill>
              <a:latin typeface="Times New Roman" panose="02020603050405020304" pitchFamily="18" charset="0"/>
              <a:cs typeface="Times New Roman" panose="02020603050405020304" pitchFamily="18" charset="0"/>
            </a:endParaRPr>
          </a:p>
          <a:p>
            <a:pPr marL="457165" lvl="1" indent="0" defTabSz="1219170">
              <a:buNone/>
              <a:defRPr/>
            </a:pPr>
            <a:endParaRPr lang="en-US" sz="2933" dirty="0">
              <a:solidFill>
                <a:prstClr val="black"/>
              </a:solidFill>
              <a:latin typeface="Times New Roman" panose="02020603050405020304" pitchFamily="18" charset="0"/>
              <a:cs typeface="Times New Roman" panose="02020603050405020304" pitchFamily="18" charset="0"/>
            </a:endParaRPr>
          </a:p>
          <a:p>
            <a:pPr marL="1066749" lvl="1" indent="-609585">
              <a:buAutoNum type="alphaLcParenR"/>
            </a:pPr>
            <a:endParaRPr lang="en-US" sz="2933" dirty="0">
              <a:solidFill>
                <a:prstClr val="black"/>
              </a:solidFill>
              <a:latin typeface="Times New Roman" panose="02020603050405020304" pitchFamily="18" charset="0"/>
              <a:cs typeface="Times New Roman" panose="02020603050405020304" pitchFamily="18" charset="0"/>
            </a:endParaRPr>
          </a:p>
        </p:txBody>
      </p:sp>
      <p:sp>
        <p:nvSpPr>
          <p:cNvPr id="7" name="Date Placeholder 6"/>
          <p:cNvSpPr>
            <a:spLocks noGrp="1"/>
          </p:cNvSpPr>
          <p:nvPr>
            <p:ph type="dt" sz="half" idx="10"/>
          </p:nvPr>
        </p:nvSpPr>
        <p:spPr/>
        <p:txBody>
          <a:bodyPr/>
          <a:lstStyle/>
          <a:p>
            <a:pPr defTabSz="914377">
              <a:defRPr/>
            </a:pPr>
            <a:r>
              <a:rPr lang="en-US">
                <a:solidFill>
                  <a:prstClr val="white"/>
                </a:solidFill>
              </a:rPr>
              <a:t>September 27, 2017</a:t>
            </a:r>
            <a:endParaRPr lang="en-US" dirty="0">
              <a:solidFill>
                <a:prstClr val="white"/>
              </a:solidFill>
            </a:endParaRPr>
          </a:p>
        </p:txBody>
      </p:sp>
      <p:sp>
        <p:nvSpPr>
          <p:cNvPr id="8" name="Footer Placeholder 7"/>
          <p:cNvSpPr>
            <a:spLocks noGrp="1"/>
          </p:cNvSpPr>
          <p:nvPr>
            <p:ph type="ftr" sz="quarter" idx="12"/>
          </p:nvPr>
        </p:nvSpPr>
        <p:spPr bwMode="auto">
          <a:xfrm>
            <a:off x="4093931"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70" algn="l" rtl="0" fontAlgn="base">
              <a:spcBef>
                <a:spcPct val="0"/>
              </a:spcBef>
              <a:spcAft>
                <a:spcPct val="0"/>
              </a:spcAft>
              <a:defRPr sz="2667" kern="1200">
                <a:solidFill>
                  <a:schemeClr val="tx1"/>
                </a:solidFill>
                <a:latin typeface="Verdana" pitchFamily="34" charset="0"/>
                <a:ea typeface="+mn-ea"/>
                <a:cs typeface="+mn-cs"/>
              </a:defRPr>
            </a:lvl2pPr>
            <a:lvl3pPr marL="1219140" algn="l" rtl="0" fontAlgn="base">
              <a:spcBef>
                <a:spcPct val="0"/>
              </a:spcBef>
              <a:spcAft>
                <a:spcPct val="0"/>
              </a:spcAft>
              <a:defRPr sz="2667" kern="1200">
                <a:solidFill>
                  <a:schemeClr val="tx1"/>
                </a:solidFill>
                <a:latin typeface="Verdana" pitchFamily="34" charset="0"/>
                <a:ea typeface="+mn-ea"/>
                <a:cs typeface="+mn-cs"/>
              </a:defRPr>
            </a:lvl3pPr>
            <a:lvl4pPr marL="1828709" algn="l" rtl="0" fontAlgn="base">
              <a:spcBef>
                <a:spcPct val="0"/>
              </a:spcBef>
              <a:spcAft>
                <a:spcPct val="0"/>
              </a:spcAft>
              <a:defRPr sz="2667" kern="1200">
                <a:solidFill>
                  <a:schemeClr val="tx1"/>
                </a:solidFill>
                <a:latin typeface="Verdana" pitchFamily="34" charset="0"/>
                <a:ea typeface="+mn-ea"/>
                <a:cs typeface="+mn-cs"/>
              </a:defRPr>
            </a:lvl4pPr>
            <a:lvl5pPr marL="2438278" algn="l" rtl="0" fontAlgn="base">
              <a:spcBef>
                <a:spcPct val="0"/>
              </a:spcBef>
              <a:spcAft>
                <a:spcPct val="0"/>
              </a:spcAft>
              <a:defRPr sz="2667" kern="1200">
                <a:solidFill>
                  <a:schemeClr val="tx1"/>
                </a:solidFill>
                <a:latin typeface="Verdana" pitchFamily="34" charset="0"/>
                <a:ea typeface="+mn-ea"/>
                <a:cs typeface="+mn-cs"/>
              </a:defRPr>
            </a:lvl5pPr>
            <a:lvl6pPr marL="3047848" algn="l" defTabSz="1219140" rtl="0" eaLnBrk="1" latinLnBrk="0" hangingPunct="1">
              <a:defRPr sz="2667" kern="1200">
                <a:solidFill>
                  <a:schemeClr val="tx1"/>
                </a:solidFill>
                <a:latin typeface="Verdana" pitchFamily="34" charset="0"/>
                <a:ea typeface="+mn-ea"/>
                <a:cs typeface="+mn-cs"/>
              </a:defRPr>
            </a:lvl6pPr>
            <a:lvl7pPr marL="3657418" algn="l" defTabSz="1219140" rtl="0" eaLnBrk="1" latinLnBrk="0" hangingPunct="1">
              <a:defRPr sz="2667" kern="1200">
                <a:solidFill>
                  <a:schemeClr val="tx1"/>
                </a:solidFill>
                <a:latin typeface="Verdana" pitchFamily="34" charset="0"/>
                <a:ea typeface="+mn-ea"/>
                <a:cs typeface="+mn-cs"/>
              </a:defRPr>
            </a:lvl7pPr>
            <a:lvl8pPr marL="4266987" algn="l" defTabSz="1219140" rtl="0" eaLnBrk="1" latinLnBrk="0" hangingPunct="1">
              <a:defRPr sz="2667" kern="1200">
                <a:solidFill>
                  <a:schemeClr val="tx1"/>
                </a:solidFill>
                <a:latin typeface="Verdana" pitchFamily="34" charset="0"/>
                <a:ea typeface="+mn-ea"/>
                <a:cs typeface="+mn-cs"/>
              </a:defRPr>
            </a:lvl8pPr>
            <a:lvl9pPr marL="4876557" algn="l" defTabSz="1219140" rtl="0" eaLnBrk="1" latinLnBrk="0" hangingPunct="1">
              <a:defRPr sz="2667" kern="1200">
                <a:solidFill>
                  <a:schemeClr val="tx1"/>
                </a:solidFill>
                <a:latin typeface="Verdana" pitchFamily="34" charset="0"/>
                <a:ea typeface="+mn-ea"/>
                <a:cs typeface="+mn-cs"/>
              </a:defRPr>
            </a:lvl9pPr>
          </a:lstStyle>
          <a:p>
            <a:pPr defTabSz="914377">
              <a:defRPr/>
            </a:pPr>
            <a:r>
              <a:rPr lang="en-US">
                <a:solidFill>
                  <a:prstClr val="black"/>
                </a:solidFill>
                <a:latin typeface="Arial"/>
                <a:ea typeface="新細明體"/>
              </a:rPr>
              <a:t>http://csg.csail.mit.edu/6.175</a:t>
            </a:r>
            <a:endParaRPr lang="en-US" dirty="0">
              <a:solidFill>
                <a:prstClr val="black"/>
              </a:solidFill>
              <a:latin typeface="Arial"/>
              <a:ea typeface="新細明體"/>
            </a:endParaRPr>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70" algn="l" rtl="0" fontAlgn="base">
              <a:spcBef>
                <a:spcPct val="0"/>
              </a:spcBef>
              <a:spcAft>
                <a:spcPct val="0"/>
              </a:spcAft>
              <a:defRPr sz="2667" kern="1200">
                <a:solidFill>
                  <a:schemeClr val="tx1"/>
                </a:solidFill>
                <a:latin typeface="Verdana" pitchFamily="34" charset="0"/>
                <a:ea typeface="+mn-ea"/>
                <a:cs typeface="+mn-cs"/>
              </a:defRPr>
            </a:lvl2pPr>
            <a:lvl3pPr marL="1219140" algn="l" rtl="0" fontAlgn="base">
              <a:spcBef>
                <a:spcPct val="0"/>
              </a:spcBef>
              <a:spcAft>
                <a:spcPct val="0"/>
              </a:spcAft>
              <a:defRPr sz="2667" kern="1200">
                <a:solidFill>
                  <a:schemeClr val="tx1"/>
                </a:solidFill>
                <a:latin typeface="Verdana" pitchFamily="34" charset="0"/>
                <a:ea typeface="+mn-ea"/>
                <a:cs typeface="+mn-cs"/>
              </a:defRPr>
            </a:lvl3pPr>
            <a:lvl4pPr marL="1828709" algn="l" rtl="0" fontAlgn="base">
              <a:spcBef>
                <a:spcPct val="0"/>
              </a:spcBef>
              <a:spcAft>
                <a:spcPct val="0"/>
              </a:spcAft>
              <a:defRPr sz="2667" kern="1200">
                <a:solidFill>
                  <a:schemeClr val="tx1"/>
                </a:solidFill>
                <a:latin typeface="Verdana" pitchFamily="34" charset="0"/>
                <a:ea typeface="+mn-ea"/>
                <a:cs typeface="+mn-cs"/>
              </a:defRPr>
            </a:lvl4pPr>
            <a:lvl5pPr marL="2438278" algn="l" rtl="0" fontAlgn="base">
              <a:spcBef>
                <a:spcPct val="0"/>
              </a:spcBef>
              <a:spcAft>
                <a:spcPct val="0"/>
              </a:spcAft>
              <a:defRPr sz="2667" kern="1200">
                <a:solidFill>
                  <a:schemeClr val="tx1"/>
                </a:solidFill>
                <a:latin typeface="Verdana" pitchFamily="34" charset="0"/>
                <a:ea typeface="+mn-ea"/>
                <a:cs typeface="+mn-cs"/>
              </a:defRPr>
            </a:lvl5pPr>
            <a:lvl6pPr marL="3047848" algn="l" defTabSz="1219140" rtl="0" eaLnBrk="1" latinLnBrk="0" hangingPunct="1">
              <a:defRPr sz="2667" kern="1200">
                <a:solidFill>
                  <a:schemeClr val="tx1"/>
                </a:solidFill>
                <a:latin typeface="Verdana" pitchFamily="34" charset="0"/>
                <a:ea typeface="+mn-ea"/>
                <a:cs typeface="+mn-cs"/>
              </a:defRPr>
            </a:lvl6pPr>
            <a:lvl7pPr marL="3657418" algn="l" defTabSz="1219140" rtl="0" eaLnBrk="1" latinLnBrk="0" hangingPunct="1">
              <a:defRPr sz="2667" kern="1200">
                <a:solidFill>
                  <a:schemeClr val="tx1"/>
                </a:solidFill>
                <a:latin typeface="Verdana" pitchFamily="34" charset="0"/>
                <a:ea typeface="+mn-ea"/>
                <a:cs typeface="+mn-cs"/>
              </a:defRPr>
            </a:lvl7pPr>
            <a:lvl8pPr marL="4266987" algn="l" defTabSz="1219140" rtl="0" eaLnBrk="1" latinLnBrk="0" hangingPunct="1">
              <a:defRPr sz="2667" kern="1200">
                <a:solidFill>
                  <a:schemeClr val="tx1"/>
                </a:solidFill>
                <a:latin typeface="Verdana" pitchFamily="34" charset="0"/>
                <a:ea typeface="+mn-ea"/>
                <a:cs typeface="+mn-cs"/>
              </a:defRPr>
            </a:lvl8pPr>
            <a:lvl9pPr marL="4876557" algn="l" defTabSz="1219140" rtl="0" eaLnBrk="1" latinLnBrk="0" hangingPunct="1">
              <a:defRPr sz="2667" kern="1200">
                <a:solidFill>
                  <a:schemeClr val="tx1"/>
                </a:solidFill>
                <a:latin typeface="Verdana" pitchFamily="34" charset="0"/>
                <a:ea typeface="+mn-ea"/>
                <a:cs typeface="+mn-cs"/>
              </a:defRPr>
            </a:lvl9pPr>
          </a:lstStyle>
          <a:p>
            <a:pPr defTabSz="914377">
              <a:defRPr/>
            </a:pPr>
            <a:r>
              <a:rPr lang="en-US">
                <a:solidFill>
                  <a:prstClr val="black"/>
                </a:solidFill>
                <a:latin typeface="Arial"/>
                <a:ea typeface="新細明體"/>
              </a:rPr>
              <a:t>L09-</a:t>
            </a:r>
            <a:fld id="{D02EE386-C9BD-4FB7-9577-6096B5320EC4}" type="slidenum">
              <a:rPr lang="en-US">
                <a:solidFill>
                  <a:prstClr val="black"/>
                </a:solidFill>
                <a:latin typeface="Arial"/>
                <a:ea typeface="新細明體"/>
              </a:rPr>
              <a:pPr defTabSz="914377">
                <a:defRPr/>
              </a:pPr>
              <a:t>37</a:t>
            </a:fld>
            <a:endParaRPr lang="en-US" dirty="0">
              <a:solidFill>
                <a:prstClr val="black"/>
              </a:solidFill>
              <a:latin typeface="Arial"/>
              <a:ea typeface="新細明體"/>
            </a:endParaRPr>
          </a:p>
        </p:txBody>
      </p:sp>
      <p:sp>
        <p:nvSpPr>
          <p:cNvPr id="10" name="TextBox 9">
            <a:extLst>
              <a:ext uri="{FF2B5EF4-FFF2-40B4-BE49-F238E27FC236}">
                <a16:creationId xmlns:a16="http://schemas.microsoft.com/office/drawing/2014/main" id="{6CEDA7A9-DD2C-42A4-8C9B-9A56DF041136}"/>
              </a:ext>
            </a:extLst>
          </p:cNvPr>
          <p:cNvSpPr txBox="1"/>
          <p:nvPr/>
        </p:nvSpPr>
        <p:spPr>
          <a:xfrm>
            <a:off x="7836696" y="5232829"/>
            <a:ext cx="2338141" cy="461665"/>
          </a:xfrm>
          <a:prstGeom prst="rect">
            <a:avLst/>
          </a:prstGeom>
          <a:noFill/>
        </p:spPr>
        <p:txBody>
          <a:bodyPr wrap="none" rtlCol="0" anchor="ctr" anchorCtr="1">
            <a:spAutoFit/>
          </a:bodyPr>
          <a:lstStyle/>
          <a:p>
            <a:pPr defTabSz="914377"/>
            <a:r>
              <a:rPr lang="en-US" sz="2400" dirty="0">
                <a:solidFill>
                  <a:prstClr val="black"/>
                </a:solidFill>
                <a:latin typeface="Arial"/>
                <a:ea typeface="標楷體" pitchFamily="65" charset="-120"/>
                <a:cs typeface="Calibri" panose="020F07020304040A0204" pitchFamily="34" charset="0"/>
              </a:rPr>
              <a:t>Answer: A, B, C</a:t>
            </a:r>
          </a:p>
        </p:txBody>
      </p:sp>
    </p:spTree>
    <p:extLst>
      <p:ext uri="{BB962C8B-B14F-4D97-AF65-F5344CB8AC3E}">
        <p14:creationId xmlns:p14="http://schemas.microsoft.com/office/powerpoint/2010/main" val="1228741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Quick Review</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14009" y="1209675"/>
                <a:ext cx="11738808" cy="4909023"/>
              </a:xfrm>
            </p:spPr>
            <p:txBody>
              <a:bodyPr/>
              <a:lstStyle/>
              <a:p>
                <a:pPr marL="0" indent="0">
                  <a:buNone/>
                </a:pPr>
                <a:r>
                  <a:rPr lang="en-US" sz="2800" dirty="0">
                    <a:latin typeface="Times New Roman" panose="02020603050405020304" pitchFamily="18" charset="0"/>
                    <a:cs typeface="Times New Roman" panose="02020603050405020304" pitchFamily="18" charset="0"/>
                  </a:rPr>
                  <a:t>2) What are the maximum and minimum values of </a:t>
                </a:r>
                <a:r>
                  <a:rPr lang="en-US" sz="2800" b="1" dirty="0">
                    <a:latin typeface="Times New Roman" panose="02020603050405020304" pitchFamily="18" charset="0"/>
                    <a:cs typeface="Times New Roman" panose="02020603050405020304" pitchFamily="18" charset="0"/>
                  </a:rPr>
                  <a:t>int32_t?</a:t>
                </a:r>
              </a:p>
              <a:p>
                <a:pPr marL="0" indent="0">
                  <a:buNone/>
                </a:pPr>
                <a:endParaRPr lang="en-US" sz="2800" b="1" dirty="0">
                  <a:latin typeface="Times New Roman" panose="02020603050405020304" pitchFamily="18" charset="0"/>
                  <a:cs typeface="Times New Roman" panose="02020603050405020304" pitchFamily="18" charset="0"/>
                </a:endParaRPr>
              </a:p>
              <a:p>
                <a:pPr marL="0" indent="0" algn="l">
                  <a:buNone/>
                </a:pPr>
                <a:r>
                  <a:rPr lang="en-US" sz="2800" dirty="0">
                    <a:latin typeface="Times New Roman" panose="02020603050405020304" pitchFamily="18" charset="0"/>
                    <a:cs typeface="Times New Roman" panose="02020603050405020304" pitchFamily="18" charset="0"/>
                  </a:rPr>
                  <a:t>a) </a:t>
                </a:r>
                <a:r>
                  <a:rPr lang="en-US" sz="2400" b="1" i="0" dirty="0">
                    <a:solidFill>
                      <a:srgbClr val="111827"/>
                    </a:solidFill>
                    <a:effectLst/>
                    <a:latin typeface="ui-sans-serif"/>
                  </a:rPr>
                  <a:t>Maximum:</a:t>
                </a:r>
                <a:r>
                  <a:rPr lang="en-US" sz="2400" b="0" i="0" dirty="0">
                    <a:solidFill>
                      <a:srgbClr val="374151"/>
                    </a:solidFill>
                    <a:effectLst/>
                    <a:latin typeface="ui-sans-serif"/>
                  </a:rPr>
                  <a:t> </a:t>
                </a:r>
                <a14:m>
                  <m:oMath xmlns:m="http://schemas.openxmlformats.org/officeDocument/2006/math">
                    <m:sSup>
                      <m:sSupPr>
                        <m:ctrlPr>
                          <a:rPr lang="en-US" sz="2400" b="1" i="1" smtClean="0">
                            <a:solidFill>
                              <a:srgbClr val="374151"/>
                            </a:solidFill>
                            <a:effectLst/>
                            <a:latin typeface="Cambria Math" panose="02040503050406030204" pitchFamily="18" charset="0"/>
                          </a:rPr>
                        </m:ctrlPr>
                      </m:sSupPr>
                      <m:e>
                        <m:r>
                          <a:rPr lang="en-US" sz="2400" b="1" i="1" smtClean="0">
                            <a:solidFill>
                              <a:srgbClr val="374151"/>
                            </a:solidFill>
                            <a:effectLst/>
                            <a:latin typeface="Cambria Math" panose="02040503050406030204" pitchFamily="18" charset="0"/>
                          </a:rPr>
                          <m:t>𝟐</m:t>
                        </m:r>
                      </m:e>
                      <m:sup>
                        <m:r>
                          <a:rPr lang="en-US" sz="2400" b="1" i="1" smtClean="0">
                            <a:solidFill>
                              <a:srgbClr val="374151"/>
                            </a:solidFill>
                            <a:effectLst/>
                            <a:latin typeface="Cambria Math" panose="02040503050406030204" pitchFamily="18" charset="0"/>
                          </a:rPr>
                          <m:t>𝟑𝟏</m:t>
                        </m:r>
                      </m:sup>
                    </m:sSup>
                  </m:oMath>
                </a14:m>
                <a:r>
                  <a:rPr lang="en-US" sz="2400" b="1" i="0" dirty="0">
                    <a:solidFill>
                      <a:srgbClr val="374151"/>
                    </a:solidFill>
                    <a:effectLst/>
                    <a:latin typeface="KaTeX_Main"/>
                  </a:rPr>
                  <a:t> </a:t>
                </a:r>
                <a:r>
                  <a:rPr lang="en-US" sz="2400" dirty="0">
                    <a:solidFill>
                      <a:srgbClr val="374151"/>
                    </a:solidFill>
                    <a:latin typeface="ui-sans-serif"/>
                  </a:rPr>
                  <a:t>, </a:t>
                </a:r>
                <a:r>
                  <a:rPr lang="en-US" sz="2400" b="1" i="0" dirty="0">
                    <a:solidFill>
                      <a:srgbClr val="111827"/>
                    </a:solidFill>
                    <a:effectLst/>
                    <a:latin typeface="ui-sans-serif"/>
                  </a:rPr>
                  <a:t>Minimum:</a:t>
                </a:r>
                <a:r>
                  <a:rPr lang="en-US" sz="2400" b="0" i="0" dirty="0">
                    <a:solidFill>
                      <a:srgbClr val="374151"/>
                    </a:solidFill>
                    <a:effectLst/>
                    <a:latin typeface="ui-sans-serif"/>
                  </a:rPr>
                  <a:t> </a:t>
                </a:r>
                <a:r>
                  <a:rPr lang="en-US" sz="2400" b="1" i="0" dirty="0">
                    <a:solidFill>
                      <a:srgbClr val="374151"/>
                    </a:solidFill>
                    <a:effectLst/>
                    <a:latin typeface="KaTeX_Main"/>
                  </a:rPr>
                  <a:t>−</a:t>
                </a:r>
                <a14:m>
                  <m:oMath xmlns:m="http://schemas.openxmlformats.org/officeDocument/2006/math">
                    <m:sSup>
                      <m:sSupPr>
                        <m:ctrlPr>
                          <a:rPr lang="en-US" sz="2400" b="1" i="1" smtClean="0">
                            <a:solidFill>
                              <a:srgbClr val="374151"/>
                            </a:solidFill>
                            <a:effectLst/>
                            <a:latin typeface="Cambria Math" panose="02040503050406030204" pitchFamily="18" charset="0"/>
                          </a:rPr>
                        </m:ctrlPr>
                      </m:sSupPr>
                      <m:e>
                        <m:r>
                          <a:rPr lang="en-US" sz="2400" b="1" i="1" smtClean="0">
                            <a:solidFill>
                              <a:srgbClr val="374151"/>
                            </a:solidFill>
                            <a:effectLst/>
                            <a:latin typeface="Cambria Math" panose="02040503050406030204" pitchFamily="18" charset="0"/>
                          </a:rPr>
                          <m:t>𝟐</m:t>
                        </m:r>
                      </m:e>
                      <m:sup>
                        <m:r>
                          <a:rPr lang="en-US" sz="2400" b="1" i="1" smtClean="0">
                            <a:solidFill>
                              <a:srgbClr val="374151"/>
                            </a:solidFill>
                            <a:effectLst/>
                            <a:latin typeface="Cambria Math" panose="02040503050406030204" pitchFamily="18" charset="0"/>
                          </a:rPr>
                          <m:t>𝟑𝟏</m:t>
                        </m:r>
                      </m:sup>
                    </m:sSup>
                  </m:oMath>
                </a14:m>
                <a:endParaRPr lang="en-US" sz="2800" dirty="0">
                  <a:latin typeface="Times New Roman" panose="02020603050405020304" pitchFamily="18" charset="0"/>
                  <a:cs typeface="Times New Roman" panose="02020603050405020304" pitchFamily="18" charset="0"/>
                </a:endParaRPr>
              </a:p>
              <a:p>
                <a:pPr marL="0" indent="0">
                  <a:buNone/>
                </a:pPr>
                <a:r>
                  <a:rPr lang="en-US" sz="2800" dirty="0">
                    <a:latin typeface="Times New Roman" panose="02020603050405020304" pitchFamily="18" charset="0"/>
                    <a:cs typeface="Times New Roman" panose="02020603050405020304" pitchFamily="18" charset="0"/>
                  </a:rPr>
                  <a:t>b) </a:t>
                </a:r>
                <a:r>
                  <a:rPr kumimoji="1" lang="en-US" sz="2400" b="1" i="0" u="none" strike="noStrike" kern="0" cap="none" spc="0" normalizeH="0" baseline="0" noProof="0" dirty="0">
                    <a:ln>
                      <a:noFill/>
                    </a:ln>
                    <a:solidFill>
                      <a:srgbClr val="111827"/>
                    </a:solidFill>
                    <a:effectLst/>
                    <a:uLnTx/>
                    <a:uFillTx/>
                    <a:latin typeface="ui-sans-serif"/>
                    <a:ea typeface="標楷體" pitchFamily="65" charset="-120"/>
                    <a:cs typeface="+mn-cs"/>
                  </a:rPr>
                  <a:t>Maximum</a:t>
                </a:r>
                <a:r>
                  <a:rPr kumimoji="1" lang="en-US" sz="2400" i="0" u="none" strike="noStrike" kern="0" cap="none" spc="0" normalizeH="0" baseline="0" noProof="0" dirty="0">
                    <a:ln>
                      <a:noFill/>
                    </a:ln>
                    <a:solidFill>
                      <a:srgbClr val="111827"/>
                    </a:solidFill>
                    <a:effectLst/>
                    <a:uLnTx/>
                    <a:uFillTx/>
                    <a:latin typeface="ui-sans-serif"/>
                    <a:ea typeface="標楷體" pitchFamily="65" charset="-120"/>
                    <a:cs typeface="+mn-cs"/>
                  </a:rPr>
                  <a:t>:</a:t>
                </a:r>
                <a:r>
                  <a:rPr kumimoji="1" lang="en-US" sz="2400" i="0" u="none" strike="noStrike" kern="0" cap="none" spc="0" normalizeH="0" baseline="0" noProof="0" dirty="0">
                    <a:ln>
                      <a:noFill/>
                    </a:ln>
                    <a:solidFill>
                      <a:srgbClr val="374151"/>
                    </a:solidFill>
                    <a:effectLst/>
                    <a:uLnTx/>
                    <a:uFillTx/>
                    <a:latin typeface="ui-sans-serif"/>
                    <a:ea typeface="標楷體" pitchFamily="65" charset="-120"/>
                    <a:cs typeface="+mn-cs"/>
                  </a:rPr>
                  <a:t> </a:t>
                </a:r>
                <a:r>
                  <a:rPr lang="en-US" sz="2400" i="0" dirty="0">
                    <a:solidFill>
                      <a:srgbClr val="1F2937"/>
                    </a:solidFill>
                    <a:effectLst/>
                    <a:latin typeface="ui-monospace"/>
                  </a:rPr>
                  <a:t> 0x7FFFFFFF</a:t>
                </a:r>
                <a:r>
                  <a:rPr kumimoji="1" lang="en-US" sz="2400" b="0" i="0" u="none" strike="noStrike" kern="0" cap="none" spc="0" normalizeH="0" baseline="0" noProof="0" dirty="0">
                    <a:ln>
                      <a:noFill/>
                    </a:ln>
                    <a:solidFill>
                      <a:srgbClr val="374151"/>
                    </a:solidFill>
                    <a:effectLst/>
                    <a:uLnTx/>
                    <a:uFillTx/>
                    <a:latin typeface="ui-sans-serif"/>
                    <a:ea typeface="標楷體" pitchFamily="65" charset="-120"/>
                    <a:cs typeface="+mn-cs"/>
                  </a:rPr>
                  <a:t>, </a:t>
                </a:r>
                <a:r>
                  <a:rPr kumimoji="1" lang="en-US" sz="2400" b="1" i="0" u="none" strike="noStrike" kern="0" cap="none" spc="0" normalizeH="0" baseline="0" noProof="0" dirty="0">
                    <a:ln>
                      <a:noFill/>
                    </a:ln>
                    <a:solidFill>
                      <a:srgbClr val="111827"/>
                    </a:solidFill>
                    <a:effectLst/>
                    <a:uLnTx/>
                    <a:uFillTx/>
                    <a:latin typeface="ui-sans-serif"/>
                    <a:ea typeface="標楷體" pitchFamily="65" charset="-120"/>
                    <a:cs typeface="+mn-cs"/>
                  </a:rPr>
                  <a:t>Minimum:</a:t>
                </a:r>
                <a:r>
                  <a:rPr kumimoji="1" lang="en-US" sz="2400" b="0" i="0" u="none" strike="noStrike" kern="0" cap="none" spc="0" normalizeH="0" baseline="0" noProof="0" dirty="0">
                    <a:ln>
                      <a:noFill/>
                    </a:ln>
                    <a:solidFill>
                      <a:srgbClr val="374151"/>
                    </a:solidFill>
                    <a:effectLst/>
                    <a:uLnTx/>
                    <a:uFillTx/>
                    <a:latin typeface="ui-sans-serif"/>
                    <a:ea typeface="標楷體" pitchFamily="65" charset="-120"/>
                    <a:cs typeface="+mn-cs"/>
                  </a:rPr>
                  <a:t> </a:t>
                </a:r>
                <a:r>
                  <a:rPr lang="en-US" sz="1200" b="0" i="0" dirty="0">
                    <a:solidFill>
                      <a:srgbClr val="1F2937"/>
                    </a:solidFill>
                    <a:effectLst/>
                    <a:latin typeface="ui-monospace"/>
                  </a:rPr>
                  <a:t> </a:t>
                </a:r>
                <a:r>
                  <a:rPr lang="en-US" sz="2400" b="0" i="0" dirty="0">
                    <a:solidFill>
                      <a:srgbClr val="1F2937"/>
                    </a:solidFill>
                    <a:effectLst/>
                    <a:latin typeface="ui-monospace"/>
                  </a:rPr>
                  <a:t>0x80000000</a:t>
                </a:r>
                <a:endParaRPr lang="en-US" sz="2400" dirty="0">
                  <a:latin typeface="Times New Roman" panose="02020603050405020304" pitchFamily="18" charset="0"/>
                  <a:cs typeface="Times New Roman" panose="02020603050405020304" pitchFamily="18" charset="0"/>
                </a:endParaRPr>
              </a:p>
              <a:p>
                <a:pPr marL="0" indent="0">
                  <a:buNone/>
                </a:pPr>
                <a:r>
                  <a:rPr lang="en-US" sz="2800" dirty="0">
                    <a:latin typeface="Times New Roman" panose="02020603050405020304" pitchFamily="18" charset="0"/>
                    <a:cs typeface="Times New Roman" panose="02020603050405020304" pitchFamily="18" charset="0"/>
                  </a:rPr>
                  <a:t>c) </a:t>
                </a:r>
                <a:r>
                  <a:rPr kumimoji="1" lang="en-US" sz="2400" b="1" i="0" u="none" strike="noStrike" kern="0" cap="none" spc="0" normalizeH="0" baseline="0" noProof="0" dirty="0">
                    <a:ln>
                      <a:noFill/>
                    </a:ln>
                    <a:solidFill>
                      <a:srgbClr val="111827"/>
                    </a:solidFill>
                    <a:effectLst/>
                    <a:uLnTx/>
                    <a:uFillTx/>
                    <a:latin typeface="ui-sans-serif"/>
                    <a:ea typeface="標楷體" pitchFamily="65" charset="-120"/>
                    <a:cs typeface="+mn-cs"/>
                  </a:rPr>
                  <a:t>Maximum:</a:t>
                </a:r>
                <a:r>
                  <a:rPr kumimoji="1" lang="en-US" sz="2400" b="0" i="0" u="none" strike="noStrike" kern="0" cap="none" spc="0" normalizeH="0" baseline="0" noProof="0" dirty="0">
                    <a:ln>
                      <a:noFill/>
                    </a:ln>
                    <a:solidFill>
                      <a:srgbClr val="374151"/>
                    </a:solidFill>
                    <a:effectLst/>
                    <a:uLnTx/>
                    <a:uFillTx/>
                    <a:latin typeface="ui-sans-serif"/>
                    <a:ea typeface="標楷體" pitchFamily="65" charset="-120"/>
                    <a:cs typeface="+mn-cs"/>
                  </a:rPr>
                  <a:t> </a:t>
                </a:r>
                <a14:m>
                  <m:oMath xmlns:m="http://schemas.openxmlformats.org/officeDocument/2006/math">
                    <m:sSup>
                      <m:sSupPr>
                        <m:ctrlPr>
                          <a:rPr kumimoji="1" lang="en-US" sz="2400" b="1" i="1" u="none" strike="noStrike" kern="0" cap="none" spc="0" normalizeH="0" baseline="0" noProof="0" smtClean="0">
                            <a:ln>
                              <a:noFill/>
                            </a:ln>
                            <a:solidFill>
                              <a:srgbClr val="374151"/>
                            </a:solidFill>
                            <a:effectLst/>
                            <a:uLnTx/>
                            <a:uFillTx/>
                            <a:latin typeface="Cambria Math" panose="02040503050406030204" pitchFamily="18" charset="0"/>
                            <a:cs typeface="+mn-cs"/>
                          </a:rPr>
                        </m:ctrlPr>
                      </m:sSupPr>
                      <m:e>
                        <m:r>
                          <a:rPr kumimoji="1" lang="en-US" sz="2400" b="1" i="1" u="none" strike="noStrike" kern="0" cap="none" spc="0" normalizeH="0" baseline="0" noProof="0" smtClean="0">
                            <a:ln>
                              <a:noFill/>
                            </a:ln>
                            <a:solidFill>
                              <a:srgbClr val="374151"/>
                            </a:solidFill>
                            <a:effectLst/>
                            <a:uLnTx/>
                            <a:uFillTx/>
                            <a:latin typeface="Cambria Math" panose="02040503050406030204" pitchFamily="18" charset="0"/>
                            <a:cs typeface="+mn-cs"/>
                          </a:rPr>
                          <m:t>𝟐</m:t>
                        </m:r>
                      </m:e>
                      <m:sup>
                        <m:r>
                          <a:rPr kumimoji="1" lang="en-US" sz="2400" b="1" i="1" u="none" strike="noStrike" kern="0" cap="none" spc="0" normalizeH="0" baseline="0" noProof="0" smtClean="0">
                            <a:ln>
                              <a:noFill/>
                            </a:ln>
                            <a:solidFill>
                              <a:srgbClr val="374151"/>
                            </a:solidFill>
                            <a:effectLst/>
                            <a:uLnTx/>
                            <a:uFillTx/>
                            <a:latin typeface="Cambria Math" panose="02040503050406030204" pitchFamily="18" charset="0"/>
                            <a:cs typeface="+mn-cs"/>
                          </a:rPr>
                          <m:t>𝟑𝟏</m:t>
                        </m:r>
                      </m:sup>
                    </m:sSup>
                  </m:oMath>
                </a14:m>
                <a:r>
                  <a:rPr kumimoji="1" lang="en-US" sz="2400" b="1" i="0" u="none" strike="noStrike" kern="0" cap="none" spc="0" normalizeH="0" baseline="0" noProof="0" dirty="0">
                    <a:ln>
                      <a:noFill/>
                    </a:ln>
                    <a:solidFill>
                      <a:srgbClr val="374151"/>
                    </a:solidFill>
                    <a:effectLst/>
                    <a:uLnTx/>
                    <a:uFillTx/>
                    <a:latin typeface="KaTeX_Main"/>
                    <a:ea typeface="標楷體" pitchFamily="65" charset="-120"/>
                    <a:cs typeface="+mn-cs"/>
                  </a:rPr>
                  <a:t>−1 </a:t>
                </a:r>
                <a:r>
                  <a:rPr kumimoji="1" lang="en-US" sz="2400" b="0" i="0" u="none" strike="noStrike" kern="0" cap="none" spc="0" normalizeH="0" baseline="0" noProof="0" dirty="0">
                    <a:ln>
                      <a:noFill/>
                    </a:ln>
                    <a:solidFill>
                      <a:srgbClr val="374151"/>
                    </a:solidFill>
                    <a:effectLst/>
                    <a:uLnTx/>
                    <a:uFillTx/>
                    <a:latin typeface="ui-sans-serif"/>
                    <a:ea typeface="標楷體" pitchFamily="65" charset="-120"/>
                    <a:cs typeface="+mn-cs"/>
                  </a:rPr>
                  <a:t>, </a:t>
                </a:r>
                <a:r>
                  <a:rPr kumimoji="1" lang="en-US" sz="2400" b="1" i="0" u="none" strike="noStrike" kern="0" cap="none" spc="0" normalizeH="0" baseline="0" noProof="0" dirty="0">
                    <a:ln>
                      <a:noFill/>
                    </a:ln>
                    <a:solidFill>
                      <a:srgbClr val="111827"/>
                    </a:solidFill>
                    <a:effectLst/>
                    <a:uLnTx/>
                    <a:uFillTx/>
                    <a:latin typeface="ui-sans-serif"/>
                    <a:ea typeface="標楷體" pitchFamily="65" charset="-120"/>
                    <a:cs typeface="+mn-cs"/>
                  </a:rPr>
                  <a:t>Minimum:</a:t>
                </a:r>
                <a:r>
                  <a:rPr kumimoji="1" lang="en-US" sz="2400" b="0" i="0" u="none" strike="noStrike" kern="0" cap="none" spc="0" normalizeH="0" baseline="0" noProof="0" dirty="0">
                    <a:ln>
                      <a:noFill/>
                    </a:ln>
                    <a:solidFill>
                      <a:srgbClr val="374151"/>
                    </a:solidFill>
                    <a:effectLst/>
                    <a:uLnTx/>
                    <a:uFillTx/>
                    <a:latin typeface="ui-sans-serif"/>
                    <a:ea typeface="標楷體" pitchFamily="65" charset="-120"/>
                    <a:cs typeface="+mn-cs"/>
                  </a:rPr>
                  <a:t> </a:t>
                </a:r>
                <a:r>
                  <a:rPr kumimoji="1" lang="en-US" sz="2400" b="1" i="0" u="none" strike="noStrike" kern="0" cap="none" spc="0" normalizeH="0" baseline="0" noProof="0" dirty="0">
                    <a:ln>
                      <a:noFill/>
                    </a:ln>
                    <a:solidFill>
                      <a:srgbClr val="374151"/>
                    </a:solidFill>
                    <a:effectLst/>
                    <a:uLnTx/>
                    <a:uFillTx/>
                    <a:latin typeface="KaTeX_Main"/>
                    <a:ea typeface="標楷體" pitchFamily="65" charset="-120"/>
                    <a:cs typeface="+mn-cs"/>
                  </a:rPr>
                  <a:t>−</a:t>
                </a:r>
                <a14:m>
                  <m:oMath xmlns:m="http://schemas.openxmlformats.org/officeDocument/2006/math">
                    <m:sSup>
                      <m:sSupPr>
                        <m:ctrlPr>
                          <a:rPr kumimoji="1" lang="en-US" sz="2400" b="1" i="1" u="none" strike="noStrike" kern="0" cap="none" spc="0" normalizeH="0" baseline="0" noProof="0" smtClean="0">
                            <a:ln>
                              <a:noFill/>
                            </a:ln>
                            <a:solidFill>
                              <a:srgbClr val="374151"/>
                            </a:solidFill>
                            <a:effectLst/>
                            <a:uLnTx/>
                            <a:uFillTx/>
                            <a:latin typeface="Cambria Math" panose="02040503050406030204" pitchFamily="18" charset="0"/>
                            <a:cs typeface="+mn-cs"/>
                          </a:rPr>
                        </m:ctrlPr>
                      </m:sSupPr>
                      <m:e>
                        <m:r>
                          <a:rPr kumimoji="1" lang="en-US" sz="2400" b="1" i="1" u="none" strike="noStrike" kern="0" cap="none" spc="0" normalizeH="0" baseline="0" noProof="0" smtClean="0">
                            <a:ln>
                              <a:noFill/>
                            </a:ln>
                            <a:solidFill>
                              <a:srgbClr val="374151"/>
                            </a:solidFill>
                            <a:effectLst/>
                            <a:uLnTx/>
                            <a:uFillTx/>
                            <a:latin typeface="Cambria Math" panose="02040503050406030204" pitchFamily="18" charset="0"/>
                            <a:cs typeface="+mn-cs"/>
                          </a:rPr>
                          <m:t>𝟐</m:t>
                        </m:r>
                      </m:e>
                      <m:sup>
                        <m:r>
                          <a:rPr kumimoji="1" lang="en-US" sz="2400" b="1" i="1" u="none" strike="noStrike" kern="0" cap="none" spc="0" normalizeH="0" baseline="0" noProof="0" smtClean="0">
                            <a:ln>
                              <a:noFill/>
                            </a:ln>
                            <a:solidFill>
                              <a:srgbClr val="374151"/>
                            </a:solidFill>
                            <a:effectLst/>
                            <a:uLnTx/>
                            <a:uFillTx/>
                            <a:latin typeface="Cambria Math" panose="02040503050406030204" pitchFamily="18" charset="0"/>
                            <a:cs typeface="+mn-cs"/>
                          </a:rPr>
                          <m:t>𝟑𝟏</m:t>
                        </m:r>
                      </m:sup>
                    </m:sSup>
                  </m:oMath>
                </a14:m>
                <a:endParaRPr lang="en-US" sz="2800" dirty="0">
                  <a:latin typeface="Times New Roman" panose="02020603050405020304" pitchFamily="18" charset="0"/>
                  <a:cs typeface="Times New Roman" panose="02020603050405020304" pitchFamily="18" charset="0"/>
                </a:endParaRPr>
              </a:p>
              <a:p>
                <a:pPr marL="0" indent="0">
                  <a:buNone/>
                </a:pPr>
                <a:r>
                  <a:rPr lang="en-US" sz="2800" dirty="0">
                    <a:latin typeface="Times New Roman" panose="02020603050405020304" pitchFamily="18" charset="0"/>
                    <a:cs typeface="Times New Roman" panose="02020603050405020304" pitchFamily="18" charset="0"/>
                  </a:rPr>
                  <a:t>d) </a:t>
                </a:r>
                <a:r>
                  <a:rPr kumimoji="1" lang="en-US" sz="2400" b="1" i="0" u="none" strike="noStrike" kern="0" cap="none" spc="0" normalizeH="0" baseline="0" noProof="0" dirty="0">
                    <a:ln>
                      <a:noFill/>
                    </a:ln>
                    <a:solidFill>
                      <a:srgbClr val="111827"/>
                    </a:solidFill>
                    <a:effectLst/>
                    <a:uLnTx/>
                    <a:uFillTx/>
                    <a:latin typeface="ui-sans-serif"/>
                    <a:ea typeface="標楷體" pitchFamily="65" charset="-120"/>
                    <a:cs typeface="+mn-cs"/>
                  </a:rPr>
                  <a:t>Maximum:</a:t>
                </a:r>
                <a:r>
                  <a:rPr kumimoji="1" lang="en-US" sz="2400" b="0" i="0" u="none" strike="noStrike" kern="0" cap="none" spc="0" normalizeH="0" baseline="0" noProof="0" dirty="0">
                    <a:ln>
                      <a:noFill/>
                    </a:ln>
                    <a:solidFill>
                      <a:srgbClr val="374151"/>
                    </a:solidFill>
                    <a:effectLst/>
                    <a:uLnTx/>
                    <a:uFillTx/>
                    <a:latin typeface="ui-sans-serif"/>
                    <a:ea typeface="標楷體" pitchFamily="65" charset="-120"/>
                    <a:cs typeface="+mn-cs"/>
                  </a:rPr>
                  <a:t> </a:t>
                </a:r>
                <a:r>
                  <a:rPr lang="en-US" sz="2400" dirty="0">
                    <a:solidFill>
                      <a:srgbClr val="1F2937"/>
                    </a:solidFill>
                    <a:latin typeface="ui-monospace"/>
                  </a:rPr>
                  <a:t> 0x7FFFFFFF</a:t>
                </a:r>
                <a:r>
                  <a:rPr lang="en-US" sz="2400" dirty="0">
                    <a:solidFill>
                      <a:srgbClr val="374151"/>
                    </a:solidFill>
                    <a:latin typeface="ui-sans-serif"/>
                  </a:rPr>
                  <a:t>,</a:t>
                </a:r>
                <a:r>
                  <a:rPr kumimoji="1" lang="en-US" sz="2400" b="1" i="0" u="none" strike="noStrike" kern="0" cap="none" spc="0" normalizeH="0" baseline="0" noProof="0" dirty="0">
                    <a:ln>
                      <a:noFill/>
                    </a:ln>
                    <a:solidFill>
                      <a:srgbClr val="374151"/>
                    </a:solidFill>
                    <a:effectLst/>
                    <a:uLnTx/>
                    <a:uFillTx/>
                    <a:latin typeface="KaTeX_Main"/>
                    <a:ea typeface="標楷體" pitchFamily="65" charset="-120"/>
                    <a:cs typeface="+mn-cs"/>
                  </a:rPr>
                  <a:t> </a:t>
                </a:r>
                <a:r>
                  <a:rPr kumimoji="1" lang="en-US" sz="2400" b="0" i="0" u="none" strike="noStrike" kern="0" cap="none" spc="0" normalizeH="0" baseline="0" noProof="0" dirty="0">
                    <a:ln>
                      <a:noFill/>
                    </a:ln>
                    <a:solidFill>
                      <a:srgbClr val="374151"/>
                    </a:solidFill>
                    <a:effectLst/>
                    <a:uLnTx/>
                    <a:uFillTx/>
                    <a:latin typeface="ui-sans-serif"/>
                    <a:ea typeface="標楷體" pitchFamily="65" charset="-120"/>
                    <a:cs typeface="+mn-cs"/>
                  </a:rPr>
                  <a:t> </a:t>
                </a:r>
                <a:r>
                  <a:rPr kumimoji="1" lang="en-US" sz="2400" b="1" i="0" u="none" strike="noStrike" kern="0" cap="none" spc="0" normalizeH="0" baseline="0" noProof="0" dirty="0">
                    <a:ln>
                      <a:noFill/>
                    </a:ln>
                    <a:solidFill>
                      <a:srgbClr val="111827"/>
                    </a:solidFill>
                    <a:effectLst/>
                    <a:uLnTx/>
                    <a:uFillTx/>
                    <a:latin typeface="ui-sans-serif"/>
                    <a:ea typeface="標楷體" pitchFamily="65" charset="-120"/>
                    <a:cs typeface="+mn-cs"/>
                  </a:rPr>
                  <a:t>Minimum:</a:t>
                </a:r>
                <a:r>
                  <a:rPr kumimoji="1" lang="en-US" sz="2400" b="0" i="0" u="none" strike="noStrike" kern="0" cap="none" spc="0" normalizeH="0" baseline="0" noProof="0" dirty="0">
                    <a:ln>
                      <a:noFill/>
                    </a:ln>
                    <a:solidFill>
                      <a:srgbClr val="374151"/>
                    </a:solidFill>
                    <a:effectLst/>
                    <a:uLnTx/>
                    <a:uFillTx/>
                    <a:latin typeface="ui-sans-serif"/>
                    <a:ea typeface="標楷體" pitchFamily="65" charset="-120"/>
                    <a:cs typeface="+mn-cs"/>
                  </a:rPr>
                  <a:t> </a:t>
                </a:r>
                <a:r>
                  <a:rPr kumimoji="1" lang="en-US" sz="2400" b="0" i="0" u="none" strike="noStrike" kern="0" cap="none" spc="0" normalizeH="0" baseline="0" noProof="0" dirty="0">
                    <a:ln>
                      <a:noFill/>
                    </a:ln>
                    <a:solidFill>
                      <a:srgbClr val="1F2937"/>
                    </a:solidFill>
                    <a:effectLst/>
                    <a:uLnTx/>
                    <a:uFillTx/>
                    <a:latin typeface="ui-monospace"/>
                    <a:ea typeface="標楷體" pitchFamily="65" charset="-120"/>
                    <a:cs typeface="+mn-cs"/>
                  </a:rPr>
                  <a:t> 0xFFFFFFFF</a:t>
                </a:r>
                <a:endParaRPr lang="en-US" sz="2800" b="1" i="1"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14009" y="1209675"/>
                <a:ext cx="11738808" cy="4909023"/>
              </a:xfrm>
              <a:blipFill>
                <a:blip r:embed="rId3"/>
                <a:stretch>
                  <a:fillRect l="-1038" t="-1241"/>
                </a:stretch>
              </a:blipFill>
            </p:spPr>
            <p:txBody>
              <a:bodyPr/>
              <a:lstStyle/>
              <a:p>
                <a:r>
                  <a:rPr lang="en-US">
                    <a:noFill/>
                  </a:rPr>
                  <a:t> </a:t>
                </a:r>
              </a:p>
            </p:txBody>
          </p:sp>
        </mc:Fallback>
      </mc:AlternateContent>
      <p:sp>
        <p:nvSpPr>
          <p:cNvPr id="7" name="Date Placeholder 6"/>
          <p:cNvSpPr>
            <a:spLocks noGrp="1"/>
          </p:cNvSpPr>
          <p:nvPr>
            <p:ph type="dt" sz="half" idx="10"/>
          </p:nvPr>
        </p:nvSpPr>
        <p:spPr/>
        <p:txBody>
          <a:bodyPr/>
          <a:lstStyle/>
          <a:p>
            <a:pPr defTabSz="914377">
              <a:defRPr/>
            </a:pPr>
            <a:r>
              <a:rPr lang="en-US" dirty="0">
                <a:solidFill>
                  <a:prstClr val="white"/>
                </a:solidFill>
              </a:rPr>
              <a:t>Feb  17, 2025</a:t>
            </a:r>
          </a:p>
        </p:txBody>
      </p:sp>
      <p:sp>
        <p:nvSpPr>
          <p:cNvPr id="8" name="Footer Placeholder 7"/>
          <p:cNvSpPr>
            <a:spLocks noGrp="1"/>
          </p:cNvSpPr>
          <p:nvPr>
            <p:ph type="ftr" sz="quarter" idx="12"/>
          </p:nvPr>
        </p:nvSpPr>
        <p:spPr bwMode="auto">
          <a:xfrm>
            <a:off x="4093931"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70" algn="l" rtl="0" fontAlgn="base">
              <a:spcBef>
                <a:spcPct val="0"/>
              </a:spcBef>
              <a:spcAft>
                <a:spcPct val="0"/>
              </a:spcAft>
              <a:defRPr sz="2667" kern="1200">
                <a:solidFill>
                  <a:schemeClr val="tx1"/>
                </a:solidFill>
                <a:latin typeface="Verdana" pitchFamily="34" charset="0"/>
                <a:ea typeface="+mn-ea"/>
                <a:cs typeface="+mn-cs"/>
              </a:defRPr>
            </a:lvl2pPr>
            <a:lvl3pPr marL="1219140" algn="l" rtl="0" fontAlgn="base">
              <a:spcBef>
                <a:spcPct val="0"/>
              </a:spcBef>
              <a:spcAft>
                <a:spcPct val="0"/>
              </a:spcAft>
              <a:defRPr sz="2667" kern="1200">
                <a:solidFill>
                  <a:schemeClr val="tx1"/>
                </a:solidFill>
                <a:latin typeface="Verdana" pitchFamily="34" charset="0"/>
                <a:ea typeface="+mn-ea"/>
                <a:cs typeface="+mn-cs"/>
              </a:defRPr>
            </a:lvl3pPr>
            <a:lvl4pPr marL="1828709" algn="l" rtl="0" fontAlgn="base">
              <a:spcBef>
                <a:spcPct val="0"/>
              </a:spcBef>
              <a:spcAft>
                <a:spcPct val="0"/>
              </a:spcAft>
              <a:defRPr sz="2667" kern="1200">
                <a:solidFill>
                  <a:schemeClr val="tx1"/>
                </a:solidFill>
                <a:latin typeface="Verdana" pitchFamily="34" charset="0"/>
                <a:ea typeface="+mn-ea"/>
                <a:cs typeface="+mn-cs"/>
              </a:defRPr>
            </a:lvl4pPr>
            <a:lvl5pPr marL="2438278" algn="l" rtl="0" fontAlgn="base">
              <a:spcBef>
                <a:spcPct val="0"/>
              </a:spcBef>
              <a:spcAft>
                <a:spcPct val="0"/>
              </a:spcAft>
              <a:defRPr sz="2667" kern="1200">
                <a:solidFill>
                  <a:schemeClr val="tx1"/>
                </a:solidFill>
                <a:latin typeface="Verdana" pitchFamily="34" charset="0"/>
                <a:ea typeface="+mn-ea"/>
                <a:cs typeface="+mn-cs"/>
              </a:defRPr>
            </a:lvl5pPr>
            <a:lvl6pPr marL="3047848" algn="l" defTabSz="1219140" rtl="0" eaLnBrk="1" latinLnBrk="0" hangingPunct="1">
              <a:defRPr sz="2667" kern="1200">
                <a:solidFill>
                  <a:schemeClr val="tx1"/>
                </a:solidFill>
                <a:latin typeface="Verdana" pitchFamily="34" charset="0"/>
                <a:ea typeface="+mn-ea"/>
                <a:cs typeface="+mn-cs"/>
              </a:defRPr>
            </a:lvl6pPr>
            <a:lvl7pPr marL="3657418" algn="l" defTabSz="1219140" rtl="0" eaLnBrk="1" latinLnBrk="0" hangingPunct="1">
              <a:defRPr sz="2667" kern="1200">
                <a:solidFill>
                  <a:schemeClr val="tx1"/>
                </a:solidFill>
                <a:latin typeface="Verdana" pitchFamily="34" charset="0"/>
                <a:ea typeface="+mn-ea"/>
                <a:cs typeface="+mn-cs"/>
              </a:defRPr>
            </a:lvl7pPr>
            <a:lvl8pPr marL="4266987" algn="l" defTabSz="1219140" rtl="0" eaLnBrk="1" latinLnBrk="0" hangingPunct="1">
              <a:defRPr sz="2667" kern="1200">
                <a:solidFill>
                  <a:schemeClr val="tx1"/>
                </a:solidFill>
                <a:latin typeface="Verdana" pitchFamily="34" charset="0"/>
                <a:ea typeface="+mn-ea"/>
                <a:cs typeface="+mn-cs"/>
              </a:defRPr>
            </a:lvl8pPr>
            <a:lvl9pPr marL="4876557" algn="l" defTabSz="1219140" rtl="0" eaLnBrk="1" latinLnBrk="0" hangingPunct="1">
              <a:defRPr sz="2667" kern="1200">
                <a:solidFill>
                  <a:schemeClr val="tx1"/>
                </a:solidFill>
                <a:latin typeface="Verdana" pitchFamily="34" charset="0"/>
                <a:ea typeface="+mn-ea"/>
                <a:cs typeface="+mn-cs"/>
              </a:defRPr>
            </a:lvl9pPr>
          </a:lstStyle>
          <a:p>
            <a:pPr defTabSz="914377">
              <a:defRPr/>
            </a:pPr>
            <a:r>
              <a:rPr lang="en-US">
                <a:solidFill>
                  <a:prstClr val="black"/>
                </a:solidFill>
                <a:latin typeface="Arial"/>
                <a:ea typeface="新細明體"/>
              </a:rPr>
              <a:t>http://csg.csail.mit.edu/6.175</a:t>
            </a:r>
            <a:endParaRPr lang="en-US" dirty="0">
              <a:solidFill>
                <a:prstClr val="black"/>
              </a:solidFill>
              <a:latin typeface="Arial"/>
              <a:ea typeface="新細明體"/>
            </a:endParaRPr>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70" algn="l" rtl="0" fontAlgn="base">
              <a:spcBef>
                <a:spcPct val="0"/>
              </a:spcBef>
              <a:spcAft>
                <a:spcPct val="0"/>
              </a:spcAft>
              <a:defRPr sz="2667" kern="1200">
                <a:solidFill>
                  <a:schemeClr val="tx1"/>
                </a:solidFill>
                <a:latin typeface="Verdana" pitchFamily="34" charset="0"/>
                <a:ea typeface="+mn-ea"/>
                <a:cs typeface="+mn-cs"/>
              </a:defRPr>
            </a:lvl2pPr>
            <a:lvl3pPr marL="1219140" algn="l" rtl="0" fontAlgn="base">
              <a:spcBef>
                <a:spcPct val="0"/>
              </a:spcBef>
              <a:spcAft>
                <a:spcPct val="0"/>
              </a:spcAft>
              <a:defRPr sz="2667" kern="1200">
                <a:solidFill>
                  <a:schemeClr val="tx1"/>
                </a:solidFill>
                <a:latin typeface="Verdana" pitchFamily="34" charset="0"/>
                <a:ea typeface="+mn-ea"/>
                <a:cs typeface="+mn-cs"/>
              </a:defRPr>
            </a:lvl3pPr>
            <a:lvl4pPr marL="1828709" algn="l" rtl="0" fontAlgn="base">
              <a:spcBef>
                <a:spcPct val="0"/>
              </a:spcBef>
              <a:spcAft>
                <a:spcPct val="0"/>
              </a:spcAft>
              <a:defRPr sz="2667" kern="1200">
                <a:solidFill>
                  <a:schemeClr val="tx1"/>
                </a:solidFill>
                <a:latin typeface="Verdana" pitchFamily="34" charset="0"/>
                <a:ea typeface="+mn-ea"/>
                <a:cs typeface="+mn-cs"/>
              </a:defRPr>
            </a:lvl4pPr>
            <a:lvl5pPr marL="2438278" algn="l" rtl="0" fontAlgn="base">
              <a:spcBef>
                <a:spcPct val="0"/>
              </a:spcBef>
              <a:spcAft>
                <a:spcPct val="0"/>
              </a:spcAft>
              <a:defRPr sz="2667" kern="1200">
                <a:solidFill>
                  <a:schemeClr val="tx1"/>
                </a:solidFill>
                <a:latin typeface="Verdana" pitchFamily="34" charset="0"/>
                <a:ea typeface="+mn-ea"/>
                <a:cs typeface="+mn-cs"/>
              </a:defRPr>
            </a:lvl5pPr>
            <a:lvl6pPr marL="3047848" algn="l" defTabSz="1219140" rtl="0" eaLnBrk="1" latinLnBrk="0" hangingPunct="1">
              <a:defRPr sz="2667" kern="1200">
                <a:solidFill>
                  <a:schemeClr val="tx1"/>
                </a:solidFill>
                <a:latin typeface="Verdana" pitchFamily="34" charset="0"/>
                <a:ea typeface="+mn-ea"/>
                <a:cs typeface="+mn-cs"/>
              </a:defRPr>
            </a:lvl6pPr>
            <a:lvl7pPr marL="3657418" algn="l" defTabSz="1219140" rtl="0" eaLnBrk="1" latinLnBrk="0" hangingPunct="1">
              <a:defRPr sz="2667" kern="1200">
                <a:solidFill>
                  <a:schemeClr val="tx1"/>
                </a:solidFill>
                <a:latin typeface="Verdana" pitchFamily="34" charset="0"/>
                <a:ea typeface="+mn-ea"/>
                <a:cs typeface="+mn-cs"/>
              </a:defRPr>
            </a:lvl7pPr>
            <a:lvl8pPr marL="4266987" algn="l" defTabSz="1219140" rtl="0" eaLnBrk="1" latinLnBrk="0" hangingPunct="1">
              <a:defRPr sz="2667" kern="1200">
                <a:solidFill>
                  <a:schemeClr val="tx1"/>
                </a:solidFill>
                <a:latin typeface="Verdana" pitchFamily="34" charset="0"/>
                <a:ea typeface="+mn-ea"/>
                <a:cs typeface="+mn-cs"/>
              </a:defRPr>
            </a:lvl8pPr>
            <a:lvl9pPr marL="4876557" algn="l" defTabSz="1219140" rtl="0" eaLnBrk="1" latinLnBrk="0" hangingPunct="1">
              <a:defRPr sz="2667" kern="1200">
                <a:solidFill>
                  <a:schemeClr val="tx1"/>
                </a:solidFill>
                <a:latin typeface="Verdana" pitchFamily="34" charset="0"/>
                <a:ea typeface="+mn-ea"/>
                <a:cs typeface="+mn-cs"/>
              </a:defRPr>
            </a:lvl9pPr>
          </a:lstStyle>
          <a:p>
            <a:pPr defTabSz="914377">
              <a:defRPr/>
            </a:pPr>
            <a:r>
              <a:rPr lang="en-US">
                <a:solidFill>
                  <a:prstClr val="black"/>
                </a:solidFill>
                <a:latin typeface="Arial"/>
                <a:ea typeface="新細明體"/>
              </a:rPr>
              <a:t>L09-</a:t>
            </a:r>
            <a:fld id="{D02EE386-C9BD-4FB7-9577-6096B5320EC4}" type="slidenum">
              <a:rPr lang="en-US">
                <a:solidFill>
                  <a:prstClr val="black"/>
                </a:solidFill>
                <a:latin typeface="Arial"/>
                <a:ea typeface="新細明體"/>
              </a:rPr>
              <a:pPr defTabSz="914377">
                <a:defRPr/>
              </a:pPr>
              <a:t>38</a:t>
            </a:fld>
            <a:endParaRPr lang="en-US" dirty="0">
              <a:solidFill>
                <a:prstClr val="black"/>
              </a:solidFill>
              <a:latin typeface="Arial"/>
              <a:ea typeface="新細明體"/>
            </a:endParaRPr>
          </a:p>
        </p:txBody>
      </p:sp>
      <p:sp>
        <p:nvSpPr>
          <p:cNvPr id="10" name="TextBox 9">
            <a:extLst>
              <a:ext uri="{FF2B5EF4-FFF2-40B4-BE49-F238E27FC236}">
                <a16:creationId xmlns:a16="http://schemas.microsoft.com/office/drawing/2014/main" id="{595C2B26-B7CF-4E20-BAE1-91C24BA4E906}"/>
              </a:ext>
            </a:extLst>
          </p:cNvPr>
          <p:cNvSpPr txBox="1"/>
          <p:nvPr/>
        </p:nvSpPr>
        <p:spPr>
          <a:xfrm>
            <a:off x="7836695" y="5232829"/>
            <a:ext cx="1895071" cy="461665"/>
          </a:xfrm>
          <a:prstGeom prst="rect">
            <a:avLst/>
          </a:prstGeom>
          <a:noFill/>
        </p:spPr>
        <p:txBody>
          <a:bodyPr wrap="none" rtlCol="0" anchor="ctr" anchorCtr="1">
            <a:spAutoFit/>
          </a:bodyPr>
          <a:lstStyle/>
          <a:p>
            <a:pPr defTabSz="914377"/>
            <a:r>
              <a:rPr lang="en-US" sz="2400" dirty="0">
                <a:solidFill>
                  <a:prstClr val="black"/>
                </a:solidFill>
                <a:latin typeface="Arial"/>
                <a:ea typeface="標楷體" pitchFamily="65" charset="-120"/>
                <a:cs typeface="Calibri" panose="020F07020304040A0204" pitchFamily="34" charset="0"/>
              </a:rPr>
              <a:t>Answer: B,C</a:t>
            </a:r>
          </a:p>
        </p:txBody>
      </p:sp>
    </p:spTree>
    <p:extLst>
      <p:ext uri="{BB962C8B-B14F-4D97-AF65-F5344CB8AC3E}">
        <p14:creationId xmlns:p14="http://schemas.microsoft.com/office/powerpoint/2010/main" val="805662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Quick Review</a:t>
            </a:r>
          </a:p>
        </p:txBody>
      </p:sp>
      <p:sp>
        <p:nvSpPr>
          <p:cNvPr id="3" name="Content Placeholder 2"/>
          <p:cNvSpPr>
            <a:spLocks noGrp="1"/>
          </p:cNvSpPr>
          <p:nvPr>
            <p:ph idx="1"/>
          </p:nvPr>
        </p:nvSpPr>
        <p:spPr>
          <a:xfrm>
            <a:off x="214009" y="1209675"/>
            <a:ext cx="11738808" cy="4909023"/>
          </a:xfrm>
        </p:spPr>
        <p:txBody>
          <a:bodyPr/>
          <a:lstStyle/>
          <a:p>
            <a:pPr marL="0" indent="0">
              <a:buNone/>
            </a:pPr>
            <a:r>
              <a:rPr lang="en-US" sz="2800" dirty="0">
                <a:latin typeface="Times New Roman" panose="02020603050405020304" pitchFamily="18" charset="0"/>
                <a:cs typeface="Times New Roman" panose="02020603050405020304" pitchFamily="18" charset="0"/>
              </a:rPr>
              <a:t>3) What is the standard defined for single-precision (SP) and double-precision (DP) floating-point representation and operations?</a:t>
            </a:r>
          </a:p>
          <a:p>
            <a:pPr marL="0" indent="0">
              <a:buNone/>
            </a:pPr>
            <a:endParaRPr lang="en-US" sz="2800" dirty="0">
              <a:latin typeface="Times New Roman" panose="02020603050405020304" pitchFamily="18" charset="0"/>
              <a:cs typeface="Times New Roman" panose="02020603050405020304" pitchFamily="18" charset="0"/>
            </a:endParaRPr>
          </a:p>
          <a:p>
            <a:pPr marL="971502" lvl="1" indent="-514338">
              <a:buAutoNum type="alphaLcParenR"/>
            </a:pPr>
            <a:r>
              <a:rPr lang="en-US" sz="2800" dirty="0">
                <a:solidFill>
                  <a:prstClr val="black"/>
                </a:solidFill>
                <a:latin typeface="Times New Roman" panose="02020603050405020304" pitchFamily="18" charset="0"/>
                <a:cs typeface="Times New Roman" panose="02020603050405020304" pitchFamily="18" charset="0"/>
              </a:rPr>
              <a:t>IEEE 754-2008</a:t>
            </a:r>
          </a:p>
          <a:p>
            <a:pPr marL="971502" lvl="1" indent="-514338">
              <a:buAutoNum type="alphaLcParenR"/>
            </a:pPr>
            <a:r>
              <a:rPr lang="en-US" sz="2800" dirty="0">
                <a:solidFill>
                  <a:prstClr val="black"/>
                </a:solidFill>
                <a:latin typeface="Times New Roman" panose="02020603050405020304" pitchFamily="18" charset="0"/>
                <a:cs typeface="Times New Roman" panose="02020603050405020304" pitchFamily="18" charset="0"/>
              </a:rPr>
              <a:t>MXFP standards </a:t>
            </a:r>
          </a:p>
          <a:p>
            <a:pPr marL="971502" lvl="1" indent="-514338">
              <a:buAutoNum type="alphaLcParenR"/>
            </a:pPr>
            <a:r>
              <a:rPr lang="en-US" sz="2800" dirty="0">
                <a:latin typeface="Times New Roman" panose="02020603050405020304" pitchFamily="18" charset="0"/>
                <a:cs typeface="Times New Roman" panose="02020603050405020304" pitchFamily="18" charset="0"/>
              </a:rPr>
              <a:t>ACM 754-1985</a:t>
            </a:r>
          </a:p>
          <a:p>
            <a:pPr marL="971502" lvl="1" indent="-514338">
              <a:buAutoNum type="alphaLcParenR"/>
            </a:pPr>
            <a:r>
              <a:rPr lang="en-US" sz="2800" dirty="0">
                <a:latin typeface="Times New Roman" panose="02020603050405020304" pitchFamily="18" charset="0"/>
                <a:cs typeface="Times New Roman" panose="02020603050405020304" pitchFamily="18" charset="0"/>
              </a:rPr>
              <a:t>IEEE 754-1985</a:t>
            </a:r>
          </a:p>
        </p:txBody>
      </p:sp>
      <p:sp>
        <p:nvSpPr>
          <p:cNvPr id="7" name="Date Placeholder 6"/>
          <p:cNvSpPr>
            <a:spLocks noGrp="1"/>
          </p:cNvSpPr>
          <p:nvPr>
            <p:ph type="dt" sz="half" idx="10"/>
          </p:nvPr>
        </p:nvSpPr>
        <p:spPr/>
        <p:txBody>
          <a:bodyPr/>
          <a:lstStyle/>
          <a:p>
            <a:pPr defTabSz="914377">
              <a:defRPr/>
            </a:pPr>
            <a:r>
              <a:rPr lang="en-US" dirty="0">
                <a:solidFill>
                  <a:prstClr val="white"/>
                </a:solidFill>
              </a:rPr>
              <a:t>Feb  17, 2025</a:t>
            </a:r>
          </a:p>
        </p:txBody>
      </p:sp>
      <p:sp>
        <p:nvSpPr>
          <p:cNvPr id="8" name="Footer Placeholder 7"/>
          <p:cNvSpPr>
            <a:spLocks noGrp="1"/>
          </p:cNvSpPr>
          <p:nvPr>
            <p:ph type="ftr" sz="quarter" idx="12"/>
          </p:nvPr>
        </p:nvSpPr>
        <p:spPr bwMode="auto">
          <a:xfrm>
            <a:off x="4093931"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70" algn="l" rtl="0" fontAlgn="base">
              <a:spcBef>
                <a:spcPct val="0"/>
              </a:spcBef>
              <a:spcAft>
                <a:spcPct val="0"/>
              </a:spcAft>
              <a:defRPr sz="2667" kern="1200">
                <a:solidFill>
                  <a:schemeClr val="tx1"/>
                </a:solidFill>
                <a:latin typeface="Verdana" pitchFamily="34" charset="0"/>
                <a:ea typeface="+mn-ea"/>
                <a:cs typeface="+mn-cs"/>
              </a:defRPr>
            </a:lvl2pPr>
            <a:lvl3pPr marL="1219140" algn="l" rtl="0" fontAlgn="base">
              <a:spcBef>
                <a:spcPct val="0"/>
              </a:spcBef>
              <a:spcAft>
                <a:spcPct val="0"/>
              </a:spcAft>
              <a:defRPr sz="2667" kern="1200">
                <a:solidFill>
                  <a:schemeClr val="tx1"/>
                </a:solidFill>
                <a:latin typeface="Verdana" pitchFamily="34" charset="0"/>
                <a:ea typeface="+mn-ea"/>
                <a:cs typeface="+mn-cs"/>
              </a:defRPr>
            </a:lvl3pPr>
            <a:lvl4pPr marL="1828709" algn="l" rtl="0" fontAlgn="base">
              <a:spcBef>
                <a:spcPct val="0"/>
              </a:spcBef>
              <a:spcAft>
                <a:spcPct val="0"/>
              </a:spcAft>
              <a:defRPr sz="2667" kern="1200">
                <a:solidFill>
                  <a:schemeClr val="tx1"/>
                </a:solidFill>
                <a:latin typeface="Verdana" pitchFamily="34" charset="0"/>
                <a:ea typeface="+mn-ea"/>
                <a:cs typeface="+mn-cs"/>
              </a:defRPr>
            </a:lvl4pPr>
            <a:lvl5pPr marL="2438278" algn="l" rtl="0" fontAlgn="base">
              <a:spcBef>
                <a:spcPct val="0"/>
              </a:spcBef>
              <a:spcAft>
                <a:spcPct val="0"/>
              </a:spcAft>
              <a:defRPr sz="2667" kern="1200">
                <a:solidFill>
                  <a:schemeClr val="tx1"/>
                </a:solidFill>
                <a:latin typeface="Verdana" pitchFamily="34" charset="0"/>
                <a:ea typeface="+mn-ea"/>
                <a:cs typeface="+mn-cs"/>
              </a:defRPr>
            </a:lvl5pPr>
            <a:lvl6pPr marL="3047848" algn="l" defTabSz="1219140" rtl="0" eaLnBrk="1" latinLnBrk="0" hangingPunct="1">
              <a:defRPr sz="2667" kern="1200">
                <a:solidFill>
                  <a:schemeClr val="tx1"/>
                </a:solidFill>
                <a:latin typeface="Verdana" pitchFamily="34" charset="0"/>
                <a:ea typeface="+mn-ea"/>
                <a:cs typeface="+mn-cs"/>
              </a:defRPr>
            </a:lvl6pPr>
            <a:lvl7pPr marL="3657418" algn="l" defTabSz="1219140" rtl="0" eaLnBrk="1" latinLnBrk="0" hangingPunct="1">
              <a:defRPr sz="2667" kern="1200">
                <a:solidFill>
                  <a:schemeClr val="tx1"/>
                </a:solidFill>
                <a:latin typeface="Verdana" pitchFamily="34" charset="0"/>
                <a:ea typeface="+mn-ea"/>
                <a:cs typeface="+mn-cs"/>
              </a:defRPr>
            </a:lvl7pPr>
            <a:lvl8pPr marL="4266987" algn="l" defTabSz="1219140" rtl="0" eaLnBrk="1" latinLnBrk="0" hangingPunct="1">
              <a:defRPr sz="2667" kern="1200">
                <a:solidFill>
                  <a:schemeClr val="tx1"/>
                </a:solidFill>
                <a:latin typeface="Verdana" pitchFamily="34" charset="0"/>
                <a:ea typeface="+mn-ea"/>
                <a:cs typeface="+mn-cs"/>
              </a:defRPr>
            </a:lvl8pPr>
            <a:lvl9pPr marL="4876557" algn="l" defTabSz="1219140" rtl="0" eaLnBrk="1" latinLnBrk="0" hangingPunct="1">
              <a:defRPr sz="2667" kern="1200">
                <a:solidFill>
                  <a:schemeClr val="tx1"/>
                </a:solidFill>
                <a:latin typeface="Verdana" pitchFamily="34" charset="0"/>
                <a:ea typeface="+mn-ea"/>
                <a:cs typeface="+mn-cs"/>
              </a:defRPr>
            </a:lvl9pPr>
          </a:lstStyle>
          <a:p>
            <a:pPr defTabSz="914377">
              <a:defRPr/>
            </a:pPr>
            <a:r>
              <a:rPr lang="en-US">
                <a:solidFill>
                  <a:prstClr val="black"/>
                </a:solidFill>
                <a:latin typeface="Arial"/>
                <a:ea typeface="新細明體"/>
              </a:rPr>
              <a:t>http://csg.csail.mit.edu/6.175</a:t>
            </a:r>
            <a:endParaRPr lang="en-US" dirty="0">
              <a:solidFill>
                <a:prstClr val="black"/>
              </a:solidFill>
              <a:latin typeface="Arial"/>
              <a:ea typeface="新細明體"/>
            </a:endParaRPr>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70" algn="l" rtl="0" fontAlgn="base">
              <a:spcBef>
                <a:spcPct val="0"/>
              </a:spcBef>
              <a:spcAft>
                <a:spcPct val="0"/>
              </a:spcAft>
              <a:defRPr sz="2667" kern="1200">
                <a:solidFill>
                  <a:schemeClr val="tx1"/>
                </a:solidFill>
                <a:latin typeface="Verdana" pitchFamily="34" charset="0"/>
                <a:ea typeface="+mn-ea"/>
                <a:cs typeface="+mn-cs"/>
              </a:defRPr>
            </a:lvl2pPr>
            <a:lvl3pPr marL="1219140" algn="l" rtl="0" fontAlgn="base">
              <a:spcBef>
                <a:spcPct val="0"/>
              </a:spcBef>
              <a:spcAft>
                <a:spcPct val="0"/>
              </a:spcAft>
              <a:defRPr sz="2667" kern="1200">
                <a:solidFill>
                  <a:schemeClr val="tx1"/>
                </a:solidFill>
                <a:latin typeface="Verdana" pitchFamily="34" charset="0"/>
                <a:ea typeface="+mn-ea"/>
                <a:cs typeface="+mn-cs"/>
              </a:defRPr>
            </a:lvl3pPr>
            <a:lvl4pPr marL="1828709" algn="l" rtl="0" fontAlgn="base">
              <a:spcBef>
                <a:spcPct val="0"/>
              </a:spcBef>
              <a:spcAft>
                <a:spcPct val="0"/>
              </a:spcAft>
              <a:defRPr sz="2667" kern="1200">
                <a:solidFill>
                  <a:schemeClr val="tx1"/>
                </a:solidFill>
                <a:latin typeface="Verdana" pitchFamily="34" charset="0"/>
                <a:ea typeface="+mn-ea"/>
                <a:cs typeface="+mn-cs"/>
              </a:defRPr>
            </a:lvl4pPr>
            <a:lvl5pPr marL="2438278" algn="l" rtl="0" fontAlgn="base">
              <a:spcBef>
                <a:spcPct val="0"/>
              </a:spcBef>
              <a:spcAft>
                <a:spcPct val="0"/>
              </a:spcAft>
              <a:defRPr sz="2667" kern="1200">
                <a:solidFill>
                  <a:schemeClr val="tx1"/>
                </a:solidFill>
                <a:latin typeface="Verdana" pitchFamily="34" charset="0"/>
                <a:ea typeface="+mn-ea"/>
                <a:cs typeface="+mn-cs"/>
              </a:defRPr>
            </a:lvl5pPr>
            <a:lvl6pPr marL="3047848" algn="l" defTabSz="1219140" rtl="0" eaLnBrk="1" latinLnBrk="0" hangingPunct="1">
              <a:defRPr sz="2667" kern="1200">
                <a:solidFill>
                  <a:schemeClr val="tx1"/>
                </a:solidFill>
                <a:latin typeface="Verdana" pitchFamily="34" charset="0"/>
                <a:ea typeface="+mn-ea"/>
                <a:cs typeface="+mn-cs"/>
              </a:defRPr>
            </a:lvl6pPr>
            <a:lvl7pPr marL="3657418" algn="l" defTabSz="1219140" rtl="0" eaLnBrk="1" latinLnBrk="0" hangingPunct="1">
              <a:defRPr sz="2667" kern="1200">
                <a:solidFill>
                  <a:schemeClr val="tx1"/>
                </a:solidFill>
                <a:latin typeface="Verdana" pitchFamily="34" charset="0"/>
                <a:ea typeface="+mn-ea"/>
                <a:cs typeface="+mn-cs"/>
              </a:defRPr>
            </a:lvl7pPr>
            <a:lvl8pPr marL="4266987" algn="l" defTabSz="1219140" rtl="0" eaLnBrk="1" latinLnBrk="0" hangingPunct="1">
              <a:defRPr sz="2667" kern="1200">
                <a:solidFill>
                  <a:schemeClr val="tx1"/>
                </a:solidFill>
                <a:latin typeface="Verdana" pitchFamily="34" charset="0"/>
                <a:ea typeface="+mn-ea"/>
                <a:cs typeface="+mn-cs"/>
              </a:defRPr>
            </a:lvl8pPr>
            <a:lvl9pPr marL="4876557" algn="l" defTabSz="1219140" rtl="0" eaLnBrk="1" latinLnBrk="0" hangingPunct="1">
              <a:defRPr sz="2667" kern="1200">
                <a:solidFill>
                  <a:schemeClr val="tx1"/>
                </a:solidFill>
                <a:latin typeface="Verdana" pitchFamily="34" charset="0"/>
                <a:ea typeface="+mn-ea"/>
                <a:cs typeface="+mn-cs"/>
              </a:defRPr>
            </a:lvl9pPr>
          </a:lstStyle>
          <a:p>
            <a:pPr defTabSz="914377">
              <a:defRPr/>
            </a:pPr>
            <a:r>
              <a:rPr lang="en-US">
                <a:solidFill>
                  <a:prstClr val="black"/>
                </a:solidFill>
                <a:latin typeface="Arial"/>
                <a:ea typeface="新細明體"/>
              </a:rPr>
              <a:t>L09-</a:t>
            </a:r>
            <a:fld id="{D02EE386-C9BD-4FB7-9577-6096B5320EC4}" type="slidenum">
              <a:rPr lang="en-US">
                <a:solidFill>
                  <a:prstClr val="black"/>
                </a:solidFill>
                <a:latin typeface="Arial"/>
                <a:ea typeface="新細明體"/>
              </a:rPr>
              <a:pPr defTabSz="914377">
                <a:defRPr/>
              </a:pPr>
              <a:t>39</a:t>
            </a:fld>
            <a:endParaRPr lang="en-US" dirty="0">
              <a:solidFill>
                <a:prstClr val="black"/>
              </a:solidFill>
              <a:latin typeface="Arial"/>
              <a:ea typeface="新細明體"/>
            </a:endParaRPr>
          </a:p>
        </p:txBody>
      </p:sp>
      <p:sp>
        <p:nvSpPr>
          <p:cNvPr id="10" name="TextBox 9">
            <a:extLst>
              <a:ext uri="{FF2B5EF4-FFF2-40B4-BE49-F238E27FC236}">
                <a16:creationId xmlns:a16="http://schemas.microsoft.com/office/drawing/2014/main" id="{595C2B26-B7CF-4E20-BAE1-91C24BA4E906}"/>
              </a:ext>
            </a:extLst>
          </p:cNvPr>
          <p:cNvSpPr txBox="1"/>
          <p:nvPr/>
        </p:nvSpPr>
        <p:spPr>
          <a:xfrm>
            <a:off x="7836695" y="5232829"/>
            <a:ext cx="1604927" cy="461665"/>
          </a:xfrm>
          <a:prstGeom prst="rect">
            <a:avLst/>
          </a:prstGeom>
          <a:noFill/>
        </p:spPr>
        <p:txBody>
          <a:bodyPr wrap="none" rtlCol="0" anchor="ctr" anchorCtr="1">
            <a:spAutoFit/>
          </a:bodyPr>
          <a:lstStyle/>
          <a:p>
            <a:pPr defTabSz="914377"/>
            <a:r>
              <a:rPr lang="en-US" sz="2400" dirty="0">
                <a:solidFill>
                  <a:prstClr val="black"/>
                </a:solidFill>
                <a:latin typeface="Arial"/>
                <a:ea typeface="標楷體" pitchFamily="65" charset="-120"/>
                <a:cs typeface="Calibri" panose="020F07020304040A0204" pitchFamily="34" charset="0"/>
              </a:rPr>
              <a:t>Answer: D</a:t>
            </a:r>
          </a:p>
        </p:txBody>
      </p:sp>
    </p:spTree>
    <p:extLst>
      <p:ext uri="{BB962C8B-B14F-4D97-AF65-F5344CB8AC3E}">
        <p14:creationId xmlns:p14="http://schemas.microsoft.com/office/powerpoint/2010/main" val="1807042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Quick Review</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14009" y="1209675"/>
                <a:ext cx="11738808" cy="4909023"/>
              </a:xfrm>
            </p:spPr>
            <p:txBody>
              <a:bodyPr/>
              <a:lstStyle/>
              <a:p>
                <a:pPr marL="0" marR="0" lvl="0" indent="0" algn="l" defTabSz="914400" rtl="0" eaLnBrk="1" fontAlgn="base" latinLnBrk="0" hangingPunct="1">
                  <a:lnSpc>
                    <a:spcPct val="100000"/>
                  </a:lnSpc>
                  <a:spcBef>
                    <a:spcPct val="20000"/>
                  </a:spcBef>
                  <a:spcAft>
                    <a:spcPct val="0"/>
                  </a:spcAft>
                  <a:buClr>
                    <a:srgbClr val="0000FF"/>
                  </a:buClr>
                  <a:buSzPct val="80000"/>
                  <a:buFont typeface="Wingdings" pitchFamily="2" charset="2"/>
                  <a:buNone/>
                  <a:tabLst/>
                  <a:defRPr/>
                </a:pPr>
                <a:r>
                  <a:rPr lang="en-US" sz="2800" dirty="0">
                    <a:latin typeface="Times New Roman" panose="02020603050405020304" pitchFamily="18" charset="0"/>
                    <a:cs typeface="Times New Roman" panose="02020603050405020304" pitchFamily="18" charset="0"/>
                  </a:rPr>
                  <a:t>4) </a:t>
                </a:r>
                <a:r>
                  <a:rPr kumimoji="1" lang="en-US" sz="2800" b="0" i="0" u="none" strike="noStrike" kern="0" cap="none" spc="0" normalizeH="0" baseline="0" noProof="0" dirty="0">
                    <a:ln>
                      <a:noFill/>
                    </a:ln>
                    <a:solidFill>
                      <a:prstClr val="black"/>
                    </a:solidFill>
                    <a:effectLst/>
                    <a:uLnTx/>
                    <a:uFillTx/>
                    <a:latin typeface="Times New Roman" panose="02020603050405020304" pitchFamily="18" charset="0"/>
                    <a:ea typeface="標楷體" pitchFamily="65" charset="-120"/>
                    <a:cs typeface="Times New Roman" panose="02020603050405020304" pitchFamily="18" charset="0"/>
                  </a:rPr>
                  <a:t>What are the maximum and minimum values of a </a:t>
                </a:r>
                <a:r>
                  <a:rPr lang="en-US" sz="2800" b="1" dirty="0">
                    <a:solidFill>
                      <a:prstClr val="black"/>
                    </a:solidFill>
                    <a:latin typeface="Times New Roman" panose="02020603050405020304" pitchFamily="18" charset="0"/>
                    <a:cs typeface="Times New Roman" panose="02020603050405020304" pitchFamily="18" charset="0"/>
                  </a:rPr>
                  <a:t>float</a:t>
                </a:r>
                <a:r>
                  <a:rPr kumimoji="1" lang="en-US" sz="2800" i="0" u="none" strike="noStrike" kern="0" cap="none" spc="0" normalizeH="0" baseline="0" noProof="0" dirty="0">
                    <a:ln>
                      <a:noFill/>
                    </a:ln>
                    <a:solidFill>
                      <a:prstClr val="black"/>
                    </a:solidFill>
                    <a:effectLst/>
                    <a:uLnTx/>
                    <a:uFillTx/>
                    <a:latin typeface="Times New Roman" panose="02020603050405020304" pitchFamily="18" charset="0"/>
                    <a:ea typeface="標楷體" pitchFamily="65" charset="-12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p>
                <a:pPr marL="0" indent="0">
                  <a:buNone/>
                </a:pPr>
                <a:endParaRPr lang="en-US" sz="2800" dirty="0">
                  <a:latin typeface="Times New Roman" panose="02020603050405020304" pitchFamily="18" charset="0"/>
                  <a:cs typeface="Times New Roman" panose="02020603050405020304" pitchFamily="18" charset="0"/>
                </a:endParaRPr>
              </a:p>
              <a:p>
                <a:pPr marL="457200" indent="-457200">
                  <a:buAutoNum type="alphaLcParenR"/>
                </a:pPr>
                <a:r>
                  <a:rPr kumimoji="1" lang="en-US" sz="2400" i="0" u="none" strike="noStrike" kern="0" cap="none" spc="0" normalizeH="0" baseline="0" noProof="0" dirty="0">
                    <a:ln>
                      <a:noFill/>
                    </a:ln>
                    <a:solidFill>
                      <a:srgbClr val="111827"/>
                    </a:solidFill>
                    <a:effectLst/>
                    <a:uLnTx/>
                    <a:uFillTx/>
                    <a:latin typeface="ui-sans-serif"/>
                  </a:rPr>
                  <a:t>Maximum: </a:t>
                </a:r>
                <a:r>
                  <a:rPr lang="en-US" sz="2400" dirty="0">
                    <a:solidFill>
                      <a:srgbClr val="111827"/>
                    </a:solidFill>
                    <a:latin typeface="KaTeX_Main"/>
                  </a:rPr>
                  <a:t>≈3.4×</a:t>
                </a:r>
                <a:r>
                  <a:rPr kumimoji="1" lang="en-US" sz="2400" i="0" u="none" strike="noStrike" kern="0" cap="none" spc="0" normalizeH="0" baseline="0" noProof="0" dirty="0">
                    <a:ln>
                      <a:noFill/>
                    </a:ln>
                    <a:solidFill>
                      <a:srgbClr val="374151"/>
                    </a:solidFill>
                    <a:effectLst/>
                    <a:uLnTx/>
                    <a:uFillTx/>
                    <a:latin typeface="ui-sans-serif"/>
                  </a:rPr>
                  <a:t> </a:t>
                </a:r>
                <a14:m>
                  <m:oMath xmlns:m="http://schemas.openxmlformats.org/officeDocument/2006/math">
                    <m:sSup>
                      <m:sSupPr>
                        <m:ctrlPr>
                          <a:rPr kumimoji="1" lang="en-US" sz="2400" i="1" u="none" strike="noStrike" kern="0" cap="none" spc="0" normalizeH="0" baseline="0" noProof="0" smtClean="0">
                            <a:ln>
                              <a:noFill/>
                            </a:ln>
                            <a:solidFill>
                              <a:srgbClr val="374151"/>
                            </a:solidFill>
                            <a:effectLst/>
                            <a:uLnTx/>
                            <a:uFillTx/>
                            <a:latin typeface="Cambria Math" panose="02040503050406030204" pitchFamily="18" charset="0"/>
                          </a:rPr>
                        </m:ctrlPr>
                      </m:sSupPr>
                      <m:e>
                        <m:r>
                          <a:rPr kumimoji="1" lang="en-US" sz="2400" b="0" i="1" u="none" strike="noStrike" kern="0" cap="none" spc="0" normalizeH="0" baseline="0" noProof="0" smtClean="0">
                            <a:ln>
                              <a:noFill/>
                            </a:ln>
                            <a:solidFill>
                              <a:srgbClr val="374151"/>
                            </a:solidFill>
                            <a:effectLst/>
                            <a:uLnTx/>
                            <a:uFillTx/>
                            <a:latin typeface="Cambria Math" panose="02040503050406030204" pitchFamily="18" charset="0"/>
                          </a:rPr>
                          <m:t>10</m:t>
                        </m:r>
                      </m:e>
                      <m:sup>
                        <m:r>
                          <a:rPr kumimoji="1" lang="en-US" sz="2400" b="0" i="1" u="none" strike="noStrike" kern="0" cap="none" spc="0" normalizeH="0" baseline="0" noProof="0" smtClean="0">
                            <a:ln>
                              <a:noFill/>
                            </a:ln>
                            <a:solidFill>
                              <a:srgbClr val="374151"/>
                            </a:solidFill>
                            <a:effectLst/>
                            <a:uLnTx/>
                            <a:uFillTx/>
                            <a:latin typeface="Cambria Math" panose="02040503050406030204" pitchFamily="18" charset="0"/>
                          </a:rPr>
                          <m:t>38</m:t>
                        </m:r>
                      </m:sup>
                    </m:sSup>
                  </m:oMath>
                </a14:m>
                <a:r>
                  <a:rPr kumimoji="1" lang="en-US" sz="2400" i="0" u="none" strike="noStrike" kern="0" cap="none" spc="0" normalizeH="0" baseline="0" noProof="0" dirty="0">
                    <a:ln>
                      <a:noFill/>
                    </a:ln>
                    <a:solidFill>
                      <a:srgbClr val="374151"/>
                    </a:solidFill>
                    <a:effectLst/>
                    <a:uLnTx/>
                    <a:uFillTx/>
                    <a:latin typeface="KaTeX_Main"/>
                  </a:rPr>
                  <a:t> </a:t>
                </a:r>
                <a:r>
                  <a:rPr kumimoji="1" lang="en-US" sz="2400" i="0" u="none" strike="noStrike" kern="0" cap="none" spc="0" normalizeH="0" baseline="0" noProof="0" dirty="0">
                    <a:ln>
                      <a:noFill/>
                    </a:ln>
                    <a:solidFill>
                      <a:srgbClr val="374151"/>
                    </a:solidFill>
                    <a:effectLst/>
                    <a:uLnTx/>
                    <a:uFillTx/>
                    <a:latin typeface="ui-sans-serif"/>
                  </a:rPr>
                  <a:t>, </a:t>
                </a:r>
                <a:r>
                  <a:rPr kumimoji="1" lang="en-US" sz="2400" i="0" u="none" strike="noStrike" kern="0" cap="none" spc="0" normalizeH="0" baseline="0" noProof="0" dirty="0">
                    <a:ln>
                      <a:noFill/>
                    </a:ln>
                    <a:solidFill>
                      <a:srgbClr val="111827"/>
                    </a:solidFill>
                    <a:effectLst/>
                    <a:uLnTx/>
                    <a:uFillTx/>
                    <a:latin typeface="ui-sans-serif"/>
                  </a:rPr>
                  <a:t>Minimum:</a:t>
                </a:r>
                <a:r>
                  <a:rPr kumimoji="1" lang="en-US" sz="2400" i="0" u="none" strike="noStrike" kern="0" cap="none" spc="0" normalizeH="0" baseline="0" noProof="0" dirty="0">
                    <a:ln>
                      <a:noFill/>
                    </a:ln>
                    <a:solidFill>
                      <a:srgbClr val="374151"/>
                    </a:solidFill>
                    <a:effectLst/>
                    <a:uLnTx/>
                    <a:uFillTx/>
                    <a:latin typeface="ui-sans-serif"/>
                  </a:rPr>
                  <a:t> </a:t>
                </a:r>
                <a:r>
                  <a:rPr lang="en-US" sz="2400" dirty="0">
                    <a:solidFill>
                      <a:srgbClr val="111827"/>
                    </a:solidFill>
                    <a:latin typeface="KaTeX_Main"/>
                  </a:rPr>
                  <a:t> ≈ -3.4×</a:t>
                </a:r>
                <a:r>
                  <a:rPr lang="en-US" sz="2400" dirty="0">
                    <a:solidFill>
                      <a:srgbClr val="374151"/>
                    </a:solidFill>
                    <a:latin typeface="ui-sans-serif"/>
                  </a:rPr>
                  <a:t> </a:t>
                </a:r>
                <a14:m>
                  <m:oMath xmlns:m="http://schemas.openxmlformats.org/officeDocument/2006/math">
                    <m:sSup>
                      <m:sSupPr>
                        <m:ctrlPr>
                          <a:rPr lang="en-US" sz="2400" i="1">
                            <a:solidFill>
                              <a:srgbClr val="374151"/>
                            </a:solidFill>
                            <a:latin typeface="Cambria Math" panose="02040503050406030204" pitchFamily="18" charset="0"/>
                          </a:rPr>
                        </m:ctrlPr>
                      </m:sSupPr>
                      <m:e>
                        <m:r>
                          <a:rPr lang="en-US" sz="2400" b="0" i="1">
                            <a:solidFill>
                              <a:srgbClr val="374151"/>
                            </a:solidFill>
                            <a:latin typeface="Cambria Math" panose="02040503050406030204" pitchFamily="18" charset="0"/>
                          </a:rPr>
                          <m:t>10</m:t>
                        </m:r>
                      </m:e>
                      <m:sup>
                        <m:r>
                          <a:rPr lang="en-US" sz="2400" b="0" i="1">
                            <a:solidFill>
                              <a:srgbClr val="374151"/>
                            </a:solidFill>
                            <a:latin typeface="Cambria Math" panose="02040503050406030204" pitchFamily="18" charset="0"/>
                          </a:rPr>
                          <m:t>38</m:t>
                        </m:r>
                      </m:sup>
                    </m:sSup>
                  </m:oMath>
                </a14:m>
                <a:endParaRPr lang="en-US" sz="2800" dirty="0">
                  <a:latin typeface="Times New Roman" panose="02020603050405020304" pitchFamily="18" charset="0"/>
                  <a:cs typeface="Times New Roman" panose="02020603050405020304" pitchFamily="18" charset="0"/>
                </a:endParaRPr>
              </a:p>
              <a:p>
                <a:pPr marL="457200" indent="-457200">
                  <a:buAutoNum type="alphaLcParenR"/>
                </a:pPr>
                <a:r>
                  <a:rPr kumimoji="1" lang="en-US" sz="2400" i="0" u="none" strike="noStrike" kern="0" cap="none" spc="0" normalizeH="0" baseline="0" noProof="0" dirty="0">
                    <a:ln>
                      <a:noFill/>
                    </a:ln>
                    <a:solidFill>
                      <a:srgbClr val="111827"/>
                    </a:solidFill>
                    <a:effectLst/>
                    <a:uLnTx/>
                    <a:uFillTx/>
                    <a:latin typeface="ui-sans-serif"/>
                  </a:rPr>
                  <a:t>Maximum: </a:t>
                </a:r>
                <a:r>
                  <a:rPr kumimoji="1" lang="en-US" sz="2400" i="0" u="none" strike="noStrike" kern="0" cap="none" spc="0" normalizeH="0" baseline="0" noProof="0" dirty="0">
                    <a:ln>
                      <a:noFill/>
                    </a:ln>
                    <a:solidFill>
                      <a:srgbClr val="111827"/>
                    </a:solidFill>
                    <a:effectLst/>
                    <a:uLnTx/>
                    <a:uFillTx/>
                    <a:latin typeface="KaTeX_Main"/>
                  </a:rPr>
                  <a:t>≈</a:t>
                </a:r>
                <a:r>
                  <a:rPr lang="en-US" sz="2400" dirty="0">
                    <a:solidFill>
                      <a:srgbClr val="111827"/>
                    </a:solidFill>
                    <a:latin typeface="KaTeX_Main"/>
                  </a:rPr>
                  <a:t>2 </a:t>
                </a:r>
                <a:r>
                  <a:rPr kumimoji="1" lang="en-US" sz="2400" i="0" u="none" strike="noStrike" kern="0" cap="none" spc="0" normalizeH="0" baseline="0" noProof="0" dirty="0">
                    <a:ln>
                      <a:noFill/>
                    </a:ln>
                    <a:solidFill>
                      <a:srgbClr val="111827"/>
                    </a:solidFill>
                    <a:effectLst/>
                    <a:uLnTx/>
                    <a:uFillTx/>
                    <a:latin typeface="KaTeX_Main"/>
                  </a:rPr>
                  <a:t>×</a:t>
                </a:r>
                <a:r>
                  <a:rPr kumimoji="1" lang="en-US" sz="2400" i="0" u="none" strike="noStrike" kern="0" cap="none" spc="0" normalizeH="0" baseline="0" noProof="0" dirty="0">
                    <a:ln>
                      <a:noFill/>
                    </a:ln>
                    <a:solidFill>
                      <a:srgbClr val="374151"/>
                    </a:solidFill>
                    <a:effectLst/>
                    <a:uLnTx/>
                    <a:uFillTx/>
                    <a:latin typeface="ui-sans-serif"/>
                  </a:rPr>
                  <a:t> </a:t>
                </a:r>
                <a14:m>
                  <m:oMath xmlns:m="http://schemas.openxmlformats.org/officeDocument/2006/math">
                    <m:sSup>
                      <m:sSupPr>
                        <m:ctrlPr>
                          <a:rPr kumimoji="1" lang="en-US" sz="2400" i="1" u="none" strike="noStrike" kern="0" cap="none" spc="0" normalizeH="0" baseline="0" noProof="0" smtClean="0">
                            <a:ln>
                              <a:noFill/>
                            </a:ln>
                            <a:solidFill>
                              <a:srgbClr val="374151"/>
                            </a:solidFill>
                            <a:effectLst/>
                            <a:uLnTx/>
                            <a:uFillTx/>
                            <a:latin typeface="Cambria Math" panose="02040503050406030204" pitchFamily="18" charset="0"/>
                          </a:rPr>
                        </m:ctrlPr>
                      </m:sSupPr>
                      <m:e>
                        <m:r>
                          <a:rPr kumimoji="1" lang="en-US" sz="2400" b="0" i="1" u="none" strike="noStrike" kern="0" cap="none" spc="0" normalizeH="0" baseline="0" noProof="0" smtClean="0">
                            <a:ln>
                              <a:noFill/>
                            </a:ln>
                            <a:solidFill>
                              <a:srgbClr val="374151"/>
                            </a:solidFill>
                            <a:effectLst/>
                            <a:uLnTx/>
                            <a:uFillTx/>
                            <a:latin typeface="Cambria Math" panose="02040503050406030204" pitchFamily="18" charset="0"/>
                          </a:rPr>
                          <m:t>2</m:t>
                        </m:r>
                      </m:e>
                      <m:sup>
                        <m:r>
                          <a:rPr kumimoji="1" lang="en-US" sz="2400" b="0" i="1" u="none" strike="noStrike" kern="0" cap="none" spc="0" normalizeH="0" baseline="0" noProof="0" smtClean="0">
                            <a:ln>
                              <a:noFill/>
                            </a:ln>
                            <a:solidFill>
                              <a:srgbClr val="374151"/>
                            </a:solidFill>
                            <a:effectLst/>
                            <a:uLnTx/>
                            <a:uFillTx/>
                            <a:latin typeface="Cambria Math" panose="02040503050406030204" pitchFamily="18" charset="0"/>
                          </a:rPr>
                          <m:t>127</m:t>
                        </m:r>
                      </m:sup>
                    </m:sSup>
                  </m:oMath>
                </a14:m>
                <a:r>
                  <a:rPr kumimoji="1" lang="en-US" sz="2400" i="0" u="none" strike="noStrike" kern="0" cap="none" spc="0" normalizeH="0" baseline="0" noProof="0" dirty="0">
                    <a:ln>
                      <a:noFill/>
                    </a:ln>
                    <a:solidFill>
                      <a:srgbClr val="374151"/>
                    </a:solidFill>
                    <a:effectLst/>
                    <a:uLnTx/>
                    <a:uFillTx/>
                    <a:latin typeface="KaTeX_Main"/>
                  </a:rPr>
                  <a:t> </a:t>
                </a:r>
                <a:r>
                  <a:rPr kumimoji="1" lang="en-US" sz="2400" i="0" u="none" strike="noStrike" kern="0" cap="none" spc="0" normalizeH="0" baseline="0" noProof="0" dirty="0">
                    <a:ln>
                      <a:noFill/>
                    </a:ln>
                    <a:solidFill>
                      <a:srgbClr val="374151"/>
                    </a:solidFill>
                    <a:effectLst/>
                    <a:uLnTx/>
                    <a:uFillTx/>
                    <a:latin typeface="ui-sans-serif"/>
                  </a:rPr>
                  <a:t>, </a:t>
                </a:r>
                <a:r>
                  <a:rPr kumimoji="1" lang="en-US" sz="2400" i="0" u="none" strike="noStrike" kern="0" cap="none" spc="0" normalizeH="0" baseline="0" noProof="0" dirty="0">
                    <a:ln>
                      <a:noFill/>
                    </a:ln>
                    <a:solidFill>
                      <a:srgbClr val="111827"/>
                    </a:solidFill>
                    <a:effectLst/>
                    <a:uLnTx/>
                    <a:uFillTx/>
                    <a:latin typeface="ui-sans-serif"/>
                  </a:rPr>
                  <a:t>Minimum:</a:t>
                </a:r>
                <a:r>
                  <a:rPr kumimoji="1" lang="en-US" sz="2400" i="0" u="none" strike="noStrike" kern="0" cap="none" spc="0" normalizeH="0" baseline="0" noProof="0" dirty="0">
                    <a:ln>
                      <a:noFill/>
                    </a:ln>
                    <a:solidFill>
                      <a:srgbClr val="374151"/>
                    </a:solidFill>
                    <a:effectLst/>
                    <a:uLnTx/>
                    <a:uFillTx/>
                    <a:latin typeface="ui-sans-serif"/>
                  </a:rPr>
                  <a:t> </a:t>
                </a:r>
                <a:r>
                  <a:rPr kumimoji="1" lang="en-US" sz="2400" i="0" u="none" strike="noStrike" kern="0" cap="none" spc="0" normalizeH="0" baseline="0" noProof="0" dirty="0">
                    <a:ln>
                      <a:noFill/>
                    </a:ln>
                    <a:solidFill>
                      <a:srgbClr val="111827"/>
                    </a:solidFill>
                    <a:effectLst/>
                    <a:uLnTx/>
                    <a:uFillTx/>
                    <a:latin typeface="KaTeX_Main"/>
                  </a:rPr>
                  <a:t> ≈ </a:t>
                </a:r>
                <a:r>
                  <a:rPr lang="en-US" sz="2400" dirty="0">
                    <a:solidFill>
                      <a:srgbClr val="111827"/>
                    </a:solidFill>
                    <a:latin typeface="KaTeX_Main"/>
                  </a:rPr>
                  <a:t>-2 ×</a:t>
                </a:r>
                <a:r>
                  <a:rPr lang="en-US" sz="2400" dirty="0">
                    <a:solidFill>
                      <a:srgbClr val="374151"/>
                    </a:solidFill>
                    <a:latin typeface="ui-sans-serif"/>
                  </a:rPr>
                  <a:t> </a:t>
                </a:r>
                <a14:m>
                  <m:oMath xmlns:m="http://schemas.openxmlformats.org/officeDocument/2006/math">
                    <m:sSup>
                      <m:sSupPr>
                        <m:ctrlPr>
                          <a:rPr lang="en-US" sz="2400" i="1">
                            <a:solidFill>
                              <a:srgbClr val="374151"/>
                            </a:solidFill>
                            <a:latin typeface="Cambria Math" panose="02040503050406030204" pitchFamily="18" charset="0"/>
                          </a:rPr>
                        </m:ctrlPr>
                      </m:sSupPr>
                      <m:e>
                        <m:r>
                          <a:rPr lang="en-US" sz="2400" b="0" i="1">
                            <a:solidFill>
                              <a:srgbClr val="374151"/>
                            </a:solidFill>
                            <a:latin typeface="Cambria Math" panose="02040503050406030204" pitchFamily="18" charset="0"/>
                          </a:rPr>
                          <m:t>2</m:t>
                        </m:r>
                      </m:e>
                      <m:sup>
                        <m:r>
                          <a:rPr lang="en-US" sz="2400" b="0" i="1">
                            <a:solidFill>
                              <a:srgbClr val="374151"/>
                            </a:solidFill>
                            <a:latin typeface="Cambria Math" panose="02040503050406030204" pitchFamily="18" charset="0"/>
                          </a:rPr>
                          <m:t>127</m:t>
                        </m:r>
                      </m:sup>
                    </m:sSup>
                  </m:oMath>
                </a14:m>
                <a:endParaRPr lang="en-US" sz="2800" dirty="0">
                  <a:latin typeface="Times New Roman" panose="02020603050405020304" pitchFamily="18" charset="0"/>
                  <a:cs typeface="Times New Roman" panose="02020603050405020304" pitchFamily="18" charset="0"/>
                </a:endParaRPr>
              </a:p>
              <a:p>
                <a:pPr marL="457200" indent="-457200">
                  <a:buAutoNum type="alphaLcParenR"/>
                </a:pPr>
                <a:r>
                  <a:rPr kumimoji="1" lang="en-US" sz="2400" i="0" u="none" strike="noStrike" kern="0" cap="none" spc="0" normalizeH="0" baseline="0" noProof="0" dirty="0">
                    <a:ln>
                      <a:noFill/>
                    </a:ln>
                    <a:solidFill>
                      <a:srgbClr val="111827"/>
                    </a:solidFill>
                    <a:effectLst/>
                    <a:uLnTx/>
                    <a:uFillTx/>
                    <a:latin typeface="ui-sans-serif"/>
                  </a:rPr>
                  <a:t>Maximum: </a:t>
                </a:r>
                <a:r>
                  <a:rPr kumimoji="1" lang="en-US" sz="2400" i="0" u="none" strike="noStrike" kern="0" cap="none" spc="0" normalizeH="0" baseline="0" noProof="0" dirty="0">
                    <a:ln>
                      <a:noFill/>
                    </a:ln>
                    <a:solidFill>
                      <a:srgbClr val="111827"/>
                    </a:solidFill>
                    <a:effectLst/>
                    <a:uLnTx/>
                    <a:uFillTx/>
                    <a:latin typeface="KaTeX_Main"/>
                  </a:rPr>
                  <a:t>≈2 ×</a:t>
                </a:r>
                <a:r>
                  <a:rPr kumimoji="1" lang="en-US" sz="2400" i="0" u="none" strike="noStrike" kern="0" cap="none" spc="0" normalizeH="0" baseline="0" noProof="0" dirty="0">
                    <a:ln>
                      <a:noFill/>
                    </a:ln>
                    <a:solidFill>
                      <a:srgbClr val="374151"/>
                    </a:solidFill>
                    <a:effectLst/>
                    <a:uLnTx/>
                    <a:uFillTx/>
                    <a:latin typeface="ui-sans-serif"/>
                  </a:rPr>
                  <a:t> </a:t>
                </a:r>
                <a14:m>
                  <m:oMath xmlns:m="http://schemas.openxmlformats.org/officeDocument/2006/math">
                    <m:sSup>
                      <m:sSupPr>
                        <m:ctrlPr>
                          <a:rPr kumimoji="1" lang="en-US" sz="2400" i="1" u="none" strike="noStrike" kern="0" cap="none" spc="0" normalizeH="0" baseline="0" noProof="0" smtClean="0">
                            <a:ln>
                              <a:noFill/>
                            </a:ln>
                            <a:solidFill>
                              <a:srgbClr val="374151"/>
                            </a:solidFill>
                            <a:effectLst/>
                            <a:uLnTx/>
                            <a:uFillTx/>
                            <a:latin typeface="Cambria Math" panose="02040503050406030204" pitchFamily="18" charset="0"/>
                          </a:rPr>
                        </m:ctrlPr>
                      </m:sSupPr>
                      <m:e>
                        <m:r>
                          <a:rPr kumimoji="1" lang="en-US" sz="2400" b="0" i="1" u="none" strike="noStrike" kern="0" cap="none" spc="0" normalizeH="0" baseline="0" noProof="0" smtClean="0">
                            <a:ln>
                              <a:noFill/>
                            </a:ln>
                            <a:solidFill>
                              <a:srgbClr val="374151"/>
                            </a:solidFill>
                            <a:effectLst/>
                            <a:uLnTx/>
                            <a:uFillTx/>
                            <a:latin typeface="Cambria Math" panose="02040503050406030204" pitchFamily="18" charset="0"/>
                          </a:rPr>
                          <m:t>2</m:t>
                        </m:r>
                      </m:e>
                      <m:sup>
                        <m:r>
                          <a:rPr kumimoji="1" lang="en-US" sz="2400" b="0" i="1" u="none" strike="noStrike" kern="0" cap="none" spc="0" normalizeH="0" baseline="0" noProof="0" smtClean="0">
                            <a:ln>
                              <a:noFill/>
                            </a:ln>
                            <a:solidFill>
                              <a:srgbClr val="374151"/>
                            </a:solidFill>
                            <a:effectLst/>
                            <a:uLnTx/>
                            <a:uFillTx/>
                            <a:latin typeface="Cambria Math" panose="02040503050406030204" pitchFamily="18" charset="0"/>
                          </a:rPr>
                          <m:t>127</m:t>
                        </m:r>
                      </m:sup>
                    </m:sSup>
                  </m:oMath>
                </a14:m>
                <a:r>
                  <a:rPr kumimoji="1" lang="en-US" sz="2400" i="0" u="none" strike="noStrike" kern="0" cap="none" spc="0" normalizeH="0" baseline="0" noProof="0" dirty="0">
                    <a:ln>
                      <a:noFill/>
                    </a:ln>
                    <a:solidFill>
                      <a:srgbClr val="374151"/>
                    </a:solidFill>
                    <a:effectLst/>
                    <a:uLnTx/>
                    <a:uFillTx/>
                    <a:latin typeface="KaTeX_Main"/>
                  </a:rPr>
                  <a:t> </a:t>
                </a:r>
                <a:r>
                  <a:rPr kumimoji="1" lang="en-US" sz="2400" i="0" u="none" strike="noStrike" kern="0" cap="none" spc="0" normalizeH="0" baseline="0" noProof="0" dirty="0">
                    <a:ln>
                      <a:noFill/>
                    </a:ln>
                    <a:solidFill>
                      <a:srgbClr val="374151"/>
                    </a:solidFill>
                    <a:effectLst/>
                    <a:uLnTx/>
                    <a:uFillTx/>
                    <a:latin typeface="ui-sans-serif"/>
                  </a:rPr>
                  <a:t>, </a:t>
                </a:r>
                <a:r>
                  <a:rPr kumimoji="1" lang="en-US" sz="2400" i="0" u="none" strike="noStrike" kern="0" cap="none" spc="0" normalizeH="0" baseline="0" noProof="0" dirty="0">
                    <a:ln>
                      <a:noFill/>
                    </a:ln>
                    <a:solidFill>
                      <a:srgbClr val="111827"/>
                    </a:solidFill>
                    <a:effectLst/>
                    <a:uLnTx/>
                    <a:uFillTx/>
                    <a:latin typeface="ui-sans-serif"/>
                  </a:rPr>
                  <a:t>Minimum:</a:t>
                </a:r>
                <a:r>
                  <a:rPr kumimoji="1" lang="en-US" sz="2400" i="0" u="none" strike="noStrike" kern="0" cap="none" spc="0" normalizeH="0" baseline="0" noProof="0" dirty="0">
                    <a:ln>
                      <a:noFill/>
                    </a:ln>
                    <a:solidFill>
                      <a:srgbClr val="374151"/>
                    </a:solidFill>
                    <a:effectLst/>
                    <a:uLnTx/>
                    <a:uFillTx/>
                    <a:latin typeface="ui-sans-serif"/>
                  </a:rPr>
                  <a:t> </a:t>
                </a:r>
                <a:r>
                  <a:rPr kumimoji="1" lang="en-US" sz="2400" i="0" u="none" strike="noStrike" kern="0" cap="none" spc="0" normalizeH="0" baseline="0" noProof="0" dirty="0">
                    <a:ln>
                      <a:noFill/>
                    </a:ln>
                    <a:solidFill>
                      <a:srgbClr val="111827"/>
                    </a:solidFill>
                    <a:effectLst/>
                    <a:uLnTx/>
                    <a:uFillTx/>
                    <a:latin typeface="KaTeX_Main"/>
                  </a:rPr>
                  <a:t> ≈ 1 ×</a:t>
                </a:r>
                <a:r>
                  <a:rPr kumimoji="1" lang="en-US" sz="2400" i="0" u="none" strike="noStrike" kern="0" cap="none" spc="0" normalizeH="0" baseline="0" noProof="0" dirty="0">
                    <a:ln>
                      <a:noFill/>
                    </a:ln>
                    <a:solidFill>
                      <a:srgbClr val="374151"/>
                    </a:solidFill>
                    <a:effectLst/>
                    <a:uLnTx/>
                    <a:uFillTx/>
                    <a:latin typeface="ui-sans-serif"/>
                  </a:rPr>
                  <a:t> </a:t>
                </a:r>
                <a14:m>
                  <m:oMath xmlns:m="http://schemas.openxmlformats.org/officeDocument/2006/math">
                    <m:sSup>
                      <m:sSupPr>
                        <m:ctrlPr>
                          <a:rPr kumimoji="1" lang="en-US" sz="2400" i="1" u="none" strike="noStrike" kern="0" cap="none" spc="0" normalizeH="0" baseline="0" noProof="0" smtClean="0">
                            <a:ln>
                              <a:noFill/>
                            </a:ln>
                            <a:solidFill>
                              <a:srgbClr val="374151"/>
                            </a:solidFill>
                            <a:effectLst/>
                            <a:uLnTx/>
                            <a:uFillTx/>
                            <a:latin typeface="Cambria Math" panose="02040503050406030204" pitchFamily="18" charset="0"/>
                          </a:rPr>
                        </m:ctrlPr>
                      </m:sSupPr>
                      <m:e>
                        <m:r>
                          <a:rPr kumimoji="1" lang="en-US" sz="2400" b="0" i="1" u="none" strike="noStrike" kern="0" cap="none" spc="0" normalizeH="0" baseline="0" noProof="0">
                            <a:ln>
                              <a:noFill/>
                            </a:ln>
                            <a:solidFill>
                              <a:srgbClr val="374151"/>
                            </a:solidFill>
                            <a:effectLst/>
                            <a:uLnTx/>
                            <a:uFillTx/>
                            <a:latin typeface="Cambria Math" panose="02040503050406030204" pitchFamily="18" charset="0"/>
                          </a:rPr>
                          <m:t>2</m:t>
                        </m:r>
                      </m:e>
                      <m:sup>
                        <m:r>
                          <a:rPr kumimoji="1" lang="en-US" sz="2400" b="0" i="1" u="none" strike="noStrike" kern="0" cap="none" spc="0" normalizeH="0" baseline="0" noProof="0" smtClean="0">
                            <a:ln>
                              <a:noFill/>
                            </a:ln>
                            <a:solidFill>
                              <a:srgbClr val="374151"/>
                            </a:solidFill>
                            <a:effectLst/>
                            <a:uLnTx/>
                            <a:uFillTx/>
                            <a:latin typeface="Cambria Math" panose="02040503050406030204" pitchFamily="18" charset="0"/>
                          </a:rPr>
                          <m:t>−</m:t>
                        </m:r>
                        <m:r>
                          <a:rPr kumimoji="1" lang="en-US" sz="2400" b="0" i="1" u="none" strike="noStrike" kern="0" cap="none" spc="0" normalizeH="0" baseline="0" noProof="0">
                            <a:ln>
                              <a:noFill/>
                            </a:ln>
                            <a:solidFill>
                              <a:srgbClr val="374151"/>
                            </a:solidFill>
                            <a:effectLst/>
                            <a:uLnTx/>
                            <a:uFillTx/>
                            <a:latin typeface="Cambria Math" panose="02040503050406030204" pitchFamily="18" charset="0"/>
                          </a:rPr>
                          <m:t>1</m:t>
                        </m:r>
                        <m:r>
                          <a:rPr kumimoji="1" lang="en-US" sz="2400" b="0" i="1" u="none" strike="noStrike" kern="0" cap="none" spc="0" normalizeH="0" baseline="0" noProof="0" smtClean="0">
                            <a:ln>
                              <a:noFill/>
                            </a:ln>
                            <a:solidFill>
                              <a:srgbClr val="374151"/>
                            </a:solidFill>
                            <a:effectLst/>
                            <a:uLnTx/>
                            <a:uFillTx/>
                            <a:latin typeface="Cambria Math" panose="02040503050406030204" pitchFamily="18" charset="0"/>
                          </a:rPr>
                          <m:t>49</m:t>
                        </m:r>
                      </m:sup>
                    </m:sSup>
                  </m:oMath>
                </a14:m>
                <a:endParaRPr lang="en-US" sz="2800" dirty="0">
                  <a:latin typeface="Times New Roman" panose="02020603050405020304" pitchFamily="18" charset="0"/>
                  <a:cs typeface="Times New Roman" panose="02020603050405020304" pitchFamily="18" charset="0"/>
                </a:endParaRPr>
              </a:p>
              <a:p>
                <a:pPr marL="457200" lvl="0" indent="-457200">
                  <a:buFont typeface="Wingdings" pitchFamily="2" charset="2"/>
                  <a:buAutoNum type="alphaLcParenR"/>
                </a:pPr>
                <a:r>
                  <a:rPr kumimoji="1" lang="en-US" sz="2400" i="0" u="none" strike="noStrike" kern="0" cap="none" spc="0" normalizeH="0" baseline="0" noProof="0" dirty="0">
                    <a:ln>
                      <a:noFill/>
                    </a:ln>
                    <a:solidFill>
                      <a:srgbClr val="111827"/>
                    </a:solidFill>
                    <a:effectLst/>
                    <a:uLnTx/>
                    <a:uFillTx/>
                    <a:latin typeface="ui-sans-serif"/>
                  </a:rPr>
                  <a:t>Maximum: </a:t>
                </a:r>
                <a:r>
                  <a:rPr kumimoji="1" lang="en-US" sz="2400" i="0" u="none" strike="noStrike" kern="0" cap="none" spc="0" normalizeH="0" baseline="0" noProof="0" dirty="0">
                    <a:ln>
                      <a:noFill/>
                    </a:ln>
                    <a:solidFill>
                      <a:srgbClr val="374151"/>
                    </a:solidFill>
                    <a:effectLst/>
                    <a:uLnTx/>
                    <a:uFillTx/>
                    <a:latin typeface="KaTeX_Main"/>
                  </a:rPr>
                  <a:t> </a:t>
                </a:r>
                <a:r>
                  <a:rPr lang="en-US" sz="2400" dirty="0">
                    <a:solidFill>
                      <a:srgbClr val="1F2937"/>
                    </a:solidFill>
                    <a:latin typeface="ui-monospace"/>
                  </a:rPr>
                  <a:t>0x7F7FFFFF, </a:t>
                </a:r>
                <a:r>
                  <a:rPr kumimoji="1" lang="en-US" sz="2400" i="0" u="none" strike="noStrike" kern="0" cap="none" spc="0" normalizeH="0" baseline="0" noProof="0" dirty="0">
                    <a:ln>
                      <a:noFill/>
                    </a:ln>
                    <a:solidFill>
                      <a:srgbClr val="111827"/>
                    </a:solidFill>
                    <a:effectLst/>
                    <a:uLnTx/>
                    <a:uFillTx/>
                    <a:latin typeface="ui-sans-serif"/>
                  </a:rPr>
                  <a:t>Minimum:</a:t>
                </a:r>
                <a:r>
                  <a:rPr kumimoji="1" lang="en-US" sz="2400" i="0" u="none" strike="noStrike" kern="0" cap="none" spc="0" normalizeH="0" baseline="0" noProof="0" dirty="0">
                    <a:ln>
                      <a:noFill/>
                    </a:ln>
                    <a:solidFill>
                      <a:srgbClr val="374151"/>
                    </a:solidFill>
                    <a:effectLst/>
                    <a:uLnTx/>
                    <a:uFillTx/>
                    <a:latin typeface="ui-sans-serif"/>
                  </a:rPr>
                  <a:t> </a:t>
                </a:r>
                <a:r>
                  <a:rPr lang="en-US" sz="2400" i="0" dirty="0">
                    <a:solidFill>
                      <a:srgbClr val="1F2937"/>
                    </a:solidFill>
                    <a:effectLst/>
                    <a:latin typeface="ui-monospace"/>
                  </a:rPr>
                  <a:t>0xFF7FFFFF</a:t>
                </a:r>
                <a:endParaRPr kumimoji="1" lang="en-US" sz="240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a:p>
                <a:pPr marL="457200" marR="0" lvl="0" indent="-457200" algn="l" defTabSz="914400" rtl="0" eaLnBrk="1" fontAlgn="base" latinLnBrk="0" hangingPunct="1">
                  <a:lnSpc>
                    <a:spcPct val="100000"/>
                  </a:lnSpc>
                  <a:spcBef>
                    <a:spcPct val="20000"/>
                  </a:spcBef>
                  <a:spcAft>
                    <a:spcPct val="0"/>
                  </a:spcAft>
                  <a:buClr>
                    <a:srgbClr val="0000FF"/>
                  </a:buClr>
                  <a:buSzPct val="80000"/>
                  <a:buFont typeface="Wingdings" pitchFamily="2" charset="2"/>
                  <a:buAutoNum type="alphaLcParenR"/>
                  <a:tabLst/>
                  <a:defRPr/>
                </a:pPr>
                <a:r>
                  <a:rPr kumimoji="1" lang="en-US" sz="2400" i="0" u="none" strike="noStrike" kern="0" cap="none" spc="0" normalizeH="0" baseline="0" noProof="0" dirty="0">
                    <a:ln>
                      <a:noFill/>
                    </a:ln>
                    <a:solidFill>
                      <a:srgbClr val="111827"/>
                    </a:solidFill>
                    <a:effectLst/>
                    <a:uLnTx/>
                    <a:uFillTx/>
                    <a:latin typeface="ui-sans-serif"/>
                  </a:rPr>
                  <a:t>Maximum: </a:t>
                </a:r>
                <a:r>
                  <a:rPr kumimoji="1" lang="en-US" sz="2400" i="0" u="none" strike="noStrike" kern="0" cap="none" spc="0" normalizeH="0" baseline="0" noProof="0" dirty="0">
                    <a:ln>
                      <a:noFill/>
                    </a:ln>
                    <a:solidFill>
                      <a:srgbClr val="374151"/>
                    </a:solidFill>
                    <a:effectLst/>
                    <a:uLnTx/>
                    <a:uFillTx/>
                    <a:latin typeface="KaTeX_Main"/>
                  </a:rPr>
                  <a:t> </a:t>
                </a:r>
                <a:r>
                  <a:rPr kumimoji="1" lang="en-US" sz="2400" i="0" u="none" strike="noStrike" kern="0" cap="none" spc="0" normalizeH="0" baseline="0" noProof="0" dirty="0">
                    <a:ln>
                      <a:noFill/>
                    </a:ln>
                    <a:solidFill>
                      <a:srgbClr val="1F2937"/>
                    </a:solidFill>
                    <a:effectLst/>
                    <a:uLnTx/>
                    <a:uFillTx/>
                    <a:latin typeface="ui-monospace"/>
                  </a:rPr>
                  <a:t>0x7F7FFFFF, </a:t>
                </a:r>
                <a:r>
                  <a:rPr kumimoji="1" lang="en-US" sz="2400" i="0" u="none" strike="noStrike" kern="0" cap="none" spc="0" normalizeH="0" baseline="0" noProof="0" dirty="0">
                    <a:ln>
                      <a:noFill/>
                    </a:ln>
                    <a:solidFill>
                      <a:srgbClr val="111827"/>
                    </a:solidFill>
                    <a:effectLst/>
                    <a:uLnTx/>
                    <a:uFillTx/>
                    <a:latin typeface="ui-sans-serif"/>
                  </a:rPr>
                  <a:t>Minimum:</a:t>
                </a:r>
                <a:r>
                  <a:rPr kumimoji="1" lang="en-US" sz="2400" i="0" u="none" strike="noStrike" kern="0" cap="none" spc="0" normalizeH="0" baseline="0" noProof="0" dirty="0">
                    <a:ln>
                      <a:noFill/>
                    </a:ln>
                    <a:solidFill>
                      <a:srgbClr val="374151"/>
                    </a:solidFill>
                    <a:effectLst/>
                    <a:uLnTx/>
                    <a:uFillTx/>
                    <a:latin typeface="ui-sans-serif"/>
                  </a:rPr>
                  <a:t> </a:t>
                </a:r>
                <a:r>
                  <a:rPr lang="en-US" sz="2400" i="0" dirty="0">
                    <a:solidFill>
                      <a:srgbClr val="1F2937"/>
                    </a:solidFill>
                    <a:effectLst/>
                    <a:latin typeface="ui-monospace"/>
                  </a:rPr>
                  <a:t>0x00800000</a:t>
                </a:r>
                <a:endParaRPr kumimoji="1" lang="en-US" sz="240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14009" y="1209675"/>
                <a:ext cx="11738808" cy="4909023"/>
              </a:xfrm>
              <a:blipFill>
                <a:blip r:embed="rId2"/>
                <a:stretch>
                  <a:fillRect l="-1038" t="-1241"/>
                </a:stretch>
              </a:blipFill>
            </p:spPr>
            <p:txBody>
              <a:bodyPr/>
              <a:lstStyle/>
              <a:p>
                <a:r>
                  <a:rPr lang="en-US">
                    <a:noFill/>
                  </a:rPr>
                  <a:t> </a:t>
                </a:r>
              </a:p>
            </p:txBody>
          </p:sp>
        </mc:Fallback>
      </mc:AlternateContent>
      <p:sp>
        <p:nvSpPr>
          <p:cNvPr id="7" name="Date Placeholder 6"/>
          <p:cNvSpPr>
            <a:spLocks noGrp="1"/>
          </p:cNvSpPr>
          <p:nvPr>
            <p:ph type="dt" sz="half" idx="10"/>
          </p:nvPr>
        </p:nvSpPr>
        <p:spPr/>
        <p:txBody>
          <a:bodyPr/>
          <a:lstStyle/>
          <a:p>
            <a:pPr defTabSz="914377">
              <a:defRPr/>
            </a:pPr>
            <a:r>
              <a:rPr lang="en-US" dirty="0">
                <a:solidFill>
                  <a:prstClr val="white"/>
                </a:solidFill>
              </a:rPr>
              <a:t>Feb  17, 2025</a:t>
            </a:r>
          </a:p>
        </p:txBody>
      </p:sp>
      <p:sp>
        <p:nvSpPr>
          <p:cNvPr id="8" name="Footer Placeholder 7"/>
          <p:cNvSpPr>
            <a:spLocks noGrp="1"/>
          </p:cNvSpPr>
          <p:nvPr>
            <p:ph type="ftr" sz="quarter" idx="12"/>
          </p:nvPr>
        </p:nvSpPr>
        <p:spPr bwMode="auto">
          <a:xfrm>
            <a:off x="4093931"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70" algn="l" rtl="0" fontAlgn="base">
              <a:spcBef>
                <a:spcPct val="0"/>
              </a:spcBef>
              <a:spcAft>
                <a:spcPct val="0"/>
              </a:spcAft>
              <a:defRPr sz="2667" kern="1200">
                <a:solidFill>
                  <a:schemeClr val="tx1"/>
                </a:solidFill>
                <a:latin typeface="Verdana" pitchFamily="34" charset="0"/>
                <a:ea typeface="+mn-ea"/>
                <a:cs typeface="+mn-cs"/>
              </a:defRPr>
            </a:lvl2pPr>
            <a:lvl3pPr marL="1219140" algn="l" rtl="0" fontAlgn="base">
              <a:spcBef>
                <a:spcPct val="0"/>
              </a:spcBef>
              <a:spcAft>
                <a:spcPct val="0"/>
              </a:spcAft>
              <a:defRPr sz="2667" kern="1200">
                <a:solidFill>
                  <a:schemeClr val="tx1"/>
                </a:solidFill>
                <a:latin typeface="Verdana" pitchFamily="34" charset="0"/>
                <a:ea typeface="+mn-ea"/>
                <a:cs typeface="+mn-cs"/>
              </a:defRPr>
            </a:lvl3pPr>
            <a:lvl4pPr marL="1828709" algn="l" rtl="0" fontAlgn="base">
              <a:spcBef>
                <a:spcPct val="0"/>
              </a:spcBef>
              <a:spcAft>
                <a:spcPct val="0"/>
              </a:spcAft>
              <a:defRPr sz="2667" kern="1200">
                <a:solidFill>
                  <a:schemeClr val="tx1"/>
                </a:solidFill>
                <a:latin typeface="Verdana" pitchFamily="34" charset="0"/>
                <a:ea typeface="+mn-ea"/>
                <a:cs typeface="+mn-cs"/>
              </a:defRPr>
            </a:lvl4pPr>
            <a:lvl5pPr marL="2438278" algn="l" rtl="0" fontAlgn="base">
              <a:spcBef>
                <a:spcPct val="0"/>
              </a:spcBef>
              <a:spcAft>
                <a:spcPct val="0"/>
              </a:spcAft>
              <a:defRPr sz="2667" kern="1200">
                <a:solidFill>
                  <a:schemeClr val="tx1"/>
                </a:solidFill>
                <a:latin typeface="Verdana" pitchFamily="34" charset="0"/>
                <a:ea typeface="+mn-ea"/>
                <a:cs typeface="+mn-cs"/>
              </a:defRPr>
            </a:lvl5pPr>
            <a:lvl6pPr marL="3047848" algn="l" defTabSz="1219140" rtl="0" eaLnBrk="1" latinLnBrk="0" hangingPunct="1">
              <a:defRPr sz="2667" kern="1200">
                <a:solidFill>
                  <a:schemeClr val="tx1"/>
                </a:solidFill>
                <a:latin typeface="Verdana" pitchFamily="34" charset="0"/>
                <a:ea typeface="+mn-ea"/>
                <a:cs typeface="+mn-cs"/>
              </a:defRPr>
            </a:lvl6pPr>
            <a:lvl7pPr marL="3657418" algn="l" defTabSz="1219140" rtl="0" eaLnBrk="1" latinLnBrk="0" hangingPunct="1">
              <a:defRPr sz="2667" kern="1200">
                <a:solidFill>
                  <a:schemeClr val="tx1"/>
                </a:solidFill>
                <a:latin typeface="Verdana" pitchFamily="34" charset="0"/>
                <a:ea typeface="+mn-ea"/>
                <a:cs typeface="+mn-cs"/>
              </a:defRPr>
            </a:lvl7pPr>
            <a:lvl8pPr marL="4266987" algn="l" defTabSz="1219140" rtl="0" eaLnBrk="1" latinLnBrk="0" hangingPunct="1">
              <a:defRPr sz="2667" kern="1200">
                <a:solidFill>
                  <a:schemeClr val="tx1"/>
                </a:solidFill>
                <a:latin typeface="Verdana" pitchFamily="34" charset="0"/>
                <a:ea typeface="+mn-ea"/>
                <a:cs typeface="+mn-cs"/>
              </a:defRPr>
            </a:lvl8pPr>
            <a:lvl9pPr marL="4876557" algn="l" defTabSz="1219140" rtl="0" eaLnBrk="1" latinLnBrk="0" hangingPunct="1">
              <a:defRPr sz="2667" kern="1200">
                <a:solidFill>
                  <a:schemeClr val="tx1"/>
                </a:solidFill>
                <a:latin typeface="Verdana" pitchFamily="34" charset="0"/>
                <a:ea typeface="+mn-ea"/>
                <a:cs typeface="+mn-cs"/>
              </a:defRPr>
            </a:lvl9pPr>
          </a:lstStyle>
          <a:p>
            <a:pPr defTabSz="914377">
              <a:defRPr/>
            </a:pPr>
            <a:r>
              <a:rPr lang="en-US">
                <a:solidFill>
                  <a:prstClr val="black"/>
                </a:solidFill>
                <a:latin typeface="Arial"/>
                <a:ea typeface="新細明體"/>
              </a:rPr>
              <a:t>http://csg.csail.mit.edu/6.175</a:t>
            </a:r>
            <a:endParaRPr lang="en-US" dirty="0">
              <a:solidFill>
                <a:prstClr val="black"/>
              </a:solidFill>
              <a:latin typeface="Arial"/>
              <a:ea typeface="新細明體"/>
            </a:endParaRPr>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70" algn="l" rtl="0" fontAlgn="base">
              <a:spcBef>
                <a:spcPct val="0"/>
              </a:spcBef>
              <a:spcAft>
                <a:spcPct val="0"/>
              </a:spcAft>
              <a:defRPr sz="2667" kern="1200">
                <a:solidFill>
                  <a:schemeClr val="tx1"/>
                </a:solidFill>
                <a:latin typeface="Verdana" pitchFamily="34" charset="0"/>
                <a:ea typeface="+mn-ea"/>
                <a:cs typeface="+mn-cs"/>
              </a:defRPr>
            </a:lvl2pPr>
            <a:lvl3pPr marL="1219140" algn="l" rtl="0" fontAlgn="base">
              <a:spcBef>
                <a:spcPct val="0"/>
              </a:spcBef>
              <a:spcAft>
                <a:spcPct val="0"/>
              </a:spcAft>
              <a:defRPr sz="2667" kern="1200">
                <a:solidFill>
                  <a:schemeClr val="tx1"/>
                </a:solidFill>
                <a:latin typeface="Verdana" pitchFamily="34" charset="0"/>
                <a:ea typeface="+mn-ea"/>
                <a:cs typeface="+mn-cs"/>
              </a:defRPr>
            </a:lvl3pPr>
            <a:lvl4pPr marL="1828709" algn="l" rtl="0" fontAlgn="base">
              <a:spcBef>
                <a:spcPct val="0"/>
              </a:spcBef>
              <a:spcAft>
                <a:spcPct val="0"/>
              </a:spcAft>
              <a:defRPr sz="2667" kern="1200">
                <a:solidFill>
                  <a:schemeClr val="tx1"/>
                </a:solidFill>
                <a:latin typeface="Verdana" pitchFamily="34" charset="0"/>
                <a:ea typeface="+mn-ea"/>
                <a:cs typeface="+mn-cs"/>
              </a:defRPr>
            </a:lvl4pPr>
            <a:lvl5pPr marL="2438278" algn="l" rtl="0" fontAlgn="base">
              <a:spcBef>
                <a:spcPct val="0"/>
              </a:spcBef>
              <a:spcAft>
                <a:spcPct val="0"/>
              </a:spcAft>
              <a:defRPr sz="2667" kern="1200">
                <a:solidFill>
                  <a:schemeClr val="tx1"/>
                </a:solidFill>
                <a:latin typeface="Verdana" pitchFamily="34" charset="0"/>
                <a:ea typeface="+mn-ea"/>
                <a:cs typeface="+mn-cs"/>
              </a:defRPr>
            </a:lvl5pPr>
            <a:lvl6pPr marL="3047848" algn="l" defTabSz="1219140" rtl="0" eaLnBrk="1" latinLnBrk="0" hangingPunct="1">
              <a:defRPr sz="2667" kern="1200">
                <a:solidFill>
                  <a:schemeClr val="tx1"/>
                </a:solidFill>
                <a:latin typeface="Verdana" pitchFamily="34" charset="0"/>
                <a:ea typeface="+mn-ea"/>
                <a:cs typeface="+mn-cs"/>
              </a:defRPr>
            </a:lvl6pPr>
            <a:lvl7pPr marL="3657418" algn="l" defTabSz="1219140" rtl="0" eaLnBrk="1" latinLnBrk="0" hangingPunct="1">
              <a:defRPr sz="2667" kern="1200">
                <a:solidFill>
                  <a:schemeClr val="tx1"/>
                </a:solidFill>
                <a:latin typeface="Verdana" pitchFamily="34" charset="0"/>
                <a:ea typeface="+mn-ea"/>
                <a:cs typeface="+mn-cs"/>
              </a:defRPr>
            </a:lvl7pPr>
            <a:lvl8pPr marL="4266987" algn="l" defTabSz="1219140" rtl="0" eaLnBrk="1" latinLnBrk="0" hangingPunct="1">
              <a:defRPr sz="2667" kern="1200">
                <a:solidFill>
                  <a:schemeClr val="tx1"/>
                </a:solidFill>
                <a:latin typeface="Verdana" pitchFamily="34" charset="0"/>
                <a:ea typeface="+mn-ea"/>
                <a:cs typeface="+mn-cs"/>
              </a:defRPr>
            </a:lvl8pPr>
            <a:lvl9pPr marL="4876557" algn="l" defTabSz="1219140" rtl="0" eaLnBrk="1" latinLnBrk="0" hangingPunct="1">
              <a:defRPr sz="2667" kern="1200">
                <a:solidFill>
                  <a:schemeClr val="tx1"/>
                </a:solidFill>
                <a:latin typeface="Verdana" pitchFamily="34" charset="0"/>
                <a:ea typeface="+mn-ea"/>
                <a:cs typeface="+mn-cs"/>
              </a:defRPr>
            </a:lvl9pPr>
          </a:lstStyle>
          <a:p>
            <a:pPr defTabSz="914377">
              <a:defRPr/>
            </a:pPr>
            <a:r>
              <a:rPr lang="en-US">
                <a:solidFill>
                  <a:prstClr val="black"/>
                </a:solidFill>
                <a:latin typeface="Arial"/>
                <a:ea typeface="新細明體"/>
              </a:rPr>
              <a:t>L09-</a:t>
            </a:r>
            <a:fld id="{D02EE386-C9BD-4FB7-9577-6096B5320EC4}" type="slidenum">
              <a:rPr lang="en-US">
                <a:solidFill>
                  <a:prstClr val="black"/>
                </a:solidFill>
                <a:latin typeface="Arial"/>
                <a:ea typeface="新細明體"/>
              </a:rPr>
              <a:pPr defTabSz="914377">
                <a:defRPr/>
              </a:pPr>
              <a:t>40</a:t>
            </a:fld>
            <a:endParaRPr lang="en-US" dirty="0">
              <a:solidFill>
                <a:prstClr val="black"/>
              </a:solidFill>
              <a:latin typeface="Arial"/>
              <a:ea typeface="新細明體"/>
            </a:endParaRPr>
          </a:p>
        </p:txBody>
      </p:sp>
      <p:sp>
        <p:nvSpPr>
          <p:cNvPr id="10" name="TextBox 9">
            <a:extLst>
              <a:ext uri="{FF2B5EF4-FFF2-40B4-BE49-F238E27FC236}">
                <a16:creationId xmlns:a16="http://schemas.microsoft.com/office/drawing/2014/main" id="{595C2B26-B7CF-4E20-BAE1-91C24BA4E906}"/>
              </a:ext>
            </a:extLst>
          </p:cNvPr>
          <p:cNvSpPr txBox="1"/>
          <p:nvPr/>
        </p:nvSpPr>
        <p:spPr>
          <a:xfrm>
            <a:off x="7836697" y="5232829"/>
            <a:ext cx="2168222" cy="461665"/>
          </a:xfrm>
          <a:prstGeom prst="rect">
            <a:avLst/>
          </a:prstGeom>
          <a:noFill/>
        </p:spPr>
        <p:txBody>
          <a:bodyPr wrap="none" rtlCol="0" anchor="ctr" anchorCtr="1">
            <a:spAutoFit/>
          </a:bodyPr>
          <a:lstStyle/>
          <a:p>
            <a:pPr defTabSz="914377"/>
            <a:r>
              <a:rPr lang="en-US" sz="2400" dirty="0">
                <a:solidFill>
                  <a:prstClr val="black"/>
                </a:solidFill>
                <a:latin typeface="Arial"/>
                <a:ea typeface="標楷體" pitchFamily="65" charset="-120"/>
                <a:cs typeface="Calibri" panose="020F07020304040A0204" pitchFamily="34" charset="0"/>
              </a:rPr>
              <a:t>Answer: A,B,D</a:t>
            </a:r>
          </a:p>
        </p:txBody>
      </p:sp>
    </p:spTree>
    <p:extLst>
      <p:ext uri="{BB962C8B-B14F-4D97-AF65-F5344CB8AC3E}">
        <p14:creationId xmlns:p14="http://schemas.microsoft.com/office/powerpoint/2010/main" val="1687028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Quick Review</a:t>
            </a:r>
          </a:p>
        </p:txBody>
      </p:sp>
      <p:sp>
        <p:nvSpPr>
          <p:cNvPr id="3" name="Content Placeholder 2"/>
          <p:cNvSpPr>
            <a:spLocks noGrp="1"/>
          </p:cNvSpPr>
          <p:nvPr>
            <p:ph idx="1"/>
          </p:nvPr>
        </p:nvSpPr>
        <p:spPr>
          <a:xfrm>
            <a:off x="214009" y="1209675"/>
            <a:ext cx="11738808" cy="4909023"/>
          </a:xfrm>
        </p:spPr>
        <p:txBody>
          <a:bodyPr/>
          <a:lstStyle/>
          <a:p>
            <a:pPr marL="0" indent="0">
              <a:buNone/>
            </a:pPr>
            <a:r>
              <a:rPr lang="en-US" sz="2800" dirty="0">
                <a:latin typeface="Times New Roman" panose="02020603050405020304" pitchFamily="18" charset="0"/>
                <a:cs typeface="Times New Roman" panose="02020603050405020304" pitchFamily="18" charset="0"/>
              </a:rPr>
              <a:t>5) What might happen when you cast a double to a float in a C program?</a:t>
            </a:r>
          </a:p>
          <a:p>
            <a:pPr marL="0" indent="0">
              <a:buNone/>
            </a:pPr>
            <a:endParaRPr lang="en-US" sz="2800" dirty="0">
              <a:latin typeface="Times New Roman" panose="02020603050405020304" pitchFamily="18" charset="0"/>
              <a:cs typeface="Times New Roman" panose="02020603050405020304" pitchFamily="18" charset="0"/>
            </a:endParaRPr>
          </a:p>
          <a:p>
            <a:pPr marL="514350" lvl="0" indent="-514350">
              <a:buFont typeface="Wingdings" pitchFamily="2" charset="2"/>
              <a:buAutoNum type="alphaLcParenR"/>
            </a:pPr>
            <a:r>
              <a:rPr lang="en-US" sz="2800" dirty="0">
                <a:solidFill>
                  <a:prstClr val="black"/>
                </a:solidFill>
                <a:latin typeface="Times New Roman" panose="02020603050405020304" pitchFamily="18" charset="0"/>
                <a:cs typeface="Times New Roman" panose="02020603050405020304" pitchFamily="18" charset="0"/>
              </a:rPr>
              <a:t>Everything works fine</a:t>
            </a:r>
          </a:p>
          <a:p>
            <a:pPr marL="514350" indent="-514350">
              <a:buAutoNum type="alphaLcParenR"/>
            </a:pPr>
            <a:r>
              <a:rPr lang="en-US" sz="2800" dirty="0">
                <a:latin typeface="Times New Roman" panose="02020603050405020304" pitchFamily="18" charset="0"/>
                <a:cs typeface="Times New Roman" panose="02020603050405020304" pitchFamily="18" charset="0"/>
              </a:rPr>
              <a:t>Loss of precision</a:t>
            </a:r>
          </a:p>
          <a:p>
            <a:pPr marL="514350" indent="-514350">
              <a:buAutoNum type="alphaLcParenR"/>
            </a:pPr>
            <a:r>
              <a:rPr lang="en-US" sz="2800" dirty="0">
                <a:latin typeface="Times New Roman" panose="02020603050405020304" pitchFamily="18" charset="0"/>
                <a:cs typeface="Times New Roman" panose="02020603050405020304" pitchFamily="18" charset="0"/>
              </a:rPr>
              <a:t>Overflow (may set the result to infinity)</a:t>
            </a:r>
          </a:p>
          <a:p>
            <a:pPr marL="514350" indent="-514350">
              <a:buAutoNum type="alphaLcParenR"/>
            </a:pPr>
            <a:r>
              <a:rPr lang="en-US" sz="2800" dirty="0">
                <a:latin typeface="Times New Roman" panose="02020603050405020304" pitchFamily="18" charset="0"/>
                <a:cs typeface="Times New Roman" panose="02020603050405020304" pitchFamily="18" charset="0"/>
              </a:rPr>
              <a:t>Underflow (will be converted to a denormalized value or 0)</a:t>
            </a:r>
          </a:p>
          <a:p>
            <a:pPr marL="0" indent="0">
              <a:buNone/>
            </a:pPr>
            <a:endParaRPr lang="en-US" sz="2800" dirty="0">
              <a:latin typeface="Times New Roman" panose="02020603050405020304" pitchFamily="18" charset="0"/>
              <a:cs typeface="Times New Roman" panose="02020603050405020304" pitchFamily="18" charset="0"/>
            </a:endParaRPr>
          </a:p>
          <a:p>
            <a:pPr marL="971502" lvl="1" indent="-514338">
              <a:buAutoNum type="alphaLcParenR"/>
            </a:pPr>
            <a:endParaRPr lang="en-US" sz="2800" dirty="0">
              <a:latin typeface="Times New Roman" panose="02020603050405020304" pitchFamily="18" charset="0"/>
              <a:cs typeface="Times New Roman" panose="02020603050405020304" pitchFamily="18" charset="0"/>
            </a:endParaRPr>
          </a:p>
        </p:txBody>
      </p:sp>
      <p:sp>
        <p:nvSpPr>
          <p:cNvPr id="7" name="Date Placeholder 6"/>
          <p:cNvSpPr>
            <a:spLocks noGrp="1"/>
          </p:cNvSpPr>
          <p:nvPr>
            <p:ph type="dt" sz="half" idx="10"/>
          </p:nvPr>
        </p:nvSpPr>
        <p:spPr/>
        <p:txBody>
          <a:bodyPr/>
          <a:lstStyle/>
          <a:p>
            <a:pPr defTabSz="914377">
              <a:defRPr/>
            </a:pPr>
            <a:r>
              <a:rPr lang="en-US" dirty="0">
                <a:solidFill>
                  <a:prstClr val="white"/>
                </a:solidFill>
              </a:rPr>
              <a:t>Feb  17, 2025</a:t>
            </a:r>
          </a:p>
        </p:txBody>
      </p:sp>
      <p:sp>
        <p:nvSpPr>
          <p:cNvPr id="8" name="Footer Placeholder 7"/>
          <p:cNvSpPr>
            <a:spLocks noGrp="1"/>
          </p:cNvSpPr>
          <p:nvPr>
            <p:ph type="ftr" sz="quarter" idx="12"/>
          </p:nvPr>
        </p:nvSpPr>
        <p:spPr bwMode="auto">
          <a:xfrm>
            <a:off x="4093931"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70" algn="l" rtl="0" fontAlgn="base">
              <a:spcBef>
                <a:spcPct val="0"/>
              </a:spcBef>
              <a:spcAft>
                <a:spcPct val="0"/>
              </a:spcAft>
              <a:defRPr sz="2667" kern="1200">
                <a:solidFill>
                  <a:schemeClr val="tx1"/>
                </a:solidFill>
                <a:latin typeface="Verdana" pitchFamily="34" charset="0"/>
                <a:ea typeface="+mn-ea"/>
                <a:cs typeface="+mn-cs"/>
              </a:defRPr>
            </a:lvl2pPr>
            <a:lvl3pPr marL="1219140" algn="l" rtl="0" fontAlgn="base">
              <a:spcBef>
                <a:spcPct val="0"/>
              </a:spcBef>
              <a:spcAft>
                <a:spcPct val="0"/>
              </a:spcAft>
              <a:defRPr sz="2667" kern="1200">
                <a:solidFill>
                  <a:schemeClr val="tx1"/>
                </a:solidFill>
                <a:latin typeface="Verdana" pitchFamily="34" charset="0"/>
                <a:ea typeface="+mn-ea"/>
                <a:cs typeface="+mn-cs"/>
              </a:defRPr>
            </a:lvl3pPr>
            <a:lvl4pPr marL="1828709" algn="l" rtl="0" fontAlgn="base">
              <a:spcBef>
                <a:spcPct val="0"/>
              </a:spcBef>
              <a:spcAft>
                <a:spcPct val="0"/>
              </a:spcAft>
              <a:defRPr sz="2667" kern="1200">
                <a:solidFill>
                  <a:schemeClr val="tx1"/>
                </a:solidFill>
                <a:latin typeface="Verdana" pitchFamily="34" charset="0"/>
                <a:ea typeface="+mn-ea"/>
                <a:cs typeface="+mn-cs"/>
              </a:defRPr>
            </a:lvl4pPr>
            <a:lvl5pPr marL="2438278" algn="l" rtl="0" fontAlgn="base">
              <a:spcBef>
                <a:spcPct val="0"/>
              </a:spcBef>
              <a:spcAft>
                <a:spcPct val="0"/>
              </a:spcAft>
              <a:defRPr sz="2667" kern="1200">
                <a:solidFill>
                  <a:schemeClr val="tx1"/>
                </a:solidFill>
                <a:latin typeface="Verdana" pitchFamily="34" charset="0"/>
                <a:ea typeface="+mn-ea"/>
                <a:cs typeface="+mn-cs"/>
              </a:defRPr>
            </a:lvl5pPr>
            <a:lvl6pPr marL="3047848" algn="l" defTabSz="1219140" rtl="0" eaLnBrk="1" latinLnBrk="0" hangingPunct="1">
              <a:defRPr sz="2667" kern="1200">
                <a:solidFill>
                  <a:schemeClr val="tx1"/>
                </a:solidFill>
                <a:latin typeface="Verdana" pitchFamily="34" charset="0"/>
                <a:ea typeface="+mn-ea"/>
                <a:cs typeface="+mn-cs"/>
              </a:defRPr>
            </a:lvl6pPr>
            <a:lvl7pPr marL="3657418" algn="l" defTabSz="1219140" rtl="0" eaLnBrk="1" latinLnBrk="0" hangingPunct="1">
              <a:defRPr sz="2667" kern="1200">
                <a:solidFill>
                  <a:schemeClr val="tx1"/>
                </a:solidFill>
                <a:latin typeface="Verdana" pitchFamily="34" charset="0"/>
                <a:ea typeface="+mn-ea"/>
                <a:cs typeface="+mn-cs"/>
              </a:defRPr>
            </a:lvl7pPr>
            <a:lvl8pPr marL="4266987" algn="l" defTabSz="1219140" rtl="0" eaLnBrk="1" latinLnBrk="0" hangingPunct="1">
              <a:defRPr sz="2667" kern="1200">
                <a:solidFill>
                  <a:schemeClr val="tx1"/>
                </a:solidFill>
                <a:latin typeface="Verdana" pitchFamily="34" charset="0"/>
                <a:ea typeface="+mn-ea"/>
                <a:cs typeface="+mn-cs"/>
              </a:defRPr>
            </a:lvl8pPr>
            <a:lvl9pPr marL="4876557" algn="l" defTabSz="1219140" rtl="0" eaLnBrk="1" latinLnBrk="0" hangingPunct="1">
              <a:defRPr sz="2667" kern="1200">
                <a:solidFill>
                  <a:schemeClr val="tx1"/>
                </a:solidFill>
                <a:latin typeface="Verdana" pitchFamily="34" charset="0"/>
                <a:ea typeface="+mn-ea"/>
                <a:cs typeface="+mn-cs"/>
              </a:defRPr>
            </a:lvl9pPr>
          </a:lstStyle>
          <a:p>
            <a:pPr defTabSz="914377">
              <a:defRPr/>
            </a:pPr>
            <a:r>
              <a:rPr lang="en-US">
                <a:solidFill>
                  <a:prstClr val="black"/>
                </a:solidFill>
                <a:latin typeface="Arial"/>
                <a:ea typeface="新細明體"/>
              </a:rPr>
              <a:t>http://csg.csail.mit.edu/6.175</a:t>
            </a:r>
            <a:endParaRPr lang="en-US" dirty="0">
              <a:solidFill>
                <a:prstClr val="black"/>
              </a:solidFill>
              <a:latin typeface="Arial"/>
              <a:ea typeface="新細明體"/>
            </a:endParaRPr>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70" algn="l" rtl="0" fontAlgn="base">
              <a:spcBef>
                <a:spcPct val="0"/>
              </a:spcBef>
              <a:spcAft>
                <a:spcPct val="0"/>
              </a:spcAft>
              <a:defRPr sz="2667" kern="1200">
                <a:solidFill>
                  <a:schemeClr val="tx1"/>
                </a:solidFill>
                <a:latin typeface="Verdana" pitchFamily="34" charset="0"/>
                <a:ea typeface="+mn-ea"/>
                <a:cs typeface="+mn-cs"/>
              </a:defRPr>
            </a:lvl2pPr>
            <a:lvl3pPr marL="1219140" algn="l" rtl="0" fontAlgn="base">
              <a:spcBef>
                <a:spcPct val="0"/>
              </a:spcBef>
              <a:spcAft>
                <a:spcPct val="0"/>
              </a:spcAft>
              <a:defRPr sz="2667" kern="1200">
                <a:solidFill>
                  <a:schemeClr val="tx1"/>
                </a:solidFill>
                <a:latin typeface="Verdana" pitchFamily="34" charset="0"/>
                <a:ea typeface="+mn-ea"/>
                <a:cs typeface="+mn-cs"/>
              </a:defRPr>
            </a:lvl3pPr>
            <a:lvl4pPr marL="1828709" algn="l" rtl="0" fontAlgn="base">
              <a:spcBef>
                <a:spcPct val="0"/>
              </a:spcBef>
              <a:spcAft>
                <a:spcPct val="0"/>
              </a:spcAft>
              <a:defRPr sz="2667" kern="1200">
                <a:solidFill>
                  <a:schemeClr val="tx1"/>
                </a:solidFill>
                <a:latin typeface="Verdana" pitchFamily="34" charset="0"/>
                <a:ea typeface="+mn-ea"/>
                <a:cs typeface="+mn-cs"/>
              </a:defRPr>
            </a:lvl4pPr>
            <a:lvl5pPr marL="2438278" algn="l" rtl="0" fontAlgn="base">
              <a:spcBef>
                <a:spcPct val="0"/>
              </a:spcBef>
              <a:spcAft>
                <a:spcPct val="0"/>
              </a:spcAft>
              <a:defRPr sz="2667" kern="1200">
                <a:solidFill>
                  <a:schemeClr val="tx1"/>
                </a:solidFill>
                <a:latin typeface="Verdana" pitchFamily="34" charset="0"/>
                <a:ea typeface="+mn-ea"/>
                <a:cs typeface="+mn-cs"/>
              </a:defRPr>
            </a:lvl5pPr>
            <a:lvl6pPr marL="3047848" algn="l" defTabSz="1219140" rtl="0" eaLnBrk="1" latinLnBrk="0" hangingPunct="1">
              <a:defRPr sz="2667" kern="1200">
                <a:solidFill>
                  <a:schemeClr val="tx1"/>
                </a:solidFill>
                <a:latin typeface="Verdana" pitchFamily="34" charset="0"/>
                <a:ea typeface="+mn-ea"/>
                <a:cs typeface="+mn-cs"/>
              </a:defRPr>
            </a:lvl6pPr>
            <a:lvl7pPr marL="3657418" algn="l" defTabSz="1219140" rtl="0" eaLnBrk="1" latinLnBrk="0" hangingPunct="1">
              <a:defRPr sz="2667" kern="1200">
                <a:solidFill>
                  <a:schemeClr val="tx1"/>
                </a:solidFill>
                <a:latin typeface="Verdana" pitchFamily="34" charset="0"/>
                <a:ea typeface="+mn-ea"/>
                <a:cs typeface="+mn-cs"/>
              </a:defRPr>
            </a:lvl7pPr>
            <a:lvl8pPr marL="4266987" algn="l" defTabSz="1219140" rtl="0" eaLnBrk="1" latinLnBrk="0" hangingPunct="1">
              <a:defRPr sz="2667" kern="1200">
                <a:solidFill>
                  <a:schemeClr val="tx1"/>
                </a:solidFill>
                <a:latin typeface="Verdana" pitchFamily="34" charset="0"/>
                <a:ea typeface="+mn-ea"/>
                <a:cs typeface="+mn-cs"/>
              </a:defRPr>
            </a:lvl8pPr>
            <a:lvl9pPr marL="4876557" algn="l" defTabSz="1219140" rtl="0" eaLnBrk="1" latinLnBrk="0" hangingPunct="1">
              <a:defRPr sz="2667" kern="1200">
                <a:solidFill>
                  <a:schemeClr val="tx1"/>
                </a:solidFill>
                <a:latin typeface="Verdana" pitchFamily="34" charset="0"/>
                <a:ea typeface="+mn-ea"/>
                <a:cs typeface="+mn-cs"/>
              </a:defRPr>
            </a:lvl9pPr>
          </a:lstStyle>
          <a:p>
            <a:pPr defTabSz="914377">
              <a:defRPr/>
            </a:pPr>
            <a:r>
              <a:rPr lang="en-US">
                <a:solidFill>
                  <a:prstClr val="black"/>
                </a:solidFill>
                <a:latin typeface="Arial"/>
                <a:ea typeface="新細明體"/>
              </a:rPr>
              <a:t>L09-</a:t>
            </a:r>
            <a:fld id="{D02EE386-C9BD-4FB7-9577-6096B5320EC4}" type="slidenum">
              <a:rPr lang="en-US">
                <a:solidFill>
                  <a:prstClr val="black"/>
                </a:solidFill>
                <a:latin typeface="Arial"/>
                <a:ea typeface="新細明體"/>
              </a:rPr>
              <a:pPr defTabSz="914377">
                <a:defRPr/>
              </a:pPr>
              <a:t>41</a:t>
            </a:fld>
            <a:endParaRPr lang="en-US" dirty="0">
              <a:solidFill>
                <a:prstClr val="black"/>
              </a:solidFill>
              <a:latin typeface="Arial"/>
              <a:ea typeface="新細明體"/>
            </a:endParaRPr>
          </a:p>
        </p:txBody>
      </p:sp>
      <p:sp>
        <p:nvSpPr>
          <p:cNvPr id="10" name="TextBox 9">
            <a:extLst>
              <a:ext uri="{FF2B5EF4-FFF2-40B4-BE49-F238E27FC236}">
                <a16:creationId xmlns:a16="http://schemas.microsoft.com/office/drawing/2014/main" id="{595C2B26-B7CF-4E20-BAE1-91C24BA4E906}"/>
              </a:ext>
            </a:extLst>
          </p:cNvPr>
          <p:cNvSpPr txBox="1"/>
          <p:nvPr/>
        </p:nvSpPr>
        <p:spPr>
          <a:xfrm>
            <a:off x="7836695" y="5232829"/>
            <a:ext cx="2372765" cy="461665"/>
          </a:xfrm>
          <a:prstGeom prst="rect">
            <a:avLst/>
          </a:prstGeom>
          <a:noFill/>
        </p:spPr>
        <p:txBody>
          <a:bodyPr wrap="none" rtlCol="0" anchor="ctr" anchorCtr="1">
            <a:spAutoFit/>
          </a:bodyPr>
          <a:lstStyle/>
          <a:p>
            <a:pPr defTabSz="914377"/>
            <a:r>
              <a:rPr lang="en-US" sz="2400" dirty="0">
                <a:solidFill>
                  <a:prstClr val="black"/>
                </a:solidFill>
                <a:latin typeface="Arial"/>
                <a:ea typeface="標楷體" pitchFamily="65" charset="-120"/>
                <a:cs typeface="Calibri" panose="020F07020304040A0204" pitchFamily="34" charset="0"/>
              </a:rPr>
              <a:t>Answer: B, C, D</a:t>
            </a:r>
          </a:p>
        </p:txBody>
      </p:sp>
    </p:spTree>
    <p:extLst>
      <p:ext uri="{BB962C8B-B14F-4D97-AF65-F5344CB8AC3E}">
        <p14:creationId xmlns:p14="http://schemas.microsoft.com/office/powerpoint/2010/main" val="3314290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Quick Review</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14009" y="1209675"/>
                <a:ext cx="11738808" cy="4909023"/>
              </a:xfrm>
            </p:spPr>
            <p:txBody>
              <a:bodyPr/>
              <a:lstStyle/>
              <a:p>
                <a:pPr marL="0" indent="0">
                  <a:buNone/>
                </a:pPr>
                <a:r>
                  <a:rPr lang="en-US" sz="2800" dirty="0">
                    <a:latin typeface="Times New Roman" panose="02020603050405020304" pitchFamily="18" charset="0"/>
                    <a:cs typeface="Times New Roman" panose="02020603050405020304" pitchFamily="18" charset="0"/>
                  </a:rPr>
                  <a:t>6) Assume X and Y are integers (</a:t>
                </a:r>
                <a:r>
                  <a:rPr lang="en-US" sz="2800" b="1" dirty="0">
                    <a:latin typeface="Times New Roman" panose="02020603050405020304" pitchFamily="18" charset="0"/>
                    <a:cs typeface="Times New Roman" panose="02020603050405020304" pitchFamily="18" charset="0"/>
                  </a:rPr>
                  <a:t>int</a:t>
                </a:r>
                <a:r>
                  <a:rPr lang="en-US" sz="2800" dirty="0">
                    <a:latin typeface="Times New Roman" panose="02020603050405020304" pitchFamily="18" charset="0"/>
                    <a:cs typeface="Times New Roman" panose="02020603050405020304" pitchFamily="18" charset="0"/>
                  </a:rPr>
                  <a:t>) and A, B, and C are float-point (</a:t>
                </a:r>
                <a:r>
                  <a:rPr lang="en-US" sz="2800" b="1" dirty="0">
                    <a:latin typeface="Times New Roman" panose="02020603050405020304" pitchFamily="18" charset="0"/>
                    <a:cs typeface="Times New Roman" panose="02020603050405020304" pitchFamily="18" charset="0"/>
                  </a:rPr>
                  <a:t>float</a:t>
                </a:r>
                <a:r>
                  <a:rPr lang="en-US" sz="2800" dirty="0">
                    <a:latin typeface="Times New Roman" panose="02020603050405020304" pitchFamily="18" charset="0"/>
                    <a:cs typeface="Times New Roman" panose="02020603050405020304" pitchFamily="18" charset="0"/>
                  </a:rPr>
                  <a:t>) variables. Which of the following expressions are always TRUE?</a:t>
                </a:r>
              </a:p>
              <a:p>
                <a:pPr marL="0" indent="0">
                  <a:buNone/>
                </a:pPr>
                <a:endParaRPr lang="en-US" sz="2800" dirty="0">
                  <a:latin typeface="Times New Roman" panose="02020603050405020304" pitchFamily="18" charset="0"/>
                  <a:cs typeface="Times New Roman" panose="02020603050405020304" pitchFamily="18" charset="0"/>
                </a:endParaRPr>
              </a:p>
              <a:p>
                <a:pPr marL="514350" indent="-514350">
                  <a:buAutoNum type="alphaLcParenR"/>
                </a:pPr>
                <a14:m>
                  <m:oMath xmlns:m="http://schemas.openxmlformats.org/officeDocument/2006/math">
                    <m:sSup>
                      <m:sSupPr>
                        <m:ctrlPr>
                          <a:rPr lang="en-US" sz="2800" i="1" smtClean="0">
                            <a:latin typeface="Cambria Math" panose="02040503050406030204" pitchFamily="18" charset="0"/>
                            <a:cs typeface="Times New Roman" panose="02020603050405020304" pitchFamily="18" charset="0"/>
                          </a:rPr>
                        </m:ctrlPr>
                      </m:sSupPr>
                      <m:e>
                        <m:r>
                          <a:rPr lang="en-US" sz="2800" b="0" i="1" smtClean="0">
                            <a:latin typeface="Cambria Math" panose="02040503050406030204" pitchFamily="18" charset="0"/>
                            <a:cs typeface="Times New Roman" panose="02020603050405020304" pitchFamily="18" charset="0"/>
                          </a:rPr>
                          <m:t>𝑋</m:t>
                        </m:r>
                      </m:e>
                      <m:sup>
                        <m:r>
                          <a:rPr lang="en-US" sz="2800" i="1" smtClean="0">
                            <a:latin typeface="Cambria Math" panose="02040503050406030204" pitchFamily="18" charset="0"/>
                            <a:cs typeface="Times New Roman" panose="02020603050405020304" pitchFamily="18" charset="0"/>
                          </a:rPr>
                          <m:t>2</m:t>
                        </m:r>
                      </m:sup>
                    </m:sSup>
                  </m:oMath>
                </a14:m>
                <a:r>
                  <a:rPr lang="en-US" sz="2800" dirty="0">
                    <a:latin typeface="Times New Roman" panose="02020603050405020304" pitchFamily="18" charset="0"/>
                    <a:cs typeface="Times New Roman" panose="02020603050405020304" pitchFamily="18" charset="0"/>
                  </a:rPr>
                  <a:t> &gt; 0</a:t>
                </a:r>
              </a:p>
              <a:p>
                <a:pPr marL="514350" indent="-514350">
                  <a:buAutoNum type="alphaLcParenR"/>
                </a:pPr>
                <a:r>
                  <a:rPr lang="en-US" sz="2800" dirty="0">
                    <a:latin typeface="Times New Roman" panose="02020603050405020304" pitchFamily="18" charset="0"/>
                    <a:cs typeface="Times New Roman" panose="02020603050405020304" pitchFamily="18" charset="0"/>
                  </a:rPr>
                  <a:t>(A+B)+C == A + (B+C)</a:t>
                </a:r>
              </a:p>
              <a:p>
                <a:pPr marL="514350" indent="-514350">
                  <a:buAutoNum type="alphaLcParenR"/>
                </a:pPr>
                <a:r>
                  <a:rPr lang="en-US" sz="2800" dirty="0">
                    <a:latin typeface="Times New Roman" panose="02020603050405020304" pitchFamily="18" charset="0"/>
                    <a:cs typeface="Times New Roman" panose="02020603050405020304" pitchFamily="18" charset="0"/>
                  </a:rPr>
                  <a:t>If (X &lt; 0) then –X &gt; 0</a:t>
                </a:r>
              </a:p>
              <a:p>
                <a:pPr marL="514350" indent="-514350">
                  <a:buAutoNum type="alphaLcParenR"/>
                </a:pPr>
                <a:r>
                  <a:rPr lang="en-US" sz="2800" dirty="0">
                    <a:latin typeface="Times New Roman" panose="02020603050405020304" pitchFamily="18" charset="0"/>
                    <a:cs typeface="Times New Roman" panose="02020603050405020304" pitchFamily="18" charset="0"/>
                  </a:rPr>
                  <a:t>X == (int)(float)X; </a:t>
                </a:r>
              </a:p>
              <a:p>
                <a:pPr marL="514350" indent="-514350">
                  <a:buAutoNum type="alphaLcParenR"/>
                </a:pPr>
                <a:endParaRPr lang="en-US" sz="2800" dirty="0">
                  <a:latin typeface="Times New Roman" panose="02020603050405020304" pitchFamily="18" charset="0"/>
                  <a:cs typeface="Times New Roman" panose="02020603050405020304" pitchFamily="18" charset="0"/>
                </a:endParaRPr>
              </a:p>
              <a:p>
                <a:pPr marL="0" indent="0">
                  <a:buNone/>
                </a:pPr>
                <a:endParaRPr lang="en-US" sz="2800" dirty="0">
                  <a:latin typeface="Times New Roman" panose="02020603050405020304" pitchFamily="18" charset="0"/>
                  <a:cs typeface="Times New Roman" panose="02020603050405020304" pitchFamily="18" charset="0"/>
                </a:endParaRPr>
              </a:p>
              <a:p>
                <a:pPr marL="971502" lvl="1" indent="-514338">
                  <a:buAutoNum type="alphaLcParenR"/>
                </a:pPr>
                <a:endParaRPr lang="en-US" sz="2800"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14009" y="1209675"/>
                <a:ext cx="11738808" cy="4909023"/>
              </a:xfrm>
              <a:blipFill>
                <a:blip r:embed="rId2"/>
                <a:stretch>
                  <a:fillRect l="-1038" t="-1241"/>
                </a:stretch>
              </a:blipFill>
            </p:spPr>
            <p:txBody>
              <a:bodyPr/>
              <a:lstStyle/>
              <a:p>
                <a:r>
                  <a:rPr lang="en-US">
                    <a:noFill/>
                  </a:rPr>
                  <a:t> </a:t>
                </a:r>
              </a:p>
            </p:txBody>
          </p:sp>
        </mc:Fallback>
      </mc:AlternateContent>
      <p:sp>
        <p:nvSpPr>
          <p:cNvPr id="7" name="Date Placeholder 6"/>
          <p:cNvSpPr>
            <a:spLocks noGrp="1"/>
          </p:cNvSpPr>
          <p:nvPr>
            <p:ph type="dt" sz="half" idx="10"/>
          </p:nvPr>
        </p:nvSpPr>
        <p:spPr/>
        <p:txBody>
          <a:bodyPr/>
          <a:lstStyle/>
          <a:p>
            <a:pPr defTabSz="914377">
              <a:defRPr/>
            </a:pPr>
            <a:r>
              <a:rPr lang="en-US" dirty="0">
                <a:solidFill>
                  <a:prstClr val="white"/>
                </a:solidFill>
              </a:rPr>
              <a:t>Feb  17, 2025</a:t>
            </a:r>
          </a:p>
        </p:txBody>
      </p:sp>
      <p:sp>
        <p:nvSpPr>
          <p:cNvPr id="8" name="Footer Placeholder 7"/>
          <p:cNvSpPr>
            <a:spLocks noGrp="1"/>
          </p:cNvSpPr>
          <p:nvPr>
            <p:ph type="ftr" sz="quarter" idx="12"/>
          </p:nvPr>
        </p:nvSpPr>
        <p:spPr bwMode="auto">
          <a:xfrm>
            <a:off x="4093931"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70" algn="l" rtl="0" fontAlgn="base">
              <a:spcBef>
                <a:spcPct val="0"/>
              </a:spcBef>
              <a:spcAft>
                <a:spcPct val="0"/>
              </a:spcAft>
              <a:defRPr sz="2667" kern="1200">
                <a:solidFill>
                  <a:schemeClr val="tx1"/>
                </a:solidFill>
                <a:latin typeface="Verdana" pitchFamily="34" charset="0"/>
                <a:ea typeface="+mn-ea"/>
                <a:cs typeface="+mn-cs"/>
              </a:defRPr>
            </a:lvl2pPr>
            <a:lvl3pPr marL="1219140" algn="l" rtl="0" fontAlgn="base">
              <a:spcBef>
                <a:spcPct val="0"/>
              </a:spcBef>
              <a:spcAft>
                <a:spcPct val="0"/>
              </a:spcAft>
              <a:defRPr sz="2667" kern="1200">
                <a:solidFill>
                  <a:schemeClr val="tx1"/>
                </a:solidFill>
                <a:latin typeface="Verdana" pitchFamily="34" charset="0"/>
                <a:ea typeface="+mn-ea"/>
                <a:cs typeface="+mn-cs"/>
              </a:defRPr>
            </a:lvl3pPr>
            <a:lvl4pPr marL="1828709" algn="l" rtl="0" fontAlgn="base">
              <a:spcBef>
                <a:spcPct val="0"/>
              </a:spcBef>
              <a:spcAft>
                <a:spcPct val="0"/>
              </a:spcAft>
              <a:defRPr sz="2667" kern="1200">
                <a:solidFill>
                  <a:schemeClr val="tx1"/>
                </a:solidFill>
                <a:latin typeface="Verdana" pitchFamily="34" charset="0"/>
                <a:ea typeface="+mn-ea"/>
                <a:cs typeface="+mn-cs"/>
              </a:defRPr>
            </a:lvl4pPr>
            <a:lvl5pPr marL="2438278" algn="l" rtl="0" fontAlgn="base">
              <a:spcBef>
                <a:spcPct val="0"/>
              </a:spcBef>
              <a:spcAft>
                <a:spcPct val="0"/>
              </a:spcAft>
              <a:defRPr sz="2667" kern="1200">
                <a:solidFill>
                  <a:schemeClr val="tx1"/>
                </a:solidFill>
                <a:latin typeface="Verdana" pitchFamily="34" charset="0"/>
                <a:ea typeface="+mn-ea"/>
                <a:cs typeface="+mn-cs"/>
              </a:defRPr>
            </a:lvl5pPr>
            <a:lvl6pPr marL="3047848" algn="l" defTabSz="1219140" rtl="0" eaLnBrk="1" latinLnBrk="0" hangingPunct="1">
              <a:defRPr sz="2667" kern="1200">
                <a:solidFill>
                  <a:schemeClr val="tx1"/>
                </a:solidFill>
                <a:latin typeface="Verdana" pitchFamily="34" charset="0"/>
                <a:ea typeface="+mn-ea"/>
                <a:cs typeface="+mn-cs"/>
              </a:defRPr>
            </a:lvl6pPr>
            <a:lvl7pPr marL="3657418" algn="l" defTabSz="1219140" rtl="0" eaLnBrk="1" latinLnBrk="0" hangingPunct="1">
              <a:defRPr sz="2667" kern="1200">
                <a:solidFill>
                  <a:schemeClr val="tx1"/>
                </a:solidFill>
                <a:latin typeface="Verdana" pitchFamily="34" charset="0"/>
                <a:ea typeface="+mn-ea"/>
                <a:cs typeface="+mn-cs"/>
              </a:defRPr>
            </a:lvl7pPr>
            <a:lvl8pPr marL="4266987" algn="l" defTabSz="1219140" rtl="0" eaLnBrk="1" latinLnBrk="0" hangingPunct="1">
              <a:defRPr sz="2667" kern="1200">
                <a:solidFill>
                  <a:schemeClr val="tx1"/>
                </a:solidFill>
                <a:latin typeface="Verdana" pitchFamily="34" charset="0"/>
                <a:ea typeface="+mn-ea"/>
                <a:cs typeface="+mn-cs"/>
              </a:defRPr>
            </a:lvl8pPr>
            <a:lvl9pPr marL="4876557" algn="l" defTabSz="1219140" rtl="0" eaLnBrk="1" latinLnBrk="0" hangingPunct="1">
              <a:defRPr sz="2667" kern="1200">
                <a:solidFill>
                  <a:schemeClr val="tx1"/>
                </a:solidFill>
                <a:latin typeface="Verdana" pitchFamily="34" charset="0"/>
                <a:ea typeface="+mn-ea"/>
                <a:cs typeface="+mn-cs"/>
              </a:defRPr>
            </a:lvl9pPr>
          </a:lstStyle>
          <a:p>
            <a:pPr defTabSz="914377">
              <a:defRPr/>
            </a:pPr>
            <a:r>
              <a:rPr lang="en-US">
                <a:solidFill>
                  <a:prstClr val="black"/>
                </a:solidFill>
                <a:latin typeface="Arial"/>
                <a:ea typeface="新細明體"/>
              </a:rPr>
              <a:t>http://csg.csail.mit.edu/6.175</a:t>
            </a:r>
            <a:endParaRPr lang="en-US" dirty="0">
              <a:solidFill>
                <a:prstClr val="black"/>
              </a:solidFill>
              <a:latin typeface="Arial"/>
              <a:ea typeface="新細明體"/>
            </a:endParaRPr>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70" algn="l" rtl="0" fontAlgn="base">
              <a:spcBef>
                <a:spcPct val="0"/>
              </a:spcBef>
              <a:spcAft>
                <a:spcPct val="0"/>
              </a:spcAft>
              <a:defRPr sz="2667" kern="1200">
                <a:solidFill>
                  <a:schemeClr val="tx1"/>
                </a:solidFill>
                <a:latin typeface="Verdana" pitchFamily="34" charset="0"/>
                <a:ea typeface="+mn-ea"/>
                <a:cs typeface="+mn-cs"/>
              </a:defRPr>
            </a:lvl2pPr>
            <a:lvl3pPr marL="1219140" algn="l" rtl="0" fontAlgn="base">
              <a:spcBef>
                <a:spcPct val="0"/>
              </a:spcBef>
              <a:spcAft>
                <a:spcPct val="0"/>
              </a:spcAft>
              <a:defRPr sz="2667" kern="1200">
                <a:solidFill>
                  <a:schemeClr val="tx1"/>
                </a:solidFill>
                <a:latin typeface="Verdana" pitchFamily="34" charset="0"/>
                <a:ea typeface="+mn-ea"/>
                <a:cs typeface="+mn-cs"/>
              </a:defRPr>
            </a:lvl3pPr>
            <a:lvl4pPr marL="1828709" algn="l" rtl="0" fontAlgn="base">
              <a:spcBef>
                <a:spcPct val="0"/>
              </a:spcBef>
              <a:spcAft>
                <a:spcPct val="0"/>
              </a:spcAft>
              <a:defRPr sz="2667" kern="1200">
                <a:solidFill>
                  <a:schemeClr val="tx1"/>
                </a:solidFill>
                <a:latin typeface="Verdana" pitchFamily="34" charset="0"/>
                <a:ea typeface="+mn-ea"/>
                <a:cs typeface="+mn-cs"/>
              </a:defRPr>
            </a:lvl4pPr>
            <a:lvl5pPr marL="2438278" algn="l" rtl="0" fontAlgn="base">
              <a:spcBef>
                <a:spcPct val="0"/>
              </a:spcBef>
              <a:spcAft>
                <a:spcPct val="0"/>
              </a:spcAft>
              <a:defRPr sz="2667" kern="1200">
                <a:solidFill>
                  <a:schemeClr val="tx1"/>
                </a:solidFill>
                <a:latin typeface="Verdana" pitchFamily="34" charset="0"/>
                <a:ea typeface="+mn-ea"/>
                <a:cs typeface="+mn-cs"/>
              </a:defRPr>
            </a:lvl5pPr>
            <a:lvl6pPr marL="3047848" algn="l" defTabSz="1219140" rtl="0" eaLnBrk="1" latinLnBrk="0" hangingPunct="1">
              <a:defRPr sz="2667" kern="1200">
                <a:solidFill>
                  <a:schemeClr val="tx1"/>
                </a:solidFill>
                <a:latin typeface="Verdana" pitchFamily="34" charset="0"/>
                <a:ea typeface="+mn-ea"/>
                <a:cs typeface="+mn-cs"/>
              </a:defRPr>
            </a:lvl6pPr>
            <a:lvl7pPr marL="3657418" algn="l" defTabSz="1219140" rtl="0" eaLnBrk="1" latinLnBrk="0" hangingPunct="1">
              <a:defRPr sz="2667" kern="1200">
                <a:solidFill>
                  <a:schemeClr val="tx1"/>
                </a:solidFill>
                <a:latin typeface="Verdana" pitchFamily="34" charset="0"/>
                <a:ea typeface="+mn-ea"/>
                <a:cs typeface="+mn-cs"/>
              </a:defRPr>
            </a:lvl7pPr>
            <a:lvl8pPr marL="4266987" algn="l" defTabSz="1219140" rtl="0" eaLnBrk="1" latinLnBrk="0" hangingPunct="1">
              <a:defRPr sz="2667" kern="1200">
                <a:solidFill>
                  <a:schemeClr val="tx1"/>
                </a:solidFill>
                <a:latin typeface="Verdana" pitchFamily="34" charset="0"/>
                <a:ea typeface="+mn-ea"/>
                <a:cs typeface="+mn-cs"/>
              </a:defRPr>
            </a:lvl8pPr>
            <a:lvl9pPr marL="4876557" algn="l" defTabSz="1219140" rtl="0" eaLnBrk="1" latinLnBrk="0" hangingPunct="1">
              <a:defRPr sz="2667" kern="1200">
                <a:solidFill>
                  <a:schemeClr val="tx1"/>
                </a:solidFill>
                <a:latin typeface="Verdana" pitchFamily="34" charset="0"/>
                <a:ea typeface="+mn-ea"/>
                <a:cs typeface="+mn-cs"/>
              </a:defRPr>
            </a:lvl9pPr>
          </a:lstStyle>
          <a:p>
            <a:pPr defTabSz="914377">
              <a:defRPr/>
            </a:pPr>
            <a:r>
              <a:rPr lang="en-US">
                <a:solidFill>
                  <a:prstClr val="black"/>
                </a:solidFill>
                <a:latin typeface="Arial"/>
                <a:ea typeface="新細明體"/>
              </a:rPr>
              <a:t>L09-</a:t>
            </a:r>
            <a:fld id="{D02EE386-C9BD-4FB7-9577-6096B5320EC4}" type="slidenum">
              <a:rPr lang="en-US">
                <a:solidFill>
                  <a:prstClr val="black"/>
                </a:solidFill>
                <a:latin typeface="Arial"/>
                <a:ea typeface="新細明體"/>
              </a:rPr>
              <a:pPr defTabSz="914377">
                <a:defRPr/>
              </a:pPr>
              <a:t>42</a:t>
            </a:fld>
            <a:endParaRPr lang="en-US" dirty="0">
              <a:solidFill>
                <a:prstClr val="black"/>
              </a:solidFill>
              <a:latin typeface="Arial"/>
              <a:ea typeface="新細明體"/>
            </a:endParaRPr>
          </a:p>
        </p:txBody>
      </p:sp>
      <p:sp>
        <p:nvSpPr>
          <p:cNvPr id="10" name="TextBox 9">
            <a:extLst>
              <a:ext uri="{FF2B5EF4-FFF2-40B4-BE49-F238E27FC236}">
                <a16:creationId xmlns:a16="http://schemas.microsoft.com/office/drawing/2014/main" id="{595C2B26-B7CF-4E20-BAE1-91C24BA4E906}"/>
              </a:ext>
            </a:extLst>
          </p:cNvPr>
          <p:cNvSpPr txBox="1"/>
          <p:nvPr/>
        </p:nvSpPr>
        <p:spPr>
          <a:xfrm>
            <a:off x="7836695" y="5232829"/>
            <a:ext cx="2119491" cy="461665"/>
          </a:xfrm>
          <a:prstGeom prst="rect">
            <a:avLst/>
          </a:prstGeom>
          <a:noFill/>
        </p:spPr>
        <p:txBody>
          <a:bodyPr wrap="none" rtlCol="0" anchor="ctr" anchorCtr="1">
            <a:spAutoFit/>
          </a:bodyPr>
          <a:lstStyle/>
          <a:p>
            <a:pPr defTabSz="914377"/>
            <a:r>
              <a:rPr lang="en-US" sz="2400" dirty="0">
                <a:solidFill>
                  <a:prstClr val="black"/>
                </a:solidFill>
                <a:latin typeface="Arial"/>
                <a:ea typeface="標楷體" pitchFamily="65" charset="-120"/>
                <a:cs typeface="Calibri" panose="020F07020304040A0204" pitchFamily="34" charset="0"/>
              </a:rPr>
              <a:t>Answer: None</a:t>
            </a:r>
          </a:p>
        </p:txBody>
      </p:sp>
    </p:spTree>
    <p:extLst>
      <p:ext uri="{BB962C8B-B14F-4D97-AF65-F5344CB8AC3E}">
        <p14:creationId xmlns:p14="http://schemas.microsoft.com/office/powerpoint/2010/main" val="2821853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Quick Review</a:t>
            </a:r>
          </a:p>
        </p:txBody>
      </p:sp>
      <p:sp>
        <p:nvSpPr>
          <p:cNvPr id="3" name="Content Placeholder 2"/>
          <p:cNvSpPr>
            <a:spLocks noGrp="1"/>
          </p:cNvSpPr>
          <p:nvPr>
            <p:ph idx="1"/>
          </p:nvPr>
        </p:nvSpPr>
        <p:spPr>
          <a:xfrm>
            <a:off x="214009" y="1209675"/>
            <a:ext cx="11738808" cy="4909023"/>
          </a:xfrm>
        </p:spPr>
        <p:txBody>
          <a:bodyPr/>
          <a:lstStyle/>
          <a:p>
            <a:pPr marL="0" indent="0">
              <a:buNone/>
            </a:pPr>
            <a:r>
              <a:rPr lang="en-US" sz="2800" dirty="0">
                <a:latin typeface="Times New Roman" panose="02020603050405020304" pitchFamily="18" charset="0"/>
                <a:cs typeface="Times New Roman" panose="02020603050405020304" pitchFamily="18" charset="0"/>
              </a:rPr>
              <a:t>7) Which of the following 32-bit patterns are </a:t>
            </a:r>
            <a:r>
              <a:rPr lang="en-US" sz="2800" b="1" dirty="0">
                <a:solidFill>
                  <a:srgbClr val="FF0000"/>
                </a:solidFill>
                <a:latin typeface="Times New Roman" panose="02020603050405020304" pitchFamily="18" charset="0"/>
                <a:cs typeface="Times New Roman" panose="02020603050405020304" pitchFamily="18" charset="0"/>
              </a:rPr>
              <a:t>special values </a:t>
            </a:r>
            <a:r>
              <a:rPr lang="en-US" sz="2800" dirty="0">
                <a:latin typeface="Times New Roman" panose="02020603050405020304" pitchFamily="18" charset="0"/>
                <a:cs typeface="Times New Roman" panose="02020603050405020304" pitchFamily="18" charset="0"/>
              </a:rPr>
              <a:t>in the IEEE 754 single-precision numbers?</a:t>
            </a:r>
          </a:p>
          <a:p>
            <a:pPr marL="0" indent="0">
              <a:buNone/>
            </a:pPr>
            <a:endParaRPr lang="en-US" sz="2800" dirty="0">
              <a:latin typeface="Times New Roman" panose="02020603050405020304" pitchFamily="18" charset="0"/>
              <a:cs typeface="Times New Roman" panose="02020603050405020304" pitchFamily="18" charset="0"/>
            </a:endParaRPr>
          </a:p>
          <a:p>
            <a:pPr marL="514350" indent="-514350">
              <a:buAutoNum type="alphaLcParenR"/>
            </a:pPr>
            <a:r>
              <a:rPr lang="en-US" sz="2800" dirty="0">
                <a:latin typeface="Times New Roman" panose="02020603050405020304" pitchFamily="18" charset="0"/>
                <a:cs typeface="Times New Roman" panose="02020603050405020304" pitchFamily="18" charset="0"/>
              </a:rPr>
              <a:t>0x00000000</a:t>
            </a:r>
          </a:p>
          <a:p>
            <a:pPr marL="514350" indent="-514350">
              <a:buAutoNum type="alphaLcParenR"/>
            </a:pPr>
            <a:r>
              <a:rPr lang="en-US" sz="2800" dirty="0">
                <a:latin typeface="Times New Roman" panose="02020603050405020304" pitchFamily="18" charset="0"/>
                <a:cs typeface="Times New Roman" panose="02020603050405020304" pitchFamily="18" charset="0"/>
              </a:rPr>
              <a:t>0x80000000</a:t>
            </a:r>
          </a:p>
          <a:p>
            <a:pPr marL="514350" indent="-514350">
              <a:buAutoNum type="alphaLcParenR"/>
            </a:pPr>
            <a:r>
              <a:rPr lang="en-US" sz="2800" dirty="0">
                <a:latin typeface="Times New Roman" panose="02020603050405020304" pitchFamily="18" charset="0"/>
                <a:cs typeface="Times New Roman" panose="02020603050405020304" pitchFamily="18" charset="0"/>
              </a:rPr>
              <a:t>0x7F800000</a:t>
            </a:r>
          </a:p>
          <a:p>
            <a:pPr marL="514350" indent="-514350">
              <a:buAutoNum type="alphaLcParenR"/>
            </a:pPr>
            <a:r>
              <a:rPr lang="en-US" sz="2800" dirty="0">
                <a:latin typeface="Times New Roman" panose="02020603050405020304" pitchFamily="18" charset="0"/>
                <a:cs typeface="Times New Roman" panose="02020603050405020304" pitchFamily="18" charset="0"/>
              </a:rPr>
              <a:t>0xFF8FFFFF</a:t>
            </a:r>
          </a:p>
          <a:p>
            <a:pPr marL="514350" indent="-514350">
              <a:buAutoNum type="alphaLcParenR"/>
            </a:pPr>
            <a:endParaRPr lang="en-US" sz="2800" dirty="0">
              <a:latin typeface="Times New Roman" panose="02020603050405020304" pitchFamily="18" charset="0"/>
              <a:cs typeface="Times New Roman" panose="02020603050405020304" pitchFamily="18" charset="0"/>
            </a:endParaRPr>
          </a:p>
          <a:p>
            <a:pPr marL="0" indent="0">
              <a:buNone/>
            </a:pPr>
            <a:endParaRPr lang="en-US" sz="2800" dirty="0">
              <a:latin typeface="Times New Roman" panose="02020603050405020304" pitchFamily="18" charset="0"/>
              <a:cs typeface="Times New Roman" panose="02020603050405020304" pitchFamily="18" charset="0"/>
            </a:endParaRPr>
          </a:p>
          <a:p>
            <a:pPr marL="971502" lvl="1" indent="-514338">
              <a:buAutoNum type="alphaLcParenR"/>
            </a:pPr>
            <a:endParaRPr lang="en-US" sz="2800" dirty="0">
              <a:latin typeface="Times New Roman" panose="02020603050405020304" pitchFamily="18" charset="0"/>
              <a:cs typeface="Times New Roman" panose="02020603050405020304" pitchFamily="18" charset="0"/>
            </a:endParaRPr>
          </a:p>
        </p:txBody>
      </p:sp>
      <p:sp>
        <p:nvSpPr>
          <p:cNvPr id="7" name="Date Placeholder 6"/>
          <p:cNvSpPr>
            <a:spLocks noGrp="1"/>
          </p:cNvSpPr>
          <p:nvPr>
            <p:ph type="dt" sz="half" idx="10"/>
          </p:nvPr>
        </p:nvSpPr>
        <p:spPr/>
        <p:txBody>
          <a:bodyPr/>
          <a:lstStyle/>
          <a:p>
            <a:pPr defTabSz="914377">
              <a:defRPr/>
            </a:pPr>
            <a:r>
              <a:rPr lang="en-US" dirty="0">
                <a:solidFill>
                  <a:prstClr val="white"/>
                </a:solidFill>
              </a:rPr>
              <a:t>Feb  17, 2025</a:t>
            </a:r>
          </a:p>
        </p:txBody>
      </p:sp>
      <p:sp>
        <p:nvSpPr>
          <p:cNvPr id="8" name="Footer Placeholder 7"/>
          <p:cNvSpPr>
            <a:spLocks noGrp="1"/>
          </p:cNvSpPr>
          <p:nvPr>
            <p:ph type="ftr" sz="quarter" idx="12"/>
          </p:nvPr>
        </p:nvSpPr>
        <p:spPr bwMode="auto">
          <a:xfrm>
            <a:off x="4093931"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70" algn="l" rtl="0" fontAlgn="base">
              <a:spcBef>
                <a:spcPct val="0"/>
              </a:spcBef>
              <a:spcAft>
                <a:spcPct val="0"/>
              </a:spcAft>
              <a:defRPr sz="2667" kern="1200">
                <a:solidFill>
                  <a:schemeClr val="tx1"/>
                </a:solidFill>
                <a:latin typeface="Verdana" pitchFamily="34" charset="0"/>
                <a:ea typeface="+mn-ea"/>
                <a:cs typeface="+mn-cs"/>
              </a:defRPr>
            </a:lvl2pPr>
            <a:lvl3pPr marL="1219140" algn="l" rtl="0" fontAlgn="base">
              <a:spcBef>
                <a:spcPct val="0"/>
              </a:spcBef>
              <a:spcAft>
                <a:spcPct val="0"/>
              </a:spcAft>
              <a:defRPr sz="2667" kern="1200">
                <a:solidFill>
                  <a:schemeClr val="tx1"/>
                </a:solidFill>
                <a:latin typeface="Verdana" pitchFamily="34" charset="0"/>
                <a:ea typeface="+mn-ea"/>
                <a:cs typeface="+mn-cs"/>
              </a:defRPr>
            </a:lvl3pPr>
            <a:lvl4pPr marL="1828709" algn="l" rtl="0" fontAlgn="base">
              <a:spcBef>
                <a:spcPct val="0"/>
              </a:spcBef>
              <a:spcAft>
                <a:spcPct val="0"/>
              </a:spcAft>
              <a:defRPr sz="2667" kern="1200">
                <a:solidFill>
                  <a:schemeClr val="tx1"/>
                </a:solidFill>
                <a:latin typeface="Verdana" pitchFamily="34" charset="0"/>
                <a:ea typeface="+mn-ea"/>
                <a:cs typeface="+mn-cs"/>
              </a:defRPr>
            </a:lvl4pPr>
            <a:lvl5pPr marL="2438278" algn="l" rtl="0" fontAlgn="base">
              <a:spcBef>
                <a:spcPct val="0"/>
              </a:spcBef>
              <a:spcAft>
                <a:spcPct val="0"/>
              </a:spcAft>
              <a:defRPr sz="2667" kern="1200">
                <a:solidFill>
                  <a:schemeClr val="tx1"/>
                </a:solidFill>
                <a:latin typeface="Verdana" pitchFamily="34" charset="0"/>
                <a:ea typeface="+mn-ea"/>
                <a:cs typeface="+mn-cs"/>
              </a:defRPr>
            </a:lvl5pPr>
            <a:lvl6pPr marL="3047848" algn="l" defTabSz="1219140" rtl="0" eaLnBrk="1" latinLnBrk="0" hangingPunct="1">
              <a:defRPr sz="2667" kern="1200">
                <a:solidFill>
                  <a:schemeClr val="tx1"/>
                </a:solidFill>
                <a:latin typeface="Verdana" pitchFamily="34" charset="0"/>
                <a:ea typeface="+mn-ea"/>
                <a:cs typeface="+mn-cs"/>
              </a:defRPr>
            </a:lvl6pPr>
            <a:lvl7pPr marL="3657418" algn="l" defTabSz="1219140" rtl="0" eaLnBrk="1" latinLnBrk="0" hangingPunct="1">
              <a:defRPr sz="2667" kern="1200">
                <a:solidFill>
                  <a:schemeClr val="tx1"/>
                </a:solidFill>
                <a:latin typeface="Verdana" pitchFamily="34" charset="0"/>
                <a:ea typeface="+mn-ea"/>
                <a:cs typeface="+mn-cs"/>
              </a:defRPr>
            </a:lvl7pPr>
            <a:lvl8pPr marL="4266987" algn="l" defTabSz="1219140" rtl="0" eaLnBrk="1" latinLnBrk="0" hangingPunct="1">
              <a:defRPr sz="2667" kern="1200">
                <a:solidFill>
                  <a:schemeClr val="tx1"/>
                </a:solidFill>
                <a:latin typeface="Verdana" pitchFamily="34" charset="0"/>
                <a:ea typeface="+mn-ea"/>
                <a:cs typeface="+mn-cs"/>
              </a:defRPr>
            </a:lvl8pPr>
            <a:lvl9pPr marL="4876557" algn="l" defTabSz="1219140" rtl="0" eaLnBrk="1" latinLnBrk="0" hangingPunct="1">
              <a:defRPr sz="2667" kern="1200">
                <a:solidFill>
                  <a:schemeClr val="tx1"/>
                </a:solidFill>
                <a:latin typeface="Verdana" pitchFamily="34" charset="0"/>
                <a:ea typeface="+mn-ea"/>
                <a:cs typeface="+mn-cs"/>
              </a:defRPr>
            </a:lvl9pPr>
          </a:lstStyle>
          <a:p>
            <a:pPr defTabSz="914377">
              <a:defRPr/>
            </a:pPr>
            <a:r>
              <a:rPr lang="en-US">
                <a:solidFill>
                  <a:prstClr val="black"/>
                </a:solidFill>
                <a:latin typeface="Arial"/>
                <a:ea typeface="新細明體"/>
              </a:rPr>
              <a:t>http://csg.csail.mit.edu/6.175</a:t>
            </a:r>
            <a:endParaRPr lang="en-US" dirty="0">
              <a:solidFill>
                <a:prstClr val="black"/>
              </a:solidFill>
              <a:latin typeface="Arial"/>
              <a:ea typeface="新細明體"/>
            </a:endParaRPr>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70" algn="l" rtl="0" fontAlgn="base">
              <a:spcBef>
                <a:spcPct val="0"/>
              </a:spcBef>
              <a:spcAft>
                <a:spcPct val="0"/>
              </a:spcAft>
              <a:defRPr sz="2667" kern="1200">
                <a:solidFill>
                  <a:schemeClr val="tx1"/>
                </a:solidFill>
                <a:latin typeface="Verdana" pitchFamily="34" charset="0"/>
                <a:ea typeface="+mn-ea"/>
                <a:cs typeface="+mn-cs"/>
              </a:defRPr>
            </a:lvl2pPr>
            <a:lvl3pPr marL="1219140" algn="l" rtl="0" fontAlgn="base">
              <a:spcBef>
                <a:spcPct val="0"/>
              </a:spcBef>
              <a:spcAft>
                <a:spcPct val="0"/>
              </a:spcAft>
              <a:defRPr sz="2667" kern="1200">
                <a:solidFill>
                  <a:schemeClr val="tx1"/>
                </a:solidFill>
                <a:latin typeface="Verdana" pitchFamily="34" charset="0"/>
                <a:ea typeface="+mn-ea"/>
                <a:cs typeface="+mn-cs"/>
              </a:defRPr>
            </a:lvl3pPr>
            <a:lvl4pPr marL="1828709" algn="l" rtl="0" fontAlgn="base">
              <a:spcBef>
                <a:spcPct val="0"/>
              </a:spcBef>
              <a:spcAft>
                <a:spcPct val="0"/>
              </a:spcAft>
              <a:defRPr sz="2667" kern="1200">
                <a:solidFill>
                  <a:schemeClr val="tx1"/>
                </a:solidFill>
                <a:latin typeface="Verdana" pitchFamily="34" charset="0"/>
                <a:ea typeface="+mn-ea"/>
                <a:cs typeface="+mn-cs"/>
              </a:defRPr>
            </a:lvl4pPr>
            <a:lvl5pPr marL="2438278" algn="l" rtl="0" fontAlgn="base">
              <a:spcBef>
                <a:spcPct val="0"/>
              </a:spcBef>
              <a:spcAft>
                <a:spcPct val="0"/>
              </a:spcAft>
              <a:defRPr sz="2667" kern="1200">
                <a:solidFill>
                  <a:schemeClr val="tx1"/>
                </a:solidFill>
                <a:latin typeface="Verdana" pitchFamily="34" charset="0"/>
                <a:ea typeface="+mn-ea"/>
                <a:cs typeface="+mn-cs"/>
              </a:defRPr>
            </a:lvl5pPr>
            <a:lvl6pPr marL="3047848" algn="l" defTabSz="1219140" rtl="0" eaLnBrk="1" latinLnBrk="0" hangingPunct="1">
              <a:defRPr sz="2667" kern="1200">
                <a:solidFill>
                  <a:schemeClr val="tx1"/>
                </a:solidFill>
                <a:latin typeface="Verdana" pitchFamily="34" charset="0"/>
                <a:ea typeface="+mn-ea"/>
                <a:cs typeface="+mn-cs"/>
              </a:defRPr>
            </a:lvl6pPr>
            <a:lvl7pPr marL="3657418" algn="l" defTabSz="1219140" rtl="0" eaLnBrk="1" latinLnBrk="0" hangingPunct="1">
              <a:defRPr sz="2667" kern="1200">
                <a:solidFill>
                  <a:schemeClr val="tx1"/>
                </a:solidFill>
                <a:latin typeface="Verdana" pitchFamily="34" charset="0"/>
                <a:ea typeface="+mn-ea"/>
                <a:cs typeface="+mn-cs"/>
              </a:defRPr>
            </a:lvl7pPr>
            <a:lvl8pPr marL="4266987" algn="l" defTabSz="1219140" rtl="0" eaLnBrk="1" latinLnBrk="0" hangingPunct="1">
              <a:defRPr sz="2667" kern="1200">
                <a:solidFill>
                  <a:schemeClr val="tx1"/>
                </a:solidFill>
                <a:latin typeface="Verdana" pitchFamily="34" charset="0"/>
                <a:ea typeface="+mn-ea"/>
                <a:cs typeface="+mn-cs"/>
              </a:defRPr>
            </a:lvl8pPr>
            <a:lvl9pPr marL="4876557" algn="l" defTabSz="1219140" rtl="0" eaLnBrk="1" latinLnBrk="0" hangingPunct="1">
              <a:defRPr sz="2667" kern="1200">
                <a:solidFill>
                  <a:schemeClr val="tx1"/>
                </a:solidFill>
                <a:latin typeface="Verdana" pitchFamily="34" charset="0"/>
                <a:ea typeface="+mn-ea"/>
                <a:cs typeface="+mn-cs"/>
              </a:defRPr>
            </a:lvl9pPr>
          </a:lstStyle>
          <a:p>
            <a:pPr defTabSz="914377">
              <a:defRPr/>
            </a:pPr>
            <a:r>
              <a:rPr lang="en-US">
                <a:solidFill>
                  <a:prstClr val="black"/>
                </a:solidFill>
                <a:latin typeface="Arial"/>
                <a:ea typeface="新細明體"/>
              </a:rPr>
              <a:t>L09-</a:t>
            </a:r>
            <a:fld id="{D02EE386-C9BD-4FB7-9577-6096B5320EC4}" type="slidenum">
              <a:rPr lang="en-US">
                <a:solidFill>
                  <a:prstClr val="black"/>
                </a:solidFill>
                <a:latin typeface="Arial"/>
                <a:ea typeface="新細明體"/>
              </a:rPr>
              <a:pPr defTabSz="914377">
                <a:defRPr/>
              </a:pPr>
              <a:t>43</a:t>
            </a:fld>
            <a:endParaRPr lang="en-US" dirty="0">
              <a:solidFill>
                <a:prstClr val="black"/>
              </a:solidFill>
              <a:latin typeface="Arial"/>
              <a:ea typeface="新細明體"/>
            </a:endParaRPr>
          </a:p>
        </p:txBody>
      </p:sp>
      <p:sp>
        <p:nvSpPr>
          <p:cNvPr id="10" name="TextBox 9">
            <a:extLst>
              <a:ext uri="{FF2B5EF4-FFF2-40B4-BE49-F238E27FC236}">
                <a16:creationId xmlns:a16="http://schemas.microsoft.com/office/drawing/2014/main" id="{595C2B26-B7CF-4E20-BAE1-91C24BA4E906}"/>
              </a:ext>
            </a:extLst>
          </p:cNvPr>
          <p:cNvSpPr txBox="1"/>
          <p:nvPr/>
        </p:nvSpPr>
        <p:spPr>
          <a:xfrm>
            <a:off x="7836695" y="5232829"/>
            <a:ext cx="2475999" cy="461665"/>
          </a:xfrm>
          <a:prstGeom prst="rect">
            <a:avLst/>
          </a:prstGeom>
          <a:noFill/>
        </p:spPr>
        <p:txBody>
          <a:bodyPr wrap="none" rtlCol="0" anchor="ctr" anchorCtr="1">
            <a:spAutoFit/>
          </a:bodyPr>
          <a:lstStyle/>
          <a:p>
            <a:pPr defTabSz="914377"/>
            <a:r>
              <a:rPr lang="en-US" sz="2400" dirty="0">
                <a:solidFill>
                  <a:prstClr val="black"/>
                </a:solidFill>
                <a:latin typeface="Arial"/>
                <a:ea typeface="標楷體" pitchFamily="65" charset="-120"/>
                <a:cs typeface="Calibri" panose="020F07020304040A0204" pitchFamily="34" charset="0"/>
              </a:rPr>
              <a:t>Answer: A,B,C,D</a:t>
            </a:r>
          </a:p>
        </p:txBody>
      </p:sp>
    </p:spTree>
    <p:extLst>
      <p:ext uri="{BB962C8B-B14F-4D97-AF65-F5344CB8AC3E}">
        <p14:creationId xmlns:p14="http://schemas.microsoft.com/office/powerpoint/2010/main" val="1153048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Quick Review</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14009" y="1209675"/>
                <a:ext cx="11738808" cy="4909023"/>
              </a:xfrm>
            </p:spPr>
            <p:txBody>
              <a:bodyPr/>
              <a:lstStyle/>
              <a:p>
                <a:pPr marL="0" indent="0">
                  <a:buNone/>
                </a:pPr>
                <a:r>
                  <a:rPr lang="en-US" sz="2800" dirty="0">
                    <a:latin typeface="Times New Roman" panose="02020603050405020304" pitchFamily="18" charset="0"/>
                    <a:cs typeface="Times New Roman" panose="02020603050405020304" pitchFamily="18" charset="0"/>
                  </a:rPr>
                  <a:t>8) IEEE 754-2008 defined </a:t>
                </a:r>
                <a:r>
                  <a:rPr lang="en-US" sz="2800" b="1" dirty="0">
                    <a:solidFill>
                      <a:prstClr val="black"/>
                    </a:solidFill>
                    <a:latin typeface="Times New Roman" panose="02020603050405020304" pitchFamily="18" charset="0"/>
                    <a:cs typeface="Times New Roman" panose="02020603050405020304" pitchFamily="18" charset="0"/>
                  </a:rPr>
                  <a:t>h</a:t>
                </a:r>
                <a:r>
                  <a:rPr kumimoji="1" lang="en-US" sz="2800" b="1" i="0" u="none" strike="noStrike" kern="0" cap="none" spc="0" normalizeH="0" baseline="0" noProof="0" dirty="0" err="1">
                    <a:ln>
                      <a:noFill/>
                    </a:ln>
                    <a:solidFill>
                      <a:prstClr val="black"/>
                    </a:solidFill>
                    <a:effectLst/>
                    <a:uLnTx/>
                    <a:uFillTx/>
                    <a:latin typeface="Times New Roman" panose="02020603050405020304" pitchFamily="18" charset="0"/>
                    <a:cs typeface="Times New Roman" panose="02020603050405020304" pitchFamily="18" charset="0"/>
                  </a:rPr>
                  <a:t>alf</a:t>
                </a:r>
                <a:r>
                  <a:rPr kumimoji="1" lang="en-US" sz="2800" b="1"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 precision fp16 as: 1, 5, 10 </a:t>
                </a:r>
                <a:r>
                  <a:rPr kumimoji="1" lang="en-US" sz="2800" i="0" u="none" strike="noStrike" kern="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format</a:t>
                </a:r>
              </a:p>
              <a:p>
                <a:pPr marL="0" marR="0" lvl="0" indent="0" algn="l" defTabSz="914400" rtl="0" eaLnBrk="1" fontAlgn="base" latinLnBrk="0" hangingPunct="1">
                  <a:lnSpc>
                    <a:spcPct val="100000"/>
                  </a:lnSpc>
                  <a:spcBef>
                    <a:spcPct val="20000"/>
                  </a:spcBef>
                  <a:spcAft>
                    <a:spcPct val="0"/>
                  </a:spcAft>
                  <a:buClr>
                    <a:srgbClr val="0000FF"/>
                  </a:buClr>
                  <a:buSzPct val="80000"/>
                  <a:buNone/>
                  <a:tabLst/>
                  <a:defRPr/>
                </a:pPr>
                <a:endParaRPr lang="en-US" sz="2800" dirty="0">
                  <a:latin typeface="Times New Roman" panose="02020603050405020304" pitchFamily="18" charset="0"/>
                  <a:cs typeface="Times New Roman" panose="02020603050405020304" pitchFamily="18" charset="0"/>
                </a:endParaRPr>
              </a:p>
              <a:p>
                <a:pPr marL="514350" indent="-514350">
                  <a:buAutoNum type="alphaLcParenR"/>
                </a:pPr>
                <a:r>
                  <a:rPr kumimoji="1" lang="en-US" sz="2800" b="0" i="0" u="none" strike="noStrike" kern="0" cap="none" spc="0" normalizeH="0" baseline="0" noProof="0" dirty="0">
                    <a:ln>
                      <a:noFill/>
                    </a:ln>
                    <a:solidFill>
                      <a:prstClr val="black"/>
                    </a:solidFill>
                    <a:effectLst/>
                    <a:uLnTx/>
                    <a:uFillTx/>
                    <a:latin typeface="Times New Roman" panose="02020603050405020304" pitchFamily="18" charset="0"/>
                    <a:ea typeface="標楷體" pitchFamily="65" charset="-120"/>
                    <a:cs typeface="Times New Roman" panose="02020603050405020304" pitchFamily="18" charset="0"/>
                  </a:rPr>
                  <a:t>The range of fp16 (normalized) is </a:t>
                </a:r>
                <a14:m>
                  <m:oMath xmlns:m="http://schemas.openxmlformats.org/officeDocument/2006/math">
                    <m:sSup>
                      <m:sSupPr>
                        <m:ctrlPr>
                          <a:rPr kumimoji="1" lang="en-US" sz="2800" b="0" i="1" u="none" strike="noStrike" kern="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ctrlPr>
                      </m:sSupPr>
                      <m:e>
                        <m:r>
                          <m:rPr>
                            <m:nor/>
                          </m:rPr>
                          <a:rPr kumimoji="1" lang="en-US" sz="2800" b="0" i="0" u="none" strike="noStrike" kern="0" cap="none" spc="0" normalizeH="0" baseline="0" noProof="0" smtClean="0">
                            <a:ln>
                              <a:noFill/>
                            </a:ln>
                            <a:solidFill>
                              <a:srgbClr val="374151"/>
                            </a:solidFill>
                            <a:effectLst/>
                            <a:uLnTx/>
                            <a:uFillTx/>
                            <a:latin typeface="KaTeX_Main"/>
                            <a:ea typeface="標楷體" pitchFamily="65" charset="-120"/>
                            <a:cs typeface="+mn-cs"/>
                          </a:rPr>
                          <m:t>≈</m:t>
                        </m:r>
                        <m:r>
                          <a:rPr kumimoji="1" lang="en-US" sz="2800" b="0" i="1" u="none" strike="noStrike" kern="0" cap="none" spc="0" normalizeH="0" baseline="0" noProof="0" smtClean="0">
                            <a:ln>
                              <a:noFill/>
                            </a:ln>
                            <a:solidFill>
                              <a:srgbClr val="374151"/>
                            </a:solidFill>
                            <a:effectLst/>
                            <a:uLnTx/>
                            <a:uFillTx/>
                            <a:latin typeface="Cambria Math" panose="02040503050406030204" pitchFamily="18" charset="0"/>
                            <a:cs typeface="+mn-cs"/>
                          </a:rPr>
                          <m:t> 2</m:t>
                        </m:r>
                      </m:e>
                      <m:sup>
                        <m:r>
                          <a:rPr kumimoji="1" lang="en-US" sz="2800" b="0" i="1" u="none" strike="noStrike" kern="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−14</m:t>
                        </m:r>
                      </m:sup>
                    </m:sSup>
                  </m:oMath>
                </a14:m>
                <a:r>
                  <a:rPr kumimoji="1" lang="en-US" sz="2800" b="0" i="0" u="none" strike="noStrike" kern="0" cap="none" spc="0" normalizeH="0" baseline="0" noProof="0" dirty="0">
                    <a:ln>
                      <a:noFill/>
                    </a:ln>
                    <a:solidFill>
                      <a:prstClr val="black"/>
                    </a:solidFill>
                    <a:effectLst/>
                    <a:uLnTx/>
                    <a:uFillTx/>
                    <a:latin typeface="Times New Roman" panose="02020603050405020304" pitchFamily="18" charset="0"/>
                    <a:ea typeface="標楷體" pitchFamily="65" charset="-120"/>
                    <a:cs typeface="Times New Roman" panose="02020603050405020304" pitchFamily="18" charset="0"/>
                  </a:rPr>
                  <a:t> </a:t>
                </a:r>
                <a14:m>
                  <m:oMath xmlns:m="http://schemas.openxmlformats.org/officeDocument/2006/math">
                    <m:sSup>
                      <m:sSupPr>
                        <m:ctrlPr>
                          <a:rPr kumimoji="1" lang="en-US" sz="2800" b="0" i="1" u="none" strike="noStrike" kern="0" cap="none" spc="0" normalizeH="0" baseline="0" noProof="0">
                            <a:ln>
                              <a:noFill/>
                            </a:ln>
                            <a:solidFill>
                              <a:prstClr val="black"/>
                            </a:solidFill>
                            <a:effectLst/>
                            <a:uLnTx/>
                            <a:uFillTx/>
                            <a:latin typeface="Cambria Math" panose="02040503050406030204" pitchFamily="18" charset="0"/>
                            <a:cs typeface="Times New Roman" panose="02020603050405020304" pitchFamily="18" charset="0"/>
                          </a:rPr>
                        </m:ctrlPr>
                      </m:sSupPr>
                      <m:e>
                        <m:r>
                          <m:rPr>
                            <m:sty m:val="p"/>
                          </m:rPr>
                          <a:rPr kumimoji="1" lang="en-US" sz="2800" b="0" i="0" u="none" strike="noStrike" kern="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to</m:t>
                        </m:r>
                        <m:r>
                          <a:rPr kumimoji="1" lang="en-US" sz="2800" b="0" i="1" u="none" strike="noStrike" kern="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 2</m:t>
                        </m:r>
                      </m:e>
                      <m:sup>
                        <m:r>
                          <a:rPr kumimoji="1" lang="en-US" sz="2800" b="0" i="1" u="none" strike="noStrike" kern="0" cap="none" spc="0" normalizeH="0" baseline="0" noProof="0" smtClean="0">
                            <a:ln>
                              <a:noFill/>
                            </a:ln>
                            <a:solidFill>
                              <a:prstClr val="black"/>
                            </a:solidFill>
                            <a:effectLst/>
                            <a:uLnTx/>
                            <a:uFillTx/>
                            <a:latin typeface="Cambria Math" panose="02040503050406030204" pitchFamily="18" charset="0"/>
                            <a:cs typeface="Times New Roman" panose="02020603050405020304" pitchFamily="18" charset="0"/>
                          </a:rPr>
                          <m:t>15</m:t>
                        </m:r>
                      </m:sup>
                    </m:sSup>
                  </m:oMath>
                </a14:m>
                <a:endParaRPr lang="en-US" sz="2800" dirty="0">
                  <a:latin typeface="Times New Roman" panose="02020603050405020304" pitchFamily="18" charset="0"/>
                  <a:cs typeface="Times New Roman" panose="02020603050405020304" pitchFamily="18" charset="0"/>
                </a:endParaRPr>
              </a:p>
              <a:p>
                <a:pPr marL="514350" indent="-514350">
                  <a:buAutoNum type="alphaLcParenR"/>
                </a:pPr>
                <a:r>
                  <a:rPr lang="en-US" sz="2800" dirty="0">
                    <a:solidFill>
                      <a:prstClr val="black"/>
                    </a:solidFill>
                    <a:latin typeface="Times New Roman" panose="02020603050405020304" pitchFamily="18" charset="0"/>
                    <a:cs typeface="Times New Roman" panose="02020603050405020304" pitchFamily="18" charset="0"/>
                  </a:rPr>
                  <a:t>The range of fp16 is </a:t>
                </a:r>
                <a14:m>
                  <m:oMath xmlns:m="http://schemas.openxmlformats.org/officeDocument/2006/math">
                    <m:sSup>
                      <m:sSupPr>
                        <m:ctrlPr>
                          <a:rPr lang="en-US" sz="2800" i="1">
                            <a:solidFill>
                              <a:prstClr val="black"/>
                            </a:solidFill>
                            <a:latin typeface="Cambria Math" panose="02040503050406030204" pitchFamily="18" charset="0"/>
                            <a:cs typeface="Times New Roman" panose="02020603050405020304" pitchFamily="18" charset="0"/>
                          </a:rPr>
                        </m:ctrlPr>
                      </m:sSupPr>
                      <m:e>
                        <m:r>
                          <m:rPr>
                            <m:nor/>
                          </m:rPr>
                          <a:rPr lang="en-US" sz="2800">
                            <a:solidFill>
                              <a:srgbClr val="374151"/>
                            </a:solidFill>
                            <a:latin typeface="KaTeX_Main"/>
                          </a:rPr>
                          <m:t>≈</m:t>
                        </m:r>
                        <m:r>
                          <a:rPr lang="en-US" sz="2800" i="1">
                            <a:solidFill>
                              <a:srgbClr val="374151"/>
                            </a:solidFill>
                            <a:latin typeface="Cambria Math" panose="02040503050406030204" pitchFamily="18" charset="0"/>
                          </a:rPr>
                          <m:t> 2</m:t>
                        </m:r>
                      </m:e>
                      <m:sup>
                        <m:r>
                          <a:rPr lang="en-US" sz="2800" i="1">
                            <a:solidFill>
                              <a:prstClr val="black"/>
                            </a:solidFill>
                            <a:latin typeface="Cambria Math" panose="02040503050406030204" pitchFamily="18" charset="0"/>
                            <a:cs typeface="Times New Roman" panose="02020603050405020304" pitchFamily="18" charset="0"/>
                          </a:rPr>
                          <m:t>−</m:t>
                        </m:r>
                        <m:r>
                          <a:rPr lang="en-US" sz="2800" b="0" i="1" smtClean="0">
                            <a:solidFill>
                              <a:prstClr val="black"/>
                            </a:solidFill>
                            <a:latin typeface="Cambria Math" panose="02040503050406030204" pitchFamily="18" charset="0"/>
                            <a:cs typeface="Times New Roman" panose="02020603050405020304" pitchFamily="18" charset="0"/>
                          </a:rPr>
                          <m:t>2</m:t>
                        </m:r>
                        <m:r>
                          <a:rPr lang="en-US" sz="2800" i="1">
                            <a:solidFill>
                              <a:prstClr val="black"/>
                            </a:solidFill>
                            <a:latin typeface="Cambria Math" panose="02040503050406030204" pitchFamily="18" charset="0"/>
                            <a:cs typeface="Times New Roman" panose="02020603050405020304" pitchFamily="18" charset="0"/>
                          </a:rPr>
                          <m:t>4</m:t>
                        </m:r>
                      </m:sup>
                    </m:sSup>
                  </m:oMath>
                </a14:m>
                <a:r>
                  <a:rPr lang="en-US" sz="2800" dirty="0">
                    <a:solidFill>
                      <a:prstClr val="black"/>
                    </a:solidFill>
                    <a:latin typeface="Times New Roman" panose="02020603050405020304" pitchFamily="18" charset="0"/>
                    <a:cs typeface="Times New Roman" panose="02020603050405020304" pitchFamily="18" charset="0"/>
                  </a:rPr>
                  <a:t> </a:t>
                </a:r>
                <a14:m>
                  <m:oMath xmlns:m="http://schemas.openxmlformats.org/officeDocument/2006/math">
                    <m:sSup>
                      <m:sSupPr>
                        <m:ctrlPr>
                          <a:rPr lang="en-US" sz="2800" i="1">
                            <a:solidFill>
                              <a:prstClr val="black"/>
                            </a:solidFill>
                            <a:latin typeface="Cambria Math" panose="02040503050406030204" pitchFamily="18" charset="0"/>
                            <a:cs typeface="Times New Roman" panose="02020603050405020304" pitchFamily="18" charset="0"/>
                          </a:rPr>
                        </m:ctrlPr>
                      </m:sSupPr>
                      <m:e>
                        <m:r>
                          <m:rPr>
                            <m:sty m:val="p"/>
                          </m:rPr>
                          <a:rPr lang="en-US" sz="2800">
                            <a:solidFill>
                              <a:prstClr val="black"/>
                            </a:solidFill>
                            <a:latin typeface="Cambria Math" panose="02040503050406030204" pitchFamily="18" charset="0"/>
                            <a:cs typeface="Times New Roman" panose="02020603050405020304" pitchFamily="18" charset="0"/>
                          </a:rPr>
                          <m:t>to</m:t>
                        </m:r>
                        <m:r>
                          <a:rPr lang="en-US" sz="2800" i="1">
                            <a:solidFill>
                              <a:prstClr val="black"/>
                            </a:solidFill>
                            <a:latin typeface="Cambria Math" panose="02040503050406030204" pitchFamily="18" charset="0"/>
                            <a:cs typeface="Times New Roman" panose="02020603050405020304" pitchFamily="18" charset="0"/>
                          </a:rPr>
                          <m:t> 2 </m:t>
                        </m:r>
                        <m:r>
                          <m:rPr>
                            <m:sty m:val="p"/>
                          </m:rPr>
                          <a:rPr lang="en-US" sz="2800">
                            <a:solidFill>
                              <a:prstClr val="black"/>
                            </a:solidFill>
                            <a:latin typeface="Cambria Math" panose="02040503050406030204" pitchFamily="18" charset="0"/>
                            <a:cs typeface="Times New Roman" panose="02020603050405020304" pitchFamily="18" charset="0"/>
                          </a:rPr>
                          <m:t>x</m:t>
                        </m:r>
                        <m:r>
                          <a:rPr lang="en-US" sz="2800" i="1">
                            <a:solidFill>
                              <a:prstClr val="black"/>
                            </a:solidFill>
                            <a:latin typeface="Cambria Math" panose="02040503050406030204" pitchFamily="18" charset="0"/>
                            <a:cs typeface="Times New Roman" panose="02020603050405020304" pitchFamily="18" charset="0"/>
                          </a:rPr>
                          <m:t> 2</m:t>
                        </m:r>
                      </m:e>
                      <m:sup>
                        <m:r>
                          <a:rPr lang="en-US" sz="2800" i="1">
                            <a:solidFill>
                              <a:prstClr val="black"/>
                            </a:solidFill>
                            <a:latin typeface="Cambria Math" panose="02040503050406030204" pitchFamily="18" charset="0"/>
                            <a:cs typeface="Times New Roman" panose="02020603050405020304" pitchFamily="18" charset="0"/>
                          </a:rPr>
                          <m:t>15</m:t>
                        </m:r>
                      </m:sup>
                    </m:sSup>
                  </m:oMath>
                </a14:m>
                <a:endParaRPr lang="en-US" sz="2800" dirty="0">
                  <a:latin typeface="Times New Roman" panose="02020603050405020304" pitchFamily="18" charset="0"/>
                  <a:cs typeface="Times New Roman" panose="02020603050405020304" pitchFamily="18" charset="0"/>
                </a:endParaRPr>
              </a:p>
              <a:p>
                <a:pPr marL="514350" indent="-514350">
                  <a:buAutoNum type="alphaLcParenR"/>
                </a:pPr>
                <a:r>
                  <a:rPr lang="en-US" sz="2800" dirty="0">
                    <a:latin typeface="Times New Roman" panose="02020603050405020304" pitchFamily="18" charset="0"/>
                    <a:cs typeface="Times New Roman" panose="02020603050405020304" pitchFamily="18" charset="0"/>
                  </a:rPr>
                  <a:t>Using fp16 doubles the computational throughput compared to FP32.</a:t>
                </a:r>
              </a:p>
              <a:p>
                <a:pPr marL="514350" lvl="0" indent="-514350">
                  <a:buFont typeface="Wingdings" pitchFamily="2" charset="2"/>
                  <a:buAutoNum type="alphaLcParenR"/>
                </a:pPr>
                <a:r>
                  <a:rPr lang="en-US" sz="2800" dirty="0">
                    <a:solidFill>
                      <a:prstClr val="black"/>
                    </a:solidFill>
                    <a:latin typeface="Times New Roman" panose="02020603050405020304" pitchFamily="18" charset="0"/>
                    <a:cs typeface="Times New Roman" panose="02020603050405020304" pitchFamily="18" charset="0"/>
                  </a:rPr>
                  <a:t>Using fp16 reduces the data movements compared to FP32.</a:t>
                </a:r>
              </a:p>
              <a:p>
                <a:pPr marL="514350" lvl="0" indent="-514350">
                  <a:buFont typeface="Wingdings" pitchFamily="2" charset="2"/>
                  <a:buAutoNum type="alphaLcParenR"/>
                </a:pPr>
                <a:r>
                  <a:rPr lang="en-US" sz="2800" dirty="0">
                    <a:solidFill>
                      <a:prstClr val="black"/>
                    </a:solidFill>
                    <a:latin typeface="Times New Roman" panose="02020603050405020304" pitchFamily="18" charset="0"/>
                    <a:cs typeface="Times New Roman" panose="02020603050405020304" pitchFamily="18" charset="0"/>
                  </a:rPr>
                  <a:t>Using fp16 reduces the power consumption</a:t>
                </a:r>
              </a:p>
              <a:p>
                <a:pPr marL="514350" lvl="0" indent="-514350">
                  <a:buFont typeface="Wingdings" pitchFamily="2" charset="2"/>
                  <a:buAutoNum type="alphaLcParenR"/>
                </a:pPr>
                <a:endParaRPr lang="en-US" sz="2800" dirty="0">
                  <a:solidFill>
                    <a:prstClr val="black"/>
                  </a:solidFill>
                  <a:latin typeface="Times New Roman" panose="02020603050405020304" pitchFamily="18" charset="0"/>
                  <a:cs typeface="Times New Roman" panose="02020603050405020304" pitchFamily="18" charset="0"/>
                </a:endParaRPr>
              </a:p>
              <a:p>
                <a:pPr marL="514350" indent="-514350">
                  <a:buAutoNum type="alphaLcParenR"/>
                </a:pPr>
                <a:endParaRPr kumimoji="1" lang="en-US" sz="2800" b="0" i="0" u="none" strike="noStrike" kern="0" cap="none" spc="0" normalizeH="0" baseline="0" noProof="0" dirty="0">
                  <a:ln>
                    <a:noFill/>
                  </a:ln>
                  <a:solidFill>
                    <a:prstClr val="black"/>
                  </a:solidFill>
                  <a:effectLst/>
                  <a:uLnTx/>
                  <a:uFillTx/>
                  <a:latin typeface="Times New Roman" panose="02020603050405020304" pitchFamily="18" charset="0"/>
                  <a:ea typeface="標楷體" pitchFamily="65" charset="-120"/>
                  <a:cs typeface="Times New Roman" panose="02020603050405020304" pitchFamily="18" charset="0"/>
                </a:endParaRPr>
              </a:p>
              <a:p>
                <a:pPr marL="514350" indent="-514350">
                  <a:buAutoNum type="alphaLcParenR"/>
                </a:pPr>
                <a:endParaRPr lang="en-US" sz="2800" dirty="0">
                  <a:latin typeface="Times New Roman" panose="02020603050405020304" pitchFamily="18" charset="0"/>
                  <a:cs typeface="Times New Roman" panose="02020603050405020304" pitchFamily="18" charset="0"/>
                </a:endParaRPr>
              </a:p>
              <a:p>
                <a:pPr marL="514350" indent="-514350">
                  <a:buAutoNum type="alphaLcParenR"/>
                </a:pPr>
                <a:endParaRPr lang="en-US" sz="2800" dirty="0">
                  <a:latin typeface="Times New Roman" panose="02020603050405020304" pitchFamily="18" charset="0"/>
                  <a:cs typeface="Times New Roman" panose="02020603050405020304" pitchFamily="18" charset="0"/>
                </a:endParaRPr>
              </a:p>
              <a:p>
                <a:pPr marL="514350" indent="-514350">
                  <a:buAutoNum type="alphaLcParenR"/>
                </a:pPr>
                <a:endParaRPr lang="en-US" sz="2800" dirty="0">
                  <a:latin typeface="Times New Roman" panose="02020603050405020304" pitchFamily="18" charset="0"/>
                  <a:cs typeface="Times New Roman" panose="02020603050405020304" pitchFamily="18" charset="0"/>
                </a:endParaRPr>
              </a:p>
              <a:p>
                <a:pPr marL="0" indent="0">
                  <a:buNone/>
                </a:pPr>
                <a:endParaRPr lang="en-US" sz="2800" dirty="0">
                  <a:latin typeface="Times New Roman" panose="02020603050405020304" pitchFamily="18" charset="0"/>
                  <a:cs typeface="Times New Roman" panose="02020603050405020304" pitchFamily="18" charset="0"/>
                </a:endParaRPr>
              </a:p>
              <a:p>
                <a:pPr marL="971502" lvl="1" indent="-514338">
                  <a:buAutoNum type="alphaLcParenR"/>
                </a:pPr>
                <a:endParaRPr lang="en-US" sz="2800" dirty="0">
                  <a:latin typeface="Times New Roman" panose="02020603050405020304" pitchFamily="18" charset="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14009" y="1209675"/>
                <a:ext cx="11738808" cy="4909023"/>
              </a:xfrm>
              <a:blipFill>
                <a:blip r:embed="rId2"/>
                <a:stretch>
                  <a:fillRect l="-1038" t="-1241"/>
                </a:stretch>
              </a:blipFill>
            </p:spPr>
            <p:txBody>
              <a:bodyPr/>
              <a:lstStyle/>
              <a:p>
                <a:r>
                  <a:rPr lang="en-US">
                    <a:noFill/>
                  </a:rPr>
                  <a:t> </a:t>
                </a:r>
              </a:p>
            </p:txBody>
          </p:sp>
        </mc:Fallback>
      </mc:AlternateContent>
      <p:sp>
        <p:nvSpPr>
          <p:cNvPr id="7" name="Date Placeholder 6"/>
          <p:cNvSpPr>
            <a:spLocks noGrp="1"/>
          </p:cNvSpPr>
          <p:nvPr>
            <p:ph type="dt" sz="half" idx="10"/>
          </p:nvPr>
        </p:nvSpPr>
        <p:spPr/>
        <p:txBody>
          <a:bodyPr/>
          <a:lstStyle/>
          <a:p>
            <a:pPr defTabSz="914377">
              <a:defRPr/>
            </a:pPr>
            <a:r>
              <a:rPr lang="en-US" dirty="0">
                <a:solidFill>
                  <a:prstClr val="white"/>
                </a:solidFill>
              </a:rPr>
              <a:t>Feb  17, 2025</a:t>
            </a:r>
          </a:p>
        </p:txBody>
      </p:sp>
      <p:sp>
        <p:nvSpPr>
          <p:cNvPr id="8" name="Footer Placeholder 7"/>
          <p:cNvSpPr>
            <a:spLocks noGrp="1"/>
          </p:cNvSpPr>
          <p:nvPr>
            <p:ph type="ftr" sz="quarter" idx="12"/>
          </p:nvPr>
        </p:nvSpPr>
        <p:spPr bwMode="auto">
          <a:xfrm>
            <a:off x="4093931"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70" algn="l" rtl="0" fontAlgn="base">
              <a:spcBef>
                <a:spcPct val="0"/>
              </a:spcBef>
              <a:spcAft>
                <a:spcPct val="0"/>
              </a:spcAft>
              <a:defRPr sz="2667" kern="1200">
                <a:solidFill>
                  <a:schemeClr val="tx1"/>
                </a:solidFill>
                <a:latin typeface="Verdana" pitchFamily="34" charset="0"/>
                <a:ea typeface="+mn-ea"/>
                <a:cs typeface="+mn-cs"/>
              </a:defRPr>
            </a:lvl2pPr>
            <a:lvl3pPr marL="1219140" algn="l" rtl="0" fontAlgn="base">
              <a:spcBef>
                <a:spcPct val="0"/>
              </a:spcBef>
              <a:spcAft>
                <a:spcPct val="0"/>
              </a:spcAft>
              <a:defRPr sz="2667" kern="1200">
                <a:solidFill>
                  <a:schemeClr val="tx1"/>
                </a:solidFill>
                <a:latin typeface="Verdana" pitchFamily="34" charset="0"/>
                <a:ea typeface="+mn-ea"/>
                <a:cs typeface="+mn-cs"/>
              </a:defRPr>
            </a:lvl3pPr>
            <a:lvl4pPr marL="1828709" algn="l" rtl="0" fontAlgn="base">
              <a:spcBef>
                <a:spcPct val="0"/>
              </a:spcBef>
              <a:spcAft>
                <a:spcPct val="0"/>
              </a:spcAft>
              <a:defRPr sz="2667" kern="1200">
                <a:solidFill>
                  <a:schemeClr val="tx1"/>
                </a:solidFill>
                <a:latin typeface="Verdana" pitchFamily="34" charset="0"/>
                <a:ea typeface="+mn-ea"/>
                <a:cs typeface="+mn-cs"/>
              </a:defRPr>
            </a:lvl4pPr>
            <a:lvl5pPr marL="2438278" algn="l" rtl="0" fontAlgn="base">
              <a:spcBef>
                <a:spcPct val="0"/>
              </a:spcBef>
              <a:spcAft>
                <a:spcPct val="0"/>
              </a:spcAft>
              <a:defRPr sz="2667" kern="1200">
                <a:solidFill>
                  <a:schemeClr val="tx1"/>
                </a:solidFill>
                <a:latin typeface="Verdana" pitchFamily="34" charset="0"/>
                <a:ea typeface="+mn-ea"/>
                <a:cs typeface="+mn-cs"/>
              </a:defRPr>
            </a:lvl5pPr>
            <a:lvl6pPr marL="3047848" algn="l" defTabSz="1219140" rtl="0" eaLnBrk="1" latinLnBrk="0" hangingPunct="1">
              <a:defRPr sz="2667" kern="1200">
                <a:solidFill>
                  <a:schemeClr val="tx1"/>
                </a:solidFill>
                <a:latin typeface="Verdana" pitchFamily="34" charset="0"/>
                <a:ea typeface="+mn-ea"/>
                <a:cs typeface="+mn-cs"/>
              </a:defRPr>
            </a:lvl6pPr>
            <a:lvl7pPr marL="3657418" algn="l" defTabSz="1219140" rtl="0" eaLnBrk="1" latinLnBrk="0" hangingPunct="1">
              <a:defRPr sz="2667" kern="1200">
                <a:solidFill>
                  <a:schemeClr val="tx1"/>
                </a:solidFill>
                <a:latin typeface="Verdana" pitchFamily="34" charset="0"/>
                <a:ea typeface="+mn-ea"/>
                <a:cs typeface="+mn-cs"/>
              </a:defRPr>
            </a:lvl7pPr>
            <a:lvl8pPr marL="4266987" algn="l" defTabSz="1219140" rtl="0" eaLnBrk="1" latinLnBrk="0" hangingPunct="1">
              <a:defRPr sz="2667" kern="1200">
                <a:solidFill>
                  <a:schemeClr val="tx1"/>
                </a:solidFill>
                <a:latin typeface="Verdana" pitchFamily="34" charset="0"/>
                <a:ea typeface="+mn-ea"/>
                <a:cs typeface="+mn-cs"/>
              </a:defRPr>
            </a:lvl8pPr>
            <a:lvl9pPr marL="4876557" algn="l" defTabSz="1219140" rtl="0" eaLnBrk="1" latinLnBrk="0" hangingPunct="1">
              <a:defRPr sz="2667" kern="1200">
                <a:solidFill>
                  <a:schemeClr val="tx1"/>
                </a:solidFill>
                <a:latin typeface="Verdana" pitchFamily="34" charset="0"/>
                <a:ea typeface="+mn-ea"/>
                <a:cs typeface="+mn-cs"/>
              </a:defRPr>
            </a:lvl9pPr>
          </a:lstStyle>
          <a:p>
            <a:pPr defTabSz="914377">
              <a:defRPr/>
            </a:pPr>
            <a:r>
              <a:rPr lang="en-US">
                <a:solidFill>
                  <a:prstClr val="black"/>
                </a:solidFill>
                <a:latin typeface="Arial"/>
                <a:ea typeface="新細明體"/>
              </a:rPr>
              <a:t>http://csg.csail.mit.edu/6.175</a:t>
            </a:r>
            <a:endParaRPr lang="en-US" dirty="0">
              <a:solidFill>
                <a:prstClr val="black"/>
              </a:solidFill>
              <a:latin typeface="Arial"/>
              <a:ea typeface="新細明體"/>
            </a:endParaRPr>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70" algn="l" rtl="0" fontAlgn="base">
              <a:spcBef>
                <a:spcPct val="0"/>
              </a:spcBef>
              <a:spcAft>
                <a:spcPct val="0"/>
              </a:spcAft>
              <a:defRPr sz="2667" kern="1200">
                <a:solidFill>
                  <a:schemeClr val="tx1"/>
                </a:solidFill>
                <a:latin typeface="Verdana" pitchFamily="34" charset="0"/>
                <a:ea typeface="+mn-ea"/>
                <a:cs typeface="+mn-cs"/>
              </a:defRPr>
            </a:lvl2pPr>
            <a:lvl3pPr marL="1219140" algn="l" rtl="0" fontAlgn="base">
              <a:spcBef>
                <a:spcPct val="0"/>
              </a:spcBef>
              <a:spcAft>
                <a:spcPct val="0"/>
              </a:spcAft>
              <a:defRPr sz="2667" kern="1200">
                <a:solidFill>
                  <a:schemeClr val="tx1"/>
                </a:solidFill>
                <a:latin typeface="Verdana" pitchFamily="34" charset="0"/>
                <a:ea typeface="+mn-ea"/>
                <a:cs typeface="+mn-cs"/>
              </a:defRPr>
            </a:lvl3pPr>
            <a:lvl4pPr marL="1828709" algn="l" rtl="0" fontAlgn="base">
              <a:spcBef>
                <a:spcPct val="0"/>
              </a:spcBef>
              <a:spcAft>
                <a:spcPct val="0"/>
              </a:spcAft>
              <a:defRPr sz="2667" kern="1200">
                <a:solidFill>
                  <a:schemeClr val="tx1"/>
                </a:solidFill>
                <a:latin typeface="Verdana" pitchFamily="34" charset="0"/>
                <a:ea typeface="+mn-ea"/>
                <a:cs typeface="+mn-cs"/>
              </a:defRPr>
            </a:lvl4pPr>
            <a:lvl5pPr marL="2438278" algn="l" rtl="0" fontAlgn="base">
              <a:spcBef>
                <a:spcPct val="0"/>
              </a:spcBef>
              <a:spcAft>
                <a:spcPct val="0"/>
              </a:spcAft>
              <a:defRPr sz="2667" kern="1200">
                <a:solidFill>
                  <a:schemeClr val="tx1"/>
                </a:solidFill>
                <a:latin typeface="Verdana" pitchFamily="34" charset="0"/>
                <a:ea typeface="+mn-ea"/>
                <a:cs typeface="+mn-cs"/>
              </a:defRPr>
            </a:lvl5pPr>
            <a:lvl6pPr marL="3047848" algn="l" defTabSz="1219140" rtl="0" eaLnBrk="1" latinLnBrk="0" hangingPunct="1">
              <a:defRPr sz="2667" kern="1200">
                <a:solidFill>
                  <a:schemeClr val="tx1"/>
                </a:solidFill>
                <a:latin typeface="Verdana" pitchFamily="34" charset="0"/>
                <a:ea typeface="+mn-ea"/>
                <a:cs typeface="+mn-cs"/>
              </a:defRPr>
            </a:lvl6pPr>
            <a:lvl7pPr marL="3657418" algn="l" defTabSz="1219140" rtl="0" eaLnBrk="1" latinLnBrk="0" hangingPunct="1">
              <a:defRPr sz="2667" kern="1200">
                <a:solidFill>
                  <a:schemeClr val="tx1"/>
                </a:solidFill>
                <a:latin typeface="Verdana" pitchFamily="34" charset="0"/>
                <a:ea typeface="+mn-ea"/>
                <a:cs typeface="+mn-cs"/>
              </a:defRPr>
            </a:lvl7pPr>
            <a:lvl8pPr marL="4266987" algn="l" defTabSz="1219140" rtl="0" eaLnBrk="1" latinLnBrk="0" hangingPunct="1">
              <a:defRPr sz="2667" kern="1200">
                <a:solidFill>
                  <a:schemeClr val="tx1"/>
                </a:solidFill>
                <a:latin typeface="Verdana" pitchFamily="34" charset="0"/>
                <a:ea typeface="+mn-ea"/>
                <a:cs typeface="+mn-cs"/>
              </a:defRPr>
            </a:lvl8pPr>
            <a:lvl9pPr marL="4876557" algn="l" defTabSz="1219140" rtl="0" eaLnBrk="1" latinLnBrk="0" hangingPunct="1">
              <a:defRPr sz="2667" kern="1200">
                <a:solidFill>
                  <a:schemeClr val="tx1"/>
                </a:solidFill>
                <a:latin typeface="Verdana" pitchFamily="34" charset="0"/>
                <a:ea typeface="+mn-ea"/>
                <a:cs typeface="+mn-cs"/>
              </a:defRPr>
            </a:lvl9pPr>
          </a:lstStyle>
          <a:p>
            <a:pPr defTabSz="914377">
              <a:defRPr/>
            </a:pPr>
            <a:r>
              <a:rPr lang="en-US">
                <a:solidFill>
                  <a:prstClr val="black"/>
                </a:solidFill>
                <a:latin typeface="Arial"/>
                <a:ea typeface="新細明體"/>
              </a:rPr>
              <a:t>L09-</a:t>
            </a:r>
            <a:fld id="{D02EE386-C9BD-4FB7-9577-6096B5320EC4}" type="slidenum">
              <a:rPr lang="en-US">
                <a:solidFill>
                  <a:prstClr val="black"/>
                </a:solidFill>
                <a:latin typeface="Arial"/>
                <a:ea typeface="新細明體"/>
              </a:rPr>
              <a:pPr defTabSz="914377">
                <a:defRPr/>
              </a:pPr>
              <a:t>44</a:t>
            </a:fld>
            <a:endParaRPr lang="en-US" dirty="0">
              <a:solidFill>
                <a:prstClr val="black"/>
              </a:solidFill>
              <a:latin typeface="Arial"/>
              <a:ea typeface="新細明體"/>
            </a:endParaRPr>
          </a:p>
        </p:txBody>
      </p:sp>
      <p:sp>
        <p:nvSpPr>
          <p:cNvPr id="10" name="TextBox 9">
            <a:extLst>
              <a:ext uri="{FF2B5EF4-FFF2-40B4-BE49-F238E27FC236}">
                <a16:creationId xmlns:a16="http://schemas.microsoft.com/office/drawing/2014/main" id="{595C2B26-B7CF-4E20-BAE1-91C24BA4E906}"/>
              </a:ext>
            </a:extLst>
          </p:cNvPr>
          <p:cNvSpPr txBox="1"/>
          <p:nvPr/>
        </p:nvSpPr>
        <p:spPr>
          <a:xfrm>
            <a:off x="7836695" y="5232829"/>
            <a:ext cx="2492990" cy="461665"/>
          </a:xfrm>
          <a:prstGeom prst="rect">
            <a:avLst/>
          </a:prstGeom>
          <a:noFill/>
        </p:spPr>
        <p:txBody>
          <a:bodyPr wrap="none" rtlCol="0" anchor="ctr" anchorCtr="1">
            <a:spAutoFit/>
          </a:bodyPr>
          <a:lstStyle/>
          <a:p>
            <a:pPr defTabSz="914377"/>
            <a:r>
              <a:rPr lang="en-US" sz="2400" dirty="0">
                <a:solidFill>
                  <a:prstClr val="black"/>
                </a:solidFill>
                <a:latin typeface="Arial"/>
                <a:ea typeface="標楷體" pitchFamily="65" charset="-120"/>
                <a:cs typeface="Calibri" panose="020F07020304040A0204" pitchFamily="34" charset="0"/>
              </a:rPr>
              <a:t>Answer: B,C,D,E</a:t>
            </a:r>
          </a:p>
        </p:txBody>
      </p:sp>
    </p:spTree>
    <p:extLst>
      <p:ext uri="{BB962C8B-B14F-4D97-AF65-F5344CB8AC3E}">
        <p14:creationId xmlns:p14="http://schemas.microsoft.com/office/powerpoint/2010/main" val="564410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Quick Review</a:t>
            </a:r>
          </a:p>
        </p:txBody>
      </p:sp>
      <p:sp>
        <p:nvSpPr>
          <p:cNvPr id="3" name="Content Placeholder 2"/>
          <p:cNvSpPr>
            <a:spLocks noGrp="1"/>
          </p:cNvSpPr>
          <p:nvPr>
            <p:ph idx="1"/>
          </p:nvPr>
        </p:nvSpPr>
        <p:spPr>
          <a:xfrm>
            <a:off x="214009" y="1209675"/>
            <a:ext cx="11738808" cy="4909023"/>
          </a:xfrm>
        </p:spPr>
        <p:txBody>
          <a:bodyPr/>
          <a:lstStyle/>
          <a:p>
            <a:pPr marL="0" indent="0">
              <a:buNone/>
            </a:pPr>
            <a:r>
              <a:rPr lang="en-US" sz="2800" dirty="0">
                <a:latin typeface="Times New Roman" panose="02020603050405020304" pitchFamily="18" charset="0"/>
                <a:cs typeface="Times New Roman" panose="02020603050405020304" pitchFamily="18" charset="0"/>
              </a:rPr>
              <a:t>9) Which statements about the FMA instruction are TRUE?</a:t>
            </a:r>
          </a:p>
          <a:p>
            <a:pPr marL="0" indent="0">
              <a:buNone/>
            </a:pPr>
            <a:endParaRPr lang="en-US" sz="2800" dirty="0">
              <a:latin typeface="Times New Roman" panose="02020603050405020304" pitchFamily="18" charset="0"/>
              <a:cs typeface="Times New Roman" panose="02020603050405020304" pitchFamily="18" charset="0"/>
            </a:endParaRPr>
          </a:p>
          <a:p>
            <a:pPr marL="514350" indent="-514350">
              <a:buAutoNum type="alphaLcParenR"/>
            </a:pPr>
            <a:r>
              <a:rPr lang="en-US" sz="2800" dirty="0">
                <a:latin typeface="Times New Roman" panose="02020603050405020304" pitchFamily="18" charset="0"/>
                <a:cs typeface="Times New Roman" panose="02020603050405020304" pitchFamily="18" charset="0"/>
              </a:rPr>
              <a:t>It yields a higher throughput</a:t>
            </a:r>
          </a:p>
          <a:p>
            <a:pPr marL="514350" indent="-514350">
              <a:buAutoNum type="alphaLcParenR"/>
            </a:pPr>
            <a:r>
              <a:rPr lang="en-US" sz="2800" dirty="0">
                <a:latin typeface="Times New Roman" panose="02020603050405020304" pitchFamily="18" charset="0"/>
                <a:cs typeface="Times New Roman" panose="02020603050405020304" pitchFamily="18" charset="0"/>
              </a:rPr>
              <a:t>It yields a lower latency</a:t>
            </a:r>
          </a:p>
          <a:p>
            <a:pPr marL="514350" indent="-514350">
              <a:buAutoNum type="alphaLcParenR"/>
            </a:pPr>
            <a:r>
              <a:rPr lang="en-US" sz="2800" dirty="0">
                <a:latin typeface="Times New Roman" panose="02020603050405020304" pitchFamily="18" charset="0"/>
                <a:cs typeface="Times New Roman" panose="02020603050405020304" pitchFamily="18" charset="0"/>
              </a:rPr>
              <a:t>It increases the computation accuracy</a:t>
            </a:r>
          </a:p>
          <a:p>
            <a:pPr marL="514350" indent="-514350">
              <a:buAutoNum type="alphaLcParenR"/>
            </a:pPr>
            <a:r>
              <a:rPr lang="en-US" sz="2800" dirty="0">
                <a:latin typeface="Times New Roman" panose="02020603050405020304" pitchFamily="18" charset="0"/>
                <a:cs typeface="Times New Roman" panose="02020603050405020304" pitchFamily="18" charset="0"/>
              </a:rPr>
              <a:t>It is the default code generation by the compiler</a:t>
            </a:r>
          </a:p>
          <a:p>
            <a:pPr marL="514350" indent="-514350">
              <a:buAutoNum type="alphaLcParenR"/>
            </a:pPr>
            <a:endParaRPr lang="en-US" sz="2800" dirty="0">
              <a:latin typeface="Times New Roman" panose="02020603050405020304" pitchFamily="18" charset="0"/>
              <a:cs typeface="Times New Roman" panose="02020603050405020304" pitchFamily="18" charset="0"/>
            </a:endParaRPr>
          </a:p>
          <a:p>
            <a:pPr marL="514350" indent="-514350">
              <a:buAutoNum type="alphaLcParenR"/>
            </a:pPr>
            <a:endParaRPr lang="en-US" sz="2800" dirty="0">
              <a:latin typeface="Times New Roman" panose="02020603050405020304" pitchFamily="18" charset="0"/>
              <a:cs typeface="Times New Roman" panose="02020603050405020304" pitchFamily="18" charset="0"/>
            </a:endParaRPr>
          </a:p>
          <a:p>
            <a:pPr marL="514350" indent="-514350">
              <a:buAutoNum type="alphaLcParenR"/>
            </a:pPr>
            <a:endParaRPr lang="en-US" sz="2800" dirty="0">
              <a:latin typeface="Times New Roman" panose="02020603050405020304" pitchFamily="18" charset="0"/>
              <a:cs typeface="Times New Roman" panose="02020603050405020304" pitchFamily="18" charset="0"/>
            </a:endParaRPr>
          </a:p>
          <a:p>
            <a:pPr marL="0" indent="0">
              <a:buNone/>
            </a:pPr>
            <a:endParaRPr lang="en-US" sz="2800" dirty="0">
              <a:latin typeface="Times New Roman" panose="02020603050405020304" pitchFamily="18" charset="0"/>
              <a:cs typeface="Times New Roman" panose="02020603050405020304" pitchFamily="18" charset="0"/>
            </a:endParaRPr>
          </a:p>
          <a:p>
            <a:pPr marL="971502" lvl="1" indent="-514338">
              <a:buAutoNum type="alphaLcParenR"/>
            </a:pPr>
            <a:endParaRPr lang="en-US" sz="2800" dirty="0">
              <a:latin typeface="Times New Roman" panose="02020603050405020304" pitchFamily="18" charset="0"/>
              <a:cs typeface="Times New Roman" panose="02020603050405020304" pitchFamily="18" charset="0"/>
            </a:endParaRPr>
          </a:p>
        </p:txBody>
      </p:sp>
      <p:sp>
        <p:nvSpPr>
          <p:cNvPr id="7" name="Date Placeholder 6"/>
          <p:cNvSpPr>
            <a:spLocks noGrp="1"/>
          </p:cNvSpPr>
          <p:nvPr>
            <p:ph type="dt" sz="half" idx="10"/>
          </p:nvPr>
        </p:nvSpPr>
        <p:spPr/>
        <p:txBody>
          <a:bodyPr/>
          <a:lstStyle/>
          <a:p>
            <a:pPr defTabSz="914377">
              <a:defRPr/>
            </a:pPr>
            <a:r>
              <a:rPr lang="en-US" dirty="0">
                <a:solidFill>
                  <a:prstClr val="white"/>
                </a:solidFill>
              </a:rPr>
              <a:t>Feb  17, 2025</a:t>
            </a:r>
          </a:p>
        </p:txBody>
      </p:sp>
      <p:sp>
        <p:nvSpPr>
          <p:cNvPr id="8" name="Footer Placeholder 7"/>
          <p:cNvSpPr>
            <a:spLocks noGrp="1"/>
          </p:cNvSpPr>
          <p:nvPr>
            <p:ph type="ftr" sz="quarter" idx="12"/>
          </p:nvPr>
        </p:nvSpPr>
        <p:spPr bwMode="auto">
          <a:xfrm>
            <a:off x="4093931"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70" algn="l" rtl="0" fontAlgn="base">
              <a:spcBef>
                <a:spcPct val="0"/>
              </a:spcBef>
              <a:spcAft>
                <a:spcPct val="0"/>
              </a:spcAft>
              <a:defRPr sz="2667" kern="1200">
                <a:solidFill>
                  <a:schemeClr val="tx1"/>
                </a:solidFill>
                <a:latin typeface="Verdana" pitchFamily="34" charset="0"/>
                <a:ea typeface="+mn-ea"/>
                <a:cs typeface="+mn-cs"/>
              </a:defRPr>
            </a:lvl2pPr>
            <a:lvl3pPr marL="1219140" algn="l" rtl="0" fontAlgn="base">
              <a:spcBef>
                <a:spcPct val="0"/>
              </a:spcBef>
              <a:spcAft>
                <a:spcPct val="0"/>
              </a:spcAft>
              <a:defRPr sz="2667" kern="1200">
                <a:solidFill>
                  <a:schemeClr val="tx1"/>
                </a:solidFill>
                <a:latin typeface="Verdana" pitchFamily="34" charset="0"/>
                <a:ea typeface="+mn-ea"/>
                <a:cs typeface="+mn-cs"/>
              </a:defRPr>
            </a:lvl3pPr>
            <a:lvl4pPr marL="1828709" algn="l" rtl="0" fontAlgn="base">
              <a:spcBef>
                <a:spcPct val="0"/>
              </a:spcBef>
              <a:spcAft>
                <a:spcPct val="0"/>
              </a:spcAft>
              <a:defRPr sz="2667" kern="1200">
                <a:solidFill>
                  <a:schemeClr val="tx1"/>
                </a:solidFill>
                <a:latin typeface="Verdana" pitchFamily="34" charset="0"/>
                <a:ea typeface="+mn-ea"/>
                <a:cs typeface="+mn-cs"/>
              </a:defRPr>
            </a:lvl4pPr>
            <a:lvl5pPr marL="2438278" algn="l" rtl="0" fontAlgn="base">
              <a:spcBef>
                <a:spcPct val="0"/>
              </a:spcBef>
              <a:spcAft>
                <a:spcPct val="0"/>
              </a:spcAft>
              <a:defRPr sz="2667" kern="1200">
                <a:solidFill>
                  <a:schemeClr val="tx1"/>
                </a:solidFill>
                <a:latin typeface="Verdana" pitchFamily="34" charset="0"/>
                <a:ea typeface="+mn-ea"/>
                <a:cs typeface="+mn-cs"/>
              </a:defRPr>
            </a:lvl5pPr>
            <a:lvl6pPr marL="3047848" algn="l" defTabSz="1219140" rtl="0" eaLnBrk="1" latinLnBrk="0" hangingPunct="1">
              <a:defRPr sz="2667" kern="1200">
                <a:solidFill>
                  <a:schemeClr val="tx1"/>
                </a:solidFill>
                <a:latin typeface="Verdana" pitchFamily="34" charset="0"/>
                <a:ea typeface="+mn-ea"/>
                <a:cs typeface="+mn-cs"/>
              </a:defRPr>
            </a:lvl6pPr>
            <a:lvl7pPr marL="3657418" algn="l" defTabSz="1219140" rtl="0" eaLnBrk="1" latinLnBrk="0" hangingPunct="1">
              <a:defRPr sz="2667" kern="1200">
                <a:solidFill>
                  <a:schemeClr val="tx1"/>
                </a:solidFill>
                <a:latin typeface="Verdana" pitchFamily="34" charset="0"/>
                <a:ea typeface="+mn-ea"/>
                <a:cs typeface="+mn-cs"/>
              </a:defRPr>
            </a:lvl7pPr>
            <a:lvl8pPr marL="4266987" algn="l" defTabSz="1219140" rtl="0" eaLnBrk="1" latinLnBrk="0" hangingPunct="1">
              <a:defRPr sz="2667" kern="1200">
                <a:solidFill>
                  <a:schemeClr val="tx1"/>
                </a:solidFill>
                <a:latin typeface="Verdana" pitchFamily="34" charset="0"/>
                <a:ea typeface="+mn-ea"/>
                <a:cs typeface="+mn-cs"/>
              </a:defRPr>
            </a:lvl8pPr>
            <a:lvl9pPr marL="4876557" algn="l" defTabSz="1219140" rtl="0" eaLnBrk="1" latinLnBrk="0" hangingPunct="1">
              <a:defRPr sz="2667" kern="1200">
                <a:solidFill>
                  <a:schemeClr val="tx1"/>
                </a:solidFill>
                <a:latin typeface="Verdana" pitchFamily="34" charset="0"/>
                <a:ea typeface="+mn-ea"/>
                <a:cs typeface="+mn-cs"/>
              </a:defRPr>
            </a:lvl9pPr>
          </a:lstStyle>
          <a:p>
            <a:pPr defTabSz="914377">
              <a:defRPr/>
            </a:pPr>
            <a:r>
              <a:rPr lang="en-US">
                <a:solidFill>
                  <a:prstClr val="black"/>
                </a:solidFill>
                <a:latin typeface="Arial"/>
                <a:ea typeface="新細明體"/>
              </a:rPr>
              <a:t>http://csg.csail.mit.edu/6.175</a:t>
            </a:r>
            <a:endParaRPr lang="en-US" dirty="0">
              <a:solidFill>
                <a:prstClr val="black"/>
              </a:solidFill>
              <a:latin typeface="Arial"/>
              <a:ea typeface="新細明體"/>
            </a:endParaRPr>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70" algn="l" rtl="0" fontAlgn="base">
              <a:spcBef>
                <a:spcPct val="0"/>
              </a:spcBef>
              <a:spcAft>
                <a:spcPct val="0"/>
              </a:spcAft>
              <a:defRPr sz="2667" kern="1200">
                <a:solidFill>
                  <a:schemeClr val="tx1"/>
                </a:solidFill>
                <a:latin typeface="Verdana" pitchFamily="34" charset="0"/>
                <a:ea typeface="+mn-ea"/>
                <a:cs typeface="+mn-cs"/>
              </a:defRPr>
            </a:lvl2pPr>
            <a:lvl3pPr marL="1219140" algn="l" rtl="0" fontAlgn="base">
              <a:spcBef>
                <a:spcPct val="0"/>
              </a:spcBef>
              <a:spcAft>
                <a:spcPct val="0"/>
              </a:spcAft>
              <a:defRPr sz="2667" kern="1200">
                <a:solidFill>
                  <a:schemeClr val="tx1"/>
                </a:solidFill>
                <a:latin typeface="Verdana" pitchFamily="34" charset="0"/>
                <a:ea typeface="+mn-ea"/>
                <a:cs typeface="+mn-cs"/>
              </a:defRPr>
            </a:lvl3pPr>
            <a:lvl4pPr marL="1828709" algn="l" rtl="0" fontAlgn="base">
              <a:spcBef>
                <a:spcPct val="0"/>
              </a:spcBef>
              <a:spcAft>
                <a:spcPct val="0"/>
              </a:spcAft>
              <a:defRPr sz="2667" kern="1200">
                <a:solidFill>
                  <a:schemeClr val="tx1"/>
                </a:solidFill>
                <a:latin typeface="Verdana" pitchFamily="34" charset="0"/>
                <a:ea typeface="+mn-ea"/>
                <a:cs typeface="+mn-cs"/>
              </a:defRPr>
            </a:lvl4pPr>
            <a:lvl5pPr marL="2438278" algn="l" rtl="0" fontAlgn="base">
              <a:spcBef>
                <a:spcPct val="0"/>
              </a:spcBef>
              <a:spcAft>
                <a:spcPct val="0"/>
              </a:spcAft>
              <a:defRPr sz="2667" kern="1200">
                <a:solidFill>
                  <a:schemeClr val="tx1"/>
                </a:solidFill>
                <a:latin typeface="Verdana" pitchFamily="34" charset="0"/>
                <a:ea typeface="+mn-ea"/>
                <a:cs typeface="+mn-cs"/>
              </a:defRPr>
            </a:lvl5pPr>
            <a:lvl6pPr marL="3047848" algn="l" defTabSz="1219140" rtl="0" eaLnBrk="1" latinLnBrk="0" hangingPunct="1">
              <a:defRPr sz="2667" kern="1200">
                <a:solidFill>
                  <a:schemeClr val="tx1"/>
                </a:solidFill>
                <a:latin typeface="Verdana" pitchFamily="34" charset="0"/>
                <a:ea typeface="+mn-ea"/>
                <a:cs typeface="+mn-cs"/>
              </a:defRPr>
            </a:lvl6pPr>
            <a:lvl7pPr marL="3657418" algn="l" defTabSz="1219140" rtl="0" eaLnBrk="1" latinLnBrk="0" hangingPunct="1">
              <a:defRPr sz="2667" kern="1200">
                <a:solidFill>
                  <a:schemeClr val="tx1"/>
                </a:solidFill>
                <a:latin typeface="Verdana" pitchFamily="34" charset="0"/>
                <a:ea typeface="+mn-ea"/>
                <a:cs typeface="+mn-cs"/>
              </a:defRPr>
            </a:lvl7pPr>
            <a:lvl8pPr marL="4266987" algn="l" defTabSz="1219140" rtl="0" eaLnBrk="1" latinLnBrk="0" hangingPunct="1">
              <a:defRPr sz="2667" kern="1200">
                <a:solidFill>
                  <a:schemeClr val="tx1"/>
                </a:solidFill>
                <a:latin typeface="Verdana" pitchFamily="34" charset="0"/>
                <a:ea typeface="+mn-ea"/>
                <a:cs typeface="+mn-cs"/>
              </a:defRPr>
            </a:lvl8pPr>
            <a:lvl9pPr marL="4876557" algn="l" defTabSz="1219140" rtl="0" eaLnBrk="1" latinLnBrk="0" hangingPunct="1">
              <a:defRPr sz="2667" kern="1200">
                <a:solidFill>
                  <a:schemeClr val="tx1"/>
                </a:solidFill>
                <a:latin typeface="Verdana" pitchFamily="34" charset="0"/>
                <a:ea typeface="+mn-ea"/>
                <a:cs typeface="+mn-cs"/>
              </a:defRPr>
            </a:lvl9pPr>
          </a:lstStyle>
          <a:p>
            <a:pPr defTabSz="914377">
              <a:defRPr/>
            </a:pPr>
            <a:r>
              <a:rPr lang="en-US">
                <a:solidFill>
                  <a:prstClr val="black"/>
                </a:solidFill>
                <a:latin typeface="Arial"/>
                <a:ea typeface="新細明體"/>
              </a:rPr>
              <a:t>L09-</a:t>
            </a:r>
            <a:fld id="{D02EE386-C9BD-4FB7-9577-6096B5320EC4}" type="slidenum">
              <a:rPr lang="en-US">
                <a:solidFill>
                  <a:prstClr val="black"/>
                </a:solidFill>
                <a:latin typeface="Arial"/>
                <a:ea typeface="新細明體"/>
              </a:rPr>
              <a:pPr defTabSz="914377">
                <a:defRPr/>
              </a:pPr>
              <a:t>45</a:t>
            </a:fld>
            <a:endParaRPr lang="en-US" dirty="0">
              <a:solidFill>
                <a:prstClr val="black"/>
              </a:solidFill>
              <a:latin typeface="Arial"/>
              <a:ea typeface="新細明體"/>
            </a:endParaRPr>
          </a:p>
        </p:txBody>
      </p:sp>
      <p:sp>
        <p:nvSpPr>
          <p:cNvPr id="10" name="TextBox 9">
            <a:extLst>
              <a:ext uri="{FF2B5EF4-FFF2-40B4-BE49-F238E27FC236}">
                <a16:creationId xmlns:a16="http://schemas.microsoft.com/office/drawing/2014/main" id="{595C2B26-B7CF-4E20-BAE1-91C24BA4E906}"/>
              </a:ext>
            </a:extLst>
          </p:cNvPr>
          <p:cNvSpPr txBox="1"/>
          <p:nvPr/>
        </p:nvSpPr>
        <p:spPr>
          <a:xfrm>
            <a:off x="7836695" y="5232829"/>
            <a:ext cx="2253181" cy="461665"/>
          </a:xfrm>
          <a:prstGeom prst="rect">
            <a:avLst/>
          </a:prstGeom>
          <a:noFill/>
        </p:spPr>
        <p:txBody>
          <a:bodyPr wrap="none" rtlCol="0" anchor="ctr" anchorCtr="1">
            <a:spAutoFit/>
          </a:bodyPr>
          <a:lstStyle/>
          <a:p>
            <a:pPr defTabSz="914377"/>
            <a:r>
              <a:rPr lang="en-US" sz="2400" dirty="0">
                <a:solidFill>
                  <a:prstClr val="black"/>
                </a:solidFill>
                <a:latin typeface="Arial"/>
                <a:ea typeface="標楷體" pitchFamily="65" charset="-120"/>
                <a:cs typeface="Calibri" panose="020F07020304040A0204" pitchFamily="34" charset="0"/>
              </a:rPr>
              <a:t>Answer: A,B</a:t>
            </a:r>
            <a:r>
              <a:rPr lang="en-US" sz="2400">
                <a:solidFill>
                  <a:prstClr val="black"/>
                </a:solidFill>
                <a:latin typeface="Arial"/>
                <a:ea typeface="標楷體" pitchFamily="65" charset="-120"/>
                <a:cs typeface="Calibri" panose="020F07020304040A0204" pitchFamily="34" charset="0"/>
              </a:rPr>
              <a:t>,C</a:t>
            </a:r>
            <a:endParaRPr lang="en-US" sz="2400" dirty="0">
              <a:solidFill>
                <a:prstClr val="black"/>
              </a:solidFill>
              <a:latin typeface="Arial"/>
              <a:ea typeface="標楷體" pitchFamily="65" charset="-120"/>
              <a:cs typeface="Calibri" panose="020F07020304040A0204" pitchFamily="34" charset="0"/>
            </a:endParaRPr>
          </a:p>
        </p:txBody>
      </p:sp>
    </p:spTree>
    <p:extLst>
      <p:ext uri="{BB962C8B-B14F-4D97-AF65-F5344CB8AC3E}">
        <p14:creationId xmlns:p14="http://schemas.microsoft.com/office/powerpoint/2010/main" val="2176097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Quick Review</a:t>
            </a:r>
          </a:p>
        </p:txBody>
      </p:sp>
      <p:sp>
        <p:nvSpPr>
          <p:cNvPr id="3" name="Content Placeholder 2"/>
          <p:cNvSpPr>
            <a:spLocks noGrp="1"/>
          </p:cNvSpPr>
          <p:nvPr>
            <p:ph idx="1"/>
          </p:nvPr>
        </p:nvSpPr>
        <p:spPr>
          <a:xfrm>
            <a:off x="214009" y="1209675"/>
            <a:ext cx="11738808" cy="4909023"/>
          </a:xfrm>
        </p:spPr>
        <p:txBody>
          <a:bodyPr/>
          <a:lstStyle/>
          <a:p>
            <a:pPr marL="0" indent="0">
              <a:buNone/>
            </a:pPr>
            <a:r>
              <a:rPr lang="en-US" sz="2800" dirty="0">
                <a:latin typeface="Times New Roman" panose="02020603050405020304" pitchFamily="18" charset="0"/>
                <a:cs typeface="Times New Roman" panose="02020603050405020304" pitchFamily="18" charset="0"/>
              </a:rPr>
              <a:t>10) Which of the following standards for data representations have been widely adopted?</a:t>
            </a:r>
          </a:p>
          <a:p>
            <a:pPr marL="0" indent="0">
              <a:buNone/>
            </a:pPr>
            <a:endParaRPr lang="en-US" sz="2800" dirty="0">
              <a:latin typeface="Times New Roman" panose="02020603050405020304" pitchFamily="18" charset="0"/>
              <a:cs typeface="Times New Roman" panose="02020603050405020304" pitchFamily="18" charset="0"/>
            </a:endParaRPr>
          </a:p>
          <a:p>
            <a:pPr marL="514350" indent="-514350">
              <a:buAutoNum type="alphaLcParenR"/>
            </a:pPr>
            <a:r>
              <a:rPr lang="en-US" sz="2800" dirty="0">
                <a:latin typeface="Times New Roman" panose="02020603050405020304" pitchFamily="18" charset="0"/>
                <a:cs typeface="Times New Roman" panose="02020603050405020304" pitchFamily="18" charset="0"/>
              </a:rPr>
              <a:t>Two’s complement integers</a:t>
            </a:r>
          </a:p>
          <a:p>
            <a:pPr marL="514350" indent="-514350">
              <a:buAutoNum type="alphaLcParenR"/>
            </a:pPr>
            <a:r>
              <a:rPr lang="en-US" sz="2800" dirty="0">
                <a:latin typeface="Times New Roman" panose="02020603050405020304" pitchFamily="18" charset="0"/>
                <a:cs typeface="Times New Roman" panose="02020603050405020304" pitchFamily="18" charset="0"/>
              </a:rPr>
              <a:t>One’s complement integers</a:t>
            </a:r>
          </a:p>
          <a:p>
            <a:pPr marL="514350" indent="-514350">
              <a:buAutoNum type="alphaLcParenR"/>
            </a:pPr>
            <a:r>
              <a:rPr lang="en-US" sz="2800" dirty="0">
                <a:latin typeface="Times New Roman" panose="02020603050405020304" pitchFamily="18" charset="0"/>
                <a:cs typeface="Times New Roman" panose="02020603050405020304" pitchFamily="18" charset="0"/>
              </a:rPr>
              <a:t>ASCII/Unicode for text and characters</a:t>
            </a:r>
          </a:p>
          <a:p>
            <a:pPr marL="514350" indent="-514350">
              <a:buAutoNum type="alphaLcParenR"/>
            </a:pPr>
            <a:r>
              <a:rPr lang="en-US" sz="2800" dirty="0">
                <a:latin typeface="Times New Roman" panose="02020603050405020304" pitchFamily="18" charset="0"/>
                <a:cs typeface="Times New Roman" panose="02020603050405020304" pitchFamily="18" charset="0"/>
              </a:rPr>
              <a:t>IEEE 754 for floating-point data</a:t>
            </a:r>
          </a:p>
          <a:p>
            <a:pPr marL="514350" indent="-514350">
              <a:buAutoNum type="alphaLcParenR"/>
            </a:pPr>
            <a:r>
              <a:rPr lang="en-US" sz="2800" dirty="0">
                <a:latin typeface="Times New Roman" panose="02020603050405020304" pitchFamily="18" charset="0"/>
                <a:cs typeface="Times New Roman" panose="02020603050405020304" pitchFamily="18" charset="0"/>
              </a:rPr>
              <a:t>ELF for Unix executable and object files</a:t>
            </a:r>
          </a:p>
          <a:p>
            <a:pPr marL="514350" indent="-514350">
              <a:buAutoNum type="alphaLcParenR"/>
            </a:pPr>
            <a:endParaRPr lang="en-US" sz="2800" dirty="0">
              <a:latin typeface="Times New Roman" panose="02020603050405020304" pitchFamily="18" charset="0"/>
              <a:cs typeface="Times New Roman" panose="02020603050405020304" pitchFamily="18" charset="0"/>
            </a:endParaRPr>
          </a:p>
          <a:p>
            <a:pPr marL="514350" indent="-514350">
              <a:buAutoNum type="alphaLcParenR"/>
            </a:pPr>
            <a:endParaRPr lang="en-US" sz="2800" dirty="0">
              <a:latin typeface="Times New Roman" panose="02020603050405020304" pitchFamily="18" charset="0"/>
              <a:cs typeface="Times New Roman" panose="02020603050405020304" pitchFamily="18" charset="0"/>
            </a:endParaRPr>
          </a:p>
          <a:p>
            <a:pPr marL="514350" indent="-514350">
              <a:buAutoNum type="alphaLcParenR"/>
            </a:pPr>
            <a:endParaRPr lang="en-US" sz="2800" dirty="0">
              <a:latin typeface="Times New Roman" panose="02020603050405020304" pitchFamily="18" charset="0"/>
              <a:cs typeface="Times New Roman" panose="02020603050405020304" pitchFamily="18" charset="0"/>
            </a:endParaRPr>
          </a:p>
          <a:p>
            <a:pPr marL="0" indent="0">
              <a:buNone/>
            </a:pPr>
            <a:endParaRPr lang="en-US" sz="2800" dirty="0">
              <a:latin typeface="Times New Roman" panose="02020603050405020304" pitchFamily="18" charset="0"/>
              <a:cs typeface="Times New Roman" panose="02020603050405020304" pitchFamily="18" charset="0"/>
            </a:endParaRPr>
          </a:p>
          <a:p>
            <a:pPr marL="971502" lvl="1" indent="-514338">
              <a:buAutoNum type="alphaLcParenR"/>
            </a:pPr>
            <a:endParaRPr lang="en-US" sz="2800" dirty="0">
              <a:latin typeface="Times New Roman" panose="02020603050405020304" pitchFamily="18" charset="0"/>
              <a:cs typeface="Times New Roman" panose="02020603050405020304" pitchFamily="18" charset="0"/>
            </a:endParaRPr>
          </a:p>
        </p:txBody>
      </p:sp>
      <p:sp>
        <p:nvSpPr>
          <p:cNvPr id="7" name="Date Placeholder 6"/>
          <p:cNvSpPr>
            <a:spLocks noGrp="1"/>
          </p:cNvSpPr>
          <p:nvPr>
            <p:ph type="dt" sz="half" idx="10"/>
          </p:nvPr>
        </p:nvSpPr>
        <p:spPr/>
        <p:txBody>
          <a:bodyPr/>
          <a:lstStyle/>
          <a:p>
            <a:pPr defTabSz="914377">
              <a:defRPr/>
            </a:pPr>
            <a:r>
              <a:rPr lang="en-US" dirty="0">
                <a:solidFill>
                  <a:prstClr val="white"/>
                </a:solidFill>
              </a:rPr>
              <a:t>Feb  17, 2025</a:t>
            </a:r>
          </a:p>
        </p:txBody>
      </p:sp>
      <p:sp>
        <p:nvSpPr>
          <p:cNvPr id="8" name="Footer Placeholder 7"/>
          <p:cNvSpPr>
            <a:spLocks noGrp="1"/>
          </p:cNvSpPr>
          <p:nvPr>
            <p:ph type="ftr" sz="quarter" idx="12"/>
          </p:nvPr>
        </p:nvSpPr>
        <p:spPr bwMode="auto">
          <a:xfrm>
            <a:off x="4093931" y="8534400"/>
            <a:ext cx="402462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ct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70" algn="l" rtl="0" fontAlgn="base">
              <a:spcBef>
                <a:spcPct val="0"/>
              </a:spcBef>
              <a:spcAft>
                <a:spcPct val="0"/>
              </a:spcAft>
              <a:defRPr sz="2667" kern="1200">
                <a:solidFill>
                  <a:schemeClr val="tx1"/>
                </a:solidFill>
                <a:latin typeface="Verdana" pitchFamily="34" charset="0"/>
                <a:ea typeface="+mn-ea"/>
                <a:cs typeface="+mn-cs"/>
              </a:defRPr>
            </a:lvl2pPr>
            <a:lvl3pPr marL="1219140" algn="l" rtl="0" fontAlgn="base">
              <a:spcBef>
                <a:spcPct val="0"/>
              </a:spcBef>
              <a:spcAft>
                <a:spcPct val="0"/>
              </a:spcAft>
              <a:defRPr sz="2667" kern="1200">
                <a:solidFill>
                  <a:schemeClr val="tx1"/>
                </a:solidFill>
                <a:latin typeface="Verdana" pitchFamily="34" charset="0"/>
                <a:ea typeface="+mn-ea"/>
                <a:cs typeface="+mn-cs"/>
              </a:defRPr>
            </a:lvl3pPr>
            <a:lvl4pPr marL="1828709" algn="l" rtl="0" fontAlgn="base">
              <a:spcBef>
                <a:spcPct val="0"/>
              </a:spcBef>
              <a:spcAft>
                <a:spcPct val="0"/>
              </a:spcAft>
              <a:defRPr sz="2667" kern="1200">
                <a:solidFill>
                  <a:schemeClr val="tx1"/>
                </a:solidFill>
                <a:latin typeface="Verdana" pitchFamily="34" charset="0"/>
                <a:ea typeface="+mn-ea"/>
                <a:cs typeface="+mn-cs"/>
              </a:defRPr>
            </a:lvl4pPr>
            <a:lvl5pPr marL="2438278" algn="l" rtl="0" fontAlgn="base">
              <a:spcBef>
                <a:spcPct val="0"/>
              </a:spcBef>
              <a:spcAft>
                <a:spcPct val="0"/>
              </a:spcAft>
              <a:defRPr sz="2667" kern="1200">
                <a:solidFill>
                  <a:schemeClr val="tx1"/>
                </a:solidFill>
                <a:latin typeface="Verdana" pitchFamily="34" charset="0"/>
                <a:ea typeface="+mn-ea"/>
                <a:cs typeface="+mn-cs"/>
              </a:defRPr>
            </a:lvl5pPr>
            <a:lvl6pPr marL="3047848" algn="l" defTabSz="1219140" rtl="0" eaLnBrk="1" latinLnBrk="0" hangingPunct="1">
              <a:defRPr sz="2667" kern="1200">
                <a:solidFill>
                  <a:schemeClr val="tx1"/>
                </a:solidFill>
                <a:latin typeface="Verdana" pitchFamily="34" charset="0"/>
                <a:ea typeface="+mn-ea"/>
                <a:cs typeface="+mn-cs"/>
              </a:defRPr>
            </a:lvl6pPr>
            <a:lvl7pPr marL="3657418" algn="l" defTabSz="1219140" rtl="0" eaLnBrk="1" latinLnBrk="0" hangingPunct="1">
              <a:defRPr sz="2667" kern="1200">
                <a:solidFill>
                  <a:schemeClr val="tx1"/>
                </a:solidFill>
                <a:latin typeface="Verdana" pitchFamily="34" charset="0"/>
                <a:ea typeface="+mn-ea"/>
                <a:cs typeface="+mn-cs"/>
              </a:defRPr>
            </a:lvl7pPr>
            <a:lvl8pPr marL="4266987" algn="l" defTabSz="1219140" rtl="0" eaLnBrk="1" latinLnBrk="0" hangingPunct="1">
              <a:defRPr sz="2667" kern="1200">
                <a:solidFill>
                  <a:schemeClr val="tx1"/>
                </a:solidFill>
                <a:latin typeface="Verdana" pitchFamily="34" charset="0"/>
                <a:ea typeface="+mn-ea"/>
                <a:cs typeface="+mn-cs"/>
              </a:defRPr>
            </a:lvl8pPr>
            <a:lvl9pPr marL="4876557" algn="l" defTabSz="1219140" rtl="0" eaLnBrk="1" latinLnBrk="0" hangingPunct="1">
              <a:defRPr sz="2667" kern="1200">
                <a:solidFill>
                  <a:schemeClr val="tx1"/>
                </a:solidFill>
                <a:latin typeface="Verdana" pitchFamily="34" charset="0"/>
                <a:ea typeface="+mn-ea"/>
                <a:cs typeface="+mn-cs"/>
              </a:defRPr>
            </a:lvl9pPr>
          </a:lstStyle>
          <a:p>
            <a:pPr defTabSz="914377">
              <a:defRPr/>
            </a:pPr>
            <a:r>
              <a:rPr lang="en-US">
                <a:solidFill>
                  <a:prstClr val="black"/>
                </a:solidFill>
                <a:latin typeface="Arial"/>
                <a:ea typeface="新細明體"/>
              </a:rPr>
              <a:t>http://csg.csail.mit.edu/6.175</a:t>
            </a:r>
            <a:endParaRPr lang="en-US" dirty="0">
              <a:solidFill>
                <a:prstClr val="black"/>
              </a:solidFill>
              <a:latin typeface="Arial"/>
              <a:ea typeface="新細明體"/>
            </a:endParaRPr>
          </a:p>
        </p:txBody>
      </p:sp>
      <p:sp>
        <p:nvSpPr>
          <p:cNvPr id="9" name="Slide Number Placeholder 8"/>
          <p:cNvSpPr>
            <a:spLocks noGrp="1"/>
          </p:cNvSpPr>
          <p:nvPr>
            <p:ph type="sldNum" sz="quarter" idx="11"/>
          </p:nvPr>
        </p:nvSpPr>
        <p:spPr bwMode="auto">
          <a:xfrm>
            <a:off x="9652000" y="8534400"/>
            <a:ext cx="2540000" cy="609600"/>
          </a:xfrm>
          <a:prstGeom prst="rect">
            <a:avLst/>
          </a:prstGeom>
          <a:noFill/>
          <a:ln w="9525">
            <a:noFill/>
            <a:miter lim="800000"/>
            <a:headEnd/>
            <a:tailEnd/>
          </a:ln>
          <a:effectLst/>
        </p:spPr>
        <p:txBody>
          <a:bodyPr vert="horz" wrap="square" lIns="121920" tIns="60960" rIns="121920" bIns="60960" numCol="1" anchor="b" anchorCtr="0" compatLnSpc="1">
            <a:prstTxWarp prst="textNoShape">
              <a:avLst/>
            </a:prstTxWarp>
          </a:bodyPr>
          <a:lstStyle>
            <a:defPPr>
              <a:defRPr lang="en-US"/>
            </a:defPPr>
            <a:lvl1pPr algn="r" rtl="0" fontAlgn="base">
              <a:lnSpc>
                <a:spcPct val="100000"/>
              </a:lnSpc>
              <a:spcBef>
                <a:spcPct val="0"/>
              </a:spcBef>
              <a:spcAft>
                <a:spcPct val="0"/>
              </a:spcAft>
              <a:buClrTx/>
              <a:buSzTx/>
              <a:buFontTx/>
              <a:buNone/>
              <a:defRPr sz="1600" kern="1200">
                <a:solidFill>
                  <a:schemeClr val="tx1"/>
                </a:solidFill>
                <a:latin typeface="+mn-lt"/>
                <a:ea typeface="+mn-ea"/>
                <a:cs typeface="+mn-cs"/>
              </a:defRPr>
            </a:lvl1pPr>
            <a:lvl2pPr marL="609570" algn="l" rtl="0" fontAlgn="base">
              <a:spcBef>
                <a:spcPct val="0"/>
              </a:spcBef>
              <a:spcAft>
                <a:spcPct val="0"/>
              </a:spcAft>
              <a:defRPr sz="2667" kern="1200">
                <a:solidFill>
                  <a:schemeClr val="tx1"/>
                </a:solidFill>
                <a:latin typeface="Verdana" pitchFamily="34" charset="0"/>
                <a:ea typeface="+mn-ea"/>
                <a:cs typeface="+mn-cs"/>
              </a:defRPr>
            </a:lvl2pPr>
            <a:lvl3pPr marL="1219140" algn="l" rtl="0" fontAlgn="base">
              <a:spcBef>
                <a:spcPct val="0"/>
              </a:spcBef>
              <a:spcAft>
                <a:spcPct val="0"/>
              </a:spcAft>
              <a:defRPr sz="2667" kern="1200">
                <a:solidFill>
                  <a:schemeClr val="tx1"/>
                </a:solidFill>
                <a:latin typeface="Verdana" pitchFamily="34" charset="0"/>
                <a:ea typeface="+mn-ea"/>
                <a:cs typeface="+mn-cs"/>
              </a:defRPr>
            </a:lvl3pPr>
            <a:lvl4pPr marL="1828709" algn="l" rtl="0" fontAlgn="base">
              <a:spcBef>
                <a:spcPct val="0"/>
              </a:spcBef>
              <a:spcAft>
                <a:spcPct val="0"/>
              </a:spcAft>
              <a:defRPr sz="2667" kern="1200">
                <a:solidFill>
                  <a:schemeClr val="tx1"/>
                </a:solidFill>
                <a:latin typeface="Verdana" pitchFamily="34" charset="0"/>
                <a:ea typeface="+mn-ea"/>
                <a:cs typeface="+mn-cs"/>
              </a:defRPr>
            </a:lvl4pPr>
            <a:lvl5pPr marL="2438278" algn="l" rtl="0" fontAlgn="base">
              <a:spcBef>
                <a:spcPct val="0"/>
              </a:spcBef>
              <a:spcAft>
                <a:spcPct val="0"/>
              </a:spcAft>
              <a:defRPr sz="2667" kern="1200">
                <a:solidFill>
                  <a:schemeClr val="tx1"/>
                </a:solidFill>
                <a:latin typeface="Verdana" pitchFamily="34" charset="0"/>
                <a:ea typeface="+mn-ea"/>
                <a:cs typeface="+mn-cs"/>
              </a:defRPr>
            </a:lvl5pPr>
            <a:lvl6pPr marL="3047848" algn="l" defTabSz="1219140" rtl="0" eaLnBrk="1" latinLnBrk="0" hangingPunct="1">
              <a:defRPr sz="2667" kern="1200">
                <a:solidFill>
                  <a:schemeClr val="tx1"/>
                </a:solidFill>
                <a:latin typeface="Verdana" pitchFamily="34" charset="0"/>
                <a:ea typeface="+mn-ea"/>
                <a:cs typeface="+mn-cs"/>
              </a:defRPr>
            </a:lvl6pPr>
            <a:lvl7pPr marL="3657418" algn="l" defTabSz="1219140" rtl="0" eaLnBrk="1" latinLnBrk="0" hangingPunct="1">
              <a:defRPr sz="2667" kern="1200">
                <a:solidFill>
                  <a:schemeClr val="tx1"/>
                </a:solidFill>
                <a:latin typeface="Verdana" pitchFamily="34" charset="0"/>
                <a:ea typeface="+mn-ea"/>
                <a:cs typeface="+mn-cs"/>
              </a:defRPr>
            </a:lvl7pPr>
            <a:lvl8pPr marL="4266987" algn="l" defTabSz="1219140" rtl="0" eaLnBrk="1" latinLnBrk="0" hangingPunct="1">
              <a:defRPr sz="2667" kern="1200">
                <a:solidFill>
                  <a:schemeClr val="tx1"/>
                </a:solidFill>
                <a:latin typeface="Verdana" pitchFamily="34" charset="0"/>
                <a:ea typeface="+mn-ea"/>
                <a:cs typeface="+mn-cs"/>
              </a:defRPr>
            </a:lvl8pPr>
            <a:lvl9pPr marL="4876557" algn="l" defTabSz="1219140" rtl="0" eaLnBrk="1" latinLnBrk="0" hangingPunct="1">
              <a:defRPr sz="2667" kern="1200">
                <a:solidFill>
                  <a:schemeClr val="tx1"/>
                </a:solidFill>
                <a:latin typeface="Verdana" pitchFamily="34" charset="0"/>
                <a:ea typeface="+mn-ea"/>
                <a:cs typeface="+mn-cs"/>
              </a:defRPr>
            </a:lvl9pPr>
          </a:lstStyle>
          <a:p>
            <a:pPr defTabSz="914377">
              <a:defRPr/>
            </a:pPr>
            <a:r>
              <a:rPr lang="en-US">
                <a:solidFill>
                  <a:prstClr val="black"/>
                </a:solidFill>
                <a:latin typeface="Arial"/>
                <a:ea typeface="新細明體"/>
              </a:rPr>
              <a:t>L09-</a:t>
            </a:r>
            <a:fld id="{D02EE386-C9BD-4FB7-9577-6096B5320EC4}" type="slidenum">
              <a:rPr lang="en-US">
                <a:solidFill>
                  <a:prstClr val="black"/>
                </a:solidFill>
                <a:latin typeface="Arial"/>
                <a:ea typeface="新細明體"/>
              </a:rPr>
              <a:pPr defTabSz="914377">
                <a:defRPr/>
              </a:pPr>
              <a:t>46</a:t>
            </a:fld>
            <a:endParaRPr lang="en-US" dirty="0">
              <a:solidFill>
                <a:prstClr val="black"/>
              </a:solidFill>
              <a:latin typeface="Arial"/>
              <a:ea typeface="新細明體"/>
            </a:endParaRPr>
          </a:p>
        </p:txBody>
      </p:sp>
      <p:sp>
        <p:nvSpPr>
          <p:cNvPr id="10" name="TextBox 9">
            <a:extLst>
              <a:ext uri="{FF2B5EF4-FFF2-40B4-BE49-F238E27FC236}">
                <a16:creationId xmlns:a16="http://schemas.microsoft.com/office/drawing/2014/main" id="{595C2B26-B7CF-4E20-BAE1-91C24BA4E906}"/>
              </a:ext>
            </a:extLst>
          </p:cNvPr>
          <p:cNvSpPr txBox="1"/>
          <p:nvPr/>
        </p:nvSpPr>
        <p:spPr>
          <a:xfrm>
            <a:off x="7836695" y="5232829"/>
            <a:ext cx="2475999" cy="461665"/>
          </a:xfrm>
          <a:prstGeom prst="rect">
            <a:avLst/>
          </a:prstGeom>
          <a:noFill/>
        </p:spPr>
        <p:txBody>
          <a:bodyPr wrap="none" rtlCol="0" anchor="ctr" anchorCtr="1">
            <a:spAutoFit/>
          </a:bodyPr>
          <a:lstStyle/>
          <a:p>
            <a:pPr defTabSz="914377"/>
            <a:r>
              <a:rPr lang="en-US" sz="2400" dirty="0">
                <a:solidFill>
                  <a:prstClr val="black"/>
                </a:solidFill>
                <a:latin typeface="Arial"/>
                <a:ea typeface="標楷體" pitchFamily="65" charset="-120"/>
                <a:cs typeface="Calibri" panose="020F07020304040A0204" pitchFamily="34" charset="0"/>
              </a:rPr>
              <a:t>Answer: A,C,D,E</a:t>
            </a:r>
          </a:p>
        </p:txBody>
      </p:sp>
    </p:spTree>
    <p:extLst>
      <p:ext uri="{BB962C8B-B14F-4D97-AF65-F5344CB8AC3E}">
        <p14:creationId xmlns:p14="http://schemas.microsoft.com/office/powerpoint/2010/main" val="4098614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theme/theme1.xml><?xml version="1.0" encoding="utf-8"?>
<a:theme xmlns:a="http://schemas.openxmlformats.org/drawingml/2006/main" name="NTHU UniClou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預設簡報設計">
      <a:majorFont>
        <a:latin typeface="MS Sans Serif"/>
        <a:ea typeface="MS Sans Serif"/>
        <a:cs typeface="MS Sans Serif"/>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spDef>
    <a:ln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lnDef>
    <a:txDef>
      <a:spPr>
        <a:noFill/>
      </a:spPr>
      <a:bodyPr wrap="none" rtlCol="0" anchor="ctr" anchorCtr="1">
        <a:spAutoFit/>
      </a:bodyPr>
      <a:lstStyle>
        <a:defPPr>
          <a:defRPr dirty="0" smtClean="0">
            <a:ea typeface="標楷體" pitchFamily="65" charset="-120"/>
            <a:cs typeface="Calibri" pitchFamily="34" charset="0"/>
          </a:defRPr>
        </a:defPPr>
      </a:lstStyle>
    </a:txDef>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NTHU UniCloud" id="{771810AA-CEBD-463A-B947-7C0DFAF8BB54}" vid="{30CF6CD1-9989-4B2E-8702-709C1DF65D80}"/>
    </a:ext>
  </a:extLst>
</a:theme>
</file>

<file path=ppt/theme/theme2.xml><?xml version="1.0" encoding="utf-8"?>
<a:theme xmlns:a="http://schemas.openxmlformats.org/drawingml/2006/main" name="自訂設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NTHU UniClou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預設簡報設計">
      <a:majorFont>
        <a:latin typeface="MS Sans Serif"/>
        <a:ea typeface="MS Sans Serif"/>
        <a:cs typeface="MS Sans Serif"/>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spDef>
    <a:ln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lnDef>
    <a:txDef>
      <a:spPr>
        <a:noFill/>
      </a:spPr>
      <a:bodyPr wrap="none" rtlCol="0" anchor="ctr" anchorCtr="1">
        <a:spAutoFit/>
      </a:bodyPr>
      <a:lstStyle>
        <a:defPPr>
          <a:defRPr dirty="0" smtClean="0">
            <a:ea typeface="標楷體" pitchFamily="65" charset="-120"/>
            <a:cs typeface="Calibri" pitchFamily="34" charset="0"/>
          </a:defRPr>
        </a:defPPr>
      </a:lstStyle>
    </a:txDef>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NTHU UniCloud" id="{771810AA-CEBD-463A-B947-7C0DFAF8BB54}" vid="{30CF6CD1-9989-4B2E-8702-709C1DF65D80}"/>
    </a:ext>
  </a:extLst>
</a:theme>
</file>

<file path=ppt/theme/theme4.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27111</TotalTime>
  <Words>4703</Words>
  <Application>Microsoft Office PowerPoint</Application>
  <PresentationFormat>宽屏</PresentationFormat>
  <Paragraphs>698</Paragraphs>
  <Slides>46</Slides>
  <Notes>28</Notes>
  <HiddenSlides>0</HiddenSlides>
  <MMClips>0</MMClips>
  <ScaleCrop>false</ScaleCrop>
  <HeadingPairs>
    <vt:vector size="8" baseType="variant">
      <vt:variant>
        <vt:lpstr>已用的字体</vt:lpstr>
      </vt:variant>
      <vt:variant>
        <vt:i4>24</vt:i4>
      </vt:variant>
      <vt:variant>
        <vt:lpstr>主题</vt:lpstr>
      </vt:variant>
      <vt:variant>
        <vt:i4>3</vt:i4>
      </vt:variant>
      <vt:variant>
        <vt:lpstr>嵌入 OLE 服务器</vt:lpstr>
      </vt:variant>
      <vt:variant>
        <vt:i4>1</vt:i4>
      </vt:variant>
      <vt:variant>
        <vt:lpstr>幻灯片标题</vt:lpstr>
      </vt:variant>
      <vt:variant>
        <vt:i4>46</vt:i4>
      </vt:variant>
    </vt:vector>
  </HeadingPairs>
  <TitlesOfParts>
    <vt:vector size="74" baseType="lpstr">
      <vt:lpstr>Arial Unicode MS</vt:lpstr>
      <vt:lpstr>標楷體</vt:lpstr>
      <vt:lpstr>KaTeX_Main</vt:lpstr>
      <vt:lpstr>KaTeX_Math</vt:lpstr>
      <vt:lpstr>MS Sans Serif</vt:lpstr>
      <vt:lpstr>MTMIZ</vt:lpstr>
      <vt:lpstr>MTSYN</vt:lpstr>
      <vt:lpstr>Söhne</vt:lpstr>
      <vt:lpstr>Söhne Mono</vt:lpstr>
      <vt:lpstr>TimesTen-Italic</vt:lpstr>
      <vt:lpstr>TimesTen-Roman</vt:lpstr>
      <vt:lpstr>ui-monospace</vt:lpstr>
      <vt:lpstr>ui-sans-serif</vt:lpstr>
      <vt:lpstr>ZztexMono-Regular</vt:lpstr>
      <vt:lpstr>华文楷体</vt:lpstr>
      <vt:lpstr>Arial</vt:lpstr>
      <vt:lpstr>Calibri</vt:lpstr>
      <vt:lpstr>Calibri Light</vt:lpstr>
      <vt:lpstr>Cambria Math</vt:lpstr>
      <vt:lpstr>Courier New</vt:lpstr>
      <vt:lpstr>Fira Code</vt:lpstr>
      <vt:lpstr>Symbol</vt:lpstr>
      <vt:lpstr>Times New Roman</vt:lpstr>
      <vt:lpstr>Wingdings</vt:lpstr>
      <vt:lpstr>NTHU UniCloud</vt:lpstr>
      <vt:lpstr>自訂設計</vt:lpstr>
      <vt:lpstr>1_NTHU UniCloud</vt:lpstr>
      <vt:lpstr>Equation</vt:lpstr>
      <vt:lpstr>CSC3060 – Computer Systems FP Numbers and Computation</vt:lpstr>
      <vt:lpstr>2.4 Floating-Point Numbers</vt:lpstr>
      <vt:lpstr>2.4 Floating-Point Numbers</vt:lpstr>
      <vt:lpstr>Number Systems</vt:lpstr>
      <vt:lpstr>FP to Decimal conversion</vt:lpstr>
      <vt:lpstr>Floating-Point Standard </vt:lpstr>
      <vt:lpstr>IEEE Floating-Point Format</vt:lpstr>
      <vt:lpstr>IEEE Single Precision Floating-Point Numbers</vt:lpstr>
      <vt:lpstr>Exponents in Biased Form</vt:lpstr>
      <vt:lpstr>Denormalized Numbers</vt:lpstr>
      <vt:lpstr>Why not Fixed-Point Numbers</vt:lpstr>
      <vt:lpstr>Why not Fixed-Point Numbers</vt:lpstr>
      <vt:lpstr>Why does Float cover a Large Range</vt:lpstr>
      <vt:lpstr>Why does Float cover a Large Range</vt:lpstr>
      <vt:lpstr>2.4.3 Example Numbers</vt:lpstr>
      <vt:lpstr>Figure 2.35 Bit Patterns from 0 to ∞</vt:lpstr>
      <vt:lpstr>Traditional Supercomputers Are FP Machines </vt:lpstr>
      <vt:lpstr>Exercise 1</vt:lpstr>
      <vt:lpstr>Exercise 2</vt:lpstr>
      <vt:lpstr>Exercise 3 </vt:lpstr>
      <vt:lpstr>Exercise 3 </vt:lpstr>
      <vt:lpstr>Exercise 4 </vt:lpstr>
      <vt:lpstr>Exercise 4 </vt:lpstr>
      <vt:lpstr>2.4.4 FP Rounding</vt:lpstr>
      <vt:lpstr>2.4.5 FP Operations</vt:lpstr>
      <vt:lpstr>2.4.5 FP/Int Type Casting</vt:lpstr>
      <vt:lpstr>Floating-Point Addition (1)</vt:lpstr>
      <vt:lpstr>Floating-Point Addition (2)</vt:lpstr>
      <vt:lpstr>FP Adder Hardware (1)</vt:lpstr>
      <vt:lpstr>FP Adder Hardware (2)</vt:lpstr>
      <vt:lpstr>FP Arithmetic Hardware</vt:lpstr>
      <vt:lpstr>FP Multiply Hardware</vt:lpstr>
      <vt:lpstr>FMA or FMAC Instructions (1) </vt:lpstr>
      <vt:lpstr>FMA or FMAC Instructions (2) </vt:lpstr>
      <vt:lpstr>Quadruple Precision, Half-float and minifloat</vt:lpstr>
      <vt:lpstr>Quick Review Quiz</vt:lpstr>
      <vt:lpstr>Quick Review</vt:lpstr>
      <vt:lpstr>Quick Review</vt:lpstr>
      <vt:lpstr>Quick Review</vt:lpstr>
      <vt:lpstr>Quick Review</vt:lpstr>
      <vt:lpstr>Quick Review</vt:lpstr>
      <vt:lpstr>Quick Review</vt:lpstr>
      <vt:lpstr>Quick Review</vt:lpstr>
      <vt:lpstr>Quick Review</vt:lpstr>
      <vt:lpstr>Quick Review</vt:lpstr>
      <vt:lpstr>Quick Review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香港中文大学(深圳)数据科学院 School of Data Science</dc:title>
  <dc:creator>Windows 使用者</dc:creator>
  <cp:lastModifiedBy>Chaoyi Sun (SDS,124090550)</cp:lastModifiedBy>
  <cp:revision>400</cp:revision>
  <dcterms:created xsi:type="dcterms:W3CDTF">2020-07-15T11:13:39Z</dcterms:created>
  <dcterms:modified xsi:type="dcterms:W3CDTF">2026-01-28T14:02:32Z</dcterms:modified>
</cp:coreProperties>
</file>