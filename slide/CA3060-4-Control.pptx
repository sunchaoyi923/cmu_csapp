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60" r:id="rId2"/>
    <p:sldMasterId id="2147483686" r:id="rId3"/>
  </p:sldMasterIdLst>
  <p:notesMasterIdLst>
    <p:notesMasterId r:id="rId18"/>
  </p:notesMasterIdLst>
  <p:handoutMasterIdLst>
    <p:handoutMasterId r:id="rId19"/>
  </p:handoutMasterIdLst>
  <p:sldIdLst>
    <p:sldId id="256" r:id="rId4"/>
    <p:sldId id="655" r:id="rId5"/>
    <p:sldId id="308" r:id="rId6"/>
    <p:sldId id="642" r:id="rId7"/>
    <p:sldId id="652" r:id="rId8"/>
    <p:sldId id="659" r:id="rId9"/>
    <p:sldId id="646" r:id="rId10"/>
    <p:sldId id="653" r:id="rId11"/>
    <p:sldId id="654" r:id="rId12"/>
    <p:sldId id="647" r:id="rId13"/>
    <p:sldId id="648" r:id="rId14"/>
    <p:sldId id="657" r:id="rId15"/>
    <p:sldId id="658" r:id="rId16"/>
    <p:sldId id="333" r:id="rId1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0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7" d="100"/>
          <a:sy n="57" d="100"/>
        </p:scale>
        <p:origin x="3006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815C594-135F-4D15-8E4B-45F1BE861E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DB0960-189E-46E1-8D29-6FB05B6F72F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43A5A2-ABA0-4772-A51C-C5F6F247E980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C1DB78-23CB-4BEF-89B3-77D711E9DAE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9CDE08-0A77-4F04-A3CE-DB3F76D6147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243270-4340-4F2C-881F-076058FFD6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56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1F4A7B-8284-4E61-88F9-84C6CA6E31E8}" type="datetimeFigureOut">
              <a:rPr lang="zh-TW" altLang="en-US" smtClean="0"/>
              <a:t>2026/3/11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1D5518-E2B7-47D3-A483-775D399824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7007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46125" y="3227388"/>
            <a:ext cx="8535988" cy="30575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endParaRPr lang="zh-TW" altLang="en-US"/>
          </a:p>
        </p:txBody>
      </p:sp>
      <p:sp>
        <p:nvSpPr>
          <p:cNvPr id="109571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86050" y="425450"/>
            <a:ext cx="4546600" cy="2557463"/>
          </a:xfrm>
          <a:noFill/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87638" y="509588"/>
            <a:ext cx="4532312" cy="2549525"/>
          </a:xfrm>
        </p:spPr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0800" y="3227388"/>
            <a:ext cx="7264400" cy="30575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dirty="0"/>
              <a:t>Silicon compiler was the term, but less commonly used. It is probably too aggressive.</a:t>
            </a:r>
          </a:p>
          <a:p>
            <a:r>
              <a:rPr lang="en-US" altLang="zh-CN" dirty="0"/>
              <a:t>Chip logic design and IC design are now separated.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026451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87638" y="509588"/>
            <a:ext cx="4532312" cy="2549525"/>
          </a:xfrm>
        </p:spPr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0800" y="3227388"/>
            <a:ext cx="7264400" cy="30575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dirty="0"/>
              <a:t>Silicon compiler was the term, but less commonly used. It is probably too aggressive.</a:t>
            </a:r>
          </a:p>
          <a:p>
            <a:r>
              <a:rPr lang="en-US" altLang="zh-CN" dirty="0"/>
              <a:t>Chip logic design and IC design are now separated.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279146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This data path supports the RV32I core, including all user level instructions including JALR, Shift, and so on.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6C40E4-B9C8-417B-AB00-3BF7F8038A2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00227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This data path supports the RV32I core, including all user level instructions including JALR, Shift, and so on.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6C40E4-B9C8-417B-AB00-3BF7F8038A2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02555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This data path supports the RV32I core, including all user level instructions including JALR, Shift, and so on.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6C40E4-B9C8-417B-AB00-3BF7F8038A2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45736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6C40E4-B9C8-417B-AB00-3BF7F8038A2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20309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6C40E4-B9C8-417B-AB00-3BF7F8038A2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54337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This data path supports the RV32I core, including all user level instructions including JALR, Shift, and so on.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6C40E4-B9C8-417B-AB00-3BF7F8038A2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46165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46125" y="3227388"/>
            <a:ext cx="8535988" cy="30575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r>
              <a:rPr lang="en-US" altLang="zh-TW"/>
              <a:t>Well, the last slide pretty much illustrate one of the biggest disadvantage of the single cycle implementation: it has a long cycle time.</a:t>
            </a:r>
          </a:p>
          <a:p>
            <a:r>
              <a:rPr lang="en-US" altLang="zh-TW"/>
              <a:t>More specifically, the cycle time must be long enough for the load instruction which has the following components: Clock to Q time of the PC, ....</a:t>
            </a:r>
          </a:p>
          <a:p>
            <a:r>
              <a:rPr lang="en-US" altLang="zh-TW"/>
              <a:t>Having a long cycle time is a big problem but not the the only problem.</a:t>
            </a:r>
          </a:p>
          <a:p>
            <a:r>
              <a:rPr lang="en-US" altLang="zh-TW"/>
              <a:t>Another problem of this single cycle implementation is that this cycle time, which is long enough for the load instruction, is too long for all other instructions.</a:t>
            </a:r>
          </a:p>
          <a:p>
            <a:r>
              <a:rPr lang="en-US" altLang="zh-TW"/>
              <a:t>We will show you why this is bad and what we can do about it in the next few lectures.</a:t>
            </a:r>
          </a:p>
          <a:p>
            <a:r>
              <a:rPr lang="en-US" altLang="zh-TW"/>
              <a:t>That all for today.</a:t>
            </a:r>
          </a:p>
          <a:p>
            <a:endParaRPr lang="en-US" altLang="zh-TW"/>
          </a:p>
          <a:p>
            <a:r>
              <a:rPr lang="en-US" altLang="zh-TW"/>
              <a:t>+2 = 79 min (Y:59)</a:t>
            </a:r>
          </a:p>
        </p:txBody>
      </p:sp>
      <p:sp>
        <p:nvSpPr>
          <p:cNvPr id="12800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86050" y="425450"/>
            <a:ext cx="4546600" cy="2557463"/>
          </a:xfrm>
          <a:noFill/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30117147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701925" y="433388"/>
            <a:ext cx="4522788" cy="2544762"/>
          </a:xfrm>
          <a:noFill/>
          <a:ln cap="flat">
            <a:solidFill>
              <a:schemeClr val="tx1"/>
            </a:solidFill>
          </a:ln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46125" y="3227388"/>
            <a:ext cx="8535988" cy="30575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667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24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2133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4839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267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3733"/>
            </a:lvl1pPr>
            <a:lvl2pPr marL="457177" indent="0">
              <a:buNone/>
              <a:defRPr sz="1801"/>
            </a:lvl2pPr>
            <a:lvl3pPr marL="914354" indent="0">
              <a:buNone/>
              <a:defRPr sz="1600"/>
            </a:lvl3pPr>
            <a:lvl4pPr marL="1371531" indent="0">
              <a:buNone/>
              <a:defRPr sz="1401"/>
            </a:lvl4pPr>
            <a:lvl5pPr marL="1828709" indent="0">
              <a:buNone/>
              <a:defRPr sz="1401"/>
            </a:lvl5pPr>
            <a:lvl6pPr marL="2285886" indent="0">
              <a:buNone/>
              <a:defRPr sz="1401"/>
            </a:lvl6pPr>
            <a:lvl7pPr marL="2743063" indent="0">
              <a:buNone/>
              <a:defRPr sz="1401"/>
            </a:lvl7pPr>
            <a:lvl8pPr marL="3200240" indent="0">
              <a:buNone/>
              <a:defRPr sz="1401"/>
            </a:lvl8pPr>
            <a:lvl9pPr marL="3657417" indent="0">
              <a:buNone/>
              <a:defRPr sz="140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603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125536"/>
            <a:ext cx="5384800" cy="4227699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125536"/>
            <a:ext cx="5384800" cy="4227699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4985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2" y="1268773"/>
            <a:ext cx="5386917" cy="639763"/>
          </a:xfrm>
        </p:spPr>
        <p:txBody>
          <a:bodyPr anchor="b"/>
          <a:lstStyle>
            <a:lvl1pPr marL="0" indent="0">
              <a:buNone/>
              <a:defRPr sz="2667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1" b="1"/>
            </a:lvl3pPr>
            <a:lvl4pPr marL="1371531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2" y="1908535"/>
            <a:ext cx="5386917" cy="3951288"/>
          </a:xfrm>
        </p:spPr>
        <p:txBody>
          <a:bodyPr/>
          <a:lstStyle>
            <a:lvl1pPr>
              <a:defRPr sz="2667"/>
            </a:lvl1pPr>
            <a:lvl2pPr>
              <a:defRPr sz="2133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3" y="1268773"/>
            <a:ext cx="5389033" cy="639763"/>
          </a:xfrm>
        </p:spPr>
        <p:txBody>
          <a:bodyPr anchor="b"/>
          <a:lstStyle>
            <a:lvl1pPr marL="0" indent="0">
              <a:buNone/>
              <a:defRPr sz="2667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1" b="1"/>
            </a:lvl3pPr>
            <a:lvl4pPr marL="1371531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3" y="1908535"/>
            <a:ext cx="5389033" cy="3951288"/>
          </a:xfrm>
        </p:spPr>
        <p:txBody>
          <a:bodyPr/>
          <a:lstStyle>
            <a:lvl1pPr>
              <a:defRPr sz="2667"/>
            </a:lvl1pPr>
            <a:lvl2pPr>
              <a:defRPr sz="2133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624421" y="144466"/>
            <a:ext cx="10943167" cy="692151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794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0701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3319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6" y="273049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4" y="273056"/>
            <a:ext cx="681566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6" y="1435104"/>
            <a:ext cx="4011084" cy="4691063"/>
          </a:xfrm>
        </p:spPr>
        <p:txBody>
          <a:bodyPr/>
          <a:lstStyle>
            <a:lvl1pPr marL="0" indent="0">
              <a:buNone/>
              <a:defRPr sz="1401"/>
            </a:lvl1pPr>
            <a:lvl2pPr marL="457177" indent="0">
              <a:buNone/>
              <a:defRPr sz="1200"/>
            </a:lvl2pPr>
            <a:lvl3pPr marL="914354" indent="0">
              <a:buNone/>
              <a:defRPr sz="1001"/>
            </a:lvl3pPr>
            <a:lvl4pPr marL="1371531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0483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77" indent="0">
              <a:buNone/>
              <a:defRPr sz="2800"/>
            </a:lvl2pPr>
            <a:lvl3pPr marL="914354" indent="0">
              <a:buNone/>
              <a:defRPr sz="2400"/>
            </a:lvl3pPr>
            <a:lvl4pPr marL="1371531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3" indent="0">
              <a:buNone/>
              <a:defRPr sz="2000"/>
            </a:lvl7pPr>
            <a:lvl8pPr marL="3200240" indent="0">
              <a:buNone/>
              <a:defRPr sz="2000"/>
            </a:lvl8pPr>
            <a:lvl9pPr marL="3657417" indent="0">
              <a:buNone/>
              <a:defRPr sz="20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401"/>
            </a:lvl1pPr>
            <a:lvl2pPr marL="457177" indent="0">
              <a:buNone/>
              <a:defRPr sz="1200"/>
            </a:lvl2pPr>
            <a:lvl3pPr marL="914354" indent="0">
              <a:buNone/>
              <a:defRPr sz="1001"/>
            </a:lvl3pPr>
            <a:lvl4pPr marL="1371531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5657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3676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3043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609600" y="73028"/>
            <a:ext cx="10972800" cy="1700213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8601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609600" y="1125542"/>
            <a:ext cx="10972800" cy="647700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92217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32"/>
            <a:ext cx="10363200" cy="1470025"/>
          </a:xfrm>
        </p:spPr>
        <p:txBody>
          <a:bodyPr/>
          <a:lstStyle>
            <a:lvl1pPr algn="ctr">
              <a:defRPr sz="5333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177" indent="0" algn="ctr">
              <a:buNone/>
              <a:defRPr/>
            </a:lvl2pPr>
            <a:lvl3pPr marL="914354" indent="0" algn="ctr">
              <a:buNone/>
              <a:defRPr/>
            </a:lvl3pPr>
            <a:lvl4pPr marL="1371531" indent="0" algn="ctr">
              <a:buNone/>
              <a:defRPr/>
            </a:lvl4pPr>
            <a:lvl5pPr marL="1828709" indent="0" algn="ctr">
              <a:buNone/>
              <a:defRPr/>
            </a:lvl5pPr>
            <a:lvl6pPr marL="2285886" indent="0" algn="ctr">
              <a:buNone/>
              <a:defRPr/>
            </a:lvl6pPr>
            <a:lvl7pPr marL="2743063" indent="0" algn="ctr">
              <a:buNone/>
              <a:defRPr/>
            </a:lvl7pPr>
            <a:lvl8pPr marL="3200240" indent="0" algn="ctr">
              <a:buNone/>
              <a:defRPr/>
            </a:lvl8pPr>
            <a:lvl9pPr marL="3657417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99471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98655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83935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34368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37830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55558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84383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88628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85375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79622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82784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736785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96786" y="144466"/>
            <a:ext cx="10270801" cy="692151"/>
          </a:xfrm>
        </p:spPr>
        <p:txBody>
          <a:bodyPr/>
          <a:lstStyle>
            <a:lvl1pPr>
              <a:defRPr sz="4267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>
                <a:latin typeface="Calibri" panose="020F0702030404030204" pitchFamily="34" charset="0"/>
                <a:ea typeface="標楷體" panose="02010601000101010101" pitchFamily="65" charset="-120"/>
                <a:cs typeface="Calibri" panose="020F0702030404030204" pitchFamily="34" charset="0"/>
              </a:defRPr>
            </a:lvl3pPr>
            <a:lvl4pPr>
              <a:defRPr sz="2133">
                <a:latin typeface="Calibri" panose="020F0702030404030204" pitchFamily="34" charset="0"/>
                <a:ea typeface="標楷體" panose="02010601000101010101" pitchFamily="65" charset="-120"/>
                <a:cs typeface="Calibri" panose="020F0702030404030204" pitchFamily="34" charset="0"/>
              </a:defRPr>
            </a:lvl4pPr>
            <a:lvl5pPr>
              <a:defRPr sz="1867">
                <a:latin typeface="Calibri" panose="020F0702030404030204" pitchFamily="34" charset="0"/>
                <a:ea typeface="標楷體" panose="02010601000101010101" pitchFamily="65" charset="-120"/>
                <a:cs typeface="Calibri" panose="020F0702030404030204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879858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267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3733"/>
            </a:lvl1pPr>
            <a:lvl2pPr marL="457189" indent="0">
              <a:buNone/>
              <a:defRPr sz="1800"/>
            </a:lvl2pPr>
            <a:lvl3pPr marL="914377" indent="0">
              <a:buNone/>
              <a:defRPr sz="1600"/>
            </a:lvl3pPr>
            <a:lvl4pPr marL="1371566" indent="0">
              <a:buNone/>
              <a:defRPr sz="1400"/>
            </a:lvl4pPr>
            <a:lvl5pPr marL="1828754" indent="0">
              <a:buNone/>
              <a:defRPr sz="1400"/>
            </a:lvl5pPr>
            <a:lvl6pPr marL="2285943" indent="0">
              <a:buNone/>
              <a:defRPr sz="1400"/>
            </a:lvl6pPr>
            <a:lvl7pPr marL="2743131" indent="0">
              <a:buNone/>
              <a:defRPr sz="1400"/>
            </a:lvl7pPr>
            <a:lvl8pPr marL="3200320" indent="0">
              <a:buNone/>
              <a:defRPr sz="1400"/>
            </a:lvl8pPr>
            <a:lvl9pPr marL="3657509" indent="0">
              <a:buNone/>
              <a:defRPr sz="14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00671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125536"/>
            <a:ext cx="5384800" cy="4227699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125536"/>
            <a:ext cx="5384800" cy="4227699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947919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2" y="1268773"/>
            <a:ext cx="5386917" cy="639763"/>
          </a:xfrm>
        </p:spPr>
        <p:txBody>
          <a:bodyPr anchor="b"/>
          <a:lstStyle>
            <a:lvl1pPr marL="0" indent="0">
              <a:buNone/>
              <a:defRPr sz="2667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2" y="1908535"/>
            <a:ext cx="5386917" cy="3951288"/>
          </a:xfrm>
        </p:spPr>
        <p:txBody>
          <a:bodyPr/>
          <a:lstStyle>
            <a:lvl1pPr>
              <a:defRPr sz="2667"/>
            </a:lvl1pPr>
            <a:lvl2pPr>
              <a:defRPr sz="2133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3" y="1268773"/>
            <a:ext cx="5389033" cy="639763"/>
          </a:xfrm>
        </p:spPr>
        <p:txBody>
          <a:bodyPr anchor="b"/>
          <a:lstStyle>
            <a:lvl1pPr marL="0" indent="0">
              <a:buNone/>
              <a:defRPr sz="2667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3" y="1908535"/>
            <a:ext cx="5389033" cy="3951288"/>
          </a:xfrm>
        </p:spPr>
        <p:txBody>
          <a:bodyPr/>
          <a:lstStyle>
            <a:lvl1pPr>
              <a:defRPr sz="2667"/>
            </a:lvl1pPr>
            <a:lvl2pPr>
              <a:defRPr sz="2133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624421" y="144466"/>
            <a:ext cx="10943167" cy="692151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7777507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567296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960247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6" y="273049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4" y="273056"/>
            <a:ext cx="681566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6" y="1435104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118808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772873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717065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214838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609600" y="73028"/>
            <a:ext cx="10972800" cy="1700213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792663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 hasCustomPrompt="1"/>
          </p:nvPr>
        </p:nvSpPr>
        <p:spPr>
          <a:xfrm>
            <a:off x="609600" y="1125542"/>
            <a:ext cx="10972800" cy="647700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066242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32"/>
            <a:ext cx="10363200" cy="1470025"/>
          </a:xfrm>
        </p:spPr>
        <p:txBody>
          <a:bodyPr/>
          <a:lstStyle>
            <a:lvl1pPr algn="ctr">
              <a:defRPr sz="5333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189" indent="0" algn="ctr">
              <a:buNone/>
              <a:defRPr/>
            </a:lvl2pPr>
            <a:lvl3pPr marL="914377" indent="0" algn="ctr">
              <a:buNone/>
              <a:defRPr/>
            </a:lvl3pPr>
            <a:lvl4pPr marL="1371566" indent="0" algn="ctr">
              <a:buNone/>
              <a:defRPr/>
            </a:lvl4pPr>
            <a:lvl5pPr marL="1828754" indent="0" algn="ctr">
              <a:buNone/>
              <a:defRPr/>
            </a:lvl5pPr>
            <a:lvl6pPr marL="2285943" indent="0" algn="ctr">
              <a:buNone/>
              <a:defRPr/>
            </a:lvl6pPr>
            <a:lvl7pPr marL="2743131" indent="0" algn="ctr">
              <a:buNone/>
              <a:defRPr/>
            </a:lvl7pPr>
            <a:lvl8pPr marL="3200320" indent="0" algn="ctr">
              <a:buNone/>
              <a:defRPr/>
            </a:lvl8pPr>
            <a:lvl9pPr marL="3657509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444426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訂版面配置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6AB1C7C-E2CD-46D3-9D9B-A84EE90FAF26}" type="slidenum">
              <a:rPr lang="zh-TW" altLang="en-US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57593179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17" Type="http://schemas.openxmlformats.org/officeDocument/2006/relationships/image" Target="../media/image2.jpg"/><Relationship Id="rId2" Type="http://schemas.openxmlformats.org/officeDocument/2006/relationships/slideLayout" Target="../slideLayouts/slideLayout26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4.xml"/><Relationship Id="rId19" Type="http://schemas.openxmlformats.org/officeDocument/2006/relationships/image" Target="../media/image4.png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1049867" y="144466"/>
            <a:ext cx="10517721" cy="692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125537"/>
            <a:ext cx="10972800" cy="48958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3" y="6357940"/>
            <a:ext cx="5111751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792808" y="6581777"/>
            <a:ext cx="357482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12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908055"/>
            <a:ext cx="12192000" cy="144463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80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6165849"/>
            <a:ext cx="12192000" cy="719139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80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108017" y="6524628"/>
            <a:ext cx="28448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14" name="圖片 13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80" y="124614"/>
            <a:ext cx="916587" cy="672311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80" y="6239920"/>
            <a:ext cx="817930" cy="569415"/>
          </a:xfrm>
          <a:prstGeom prst="rect">
            <a:avLst/>
          </a:prstGeom>
        </p:spPr>
      </p:pic>
      <p:sp>
        <p:nvSpPr>
          <p:cNvPr id="13" name="矩形 14">
            <a:extLst>
              <a:ext uri="{FF2B5EF4-FFF2-40B4-BE49-F238E27FC236}">
                <a16:creationId xmlns:a16="http://schemas.microsoft.com/office/drawing/2014/main" id="{8D8EDA7D-581F-42FC-B3E8-D862C7E3DAD2}"/>
              </a:ext>
            </a:extLst>
          </p:cNvPr>
          <p:cNvSpPr/>
          <p:nvPr userDrawn="1"/>
        </p:nvSpPr>
        <p:spPr>
          <a:xfrm>
            <a:off x="829837" y="6347770"/>
            <a:ext cx="267212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zh-TW" sz="1200" kern="1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香港中文大学（深圳）数据科学</a:t>
            </a:r>
            <a:r>
              <a:rPr kumimoji="0" lang="zh-CN" altLang="zh-TW" sz="1200" b="0" i="0" u="none" strike="noStrike" kern="1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学</a:t>
            </a:r>
            <a:r>
              <a:rPr lang="zh-CN" altLang="zh-TW" sz="1200" kern="1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院</a:t>
            </a:r>
            <a:endParaRPr lang="zh-TW" altLang="zh-TW" sz="1200" kern="1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en-US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CUHK</a:t>
            </a:r>
            <a:r>
              <a:rPr lang="en-US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DengXian"/>
                <a:cs typeface="Times New Roman" panose="02020603050405020304" pitchFamily="18" charset="0"/>
              </a:rPr>
              <a:t>-SZ Sc</a:t>
            </a:r>
            <a:r>
              <a:rPr lang="en-US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hool of Data Science</a:t>
            </a:r>
            <a:endParaRPr lang="zh-TW" altLang="zh-TW" sz="1000" kern="100" dirty="0">
              <a:solidFill>
                <a:schemeClr val="bg1"/>
              </a:solidFill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6231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457177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914354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371531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828709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342882" indent="-342882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3733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742913" indent="-285737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32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1142943" indent="-228589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121" indent="-228589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298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476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652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8829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007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1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6871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1049869" y="144466"/>
            <a:ext cx="10517719" cy="69215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125537"/>
            <a:ext cx="10972800" cy="489585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" y="6357940"/>
            <a:ext cx="5111751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792808" y="6581777"/>
            <a:ext cx="357482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200" b="1" dirty="0">
                <a:solidFill>
                  <a:schemeClr val="bg1"/>
                </a:solidFill>
                <a:latin typeface="Arial" panose="020B0604020202090204" pitchFamily="34" charset="0"/>
                <a:ea typeface="新細明體" panose="02020500000000000000" pitchFamily="18" charset="-120"/>
                <a:cs typeface="Arial" panose="020B0604020202090204" pitchFamily="34" charset="0"/>
              </a:rPr>
              <a:t>National Tsing Hua University ® copyright OIA</a:t>
            </a:r>
            <a:endParaRPr lang="zh-TW" altLang="en-US" sz="1200" b="1" dirty="0">
              <a:solidFill>
                <a:schemeClr val="bg1"/>
              </a:solidFill>
              <a:latin typeface="Arial" panose="020B0604020202090204" pitchFamily="34" charset="0"/>
              <a:ea typeface="新細明體" panose="02020500000000000000" pitchFamily="18" charset="-120"/>
              <a:cs typeface="Arial" panose="020B0604020202090204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908055"/>
            <a:ext cx="12192000" cy="144463"/>
          </a:xfrm>
          <a:prstGeom prst="rect">
            <a:avLst/>
          </a:prstGeom>
          <a:solidFill>
            <a:srgbClr val="633869"/>
          </a:solidFill>
          <a:ln w="1587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6165849"/>
            <a:ext cx="12192000" cy="719139"/>
          </a:xfrm>
          <a:prstGeom prst="rect">
            <a:avLst/>
          </a:prstGeom>
          <a:solidFill>
            <a:srgbClr val="633869"/>
          </a:solidFill>
          <a:ln w="1587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TW" altLang="en-US" sz="1800">
              <a:ea typeface="新細明體" panose="02020500000000000000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108017" y="6524628"/>
            <a:ext cx="2844800" cy="339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solidFill>
                  <a:schemeClr val="bg1"/>
                </a:solidFill>
                <a:latin typeface="Arial" panose="020B0604020202090204" pitchFamily="34" charset="0"/>
                <a:ea typeface="新細明體" panose="02020500000000000000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7" y="128610"/>
            <a:ext cx="1185287" cy="691885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6" y="6244787"/>
            <a:ext cx="988121" cy="569415"/>
          </a:xfrm>
          <a:prstGeom prst="rect">
            <a:avLst/>
          </a:prstGeom>
        </p:spPr>
      </p:pic>
      <p:pic>
        <p:nvPicPr>
          <p:cNvPr id="13" name="圖片 12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750" y="6242589"/>
            <a:ext cx="2707337" cy="533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116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267" b="1">
          <a:solidFill>
            <a:schemeClr val="tx2"/>
          </a:solidFill>
          <a:latin typeface="Calibri" panose="020F0702030404030204" pitchFamily="34" charset="0"/>
          <a:ea typeface="標楷體" panose="02010601000101010101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anose="020F0702030404030204" pitchFamily="34" charset="0"/>
          <a:ea typeface="標楷體" panose="02010601000101010101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anose="020F0702030404030204" pitchFamily="34" charset="0"/>
          <a:ea typeface="標楷體" panose="02010601000101010101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anose="020F0702030404030204" pitchFamily="34" charset="0"/>
          <a:ea typeface="標楷體" panose="02010601000101010101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anose="020F0702030404030204" pitchFamily="34" charset="0"/>
          <a:ea typeface="標楷體" panose="02010601000101010101" pitchFamily="65" charset="-120"/>
          <a:cs typeface="MS Sans Serif"/>
        </a:defRPr>
      </a:lvl5pPr>
      <a:lvl6pPr marL="457189" algn="l" rtl="0" eaLnBrk="1" fontAlgn="base" hangingPunct="1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914377" algn="l" rtl="0" eaLnBrk="1" fontAlgn="base" hangingPunct="1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371566" algn="l" rtl="0" eaLnBrk="1" fontAlgn="base" hangingPunct="1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828754" algn="l" rtl="0" eaLnBrk="1" fontAlgn="base" hangingPunct="1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342891" indent="-342891" algn="l" rtl="0" eaLnBrk="1" fontAlgn="base" hangingPunct="1">
        <a:spcBef>
          <a:spcPct val="20000"/>
        </a:spcBef>
        <a:spcAft>
          <a:spcPct val="0"/>
        </a:spcAft>
        <a:buClr>
          <a:srgbClr val="8064A2"/>
        </a:buClr>
        <a:buSzPct val="80000"/>
        <a:buFont typeface="Wingdings" panose="05000000000000000000" pitchFamily="2" charset="2"/>
        <a:buChar char="l"/>
        <a:defRPr kumimoji="1" sz="2667">
          <a:solidFill>
            <a:schemeClr val="tx1"/>
          </a:solidFill>
          <a:latin typeface="Calibri" panose="020F0702030404030204" pitchFamily="34" charset="0"/>
          <a:ea typeface="標楷體" panose="02010601000101010101" pitchFamily="65" charset="-120"/>
          <a:cs typeface="+mn-cs"/>
        </a:defRPr>
      </a:lvl1pPr>
      <a:lvl2pPr marL="742508" indent="-285320" algn="l" rtl="0" eaLnBrk="1" fontAlgn="base" hangingPunct="1">
        <a:spcBef>
          <a:spcPct val="20000"/>
        </a:spcBef>
        <a:spcAft>
          <a:spcPct val="0"/>
        </a:spcAft>
        <a:buClr>
          <a:srgbClr val="8064A2"/>
        </a:buClr>
        <a:buSzPct val="90000"/>
        <a:buFont typeface="Arial" panose="020B0604020202090204" pitchFamily="34" charset="0"/>
        <a:buChar char="–"/>
        <a:defRPr kumimoji="1" sz="2400">
          <a:solidFill>
            <a:schemeClr val="tx1"/>
          </a:solidFill>
          <a:latin typeface="Calibri" panose="020F0702030404030204" pitchFamily="34" charset="0"/>
          <a:ea typeface="標楷體" panose="02010601000101010101" pitchFamily="65" charset="-120"/>
        </a:defRPr>
      </a:lvl2pPr>
      <a:lvl3pPr marL="1142971" indent="-228594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160" indent="-228594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349" indent="-228594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537" indent="-228594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726" indent="-228594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8914" indent="-228594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103" indent="-228594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35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35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35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35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35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35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35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35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35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1E74415-30E6-4BE5-9E20-77352570E8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</a:t>
            </a:fld>
            <a:endParaRPr lang="zh-TW" alt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CCF4834-0539-4513-8D25-641B751175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8968" y="1021404"/>
            <a:ext cx="8160657" cy="2683883"/>
          </a:xfrm>
        </p:spPr>
        <p:txBody>
          <a:bodyPr/>
          <a:lstStyle/>
          <a:p>
            <a:pPr algn="ctr"/>
            <a:r>
              <a:rPr lang="en-US" altLang="zh-TW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CSC3060 – Computer Architecture</a:t>
            </a:r>
            <a:br>
              <a:rPr lang="en-US" altLang="zh-TW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altLang="zh-TW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TW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Chapter </a:t>
            </a:r>
            <a:r>
              <a:rPr lang="en-US" altLang="zh-TW"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 Control</a:t>
            </a:r>
            <a:endParaRPr lang="zh-TW" alt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7EF043F-0047-4EC5-B297-23522E9815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26109" y="4185126"/>
            <a:ext cx="7908692" cy="2339502"/>
          </a:xfrm>
        </p:spPr>
        <p:txBody>
          <a:bodyPr/>
          <a:lstStyle/>
          <a:p>
            <a:r>
              <a:rPr lang="en-US" altLang="zh-TW" sz="2400" dirty="0"/>
              <a:t>Prof. Wei Chung Hsu</a:t>
            </a:r>
          </a:p>
          <a:p>
            <a:endParaRPr lang="en-US" altLang="zh-TW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TW" sz="2400" dirty="0"/>
              <a:t>School of Data Science</a:t>
            </a:r>
          </a:p>
          <a:p>
            <a:r>
              <a:rPr lang="en-US" altLang="zh-TW" sz="2400" dirty="0"/>
              <a:t>Chinese University of Hong Kong, Shenzhen</a:t>
            </a:r>
          </a:p>
        </p:txBody>
      </p:sp>
    </p:spTree>
    <p:extLst>
      <p:ext uri="{BB962C8B-B14F-4D97-AF65-F5344CB8AC3E}">
        <p14:creationId xmlns:p14="http://schemas.microsoft.com/office/powerpoint/2010/main" val="769360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3"/>
          <p:cNvSpPr>
            <a:spLocks noGrp="1" noChangeArrowheads="1"/>
          </p:cNvSpPr>
          <p:nvPr>
            <p:ph type="title"/>
          </p:nvPr>
        </p:nvSpPr>
        <p:spPr>
          <a:xfrm>
            <a:off x="1270428" y="143436"/>
            <a:ext cx="9035624" cy="686441"/>
          </a:xfrm>
        </p:spPr>
        <p:txBody>
          <a:bodyPr/>
          <a:lstStyle/>
          <a:p>
            <a:r>
              <a:rPr lang="en-US" altLang="zh-TW" dirty="0">
                <a:cs typeface="Calibri" panose="020F0702030404030204" pitchFamily="34" charset="0"/>
              </a:rPr>
              <a:t>A Single Cycle Data Path</a:t>
            </a:r>
          </a:p>
        </p:txBody>
      </p:sp>
      <p:sp>
        <p:nvSpPr>
          <p:cNvPr id="44" name="灯片编号占位符 5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pPr defTabSz="1219170"/>
            <a:fld id="{D9B6BDF2-6896-4B98-8776-C18582F63BA5}" type="slidenum">
              <a:rPr lang="zh-TW" altLang="en-US">
                <a:solidFill>
                  <a:prstClr val="white"/>
                </a:solidFill>
              </a:rPr>
              <a:pPr defTabSz="1219170"/>
              <a:t>2</a:t>
            </a:fld>
            <a:endParaRPr lang="zh-TW" altLang="en-US">
              <a:solidFill>
                <a:prstClr val="white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3FBB95-9019-4710-8035-BBBCDDE7F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410" y="1054108"/>
            <a:ext cx="10359956" cy="5210899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03C5866-A254-46D4-BF62-86994A115AE0}"/>
              </a:ext>
            </a:extLst>
          </p:cNvPr>
          <p:cNvCxnSpPr/>
          <p:nvPr/>
        </p:nvCxnSpPr>
        <p:spPr bwMode="auto">
          <a:xfrm>
            <a:off x="8686800" y="1643974"/>
            <a:ext cx="0" cy="1313235"/>
          </a:xfrm>
          <a:prstGeom prst="straightConnector1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oval" w="med" len="med"/>
            <a:tailEnd type="oval" w="med" len="med"/>
          </a:ln>
          <a:effectLst/>
        </p:spPr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D3CC239-E285-4809-9AA3-76BD5F07F4C7}"/>
              </a:ext>
            </a:extLst>
          </p:cNvPr>
          <p:cNvCxnSpPr/>
          <p:nvPr/>
        </p:nvCxnSpPr>
        <p:spPr bwMode="auto">
          <a:xfrm>
            <a:off x="8677072" y="2957209"/>
            <a:ext cx="1945532" cy="0"/>
          </a:xfrm>
          <a:prstGeom prst="line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DC19622-2264-4854-BD58-B3631E0A21BC}"/>
              </a:ext>
            </a:extLst>
          </p:cNvPr>
          <p:cNvCxnSpPr/>
          <p:nvPr/>
        </p:nvCxnSpPr>
        <p:spPr bwMode="auto">
          <a:xfrm>
            <a:off x="10612877" y="2957209"/>
            <a:ext cx="0" cy="982493"/>
          </a:xfrm>
          <a:prstGeom prst="straightConnector1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D558297-0DB0-4135-A185-10C4BFE3568A}"/>
              </a:ext>
            </a:extLst>
          </p:cNvPr>
          <p:cNvSpPr txBox="1"/>
          <p:nvPr/>
        </p:nvSpPr>
        <p:spPr>
          <a:xfrm>
            <a:off x="8822987" y="2591388"/>
            <a:ext cx="2326278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a typeface="標楷體" pitchFamily="65" charset="-120"/>
                <a:cs typeface="Calibri" pitchFamily="34" charset="0"/>
              </a:rPr>
              <a:t>Add this path for JAL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4D75BD-27D3-45A7-B5CC-466DD471B6B6}"/>
              </a:ext>
            </a:extLst>
          </p:cNvPr>
          <p:cNvSpPr txBox="1"/>
          <p:nvPr/>
        </p:nvSpPr>
        <p:spPr>
          <a:xfrm>
            <a:off x="10622604" y="3448455"/>
            <a:ext cx="889987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  <a:ea typeface="標楷體" pitchFamily="65" charset="-120"/>
                <a:cs typeface="Calibri" pitchFamily="34" charset="0"/>
              </a:rPr>
              <a:t>WBsel</a:t>
            </a:r>
            <a:endParaRPr lang="en-US" b="1" dirty="0">
              <a:solidFill>
                <a:srgbClr val="FF0000"/>
              </a:solidFill>
              <a:ea typeface="標楷體" pitchFamily="65" charset="-120"/>
              <a:cs typeface="Calibri" pitchFamily="34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A2FEA2B-15C0-410B-AC78-D001B39FD854}"/>
              </a:ext>
            </a:extLst>
          </p:cNvPr>
          <p:cNvCxnSpPr>
            <a:cxnSpLocks/>
          </p:cNvCxnSpPr>
          <p:nvPr/>
        </p:nvCxnSpPr>
        <p:spPr bwMode="auto">
          <a:xfrm>
            <a:off x="10807430" y="3659557"/>
            <a:ext cx="0" cy="280145"/>
          </a:xfrm>
          <a:prstGeom prst="straightConnector1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ChangeArrowheads="1"/>
          </p:cNvSpPr>
          <p:nvPr/>
        </p:nvSpPr>
        <p:spPr bwMode="auto">
          <a:xfrm>
            <a:off x="6386557" y="4067043"/>
            <a:ext cx="1017588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 defTabSz="121917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kumimoji="1" lang="en-US" altLang="zh-TW" sz="1600" dirty="0" err="1">
                <a:solidFill>
                  <a:srgbClr val="0000FF"/>
                </a:solidFill>
                <a:latin typeface="Arial" panose="020B0604020202090204" pitchFamily="34" charset="0"/>
                <a:ea typeface="新細明體" panose="02020500000000000000" pitchFamily="18" charset="-120"/>
              </a:rPr>
              <a:t>ALUctr</a:t>
            </a:r>
            <a:endParaRPr kumimoji="1" lang="en-US" altLang="zh-TW" sz="1600" dirty="0">
              <a:solidFill>
                <a:srgbClr val="0000FF"/>
              </a:solidFill>
              <a:latin typeface="Arial" panose="020B0604020202090204" pitchFamily="34" charset="0"/>
              <a:ea typeface="新細明體" panose="02020500000000000000" pitchFamily="18" charset="-120"/>
            </a:endParaRPr>
          </a:p>
        </p:txBody>
      </p:sp>
      <p:sp>
        <p:nvSpPr>
          <p:cNvPr id="45060" name="Rectangle 4"/>
          <p:cNvSpPr>
            <a:spLocks noChangeArrowheads="1"/>
          </p:cNvSpPr>
          <p:nvPr/>
        </p:nvSpPr>
        <p:spPr bwMode="auto">
          <a:xfrm>
            <a:off x="5475859" y="4065626"/>
            <a:ext cx="936154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 defTabSz="121917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kumimoji="1" lang="en-US" altLang="zh-TW" sz="1600" dirty="0" err="1">
                <a:solidFill>
                  <a:srgbClr val="0000FF"/>
                </a:solidFill>
                <a:latin typeface="Arial" panose="020B0604020202090204" pitchFamily="34" charset="0"/>
                <a:ea typeface="新細明體" panose="02020500000000000000" pitchFamily="18" charset="-120"/>
              </a:rPr>
              <a:t>ALUSrc</a:t>
            </a:r>
            <a:endParaRPr kumimoji="1" lang="en-US" altLang="zh-TW" sz="1600" dirty="0">
              <a:solidFill>
                <a:srgbClr val="0000FF"/>
              </a:solidFill>
              <a:latin typeface="Arial" panose="020B0604020202090204" pitchFamily="34" charset="0"/>
              <a:ea typeface="新細明體" panose="02020500000000000000" pitchFamily="18" charset="-120"/>
            </a:endParaRPr>
          </a:p>
        </p:txBody>
      </p:sp>
      <p:sp>
        <p:nvSpPr>
          <p:cNvPr id="45061" name="Rectangle 5"/>
          <p:cNvSpPr>
            <a:spLocks noChangeArrowheads="1"/>
          </p:cNvSpPr>
          <p:nvPr/>
        </p:nvSpPr>
        <p:spPr bwMode="auto">
          <a:xfrm>
            <a:off x="4477637" y="4057931"/>
            <a:ext cx="926536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 defTabSz="121917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kumimoji="1" lang="en-US" altLang="zh-TW" sz="1600" dirty="0" err="1">
                <a:solidFill>
                  <a:srgbClr val="0000FF"/>
                </a:solidFill>
                <a:latin typeface="Arial" panose="020B0604020202090204" pitchFamily="34" charset="0"/>
                <a:ea typeface="新細明體" panose="02020500000000000000" pitchFamily="18" charset="-120"/>
              </a:rPr>
              <a:t>MemRd</a:t>
            </a:r>
            <a:endParaRPr kumimoji="1" lang="en-US" altLang="zh-TW" sz="1600" dirty="0">
              <a:solidFill>
                <a:srgbClr val="0000FF"/>
              </a:solidFill>
              <a:latin typeface="Arial" panose="020B0604020202090204" pitchFamily="34" charset="0"/>
              <a:ea typeface="新細明體" panose="02020500000000000000" pitchFamily="18" charset="-120"/>
            </a:endParaRPr>
          </a:p>
        </p:txBody>
      </p:sp>
      <p:sp>
        <p:nvSpPr>
          <p:cNvPr id="45062" name="Rectangle 6"/>
          <p:cNvSpPr>
            <a:spLocks noChangeArrowheads="1"/>
          </p:cNvSpPr>
          <p:nvPr/>
        </p:nvSpPr>
        <p:spPr bwMode="auto">
          <a:xfrm>
            <a:off x="8187956" y="4080587"/>
            <a:ext cx="812723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 defTabSz="121917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kumimoji="1" lang="en-US" altLang="zh-TW" sz="1600" dirty="0" err="1">
                <a:solidFill>
                  <a:srgbClr val="0000FF"/>
                </a:solidFill>
                <a:latin typeface="Arial" panose="020B0604020202090204" pitchFamily="34" charset="0"/>
                <a:ea typeface="新細明體" panose="02020500000000000000" pitchFamily="18" charset="-120"/>
              </a:rPr>
              <a:t>WBsel</a:t>
            </a:r>
            <a:endParaRPr kumimoji="1" lang="en-US" altLang="zh-TW" sz="1600" dirty="0">
              <a:solidFill>
                <a:srgbClr val="0000FF"/>
              </a:solidFill>
              <a:latin typeface="Arial" panose="020B0604020202090204" pitchFamily="34" charset="0"/>
              <a:ea typeface="新細明體" panose="02020500000000000000" pitchFamily="18" charset="-120"/>
            </a:endParaRPr>
          </a:p>
        </p:txBody>
      </p:sp>
      <p:sp>
        <p:nvSpPr>
          <p:cNvPr id="45063" name="Rectangle 7"/>
          <p:cNvSpPr>
            <a:spLocks noChangeArrowheads="1"/>
          </p:cNvSpPr>
          <p:nvPr/>
        </p:nvSpPr>
        <p:spPr bwMode="auto">
          <a:xfrm>
            <a:off x="7168751" y="4074761"/>
            <a:ext cx="924420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 defTabSz="121917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kumimoji="1" lang="en-US" altLang="zh-TW" sz="1600" dirty="0" err="1">
                <a:solidFill>
                  <a:srgbClr val="0000FF"/>
                </a:solidFill>
                <a:latin typeface="Arial" panose="020B0604020202090204" pitchFamily="34" charset="0"/>
                <a:ea typeface="新細明體" panose="02020500000000000000" pitchFamily="18" charset="-120"/>
              </a:rPr>
              <a:t>MemWr</a:t>
            </a:r>
            <a:endParaRPr kumimoji="1" lang="en-US" altLang="zh-TW" sz="1600" dirty="0">
              <a:solidFill>
                <a:srgbClr val="0000FF"/>
              </a:solidFill>
              <a:latin typeface="Arial" panose="020B0604020202090204" pitchFamily="34" charset="0"/>
              <a:ea typeface="新細明體" panose="02020500000000000000" pitchFamily="18" charset="-120"/>
            </a:endParaRPr>
          </a:p>
        </p:txBody>
      </p:sp>
      <p:sp>
        <p:nvSpPr>
          <p:cNvPr id="45064" name="Rectangle 8"/>
          <p:cNvSpPr>
            <a:spLocks noChangeArrowheads="1"/>
          </p:cNvSpPr>
          <p:nvPr/>
        </p:nvSpPr>
        <p:spPr bwMode="auto">
          <a:xfrm>
            <a:off x="9450390" y="3982905"/>
            <a:ext cx="743793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 defTabSz="121917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kumimoji="1" lang="en-US" altLang="zh-TW" sz="1600">
                <a:solidFill>
                  <a:srgbClr val="0000FF"/>
                </a:solidFill>
                <a:latin typeface="Arial" panose="020B0604020202090204" pitchFamily="34" charset="0"/>
                <a:ea typeface="新細明體" panose="02020500000000000000" pitchFamily="18" charset="-120"/>
              </a:rPr>
              <a:t>Equal</a:t>
            </a:r>
          </a:p>
        </p:txBody>
      </p:sp>
      <p:sp>
        <p:nvSpPr>
          <p:cNvPr id="45065" name="Line 9"/>
          <p:cNvSpPr>
            <a:spLocks noChangeShapeType="1"/>
          </p:cNvSpPr>
          <p:nvPr/>
        </p:nvSpPr>
        <p:spPr bwMode="auto">
          <a:xfrm>
            <a:off x="3454401" y="1558792"/>
            <a:ext cx="31369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1219170"/>
            <a:endParaRPr lang="zh-CN" altLang="en-US">
              <a:solidFill>
                <a:prstClr val="black"/>
              </a:solidFill>
              <a:latin typeface="Arial"/>
              <a:ea typeface="新細明體"/>
            </a:endParaRPr>
          </a:p>
        </p:txBody>
      </p:sp>
      <p:sp>
        <p:nvSpPr>
          <p:cNvPr id="45066" name="Rectangle 10"/>
          <p:cNvSpPr>
            <a:spLocks noChangeArrowheads="1"/>
          </p:cNvSpPr>
          <p:nvPr/>
        </p:nvSpPr>
        <p:spPr bwMode="auto">
          <a:xfrm>
            <a:off x="3932239" y="1155568"/>
            <a:ext cx="2268250" cy="4007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 defTabSz="121917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kumimoji="1" lang="en-US" altLang="zh-TW" sz="2000">
                <a:solidFill>
                  <a:prstClr val="black"/>
                </a:solidFill>
                <a:ea typeface="新細明體" panose="02020500000000000000" pitchFamily="18" charset="-120"/>
              </a:rPr>
              <a:t>Instruction&lt;31:0&gt;</a:t>
            </a:r>
          </a:p>
        </p:txBody>
      </p:sp>
      <p:sp>
        <p:nvSpPr>
          <p:cNvPr id="45067" name="Line 11"/>
          <p:cNvSpPr>
            <a:spLocks noChangeShapeType="1"/>
          </p:cNvSpPr>
          <p:nvPr/>
        </p:nvSpPr>
        <p:spPr bwMode="auto">
          <a:xfrm>
            <a:off x="4843463" y="1584192"/>
            <a:ext cx="0" cy="914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1219170"/>
            <a:endParaRPr lang="zh-CN" altLang="en-US">
              <a:solidFill>
                <a:prstClr val="black"/>
              </a:solidFill>
              <a:latin typeface="Arial"/>
              <a:ea typeface="新細明體"/>
            </a:endParaRPr>
          </a:p>
        </p:txBody>
      </p:sp>
      <p:sp>
        <p:nvSpPr>
          <p:cNvPr id="45068" name="Rectangle 12"/>
          <p:cNvSpPr>
            <a:spLocks noChangeArrowheads="1"/>
          </p:cNvSpPr>
          <p:nvPr/>
        </p:nvSpPr>
        <p:spPr bwMode="auto">
          <a:xfrm rot="5400000">
            <a:off x="4576930" y="1853538"/>
            <a:ext cx="950581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 defTabSz="121917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kumimoji="1" lang="zh-TW" altLang="en-US" sz="1600" dirty="0">
                <a:solidFill>
                  <a:prstClr val="black"/>
                </a:solidFill>
                <a:latin typeface="Arial" panose="020B0604020202090204" pitchFamily="34" charset="0"/>
                <a:ea typeface="新細明體" panose="02020500000000000000" pitchFamily="18" charset="-120"/>
              </a:rPr>
              <a:t>&lt;</a:t>
            </a:r>
            <a:r>
              <a:rPr kumimoji="1" lang="en-US" altLang="zh-TW" sz="1600" dirty="0">
                <a:solidFill>
                  <a:prstClr val="black"/>
                </a:solidFill>
                <a:latin typeface="Arial" panose="020B0604020202090204" pitchFamily="34" charset="0"/>
                <a:ea typeface="新細明體" panose="02020500000000000000" pitchFamily="18" charset="-120"/>
              </a:rPr>
              <a:t>15</a:t>
            </a:r>
            <a:r>
              <a:rPr kumimoji="1" lang="zh-TW" altLang="en-US" sz="1600" dirty="0">
                <a:solidFill>
                  <a:prstClr val="black"/>
                </a:solidFill>
                <a:latin typeface="Arial" panose="020B0604020202090204" pitchFamily="34" charset="0"/>
                <a:ea typeface="新細明體" panose="02020500000000000000" pitchFamily="18" charset="-120"/>
              </a:rPr>
              <a:t>:</a:t>
            </a:r>
            <a:r>
              <a:rPr kumimoji="1" lang="en-US" altLang="zh-TW" sz="1600" dirty="0">
                <a:solidFill>
                  <a:prstClr val="black"/>
                </a:solidFill>
                <a:latin typeface="Arial" panose="020B0604020202090204" pitchFamily="34" charset="0"/>
                <a:ea typeface="新細明體" panose="02020500000000000000" pitchFamily="18" charset="-120"/>
              </a:rPr>
              <a:t>19</a:t>
            </a:r>
            <a:r>
              <a:rPr kumimoji="1" lang="zh-TW" altLang="en-US" sz="1600" dirty="0">
                <a:solidFill>
                  <a:prstClr val="black"/>
                </a:solidFill>
                <a:latin typeface="Arial" panose="020B0604020202090204" pitchFamily="34" charset="0"/>
                <a:ea typeface="新細明體" panose="02020500000000000000" pitchFamily="18" charset="-120"/>
              </a:rPr>
              <a:t>&gt;</a:t>
            </a:r>
          </a:p>
        </p:txBody>
      </p:sp>
      <p:sp>
        <p:nvSpPr>
          <p:cNvPr id="45069" name="Rectangle 13"/>
          <p:cNvSpPr>
            <a:spLocks noChangeArrowheads="1"/>
          </p:cNvSpPr>
          <p:nvPr/>
        </p:nvSpPr>
        <p:spPr bwMode="auto">
          <a:xfrm rot="5400000">
            <a:off x="5154779" y="1853538"/>
            <a:ext cx="950581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 defTabSz="121917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kumimoji="1" lang="zh-TW" altLang="en-US" sz="1600" dirty="0">
                <a:solidFill>
                  <a:prstClr val="black"/>
                </a:solidFill>
                <a:latin typeface="Arial" panose="020B0604020202090204" pitchFamily="34" charset="0"/>
                <a:ea typeface="新細明體" panose="02020500000000000000" pitchFamily="18" charset="-120"/>
              </a:rPr>
              <a:t>&lt;</a:t>
            </a:r>
            <a:r>
              <a:rPr kumimoji="1" lang="en-US" altLang="zh-TW" sz="1600" dirty="0">
                <a:solidFill>
                  <a:prstClr val="black"/>
                </a:solidFill>
                <a:latin typeface="Arial" panose="020B0604020202090204" pitchFamily="34" charset="0"/>
                <a:ea typeface="新細明體" panose="02020500000000000000" pitchFamily="18" charset="-120"/>
              </a:rPr>
              <a:t>20</a:t>
            </a:r>
            <a:r>
              <a:rPr kumimoji="1" lang="zh-TW" altLang="en-US" sz="1600" dirty="0">
                <a:solidFill>
                  <a:prstClr val="black"/>
                </a:solidFill>
                <a:latin typeface="Arial" panose="020B0604020202090204" pitchFamily="34" charset="0"/>
                <a:ea typeface="新細明體" panose="02020500000000000000" pitchFamily="18" charset="-120"/>
              </a:rPr>
              <a:t>:2</a:t>
            </a:r>
            <a:r>
              <a:rPr kumimoji="1" lang="en-US" altLang="zh-TW" sz="1600" dirty="0">
                <a:solidFill>
                  <a:prstClr val="black"/>
                </a:solidFill>
                <a:latin typeface="Arial" panose="020B0604020202090204" pitchFamily="34" charset="0"/>
                <a:ea typeface="新細明體" panose="02020500000000000000" pitchFamily="18" charset="-120"/>
              </a:rPr>
              <a:t>4</a:t>
            </a:r>
            <a:r>
              <a:rPr kumimoji="1" lang="zh-TW" altLang="en-US" sz="1600" dirty="0">
                <a:solidFill>
                  <a:prstClr val="black"/>
                </a:solidFill>
                <a:latin typeface="Arial" panose="020B0604020202090204" pitchFamily="34" charset="0"/>
                <a:ea typeface="新細明體" panose="02020500000000000000" pitchFamily="18" charset="-120"/>
              </a:rPr>
              <a:t>&gt;</a:t>
            </a:r>
          </a:p>
        </p:txBody>
      </p:sp>
      <p:sp>
        <p:nvSpPr>
          <p:cNvPr id="45070" name="Rectangle 14"/>
          <p:cNvSpPr>
            <a:spLocks noChangeArrowheads="1"/>
          </p:cNvSpPr>
          <p:nvPr/>
        </p:nvSpPr>
        <p:spPr bwMode="auto">
          <a:xfrm rot="5400000">
            <a:off x="5738303" y="1853538"/>
            <a:ext cx="825419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 defTabSz="121917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kumimoji="1" lang="zh-TW" altLang="en-US" sz="1600" dirty="0">
                <a:solidFill>
                  <a:prstClr val="black"/>
                </a:solidFill>
                <a:latin typeface="Arial" panose="020B0604020202090204" pitchFamily="34" charset="0"/>
                <a:ea typeface="新細明體" panose="02020500000000000000" pitchFamily="18" charset="-120"/>
              </a:rPr>
              <a:t>&lt;</a:t>
            </a:r>
            <a:r>
              <a:rPr kumimoji="1" lang="en-US" altLang="zh-TW" sz="1600" dirty="0">
                <a:solidFill>
                  <a:prstClr val="black"/>
                </a:solidFill>
                <a:latin typeface="Arial" panose="020B0604020202090204" pitchFamily="34" charset="0"/>
                <a:ea typeface="新細明體" panose="02020500000000000000" pitchFamily="18" charset="-120"/>
              </a:rPr>
              <a:t>7</a:t>
            </a:r>
            <a:r>
              <a:rPr kumimoji="1" lang="zh-TW" altLang="en-US" sz="1600" dirty="0">
                <a:solidFill>
                  <a:prstClr val="black"/>
                </a:solidFill>
                <a:latin typeface="Arial" panose="020B0604020202090204" pitchFamily="34" charset="0"/>
                <a:ea typeface="新細明體" panose="02020500000000000000" pitchFamily="18" charset="-120"/>
              </a:rPr>
              <a:t>:1</a:t>
            </a:r>
            <a:r>
              <a:rPr kumimoji="1" lang="en-US" altLang="zh-TW" sz="1600" dirty="0">
                <a:solidFill>
                  <a:prstClr val="black"/>
                </a:solidFill>
                <a:latin typeface="Arial" panose="020B0604020202090204" pitchFamily="34" charset="0"/>
                <a:ea typeface="新細明體" panose="02020500000000000000" pitchFamily="18" charset="-120"/>
              </a:rPr>
              <a:t>1</a:t>
            </a:r>
            <a:r>
              <a:rPr kumimoji="1" lang="zh-TW" altLang="en-US" sz="1600" dirty="0">
                <a:solidFill>
                  <a:prstClr val="black"/>
                </a:solidFill>
                <a:latin typeface="Arial" panose="020B0604020202090204" pitchFamily="34" charset="0"/>
                <a:ea typeface="新細明體" panose="02020500000000000000" pitchFamily="18" charset="-120"/>
              </a:rPr>
              <a:t>&gt;</a:t>
            </a:r>
          </a:p>
        </p:txBody>
      </p:sp>
      <p:sp>
        <p:nvSpPr>
          <p:cNvPr id="45071" name="Rectangle 15"/>
          <p:cNvSpPr>
            <a:spLocks noChangeArrowheads="1"/>
          </p:cNvSpPr>
          <p:nvPr/>
        </p:nvSpPr>
        <p:spPr bwMode="auto">
          <a:xfrm rot="5400000">
            <a:off x="6312618" y="1847982"/>
            <a:ext cx="950581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 defTabSz="121917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kumimoji="1" lang="zh-TW" altLang="en-US" sz="1600" dirty="0">
                <a:solidFill>
                  <a:prstClr val="black"/>
                </a:solidFill>
                <a:latin typeface="Arial" panose="020B0604020202090204" pitchFamily="34" charset="0"/>
                <a:ea typeface="新細明體" panose="02020500000000000000" pitchFamily="18" charset="-120"/>
              </a:rPr>
              <a:t>&lt;</a:t>
            </a:r>
            <a:r>
              <a:rPr kumimoji="1" lang="en-US" altLang="zh-TW" sz="1600" dirty="0">
                <a:solidFill>
                  <a:prstClr val="black"/>
                </a:solidFill>
                <a:latin typeface="Arial" panose="020B0604020202090204" pitchFamily="34" charset="0"/>
                <a:ea typeface="新細明體" panose="02020500000000000000" pitchFamily="18" charset="-120"/>
              </a:rPr>
              <a:t>20:31</a:t>
            </a:r>
            <a:r>
              <a:rPr kumimoji="1" lang="zh-TW" altLang="en-US" sz="1600" dirty="0">
                <a:solidFill>
                  <a:prstClr val="black"/>
                </a:solidFill>
                <a:latin typeface="Arial" panose="020B0604020202090204" pitchFamily="34" charset="0"/>
                <a:ea typeface="新細明體" panose="02020500000000000000" pitchFamily="18" charset="-120"/>
              </a:rPr>
              <a:t>&gt;</a:t>
            </a:r>
          </a:p>
        </p:txBody>
      </p:sp>
      <p:sp>
        <p:nvSpPr>
          <p:cNvPr id="45072" name="Line 16"/>
          <p:cNvSpPr>
            <a:spLocks noChangeShapeType="1"/>
          </p:cNvSpPr>
          <p:nvPr/>
        </p:nvSpPr>
        <p:spPr bwMode="auto">
          <a:xfrm>
            <a:off x="5421313" y="1584192"/>
            <a:ext cx="0" cy="914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1219170"/>
            <a:endParaRPr lang="zh-CN" altLang="en-US">
              <a:solidFill>
                <a:prstClr val="black"/>
              </a:solidFill>
              <a:latin typeface="Arial"/>
              <a:ea typeface="新細明體"/>
            </a:endParaRPr>
          </a:p>
        </p:txBody>
      </p:sp>
      <p:sp>
        <p:nvSpPr>
          <p:cNvPr id="45073" name="Line 17"/>
          <p:cNvSpPr>
            <a:spLocks noChangeShapeType="1"/>
          </p:cNvSpPr>
          <p:nvPr/>
        </p:nvSpPr>
        <p:spPr bwMode="auto">
          <a:xfrm>
            <a:off x="5999163" y="1584192"/>
            <a:ext cx="0" cy="914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1219170"/>
            <a:endParaRPr lang="zh-CN" altLang="en-US">
              <a:solidFill>
                <a:prstClr val="black"/>
              </a:solidFill>
              <a:latin typeface="Arial"/>
              <a:ea typeface="新細明體"/>
            </a:endParaRPr>
          </a:p>
        </p:txBody>
      </p:sp>
      <p:sp>
        <p:nvSpPr>
          <p:cNvPr id="45074" name="Line 18"/>
          <p:cNvSpPr>
            <a:spLocks noChangeShapeType="1"/>
          </p:cNvSpPr>
          <p:nvPr/>
        </p:nvSpPr>
        <p:spPr bwMode="auto">
          <a:xfrm>
            <a:off x="6577013" y="1584192"/>
            <a:ext cx="0" cy="914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1219170"/>
            <a:endParaRPr lang="zh-CN" altLang="en-US">
              <a:solidFill>
                <a:prstClr val="black"/>
              </a:solidFill>
              <a:latin typeface="Arial"/>
              <a:ea typeface="新細明體"/>
            </a:endParaRPr>
          </a:p>
        </p:txBody>
      </p:sp>
      <p:sp>
        <p:nvSpPr>
          <p:cNvPr id="45075" name="Rectangle 19"/>
          <p:cNvSpPr>
            <a:spLocks noChangeArrowheads="1"/>
          </p:cNvSpPr>
          <p:nvPr/>
        </p:nvSpPr>
        <p:spPr bwMode="auto">
          <a:xfrm>
            <a:off x="6313489" y="2433505"/>
            <a:ext cx="836768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 defTabSz="121917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kumimoji="1" lang="en-US" altLang="zh-TW" sz="1600" dirty="0">
                <a:solidFill>
                  <a:prstClr val="black"/>
                </a:solidFill>
                <a:latin typeface="Arial" panose="020B0604020202090204" pitchFamily="34" charset="0"/>
                <a:ea typeface="新細明體" panose="02020500000000000000" pitchFamily="18" charset="-120"/>
              </a:rPr>
              <a:t>Imm12</a:t>
            </a:r>
          </a:p>
        </p:txBody>
      </p:sp>
      <p:sp>
        <p:nvSpPr>
          <p:cNvPr id="45076" name="Rectangle 20"/>
          <p:cNvSpPr>
            <a:spLocks noChangeArrowheads="1"/>
          </p:cNvSpPr>
          <p:nvPr/>
        </p:nvSpPr>
        <p:spPr bwMode="auto">
          <a:xfrm>
            <a:off x="5735639" y="2433505"/>
            <a:ext cx="458459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 defTabSz="121917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kumimoji="1" lang="en-US" altLang="zh-TW" sz="1600">
                <a:solidFill>
                  <a:prstClr val="black"/>
                </a:solidFill>
                <a:latin typeface="Arial" panose="020B0604020202090204" pitchFamily="34" charset="0"/>
                <a:ea typeface="新細明體" panose="02020500000000000000" pitchFamily="18" charset="-120"/>
              </a:rPr>
              <a:t>Rd</a:t>
            </a:r>
          </a:p>
        </p:txBody>
      </p:sp>
      <p:sp>
        <p:nvSpPr>
          <p:cNvPr id="45077" name="Rectangle 21"/>
          <p:cNvSpPr>
            <a:spLocks noChangeArrowheads="1"/>
          </p:cNvSpPr>
          <p:nvPr/>
        </p:nvSpPr>
        <p:spPr bwMode="auto">
          <a:xfrm>
            <a:off x="5240340" y="2433505"/>
            <a:ext cx="561051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 defTabSz="121917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kumimoji="1" lang="en-US" altLang="zh-TW" sz="1600" dirty="0">
                <a:solidFill>
                  <a:prstClr val="black"/>
                </a:solidFill>
                <a:latin typeface="Arial" panose="020B0604020202090204" pitchFamily="34" charset="0"/>
                <a:ea typeface="新細明體" panose="02020500000000000000" pitchFamily="18" charset="-120"/>
              </a:rPr>
              <a:t>Rs2</a:t>
            </a:r>
          </a:p>
        </p:txBody>
      </p:sp>
      <p:sp>
        <p:nvSpPr>
          <p:cNvPr id="45078" name="Rectangle 22"/>
          <p:cNvSpPr>
            <a:spLocks noChangeArrowheads="1"/>
          </p:cNvSpPr>
          <p:nvPr/>
        </p:nvSpPr>
        <p:spPr bwMode="auto">
          <a:xfrm>
            <a:off x="4662489" y="2433505"/>
            <a:ext cx="561051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 defTabSz="121917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kumimoji="1" lang="en-US" altLang="zh-TW" sz="1600" dirty="0">
                <a:solidFill>
                  <a:prstClr val="black"/>
                </a:solidFill>
                <a:latin typeface="Arial" panose="020B0604020202090204" pitchFamily="34" charset="0"/>
                <a:ea typeface="新細明體" panose="02020500000000000000" pitchFamily="18" charset="-120"/>
              </a:rPr>
              <a:t>Rs1</a:t>
            </a:r>
          </a:p>
        </p:txBody>
      </p:sp>
      <p:sp>
        <p:nvSpPr>
          <p:cNvPr id="45079" name="Rectangle 23"/>
          <p:cNvSpPr>
            <a:spLocks noChangeArrowheads="1"/>
          </p:cNvSpPr>
          <p:nvPr/>
        </p:nvSpPr>
        <p:spPr bwMode="auto">
          <a:xfrm>
            <a:off x="2489633" y="4051694"/>
            <a:ext cx="777457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 defTabSz="121917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kumimoji="1" lang="en-US" altLang="zh-TW" sz="1600" dirty="0" err="1">
                <a:solidFill>
                  <a:srgbClr val="0000FF"/>
                </a:solidFill>
                <a:latin typeface="Arial" panose="020B0604020202090204" pitchFamily="34" charset="0"/>
                <a:ea typeface="新細明體" panose="02020500000000000000" pitchFamily="18" charset="-120"/>
              </a:rPr>
              <a:t>PCsrc</a:t>
            </a:r>
            <a:endParaRPr kumimoji="1" lang="en-US" altLang="zh-TW" sz="1600" dirty="0">
              <a:solidFill>
                <a:srgbClr val="0000FF"/>
              </a:solidFill>
              <a:latin typeface="Arial" panose="020B0604020202090204" pitchFamily="34" charset="0"/>
              <a:ea typeface="新細明體" panose="02020500000000000000" pitchFamily="18" charset="-120"/>
            </a:endParaRPr>
          </a:p>
        </p:txBody>
      </p:sp>
      <p:sp>
        <p:nvSpPr>
          <p:cNvPr id="45080" name="Rectangle 24"/>
          <p:cNvSpPr>
            <a:spLocks noChangeArrowheads="1"/>
          </p:cNvSpPr>
          <p:nvPr/>
        </p:nvSpPr>
        <p:spPr bwMode="auto">
          <a:xfrm>
            <a:off x="2233613" y="1380992"/>
            <a:ext cx="1193800" cy="100012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 defTabSz="121917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zh-TW" altLang="en-US" b="0">
              <a:solidFill>
                <a:prstClr val="black"/>
              </a:solidFill>
              <a:latin typeface="Times New Roman" panose="02020703060505090304" pitchFamily="18" charset="0"/>
              <a:ea typeface="新細明體" panose="02020500000000000000" pitchFamily="18" charset="-120"/>
            </a:endParaRPr>
          </a:p>
        </p:txBody>
      </p:sp>
      <p:sp>
        <p:nvSpPr>
          <p:cNvPr id="45081" name="Rectangle 25"/>
          <p:cNvSpPr>
            <a:spLocks noChangeArrowheads="1"/>
          </p:cNvSpPr>
          <p:nvPr/>
        </p:nvSpPr>
        <p:spPr bwMode="auto">
          <a:xfrm>
            <a:off x="2763839" y="2123943"/>
            <a:ext cx="663643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 defTabSz="121917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kumimoji="1" lang="en-US" altLang="zh-TW" sz="1600">
                <a:solidFill>
                  <a:prstClr val="black"/>
                </a:solidFill>
                <a:latin typeface="Arial" panose="020B0604020202090204" pitchFamily="34" charset="0"/>
                <a:ea typeface="新細明體" panose="02020500000000000000" pitchFamily="18" charset="-120"/>
              </a:rPr>
              <a:t>Addr</a:t>
            </a:r>
          </a:p>
        </p:txBody>
      </p:sp>
      <p:sp>
        <p:nvSpPr>
          <p:cNvPr id="45082" name="Rectangle 26"/>
          <p:cNvSpPr>
            <a:spLocks noChangeArrowheads="1"/>
          </p:cNvSpPr>
          <p:nvPr/>
        </p:nvSpPr>
        <p:spPr bwMode="auto">
          <a:xfrm>
            <a:off x="2207099" y="1431792"/>
            <a:ext cx="1215076" cy="7085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 algn="ctr" defTabSz="121917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kumimoji="1" lang="en-US" altLang="zh-TW" sz="2000">
                <a:solidFill>
                  <a:prstClr val="black"/>
                </a:solidFill>
                <a:ea typeface="新細明體" panose="02020500000000000000" pitchFamily="18" charset="-120"/>
              </a:rPr>
              <a:t>Inst.</a:t>
            </a:r>
          </a:p>
          <a:p>
            <a:pPr algn="ctr" defTabSz="121917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kumimoji="1" lang="en-US" altLang="zh-TW" sz="2000">
                <a:solidFill>
                  <a:prstClr val="black"/>
                </a:solidFill>
                <a:ea typeface="新細明體" panose="02020500000000000000" pitchFamily="18" charset="-120"/>
              </a:rPr>
              <a:t>Memory</a:t>
            </a:r>
          </a:p>
        </p:txBody>
      </p:sp>
      <p:sp>
        <p:nvSpPr>
          <p:cNvPr id="45083" name="Rectangle 27"/>
          <p:cNvSpPr>
            <a:spLocks noChangeArrowheads="1"/>
          </p:cNvSpPr>
          <p:nvPr/>
        </p:nvSpPr>
        <p:spPr bwMode="auto">
          <a:xfrm>
            <a:off x="2841625" y="4816343"/>
            <a:ext cx="6865939" cy="1206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 defTabSz="121917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zh-TW" altLang="en-US" b="0">
              <a:solidFill>
                <a:prstClr val="black"/>
              </a:solidFill>
              <a:latin typeface="Times New Roman" panose="02020703060505090304" pitchFamily="18" charset="0"/>
              <a:ea typeface="新細明體" panose="02020500000000000000" pitchFamily="18" charset="-120"/>
            </a:endParaRPr>
          </a:p>
        </p:txBody>
      </p:sp>
      <p:sp>
        <p:nvSpPr>
          <p:cNvPr id="45084" name="Rectangle 28"/>
          <p:cNvSpPr>
            <a:spLocks noChangeArrowheads="1"/>
          </p:cNvSpPr>
          <p:nvPr/>
        </p:nvSpPr>
        <p:spPr bwMode="auto">
          <a:xfrm>
            <a:off x="5116514" y="5176705"/>
            <a:ext cx="1585370" cy="4623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 defTabSz="121917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kumimoji="1" lang="en-US" altLang="zh-TW">
                <a:solidFill>
                  <a:prstClr val="black"/>
                </a:solidFill>
                <a:ea typeface="新細明體" panose="02020500000000000000" pitchFamily="18" charset="-120"/>
              </a:rPr>
              <a:t>Datapath</a:t>
            </a:r>
          </a:p>
        </p:txBody>
      </p:sp>
      <p:sp>
        <p:nvSpPr>
          <p:cNvPr id="45085" name="Line 29"/>
          <p:cNvSpPr>
            <a:spLocks noChangeShapeType="1"/>
          </p:cNvSpPr>
          <p:nvPr/>
        </p:nvSpPr>
        <p:spPr bwMode="auto">
          <a:xfrm>
            <a:off x="2890839" y="4352792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1219170"/>
            <a:endParaRPr lang="zh-CN" altLang="en-US">
              <a:solidFill>
                <a:prstClr val="black"/>
              </a:solidFill>
              <a:latin typeface="Arial"/>
              <a:ea typeface="新細明體"/>
            </a:endParaRPr>
          </a:p>
        </p:txBody>
      </p:sp>
      <p:sp>
        <p:nvSpPr>
          <p:cNvPr id="45087" name="Line 31"/>
          <p:cNvSpPr>
            <a:spLocks noChangeShapeType="1"/>
          </p:cNvSpPr>
          <p:nvPr/>
        </p:nvSpPr>
        <p:spPr bwMode="auto">
          <a:xfrm>
            <a:off x="4885496" y="4403592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1219170"/>
            <a:endParaRPr lang="zh-CN" altLang="en-US">
              <a:solidFill>
                <a:prstClr val="black"/>
              </a:solidFill>
              <a:latin typeface="Arial"/>
              <a:ea typeface="新細明體"/>
            </a:endParaRPr>
          </a:p>
        </p:txBody>
      </p:sp>
      <p:sp>
        <p:nvSpPr>
          <p:cNvPr id="45088" name="Line 32"/>
          <p:cNvSpPr>
            <a:spLocks noChangeShapeType="1"/>
          </p:cNvSpPr>
          <p:nvPr/>
        </p:nvSpPr>
        <p:spPr bwMode="auto">
          <a:xfrm>
            <a:off x="5980781" y="4390892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1219170"/>
            <a:endParaRPr lang="zh-CN" altLang="en-US">
              <a:solidFill>
                <a:prstClr val="black"/>
              </a:solidFill>
              <a:latin typeface="Arial"/>
              <a:ea typeface="新細明體"/>
            </a:endParaRPr>
          </a:p>
        </p:txBody>
      </p:sp>
      <p:sp>
        <p:nvSpPr>
          <p:cNvPr id="45089" name="Line 33"/>
          <p:cNvSpPr>
            <a:spLocks noChangeShapeType="1"/>
          </p:cNvSpPr>
          <p:nvPr/>
        </p:nvSpPr>
        <p:spPr bwMode="auto">
          <a:xfrm>
            <a:off x="6772319" y="4365492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1219170"/>
            <a:endParaRPr lang="zh-CN" altLang="en-US">
              <a:solidFill>
                <a:prstClr val="black"/>
              </a:solidFill>
              <a:latin typeface="Arial"/>
              <a:ea typeface="新細明體"/>
            </a:endParaRPr>
          </a:p>
        </p:txBody>
      </p:sp>
      <p:sp>
        <p:nvSpPr>
          <p:cNvPr id="45090" name="Line 34"/>
          <p:cNvSpPr>
            <a:spLocks noChangeShapeType="1"/>
          </p:cNvSpPr>
          <p:nvPr/>
        </p:nvSpPr>
        <p:spPr bwMode="auto">
          <a:xfrm>
            <a:off x="7597813" y="4378192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1219170"/>
            <a:endParaRPr lang="zh-CN" altLang="en-US">
              <a:solidFill>
                <a:prstClr val="black"/>
              </a:solidFill>
              <a:latin typeface="Arial"/>
              <a:ea typeface="新細明體"/>
            </a:endParaRPr>
          </a:p>
        </p:txBody>
      </p:sp>
      <p:sp>
        <p:nvSpPr>
          <p:cNvPr id="45091" name="Line 35"/>
          <p:cNvSpPr>
            <a:spLocks noChangeShapeType="1"/>
          </p:cNvSpPr>
          <p:nvPr/>
        </p:nvSpPr>
        <p:spPr bwMode="auto">
          <a:xfrm>
            <a:off x="8600108" y="4327392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1219170"/>
            <a:endParaRPr lang="zh-CN" altLang="en-US">
              <a:solidFill>
                <a:prstClr val="black"/>
              </a:solidFill>
              <a:latin typeface="Arial"/>
              <a:ea typeface="新細明體"/>
            </a:endParaRPr>
          </a:p>
        </p:txBody>
      </p:sp>
      <p:sp>
        <p:nvSpPr>
          <p:cNvPr id="45092" name="Line 36"/>
          <p:cNvSpPr>
            <a:spLocks noChangeShapeType="1"/>
          </p:cNvSpPr>
          <p:nvPr/>
        </p:nvSpPr>
        <p:spPr bwMode="auto">
          <a:xfrm>
            <a:off x="9342439" y="4022592"/>
            <a:ext cx="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1219170"/>
            <a:endParaRPr lang="zh-CN" altLang="en-US">
              <a:solidFill>
                <a:prstClr val="black"/>
              </a:solidFill>
              <a:latin typeface="Arial"/>
              <a:ea typeface="新細明體"/>
            </a:endParaRPr>
          </a:p>
        </p:txBody>
      </p:sp>
      <p:sp>
        <p:nvSpPr>
          <p:cNvPr id="45093" name="AutoShape 37"/>
          <p:cNvSpPr>
            <a:spLocks noChangeArrowheads="1"/>
          </p:cNvSpPr>
          <p:nvPr/>
        </p:nvSpPr>
        <p:spPr bwMode="auto">
          <a:xfrm>
            <a:off x="2759077" y="2670043"/>
            <a:ext cx="6948488" cy="1231900"/>
          </a:xfrm>
          <a:prstGeom prst="roundRect">
            <a:avLst>
              <a:gd name="adj" fmla="val 12495"/>
            </a:avLst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 defTabSz="121917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zh-TW" altLang="en-US" b="0">
              <a:solidFill>
                <a:prstClr val="black"/>
              </a:solidFill>
              <a:latin typeface="Times New Roman" panose="02020703060505090304" pitchFamily="18" charset="0"/>
              <a:ea typeface="新細明體" panose="02020500000000000000" pitchFamily="18" charset="-120"/>
            </a:endParaRPr>
          </a:p>
        </p:txBody>
      </p:sp>
      <p:sp>
        <p:nvSpPr>
          <p:cNvPr id="45094" name="Rectangle 38"/>
          <p:cNvSpPr>
            <a:spLocks noChangeArrowheads="1"/>
          </p:cNvSpPr>
          <p:nvPr/>
        </p:nvSpPr>
        <p:spPr bwMode="auto">
          <a:xfrm>
            <a:off x="5211763" y="3132005"/>
            <a:ext cx="1269578" cy="4623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 defTabSz="121917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kumimoji="1" lang="en-US" altLang="zh-TW">
                <a:solidFill>
                  <a:prstClr val="black"/>
                </a:solidFill>
                <a:ea typeface="新細明體" panose="02020500000000000000" pitchFamily="18" charset="-120"/>
              </a:rPr>
              <a:t>Control</a:t>
            </a:r>
          </a:p>
        </p:txBody>
      </p:sp>
      <p:sp>
        <p:nvSpPr>
          <p:cNvPr id="45095" name="Line 39"/>
          <p:cNvSpPr>
            <a:spLocks noChangeShapeType="1"/>
          </p:cNvSpPr>
          <p:nvPr/>
        </p:nvSpPr>
        <p:spPr bwMode="auto">
          <a:xfrm>
            <a:off x="3811588" y="1558792"/>
            <a:ext cx="0" cy="914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1219170"/>
            <a:endParaRPr lang="zh-CN" altLang="en-US">
              <a:solidFill>
                <a:prstClr val="black"/>
              </a:solidFill>
              <a:latin typeface="Arial"/>
              <a:ea typeface="新細明體"/>
            </a:endParaRPr>
          </a:p>
        </p:txBody>
      </p:sp>
      <p:sp>
        <p:nvSpPr>
          <p:cNvPr id="45096" name="Rectangle 40"/>
          <p:cNvSpPr>
            <a:spLocks noChangeArrowheads="1"/>
          </p:cNvSpPr>
          <p:nvPr/>
        </p:nvSpPr>
        <p:spPr bwMode="auto">
          <a:xfrm>
            <a:off x="3630614" y="2408105"/>
            <a:ext cx="471283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 defTabSz="121917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kumimoji="1" lang="en-US" altLang="zh-TW" sz="1600">
                <a:solidFill>
                  <a:prstClr val="black"/>
                </a:solidFill>
                <a:latin typeface="Arial" panose="020B0604020202090204" pitchFamily="34" charset="0"/>
                <a:ea typeface="新細明體" panose="02020500000000000000" pitchFamily="18" charset="-120"/>
              </a:rPr>
              <a:t>Op</a:t>
            </a:r>
          </a:p>
        </p:txBody>
      </p:sp>
      <p:sp>
        <p:nvSpPr>
          <p:cNvPr id="45097" name="Line 41"/>
          <p:cNvSpPr>
            <a:spLocks noChangeShapeType="1"/>
          </p:cNvSpPr>
          <p:nvPr/>
        </p:nvSpPr>
        <p:spPr bwMode="auto">
          <a:xfrm>
            <a:off x="4238625" y="1558792"/>
            <a:ext cx="0" cy="914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1219170"/>
            <a:endParaRPr lang="zh-CN" altLang="en-US">
              <a:solidFill>
                <a:prstClr val="black"/>
              </a:solidFill>
              <a:latin typeface="Arial"/>
              <a:ea typeface="新細明體"/>
            </a:endParaRPr>
          </a:p>
        </p:txBody>
      </p:sp>
      <p:sp>
        <p:nvSpPr>
          <p:cNvPr id="45098" name="Rectangle 42"/>
          <p:cNvSpPr>
            <a:spLocks noChangeArrowheads="1"/>
          </p:cNvSpPr>
          <p:nvPr/>
        </p:nvSpPr>
        <p:spPr bwMode="auto">
          <a:xfrm rot="5400000">
            <a:off x="4008779" y="1806706"/>
            <a:ext cx="950581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 defTabSz="121917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kumimoji="1" lang="zh-TW" altLang="en-US" sz="1600" dirty="0">
                <a:solidFill>
                  <a:prstClr val="black"/>
                </a:solidFill>
                <a:latin typeface="Arial" panose="020B0604020202090204" pitchFamily="34" charset="0"/>
                <a:ea typeface="新細明體" panose="02020500000000000000" pitchFamily="18" charset="-120"/>
              </a:rPr>
              <a:t>&lt;</a:t>
            </a:r>
            <a:r>
              <a:rPr kumimoji="1" lang="en-US" altLang="zh-TW" sz="1600" dirty="0">
                <a:solidFill>
                  <a:prstClr val="black"/>
                </a:solidFill>
                <a:latin typeface="Arial" panose="020B0604020202090204" pitchFamily="34" charset="0"/>
                <a:ea typeface="新細明體" panose="02020500000000000000" pitchFamily="18" charset="-120"/>
              </a:rPr>
              <a:t>12</a:t>
            </a:r>
            <a:r>
              <a:rPr kumimoji="1" lang="zh-TW" altLang="en-US" sz="1600" dirty="0">
                <a:solidFill>
                  <a:prstClr val="black"/>
                </a:solidFill>
                <a:latin typeface="Arial" panose="020B0604020202090204" pitchFamily="34" charset="0"/>
                <a:ea typeface="新細明體" panose="02020500000000000000" pitchFamily="18" charset="-120"/>
              </a:rPr>
              <a:t>:</a:t>
            </a:r>
            <a:r>
              <a:rPr kumimoji="1" lang="en-US" altLang="zh-TW" sz="1600" dirty="0">
                <a:solidFill>
                  <a:prstClr val="black"/>
                </a:solidFill>
                <a:latin typeface="Arial" panose="020B0604020202090204" pitchFamily="34" charset="0"/>
                <a:ea typeface="新細明體" panose="02020500000000000000" pitchFamily="18" charset="-120"/>
              </a:rPr>
              <a:t>14</a:t>
            </a:r>
            <a:r>
              <a:rPr kumimoji="1" lang="zh-TW" altLang="en-US" sz="1600" dirty="0">
                <a:solidFill>
                  <a:prstClr val="black"/>
                </a:solidFill>
                <a:latin typeface="Arial" panose="020B0604020202090204" pitchFamily="34" charset="0"/>
                <a:ea typeface="新細明體" panose="02020500000000000000" pitchFamily="18" charset="-120"/>
              </a:rPr>
              <a:t>&gt;</a:t>
            </a:r>
          </a:p>
        </p:txBody>
      </p:sp>
      <p:sp>
        <p:nvSpPr>
          <p:cNvPr id="45099" name="Rectangle 43"/>
          <p:cNvSpPr>
            <a:spLocks noChangeArrowheads="1"/>
          </p:cNvSpPr>
          <p:nvPr/>
        </p:nvSpPr>
        <p:spPr bwMode="auto">
          <a:xfrm>
            <a:off x="3976690" y="2408105"/>
            <a:ext cx="743793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 defTabSz="121917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kumimoji="1" lang="en-US" altLang="zh-TW" sz="1600">
                <a:solidFill>
                  <a:prstClr val="black"/>
                </a:solidFill>
                <a:latin typeface="Arial" panose="020B0604020202090204" pitchFamily="34" charset="0"/>
                <a:ea typeface="新細明體" panose="02020500000000000000" pitchFamily="18" charset="-120"/>
              </a:rPr>
              <a:t>Funct</a:t>
            </a:r>
          </a:p>
        </p:txBody>
      </p:sp>
      <p:sp>
        <p:nvSpPr>
          <p:cNvPr id="45100" name="Rectangle 44"/>
          <p:cNvSpPr>
            <a:spLocks noChangeArrowheads="1"/>
          </p:cNvSpPr>
          <p:nvPr/>
        </p:nvSpPr>
        <p:spPr bwMode="auto">
          <a:xfrm>
            <a:off x="3370916" y="4067043"/>
            <a:ext cx="842667" cy="339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9" rIns="92075" bIns="46039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 defTabSz="121917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kumimoji="1" lang="en-US" altLang="zh-TW" sz="1600" dirty="0" err="1">
                <a:solidFill>
                  <a:srgbClr val="0000FF"/>
                </a:solidFill>
                <a:latin typeface="Arial" panose="020B0604020202090204" pitchFamily="34" charset="0"/>
                <a:ea typeface="新細明體" panose="02020500000000000000" pitchFamily="18" charset="-120"/>
              </a:rPr>
              <a:t>RegWr</a:t>
            </a:r>
            <a:endParaRPr kumimoji="1" lang="en-US" altLang="zh-TW" sz="1600" dirty="0">
              <a:solidFill>
                <a:srgbClr val="0000FF"/>
              </a:solidFill>
              <a:latin typeface="Arial" panose="020B0604020202090204" pitchFamily="34" charset="0"/>
              <a:ea typeface="新細明體" panose="02020500000000000000" pitchFamily="18" charset="-120"/>
            </a:endParaRPr>
          </a:p>
        </p:txBody>
      </p:sp>
      <p:sp>
        <p:nvSpPr>
          <p:cNvPr id="45101" name="Line 45"/>
          <p:cNvSpPr>
            <a:spLocks noChangeShapeType="1"/>
          </p:cNvSpPr>
          <p:nvPr/>
        </p:nvSpPr>
        <p:spPr bwMode="auto">
          <a:xfrm>
            <a:off x="3791603" y="4380058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1219170"/>
            <a:endParaRPr lang="zh-CN" altLang="en-US">
              <a:solidFill>
                <a:prstClr val="black"/>
              </a:solidFill>
              <a:latin typeface="Arial"/>
              <a:ea typeface="新細明體"/>
            </a:endParaRPr>
          </a:p>
        </p:txBody>
      </p:sp>
      <p:sp>
        <p:nvSpPr>
          <p:cNvPr id="45102" name="Rectangle 46"/>
          <p:cNvSpPr>
            <a:spLocks noGrp="1" noChangeArrowheads="1"/>
          </p:cNvSpPr>
          <p:nvPr>
            <p:ph type="title"/>
          </p:nvPr>
        </p:nvSpPr>
        <p:spPr>
          <a:xfrm>
            <a:off x="1270428" y="133190"/>
            <a:ext cx="9035624" cy="717177"/>
          </a:xfrm>
        </p:spPr>
        <p:txBody>
          <a:bodyPr/>
          <a:lstStyle/>
          <a:p>
            <a:r>
              <a:rPr lang="en-US" altLang="zh-TW" dirty="0"/>
              <a:t>Control Points and Signals</a:t>
            </a:r>
          </a:p>
        </p:txBody>
      </p:sp>
      <p:sp>
        <p:nvSpPr>
          <p:cNvPr id="48" name="灯片编号占位符 5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pPr defTabSz="1219170"/>
            <a:fld id="{D9B6BDF2-6896-4B98-8776-C18582F63BA5}" type="slidenum">
              <a:rPr lang="zh-TW" altLang="en-US">
                <a:solidFill>
                  <a:prstClr val="white"/>
                </a:solidFill>
              </a:rPr>
              <a:pPr defTabSz="1219170"/>
              <a:t>3</a:t>
            </a:fld>
            <a:endParaRPr lang="zh-TW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78D027-F5D0-47A0-9068-E0F7BFE8E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941" y="1189112"/>
            <a:ext cx="11544102" cy="4756826"/>
          </a:xfrm>
          <a:prstGeom prst="rect">
            <a:avLst/>
          </a:prstGeom>
        </p:spPr>
      </p:pic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1239692" y="174172"/>
            <a:ext cx="9066360" cy="604477"/>
          </a:xfrm>
        </p:spPr>
        <p:txBody>
          <a:bodyPr/>
          <a:lstStyle/>
          <a:p>
            <a:r>
              <a:rPr lang="en-US" altLang="zh-TW" dirty="0">
                <a:sym typeface="+mn-ea"/>
              </a:rPr>
              <a:t>Step 4 - Control Points and Signals</a:t>
            </a:r>
            <a:endParaRPr lang="en-US" altLang="zh-TW" dirty="0"/>
          </a:p>
        </p:txBody>
      </p:sp>
      <p:sp>
        <p:nvSpPr>
          <p:cNvPr id="46086" name="Text Box 5"/>
          <p:cNvSpPr txBox="1">
            <a:spLocks noChangeArrowheads="1"/>
          </p:cNvSpPr>
          <p:nvPr/>
        </p:nvSpPr>
        <p:spPr bwMode="auto">
          <a:xfrm>
            <a:off x="2931512" y="5471820"/>
            <a:ext cx="185281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sysDot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t"/>
              <a:defRPr sz="24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1pPr>
            <a:lvl2pPr marL="742950" indent="-285750">
              <a:lnSpc>
                <a:spcPct val="90000"/>
              </a:lnSpc>
              <a:spcBef>
                <a:spcPct val="15000"/>
              </a:spcBef>
              <a:buClr>
                <a:srgbClr val="FF9900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2pPr>
            <a:lvl3pPr marL="1143000" indent="-228600">
              <a:lnSpc>
                <a:spcPct val="90000"/>
              </a:lnSpc>
              <a:spcBef>
                <a:spcPct val="1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3pPr>
            <a:lvl4pPr marL="1600200" indent="-228600">
              <a:lnSpc>
                <a:spcPct val="90000"/>
              </a:lnSpc>
              <a:spcBef>
                <a:spcPct val="15000"/>
              </a:spcBef>
              <a:buClr>
                <a:schemeClr val="hlink"/>
              </a:buClr>
              <a:buSzPct val="75000"/>
              <a:buFont typeface="Monotype Sorts" pitchFamily="2" charset="2"/>
              <a:buChar char="T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4pPr>
            <a:lvl5pPr marL="2057400" indent="-228600">
              <a:lnSpc>
                <a:spcPct val="90000"/>
              </a:lnSpc>
              <a:spcBef>
                <a:spcPct val="15000"/>
              </a:spcBef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15000"/>
              </a:spcBef>
              <a:spcAft>
                <a:spcPct val="0"/>
              </a:spcAft>
              <a:buClr>
                <a:schemeClr val="accent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標楷體" panose="02010601000101010101" pitchFamily="65" charset="-128"/>
              </a:defRPr>
            </a:lvl9pPr>
          </a:lstStyle>
          <a:p>
            <a:pPr defTabSz="1219170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kumimoji="1" lang="en-US" altLang="zh-TW" sz="2000" dirty="0">
                <a:solidFill>
                  <a:srgbClr val="4F81BD"/>
                </a:solidFill>
                <a:ea typeface="新細明體" panose="02020500000000000000" pitchFamily="18" charset="-120"/>
              </a:rPr>
              <a:t>Control point</a:t>
            </a:r>
          </a:p>
        </p:txBody>
      </p:sp>
      <p:sp>
        <p:nvSpPr>
          <p:cNvPr id="46088" name="Line 7"/>
          <p:cNvSpPr>
            <a:spLocks noChangeShapeType="1"/>
          </p:cNvSpPr>
          <p:nvPr/>
        </p:nvSpPr>
        <p:spPr bwMode="auto">
          <a:xfrm flipV="1">
            <a:off x="4394924" y="3793786"/>
            <a:ext cx="3085646" cy="1658381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1219170"/>
            <a:endParaRPr lang="zh-CN" altLang="en-US">
              <a:solidFill>
                <a:prstClr val="black"/>
              </a:solidFill>
              <a:latin typeface="Arial"/>
              <a:ea typeface="新細明體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pPr defTabSz="1219170"/>
            <a:fld id="{D9B6BDF2-6896-4B98-8776-C18582F63BA5}" type="slidenum">
              <a:rPr lang="zh-TW" altLang="en-US">
                <a:solidFill>
                  <a:prstClr val="white"/>
                </a:solidFill>
              </a:rPr>
              <a:pPr defTabSz="1219170"/>
              <a:t>4</a:t>
            </a:fld>
            <a:endParaRPr lang="zh-TW" altLang="en-US">
              <a:solidFill>
                <a:prstClr val="white"/>
              </a:solidFill>
            </a:endParaRPr>
          </a:p>
        </p:txBody>
      </p:sp>
      <p:sp>
        <p:nvSpPr>
          <p:cNvPr id="10" name="Line 7"/>
          <p:cNvSpPr>
            <a:spLocks noChangeShapeType="1"/>
          </p:cNvSpPr>
          <p:nvPr/>
        </p:nvSpPr>
        <p:spPr bwMode="auto">
          <a:xfrm flipV="1">
            <a:off x="4394923" y="2986390"/>
            <a:ext cx="1701077" cy="2494664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1219170"/>
            <a:endParaRPr lang="zh-CN" altLang="en-US">
              <a:solidFill>
                <a:prstClr val="black"/>
              </a:solidFill>
              <a:latin typeface="Arial"/>
              <a:ea typeface="新細明體"/>
            </a:endParaRPr>
          </a:p>
        </p:txBody>
      </p:sp>
      <p:sp>
        <p:nvSpPr>
          <p:cNvPr id="11" name="Line 7"/>
          <p:cNvSpPr>
            <a:spLocks noChangeShapeType="1"/>
          </p:cNvSpPr>
          <p:nvPr/>
        </p:nvSpPr>
        <p:spPr bwMode="auto">
          <a:xfrm flipV="1">
            <a:off x="4394924" y="5322327"/>
            <a:ext cx="5110875" cy="129839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1219170"/>
            <a:endParaRPr lang="zh-CN" altLang="en-US">
              <a:solidFill>
                <a:prstClr val="black"/>
              </a:solidFill>
              <a:latin typeface="Arial"/>
              <a:ea typeface="新細明體"/>
            </a:endParaRPr>
          </a:p>
        </p:txBody>
      </p:sp>
      <p:sp>
        <p:nvSpPr>
          <p:cNvPr id="12" name="Line 7"/>
          <p:cNvSpPr>
            <a:spLocks noChangeShapeType="1"/>
          </p:cNvSpPr>
          <p:nvPr/>
        </p:nvSpPr>
        <p:spPr bwMode="auto">
          <a:xfrm flipV="1">
            <a:off x="4394923" y="1682884"/>
            <a:ext cx="5177094" cy="3769282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1219170"/>
            <a:endParaRPr lang="zh-CN" altLang="en-US">
              <a:solidFill>
                <a:prstClr val="black"/>
              </a:solidFill>
              <a:latin typeface="Arial"/>
              <a:ea typeface="新細明體"/>
            </a:endParaRPr>
          </a:p>
        </p:txBody>
      </p:sp>
      <p:sp>
        <p:nvSpPr>
          <p:cNvPr id="13" name="Line 7"/>
          <p:cNvSpPr>
            <a:spLocks noChangeShapeType="1"/>
          </p:cNvSpPr>
          <p:nvPr/>
        </p:nvSpPr>
        <p:spPr bwMode="auto">
          <a:xfrm flipV="1">
            <a:off x="4394924" y="3428999"/>
            <a:ext cx="5352192" cy="2023167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1219170"/>
            <a:endParaRPr lang="zh-CN" altLang="en-US">
              <a:solidFill>
                <a:prstClr val="black"/>
              </a:solidFill>
              <a:latin typeface="Arial"/>
              <a:ea typeface="新細明體"/>
            </a:endParaRPr>
          </a:p>
        </p:txBody>
      </p:sp>
      <p:sp>
        <p:nvSpPr>
          <p:cNvPr id="14" name="Line 7"/>
          <p:cNvSpPr>
            <a:spLocks noChangeShapeType="1"/>
          </p:cNvSpPr>
          <p:nvPr/>
        </p:nvSpPr>
        <p:spPr bwMode="auto">
          <a:xfrm flipV="1">
            <a:off x="4394922" y="3793784"/>
            <a:ext cx="6500057" cy="1658381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1219170"/>
            <a:endParaRPr lang="zh-CN" altLang="en-US">
              <a:solidFill>
                <a:prstClr val="black"/>
              </a:solidFill>
              <a:latin typeface="Arial"/>
              <a:ea typeface="新細明體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ED895A7-C689-4054-BCF1-A222CDF92686}"/>
              </a:ext>
            </a:extLst>
          </p:cNvPr>
          <p:cNvSpPr/>
          <p:nvPr/>
        </p:nvSpPr>
        <p:spPr bwMode="auto">
          <a:xfrm>
            <a:off x="7597301" y="4542818"/>
            <a:ext cx="1118682" cy="1585608"/>
          </a:xfrm>
          <a:prstGeom prst="ellipse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E1BBA2B-050E-4134-9E9D-D33EA3772C43}"/>
              </a:ext>
            </a:extLst>
          </p:cNvPr>
          <p:cNvCxnSpPr>
            <a:cxnSpLocks/>
          </p:cNvCxnSpPr>
          <p:nvPr/>
        </p:nvCxnSpPr>
        <p:spPr bwMode="auto">
          <a:xfrm>
            <a:off x="9472356" y="2011866"/>
            <a:ext cx="0" cy="960969"/>
          </a:xfrm>
          <a:prstGeom prst="straightConnector1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oval" w="med" len="med"/>
            <a:tailEnd type="oval" w="med" len="med"/>
          </a:ln>
          <a:effectLst/>
        </p:spPr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9F43205-2C53-44BD-8F61-12A021A2F7C0}"/>
              </a:ext>
            </a:extLst>
          </p:cNvPr>
          <p:cNvCxnSpPr>
            <a:cxnSpLocks/>
          </p:cNvCxnSpPr>
          <p:nvPr/>
        </p:nvCxnSpPr>
        <p:spPr bwMode="auto">
          <a:xfrm>
            <a:off x="9472356" y="2959280"/>
            <a:ext cx="1578265" cy="27110"/>
          </a:xfrm>
          <a:prstGeom prst="line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A330B31-85B3-4F5E-9283-43E41C84E070}"/>
              </a:ext>
            </a:extLst>
          </p:cNvPr>
          <p:cNvCxnSpPr/>
          <p:nvPr/>
        </p:nvCxnSpPr>
        <p:spPr bwMode="auto">
          <a:xfrm>
            <a:off x="11048237" y="2937752"/>
            <a:ext cx="0" cy="982493"/>
          </a:xfrm>
          <a:prstGeom prst="straightConnector1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7914C21-A5E1-495A-999D-6F87DFB09B4D}"/>
              </a:ext>
            </a:extLst>
          </p:cNvPr>
          <p:cNvSpPr txBox="1"/>
          <p:nvPr/>
        </p:nvSpPr>
        <p:spPr>
          <a:xfrm>
            <a:off x="9608543" y="2959280"/>
            <a:ext cx="2326278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dirty="0">
                <a:solidFill>
                  <a:srgbClr val="FF0000"/>
                </a:solidFill>
                <a:ea typeface="標楷體" pitchFamily="65" charset="-120"/>
                <a:cs typeface="Calibri" pitchFamily="34" charset="0"/>
              </a:rPr>
              <a:t>Add this path for JAL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720E95-E71D-4B55-86E7-DEB4DC543DB2}"/>
              </a:ext>
            </a:extLst>
          </p:cNvPr>
          <p:cNvSpPr txBox="1"/>
          <p:nvPr/>
        </p:nvSpPr>
        <p:spPr>
          <a:xfrm>
            <a:off x="10882452" y="3328612"/>
            <a:ext cx="889987" cy="369332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  <a:ea typeface="標楷體" pitchFamily="65" charset="-120"/>
                <a:cs typeface="Calibri" pitchFamily="34" charset="0"/>
              </a:rPr>
              <a:t>WBsel</a:t>
            </a:r>
            <a:endParaRPr lang="en-US" b="1" dirty="0">
              <a:solidFill>
                <a:srgbClr val="FF0000"/>
              </a:solidFill>
              <a:ea typeface="標楷體" pitchFamily="65" charset="-120"/>
              <a:cs typeface="Calibri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C42EBD1-84EF-4D31-8FEB-36A728DC8386}"/>
              </a:ext>
            </a:extLst>
          </p:cNvPr>
          <p:cNvCxnSpPr>
            <a:cxnSpLocks/>
          </p:cNvCxnSpPr>
          <p:nvPr/>
        </p:nvCxnSpPr>
        <p:spPr bwMode="auto">
          <a:xfrm>
            <a:off x="11174697" y="3653711"/>
            <a:ext cx="0" cy="280145"/>
          </a:xfrm>
          <a:prstGeom prst="straightConnector1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793856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0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0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60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60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6" grpId="0"/>
      <p:bldP spid="4608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1188465" y="174173"/>
            <a:ext cx="9969161" cy="573740"/>
          </a:xfrm>
        </p:spPr>
        <p:txBody>
          <a:bodyPr/>
          <a:lstStyle/>
          <a:p>
            <a:r>
              <a:rPr lang="en-US" altLang="zh-TW" dirty="0"/>
              <a:t>High Level Control Signal Expressions</a:t>
            </a:r>
            <a:endParaRPr lang="en-AU" altLang="zh-TW" dirty="0">
              <a:ea typeface="新細明體" panose="02020500000000000000" pitchFamily="18" charset="-120"/>
            </a:endParaRP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7460" y="1040859"/>
            <a:ext cx="11177080" cy="4776281"/>
          </a:xfrm>
        </p:spPr>
        <p:txBody>
          <a:bodyPr/>
          <a:lstStyle/>
          <a:p>
            <a:r>
              <a:rPr lang="en-AU" altLang="zh-TW" sz="3200" dirty="0" err="1">
                <a:ea typeface="新細明體" panose="02020500000000000000" pitchFamily="18" charset="-120"/>
              </a:rPr>
              <a:t>PCSrc</a:t>
            </a:r>
            <a:r>
              <a:rPr lang="en-AU" altLang="zh-TW" sz="3200" dirty="0">
                <a:ea typeface="新細明體" panose="02020500000000000000" pitchFamily="18" charset="-120"/>
              </a:rPr>
              <a:t> = ((Branch or JAL) ? 1: 0)</a:t>
            </a:r>
          </a:p>
          <a:p>
            <a:r>
              <a:rPr lang="en-AU" altLang="zh-TW" sz="3200" dirty="0" err="1">
                <a:ea typeface="新細明體" panose="02020500000000000000" pitchFamily="18" charset="-120"/>
              </a:rPr>
              <a:t>RegWr</a:t>
            </a:r>
            <a:r>
              <a:rPr lang="en-AU" altLang="zh-TW" sz="3200" dirty="0">
                <a:ea typeface="新細明體" panose="02020500000000000000" pitchFamily="18" charset="-120"/>
              </a:rPr>
              <a:t> = ( (Branch or Store)? 0: 1)</a:t>
            </a:r>
          </a:p>
          <a:p>
            <a:r>
              <a:rPr lang="en-AU" altLang="zh-TW" sz="3200" dirty="0" err="1">
                <a:ea typeface="新細明體" panose="02020500000000000000" pitchFamily="18" charset="-120"/>
              </a:rPr>
              <a:t>MemRd</a:t>
            </a:r>
            <a:r>
              <a:rPr lang="en-AU" altLang="zh-TW" sz="3200" dirty="0">
                <a:ea typeface="新細明體" panose="02020500000000000000" pitchFamily="18" charset="-120"/>
              </a:rPr>
              <a:t>= (Load ? 1:0)</a:t>
            </a:r>
          </a:p>
          <a:p>
            <a:r>
              <a:rPr lang="en-AU" altLang="zh-TW" sz="3200" dirty="0" err="1">
                <a:ea typeface="新細明體" panose="02020500000000000000" pitchFamily="18" charset="-120"/>
              </a:rPr>
              <a:t>MemWr</a:t>
            </a:r>
            <a:r>
              <a:rPr lang="en-AU" altLang="zh-TW" sz="3200" dirty="0">
                <a:ea typeface="新細明體" panose="02020500000000000000" pitchFamily="18" charset="-120"/>
              </a:rPr>
              <a:t>= (Store ? 1:0)</a:t>
            </a:r>
          </a:p>
          <a:p>
            <a:r>
              <a:rPr lang="en-AU" altLang="zh-TW" sz="3200" dirty="0" err="1">
                <a:ea typeface="新細明體" panose="02020500000000000000" pitchFamily="18" charset="-120"/>
              </a:rPr>
              <a:t>ALUSrc</a:t>
            </a:r>
            <a:r>
              <a:rPr lang="en-AU" altLang="zh-TW" sz="3200" dirty="0">
                <a:ea typeface="新細明體" panose="02020500000000000000" pitchFamily="18" charset="-120"/>
              </a:rPr>
              <a:t> = (R-type? 0:1)</a:t>
            </a:r>
          </a:p>
          <a:p>
            <a:r>
              <a:rPr lang="en-AU" altLang="zh-TW" sz="3200" dirty="0" err="1">
                <a:ea typeface="新細明體" panose="02020500000000000000" pitchFamily="18" charset="-120"/>
              </a:rPr>
              <a:t>WBsel</a:t>
            </a:r>
            <a:r>
              <a:rPr lang="en-AU" altLang="zh-TW" sz="3200" dirty="0">
                <a:ea typeface="新細明體" panose="02020500000000000000" pitchFamily="18" charset="-120"/>
              </a:rPr>
              <a:t> = (Load: 0 | R-type : 1 | JAL : 2)</a:t>
            </a:r>
          </a:p>
          <a:p>
            <a:pPr marL="0" indent="0">
              <a:buNone/>
            </a:pPr>
            <a:r>
              <a:rPr lang="en-US" altLang="zh-TW" sz="2400" dirty="0">
                <a:ea typeface="新細明體" panose="02020500000000000000" pitchFamily="18" charset="-120"/>
              </a:rPr>
              <a:t>HDL (Hardware Description Languages), such as Verilog and</a:t>
            </a:r>
            <a:r>
              <a:rPr lang="en-AU" altLang="zh-TW" sz="2400" dirty="0">
                <a:ea typeface="新細明體" panose="02020500000000000000" pitchFamily="18" charset="-120"/>
              </a:rPr>
              <a:t> VHDL, can be used to specify the control signals.  HDL codes are hardware-synthesizable. Feed them </a:t>
            </a:r>
            <a:r>
              <a:rPr lang="en-US" altLang="zh-TW" sz="2400" dirty="0">
                <a:ea typeface="新細明體" panose="02020500000000000000" pitchFamily="18" charset="-120"/>
              </a:rPr>
              <a:t>into a design compiler (Synopsys and Cadence tools) to get a </a:t>
            </a:r>
            <a:r>
              <a:rPr lang="en-US" altLang="zh-TW" sz="2400" b="1" dirty="0">
                <a:ea typeface="新細明體" panose="02020500000000000000" pitchFamily="18" charset="-120"/>
              </a:rPr>
              <a:t>netlist</a:t>
            </a:r>
            <a:r>
              <a:rPr lang="en-US" altLang="zh-TW" sz="2400" dirty="0">
                <a:ea typeface="新細明體" panose="02020500000000000000" pitchFamily="18" charset="-120"/>
              </a:rPr>
              <a:t> (a graphical logic representation</a:t>
            </a:r>
            <a:r>
              <a:rPr lang="en-AU" altLang="zh-TW" sz="2400" dirty="0">
                <a:ea typeface="新細明體" panose="02020500000000000000" pitchFamily="18" charset="-120"/>
              </a:rPr>
              <a:t>).</a:t>
            </a:r>
          </a:p>
          <a:p>
            <a:pPr marL="0" indent="0">
              <a:buNone/>
            </a:pPr>
            <a:r>
              <a:rPr lang="en-AU" altLang="zh-TW" sz="2400" b="1" i="1" dirty="0">
                <a:ea typeface="新細明體" panose="02020500000000000000" pitchFamily="18" charset="-120"/>
              </a:rPr>
              <a:t>Designer’s perspective or the programmer’s perspective? </a:t>
            </a:r>
          </a:p>
          <a:p>
            <a:endParaRPr lang="en-AU" altLang="zh-TW" sz="3200" dirty="0">
              <a:ea typeface="新細明體" panose="02020500000000000000" pitchFamily="18" charset="-120"/>
            </a:endParaRPr>
          </a:p>
          <a:p>
            <a:endParaRPr lang="en-AU" altLang="zh-TW" sz="3200" dirty="0">
              <a:ea typeface="新細明體" panose="02020500000000000000" pitchFamily="18" charset="-120"/>
            </a:endParaRPr>
          </a:p>
          <a:p>
            <a:endParaRPr lang="en-AU" altLang="zh-TW" sz="3200" dirty="0">
              <a:ea typeface="新細明體" panose="02020500000000000000" pitchFamily="18" charset="-120"/>
            </a:endParaRPr>
          </a:p>
          <a:p>
            <a:endParaRPr lang="en-AU" altLang="zh-TW" sz="3200" dirty="0">
              <a:ea typeface="新細明體" panose="02020500000000000000" pitchFamily="18" charset="-12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pPr defTabSz="1219170"/>
            <a:fld id="{D9B6BDF2-6896-4B98-8776-C18582F63BA5}" type="slidenum">
              <a:rPr lang="zh-TW" altLang="en-US">
                <a:solidFill>
                  <a:prstClr val="white"/>
                </a:solidFill>
              </a:rPr>
              <a:pPr defTabSz="1219170"/>
              <a:t>5</a:t>
            </a:fld>
            <a:endParaRPr lang="zh-TW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3286988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1188465" y="174173"/>
            <a:ext cx="9969161" cy="573740"/>
          </a:xfrm>
        </p:spPr>
        <p:txBody>
          <a:bodyPr/>
          <a:lstStyle/>
          <a:p>
            <a:r>
              <a:rPr lang="en-US" altLang="zh-TW" dirty="0" err="1">
                <a:ea typeface="新細明體" panose="02020500000000000000" pitchFamily="18" charset="-120"/>
              </a:rPr>
              <a:t>ALUcontrol</a:t>
            </a:r>
            <a:endParaRPr lang="en-AU" altLang="zh-TW" dirty="0">
              <a:ea typeface="新細明體" panose="02020500000000000000" pitchFamily="18" charset="-120"/>
            </a:endParaRP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7460" y="1040859"/>
            <a:ext cx="11589290" cy="5642968"/>
          </a:xfrm>
        </p:spPr>
        <p:txBody>
          <a:bodyPr/>
          <a:lstStyle/>
          <a:p>
            <a:r>
              <a:rPr lang="en-AU" altLang="zh-TW" sz="2200" dirty="0" err="1">
                <a:ea typeface="新細明體" panose="02020500000000000000" pitchFamily="18" charset="-120"/>
              </a:rPr>
              <a:t>ALUcontrol</a:t>
            </a:r>
            <a:r>
              <a:rPr lang="en-AU" altLang="zh-TW" sz="2200" dirty="0">
                <a:ea typeface="新細明體" panose="02020500000000000000" pitchFamily="18" charset="-120"/>
              </a:rPr>
              <a:t> signal depends on a) operation type  (</a:t>
            </a:r>
            <a:r>
              <a:rPr lang="en-AU" altLang="zh-TW" sz="2200" dirty="0" err="1">
                <a:ea typeface="新細明體" panose="02020500000000000000" pitchFamily="18" charset="-120"/>
              </a:rPr>
              <a:t>ALUop</a:t>
            </a:r>
            <a:r>
              <a:rPr lang="en-AU" altLang="zh-TW" sz="2200" dirty="0">
                <a:ea typeface="新細明體" panose="02020500000000000000" pitchFamily="18" charset="-120"/>
              </a:rPr>
              <a:t>) and  b) funct3 and funct7 bits</a:t>
            </a:r>
          </a:p>
          <a:p>
            <a:pPr marL="0" indent="0">
              <a:buNone/>
            </a:pPr>
            <a:endParaRPr lang="en-US" sz="1100" b="0" i="0" dirty="0">
              <a:solidFill>
                <a:srgbClr val="E45649"/>
              </a:solidFill>
              <a:effectLst/>
              <a:latin typeface="Fira Code" panose="020B0809050000020004" pitchFamily="49" charset="0"/>
            </a:endParaRPr>
          </a:p>
          <a:p>
            <a:pPr marL="0" indent="0">
              <a:buNone/>
            </a:pPr>
            <a:r>
              <a:rPr lang="en-US" sz="1400" b="0" i="0" dirty="0" err="1">
                <a:solidFill>
                  <a:srgbClr val="E45649"/>
                </a:solidFill>
                <a:effectLst/>
                <a:latin typeface="Fira Code" panose="020B0809050000020004" pitchFamily="49" charset="0"/>
              </a:rPr>
              <a:t>always_comb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begin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case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(</a:t>
            </a:r>
            <a:r>
              <a:rPr lang="en-US" sz="1400" b="0" i="0" dirty="0" err="1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alu_op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) </a:t>
            </a:r>
          </a:p>
          <a:p>
            <a:pPr marL="0" indent="0">
              <a:buNone/>
            </a:pP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	</a:t>
            </a:r>
            <a:r>
              <a:rPr lang="en-US" sz="1400" b="0" i="0" dirty="0">
                <a:solidFill>
                  <a:srgbClr val="B76B01"/>
                </a:solidFill>
                <a:effectLst/>
                <a:latin typeface="Fira Code" panose="020B0809050000020004" pitchFamily="49" charset="0"/>
              </a:rPr>
              <a:t>2'b00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: </a:t>
            </a:r>
            <a:r>
              <a:rPr lang="en-US" sz="1400" b="0" i="0" dirty="0" err="1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alu_control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sz="1400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ALU_ADD; </a:t>
            </a:r>
          </a:p>
          <a:p>
            <a:pPr marL="0" indent="0">
              <a:buNone/>
            </a:pP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	</a:t>
            </a:r>
            <a:r>
              <a:rPr lang="en-US" sz="1400" b="0" i="0" dirty="0">
                <a:solidFill>
                  <a:srgbClr val="B76B01"/>
                </a:solidFill>
                <a:effectLst/>
                <a:latin typeface="Fira Code" panose="020B0809050000020004" pitchFamily="49" charset="0"/>
              </a:rPr>
              <a:t>2'b01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: </a:t>
            </a:r>
            <a:r>
              <a:rPr lang="en-US" sz="1400" b="0" i="0" dirty="0" err="1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alu_control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sz="1400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ALU_SUB;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383A42"/>
                </a:solidFill>
                <a:latin typeface="Fira Code" panose="020B0809050000020004" pitchFamily="49" charset="0"/>
              </a:rPr>
              <a:t>	</a:t>
            </a:r>
            <a:r>
              <a:rPr lang="en-US" sz="1400" b="0" i="0" dirty="0">
                <a:solidFill>
                  <a:srgbClr val="B76B01"/>
                </a:solidFill>
                <a:effectLst/>
                <a:latin typeface="Fira Code" panose="020B0809050000020004" pitchFamily="49" charset="0"/>
              </a:rPr>
              <a:t>2'b10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: 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begin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383A42"/>
                </a:solidFill>
                <a:latin typeface="Fira Code" panose="020B0809050000020004" pitchFamily="49" charset="0"/>
              </a:rPr>
              <a:t>		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case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(funct3) </a:t>
            </a:r>
            <a:r>
              <a:rPr lang="en-US" sz="1400" b="0" i="0" dirty="0">
                <a:solidFill>
                  <a:srgbClr val="B76B01"/>
                </a:solidFill>
                <a:effectLst/>
                <a:latin typeface="Fira Code" panose="020B0809050000020004" pitchFamily="49" charset="0"/>
              </a:rPr>
              <a:t>3'b000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: 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begin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383A42"/>
                </a:solidFill>
                <a:latin typeface="Fira Code" panose="020B0809050000020004" pitchFamily="49" charset="0"/>
              </a:rPr>
              <a:t>				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if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(funct7_bit5) </a:t>
            </a:r>
            <a:r>
              <a:rPr lang="en-US" sz="1400" b="0" i="0" dirty="0" err="1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alu_control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sz="1400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ALU_SUB; 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else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sz="1400" b="0" i="0" dirty="0" err="1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alu_control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sz="1400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ALU_ADD; 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end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383A42"/>
                </a:solidFill>
                <a:latin typeface="Fira Code" panose="020B0809050000020004" pitchFamily="49" charset="0"/>
              </a:rPr>
              <a:t>			   </a:t>
            </a:r>
            <a:r>
              <a:rPr lang="en-US" sz="1400" b="0" i="0" dirty="0">
                <a:solidFill>
                  <a:srgbClr val="B76B01"/>
                </a:solidFill>
                <a:effectLst/>
                <a:latin typeface="Fira Code" panose="020B0809050000020004" pitchFamily="49" charset="0"/>
              </a:rPr>
              <a:t>3'b001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: </a:t>
            </a:r>
            <a:r>
              <a:rPr lang="en-US" sz="1400" b="0" i="0" dirty="0" err="1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alu_control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sz="1400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ALU_SLL; </a:t>
            </a:r>
            <a:r>
              <a:rPr lang="en-US" sz="1400" b="0" i="1" dirty="0">
                <a:solidFill>
                  <a:srgbClr val="A0A1A7"/>
                </a:solidFill>
                <a:effectLst/>
                <a:latin typeface="Fira Code" panose="020B0809050000020004" pitchFamily="49" charset="0"/>
              </a:rPr>
              <a:t>// SLL / SLLI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383A42"/>
                </a:solidFill>
                <a:latin typeface="Fira Code" panose="020B0809050000020004" pitchFamily="49" charset="0"/>
              </a:rPr>
              <a:t>			   </a:t>
            </a:r>
            <a:r>
              <a:rPr lang="en-US" sz="1400" b="0" i="0" dirty="0">
                <a:solidFill>
                  <a:srgbClr val="B76B01"/>
                </a:solidFill>
                <a:effectLst/>
                <a:latin typeface="Fira Code" panose="020B0809050000020004" pitchFamily="49" charset="0"/>
              </a:rPr>
              <a:t>3'b010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: </a:t>
            </a:r>
            <a:r>
              <a:rPr lang="en-US" sz="1400" b="0" i="0" dirty="0" err="1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alu_control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sz="1400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ALU_SLT; </a:t>
            </a:r>
            <a:r>
              <a:rPr lang="en-US" sz="1400" b="0" i="1" dirty="0">
                <a:solidFill>
                  <a:srgbClr val="A0A1A7"/>
                </a:solidFill>
                <a:effectLst/>
                <a:latin typeface="Fira Code" panose="020B0809050000020004" pitchFamily="49" charset="0"/>
              </a:rPr>
              <a:t>// SLT / SLTI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383A42"/>
                </a:solidFill>
                <a:latin typeface="Fira Code" panose="020B0809050000020004" pitchFamily="49" charset="0"/>
              </a:rPr>
              <a:t>			   </a:t>
            </a:r>
            <a:r>
              <a:rPr lang="en-US" sz="1400" b="0" i="0" dirty="0">
                <a:solidFill>
                  <a:srgbClr val="B76B01"/>
                </a:solidFill>
                <a:effectLst/>
                <a:latin typeface="Fira Code" panose="020B0809050000020004" pitchFamily="49" charset="0"/>
              </a:rPr>
              <a:t>3'b100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: </a:t>
            </a:r>
            <a:r>
              <a:rPr lang="en-US" sz="1400" b="0" i="0" dirty="0" err="1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alu_control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sz="1400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ALU_XOR; </a:t>
            </a:r>
            <a:r>
              <a:rPr lang="en-US" sz="1400" b="0" i="1" dirty="0">
                <a:solidFill>
                  <a:srgbClr val="A0A1A7"/>
                </a:solidFill>
                <a:effectLst/>
                <a:latin typeface="Fira Code" panose="020B0809050000020004" pitchFamily="49" charset="0"/>
              </a:rPr>
              <a:t>// XOR / XORI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383A42"/>
                </a:solidFill>
                <a:latin typeface="Fira Code" panose="020B0809050000020004" pitchFamily="49" charset="0"/>
              </a:rPr>
              <a:t>			   </a:t>
            </a:r>
            <a:r>
              <a:rPr lang="en-US" sz="1400" b="0" i="0" dirty="0">
                <a:solidFill>
                  <a:srgbClr val="B76B01"/>
                </a:solidFill>
                <a:effectLst/>
                <a:latin typeface="Fira Code" panose="020B0809050000020004" pitchFamily="49" charset="0"/>
              </a:rPr>
              <a:t>3'b101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: 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begin</a:t>
            </a:r>
            <a:endParaRPr lang="en-US" sz="1400" b="0" i="0" dirty="0">
              <a:solidFill>
                <a:srgbClr val="383A42"/>
              </a:solidFill>
              <a:effectLst/>
              <a:latin typeface="Fira Code" panose="020B0809050000020004" pitchFamily="49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83A42"/>
                </a:solidFill>
                <a:latin typeface="Fira Code" panose="020B0809050000020004" pitchFamily="49" charset="0"/>
              </a:rPr>
              <a:t>				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if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(funct7_bit5) </a:t>
            </a:r>
            <a:r>
              <a:rPr lang="en-US" sz="1400" b="0" i="0" dirty="0" err="1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alu_control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sz="1400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ALU_SRA; 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else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sz="1400" b="0" i="0" dirty="0" err="1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alu_control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sz="1400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ALU_SRL; 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end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383A42"/>
                </a:solidFill>
                <a:latin typeface="Fira Code" panose="020B0809050000020004" pitchFamily="49" charset="0"/>
              </a:rPr>
              <a:t>			   </a:t>
            </a:r>
            <a:r>
              <a:rPr lang="en-US" sz="1400" b="0" i="0" dirty="0">
                <a:solidFill>
                  <a:srgbClr val="B76B01"/>
                </a:solidFill>
                <a:effectLst/>
                <a:latin typeface="Fira Code" panose="020B0809050000020004" pitchFamily="49" charset="0"/>
              </a:rPr>
              <a:t>3'b110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: </a:t>
            </a:r>
            <a:r>
              <a:rPr lang="en-US" sz="1400" b="0" i="0" dirty="0" err="1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alu_control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sz="1400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ALU_OR; </a:t>
            </a:r>
            <a:r>
              <a:rPr lang="en-US" sz="1400" b="0" i="1" dirty="0">
                <a:solidFill>
                  <a:srgbClr val="A0A1A7"/>
                </a:solidFill>
                <a:effectLst/>
                <a:latin typeface="Fira Code" panose="020B0809050000020004" pitchFamily="49" charset="0"/>
              </a:rPr>
              <a:t>// OR / ORI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383A42"/>
                </a:solidFill>
                <a:latin typeface="Fira Code" panose="020B0809050000020004" pitchFamily="49" charset="0"/>
              </a:rPr>
              <a:t>			   </a:t>
            </a:r>
            <a:r>
              <a:rPr lang="en-US" sz="1400" b="0" i="0" dirty="0">
                <a:solidFill>
                  <a:srgbClr val="B76B01"/>
                </a:solidFill>
                <a:effectLst/>
                <a:latin typeface="Fira Code" panose="020B0809050000020004" pitchFamily="49" charset="0"/>
              </a:rPr>
              <a:t>3'b111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: </a:t>
            </a:r>
            <a:r>
              <a:rPr lang="en-US" sz="1400" b="0" i="0" dirty="0" err="1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alu_control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sz="1400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ALU_AND; </a:t>
            </a:r>
            <a:r>
              <a:rPr lang="en-US" sz="1400" b="0" i="1" dirty="0">
                <a:solidFill>
                  <a:srgbClr val="A0A1A7"/>
                </a:solidFill>
                <a:effectLst/>
                <a:latin typeface="Fira Code" panose="020B0809050000020004" pitchFamily="49" charset="0"/>
              </a:rPr>
              <a:t>// AND / ANDI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383A42"/>
                </a:solidFill>
                <a:latin typeface="Fira Code" panose="020B0809050000020004" pitchFamily="49" charset="0"/>
              </a:rPr>
              <a:t>		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default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: </a:t>
            </a:r>
            <a:r>
              <a:rPr lang="en-US" sz="1400" b="0" i="0" dirty="0" err="1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alu_control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sz="1400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ALU_ADD;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383A42"/>
                </a:solidFill>
                <a:latin typeface="Fira Code" panose="020B0809050000020004" pitchFamily="49" charset="0"/>
              </a:rPr>
              <a:t>		</a:t>
            </a:r>
            <a:r>
              <a:rPr lang="en-US" sz="1400" b="0" i="0" dirty="0" err="1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endcase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383A42"/>
                </a:solidFill>
                <a:latin typeface="Fira Code" panose="020B0809050000020004" pitchFamily="49" charset="0"/>
              </a:rPr>
              <a:t>	        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end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383A42"/>
                </a:solidFill>
                <a:latin typeface="Fira Code" panose="020B0809050000020004" pitchFamily="49" charset="0"/>
              </a:rPr>
              <a:t>	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default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: </a:t>
            </a:r>
            <a:r>
              <a:rPr lang="en-US" sz="1400" b="0" i="0" dirty="0" err="1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alu_control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sz="1400" b="0" i="0" dirty="0">
                <a:solidFill>
                  <a:srgbClr val="4078F2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Fira Code" panose="020B0809050000020004" pitchFamily="49" charset="0"/>
              </a:rPr>
              <a:t> ALU_ADD;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383A42"/>
                </a:solidFill>
                <a:latin typeface="Fira Code" panose="020B0809050000020004" pitchFamily="49" charset="0"/>
              </a:rPr>
              <a:t>	</a:t>
            </a:r>
            <a:r>
              <a:rPr lang="en-US" sz="1400" b="0" i="0" dirty="0" err="1">
                <a:solidFill>
                  <a:srgbClr val="A626A4"/>
                </a:solidFill>
                <a:effectLst/>
                <a:latin typeface="Fira Code" panose="020B0809050000020004" pitchFamily="49" charset="0"/>
              </a:rPr>
              <a:t>endcase</a:t>
            </a:r>
            <a:endParaRPr lang="en-AU" altLang="zh-TW" sz="1400" dirty="0">
              <a:ea typeface="新細明體" panose="02020500000000000000" pitchFamily="18" charset="-12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pPr defTabSz="1219170"/>
            <a:fld id="{D9B6BDF2-6896-4B98-8776-C18582F63BA5}" type="slidenum">
              <a:rPr lang="zh-TW" altLang="en-US">
                <a:solidFill>
                  <a:prstClr val="white"/>
                </a:solidFill>
              </a:rPr>
              <a:pPr defTabSz="1219170"/>
              <a:t>6</a:t>
            </a:fld>
            <a:endParaRPr lang="zh-TW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9695220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dirty="0"/>
              <a:t>A More Complete RV32I Single Cycle Data Path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1219170"/>
            <a:fld id="{D9B6BDF2-6896-4B98-8776-C18582F63BA5}" type="slidenum">
              <a:rPr lang="zh-TW" altLang="en-US">
                <a:solidFill>
                  <a:prstClr val="white"/>
                </a:solidFill>
              </a:rPr>
              <a:pPr defTabSz="1219170"/>
              <a:t>7</a:t>
            </a:fld>
            <a:endParaRPr lang="zh-TW" altLang="en-US">
              <a:solidFill>
                <a:prstClr val="white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400DF6-F410-4B6B-9C2F-9AAA5BA2F1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702" y="1001949"/>
            <a:ext cx="11250595" cy="5261134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D8CEBA0D-6678-4287-8BBF-CB93303E82E0}"/>
              </a:ext>
            </a:extLst>
          </p:cNvPr>
          <p:cNvSpPr/>
          <p:nvPr/>
        </p:nvSpPr>
        <p:spPr bwMode="auto">
          <a:xfrm>
            <a:off x="4410075" y="4048124"/>
            <a:ext cx="1171575" cy="1381126"/>
          </a:xfrm>
          <a:prstGeom prst="ellipse">
            <a:avLst/>
          </a:prstGeom>
          <a:noFill/>
          <a:ln w="1587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257EDC0-F2A4-4F88-9593-581530CE4AC4}"/>
              </a:ext>
            </a:extLst>
          </p:cNvPr>
          <p:cNvSpPr/>
          <p:nvPr/>
        </p:nvSpPr>
        <p:spPr bwMode="auto">
          <a:xfrm>
            <a:off x="6791325" y="2738437"/>
            <a:ext cx="1171575" cy="1381126"/>
          </a:xfrm>
          <a:prstGeom prst="ellipse">
            <a:avLst/>
          </a:prstGeom>
          <a:noFill/>
          <a:ln w="1587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7C33710-76E4-4D8C-AACE-1B1E87E73388}"/>
              </a:ext>
            </a:extLst>
          </p:cNvPr>
          <p:cNvSpPr/>
          <p:nvPr/>
        </p:nvSpPr>
        <p:spPr bwMode="auto">
          <a:xfrm>
            <a:off x="8005762" y="2505074"/>
            <a:ext cx="1171575" cy="2009775"/>
          </a:xfrm>
          <a:prstGeom prst="ellipse">
            <a:avLst/>
          </a:prstGeom>
          <a:noFill/>
          <a:ln w="1587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F875BDB-18EC-409A-84C3-F282CA23A8D1}"/>
              </a:ext>
            </a:extLst>
          </p:cNvPr>
          <p:cNvSpPr/>
          <p:nvPr/>
        </p:nvSpPr>
        <p:spPr bwMode="auto">
          <a:xfrm>
            <a:off x="6894111" y="4991100"/>
            <a:ext cx="1171575" cy="1143000"/>
          </a:xfrm>
          <a:prstGeom prst="ellipse">
            <a:avLst/>
          </a:prstGeom>
          <a:noFill/>
          <a:ln w="1587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59131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9" grpId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dirty="0"/>
              <a:t>A More Complete RV32I Single Cycle Data Path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1219170"/>
            <a:fld id="{D9B6BDF2-6896-4B98-8776-C18582F63BA5}" type="slidenum">
              <a:rPr lang="zh-TW" altLang="en-US">
                <a:solidFill>
                  <a:prstClr val="white"/>
                </a:solidFill>
              </a:rPr>
              <a:pPr defTabSz="1219170"/>
              <a:t>8</a:t>
            </a:fld>
            <a:endParaRPr lang="zh-TW" altLang="en-US">
              <a:solidFill>
                <a:prstClr val="white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400DF6-F410-4B6B-9C2F-9AAA5BA2F1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702" y="1001949"/>
            <a:ext cx="11250595" cy="526113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AEA5CCE-0F0D-428D-BF48-B86D225E973F}"/>
              </a:ext>
            </a:extLst>
          </p:cNvPr>
          <p:cNvSpPr txBox="1"/>
          <p:nvPr/>
        </p:nvSpPr>
        <p:spPr>
          <a:xfrm>
            <a:off x="9251004" y="992221"/>
            <a:ext cx="1762021" cy="1200329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dirty="0" err="1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Wbsel</a:t>
            </a:r>
            <a:r>
              <a:rPr lang="en-US" dirty="0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:</a:t>
            </a:r>
          </a:p>
          <a:p>
            <a:r>
              <a:rPr lang="en-US" dirty="0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0:? Which </a:t>
            </a:r>
            <a:r>
              <a:rPr lang="en-US" dirty="0" err="1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inst</a:t>
            </a:r>
            <a:r>
              <a:rPr lang="en-US" dirty="0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?</a:t>
            </a:r>
          </a:p>
          <a:p>
            <a:r>
              <a:rPr lang="en-US" dirty="0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1:?</a:t>
            </a:r>
          </a:p>
          <a:p>
            <a:r>
              <a:rPr lang="en-US" dirty="0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2:?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838129-F4B6-46CC-A494-B7CFF76E3149}"/>
              </a:ext>
            </a:extLst>
          </p:cNvPr>
          <p:cNvSpPr txBox="1"/>
          <p:nvPr/>
        </p:nvSpPr>
        <p:spPr>
          <a:xfrm>
            <a:off x="7778886" y="5801418"/>
            <a:ext cx="697627" cy="92333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dirty="0" err="1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Bsel</a:t>
            </a:r>
            <a:r>
              <a:rPr lang="en-US" dirty="0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:</a:t>
            </a:r>
          </a:p>
          <a:p>
            <a:r>
              <a:rPr lang="en-US" dirty="0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0:?</a:t>
            </a:r>
          </a:p>
          <a:p>
            <a:r>
              <a:rPr lang="en-US" dirty="0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1:?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439DBA-0372-41C4-BD73-54D9974B3C11}"/>
              </a:ext>
            </a:extLst>
          </p:cNvPr>
          <p:cNvSpPr txBox="1"/>
          <p:nvPr/>
        </p:nvSpPr>
        <p:spPr>
          <a:xfrm>
            <a:off x="8465835" y="5811146"/>
            <a:ext cx="697627" cy="92333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dirty="0" err="1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Asel</a:t>
            </a:r>
            <a:r>
              <a:rPr lang="en-US" dirty="0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:</a:t>
            </a:r>
          </a:p>
          <a:p>
            <a:r>
              <a:rPr lang="en-US" dirty="0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0:?</a:t>
            </a:r>
          </a:p>
          <a:p>
            <a:r>
              <a:rPr lang="en-US" dirty="0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1:?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135954-83B3-456F-897B-82E1F046EDE4}"/>
              </a:ext>
            </a:extLst>
          </p:cNvPr>
          <p:cNvSpPr txBox="1"/>
          <p:nvPr/>
        </p:nvSpPr>
        <p:spPr>
          <a:xfrm>
            <a:off x="5623755" y="5759751"/>
            <a:ext cx="1142300" cy="92333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dirty="0" err="1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RegWen</a:t>
            </a:r>
            <a:r>
              <a:rPr lang="en-US" dirty="0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:</a:t>
            </a:r>
          </a:p>
          <a:p>
            <a:r>
              <a:rPr lang="en-US" dirty="0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0:?</a:t>
            </a:r>
          </a:p>
          <a:p>
            <a:r>
              <a:rPr lang="en-US" dirty="0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1:?</a:t>
            </a:r>
          </a:p>
        </p:txBody>
      </p:sp>
    </p:spTree>
    <p:extLst>
      <p:ext uri="{BB962C8B-B14F-4D97-AF65-F5344CB8AC3E}">
        <p14:creationId xmlns:p14="http://schemas.microsoft.com/office/powerpoint/2010/main" val="1325017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8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dirty="0"/>
              <a:t>A More Complete RV32I Single Cycle Data Path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1219170"/>
            <a:fld id="{D9B6BDF2-6896-4B98-8776-C18582F63BA5}" type="slidenum">
              <a:rPr lang="zh-TW" altLang="en-US">
                <a:solidFill>
                  <a:prstClr val="white"/>
                </a:solidFill>
              </a:rPr>
              <a:pPr defTabSz="1219170"/>
              <a:t>9</a:t>
            </a:fld>
            <a:endParaRPr lang="zh-TW" altLang="en-US">
              <a:solidFill>
                <a:prstClr val="white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400DF6-F410-4B6B-9C2F-9AAA5BA2F1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702" y="1001949"/>
            <a:ext cx="11250595" cy="526113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AEA5CCE-0F0D-428D-BF48-B86D225E973F}"/>
              </a:ext>
            </a:extLst>
          </p:cNvPr>
          <p:cNvSpPr txBox="1"/>
          <p:nvPr/>
        </p:nvSpPr>
        <p:spPr>
          <a:xfrm>
            <a:off x="9251004" y="992221"/>
            <a:ext cx="1505540" cy="1200329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dirty="0" err="1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WBsel</a:t>
            </a:r>
            <a:r>
              <a:rPr lang="en-US" dirty="0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:</a:t>
            </a:r>
          </a:p>
          <a:p>
            <a:r>
              <a:rPr lang="en-US" dirty="0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0:? </a:t>
            </a:r>
            <a:r>
              <a:rPr lang="en-US" dirty="0" err="1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ld</a:t>
            </a:r>
            <a:endParaRPr lang="en-US" dirty="0">
              <a:highlight>
                <a:srgbClr val="FFFF00"/>
              </a:highlight>
              <a:ea typeface="標楷體" pitchFamily="65" charset="-120"/>
              <a:cs typeface="Calibri" pitchFamily="34" charset="0"/>
            </a:endParaRPr>
          </a:p>
          <a:p>
            <a:r>
              <a:rPr lang="en-US" dirty="0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1:? R-type</a:t>
            </a:r>
          </a:p>
          <a:p>
            <a:r>
              <a:rPr lang="en-US" dirty="0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2:? Jal or </a:t>
            </a:r>
            <a:r>
              <a:rPr lang="en-US" dirty="0" err="1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jalr</a:t>
            </a:r>
            <a:endParaRPr lang="en-US" dirty="0">
              <a:highlight>
                <a:srgbClr val="FFFF00"/>
              </a:highlight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838129-F4B6-46CC-A494-B7CFF76E3149}"/>
              </a:ext>
            </a:extLst>
          </p:cNvPr>
          <p:cNvSpPr txBox="1"/>
          <p:nvPr/>
        </p:nvSpPr>
        <p:spPr>
          <a:xfrm>
            <a:off x="7778886" y="5801418"/>
            <a:ext cx="813043" cy="92333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dirty="0" err="1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Bsel</a:t>
            </a:r>
            <a:r>
              <a:rPr lang="en-US" dirty="0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:</a:t>
            </a:r>
          </a:p>
          <a:p>
            <a:r>
              <a:rPr lang="en-US" dirty="0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0:rs2</a:t>
            </a:r>
          </a:p>
          <a:p>
            <a:r>
              <a:rPr lang="en-US" dirty="0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1:imm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439DBA-0372-41C4-BD73-54D9974B3C11}"/>
              </a:ext>
            </a:extLst>
          </p:cNvPr>
          <p:cNvSpPr txBox="1"/>
          <p:nvPr/>
        </p:nvSpPr>
        <p:spPr>
          <a:xfrm>
            <a:off x="8465835" y="5811146"/>
            <a:ext cx="697627" cy="92333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dirty="0" err="1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Asel</a:t>
            </a:r>
            <a:r>
              <a:rPr lang="en-US" dirty="0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:</a:t>
            </a:r>
          </a:p>
          <a:p>
            <a:r>
              <a:rPr lang="en-US" dirty="0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0:rs1</a:t>
            </a:r>
          </a:p>
          <a:p>
            <a:r>
              <a:rPr lang="en-US" dirty="0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1:pc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135954-83B3-456F-897B-82E1F046EDE4}"/>
              </a:ext>
            </a:extLst>
          </p:cNvPr>
          <p:cNvSpPr txBox="1"/>
          <p:nvPr/>
        </p:nvSpPr>
        <p:spPr>
          <a:xfrm>
            <a:off x="5623755" y="5759751"/>
            <a:ext cx="1313180" cy="92333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dirty="0" err="1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RegWen</a:t>
            </a:r>
            <a:r>
              <a:rPr lang="en-US" dirty="0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:</a:t>
            </a:r>
          </a:p>
          <a:p>
            <a:r>
              <a:rPr lang="en-US" dirty="0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0:sw or </a:t>
            </a:r>
            <a:r>
              <a:rPr lang="en-US" dirty="0" err="1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br</a:t>
            </a:r>
            <a:endParaRPr lang="en-US" dirty="0">
              <a:highlight>
                <a:srgbClr val="FFFF00"/>
              </a:highlight>
              <a:ea typeface="標楷體" pitchFamily="65" charset="-120"/>
              <a:cs typeface="Calibri" pitchFamily="34" charset="0"/>
            </a:endParaRPr>
          </a:p>
          <a:p>
            <a:r>
              <a:rPr lang="en-US" dirty="0">
                <a:highlight>
                  <a:srgbClr val="FFFF00"/>
                </a:highlight>
                <a:ea typeface="標楷體" pitchFamily="65" charset="-120"/>
                <a:cs typeface="Calibri" pitchFamily="34" charset="0"/>
              </a:rPr>
              <a:t>1:all others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E6A1B5-F921-44B9-A0BE-4057EA69E766}"/>
              </a:ext>
            </a:extLst>
          </p:cNvPr>
          <p:cNvSpPr/>
          <p:nvPr/>
        </p:nvSpPr>
        <p:spPr bwMode="auto">
          <a:xfrm>
            <a:off x="7033098" y="2704289"/>
            <a:ext cx="2217906" cy="1468877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22656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8" grpId="0"/>
      <p:bldP spid="9" grpId="0"/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dirty="0"/>
              <a:t>Example: SW X2, offset(X1)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1219170"/>
            <a:fld id="{D9B6BDF2-6896-4B98-8776-C18582F63BA5}" type="slidenum">
              <a:rPr lang="zh-TW" altLang="en-US">
                <a:solidFill>
                  <a:prstClr val="white"/>
                </a:solidFill>
              </a:rPr>
              <a:pPr defTabSz="1219170"/>
              <a:t>10</a:t>
            </a:fld>
            <a:endParaRPr lang="zh-TW" altLang="en-US">
              <a:solidFill>
                <a:prstClr val="white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E53AEF-78CD-4361-93CE-7A252777E5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229" y="1021403"/>
            <a:ext cx="10507541" cy="5241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860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dirty="0"/>
              <a:t>Example: BEQ X1,X2, immediate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1219170"/>
            <a:fld id="{D9B6BDF2-6896-4B98-8776-C18582F63BA5}" type="slidenum">
              <a:rPr lang="zh-TW" altLang="en-US">
                <a:solidFill>
                  <a:prstClr val="white"/>
                </a:solidFill>
              </a:rPr>
              <a:pPr defTabSz="1219170"/>
              <a:t>11</a:t>
            </a:fld>
            <a:endParaRPr lang="zh-TW" altLang="en-US">
              <a:solidFill>
                <a:prstClr val="white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2EA74A-B2D3-4C13-BF10-966FAB9926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913" y="1050586"/>
            <a:ext cx="10374173" cy="5321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0103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dirty="0"/>
              <a:t>A RV32I Single Cycle Processor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1219170"/>
            <a:fld id="{D9B6BDF2-6896-4B98-8776-C18582F63BA5}" type="slidenum">
              <a:rPr lang="zh-TW" altLang="en-US">
                <a:solidFill>
                  <a:prstClr val="white"/>
                </a:solidFill>
              </a:rPr>
              <a:pPr defTabSz="1219170"/>
              <a:t>12</a:t>
            </a:fld>
            <a:endParaRPr lang="zh-TW" altLang="en-US">
              <a:solidFill>
                <a:prstClr val="white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400DF6-F410-4B6B-9C2F-9AAA5BA2F1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702" y="1132722"/>
            <a:ext cx="11250595" cy="526113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2F3D68E-03A1-4DCA-8ED4-D293AFC68358}"/>
              </a:ext>
            </a:extLst>
          </p:cNvPr>
          <p:cNvSpPr/>
          <p:nvPr/>
        </p:nvSpPr>
        <p:spPr bwMode="auto">
          <a:xfrm>
            <a:off x="1076527" y="5246370"/>
            <a:ext cx="10350229" cy="1147486"/>
          </a:xfrm>
          <a:prstGeom prst="rect">
            <a:avLst/>
          </a:prstGeom>
          <a:noFill/>
          <a:ln w="3810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8AA62C-27D4-47C9-B12B-820E4F1665DA}"/>
              </a:ext>
            </a:extLst>
          </p:cNvPr>
          <p:cNvSpPr txBox="1"/>
          <p:nvPr/>
        </p:nvSpPr>
        <p:spPr>
          <a:xfrm>
            <a:off x="4525867" y="1446179"/>
            <a:ext cx="1782860" cy="52322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sz="2800" dirty="0">
                <a:solidFill>
                  <a:srgbClr val="FFFF00"/>
                </a:solidFill>
                <a:ea typeface="標楷體" pitchFamily="65" charset="-120"/>
                <a:cs typeface="Calibri" pitchFamily="34" charset="0"/>
              </a:rPr>
              <a:t>Data Path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E434C1-C015-442E-9C5D-A94CB3A8D9D8}"/>
              </a:ext>
            </a:extLst>
          </p:cNvPr>
          <p:cNvSpPr/>
          <p:nvPr/>
        </p:nvSpPr>
        <p:spPr bwMode="auto">
          <a:xfrm>
            <a:off x="1076528" y="1446179"/>
            <a:ext cx="10350229" cy="3881336"/>
          </a:xfrm>
          <a:prstGeom prst="rect">
            <a:avLst/>
          </a:prstGeom>
          <a:noFill/>
          <a:ln w="3810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3D2CA4-C18F-4E1F-9F96-BD5BE21F8518}"/>
              </a:ext>
            </a:extLst>
          </p:cNvPr>
          <p:cNvSpPr txBox="1"/>
          <p:nvPr/>
        </p:nvSpPr>
        <p:spPr>
          <a:xfrm>
            <a:off x="1660637" y="5674412"/>
            <a:ext cx="1345240" cy="52322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lang="en-US" sz="2800" dirty="0">
                <a:solidFill>
                  <a:srgbClr val="FFFF00"/>
                </a:solidFill>
                <a:ea typeface="標楷體" pitchFamily="65" charset="-120"/>
                <a:cs typeface="Calibri" pitchFamily="34" charset="0"/>
              </a:rPr>
              <a:t>Control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5DD95A-369E-40CF-92D4-F45557C74619}"/>
              </a:ext>
            </a:extLst>
          </p:cNvPr>
          <p:cNvSpPr/>
          <p:nvPr/>
        </p:nvSpPr>
        <p:spPr bwMode="auto">
          <a:xfrm>
            <a:off x="5394960" y="2148840"/>
            <a:ext cx="1897380" cy="2343150"/>
          </a:xfrm>
          <a:prstGeom prst="rect">
            <a:avLst/>
          </a:prstGeom>
          <a:noFill/>
          <a:ln w="3810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C3A5F1-45F3-43AD-A6AC-AACB26F53910}"/>
              </a:ext>
            </a:extLst>
          </p:cNvPr>
          <p:cNvSpPr/>
          <p:nvPr/>
        </p:nvSpPr>
        <p:spPr bwMode="auto">
          <a:xfrm>
            <a:off x="2686050" y="2697480"/>
            <a:ext cx="1188720" cy="1680210"/>
          </a:xfrm>
          <a:prstGeom prst="rect">
            <a:avLst/>
          </a:prstGeom>
          <a:noFill/>
          <a:ln w="3810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2372B22-48E4-4EB1-BBDE-34E8B7619383}"/>
              </a:ext>
            </a:extLst>
          </p:cNvPr>
          <p:cNvSpPr/>
          <p:nvPr/>
        </p:nvSpPr>
        <p:spPr bwMode="auto">
          <a:xfrm>
            <a:off x="9422130" y="2956598"/>
            <a:ext cx="1188720" cy="1680210"/>
          </a:xfrm>
          <a:prstGeom prst="rect">
            <a:avLst/>
          </a:prstGeom>
          <a:noFill/>
          <a:ln w="3810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42921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8" grpId="0" animBg="1"/>
      <p:bldP spid="9" grpId="0"/>
      <p:bldP spid="10" grpId="0" animBg="1"/>
      <p:bldP spid="12" grpId="0" animBg="1"/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>
          <a:xfrm>
            <a:off x="1280673" y="58739"/>
            <a:ext cx="9025379" cy="901700"/>
          </a:xfrm>
        </p:spPr>
        <p:txBody>
          <a:bodyPr/>
          <a:lstStyle/>
          <a:p>
            <a:r>
              <a:rPr lang="en-US" altLang="zh-TW" dirty="0"/>
              <a:t>Drawback of Single-Cycle Design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2881" y="1125537"/>
            <a:ext cx="10209519" cy="4895851"/>
          </a:xfrm>
        </p:spPr>
        <p:txBody>
          <a:bodyPr/>
          <a:lstStyle/>
          <a:p>
            <a:r>
              <a:rPr lang="en-US" altLang="zh-TW" sz="2667" dirty="0"/>
              <a:t>Long cycle time</a:t>
            </a:r>
          </a:p>
          <a:p>
            <a:pPr lvl="1"/>
            <a:r>
              <a:rPr lang="en-US" altLang="zh-TW" sz="2400" dirty="0"/>
              <a:t>Cycle time must be long enough for the load instruction (the one with longest cycle time)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zh-TW" sz="2133" dirty="0"/>
              <a:t>PC’s Clock-to-Q  +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zh-TW" sz="2133" dirty="0"/>
              <a:t>Instruction Memory Access Time +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zh-TW" sz="2133" dirty="0"/>
              <a:t>Register File Access Time  +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zh-TW" sz="2133" dirty="0"/>
              <a:t>ALU Delay (address calculation)  +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zh-TW" sz="2133" dirty="0"/>
              <a:t>Data Memory Access Time  +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zh-TW" sz="2133" dirty="0"/>
              <a:t>Register File Setup Time  +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zh-TW" sz="2133" dirty="0"/>
              <a:t>Clock Skew</a:t>
            </a:r>
          </a:p>
          <a:p>
            <a:r>
              <a:rPr lang="en-US" altLang="zh-TW" sz="2667" dirty="0"/>
              <a:t>Cycle time for load is much longer than needed for all other instructions</a:t>
            </a: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B6BDF2-6896-4B98-8776-C18582F63BA5}" type="slidenum">
              <a: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54000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>
          <a:xfrm>
            <a:off x="1260183" y="58739"/>
            <a:ext cx="9045869" cy="901700"/>
          </a:xfrm>
        </p:spPr>
        <p:txBody>
          <a:bodyPr/>
          <a:lstStyle/>
          <a:p>
            <a:r>
              <a:rPr lang="en-US" altLang="zh-TW" dirty="0"/>
              <a:t>Summary of Single Cycle RV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14268" y="1067173"/>
            <a:ext cx="9534414" cy="4341406"/>
          </a:xfrm>
          <a:noFill/>
        </p:spPr>
        <p:txBody>
          <a:bodyPr vert="horz" wrap="square" lIns="92075" tIns="46039" rIns="92075" bIns="46039" numCol="1" anchor="t" anchorCtr="0" compatLnSpc="1"/>
          <a:lstStyle/>
          <a:p>
            <a:r>
              <a:rPr lang="en-US" altLang="zh-TW" sz="2800" dirty="0"/>
              <a:t>Single cycle </a:t>
            </a:r>
            <a:r>
              <a:rPr lang="en-US" altLang="zh-TW" sz="2800" dirty="0" err="1"/>
              <a:t>datapath</a:t>
            </a:r>
            <a:r>
              <a:rPr lang="en-US" altLang="zh-TW" sz="2800" dirty="0"/>
              <a:t> means CPI=1, but </a:t>
            </a:r>
          </a:p>
          <a:p>
            <a:pPr marL="0" indent="0">
              <a:buNone/>
            </a:pPr>
            <a:r>
              <a:rPr lang="en-US" altLang="zh-TW" sz="2800" dirty="0"/>
              <a:t>	the clock cycle time is long</a:t>
            </a:r>
          </a:p>
          <a:p>
            <a:r>
              <a:rPr lang="en-US" altLang="zh-TW" sz="2800" dirty="0"/>
              <a:t>RISC-V simplifies control implementation</a:t>
            </a:r>
          </a:p>
          <a:p>
            <a:pPr lvl="1">
              <a:spcBef>
                <a:spcPct val="10000"/>
              </a:spcBef>
              <a:buSzPct val="85000"/>
              <a:buFont typeface="Calibri" panose="020F0702030404030204" pitchFamily="34" charset="0"/>
              <a:buChar char="₋"/>
            </a:pPr>
            <a:r>
              <a:rPr lang="en-US" altLang="zh-TW" sz="2800" dirty="0"/>
              <a:t>Fixed size Instructions </a:t>
            </a:r>
          </a:p>
          <a:p>
            <a:pPr lvl="1">
              <a:spcBef>
                <a:spcPct val="10000"/>
              </a:spcBef>
              <a:buSzPct val="85000"/>
              <a:buFont typeface="Calibri" panose="020F0702030404030204" pitchFamily="34" charset="0"/>
              <a:buChar char="₋"/>
            </a:pPr>
            <a:r>
              <a:rPr lang="en-US" altLang="zh-TW" sz="2800" dirty="0"/>
              <a:t>Regular format: source registers (rs1 and rs2) are always in the same places</a:t>
            </a:r>
          </a:p>
          <a:p>
            <a:pPr lvl="1">
              <a:spcBef>
                <a:spcPct val="10000"/>
              </a:spcBef>
              <a:buSzPct val="85000"/>
              <a:buFont typeface="Calibri" panose="020F0702030404030204" pitchFamily="34" charset="0"/>
              <a:buChar char="₋"/>
            </a:pPr>
            <a:r>
              <a:rPr lang="en-US" altLang="zh-TW" sz="2800" dirty="0" err="1"/>
              <a:t>Immediates</a:t>
            </a:r>
            <a:r>
              <a:rPr lang="en-US" altLang="zh-TW" sz="2800" dirty="0"/>
              <a:t> have the same size (12b or 20b)</a:t>
            </a:r>
          </a:p>
          <a:p>
            <a:pPr lvl="1">
              <a:spcBef>
                <a:spcPct val="10000"/>
              </a:spcBef>
              <a:buSzPct val="85000"/>
              <a:buFont typeface="Calibri" panose="020F0702030404030204" pitchFamily="34" charset="0"/>
              <a:buChar char="₋"/>
            </a:pPr>
            <a:r>
              <a:rPr lang="en-US" altLang="zh-TW" sz="2800" dirty="0"/>
              <a:t>Operations are always computed on registers/</a:t>
            </a:r>
            <a:r>
              <a:rPr lang="en-US" altLang="zh-TW" sz="2800" dirty="0" err="1"/>
              <a:t>immediates</a:t>
            </a:r>
            <a:endParaRPr lang="en-US" altLang="zh-TW" sz="2800" dirty="0"/>
          </a:p>
          <a:p>
            <a:pPr>
              <a:spcBef>
                <a:spcPct val="10000"/>
              </a:spcBef>
              <a:buSzPct val="150000"/>
              <a:buFont typeface="Arial" panose="020B0604020202020204" pitchFamily="34" charset="0"/>
              <a:buChar char="•"/>
            </a:pPr>
            <a:r>
              <a:rPr lang="en-US" altLang="zh-TW" sz="2800" dirty="0"/>
              <a:t>RISC-V simplifies designs, lower the cost of design and test.</a:t>
            </a: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B6BDF2-6896-4B98-8776-C18582F63BA5}" type="slidenum">
              <a:rPr kumimoji="0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9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9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90204" pitchFamily="34" charset="0"/>
            <a:ea typeface="新細明體" panose="02020500000000000000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90204" pitchFamily="34" charset="0"/>
            <a:ea typeface="新細明體" panose="02020500000000000000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anose="02010601000101010101" pitchFamily="65" charset="-120"/>
            <a:cs typeface="Calibri" panose="020F0702030404030204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13706</TotalTime>
  <Words>1032</Words>
  <Application>Microsoft Office PowerPoint</Application>
  <PresentationFormat>Widescreen</PresentationFormat>
  <Paragraphs>160</Paragraphs>
  <Slides>14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14</vt:i4>
      </vt:variant>
    </vt:vector>
  </HeadingPairs>
  <TitlesOfParts>
    <vt:vector size="26" baseType="lpstr">
      <vt:lpstr>MS Sans Serif</vt:lpstr>
      <vt:lpstr>华文楷体</vt:lpstr>
      <vt:lpstr>Arial</vt:lpstr>
      <vt:lpstr>Calibri</vt:lpstr>
      <vt:lpstr>Calibri Light</vt:lpstr>
      <vt:lpstr>Century Gothic</vt:lpstr>
      <vt:lpstr>Fira Code</vt:lpstr>
      <vt:lpstr>Times New Roman</vt:lpstr>
      <vt:lpstr>Wingdings</vt:lpstr>
      <vt:lpstr>NTHU UniCloud</vt:lpstr>
      <vt:lpstr>自訂設計</vt:lpstr>
      <vt:lpstr>1_NTHU UniCloud</vt:lpstr>
      <vt:lpstr>CSC3060 – Computer Architecture  Chapter 4 Control</vt:lpstr>
      <vt:lpstr>A Single Cycle Data Path</vt:lpstr>
      <vt:lpstr>Control Points and Signals</vt:lpstr>
      <vt:lpstr>Step 4 - Control Points and Signals</vt:lpstr>
      <vt:lpstr>High Level Control Signal Expressions</vt:lpstr>
      <vt:lpstr>ALUcontrol</vt:lpstr>
      <vt:lpstr>A More Complete RV32I Single Cycle Data Path</vt:lpstr>
      <vt:lpstr>A More Complete RV32I Single Cycle Data Path</vt:lpstr>
      <vt:lpstr>A More Complete RV32I Single Cycle Data Path</vt:lpstr>
      <vt:lpstr>Example: SW X2, offset(X1)</vt:lpstr>
      <vt:lpstr>Example: BEQ X1,X2, immediate</vt:lpstr>
      <vt:lpstr>A RV32I Single Cycle Processor</vt:lpstr>
      <vt:lpstr>Drawback of Single-Cycle Design</vt:lpstr>
      <vt:lpstr>Summary of Single Cycle RV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香港中文大学(深圳)数据科学院 School of Data Science</dc:title>
  <dc:creator>Windows 使用者</dc:creator>
  <cp:lastModifiedBy>Prof. HSU Wei-Chung (SDS)</cp:lastModifiedBy>
  <cp:revision>253</cp:revision>
  <dcterms:created xsi:type="dcterms:W3CDTF">2020-07-15T11:13:39Z</dcterms:created>
  <dcterms:modified xsi:type="dcterms:W3CDTF">2026-03-11T02:16:26Z</dcterms:modified>
</cp:coreProperties>
</file>