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60" r:id="rId2"/>
    <p:sldMasterId id="2147483686" r:id="rId3"/>
  </p:sldMasterIdLst>
  <p:notesMasterIdLst>
    <p:notesMasterId r:id="rId21"/>
  </p:notesMasterIdLst>
  <p:handoutMasterIdLst>
    <p:handoutMasterId r:id="rId22"/>
  </p:handoutMasterIdLst>
  <p:sldIdLst>
    <p:sldId id="256" r:id="rId4"/>
    <p:sldId id="655" r:id="rId5"/>
    <p:sldId id="308" r:id="rId6"/>
    <p:sldId id="642" r:id="rId7"/>
    <p:sldId id="652" r:id="rId8"/>
    <p:sldId id="659" r:id="rId9"/>
    <p:sldId id="646" r:id="rId10"/>
    <p:sldId id="653" r:id="rId11"/>
    <p:sldId id="654" r:id="rId12"/>
    <p:sldId id="647" r:id="rId13"/>
    <p:sldId id="648" r:id="rId14"/>
    <p:sldId id="657" r:id="rId15"/>
    <p:sldId id="649" r:id="rId16"/>
    <p:sldId id="650" r:id="rId17"/>
    <p:sldId id="651" r:id="rId18"/>
    <p:sldId id="658" r:id="rId19"/>
    <p:sldId id="333" r:id="rId2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0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75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3006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815C594-135F-4D15-8E4B-45F1BE861E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DB0960-189E-46E1-8D29-6FB05B6F72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43A5A2-ABA0-4772-A51C-C5F6F247E980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C1DB78-23CB-4BEF-89B3-77D711E9DAE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9CDE08-0A77-4F04-A3CE-DB3F76D614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243270-4340-4F2C-881F-076058FFD6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566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1F4A7B-8284-4E61-88F9-84C6CA6E31E8}" type="datetimeFigureOut">
              <a:rPr lang="zh-TW" altLang="en-US" smtClean="0"/>
              <a:t>2026/3/7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1D5518-E2B7-47D3-A483-775D3998244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7007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6125" y="3227388"/>
            <a:ext cx="8535988" cy="30575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TW" altLang="en-US"/>
          </a:p>
        </p:txBody>
      </p:sp>
      <p:sp>
        <p:nvSpPr>
          <p:cNvPr id="10957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686050" y="425450"/>
            <a:ext cx="4546600" cy="2557463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687638" y="509588"/>
            <a:ext cx="4532312" cy="2549525"/>
          </a:xfrm>
        </p:spPr>
      </p:sp>
      <p:sp>
        <p:nvSpPr>
          <p:cNvPr id="1167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20800" y="3227388"/>
            <a:ext cx="7264400" cy="30575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dirty="0"/>
              <a:t>Silicon compiler was the term, but less commonly used. It is probably too aggressive.</a:t>
            </a:r>
          </a:p>
          <a:p>
            <a:r>
              <a:rPr lang="en-US" altLang="zh-CN" dirty="0"/>
              <a:t>Chip logic design and IC design are now separated.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02645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687638" y="509588"/>
            <a:ext cx="4532312" cy="2549525"/>
          </a:xfrm>
        </p:spPr>
      </p:sp>
      <p:sp>
        <p:nvSpPr>
          <p:cNvPr id="1167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20800" y="3227388"/>
            <a:ext cx="7264400" cy="30575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dirty="0"/>
              <a:t>Silicon compiler was the term, but less commonly used. It is probably too aggressive.</a:t>
            </a:r>
          </a:p>
          <a:p>
            <a:r>
              <a:rPr lang="en-US" altLang="zh-CN" dirty="0"/>
              <a:t>Chip logic design and IC design are now separated.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279146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This data path supports the RV32I core, including all user level instructions including JALR, Shift, and so on.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6C40E4-B9C8-417B-AB00-3BF7F8038A2D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00227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This data path supports the RV32I core, including all user level instructions including JALR, Shift, and so on.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6C40E4-B9C8-417B-AB00-3BF7F8038A2D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02555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This data path supports the RV32I core, including all user level instructions including JALR, Shift, and so on.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6C40E4-B9C8-417B-AB00-3BF7F8038A2D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45736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6C40E4-B9C8-417B-AB00-3BF7F8038A2D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2030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6C40E4-B9C8-417B-AB00-3BF7F8038A2D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54337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This data path supports the RV32I core, including all user level instructions including JALR, Shift, and so on.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6C40E4-B9C8-417B-AB00-3BF7F8038A2D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746165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6C40E4-B9C8-417B-AB00-3BF7F8038A2D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13295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6C40E4-B9C8-417B-AB00-3BF7F8038A2D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610050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6C40E4-B9C8-417B-AB00-3BF7F8038A2D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619527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6125" y="3227388"/>
            <a:ext cx="8535988" cy="30575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/>
              <a:t>Well, the last slide pretty much illustrate one of the biggest disadvantage of the single cycle implementation: it has a long cycle time.</a:t>
            </a:r>
          </a:p>
          <a:p>
            <a:r>
              <a:rPr lang="en-US" altLang="zh-TW"/>
              <a:t>More specifically, the cycle time must be long enough for the load instruction which has the following components: Clock to Q time of the PC, ....</a:t>
            </a:r>
          </a:p>
          <a:p>
            <a:r>
              <a:rPr lang="en-US" altLang="zh-TW"/>
              <a:t>Having a long cycle time is a big problem but not the the only problem.</a:t>
            </a:r>
          </a:p>
          <a:p>
            <a:r>
              <a:rPr lang="en-US" altLang="zh-TW"/>
              <a:t>Another problem of this single cycle implementation is that this cycle time, which is long enough for the load instruction, is too long for all other instructions.</a:t>
            </a:r>
          </a:p>
          <a:p>
            <a:r>
              <a:rPr lang="en-US" altLang="zh-TW"/>
              <a:t>We will show you why this is bad and what we can do about it in the next few lectures.</a:t>
            </a:r>
          </a:p>
          <a:p>
            <a:r>
              <a:rPr lang="en-US" altLang="zh-TW"/>
              <a:t>That all for today.</a:t>
            </a:r>
          </a:p>
          <a:p>
            <a:endParaRPr lang="en-US" altLang="zh-TW"/>
          </a:p>
          <a:p>
            <a:r>
              <a:rPr lang="en-US" altLang="zh-TW"/>
              <a:t>+2 = 79 min (Y:59)</a:t>
            </a:r>
          </a:p>
        </p:txBody>
      </p:sp>
      <p:sp>
        <p:nvSpPr>
          <p:cNvPr id="128003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686050" y="425450"/>
            <a:ext cx="4546600" cy="2557463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30117147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701925" y="433388"/>
            <a:ext cx="4522788" cy="2544762"/>
          </a:xfrm>
          <a:noFill/>
          <a:ln cap="flat">
            <a:solidFill>
              <a:schemeClr val="tx1"/>
            </a:solidFill>
          </a:ln>
        </p:spPr>
      </p:sp>
      <p:sp>
        <p:nvSpPr>
          <p:cNvPr id="1290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46125" y="3227388"/>
            <a:ext cx="8535988" cy="30575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667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24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2133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4839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267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3733"/>
            </a:lvl1pPr>
            <a:lvl2pPr marL="457177" indent="0">
              <a:buNone/>
              <a:defRPr sz="1801"/>
            </a:lvl2pPr>
            <a:lvl3pPr marL="914354" indent="0">
              <a:buNone/>
              <a:defRPr sz="1600"/>
            </a:lvl3pPr>
            <a:lvl4pPr marL="1371531" indent="0">
              <a:buNone/>
              <a:defRPr sz="1401"/>
            </a:lvl4pPr>
            <a:lvl5pPr marL="1828709" indent="0">
              <a:buNone/>
              <a:defRPr sz="1401"/>
            </a:lvl5pPr>
            <a:lvl6pPr marL="2285886" indent="0">
              <a:buNone/>
              <a:defRPr sz="1401"/>
            </a:lvl6pPr>
            <a:lvl7pPr marL="2743063" indent="0">
              <a:buNone/>
              <a:defRPr sz="1401"/>
            </a:lvl7pPr>
            <a:lvl8pPr marL="3200240" indent="0">
              <a:buNone/>
              <a:defRPr sz="1401"/>
            </a:lvl8pPr>
            <a:lvl9pPr marL="3657417" indent="0">
              <a:buNone/>
              <a:defRPr sz="14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60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4985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2" y="1268773"/>
            <a:ext cx="5386917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77" indent="0">
              <a:buNone/>
              <a:defRPr sz="2000" b="1"/>
            </a:lvl2pPr>
            <a:lvl3pPr marL="914354" indent="0">
              <a:buNone/>
              <a:defRPr sz="1801" b="1"/>
            </a:lvl3pPr>
            <a:lvl4pPr marL="1371531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3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7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2" y="1908535"/>
            <a:ext cx="5386917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3" y="1268773"/>
            <a:ext cx="5389033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77" indent="0">
              <a:buNone/>
              <a:defRPr sz="2000" b="1"/>
            </a:lvl2pPr>
            <a:lvl3pPr marL="914354" indent="0">
              <a:buNone/>
              <a:defRPr sz="1801" b="1"/>
            </a:lvl3pPr>
            <a:lvl4pPr marL="1371531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3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7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3" y="1908535"/>
            <a:ext cx="5389033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624421" y="144466"/>
            <a:ext cx="10943167" cy="692151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794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0701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3319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6" y="273049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4" y="273056"/>
            <a:ext cx="68156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6" y="1435104"/>
            <a:ext cx="4011084" cy="4691063"/>
          </a:xfrm>
        </p:spPr>
        <p:txBody>
          <a:bodyPr/>
          <a:lstStyle>
            <a:lvl1pPr marL="0" indent="0">
              <a:buNone/>
              <a:defRPr sz="1401"/>
            </a:lvl1pPr>
            <a:lvl2pPr marL="457177" indent="0">
              <a:buNone/>
              <a:defRPr sz="1200"/>
            </a:lvl2pPr>
            <a:lvl3pPr marL="914354" indent="0">
              <a:buNone/>
              <a:defRPr sz="1001"/>
            </a:lvl3pPr>
            <a:lvl4pPr marL="1371531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3" indent="0">
              <a:buNone/>
              <a:defRPr sz="900"/>
            </a:lvl7pPr>
            <a:lvl8pPr marL="3200240" indent="0">
              <a:buNone/>
              <a:defRPr sz="900"/>
            </a:lvl8pPr>
            <a:lvl9pPr marL="3657417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0483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77" indent="0">
              <a:buNone/>
              <a:defRPr sz="2800"/>
            </a:lvl2pPr>
            <a:lvl3pPr marL="914354" indent="0">
              <a:buNone/>
              <a:defRPr sz="2400"/>
            </a:lvl3pPr>
            <a:lvl4pPr marL="1371531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3" indent="0">
              <a:buNone/>
              <a:defRPr sz="2000"/>
            </a:lvl7pPr>
            <a:lvl8pPr marL="3200240" indent="0">
              <a:buNone/>
              <a:defRPr sz="2000"/>
            </a:lvl8pPr>
            <a:lvl9pPr marL="3657417" indent="0">
              <a:buNone/>
              <a:defRPr sz="20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41"/>
            <a:ext cx="7315200" cy="804863"/>
          </a:xfrm>
        </p:spPr>
        <p:txBody>
          <a:bodyPr/>
          <a:lstStyle>
            <a:lvl1pPr marL="0" indent="0">
              <a:buNone/>
              <a:defRPr sz="1401"/>
            </a:lvl1pPr>
            <a:lvl2pPr marL="457177" indent="0">
              <a:buNone/>
              <a:defRPr sz="1200"/>
            </a:lvl2pPr>
            <a:lvl3pPr marL="914354" indent="0">
              <a:buNone/>
              <a:defRPr sz="1001"/>
            </a:lvl3pPr>
            <a:lvl4pPr marL="1371531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3" indent="0">
              <a:buNone/>
              <a:defRPr sz="900"/>
            </a:lvl7pPr>
            <a:lvl8pPr marL="3200240" indent="0">
              <a:buNone/>
              <a:defRPr sz="900"/>
            </a:lvl8pPr>
            <a:lvl9pPr marL="3657417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25657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3676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3043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609600" y="73028"/>
            <a:ext cx="10972800" cy="1700213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8601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09600" y="1125542"/>
            <a:ext cx="10972800" cy="647700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92217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32"/>
            <a:ext cx="10363200" cy="1470025"/>
          </a:xfrm>
        </p:spPr>
        <p:txBody>
          <a:bodyPr/>
          <a:lstStyle>
            <a:lvl1pPr algn="ctr">
              <a:defRPr sz="5333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177" indent="0" algn="ctr">
              <a:buNone/>
              <a:defRPr/>
            </a:lvl2pPr>
            <a:lvl3pPr marL="914354" indent="0" algn="ctr">
              <a:buNone/>
              <a:defRPr/>
            </a:lvl3pPr>
            <a:lvl4pPr marL="1371531" indent="0" algn="ctr">
              <a:buNone/>
              <a:defRPr/>
            </a:lvl4pPr>
            <a:lvl5pPr marL="1828709" indent="0" algn="ctr">
              <a:buNone/>
              <a:defRPr/>
            </a:lvl5pPr>
            <a:lvl6pPr marL="2285886" indent="0" algn="ctr">
              <a:buNone/>
              <a:defRPr/>
            </a:lvl6pPr>
            <a:lvl7pPr marL="2743063" indent="0" algn="ctr">
              <a:buNone/>
              <a:defRPr/>
            </a:lvl7pPr>
            <a:lvl8pPr marL="3200240" indent="0" algn="ctr">
              <a:buNone/>
              <a:defRPr/>
            </a:lvl8pPr>
            <a:lvl9pPr marL="3657417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99471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98655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83935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34368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37830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55558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84383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88628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85375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79622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8278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736785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296786" y="144466"/>
            <a:ext cx="10270801" cy="692151"/>
          </a:xfrm>
        </p:spPr>
        <p:txBody>
          <a:bodyPr/>
          <a:lstStyle>
            <a:lvl1pPr>
              <a:defRPr sz="4267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>
                <a:latin typeface="Calibri" panose="020F0702030404030204" pitchFamily="34" charset="0"/>
                <a:ea typeface="標楷體" panose="02010601000101010101" pitchFamily="65" charset="-120"/>
                <a:cs typeface="Calibri" panose="020F0702030404030204" pitchFamily="34" charset="0"/>
              </a:defRPr>
            </a:lvl3pPr>
            <a:lvl4pPr>
              <a:defRPr sz="2133">
                <a:latin typeface="Calibri" panose="020F0702030404030204" pitchFamily="34" charset="0"/>
                <a:ea typeface="標楷體" panose="02010601000101010101" pitchFamily="65" charset="-120"/>
                <a:cs typeface="Calibri" panose="020F0702030404030204" pitchFamily="34" charset="0"/>
              </a:defRPr>
            </a:lvl4pPr>
            <a:lvl5pPr>
              <a:defRPr sz="1867">
                <a:latin typeface="Calibri" panose="020F0702030404030204" pitchFamily="34" charset="0"/>
                <a:ea typeface="標楷體" panose="02010601000101010101" pitchFamily="65" charset="-120"/>
                <a:cs typeface="Calibri" panose="020F0702030404030204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879858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267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3733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00671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947919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2" y="1268773"/>
            <a:ext cx="5386917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2" y="1908535"/>
            <a:ext cx="5386917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3" y="1268773"/>
            <a:ext cx="5389033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3" y="1908535"/>
            <a:ext cx="5389033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624421" y="144466"/>
            <a:ext cx="10943167" cy="692151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7777507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567296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96024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6" y="273049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4" y="273056"/>
            <a:ext cx="68156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6" y="1435104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118808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41"/>
            <a:ext cx="73152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7772873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71706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214838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609600" y="73028"/>
            <a:ext cx="10972800" cy="1700213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792663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 hasCustomPrompt="1"/>
          </p:nvPr>
        </p:nvSpPr>
        <p:spPr>
          <a:xfrm>
            <a:off x="609600" y="1125542"/>
            <a:ext cx="10972800" cy="647700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066242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32"/>
            <a:ext cx="10363200" cy="1470025"/>
          </a:xfrm>
        </p:spPr>
        <p:txBody>
          <a:bodyPr/>
          <a:lstStyle>
            <a:lvl1pPr algn="ctr">
              <a:defRPr sz="5333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189" indent="0" algn="ctr">
              <a:buNone/>
              <a:defRPr/>
            </a:lvl2pPr>
            <a:lvl3pPr marL="914377" indent="0" algn="ctr">
              <a:buNone/>
              <a:defRPr/>
            </a:lvl3pPr>
            <a:lvl4pPr marL="1371566" indent="0" algn="ctr">
              <a:buNone/>
              <a:defRPr/>
            </a:lvl4pPr>
            <a:lvl5pPr marL="1828754" indent="0" algn="ctr">
              <a:buNone/>
              <a:defRPr/>
            </a:lvl5pPr>
            <a:lvl6pPr marL="2285943" indent="0" algn="ctr">
              <a:buNone/>
              <a:defRPr/>
            </a:lvl6pPr>
            <a:lvl7pPr marL="2743131" indent="0" algn="ctr">
              <a:buNone/>
              <a:defRPr/>
            </a:lvl7pPr>
            <a:lvl8pPr marL="3200320" indent="0" algn="ctr">
              <a:buNone/>
              <a:defRPr/>
            </a:lvl8pPr>
            <a:lvl9pPr marL="3657509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444426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訂版面配置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" name="投影片編號版面配置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AB1C7C-E2CD-46D3-9D9B-A84EE90FAF26}" type="slidenum">
              <a:rPr lang="zh-TW" altLang="en-US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57593179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image" Target="../media/image3.png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image" Target="../media/image2.jpg"/><Relationship Id="rId2" Type="http://schemas.openxmlformats.org/officeDocument/2006/relationships/slideLayout" Target="../slideLayouts/slideLayout26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5" Type="http://schemas.openxmlformats.org/officeDocument/2006/relationships/theme" Target="../theme/theme3.xml"/><Relationship Id="rId10" Type="http://schemas.openxmlformats.org/officeDocument/2006/relationships/slideLayout" Target="../slideLayouts/slideLayout34.xml"/><Relationship Id="rId19" Type="http://schemas.openxmlformats.org/officeDocument/2006/relationships/image" Target="../media/image4.png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1049867" y="144466"/>
            <a:ext cx="10517721" cy="6921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125537"/>
            <a:ext cx="10972800" cy="4895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3" y="6357940"/>
            <a:ext cx="5111751" cy="198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792808" y="6581777"/>
            <a:ext cx="357482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12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908055"/>
            <a:ext cx="12192000" cy="144463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80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6165849"/>
            <a:ext cx="12192000" cy="719139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80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108017" y="6524628"/>
            <a:ext cx="28448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14" name="圖片 13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280" y="124614"/>
            <a:ext cx="916587" cy="672311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80" y="6239920"/>
            <a:ext cx="817930" cy="569415"/>
          </a:xfrm>
          <a:prstGeom prst="rect">
            <a:avLst/>
          </a:prstGeom>
        </p:spPr>
      </p:pic>
      <p:sp>
        <p:nvSpPr>
          <p:cNvPr id="13" name="矩形 14">
            <a:extLst>
              <a:ext uri="{FF2B5EF4-FFF2-40B4-BE49-F238E27FC236}">
                <a16:creationId xmlns:a16="http://schemas.microsoft.com/office/drawing/2014/main" id="{8D8EDA7D-581F-42FC-B3E8-D862C7E3DAD2}"/>
              </a:ext>
            </a:extLst>
          </p:cNvPr>
          <p:cNvSpPr/>
          <p:nvPr userDrawn="1"/>
        </p:nvSpPr>
        <p:spPr>
          <a:xfrm>
            <a:off x="829837" y="6347770"/>
            <a:ext cx="267212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200" kern="100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</a:t>
            </a:r>
            <a:r>
              <a:rPr kumimoji="0" lang="zh-CN" altLang="zh-TW" sz="1200" b="0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学</a:t>
            </a:r>
            <a:r>
              <a:rPr lang="zh-CN" altLang="zh-TW" sz="1200" kern="100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院</a:t>
            </a:r>
            <a:endParaRPr lang="zh-TW" altLang="zh-TW" sz="1200" kern="1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CUHK</a:t>
            </a: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DengXian"/>
                <a:cs typeface="Times New Roman" panose="02020603050405020304" pitchFamily="18" charset="0"/>
              </a:rPr>
              <a:t>-SZ Sc</a:t>
            </a: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hool of Data Science</a:t>
            </a:r>
            <a:endParaRPr lang="zh-TW" altLang="zh-TW" sz="1000" kern="100" dirty="0">
              <a:solidFill>
                <a:schemeClr val="bg1"/>
              </a:solidFill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231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800" b="1">
          <a:solidFill>
            <a:schemeClr val="tx2"/>
          </a:solidFill>
          <a:latin typeface="Calibri" pitchFamily="34" charset="0"/>
          <a:ea typeface="標楷體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457177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914354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371531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828709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342882" indent="-342882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3733">
          <a:solidFill>
            <a:schemeClr val="tx1"/>
          </a:solidFill>
          <a:latin typeface="Calibri" pitchFamily="34" charset="0"/>
          <a:ea typeface="標楷體" pitchFamily="65" charset="-120"/>
          <a:cs typeface="+mn-cs"/>
        </a:defRPr>
      </a:lvl1pPr>
      <a:lvl2pPr marL="742913" indent="-285737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3200">
          <a:solidFill>
            <a:schemeClr val="tx1"/>
          </a:solidFill>
          <a:latin typeface="Calibri" pitchFamily="34" charset="0"/>
          <a:ea typeface="標楷體" pitchFamily="65" charset="-120"/>
        </a:defRPr>
      </a:lvl2pPr>
      <a:lvl3pPr marL="1142943" indent="-228589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121" indent="-228589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298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476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652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829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007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177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1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3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7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6871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1049869" y="144466"/>
            <a:ext cx="10517719" cy="692151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125537"/>
            <a:ext cx="10972800" cy="4895851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6" cstate="print"/>
          <a:srcRect/>
          <a:stretch>
            <a:fillRect/>
          </a:stretch>
        </p:blipFill>
        <p:spPr bwMode="auto">
          <a:xfrm>
            <a:off x="3" y="6357940"/>
            <a:ext cx="5111751" cy="198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792808" y="6581777"/>
            <a:ext cx="357482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chemeClr val="bg1"/>
                </a:solidFill>
                <a:latin typeface="Arial" panose="020B0604020202090204" pitchFamily="34" charset="0"/>
                <a:ea typeface="新細明體" panose="02020500000000000000" pitchFamily="18" charset="-120"/>
                <a:cs typeface="Arial" panose="020B0604020202090204" pitchFamily="34" charset="0"/>
              </a:rPr>
              <a:t>National Tsing Hua University ® copyright OIA</a:t>
            </a:r>
            <a:endParaRPr lang="zh-TW" altLang="en-US" sz="1200" b="1" dirty="0">
              <a:solidFill>
                <a:schemeClr val="bg1"/>
              </a:solidFill>
              <a:latin typeface="Arial" panose="020B0604020202090204" pitchFamily="34" charset="0"/>
              <a:ea typeface="新細明體" panose="02020500000000000000" pitchFamily="18" charset="-120"/>
              <a:cs typeface="Arial" panose="020B0604020202090204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908055"/>
            <a:ext cx="12192000" cy="144463"/>
          </a:xfrm>
          <a:prstGeom prst="rect">
            <a:avLst/>
          </a:prstGeom>
          <a:solidFill>
            <a:srgbClr val="633869"/>
          </a:solidFill>
          <a:ln w="1587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6165849"/>
            <a:ext cx="12192000" cy="719139"/>
          </a:xfrm>
          <a:prstGeom prst="rect">
            <a:avLst/>
          </a:prstGeom>
          <a:solidFill>
            <a:srgbClr val="633869"/>
          </a:solidFill>
          <a:ln w="1587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108017" y="6524628"/>
            <a:ext cx="2844800" cy="339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solidFill>
                  <a:schemeClr val="bg1"/>
                </a:solidFill>
                <a:latin typeface="Arial" panose="020B0604020202090204" pitchFamily="34" charset="0"/>
                <a:ea typeface="新細明體" panose="02020500000000000000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7" y="128610"/>
            <a:ext cx="1185287" cy="691885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6" y="6244787"/>
            <a:ext cx="988121" cy="569415"/>
          </a:xfrm>
          <a:prstGeom prst="rect">
            <a:avLst/>
          </a:prstGeom>
        </p:spPr>
      </p:pic>
      <p:pic>
        <p:nvPicPr>
          <p:cNvPr id="13" name="圖片 12"/>
          <p:cNvPicPr>
            <a:picLocks noChangeAspect="1"/>
          </p:cNvPicPr>
          <p:nvPr userDrawn="1"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750" y="6242589"/>
            <a:ext cx="2707337" cy="533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116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267" b="1">
          <a:solidFill>
            <a:schemeClr val="tx2"/>
          </a:solidFill>
          <a:latin typeface="Calibri" panose="020F0702030404030204" pitchFamily="34" charset="0"/>
          <a:ea typeface="標楷體" panose="02010601000101010101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anose="020F0702030404030204" pitchFamily="34" charset="0"/>
          <a:ea typeface="標楷體" panose="02010601000101010101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anose="020F0702030404030204" pitchFamily="34" charset="0"/>
          <a:ea typeface="標楷體" panose="02010601000101010101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anose="020F0702030404030204" pitchFamily="34" charset="0"/>
          <a:ea typeface="標楷體" panose="02010601000101010101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anose="020F0702030404030204" pitchFamily="34" charset="0"/>
          <a:ea typeface="標楷體" panose="02010601000101010101" pitchFamily="65" charset="-120"/>
          <a:cs typeface="MS Sans Serif"/>
        </a:defRPr>
      </a:lvl5pPr>
      <a:lvl6pPr marL="457189" algn="l" rtl="0" eaLnBrk="1" fontAlgn="base" hangingPunct="1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914377" algn="l" rtl="0" eaLnBrk="1" fontAlgn="base" hangingPunct="1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371566" algn="l" rtl="0" eaLnBrk="1" fontAlgn="base" hangingPunct="1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828754" algn="l" rtl="0" eaLnBrk="1" fontAlgn="base" hangingPunct="1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342891" indent="-342891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SzPct val="80000"/>
        <a:buFont typeface="Wingdings" panose="05000000000000000000" pitchFamily="2" charset="2"/>
        <a:buChar char="l"/>
        <a:defRPr kumimoji="1" sz="2667">
          <a:solidFill>
            <a:schemeClr val="tx1"/>
          </a:solidFill>
          <a:latin typeface="Calibri" panose="020F0702030404030204" pitchFamily="34" charset="0"/>
          <a:ea typeface="標楷體" panose="02010601000101010101" pitchFamily="65" charset="-120"/>
          <a:cs typeface="+mn-cs"/>
        </a:defRPr>
      </a:lvl1pPr>
      <a:lvl2pPr marL="742508" indent="-285320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SzPct val="90000"/>
        <a:buFont typeface="Arial" panose="020B0604020202090204" pitchFamily="34" charset="0"/>
        <a:buChar char="–"/>
        <a:defRPr kumimoji="1" sz="2400">
          <a:solidFill>
            <a:schemeClr val="tx1"/>
          </a:solidFill>
          <a:latin typeface="Calibri" panose="020F0702030404030204" pitchFamily="34" charset="0"/>
          <a:ea typeface="標楷體" panose="02010601000101010101" pitchFamily="65" charset="-120"/>
        </a:defRPr>
      </a:lvl2pPr>
      <a:lvl3pPr marL="1142971" indent="-228594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160" indent="-228594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349" indent="-228594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35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35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35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35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35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35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35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35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35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1E74415-30E6-4BE5-9E20-77352570E8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</a:t>
            </a:fld>
            <a:endParaRPr lang="zh-TW" alt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CCF4834-0539-4513-8D25-641B75117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8968" y="1021404"/>
            <a:ext cx="8160657" cy="2683883"/>
          </a:xfrm>
        </p:spPr>
        <p:txBody>
          <a:bodyPr/>
          <a:lstStyle/>
          <a:p>
            <a:pPr algn="ctr"/>
            <a: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CSC3060 – Computer Architecture</a:t>
            </a:r>
            <a:b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Chapter </a:t>
            </a:r>
            <a:r>
              <a:rPr lang="en-US" altLang="zh-TW"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 Control</a:t>
            </a:r>
            <a:endParaRPr lang="zh-TW" altLang="en-US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7EF043F-0047-4EC5-B297-23522E9815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26109" y="4185126"/>
            <a:ext cx="7908692" cy="2339502"/>
          </a:xfrm>
        </p:spPr>
        <p:txBody>
          <a:bodyPr/>
          <a:lstStyle/>
          <a:p>
            <a:r>
              <a:rPr lang="en-US" altLang="zh-TW" sz="2400" dirty="0"/>
              <a:t>Prof. Wei Chung Hsu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 dirty="0"/>
              <a:t>School of Data 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769360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1" name="Rectangle 3"/>
          <p:cNvSpPr>
            <a:spLocks noGrp="1" noChangeArrowheads="1"/>
          </p:cNvSpPr>
          <p:nvPr>
            <p:ph type="title"/>
          </p:nvPr>
        </p:nvSpPr>
        <p:spPr>
          <a:xfrm>
            <a:off x="1270428" y="143436"/>
            <a:ext cx="9035624" cy="686441"/>
          </a:xfrm>
        </p:spPr>
        <p:txBody>
          <a:bodyPr/>
          <a:lstStyle/>
          <a:p>
            <a:r>
              <a:rPr lang="en-US" altLang="zh-TW" dirty="0">
                <a:cs typeface="Calibri" panose="020F0702030404030204" pitchFamily="34" charset="0"/>
              </a:rPr>
              <a:t>A Single Cycle Data Path</a:t>
            </a:r>
          </a:p>
        </p:txBody>
      </p:sp>
      <p:sp>
        <p:nvSpPr>
          <p:cNvPr id="44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3FBB95-9019-4710-8035-BBBCDDE7F1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410" y="1054108"/>
            <a:ext cx="10359956" cy="5210899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03C5866-A254-46D4-BF62-86994A115AE0}"/>
              </a:ext>
            </a:extLst>
          </p:cNvPr>
          <p:cNvCxnSpPr/>
          <p:nvPr/>
        </p:nvCxnSpPr>
        <p:spPr bwMode="auto">
          <a:xfrm>
            <a:off x="8686800" y="1643974"/>
            <a:ext cx="0" cy="1313235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oval" w="med" len="med"/>
            <a:tailEnd type="oval" w="med" len="med"/>
          </a:ln>
          <a:effectLst/>
        </p:spPr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D3CC239-E285-4809-9AA3-76BD5F07F4C7}"/>
              </a:ext>
            </a:extLst>
          </p:cNvPr>
          <p:cNvCxnSpPr/>
          <p:nvPr/>
        </p:nvCxnSpPr>
        <p:spPr bwMode="auto">
          <a:xfrm>
            <a:off x="8677072" y="2957209"/>
            <a:ext cx="1945532" cy="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DC19622-2264-4854-BD58-B3631E0A21BC}"/>
              </a:ext>
            </a:extLst>
          </p:cNvPr>
          <p:cNvCxnSpPr/>
          <p:nvPr/>
        </p:nvCxnSpPr>
        <p:spPr bwMode="auto">
          <a:xfrm>
            <a:off x="10612877" y="2957209"/>
            <a:ext cx="0" cy="982493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D558297-0DB0-4135-A185-10C4BFE3568A}"/>
              </a:ext>
            </a:extLst>
          </p:cNvPr>
          <p:cNvSpPr txBox="1"/>
          <p:nvPr/>
        </p:nvSpPr>
        <p:spPr>
          <a:xfrm>
            <a:off x="8822987" y="2591388"/>
            <a:ext cx="2326278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Add this path for JAL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4D75BD-27D3-45A7-B5CC-466DD471B6B6}"/>
              </a:ext>
            </a:extLst>
          </p:cNvPr>
          <p:cNvSpPr txBox="1"/>
          <p:nvPr/>
        </p:nvSpPr>
        <p:spPr>
          <a:xfrm>
            <a:off x="10622604" y="3448455"/>
            <a:ext cx="88998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WBsel</a:t>
            </a:r>
            <a:endParaRPr lang="en-US" b="1" dirty="0">
              <a:solidFill>
                <a:srgbClr val="FF0000"/>
              </a:solidFill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A2FEA2B-15C0-410B-AC78-D001B39FD854}"/>
              </a:ext>
            </a:extLst>
          </p:cNvPr>
          <p:cNvCxnSpPr>
            <a:cxnSpLocks/>
          </p:cNvCxnSpPr>
          <p:nvPr/>
        </p:nvCxnSpPr>
        <p:spPr bwMode="auto">
          <a:xfrm>
            <a:off x="10807430" y="3659557"/>
            <a:ext cx="0" cy="280145"/>
          </a:xfrm>
          <a:prstGeom prst="straightConnector1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ChangeArrowheads="1"/>
          </p:cNvSpPr>
          <p:nvPr/>
        </p:nvSpPr>
        <p:spPr bwMode="auto">
          <a:xfrm>
            <a:off x="6386557" y="4067043"/>
            <a:ext cx="1017588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ALUctr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0" name="Rectangle 4"/>
          <p:cNvSpPr>
            <a:spLocks noChangeArrowheads="1"/>
          </p:cNvSpPr>
          <p:nvPr/>
        </p:nvSpPr>
        <p:spPr bwMode="auto">
          <a:xfrm>
            <a:off x="5475859" y="4065626"/>
            <a:ext cx="936154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ALUSrc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1" name="Rectangle 5"/>
          <p:cNvSpPr>
            <a:spLocks noChangeArrowheads="1"/>
          </p:cNvSpPr>
          <p:nvPr/>
        </p:nvSpPr>
        <p:spPr bwMode="auto">
          <a:xfrm>
            <a:off x="4477637" y="4057931"/>
            <a:ext cx="92653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MemRd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2" name="Rectangle 6"/>
          <p:cNvSpPr>
            <a:spLocks noChangeArrowheads="1"/>
          </p:cNvSpPr>
          <p:nvPr/>
        </p:nvSpPr>
        <p:spPr bwMode="auto">
          <a:xfrm>
            <a:off x="8187956" y="4080587"/>
            <a:ext cx="812723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WBsel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3" name="Rectangle 7"/>
          <p:cNvSpPr>
            <a:spLocks noChangeArrowheads="1"/>
          </p:cNvSpPr>
          <p:nvPr/>
        </p:nvSpPr>
        <p:spPr bwMode="auto">
          <a:xfrm>
            <a:off x="7168751" y="4074761"/>
            <a:ext cx="924420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MemWr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4" name="Rectangle 8"/>
          <p:cNvSpPr>
            <a:spLocks noChangeArrowheads="1"/>
          </p:cNvSpPr>
          <p:nvPr/>
        </p:nvSpPr>
        <p:spPr bwMode="auto">
          <a:xfrm>
            <a:off x="9450390" y="3982905"/>
            <a:ext cx="743793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Equal</a:t>
            </a:r>
          </a:p>
        </p:txBody>
      </p:sp>
      <p:sp>
        <p:nvSpPr>
          <p:cNvPr id="45065" name="Line 9"/>
          <p:cNvSpPr>
            <a:spLocks noChangeShapeType="1"/>
          </p:cNvSpPr>
          <p:nvPr/>
        </p:nvSpPr>
        <p:spPr bwMode="auto">
          <a:xfrm>
            <a:off x="3454401" y="1558792"/>
            <a:ext cx="31369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66" name="Rectangle 10"/>
          <p:cNvSpPr>
            <a:spLocks noChangeArrowheads="1"/>
          </p:cNvSpPr>
          <p:nvPr/>
        </p:nvSpPr>
        <p:spPr bwMode="auto">
          <a:xfrm>
            <a:off x="3932239" y="1155568"/>
            <a:ext cx="2268250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ea typeface="新細明體" panose="02020500000000000000" pitchFamily="18" charset="-120"/>
              </a:rPr>
              <a:t>Instruction&lt;31:0&gt;</a:t>
            </a:r>
          </a:p>
        </p:txBody>
      </p:sp>
      <p:sp>
        <p:nvSpPr>
          <p:cNvPr id="45067" name="Line 11"/>
          <p:cNvSpPr>
            <a:spLocks noChangeShapeType="1"/>
          </p:cNvSpPr>
          <p:nvPr/>
        </p:nvSpPr>
        <p:spPr bwMode="auto">
          <a:xfrm>
            <a:off x="4843463" y="15841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68" name="Rectangle 12"/>
          <p:cNvSpPr>
            <a:spLocks noChangeArrowheads="1"/>
          </p:cNvSpPr>
          <p:nvPr/>
        </p:nvSpPr>
        <p:spPr bwMode="auto">
          <a:xfrm rot="5400000">
            <a:off x="4576930" y="1853538"/>
            <a:ext cx="95058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15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: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19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69" name="Rectangle 13"/>
          <p:cNvSpPr>
            <a:spLocks noChangeArrowheads="1"/>
          </p:cNvSpPr>
          <p:nvPr/>
        </p:nvSpPr>
        <p:spPr bwMode="auto">
          <a:xfrm rot="5400000">
            <a:off x="5154779" y="1853538"/>
            <a:ext cx="95058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20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:2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4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70" name="Rectangle 14"/>
          <p:cNvSpPr>
            <a:spLocks noChangeArrowheads="1"/>
          </p:cNvSpPr>
          <p:nvPr/>
        </p:nvSpPr>
        <p:spPr bwMode="auto">
          <a:xfrm rot="5400000">
            <a:off x="5738303" y="1853538"/>
            <a:ext cx="825419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7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:1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71" name="Rectangle 15"/>
          <p:cNvSpPr>
            <a:spLocks noChangeArrowheads="1"/>
          </p:cNvSpPr>
          <p:nvPr/>
        </p:nvSpPr>
        <p:spPr bwMode="auto">
          <a:xfrm rot="5400000">
            <a:off x="6312618" y="1847982"/>
            <a:ext cx="95058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20:31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72" name="Line 16"/>
          <p:cNvSpPr>
            <a:spLocks noChangeShapeType="1"/>
          </p:cNvSpPr>
          <p:nvPr/>
        </p:nvSpPr>
        <p:spPr bwMode="auto">
          <a:xfrm>
            <a:off x="5421313" y="15841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73" name="Line 17"/>
          <p:cNvSpPr>
            <a:spLocks noChangeShapeType="1"/>
          </p:cNvSpPr>
          <p:nvPr/>
        </p:nvSpPr>
        <p:spPr bwMode="auto">
          <a:xfrm>
            <a:off x="5999163" y="15841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74" name="Line 18"/>
          <p:cNvSpPr>
            <a:spLocks noChangeShapeType="1"/>
          </p:cNvSpPr>
          <p:nvPr/>
        </p:nvSpPr>
        <p:spPr bwMode="auto">
          <a:xfrm>
            <a:off x="6577013" y="15841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75" name="Rectangle 19"/>
          <p:cNvSpPr>
            <a:spLocks noChangeArrowheads="1"/>
          </p:cNvSpPr>
          <p:nvPr/>
        </p:nvSpPr>
        <p:spPr bwMode="auto">
          <a:xfrm>
            <a:off x="6313489" y="2433505"/>
            <a:ext cx="836768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Imm12</a:t>
            </a:r>
          </a:p>
        </p:txBody>
      </p:sp>
      <p:sp>
        <p:nvSpPr>
          <p:cNvPr id="45076" name="Rectangle 20"/>
          <p:cNvSpPr>
            <a:spLocks noChangeArrowheads="1"/>
          </p:cNvSpPr>
          <p:nvPr/>
        </p:nvSpPr>
        <p:spPr bwMode="auto">
          <a:xfrm>
            <a:off x="5735639" y="2433505"/>
            <a:ext cx="458459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Rd</a:t>
            </a:r>
          </a:p>
        </p:txBody>
      </p:sp>
      <p:sp>
        <p:nvSpPr>
          <p:cNvPr id="45077" name="Rectangle 21"/>
          <p:cNvSpPr>
            <a:spLocks noChangeArrowheads="1"/>
          </p:cNvSpPr>
          <p:nvPr/>
        </p:nvSpPr>
        <p:spPr bwMode="auto">
          <a:xfrm>
            <a:off x="5240340" y="2433505"/>
            <a:ext cx="56105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Rs2</a:t>
            </a:r>
          </a:p>
        </p:txBody>
      </p:sp>
      <p:sp>
        <p:nvSpPr>
          <p:cNvPr id="45078" name="Rectangle 22"/>
          <p:cNvSpPr>
            <a:spLocks noChangeArrowheads="1"/>
          </p:cNvSpPr>
          <p:nvPr/>
        </p:nvSpPr>
        <p:spPr bwMode="auto">
          <a:xfrm>
            <a:off x="4662489" y="2433505"/>
            <a:ext cx="56105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Rs1</a:t>
            </a:r>
          </a:p>
        </p:txBody>
      </p:sp>
      <p:sp>
        <p:nvSpPr>
          <p:cNvPr id="45079" name="Rectangle 23"/>
          <p:cNvSpPr>
            <a:spLocks noChangeArrowheads="1"/>
          </p:cNvSpPr>
          <p:nvPr/>
        </p:nvSpPr>
        <p:spPr bwMode="auto">
          <a:xfrm>
            <a:off x="2489633" y="4051694"/>
            <a:ext cx="777457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PCsrc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80" name="Rectangle 24"/>
          <p:cNvSpPr>
            <a:spLocks noChangeArrowheads="1"/>
          </p:cNvSpPr>
          <p:nvPr/>
        </p:nvSpPr>
        <p:spPr bwMode="auto">
          <a:xfrm>
            <a:off x="2233613" y="1380992"/>
            <a:ext cx="1193800" cy="100012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45081" name="Rectangle 25"/>
          <p:cNvSpPr>
            <a:spLocks noChangeArrowheads="1"/>
          </p:cNvSpPr>
          <p:nvPr/>
        </p:nvSpPr>
        <p:spPr bwMode="auto">
          <a:xfrm>
            <a:off x="2763839" y="2123943"/>
            <a:ext cx="663643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Addr</a:t>
            </a:r>
          </a:p>
        </p:txBody>
      </p:sp>
      <p:sp>
        <p:nvSpPr>
          <p:cNvPr id="45082" name="Rectangle 26"/>
          <p:cNvSpPr>
            <a:spLocks noChangeArrowheads="1"/>
          </p:cNvSpPr>
          <p:nvPr/>
        </p:nvSpPr>
        <p:spPr bwMode="auto">
          <a:xfrm>
            <a:off x="2207099" y="1431792"/>
            <a:ext cx="1215076" cy="7085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algn="ctr"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ea typeface="新細明體" panose="02020500000000000000" pitchFamily="18" charset="-120"/>
              </a:rPr>
              <a:t>Inst.</a:t>
            </a:r>
          </a:p>
          <a:p>
            <a:pPr algn="ctr"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ea typeface="新細明體" panose="02020500000000000000" pitchFamily="18" charset="-120"/>
              </a:rPr>
              <a:t>Memory</a:t>
            </a:r>
          </a:p>
        </p:txBody>
      </p:sp>
      <p:sp>
        <p:nvSpPr>
          <p:cNvPr id="45083" name="Rectangle 27"/>
          <p:cNvSpPr>
            <a:spLocks noChangeArrowheads="1"/>
          </p:cNvSpPr>
          <p:nvPr/>
        </p:nvSpPr>
        <p:spPr bwMode="auto">
          <a:xfrm>
            <a:off x="2841625" y="4816343"/>
            <a:ext cx="6865939" cy="1206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45084" name="Rectangle 28"/>
          <p:cNvSpPr>
            <a:spLocks noChangeArrowheads="1"/>
          </p:cNvSpPr>
          <p:nvPr/>
        </p:nvSpPr>
        <p:spPr bwMode="auto">
          <a:xfrm>
            <a:off x="5116514" y="5176705"/>
            <a:ext cx="1585370" cy="4623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>
                <a:solidFill>
                  <a:prstClr val="black"/>
                </a:solidFill>
                <a:ea typeface="新細明體" panose="02020500000000000000" pitchFamily="18" charset="-120"/>
              </a:rPr>
              <a:t>Datapath</a:t>
            </a:r>
          </a:p>
        </p:txBody>
      </p:sp>
      <p:sp>
        <p:nvSpPr>
          <p:cNvPr id="45085" name="Line 29"/>
          <p:cNvSpPr>
            <a:spLocks noChangeShapeType="1"/>
          </p:cNvSpPr>
          <p:nvPr/>
        </p:nvSpPr>
        <p:spPr bwMode="auto">
          <a:xfrm>
            <a:off x="2890839" y="43527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87" name="Line 31"/>
          <p:cNvSpPr>
            <a:spLocks noChangeShapeType="1"/>
          </p:cNvSpPr>
          <p:nvPr/>
        </p:nvSpPr>
        <p:spPr bwMode="auto">
          <a:xfrm>
            <a:off x="4885496" y="44035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88" name="Line 32"/>
          <p:cNvSpPr>
            <a:spLocks noChangeShapeType="1"/>
          </p:cNvSpPr>
          <p:nvPr/>
        </p:nvSpPr>
        <p:spPr bwMode="auto">
          <a:xfrm>
            <a:off x="5980781" y="43908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89" name="Line 33"/>
          <p:cNvSpPr>
            <a:spLocks noChangeShapeType="1"/>
          </p:cNvSpPr>
          <p:nvPr/>
        </p:nvSpPr>
        <p:spPr bwMode="auto">
          <a:xfrm>
            <a:off x="6772319" y="43654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0" name="Line 34"/>
          <p:cNvSpPr>
            <a:spLocks noChangeShapeType="1"/>
          </p:cNvSpPr>
          <p:nvPr/>
        </p:nvSpPr>
        <p:spPr bwMode="auto">
          <a:xfrm>
            <a:off x="7597813" y="43781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1" name="Line 35"/>
          <p:cNvSpPr>
            <a:spLocks noChangeShapeType="1"/>
          </p:cNvSpPr>
          <p:nvPr/>
        </p:nvSpPr>
        <p:spPr bwMode="auto">
          <a:xfrm>
            <a:off x="8600108" y="43273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2" name="Line 36"/>
          <p:cNvSpPr>
            <a:spLocks noChangeShapeType="1"/>
          </p:cNvSpPr>
          <p:nvPr/>
        </p:nvSpPr>
        <p:spPr bwMode="auto">
          <a:xfrm>
            <a:off x="9342439" y="4022592"/>
            <a:ext cx="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3" name="AutoShape 37"/>
          <p:cNvSpPr>
            <a:spLocks noChangeArrowheads="1"/>
          </p:cNvSpPr>
          <p:nvPr/>
        </p:nvSpPr>
        <p:spPr bwMode="auto">
          <a:xfrm>
            <a:off x="2759077" y="2670043"/>
            <a:ext cx="6948488" cy="1231900"/>
          </a:xfrm>
          <a:prstGeom prst="roundRect">
            <a:avLst>
              <a:gd name="adj" fmla="val 12495"/>
            </a:avLst>
          </a:prstGeom>
          <a:noFill/>
          <a:ln w="12700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45094" name="Rectangle 38"/>
          <p:cNvSpPr>
            <a:spLocks noChangeArrowheads="1"/>
          </p:cNvSpPr>
          <p:nvPr/>
        </p:nvSpPr>
        <p:spPr bwMode="auto">
          <a:xfrm>
            <a:off x="5211763" y="3132005"/>
            <a:ext cx="1269578" cy="4623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>
                <a:solidFill>
                  <a:prstClr val="black"/>
                </a:solidFill>
                <a:ea typeface="新細明體" panose="02020500000000000000" pitchFamily="18" charset="-120"/>
              </a:rPr>
              <a:t>Control</a:t>
            </a:r>
          </a:p>
        </p:txBody>
      </p:sp>
      <p:sp>
        <p:nvSpPr>
          <p:cNvPr id="45095" name="Line 39"/>
          <p:cNvSpPr>
            <a:spLocks noChangeShapeType="1"/>
          </p:cNvSpPr>
          <p:nvPr/>
        </p:nvSpPr>
        <p:spPr bwMode="auto">
          <a:xfrm>
            <a:off x="3811588" y="15587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6" name="Rectangle 40"/>
          <p:cNvSpPr>
            <a:spLocks noChangeArrowheads="1"/>
          </p:cNvSpPr>
          <p:nvPr/>
        </p:nvSpPr>
        <p:spPr bwMode="auto">
          <a:xfrm>
            <a:off x="3630614" y="2408105"/>
            <a:ext cx="471283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Op</a:t>
            </a:r>
          </a:p>
        </p:txBody>
      </p:sp>
      <p:sp>
        <p:nvSpPr>
          <p:cNvPr id="45097" name="Line 41"/>
          <p:cNvSpPr>
            <a:spLocks noChangeShapeType="1"/>
          </p:cNvSpPr>
          <p:nvPr/>
        </p:nvSpPr>
        <p:spPr bwMode="auto">
          <a:xfrm>
            <a:off x="4238625" y="15587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8" name="Rectangle 42"/>
          <p:cNvSpPr>
            <a:spLocks noChangeArrowheads="1"/>
          </p:cNvSpPr>
          <p:nvPr/>
        </p:nvSpPr>
        <p:spPr bwMode="auto">
          <a:xfrm rot="5400000">
            <a:off x="4008779" y="1806706"/>
            <a:ext cx="95058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12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: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14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99" name="Rectangle 43"/>
          <p:cNvSpPr>
            <a:spLocks noChangeArrowheads="1"/>
          </p:cNvSpPr>
          <p:nvPr/>
        </p:nvSpPr>
        <p:spPr bwMode="auto">
          <a:xfrm>
            <a:off x="3976690" y="2408105"/>
            <a:ext cx="743793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Funct</a:t>
            </a:r>
          </a:p>
        </p:txBody>
      </p:sp>
      <p:sp>
        <p:nvSpPr>
          <p:cNvPr id="45100" name="Rectangle 44"/>
          <p:cNvSpPr>
            <a:spLocks noChangeArrowheads="1"/>
          </p:cNvSpPr>
          <p:nvPr/>
        </p:nvSpPr>
        <p:spPr bwMode="auto">
          <a:xfrm>
            <a:off x="3370916" y="4067043"/>
            <a:ext cx="842667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RegWr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101" name="Line 45"/>
          <p:cNvSpPr>
            <a:spLocks noChangeShapeType="1"/>
          </p:cNvSpPr>
          <p:nvPr/>
        </p:nvSpPr>
        <p:spPr bwMode="auto">
          <a:xfrm>
            <a:off x="3791603" y="4380058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102" name="Rectangle 46"/>
          <p:cNvSpPr>
            <a:spLocks noGrp="1" noChangeArrowheads="1"/>
          </p:cNvSpPr>
          <p:nvPr>
            <p:ph type="title"/>
          </p:nvPr>
        </p:nvSpPr>
        <p:spPr>
          <a:xfrm>
            <a:off x="1270428" y="133190"/>
            <a:ext cx="9035624" cy="717177"/>
          </a:xfrm>
        </p:spPr>
        <p:txBody>
          <a:bodyPr/>
          <a:lstStyle/>
          <a:p>
            <a:r>
              <a:rPr lang="en-US" altLang="zh-TW" dirty="0"/>
              <a:t>Control Points and Signals</a:t>
            </a:r>
          </a:p>
        </p:txBody>
      </p:sp>
      <p:sp>
        <p:nvSpPr>
          <p:cNvPr id="48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78D027-F5D0-47A0-9068-E0F7BFE8ED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941" y="1189112"/>
            <a:ext cx="11544102" cy="4756826"/>
          </a:xfrm>
          <a:prstGeom prst="rect">
            <a:avLst/>
          </a:prstGeom>
        </p:spPr>
      </p:pic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>
          <a:xfrm>
            <a:off x="1239692" y="174172"/>
            <a:ext cx="9066360" cy="604477"/>
          </a:xfrm>
        </p:spPr>
        <p:txBody>
          <a:bodyPr/>
          <a:lstStyle/>
          <a:p>
            <a:r>
              <a:rPr lang="en-US" altLang="zh-TW" dirty="0">
                <a:sym typeface="+mn-ea"/>
              </a:rPr>
              <a:t>Step 4 - Control Points and Signals</a:t>
            </a:r>
            <a:endParaRPr lang="en-US" altLang="zh-TW" dirty="0"/>
          </a:p>
        </p:txBody>
      </p:sp>
      <p:sp>
        <p:nvSpPr>
          <p:cNvPr id="46086" name="Text Box 5"/>
          <p:cNvSpPr txBox="1">
            <a:spLocks noChangeArrowheads="1"/>
          </p:cNvSpPr>
          <p:nvPr/>
        </p:nvSpPr>
        <p:spPr bwMode="auto">
          <a:xfrm>
            <a:off x="2931512" y="5471820"/>
            <a:ext cx="185281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prstDash val="sysDot"/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 dirty="0">
                <a:solidFill>
                  <a:srgbClr val="4F81BD"/>
                </a:solidFill>
                <a:ea typeface="新細明體" panose="02020500000000000000" pitchFamily="18" charset="-120"/>
              </a:rPr>
              <a:t>Control point</a:t>
            </a:r>
          </a:p>
        </p:txBody>
      </p:sp>
      <p:sp>
        <p:nvSpPr>
          <p:cNvPr id="46088" name="Line 7"/>
          <p:cNvSpPr>
            <a:spLocks noChangeShapeType="1"/>
          </p:cNvSpPr>
          <p:nvPr/>
        </p:nvSpPr>
        <p:spPr bwMode="auto">
          <a:xfrm flipV="1">
            <a:off x="4394924" y="3793786"/>
            <a:ext cx="3085646" cy="1658381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10" name="Line 7"/>
          <p:cNvSpPr>
            <a:spLocks noChangeShapeType="1"/>
          </p:cNvSpPr>
          <p:nvPr/>
        </p:nvSpPr>
        <p:spPr bwMode="auto">
          <a:xfrm flipV="1">
            <a:off x="4394923" y="2986390"/>
            <a:ext cx="1701077" cy="2494664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" name="Line 7"/>
          <p:cNvSpPr>
            <a:spLocks noChangeShapeType="1"/>
          </p:cNvSpPr>
          <p:nvPr/>
        </p:nvSpPr>
        <p:spPr bwMode="auto">
          <a:xfrm flipV="1">
            <a:off x="4394924" y="5322327"/>
            <a:ext cx="5110875" cy="129839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 flipV="1">
            <a:off x="4394923" y="1682884"/>
            <a:ext cx="5177094" cy="3769282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3" name="Line 7"/>
          <p:cNvSpPr>
            <a:spLocks noChangeShapeType="1"/>
          </p:cNvSpPr>
          <p:nvPr/>
        </p:nvSpPr>
        <p:spPr bwMode="auto">
          <a:xfrm flipV="1">
            <a:off x="4394924" y="3428999"/>
            <a:ext cx="5352192" cy="2023167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4" name="Line 7"/>
          <p:cNvSpPr>
            <a:spLocks noChangeShapeType="1"/>
          </p:cNvSpPr>
          <p:nvPr/>
        </p:nvSpPr>
        <p:spPr bwMode="auto">
          <a:xfrm flipV="1">
            <a:off x="4394922" y="3793784"/>
            <a:ext cx="6500057" cy="1658381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ED895A7-C689-4054-BCF1-A222CDF92686}"/>
              </a:ext>
            </a:extLst>
          </p:cNvPr>
          <p:cNvSpPr/>
          <p:nvPr/>
        </p:nvSpPr>
        <p:spPr bwMode="auto">
          <a:xfrm>
            <a:off x="7597301" y="4542818"/>
            <a:ext cx="1118682" cy="1585608"/>
          </a:xfrm>
          <a:prstGeom prst="ellips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E1BBA2B-050E-4134-9E9D-D33EA3772C43}"/>
              </a:ext>
            </a:extLst>
          </p:cNvPr>
          <p:cNvCxnSpPr>
            <a:cxnSpLocks/>
          </p:cNvCxnSpPr>
          <p:nvPr/>
        </p:nvCxnSpPr>
        <p:spPr bwMode="auto">
          <a:xfrm>
            <a:off x="9472356" y="2011866"/>
            <a:ext cx="0" cy="960969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oval" w="med" len="med"/>
            <a:tailEnd type="oval" w="med" len="med"/>
          </a:ln>
          <a:effectLst/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9F43205-2C53-44BD-8F61-12A021A2F7C0}"/>
              </a:ext>
            </a:extLst>
          </p:cNvPr>
          <p:cNvCxnSpPr>
            <a:cxnSpLocks/>
          </p:cNvCxnSpPr>
          <p:nvPr/>
        </p:nvCxnSpPr>
        <p:spPr bwMode="auto">
          <a:xfrm>
            <a:off x="9472356" y="2959280"/>
            <a:ext cx="1578265" cy="2711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330B31-85B3-4F5E-9283-43E41C84E070}"/>
              </a:ext>
            </a:extLst>
          </p:cNvPr>
          <p:cNvCxnSpPr/>
          <p:nvPr/>
        </p:nvCxnSpPr>
        <p:spPr bwMode="auto">
          <a:xfrm>
            <a:off x="11048237" y="2937752"/>
            <a:ext cx="0" cy="982493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7914C21-A5E1-495A-999D-6F87DFB09B4D}"/>
              </a:ext>
            </a:extLst>
          </p:cNvPr>
          <p:cNvSpPr txBox="1"/>
          <p:nvPr/>
        </p:nvSpPr>
        <p:spPr>
          <a:xfrm>
            <a:off x="9608543" y="2959280"/>
            <a:ext cx="2326278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Add this path for JAL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720E95-E71D-4B55-86E7-DEB4DC543DB2}"/>
              </a:ext>
            </a:extLst>
          </p:cNvPr>
          <p:cNvSpPr txBox="1"/>
          <p:nvPr/>
        </p:nvSpPr>
        <p:spPr>
          <a:xfrm>
            <a:off x="10882452" y="3328612"/>
            <a:ext cx="88998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WBsel</a:t>
            </a:r>
            <a:endParaRPr lang="en-US" b="1" dirty="0">
              <a:solidFill>
                <a:srgbClr val="FF0000"/>
              </a:solidFill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C42EBD1-84EF-4D31-8FEB-36A728DC8386}"/>
              </a:ext>
            </a:extLst>
          </p:cNvPr>
          <p:cNvCxnSpPr>
            <a:cxnSpLocks/>
          </p:cNvCxnSpPr>
          <p:nvPr/>
        </p:nvCxnSpPr>
        <p:spPr bwMode="auto">
          <a:xfrm>
            <a:off x="11174697" y="3653711"/>
            <a:ext cx="0" cy="280145"/>
          </a:xfrm>
          <a:prstGeom prst="straightConnector1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793856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60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60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60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60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86" grpId="0"/>
      <p:bldP spid="4608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"/>
          <p:cNvSpPr>
            <a:spLocks noGrp="1" noChangeArrowheads="1"/>
          </p:cNvSpPr>
          <p:nvPr>
            <p:ph type="title"/>
          </p:nvPr>
        </p:nvSpPr>
        <p:spPr>
          <a:xfrm>
            <a:off x="1188465" y="174173"/>
            <a:ext cx="9969161" cy="573740"/>
          </a:xfrm>
        </p:spPr>
        <p:txBody>
          <a:bodyPr/>
          <a:lstStyle/>
          <a:p>
            <a:r>
              <a:rPr lang="en-US" altLang="zh-TW" dirty="0"/>
              <a:t>High Level Control Signal Expressions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573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07460" y="1040859"/>
            <a:ext cx="11177080" cy="4776281"/>
          </a:xfrm>
        </p:spPr>
        <p:txBody>
          <a:bodyPr/>
          <a:lstStyle/>
          <a:p>
            <a:r>
              <a:rPr lang="en-AU" altLang="zh-TW" sz="3200" dirty="0" err="1">
                <a:ea typeface="新細明體" panose="02020500000000000000" pitchFamily="18" charset="-120"/>
              </a:rPr>
              <a:t>PCSrc</a:t>
            </a:r>
            <a:r>
              <a:rPr lang="en-AU" altLang="zh-TW" sz="3200" dirty="0">
                <a:ea typeface="新細明體" panose="02020500000000000000" pitchFamily="18" charset="-120"/>
              </a:rPr>
              <a:t> = ((Branch or JAL) ? 1: 0)</a:t>
            </a:r>
          </a:p>
          <a:p>
            <a:r>
              <a:rPr lang="en-AU" altLang="zh-TW" sz="3200" dirty="0" err="1">
                <a:ea typeface="新細明體" panose="02020500000000000000" pitchFamily="18" charset="-120"/>
              </a:rPr>
              <a:t>RegWr</a:t>
            </a:r>
            <a:r>
              <a:rPr lang="en-AU" altLang="zh-TW" sz="3200" dirty="0">
                <a:ea typeface="新細明體" panose="02020500000000000000" pitchFamily="18" charset="-120"/>
              </a:rPr>
              <a:t> = ( (Branch or Store)? 0: 1)</a:t>
            </a:r>
          </a:p>
          <a:p>
            <a:r>
              <a:rPr lang="en-AU" altLang="zh-TW" sz="3200" dirty="0" err="1">
                <a:ea typeface="新細明體" panose="02020500000000000000" pitchFamily="18" charset="-120"/>
              </a:rPr>
              <a:t>MemRd</a:t>
            </a:r>
            <a:r>
              <a:rPr lang="en-AU" altLang="zh-TW" sz="3200" dirty="0">
                <a:ea typeface="新細明體" panose="02020500000000000000" pitchFamily="18" charset="-120"/>
              </a:rPr>
              <a:t>= (Load ? 1:0)</a:t>
            </a:r>
          </a:p>
          <a:p>
            <a:r>
              <a:rPr lang="en-AU" altLang="zh-TW" sz="3200" dirty="0" err="1">
                <a:ea typeface="新細明體" panose="02020500000000000000" pitchFamily="18" charset="-120"/>
              </a:rPr>
              <a:t>MemWr</a:t>
            </a:r>
            <a:r>
              <a:rPr lang="en-AU" altLang="zh-TW" sz="3200" dirty="0">
                <a:ea typeface="新細明體" panose="02020500000000000000" pitchFamily="18" charset="-120"/>
              </a:rPr>
              <a:t>= (Store ? 1:0)</a:t>
            </a:r>
          </a:p>
          <a:p>
            <a:r>
              <a:rPr lang="en-AU" altLang="zh-TW" sz="3200" dirty="0" err="1">
                <a:ea typeface="新細明體" panose="02020500000000000000" pitchFamily="18" charset="-120"/>
              </a:rPr>
              <a:t>ALUSrc</a:t>
            </a:r>
            <a:r>
              <a:rPr lang="en-AU" altLang="zh-TW" sz="3200" dirty="0">
                <a:ea typeface="新細明體" panose="02020500000000000000" pitchFamily="18" charset="-120"/>
              </a:rPr>
              <a:t> = (R-type? 0:1)</a:t>
            </a:r>
          </a:p>
          <a:p>
            <a:r>
              <a:rPr lang="en-AU" altLang="zh-TW" sz="3200" dirty="0" err="1">
                <a:ea typeface="新細明體" panose="02020500000000000000" pitchFamily="18" charset="-120"/>
              </a:rPr>
              <a:t>WBsel</a:t>
            </a:r>
            <a:r>
              <a:rPr lang="en-AU" altLang="zh-TW" sz="3200" dirty="0">
                <a:ea typeface="新細明體" panose="02020500000000000000" pitchFamily="18" charset="-120"/>
              </a:rPr>
              <a:t> = (Load: 0 | R-type : 1 | JAL : 2)</a:t>
            </a:r>
          </a:p>
          <a:p>
            <a:pPr marL="0" indent="0">
              <a:buNone/>
            </a:pPr>
            <a:r>
              <a:rPr lang="en-US" altLang="zh-TW" sz="2400" dirty="0">
                <a:ea typeface="新細明體" panose="02020500000000000000" pitchFamily="18" charset="-120"/>
              </a:rPr>
              <a:t>HDL (Hardware Description Languages), such as Verilog and</a:t>
            </a:r>
            <a:r>
              <a:rPr lang="en-AU" altLang="zh-TW" sz="2400" dirty="0">
                <a:ea typeface="新細明體" panose="02020500000000000000" pitchFamily="18" charset="-120"/>
              </a:rPr>
              <a:t> VHDL, can be used to specify the control signals.  HDL codes are hardware-synthesizable. Feed them to a design compiler (Synopsis and Cadence tools) to get a netlist.</a:t>
            </a:r>
          </a:p>
          <a:p>
            <a:pPr marL="0" indent="0">
              <a:buNone/>
            </a:pPr>
            <a:r>
              <a:rPr lang="en-AU" altLang="zh-TW" sz="2400" b="1" i="1" dirty="0">
                <a:ea typeface="新細明體" panose="02020500000000000000" pitchFamily="18" charset="-120"/>
              </a:rPr>
              <a:t>Designer’s perspective or the programmer’s perspective? </a:t>
            </a:r>
          </a:p>
          <a:p>
            <a:endParaRPr lang="en-AU" altLang="zh-TW" sz="3200" dirty="0">
              <a:ea typeface="新細明體" panose="02020500000000000000" pitchFamily="18" charset="-120"/>
            </a:endParaRPr>
          </a:p>
          <a:p>
            <a:endParaRPr lang="en-AU" altLang="zh-TW" sz="3200" dirty="0">
              <a:ea typeface="新細明體" panose="02020500000000000000" pitchFamily="18" charset="-120"/>
            </a:endParaRPr>
          </a:p>
          <a:p>
            <a:endParaRPr lang="en-AU" altLang="zh-TW" sz="3200" dirty="0">
              <a:ea typeface="新細明體" panose="02020500000000000000" pitchFamily="18" charset="-120"/>
            </a:endParaRPr>
          </a:p>
          <a:p>
            <a:endParaRPr lang="en-AU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5</a:t>
            </a:fld>
            <a:endParaRPr lang="zh-TW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3286988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"/>
          <p:cNvSpPr>
            <a:spLocks noGrp="1" noChangeArrowheads="1"/>
          </p:cNvSpPr>
          <p:nvPr>
            <p:ph type="title"/>
          </p:nvPr>
        </p:nvSpPr>
        <p:spPr>
          <a:xfrm>
            <a:off x="1188465" y="174173"/>
            <a:ext cx="9969161" cy="573740"/>
          </a:xfrm>
        </p:spPr>
        <p:txBody>
          <a:bodyPr/>
          <a:lstStyle/>
          <a:p>
            <a:r>
              <a:rPr lang="en-US" altLang="zh-TW" dirty="0" err="1">
                <a:ea typeface="新細明體" panose="02020500000000000000" pitchFamily="18" charset="-120"/>
              </a:rPr>
              <a:t>ALUsel</a:t>
            </a:r>
            <a:r>
              <a:rPr lang="en-US" altLang="zh-TW" dirty="0">
                <a:ea typeface="新細明體" panose="02020500000000000000" pitchFamily="18" charset="-120"/>
              </a:rPr>
              <a:t> or </a:t>
            </a:r>
            <a:r>
              <a:rPr lang="en-US" altLang="zh-TW" dirty="0" err="1">
                <a:ea typeface="新細明體" panose="02020500000000000000" pitchFamily="18" charset="-120"/>
              </a:rPr>
              <a:t>ALUop</a:t>
            </a:r>
            <a:r>
              <a:rPr lang="en-US" altLang="zh-TW" dirty="0">
                <a:ea typeface="新細明體" panose="02020500000000000000" pitchFamily="18" charset="-120"/>
              </a:rPr>
              <a:t> or </a:t>
            </a:r>
            <a:r>
              <a:rPr lang="en-US" altLang="zh-TW" dirty="0" err="1">
                <a:ea typeface="新細明體" panose="02020500000000000000" pitchFamily="18" charset="-120"/>
              </a:rPr>
              <a:t>ALUcontrol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573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07460" y="1040859"/>
            <a:ext cx="11177080" cy="5642968"/>
          </a:xfrm>
        </p:spPr>
        <p:txBody>
          <a:bodyPr/>
          <a:lstStyle/>
          <a:p>
            <a:r>
              <a:rPr lang="en-AU" altLang="zh-TW" sz="2400" dirty="0" err="1">
                <a:ea typeface="新細明體" panose="02020500000000000000" pitchFamily="18" charset="-120"/>
              </a:rPr>
              <a:t>ALUop</a:t>
            </a:r>
            <a:r>
              <a:rPr lang="en-AU" altLang="zh-TW" sz="2400" dirty="0">
                <a:ea typeface="新細明體" panose="02020500000000000000" pitchFamily="18" charset="-120"/>
              </a:rPr>
              <a:t> signal depends on </a:t>
            </a:r>
          </a:p>
          <a:p>
            <a:pPr marL="0" indent="0">
              <a:buNone/>
            </a:pPr>
            <a:r>
              <a:rPr lang="en-AU" altLang="zh-TW" sz="2400" dirty="0">
                <a:ea typeface="新細明體" panose="02020500000000000000" pitchFamily="18" charset="-120"/>
              </a:rPr>
              <a:t>	a) operation </a:t>
            </a:r>
            <a:r>
              <a:rPr lang="en-AU" altLang="zh-TW" sz="2400">
                <a:ea typeface="新細明體" panose="02020500000000000000" pitchFamily="18" charset="-120"/>
              </a:rPr>
              <a:t>type  and  b</a:t>
            </a:r>
            <a:r>
              <a:rPr lang="en-AU" altLang="zh-TW" sz="2400" dirty="0">
                <a:ea typeface="新細明體" panose="02020500000000000000" pitchFamily="18" charset="-120"/>
              </a:rPr>
              <a:t>) funct3 </a:t>
            </a:r>
            <a:r>
              <a:rPr lang="en-AU" altLang="zh-TW" sz="2400">
                <a:ea typeface="新細明體" panose="02020500000000000000" pitchFamily="18" charset="-120"/>
              </a:rPr>
              <a:t>and funct7 bits</a:t>
            </a:r>
            <a:endParaRPr lang="en-AU" altLang="zh-TW" sz="2400" dirty="0">
              <a:ea typeface="新細明體" panose="02020500000000000000" pitchFamily="18" charset="-120"/>
            </a:endParaRPr>
          </a:p>
          <a:p>
            <a:pPr marL="0" indent="0">
              <a:buNone/>
            </a:pP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words </a:t>
            </a:r>
            <a:r>
              <a:rPr lang="en-US" sz="1400" b="0" i="0" dirty="0" err="1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alu_control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[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</a:t>
            </a: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# If </a:t>
            </a:r>
            <a:r>
              <a:rPr lang="en-US" sz="1400" b="0" i="0" dirty="0" err="1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ALUOp</a:t>
            </a: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 is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00</a:t>
            </a: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Load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/</a:t>
            </a: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Store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),</a:t>
            </a: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E45649"/>
                </a:solidFill>
                <a:latin typeface="Fira Code" panose="020B0809050000020004" pitchFamily="49" charset="0"/>
              </a:rPr>
              <a:t>	</a:t>
            </a: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force ADD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 err="1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alu_op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2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'b00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: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ALU_ADD;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</a:t>
            </a: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# If </a:t>
            </a:r>
            <a:r>
              <a:rPr lang="en-US" sz="1400" b="0" i="0" dirty="0" err="1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ALUOp</a:t>
            </a: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 is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01</a:t>
            </a: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Branch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),</a:t>
            </a: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E45649"/>
                </a:solidFill>
                <a:latin typeface="Fira Code" panose="020B0809050000020004" pitchFamily="49" charset="0"/>
              </a:rPr>
              <a:t>	</a:t>
            </a: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force SUB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 err="1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alu_op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2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'b01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: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ALU_SUB; </a:t>
            </a:r>
          </a:p>
          <a:p>
            <a:pPr marL="0" indent="0">
              <a:buNone/>
            </a:pP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# If </a:t>
            </a:r>
            <a:r>
              <a:rPr lang="en-US" sz="1400" b="0" i="0" dirty="0" err="1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ALUOp</a:t>
            </a: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 is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10</a:t>
            </a: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R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-</a:t>
            </a: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type or I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-</a:t>
            </a: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type arithmetic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)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</a:t>
            </a:r>
            <a:r>
              <a:rPr lang="en-US" sz="1400" b="0" i="0" dirty="0" err="1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alu_op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2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'b10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: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[ funct3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3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'b000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&amp;&amp;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funct7_5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: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ALU_SUB; </a:t>
            </a:r>
            <a:r>
              <a:rPr lang="en-US" sz="1400" b="0" i="1" dirty="0">
                <a:solidFill>
                  <a:srgbClr val="A0A1A7"/>
                </a:solidFill>
                <a:effectLst/>
                <a:latin typeface="Fira Code" panose="020B0809050000020004" pitchFamily="49" charset="0"/>
              </a:rPr>
              <a:t>// SUB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  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funct3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3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'b000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: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ALU_ADD; </a:t>
            </a:r>
            <a:r>
              <a:rPr lang="en-US" sz="1400" b="0" i="1" dirty="0">
                <a:solidFill>
                  <a:srgbClr val="A0A1A7"/>
                </a:solidFill>
                <a:effectLst/>
                <a:latin typeface="Fira Code" panose="020B0809050000020004" pitchFamily="49" charset="0"/>
              </a:rPr>
              <a:t>// ADD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  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funct3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3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'b111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: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ALU_AND; </a:t>
            </a:r>
            <a:r>
              <a:rPr lang="en-US" sz="1400" b="0" i="1" dirty="0">
                <a:solidFill>
                  <a:srgbClr val="A0A1A7"/>
                </a:solidFill>
                <a:effectLst/>
                <a:latin typeface="Fira Code" panose="020B0809050000020004" pitchFamily="49" charset="0"/>
              </a:rPr>
              <a:t>// AND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  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funct3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3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'b110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: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ALU_OR; </a:t>
            </a:r>
            <a:r>
              <a:rPr lang="en-US" sz="1400" b="0" i="1" dirty="0">
                <a:solidFill>
                  <a:srgbClr val="A0A1A7"/>
                </a:solidFill>
                <a:effectLst/>
                <a:latin typeface="Fira Code" panose="020B0809050000020004" pitchFamily="49" charset="0"/>
              </a:rPr>
              <a:t>// OR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  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funct3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3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'b010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: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ALU_SLT; </a:t>
            </a:r>
            <a:r>
              <a:rPr lang="en-US" sz="1400" b="0" i="1" dirty="0">
                <a:solidFill>
                  <a:srgbClr val="A0A1A7"/>
                </a:solidFill>
                <a:effectLst/>
                <a:latin typeface="Fira Code" panose="020B0809050000020004" pitchFamily="49" charset="0"/>
              </a:rPr>
              <a:t>// SLT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 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1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    		 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: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ALU_ADD; </a:t>
            </a:r>
            <a:r>
              <a:rPr lang="en-US" sz="1400" b="0" i="1" dirty="0">
                <a:solidFill>
                  <a:srgbClr val="A0A1A7"/>
                </a:solidFill>
                <a:effectLst/>
                <a:latin typeface="Fira Code" panose="020B0809050000020004" pitchFamily="49" charset="0"/>
              </a:rPr>
              <a:t>// Default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]; </a:t>
            </a:r>
          </a:p>
          <a:p>
            <a:pPr marL="0" indent="0">
              <a:buNone/>
            </a:pPr>
            <a:r>
              <a:rPr lang="en-US" sz="1400" b="0" i="0" dirty="0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# Default </a:t>
            </a:r>
            <a:r>
              <a:rPr lang="en-US" sz="1400" b="0" i="0" dirty="0">
                <a:solidFill>
                  <a:srgbClr val="A626A4"/>
                </a:solidFill>
                <a:effectLst/>
                <a:latin typeface="Fira Code" panose="020B0809050000020004" pitchFamily="49" charset="0"/>
              </a:rPr>
              <a:t>case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1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: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ALU_ADD; </a:t>
            </a:r>
          </a:p>
          <a:p>
            <a:pPr marL="0" indent="0">
              <a:buNone/>
            </a:pP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];</a:t>
            </a:r>
            <a:endParaRPr lang="en-AU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6</a:t>
            </a:fld>
            <a:endParaRPr lang="zh-TW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9695220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dirty="0"/>
              <a:t>A More Complete RV32I Single Cycle Data Path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7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400DF6-F410-4B6B-9C2F-9AAA5BA2F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702" y="1001949"/>
            <a:ext cx="11250595" cy="5261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1316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dirty="0"/>
              <a:t>A More Complete RV32I Single Cycle Data Path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8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400DF6-F410-4B6B-9C2F-9AAA5BA2F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702" y="1001949"/>
            <a:ext cx="11250595" cy="52611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EA5CCE-0F0D-428D-BF48-B86D225E973F}"/>
              </a:ext>
            </a:extLst>
          </p:cNvPr>
          <p:cNvSpPr txBox="1"/>
          <p:nvPr/>
        </p:nvSpPr>
        <p:spPr>
          <a:xfrm>
            <a:off x="9251004" y="992221"/>
            <a:ext cx="1762021" cy="1200329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Wbsel</a:t>
            </a:r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: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0:? Which </a:t>
            </a:r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inst</a:t>
            </a:r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?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1:?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2:?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838129-F4B6-46CC-A494-B7CFF76E3149}"/>
              </a:ext>
            </a:extLst>
          </p:cNvPr>
          <p:cNvSpPr txBox="1"/>
          <p:nvPr/>
        </p:nvSpPr>
        <p:spPr>
          <a:xfrm>
            <a:off x="7778886" y="5801418"/>
            <a:ext cx="697627" cy="92333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Bsel</a:t>
            </a:r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: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0:?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1:?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439DBA-0372-41C4-BD73-54D9974B3C11}"/>
              </a:ext>
            </a:extLst>
          </p:cNvPr>
          <p:cNvSpPr txBox="1"/>
          <p:nvPr/>
        </p:nvSpPr>
        <p:spPr>
          <a:xfrm>
            <a:off x="8465835" y="5811146"/>
            <a:ext cx="697627" cy="92333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Asel</a:t>
            </a:r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: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0:?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1:?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135954-83B3-456F-897B-82E1F046EDE4}"/>
              </a:ext>
            </a:extLst>
          </p:cNvPr>
          <p:cNvSpPr txBox="1"/>
          <p:nvPr/>
        </p:nvSpPr>
        <p:spPr>
          <a:xfrm>
            <a:off x="5623755" y="5759751"/>
            <a:ext cx="1142300" cy="92333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RegWen</a:t>
            </a:r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: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0:?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1:?</a:t>
            </a:r>
          </a:p>
        </p:txBody>
      </p:sp>
    </p:spTree>
    <p:extLst>
      <p:ext uri="{BB962C8B-B14F-4D97-AF65-F5344CB8AC3E}">
        <p14:creationId xmlns:p14="http://schemas.microsoft.com/office/powerpoint/2010/main" val="1325017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8" grpId="0"/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dirty="0"/>
              <a:t>A More Complete RV32I Single Cycle Data Path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9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400DF6-F410-4B6B-9C2F-9AAA5BA2F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702" y="1001949"/>
            <a:ext cx="11250595" cy="52611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EA5CCE-0F0D-428D-BF48-B86D225E973F}"/>
              </a:ext>
            </a:extLst>
          </p:cNvPr>
          <p:cNvSpPr txBox="1"/>
          <p:nvPr/>
        </p:nvSpPr>
        <p:spPr>
          <a:xfrm>
            <a:off x="9251004" y="992221"/>
            <a:ext cx="1505540" cy="1200329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WBsel</a:t>
            </a:r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: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0:? </a:t>
            </a:r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ld</a:t>
            </a:r>
            <a:endParaRPr lang="en-US" dirty="0">
              <a:highlight>
                <a:srgbClr val="FFFF00"/>
              </a:highlight>
              <a:ea typeface="標楷體" pitchFamily="65" charset="-120"/>
              <a:cs typeface="Calibri" pitchFamily="34" charset="0"/>
            </a:endParaRP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1:? R-type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2:? Jal or </a:t>
            </a:r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jalr</a:t>
            </a:r>
            <a:endParaRPr lang="en-US" dirty="0">
              <a:highlight>
                <a:srgbClr val="FFFF00"/>
              </a:highlight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838129-F4B6-46CC-A494-B7CFF76E3149}"/>
              </a:ext>
            </a:extLst>
          </p:cNvPr>
          <p:cNvSpPr txBox="1"/>
          <p:nvPr/>
        </p:nvSpPr>
        <p:spPr>
          <a:xfrm>
            <a:off x="7778886" y="5801418"/>
            <a:ext cx="813043" cy="92333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Bsel</a:t>
            </a:r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: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0:rs2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1:imm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439DBA-0372-41C4-BD73-54D9974B3C11}"/>
              </a:ext>
            </a:extLst>
          </p:cNvPr>
          <p:cNvSpPr txBox="1"/>
          <p:nvPr/>
        </p:nvSpPr>
        <p:spPr>
          <a:xfrm>
            <a:off x="8465835" y="5811146"/>
            <a:ext cx="697627" cy="92333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Asel</a:t>
            </a:r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: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0:rs1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1:pc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135954-83B3-456F-897B-82E1F046EDE4}"/>
              </a:ext>
            </a:extLst>
          </p:cNvPr>
          <p:cNvSpPr txBox="1"/>
          <p:nvPr/>
        </p:nvSpPr>
        <p:spPr>
          <a:xfrm>
            <a:off x="5623755" y="5759751"/>
            <a:ext cx="1313180" cy="92333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RegWen</a:t>
            </a:r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: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0:sw or </a:t>
            </a:r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br</a:t>
            </a:r>
            <a:endParaRPr lang="en-US" dirty="0">
              <a:highlight>
                <a:srgbClr val="FFFF00"/>
              </a:highlight>
              <a:ea typeface="標楷體" pitchFamily="65" charset="-120"/>
              <a:cs typeface="Calibri" pitchFamily="34" charset="0"/>
            </a:endParaRP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1:all others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E6A1B5-F921-44B9-A0BE-4057EA69E766}"/>
              </a:ext>
            </a:extLst>
          </p:cNvPr>
          <p:cNvSpPr/>
          <p:nvPr/>
        </p:nvSpPr>
        <p:spPr bwMode="auto">
          <a:xfrm>
            <a:off x="7033098" y="2704289"/>
            <a:ext cx="2217906" cy="1468877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22656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8" grpId="0"/>
      <p:bldP spid="9" grpId="0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dirty="0"/>
              <a:t>Example: SW X2, offset(X1)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10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E53AEF-78CD-4361-93CE-7A252777E5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229" y="1021403"/>
            <a:ext cx="10507541" cy="5241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860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dirty="0"/>
              <a:t>Example: BEQ X1,X2, immediate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11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2EA74A-B2D3-4C13-BF10-966FAB992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3" y="1050586"/>
            <a:ext cx="10374173" cy="5321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0103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dirty="0"/>
              <a:t>A RV32I Single Cycle Processor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12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400DF6-F410-4B6B-9C2F-9AAA5BA2F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702" y="1132722"/>
            <a:ext cx="11250595" cy="526113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F3D68E-03A1-4DCA-8ED4-D293AFC68358}"/>
              </a:ext>
            </a:extLst>
          </p:cNvPr>
          <p:cNvSpPr/>
          <p:nvPr/>
        </p:nvSpPr>
        <p:spPr bwMode="auto">
          <a:xfrm>
            <a:off x="1076527" y="5246370"/>
            <a:ext cx="10350229" cy="1147486"/>
          </a:xfrm>
          <a:prstGeom prst="rect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8AA62C-27D4-47C9-B12B-820E4F1665DA}"/>
              </a:ext>
            </a:extLst>
          </p:cNvPr>
          <p:cNvSpPr txBox="1"/>
          <p:nvPr/>
        </p:nvSpPr>
        <p:spPr>
          <a:xfrm>
            <a:off x="4525867" y="1446179"/>
            <a:ext cx="1782860" cy="52322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800" dirty="0">
                <a:solidFill>
                  <a:srgbClr val="FFFF00"/>
                </a:solidFill>
                <a:ea typeface="標楷體" pitchFamily="65" charset="-120"/>
                <a:cs typeface="Calibri" pitchFamily="34" charset="0"/>
              </a:rPr>
              <a:t>Data Path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E434C1-C015-442E-9C5D-A94CB3A8D9D8}"/>
              </a:ext>
            </a:extLst>
          </p:cNvPr>
          <p:cNvSpPr/>
          <p:nvPr/>
        </p:nvSpPr>
        <p:spPr bwMode="auto">
          <a:xfrm>
            <a:off x="1076528" y="1446179"/>
            <a:ext cx="10350229" cy="3881336"/>
          </a:xfrm>
          <a:prstGeom prst="rect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3D2CA4-C18F-4E1F-9F96-BD5BE21F8518}"/>
              </a:ext>
            </a:extLst>
          </p:cNvPr>
          <p:cNvSpPr txBox="1"/>
          <p:nvPr/>
        </p:nvSpPr>
        <p:spPr>
          <a:xfrm>
            <a:off x="1660637" y="5674412"/>
            <a:ext cx="1345240" cy="52322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800" dirty="0">
                <a:solidFill>
                  <a:srgbClr val="FFFF00"/>
                </a:solidFill>
                <a:ea typeface="標楷體" pitchFamily="65" charset="-120"/>
                <a:cs typeface="Calibri" pitchFamily="34" charset="0"/>
              </a:rPr>
              <a:t>Control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5DD95A-369E-40CF-92D4-F45557C74619}"/>
              </a:ext>
            </a:extLst>
          </p:cNvPr>
          <p:cNvSpPr/>
          <p:nvPr/>
        </p:nvSpPr>
        <p:spPr bwMode="auto">
          <a:xfrm>
            <a:off x="5394960" y="2148840"/>
            <a:ext cx="1897380" cy="2343150"/>
          </a:xfrm>
          <a:prstGeom prst="rect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C3A5F1-45F3-43AD-A6AC-AACB26F53910}"/>
              </a:ext>
            </a:extLst>
          </p:cNvPr>
          <p:cNvSpPr/>
          <p:nvPr/>
        </p:nvSpPr>
        <p:spPr bwMode="auto">
          <a:xfrm>
            <a:off x="2686050" y="2697480"/>
            <a:ext cx="1188720" cy="1680210"/>
          </a:xfrm>
          <a:prstGeom prst="rect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372B22-48E4-4EB1-BBDE-34E8B7619383}"/>
              </a:ext>
            </a:extLst>
          </p:cNvPr>
          <p:cNvSpPr/>
          <p:nvPr/>
        </p:nvSpPr>
        <p:spPr bwMode="auto">
          <a:xfrm>
            <a:off x="9422130" y="2956598"/>
            <a:ext cx="1188720" cy="1680210"/>
          </a:xfrm>
          <a:prstGeom prst="rect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42921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8" grpId="0" animBg="1"/>
      <p:bldP spid="9" grpId="0"/>
      <p:bldP spid="10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dirty="0"/>
              <a:t>RV32I Control Logic Truth Table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13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FB0777-3EB9-42B3-9DAC-EC6680530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835" y="1011677"/>
            <a:ext cx="10250330" cy="5389538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09FFD8A4-5268-448C-8966-8425E4079008}"/>
              </a:ext>
            </a:extLst>
          </p:cNvPr>
          <p:cNvSpPr/>
          <p:nvPr/>
        </p:nvSpPr>
        <p:spPr bwMode="auto">
          <a:xfrm>
            <a:off x="2334638" y="3234690"/>
            <a:ext cx="3326860" cy="1543050"/>
          </a:xfrm>
          <a:prstGeom prst="ellipse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9733AF-74A8-4E02-B2E7-2DCF02AD090E}"/>
              </a:ext>
            </a:extLst>
          </p:cNvPr>
          <p:cNvSpPr txBox="1"/>
          <p:nvPr/>
        </p:nvSpPr>
        <p:spPr>
          <a:xfrm>
            <a:off x="2918297" y="6488668"/>
            <a:ext cx="2961067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PC = PC+4 or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PC+immed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DB339BB-AEBA-4772-B2AC-11A7B27A4955}"/>
              </a:ext>
            </a:extLst>
          </p:cNvPr>
          <p:cNvCxnSpPr>
            <a:cxnSpLocks/>
          </p:cNvCxnSpPr>
          <p:nvPr/>
        </p:nvCxnSpPr>
        <p:spPr bwMode="auto">
          <a:xfrm flipV="1">
            <a:off x="3900791" y="6128426"/>
            <a:ext cx="0" cy="544908"/>
          </a:xfrm>
          <a:prstGeom prst="straightConnector1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25F239-E76C-4FF0-90AB-E62E510DECA5}"/>
              </a:ext>
            </a:extLst>
          </p:cNvPr>
          <p:cNvSpPr txBox="1"/>
          <p:nvPr/>
        </p:nvSpPr>
        <p:spPr>
          <a:xfrm>
            <a:off x="9024203" y="6476309"/>
            <a:ext cx="3012428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Wbsel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: ALU, Mem, or PC+4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9D9C229-A87D-42AE-B0F1-64471BDDCFFB}"/>
              </a:ext>
            </a:extLst>
          </p:cNvPr>
          <p:cNvCxnSpPr>
            <a:cxnSpLocks/>
          </p:cNvCxnSpPr>
          <p:nvPr/>
        </p:nvCxnSpPr>
        <p:spPr bwMode="auto">
          <a:xfrm flipV="1">
            <a:off x="10415081" y="6280906"/>
            <a:ext cx="0" cy="544908"/>
          </a:xfrm>
          <a:prstGeom prst="straightConnector1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934470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dirty="0"/>
              <a:t>RV32I: 9 bits in Instruction drive the control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14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224E80-F59C-410C-BE06-E506E778F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867" y="691292"/>
            <a:ext cx="9259592" cy="61730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3661E4D-5B41-42E9-81D5-9514D6B93E26}"/>
              </a:ext>
            </a:extLst>
          </p:cNvPr>
          <p:cNvSpPr txBox="1"/>
          <p:nvPr/>
        </p:nvSpPr>
        <p:spPr>
          <a:xfrm>
            <a:off x="7237379" y="6166708"/>
            <a:ext cx="2813591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solidFill>
                  <a:srgbClr val="FFFF00"/>
                </a:solidFill>
                <a:ea typeface="標楷體" pitchFamily="65" charset="-120"/>
                <a:cs typeface="Calibri" pitchFamily="34" charset="0"/>
              </a:rPr>
              <a:t>Add/Sub, Logic/</a:t>
            </a:r>
            <a:r>
              <a:rPr lang="en-US" dirty="0" err="1">
                <a:solidFill>
                  <a:srgbClr val="FFFF00"/>
                </a:solidFill>
                <a:ea typeface="標楷體" pitchFamily="65" charset="-120"/>
                <a:cs typeface="Calibri" pitchFamily="34" charset="0"/>
              </a:rPr>
              <a:t>Arith</a:t>
            </a:r>
            <a:r>
              <a:rPr lang="en-US" dirty="0">
                <a:solidFill>
                  <a:srgbClr val="FFFF00"/>
                </a:solidFill>
                <a:ea typeface="標楷體" pitchFamily="65" charset="-120"/>
                <a:cs typeface="Calibri" pitchFamily="34" charset="0"/>
              </a:rPr>
              <a:t> Shift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0131CB-CA91-4AD4-BDE3-2812D21063C1}"/>
              </a:ext>
            </a:extLst>
          </p:cNvPr>
          <p:cNvSpPr txBox="1"/>
          <p:nvPr/>
        </p:nvSpPr>
        <p:spPr>
          <a:xfrm>
            <a:off x="7496783" y="5389796"/>
            <a:ext cx="813043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solidFill>
                  <a:srgbClr val="FFFF00"/>
                </a:solidFill>
                <a:ea typeface="標楷體" pitchFamily="65" charset="-120"/>
                <a:cs typeface="Calibri" pitchFamily="34" charset="0"/>
              </a:rPr>
              <a:t>funct3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375297-5890-4B86-8AC5-E4D5DC6B1846}"/>
              </a:ext>
            </a:extLst>
          </p:cNvPr>
          <p:cNvSpPr txBox="1"/>
          <p:nvPr/>
        </p:nvSpPr>
        <p:spPr>
          <a:xfrm>
            <a:off x="7347625" y="3351075"/>
            <a:ext cx="3040128" cy="646331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solidFill>
                  <a:srgbClr val="FFFF00"/>
                </a:solidFill>
                <a:ea typeface="標楷體" pitchFamily="65" charset="-120"/>
                <a:cs typeface="Calibri" pitchFamily="34" charset="0"/>
              </a:rPr>
              <a:t>2 LSB of Opcode are 11 for </a:t>
            </a:r>
          </a:p>
          <a:p>
            <a:r>
              <a:rPr lang="en-US" dirty="0">
                <a:solidFill>
                  <a:srgbClr val="FFFF00"/>
                </a:solidFill>
                <a:ea typeface="標楷體" pitchFamily="65" charset="-120"/>
                <a:cs typeface="Calibri" pitchFamily="34" charset="0"/>
              </a:rPr>
              <a:t>RV32I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3E51C83-7064-4373-BB13-BB0C95B78ACF}"/>
              </a:ext>
            </a:extLst>
          </p:cNvPr>
          <p:cNvCxnSpPr/>
          <p:nvPr/>
        </p:nvCxnSpPr>
        <p:spPr bwMode="auto">
          <a:xfrm>
            <a:off x="432160" y="4747098"/>
            <a:ext cx="1235413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1EC76AC-5863-4F36-8053-1DCDA7D2B914}"/>
              </a:ext>
            </a:extLst>
          </p:cNvPr>
          <p:cNvCxnSpPr/>
          <p:nvPr/>
        </p:nvCxnSpPr>
        <p:spPr bwMode="auto">
          <a:xfrm>
            <a:off x="432160" y="5064868"/>
            <a:ext cx="1235413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D9300D4-6C08-48B0-A725-4D7F9F628273}"/>
              </a:ext>
            </a:extLst>
          </p:cNvPr>
          <p:cNvCxnSpPr/>
          <p:nvPr/>
        </p:nvCxnSpPr>
        <p:spPr bwMode="auto">
          <a:xfrm>
            <a:off x="360824" y="5966298"/>
            <a:ext cx="1235413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8025345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dirty="0"/>
              <a:t>Example: How to decode the add instruction?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15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104EA9-E201-4010-ACD0-2AAA895C51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614" y="969158"/>
            <a:ext cx="9516803" cy="5285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637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/>
          <p:cNvSpPr>
            <a:spLocks noGrp="1" noChangeArrowheads="1"/>
          </p:cNvSpPr>
          <p:nvPr>
            <p:ph type="title"/>
          </p:nvPr>
        </p:nvSpPr>
        <p:spPr>
          <a:xfrm>
            <a:off x="1280673" y="58739"/>
            <a:ext cx="9025379" cy="901700"/>
          </a:xfrm>
        </p:spPr>
        <p:txBody>
          <a:bodyPr/>
          <a:lstStyle/>
          <a:p>
            <a:r>
              <a:rPr lang="en-US" altLang="zh-TW" dirty="0"/>
              <a:t>Drawback of Single-Cycle Design</a:t>
            </a:r>
          </a:p>
        </p:txBody>
      </p:sp>
      <p:sp>
        <p:nvSpPr>
          <p:cNvPr id="757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72881" y="1125537"/>
            <a:ext cx="10209519" cy="4895851"/>
          </a:xfrm>
        </p:spPr>
        <p:txBody>
          <a:bodyPr/>
          <a:lstStyle/>
          <a:p>
            <a:r>
              <a:rPr lang="en-US" altLang="zh-TW" sz="2667" dirty="0"/>
              <a:t>Long cycle time</a:t>
            </a:r>
          </a:p>
          <a:p>
            <a:pPr lvl="1"/>
            <a:r>
              <a:rPr lang="en-US" altLang="zh-TW" sz="2400" dirty="0"/>
              <a:t>Cycle time must be long enough for the load instruction (the one with longest cycle time)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en-US" altLang="zh-TW" sz="2133" dirty="0"/>
              <a:t>PC’s Clock-to-Q  +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en-US" altLang="zh-TW" sz="2133" dirty="0"/>
              <a:t>Instruction Memory Access Time +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en-US" altLang="zh-TW" sz="2133" dirty="0"/>
              <a:t>Register File Access Time  +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en-US" altLang="zh-TW" sz="2133" dirty="0"/>
              <a:t>ALU Delay (address calculation)  +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en-US" altLang="zh-TW" sz="2133" dirty="0"/>
              <a:t>Data Memory Access Time  +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en-US" altLang="zh-TW" sz="2133" dirty="0"/>
              <a:t>Register File Setup Time  +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en-US" altLang="zh-TW" sz="2133" dirty="0"/>
              <a:t>Clock Skew</a:t>
            </a:r>
          </a:p>
          <a:p>
            <a:r>
              <a:rPr lang="en-US" altLang="zh-TW" sz="2667" dirty="0"/>
              <a:t>Cycle time for load is much longer than needed for all other instructions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B6BDF2-6896-4B98-8776-C18582F63BA5}" type="slidenum">
              <a:rPr kumimoji="0" lang="zh-TW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 pitchFamily="34" charset="0"/>
                <a:ea typeface="新細明體" panose="02020500000000000000" pitchFamily="18" charset="-120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 pitchFamily="34" charset="0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54000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2"/>
          <p:cNvSpPr>
            <a:spLocks noGrp="1" noChangeArrowheads="1"/>
          </p:cNvSpPr>
          <p:nvPr>
            <p:ph type="title"/>
          </p:nvPr>
        </p:nvSpPr>
        <p:spPr>
          <a:xfrm>
            <a:off x="1260183" y="58739"/>
            <a:ext cx="9045869" cy="901700"/>
          </a:xfrm>
        </p:spPr>
        <p:txBody>
          <a:bodyPr/>
          <a:lstStyle/>
          <a:p>
            <a:r>
              <a:rPr lang="en-US" altLang="zh-TW" dirty="0"/>
              <a:t>Summary of Single Cycle RV</a:t>
            </a:r>
          </a:p>
        </p:txBody>
      </p:sp>
      <p:sp>
        <p:nvSpPr>
          <p:cNvPr id="768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114268" y="1067173"/>
            <a:ext cx="9534414" cy="4341406"/>
          </a:xfrm>
          <a:noFill/>
        </p:spPr>
        <p:txBody>
          <a:bodyPr vert="horz" wrap="square" lIns="92075" tIns="46039" rIns="92075" bIns="46039" numCol="1" anchor="t" anchorCtr="0" compatLnSpc="1"/>
          <a:lstStyle/>
          <a:p>
            <a:r>
              <a:rPr lang="en-US" altLang="zh-TW" sz="2800" dirty="0"/>
              <a:t>Single cycle </a:t>
            </a:r>
            <a:r>
              <a:rPr lang="en-US" altLang="zh-TW" sz="2800" dirty="0" err="1"/>
              <a:t>datapath</a:t>
            </a:r>
            <a:r>
              <a:rPr lang="en-US" altLang="zh-TW" sz="2800" dirty="0"/>
              <a:t> means CPI=1, but </a:t>
            </a:r>
          </a:p>
          <a:p>
            <a:pPr marL="0" indent="0">
              <a:buNone/>
            </a:pPr>
            <a:r>
              <a:rPr lang="en-US" altLang="zh-TW" sz="2800" dirty="0"/>
              <a:t>	the clock cycle time is long</a:t>
            </a:r>
          </a:p>
          <a:p>
            <a:r>
              <a:rPr lang="en-US" altLang="zh-TW" sz="2800" dirty="0"/>
              <a:t>RISC-V simplifies control implementation</a:t>
            </a:r>
          </a:p>
          <a:p>
            <a:pPr lvl="1">
              <a:spcBef>
                <a:spcPct val="10000"/>
              </a:spcBef>
              <a:buSzPct val="85000"/>
              <a:buFont typeface="Calibri" panose="020F0702030404030204" pitchFamily="34" charset="0"/>
              <a:buChar char="₋"/>
            </a:pPr>
            <a:r>
              <a:rPr lang="en-US" altLang="zh-TW" sz="2800" dirty="0"/>
              <a:t>Fixed size Instructions </a:t>
            </a:r>
          </a:p>
          <a:p>
            <a:pPr lvl="1">
              <a:spcBef>
                <a:spcPct val="10000"/>
              </a:spcBef>
              <a:buSzPct val="85000"/>
              <a:buFont typeface="Calibri" panose="020F0702030404030204" pitchFamily="34" charset="0"/>
              <a:buChar char="₋"/>
            </a:pPr>
            <a:r>
              <a:rPr lang="en-US" altLang="zh-TW" sz="2800" dirty="0"/>
              <a:t>Regular format: source registers (rs1 and rs2) are always in the same places</a:t>
            </a:r>
          </a:p>
          <a:p>
            <a:pPr lvl="1">
              <a:spcBef>
                <a:spcPct val="10000"/>
              </a:spcBef>
              <a:buSzPct val="85000"/>
              <a:buFont typeface="Calibri" panose="020F0702030404030204" pitchFamily="34" charset="0"/>
              <a:buChar char="₋"/>
            </a:pPr>
            <a:r>
              <a:rPr lang="en-US" altLang="zh-TW" sz="2800" dirty="0" err="1"/>
              <a:t>Immediates</a:t>
            </a:r>
            <a:r>
              <a:rPr lang="en-US" altLang="zh-TW" sz="2800" dirty="0"/>
              <a:t> have the same size (12b or 20b)</a:t>
            </a:r>
          </a:p>
          <a:p>
            <a:pPr lvl="1">
              <a:spcBef>
                <a:spcPct val="10000"/>
              </a:spcBef>
              <a:buSzPct val="85000"/>
              <a:buFont typeface="Calibri" panose="020F0702030404030204" pitchFamily="34" charset="0"/>
              <a:buChar char="₋"/>
            </a:pPr>
            <a:r>
              <a:rPr lang="en-US" altLang="zh-TW" sz="2800" dirty="0"/>
              <a:t>Operations are always computed on registers/</a:t>
            </a:r>
            <a:r>
              <a:rPr lang="en-US" altLang="zh-TW" sz="2800" dirty="0" err="1"/>
              <a:t>immediates</a:t>
            </a:r>
            <a:endParaRPr lang="en-US" altLang="zh-TW" sz="2800" dirty="0"/>
          </a:p>
          <a:p>
            <a:pPr>
              <a:spcBef>
                <a:spcPct val="10000"/>
              </a:spcBef>
              <a:buSzPct val="150000"/>
              <a:buFont typeface="Arial" panose="020B0604020202020204" pitchFamily="34" charset="0"/>
              <a:buChar char="•"/>
            </a:pPr>
            <a:r>
              <a:rPr lang="en-US" altLang="zh-TW" sz="2800" dirty="0"/>
              <a:t>RISC-V simplifies designs, lower the cost of design and test.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B6BDF2-6896-4B98-8776-C18582F63BA5}" type="slidenum">
              <a:rPr kumimoji="0" lang="zh-TW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 pitchFamily="34" charset="0"/>
                <a:ea typeface="新細明體" panose="02020500000000000000" pitchFamily="18" charset="-120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 pitchFamily="34" charset="0"/>
              <a:ea typeface="新細明體" panose="02020500000000000000" pitchFamily="18" charset="-120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90204" pitchFamily="34" charset="0"/>
            <a:ea typeface="新細明體" panose="02020500000000000000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90204" pitchFamily="34" charset="0"/>
            <a:ea typeface="新細明體" panose="02020500000000000000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anose="02010601000101010101" pitchFamily="65" charset="-120"/>
            <a:cs typeface="Calibri" panose="020F0702030404030204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13670</TotalTime>
  <Words>1022</Words>
  <Application>Microsoft Office PowerPoint</Application>
  <PresentationFormat>Widescreen</PresentationFormat>
  <Paragraphs>172</Paragraphs>
  <Slides>17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17</vt:i4>
      </vt:variant>
    </vt:vector>
  </HeadingPairs>
  <TitlesOfParts>
    <vt:vector size="29" baseType="lpstr">
      <vt:lpstr>MS Sans Serif</vt:lpstr>
      <vt:lpstr>华文楷体</vt:lpstr>
      <vt:lpstr>Arial</vt:lpstr>
      <vt:lpstr>Calibri</vt:lpstr>
      <vt:lpstr>Calibri Light</vt:lpstr>
      <vt:lpstr>Century Gothic</vt:lpstr>
      <vt:lpstr>Fira Code</vt:lpstr>
      <vt:lpstr>Times New Roman</vt:lpstr>
      <vt:lpstr>Wingdings</vt:lpstr>
      <vt:lpstr>NTHU UniCloud</vt:lpstr>
      <vt:lpstr>自訂設計</vt:lpstr>
      <vt:lpstr>1_NTHU UniCloud</vt:lpstr>
      <vt:lpstr>CSC3060 – Computer Architecture  Chapter 4 Control</vt:lpstr>
      <vt:lpstr>A Single Cycle Data Path</vt:lpstr>
      <vt:lpstr>Control Points and Signals</vt:lpstr>
      <vt:lpstr>Step 4 - Control Points and Signals</vt:lpstr>
      <vt:lpstr>High Level Control Signal Expressions</vt:lpstr>
      <vt:lpstr>ALUsel or ALUop or ALUcontrol</vt:lpstr>
      <vt:lpstr>A More Complete RV32I Single Cycle Data Path</vt:lpstr>
      <vt:lpstr>A More Complete RV32I Single Cycle Data Path</vt:lpstr>
      <vt:lpstr>A More Complete RV32I Single Cycle Data Path</vt:lpstr>
      <vt:lpstr>Example: SW X2, offset(X1)</vt:lpstr>
      <vt:lpstr>Example: BEQ X1,X2, immediate</vt:lpstr>
      <vt:lpstr>A RV32I Single Cycle Processor</vt:lpstr>
      <vt:lpstr>RV32I Control Logic Truth Table</vt:lpstr>
      <vt:lpstr>RV32I: 9 bits in Instruction drive the control</vt:lpstr>
      <vt:lpstr>Example: How to decode the add instruction?</vt:lpstr>
      <vt:lpstr>Drawback of Single-Cycle Design</vt:lpstr>
      <vt:lpstr>Summary of Single Cycle RV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香港中文大学(深圳)数据科学院 School of Data Science</dc:title>
  <dc:creator>Windows 使用者</dc:creator>
  <cp:lastModifiedBy>Prof. HSU Wei-Chung (SDS)</cp:lastModifiedBy>
  <cp:revision>249</cp:revision>
  <dcterms:created xsi:type="dcterms:W3CDTF">2020-07-15T11:13:39Z</dcterms:created>
  <dcterms:modified xsi:type="dcterms:W3CDTF">2026-03-09T11:07:00Z</dcterms:modified>
</cp:coreProperties>
</file>