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131"/>
  </p:notesMasterIdLst>
  <p:handoutMasterIdLst>
    <p:handoutMasterId r:id="rId132"/>
  </p:handoutMasterIdLst>
  <p:sldIdLst>
    <p:sldId id="771" r:id="rId3"/>
    <p:sldId id="1401" r:id="rId4"/>
    <p:sldId id="1393" r:id="rId5"/>
    <p:sldId id="1402" r:id="rId6"/>
    <p:sldId id="763" r:id="rId7"/>
    <p:sldId id="1395" r:id="rId8"/>
    <p:sldId id="1396" r:id="rId9"/>
    <p:sldId id="272" r:id="rId10"/>
    <p:sldId id="273" r:id="rId11"/>
    <p:sldId id="274" r:id="rId12"/>
    <p:sldId id="1403" r:id="rId13"/>
    <p:sldId id="275" r:id="rId14"/>
    <p:sldId id="591" r:id="rId15"/>
    <p:sldId id="388" r:id="rId16"/>
    <p:sldId id="260" r:id="rId17"/>
    <p:sldId id="261" r:id="rId18"/>
    <p:sldId id="1397" r:id="rId19"/>
    <p:sldId id="1398" r:id="rId20"/>
    <p:sldId id="1399" r:id="rId21"/>
    <p:sldId id="265" r:id="rId22"/>
    <p:sldId id="1400" r:id="rId23"/>
    <p:sldId id="829" r:id="rId24"/>
    <p:sldId id="499" r:id="rId25"/>
    <p:sldId id="794" r:id="rId26"/>
    <p:sldId id="795" r:id="rId27"/>
    <p:sldId id="1408" r:id="rId28"/>
    <p:sldId id="770" r:id="rId29"/>
    <p:sldId id="1405" r:id="rId30"/>
    <p:sldId id="279" r:id="rId31"/>
    <p:sldId id="262" r:id="rId32"/>
    <p:sldId id="297" r:id="rId33"/>
    <p:sldId id="796" r:id="rId34"/>
    <p:sldId id="814" r:id="rId35"/>
    <p:sldId id="1406" r:id="rId36"/>
    <p:sldId id="304" r:id="rId37"/>
    <p:sldId id="799" r:id="rId38"/>
    <p:sldId id="302" r:id="rId39"/>
    <p:sldId id="1407" r:id="rId40"/>
    <p:sldId id="772" r:id="rId41"/>
    <p:sldId id="773" r:id="rId42"/>
    <p:sldId id="391" r:id="rId43"/>
    <p:sldId id="266" r:id="rId44"/>
    <p:sldId id="267" r:id="rId45"/>
    <p:sldId id="268" r:id="rId46"/>
    <p:sldId id="269" r:id="rId47"/>
    <p:sldId id="270" r:id="rId48"/>
    <p:sldId id="271" r:id="rId49"/>
    <p:sldId id="815" r:id="rId50"/>
    <p:sldId id="320" r:id="rId51"/>
    <p:sldId id="784" r:id="rId52"/>
    <p:sldId id="816" r:id="rId53"/>
    <p:sldId id="818" r:id="rId54"/>
    <p:sldId id="767" r:id="rId55"/>
    <p:sldId id="768" r:id="rId56"/>
    <p:sldId id="769" r:id="rId57"/>
    <p:sldId id="801" r:id="rId58"/>
    <p:sldId id="502" r:id="rId59"/>
    <p:sldId id="802" r:id="rId60"/>
    <p:sldId id="503" r:id="rId61"/>
    <p:sldId id="399" r:id="rId62"/>
    <p:sldId id="524" r:id="rId63"/>
    <p:sldId id="400" r:id="rId64"/>
    <p:sldId id="826" r:id="rId65"/>
    <p:sldId id="800" r:id="rId66"/>
    <p:sldId id="827" r:id="rId67"/>
    <p:sldId id="596" r:id="rId68"/>
    <p:sldId id="828" r:id="rId69"/>
    <p:sldId id="525" r:id="rId70"/>
    <p:sldId id="406" r:id="rId71"/>
    <p:sldId id="402" r:id="rId72"/>
    <p:sldId id="820" r:id="rId73"/>
    <p:sldId id="403" r:id="rId74"/>
    <p:sldId id="825" r:id="rId75"/>
    <p:sldId id="404" r:id="rId76"/>
    <p:sldId id="530" r:id="rId77"/>
    <p:sldId id="314" r:id="rId78"/>
    <p:sldId id="819" r:id="rId79"/>
    <p:sldId id="409" r:id="rId80"/>
    <p:sldId id="721" r:id="rId81"/>
    <p:sldId id="722" r:id="rId82"/>
    <p:sldId id="411" r:id="rId83"/>
    <p:sldId id="803" r:id="rId84"/>
    <p:sldId id="317" r:id="rId85"/>
    <p:sldId id="806" r:id="rId86"/>
    <p:sldId id="414" r:id="rId87"/>
    <p:sldId id="786" r:id="rId88"/>
    <p:sldId id="787" r:id="rId89"/>
    <p:sldId id="416" r:id="rId90"/>
    <p:sldId id="417" r:id="rId91"/>
    <p:sldId id="788" r:id="rId92"/>
    <p:sldId id="789" r:id="rId93"/>
    <p:sldId id="804" r:id="rId94"/>
    <p:sldId id="775" r:id="rId95"/>
    <p:sldId id="776" r:id="rId96"/>
    <p:sldId id="805" r:id="rId97"/>
    <p:sldId id="783" r:id="rId98"/>
    <p:sldId id="782" r:id="rId99"/>
    <p:sldId id="375" r:id="rId100"/>
    <p:sldId id="322" r:id="rId101"/>
    <p:sldId id="807" r:id="rId102"/>
    <p:sldId id="811" r:id="rId103"/>
    <p:sldId id="810" r:id="rId104"/>
    <p:sldId id="323" r:id="rId105"/>
    <p:sldId id="761" r:id="rId106"/>
    <p:sldId id="780" r:id="rId107"/>
    <p:sldId id="822" r:id="rId108"/>
    <p:sldId id="419" r:id="rId109"/>
    <p:sldId id="812" r:id="rId110"/>
    <p:sldId id="420" r:id="rId111"/>
    <p:sldId id="507" r:id="rId112"/>
    <p:sldId id="422" r:id="rId113"/>
    <p:sldId id="423" r:id="rId114"/>
    <p:sldId id="329" r:id="rId115"/>
    <p:sldId id="257" r:id="rId116"/>
    <p:sldId id="335" r:id="rId117"/>
    <p:sldId id="337" r:id="rId118"/>
    <p:sldId id="263" r:id="rId119"/>
    <p:sldId id="264" r:id="rId120"/>
    <p:sldId id="813" r:id="rId121"/>
    <p:sldId id="777" r:id="rId122"/>
    <p:sldId id="778" r:id="rId123"/>
    <p:sldId id="779" r:id="rId124"/>
    <p:sldId id="790" r:id="rId125"/>
    <p:sldId id="792" r:id="rId126"/>
    <p:sldId id="823" r:id="rId127"/>
    <p:sldId id="424" r:id="rId128"/>
    <p:sldId id="793" r:id="rId129"/>
    <p:sldId id="785" r:id="rId13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98" d="100"/>
          <a:sy n="98" d="100"/>
        </p:scale>
        <p:origin x="834"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viewProps" Target="view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theme" Target="theme/theme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handoutMaster" Target="handoutMasters/handout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17557200000000001"/>
          <c:y val="3.8234799999999999E-2"/>
          <c:w val="0.52799799999999997"/>
          <c:h val="0.83203400000000005"/>
        </c:manualLayout>
      </c:layout>
      <c:lineChart>
        <c:grouping val="standard"/>
        <c:varyColors val="0"/>
        <c:ser>
          <c:idx val="0"/>
          <c:order val="0"/>
          <c:tx>
            <c:strRef>
              <c:f>Sheet1!$A$2</c:f>
              <c:strCache>
                <c:ptCount val="1"/>
                <c:pt idx="0">
                  <c:v>Disk seek time</c:v>
                </c:pt>
              </c:strCache>
            </c:strRef>
          </c:tx>
          <c:spPr>
            <a:ln w="12700" cap="flat">
              <a:solidFill>
                <a:srgbClr val="000000"/>
              </a:solidFill>
              <a:prstDash val="solid"/>
              <a:round/>
            </a:ln>
            <a:effectLst/>
          </c:spPr>
          <c:marker>
            <c:symbol val="diamond"/>
            <c:size val="7"/>
            <c:spPr>
              <a:solidFill>
                <a:srgbClr val="000000"/>
              </a:solidFill>
              <a:ln w="12700" cap="flat">
                <a:noFill/>
                <a:miter lim="400000"/>
              </a:ln>
              <a:effectLst/>
            </c:spPr>
          </c:marker>
          <c:cat>
            <c:strRef>
              <c:f>Sheet1!$B$1:$I$1</c:f>
              <c:strCache>
                <c:ptCount val="8"/>
                <c:pt idx="0">
                  <c:v>1985</c:v>
                </c:pt>
                <c:pt idx="1">
                  <c:v>1990</c:v>
                </c:pt>
                <c:pt idx="2">
                  <c:v>1995</c:v>
                </c:pt>
                <c:pt idx="3">
                  <c:v>2000</c:v>
                </c:pt>
                <c:pt idx="4">
                  <c:v>2003</c:v>
                </c:pt>
                <c:pt idx="5">
                  <c:v>2005</c:v>
                </c:pt>
                <c:pt idx="6">
                  <c:v>2010</c:v>
                </c:pt>
                <c:pt idx="7">
                  <c:v>2015</c:v>
                </c:pt>
              </c:strCache>
            </c:strRef>
          </c:cat>
          <c:val>
            <c:numRef>
              <c:f>Sheet1!$B$2:$I$2</c:f>
              <c:numCache>
                <c:formatCode>General</c:formatCode>
                <c:ptCount val="8"/>
                <c:pt idx="0">
                  <c:v>75000000</c:v>
                </c:pt>
                <c:pt idx="1">
                  <c:v>28000000</c:v>
                </c:pt>
                <c:pt idx="2">
                  <c:v>10000000</c:v>
                </c:pt>
                <c:pt idx="3">
                  <c:v>8000000</c:v>
                </c:pt>
                <c:pt idx="4">
                  <c:v>6000000</c:v>
                </c:pt>
                <c:pt idx="5">
                  <c:v>5000000</c:v>
                </c:pt>
                <c:pt idx="6">
                  <c:v>3000000</c:v>
                </c:pt>
                <c:pt idx="7">
                  <c:v>3000000</c:v>
                </c:pt>
              </c:numCache>
            </c:numRef>
          </c:val>
          <c:smooth val="0"/>
          <c:extLst>
            <c:ext xmlns:c16="http://schemas.microsoft.com/office/drawing/2014/chart" uri="{C3380CC4-5D6E-409C-BE32-E72D297353CC}">
              <c16:uniqueId val="{00000000-4F92-4ECF-BE76-F5944D3E4CA7}"/>
            </c:ext>
          </c:extLst>
        </c:ser>
        <c:ser>
          <c:idx val="1"/>
          <c:order val="1"/>
          <c:tx>
            <c:strRef>
              <c:f>Sheet1!$A$3</c:f>
              <c:strCache>
                <c:ptCount val="1"/>
                <c:pt idx="0">
                  <c:v>SSD access time</c:v>
                </c:pt>
              </c:strCache>
            </c:strRef>
          </c:tx>
          <c:spPr>
            <a:ln w="12700" cap="flat">
              <a:solidFill>
                <a:srgbClr val="000000"/>
              </a:solidFill>
              <a:prstDash val="solid"/>
              <a:round/>
            </a:ln>
            <a:effectLst/>
          </c:spPr>
          <c:marker>
            <c:symbol val="triangle"/>
            <c:size val="7"/>
            <c:spPr>
              <a:solidFill>
                <a:srgbClr val="000000"/>
              </a:solidFill>
              <a:ln w="12700" cap="flat">
                <a:noFill/>
                <a:miter lim="400000"/>
              </a:ln>
              <a:effectLst/>
            </c:spPr>
          </c:marker>
          <c:cat>
            <c:strRef>
              <c:f>Sheet1!$B$1:$I$1</c:f>
              <c:strCache>
                <c:ptCount val="8"/>
                <c:pt idx="0">
                  <c:v>1985</c:v>
                </c:pt>
                <c:pt idx="1">
                  <c:v>1990</c:v>
                </c:pt>
                <c:pt idx="2">
                  <c:v>1995</c:v>
                </c:pt>
                <c:pt idx="3">
                  <c:v>2000</c:v>
                </c:pt>
                <c:pt idx="4">
                  <c:v>2003</c:v>
                </c:pt>
                <c:pt idx="5">
                  <c:v>2005</c:v>
                </c:pt>
                <c:pt idx="6">
                  <c:v>2010</c:v>
                </c:pt>
                <c:pt idx="7">
                  <c:v>2015</c:v>
                </c:pt>
              </c:strCache>
            </c:strRef>
          </c:cat>
          <c:val>
            <c:numRef>
              <c:f>Sheet1!$B$3:$I$3</c:f>
              <c:numCache>
                <c:formatCode>General</c:formatCode>
                <c:ptCount val="8"/>
                <c:pt idx="7">
                  <c:v>50000</c:v>
                </c:pt>
              </c:numCache>
            </c:numRef>
          </c:val>
          <c:smooth val="0"/>
          <c:extLst>
            <c:ext xmlns:c16="http://schemas.microsoft.com/office/drawing/2014/chart" uri="{C3380CC4-5D6E-409C-BE32-E72D297353CC}">
              <c16:uniqueId val="{00000001-4F92-4ECF-BE76-F5944D3E4CA7}"/>
            </c:ext>
          </c:extLst>
        </c:ser>
        <c:ser>
          <c:idx val="2"/>
          <c:order val="2"/>
          <c:tx>
            <c:strRef>
              <c:f>Sheet1!$A$4</c:f>
              <c:strCache>
                <c:ptCount val="1"/>
                <c:pt idx="0">
                  <c:v>DRAM access time</c:v>
                </c:pt>
              </c:strCache>
            </c:strRef>
          </c:tx>
          <c:spPr>
            <a:ln w="12700" cap="flat">
              <a:solidFill>
                <a:srgbClr val="000000"/>
              </a:solidFill>
              <a:prstDash val="solid"/>
              <a:round/>
            </a:ln>
            <a:effectLst/>
          </c:spPr>
          <c:marker>
            <c:symbol val="square"/>
            <c:size val="7"/>
            <c:spPr>
              <a:solidFill>
                <a:srgbClr val="000000"/>
              </a:solidFill>
              <a:ln w="12700" cap="flat">
                <a:noFill/>
                <a:miter lim="400000"/>
              </a:ln>
              <a:effectLst/>
            </c:spPr>
          </c:marker>
          <c:cat>
            <c:strRef>
              <c:f>Sheet1!$B$1:$I$1</c:f>
              <c:strCache>
                <c:ptCount val="8"/>
                <c:pt idx="0">
                  <c:v>1985</c:v>
                </c:pt>
                <c:pt idx="1">
                  <c:v>1990</c:v>
                </c:pt>
                <c:pt idx="2">
                  <c:v>1995</c:v>
                </c:pt>
                <c:pt idx="3">
                  <c:v>2000</c:v>
                </c:pt>
                <c:pt idx="4">
                  <c:v>2003</c:v>
                </c:pt>
                <c:pt idx="5">
                  <c:v>2005</c:v>
                </c:pt>
                <c:pt idx="6">
                  <c:v>2010</c:v>
                </c:pt>
                <c:pt idx="7">
                  <c:v>2015</c:v>
                </c:pt>
              </c:strCache>
            </c:strRef>
          </c:cat>
          <c:val>
            <c:numRef>
              <c:f>Sheet1!$B$4:$I$4</c:f>
              <c:numCache>
                <c:formatCode>General</c:formatCode>
                <c:ptCount val="8"/>
                <c:pt idx="0">
                  <c:v>200</c:v>
                </c:pt>
                <c:pt idx="1">
                  <c:v>100</c:v>
                </c:pt>
                <c:pt idx="2">
                  <c:v>70</c:v>
                </c:pt>
                <c:pt idx="3">
                  <c:v>60</c:v>
                </c:pt>
                <c:pt idx="4">
                  <c:v>55</c:v>
                </c:pt>
                <c:pt idx="5">
                  <c:v>50</c:v>
                </c:pt>
                <c:pt idx="6">
                  <c:v>40</c:v>
                </c:pt>
                <c:pt idx="7">
                  <c:v>20</c:v>
                </c:pt>
              </c:numCache>
            </c:numRef>
          </c:val>
          <c:smooth val="0"/>
          <c:extLst>
            <c:ext xmlns:c16="http://schemas.microsoft.com/office/drawing/2014/chart" uri="{C3380CC4-5D6E-409C-BE32-E72D297353CC}">
              <c16:uniqueId val="{00000002-4F92-4ECF-BE76-F5944D3E4CA7}"/>
            </c:ext>
          </c:extLst>
        </c:ser>
        <c:ser>
          <c:idx val="3"/>
          <c:order val="3"/>
          <c:tx>
            <c:strRef>
              <c:f>Sheet1!$A$5</c:f>
              <c:strCache>
                <c:ptCount val="1"/>
                <c:pt idx="0">
                  <c:v>SRAM access time</c:v>
                </c:pt>
              </c:strCache>
            </c:strRef>
          </c:tx>
          <c:spPr>
            <a:ln w="12700" cap="flat">
              <a:solidFill>
                <a:srgbClr val="000000"/>
              </a:solidFill>
              <a:prstDash val="solid"/>
              <a:round/>
            </a:ln>
            <a:effectLst/>
          </c:spPr>
          <c:marker>
            <c:symbol val="circle"/>
            <c:size val="7"/>
            <c:spPr>
              <a:solidFill>
                <a:srgbClr val="000000"/>
              </a:solidFill>
              <a:ln w="12700" cap="flat">
                <a:noFill/>
                <a:miter lim="400000"/>
              </a:ln>
              <a:effectLst/>
            </c:spPr>
          </c:marker>
          <c:cat>
            <c:strRef>
              <c:f>Sheet1!$B$1:$I$1</c:f>
              <c:strCache>
                <c:ptCount val="8"/>
                <c:pt idx="0">
                  <c:v>1985</c:v>
                </c:pt>
                <c:pt idx="1">
                  <c:v>1990</c:v>
                </c:pt>
                <c:pt idx="2">
                  <c:v>1995</c:v>
                </c:pt>
                <c:pt idx="3">
                  <c:v>2000</c:v>
                </c:pt>
                <c:pt idx="4">
                  <c:v>2003</c:v>
                </c:pt>
                <c:pt idx="5">
                  <c:v>2005</c:v>
                </c:pt>
                <c:pt idx="6">
                  <c:v>2010</c:v>
                </c:pt>
                <c:pt idx="7">
                  <c:v>2015</c:v>
                </c:pt>
              </c:strCache>
            </c:strRef>
          </c:cat>
          <c:val>
            <c:numRef>
              <c:f>Sheet1!$B$5:$I$5</c:f>
              <c:numCache>
                <c:formatCode>General</c:formatCode>
                <c:ptCount val="8"/>
                <c:pt idx="0">
                  <c:v>150</c:v>
                </c:pt>
                <c:pt idx="1">
                  <c:v>35</c:v>
                </c:pt>
                <c:pt idx="2">
                  <c:v>15</c:v>
                </c:pt>
                <c:pt idx="3">
                  <c:v>3</c:v>
                </c:pt>
                <c:pt idx="4">
                  <c:v>2.5</c:v>
                </c:pt>
                <c:pt idx="5">
                  <c:v>2</c:v>
                </c:pt>
                <c:pt idx="6">
                  <c:v>1.5</c:v>
                </c:pt>
                <c:pt idx="7">
                  <c:v>1.3</c:v>
                </c:pt>
              </c:numCache>
            </c:numRef>
          </c:val>
          <c:smooth val="0"/>
          <c:extLst>
            <c:ext xmlns:c16="http://schemas.microsoft.com/office/drawing/2014/chart" uri="{C3380CC4-5D6E-409C-BE32-E72D297353CC}">
              <c16:uniqueId val="{00000003-4F92-4ECF-BE76-F5944D3E4CA7}"/>
            </c:ext>
          </c:extLst>
        </c:ser>
        <c:ser>
          <c:idx val="4"/>
          <c:order val="4"/>
          <c:tx>
            <c:strRef>
              <c:f>Sheet1!$A$6</c:f>
              <c:strCache>
                <c:ptCount val="1"/>
                <c:pt idx="0">
                  <c:v>CPU cycle time</c:v>
                </c:pt>
              </c:strCache>
            </c:strRef>
          </c:tx>
          <c:spPr>
            <a:ln w="12700" cap="flat">
              <a:solidFill>
                <a:srgbClr val="000000"/>
              </a:solidFill>
              <a:prstDash val="solid"/>
              <a:round/>
            </a:ln>
            <a:effectLst/>
          </c:spPr>
          <c:marker>
            <c:symbol val="square"/>
            <c:size val="7"/>
            <c:spPr>
              <a:solidFill>
                <a:schemeClr val="accent3">
                  <a:lumOff val="44000"/>
                </a:schemeClr>
              </a:solidFill>
              <a:ln w="9525" cap="flat">
                <a:solidFill>
                  <a:srgbClr val="000000"/>
                </a:solidFill>
                <a:prstDash val="solid"/>
                <a:round/>
              </a:ln>
              <a:effectLst/>
            </c:spPr>
          </c:marker>
          <c:cat>
            <c:strRef>
              <c:f>Sheet1!$B$1:$I$1</c:f>
              <c:strCache>
                <c:ptCount val="8"/>
                <c:pt idx="0">
                  <c:v>1985</c:v>
                </c:pt>
                <c:pt idx="1">
                  <c:v>1990</c:v>
                </c:pt>
                <c:pt idx="2">
                  <c:v>1995</c:v>
                </c:pt>
                <c:pt idx="3">
                  <c:v>2000</c:v>
                </c:pt>
                <c:pt idx="4">
                  <c:v>2003</c:v>
                </c:pt>
                <c:pt idx="5">
                  <c:v>2005</c:v>
                </c:pt>
                <c:pt idx="6">
                  <c:v>2010</c:v>
                </c:pt>
                <c:pt idx="7">
                  <c:v>2015</c:v>
                </c:pt>
              </c:strCache>
            </c:strRef>
          </c:cat>
          <c:val>
            <c:numRef>
              <c:f>Sheet1!$B$6:$I$6</c:f>
              <c:numCache>
                <c:formatCode>General</c:formatCode>
                <c:ptCount val="8"/>
                <c:pt idx="0">
                  <c:v>166</c:v>
                </c:pt>
                <c:pt idx="1">
                  <c:v>50</c:v>
                </c:pt>
                <c:pt idx="2">
                  <c:v>6</c:v>
                </c:pt>
                <c:pt idx="3">
                  <c:v>1.6</c:v>
                </c:pt>
                <c:pt idx="4">
                  <c:v>0.3</c:v>
                </c:pt>
                <c:pt idx="5">
                  <c:v>0.5</c:v>
                </c:pt>
                <c:pt idx="6">
                  <c:v>0.4</c:v>
                </c:pt>
                <c:pt idx="7">
                  <c:v>0.33</c:v>
                </c:pt>
              </c:numCache>
            </c:numRef>
          </c:val>
          <c:smooth val="0"/>
          <c:extLst>
            <c:ext xmlns:c16="http://schemas.microsoft.com/office/drawing/2014/chart" uri="{C3380CC4-5D6E-409C-BE32-E72D297353CC}">
              <c16:uniqueId val="{00000004-4F92-4ECF-BE76-F5944D3E4CA7}"/>
            </c:ext>
          </c:extLst>
        </c:ser>
        <c:ser>
          <c:idx val="5"/>
          <c:order val="5"/>
          <c:tx>
            <c:strRef>
              <c:f>Sheet1!$A$7</c:f>
              <c:strCache>
                <c:ptCount val="1"/>
                <c:pt idx="0">
                  <c:v>Effective CPU cycle time</c:v>
                </c:pt>
              </c:strCache>
            </c:strRef>
          </c:tx>
          <c:spPr>
            <a:ln w="12700" cap="flat">
              <a:solidFill>
                <a:srgbClr val="000000"/>
              </a:solidFill>
              <a:prstDash val="solid"/>
              <a:round/>
            </a:ln>
            <a:effectLst/>
          </c:spPr>
          <c:marker>
            <c:symbol val="circle"/>
            <c:size val="7"/>
            <c:spPr>
              <a:solidFill>
                <a:schemeClr val="accent3">
                  <a:lumOff val="44000"/>
                </a:schemeClr>
              </a:solidFill>
              <a:ln w="9525" cap="flat">
                <a:solidFill>
                  <a:srgbClr val="000000"/>
                </a:solidFill>
                <a:prstDash val="solid"/>
                <a:round/>
              </a:ln>
              <a:effectLst/>
            </c:spPr>
          </c:marker>
          <c:cat>
            <c:strRef>
              <c:f>Sheet1!$B$1:$I$1</c:f>
              <c:strCache>
                <c:ptCount val="8"/>
                <c:pt idx="0">
                  <c:v>1985</c:v>
                </c:pt>
                <c:pt idx="1">
                  <c:v>1990</c:v>
                </c:pt>
                <c:pt idx="2">
                  <c:v>1995</c:v>
                </c:pt>
                <c:pt idx="3">
                  <c:v>2000</c:v>
                </c:pt>
                <c:pt idx="4">
                  <c:v>2003</c:v>
                </c:pt>
                <c:pt idx="5">
                  <c:v>2005</c:v>
                </c:pt>
                <c:pt idx="6">
                  <c:v>2010</c:v>
                </c:pt>
                <c:pt idx="7">
                  <c:v>2015</c:v>
                </c:pt>
              </c:strCache>
            </c:strRef>
          </c:cat>
          <c:val>
            <c:numRef>
              <c:f>Sheet1!$B$7:$I$7</c:f>
              <c:numCache>
                <c:formatCode>General</c:formatCode>
                <c:ptCount val="8"/>
                <c:pt idx="4">
                  <c:v>0.3</c:v>
                </c:pt>
                <c:pt idx="5">
                  <c:v>0.25</c:v>
                </c:pt>
                <c:pt idx="6">
                  <c:v>0.1</c:v>
                </c:pt>
                <c:pt idx="7">
                  <c:v>0.08</c:v>
                </c:pt>
              </c:numCache>
            </c:numRef>
          </c:val>
          <c:smooth val="0"/>
          <c:extLst>
            <c:ext xmlns:c16="http://schemas.microsoft.com/office/drawing/2014/chart" uri="{C3380CC4-5D6E-409C-BE32-E72D297353CC}">
              <c16:uniqueId val="{00000005-4F92-4ECF-BE76-F5944D3E4CA7}"/>
            </c:ext>
          </c:extLst>
        </c:ser>
        <c:dLbls>
          <c:showLegendKey val="0"/>
          <c:showVal val="0"/>
          <c:showCatName val="0"/>
          <c:showSerName val="0"/>
          <c:showPercent val="0"/>
          <c:showBubbleSize val="0"/>
        </c:dLbls>
        <c:marker val="1"/>
        <c:smooth val="0"/>
        <c:axId val="2094734552"/>
        <c:axId val="2094734553"/>
      </c:lineChart>
      <c:catAx>
        <c:axId val="2094734552"/>
        <c:scaling>
          <c:orientation val="minMax"/>
        </c:scaling>
        <c:delete val="0"/>
        <c:axPos val="b"/>
        <c:title>
          <c:tx>
            <c:rich>
              <a:bodyPr rot="0"/>
              <a:lstStyle/>
              <a:p>
                <a:pPr>
                  <a:defRPr sz="1200" b="1" i="0" u="none" strike="noStrike">
                    <a:solidFill>
                      <a:srgbClr val="000000"/>
                    </a:solidFill>
                    <a:latin typeface="Arial"/>
                  </a:defRPr>
                </a:pPr>
                <a:r>
                  <a:rPr lang="en-US" sz="1200" b="1" i="0" u="none" strike="noStrike">
                    <a:solidFill>
                      <a:srgbClr val="000000"/>
                    </a:solidFill>
                    <a:latin typeface="Arial"/>
                  </a:rPr>
                  <a:t>Year</a:t>
                </a:r>
              </a:p>
            </c:rich>
          </c:tx>
          <c:overlay val="1"/>
        </c:title>
        <c:numFmt formatCode="General" sourceLinked="0"/>
        <c:majorTickMark val="out"/>
        <c:minorTickMark val="none"/>
        <c:tickLblPos val="low"/>
        <c:spPr>
          <a:ln w="12700" cap="flat">
            <a:solidFill>
              <a:srgbClr val="888888"/>
            </a:solidFill>
            <a:prstDash val="solid"/>
            <a:round/>
          </a:ln>
        </c:spPr>
        <c:txPr>
          <a:bodyPr rot="0"/>
          <a:lstStyle/>
          <a:p>
            <a:pPr>
              <a:defRPr sz="1200" b="0" i="0" u="none" strike="noStrike">
                <a:solidFill>
                  <a:srgbClr val="000000"/>
                </a:solidFill>
                <a:latin typeface="Arial"/>
              </a:defRPr>
            </a:pPr>
            <a:endParaRPr lang="en-US"/>
          </a:p>
        </c:txPr>
        <c:crossAx val="2094734553"/>
        <c:crosses val="autoZero"/>
        <c:auto val="1"/>
        <c:lblAlgn val="ctr"/>
        <c:lblOffset val="100"/>
        <c:noMultiLvlLbl val="1"/>
      </c:catAx>
      <c:valAx>
        <c:axId val="2094734553"/>
        <c:scaling>
          <c:logBase val="10"/>
          <c:orientation val="minMax"/>
          <c:min val="0.01"/>
        </c:scaling>
        <c:delete val="0"/>
        <c:axPos val="l"/>
        <c:majorGridlines>
          <c:spPr>
            <a:ln w="12700" cap="flat">
              <a:solidFill>
                <a:srgbClr val="888888"/>
              </a:solidFill>
              <a:prstDash val="solid"/>
              <a:round/>
            </a:ln>
          </c:spPr>
        </c:majorGridlines>
        <c:title>
          <c:tx>
            <c:rich>
              <a:bodyPr rot="-5400000"/>
              <a:lstStyle/>
              <a:p>
                <a:pPr>
                  <a:defRPr sz="1200" b="1" i="0" u="none" strike="noStrike">
                    <a:solidFill>
                      <a:srgbClr val="000000"/>
                    </a:solidFill>
                    <a:latin typeface="Arial"/>
                  </a:defRPr>
                </a:pPr>
                <a:r>
                  <a:rPr lang="en-US" sz="1200" b="1" i="0" u="none" strike="noStrike">
                    <a:solidFill>
                      <a:srgbClr val="000000"/>
                    </a:solidFill>
                    <a:latin typeface="Arial"/>
                  </a:rPr>
                  <a:t>Time (ns)</a:t>
                </a:r>
              </a:p>
            </c:rich>
          </c:tx>
          <c:overlay val="1"/>
        </c:title>
        <c:numFmt formatCode="#,##0.0" sourceLinked="0"/>
        <c:majorTickMark val="out"/>
        <c:minorTickMark val="none"/>
        <c:tickLblPos val="nextTo"/>
        <c:spPr>
          <a:ln w="12700" cap="flat">
            <a:solidFill>
              <a:srgbClr val="888888"/>
            </a:solidFill>
            <a:prstDash val="solid"/>
            <a:round/>
          </a:ln>
        </c:spPr>
        <c:txPr>
          <a:bodyPr rot="0"/>
          <a:lstStyle/>
          <a:p>
            <a:pPr>
              <a:defRPr sz="1200" b="0" i="0" u="none" strike="noStrike">
                <a:solidFill>
                  <a:srgbClr val="000000"/>
                </a:solidFill>
                <a:latin typeface="Arial"/>
              </a:defRPr>
            </a:pPr>
            <a:endParaRPr lang="en-US"/>
          </a:p>
        </c:txPr>
        <c:crossAx val="2094734552"/>
        <c:crosses val="autoZero"/>
        <c:crossBetween val="between"/>
      </c:valAx>
      <c:spPr>
        <a:noFill/>
        <a:ln w="12700" cap="flat">
          <a:noFill/>
          <a:miter lim="400000"/>
        </a:ln>
        <a:effectLst/>
      </c:spPr>
    </c:plotArea>
    <c:legend>
      <c:legendPos val="r"/>
      <c:layout>
        <c:manualLayout>
          <c:xMode val="edge"/>
          <c:yMode val="edge"/>
          <c:x val="0.74120200000000003"/>
          <c:y val="0.35126200000000002"/>
          <c:w val="0.25879799999999997"/>
          <c:h val="0.25651600000000002"/>
        </c:manualLayout>
      </c:layout>
      <c:overlay val="1"/>
      <c:spPr>
        <a:noFill/>
        <a:ln w="9525" cap="flat">
          <a:solidFill>
            <a:srgbClr val="000000"/>
          </a:solidFill>
          <a:prstDash val="solid"/>
          <a:round/>
        </a:ln>
        <a:effectLst/>
      </c:spPr>
      <c:txPr>
        <a:bodyPr rot="0"/>
        <a:lstStyle/>
        <a:p>
          <a:pPr>
            <a:defRPr sz="1200" b="0" i="0" u="none" strike="noStrike">
              <a:solidFill>
                <a:srgbClr val="000000"/>
              </a:solidFill>
              <a:latin typeface="Arial"/>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3/31/2026</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2026/3/31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3314947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The technology we used to build our memory hierarchy can be divided into two categories: Random Access and Not-so-Random Access.</a:t>
            </a:r>
          </a:p>
          <a:p>
            <a:r>
              <a:rPr lang="en-US" altLang="zh-TW" dirty="0"/>
              <a:t>Unlike all other aspects of life where the word random usually associates with bad things, random, when associates with memory access, for the lack of a better word, is good!</a:t>
            </a:r>
          </a:p>
          <a:p>
            <a:r>
              <a:rPr lang="en-US" altLang="zh-TW" dirty="0"/>
              <a:t>Because random access means you can access any random location at any time and the access time will be the same as any other random locations.</a:t>
            </a:r>
          </a:p>
          <a:p>
            <a:r>
              <a:rPr lang="en-US" altLang="zh-TW" dirty="0"/>
              <a:t>Which is NOT the case for  disks or tape where the access time for a given location at any time can be quite different from some other random locations at some other random time.</a:t>
            </a:r>
          </a:p>
          <a:p>
            <a:r>
              <a:rPr lang="en-US" altLang="zh-TW" dirty="0"/>
              <a:t>As far as Random Access technology is concerned, we will concentrate on two specific technologies: Dynamic RAM and Static RAM.</a:t>
            </a:r>
          </a:p>
          <a:p>
            <a:r>
              <a:rPr lang="en-US" altLang="zh-TW" dirty="0"/>
              <a:t>The advantages of Dynamic RAMs are high density, low cost, and low power so we can have a lot of them without burning a hole in our budget or our desktop.</a:t>
            </a:r>
          </a:p>
          <a:p>
            <a:r>
              <a:rPr lang="en-US" altLang="zh-TW" dirty="0"/>
              <a:t>The disadvantages of DRAM are they are slow.  Also they will forget what you tell them if you don remind them constantly (Refresh).  We will talk more about refresh later today.</a:t>
            </a:r>
          </a:p>
          <a:p>
            <a:r>
              <a:rPr lang="en-US" altLang="zh-TW" dirty="0"/>
              <a:t>SRAM only has one redeeming feature: it is fast.  Other than that, they have low density, expensive, and burn a lot of power. Oh, SRAM actually has another redeeming feature.  They will not forget what you tell them. They will keep whatever you write to them forever.</a:t>
            </a:r>
          </a:p>
          <a:p>
            <a:r>
              <a:rPr lang="en-US" altLang="zh-TW" dirty="0"/>
              <a:t>Well </a:t>
            </a:r>
            <a:r>
              <a:rPr lang="en-US" altLang="zh-TW" dirty="0" err="1"/>
              <a:t>orever?is</a:t>
            </a:r>
            <a:r>
              <a:rPr lang="en-US" altLang="zh-TW" dirty="0"/>
              <a:t> a long time.  So lets just say it will keep your data as long as you don pull the plug on your computer.</a:t>
            </a:r>
          </a:p>
          <a:p>
            <a:r>
              <a:rPr lang="en-US" altLang="zh-TW" dirty="0"/>
              <a:t>In the next two lectures, we will be focusing on DRAMs and SRAMs.</a:t>
            </a:r>
          </a:p>
          <a:p>
            <a:r>
              <a:rPr lang="en-US" altLang="zh-TW" dirty="0"/>
              <a:t>Register is also one. One bit </a:t>
            </a:r>
          </a:p>
          <a:p>
            <a:endParaRPr lang="en-US" altLang="zh-TW" dirty="0"/>
          </a:p>
          <a:p>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2921074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The technology we used to build our memory hierarchy can be divided into two categories: Random Access and Non-so-Random Access.</a:t>
            </a:r>
          </a:p>
          <a:p>
            <a:r>
              <a:rPr lang="en-US" altLang="zh-TW" dirty="0"/>
              <a:t>Unlike all other aspects of life where the word random usually associates with bad things, random, when associates with memory access, for the lack of a better word, is good!</a:t>
            </a:r>
          </a:p>
          <a:p>
            <a:r>
              <a:rPr lang="en-US" altLang="zh-TW" dirty="0"/>
              <a:t>Because random access means you can access any random location at any time and the access time will be the same as any other random locations.</a:t>
            </a:r>
          </a:p>
          <a:p>
            <a:r>
              <a:rPr lang="en-US" altLang="zh-TW" dirty="0"/>
              <a:t>Which is NOT the case for  disks or tape where the access time for a given location at any time can be quite different from some other random locations at some other random time.</a:t>
            </a:r>
          </a:p>
          <a:p>
            <a:r>
              <a:rPr lang="en-US" altLang="zh-TW" dirty="0"/>
              <a:t>As far as Random Access technology is concerned, we will concentrate on two specific technologies: Dynamic RAM and Static RAM.</a:t>
            </a:r>
          </a:p>
          <a:p>
            <a:r>
              <a:rPr lang="en-US" altLang="zh-TW" dirty="0"/>
              <a:t>The advantages of Dynamic RAMs are high density, low cost, and low power so we can have a lot of them without burning a hole in our budget or our desktop.</a:t>
            </a:r>
          </a:p>
          <a:p>
            <a:r>
              <a:rPr lang="en-US" altLang="zh-TW" dirty="0"/>
              <a:t>The disadvantages of DRAM are they are slow.  Also they will forget what you tell them if you don remind them constantly (Refresh).  We will talk more about refresh later today.</a:t>
            </a:r>
          </a:p>
          <a:p>
            <a:r>
              <a:rPr lang="en-US" altLang="zh-TW" dirty="0"/>
              <a:t>SRAM only has one redeeming feature: it is fast.  Other than that, they have low density, expensive, and burn a lot of power. Oh, SRAM actually has another redeeming feature.  They will not forget what you tell them. They will keep whatever you write to them forever.</a:t>
            </a:r>
          </a:p>
          <a:p>
            <a:r>
              <a:rPr lang="en-US" altLang="zh-TW" dirty="0"/>
              <a:t>Well </a:t>
            </a:r>
            <a:r>
              <a:rPr lang="en-US" altLang="zh-TW" dirty="0" err="1"/>
              <a:t>orever?is</a:t>
            </a:r>
            <a:r>
              <a:rPr lang="en-US" altLang="zh-TW"/>
              <a:t> a long time.  So lets just say it will keep your data as long as you don pull the plug on your computer.</a:t>
            </a:r>
          </a:p>
          <a:p>
            <a:r>
              <a:rPr lang="en-US" altLang="zh-TW"/>
              <a:t>In the next two lectures, we will be focusing on DRAMs and SRAMs.</a:t>
            </a:r>
          </a:p>
          <a:p>
            <a:r>
              <a:rPr lang="en-US" altLang="zh-TW"/>
              <a:t>We will not get into disk until the Virtual Memory lecture a week from now.</a:t>
            </a:r>
          </a:p>
          <a:p>
            <a:endParaRPr lang="en-US" altLang="zh-TW"/>
          </a:p>
          <a:p>
            <a:r>
              <a:rPr lang="en-US" altLang="zh-TW"/>
              <a:t>+3 = 19 min. (X:59)</a:t>
            </a:r>
          </a:p>
          <a:p>
            <a:endParaRPr lang="en-US" altLang="zh-TW"/>
          </a:p>
          <a:p>
            <a:endParaRPr lang="zh-TW" altLang="en-US"/>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1804780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body" idx="1"/>
          </p:nvPr>
        </p:nvSpPr>
        <p:spPr>
          <a:xfrm>
            <a:off x="746125" y="3227388"/>
            <a:ext cx="8535988" cy="3057525"/>
          </a:xfrm>
          <a:noFill/>
        </p:spPr>
        <p:txBody>
          <a:bodyPr lIns="92075" tIns="46038" rIns="92075" bIns="46038"/>
          <a:lstStyle/>
          <a:p>
            <a:endParaRPr lang="en-US" altLang="zh-TW"/>
          </a:p>
        </p:txBody>
      </p:sp>
      <p:sp>
        <p:nvSpPr>
          <p:cNvPr id="144387" name="Rectangle 3"/>
          <p:cNvSpPr>
            <a:spLocks noGrp="1" noRot="1" noChangeAspect="1" noChangeArrowheads="1" noTextEdit="1"/>
          </p:cNvSpPr>
          <p:nvPr>
            <p:ph type="sldImg"/>
          </p:nvPr>
        </p:nvSpPr>
        <p:spPr>
          <a:xfrm>
            <a:off x="2686050" y="425450"/>
            <a:ext cx="4546600" cy="2557463"/>
          </a:xfrm>
          <a:ln>
            <a:noFill/>
          </a:ln>
        </p:spPr>
      </p:sp>
    </p:spTree>
    <p:extLst>
      <p:ext uri="{BB962C8B-B14F-4D97-AF65-F5344CB8AC3E}">
        <p14:creationId xmlns:p14="http://schemas.microsoft.com/office/powerpoint/2010/main" val="1819740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a:p>
          <a:p>
            <a:r>
              <a:rPr lang="en-US" altLang="zh-TW"/>
              <a:t>Y-axis is performance</a:t>
            </a:r>
          </a:p>
          <a:p>
            <a:r>
              <a:rPr lang="en-US" altLang="zh-TW"/>
              <a:t>X-axis is time</a:t>
            </a:r>
          </a:p>
          <a:p>
            <a:r>
              <a:rPr lang="en-US" altLang="zh-TW"/>
              <a:t>Latency</a:t>
            </a:r>
          </a:p>
          <a:p>
            <a:r>
              <a:rPr lang="en-US" altLang="zh-TW"/>
              <a:t>Clich? </a:t>
            </a:r>
          </a:p>
          <a:p>
            <a:r>
              <a:rPr lang="en-US" altLang="zh-TW"/>
              <a:t>Not e that x86 didn have cache on chip until 1989</a:t>
            </a:r>
          </a:p>
        </p:txBody>
      </p:sp>
      <p:sp>
        <p:nvSpPr>
          <p:cNvPr id="145411" name="Rectangle 3"/>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a:p>
          <a:p>
            <a:r>
              <a:rPr lang="en-US" altLang="zh-TW"/>
              <a:t>Y-axis is performance</a:t>
            </a:r>
          </a:p>
          <a:p>
            <a:r>
              <a:rPr lang="en-US" altLang="zh-TW"/>
              <a:t>X-axis is time</a:t>
            </a:r>
          </a:p>
          <a:p>
            <a:r>
              <a:rPr lang="en-US" altLang="zh-TW"/>
              <a:t>Latency</a:t>
            </a:r>
          </a:p>
          <a:p>
            <a:r>
              <a:rPr lang="en-US" altLang="zh-TW"/>
              <a:t>Clich? </a:t>
            </a:r>
          </a:p>
          <a:p>
            <a:r>
              <a:rPr lang="en-US" altLang="zh-TW"/>
              <a:t>Not e that x86 didn have cache on chip until 1989</a:t>
            </a:r>
          </a:p>
        </p:txBody>
      </p:sp>
      <p:sp>
        <p:nvSpPr>
          <p:cNvPr id="145411"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1374405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a:p>
          <a:p>
            <a:r>
              <a:rPr lang="en-US" altLang="zh-TW"/>
              <a:t>Y-axis is performance</a:t>
            </a:r>
          </a:p>
          <a:p>
            <a:r>
              <a:rPr lang="en-US" altLang="zh-TW"/>
              <a:t>X-axis is time</a:t>
            </a:r>
          </a:p>
          <a:p>
            <a:r>
              <a:rPr lang="en-US" altLang="zh-TW"/>
              <a:t>Latency</a:t>
            </a:r>
          </a:p>
          <a:p>
            <a:r>
              <a:rPr lang="en-US" altLang="zh-TW"/>
              <a:t>Clich? </a:t>
            </a:r>
          </a:p>
          <a:p>
            <a:r>
              <a:rPr lang="en-US" altLang="zh-TW"/>
              <a:t>Not e that x86 didn have cache on chip until 1989</a:t>
            </a:r>
          </a:p>
        </p:txBody>
      </p:sp>
      <p:sp>
        <p:nvSpPr>
          <p:cNvPr id="145411"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525795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2437344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434231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LM is programmable cache</a:t>
            </a:r>
          </a:p>
          <a:p>
            <a:r>
              <a:rPr lang="en-US" altLang="zh-TW" dirty="0"/>
              <a:t>How about vector registers?</a:t>
            </a:r>
            <a:endParaRPr lang="zh-TW" altLang="en-US" dirty="0"/>
          </a:p>
        </p:txBody>
      </p:sp>
      <p:sp>
        <p:nvSpPr>
          <p:cNvPr id="148483" name="Rectangle 3"/>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LM is programmable cache.</a:t>
            </a:r>
          </a:p>
          <a:p>
            <a:r>
              <a:rPr lang="en-US" altLang="zh-TW" dirty="0"/>
              <a:t>How about vector registers?</a:t>
            </a:r>
            <a:endParaRPr lang="zh-TW" altLang="en-US" dirty="0"/>
          </a:p>
        </p:txBody>
      </p:sp>
      <p:sp>
        <p:nvSpPr>
          <p:cNvPr id="148483"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1042432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LM is programmable cache.</a:t>
            </a:r>
          </a:p>
          <a:p>
            <a:r>
              <a:rPr lang="en-US" altLang="zh-TW" dirty="0"/>
              <a:t>How about vector registers?</a:t>
            </a:r>
            <a:endParaRPr lang="zh-TW" altLang="en-US" dirty="0"/>
          </a:p>
        </p:txBody>
      </p:sp>
      <p:sp>
        <p:nvSpPr>
          <p:cNvPr id="148483"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40534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149507" name="Rectangle 3"/>
          <p:cNvSpPr>
            <a:spLocks noGrp="1" noChangeArrowheads="1"/>
          </p:cNvSpPr>
          <p:nvPr>
            <p:ph type="body" idx="1"/>
          </p:nvPr>
        </p:nvSpPr>
        <p:spPr>
          <a:xfrm>
            <a:off x="746125" y="3227388"/>
            <a:ext cx="8535988" cy="3057525"/>
          </a:xfrm>
          <a:noFill/>
        </p:spPr>
        <p:txBody>
          <a:bodyPr lIns="92075" tIns="46038" rIns="92075" bIns="46038"/>
          <a:lstStyle/>
          <a:p>
            <a:r>
              <a:rPr lang="zh-CN" altLang="en-US" dirty="0"/>
              <a:t>注意通常数据的访问不会跨太多级别，比如</a:t>
            </a:r>
            <a:r>
              <a:rPr lang="en-US" altLang="zh-CN" dirty="0"/>
              <a:t>cache</a:t>
            </a:r>
            <a:r>
              <a:rPr lang="zh-CN" altLang="en-US" dirty="0"/>
              <a:t>不会直接访问</a:t>
            </a:r>
            <a:r>
              <a:rPr lang="en-US" altLang="zh-CN" dirty="0"/>
              <a:t>disk</a:t>
            </a:r>
            <a:r>
              <a:rPr lang="zh-CN" altLang="en-US" dirty="0"/>
              <a:t>上的</a:t>
            </a:r>
            <a:r>
              <a:rPr lang="en-US" altLang="zh-CN" dirty="0"/>
              <a:t>data</a:t>
            </a:r>
            <a:r>
              <a:rPr lang="zh-CN" altLang="en-US" dirty="0"/>
              <a:t>。</a:t>
            </a:r>
            <a:r>
              <a:rPr lang="en-US" altLang="zh-CN" dirty="0"/>
              <a:t>But a TLB miss may trigger a page fault…</a:t>
            </a:r>
          </a:p>
          <a:p>
            <a:endParaRPr lang="zh-CN" altLang="en-US" dirty="0"/>
          </a:p>
        </p:txBody>
      </p:sp>
    </p:spTree>
    <p:extLst>
      <p:ext uri="{BB962C8B-B14F-4D97-AF65-F5344CB8AC3E}">
        <p14:creationId xmlns:p14="http://schemas.microsoft.com/office/powerpoint/2010/main" val="1946506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Example: IBM 360/91 vs 360/85</a:t>
            </a:r>
            <a:endParaRPr lang="zh-TW" altLang="en-US" dirty="0"/>
          </a:p>
        </p:txBody>
      </p:sp>
      <p:sp>
        <p:nvSpPr>
          <p:cNvPr id="151555" name="Rectangle 3"/>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Let summarize today lecture. The first thing we covered is the principle of locality.</a:t>
            </a:r>
          </a:p>
          <a:p>
            <a:r>
              <a:rPr lang="en-US" altLang="zh-TW" dirty="0"/>
              <a:t>There are two types of locality: temporal, or locality of time and spatial, locality of space.</a:t>
            </a:r>
          </a:p>
          <a:p>
            <a:r>
              <a:rPr lang="en-US" altLang="zh-TW" dirty="0"/>
              <a:t>We talked about memory system design.</a:t>
            </a:r>
          </a:p>
          <a:p>
            <a:r>
              <a:rPr lang="en-US" altLang="zh-TW" dirty="0"/>
              <a:t>The key idea of memory system design is to present the user with as much memory as possible in the cheapest technology while by taking advantage of the principle of locality, create an illusion that the average access time is close to that of the fastest technology.</a:t>
            </a:r>
          </a:p>
          <a:p>
            <a:r>
              <a:rPr lang="en-US" altLang="zh-TW" dirty="0"/>
              <a:t>As far as Random Access technology is concerned, we concentrate on 2: DRAM and SRAM.</a:t>
            </a:r>
          </a:p>
          <a:p>
            <a:r>
              <a:rPr lang="en-US" altLang="zh-TW" dirty="0"/>
              <a:t>DRAM is slow but cheap and dense so is a good choice for presenting the use with a BIG memory system.</a:t>
            </a:r>
          </a:p>
          <a:p>
            <a:r>
              <a:rPr lang="en-US" altLang="zh-TW" dirty="0"/>
              <a:t>SRAM, on the other hand, is fast but it is also expensive both in terms of cost and power, so it is a good choice for providing the user with a fast access time.</a:t>
            </a:r>
          </a:p>
          <a:p>
            <a:r>
              <a:rPr lang="en-US" altLang="zh-TW" dirty="0"/>
              <a:t>I have already showed you how DRAMs are used to construct the main memory for the SPARCstation 20.</a:t>
            </a:r>
          </a:p>
          <a:p>
            <a:r>
              <a:rPr lang="en-US" altLang="zh-TW" dirty="0"/>
              <a:t>On Friday, we will talk about caches.</a:t>
            </a:r>
          </a:p>
          <a:p>
            <a:endParaRPr lang="zh-TW" altLang="en-US" dirty="0"/>
          </a:p>
        </p:txBody>
      </p:sp>
      <p:sp>
        <p:nvSpPr>
          <p:cNvPr id="151555"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17824502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37</a:t>
            </a:fld>
            <a:endParaRPr lang="zh-TW" altLang="en-US"/>
          </a:p>
        </p:txBody>
      </p:sp>
    </p:spTree>
    <p:extLst>
      <p:ext uri="{BB962C8B-B14F-4D97-AF65-F5344CB8AC3E}">
        <p14:creationId xmlns:p14="http://schemas.microsoft.com/office/powerpoint/2010/main" val="3076640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questions we ask for accessing a table structure</a:t>
            </a:r>
          </a:p>
          <a:p>
            <a:r>
              <a:rPr lang="en-US" dirty="0"/>
              <a:t>Difference: this is cache: temporary space, data come and goes. It is a fix, small space. If no room for a new one, replace the old one.</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38</a:t>
            </a:fld>
            <a:endParaRPr lang="zh-TW" altLang="en-US"/>
          </a:p>
        </p:txBody>
      </p:sp>
    </p:spTree>
    <p:extLst>
      <p:ext uri="{BB962C8B-B14F-4D97-AF65-F5344CB8AC3E}">
        <p14:creationId xmlns:p14="http://schemas.microsoft.com/office/powerpoint/2010/main" val="38112284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idx="1"/>
          </p:nvPr>
        </p:nvSpPr>
        <p:spPr>
          <a:xfrm>
            <a:off x="1320800" y="3227388"/>
            <a:ext cx="7264400" cy="3057525"/>
          </a:xfrm>
          <a:noFill/>
        </p:spPr>
        <p:txBody>
          <a:bodyPr lIns="90488" tIns="44450" rIns="90488" bIns="44450"/>
          <a:lstStyle/>
          <a:p>
            <a:endParaRPr lang="zh-CN" altLang="en-US" dirty="0"/>
          </a:p>
        </p:txBody>
      </p:sp>
      <p:sp>
        <p:nvSpPr>
          <p:cNvPr id="154627"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extLst>
      <p:ext uri="{BB962C8B-B14F-4D97-AF65-F5344CB8AC3E}">
        <p14:creationId xmlns:p14="http://schemas.microsoft.com/office/powerpoint/2010/main" val="5512360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idx="1"/>
          </p:nvPr>
        </p:nvSpPr>
        <p:spPr>
          <a:xfrm>
            <a:off x="1320800" y="3227388"/>
            <a:ext cx="7264400" cy="3057525"/>
          </a:xfrm>
          <a:noFill/>
        </p:spPr>
        <p:txBody>
          <a:bodyPr lIns="90488" tIns="44450" rIns="90488" bIns="44450"/>
          <a:lstStyle/>
          <a:p>
            <a:endParaRPr lang="zh-CN" altLang="en-US" dirty="0"/>
          </a:p>
        </p:txBody>
      </p:sp>
      <p:sp>
        <p:nvSpPr>
          <p:cNvPr id="154627"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extLst>
      <p:ext uri="{BB962C8B-B14F-4D97-AF65-F5344CB8AC3E}">
        <p14:creationId xmlns:p14="http://schemas.microsoft.com/office/powerpoint/2010/main" val="6342743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2687638" y="509588"/>
            <a:ext cx="4532312" cy="2549525"/>
          </a:xfrm>
        </p:spPr>
      </p:sp>
      <p:sp>
        <p:nvSpPr>
          <p:cNvPr id="155651" name="Rectangle 3"/>
          <p:cNvSpPr>
            <a:spLocks noGrp="1" noChangeArrowheads="1"/>
          </p:cNvSpPr>
          <p:nvPr>
            <p:ph type="body" idx="1"/>
          </p:nvPr>
        </p:nvSpPr>
        <p:spPr>
          <a:xfrm>
            <a:off x="1320800" y="3227388"/>
            <a:ext cx="7264400" cy="3057525"/>
          </a:xfrm>
          <a:noFill/>
        </p:spPr>
        <p:txBody>
          <a:bodyPr/>
          <a:lstStyle/>
          <a:p>
            <a:r>
              <a:rPr lang="en-US" altLang="zh-TW"/>
              <a:t>tag</a:t>
            </a:r>
            <a:r>
              <a:rPr lang="zh-CN" altLang="en-US"/>
              <a:t>用来标识地址信息，</a:t>
            </a:r>
            <a:r>
              <a:rPr lang="en-US" altLang="zh-CN"/>
              <a:t>valid</a:t>
            </a:r>
            <a:r>
              <a:rPr lang="zh-CN" altLang="en-US"/>
              <a:t>表示用来标识当前的数据是否有效</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2687638" y="509588"/>
            <a:ext cx="4532312" cy="2549525"/>
          </a:xfrm>
        </p:spPr>
      </p:sp>
      <p:sp>
        <p:nvSpPr>
          <p:cNvPr id="155651" name="Rectangle 3"/>
          <p:cNvSpPr>
            <a:spLocks noGrp="1" noChangeArrowheads="1"/>
          </p:cNvSpPr>
          <p:nvPr>
            <p:ph type="body" idx="1"/>
          </p:nvPr>
        </p:nvSpPr>
        <p:spPr>
          <a:xfrm>
            <a:off x="1320800" y="3227388"/>
            <a:ext cx="7264400" cy="3057525"/>
          </a:xfrm>
          <a:noFill/>
        </p:spPr>
        <p:txBody>
          <a:bodyPr/>
          <a:lstStyle/>
          <a:p>
            <a:r>
              <a:rPr lang="en-US" altLang="zh-TW"/>
              <a:t>tag</a:t>
            </a:r>
            <a:r>
              <a:rPr lang="zh-CN" altLang="en-US"/>
              <a:t>用来标识地址信息，</a:t>
            </a:r>
            <a:r>
              <a:rPr lang="en-US" altLang="zh-CN"/>
              <a:t>valid</a:t>
            </a:r>
            <a:r>
              <a:rPr lang="zh-CN" altLang="en-US"/>
              <a:t>表示用来标识当前的数据是否有效</a:t>
            </a:r>
          </a:p>
        </p:txBody>
      </p:sp>
    </p:spTree>
    <p:extLst>
      <p:ext uri="{BB962C8B-B14F-4D97-AF65-F5344CB8AC3E}">
        <p14:creationId xmlns:p14="http://schemas.microsoft.com/office/powerpoint/2010/main" val="10782815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body" idx="1"/>
          </p:nvPr>
        </p:nvSpPr>
        <p:spPr>
          <a:xfrm>
            <a:off x="1320800" y="3227388"/>
            <a:ext cx="7264400" cy="3057525"/>
          </a:xfrm>
          <a:noFill/>
        </p:spPr>
        <p:txBody>
          <a:bodyPr lIns="90488" tIns="44450" rIns="90488" bIns="44450"/>
          <a:lstStyle/>
          <a:p>
            <a:r>
              <a:rPr lang="zh-CN" altLang="zh-TW"/>
              <a:t>这里就是一个</a:t>
            </a:r>
            <a:r>
              <a:rPr lang="en-US" altLang="zh-CN"/>
              <a:t>illustration</a:t>
            </a:r>
            <a:r>
              <a:rPr lang="zh-CN" altLang="en-US"/>
              <a:t>，跟后面的那个</a:t>
            </a:r>
            <a:r>
              <a:rPr lang="en-US" altLang="zh-CN"/>
              <a:t>example</a:t>
            </a:r>
            <a:r>
              <a:rPr lang="zh-CN" altLang="en-US"/>
              <a:t>没有关系。</a:t>
            </a:r>
          </a:p>
        </p:txBody>
      </p:sp>
      <p:sp>
        <p:nvSpPr>
          <p:cNvPr id="183299" name="Rectangle 3"/>
          <p:cNvSpPr>
            <a:spLocks noGrp="1" noRot="1" noChangeAspect="1" noChangeArrowheads="1" noTextEdit="1"/>
          </p:cNvSpPr>
          <p:nvPr>
            <p:ph type="sldImg"/>
          </p:nvPr>
        </p:nvSpPr>
        <p:spPr>
          <a:xfrm>
            <a:off x="2578100" y="603250"/>
            <a:ext cx="4532313" cy="2549525"/>
          </a:xfrm>
          <a:noFill/>
          <a:ln cap="flat">
            <a:solidFill>
              <a:schemeClr val="tx1"/>
            </a:solid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spect="1" noChangeArrowheads="1" noTextEdit="1"/>
          </p:cNvSpPr>
          <p:nvPr>
            <p:ph type="sldImg"/>
          </p:nvPr>
        </p:nvSpPr>
        <p:spPr>
          <a:xfrm>
            <a:off x="2687638" y="509588"/>
            <a:ext cx="4532312" cy="2549525"/>
          </a:xfrm>
        </p:spPr>
      </p:sp>
      <p:sp>
        <p:nvSpPr>
          <p:cNvPr id="22528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err="1">
                <a:solidFill>
                  <a:srgbClr val="E3E3E3"/>
                </a:solidFill>
                <a:effectLst/>
                <a:latin typeface="Google Sans"/>
              </a:rPr>
              <a:t>Intrinsity</a:t>
            </a:r>
            <a:r>
              <a:rPr lang="en-US" b="0" i="0" dirty="0">
                <a:solidFill>
                  <a:srgbClr val="E3E3E3"/>
                </a:solidFill>
                <a:effectLst/>
                <a:latin typeface="Google Sans"/>
              </a:rPr>
              <a:t> is a company, it was acquired by Apple in 2010</a:t>
            </a:r>
          </a:p>
          <a:p>
            <a:r>
              <a:rPr lang="en-US" b="0" i="0" dirty="0">
                <a:solidFill>
                  <a:srgbClr val="E3E3E3"/>
                </a:solidFill>
                <a:effectLst/>
                <a:latin typeface="Google Sans"/>
              </a:rPr>
              <a:t>Designed for signal processing, graphics, and scientific computing</a:t>
            </a:r>
            <a:endParaRPr lang="zh-TW" altLang="en-US" dirty="0"/>
          </a:p>
        </p:txBody>
      </p:sp>
    </p:spTree>
    <p:extLst>
      <p:ext uri="{BB962C8B-B14F-4D97-AF65-F5344CB8AC3E}">
        <p14:creationId xmlns:p14="http://schemas.microsoft.com/office/powerpoint/2010/main" val="35812624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spect="1" noChangeArrowheads="1" noTextEdit="1"/>
          </p:cNvSpPr>
          <p:nvPr>
            <p:ph type="sldImg"/>
          </p:nvPr>
        </p:nvSpPr>
        <p:spPr>
          <a:xfrm>
            <a:off x="2687638" y="509588"/>
            <a:ext cx="4532312" cy="2549525"/>
          </a:xfrm>
        </p:spPr>
      </p:sp>
      <p:sp>
        <p:nvSpPr>
          <p:cNvPr id="22528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err="1">
                <a:solidFill>
                  <a:srgbClr val="E3E3E3"/>
                </a:solidFill>
                <a:effectLst/>
                <a:latin typeface="Google Sans"/>
              </a:rPr>
              <a:t>Intrinsity</a:t>
            </a:r>
            <a:r>
              <a:rPr lang="en-US" b="0" i="0" dirty="0">
                <a:solidFill>
                  <a:srgbClr val="E3E3E3"/>
                </a:solidFill>
                <a:effectLst/>
                <a:latin typeface="Google Sans"/>
              </a:rPr>
              <a:t> is a company, it was acquired by Apple in 2010</a:t>
            </a:r>
          </a:p>
          <a:p>
            <a:r>
              <a:rPr lang="en-US" b="0" i="0" dirty="0">
                <a:solidFill>
                  <a:srgbClr val="E3E3E3"/>
                </a:solidFill>
                <a:effectLst/>
                <a:latin typeface="Google Sans"/>
              </a:rPr>
              <a:t>Designed for signal processing, graphics, and scientific computing</a:t>
            </a:r>
            <a:endParaRPr lang="zh-TW"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spect="1" noChangeArrowheads="1" noTextEdit="1"/>
          </p:cNvSpPr>
          <p:nvPr>
            <p:ph type="sldImg"/>
          </p:nvPr>
        </p:nvSpPr>
        <p:spPr>
          <a:xfrm>
            <a:off x="2687638" y="509588"/>
            <a:ext cx="4532312" cy="2549525"/>
          </a:xfrm>
        </p:spPr>
      </p:sp>
      <p:sp>
        <p:nvSpPr>
          <p:cNvPr id="22528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err="1">
                <a:solidFill>
                  <a:srgbClr val="E3E3E3"/>
                </a:solidFill>
                <a:effectLst/>
                <a:latin typeface="Google Sans"/>
              </a:rPr>
              <a:t>Intrinsity</a:t>
            </a:r>
            <a:r>
              <a:rPr lang="en-US" b="0" i="0" dirty="0">
                <a:solidFill>
                  <a:srgbClr val="E3E3E3"/>
                </a:solidFill>
                <a:effectLst/>
                <a:latin typeface="Google Sans"/>
              </a:rPr>
              <a:t> is a company, it was acquired by Apple in 2010</a:t>
            </a:r>
          </a:p>
          <a:p>
            <a:r>
              <a:rPr lang="en-US" b="0" i="0" dirty="0">
                <a:solidFill>
                  <a:srgbClr val="E3E3E3"/>
                </a:solidFill>
                <a:effectLst/>
                <a:latin typeface="Google Sans"/>
              </a:rPr>
              <a:t>Designed for signal processing, graphics, and scientific computing</a:t>
            </a:r>
            <a:endParaRPr lang="zh-TW" altLang="en-US" dirty="0"/>
          </a:p>
        </p:txBody>
      </p:sp>
    </p:spTree>
    <p:extLst>
      <p:ext uri="{BB962C8B-B14F-4D97-AF65-F5344CB8AC3E}">
        <p14:creationId xmlns:p14="http://schemas.microsoft.com/office/powerpoint/2010/main" val="2191177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Rot="1" noChangeAspect="1" noChangeArrowheads="1" noTextEdit="1"/>
          </p:cNvSpPr>
          <p:nvPr>
            <p:ph type="sldImg"/>
          </p:nvPr>
        </p:nvSpPr>
        <p:spPr>
          <a:xfrm>
            <a:off x="2687638" y="509588"/>
            <a:ext cx="4532312" cy="2549525"/>
          </a:xfrm>
        </p:spPr>
      </p:sp>
      <p:sp>
        <p:nvSpPr>
          <p:cNvPr id="22733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xfrm>
            <a:off x="2687638" y="509588"/>
            <a:ext cx="4532312" cy="2549525"/>
          </a:xfrm>
        </p:spPr>
      </p:sp>
      <p:sp>
        <p:nvSpPr>
          <p:cNvPr id="164867" name="Rectangle 3"/>
          <p:cNvSpPr>
            <a:spLocks noGrp="1" noChangeArrowheads="1"/>
          </p:cNvSpPr>
          <p:nvPr>
            <p:ph type="body" idx="1"/>
          </p:nvPr>
        </p:nvSpPr>
        <p:spPr>
          <a:xfrm>
            <a:off x="1320800" y="3227388"/>
            <a:ext cx="7264400" cy="3057525"/>
          </a:xfrm>
          <a:noFill/>
        </p:spPr>
        <p:txBody>
          <a:bodyPr/>
          <a:lstStyle/>
          <a:p>
            <a:r>
              <a:rPr lang="en-US" altLang="zh-TW" dirty="0"/>
              <a:t>Lower temporal locality</a:t>
            </a:r>
          </a:p>
          <a:p>
            <a:r>
              <a:rPr lang="en-US" altLang="zh-TW" dirty="0"/>
              <a:t>Common bus widths are 64-128b</a:t>
            </a:r>
          </a:p>
          <a:p>
            <a:r>
              <a:rPr lang="en-US" altLang="zh-TW" dirty="0"/>
              <a:t>GPU has wider bus: 256-512</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61</a:t>
            </a:fld>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p:spPr>
      </p:sp>
      <p:sp>
        <p:nvSpPr>
          <p:cNvPr id="166915" name="Rectangle 3"/>
          <p:cNvSpPr>
            <a:spLocks noGrp="1" noChangeArrowheads="1"/>
          </p:cNvSpPr>
          <p:nvPr>
            <p:ph type="body" idx="1"/>
          </p:nvPr>
        </p:nvSpPr>
        <p:spPr>
          <a:xfrm>
            <a:off x="1320800" y="3227388"/>
            <a:ext cx="7264400" cy="3057525"/>
          </a:xfrm>
          <a:noFill/>
        </p:spPr>
        <p:txBody>
          <a:bodyPr/>
          <a:lstStyle/>
          <a:p>
            <a:r>
              <a:rPr lang="en-US" altLang="zh-TW" dirty="0"/>
              <a:t>Modern caches are non-blocking: stall on miss or stall-on use</a:t>
            </a:r>
            <a:endParaRPr lang="zh-TW"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p:spPr>
      </p:sp>
      <p:sp>
        <p:nvSpPr>
          <p:cNvPr id="166915" name="Rectangle 3"/>
          <p:cNvSpPr>
            <a:spLocks noGrp="1" noChangeArrowheads="1"/>
          </p:cNvSpPr>
          <p:nvPr>
            <p:ph type="body" idx="1"/>
          </p:nvPr>
        </p:nvSpPr>
        <p:spPr>
          <a:xfrm>
            <a:off x="1320800" y="3227388"/>
            <a:ext cx="7264400" cy="3057525"/>
          </a:xfrm>
          <a:noFill/>
        </p:spPr>
        <p:txBody>
          <a:bodyPr/>
          <a:lstStyle/>
          <a:p>
            <a:r>
              <a:rPr lang="en-US" altLang="zh-TW" dirty="0"/>
              <a:t>Modern caches are non-blocking: stall on miss or stall-on use</a:t>
            </a:r>
            <a:endParaRPr lang="zh-TW" altLang="en-US" dirty="0"/>
          </a:p>
        </p:txBody>
      </p:sp>
    </p:spTree>
    <p:extLst>
      <p:ext uri="{BB962C8B-B14F-4D97-AF65-F5344CB8AC3E}">
        <p14:creationId xmlns:p14="http://schemas.microsoft.com/office/powerpoint/2010/main" val="9832905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p:spPr>
      </p:sp>
      <p:sp>
        <p:nvSpPr>
          <p:cNvPr id="166915" name="Rectangle 3"/>
          <p:cNvSpPr>
            <a:spLocks noGrp="1" noChangeArrowheads="1"/>
          </p:cNvSpPr>
          <p:nvPr>
            <p:ph type="body" idx="1"/>
          </p:nvPr>
        </p:nvSpPr>
        <p:spPr>
          <a:xfrm>
            <a:off x="1320800" y="3227388"/>
            <a:ext cx="7264400" cy="3057525"/>
          </a:xfrm>
          <a:noFill/>
        </p:spPr>
        <p:txBody>
          <a:bodyPr/>
          <a:lstStyle/>
          <a:p>
            <a:r>
              <a:rPr lang="en-US" altLang="zh-TW" dirty="0"/>
              <a:t>Modern caches are non-blocking: stall on miss or stall-on use</a:t>
            </a:r>
            <a:endParaRPr lang="zh-TW" altLang="en-US" dirty="0"/>
          </a:p>
        </p:txBody>
      </p:sp>
    </p:spTree>
    <p:extLst>
      <p:ext uri="{BB962C8B-B14F-4D97-AF65-F5344CB8AC3E}">
        <p14:creationId xmlns:p14="http://schemas.microsoft.com/office/powerpoint/2010/main" val="35917638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p:spPr>
      </p:sp>
      <p:sp>
        <p:nvSpPr>
          <p:cNvPr id="166915" name="Rectangle 3"/>
          <p:cNvSpPr>
            <a:spLocks noGrp="1" noChangeArrowheads="1"/>
          </p:cNvSpPr>
          <p:nvPr>
            <p:ph type="body" idx="1"/>
          </p:nvPr>
        </p:nvSpPr>
        <p:spPr>
          <a:xfrm>
            <a:off x="1320800" y="3227388"/>
            <a:ext cx="7264400" cy="3057525"/>
          </a:xfrm>
          <a:noFill/>
        </p:spPr>
        <p:txBody>
          <a:bodyPr/>
          <a:lstStyle/>
          <a:p>
            <a:r>
              <a:rPr lang="en-US" altLang="zh-TW" dirty="0"/>
              <a:t>Modern caches are non-blocking: stall on miss or stall-on use</a:t>
            </a:r>
            <a:endParaRPr lang="zh-TW" altLang="en-US" dirty="0"/>
          </a:p>
        </p:txBody>
      </p:sp>
    </p:spTree>
    <p:extLst>
      <p:ext uri="{BB962C8B-B14F-4D97-AF65-F5344CB8AC3E}">
        <p14:creationId xmlns:p14="http://schemas.microsoft.com/office/powerpoint/2010/main" val="16872268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p:spPr>
      </p:sp>
      <p:sp>
        <p:nvSpPr>
          <p:cNvPr id="166915" name="Rectangle 3"/>
          <p:cNvSpPr>
            <a:spLocks noGrp="1" noChangeArrowheads="1"/>
          </p:cNvSpPr>
          <p:nvPr>
            <p:ph type="body" idx="1"/>
          </p:nvPr>
        </p:nvSpPr>
        <p:spPr>
          <a:xfrm>
            <a:off x="1320800" y="3227388"/>
            <a:ext cx="7264400" cy="3057525"/>
          </a:xfrm>
          <a:noFill/>
        </p:spPr>
        <p:txBody>
          <a:bodyPr/>
          <a:lstStyle/>
          <a:p>
            <a:r>
              <a:rPr lang="en-US" altLang="zh-TW" dirty="0"/>
              <a:t>GPU would prefetch for the next 10-12 instruction cache lines</a:t>
            </a:r>
            <a:endParaRPr lang="zh-TW"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p:spPr>
      </p:sp>
      <p:sp>
        <p:nvSpPr>
          <p:cNvPr id="166915" name="Rectangle 3"/>
          <p:cNvSpPr>
            <a:spLocks noGrp="1" noChangeArrowheads="1"/>
          </p:cNvSpPr>
          <p:nvPr>
            <p:ph type="body" idx="1"/>
          </p:nvPr>
        </p:nvSpPr>
        <p:spPr>
          <a:xfrm>
            <a:off x="1320800" y="3227388"/>
            <a:ext cx="7264400" cy="3057525"/>
          </a:xfrm>
          <a:noFill/>
        </p:spPr>
        <p:txBody>
          <a:bodyPr/>
          <a:lstStyle/>
          <a:p>
            <a:r>
              <a:rPr lang="en-US" altLang="zh-TW" dirty="0"/>
              <a:t>GPU would prefetch for the next 10-12 instruction cache lines</a:t>
            </a:r>
            <a:endParaRPr lang="zh-TW" altLang="en-US" dirty="0"/>
          </a:p>
        </p:txBody>
      </p:sp>
    </p:spTree>
    <p:extLst>
      <p:ext uri="{BB962C8B-B14F-4D97-AF65-F5344CB8AC3E}">
        <p14:creationId xmlns:p14="http://schemas.microsoft.com/office/powerpoint/2010/main" val="29583239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2687638" y="509588"/>
            <a:ext cx="4532312" cy="2549525"/>
          </a:xfrm>
        </p:spPr>
      </p:sp>
      <p:sp>
        <p:nvSpPr>
          <p:cNvPr id="14745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分为直写法 </a:t>
            </a:r>
            <a:r>
              <a:rPr lang="en-US" altLang="zh-CN" dirty="0"/>
              <a:t>write through</a:t>
            </a:r>
            <a:r>
              <a:rPr lang="zh-CN" altLang="en-US" dirty="0"/>
              <a:t>和 写缓冲 </a:t>
            </a:r>
            <a:r>
              <a:rPr lang="en-US" altLang="zh-CN" dirty="0"/>
              <a:t>write buffer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body" idx="1"/>
          </p:nvPr>
        </p:nvSpPr>
        <p:spPr>
          <a:xfrm>
            <a:off x="1319213" y="3227388"/>
            <a:ext cx="7265987" cy="3057525"/>
          </a:xfrm>
          <a:noFill/>
        </p:spPr>
        <p:txBody>
          <a:bodyPr lIns="88900" tIns="44450" rIns="88900" bIns="44450"/>
          <a:lstStyle/>
          <a:p>
            <a:pPr defTabSz="877570"/>
            <a:r>
              <a:rPr lang="zh-CN" altLang="en-US"/>
              <a:t>一个比较麻烦的情况是</a:t>
            </a:r>
            <a:r>
              <a:rPr lang="en-US" altLang="zh-CN"/>
              <a:t>store instruction</a:t>
            </a:r>
            <a:r>
              <a:rPr lang="zh-CN" altLang="en-US"/>
              <a:t>的频率要比写进主存的频率要快，那么这个时候</a:t>
            </a:r>
            <a:r>
              <a:rPr lang="en-US" altLang="zh-CN"/>
              <a:t>write buffer</a:t>
            </a:r>
            <a:r>
              <a:rPr lang="zh-CN" altLang="en-US"/>
              <a:t>就会填满，这个时候</a:t>
            </a:r>
            <a:r>
              <a:rPr lang="en-US" altLang="zh-CN"/>
              <a:t>CPU</a:t>
            </a:r>
            <a:r>
              <a:rPr lang="zh-CN" altLang="en-US"/>
              <a:t>发生阻塞， </a:t>
            </a:r>
            <a:r>
              <a:rPr lang="en-US" altLang="zh-CN"/>
              <a:t>stalled</a:t>
            </a:r>
            <a:endParaRPr lang="en-US" altLang="zh-TW"/>
          </a:p>
          <a:p>
            <a:pPr defTabSz="877570"/>
            <a:endParaRPr lang="en-US" altLang="zh-TW"/>
          </a:p>
          <a:p>
            <a:pPr defTabSz="877570"/>
            <a:r>
              <a:rPr lang="en-US" altLang="zh-TW"/>
              <a:t>You are right, memory is too slow.  We really didn't write to the memory directly.  We are writing to a write buffer.</a:t>
            </a:r>
          </a:p>
          <a:p>
            <a:pPr defTabSz="877570"/>
            <a:r>
              <a:rPr lang="en-US" altLang="zh-TW"/>
              <a:t>Once the data is written into the write buffer and assuming a cache hit, the CPU is done with the write. The memory controller will then move the write buffer contents to the real memory  behind the scene.</a:t>
            </a:r>
          </a:p>
          <a:p>
            <a:pPr defTabSz="877570"/>
            <a:r>
              <a:rPr lang="en-US" altLang="zh-TW"/>
              <a:t>The write buffer works as long as the frequency of store is not too high.  Notice here, I am referring to the frequency with respect to time, not with respect to number of instructions.</a:t>
            </a:r>
          </a:p>
          <a:p>
            <a:pPr defTabSz="877570"/>
            <a:r>
              <a:rPr lang="en-US" altLang="zh-TW"/>
              <a:t>Remember the DRAM cycle time we talked about last time.  It sets the upper limit on how frequent you can write to the main memory.</a:t>
            </a:r>
          </a:p>
          <a:p>
            <a:pPr defTabSz="877570"/>
            <a:r>
              <a:rPr lang="en-US" altLang="zh-TW"/>
              <a:t>If the store are too close together or the CPU time is so much faster than the DRAM cycle time, you can end up overflowing the write buffer and the CPU must stop and wait.</a:t>
            </a:r>
          </a:p>
          <a:p>
            <a:pPr defTabSz="877570"/>
            <a:endParaRPr lang="en-US" altLang="zh-TW"/>
          </a:p>
          <a:p>
            <a:pPr defTabSz="877570"/>
            <a:r>
              <a:rPr lang="en-US" altLang="zh-TW"/>
              <a:t>+2 = 60 min. (Y:40)</a:t>
            </a:r>
          </a:p>
        </p:txBody>
      </p:sp>
      <p:sp>
        <p:nvSpPr>
          <p:cNvPr id="168963" name="Rectangle 3"/>
          <p:cNvSpPr>
            <a:spLocks noGrp="1" noRot="1" noChangeAspect="1" noChangeArrowheads="1" noTextEdit="1"/>
          </p:cNvSpPr>
          <p:nvPr>
            <p:ph type="sldImg"/>
          </p:nvPr>
        </p:nvSpPr>
        <p:spPr>
          <a:xfrm>
            <a:off x="2709863" y="438150"/>
            <a:ext cx="4506912" cy="2536825"/>
          </a:xfrm>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xfrm>
            <a:off x="2687638" y="509588"/>
            <a:ext cx="4532312" cy="2549525"/>
          </a:xfrm>
        </p:spPr>
      </p:sp>
      <p:sp>
        <p:nvSpPr>
          <p:cNvPr id="169987" name="Rectangle 3"/>
          <p:cNvSpPr>
            <a:spLocks noGrp="1" noChangeArrowheads="1"/>
          </p:cNvSpPr>
          <p:nvPr>
            <p:ph type="body" idx="1"/>
          </p:nvPr>
        </p:nvSpPr>
        <p:spPr>
          <a:xfrm>
            <a:off x="1320800" y="3227388"/>
            <a:ext cx="7264400" cy="3057525"/>
          </a:xfrm>
          <a:noFill/>
        </p:spPr>
        <p:txBody>
          <a:bodyPr/>
          <a:lstStyle/>
          <a:p>
            <a:r>
              <a:rPr lang="en-US" altLang="zh-TW" dirty="0"/>
              <a:t>Some existing solutions: ECC, battery backup, duplicated cache, NVM as cache</a:t>
            </a:r>
            <a:endParaRPr lang="zh-TW"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xfrm>
            <a:off x="2687638" y="509588"/>
            <a:ext cx="4532312" cy="2549525"/>
          </a:xfrm>
        </p:spPr>
      </p:sp>
      <p:sp>
        <p:nvSpPr>
          <p:cNvPr id="169987" name="Rectangle 3"/>
          <p:cNvSpPr>
            <a:spLocks noGrp="1" noChangeArrowheads="1"/>
          </p:cNvSpPr>
          <p:nvPr>
            <p:ph type="body" idx="1"/>
          </p:nvPr>
        </p:nvSpPr>
        <p:spPr>
          <a:xfrm>
            <a:off x="1320800" y="3227388"/>
            <a:ext cx="7264400" cy="3057525"/>
          </a:xfrm>
          <a:noFill/>
        </p:spPr>
        <p:txBody>
          <a:bodyPr/>
          <a:lstStyle/>
          <a:p>
            <a:r>
              <a:rPr lang="en-US" altLang="zh-TW" dirty="0"/>
              <a:t>Some existing solutions: ECC, battery backup, duplicated cache, NVM as cache</a:t>
            </a:r>
            <a:endParaRPr lang="zh-TW" altLang="en-US" dirty="0"/>
          </a:p>
        </p:txBody>
      </p:sp>
    </p:spTree>
    <p:extLst>
      <p:ext uri="{BB962C8B-B14F-4D97-AF65-F5344CB8AC3E}">
        <p14:creationId xmlns:p14="http://schemas.microsoft.com/office/powerpoint/2010/main" val="25461851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xfrm>
            <a:off x="2687638" y="509588"/>
            <a:ext cx="4532312" cy="2549525"/>
          </a:xfrm>
        </p:spPr>
      </p:sp>
      <p:sp>
        <p:nvSpPr>
          <p:cNvPr id="171011" name="Rectangle 3"/>
          <p:cNvSpPr>
            <a:spLocks noGrp="1" noChangeArrowheads="1"/>
          </p:cNvSpPr>
          <p:nvPr>
            <p:ph type="body" idx="1"/>
          </p:nvPr>
        </p:nvSpPr>
        <p:spPr>
          <a:xfrm>
            <a:off x="1320800" y="3227388"/>
            <a:ext cx="7264400" cy="3057525"/>
          </a:xfrm>
          <a:noFill/>
        </p:spPr>
        <p:txBody>
          <a:bodyPr/>
          <a:lstStyle/>
          <a:p>
            <a:r>
              <a:rPr lang="en-US" altLang="zh-TW" dirty="0"/>
              <a:t>We usually do not worry about write-allocate or no-allocate. The commonly used cache is copy back cache.</a:t>
            </a:r>
            <a:endParaRPr lang="zh-TW"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xfrm>
            <a:off x="2687638" y="509588"/>
            <a:ext cx="4532312" cy="2549525"/>
          </a:xfrm>
        </p:spPr>
      </p:sp>
      <p:sp>
        <p:nvSpPr>
          <p:cNvPr id="171011" name="Rectangle 3"/>
          <p:cNvSpPr>
            <a:spLocks noGrp="1" noChangeArrowheads="1"/>
          </p:cNvSpPr>
          <p:nvPr>
            <p:ph type="body" idx="1"/>
          </p:nvPr>
        </p:nvSpPr>
        <p:spPr>
          <a:xfrm>
            <a:off x="1320800" y="3227388"/>
            <a:ext cx="7264400" cy="3057525"/>
          </a:xfrm>
          <a:noFill/>
        </p:spPr>
        <p:txBody>
          <a:bodyPr/>
          <a:lstStyle/>
          <a:p>
            <a:r>
              <a:rPr lang="en-US" altLang="zh-TW" dirty="0"/>
              <a:t>We usually do not worry about write-allocate or no-allocate. The commonly used cache is copy back cache.</a:t>
            </a:r>
            <a:endParaRPr lang="zh-TW" altLang="en-US" dirty="0"/>
          </a:p>
        </p:txBody>
      </p:sp>
    </p:spTree>
    <p:extLst>
      <p:ext uri="{BB962C8B-B14F-4D97-AF65-F5344CB8AC3E}">
        <p14:creationId xmlns:p14="http://schemas.microsoft.com/office/powerpoint/2010/main" val="23735868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xfrm>
            <a:off x="2687638" y="509588"/>
            <a:ext cx="4532312" cy="2549525"/>
          </a:xfrm>
        </p:spPr>
      </p:sp>
      <p:sp>
        <p:nvSpPr>
          <p:cNvPr id="172035" name="Rectangle 3"/>
          <p:cNvSpPr>
            <a:spLocks noGrp="1" noChangeArrowheads="1"/>
          </p:cNvSpPr>
          <p:nvPr>
            <p:ph type="body" idx="1"/>
          </p:nvPr>
        </p:nvSpPr>
        <p:spPr>
          <a:xfrm>
            <a:off x="1320800" y="3227388"/>
            <a:ext cx="7264400" cy="3057525"/>
          </a:xfrm>
          <a:noFill/>
        </p:spPr>
        <p:txBody>
          <a:bodyPr/>
          <a:lstStyle/>
          <a:p>
            <a:r>
              <a:rPr lang="en-US" altLang="zh-TW" dirty="0"/>
              <a:t>This is for vector/matrix operations. So I-cache miss rate is extremely low. This is not true for DBMS such as oracle. In HP PA-RISC processor, I-cache is 1MB.</a:t>
            </a:r>
            <a:endParaRPr lang="zh-TW"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body" idx="1"/>
          </p:nvPr>
        </p:nvSpPr>
        <p:spPr>
          <a:xfrm>
            <a:off x="1320800" y="3227388"/>
            <a:ext cx="7264400" cy="3057525"/>
          </a:xfrm>
          <a:noFill/>
        </p:spPr>
        <p:txBody>
          <a:bodyPr lIns="90488" tIns="44450" rIns="90488" bIns="44450"/>
          <a:lstStyle/>
          <a:p>
            <a:endParaRPr lang="zh-TW" altLang="en-US"/>
          </a:p>
        </p:txBody>
      </p:sp>
      <p:sp>
        <p:nvSpPr>
          <p:cNvPr id="174083"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body" idx="1"/>
          </p:nvPr>
        </p:nvSpPr>
        <p:spPr>
          <a:xfrm>
            <a:off x="1320800" y="3227388"/>
            <a:ext cx="7264400" cy="3057525"/>
          </a:xfrm>
          <a:noFill/>
        </p:spPr>
        <p:txBody>
          <a:bodyPr lIns="90488" tIns="44450" rIns="90488" bIns="44450"/>
          <a:lstStyle/>
          <a:p>
            <a:endParaRPr lang="zh-TW" altLang="en-US"/>
          </a:p>
        </p:txBody>
      </p:sp>
      <p:sp>
        <p:nvSpPr>
          <p:cNvPr id="174083"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extLst>
      <p:ext uri="{BB962C8B-B14F-4D97-AF65-F5344CB8AC3E}">
        <p14:creationId xmlns:p14="http://schemas.microsoft.com/office/powerpoint/2010/main" val="34574487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a:xfrm>
            <a:off x="2687638" y="509588"/>
            <a:ext cx="4532312" cy="2549525"/>
          </a:xfrm>
        </p:spPr>
      </p:sp>
      <p:sp>
        <p:nvSpPr>
          <p:cNvPr id="176131" name="Rectangle 3"/>
          <p:cNvSpPr>
            <a:spLocks noGrp="1" noChangeArrowheads="1"/>
          </p:cNvSpPr>
          <p:nvPr>
            <p:ph type="body" idx="1"/>
          </p:nvPr>
        </p:nvSpPr>
        <p:spPr>
          <a:xfrm>
            <a:off x="1320800" y="3227388"/>
            <a:ext cx="7264400" cy="3057525"/>
          </a:xfrm>
          <a:noFill/>
        </p:spPr>
        <p:txBody>
          <a:bodyPr/>
          <a:lstStyle/>
          <a:p>
            <a:r>
              <a:rPr lang="en-US" altLang="zh-TW" dirty="0"/>
              <a:t>Miss penalty may be different</a:t>
            </a:r>
            <a:endParaRPr lang="zh-TW"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xfrm>
            <a:off x="2687638" y="509588"/>
            <a:ext cx="4532312" cy="2549525"/>
          </a:xfrm>
        </p:spPr>
      </p:sp>
      <p:sp>
        <p:nvSpPr>
          <p:cNvPr id="177155" name="Rectangle 3"/>
          <p:cNvSpPr>
            <a:spLocks noGrp="1" noChangeArrowheads="1"/>
          </p:cNvSpPr>
          <p:nvPr>
            <p:ph type="body" idx="1"/>
          </p:nvPr>
        </p:nvSpPr>
        <p:spPr>
          <a:xfrm>
            <a:off x="1320800" y="3227388"/>
            <a:ext cx="7264400" cy="3057525"/>
          </a:xfrm>
          <a:noFill/>
        </p:spPr>
        <p:txBody>
          <a:bodyPr/>
          <a:lstStyle/>
          <a:p>
            <a:r>
              <a:rPr lang="en-US" altLang="zh-CN" dirty="0"/>
              <a:t>36%</a:t>
            </a:r>
            <a:r>
              <a:rPr lang="zh-CN" altLang="en-US" dirty="0"/>
              <a:t> </a:t>
            </a:r>
            <a:r>
              <a:rPr lang="en-US" altLang="zh-CN" dirty="0"/>
              <a:t>is</a:t>
            </a:r>
            <a:r>
              <a:rPr lang="zh-CN" altLang="en-US" dirty="0"/>
              <a:t> </a:t>
            </a:r>
            <a:r>
              <a:rPr lang="en-US" altLang="zh-CN" dirty="0"/>
              <a:t>conservative</a:t>
            </a:r>
          </a:p>
          <a:p>
            <a:r>
              <a:rPr lang="en-US" altLang="zh-CN" dirty="0"/>
              <a:t>CPI = 2 is probably too high. Typical ratio is 1.1 to 1.5</a:t>
            </a:r>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xfrm>
            <a:off x="2687638" y="509588"/>
            <a:ext cx="4532312" cy="2549525"/>
          </a:xfrm>
        </p:spPr>
      </p:sp>
      <p:sp>
        <p:nvSpPr>
          <p:cNvPr id="177155" name="Rectangle 3"/>
          <p:cNvSpPr>
            <a:spLocks noGrp="1" noChangeArrowheads="1"/>
          </p:cNvSpPr>
          <p:nvPr>
            <p:ph type="body" idx="1"/>
          </p:nvPr>
        </p:nvSpPr>
        <p:spPr>
          <a:xfrm>
            <a:off x="1320800" y="3227388"/>
            <a:ext cx="7264400" cy="3057525"/>
          </a:xfrm>
          <a:noFill/>
        </p:spPr>
        <p:txBody>
          <a:bodyPr/>
          <a:lstStyle/>
          <a:p>
            <a:r>
              <a:rPr lang="zh-CN" altLang="en-US"/>
              <a:t>这是书上的一个例子</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xfrm>
            <a:off x="2687638" y="509588"/>
            <a:ext cx="4532312" cy="2549525"/>
          </a:xfrm>
        </p:spPr>
      </p:sp>
      <p:sp>
        <p:nvSpPr>
          <p:cNvPr id="178179"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xfrm>
            <a:off x="2687638" y="509588"/>
            <a:ext cx="4532312" cy="2549525"/>
          </a:xfrm>
        </p:spPr>
      </p:sp>
      <p:sp>
        <p:nvSpPr>
          <p:cNvPr id="178179"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9806969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small, Direct mapped, </a:t>
            </a:r>
          </a:p>
          <a:p>
            <a:pPr marL="171450" indent="-171450">
              <a:buFontTx/>
              <a:buChar char="-"/>
            </a:pPr>
            <a:r>
              <a:rPr lang="en-US" dirty="0"/>
              <a:t>Associative, </a:t>
            </a:r>
          </a:p>
          <a:p>
            <a:pPr marL="171450" indent="-171450">
              <a:buFontTx/>
              <a:buChar char="-"/>
            </a:pPr>
            <a:r>
              <a:rPr lang="en-US" dirty="0"/>
              <a:t>Multi-level</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83</a:t>
            </a:fld>
            <a:endParaRPr lang="zh-TW" altLang="en-US"/>
          </a:p>
        </p:txBody>
      </p:sp>
    </p:spTree>
    <p:extLst>
      <p:ext uri="{BB962C8B-B14F-4D97-AF65-F5344CB8AC3E}">
        <p14:creationId xmlns:p14="http://schemas.microsoft.com/office/powerpoint/2010/main" val="32680198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small, Direct mapped, </a:t>
            </a:r>
          </a:p>
          <a:p>
            <a:pPr marL="171450" indent="-171450">
              <a:buFontTx/>
              <a:buChar char="-"/>
            </a:pPr>
            <a:r>
              <a:rPr lang="en-US" dirty="0"/>
              <a:t>Associative, </a:t>
            </a:r>
          </a:p>
          <a:p>
            <a:pPr marL="171450" indent="-171450">
              <a:buFontTx/>
              <a:buChar char="-"/>
            </a:pPr>
            <a:r>
              <a:rPr lang="en-US" dirty="0"/>
              <a:t>Multi-level</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84</a:t>
            </a:fld>
            <a:endParaRPr lang="zh-TW" altLang="en-US"/>
          </a:p>
        </p:txBody>
      </p:sp>
    </p:spTree>
    <p:extLst>
      <p:ext uri="{BB962C8B-B14F-4D97-AF65-F5344CB8AC3E}">
        <p14:creationId xmlns:p14="http://schemas.microsoft.com/office/powerpoint/2010/main" val="18305891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extLst>
      <p:ext uri="{BB962C8B-B14F-4D97-AF65-F5344CB8AC3E}">
        <p14:creationId xmlns:p14="http://schemas.microsoft.com/office/powerpoint/2010/main" val="27525638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extLst>
      <p:ext uri="{BB962C8B-B14F-4D97-AF65-F5344CB8AC3E}">
        <p14:creationId xmlns:p14="http://schemas.microsoft.com/office/powerpoint/2010/main" val="18956412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xfrm>
            <a:off x="2687638" y="509588"/>
            <a:ext cx="4532312" cy="2549525"/>
          </a:xfrm>
        </p:spPr>
      </p:sp>
      <p:sp>
        <p:nvSpPr>
          <p:cNvPr id="184323"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a:xfrm>
            <a:off x="2687638" y="509588"/>
            <a:ext cx="4532312" cy="2549525"/>
          </a:xfrm>
        </p:spPr>
      </p:sp>
      <p:sp>
        <p:nvSpPr>
          <p:cNvPr id="185347" name="Rectangle 3"/>
          <p:cNvSpPr>
            <a:spLocks noGrp="1" noChangeArrowheads="1"/>
          </p:cNvSpPr>
          <p:nvPr>
            <p:ph type="body" idx="1"/>
          </p:nvPr>
        </p:nvSpPr>
        <p:spPr>
          <a:xfrm>
            <a:off x="1320800" y="3227388"/>
            <a:ext cx="7264400" cy="3057525"/>
          </a:xfrm>
          <a:noFill/>
        </p:spPr>
        <p:txBody>
          <a:bodyPr/>
          <a:lstStyle/>
          <a:p>
            <a:endParaRPr lang="zh-TW"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xfrm>
            <a:off x="2687638" y="509588"/>
            <a:ext cx="4532312" cy="2549525"/>
          </a:xfrm>
        </p:spPr>
      </p:sp>
      <p:sp>
        <p:nvSpPr>
          <p:cNvPr id="186371" name="Rectangle 3"/>
          <p:cNvSpPr>
            <a:spLocks noGrp="1" noChangeArrowheads="1"/>
          </p:cNvSpPr>
          <p:nvPr>
            <p:ph type="body" idx="1"/>
          </p:nvPr>
        </p:nvSpPr>
        <p:spPr>
          <a:xfrm>
            <a:off x="1320800" y="3227388"/>
            <a:ext cx="7264400" cy="3057525"/>
          </a:xfrm>
          <a:noFill/>
        </p:spPr>
        <p:txBody>
          <a:bodyPr/>
          <a:lstStyle/>
          <a:p>
            <a:r>
              <a:rPr lang="zh-CN" altLang="zh-TW"/>
              <a:t>关联度：</a:t>
            </a:r>
            <a:r>
              <a:rPr lang="en-US" altLang="zh-CN"/>
              <a:t>associativity</a:t>
            </a:r>
          </a:p>
          <a:p>
            <a:r>
              <a:rPr lang="zh-CN" altLang="en-US"/>
              <a:t>边际递减效应</a:t>
            </a:r>
          </a:p>
        </p:txBody>
      </p:sp>
    </p:spTree>
    <p:extLst>
      <p:ext uri="{BB962C8B-B14F-4D97-AF65-F5344CB8AC3E}">
        <p14:creationId xmlns:p14="http://schemas.microsoft.com/office/powerpoint/2010/main" val="17527057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extLst>
      <p:ext uri="{BB962C8B-B14F-4D97-AF65-F5344CB8AC3E}">
        <p14:creationId xmlns:p14="http://schemas.microsoft.com/office/powerpoint/2010/main" val="17131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extLst>
      <p:ext uri="{BB962C8B-B14F-4D97-AF65-F5344CB8AC3E}">
        <p14:creationId xmlns:p14="http://schemas.microsoft.com/office/powerpoint/2010/main" val="34040782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17189336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32964771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8303213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xfrm>
            <a:off x="2687638" y="509588"/>
            <a:ext cx="4532312" cy="2549525"/>
          </a:xfrm>
        </p:spPr>
      </p:sp>
      <p:sp>
        <p:nvSpPr>
          <p:cNvPr id="186371" name="Rectangle 3"/>
          <p:cNvSpPr>
            <a:spLocks noGrp="1" noChangeArrowheads="1"/>
          </p:cNvSpPr>
          <p:nvPr>
            <p:ph type="body" idx="1"/>
          </p:nvPr>
        </p:nvSpPr>
        <p:spPr>
          <a:xfrm>
            <a:off x="1320800" y="3227388"/>
            <a:ext cx="7264400" cy="3057525"/>
          </a:xfrm>
          <a:noFill/>
        </p:spPr>
        <p:txBody>
          <a:bodyPr/>
          <a:lstStyle/>
          <a:p>
            <a:r>
              <a:rPr lang="zh-CN" altLang="zh-TW"/>
              <a:t>关联度：</a:t>
            </a:r>
            <a:r>
              <a:rPr lang="en-US" altLang="zh-CN"/>
              <a:t>associativity</a:t>
            </a:r>
          </a:p>
          <a:p>
            <a:r>
              <a:rPr lang="zh-CN" altLang="en-US"/>
              <a:t>边际递减效应</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xfrm>
            <a:off x="2687638" y="509588"/>
            <a:ext cx="4532312" cy="2549525"/>
          </a:xfrm>
        </p:spPr>
      </p:sp>
      <p:sp>
        <p:nvSpPr>
          <p:cNvPr id="186371" name="Rectangle 3"/>
          <p:cNvSpPr>
            <a:spLocks noGrp="1" noChangeArrowheads="1"/>
          </p:cNvSpPr>
          <p:nvPr>
            <p:ph type="body" idx="1"/>
          </p:nvPr>
        </p:nvSpPr>
        <p:spPr>
          <a:xfrm>
            <a:off x="1320800" y="3227388"/>
            <a:ext cx="7264400" cy="3057525"/>
          </a:xfrm>
          <a:noFill/>
        </p:spPr>
        <p:txBody>
          <a:bodyPr/>
          <a:lstStyle/>
          <a:p>
            <a:r>
              <a:rPr lang="zh-CN" altLang="zh-TW"/>
              <a:t>关联度：</a:t>
            </a:r>
            <a:r>
              <a:rPr lang="en-US" altLang="zh-CN"/>
              <a:t>associativity</a:t>
            </a:r>
          </a:p>
          <a:p>
            <a:r>
              <a:rPr lang="zh-CN" altLang="en-US"/>
              <a:t>边际递减效应</a:t>
            </a:r>
          </a:p>
        </p:txBody>
      </p:sp>
    </p:spTree>
    <p:extLst>
      <p:ext uri="{BB962C8B-B14F-4D97-AF65-F5344CB8AC3E}">
        <p14:creationId xmlns:p14="http://schemas.microsoft.com/office/powerpoint/2010/main" val="276227778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187395" name="Rectangle 3"/>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187395" name="Rectangle 3"/>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small, Direct mapped, </a:t>
            </a:r>
          </a:p>
          <a:p>
            <a:pPr marL="171450" indent="-171450">
              <a:buFontTx/>
              <a:buChar char="-"/>
            </a:pPr>
            <a:r>
              <a:rPr lang="en-US" dirty="0"/>
              <a:t>Associative, </a:t>
            </a:r>
          </a:p>
          <a:p>
            <a:pPr marL="171450" indent="-171450">
              <a:buFontTx/>
              <a:buChar char="-"/>
            </a:pPr>
            <a:r>
              <a:rPr lang="en-US" dirty="0"/>
              <a:t>Multi-level</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106</a:t>
            </a:fld>
            <a:endParaRPr lang="zh-TW" altLang="en-US"/>
          </a:p>
        </p:txBody>
      </p:sp>
    </p:spTree>
    <p:extLst>
      <p:ext uri="{BB962C8B-B14F-4D97-AF65-F5344CB8AC3E}">
        <p14:creationId xmlns:p14="http://schemas.microsoft.com/office/powerpoint/2010/main" val="416330058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xfrm>
            <a:off x="2687638" y="509588"/>
            <a:ext cx="4532312" cy="2549525"/>
          </a:xfrm>
        </p:spPr>
      </p:sp>
      <p:sp>
        <p:nvSpPr>
          <p:cNvPr id="188419"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xfrm>
            <a:off x="2687638" y="509588"/>
            <a:ext cx="4532312" cy="2549525"/>
          </a:xfrm>
        </p:spPr>
      </p:sp>
      <p:sp>
        <p:nvSpPr>
          <p:cNvPr id="188419"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41015085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a:xfrm>
            <a:off x="2687638" y="509588"/>
            <a:ext cx="4532312" cy="2549525"/>
          </a:xfrm>
        </p:spPr>
      </p:sp>
      <p:sp>
        <p:nvSpPr>
          <p:cNvPr id="189443"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xfrm>
            <a:off x="2687638" y="509588"/>
            <a:ext cx="4532312" cy="2549525"/>
          </a:xfrm>
        </p:spPr>
      </p:sp>
      <p:sp>
        <p:nvSpPr>
          <p:cNvPr id="1699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这个是书上的计算公式，可能是错的，</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2687638" y="509588"/>
            <a:ext cx="4532312" cy="2549525"/>
          </a:xfrm>
        </p:spPr>
      </p:sp>
      <p:sp>
        <p:nvSpPr>
          <p:cNvPr id="192515"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1AFC3A03-441B-47AF-8C0A-E7DF78295762}"/>
              </a:ext>
            </a:extLst>
          </p:cNvPr>
          <p:cNvSpPr>
            <a:spLocks noGrp="1" noRot="1" noChangeAspect="1" noChangeArrowheads="1" noTextEdit="1"/>
          </p:cNvSpPr>
          <p:nvPr>
            <p:ph type="sldImg"/>
          </p:nvPr>
        </p:nvSpPr>
        <p:spPr>
          <a:ln/>
        </p:spPr>
      </p:sp>
      <p:sp>
        <p:nvSpPr>
          <p:cNvPr id="19458" name="Notes Placeholder 2">
            <a:extLst>
              <a:ext uri="{FF2B5EF4-FFF2-40B4-BE49-F238E27FC236}">
                <a16:creationId xmlns:a16="http://schemas.microsoft.com/office/drawing/2014/main" id="{EF60B729-3DF2-428B-A1AF-1C074F8638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9459" name="Slide Number Placeholder 3">
            <a:extLst>
              <a:ext uri="{FF2B5EF4-FFF2-40B4-BE49-F238E27FC236}">
                <a16:creationId xmlns:a16="http://schemas.microsoft.com/office/drawing/2014/main" id="{1DDB6008-BE73-4DB4-9E71-EADC01C0BF2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D4E54120-42A4-413A-8469-409ADB2FC879}" type="slidenum">
              <a:rPr kumimoji="0" lang="en-US" altLang="en-US" sz="1200">
                <a:solidFill>
                  <a:schemeClr val="tx1"/>
                </a:solidFill>
                <a:latin typeface="Arial" panose="020B0604020202020204" pitchFamily="34" charset="0"/>
              </a:rPr>
              <a:pPr/>
              <a:t>113</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a:extLst>
              <a:ext uri="{FF2B5EF4-FFF2-40B4-BE49-F238E27FC236}">
                <a16:creationId xmlns:a16="http://schemas.microsoft.com/office/drawing/2014/main" id="{87547E0B-0021-4255-9903-42FCA21017B0}"/>
              </a:ext>
            </a:extLst>
          </p:cNvPr>
          <p:cNvSpPr>
            <a:spLocks noGrp="1" noRot="1" noChangeAspect="1" noChangeArrowheads="1" noTextEdit="1"/>
          </p:cNvSpPr>
          <p:nvPr>
            <p:ph type="sldImg"/>
          </p:nvPr>
        </p:nvSpPr>
        <p:spPr>
          <a:ln/>
        </p:spPr>
      </p:sp>
      <p:sp>
        <p:nvSpPr>
          <p:cNvPr id="21506" name="Notes Placeholder 2">
            <a:extLst>
              <a:ext uri="{FF2B5EF4-FFF2-40B4-BE49-F238E27FC236}">
                <a16:creationId xmlns:a16="http://schemas.microsoft.com/office/drawing/2014/main" id="{B8222760-238E-4B9E-BEA4-3B535D24A9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1507" name="Slide Number Placeholder 3">
            <a:extLst>
              <a:ext uri="{FF2B5EF4-FFF2-40B4-BE49-F238E27FC236}">
                <a16:creationId xmlns:a16="http://schemas.microsoft.com/office/drawing/2014/main" id="{4B4C9335-BDDA-4990-BBEE-D94323B9A1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D5FBF0DC-A737-484C-A3A2-2003A9D0E2E0}" type="slidenum">
              <a:rPr kumimoji="0" lang="en-US" altLang="en-US" sz="1200">
                <a:solidFill>
                  <a:schemeClr val="tx1"/>
                </a:solidFill>
                <a:latin typeface="Arial" panose="020B0604020202020204" pitchFamily="34" charset="0"/>
              </a:rPr>
              <a:pPr/>
              <a:t>114</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6CB16B06-D811-417B-A8D7-4278747D7847}"/>
              </a:ext>
            </a:extLst>
          </p:cNvPr>
          <p:cNvSpPr>
            <a:spLocks noGrp="1" noRot="1" noChangeAspect="1" noChangeArrowheads="1" noTextEdit="1"/>
          </p:cNvSpPr>
          <p:nvPr>
            <p:ph type="sldImg"/>
          </p:nvPr>
        </p:nvSpPr>
        <p:spPr>
          <a:ln/>
        </p:spPr>
      </p:sp>
      <p:sp>
        <p:nvSpPr>
          <p:cNvPr id="23554" name="Notes Placeholder 2">
            <a:extLst>
              <a:ext uri="{FF2B5EF4-FFF2-40B4-BE49-F238E27FC236}">
                <a16:creationId xmlns:a16="http://schemas.microsoft.com/office/drawing/2014/main" id="{D07624E3-795E-4AFF-99E8-95EF63A68F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3555" name="Slide Number Placeholder 3">
            <a:extLst>
              <a:ext uri="{FF2B5EF4-FFF2-40B4-BE49-F238E27FC236}">
                <a16:creationId xmlns:a16="http://schemas.microsoft.com/office/drawing/2014/main" id="{86F4897A-0623-4380-878C-6452A63E60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5F9CE848-57EC-459A-A87B-7CE50AB8516C}" type="slidenum">
              <a:rPr kumimoji="0" lang="en-US" altLang="en-US" sz="1200">
                <a:solidFill>
                  <a:schemeClr val="tx1"/>
                </a:solidFill>
                <a:latin typeface="Arial" panose="020B0604020202020204" pitchFamily="34" charset="0"/>
              </a:rPr>
              <a:pPr/>
              <a:t>115</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a:extLst>
              <a:ext uri="{FF2B5EF4-FFF2-40B4-BE49-F238E27FC236}">
                <a16:creationId xmlns:a16="http://schemas.microsoft.com/office/drawing/2014/main" id="{0C6C6C6B-F72F-4E38-9D9A-94ECE1CB3877}"/>
              </a:ext>
            </a:extLst>
          </p:cNvPr>
          <p:cNvSpPr>
            <a:spLocks noGrp="1" noRot="1" noChangeAspect="1" noChangeArrowheads="1" noTextEdit="1"/>
          </p:cNvSpPr>
          <p:nvPr>
            <p:ph type="sldImg"/>
          </p:nvPr>
        </p:nvSpPr>
        <p:spPr>
          <a:ln/>
        </p:spPr>
      </p:sp>
      <p:sp>
        <p:nvSpPr>
          <p:cNvPr id="25602" name="Notes Placeholder 2">
            <a:extLst>
              <a:ext uri="{FF2B5EF4-FFF2-40B4-BE49-F238E27FC236}">
                <a16:creationId xmlns:a16="http://schemas.microsoft.com/office/drawing/2014/main" id="{79394A65-89B9-41AE-B6EF-046070AD87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5603" name="Slide Number Placeholder 3">
            <a:extLst>
              <a:ext uri="{FF2B5EF4-FFF2-40B4-BE49-F238E27FC236}">
                <a16:creationId xmlns:a16="http://schemas.microsoft.com/office/drawing/2014/main" id="{626D9DF8-2405-41B1-A407-9E90E68B6EF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D72AA86D-4A64-4DC9-969C-ECBC50B9E258}" type="slidenum">
              <a:rPr kumimoji="0" lang="en-US" altLang="en-US" sz="1200">
                <a:solidFill>
                  <a:schemeClr val="tx1"/>
                </a:solidFill>
                <a:latin typeface="Arial" panose="020B0604020202020204" pitchFamily="34" charset="0"/>
              </a:rPr>
              <a:pPr/>
              <a:t>116</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2E4175C2-3343-4A0F-858C-0C2D57B568EC}"/>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A299F80C-3B69-4902-97C9-BB1475A744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rPr>
              <a:t>My advisor: James Goodman</a:t>
            </a:r>
          </a:p>
        </p:txBody>
      </p:sp>
      <p:sp>
        <p:nvSpPr>
          <p:cNvPr id="43011" name="Slide Number Placeholder 3">
            <a:extLst>
              <a:ext uri="{FF2B5EF4-FFF2-40B4-BE49-F238E27FC236}">
                <a16:creationId xmlns:a16="http://schemas.microsoft.com/office/drawing/2014/main" id="{01AA874E-23CD-4F9E-8CC2-8BFB5D93194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90ECFB9C-B822-48B5-8CC3-38B9CFA31AE0}" type="slidenum">
              <a:rPr kumimoji="0" lang="en-US" altLang="en-US" sz="1200">
                <a:solidFill>
                  <a:schemeClr val="tx1"/>
                </a:solidFill>
                <a:latin typeface="Arial" panose="020B0604020202020204" pitchFamily="34" charset="0"/>
              </a:rPr>
              <a:pPr/>
              <a:t>117</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2591DBD0-A2B6-41D0-B1CA-164397A4AE09}"/>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501036D9-DF45-4140-B998-6FAE2031D7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5059" name="Slide Number Placeholder 3">
            <a:extLst>
              <a:ext uri="{FF2B5EF4-FFF2-40B4-BE49-F238E27FC236}">
                <a16:creationId xmlns:a16="http://schemas.microsoft.com/office/drawing/2014/main" id="{438BDB17-ADD7-4FBC-B132-A244DBAB3D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23CD4FF0-A6A9-424E-8100-D51DF90D4F53}" type="slidenum">
              <a:rPr kumimoji="0" lang="en-US" altLang="en-US" sz="1200">
                <a:solidFill>
                  <a:schemeClr val="tx1"/>
                </a:solidFill>
                <a:latin typeface="Arial" panose="020B0604020202020204" pitchFamily="34" charset="0"/>
              </a:rPr>
              <a:pPr/>
              <a:t>118</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2591DBD0-A2B6-41D0-B1CA-164397A4AE09}"/>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501036D9-DF45-4140-B998-6FAE2031D7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5059" name="Slide Number Placeholder 3">
            <a:extLst>
              <a:ext uri="{FF2B5EF4-FFF2-40B4-BE49-F238E27FC236}">
                <a16:creationId xmlns:a16="http://schemas.microsoft.com/office/drawing/2014/main" id="{438BDB17-ADD7-4FBC-B132-A244DBAB3D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23CD4FF0-A6A9-424E-8100-D51DF90D4F53}" type="slidenum">
              <a:rPr kumimoji="0" lang="en-US" altLang="en-US" sz="1200">
                <a:solidFill>
                  <a:schemeClr val="tx1"/>
                </a:solidFill>
                <a:latin typeface="Arial" panose="020B0604020202020204" pitchFamily="34" charset="0"/>
              </a:rPr>
              <a:pPr/>
              <a:t>119</a:t>
            </a:fld>
            <a:endParaRPr kumimoji="0" lang="en-US" altLang="en-US" sz="1200">
              <a:solidFill>
                <a:schemeClr val="tx1"/>
              </a:solidFill>
              <a:latin typeface="Arial" panose="020B0604020202020204" pitchFamily="34" charset="0"/>
            </a:endParaRPr>
          </a:p>
        </p:txBody>
      </p:sp>
    </p:spTree>
    <p:extLst>
      <p:ext uri="{BB962C8B-B14F-4D97-AF65-F5344CB8AC3E}">
        <p14:creationId xmlns:p14="http://schemas.microsoft.com/office/powerpoint/2010/main" val="4239348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09633327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99240743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10590808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419600628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41404947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2687638" y="509588"/>
            <a:ext cx="4532312" cy="2549525"/>
          </a:xfrm>
        </p:spPr>
      </p:sp>
      <p:sp>
        <p:nvSpPr>
          <p:cNvPr id="192515"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109768250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xfrm>
            <a:off x="2687638" y="509588"/>
            <a:ext cx="4532312" cy="2549525"/>
          </a:xfrm>
        </p:spPr>
      </p:sp>
      <p:sp>
        <p:nvSpPr>
          <p:cNvPr id="193539"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xfrm>
            <a:off x="2687638" y="509588"/>
            <a:ext cx="4532312" cy="2549525"/>
          </a:xfrm>
        </p:spPr>
      </p:sp>
      <p:sp>
        <p:nvSpPr>
          <p:cNvPr id="193539"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188389469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xfrm>
            <a:off x="2687638" y="509588"/>
            <a:ext cx="4532312" cy="2549525"/>
          </a:xfrm>
        </p:spPr>
      </p:sp>
      <p:sp>
        <p:nvSpPr>
          <p:cNvPr id="193539"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3637095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4" name="Title Text"/>
          <p:cNvSpPr txBox="1">
            <a:spLocks noGrp="1"/>
          </p:cNvSpPr>
          <p:nvPr>
            <p:ph type="title"/>
          </p:nvPr>
        </p:nvSpPr>
        <p:spPr>
          <a:prstGeom prst="rect">
            <a:avLst/>
          </a:prstGeom>
        </p:spPr>
        <p:txBody>
          <a:bodyPr/>
          <a:lstStyle/>
          <a:p>
            <a:r>
              <a:t>Title Text</a:t>
            </a:r>
          </a:p>
        </p:txBody>
      </p:sp>
      <p:sp>
        <p:nvSpPr>
          <p:cNvPr id="2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4275886457"/>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6"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20.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8" y="1021404"/>
            <a:ext cx="8160657" cy="3003749"/>
          </a:xfrm>
        </p:spPr>
        <p:txBody>
          <a:bodyPr/>
          <a:lstStyle/>
          <a:p>
            <a:pPr algn="ctr"/>
            <a:r>
              <a:rPr lang="en-US" altLang="zh-TW" sz="4000" dirty="0">
                <a:effectLst>
                  <a:outerShdw blurRad="38100" dist="38100" dir="2700000" algn="tl">
                    <a:srgbClr val="000000">
                      <a:alpha val="43137"/>
                    </a:srgbClr>
                  </a:outerShdw>
                </a:effectLst>
              </a:rPr>
              <a:t>CSC3060 – Computer Systems</a:t>
            </a: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Chapter 6: The Memory Hierarchy</a:t>
            </a: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818968" y="3868271"/>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12645838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Memory Hierarchy</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a:t>
            </a:fld>
            <a:endParaRPr lang="zh-TW" altLang="en-US"/>
          </a:p>
        </p:txBody>
      </p:sp>
      <p:pic>
        <p:nvPicPr>
          <p:cNvPr id="9" name="Picture 8">
            <a:extLst>
              <a:ext uri="{FF2B5EF4-FFF2-40B4-BE49-F238E27FC236}">
                <a16:creationId xmlns:a16="http://schemas.microsoft.com/office/drawing/2014/main" id="{584C664B-7267-42F6-BECA-5708C9487F81}"/>
              </a:ext>
            </a:extLst>
          </p:cNvPr>
          <p:cNvPicPr>
            <a:picLocks noChangeAspect="1"/>
          </p:cNvPicPr>
          <p:nvPr/>
        </p:nvPicPr>
        <p:blipFill>
          <a:blip r:embed="rId3"/>
          <a:stretch>
            <a:fillRect/>
          </a:stretch>
        </p:blipFill>
        <p:spPr>
          <a:xfrm>
            <a:off x="9009330" y="1344706"/>
            <a:ext cx="3042173" cy="3962400"/>
          </a:xfrm>
          <a:prstGeom prst="rect">
            <a:avLst/>
          </a:prstGeom>
        </p:spPr>
      </p:pic>
      <p:sp>
        <p:nvSpPr>
          <p:cNvPr id="10" name="Rectangle 3">
            <a:extLst>
              <a:ext uri="{FF2B5EF4-FFF2-40B4-BE49-F238E27FC236}">
                <a16:creationId xmlns:a16="http://schemas.microsoft.com/office/drawing/2014/main" id="{A996486F-FFE6-4065-99D0-F02763DA369F}"/>
              </a:ext>
            </a:extLst>
          </p:cNvPr>
          <p:cNvSpPr txBox="1">
            <a:spLocks noChangeArrowheads="1"/>
          </p:cNvSpPr>
          <p:nvPr/>
        </p:nvSpPr>
        <p:spPr bwMode="auto">
          <a:xfrm>
            <a:off x="224118" y="1161396"/>
            <a:ext cx="9099176" cy="49311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spcBef>
                <a:spcPts val="0"/>
              </a:spcBef>
              <a:buFont typeface="Wingdings" panose="05000000000000000000" pitchFamily="2" charset="2"/>
              <a:buChar char="q"/>
            </a:pPr>
            <a:r>
              <a:rPr lang="en-US" altLang="zh-TW" sz="2800" kern="0" dirty="0"/>
              <a:t>So far, we view the memory as a linear array of bytes, and the CPU can access each memory location in one cycle.</a:t>
            </a:r>
          </a:p>
          <a:p>
            <a:pPr>
              <a:spcBef>
                <a:spcPts val="0"/>
              </a:spcBef>
              <a:buFont typeface="Wingdings" panose="05000000000000000000" pitchFamily="2" charset="2"/>
              <a:buChar char="q"/>
            </a:pPr>
            <a:r>
              <a:rPr lang="en-US" altLang="zh-TW" sz="2800" kern="0" dirty="0"/>
              <a:t>In practice, a memory system is a hierarchy of storage devices with different capacities, costs, and access times.</a:t>
            </a:r>
          </a:p>
          <a:p>
            <a:pPr>
              <a:spcBef>
                <a:spcPts val="0"/>
              </a:spcBef>
              <a:buFont typeface="Wingdings" panose="05000000000000000000" pitchFamily="2" charset="2"/>
              <a:buChar char="q"/>
            </a:pPr>
            <a:r>
              <a:rPr lang="en-US" altLang="zh-TW" sz="2800" kern="0" dirty="0">
                <a:solidFill>
                  <a:srgbClr val="FF0000"/>
                </a:solidFill>
              </a:rPr>
              <a:t>CPU registers </a:t>
            </a:r>
            <a:r>
              <a:rPr lang="en-US" altLang="zh-TW" sz="2800" kern="0" dirty="0"/>
              <a:t>hold the most frequently used data. Small, fast memory (</a:t>
            </a:r>
            <a:r>
              <a:rPr lang="en-US" altLang="zh-TW" sz="2800" kern="0" dirty="0">
                <a:solidFill>
                  <a:srgbClr val="FF0000"/>
                </a:solidFill>
              </a:rPr>
              <a:t>cache</a:t>
            </a:r>
            <a:r>
              <a:rPr lang="en-US" altLang="zh-TW" sz="2800" kern="0" dirty="0"/>
              <a:t>) acts as a staging area for main memory, and </a:t>
            </a:r>
            <a:r>
              <a:rPr lang="en-US" altLang="zh-TW" sz="2800" kern="0" dirty="0">
                <a:solidFill>
                  <a:srgbClr val="FF0000"/>
                </a:solidFill>
              </a:rPr>
              <a:t>main memory </a:t>
            </a:r>
            <a:r>
              <a:rPr lang="en-US" altLang="zh-TW" sz="2800" kern="0" dirty="0"/>
              <a:t>acts as a staging area for </a:t>
            </a:r>
            <a:r>
              <a:rPr lang="en-US" altLang="zh-TW" sz="2800" kern="0" dirty="0">
                <a:solidFill>
                  <a:srgbClr val="FF0000"/>
                </a:solidFill>
              </a:rPr>
              <a:t>disks</a:t>
            </a:r>
            <a:r>
              <a:rPr lang="en-US" altLang="zh-TW" sz="2800" kern="0" dirty="0"/>
              <a:t> or network devices.</a:t>
            </a:r>
          </a:p>
          <a:p>
            <a:pPr>
              <a:spcBef>
                <a:spcPts val="0"/>
              </a:spcBef>
              <a:buFont typeface="Wingdings" panose="05000000000000000000" pitchFamily="2" charset="2"/>
              <a:buChar char="q"/>
            </a:pPr>
            <a:r>
              <a:rPr lang="en-US" altLang="zh-TW" sz="2800" kern="0" dirty="0"/>
              <a:t>The higher-level hierarchy is much more active than the lower-level hierarchy. So this hierarchy gives you the illusion: memory is fast, large, and inexpensive.</a:t>
            </a:r>
          </a:p>
        </p:txBody>
      </p:sp>
    </p:spTree>
    <p:extLst>
      <p:ext uri="{BB962C8B-B14F-4D97-AF65-F5344CB8AC3E}">
        <p14:creationId xmlns:p14="http://schemas.microsoft.com/office/powerpoint/2010/main" val="2249375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0B45CE5-FF1E-4219-BD00-E4F2E0218AF7}"/>
              </a:ext>
            </a:extLst>
          </p:cNvPr>
          <p:cNvGraphicFramePr>
            <a:graphicFrameLocks noGrp="1"/>
          </p:cNvGraphicFramePr>
          <p:nvPr>
            <p:extLst>
              <p:ext uri="{D42A27DB-BD31-4B8C-83A1-F6EECF244321}">
                <p14:modId xmlns:p14="http://schemas.microsoft.com/office/powerpoint/2010/main" val="3680229208"/>
              </p:ext>
            </p:extLst>
          </p:nvPr>
        </p:nvGraphicFramePr>
        <p:xfrm>
          <a:off x="981075" y="1200150"/>
          <a:ext cx="9934575" cy="4630803"/>
        </p:xfrm>
        <a:graphic>
          <a:graphicData uri="http://schemas.openxmlformats.org/drawingml/2006/table">
            <a:tbl>
              <a:tblPr/>
              <a:tblGrid>
                <a:gridCol w="1458088">
                  <a:extLst>
                    <a:ext uri="{9D8B030D-6E8A-4147-A177-3AD203B41FA5}">
                      <a16:colId xmlns:a16="http://schemas.microsoft.com/office/drawing/2014/main" val="4153528492"/>
                    </a:ext>
                  </a:extLst>
                </a:gridCol>
                <a:gridCol w="3133798">
                  <a:extLst>
                    <a:ext uri="{9D8B030D-6E8A-4147-A177-3AD203B41FA5}">
                      <a16:colId xmlns:a16="http://schemas.microsoft.com/office/drawing/2014/main" val="3663951469"/>
                    </a:ext>
                  </a:extLst>
                </a:gridCol>
                <a:gridCol w="2859044">
                  <a:extLst>
                    <a:ext uri="{9D8B030D-6E8A-4147-A177-3AD203B41FA5}">
                      <a16:colId xmlns:a16="http://schemas.microsoft.com/office/drawing/2014/main" val="3760506906"/>
                    </a:ext>
                  </a:extLst>
                </a:gridCol>
                <a:gridCol w="2483645">
                  <a:extLst>
                    <a:ext uri="{9D8B030D-6E8A-4147-A177-3AD203B41FA5}">
                      <a16:colId xmlns:a16="http://schemas.microsoft.com/office/drawing/2014/main" val="4212325225"/>
                    </a:ext>
                  </a:extLst>
                </a:gridCol>
              </a:tblGrid>
              <a:tr h="1130779">
                <a:tc>
                  <a:txBody>
                    <a:bodyPr/>
                    <a:lstStyle/>
                    <a:p>
                      <a:pPr algn="l" fontAlgn="b"/>
                      <a:r>
                        <a:rPr lang="en-US" sz="2000" b="1" dirty="0">
                          <a:solidFill>
                            <a:srgbClr val="111827"/>
                          </a:solidFill>
                          <a:effectLst/>
                        </a:rPr>
                        <a:t>Year</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
                      <a:r>
                        <a:rPr lang="en-US" sz="2000" b="1" dirty="0">
                          <a:solidFill>
                            <a:srgbClr val="111827"/>
                          </a:solidFill>
                          <a:effectLst/>
                        </a:rPr>
                        <a:t>Typical RAM Size (Main Memory)</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
                      <a:r>
                        <a:rPr lang="en-US" sz="2000" b="1" dirty="0">
                          <a:solidFill>
                            <a:srgbClr val="111827"/>
                          </a:solidFill>
                          <a:effectLst/>
                        </a:rPr>
                        <a:t>Typical Disk Size (HDD/SSD)</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
                      <a:r>
                        <a:rPr lang="en-US" sz="2000" b="1">
                          <a:solidFill>
                            <a:srgbClr val="111827"/>
                          </a:solidFill>
                          <a:effectLst/>
                        </a:rPr>
                        <a:t>Typical Memory Access Latency</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1238170545"/>
                  </a:ext>
                </a:extLst>
              </a:tr>
              <a:tr h="695864">
                <a:tc>
                  <a:txBody>
                    <a:bodyPr/>
                    <a:lstStyle/>
                    <a:p>
                      <a:pPr algn="l" fontAlgn="base"/>
                      <a:r>
                        <a:rPr lang="en-US" sz="2000" b="1">
                          <a:solidFill>
                            <a:srgbClr val="111827"/>
                          </a:solidFill>
                          <a:effectLst/>
                        </a:rPr>
                        <a:t>1985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640 KB – 1 MB</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10 MB – 20 MB</a:t>
                      </a:r>
                      <a:r>
                        <a:rPr lang="en-US" sz="2000" b="0" dirty="0">
                          <a:effectLst/>
                        </a:rPr>
                        <a:t> (HDD)</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~200 ns</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3624833613"/>
                  </a:ext>
                </a:extLst>
              </a:tr>
              <a:tr h="695864">
                <a:tc>
                  <a:txBody>
                    <a:bodyPr/>
                    <a:lstStyle/>
                    <a:p>
                      <a:pPr algn="l" fontAlgn="base"/>
                      <a:r>
                        <a:rPr lang="en-US" sz="2000" b="1">
                          <a:solidFill>
                            <a:srgbClr val="111827"/>
                          </a:solidFill>
                          <a:effectLst/>
                        </a:rPr>
                        <a:t>1995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8 MB – 16 MB</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500 MB – 1.2 GB</a:t>
                      </a:r>
                      <a:r>
                        <a:rPr lang="en-US" sz="2000" b="0">
                          <a:effectLst/>
                        </a:rPr>
                        <a:t> (HDD)</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~100 ns</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3214308105"/>
                  </a:ext>
                </a:extLst>
              </a:tr>
              <a:tr h="695864">
                <a:tc>
                  <a:txBody>
                    <a:bodyPr/>
                    <a:lstStyle/>
                    <a:p>
                      <a:pPr algn="l" fontAlgn="base"/>
                      <a:r>
                        <a:rPr lang="en-US" sz="2000" b="1">
                          <a:solidFill>
                            <a:srgbClr val="111827"/>
                          </a:solidFill>
                          <a:effectLst/>
                        </a:rPr>
                        <a:t>2005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512 MB – 1 GB</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80 GB – 160 GB</a:t>
                      </a:r>
                      <a:r>
                        <a:rPr lang="en-US" sz="2000" b="0">
                          <a:effectLst/>
                        </a:rPr>
                        <a:t> (HDD)</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~60 ns</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8319586"/>
                  </a:ext>
                </a:extLst>
              </a:tr>
              <a:tr h="695864">
                <a:tc>
                  <a:txBody>
                    <a:bodyPr/>
                    <a:lstStyle/>
                    <a:p>
                      <a:pPr algn="l" fontAlgn="base"/>
                      <a:r>
                        <a:rPr lang="en-US" sz="2000" b="1">
                          <a:solidFill>
                            <a:srgbClr val="111827"/>
                          </a:solidFill>
                          <a:effectLst/>
                        </a:rPr>
                        <a:t>2015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8 GB – 16 GB</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1 TB (</a:t>
                      </a:r>
                      <a:r>
                        <a:rPr lang="en-US" sz="2000" b="0" dirty="0">
                          <a:solidFill>
                            <a:srgbClr val="111827"/>
                          </a:solidFill>
                          <a:effectLst/>
                        </a:rPr>
                        <a:t>HDD</a:t>
                      </a:r>
                      <a:r>
                        <a:rPr lang="en-US" sz="2000" b="1" dirty="0">
                          <a:solidFill>
                            <a:srgbClr val="111827"/>
                          </a:solidFill>
                          <a:effectLst/>
                        </a:rPr>
                        <a:t>) / </a:t>
                      </a:r>
                    </a:p>
                    <a:p>
                      <a:pPr algn="l" fontAlgn="base"/>
                      <a:r>
                        <a:rPr lang="en-US" sz="2000" b="1" dirty="0">
                          <a:solidFill>
                            <a:srgbClr val="111827"/>
                          </a:solidFill>
                          <a:effectLst/>
                        </a:rPr>
                        <a:t>256 GB (</a:t>
                      </a:r>
                      <a:r>
                        <a:rPr lang="en-US" sz="2000" b="0" dirty="0">
                          <a:solidFill>
                            <a:srgbClr val="111827"/>
                          </a:solidFill>
                          <a:effectLst/>
                        </a:rPr>
                        <a:t>SSD</a:t>
                      </a:r>
                      <a:r>
                        <a:rPr lang="en-US" sz="2000" b="1" dirty="0">
                          <a:solidFill>
                            <a:srgbClr val="111827"/>
                          </a:solidFill>
                          <a:effectLst/>
                        </a:rPr>
                        <a:t>)</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~50 ns</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260067587"/>
                  </a:ext>
                </a:extLst>
              </a:tr>
              <a:tr h="695864">
                <a:tc>
                  <a:txBody>
                    <a:bodyPr/>
                    <a:lstStyle/>
                    <a:p>
                      <a:pPr algn="l" fontAlgn="base"/>
                      <a:r>
                        <a:rPr lang="en-US" sz="2000" b="1">
                          <a:solidFill>
                            <a:srgbClr val="111827"/>
                          </a:solidFill>
                          <a:effectLst/>
                        </a:rPr>
                        <a:t>2025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32 GB – 64 GB</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2 TB – 4 TB</a:t>
                      </a:r>
                      <a:r>
                        <a:rPr lang="en-US" sz="2000" b="0" dirty="0">
                          <a:effectLst/>
                        </a:rPr>
                        <a:t> </a:t>
                      </a:r>
                    </a:p>
                    <a:p>
                      <a:pPr algn="l" fontAlgn="base"/>
                      <a:r>
                        <a:rPr lang="en-US" sz="2000" b="0" dirty="0">
                          <a:effectLst/>
                        </a:rPr>
                        <a:t>(</a:t>
                      </a:r>
                      <a:r>
                        <a:rPr lang="en-US" sz="2000" b="0" dirty="0" err="1">
                          <a:effectLst/>
                        </a:rPr>
                        <a:t>NVMe</a:t>
                      </a:r>
                      <a:r>
                        <a:rPr lang="en-US" sz="2000" b="0" dirty="0">
                          <a:effectLst/>
                        </a:rPr>
                        <a:t> SSD)</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~60 ns</a:t>
                      </a:r>
                      <a:r>
                        <a:rPr lang="en-US" sz="2000" b="0" dirty="0">
                          <a:effectLst/>
                        </a:rPr>
                        <a:t>*</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1707032394"/>
                  </a:ext>
                </a:extLst>
              </a:tr>
            </a:tbl>
          </a:graphicData>
        </a:graphic>
      </p:graphicFrame>
      <p:sp>
        <p:nvSpPr>
          <p:cNvPr id="3" name="Rectangle 2">
            <a:extLst>
              <a:ext uri="{FF2B5EF4-FFF2-40B4-BE49-F238E27FC236}">
                <a16:creationId xmlns:a16="http://schemas.microsoft.com/office/drawing/2014/main" id="{DEF150E3-F6A8-4B6C-9619-576F033B1D4B}"/>
              </a:ext>
            </a:extLst>
          </p:cNvPr>
          <p:cNvSpPr txBox="1">
            <a:spLocks noGrp="1"/>
          </p:cNvSpPr>
          <p:nvPr>
            <p:ph type="title"/>
          </p:nvPr>
        </p:nvSpPr>
        <p:spPr>
          <a:xfrm>
            <a:off x="1047750" y="8987"/>
            <a:ext cx="9315449" cy="762001"/>
          </a:xfrm>
          <a:prstGeom prst="rect">
            <a:avLst/>
          </a:prstGeom>
        </p:spPr>
        <p:txBody>
          <a:bodyPr/>
          <a:lstStyle/>
          <a:p>
            <a:r>
              <a:rPr lang="en-US" sz="4000" dirty="0"/>
              <a:t>PC Memory/Storage Size and Latency</a:t>
            </a:r>
            <a:endParaRPr sz="4000" dirty="0"/>
          </a:p>
        </p:txBody>
      </p:sp>
    </p:spTree>
    <p:extLst>
      <p:ext uri="{BB962C8B-B14F-4D97-AF65-F5344CB8AC3E}">
        <p14:creationId xmlns:p14="http://schemas.microsoft.com/office/powerpoint/2010/main" val="23857512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0B45CE5-FF1E-4219-BD00-E4F2E0218AF7}"/>
              </a:ext>
            </a:extLst>
          </p:cNvPr>
          <p:cNvGraphicFramePr>
            <a:graphicFrameLocks noGrp="1"/>
          </p:cNvGraphicFramePr>
          <p:nvPr/>
        </p:nvGraphicFramePr>
        <p:xfrm>
          <a:off x="981075" y="1200150"/>
          <a:ext cx="9934575" cy="4630803"/>
        </p:xfrm>
        <a:graphic>
          <a:graphicData uri="http://schemas.openxmlformats.org/drawingml/2006/table">
            <a:tbl>
              <a:tblPr/>
              <a:tblGrid>
                <a:gridCol w="1458088">
                  <a:extLst>
                    <a:ext uri="{9D8B030D-6E8A-4147-A177-3AD203B41FA5}">
                      <a16:colId xmlns:a16="http://schemas.microsoft.com/office/drawing/2014/main" val="4153528492"/>
                    </a:ext>
                  </a:extLst>
                </a:gridCol>
                <a:gridCol w="3133798">
                  <a:extLst>
                    <a:ext uri="{9D8B030D-6E8A-4147-A177-3AD203B41FA5}">
                      <a16:colId xmlns:a16="http://schemas.microsoft.com/office/drawing/2014/main" val="3663951469"/>
                    </a:ext>
                  </a:extLst>
                </a:gridCol>
                <a:gridCol w="2859044">
                  <a:extLst>
                    <a:ext uri="{9D8B030D-6E8A-4147-A177-3AD203B41FA5}">
                      <a16:colId xmlns:a16="http://schemas.microsoft.com/office/drawing/2014/main" val="3760506906"/>
                    </a:ext>
                  </a:extLst>
                </a:gridCol>
                <a:gridCol w="2483645">
                  <a:extLst>
                    <a:ext uri="{9D8B030D-6E8A-4147-A177-3AD203B41FA5}">
                      <a16:colId xmlns:a16="http://schemas.microsoft.com/office/drawing/2014/main" val="4212325225"/>
                    </a:ext>
                  </a:extLst>
                </a:gridCol>
              </a:tblGrid>
              <a:tr h="1130779">
                <a:tc>
                  <a:txBody>
                    <a:bodyPr/>
                    <a:lstStyle/>
                    <a:p>
                      <a:pPr algn="l" fontAlgn="b"/>
                      <a:r>
                        <a:rPr lang="en-US" sz="2000" b="1" dirty="0">
                          <a:solidFill>
                            <a:srgbClr val="111827"/>
                          </a:solidFill>
                          <a:effectLst/>
                        </a:rPr>
                        <a:t>Year</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
                      <a:r>
                        <a:rPr lang="en-US" sz="2000" b="1" dirty="0">
                          <a:solidFill>
                            <a:srgbClr val="111827"/>
                          </a:solidFill>
                          <a:effectLst/>
                        </a:rPr>
                        <a:t>Typical RAM Size (Main Memory)</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
                      <a:r>
                        <a:rPr lang="en-US" sz="2000" b="1" dirty="0">
                          <a:solidFill>
                            <a:srgbClr val="111827"/>
                          </a:solidFill>
                          <a:effectLst/>
                        </a:rPr>
                        <a:t>Typical Disk Size (HDD/SSD)</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
                      <a:r>
                        <a:rPr lang="en-US" sz="2000" b="1">
                          <a:solidFill>
                            <a:srgbClr val="111827"/>
                          </a:solidFill>
                          <a:effectLst/>
                        </a:rPr>
                        <a:t>Typical Memory Access Latency</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1238170545"/>
                  </a:ext>
                </a:extLst>
              </a:tr>
              <a:tr h="695864">
                <a:tc>
                  <a:txBody>
                    <a:bodyPr/>
                    <a:lstStyle/>
                    <a:p>
                      <a:pPr algn="l" fontAlgn="base"/>
                      <a:r>
                        <a:rPr lang="en-US" sz="2000" b="1">
                          <a:solidFill>
                            <a:srgbClr val="111827"/>
                          </a:solidFill>
                          <a:effectLst/>
                        </a:rPr>
                        <a:t>1985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640 KB – 1 MB</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10 MB – 20 MB</a:t>
                      </a:r>
                      <a:r>
                        <a:rPr lang="en-US" sz="2000" b="0" dirty="0">
                          <a:effectLst/>
                        </a:rPr>
                        <a:t> (HDD)</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~200 ns</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3624833613"/>
                  </a:ext>
                </a:extLst>
              </a:tr>
              <a:tr h="695864">
                <a:tc>
                  <a:txBody>
                    <a:bodyPr/>
                    <a:lstStyle/>
                    <a:p>
                      <a:pPr algn="l" fontAlgn="base"/>
                      <a:r>
                        <a:rPr lang="en-US" sz="2000" b="1">
                          <a:solidFill>
                            <a:srgbClr val="111827"/>
                          </a:solidFill>
                          <a:effectLst/>
                        </a:rPr>
                        <a:t>1995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8 MB – 16 MB</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500 MB – 1.2 GB</a:t>
                      </a:r>
                      <a:r>
                        <a:rPr lang="en-US" sz="2000" b="0">
                          <a:effectLst/>
                        </a:rPr>
                        <a:t> (HDD)</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~100 ns</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3214308105"/>
                  </a:ext>
                </a:extLst>
              </a:tr>
              <a:tr h="695864">
                <a:tc>
                  <a:txBody>
                    <a:bodyPr/>
                    <a:lstStyle/>
                    <a:p>
                      <a:pPr algn="l" fontAlgn="base"/>
                      <a:r>
                        <a:rPr lang="en-US" sz="2000" b="1">
                          <a:solidFill>
                            <a:srgbClr val="111827"/>
                          </a:solidFill>
                          <a:effectLst/>
                        </a:rPr>
                        <a:t>2005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512 MB – 1 GB</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80 GB – 160 GB</a:t>
                      </a:r>
                      <a:r>
                        <a:rPr lang="en-US" sz="2000" b="0">
                          <a:effectLst/>
                        </a:rPr>
                        <a:t> (HDD)</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~60 ns</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8319586"/>
                  </a:ext>
                </a:extLst>
              </a:tr>
              <a:tr h="695864">
                <a:tc>
                  <a:txBody>
                    <a:bodyPr/>
                    <a:lstStyle/>
                    <a:p>
                      <a:pPr algn="l" fontAlgn="base"/>
                      <a:r>
                        <a:rPr lang="en-US" sz="2000" b="1">
                          <a:solidFill>
                            <a:srgbClr val="111827"/>
                          </a:solidFill>
                          <a:effectLst/>
                        </a:rPr>
                        <a:t>2015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a:solidFill>
                            <a:srgbClr val="111827"/>
                          </a:solidFill>
                          <a:effectLst/>
                        </a:rPr>
                        <a:t>8 GB – 16 GB</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1 TB (</a:t>
                      </a:r>
                      <a:r>
                        <a:rPr lang="en-US" sz="2000" b="0" dirty="0">
                          <a:solidFill>
                            <a:srgbClr val="111827"/>
                          </a:solidFill>
                          <a:effectLst/>
                        </a:rPr>
                        <a:t>HDD</a:t>
                      </a:r>
                      <a:r>
                        <a:rPr lang="en-US" sz="2000" b="1" dirty="0">
                          <a:solidFill>
                            <a:srgbClr val="111827"/>
                          </a:solidFill>
                          <a:effectLst/>
                        </a:rPr>
                        <a:t>) / </a:t>
                      </a:r>
                    </a:p>
                    <a:p>
                      <a:pPr algn="l" fontAlgn="base"/>
                      <a:r>
                        <a:rPr lang="en-US" sz="2000" b="1" dirty="0">
                          <a:solidFill>
                            <a:srgbClr val="111827"/>
                          </a:solidFill>
                          <a:effectLst/>
                        </a:rPr>
                        <a:t>256 GB (</a:t>
                      </a:r>
                      <a:r>
                        <a:rPr lang="en-US" sz="2000" b="0" dirty="0">
                          <a:solidFill>
                            <a:srgbClr val="111827"/>
                          </a:solidFill>
                          <a:effectLst/>
                        </a:rPr>
                        <a:t>SSD</a:t>
                      </a:r>
                      <a:r>
                        <a:rPr lang="en-US" sz="2000" b="1" dirty="0">
                          <a:solidFill>
                            <a:srgbClr val="111827"/>
                          </a:solidFill>
                          <a:effectLst/>
                        </a:rPr>
                        <a:t>)</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~50 ns</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260067587"/>
                  </a:ext>
                </a:extLst>
              </a:tr>
              <a:tr h="695864">
                <a:tc>
                  <a:txBody>
                    <a:bodyPr/>
                    <a:lstStyle/>
                    <a:p>
                      <a:pPr algn="l" fontAlgn="base"/>
                      <a:r>
                        <a:rPr lang="en-US" sz="2000" b="1">
                          <a:solidFill>
                            <a:srgbClr val="111827"/>
                          </a:solidFill>
                          <a:effectLst/>
                        </a:rPr>
                        <a:t>2025</a:t>
                      </a:r>
                      <a:endParaRPr lang="en-US" sz="2000" b="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32 GB – 64 GB</a:t>
                      </a:r>
                      <a:endParaRPr lang="en-US" sz="2000" b="0" dirty="0">
                        <a:effectLst/>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2 TB – 4 TB</a:t>
                      </a:r>
                      <a:r>
                        <a:rPr lang="en-US" sz="2000" b="0" dirty="0">
                          <a:effectLst/>
                        </a:rPr>
                        <a:t> </a:t>
                      </a:r>
                    </a:p>
                    <a:p>
                      <a:pPr algn="l" fontAlgn="base"/>
                      <a:r>
                        <a:rPr lang="en-US" sz="2000" b="0" dirty="0">
                          <a:effectLst/>
                        </a:rPr>
                        <a:t>(</a:t>
                      </a:r>
                      <a:r>
                        <a:rPr lang="en-US" sz="2000" b="0" dirty="0" err="1">
                          <a:effectLst/>
                        </a:rPr>
                        <a:t>NVMe</a:t>
                      </a:r>
                      <a:r>
                        <a:rPr lang="en-US" sz="2000" b="0" dirty="0">
                          <a:effectLst/>
                        </a:rPr>
                        <a:t> SSD)</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tc>
                  <a:txBody>
                    <a:bodyPr/>
                    <a:lstStyle/>
                    <a:p>
                      <a:pPr algn="l" fontAlgn="base"/>
                      <a:r>
                        <a:rPr lang="en-US" sz="2000" b="1" dirty="0">
                          <a:solidFill>
                            <a:srgbClr val="111827"/>
                          </a:solidFill>
                          <a:effectLst/>
                        </a:rPr>
                        <a:t>~60 ns</a:t>
                      </a:r>
                      <a:r>
                        <a:rPr lang="en-US" sz="2000" b="0" dirty="0">
                          <a:effectLst/>
                        </a:rPr>
                        <a:t>*</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FF"/>
                    </a:solidFill>
                  </a:tcPr>
                </a:tc>
                <a:extLst>
                  <a:ext uri="{0D108BD9-81ED-4DB2-BD59-A6C34878D82A}">
                    <a16:rowId xmlns:a16="http://schemas.microsoft.com/office/drawing/2014/main" val="1707032394"/>
                  </a:ext>
                </a:extLst>
              </a:tr>
            </a:tbl>
          </a:graphicData>
        </a:graphic>
      </p:graphicFrame>
      <p:sp>
        <p:nvSpPr>
          <p:cNvPr id="3" name="Rectangle 2">
            <a:extLst>
              <a:ext uri="{FF2B5EF4-FFF2-40B4-BE49-F238E27FC236}">
                <a16:creationId xmlns:a16="http://schemas.microsoft.com/office/drawing/2014/main" id="{DEF150E3-F6A8-4B6C-9619-576F033B1D4B}"/>
              </a:ext>
            </a:extLst>
          </p:cNvPr>
          <p:cNvSpPr txBox="1">
            <a:spLocks noGrp="1"/>
          </p:cNvSpPr>
          <p:nvPr>
            <p:ph type="title"/>
          </p:nvPr>
        </p:nvSpPr>
        <p:spPr>
          <a:xfrm>
            <a:off x="1047750" y="8987"/>
            <a:ext cx="9315449" cy="762001"/>
          </a:xfrm>
          <a:prstGeom prst="rect">
            <a:avLst/>
          </a:prstGeom>
        </p:spPr>
        <p:txBody>
          <a:bodyPr/>
          <a:lstStyle/>
          <a:p>
            <a:r>
              <a:rPr lang="en-US" sz="4000" dirty="0"/>
              <a:t>PC Memory/Storage Size and Latency</a:t>
            </a:r>
            <a:endParaRPr sz="4000" dirty="0"/>
          </a:p>
        </p:txBody>
      </p:sp>
      <p:sp>
        <p:nvSpPr>
          <p:cNvPr id="2" name="TextBox 1">
            <a:extLst>
              <a:ext uri="{FF2B5EF4-FFF2-40B4-BE49-F238E27FC236}">
                <a16:creationId xmlns:a16="http://schemas.microsoft.com/office/drawing/2014/main" id="{F65E91E0-31E1-9E3D-749A-7396A120FB0D}"/>
              </a:ext>
            </a:extLst>
          </p:cNvPr>
          <p:cNvSpPr txBox="1"/>
          <p:nvPr/>
        </p:nvSpPr>
        <p:spPr>
          <a:xfrm>
            <a:off x="6505573" y="1027047"/>
            <a:ext cx="3857626" cy="1200329"/>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Have you noticed that MICRON (DRAM company) draws more attention than Nvidia (GPU company)? </a:t>
            </a:r>
          </a:p>
        </p:txBody>
      </p:sp>
      <p:pic>
        <p:nvPicPr>
          <p:cNvPr id="6" name="Picture 5">
            <a:extLst>
              <a:ext uri="{FF2B5EF4-FFF2-40B4-BE49-F238E27FC236}">
                <a16:creationId xmlns:a16="http://schemas.microsoft.com/office/drawing/2014/main" id="{93A946FE-511C-F8E8-3568-666FC51346FF}"/>
              </a:ext>
            </a:extLst>
          </p:cNvPr>
          <p:cNvPicPr>
            <a:picLocks noChangeAspect="1"/>
          </p:cNvPicPr>
          <p:nvPr/>
        </p:nvPicPr>
        <p:blipFill>
          <a:blip r:embed="rId2"/>
          <a:stretch>
            <a:fillRect/>
          </a:stretch>
        </p:blipFill>
        <p:spPr>
          <a:xfrm>
            <a:off x="4494179" y="2266477"/>
            <a:ext cx="7498606" cy="3391373"/>
          </a:xfrm>
          <a:prstGeom prst="rect">
            <a:avLst/>
          </a:prstGeom>
        </p:spPr>
      </p:pic>
      <p:sp>
        <p:nvSpPr>
          <p:cNvPr id="7" name="TextBox 6">
            <a:extLst>
              <a:ext uri="{FF2B5EF4-FFF2-40B4-BE49-F238E27FC236}">
                <a16:creationId xmlns:a16="http://schemas.microsoft.com/office/drawing/2014/main" id="{B24EAA0B-C7FB-6025-F0ED-EF3694E6AAE2}"/>
              </a:ext>
            </a:extLst>
          </p:cNvPr>
          <p:cNvSpPr txBox="1"/>
          <p:nvPr/>
        </p:nvSpPr>
        <p:spPr>
          <a:xfrm>
            <a:off x="5797685" y="5594340"/>
            <a:ext cx="5291238" cy="646331"/>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AI workload creates a Memory bottleneck</a:t>
            </a:r>
          </a:p>
          <a:p>
            <a:r>
              <a:rPr lang="en-US" dirty="0">
                <a:ea typeface="標楷體" pitchFamily="65" charset="-120"/>
                <a:cs typeface="Calibri" pitchFamily="34" charset="0"/>
              </a:rPr>
              <a:t>AI workload requires both “size” and “bandwidth”</a:t>
            </a:r>
          </a:p>
        </p:txBody>
      </p:sp>
    </p:spTree>
    <p:extLst>
      <p:ext uri="{BB962C8B-B14F-4D97-AF65-F5344CB8AC3E}">
        <p14:creationId xmlns:p14="http://schemas.microsoft.com/office/powerpoint/2010/main" val="342842377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9981825" cy="663667"/>
          </a:xfrm>
        </p:spPr>
        <p:txBody>
          <a:bodyPr/>
          <a:lstStyle/>
          <a:p>
            <a:r>
              <a:rPr lang="en-US" altLang="zh-TW" dirty="0"/>
              <a:t>6.1  Random Access Memory (RAM)</a:t>
            </a:r>
          </a:p>
        </p:txBody>
      </p:sp>
      <p:sp>
        <p:nvSpPr>
          <p:cNvPr id="11267" name="Rectangle 3"/>
          <p:cNvSpPr>
            <a:spLocks noGrp="1" noChangeArrowheads="1"/>
          </p:cNvSpPr>
          <p:nvPr>
            <p:ph type="body" idx="1"/>
          </p:nvPr>
        </p:nvSpPr>
        <p:spPr>
          <a:xfrm>
            <a:off x="1327356" y="1125537"/>
            <a:ext cx="9124336" cy="4931135"/>
          </a:xfrm>
        </p:spPr>
        <p:txBody>
          <a:bodyPr/>
          <a:lstStyle/>
          <a:p>
            <a:pPr>
              <a:spcBef>
                <a:spcPts val="0"/>
              </a:spcBef>
            </a:pPr>
            <a:r>
              <a:rPr lang="en-US" altLang="zh-TW" sz="2400" dirty="0"/>
              <a:t>Random access memory</a:t>
            </a:r>
          </a:p>
          <a:p>
            <a:pPr lvl="1">
              <a:spcBef>
                <a:spcPts val="0"/>
              </a:spcBef>
            </a:pPr>
            <a:r>
              <a:rPr lang="en-US" altLang="zh-TW" sz="2133" dirty="0"/>
              <a:t>Access time is the same for all locations</a:t>
            </a:r>
          </a:p>
          <a:p>
            <a:pPr lvl="1">
              <a:spcBef>
                <a:spcPts val="0"/>
              </a:spcBef>
            </a:pPr>
            <a:r>
              <a:rPr lang="en-US" altLang="zh-TW" sz="2133" dirty="0">
                <a:solidFill>
                  <a:srgbClr val="FF0000"/>
                </a:solidFill>
              </a:rPr>
              <a:t>SRAM</a:t>
            </a:r>
            <a:r>
              <a:rPr lang="en-US" altLang="zh-TW" sz="2133" dirty="0"/>
              <a:t> (Static Random Access Memory)</a:t>
            </a:r>
          </a:p>
          <a:p>
            <a:pPr lvl="2">
              <a:spcBef>
                <a:spcPts val="0"/>
              </a:spcBef>
            </a:pPr>
            <a:r>
              <a:rPr lang="en-US" altLang="zh-TW" sz="1867" dirty="0"/>
              <a:t>Low density, high power, expensive, fast</a:t>
            </a:r>
          </a:p>
          <a:p>
            <a:pPr lvl="2">
              <a:spcBef>
                <a:spcPts val="0"/>
              </a:spcBef>
            </a:pPr>
            <a:r>
              <a:rPr lang="en-US" altLang="zh-TW" sz="1867" dirty="0"/>
              <a:t>Static: content will last forever until it loses power</a:t>
            </a:r>
          </a:p>
          <a:p>
            <a:pPr lvl="2">
              <a:spcBef>
                <a:spcPts val="0"/>
              </a:spcBef>
            </a:pPr>
            <a:r>
              <a:rPr lang="en-US" altLang="zh-TW" sz="1867" dirty="0"/>
              <a:t>Address not divided</a:t>
            </a:r>
          </a:p>
          <a:p>
            <a:pPr lvl="2">
              <a:spcBef>
                <a:spcPts val="0"/>
              </a:spcBef>
            </a:pPr>
            <a:r>
              <a:rPr lang="en-US" altLang="zh-TW" sz="1867" dirty="0"/>
              <a:t>Use for caches, local memory</a:t>
            </a:r>
          </a:p>
          <a:p>
            <a:pPr marL="914354" lvl="2" indent="0">
              <a:spcBef>
                <a:spcPts val="0"/>
              </a:spcBef>
              <a:buNone/>
            </a:pPr>
            <a:endParaRPr lang="en-US" altLang="zh-TW" sz="1867" dirty="0"/>
          </a:p>
          <a:p>
            <a:pPr lvl="1">
              <a:spcBef>
                <a:spcPts val="0"/>
              </a:spcBef>
            </a:pPr>
            <a:r>
              <a:rPr lang="en-US" altLang="zh-TW" sz="2133" dirty="0">
                <a:solidFill>
                  <a:srgbClr val="FF0000"/>
                </a:solidFill>
              </a:rPr>
              <a:t>DRAM</a:t>
            </a:r>
            <a:r>
              <a:rPr lang="en-US" altLang="zh-TW" sz="2133" dirty="0"/>
              <a:t> (Dynamic Random Access Memory)</a:t>
            </a:r>
          </a:p>
          <a:p>
            <a:pPr lvl="2">
              <a:spcBef>
                <a:spcPts val="0"/>
              </a:spcBef>
            </a:pPr>
            <a:r>
              <a:rPr lang="en-US" altLang="zh-TW" sz="1867" dirty="0"/>
              <a:t>High density, low power, cheap, slow</a:t>
            </a:r>
          </a:p>
          <a:p>
            <a:pPr lvl="2">
              <a:spcBef>
                <a:spcPts val="0"/>
              </a:spcBef>
            </a:pPr>
            <a:r>
              <a:rPr lang="en-US" altLang="zh-TW" sz="1867" dirty="0"/>
              <a:t>Dynamic: need to be </a:t>
            </a:r>
            <a:r>
              <a:rPr lang="en-US" altLang="zh-TW" sz="1867" dirty="0">
                <a:solidFill>
                  <a:srgbClr val="FF0000"/>
                </a:solidFill>
              </a:rPr>
              <a:t>refreshed </a:t>
            </a:r>
            <a:r>
              <a:rPr lang="en-US" altLang="zh-TW" sz="1867" dirty="0"/>
              <a:t>regularly</a:t>
            </a:r>
          </a:p>
          <a:p>
            <a:pPr lvl="2">
              <a:spcBef>
                <a:spcPts val="0"/>
              </a:spcBef>
            </a:pPr>
            <a:r>
              <a:rPr lang="en-US" altLang="zh-TW" sz="1867" dirty="0"/>
              <a:t>Addresses in 2 halves (memory as a 2D matrix)</a:t>
            </a:r>
          </a:p>
          <a:p>
            <a:pPr lvl="3">
              <a:spcBef>
                <a:spcPts val="0"/>
              </a:spcBef>
            </a:pPr>
            <a:r>
              <a:rPr lang="en-US" altLang="zh-TW" sz="1600" dirty="0"/>
              <a:t>RAS/CAS  (Row/Column Access Strobe)</a:t>
            </a:r>
          </a:p>
          <a:p>
            <a:pPr lvl="2">
              <a:spcBef>
                <a:spcPts val="0"/>
              </a:spcBef>
            </a:pPr>
            <a:r>
              <a:rPr lang="en-US" altLang="zh-TW" sz="1867" dirty="0"/>
              <a:t>Use for main memory</a:t>
            </a:r>
          </a:p>
          <a:p>
            <a:pPr>
              <a:spcBef>
                <a:spcPts val="0"/>
              </a:spcBef>
            </a:pPr>
            <a:endParaRPr lang="en-US" altLang="zh-TW" sz="2400"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a:t>
            </a:fld>
            <a:endParaRPr lang="zh-TW" altLang="en-US"/>
          </a:p>
        </p:txBody>
      </p:sp>
      <p:sp>
        <p:nvSpPr>
          <p:cNvPr id="2" name="TextBox 1"/>
          <p:cNvSpPr txBox="1"/>
          <p:nvPr/>
        </p:nvSpPr>
        <p:spPr>
          <a:xfrm>
            <a:off x="7288693" y="1683214"/>
            <a:ext cx="4810897" cy="1816266"/>
          </a:xfrm>
          <a:prstGeom prst="rect">
            <a:avLst/>
          </a:prstGeom>
          <a:noFill/>
        </p:spPr>
        <p:txBody>
          <a:bodyPr wrap="square" rtlCol="0" anchor="ctr" anchorCtr="1">
            <a:spAutoFit/>
          </a:bodyPr>
          <a:lstStyle/>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Typically 4-8 transistors and 2 resistors as one cell </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The switch state of the resistor to represent a bit</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No need to refresh</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Expensive due to more transistors</a:t>
            </a:r>
          </a:p>
        </p:txBody>
      </p:sp>
      <p:sp>
        <p:nvSpPr>
          <p:cNvPr id="6" name="TextBox 5"/>
          <p:cNvSpPr txBox="1"/>
          <p:nvPr/>
        </p:nvSpPr>
        <p:spPr>
          <a:xfrm>
            <a:off x="7288693" y="3670789"/>
            <a:ext cx="4517349" cy="1816266"/>
          </a:xfrm>
          <a:prstGeom prst="rect">
            <a:avLst/>
          </a:prstGeom>
          <a:noFill/>
        </p:spPr>
        <p:txBody>
          <a:bodyPr wrap="square" rtlCol="0" anchor="ctr" anchorCtr="1">
            <a:spAutoFit/>
          </a:bodyPr>
          <a:lstStyle/>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1 transistor and 1 capacitor as a cell</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Charge of the capacitor represent a bit</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need periodically refreshed after access</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Much denser and cheaper</a:t>
            </a:r>
          </a:p>
        </p:txBody>
      </p:sp>
    </p:spTree>
    <p:extLst>
      <p:ext uri="{BB962C8B-B14F-4D97-AF65-F5344CB8AC3E}">
        <p14:creationId xmlns:p14="http://schemas.microsoft.com/office/powerpoint/2010/main" val="831201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Rectangle 5"/>
          <p:cNvSpPr txBox="1">
            <a:spLocks noGrp="1"/>
          </p:cNvSpPr>
          <p:nvPr>
            <p:ph type="sldNum" sz="quarter" idx="2"/>
          </p:nvPr>
        </p:nvSpPr>
        <p:spPr>
          <a:xfrm>
            <a:off x="10354844" y="6611779"/>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
        <p:nvSpPr>
          <p:cNvPr id="361" name="Title 3"/>
          <p:cNvSpPr txBox="1">
            <a:spLocks noGrp="1"/>
          </p:cNvSpPr>
          <p:nvPr>
            <p:ph type="title"/>
          </p:nvPr>
        </p:nvSpPr>
        <p:spPr>
          <a:prstGeom prst="rect">
            <a:avLst/>
          </a:prstGeom>
        </p:spPr>
        <p:txBody>
          <a:bodyPr/>
          <a:lstStyle/>
          <a:p>
            <a:r>
              <a:t>RAM Technologies</a:t>
            </a:r>
          </a:p>
        </p:txBody>
      </p:sp>
      <p:sp>
        <p:nvSpPr>
          <p:cNvPr id="362" name="Content Placeholder 4"/>
          <p:cNvSpPr txBox="1">
            <a:spLocks noGrp="1"/>
          </p:cNvSpPr>
          <p:nvPr>
            <p:ph type="body" sz="half" idx="1"/>
          </p:nvPr>
        </p:nvSpPr>
        <p:spPr>
          <a:xfrm>
            <a:off x="1409700" y="1362075"/>
            <a:ext cx="4624389" cy="4972050"/>
          </a:xfrm>
          <a:prstGeom prst="rect">
            <a:avLst/>
          </a:prstGeom>
        </p:spPr>
        <p:txBody>
          <a:bodyPr/>
          <a:lstStyle/>
          <a:p>
            <a:pPr marL="315468" indent="-315468" defTabSz="841247">
              <a:defRPr sz="2576"/>
            </a:pPr>
            <a:r>
              <a:rPr dirty="0"/>
              <a:t>DRAM</a:t>
            </a:r>
          </a:p>
          <a:p>
            <a:pPr marL="315468" indent="-315468" defTabSz="841247">
              <a:defRPr sz="2576"/>
            </a:pPr>
            <a:endParaRPr dirty="0"/>
          </a:p>
          <a:p>
            <a:pPr marL="315468" indent="-315468" defTabSz="841247">
              <a:defRPr sz="2576"/>
            </a:pPr>
            <a:endParaRPr dirty="0"/>
          </a:p>
          <a:p>
            <a:pPr marL="315468" indent="-315468" defTabSz="841247">
              <a:defRPr sz="2576"/>
            </a:pPr>
            <a:endParaRPr dirty="0"/>
          </a:p>
          <a:p>
            <a:pPr marL="0" indent="0" defTabSz="841247">
              <a:buSzTx/>
              <a:buNone/>
              <a:defRPr sz="2576"/>
            </a:pPr>
            <a:endParaRPr dirty="0"/>
          </a:p>
          <a:p>
            <a:pPr marL="315468" indent="-315468" defTabSz="841247">
              <a:defRPr sz="2576"/>
            </a:pPr>
            <a:r>
              <a:rPr dirty="0"/>
              <a:t>1 Transistor + 1 capacitor/bit</a:t>
            </a:r>
          </a:p>
          <a:p>
            <a:pPr marL="683513" lvl="1" indent="-262890" defTabSz="841247">
              <a:spcBef>
                <a:spcPts val="500"/>
              </a:spcBef>
              <a:defRPr sz="2208" b="0"/>
            </a:pPr>
            <a:r>
              <a:rPr dirty="0"/>
              <a:t>Capacitor oriented vertically</a:t>
            </a:r>
          </a:p>
          <a:p>
            <a:pPr marL="315468" indent="-315468" defTabSz="841247">
              <a:defRPr sz="2576"/>
            </a:pPr>
            <a:r>
              <a:rPr dirty="0"/>
              <a:t>Must refresh state periodically</a:t>
            </a:r>
          </a:p>
        </p:txBody>
      </p:sp>
      <p:sp>
        <p:nvSpPr>
          <p:cNvPr id="363" name="Content Placeholder 5"/>
          <p:cNvSpPr txBox="1"/>
          <p:nvPr/>
        </p:nvSpPr>
        <p:spPr>
          <a:xfrm>
            <a:off x="6542659" y="1247698"/>
            <a:ext cx="3780473" cy="49720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marL="342900" indent="-342900">
              <a:spcBef>
                <a:spcPts val="600"/>
              </a:spcBef>
              <a:buClr>
                <a:srgbClr val="990000"/>
              </a:buClr>
              <a:buSzPct val="60000"/>
              <a:buChar char="⬛"/>
              <a:defRPr sz="2800">
                <a:latin typeface="Calibri"/>
                <a:ea typeface="Calibri"/>
                <a:cs typeface="Calibri"/>
                <a:sym typeface="Calibri"/>
              </a:defRPr>
            </a:pPr>
            <a:r>
              <a:rPr sz="2800" dirty="0"/>
              <a:t>SRAM</a:t>
            </a:r>
          </a:p>
          <a:p>
            <a:pPr marL="342900" indent="-342900">
              <a:spcBef>
                <a:spcPts val="600"/>
              </a:spcBef>
              <a:buClr>
                <a:srgbClr val="990000"/>
              </a:buClr>
              <a:buSzPct val="60000"/>
              <a:buChar char="⬛"/>
              <a:defRPr sz="2800">
                <a:latin typeface="Calibri"/>
                <a:ea typeface="Calibri"/>
                <a:cs typeface="Calibri"/>
                <a:sym typeface="Calibri"/>
              </a:defRPr>
            </a:pPr>
            <a:endParaRPr sz="2800" dirty="0"/>
          </a:p>
          <a:p>
            <a:pPr marL="342900" indent="-342900">
              <a:spcBef>
                <a:spcPts val="600"/>
              </a:spcBef>
              <a:buClr>
                <a:srgbClr val="990000"/>
              </a:buClr>
              <a:buSzPct val="60000"/>
              <a:buChar char="⬛"/>
              <a:defRPr sz="2800">
                <a:latin typeface="Calibri"/>
                <a:ea typeface="Calibri"/>
                <a:cs typeface="Calibri"/>
                <a:sym typeface="Calibri"/>
              </a:defRPr>
            </a:pPr>
            <a:endParaRPr sz="2800" dirty="0"/>
          </a:p>
          <a:p>
            <a:pPr marL="342900" indent="-342900">
              <a:spcBef>
                <a:spcPts val="600"/>
              </a:spcBef>
              <a:buClr>
                <a:srgbClr val="990000"/>
              </a:buClr>
              <a:buSzPct val="60000"/>
              <a:buChar char="⬛"/>
              <a:defRPr sz="2800">
                <a:latin typeface="Calibri"/>
                <a:ea typeface="Calibri"/>
                <a:cs typeface="Calibri"/>
                <a:sym typeface="Calibri"/>
              </a:defRPr>
            </a:pPr>
            <a:endParaRPr sz="2800" dirty="0"/>
          </a:p>
          <a:p>
            <a:pPr marL="342900" indent="-342900">
              <a:spcBef>
                <a:spcPts val="600"/>
              </a:spcBef>
              <a:buClr>
                <a:srgbClr val="990000"/>
              </a:buClr>
              <a:buSzPct val="60000"/>
              <a:buChar char="⬛"/>
              <a:defRPr sz="2800">
                <a:latin typeface="Calibri"/>
                <a:ea typeface="Calibri"/>
                <a:cs typeface="Calibri"/>
                <a:sym typeface="Calibri"/>
              </a:defRPr>
            </a:pPr>
            <a:r>
              <a:rPr sz="2800" dirty="0"/>
              <a:t>6 transistors / bit</a:t>
            </a:r>
          </a:p>
          <a:p>
            <a:pPr marL="342900" indent="-342900">
              <a:spcBef>
                <a:spcPts val="600"/>
              </a:spcBef>
              <a:buClr>
                <a:srgbClr val="990000"/>
              </a:buClr>
              <a:buSzPct val="60000"/>
              <a:buChar char="⬛"/>
              <a:defRPr sz="2800">
                <a:latin typeface="Calibri"/>
                <a:ea typeface="Calibri"/>
                <a:cs typeface="Calibri"/>
                <a:sym typeface="Calibri"/>
              </a:defRPr>
            </a:pPr>
            <a:r>
              <a:rPr sz="2800" dirty="0"/>
              <a:t>Holds state indefinitely</a:t>
            </a:r>
          </a:p>
        </p:txBody>
      </p:sp>
      <p:pic>
        <p:nvPicPr>
          <p:cNvPr id="364" name="Picture 2" descr="Picture 2"/>
          <p:cNvPicPr>
            <a:picLocks noChangeAspect="1"/>
          </p:cNvPicPr>
          <p:nvPr/>
        </p:nvPicPr>
        <p:blipFill>
          <a:blip r:embed="rId2"/>
          <a:stretch>
            <a:fillRect/>
          </a:stretch>
        </p:blipFill>
        <p:spPr>
          <a:xfrm>
            <a:off x="2009775" y="1927480"/>
            <a:ext cx="2562340" cy="1774509"/>
          </a:xfrm>
          <a:prstGeom prst="rect">
            <a:avLst/>
          </a:prstGeom>
          <a:ln w="12700">
            <a:miter lim="400000"/>
          </a:ln>
        </p:spPr>
      </p:pic>
      <p:pic>
        <p:nvPicPr>
          <p:cNvPr id="365" name="Picture 6" descr="Picture 6"/>
          <p:cNvPicPr>
            <a:picLocks noChangeAspect="1"/>
          </p:cNvPicPr>
          <p:nvPr/>
        </p:nvPicPr>
        <p:blipFill>
          <a:blip r:embed="rId3"/>
          <a:stretch>
            <a:fillRect/>
          </a:stretch>
        </p:blipFill>
        <p:spPr>
          <a:xfrm>
            <a:off x="6542659" y="1860736"/>
            <a:ext cx="1550819" cy="1342855"/>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Rectangle 5"/>
          <p:cNvSpPr txBox="1">
            <a:spLocks noGrp="1"/>
          </p:cNvSpPr>
          <p:nvPr>
            <p:ph type="sldNum" sz="quarter" idx="2"/>
          </p:nvPr>
        </p:nvSpPr>
        <p:spPr>
          <a:xfrm>
            <a:off x="10354844" y="6611779"/>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
        <p:nvSpPr>
          <p:cNvPr id="368" name="Rectangle 1030"/>
          <p:cNvSpPr txBox="1">
            <a:spLocks noGrp="1"/>
          </p:cNvSpPr>
          <p:nvPr>
            <p:ph type="title"/>
          </p:nvPr>
        </p:nvSpPr>
        <p:spPr>
          <a:xfrm>
            <a:off x="1881019" y="142872"/>
            <a:ext cx="7592095" cy="762001"/>
          </a:xfrm>
          <a:prstGeom prst="rect">
            <a:avLst/>
          </a:prstGeom>
        </p:spPr>
        <p:txBody>
          <a:bodyPr/>
          <a:lstStyle/>
          <a:p>
            <a:r>
              <a:rPr dirty="0"/>
              <a:t>SRAM vs DRAM Summary</a:t>
            </a:r>
          </a:p>
        </p:txBody>
      </p:sp>
      <p:sp>
        <p:nvSpPr>
          <p:cNvPr id="369" name="Content Placeholder 2"/>
          <p:cNvSpPr txBox="1">
            <a:spLocks noGrp="1"/>
          </p:cNvSpPr>
          <p:nvPr>
            <p:ph type="body" sz="half" idx="1"/>
          </p:nvPr>
        </p:nvSpPr>
        <p:spPr>
          <a:xfrm>
            <a:off x="1879280" y="3613666"/>
            <a:ext cx="8610601" cy="2482334"/>
          </a:xfrm>
          <a:prstGeom prst="rect">
            <a:avLst/>
          </a:prstGeom>
        </p:spPr>
        <p:txBody>
          <a:bodyPr/>
          <a:lstStyle/>
          <a:p>
            <a:r>
              <a:rPr sz="3200" dirty="0"/>
              <a:t>Trends</a:t>
            </a:r>
          </a:p>
          <a:p>
            <a:pPr marL="742950" lvl="1" indent="-285750">
              <a:spcBef>
                <a:spcPts val="400"/>
              </a:spcBef>
              <a:defRPr sz="2000" b="0"/>
            </a:pPr>
            <a:r>
              <a:rPr dirty="0"/>
              <a:t>SRAM scales with semiconductor technology</a:t>
            </a:r>
          </a:p>
          <a:p>
            <a:pPr marL="1143000" lvl="2" indent="-228600">
              <a:spcBef>
                <a:spcPts val="400"/>
              </a:spcBef>
              <a:defRPr sz="2000" b="0"/>
            </a:pPr>
            <a:r>
              <a:rPr dirty="0"/>
              <a:t>Reaching its limits</a:t>
            </a:r>
          </a:p>
          <a:p>
            <a:pPr marL="742950" lvl="1" indent="-285750">
              <a:spcBef>
                <a:spcPts val="400"/>
              </a:spcBef>
              <a:defRPr sz="2000" b="0"/>
            </a:pPr>
            <a:r>
              <a:rPr dirty="0"/>
              <a:t>DRAM scaling </a:t>
            </a:r>
            <a:r>
              <a:rPr lang="en-US" dirty="0"/>
              <a:t>is </a:t>
            </a:r>
            <a:r>
              <a:rPr dirty="0"/>
              <a:t>limited by </a:t>
            </a:r>
            <a:r>
              <a:rPr lang="en-US" dirty="0"/>
              <a:t>the </a:t>
            </a:r>
            <a:r>
              <a:rPr dirty="0"/>
              <a:t>need for minimum capacitance</a:t>
            </a:r>
          </a:p>
          <a:p>
            <a:pPr marL="1143000" lvl="2" indent="-228600">
              <a:spcBef>
                <a:spcPts val="400"/>
              </a:spcBef>
              <a:defRPr sz="2000" b="0"/>
            </a:pPr>
            <a:r>
              <a:rPr dirty="0"/>
              <a:t>Aspect ratio limits how deep </a:t>
            </a:r>
            <a:r>
              <a:rPr lang="en-US" dirty="0"/>
              <a:t>a </a:t>
            </a:r>
            <a:r>
              <a:rPr dirty="0"/>
              <a:t>capacitor</a:t>
            </a:r>
            <a:r>
              <a:rPr lang="en-US" dirty="0"/>
              <a:t> can be made</a:t>
            </a:r>
            <a:endParaRPr dirty="0"/>
          </a:p>
          <a:p>
            <a:pPr marL="1143000" lvl="2" indent="-228600">
              <a:spcBef>
                <a:spcPts val="400"/>
              </a:spcBef>
              <a:defRPr sz="2000" b="0"/>
            </a:pPr>
            <a:r>
              <a:rPr dirty="0"/>
              <a:t>Also reaching its limits</a:t>
            </a:r>
          </a:p>
        </p:txBody>
      </p:sp>
      <p:sp>
        <p:nvSpPr>
          <p:cNvPr id="370" name="Text Box 1028"/>
          <p:cNvSpPr txBox="1"/>
          <p:nvPr/>
        </p:nvSpPr>
        <p:spPr>
          <a:xfrm>
            <a:off x="1879280" y="1077541"/>
            <a:ext cx="8610601" cy="2246769"/>
          </a:xfrm>
          <a:prstGeom prst="rect">
            <a:avLst/>
          </a:prstGeom>
          <a:ln w="25400">
            <a:solidFill>
              <a:srgbClr val="000000"/>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000" b="0">
                <a:latin typeface="Calibri"/>
                <a:ea typeface="Calibri"/>
                <a:cs typeface="Calibri"/>
                <a:sym typeface="Calibri"/>
              </a:defRPr>
            </a:pPr>
            <a:r>
              <a:rPr sz="2000" dirty="0"/>
              <a:t>	</a:t>
            </a:r>
            <a:r>
              <a:rPr sz="2000" b="1" dirty="0"/>
              <a:t>Trans.	Access	Needs	Needs		</a:t>
            </a:r>
          </a:p>
          <a:p>
            <a:pPr>
              <a:defRPr sz="2000">
                <a:latin typeface="Calibri"/>
                <a:ea typeface="Calibri"/>
                <a:cs typeface="Calibri"/>
                <a:sym typeface="Calibri"/>
              </a:defRPr>
            </a:pPr>
            <a:r>
              <a:rPr sz="2000" dirty="0"/>
              <a:t>	per bit	 time	refresh?	EDC?	Cost	Applications</a:t>
            </a:r>
          </a:p>
          <a:p>
            <a:pPr>
              <a:defRPr sz="2000" b="0">
                <a:latin typeface="Calibri"/>
                <a:ea typeface="Calibri"/>
                <a:cs typeface="Calibri"/>
                <a:sym typeface="Calibri"/>
              </a:defRPr>
            </a:pPr>
            <a:endParaRPr sz="2000" dirty="0"/>
          </a:p>
          <a:p>
            <a:pPr>
              <a:defRPr sz="2000" b="0">
                <a:latin typeface="Calibri"/>
                <a:ea typeface="Calibri"/>
                <a:cs typeface="Calibri"/>
                <a:sym typeface="Calibri"/>
              </a:defRPr>
            </a:pPr>
            <a:r>
              <a:rPr sz="2000" dirty="0"/>
              <a:t>SRAM	6 or 8	1x	No	Maybe	100x	Cache memories</a:t>
            </a:r>
          </a:p>
          <a:p>
            <a:pPr>
              <a:defRPr sz="2000" b="0">
                <a:latin typeface="Calibri"/>
                <a:ea typeface="Calibri"/>
                <a:cs typeface="Calibri"/>
                <a:sym typeface="Calibri"/>
              </a:defRPr>
            </a:pPr>
            <a:endParaRPr sz="2000" dirty="0"/>
          </a:p>
          <a:p>
            <a:pPr>
              <a:defRPr sz="2000" b="0">
                <a:latin typeface="Calibri"/>
                <a:ea typeface="Calibri"/>
                <a:cs typeface="Calibri"/>
                <a:sym typeface="Calibri"/>
              </a:defRPr>
            </a:pPr>
            <a:r>
              <a:rPr sz="2000" dirty="0"/>
              <a:t>DRAM	1	10x	Yes	Yes	1x	Main memories,</a:t>
            </a:r>
          </a:p>
          <a:p>
            <a:pPr>
              <a:defRPr sz="2000" b="0">
                <a:latin typeface="Calibri"/>
                <a:ea typeface="Calibri"/>
                <a:cs typeface="Calibri"/>
                <a:sym typeface="Calibri"/>
              </a:defRPr>
            </a:pPr>
            <a:r>
              <a:rPr sz="2000" dirty="0"/>
              <a:t>						frame buffers</a:t>
            </a:r>
          </a:p>
        </p:txBody>
      </p:sp>
      <p:sp>
        <p:nvSpPr>
          <p:cNvPr id="371" name="TextBox 1"/>
          <p:cNvSpPr txBox="1"/>
          <p:nvPr/>
        </p:nvSpPr>
        <p:spPr>
          <a:xfrm>
            <a:off x="1879280" y="3244334"/>
            <a:ext cx="3428629"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0">
                <a:latin typeface="Calibri"/>
                <a:ea typeface="Calibri"/>
                <a:cs typeface="Calibri"/>
                <a:sym typeface="Calibri"/>
              </a:defRPr>
            </a:lvl1pPr>
          </a:lstStyle>
          <a:p>
            <a:r>
              <a:rPr dirty="0"/>
              <a:t>EDC: Error detection and correction</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Rectangle 5"/>
          <p:cNvSpPr txBox="1">
            <a:spLocks noGrp="1"/>
          </p:cNvSpPr>
          <p:nvPr>
            <p:ph type="sldNum" sz="quarter" idx="2"/>
          </p:nvPr>
        </p:nvSpPr>
        <p:spPr>
          <a:xfrm>
            <a:off x="12261466" y="5792876"/>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
        <p:nvSpPr>
          <p:cNvPr id="378" name="Rectangle 52"/>
          <p:cNvSpPr txBox="1">
            <a:spLocks noGrp="1"/>
          </p:cNvSpPr>
          <p:nvPr>
            <p:ph type="title"/>
          </p:nvPr>
        </p:nvSpPr>
        <p:spPr>
          <a:xfrm>
            <a:off x="1634548" y="96351"/>
            <a:ext cx="8995293" cy="762001"/>
          </a:xfrm>
          <a:prstGeom prst="rect">
            <a:avLst/>
          </a:prstGeom>
        </p:spPr>
        <p:txBody>
          <a:bodyPr/>
          <a:lstStyle/>
          <a:p>
            <a:r>
              <a:rPr dirty="0"/>
              <a:t>Conventional DRAM Organization</a:t>
            </a:r>
          </a:p>
        </p:txBody>
      </p:sp>
      <p:sp>
        <p:nvSpPr>
          <p:cNvPr id="379" name="Rectangle 53"/>
          <p:cNvSpPr txBox="1">
            <a:spLocks noGrp="1"/>
          </p:cNvSpPr>
          <p:nvPr>
            <p:ph type="body" idx="1"/>
          </p:nvPr>
        </p:nvSpPr>
        <p:spPr>
          <a:xfrm>
            <a:off x="184826" y="1125537"/>
            <a:ext cx="11397574" cy="4895851"/>
          </a:xfrm>
          <a:prstGeom prst="rect">
            <a:avLst/>
          </a:prstGeom>
        </p:spPr>
        <p:txBody>
          <a:bodyPr/>
          <a:lstStyle/>
          <a:p>
            <a:pPr>
              <a:defRPr i="1"/>
            </a:pPr>
            <a:r>
              <a:rPr sz="3200" dirty="0"/>
              <a:t>d</a:t>
            </a:r>
            <a:r>
              <a:rPr sz="3200" i="0" dirty="0"/>
              <a:t> x </a:t>
            </a:r>
            <a:r>
              <a:rPr sz="3200" dirty="0"/>
              <a:t>w</a:t>
            </a:r>
            <a:r>
              <a:rPr sz="3200" i="0" dirty="0"/>
              <a:t> DRAM:</a:t>
            </a:r>
          </a:p>
          <a:p>
            <a:pPr marL="742950" lvl="1" indent="-285750">
              <a:spcBef>
                <a:spcPts val="400"/>
              </a:spcBef>
              <a:defRPr sz="2000" b="0" i="1"/>
            </a:pPr>
            <a:r>
              <a:rPr dirty="0"/>
              <a:t>d⋅ w</a:t>
            </a:r>
            <a:r>
              <a:rPr i="0" dirty="0"/>
              <a:t> total bits organized as </a:t>
            </a:r>
            <a:r>
              <a:rPr dirty="0"/>
              <a:t>d</a:t>
            </a:r>
            <a:r>
              <a:rPr i="0" dirty="0"/>
              <a:t> </a:t>
            </a:r>
            <a:r>
              <a:rPr i="0" dirty="0">
                <a:solidFill>
                  <a:srgbClr val="FF0000"/>
                </a:solidFill>
              </a:rPr>
              <a:t>supercells</a:t>
            </a:r>
            <a:r>
              <a:rPr i="0" dirty="0"/>
              <a:t> of size </a:t>
            </a:r>
            <a:r>
              <a:rPr dirty="0"/>
              <a:t>w</a:t>
            </a:r>
            <a:r>
              <a:rPr i="0" dirty="0"/>
              <a:t> bits</a:t>
            </a:r>
          </a:p>
        </p:txBody>
      </p:sp>
      <p:sp>
        <p:nvSpPr>
          <p:cNvPr id="380" name="Text Box 4"/>
          <p:cNvSpPr txBox="1"/>
          <p:nvPr/>
        </p:nvSpPr>
        <p:spPr>
          <a:xfrm>
            <a:off x="9281830" y="1920120"/>
            <a:ext cx="456213"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cols</a:t>
            </a:r>
          </a:p>
        </p:txBody>
      </p:sp>
      <p:sp>
        <p:nvSpPr>
          <p:cNvPr id="381" name="Text Box 5"/>
          <p:cNvSpPr txBox="1"/>
          <p:nvPr/>
        </p:nvSpPr>
        <p:spPr>
          <a:xfrm>
            <a:off x="7476841" y="3323470"/>
            <a:ext cx="525142"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rows</a:t>
            </a:r>
          </a:p>
        </p:txBody>
      </p:sp>
      <p:sp>
        <p:nvSpPr>
          <p:cNvPr id="382" name="Rectangle 6"/>
          <p:cNvSpPr/>
          <p:nvPr/>
        </p:nvSpPr>
        <p:spPr>
          <a:xfrm>
            <a:off x="8297897" y="24418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83" name="Rectangle 7"/>
          <p:cNvSpPr/>
          <p:nvPr/>
        </p:nvSpPr>
        <p:spPr>
          <a:xfrm>
            <a:off x="8907497" y="24418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4" name="Rectangle 8"/>
          <p:cNvSpPr/>
          <p:nvPr/>
        </p:nvSpPr>
        <p:spPr>
          <a:xfrm>
            <a:off x="9517097" y="24418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5" name="Rectangle 9"/>
          <p:cNvSpPr/>
          <p:nvPr/>
        </p:nvSpPr>
        <p:spPr>
          <a:xfrm>
            <a:off x="10126697" y="24418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6" name="Rectangle 10"/>
          <p:cNvSpPr/>
          <p:nvPr/>
        </p:nvSpPr>
        <p:spPr>
          <a:xfrm>
            <a:off x="8297897" y="29752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87" name="Rectangle 11"/>
          <p:cNvSpPr/>
          <p:nvPr/>
        </p:nvSpPr>
        <p:spPr>
          <a:xfrm>
            <a:off x="8907497" y="2975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8" name="Rectangle 12"/>
          <p:cNvSpPr/>
          <p:nvPr/>
        </p:nvSpPr>
        <p:spPr>
          <a:xfrm>
            <a:off x="9517097" y="2975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9" name="Rectangle 13"/>
          <p:cNvSpPr/>
          <p:nvPr/>
        </p:nvSpPr>
        <p:spPr>
          <a:xfrm>
            <a:off x="10126697" y="2975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0" name="Rectangle 14"/>
          <p:cNvSpPr/>
          <p:nvPr/>
        </p:nvSpPr>
        <p:spPr>
          <a:xfrm>
            <a:off x="8297897" y="35086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91" name="Rectangle 15"/>
          <p:cNvSpPr/>
          <p:nvPr/>
        </p:nvSpPr>
        <p:spPr>
          <a:xfrm>
            <a:off x="8907497" y="3508622"/>
            <a:ext cx="609600" cy="533400"/>
          </a:xfrm>
          <a:prstGeom prst="rect">
            <a:avLst/>
          </a:prstGeom>
          <a:solidFill>
            <a:srgbClr val="00FFFF"/>
          </a:solidFill>
          <a:ln w="12700">
            <a:solidFill>
              <a:srgbClr val="000000"/>
            </a:solidFill>
            <a:miter/>
          </a:ln>
        </p:spPr>
        <p:txBody>
          <a:bodyPr lIns="45719" rIns="45719" anchor="ctr"/>
          <a:lstStyle/>
          <a:p>
            <a:pPr>
              <a:defRPr sz="1600"/>
            </a:pPr>
            <a:endParaRPr sz="1600"/>
          </a:p>
        </p:txBody>
      </p:sp>
      <p:sp>
        <p:nvSpPr>
          <p:cNvPr id="392" name="Rectangle 16"/>
          <p:cNvSpPr/>
          <p:nvPr/>
        </p:nvSpPr>
        <p:spPr>
          <a:xfrm>
            <a:off x="9517097" y="35086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3" name="Rectangle 17"/>
          <p:cNvSpPr/>
          <p:nvPr/>
        </p:nvSpPr>
        <p:spPr>
          <a:xfrm>
            <a:off x="10126697" y="35086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4" name="Rectangle 18"/>
          <p:cNvSpPr/>
          <p:nvPr/>
        </p:nvSpPr>
        <p:spPr>
          <a:xfrm>
            <a:off x="8297897" y="40420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95" name="Rectangle 19"/>
          <p:cNvSpPr/>
          <p:nvPr/>
        </p:nvSpPr>
        <p:spPr>
          <a:xfrm>
            <a:off x="8907497" y="40420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6" name="Rectangle 20"/>
          <p:cNvSpPr/>
          <p:nvPr/>
        </p:nvSpPr>
        <p:spPr>
          <a:xfrm>
            <a:off x="9517097" y="40420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7" name="Rectangle 21"/>
          <p:cNvSpPr/>
          <p:nvPr/>
        </p:nvSpPr>
        <p:spPr>
          <a:xfrm>
            <a:off x="10126697" y="40420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8" name="Text Box 22"/>
          <p:cNvSpPr txBox="1"/>
          <p:nvPr/>
        </p:nvSpPr>
        <p:spPr>
          <a:xfrm>
            <a:off x="8496017" y="2120145"/>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0</a:t>
            </a:r>
          </a:p>
        </p:txBody>
      </p:sp>
      <p:sp>
        <p:nvSpPr>
          <p:cNvPr id="399" name="Text Box 23"/>
          <p:cNvSpPr txBox="1"/>
          <p:nvPr/>
        </p:nvSpPr>
        <p:spPr>
          <a:xfrm>
            <a:off x="9105617" y="2136020"/>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1</a:t>
            </a:r>
          </a:p>
        </p:txBody>
      </p:sp>
      <p:sp>
        <p:nvSpPr>
          <p:cNvPr id="400" name="Text Box 24"/>
          <p:cNvSpPr txBox="1"/>
          <p:nvPr/>
        </p:nvSpPr>
        <p:spPr>
          <a:xfrm>
            <a:off x="9723155" y="2136020"/>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2</a:t>
            </a:r>
          </a:p>
        </p:txBody>
      </p:sp>
      <p:sp>
        <p:nvSpPr>
          <p:cNvPr id="401" name="Text Box 25"/>
          <p:cNvSpPr txBox="1"/>
          <p:nvPr/>
        </p:nvSpPr>
        <p:spPr>
          <a:xfrm>
            <a:off x="10332756" y="2136020"/>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3</a:t>
            </a:r>
          </a:p>
        </p:txBody>
      </p:sp>
      <p:sp>
        <p:nvSpPr>
          <p:cNvPr id="402" name="Text Box 26"/>
          <p:cNvSpPr txBox="1"/>
          <p:nvPr/>
        </p:nvSpPr>
        <p:spPr>
          <a:xfrm>
            <a:off x="8038817" y="2561470"/>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0</a:t>
            </a:r>
          </a:p>
        </p:txBody>
      </p:sp>
      <p:sp>
        <p:nvSpPr>
          <p:cNvPr id="403" name="Text Box 27"/>
          <p:cNvSpPr txBox="1"/>
          <p:nvPr/>
        </p:nvSpPr>
        <p:spPr>
          <a:xfrm>
            <a:off x="8038817" y="3094870"/>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1</a:t>
            </a:r>
          </a:p>
        </p:txBody>
      </p:sp>
      <p:sp>
        <p:nvSpPr>
          <p:cNvPr id="404" name="Text Box 28"/>
          <p:cNvSpPr txBox="1"/>
          <p:nvPr/>
        </p:nvSpPr>
        <p:spPr>
          <a:xfrm>
            <a:off x="8038817" y="3628270"/>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2</a:t>
            </a:r>
          </a:p>
        </p:txBody>
      </p:sp>
      <p:sp>
        <p:nvSpPr>
          <p:cNvPr id="405" name="Text Box 29"/>
          <p:cNvSpPr txBox="1"/>
          <p:nvPr/>
        </p:nvSpPr>
        <p:spPr>
          <a:xfrm>
            <a:off x="8038817" y="4161670"/>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3</a:t>
            </a:r>
          </a:p>
        </p:txBody>
      </p:sp>
      <p:sp>
        <p:nvSpPr>
          <p:cNvPr id="406" name="Rectangle 30"/>
          <p:cNvSpPr/>
          <p:nvPr/>
        </p:nvSpPr>
        <p:spPr>
          <a:xfrm>
            <a:off x="8294722" y="2441822"/>
            <a:ext cx="2438400" cy="2133600"/>
          </a:xfrm>
          <a:prstGeom prst="rect">
            <a:avLst/>
          </a:prstGeom>
          <a:ln w="38100">
            <a:solidFill>
              <a:srgbClr val="000000"/>
            </a:solidFill>
            <a:miter/>
          </a:ln>
        </p:spPr>
        <p:txBody>
          <a:bodyPr lIns="45719" rIns="45719" anchor="ctr"/>
          <a:lstStyle/>
          <a:p>
            <a:endParaRPr/>
          </a:p>
        </p:txBody>
      </p:sp>
      <p:sp>
        <p:nvSpPr>
          <p:cNvPr id="407" name="Rectangle 31"/>
          <p:cNvSpPr/>
          <p:nvPr/>
        </p:nvSpPr>
        <p:spPr>
          <a:xfrm>
            <a:off x="8294722" y="48802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08" name="Rectangle 32"/>
          <p:cNvSpPr/>
          <p:nvPr/>
        </p:nvSpPr>
        <p:spPr>
          <a:xfrm>
            <a:off x="8904322" y="48802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09" name="Rectangle 33"/>
          <p:cNvSpPr/>
          <p:nvPr/>
        </p:nvSpPr>
        <p:spPr>
          <a:xfrm>
            <a:off x="9513922" y="4880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10" name="Rectangle 34"/>
          <p:cNvSpPr/>
          <p:nvPr/>
        </p:nvSpPr>
        <p:spPr>
          <a:xfrm>
            <a:off x="10123522" y="4880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11" name="Rectangle 35"/>
          <p:cNvSpPr/>
          <p:nvPr/>
        </p:nvSpPr>
        <p:spPr>
          <a:xfrm>
            <a:off x="8294722" y="4880222"/>
            <a:ext cx="2438400" cy="533400"/>
          </a:xfrm>
          <a:prstGeom prst="rect">
            <a:avLst/>
          </a:prstGeom>
          <a:ln w="38100">
            <a:solidFill>
              <a:srgbClr val="000000"/>
            </a:solidFill>
            <a:miter/>
          </a:ln>
        </p:spPr>
        <p:txBody>
          <a:bodyPr lIns="45719" rIns="45719" anchor="ctr"/>
          <a:lstStyle/>
          <a:p>
            <a:endParaRPr/>
          </a:p>
        </p:txBody>
      </p:sp>
      <p:sp>
        <p:nvSpPr>
          <p:cNvPr id="412" name="Text Box 36"/>
          <p:cNvSpPr txBox="1"/>
          <p:nvPr/>
        </p:nvSpPr>
        <p:spPr>
          <a:xfrm>
            <a:off x="8692466" y="5472946"/>
            <a:ext cx="174451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vl1pPr>
          </a:lstStyle>
          <a:p>
            <a:r>
              <a:t>Internal row buffer</a:t>
            </a:r>
          </a:p>
        </p:txBody>
      </p:sp>
      <p:sp>
        <p:nvSpPr>
          <p:cNvPr id="413" name="Rectangle 37"/>
          <p:cNvSpPr/>
          <p:nvPr/>
        </p:nvSpPr>
        <p:spPr>
          <a:xfrm>
            <a:off x="7459697" y="1848097"/>
            <a:ext cx="3505200" cy="4038600"/>
          </a:xfrm>
          <a:prstGeom prst="rect">
            <a:avLst/>
          </a:prstGeom>
          <a:ln w="12700">
            <a:solidFill>
              <a:srgbClr val="000000"/>
            </a:solidFill>
            <a:prstDash val="dash"/>
            <a:miter/>
          </a:ln>
        </p:spPr>
        <p:txBody>
          <a:bodyPr lIns="45719" rIns="45719" anchor="ctr"/>
          <a:lstStyle/>
          <a:p>
            <a:endParaRPr/>
          </a:p>
        </p:txBody>
      </p:sp>
      <p:sp>
        <p:nvSpPr>
          <p:cNvPr id="414" name="Text Box 38"/>
          <p:cNvSpPr txBox="1"/>
          <p:nvPr/>
        </p:nvSpPr>
        <p:spPr>
          <a:xfrm>
            <a:off x="7368892" y="1526420"/>
            <a:ext cx="174502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16 x 8 DRAM chip</a:t>
            </a:r>
          </a:p>
        </p:txBody>
      </p:sp>
      <p:sp>
        <p:nvSpPr>
          <p:cNvPr id="415" name="Line 39"/>
          <p:cNvSpPr/>
          <p:nvPr/>
        </p:nvSpPr>
        <p:spPr>
          <a:xfrm flipV="1">
            <a:off x="6316698" y="2883146"/>
            <a:ext cx="1143001" cy="15876"/>
          </a:xfrm>
          <a:prstGeom prst="line">
            <a:avLst/>
          </a:prstGeom>
          <a:ln w="38100">
            <a:solidFill>
              <a:srgbClr val="000000"/>
            </a:solidFill>
            <a:tailEnd type="triangle"/>
          </a:ln>
        </p:spPr>
        <p:txBody>
          <a:bodyPr lIns="45719" rIns="45719"/>
          <a:lstStyle/>
          <a:p>
            <a:endParaRPr/>
          </a:p>
        </p:txBody>
      </p:sp>
      <p:sp>
        <p:nvSpPr>
          <p:cNvPr id="416" name="Text Box 40"/>
          <p:cNvSpPr txBox="1"/>
          <p:nvPr/>
        </p:nvSpPr>
        <p:spPr>
          <a:xfrm>
            <a:off x="6637055" y="2942470"/>
            <a:ext cx="586056"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ourier New"/>
                <a:ea typeface="Courier New"/>
                <a:cs typeface="Courier New"/>
                <a:sym typeface="Courier New"/>
              </a:defRPr>
            </a:lvl1pPr>
          </a:lstStyle>
          <a:p>
            <a:r>
              <a:t>addr</a:t>
            </a:r>
          </a:p>
        </p:txBody>
      </p:sp>
      <p:sp>
        <p:nvSpPr>
          <p:cNvPr id="417" name="Line 41"/>
          <p:cNvSpPr/>
          <p:nvPr/>
        </p:nvSpPr>
        <p:spPr>
          <a:xfrm>
            <a:off x="6316698" y="4651622"/>
            <a:ext cx="1143001" cy="0"/>
          </a:xfrm>
          <a:prstGeom prst="line">
            <a:avLst/>
          </a:prstGeom>
          <a:ln w="38100">
            <a:solidFill>
              <a:srgbClr val="000000"/>
            </a:solidFill>
            <a:headEnd type="triangle"/>
            <a:tailEnd type="triangle"/>
          </a:ln>
        </p:spPr>
        <p:txBody>
          <a:bodyPr lIns="45719" rIns="45719"/>
          <a:lstStyle/>
          <a:p>
            <a:endParaRPr/>
          </a:p>
        </p:txBody>
      </p:sp>
      <p:sp>
        <p:nvSpPr>
          <p:cNvPr id="418" name="Text Box 42"/>
          <p:cNvSpPr txBox="1"/>
          <p:nvPr/>
        </p:nvSpPr>
        <p:spPr>
          <a:xfrm>
            <a:off x="6605305" y="4695070"/>
            <a:ext cx="586056"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ourier New"/>
                <a:ea typeface="Courier New"/>
                <a:cs typeface="Courier New"/>
                <a:sym typeface="Courier New"/>
              </a:defRPr>
            </a:lvl1pPr>
          </a:lstStyle>
          <a:p>
            <a:r>
              <a:t>data</a:t>
            </a:r>
          </a:p>
        </p:txBody>
      </p:sp>
      <p:sp>
        <p:nvSpPr>
          <p:cNvPr id="419" name="Text Box 43"/>
          <p:cNvSpPr txBox="1"/>
          <p:nvPr/>
        </p:nvSpPr>
        <p:spPr>
          <a:xfrm>
            <a:off x="11269576" y="3621048"/>
            <a:ext cx="911466" cy="5847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algn="ctr">
              <a:defRPr sz="1600"/>
            </a:pPr>
            <a:r>
              <a:rPr sz="1600"/>
              <a:t>supercell</a:t>
            </a:r>
          </a:p>
          <a:p>
            <a:pPr algn="ctr">
              <a:defRPr sz="1600"/>
            </a:pPr>
            <a:r>
              <a:rPr sz="1600"/>
              <a:t>(2,1)</a:t>
            </a:r>
          </a:p>
        </p:txBody>
      </p:sp>
      <p:sp>
        <p:nvSpPr>
          <p:cNvPr id="420" name="Line 44"/>
          <p:cNvSpPr/>
          <p:nvPr/>
        </p:nvSpPr>
        <p:spPr>
          <a:xfrm flipH="1" flipV="1">
            <a:off x="9288497" y="3813422"/>
            <a:ext cx="1981201" cy="152401"/>
          </a:xfrm>
          <a:prstGeom prst="line">
            <a:avLst/>
          </a:prstGeom>
          <a:ln w="28575">
            <a:solidFill>
              <a:srgbClr val="000000"/>
            </a:solidFill>
            <a:tailEnd type="triangle"/>
          </a:ln>
        </p:spPr>
        <p:txBody>
          <a:bodyPr lIns="45719" rIns="45719"/>
          <a:lstStyle/>
          <a:p>
            <a:endParaRPr/>
          </a:p>
        </p:txBody>
      </p:sp>
      <p:sp>
        <p:nvSpPr>
          <p:cNvPr id="421" name="Text Box 45"/>
          <p:cNvSpPr txBox="1"/>
          <p:nvPr/>
        </p:nvSpPr>
        <p:spPr>
          <a:xfrm>
            <a:off x="6659281" y="2561828"/>
            <a:ext cx="459419"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a:defRPr sz="1200"/>
            </a:pPr>
            <a:r>
              <a:rPr sz="1200"/>
              <a:t>2 bits</a:t>
            </a:r>
          </a:p>
          <a:p>
            <a:pPr>
              <a:defRPr sz="1200"/>
            </a:pPr>
            <a:r>
              <a:rPr sz="1200"/>
              <a:t>/</a:t>
            </a:r>
          </a:p>
        </p:txBody>
      </p:sp>
      <p:sp>
        <p:nvSpPr>
          <p:cNvPr id="422" name="Text Box 46"/>
          <p:cNvSpPr txBox="1"/>
          <p:nvPr/>
        </p:nvSpPr>
        <p:spPr>
          <a:xfrm>
            <a:off x="6665631" y="4344590"/>
            <a:ext cx="459419"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a:defRPr sz="1200"/>
            </a:pPr>
            <a:r>
              <a:rPr sz="1200"/>
              <a:t>8 bits</a:t>
            </a:r>
          </a:p>
          <a:p>
            <a:pPr>
              <a:defRPr sz="1200"/>
            </a:pPr>
            <a:r>
              <a:rPr sz="1200"/>
              <a:t>/</a:t>
            </a:r>
          </a:p>
        </p:txBody>
      </p:sp>
      <p:grpSp>
        <p:nvGrpSpPr>
          <p:cNvPr id="425" name="Rectangle 47"/>
          <p:cNvGrpSpPr/>
          <p:nvPr/>
        </p:nvGrpSpPr>
        <p:grpSpPr>
          <a:xfrm>
            <a:off x="5173697" y="2213222"/>
            <a:ext cx="1143000" cy="3200400"/>
            <a:chOff x="0" y="0"/>
            <a:chExt cx="1143000" cy="3200400"/>
          </a:xfrm>
        </p:grpSpPr>
        <p:sp>
          <p:nvSpPr>
            <p:cNvPr id="423" name="Rectangle"/>
            <p:cNvSpPr/>
            <p:nvPr/>
          </p:nvSpPr>
          <p:spPr>
            <a:xfrm>
              <a:off x="0" y="0"/>
              <a:ext cx="1143000" cy="320040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424" name="Memory…"/>
            <p:cNvSpPr txBox="1"/>
            <p:nvPr/>
          </p:nvSpPr>
          <p:spPr>
            <a:xfrm>
              <a:off x="103744" y="1307813"/>
              <a:ext cx="935512" cy="584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lgn="ctr">
                <a:defRPr sz="1600"/>
              </a:pPr>
              <a:r>
                <a:rPr sz="1600"/>
                <a:t>Memory</a:t>
              </a:r>
            </a:p>
            <a:p>
              <a:pPr algn="ctr">
                <a:defRPr sz="1600"/>
              </a:pPr>
              <a:r>
                <a:rPr sz="1600"/>
                <a:t>controller</a:t>
              </a:r>
            </a:p>
          </p:txBody>
        </p:sp>
      </p:grpSp>
      <p:sp>
        <p:nvSpPr>
          <p:cNvPr id="426" name="AutoShape 48"/>
          <p:cNvSpPr/>
          <p:nvPr/>
        </p:nvSpPr>
        <p:spPr>
          <a:xfrm>
            <a:off x="3878297" y="3432422"/>
            <a:ext cx="1295400" cy="457200"/>
          </a:xfrm>
          <a:prstGeom prst="leftRightArrow">
            <a:avLst>
              <a:gd name="adj1" fmla="val 50000"/>
              <a:gd name="adj2" fmla="val 56667"/>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27" name="Text Box 49"/>
          <p:cNvSpPr txBox="1"/>
          <p:nvPr/>
        </p:nvSpPr>
        <p:spPr>
          <a:xfrm>
            <a:off x="3933543" y="3964821"/>
            <a:ext cx="143083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(to/from cores)</a:t>
            </a:r>
          </a:p>
        </p:txBody>
      </p:sp>
    </p:spTree>
    <p:extLst>
      <p:ext uri="{BB962C8B-B14F-4D97-AF65-F5344CB8AC3E}">
        <p14:creationId xmlns:p14="http://schemas.microsoft.com/office/powerpoint/2010/main" val="199852997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Rectangle 5"/>
          <p:cNvSpPr txBox="1">
            <a:spLocks noGrp="1"/>
          </p:cNvSpPr>
          <p:nvPr>
            <p:ph type="sldNum" sz="quarter" idx="2"/>
          </p:nvPr>
        </p:nvSpPr>
        <p:spPr>
          <a:xfrm>
            <a:off x="10354844" y="6611779"/>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
        <p:nvSpPr>
          <p:cNvPr id="430" name="Rectangle 62"/>
          <p:cNvSpPr/>
          <p:nvPr/>
        </p:nvSpPr>
        <p:spPr>
          <a:xfrm>
            <a:off x="7873122" y="4805001"/>
            <a:ext cx="2438400" cy="533400"/>
          </a:xfrm>
          <a:prstGeom prst="rect">
            <a:avLst/>
          </a:prstGeom>
          <a:solidFill>
            <a:srgbClr val="FF99CC"/>
          </a:solidFill>
          <a:ln w="38100">
            <a:solidFill>
              <a:srgbClr val="000000"/>
            </a:solidFill>
            <a:miter/>
          </a:ln>
        </p:spPr>
        <p:txBody>
          <a:bodyPr lIns="45719" rIns="45719" anchor="ctr"/>
          <a:lstStyle/>
          <a:p>
            <a:endParaRPr/>
          </a:p>
        </p:txBody>
      </p:sp>
      <p:sp>
        <p:nvSpPr>
          <p:cNvPr id="431" name="Rectangle 52"/>
          <p:cNvSpPr txBox="1">
            <a:spLocks noGrp="1"/>
          </p:cNvSpPr>
          <p:nvPr>
            <p:ph type="title"/>
          </p:nvPr>
        </p:nvSpPr>
        <p:spPr>
          <a:xfrm>
            <a:off x="1888338" y="48627"/>
            <a:ext cx="9471161" cy="762001"/>
          </a:xfrm>
          <a:prstGeom prst="rect">
            <a:avLst/>
          </a:prstGeom>
        </p:spPr>
        <p:txBody>
          <a:bodyPr/>
          <a:lstStyle/>
          <a:p>
            <a:r>
              <a:rPr dirty="0"/>
              <a:t>Reading DRAM Supercell (2,1)</a:t>
            </a:r>
          </a:p>
        </p:txBody>
      </p:sp>
      <p:sp>
        <p:nvSpPr>
          <p:cNvPr id="432" name="Rectangle 53"/>
          <p:cNvSpPr txBox="1">
            <a:spLocks noGrp="1"/>
          </p:cNvSpPr>
          <p:nvPr>
            <p:ph type="body" sz="quarter" idx="1"/>
          </p:nvPr>
        </p:nvSpPr>
        <p:spPr>
          <a:xfrm>
            <a:off x="96519" y="1101995"/>
            <a:ext cx="8167690" cy="990600"/>
          </a:xfrm>
          <a:prstGeom prst="rect">
            <a:avLst/>
          </a:prstGeom>
        </p:spPr>
        <p:txBody>
          <a:bodyPr/>
          <a:lstStyle/>
          <a:p>
            <a:pPr>
              <a:spcBef>
                <a:spcPts val="400"/>
              </a:spcBef>
              <a:buSzTx/>
              <a:buNone/>
              <a:defRPr sz="2000"/>
            </a:pPr>
            <a:r>
              <a:rPr dirty="0"/>
              <a:t>Step 1(a): Row access strobe (</a:t>
            </a:r>
            <a:r>
              <a:rPr dirty="0">
                <a:solidFill>
                  <a:srgbClr val="FF0000"/>
                </a:solidFill>
              </a:rPr>
              <a:t>RAS</a:t>
            </a:r>
            <a:r>
              <a:rPr dirty="0"/>
              <a:t>) selects row 2.</a:t>
            </a:r>
          </a:p>
          <a:p>
            <a:pPr>
              <a:spcBef>
                <a:spcPts val="400"/>
              </a:spcBef>
              <a:buSzTx/>
              <a:buNone/>
              <a:defRPr sz="2000">
                <a:effectLst>
                  <a:outerShdw blurRad="38100" dist="38100" dir="2700000" rotWithShape="0">
                    <a:srgbClr val="DDDDDD"/>
                  </a:outerShdw>
                </a:effectLst>
              </a:defRPr>
            </a:pPr>
            <a:r>
              <a:rPr dirty="0"/>
              <a:t>Step 1(b): Row 2 copied from DRAM array to row buffer.</a:t>
            </a:r>
          </a:p>
        </p:txBody>
      </p:sp>
      <p:sp>
        <p:nvSpPr>
          <p:cNvPr id="433" name="Text Box 5"/>
          <p:cNvSpPr txBox="1"/>
          <p:nvPr/>
        </p:nvSpPr>
        <p:spPr>
          <a:xfrm>
            <a:off x="8847530" y="1829024"/>
            <a:ext cx="50109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Cols</a:t>
            </a:r>
          </a:p>
        </p:txBody>
      </p:sp>
      <p:sp>
        <p:nvSpPr>
          <p:cNvPr id="434" name="Text Box 6"/>
          <p:cNvSpPr txBox="1"/>
          <p:nvPr/>
        </p:nvSpPr>
        <p:spPr>
          <a:xfrm>
            <a:off x="7011682" y="3232375"/>
            <a:ext cx="60368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vl1pPr>
          </a:lstStyle>
          <a:p>
            <a:r>
              <a:t>Rows</a:t>
            </a:r>
          </a:p>
        </p:txBody>
      </p:sp>
      <p:sp>
        <p:nvSpPr>
          <p:cNvPr id="435" name="Rectangle 7"/>
          <p:cNvSpPr/>
          <p:nvPr/>
        </p:nvSpPr>
        <p:spPr>
          <a:xfrm>
            <a:off x="7863597" y="2350726"/>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36" name="Rectangle 8"/>
          <p:cNvSpPr/>
          <p:nvPr/>
        </p:nvSpPr>
        <p:spPr>
          <a:xfrm>
            <a:off x="8473197" y="2350726"/>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37" name="Rectangle 9"/>
          <p:cNvSpPr/>
          <p:nvPr/>
        </p:nvSpPr>
        <p:spPr>
          <a:xfrm>
            <a:off x="9082797" y="2350726"/>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38" name="Rectangle 10"/>
          <p:cNvSpPr/>
          <p:nvPr/>
        </p:nvSpPr>
        <p:spPr>
          <a:xfrm>
            <a:off x="9692397" y="2350726"/>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39" name="Rectangle 11"/>
          <p:cNvSpPr/>
          <p:nvPr/>
        </p:nvSpPr>
        <p:spPr>
          <a:xfrm>
            <a:off x="7863597" y="2884126"/>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40" name="Rectangle 12"/>
          <p:cNvSpPr/>
          <p:nvPr/>
        </p:nvSpPr>
        <p:spPr>
          <a:xfrm>
            <a:off x="8473197" y="2884126"/>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41" name="Rectangle 13"/>
          <p:cNvSpPr/>
          <p:nvPr/>
        </p:nvSpPr>
        <p:spPr>
          <a:xfrm>
            <a:off x="9082797" y="2884126"/>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42" name="Rectangle 14"/>
          <p:cNvSpPr/>
          <p:nvPr/>
        </p:nvSpPr>
        <p:spPr>
          <a:xfrm>
            <a:off x="9692397" y="2884126"/>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43" name="Text Box 4"/>
          <p:cNvSpPr txBox="1"/>
          <p:nvPr/>
        </p:nvSpPr>
        <p:spPr>
          <a:xfrm>
            <a:off x="5964630" y="2165574"/>
            <a:ext cx="956350"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solidFill>
                  <a:srgbClr val="FF0000"/>
                </a:solidFill>
                <a:latin typeface="Courier New"/>
                <a:ea typeface="Courier New"/>
                <a:cs typeface="Courier New"/>
                <a:sym typeface="Courier New"/>
              </a:defRPr>
            </a:lvl1pPr>
          </a:lstStyle>
          <a:p>
            <a:r>
              <a:t>RAS = 2</a:t>
            </a:r>
          </a:p>
        </p:txBody>
      </p:sp>
      <p:sp>
        <p:nvSpPr>
          <p:cNvPr id="444" name="Rectangle 15"/>
          <p:cNvSpPr/>
          <p:nvPr/>
        </p:nvSpPr>
        <p:spPr>
          <a:xfrm>
            <a:off x="7863597" y="3417526"/>
            <a:ext cx="609600" cy="533400"/>
          </a:xfrm>
          <a:prstGeom prst="rect">
            <a:avLst/>
          </a:prstGeom>
          <a:ln w="12700">
            <a:solidFill>
              <a:srgbClr val="000000"/>
            </a:solidFill>
            <a:miter/>
          </a:ln>
        </p:spPr>
        <p:txBody>
          <a:bodyPr lIns="45719" rIns="45719" anchor="ctr"/>
          <a:lstStyle/>
          <a:p>
            <a:pPr>
              <a:defRPr sz="1600"/>
            </a:pPr>
            <a:endParaRPr sz="1600"/>
          </a:p>
        </p:txBody>
      </p:sp>
      <p:sp>
        <p:nvSpPr>
          <p:cNvPr id="445" name="Rectangle 16"/>
          <p:cNvSpPr/>
          <p:nvPr/>
        </p:nvSpPr>
        <p:spPr>
          <a:xfrm>
            <a:off x="8473197" y="3417526"/>
            <a:ext cx="609600" cy="533400"/>
          </a:xfrm>
          <a:prstGeom prst="rect">
            <a:avLst/>
          </a:prstGeom>
          <a:ln w="12700">
            <a:solidFill>
              <a:srgbClr val="000000"/>
            </a:solidFill>
            <a:miter/>
          </a:ln>
        </p:spPr>
        <p:txBody>
          <a:bodyPr lIns="45719" rIns="45719" anchor="ctr"/>
          <a:lstStyle/>
          <a:p>
            <a:pPr>
              <a:defRPr sz="1600"/>
            </a:pPr>
            <a:endParaRPr sz="1600"/>
          </a:p>
        </p:txBody>
      </p:sp>
      <p:sp>
        <p:nvSpPr>
          <p:cNvPr id="446" name="Rectangle 17"/>
          <p:cNvSpPr/>
          <p:nvPr/>
        </p:nvSpPr>
        <p:spPr>
          <a:xfrm>
            <a:off x="9082797" y="3417526"/>
            <a:ext cx="609600" cy="533400"/>
          </a:xfrm>
          <a:prstGeom prst="rect">
            <a:avLst/>
          </a:prstGeom>
          <a:ln w="12700">
            <a:solidFill>
              <a:srgbClr val="000000"/>
            </a:solidFill>
            <a:miter/>
          </a:ln>
        </p:spPr>
        <p:txBody>
          <a:bodyPr lIns="45719" rIns="45719" anchor="ctr"/>
          <a:lstStyle/>
          <a:p>
            <a:endParaRPr/>
          </a:p>
        </p:txBody>
      </p:sp>
      <p:sp>
        <p:nvSpPr>
          <p:cNvPr id="447" name="Rectangle 18"/>
          <p:cNvSpPr/>
          <p:nvPr/>
        </p:nvSpPr>
        <p:spPr>
          <a:xfrm>
            <a:off x="9692397" y="3417526"/>
            <a:ext cx="609600" cy="533400"/>
          </a:xfrm>
          <a:prstGeom prst="rect">
            <a:avLst/>
          </a:prstGeom>
          <a:ln w="12700">
            <a:solidFill>
              <a:srgbClr val="000000"/>
            </a:solidFill>
            <a:miter/>
          </a:ln>
        </p:spPr>
        <p:txBody>
          <a:bodyPr lIns="45719" rIns="45719" anchor="ctr"/>
          <a:lstStyle/>
          <a:p>
            <a:endParaRPr/>
          </a:p>
        </p:txBody>
      </p:sp>
      <p:sp>
        <p:nvSpPr>
          <p:cNvPr id="448" name="Text Box 23"/>
          <p:cNvSpPr txBox="1"/>
          <p:nvPr/>
        </p:nvSpPr>
        <p:spPr>
          <a:xfrm>
            <a:off x="8061717" y="2029049"/>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0</a:t>
            </a:r>
          </a:p>
        </p:txBody>
      </p:sp>
      <p:sp>
        <p:nvSpPr>
          <p:cNvPr id="449" name="Text Box 24"/>
          <p:cNvSpPr txBox="1"/>
          <p:nvPr/>
        </p:nvSpPr>
        <p:spPr>
          <a:xfrm>
            <a:off x="8671317" y="2044924"/>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1</a:t>
            </a:r>
          </a:p>
        </p:txBody>
      </p:sp>
      <p:sp>
        <p:nvSpPr>
          <p:cNvPr id="450" name="Text Box 25"/>
          <p:cNvSpPr txBox="1"/>
          <p:nvPr/>
        </p:nvSpPr>
        <p:spPr>
          <a:xfrm>
            <a:off x="9288855" y="2044924"/>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2</a:t>
            </a:r>
          </a:p>
        </p:txBody>
      </p:sp>
      <p:sp>
        <p:nvSpPr>
          <p:cNvPr id="451" name="Text Box 26"/>
          <p:cNvSpPr txBox="1"/>
          <p:nvPr/>
        </p:nvSpPr>
        <p:spPr>
          <a:xfrm>
            <a:off x="9898456" y="2044924"/>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3</a:t>
            </a:r>
          </a:p>
        </p:txBody>
      </p:sp>
      <p:sp>
        <p:nvSpPr>
          <p:cNvPr id="452" name="Text Box 27"/>
          <p:cNvSpPr txBox="1"/>
          <p:nvPr/>
        </p:nvSpPr>
        <p:spPr>
          <a:xfrm>
            <a:off x="7604517" y="2470374"/>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0</a:t>
            </a:r>
          </a:p>
        </p:txBody>
      </p:sp>
      <p:sp>
        <p:nvSpPr>
          <p:cNvPr id="453" name="Text Box 28"/>
          <p:cNvSpPr txBox="1"/>
          <p:nvPr/>
        </p:nvSpPr>
        <p:spPr>
          <a:xfrm>
            <a:off x="7604517" y="3003774"/>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1</a:t>
            </a:r>
          </a:p>
        </p:txBody>
      </p:sp>
      <p:sp>
        <p:nvSpPr>
          <p:cNvPr id="454" name="Text Box 29"/>
          <p:cNvSpPr txBox="1"/>
          <p:nvPr/>
        </p:nvSpPr>
        <p:spPr>
          <a:xfrm>
            <a:off x="7604517" y="3537174"/>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2</a:t>
            </a:r>
          </a:p>
        </p:txBody>
      </p:sp>
      <p:sp>
        <p:nvSpPr>
          <p:cNvPr id="455" name="Text Box 37"/>
          <p:cNvSpPr txBox="1"/>
          <p:nvPr/>
        </p:nvSpPr>
        <p:spPr>
          <a:xfrm>
            <a:off x="8258166" y="5381850"/>
            <a:ext cx="174451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vl1pPr>
          </a:lstStyle>
          <a:p>
            <a:r>
              <a:t>Internal row buffer</a:t>
            </a:r>
          </a:p>
        </p:txBody>
      </p:sp>
      <p:sp>
        <p:nvSpPr>
          <p:cNvPr id="456" name="Rectangle 38"/>
          <p:cNvSpPr/>
          <p:nvPr/>
        </p:nvSpPr>
        <p:spPr>
          <a:xfrm>
            <a:off x="7025398" y="1757001"/>
            <a:ext cx="3667125" cy="4038600"/>
          </a:xfrm>
          <a:prstGeom prst="rect">
            <a:avLst/>
          </a:prstGeom>
          <a:ln w="12700">
            <a:solidFill>
              <a:srgbClr val="000000"/>
            </a:solidFill>
            <a:prstDash val="dash"/>
            <a:miter/>
          </a:ln>
        </p:spPr>
        <p:txBody>
          <a:bodyPr lIns="45719" rIns="45719" anchor="ctr"/>
          <a:lstStyle/>
          <a:p>
            <a:endParaRPr/>
          </a:p>
        </p:txBody>
      </p:sp>
      <p:sp>
        <p:nvSpPr>
          <p:cNvPr id="457" name="Text Box 39"/>
          <p:cNvSpPr txBox="1"/>
          <p:nvPr/>
        </p:nvSpPr>
        <p:spPr>
          <a:xfrm>
            <a:off x="6944117" y="1435324"/>
            <a:ext cx="174502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16 x 8 DRAM chip</a:t>
            </a:r>
          </a:p>
        </p:txBody>
      </p:sp>
      <p:sp>
        <p:nvSpPr>
          <p:cNvPr id="458" name="Rectangle 19"/>
          <p:cNvSpPr/>
          <p:nvPr/>
        </p:nvSpPr>
        <p:spPr>
          <a:xfrm>
            <a:off x="7863597" y="3950926"/>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59" name="Rectangle 20"/>
          <p:cNvSpPr/>
          <p:nvPr/>
        </p:nvSpPr>
        <p:spPr>
          <a:xfrm>
            <a:off x="8473197" y="3950926"/>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60" name="Rectangle 21"/>
          <p:cNvSpPr/>
          <p:nvPr/>
        </p:nvSpPr>
        <p:spPr>
          <a:xfrm>
            <a:off x="9082797" y="3950926"/>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61" name="Rectangle 22"/>
          <p:cNvSpPr/>
          <p:nvPr/>
        </p:nvSpPr>
        <p:spPr>
          <a:xfrm>
            <a:off x="9692397" y="3950926"/>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62" name="Text Box 30"/>
          <p:cNvSpPr txBox="1"/>
          <p:nvPr/>
        </p:nvSpPr>
        <p:spPr>
          <a:xfrm>
            <a:off x="7604517" y="4070574"/>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3</a:t>
            </a:r>
          </a:p>
        </p:txBody>
      </p:sp>
      <p:sp>
        <p:nvSpPr>
          <p:cNvPr id="463" name="Rectangle 32"/>
          <p:cNvSpPr/>
          <p:nvPr/>
        </p:nvSpPr>
        <p:spPr>
          <a:xfrm>
            <a:off x="7860422" y="4789126"/>
            <a:ext cx="609600" cy="533400"/>
          </a:xfrm>
          <a:prstGeom prst="rect">
            <a:avLst/>
          </a:prstGeom>
          <a:ln w="12700">
            <a:solidFill>
              <a:srgbClr val="000000"/>
            </a:solidFill>
            <a:miter/>
          </a:ln>
        </p:spPr>
        <p:txBody>
          <a:bodyPr lIns="45719" rIns="45719" anchor="ctr"/>
          <a:lstStyle/>
          <a:p>
            <a:pPr>
              <a:defRPr sz="1600"/>
            </a:pPr>
            <a:endParaRPr sz="1600"/>
          </a:p>
        </p:txBody>
      </p:sp>
      <p:sp>
        <p:nvSpPr>
          <p:cNvPr id="464" name="Rectangle 33"/>
          <p:cNvSpPr/>
          <p:nvPr/>
        </p:nvSpPr>
        <p:spPr>
          <a:xfrm>
            <a:off x="8470022" y="4789126"/>
            <a:ext cx="609600" cy="533400"/>
          </a:xfrm>
          <a:prstGeom prst="rect">
            <a:avLst/>
          </a:prstGeom>
          <a:ln w="12700">
            <a:solidFill>
              <a:srgbClr val="000000"/>
            </a:solidFill>
            <a:miter/>
          </a:ln>
        </p:spPr>
        <p:txBody>
          <a:bodyPr lIns="45719" rIns="45719" anchor="ctr"/>
          <a:lstStyle/>
          <a:p>
            <a:pPr>
              <a:defRPr sz="1600"/>
            </a:pPr>
            <a:endParaRPr sz="1600"/>
          </a:p>
        </p:txBody>
      </p:sp>
      <p:sp>
        <p:nvSpPr>
          <p:cNvPr id="465" name="Rectangle 34"/>
          <p:cNvSpPr/>
          <p:nvPr/>
        </p:nvSpPr>
        <p:spPr>
          <a:xfrm>
            <a:off x="9079622" y="4789126"/>
            <a:ext cx="609600" cy="533400"/>
          </a:xfrm>
          <a:prstGeom prst="rect">
            <a:avLst/>
          </a:prstGeom>
          <a:ln w="12700">
            <a:solidFill>
              <a:srgbClr val="000000"/>
            </a:solidFill>
            <a:miter/>
          </a:ln>
        </p:spPr>
        <p:txBody>
          <a:bodyPr lIns="45719" rIns="45719" anchor="ctr"/>
          <a:lstStyle/>
          <a:p>
            <a:endParaRPr/>
          </a:p>
        </p:txBody>
      </p:sp>
      <p:sp>
        <p:nvSpPr>
          <p:cNvPr id="466" name="Rectangle 35"/>
          <p:cNvSpPr/>
          <p:nvPr/>
        </p:nvSpPr>
        <p:spPr>
          <a:xfrm>
            <a:off x="9689222" y="4789126"/>
            <a:ext cx="609600" cy="533400"/>
          </a:xfrm>
          <a:prstGeom prst="rect">
            <a:avLst/>
          </a:prstGeom>
          <a:ln w="12700">
            <a:solidFill>
              <a:srgbClr val="000000"/>
            </a:solidFill>
            <a:miter/>
          </a:ln>
        </p:spPr>
        <p:txBody>
          <a:bodyPr lIns="45719" rIns="45719" anchor="ctr"/>
          <a:lstStyle/>
          <a:p>
            <a:endParaRPr/>
          </a:p>
        </p:txBody>
      </p:sp>
      <p:sp>
        <p:nvSpPr>
          <p:cNvPr id="467" name="Line 45"/>
          <p:cNvSpPr/>
          <p:nvPr/>
        </p:nvSpPr>
        <p:spPr>
          <a:xfrm flipV="1">
            <a:off x="5891923" y="2715850"/>
            <a:ext cx="1143001" cy="15876"/>
          </a:xfrm>
          <a:prstGeom prst="line">
            <a:avLst/>
          </a:prstGeom>
          <a:ln w="38100">
            <a:solidFill>
              <a:srgbClr val="000000"/>
            </a:solidFill>
            <a:tailEnd type="triangle"/>
          </a:ln>
        </p:spPr>
        <p:txBody>
          <a:bodyPr lIns="45719" rIns="45719"/>
          <a:lstStyle/>
          <a:p>
            <a:endParaRPr/>
          </a:p>
        </p:txBody>
      </p:sp>
      <p:sp>
        <p:nvSpPr>
          <p:cNvPr id="468" name="Text Box 46"/>
          <p:cNvSpPr txBox="1"/>
          <p:nvPr/>
        </p:nvSpPr>
        <p:spPr>
          <a:xfrm>
            <a:off x="6212280" y="2775174"/>
            <a:ext cx="586056"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ourier New"/>
                <a:ea typeface="Courier New"/>
                <a:cs typeface="Courier New"/>
                <a:sym typeface="Courier New"/>
              </a:defRPr>
            </a:lvl1pPr>
          </a:lstStyle>
          <a:p>
            <a:r>
              <a:t>addr</a:t>
            </a:r>
          </a:p>
        </p:txBody>
      </p:sp>
      <p:sp>
        <p:nvSpPr>
          <p:cNvPr id="469" name="Line 47"/>
          <p:cNvSpPr/>
          <p:nvPr/>
        </p:nvSpPr>
        <p:spPr>
          <a:xfrm>
            <a:off x="5891923" y="4484326"/>
            <a:ext cx="1143001" cy="0"/>
          </a:xfrm>
          <a:prstGeom prst="line">
            <a:avLst/>
          </a:prstGeom>
          <a:ln w="38100">
            <a:solidFill>
              <a:srgbClr val="000000"/>
            </a:solidFill>
            <a:headEnd type="triangle"/>
            <a:tailEnd type="triangle"/>
          </a:ln>
        </p:spPr>
        <p:txBody>
          <a:bodyPr lIns="45719" rIns="45719"/>
          <a:lstStyle/>
          <a:p>
            <a:endParaRPr/>
          </a:p>
        </p:txBody>
      </p:sp>
      <p:sp>
        <p:nvSpPr>
          <p:cNvPr id="470" name="Text Box 48"/>
          <p:cNvSpPr txBox="1"/>
          <p:nvPr/>
        </p:nvSpPr>
        <p:spPr>
          <a:xfrm>
            <a:off x="6180530" y="4527774"/>
            <a:ext cx="586056"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ourier New"/>
                <a:ea typeface="Courier New"/>
                <a:cs typeface="Courier New"/>
                <a:sym typeface="Courier New"/>
              </a:defRPr>
            </a:lvl1pPr>
          </a:lstStyle>
          <a:p>
            <a:r>
              <a:t>data</a:t>
            </a:r>
          </a:p>
        </p:txBody>
      </p:sp>
      <p:sp>
        <p:nvSpPr>
          <p:cNvPr id="471" name="Text Box 49"/>
          <p:cNvSpPr txBox="1"/>
          <p:nvPr/>
        </p:nvSpPr>
        <p:spPr>
          <a:xfrm>
            <a:off x="6388492" y="2394532"/>
            <a:ext cx="177291"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a:defRPr sz="1200"/>
            </a:pPr>
            <a:r>
              <a:rPr sz="1200"/>
              <a:t>2</a:t>
            </a:r>
          </a:p>
          <a:p>
            <a:pPr>
              <a:defRPr sz="1200"/>
            </a:pPr>
            <a:r>
              <a:rPr sz="1200"/>
              <a:t>/</a:t>
            </a:r>
          </a:p>
        </p:txBody>
      </p:sp>
      <p:sp>
        <p:nvSpPr>
          <p:cNvPr id="472" name="Text Box 50"/>
          <p:cNvSpPr txBox="1"/>
          <p:nvPr/>
        </p:nvSpPr>
        <p:spPr>
          <a:xfrm>
            <a:off x="6394842" y="4177294"/>
            <a:ext cx="177291"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a:defRPr sz="1200"/>
            </a:pPr>
            <a:r>
              <a:rPr sz="1200"/>
              <a:t>8</a:t>
            </a:r>
          </a:p>
          <a:p>
            <a:pPr>
              <a:defRPr sz="1200"/>
            </a:pPr>
            <a:r>
              <a:rPr sz="1200"/>
              <a:t>/</a:t>
            </a:r>
          </a:p>
        </p:txBody>
      </p:sp>
      <p:grpSp>
        <p:nvGrpSpPr>
          <p:cNvPr id="475" name="Rectangle 51"/>
          <p:cNvGrpSpPr/>
          <p:nvPr/>
        </p:nvGrpSpPr>
        <p:grpSpPr>
          <a:xfrm>
            <a:off x="4748922" y="2045926"/>
            <a:ext cx="1143000" cy="3200400"/>
            <a:chOff x="0" y="0"/>
            <a:chExt cx="1143000" cy="3200400"/>
          </a:xfrm>
        </p:grpSpPr>
        <p:sp>
          <p:nvSpPr>
            <p:cNvPr id="473" name="Rectangle"/>
            <p:cNvSpPr/>
            <p:nvPr/>
          </p:nvSpPr>
          <p:spPr>
            <a:xfrm>
              <a:off x="0" y="0"/>
              <a:ext cx="1143000" cy="320040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474" name="Memory…"/>
            <p:cNvSpPr txBox="1"/>
            <p:nvPr/>
          </p:nvSpPr>
          <p:spPr>
            <a:xfrm>
              <a:off x="103745" y="1307813"/>
              <a:ext cx="935510" cy="584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lgn="ctr">
                <a:defRPr sz="1600"/>
              </a:pPr>
              <a:r>
                <a:rPr sz="1600"/>
                <a:t>Memory</a:t>
              </a:r>
            </a:p>
            <a:p>
              <a:pPr>
                <a:defRPr sz="1600"/>
              </a:pPr>
              <a:r>
                <a:rPr sz="1600"/>
                <a:t>controller</a:t>
              </a:r>
            </a:p>
          </p:txBody>
        </p:sp>
      </p:grpSp>
      <p:grpSp>
        <p:nvGrpSpPr>
          <p:cNvPr id="480" name="Group 65"/>
          <p:cNvGrpSpPr/>
          <p:nvPr/>
        </p:nvGrpSpPr>
        <p:grpSpPr>
          <a:xfrm>
            <a:off x="7863597" y="3414351"/>
            <a:ext cx="2438400" cy="533400"/>
            <a:chOff x="0" y="0"/>
            <a:chExt cx="2438400" cy="533400"/>
          </a:xfrm>
        </p:grpSpPr>
        <p:sp>
          <p:nvSpPr>
            <p:cNvPr id="476" name="Rectangle 66"/>
            <p:cNvSpPr/>
            <p:nvPr/>
          </p:nvSpPr>
          <p:spPr>
            <a:xfrm>
              <a:off x="0" y="0"/>
              <a:ext cx="609600" cy="533400"/>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pPr>
                <a:defRPr sz="1600"/>
              </a:pPr>
              <a:endParaRPr sz="1600"/>
            </a:p>
          </p:txBody>
        </p:sp>
        <p:sp>
          <p:nvSpPr>
            <p:cNvPr id="477" name="Rectangle 67"/>
            <p:cNvSpPr/>
            <p:nvPr/>
          </p:nvSpPr>
          <p:spPr>
            <a:xfrm>
              <a:off x="609600" y="0"/>
              <a:ext cx="609600" cy="533400"/>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pPr>
                <a:defRPr sz="1600"/>
              </a:pPr>
              <a:endParaRPr sz="1600"/>
            </a:p>
          </p:txBody>
        </p:sp>
        <p:sp>
          <p:nvSpPr>
            <p:cNvPr id="478" name="Rectangle 68"/>
            <p:cNvSpPr/>
            <p:nvPr/>
          </p:nvSpPr>
          <p:spPr>
            <a:xfrm>
              <a:off x="1219200" y="0"/>
              <a:ext cx="609600" cy="533400"/>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479" name="Rectangle 69"/>
            <p:cNvSpPr/>
            <p:nvPr/>
          </p:nvSpPr>
          <p:spPr>
            <a:xfrm>
              <a:off x="1828800" y="0"/>
              <a:ext cx="609600" cy="533400"/>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grpSp>
      <p:sp>
        <p:nvSpPr>
          <p:cNvPr id="481" name="Rectangle 31"/>
          <p:cNvSpPr/>
          <p:nvPr/>
        </p:nvSpPr>
        <p:spPr>
          <a:xfrm>
            <a:off x="7860422" y="2350726"/>
            <a:ext cx="2438400" cy="2133600"/>
          </a:xfrm>
          <a:prstGeom prst="rect">
            <a:avLst/>
          </a:prstGeom>
          <a:ln w="38100">
            <a:solidFill>
              <a:srgbClr val="000000"/>
            </a:solidFill>
            <a:miter/>
          </a:ln>
        </p:spPr>
        <p:txBody>
          <a:bodyPr lIns="45719" rIns="45719" anchor="ctr"/>
          <a:lstStyle/>
          <a:p>
            <a:endParaRPr/>
          </a:p>
        </p:txBody>
      </p:sp>
      <p:grpSp>
        <p:nvGrpSpPr>
          <p:cNvPr id="486" name="Group 63"/>
          <p:cNvGrpSpPr/>
          <p:nvPr/>
        </p:nvGrpSpPr>
        <p:grpSpPr>
          <a:xfrm>
            <a:off x="8015998" y="3798527"/>
            <a:ext cx="2133601" cy="990601"/>
            <a:chOff x="0" y="0"/>
            <a:chExt cx="2133600" cy="990600"/>
          </a:xfrm>
        </p:grpSpPr>
        <p:sp>
          <p:nvSpPr>
            <p:cNvPr id="482" name="AutoShape 40"/>
            <p:cNvSpPr/>
            <p:nvPr/>
          </p:nvSpPr>
          <p:spPr>
            <a:xfrm>
              <a:off x="0" y="0"/>
              <a:ext cx="304801" cy="9906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483" name="AutoShape 41"/>
            <p:cNvSpPr/>
            <p:nvPr/>
          </p:nvSpPr>
          <p:spPr>
            <a:xfrm>
              <a:off x="609600" y="0"/>
              <a:ext cx="304801" cy="9906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484" name="AutoShape 42"/>
            <p:cNvSpPr/>
            <p:nvPr/>
          </p:nvSpPr>
          <p:spPr>
            <a:xfrm>
              <a:off x="1219200" y="0"/>
              <a:ext cx="304801" cy="9906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485" name="AutoShape 43"/>
            <p:cNvSpPr/>
            <p:nvPr/>
          </p:nvSpPr>
          <p:spPr>
            <a:xfrm>
              <a:off x="1828800" y="0"/>
              <a:ext cx="304801" cy="9906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endParaRPr/>
            </a:p>
          </p:txBody>
        </p:sp>
      </p:grpSp>
    </p:spTree>
    <p:extLst>
      <p:ext uri="{BB962C8B-B14F-4D97-AF65-F5344CB8AC3E}">
        <p14:creationId xmlns:p14="http://schemas.microsoft.com/office/powerpoint/2010/main" val="360900955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4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4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4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 grpId="0" animBg="1" advAuto="0"/>
      <p:bldP spid="443" grpId="0" animBg="1" advAuto="0"/>
      <p:bldP spid="480" grpId="0" animBg="1" advAuto="0"/>
      <p:bldP spid="486"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Rectangle 5"/>
          <p:cNvSpPr txBox="1">
            <a:spLocks noGrp="1"/>
          </p:cNvSpPr>
          <p:nvPr>
            <p:ph type="sldNum" sz="quarter" idx="2"/>
          </p:nvPr>
        </p:nvSpPr>
        <p:spPr>
          <a:xfrm>
            <a:off x="13321780" y="5763666"/>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
        <p:nvSpPr>
          <p:cNvPr id="489" name="Rectangle 50"/>
          <p:cNvSpPr txBox="1">
            <a:spLocks noGrp="1"/>
          </p:cNvSpPr>
          <p:nvPr>
            <p:ph type="title"/>
          </p:nvPr>
        </p:nvSpPr>
        <p:spPr>
          <a:xfrm>
            <a:off x="1477330" y="34981"/>
            <a:ext cx="8426124" cy="762001"/>
          </a:xfrm>
          <a:prstGeom prst="rect">
            <a:avLst/>
          </a:prstGeom>
        </p:spPr>
        <p:txBody>
          <a:bodyPr/>
          <a:lstStyle/>
          <a:p>
            <a:r>
              <a:rPr dirty="0"/>
              <a:t>Reading DRAM Supercell (2,1)</a:t>
            </a:r>
          </a:p>
        </p:txBody>
      </p:sp>
      <p:sp>
        <p:nvSpPr>
          <p:cNvPr id="490" name="Rectangle 51"/>
          <p:cNvSpPr txBox="1">
            <a:spLocks noGrp="1"/>
          </p:cNvSpPr>
          <p:nvPr>
            <p:ph type="body" sz="quarter" idx="1"/>
          </p:nvPr>
        </p:nvSpPr>
        <p:spPr>
          <a:xfrm>
            <a:off x="71676" y="1132602"/>
            <a:ext cx="8091486" cy="1425375"/>
          </a:xfrm>
          <a:prstGeom prst="rect">
            <a:avLst/>
          </a:prstGeom>
        </p:spPr>
        <p:txBody>
          <a:bodyPr/>
          <a:lstStyle/>
          <a:p>
            <a:pPr>
              <a:spcBef>
                <a:spcPts val="400"/>
              </a:spcBef>
              <a:buSzTx/>
              <a:buNone/>
              <a:defRPr sz="2000"/>
            </a:pPr>
            <a:r>
              <a:rPr dirty="0"/>
              <a:t>Step 2(a): Column access strobe (</a:t>
            </a:r>
            <a:r>
              <a:rPr dirty="0">
                <a:solidFill>
                  <a:srgbClr val="FF0000"/>
                </a:solidFill>
              </a:rPr>
              <a:t>CAS</a:t>
            </a:r>
            <a:r>
              <a:rPr dirty="0"/>
              <a:t>) selects column 1.</a:t>
            </a:r>
          </a:p>
          <a:p>
            <a:pPr>
              <a:spcBef>
                <a:spcPts val="400"/>
              </a:spcBef>
              <a:buSzTx/>
              <a:buNone/>
              <a:defRPr sz="2000">
                <a:effectLst>
                  <a:outerShdw blurRad="38100" dist="38100" dir="2700000" rotWithShape="0">
                    <a:srgbClr val="DDDDDD"/>
                  </a:outerShdw>
                </a:effectLst>
              </a:defRPr>
            </a:pPr>
            <a:r>
              <a:rPr dirty="0"/>
              <a:t>Step 2(b): Supercell (2,1) copied from buffer to data lines, and eventually back to the CPU.</a:t>
            </a:r>
          </a:p>
          <a:p>
            <a:pPr>
              <a:spcBef>
                <a:spcPts val="400"/>
              </a:spcBef>
              <a:buSzTx/>
              <a:buNone/>
              <a:defRPr sz="2000">
                <a:effectLst>
                  <a:outerShdw blurRad="38100" dist="38100" dir="2700000" rotWithShape="0">
                    <a:srgbClr val="DDDDDD"/>
                  </a:outerShdw>
                </a:effectLst>
              </a:defRPr>
            </a:pPr>
            <a:r>
              <a:rPr dirty="0"/>
              <a:t>Step 3: All data written back to row to provide refresh</a:t>
            </a:r>
          </a:p>
        </p:txBody>
      </p:sp>
      <p:sp>
        <p:nvSpPr>
          <p:cNvPr id="491" name="Text Box 6"/>
          <p:cNvSpPr txBox="1"/>
          <p:nvPr/>
        </p:nvSpPr>
        <p:spPr>
          <a:xfrm>
            <a:off x="10191332" y="1900435"/>
            <a:ext cx="50109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Cols</a:t>
            </a:r>
          </a:p>
        </p:txBody>
      </p:sp>
      <p:sp>
        <p:nvSpPr>
          <p:cNvPr id="492" name="Text Box 7"/>
          <p:cNvSpPr txBox="1"/>
          <p:nvPr/>
        </p:nvSpPr>
        <p:spPr>
          <a:xfrm>
            <a:off x="8355484" y="3303786"/>
            <a:ext cx="60368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vl1pPr>
          </a:lstStyle>
          <a:p>
            <a:r>
              <a:t>Rows</a:t>
            </a:r>
          </a:p>
        </p:txBody>
      </p:sp>
      <p:sp>
        <p:nvSpPr>
          <p:cNvPr id="493" name="Rectangle 8"/>
          <p:cNvSpPr/>
          <p:nvPr/>
        </p:nvSpPr>
        <p:spPr>
          <a:xfrm>
            <a:off x="9207399" y="2422137"/>
            <a:ext cx="609601"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94" name="Rectangle 9"/>
          <p:cNvSpPr/>
          <p:nvPr/>
        </p:nvSpPr>
        <p:spPr>
          <a:xfrm>
            <a:off x="9816999" y="2422137"/>
            <a:ext cx="609601"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95" name="Rectangle 10"/>
          <p:cNvSpPr/>
          <p:nvPr/>
        </p:nvSpPr>
        <p:spPr>
          <a:xfrm>
            <a:off x="10426599" y="2422137"/>
            <a:ext cx="609601"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96" name="Rectangle 11"/>
          <p:cNvSpPr/>
          <p:nvPr/>
        </p:nvSpPr>
        <p:spPr>
          <a:xfrm>
            <a:off x="11036200" y="2422137"/>
            <a:ext cx="609601"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97" name="Rectangle 12"/>
          <p:cNvSpPr/>
          <p:nvPr/>
        </p:nvSpPr>
        <p:spPr>
          <a:xfrm>
            <a:off x="9207399" y="2955537"/>
            <a:ext cx="609601"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98" name="Rectangle 13"/>
          <p:cNvSpPr/>
          <p:nvPr/>
        </p:nvSpPr>
        <p:spPr>
          <a:xfrm>
            <a:off x="9816999" y="2955537"/>
            <a:ext cx="609601"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99" name="Rectangle 14"/>
          <p:cNvSpPr/>
          <p:nvPr/>
        </p:nvSpPr>
        <p:spPr>
          <a:xfrm>
            <a:off x="10426599" y="2955537"/>
            <a:ext cx="609601"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00" name="Rectangle 15"/>
          <p:cNvSpPr/>
          <p:nvPr/>
        </p:nvSpPr>
        <p:spPr>
          <a:xfrm>
            <a:off x="11036200" y="2955537"/>
            <a:ext cx="609601"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01" name="Rectangle 16"/>
          <p:cNvSpPr/>
          <p:nvPr/>
        </p:nvSpPr>
        <p:spPr>
          <a:xfrm>
            <a:off x="9207399" y="3488937"/>
            <a:ext cx="609601" cy="533400"/>
          </a:xfrm>
          <a:prstGeom prst="rect">
            <a:avLst/>
          </a:prstGeom>
          <a:solidFill>
            <a:srgbClr val="FF99CC"/>
          </a:solidFill>
          <a:ln w="12700">
            <a:solidFill>
              <a:srgbClr val="000000"/>
            </a:solidFill>
            <a:miter/>
          </a:ln>
        </p:spPr>
        <p:txBody>
          <a:bodyPr lIns="45719" rIns="45719" anchor="ctr"/>
          <a:lstStyle/>
          <a:p>
            <a:pPr>
              <a:defRPr sz="1600"/>
            </a:pPr>
            <a:endParaRPr sz="1600"/>
          </a:p>
        </p:txBody>
      </p:sp>
      <p:sp>
        <p:nvSpPr>
          <p:cNvPr id="502" name="Rectangle 17"/>
          <p:cNvSpPr/>
          <p:nvPr/>
        </p:nvSpPr>
        <p:spPr>
          <a:xfrm>
            <a:off x="9816999" y="3488937"/>
            <a:ext cx="609601" cy="533400"/>
          </a:xfrm>
          <a:prstGeom prst="rect">
            <a:avLst/>
          </a:prstGeom>
          <a:solidFill>
            <a:srgbClr val="FF99CC"/>
          </a:solidFill>
          <a:ln w="12700">
            <a:solidFill>
              <a:srgbClr val="000000"/>
            </a:solidFill>
            <a:miter/>
          </a:ln>
        </p:spPr>
        <p:txBody>
          <a:bodyPr lIns="45719" rIns="45719" anchor="ctr"/>
          <a:lstStyle/>
          <a:p>
            <a:pPr>
              <a:defRPr sz="1600"/>
            </a:pPr>
            <a:endParaRPr sz="1600"/>
          </a:p>
        </p:txBody>
      </p:sp>
      <p:sp>
        <p:nvSpPr>
          <p:cNvPr id="503" name="Rectangle 18"/>
          <p:cNvSpPr/>
          <p:nvPr/>
        </p:nvSpPr>
        <p:spPr>
          <a:xfrm>
            <a:off x="10426599" y="3488937"/>
            <a:ext cx="609601" cy="533400"/>
          </a:xfrm>
          <a:prstGeom prst="rect">
            <a:avLst/>
          </a:prstGeom>
          <a:solidFill>
            <a:srgbClr val="FF99CC"/>
          </a:solidFill>
          <a:ln w="12700">
            <a:solidFill>
              <a:srgbClr val="000000"/>
            </a:solidFill>
            <a:miter/>
          </a:ln>
        </p:spPr>
        <p:txBody>
          <a:bodyPr lIns="45719" rIns="45719" anchor="ctr"/>
          <a:lstStyle/>
          <a:p>
            <a:endParaRPr/>
          </a:p>
        </p:txBody>
      </p:sp>
      <p:sp>
        <p:nvSpPr>
          <p:cNvPr id="504" name="Rectangle 19"/>
          <p:cNvSpPr/>
          <p:nvPr/>
        </p:nvSpPr>
        <p:spPr>
          <a:xfrm>
            <a:off x="11036200" y="3488937"/>
            <a:ext cx="609601" cy="533400"/>
          </a:xfrm>
          <a:prstGeom prst="rect">
            <a:avLst/>
          </a:prstGeom>
          <a:solidFill>
            <a:srgbClr val="FF99CC"/>
          </a:solidFill>
          <a:ln w="12700">
            <a:solidFill>
              <a:srgbClr val="000000"/>
            </a:solidFill>
            <a:miter/>
          </a:ln>
        </p:spPr>
        <p:txBody>
          <a:bodyPr lIns="45719" rIns="45719" anchor="ctr"/>
          <a:lstStyle/>
          <a:p>
            <a:endParaRPr/>
          </a:p>
        </p:txBody>
      </p:sp>
      <p:sp>
        <p:nvSpPr>
          <p:cNvPr id="505" name="Rectangle 20"/>
          <p:cNvSpPr/>
          <p:nvPr/>
        </p:nvSpPr>
        <p:spPr>
          <a:xfrm>
            <a:off x="9207399" y="4022337"/>
            <a:ext cx="609601"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506" name="Rectangle 21"/>
          <p:cNvSpPr/>
          <p:nvPr/>
        </p:nvSpPr>
        <p:spPr>
          <a:xfrm>
            <a:off x="9816999" y="4022337"/>
            <a:ext cx="609601"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07" name="Rectangle 22"/>
          <p:cNvSpPr/>
          <p:nvPr/>
        </p:nvSpPr>
        <p:spPr>
          <a:xfrm>
            <a:off x="10426599" y="4022337"/>
            <a:ext cx="609601"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08" name="Rectangle 23"/>
          <p:cNvSpPr/>
          <p:nvPr/>
        </p:nvSpPr>
        <p:spPr>
          <a:xfrm>
            <a:off x="11036200" y="4022337"/>
            <a:ext cx="609601"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09" name="Text Box 24"/>
          <p:cNvSpPr txBox="1"/>
          <p:nvPr/>
        </p:nvSpPr>
        <p:spPr>
          <a:xfrm>
            <a:off x="9405519" y="2100460"/>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0</a:t>
            </a:r>
          </a:p>
        </p:txBody>
      </p:sp>
      <p:sp>
        <p:nvSpPr>
          <p:cNvPr id="510" name="Text Box 25"/>
          <p:cNvSpPr txBox="1"/>
          <p:nvPr/>
        </p:nvSpPr>
        <p:spPr>
          <a:xfrm>
            <a:off x="10015119" y="2116335"/>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1</a:t>
            </a:r>
          </a:p>
        </p:txBody>
      </p:sp>
      <p:sp>
        <p:nvSpPr>
          <p:cNvPr id="511" name="Text Box 26"/>
          <p:cNvSpPr txBox="1"/>
          <p:nvPr/>
        </p:nvSpPr>
        <p:spPr>
          <a:xfrm>
            <a:off x="10632656" y="2116335"/>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2</a:t>
            </a:r>
          </a:p>
        </p:txBody>
      </p:sp>
      <p:sp>
        <p:nvSpPr>
          <p:cNvPr id="512" name="Text Box 27"/>
          <p:cNvSpPr txBox="1"/>
          <p:nvPr/>
        </p:nvSpPr>
        <p:spPr>
          <a:xfrm>
            <a:off x="11242256" y="2116335"/>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3</a:t>
            </a:r>
          </a:p>
        </p:txBody>
      </p:sp>
      <p:sp>
        <p:nvSpPr>
          <p:cNvPr id="513" name="Text Box 28"/>
          <p:cNvSpPr txBox="1"/>
          <p:nvPr/>
        </p:nvSpPr>
        <p:spPr>
          <a:xfrm>
            <a:off x="8948319" y="2541785"/>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0</a:t>
            </a:r>
          </a:p>
        </p:txBody>
      </p:sp>
      <p:sp>
        <p:nvSpPr>
          <p:cNvPr id="514" name="Text Box 29"/>
          <p:cNvSpPr txBox="1"/>
          <p:nvPr/>
        </p:nvSpPr>
        <p:spPr>
          <a:xfrm>
            <a:off x="8948319" y="3075185"/>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1</a:t>
            </a:r>
          </a:p>
        </p:txBody>
      </p:sp>
      <p:sp>
        <p:nvSpPr>
          <p:cNvPr id="515" name="Text Box 30"/>
          <p:cNvSpPr txBox="1"/>
          <p:nvPr/>
        </p:nvSpPr>
        <p:spPr>
          <a:xfrm>
            <a:off x="8948319" y="3608585"/>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2</a:t>
            </a:r>
          </a:p>
        </p:txBody>
      </p:sp>
      <p:sp>
        <p:nvSpPr>
          <p:cNvPr id="516" name="Text Box 31"/>
          <p:cNvSpPr txBox="1"/>
          <p:nvPr/>
        </p:nvSpPr>
        <p:spPr>
          <a:xfrm>
            <a:off x="8948319" y="4141985"/>
            <a:ext cx="20614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3</a:t>
            </a:r>
          </a:p>
        </p:txBody>
      </p:sp>
      <p:sp>
        <p:nvSpPr>
          <p:cNvPr id="517" name="Rectangle 32"/>
          <p:cNvSpPr/>
          <p:nvPr/>
        </p:nvSpPr>
        <p:spPr>
          <a:xfrm>
            <a:off x="9204224" y="2422137"/>
            <a:ext cx="2438401" cy="2133600"/>
          </a:xfrm>
          <a:prstGeom prst="rect">
            <a:avLst/>
          </a:prstGeom>
          <a:ln w="38100">
            <a:solidFill>
              <a:srgbClr val="000000"/>
            </a:solidFill>
            <a:miter/>
          </a:ln>
        </p:spPr>
        <p:txBody>
          <a:bodyPr lIns="45719" rIns="45719" anchor="ctr"/>
          <a:lstStyle/>
          <a:p>
            <a:endParaRPr/>
          </a:p>
        </p:txBody>
      </p:sp>
      <p:sp>
        <p:nvSpPr>
          <p:cNvPr id="518" name="Rectangle 35"/>
          <p:cNvSpPr/>
          <p:nvPr/>
        </p:nvSpPr>
        <p:spPr>
          <a:xfrm>
            <a:off x="10423424" y="4851012"/>
            <a:ext cx="609601" cy="533400"/>
          </a:xfrm>
          <a:prstGeom prst="rect">
            <a:avLst/>
          </a:prstGeom>
          <a:solidFill>
            <a:srgbClr val="FF99CC"/>
          </a:solidFill>
          <a:ln w="12700">
            <a:solidFill>
              <a:srgbClr val="000000"/>
            </a:solidFill>
            <a:miter/>
          </a:ln>
        </p:spPr>
        <p:txBody>
          <a:bodyPr lIns="45719" rIns="45719" anchor="ctr"/>
          <a:lstStyle/>
          <a:p>
            <a:endParaRPr/>
          </a:p>
        </p:txBody>
      </p:sp>
      <p:sp>
        <p:nvSpPr>
          <p:cNvPr id="519" name="Rectangle 36"/>
          <p:cNvSpPr/>
          <p:nvPr/>
        </p:nvSpPr>
        <p:spPr>
          <a:xfrm>
            <a:off x="11033025" y="4851012"/>
            <a:ext cx="609601" cy="533400"/>
          </a:xfrm>
          <a:prstGeom prst="rect">
            <a:avLst/>
          </a:prstGeom>
          <a:solidFill>
            <a:srgbClr val="FF99CC"/>
          </a:solidFill>
          <a:ln w="12700">
            <a:solidFill>
              <a:srgbClr val="000000"/>
            </a:solidFill>
            <a:miter/>
          </a:ln>
        </p:spPr>
        <p:txBody>
          <a:bodyPr lIns="45719" rIns="45719" anchor="ctr"/>
          <a:lstStyle/>
          <a:p>
            <a:endParaRPr/>
          </a:p>
        </p:txBody>
      </p:sp>
      <p:sp>
        <p:nvSpPr>
          <p:cNvPr id="520" name="Text Box 38"/>
          <p:cNvSpPr txBox="1"/>
          <p:nvPr/>
        </p:nvSpPr>
        <p:spPr>
          <a:xfrm>
            <a:off x="9601967" y="5453261"/>
            <a:ext cx="174451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vl1pPr>
          </a:lstStyle>
          <a:p>
            <a:r>
              <a:t>Internal row buffer</a:t>
            </a:r>
          </a:p>
        </p:txBody>
      </p:sp>
      <p:sp>
        <p:nvSpPr>
          <p:cNvPr id="521" name="Rectangle 39"/>
          <p:cNvSpPr/>
          <p:nvPr/>
        </p:nvSpPr>
        <p:spPr>
          <a:xfrm>
            <a:off x="8369199" y="1828412"/>
            <a:ext cx="3644901" cy="4038600"/>
          </a:xfrm>
          <a:prstGeom prst="rect">
            <a:avLst/>
          </a:prstGeom>
          <a:ln w="12700">
            <a:solidFill>
              <a:srgbClr val="000000"/>
            </a:solidFill>
            <a:prstDash val="dash"/>
            <a:miter/>
          </a:ln>
        </p:spPr>
        <p:txBody>
          <a:bodyPr lIns="45719" rIns="45719" anchor="ctr"/>
          <a:lstStyle/>
          <a:p>
            <a:endParaRPr/>
          </a:p>
        </p:txBody>
      </p:sp>
      <p:sp>
        <p:nvSpPr>
          <p:cNvPr id="522" name="Text Box 40"/>
          <p:cNvSpPr txBox="1"/>
          <p:nvPr/>
        </p:nvSpPr>
        <p:spPr>
          <a:xfrm>
            <a:off x="8295856" y="1506735"/>
            <a:ext cx="174502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16 x 8 DRAM chip</a:t>
            </a:r>
          </a:p>
        </p:txBody>
      </p:sp>
      <p:sp>
        <p:nvSpPr>
          <p:cNvPr id="523" name="Text Box 42"/>
          <p:cNvSpPr txBox="1"/>
          <p:nvPr/>
        </p:nvSpPr>
        <p:spPr>
          <a:xfrm>
            <a:off x="7314781" y="2236985"/>
            <a:ext cx="956350"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solidFill>
                  <a:srgbClr val="FF0000"/>
                </a:solidFill>
                <a:latin typeface="Courier New"/>
                <a:ea typeface="Courier New"/>
                <a:cs typeface="Courier New"/>
                <a:sym typeface="Courier New"/>
              </a:defRPr>
            </a:lvl1pPr>
          </a:lstStyle>
          <a:p>
            <a:r>
              <a:t>CAS = 1</a:t>
            </a:r>
          </a:p>
        </p:txBody>
      </p:sp>
      <p:sp>
        <p:nvSpPr>
          <p:cNvPr id="524" name="Line 43"/>
          <p:cNvSpPr/>
          <p:nvPr/>
        </p:nvSpPr>
        <p:spPr>
          <a:xfrm flipV="1">
            <a:off x="7188100" y="2787261"/>
            <a:ext cx="1143001" cy="15876"/>
          </a:xfrm>
          <a:prstGeom prst="line">
            <a:avLst/>
          </a:prstGeom>
          <a:ln w="38100">
            <a:solidFill>
              <a:srgbClr val="000000"/>
            </a:solidFill>
            <a:tailEnd type="triangle"/>
          </a:ln>
        </p:spPr>
        <p:txBody>
          <a:bodyPr lIns="45719" rIns="45719"/>
          <a:lstStyle/>
          <a:p>
            <a:endParaRPr/>
          </a:p>
        </p:txBody>
      </p:sp>
      <p:sp>
        <p:nvSpPr>
          <p:cNvPr id="525" name="Text Box 44"/>
          <p:cNvSpPr txBox="1"/>
          <p:nvPr/>
        </p:nvSpPr>
        <p:spPr>
          <a:xfrm>
            <a:off x="7508455" y="2846585"/>
            <a:ext cx="586056"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ourier New"/>
                <a:ea typeface="Courier New"/>
                <a:cs typeface="Courier New"/>
                <a:sym typeface="Courier New"/>
              </a:defRPr>
            </a:lvl1pPr>
          </a:lstStyle>
          <a:p>
            <a:r>
              <a:t>addr</a:t>
            </a:r>
          </a:p>
        </p:txBody>
      </p:sp>
      <p:sp>
        <p:nvSpPr>
          <p:cNvPr id="526" name="Line 45"/>
          <p:cNvSpPr/>
          <p:nvPr/>
        </p:nvSpPr>
        <p:spPr>
          <a:xfrm>
            <a:off x="7188100" y="4555737"/>
            <a:ext cx="1143001" cy="0"/>
          </a:xfrm>
          <a:prstGeom prst="line">
            <a:avLst/>
          </a:prstGeom>
          <a:ln w="38100">
            <a:solidFill>
              <a:srgbClr val="000000"/>
            </a:solidFill>
            <a:headEnd type="triangle"/>
            <a:tailEnd type="triangle"/>
          </a:ln>
        </p:spPr>
        <p:txBody>
          <a:bodyPr lIns="45719" rIns="45719"/>
          <a:lstStyle/>
          <a:p>
            <a:endParaRPr/>
          </a:p>
        </p:txBody>
      </p:sp>
      <p:sp>
        <p:nvSpPr>
          <p:cNvPr id="527" name="Text Box 46"/>
          <p:cNvSpPr txBox="1"/>
          <p:nvPr/>
        </p:nvSpPr>
        <p:spPr>
          <a:xfrm>
            <a:off x="7476705" y="4599185"/>
            <a:ext cx="586056"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ourier New"/>
                <a:ea typeface="Courier New"/>
                <a:cs typeface="Courier New"/>
                <a:sym typeface="Courier New"/>
              </a:defRPr>
            </a:lvl1pPr>
          </a:lstStyle>
          <a:p>
            <a:r>
              <a:t>data</a:t>
            </a:r>
          </a:p>
        </p:txBody>
      </p:sp>
      <p:sp>
        <p:nvSpPr>
          <p:cNvPr id="528" name="Text Box 47"/>
          <p:cNvSpPr txBox="1"/>
          <p:nvPr/>
        </p:nvSpPr>
        <p:spPr>
          <a:xfrm>
            <a:off x="7684670" y="2465943"/>
            <a:ext cx="177291"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a:defRPr sz="1200"/>
            </a:pPr>
            <a:r>
              <a:rPr sz="1200"/>
              <a:t>2</a:t>
            </a:r>
          </a:p>
          <a:p>
            <a:pPr>
              <a:defRPr sz="1200"/>
            </a:pPr>
            <a:r>
              <a:rPr sz="1200"/>
              <a:t>/</a:t>
            </a:r>
          </a:p>
        </p:txBody>
      </p:sp>
      <p:sp>
        <p:nvSpPr>
          <p:cNvPr id="529" name="Text Box 48"/>
          <p:cNvSpPr txBox="1"/>
          <p:nvPr/>
        </p:nvSpPr>
        <p:spPr>
          <a:xfrm>
            <a:off x="7691020" y="4248705"/>
            <a:ext cx="177291"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a:defRPr sz="1200"/>
            </a:pPr>
            <a:r>
              <a:rPr sz="1200"/>
              <a:t>8</a:t>
            </a:r>
          </a:p>
          <a:p>
            <a:pPr>
              <a:defRPr sz="1200"/>
            </a:pPr>
            <a:r>
              <a:rPr sz="1200"/>
              <a:t>/</a:t>
            </a:r>
          </a:p>
        </p:txBody>
      </p:sp>
      <p:grpSp>
        <p:nvGrpSpPr>
          <p:cNvPr id="532" name="Rectangle 49"/>
          <p:cNvGrpSpPr/>
          <p:nvPr/>
        </p:nvGrpSpPr>
        <p:grpSpPr>
          <a:xfrm>
            <a:off x="6045099" y="2117337"/>
            <a:ext cx="1143001" cy="3200400"/>
            <a:chOff x="0" y="0"/>
            <a:chExt cx="1143000" cy="3200400"/>
          </a:xfrm>
        </p:grpSpPr>
        <p:sp>
          <p:nvSpPr>
            <p:cNvPr id="530" name="Rectangle"/>
            <p:cNvSpPr/>
            <p:nvPr/>
          </p:nvSpPr>
          <p:spPr>
            <a:xfrm>
              <a:off x="0" y="0"/>
              <a:ext cx="1143000" cy="320040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531" name="Memory…"/>
            <p:cNvSpPr txBox="1"/>
            <p:nvPr/>
          </p:nvSpPr>
          <p:spPr>
            <a:xfrm>
              <a:off x="103746" y="1307813"/>
              <a:ext cx="935509" cy="584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lgn="ctr">
                <a:defRPr sz="1600"/>
              </a:pPr>
              <a:r>
                <a:rPr sz="1600"/>
                <a:t>Memory</a:t>
              </a:r>
            </a:p>
            <a:p>
              <a:pPr>
                <a:defRPr sz="1600"/>
              </a:pPr>
              <a:r>
                <a:rPr sz="1600"/>
                <a:t>controller</a:t>
              </a:r>
            </a:p>
          </p:txBody>
        </p:sp>
      </p:grpSp>
      <p:sp>
        <p:nvSpPr>
          <p:cNvPr id="533" name="Rectangle 33"/>
          <p:cNvSpPr/>
          <p:nvPr/>
        </p:nvSpPr>
        <p:spPr>
          <a:xfrm>
            <a:off x="9204224" y="4851012"/>
            <a:ext cx="609601" cy="533400"/>
          </a:xfrm>
          <a:prstGeom prst="rect">
            <a:avLst/>
          </a:prstGeom>
          <a:solidFill>
            <a:srgbClr val="FF99CC"/>
          </a:solidFill>
          <a:ln w="12700">
            <a:solidFill>
              <a:srgbClr val="000000"/>
            </a:solidFill>
            <a:miter/>
          </a:ln>
        </p:spPr>
        <p:txBody>
          <a:bodyPr lIns="45719" rIns="45719" anchor="ctr"/>
          <a:lstStyle/>
          <a:p>
            <a:pPr>
              <a:defRPr sz="1600"/>
            </a:pPr>
            <a:endParaRPr sz="1600"/>
          </a:p>
        </p:txBody>
      </p:sp>
      <p:sp>
        <p:nvSpPr>
          <p:cNvPr id="534" name="Rectangle 54"/>
          <p:cNvSpPr/>
          <p:nvPr/>
        </p:nvSpPr>
        <p:spPr>
          <a:xfrm>
            <a:off x="9813824" y="4841487"/>
            <a:ext cx="609601" cy="533400"/>
          </a:xfrm>
          <a:prstGeom prst="rect">
            <a:avLst/>
          </a:prstGeom>
          <a:solidFill>
            <a:srgbClr val="FF99CC"/>
          </a:solidFill>
          <a:ln w="12700">
            <a:solidFill>
              <a:srgbClr val="000000"/>
            </a:solidFill>
            <a:miter/>
          </a:ln>
        </p:spPr>
        <p:txBody>
          <a:bodyPr lIns="45719" rIns="45719" anchor="ctr"/>
          <a:lstStyle/>
          <a:p>
            <a:pPr>
              <a:defRPr sz="1600"/>
            </a:pPr>
            <a:endParaRPr sz="1600"/>
          </a:p>
        </p:txBody>
      </p:sp>
      <p:sp>
        <p:nvSpPr>
          <p:cNvPr id="535" name="Rectangle 34"/>
          <p:cNvSpPr/>
          <p:nvPr/>
        </p:nvSpPr>
        <p:spPr>
          <a:xfrm>
            <a:off x="9802711" y="4860537"/>
            <a:ext cx="609600" cy="533400"/>
          </a:xfrm>
          <a:prstGeom prst="rect">
            <a:avLst/>
          </a:prstGeom>
          <a:solidFill>
            <a:srgbClr val="00FFFF"/>
          </a:solidFill>
          <a:ln w="12700">
            <a:solidFill>
              <a:srgbClr val="000000"/>
            </a:solidFill>
            <a:miter/>
          </a:ln>
        </p:spPr>
        <p:txBody>
          <a:bodyPr lIns="45719" rIns="45719" anchor="ctr"/>
          <a:lstStyle/>
          <a:p>
            <a:pPr>
              <a:defRPr sz="1600"/>
            </a:pPr>
            <a:endParaRPr sz="1600"/>
          </a:p>
        </p:txBody>
      </p:sp>
      <p:sp>
        <p:nvSpPr>
          <p:cNvPr id="536" name="Rectangle 37"/>
          <p:cNvSpPr/>
          <p:nvPr/>
        </p:nvSpPr>
        <p:spPr>
          <a:xfrm>
            <a:off x="9194699" y="4849425"/>
            <a:ext cx="2438401" cy="533401"/>
          </a:xfrm>
          <a:prstGeom prst="rect">
            <a:avLst/>
          </a:prstGeom>
          <a:ln w="38100">
            <a:solidFill>
              <a:srgbClr val="000000"/>
            </a:solidFill>
            <a:miter/>
          </a:ln>
        </p:spPr>
        <p:txBody>
          <a:bodyPr lIns="45719" rIns="45719" anchor="ctr"/>
          <a:lstStyle/>
          <a:p>
            <a:endParaRPr/>
          </a:p>
        </p:txBody>
      </p:sp>
      <p:sp>
        <p:nvSpPr>
          <p:cNvPr id="537" name="AutoShape 41"/>
          <p:cNvSpPr/>
          <p:nvPr/>
        </p:nvSpPr>
        <p:spPr>
          <a:xfrm rot="6382932">
            <a:off x="8996263" y="3930262"/>
            <a:ext cx="304801" cy="1724027"/>
          </a:xfrm>
          <a:custGeom>
            <a:avLst/>
            <a:gdLst/>
            <a:ahLst/>
            <a:cxnLst>
              <a:cxn ang="0">
                <a:pos x="wd2" y="hd2"/>
              </a:cxn>
              <a:cxn ang="5400000">
                <a:pos x="wd2" y="hd2"/>
              </a:cxn>
              <a:cxn ang="10800000">
                <a:pos x="wd2" y="hd2"/>
              </a:cxn>
              <a:cxn ang="16200000">
                <a:pos x="wd2" y="hd2"/>
              </a:cxn>
            </a:cxnLst>
            <a:rect l="0" t="0" r="r" b="b"/>
            <a:pathLst>
              <a:path w="21600" h="21600" extrusionOk="0">
                <a:moveTo>
                  <a:pt x="0" y="17679"/>
                </a:moveTo>
                <a:lnTo>
                  <a:pt x="4500" y="17679"/>
                </a:lnTo>
                <a:lnTo>
                  <a:pt x="4500" y="0"/>
                </a:lnTo>
                <a:lnTo>
                  <a:pt x="17100" y="0"/>
                </a:lnTo>
                <a:lnTo>
                  <a:pt x="17100" y="17679"/>
                </a:lnTo>
                <a:lnTo>
                  <a:pt x="21600" y="17679"/>
                </a:lnTo>
                <a:lnTo>
                  <a:pt x="10800" y="21600"/>
                </a:lnTo>
                <a:close/>
              </a:path>
            </a:pathLst>
          </a:custGeom>
          <a:solidFill>
            <a:schemeClr val="accent3">
              <a:lumOff val="44000"/>
            </a:schemeClr>
          </a:solidFill>
          <a:ln w="12700">
            <a:solidFill>
              <a:srgbClr val="000000"/>
            </a:solidFill>
            <a:miter/>
          </a:ln>
        </p:spPr>
        <p:txBody>
          <a:bodyPr lIns="45719" rIns="45719" anchor="ctr"/>
          <a:lstStyle/>
          <a:p>
            <a:endParaRPr/>
          </a:p>
        </p:txBody>
      </p:sp>
      <p:grpSp>
        <p:nvGrpSpPr>
          <p:cNvPr id="540" name="Group 57"/>
          <p:cNvGrpSpPr/>
          <p:nvPr/>
        </p:nvGrpSpPr>
        <p:grpSpPr>
          <a:xfrm>
            <a:off x="7321050" y="4900228"/>
            <a:ext cx="969174" cy="1021050"/>
            <a:chOff x="-43479" y="0"/>
            <a:chExt cx="969172" cy="1021049"/>
          </a:xfrm>
        </p:grpSpPr>
        <p:sp>
          <p:nvSpPr>
            <p:cNvPr id="538" name="Text Box 5"/>
            <p:cNvSpPr txBox="1"/>
            <p:nvPr/>
          </p:nvSpPr>
          <p:spPr>
            <a:xfrm>
              <a:off x="-43479" y="436277"/>
              <a:ext cx="969172" cy="58477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lgn="ctr">
                <a:defRPr sz="1600">
                  <a:solidFill>
                    <a:srgbClr val="FF0000"/>
                  </a:solidFill>
                </a:defRPr>
              </a:pPr>
              <a:r>
                <a:rPr sz="1600"/>
                <a:t>supercell </a:t>
              </a:r>
            </a:p>
            <a:p>
              <a:pPr algn="ctr">
                <a:defRPr sz="1600">
                  <a:solidFill>
                    <a:srgbClr val="FF0000"/>
                  </a:solidFill>
                </a:defRPr>
              </a:pPr>
              <a:r>
                <a:rPr sz="1600"/>
                <a:t>(2,1)</a:t>
              </a:r>
            </a:p>
          </p:txBody>
        </p:sp>
        <p:sp>
          <p:nvSpPr>
            <p:cNvPr id="539" name="Rectangle 55"/>
            <p:cNvSpPr/>
            <p:nvPr/>
          </p:nvSpPr>
          <p:spPr>
            <a:xfrm>
              <a:off x="80744" y="0"/>
              <a:ext cx="609601" cy="533400"/>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a:pPr>
                <a:defRPr sz="1600"/>
              </a:pPr>
              <a:endParaRPr sz="1600"/>
            </a:p>
          </p:txBody>
        </p:sp>
      </p:grpSp>
      <p:grpSp>
        <p:nvGrpSpPr>
          <p:cNvPr id="546" name="Group 56"/>
          <p:cNvGrpSpPr/>
          <p:nvPr/>
        </p:nvGrpSpPr>
        <p:grpSpPr>
          <a:xfrm>
            <a:off x="4906860" y="3038086"/>
            <a:ext cx="1238150" cy="1603668"/>
            <a:chOff x="0" y="0"/>
            <a:chExt cx="1238149" cy="1603666"/>
          </a:xfrm>
        </p:grpSpPr>
        <p:grpSp>
          <p:nvGrpSpPr>
            <p:cNvPr id="543" name="Group 58"/>
            <p:cNvGrpSpPr/>
            <p:nvPr/>
          </p:nvGrpSpPr>
          <p:grpSpPr>
            <a:xfrm>
              <a:off x="88502" y="582616"/>
              <a:ext cx="969173" cy="1021050"/>
              <a:chOff x="-43478" y="0"/>
              <a:chExt cx="969171" cy="1021049"/>
            </a:xfrm>
          </p:grpSpPr>
          <p:sp>
            <p:nvSpPr>
              <p:cNvPr id="541" name="Text Box 59"/>
              <p:cNvSpPr txBox="1"/>
              <p:nvPr/>
            </p:nvSpPr>
            <p:spPr>
              <a:xfrm>
                <a:off x="-43478" y="436277"/>
                <a:ext cx="969171" cy="58477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lgn="ctr">
                  <a:defRPr sz="1600">
                    <a:solidFill>
                      <a:srgbClr val="FF0000"/>
                    </a:solidFill>
                  </a:defRPr>
                </a:pPr>
                <a:r>
                  <a:rPr sz="1600"/>
                  <a:t>supercell </a:t>
                </a:r>
              </a:p>
              <a:p>
                <a:pPr algn="ctr">
                  <a:defRPr sz="1600">
                    <a:solidFill>
                      <a:srgbClr val="FF0000"/>
                    </a:solidFill>
                  </a:defRPr>
                </a:pPr>
                <a:r>
                  <a:rPr sz="1600"/>
                  <a:t>(2,1)</a:t>
                </a:r>
              </a:p>
            </p:txBody>
          </p:sp>
          <p:sp>
            <p:nvSpPr>
              <p:cNvPr id="542" name="Rectangle 60"/>
              <p:cNvSpPr/>
              <p:nvPr/>
            </p:nvSpPr>
            <p:spPr>
              <a:xfrm>
                <a:off x="80744" y="0"/>
                <a:ext cx="609601" cy="533400"/>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a:pPr algn="ctr">
                  <a:defRPr sz="1600"/>
                </a:pPr>
                <a:endParaRPr sz="1600"/>
              </a:p>
            </p:txBody>
          </p:sp>
        </p:grpSp>
        <p:sp>
          <p:nvSpPr>
            <p:cNvPr id="544" name="Line 61"/>
            <p:cNvSpPr/>
            <p:nvPr/>
          </p:nvSpPr>
          <p:spPr>
            <a:xfrm flipH="1" flipV="1">
              <a:off x="0" y="430213"/>
              <a:ext cx="1117601" cy="1"/>
            </a:xfrm>
            <a:prstGeom prst="line">
              <a:avLst/>
            </a:prstGeom>
            <a:noFill/>
            <a:ln w="19050" cap="flat">
              <a:solidFill>
                <a:srgbClr val="000000"/>
              </a:solidFill>
              <a:prstDash val="solid"/>
              <a:round/>
              <a:tailEnd type="triangle" w="med" len="med"/>
            </a:ln>
            <a:effectLst/>
          </p:spPr>
          <p:txBody>
            <a:bodyPr wrap="square" lIns="45719" tIns="45719" rIns="45719" bIns="45719" numCol="1" anchor="t">
              <a:noAutofit/>
            </a:bodyPr>
            <a:lstStyle/>
            <a:p>
              <a:endParaRPr/>
            </a:p>
          </p:txBody>
        </p:sp>
        <p:sp>
          <p:nvSpPr>
            <p:cNvPr id="545" name="Text Box 62"/>
            <p:cNvSpPr txBox="1"/>
            <p:nvPr/>
          </p:nvSpPr>
          <p:spPr>
            <a:xfrm>
              <a:off x="119448" y="0"/>
              <a:ext cx="1118701" cy="40010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sz="2000"/>
              </a:lvl1pPr>
            </a:lstStyle>
            <a:p>
              <a:r>
                <a:t>To Cores</a:t>
              </a:r>
            </a:p>
          </p:txBody>
        </p:sp>
      </p:grpSp>
    </p:spTree>
    <p:extLst>
      <p:ext uri="{BB962C8B-B14F-4D97-AF65-F5344CB8AC3E}">
        <p14:creationId xmlns:p14="http://schemas.microsoft.com/office/powerpoint/2010/main" val="379172321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5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5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5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 grpId="0" animBg="1" advAuto="0"/>
      <p:bldP spid="535" grpId="0" animBg="1" advAuto="0"/>
      <p:bldP spid="537" grpId="0" animBg="1" advAuto="0"/>
      <p:bldP spid="540" grpId="0" animBg="1" advAuto="0"/>
      <p:bldP spid="546" grpId="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Rectangle 5"/>
          <p:cNvSpPr txBox="1">
            <a:spLocks noGrp="1"/>
          </p:cNvSpPr>
          <p:nvPr>
            <p:ph type="sldNum" sz="quarter" idx="2"/>
          </p:nvPr>
        </p:nvSpPr>
        <p:spPr>
          <a:xfrm>
            <a:off x="12261466" y="5792876"/>
            <a:ext cx="232877" cy="22851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p:sp>
        <p:nvSpPr>
          <p:cNvPr id="378" name="Rectangle 52"/>
          <p:cNvSpPr txBox="1">
            <a:spLocks noGrp="1"/>
          </p:cNvSpPr>
          <p:nvPr>
            <p:ph type="title"/>
          </p:nvPr>
        </p:nvSpPr>
        <p:spPr>
          <a:xfrm>
            <a:off x="1634548" y="96351"/>
            <a:ext cx="8995293" cy="762001"/>
          </a:xfrm>
          <a:prstGeom prst="rect">
            <a:avLst/>
          </a:prstGeom>
        </p:spPr>
        <p:txBody>
          <a:bodyPr/>
          <a:lstStyle/>
          <a:p>
            <a:r>
              <a:rPr dirty="0"/>
              <a:t>Conventional DRAM Organization</a:t>
            </a:r>
          </a:p>
        </p:txBody>
      </p:sp>
      <p:sp>
        <p:nvSpPr>
          <p:cNvPr id="379" name="Rectangle 53"/>
          <p:cNvSpPr txBox="1">
            <a:spLocks noGrp="1"/>
          </p:cNvSpPr>
          <p:nvPr>
            <p:ph type="body" idx="1"/>
          </p:nvPr>
        </p:nvSpPr>
        <p:spPr>
          <a:xfrm>
            <a:off x="184826" y="1125537"/>
            <a:ext cx="11397574" cy="4895851"/>
          </a:xfrm>
          <a:prstGeom prst="rect">
            <a:avLst/>
          </a:prstGeom>
        </p:spPr>
        <p:txBody>
          <a:bodyPr/>
          <a:lstStyle/>
          <a:p>
            <a:pPr>
              <a:defRPr i="1"/>
            </a:pPr>
            <a:r>
              <a:rPr sz="3200" dirty="0"/>
              <a:t>d</a:t>
            </a:r>
            <a:r>
              <a:rPr sz="3200" i="0" dirty="0"/>
              <a:t> x </a:t>
            </a:r>
            <a:r>
              <a:rPr sz="3200" dirty="0"/>
              <a:t>w</a:t>
            </a:r>
            <a:r>
              <a:rPr sz="3200" i="0" dirty="0"/>
              <a:t> DRAM:</a:t>
            </a:r>
          </a:p>
          <a:p>
            <a:pPr marL="742950" lvl="1" indent="-285750">
              <a:spcBef>
                <a:spcPts val="400"/>
              </a:spcBef>
              <a:defRPr sz="2000" b="0" i="1"/>
            </a:pPr>
            <a:r>
              <a:rPr dirty="0"/>
              <a:t>d⋅ w</a:t>
            </a:r>
            <a:r>
              <a:rPr i="0" dirty="0"/>
              <a:t> total bits organized as </a:t>
            </a:r>
            <a:r>
              <a:rPr dirty="0"/>
              <a:t>d</a:t>
            </a:r>
            <a:r>
              <a:rPr i="0" dirty="0"/>
              <a:t> </a:t>
            </a:r>
            <a:r>
              <a:rPr i="0" dirty="0">
                <a:solidFill>
                  <a:srgbClr val="FF0000"/>
                </a:solidFill>
              </a:rPr>
              <a:t>supercells</a:t>
            </a:r>
            <a:r>
              <a:rPr i="0" dirty="0"/>
              <a:t> of size </a:t>
            </a:r>
            <a:r>
              <a:rPr dirty="0"/>
              <a:t>w</a:t>
            </a:r>
            <a:r>
              <a:rPr i="0" dirty="0"/>
              <a:t> bits</a:t>
            </a:r>
          </a:p>
        </p:txBody>
      </p:sp>
      <p:sp>
        <p:nvSpPr>
          <p:cNvPr id="380" name="Text Box 4"/>
          <p:cNvSpPr txBox="1"/>
          <p:nvPr/>
        </p:nvSpPr>
        <p:spPr>
          <a:xfrm>
            <a:off x="9281830" y="1920120"/>
            <a:ext cx="456213"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cols</a:t>
            </a:r>
          </a:p>
        </p:txBody>
      </p:sp>
      <p:sp>
        <p:nvSpPr>
          <p:cNvPr id="381" name="Text Box 5"/>
          <p:cNvSpPr txBox="1"/>
          <p:nvPr/>
        </p:nvSpPr>
        <p:spPr>
          <a:xfrm>
            <a:off x="7476841" y="3323470"/>
            <a:ext cx="525142"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rows</a:t>
            </a:r>
          </a:p>
        </p:txBody>
      </p:sp>
      <p:sp>
        <p:nvSpPr>
          <p:cNvPr id="382" name="Rectangle 6"/>
          <p:cNvSpPr/>
          <p:nvPr/>
        </p:nvSpPr>
        <p:spPr>
          <a:xfrm>
            <a:off x="8297897" y="24418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83" name="Rectangle 7"/>
          <p:cNvSpPr/>
          <p:nvPr/>
        </p:nvSpPr>
        <p:spPr>
          <a:xfrm>
            <a:off x="8907497" y="24418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4" name="Rectangle 8"/>
          <p:cNvSpPr/>
          <p:nvPr/>
        </p:nvSpPr>
        <p:spPr>
          <a:xfrm>
            <a:off x="9517097" y="24418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5" name="Rectangle 9"/>
          <p:cNvSpPr/>
          <p:nvPr/>
        </p:nvSpPr>
        <p:spPr>
          <a:xfrm>
            <a:off x="10126697" y="24418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6" name="Rectangle 10"/>
          <p:cNvSpPr/>
          <p:nvPr/>
        </p:nvSpPr>
        <p:spPr>
          <a:xfrm>
            <a:off x="8297897" y="29752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87" name="Rectangle 11"/>
          <p:cNvSpPr/>
          <p:nvPr/>
        </p:nvSpPr>
        <p:spPr>
          <a:xfrm>
            <a:off x="8907497" y="2975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8" name="Rectangle 12"/>
          <p:cNvSpPr/>
          <p:nvPr/>
        </p:nvSpPr>
        <p:spPr>
          <a:xfrm>
            <a:off x="9517097" y="2975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89" name="Rectangle 13"/>
          <p:cNvSpPr/>
          <p:nvPr/>
        </p:nvSpPr>
        <p:spPr>
          <a:xfrm>
            <a:off x="10126697" y="2975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0" name="Rectangle 14"/>
          <p:cNvSpPr/>
          <p:nvPr/>
        </p:nvSpPr>
        <p:spPr>
          <a:xfrm>
            <a:off x="8297897" y="35086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91" name="Rectangle 15"/>
          <p:cNvSpPr/>
          <p:nvPr/>
        </p:nvSpPr>
        <p:spPr>
          <a:xfrm>
            <a:off x="8907497" y="3508622"/>
            <a:ext cx="609600" cy="533400"/>
          </a:xfrm>
          <a:prstGeom prst="rect">
            <a:avLst/>
          </a:prstGeom>
          <a:solidFill>
            <a:srgbClr val="00FFFF"/>
          </a:solidFill>
          <a:ln w="12700">
            <a:solidFill>
              <a:srgbClr val="000000"/>
            </a:solidFill>
            <a:miter/>
          </a:ln>
        </p:spPr>
        <p:txBody>
          <a:bodyPr lIns="45719" rIns="45719" anchor="ctr"/>
          <a:lstStyle/>
          <a:p>
            <a:pPr>
              <a:defRPr sz="1600"/>
            </a:pPr>
            <a:endParaRPr sz="1600"/>
          </a:p>
        </p:txBody>
      </p:sp>
      <p:sp>
        <p:nvSpPr>
          <p:cNvPr id="392" name="Rectangle 16"/>
          <p:cNvSpPr/>
          <p:nvPr/>
        </p:nvSpPr>
        <p:spPr>
          <a:xfrm>
            <a:off x="9517097" y="35086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3" name="Rectangle 17"/>
          <p:cNvSpPr/>
          <p:nvPr/>
        </p:nvSpPr>
        <p:spPr>
          <a:xfrm>
            <a:off x="10126697" y="35086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4" name="Rectangle 18"/>
          <p:cNvSpPr/>
          <p:nvPr/>
        </p:nvSpPr>
        <p:spPr>
          <a:xfrm>
            <a:off x="8297897" y="40420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95" name="Rectangle 19"/>
          <p:cNvSpPr/>
          <p:nvPr/>
        </p:nvSpPr>
        <p:spPr>
          <a:xfrm>
            <a:off x="8907497" y="40420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6" name="Rectangle 20"/>
          <p:cNvSpPr/>
          <p:nvPr/>
        </p:nvSpPr>
        <p:spPr>
          <a:xfrm>
            <a:off x="9517097" y="40420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7" name="Rectangle 21"/>
          <p:cNvSpPr/>
          <p:nvPr/>
        </p:nvSpPr>
        <p:spPr>
          <a:xfrm>
            <a:off x="10126697" y="40420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398" name="Text Box 22"/>
          <p:cNvSpPr txBox="1"/>
          <p:nvPr/>
        </p:nvSpPr>
        <p:spPr>
          <a:xfrm>
            <a:off x="8496017" y="2120145"/>
            <a:ext cx="206145"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0</a:t>
            </a:r>
          </a:p>
        </p:txBody>
      </p:sp>
      <p:sp>
        <p:nvSpPr>
          <p:cNvPr id="399" name="Text Box 23"/>
          <p:cNvSpPr txBox="1"/>
          <p:nvPr/>
        </p:nvSpPr>
        <p:spPr>
          <a:xfrm>
            <a:off x="9105617" y="2136020"/>
            <a:ext cx="206145"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1</a:t>
            </a:r>
          </a:p>
        </p:txBody>
      </p:sp>
      <p:sp>
        <p:nvSpPr>
          <p:cNvPr id="400" name="Text Box 24"/>
          <p:cNvSpPr txBox="1"/>
          <p:nvPr/>
        </p:nvSpPr>
        <p:spPr>
          <a:xfrm>
            <a:off x="9723155" y="2136020"/>
            <a:ext cx="206145"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2</a:t>
            </a:r>
          </a:p>
        </p:txBody>
      </p:sp>
      <p:sp>
        <p:nvSpPr>
          <p:cNvPr id="401" name="Text Box 25"/>
          <p:cNvSpPr txBox="1"/>
          <p:nvPr/>
        </p:nvSpPr>
        <p:spPr>
          <a:xfrm>
            <a:off x="10332756" y="2136020"/>
            <a:ext cx="206145"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3</a:t>
            </a:r>
          </a:p>
        </p:txBody>
      </p:sp>
      <p:sp>
        <p:nvSpPr>
          <p:cNvPr id="402" name="Text Box 26"/>
          <p:cNvSpPr txBox="1"/>
          <p:nvPr/>
        </p:nvSpPr>
        <p:spPr>
          <a:xfrm>
            <a:off x="8038817" y="2561470"/>
            <a:ext cx="206145"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0</a:t>
            </a:r>
          </a:p>
        </p:txBody>
      </p:sp>
      <p:sp>
        <p:nvSpPr>
          <p:cNvPr id="403" name="Text Box 27"/>
          <p:cNvSpPr txBox="1"/>
          <p:nvPr/>
        </p:nvSpPr>
        <p:spPr>
          <a:xfrm>
            <a:off x="8038817" y="3094870"/>
            <a:ext cx="206145"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1</a:t>
            </a:r>
          </a:p>
        </p:txBody>
      </p:sp>
      <p:sp>
        <p:nvSpPr>
          <p:cNvPr id="404" name="Text Box 28"/>
          <p:cNvSpPr txBox="1"/>
          <p:nvPr/>
        </p:nvSpPr>
        <p:spPr>
          <a:xfrm>
            <a:off x="8038817" y="3628270"/>
            <a:ext cx="206145"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2</a:t>
            </a:r>
          </a:p>
        </p:txBody>
      </p:sp>
      <p:sp>
        <p:nvSpPr>
          <p:cNvPr id="405" name="Text Box 29"/>
          <p:cNvSpPr txBox="1"/>
          <p:nvPr/>
        </p:nvSpPr>
        <p:spPr>
          <a:xfrm>
            <a:off x="8038817" y="4161670"/>
            <a:ext cx="206145"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3</a:t>
            </a:r>
          </a:p>
        </p:txBody>
      </p:sp>
      <p:sp>
        <p:nvSpPr>
          <p:cNvPr id="406" name="Rectangle 30"/>
          <p:cNvSpPr/>
          <p:nvPr/>
        </p:nvSpPr>
        <p:spPr>
          <a:xfrm>
            <a:off x="8294722" y="2441822"/>
            <a:ext cx="2438400" cy="2133600"/>
          </a:xfrm>
          <a:prstGeom prst="rect">
            <a:avLst/>
          </a:prstGeom>
          <a:ln w="38100">
            <a:solidFill>
              <a:srgbClr val="000000"/>
            </a:solidFill>
            <a:miter/>
          </a:ln>
        </p:spPr>
        <p:txBody>
          <a:bodyPr lIns="45719" rIns="45719" anchor="ctr"/>
          <a:lstStyle/>
          <a:p>
            <a:endParaRPr/>
          </a:p>
        </p:txBody>
      </p:sp>
      <p:sp>
        <p:nvSpPr>
          <p:cNvPr id="407" name="Rectangle 31"/>
          <p:cNvSpPr/>
          <p:nvPr/>
        </p:nvSpPr>
        <p:spPr>
          <a:xfrm>
            <a:off x="8294722" y="48802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08" name="Rectangle 32"/>
          <p:cNvSpPr/>
          <p:nvPr/>
        </p:nvSpPr>
        <p:spPr>
          <a:xfrm>
            <a:off x="8904322" y="4880222"/>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09" name="Rectangle 33"/>
          <p:cNvSpPr/>
          <p:nvPr/>
        </p:nvSpPr>
        <p:spPr>
          <a:xfrm>
            <a:off x="9513922" y="4880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10" name="Rectangle 34"/>
          <p:cNvSpPr/>
          <p:nvPr/>
        </p:nvSpPr>
        <p:spPr>
          <a:xfrm>
            <a:off x="10123522" y="4880222"/>
            <a:ext cx="609600" cy="533400"/>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411" name="Rectangle 35"/>
          <p:cNvSpPr/>
          <p:nvPr/>
        </p:nvSpPr>
        <p:spPr>
          <a:xfrm>
            <a:off x="8294722" y="4880222"/>
            <a:ext cx="2438400" cy="533400"/>
          </a:xfrm>
          <a:prstGeom prst="rect">
            <a:avLst/>
          </a:prstGeom>
          <a:ln w="38100">
            <a:solidFill>
              <a:srgbClr val="000000"/>
            </a:solidFill>
            <a:miter/>
          </a:ln>
        </p:spPr>
        <p:txBody>
          <a:bodyPr lIns="45719" rIns="45719" anchor="ctr"/>
          <a:lstStyle/>
          <a:p>
            <a:endParaRPr/>
          </a:p>
        </p:txBody>
      </p:sp>
      <p:sp>
        <p:nvSpPr>
          <p:cNvPr id="412" name="Text Box 36"/>
          <p:cNvSpPr txBox="1"/>
          <p:nvPr/>
        </p:nvSpPr>
        <p:spPr>
          <a:xfrm>
            <a:off x="8692466" y="5472946"/>
            <a:ext cx="1744515"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lgn="ctr">
              <a:defRPr sz="1600"/>
            </a:lvl1pPr>
          </a:lstStyle>
          <a:p>
            <a:r>
              <a:t>Internal row buffer</a:t>
            </a:r>
          </a:p>
        </p:txBody>
      </p:sp>
      <p:sp>
        <p:nvSpPr>
          <p:cNvPr id="413" name="Rectangle 37"/>
          <p:cNvSpPr/>
          <p:nvPr/>
        </p:nvSpPr>
        <p:spPr>
          <a:xfrm>
            <a:off x="7459697" y="1848097"/>
            <a:ext cx="3505200" cy="4038600"/>
          </a:xfrm>
          <a:prstGeom prst="rect">
            <a:avLst/>
          </a:prstGeom>
          <a:ln w="12700">
            <a:solidFill>
              <a:srgbClr val="000000"/>
            </a:solidFill>
            <a:prstDash val="dash"/>
            <a:miter/>
          </a:ln>
        </p:spPr>
        <p:txBody>
          <a:bodyPr lIns="45719" rIns="45719" anchor="ctr"/>
          <a:lstStyle/>
          <a:p>
            <a:endParaRPr/>
          </a:p>
        </p:txBody>
      </p:sp>
      <p:sp>
        <p:nvSpPr>
          <p:cNvPr id="414" name="Text Box 38"/>
          <p:cNvSpPr txBox="1"/>
          <p:nvPr/>
        </p:nvSpPr>
        <p:spPr>
          <a:xfrm>
            <a:off x="7368892" y="1526420"/>
            <a:ext cx="1745027"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16 x 8 DRAM chip</a:t>
            </a:r>
          </a:p>
        </p:txBody>
      </p:sp>
      <p:sp>
        <p:nvSpPr>
          <p:cNvPr id="415" name="Line 39"/>
          <p:cNvSpPr/>
          <p:nvPr/>
        </p:nvSpPr>
        <p:spPr>
          <a:xfrm flipV="1">
            <a:off x="6316698" y="2883146"/>
            <a:ext cx="1143001" cy="15876"/>
          </a:xfrm>
          <a:prstGeom prst="line">
            <a:avLst/>
          </a:prstGeom>
          <a:ln w="38100">
            <a:solidFill>
              <a:srgbClr val="000000"/>
            </a:solidFill>
            <a:tailEnd type="triangle"/>
          </a:ln>
        </p:spPr>
        <p:txBody>
          <a:bodyPr lIns="45719" rIns="45719"/>
          <a:lstStyle/>
          <a:p>
            <a:endParaRPr/>
          </a:p>
        </p:txBody>
      </p:sp>
      <p:sp>
        <p:nvSpPr>
          <p:cNvPr id="416" name="Text Box 40"/>
          <p:cNvSpPr txBox="1"/>
          <p:nvPr/>
        </p:nvSpPr>
        <p:spPr>
          <a:xfrm>
            <a:off x="6637055" y="2942470"/>
            <a:ext cx="586056"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atin typeface="Courier New"/>
                <a:ea typeface="Courier New"/>
                <a:cs typeface="Courier New"/>
                <a:sym typeface="Courier New"/>
              </a:defRPr>
            </a:lvl1pPr>
          </a:lstStyle>
          <a:p>
            <a:r>
              <a:t>addr</a:t>
            </a:r>
          </a:p>
        </p:txBody>
      </p:sp>
      <p:sp>
        <p:nvSpPr>
          <p:cNvPr id="417" name="Line 41"/>
          <p:cNvSpPr/>
          <p:nvPr/>
        </p:nvSpPr>
        <p:spPr>
          <a:xfrm>
            <a:off x="6316698" y="4651622"/>
            <a:ext cx="1143001" cy="0"/>
          </a:xfrm>
          <a:prstGeom prst="line">
            <a:avLst/>
          </a:prstGeom>
          <a:ln w="38100">
            <a:solidFill>
              <a:srgbClr val="000000"/>
            </a:solidFill>
            <a:headEnd type="triangle"/>
            <a:tailEnd type="triangle"/>
          </a:ln>
        </p:spPr>
        <p:txBody>
          <a:bodyPr lIns="45719" rIns="45719"/>
          <a:lstStyle/>
          <a:p>
            <a:endParaRPr/>
          </a:p>
        </p:txBody>
      </p:sp>
      <p:sp>
        <p:nvSpPr>
          <p:cNvPr id="418" name="Text Box 42"/>
          <p:cNvSpPr txBox="1"/>
          <p:nvPr/>
        </p:nvSpPr>
        <p:spPr>
          <a:xfrm>
            <a:off x="6605305" y="4695070"/>
            <a:ext cx="586056"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atin typeface="Courier New"/>
                <a:ea typeface="Courier New"/>
                <a:cs typeface="Courier New"/>
                <a:sym typeface="Courier New"/>
              </a:defRPr>
            </a:lvl1pPr>
          </a:lstStyle>
          <a:p>
            <a:r>
              <a:t>data</a:t>
            </a:r>
          </a:p>
        </p:txBody>
      </p:sp>
      <p:sp>
        <p:nvSpPr>
          <p:cNvPr id="419" name="Text Box 43"/>
          <p:cNvSpPr txBox="1"/>
          <p:nvPr/>
        </p:nvSpPr>
        <p:spPr>
          <a:xfrm>
            <a:off x="11269576" y="3621048"/>
            <a:ext cx="911466" cy="5847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p>
            <a:pPr algn="ctr">
              <a:defRPr sz="1600"/>
            </a:pPr>
            <a:r>
              <a:rPr sz="1600"/>
              <a:t>supercell</a:t>
            </a:r>
          </a:p>
          <a:p>
            <a:pPr algn="ctr">
              <a:defRPr sz="1600"/>
            </a:pPr>
            <a:r>
              <a:rPr sz="1600"/>
              <a:t>(2,1)</a:t>
            </a:r>
          </a:p>
        </p:txBody>
      </p:sp>
      <p:sp>
        <p:nvSpPr>
          <p:cNvPr id="420" name="Line 44"/>
          <p:cNvSpPr/>
          <p:nvPr/>
        </p:nvSpPr>
        <p:spPr>
          <a:xfrm flipH="1" flipV="1">
            <a:off x="9288497" y="3813422"/>
            <a:ext cx="1981201" cy="152401"/>
          </a:xfrm>
          <a:prstGeom prst="line">
            <a:avLst/>
          </a:prstGeom>
          <a:ln w="28575">
            <a:solidFill>
              <a:srgbClr val="000000"/>
            </a:solidFill>
            <a:tailEnd type="triangle"/>
          </a:ln>
        </p:spPr>
        <p:txBody>
          <a:bodyPr lIns="45719" rIns="45719"/>
          <a:lstStyle/>
          <a:p>
            <a:endParaRPr/>
          </a:p>
        </p:txBody>
      </p:sp>
      <p:sp>
        <p:nvSpPr>
          <p:cNvPr id="421" name="Text Box 45"/>
          <p:cNvSpPr txBox="1"/>
          <p:nvPr/>
        </p:nvSpPr>
        <p:spPr>
          <a:xfrm>
            <a:off x="6659281" y="2561828"/>
            <a:ext cx="459419"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p>
            <a:pPr>
              <a:defRPr sz="1200"/>
            </a:pPr>
            <a:r>
              <a:rPr sz="1200"/>
              <a:t>2 bits</a:t>
            </a:r>
          </a:p>
          <a:p>
            <a:pPr>
              <a:defRPr sz="1200"/>
            </a:pPr>
            <a:r>
              <a:rPr sz="1200"/>
              <a:t>/</a:t>
            </a:r>
          </a:p>
        </p:txBody>
      </p:sp>
      <p:sp>
        <p:nvSpPr>
          <p:cNvPr id="422" name="Text Box 46"/>
          <p:cNvSpPr txBox="1"/>
          <p:nvPr/>
        </p:nvSpPr>
        <p:spPr>
          <a:xfrm>
            <a:off x="6665631" y="4344590"/>
            <a:ext cx="459419"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p>
            <a:pPr>
              <a:defRPr sz="1200"/>
            </a:pPr>
            <a:r>
              <a:rPr sz="1200"/>
              <a:t>8 bits</a:t>
            </a:r>
          </a:p>
          <a:p>
            <a:pPr>
              <a:defRPr sz="1200"/>
            </a:pPr>
            <a:r>
              <a:rPr sz="1200"/>
              <a:t>/</a:t>
            </a:r>
          </a:p>
        </p:txBody>
      </p:sp>
      <p:grpSp>
        <p:nvGrpSpPr>
          <p:cNvPr id="425" name="Rectangle 47"/>
          <p:cNvGrpSpPr/>
          <p:nvPr/>
        </p:nvGrpSpPr>
        <p:grpSpPr>
          <a:xfrm>
            <a:off x="5173697" y="2213222"/>
            <a:ext cx="1143000" cy="3200400"/>
            <a:chOff x="0" y="0"/>
            <a:chExt cx="1143000" cy="3200400"/>
          </a:xfrm>
        </p:grpSpPr>
        <p:sp>
          <p:nvSpPr>
            <p:cNvPr id="423" name="Rectangle"/>
            <p:cNvSpPr/>
            <p:nvPr/>
          </p:nvSpPr>
          <p:spPr>
            <a:xfrm>
              <a:off x="0" y="0"/>
              <a:ext cx="1143000" cy="320040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424" name="Memory…"/>
            <p:cNvSpPr txBox="1"/>
            <p:nvPr/>
          </p:nvSpPr>
          <p:spPr>
            <a:xfrm>
              <a:off x="103744" y="1307813"/>
              <a:ext cx="935512" cy="58477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ctr">
              <a:spAutoFit/>
            </a:bodyPr>
            <a:lstStyle/>
            <a:p>
              <a:pPr algn="ctr">
                <a:defRPr sz="1600"/>
              </a:pPr>
              <a:r>
                <a:rPr sz="1600"/>
                <a:t>Memory</a:t>
              </a:r>
            </a:p>
            <a:p>
              <a:pPr algn="ctr">
                <a:defRPr sz="1600"/>
              </a:pPr>
              <a:r>
                <a:rPr sz="1600"/>
                <a:t>controller</a:t>
              </a:r>
            </a:p>
          </p:txBody>
        </p:sp>
      </p:grpSp>
      <p:sp>
        <p:nvSpPr>
          <p:cNvPr id="426" name="AutoShape 48"/>
          <p:cNvSpPr/>
          <p:nvPr/>
        </p:nvSpPr>
        <p:spPr>
          <a:xfrm>
            <a:off x="3878297" y="3432422"/>
            <a:ext cx="1295400" cy="457200"/>
          </a:xfrm>
          <a:prstGeom prst="leftRightArrow">
            <a:avLst>
              <a:gd name="adj1" fmla="val 50000"/>
              <a:gd name="adj2" fmla="val 56667"/>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27" name="Text Box 49"/>
          <p:cNvSpPr txBox="1"/>
          <p:nvPr/>
        </p:nvSpPr>
        <p:spPr>
          <a:xfrm>
            <a:off x="3933543" y="3964821"/>
            <a:ext cx="1430839"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lvl1pPr>
              <a:defRPr sz="1600"/>
            </a:lvl1pPr>
          </a:lstStyle>
          <a:p>
            <a:r>
              <a:t>(to/from cores)</a:t>
            </a:r>
          </a:p>
        </p:txBody>
      </p:sp>
      <p:sp>
        <p:nvSpPr>
          <p:cNvPr id="2" name="TextBox 1">
            <a:extLst>
              <a:ext uri="{FF2B5EF4-FFF2-40B4-BE49-F238E27FC236}">
                <a16:creationId xmlns:a16="http://schemas.microsoft.com/office/drawing/2014/main" id="{09A11C96-6CAD-746B-4171-6D7495FE4CC9}"/>
              </a:ext>
            </a:extLst>
          </p:cNvPr>
          <p:cNvSpPr txBox="1"/>
          <p:nvPr/>
        </p:nvSpPr>
        <p:spPr>
          <a:xfrm>
            <a:off x="173071" y="2284734"/>
            <a:ext cx="3857626" cy="1200329"/>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In this example, 16 is the number of addresses, and 8 is the data width.</a:t>
            </a:r>
          </a:p>
          <a:p>
            <a:r>
              <a:rPr lang="en-US" dirty="0">
                <a:ea typeface="標楷體" pitchFamily="65" charset="-120"/>
                <a:cs typeface="Calibri" pitchFamily="34" charset="0"/>
              </a:rPr>
              <a:t>On the market, you can buy 1Gx8</a:t>
            </a:r>
          </a:p>
          <a:p>
            <a:r>
              <a:rPr lang="en-US" dirty="0">
                <a:ea typeface="標楷體" pitchFamily="65" charset="-120"/>
                <a:cs typeface="Calibri" pitchFamily="34" charset="0"/>
              </a:rPr>
              <a:t>Chips.  </a:t>
            </a:r>
          </a:p>
        </p:txBody>
      </p:sp>
      <p:sp>
        <p:nvSpPr>
          <p:cNvPr id="3" name="TextBox 2">
            <a:extLst>
              <a:ext uri="{FF2B5EF4-FFF2-40B4-BE49-F238E27FC236}">
                <a16:creationId xmlns:a16="http://schemas.microsoft.com/office/drawing/2014/main" id="{CA6D16FE-B641-F3A9-C7CF-6A43E0221C69}"/>
              </a:ext>
            </a:extLst>
          </p:cNvPr>
          <p:cNvSpPr txBox="1"/>
          <p:nvPr/>
        </p:nvSpPr>
        <p:spPr>
          <a:xfrm>
            <a:off x="173071" y="4385904"/>
            <a:ext cx="3857626" cy="1200329"/>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If you want to transfer 64bits per clock from the memory to CPU, you need at least 8 memory chips: 8bit per chip x 8 = 64bits.</a:t>
            </a:r>
          </a:p>
        </p:txBody>
      </p:sp>
    </p:spTree>
    <p:extLst>
      <p:ext uri="{BB962C8B-B14F-4D97-AF65-F5344CB8AC3E}">
        <p14:creationId xmlns:p14="http://schemas.microsoft.com/office/powerpoint/2010/main" val="13199259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Rectangle 5"/>
          <p:cNvSpPr txBox="1">
            <a:spLocks noGrp="1"/>
          </p:cNvSpPr>
          <p:nvPr>
            <p:ph type="sldNum" sz="quarter" idx="2"/>
          </p:nvPr>
        </p:nvSpPr>
        <p:spPr>
          <a:xfrm>
            <a:off x="10014375" y="6339405"/>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549" name="Rectangle 86"/>
          <p:cNvSpPr txBox="1">
            <a:spLocks noGrp="1"/>
          </p:cNvSpPr>
          <p:nvPr>
            <p:ph type="title"/>
          </p:nvPr>
        </p:nvSpPr>
        <p:spPr>
          <a:xfrm>
            <a:off x="1836402" y="73610"/>
            <a:ext cx="7592095" cy="762001"/>
          </a:xfrm>
          <a:prstGeom prst="rect">
            <a:avLst/>
          </a:prstGeom>
        </p:spPr>
        <p:txBody>
          <a:bodyPr/>
          <a:lstStyle/>
          <a:p>
            <a:r>
              <a:rPr dirty="0"/>
              <a:t>Memory Modules</a:t>
            </a:r>
          </a:p>
        </p:txBody>
      </p:sp>
      <p:sp>
        <p:nvSpPr>
          <p:cNvPr id="550" name="Rectangle 4"/>
          <p:cNvSpPr/>
          <p:nvPr/>
        </p:nvSpPr>
        <p:spPr>
          <a:xfrm>
            <a:off x="2732931" y="1054776"/>
            <a:ext cx="5062538" cy="2692400"/>
          </a:xfrm>
          <a:prstGeom prst="rect">
            <a:avLst/>
          </a:prstGeom>
          <a:solidFill>
            <a:schemeClr val="accent3">
              <a:lumOff val="44000"/>
            </a:schemeClr>
          </a:solidFill>
          <a:ln w="12700">
            <a:solidFill>
              <a:srgbClr val="000000"/>
            </a:solidFill>
            <a:miter/>
          </a:ln>
          <a:effectLst>
            <a:outerShdw blurRad="63500" dist="107762" dir="2700000" rotWithShape="0">
              <a:srgbClr val="000004">
                <a:alpha val="74998"/>
              </a:srgbClr>
            </a:outerShdw>
          </a:effectLst>
        </p:spPr>
        <p:txBody>
          <a:bodyPr lIns="45719" rIns="45719" anchor="ctr"/>
          <a:lstStyle/>
          <a:p>
            <a:endParaRPr/>
          </a:p>
        </p:txBody>
      </p:sp>
      <p:sp>
        <p:nvSpPr>
          <p:cNvPr id="551" name="Rectangle 5"/>
          <p:cNvSpPr/>
          <p:nvPr/>
        </p:nvSpPr>
        <p:spPr>
          <a:xfrm>
            <a:off x="3228231" y="4437738"/>
            <a:ext cx="4510088" cy="1279526"/>
          </a:xfrm>
          <a:prstGeom prst="rect">
            <a:avLst/>
          </a:prstGeom>
          <a:solidFill>
            <a:schemeClr val="accent3">
              <a:lumOff val="44000"/>
            </a:schemeClr>
          </a:solidFill>
          <a:ln w="12700">
            <a:solidFill>
              <a:srgbClr val="000000"/>
            </a:solidFill>
            <a:miter/>
          </a:ln>
          <a:effectLst>
            <a:outerShdw blurRad="63500" dist="107762" dir="2700000" rotWithShape="0">
              <a:srgbClr val="000004">
                <a:alpha val="74998"/>
              </a:srgbClr>
            </a:outerShdw>
          </a:effectLst>
        </p:spPr>
        <p:txBody>
          <a:bodyPr lIns="45719" rIns="45719" anchor="ctr"/>
          <a:lstStyle/>
          <a:p>
            <a:endParaRPr/>
          </a:p>
        </p:txBody>
      </p:sp>
      <p:sp>
        <p:nvSpPr>
          <p:cNvPr id="552" name="Rectangle 6"/>
          <p:cNvSpPr/>
          <p:nvPr/>
        </p:nvSpPr>
        <p:spPr>
          <a:xfrm>
            <a:off x="6282582" y="1800902"/>
            <a:ext cx="1096963" cy="974725"/>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53" name="Rectangle 7"/>
          <p:cNvSpPr/>
          <p:nvPr/>
        </p:nvSpPr>
        <p:spPr>
          <a:xfrm>
            <a:off x="5795219" y="1923139"/>
            <a:ext cx="1096963" cy="974726"/>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54" name="Rectangle 8"/>
          <p:cNvSpPr/>
          <p:nvPr/>
        </p:nvSpPr>
        <p:spPr>
          <a:xfrm>
            <a:off x="5307857" y="2045377"/>
            <a:ext cx="1096963" cy="974725"/>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55" name="Rectangle 9"/>
          <p:cNvSpPr/>
          <p:nvPr/>
        </p:nvSpPr>
        <p:spPr>
          <a:xfrm>
            <a:off x="4820494" y="2166027"/>
            <a:ext cx="1096963" cy="976313"/>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56" name="Rectangle 10"/>
          <p:cNvSpPr/>
          <p:nvPr/>
        </p:nvSpPr>
        <p:spPr>
          <a:xfrm>
            <a:off x="4333132" y="2288265"/>
            <a:ext cx="1096963" cy="976313"/>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57" name="Rectangle 11"/>
          <p:cNvSpPr/>
          <p:nvPr/>
        </p:nvSpPr>
        <p:spPr>
          <a:xfrm>
            <a:off x="3845770" y="2410502"/>
            <a:ext cx="1096963" cy="974725"/>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58" name="Rectangle 12"/>
          <p:cNvSpPr/>
          <p:nvPr/>
        </p:nvSpPr>
        <p:spPr>
          <a:xfrm>
            <a:off x="3356820" y="2532739"/>
            <a:ext cx="1096963" cy="974726"/>
          </a:xfrm>
          <a:prstGeom prst="rect">
            <a:avLst/>
          </a:prstGeom>
          <a:solidFill>
            <a:schemeClr val="accent3">
              <a:lumOff val="44000"/>
            </a:schemeClr>
          </a:solidFill>
          <a:ln w="12700">
            <a:solidFill>
              <a:srgbClr val="000000"/>
            </a:solidFill>
            <a:miter/>
          </a:ln>
        </p:spPr>
        <p:txBody>
          <a:bodyPr lIns="45719" rIns="45719" anchor="ctr"/>
          <a:lstStyle/>
          <a:p>
            <a:endParaRPr/>
          </a:p>
        </p:txBody>
      </p:sp>
      <p:sp>
        <p:nvSpPr>
          <p:cNvPr id="559" name="Rectangle 13"/>
          <p:cNvSpPr/>
          <p:nvPr/>
        </p:nvSpPr>
        <p:spPr>
          <a:xfrm>
            <a:off x="2869457" y="2654977"/>
            <a:ext cx="1096963" cy="974725"/>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560" name="Rectangle 15"/>
          <p:cNvSpPr/>
          <p:nvPr/>
        </p:nvSpPr>
        <p:spPr>
          <a:xfrm>
            <a:off x="7927231" y="1440539"/>
            <a:ext cx="101600" cy="111126"/>
          </a:xfrm>
          <a:prstGeom prst="rect">
            <a:avLst/>
          </a:prstGeom>
          <a:solidFill>
            <a:srgbClr val="FF99CC"/>
          </a:solidFill>
          <a:ln w="12700">
            <a:solidFill>
              <a:srgbClr val="000000"/>
            </a:solidFill>
            <a:miter/>
          </a:ln>
        </p:spPr>
        <p:txBody>
          <a:bodyPr lIns="45719" rIns="45719" anchor="ctr"/>
          <a:lstStyle/>
          <a:p>
            <a:endParaRPr/>
          </a:p>
        </p:txBody>
      </p:sp>
      <p:sp>
        <p:nvSpPr>
          <p:cNvPr id="561" name="Text Box 16"/>
          <p:cNvSpPr txBox="1"/>
          <p:nvPr/>
        </p:nvSpPr>
        <p:spPr>
          <a:xfrm>
            <a:off x="8044390" y="1325237"/>
            <a:ext cx="1369925"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vl1pPr>
          </a:lstStyle>
          <a:p>
            <a:r>
              <a:t>: supercell (i,j)</a:t>
            </a:r>
          </a:p>
        </p:txBody>
      </p:sp>
      <p:sp>
        <p:nvSpPr>
          <p:cNvPr id="562" name="Text Box 61"/>
          <p:cNvSpPr txBox="1"/>
          <p:nvPr/>
        </p:nvSpPr>
        <p:spPr>
          <a:xfrm>
            <a:off x="7877701" y="1997305"/>
            <a:ext cx="1688602" cy="1077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a:defRPr sz="1600">
                <a:latin typeface="Calibri"/>
                <a:ea typeface="Calibri"/>
                <a:cs typeface="Calibri"/>
                <a:sym typeface="Calibri"/>
              </a:defRPr>
            </a:pPr>
            <a:r>
              <a:rPr sz="1600"/>
              <a:t>64 MB  </a:t>
            </a:r>
          </a:p>
          <a:p>
            <a:pPr>
              <a:defRPr sz="1600">
                <a:latin typeface="Calibri"/>
                <a:ea typeface="Calibri"/>
                <a:cs typeface="Calibri"/>
                <a:sym typeface="Calibri"/>
              </a:defRPr>
            </a:pPr>
            <a:r>
              <a:rPr sz="1600"/>
              <a:t>memory module</a:t>
            </a:r>
          </a:p>
          <a:p>
            <a:pPr>
              <a:defRPr sz="1600">
                <a:latin typeface="Calibri"/>
                <a:ea typeface="Calibri"/>
                <a:cs typeface="Calibri"/>
                <a:sym typeface="Calibri"/>
              </a:defRPr>
            </a:pPr>
            <a:r>
              <a:rPr sz="1600"/>
              <a:t>consisting of</a:t>
            </a:r>
          </a:p>
          <a:p>
            <a:pPr>
              <a:defRPr sz="1600">
                <a:latin typeface="Calibri"/>
                <a:ea typeface="Calibri"/>
                <a:cs typeface="Calibri"/>
                <a:sym typeface="Calibri"/>
              </a:defRPr>
            </a:pPr>
            <a:r>
              <a:rPr sz="1600"/>
              <a:t>eight 8Mx8 DRAMs</a:t>
            </a:r>
          </a:p>
        </p:txBody>
      </p:sp>
      <p:grpSp>
        <p:nvGrpSpPr>
          <p:cNvPr id="576" name="Group 102"/>
          <p:cNvGrpSpPr/>
          <p:nvPr/>
        </p:nvGrpSpPr>
        <p:grpSpPr>
          <a:xfrm>
            <a:off x="2402731" y="1020437"/>
            <a:ext cx="4164015" cy="4036431"/>
            <a:chOff x="-1" y="-9257"/>
            <a:chExt cx="4164015" cy="4036429"/>
          </a:xfrm>
        </p:grpSpPr>
        <p:sp>
          <p:nvSpPr>
            <p:cNvPr id="563" name="Line 42"/>
            <p:cNvSpPr/>
            <p:nvPr/>
          </p:nvSpPr>
          <p:spPr>
            <a:xfrm>
              <a:off x="0" y="299720"/>
              <a:ext cx="4164014" cy="1"/>
            </a:xfrm>
            <a:prstGeom prst="line">
              <a:avLst/>
            </a:prstGeom>
            <a:noFill/>
            <a:ln w="38100" cap="flat">
              <a:solidFill>
                <a:srgbClr val="99CCFF"/>
              </a:solidFill>
              <a:prstDash val="solid"/>
              <a:round/>
            </a:ln>
            <a:effectLst/>
          </p:spPr>
          <p:txBody>
            <a:bodyPr wrap="square" lIns="45719" tIns="45719" rIns="45719" bIns="45719" numCol="1" anchor="t">
              <a:noAutofit/>
            </a:bodyPr>
            <a:lstStyle/>
            <a:p>
              <a:endParaRPr/>
            </a:p>
          </p:txBody>
        </p:sp>
        <p:grpSp>
          <p:nvGrpSpPr>
            <p:cNvPr id="575" name="Group 99"/>
            <p:cNvGrpSpPr/>
            <p:nvPr/>
          </p:nvGrpSpPr>
          <p:grpSpPr>
            <a:xfrm>
              <a:off x="-1" y="-9257"/>
              <a:ext cx="4143378" cy="4036429"/>
              <a:chOff x="-1" y="-9256"/>
              <a:chExt cx="4143377" cy="4036427"/>
            </a:xfrm>
          </p:grpSpPr>
          <p:sp>
            <p:nvSpPr>
              <p:cNvPr id="564" name="Text Box 43"/>
              <p:cNvSpPr txBox="1"/>
              <p:nvPr/>
            </p:nvSpPr>
            <p:spPr>
              <a:xfrm>
                <a:off x="1101407" y="-9256"/>
                <a:ext cx="2931249"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600">
                    <a:latin typeface="Courier New"/>
                    <a:ea typeface="Courier New"/>
                    <a:cs typeface="Courier New"/>
                    <a:sym typeface="Courier New"/>
                  </a:defRPr>
                </a:lvl1pPr>
              </a:lstStyle>
              <a:p>
                <a:r>
                  <a:t>addr (row = i, col = j)</a:t>
                </a:r>
              </a:p>
            </p:txBody>
          </p:sp>
          <p:sp>
            <p:nvSpPr>
              <p:cNvPr id="565" name="Line 53"/>
              <p:cNvSpPr/>
              <p:nvPr/>
            </p:nvSpPr>
            <p:spPr>
              <a:xfrm>
                <a:off x="4143375" y="299720"/>
                <a:ext cx="1" cy="476251"/>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566" name="Line 54"/>
              <p:cNvSpPr/>
              <p:nvPr/>
            </p:nvSpPr>
            <p:spPr>
              <a:xfrm>
                <a:off x="3595687" y="299719"/>
                <a:ext cx="1" cy="598489"/>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567" name="Line 55"/>
              <p:cNvSpPr/>
              <p:nvPr/>
            </p:nvSpPr>
            <p:spPr>
              <a:xfrm>
                <a:off x="3108325" y="299720"/>
                <a:ext cx="1" cy="730251"/>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568" name="Line 56"/>
              <p:cNvSpPr/>
              <p:nvPr/>
            </p:nvSpPr>
            <p:spPr>
              <a:xfrm>
                <a:off x="2620962" y="299719"/>
                <a:ext cx="1" cy="852489"/>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569" name="Line 57"/>
              <p:cNvSpPr/>
              <p:nvPr/>
            </p:nvSpPr>
            <p:spPr>
              <a:xfrm>
                <a:off x="2133600" y="299720"/>
                <a:ext cx="1" cy="974726"/>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570" name="Line 58"/>
              <p:cNvSpPr/>
              <p:nvPr/>
            </p:nvSpPr>
            <p:spPr>
              <a:xfrm flipH="1">
                <a:off x="1584325" y="299719"/>
                <a:ext cx="1" cy="1096964"/>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571" name="Line 59"/>
              <p:cNvSpPr/>
              <p:nvPr/>
            </p:nvSpPr>
            <p:spPr>
              <a:xfrm flipH="1">
                <a:off x="1157287" y="299719"/>
                <a:ext cx="1" cy="1217614"/>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572" name="Line 60"/>
              <p:cNvSpPr/>
              <p:nvPr/>
            </p:nvSpPr>
            <p:spPr>
              <a:xfrm flipH="1">
                <a:off x="669925" y="299720"/>
                <a:ext cx="1" cy="1339851"/>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573" name="Line 62"/>
              <p:cNvSpPr/>
              <p:nvPr/>
            </p:nvSpPr>
            <p:spPr>
              <a:xfrm flipH="1" flipV="1">
                <a:off x="0" y="4017645"/>
                <a:ext cx="822326" cy="9526"/>
              </a:xfrm>
              <a:prstGeom prst="line">
                <a:avLst/>
              </a:prstGeom>
              <a:noFill/>
              <a:ln w="38100" cap="flat">
                <a:solidFill>
                  <a:srgbClr val="99CCFF"/>
                </a:solidFill>
                <a:prstDash val="solid"/>
                <a:round/>
              </a:ln>
              <a:effectLst/>
            </p:spPr>
            <p:txBody>
              <a:bodyPr wrap="square" lIns="45719" tIns="45719" rIns="45719" bIns="45719" numCol="1" anchor="t">
                <a:noAutofit/>
              </a:bodyPr>
              <a:lstStyle/>
              <a:p>
                <a:endParaRPr/>
              </a:p>
            </p:txBody>
          </p:sp>
          <p:sp>
            <p:nvSpPr>
              <p:cNvPr id="574" name="Line 63"/>
              <p:cNvSpPr/>
              <p:nvPr/>
            </p:nvSpPr>
            <p:spPr>
              <a:xfrm flipV="1">
                <a:off x="-1" y="299719"/>
                <a:ext cx="2" cy="3717927"/>
              </a:xfrm>
              <a:prstGeom prst="line">
                <a:avLst/>
              </a:prstGeom>
              <a:noFill/>
              <a:ln w="38100" cap="flat">
                <a:solidFill>
                  <a:srgbClr val="99CCFF"/>
                </a:solidFill>
                <a:prstDash val="solid"/>
                <a:round/>
              </a:ln>
              <a:effectLst/>
            </p:spPr>
            <p:txBody>
              <a:bodyPr wrap="square" lIns="45719" tIns="45719" rIns="45719" bIns="45719" numCol="1" anchor="t">
                <a:noAutofit/>
              </a:bodyPr>
              <a:lstStyle/>
              <a:p>
                <a:endParaRPr/>
              </a:p>
            </p:txBody>
          </p:sp>
        </p:grpSp>
      </p:grpSp>
      <p:sp>
        <p:nvSpPr>
          <p:cNvPr id="577" name="Text Box 64"/>
          <p:cNvSpPr txBox="1"/>
          <p:nvPr/>
        </p:nvSpPr>
        <p:spPr>
          <a:xfrm>
            <a:off x="7807851" y="4720027"/>
            <a:ext cx="935510" cy="5847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a:defRPr sz="1600"/>
            </a:pPr>
            <a:r>
              <a:rPr sz="1600"/>
              <a:t>Memory</a:t>
            </a:r>
          </a:p>
          <a:p>
            <a:pPr>
              <a:defRPr sz="1600"/>
            </a:pPr>
            <a:r>
              <a:rPr sz="1600"/>
              <a:t>controller</a:t>
            </a:r>
          </a:p>
        </p:txBody>
      </p:sp>
      <p:sp>
        <p:nvSpPr>
          <p:cNvPr id="578" name="Rectangle 65"/>
          <p:cNvSpPr/>
          <p:nvPr/>
        </p:nvSpPr>
        <p:spPr>
          <a:xfrm>
            <a:off x="4261695" y="2948665"/>
            <a:ext cx="101601" cy="112713"/>
          </a:xfrm>
          <a:prstGeom prst="rect">
            <a:avLst/>
          </a:prstGeom>
          <a:solidFill>
            <a:srgbClr val="FF99CC"/>
          </a:solidFill>
          <a:ln w="12700">
            <a:solidFill>
              <a:srgbClr val="000000"/>
            </a:solidFill>
            <a:miter/>
          </a:ln>
        </p:spPr>
        <p:txBody>
          <a:bodyPr lIns="45719" rIns="45719" anchor="ctr"/>
          <a:lstStyle/>
          <a:p>
            <a:endParaRPr/>
          </a:p>
        </p:txBody>
      </p:sp>
      <p:sp>
        <p:nvSpPr>
          <p:cNvPr id="579" name="Rectangle 66"/>
          <p:cNvSpPr/>
          <p:nvPr/>
        </p:nvSpPr>
        <p:spPr>
          <a:xfrm>
            <a:off x="3794970" y="3066138"/>
            <a:ext cx="101601" cy="111126"/>
          </a:xfrm>
          <a:prstGeom prst="rect">
            <a:avLst/>
          </a:prstGeom>
          <a:solidFill>
            <a:srgbClr val="FF99CC"/>
          </a:solidFill>
          <a:ln w="12700">
            <a:solidFill>
              <a:srgbClr val="000000"/>
            </a:solidFill>
            <a:miter/>
          </a:ln>
        </p:spPr>
        <p:txBody>
          <a:bodyPr lIns="45719" rIns="45719" anchor="ctr"/>
          <a:lstStyle/>
          <a:p>
            <a:endParaRPr/>
          </a:p>
        </p:txBody>
      </p:sp>
      <p:sp>
        <p:nvSpPr>
          <p:cNvPr id="580" name="Rectangle 67"/>
          <p:cNvSpPr/>
          <p:nvPr/>
        </p:nvSpPr>
        <p:spPr>
          <a:xfrm>
            <a:off x="4749056" y="2821665"/>
            <a:ext cx="101600" cy="112713"/>
          </a:xfrm>
          <a:prstGeom prst="rect">
            <a:avLst/>
          </a:prstGeom>
          <a:solidFill>
            <a:srgbClr val="FF99CC"/>
          </a:solidFill>
          <a:ln w="12700">
            <a:solidFill>
              <a:srgbClr val="000000"/>
            </a:solidFill>
            <a:miter/>
          </a:ln>
        </p:spPr>
        <p:txBody>
          <a:bodyPr lIns="45719" rIns="45719" anchor="ctr"/>
          <a:lstStyle/>
          <a:p>
            <a:endParaRPr/>
          </a:p>
        </p:txBody>
      </p:sp>
      <p:sp>
        <p:nvSpPr>
          <p:cNvPr id="581" name="Rectangle 68"/>
          <p:cNvSpPr/>
          <p:nvPr/>
        </p:nvSpPr>
        <p:spPr>
          <a:xfrm>
            <a:off x="5241181" y="2694665"/>
            <a:ext cx="101600" cy="112713"/>
          </a:xfrm>
          <a:prstGeom prst="rect">
            <a:avLst/>
          </a:prstGeom>
          <a:solidFill>
            <a:srgbClr val="FF99CC"/>
          </a:solidFill>
          <a:ln w="12700">
            <a:solidFill>
              <a:srgbClr val="000000"/>
            </a:solidFill>
            <a:miter/>
          </a:ln>
        </p:spPr>
        <p:txBody>
          <a:bodyPr lIns="45719" rIns="45719" anchor="ctr"/>
          <a:lstStyle/>
          <a:p>
            <a:endParaRPr/>
          </a:p>
        </p:txBody>
      </p:sp>
      <p:sp>
        <p:nvSpPr>
          <p:cNvPr id="582" name="Rectangle 69"/>
          <p:cNvSpPr/>
          <p:nvPr/>
        </p:nvSpPr>
        <p:spPr>
          <a:xfrm>
            <a:off x="5744419" y="2562902"/>
            <a:ext cx="101601" cy="111125"/>
          </a:xfrm>
          <a:prstGeom prst="rect">
            <a:avLst/>
          </a:prstGeom>
          <a:solidFill>
            <a:srgbClr val="FF99CC"/>
          </a:solidFill>
          <a:ln w="12700">
            <a:solidFill>
              <a:srgbClr val="000000"/>
            </a:solidFill>
            <a:miter/>
          </a:ln>
        </p:spPr>
        <p:txBody>
          <a:bodyPr lIns="45719" rIns="45719" anchor="ctr"/>
          <a:lstStyle/>
          <a:p>
            <a:endParaRPr/>
          </a:p>
        </p:txBody>
      </p:sp>
      <p:sp>
        <p:nvSpPr>
          <p:cNvPr id="583" name="Rectangle 70"/>
          <p:cNvSpPr/>
          <p:nvPr/>
        </p:nvSpPr>
        <p:spPr>
          <a:xfrm>
            <a:off x="6222256" y="2451777"/>
            <a:ext cx="101600" cy="111125"/>
          </a:xfrm>
          <a:prstGeom prst="rect">
            <a:avLst/>
          </a:prstGeom>
          <a:solidFill>
            <a:srgbClr val="FF99CC"/>
          </a:solidFill>
          <a:ln w="12700">
            <a:solidFill>
              <a:srgbClr val="000000"/>
            </a:solidFill>
            <a:miter/>
          </a:ln>
        </p:spPr>
        <p:txBody>
          <a:bodyPr lIns="45719" rIns="45719" anchor="ctr"/>
          <a:lstStyle/>
          <a:p>
            <a:endParaRPr/>
          </a:p>
        </p:txBody>
      </p:sp>
      <p:sp>
        <p:nvSpPr>
          <p:cNvPr id="584" name="Rectangle 71"/>
          <p:cNvSpPr/>
          <p:nvPr/>
        </p:nvSpPr>
        <p:spPr>
          <a:xfrm>
            <a:off x="6709619" y="2318427"/>
            <a:ext cx="101601" cy="112713"/>
          </a:xfrm>
          <a:prstGeom prst="rect">
            <a:avLst/>
          </a:prstGeom>
          <a:solidFill>
            <a:srgbClr val="FF99CC"/>
          </a:solidFill>
          <a:ln w="12700">
            <a:solidFill>
              <a:srgbClr val="000000"/>
            </a:solidFill>
            <a:miter/>
          </a:ln>
        </p:spPr>
        <p:txBody>
          <a:bodyPr lIns="45719" rIns="45719" anchor="ctr"/>
          <a:lstStyle/>
          <a:p>
            <a:endParaRPr/>
          </a:p>
        </p:txBody>
      </p:sp>
      <p:sp>
        <p:nvSpPr>
          <p:cNvPr id="585" name="Rectangle 72"/>
          <p:cNvSpPr/>
          <p:nvPr/>
        </p:nvSpPr>
        <p:spPr>
          <a:xfrm>
            <a:off x="7187456" y="2197777"/>
            <a:ext cx="101600" cy="111125"/>
          </a:xfrm>
          <a:prstGeom prst="rect">
            <a:avLst/>
          </a:prstGeom>
          <a:solidFill>
            <a:srgbClr val="FF99CC"/>
          </a:solidFill>
          <a:ln w="12700">
            <a:solidFill>
              <a:srgbClr val="000000"/>
            </a:solidFill>
            <a:miter/>
          </a:ln>
        </p:spPr>
        <p:txBody>
          <a:bodyPr lIns="45719" rIns="45719" anchor="ctr"/>
          <a:lstStyle/>
          <a:p>
            <a:endParaRPr/>
          </a:p>
        </p:txBody>
      </p:sp>
      <p:sp>
        <p:nvSpPr>
          <p:cNvPr id="586" name="Text Box 74"/>
          <p:cNvSpPr txBox="1"/>
          <p:nvPr/>
        </p:nvSpPr>
        <p:spPr>
          <a:xfrm>
            <a:off x="3439051" y="2623227"/>
            <a:ext cx="626131"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lvl1pPr>
          </a:lstStyle>
          <a:p>
            <a:r>
              <a:t>DRAM 7</a:t>
            </a:r>
          </a:p>
        </p:txBody>
      </p:sp>
      <p:sp>
        <p:nvSpPr>
          <p:cNvPr id="587" name="Text Box 75"/>
          <p:cNvSpPr txBox="1"/>
          <p:nvPr/>
        </p:nvSpPr>
        <p:spPr>
          <a:xfrm>
            <a:off x="6868051" y="1752017"/>
            <a:ext cx="626131"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lvl1pPr>
          </a:lstStyle>
          <a:p>
            <a:r>
              <a:t>DRAM 0</a:t>
            </a:r>
          </a:p>
        </p:txBody>
      </p:sp>
      <p:grpSp>
        <p:nvGrpSpPr>
          <p:cNvPr id="634" name="Group 138"/>
          <p:cNvGrpSpPr/>
          <p:nvPr/>
        </p:nvGrpSpPr>
        <p:grpSpPr>
          <a:xfrm>
            <a:off x="3559699" y="2304137"/>
            <a:ext cx="4020532" cy="3154575"/>
            <a:chOff x="-1" y="-2"/>
            <a:chExt cx="4020530" cy="3154573"/>
          </a:xfrm>
        </p:grpSpPr>
        <p:grpSp>
          <p:nvGrpSpPr>
            <p:cNvPr id="615" name="Group 108"/>
            <p:cNvGrpSpPr/>
            <p:nvPr/>
          </p:nvGrpSpPr>
          <p:grpSpPr>
            <a:xfrm>
              <a:off x="-1" y="2374027"/>
              <a:ext cx="4006202" cy="780544"/>
              <a:chOff x="0" y="-7539"/>
              <a:chExt cx="4006200" cy="780542"/>
            </a:xfrm>
          </p:grpSpPr>
          <p:sp>
            <p:nvSpPr>
              <p:cNvPr id="588" name="Text Box 17"/>
              <p:cNvSpPr txBox="1"/>
              <p:nvPr/>
            </p:nvSpPr>
            <p:spPr>
              <a:xfrm>
                <a:off x="3843337" y="-7539"/>
                <a:ext cx="162863"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0</a:t>
                </a:r>
              </a:p>
            </p:txBody>
          </p:sp>
          <p:sp>
            <p:nvSpPr>
              <p:cNvPr id="589" name="Text Box 18"/>
              <p:cNvSpPr txBox="1"/>
              <p:nvPr/>
            </p:nvSpPr>
            <p:spPr>
              <a:xfrm>
                <a:off x="1947862"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31</a:t>
                </a:r>
              </a:p>
            </p:txBody>
          </p:sp>
          <p:sp>
            <p:nvSpPr>
              <p:cNvPr id="590" name="Text Box 23"/>
              <p:cNvSpPr txBox="1"/>
              <p:nvPr/>
            </p:nvSpPr>
            <p:spPr>
              <a:xfrm>
                <a:off x="3455987" y="-7539"/>
                <a:ext cx="162863"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7</a:t>
                </a:r>
              </a:p>
            </p:txBody>
          </p:sp>
          <p:sp>
            <p:nvSpPr>
              <p:cNvPr id="591" name="Text Box 24"/>
              <p:cNvSpPr txBox="1"/>
              <p:nvPr/>
            </p:nvSpPr>
            <p:spPr>
              <a:xfrm>
                <a:off x="3311525" y="-7539"/>
                <a:ext cx="162863"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8</a:t>
                </a:r>
              </a:p>
            </p:txBody>
          </p:sp>
          <p:sp>
            <p:nvSpPr>
              <p:cNvPr id="592" name="Text Box 25"/>
              <p:cNvSpPr txBox="1"/>
              <p:nvPr/>
            </p:nvSpPr>
            <p:spPr>
              <a:xfrm>
                <a:off x="2922587"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15</a:t>
                </a:r>
              </a:p>
            </p:txBody>
          </p:sp>
          <p:sp>
            <p:nvSpPr>
              <p:cNvPr id="593" name="Text Box 26"/>
              <p:cNvSpPr txBox="1"/>
              <p:nvPr/>
            </p:nvSpPr>
            <p:spPr>
              <a:xfrm>
                <a:off x="2740025"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16</a:t>
                </a:r>
              </a:p>
            </p:txBody>
          </p:sp>
          <p:sp>
            <p:nvSpPr>
              <p:cNvPr id="594" name="Text Box 27"/>
              <p:cNvSpPr txBox="1"/>
              <p:nvPr/>
            </p:nvSpPr>
            <p:spPr>
              <a:xfrm>
                <a:off x="2479675"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23</a:t>
                </a:r>
              </a:p>
            </p:txBody>
          </p:sp>
          <p:sp>
            <p:nvSpPr>
              <p:cNvPr id="595" name="Text Box 28"/>
              <p:cNvSpPr txBox="1"/>
              <p:nvPr/>
            </p:nvSpPr>
            <p:spPr>
              <a:xfrm>
                <a:off x="2312987"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24</a:t>
                </a:r>
              </a:p>
            </p:txBody>
          </p:sp>
          <p:sp>
            <p:nvSpPr>
              <p:cNvPr id="596" name="Text Box 29"/>
              <p:cNvSpPr txBox="1"/>
              <p:nvPr/>
            </p:nvSpPr>
            <p:spPr>
              <a:xfrm>
                <a:off x="1782762"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32</a:t>
                </a:r>
              </a:p>
            </p:txBody>
          </p:sp>
          <p:sp>
            <p:nvSpPr>
              <p:cNvPr id="597" name="Text Box 30"/>
              <p:cNvSpPr txBox="1"/>
              <p:nvPr/>
            </p:nvSpPr>
            <p:spPr>
              <a:xfrm>
                <a:off x="0"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63</a:t>
                </a:r>
              </a:p>
            </p:txBody>
          </p:sp>
          <p:sp>
            <p:nvSpPr>
              <p:cNvPr id="598" name="Text Box 35"/>
              <p:cNvSpPr txBox="1"/>
              <p:nvPr/>
            </p:nvSpPr>
            <p:spPr>
              <a:xfrm>
                <a:off x="1490662"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39</a:t>
                </a:r>
              </a:p>
            </p:txBody>
          </p:sp>
          <p:sp>
            <p:nvSpPr>
              <p:cNvPr id="599" name="Text Box 36"/>
              <p:cNvSpPr txBox="1"/>
              <p:nvPr/>
            </p:nvSpPr>
            <p:spPr>
              <a:xfrm>
                <a:off x="1293812"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40</a:t>
                </a:r>
              </a:p>
            </p:txBody>
          </p:sp>
          <p:sp>
            <p:nvSpPr>
              <p:cNvPr id="600" name="Text Box 37"/>
              <p:cNvSpPr txBox="1"/>
              <p:nvPr/>
            </p:nvSpPr>
            <p:spPr>
              <a:xfrm>
                <a:off x="974725"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47</a:t>
                </a:r>
              </a:p>
            </p:txBody>
          </p:sp>
          <p:sp>
            <p:nvSpPr>
              <p:cNvPr id="601" name="Text Box 38"/>
              <p:cNvSpPr txBox="1"/>
              <p:nvPr/>
            </p:nvSpPr>
            <p:spPr>
              <a:xfrm>
                <a:off x="806450"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48</a:t>
                </a:r>
              </a:p>
            </p:txBody>
          </p:sp>
          <p:sp>
            <p:nvSpPr>
              <p:cNvPr id="602" name="Text Box 39"/>
              <p:cNvSpPr txBox="1"/>
              <p:nvPr/>
            </p:nvSpPr>
            <p:spPr>
              <a:xfrm>
                <a:off x="501650"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55</a:t>
                </a:r>
              </a:p>
            </p:txBody>
          </p:sp>
          <p:sp>
            <p:nvSpPr>
              <p:cNvPr id="603" name="Text Box 40"/>
              <p:cNvSpPr txBox="1"/>
              <p:nvPr/>
            </p:nvSpPr>
            <p:spPr>
              <a:xfrm>
                <a:off x="301625"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56</a:t>
                </a:r>
              </a:p>
            </p:txBody>
          </p:sp>
          <p:grpSp>
            <p:nvGrpSpPr>
              <p:cNvPr id="614" name="Group 107"/>
              <p:cNvGrpSpPr/>
              <p:nvPr/>
            </p:nvGrpSpPr>
            <p:grpSpPr>
              <a:xfrm>
                <a:off x="62230" y="199707"/>
                <a:ext cx="3883027" cy="573296"/>
                <a:chOff x="0" y="0"/>
                <a:chExt cx="3883026" cy="573294"/>
              </a:xfrm>
            </p:grpSpPr>
            <p:grpSp>
              <p:nvGrpSpPr>
                <p:cNvPr id="612" name="Group 97"/>
                <p:cNvGrpSpPr/>
                <p:nvPr/>
              </p:nvGrpSpPr>
              <p:grpSpPr>
                <a:xfrm>
                  <a:off x="0" y="0"/>
                  <a:ext cx="3883026" cy="244475"/>
                  <a:chOff x="0" y="0"/>
                  <a:chExt cx="3883025" cy="244474"/>
                </a:xfrm>
              </p:grpSpPr>
              <p:sp>
                <p:nvSpPr>
                  <p:cNvPr id="604" name="Rectangle 19"/>
                  <p:cNvSpPr/>
                  <p:nvPr/>
                </p:nvSpPr>
                <p:spPr>
                  <a:xfrm>
                    <a:off x="1931987"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05" name="Rectangle 20"/>
                  <p:cNvSpPr/>
                  <p:nvPr/>
                </p:nvSpPr>
                <p:spPr>
                  <a:xfrm>
                    <a:off x="2419350"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06" name="Rectangle 21"/>
                  <p:cNvSpPr/>
                  <p:nvPr/>
                </p:nvSpPr>
                <p:spPr>
                  <a:xfrm>
                    <a:off x="2906712"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07" name="Rectangle 22"/>
                  <p:cNvSpPr/>
                  <p:nvPr/>
                </p:nvSpPr>
                <p:spPr>
                  <a:xfrm>
                    <a:off x="3394075" y="-1"/>
                    <a:ext cx="488951"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08" name="Rectangle 31"/>
                  <p:cNvSpPr/>
                  <p:nvPr/>
                </p:nvSpPr>
                <p:spPr>
                  <a:xfrm>
                    <a:off x="-1"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09" name="Rectangle 32"/>
                  <p:cNvSpPr/>
                  <p:nvPr/>
                </p:nvSpPr>
                <p:spPr>
                  <a:xfrm>
                    <a:off x="487362"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10" name="Rectangle 33"/>
                  <p:cNvSpPr/>
                  <p:nvPr/>
                </p:nvSpPr>
                <p:spPr>
                  <a:xfrm>
                    <a:off x="974725"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11" name="Rectangle 34"/>
                  <p:cNvSpPr/>
                  <p:nvPr/>
                </p:nvSpPr>
                <p:spPr>
                  <a:xfrm>
                    <a:off x="1462087"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grpSp>
            <p:sp>
              <p:nvSpPr>
                <p:cNvPr id="613" name="Text Box 41"/>
                <p:cNvSpPr txBox="1"/>
                <p:nvPr/>
              </p:nvSpPr>
              <p:spPr>
                <a:xfrm>
                  <a:off x="172048" y="234744"/>
                  <a:ext cx="3389704" cy="3385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lgn="ctr">
                    <a:defRPr sz="1600"/>
                  </a:pPr>
                  <a:r>
                    <a:rPr sz="1600"/>
                    <a:t>64-bit word main memory address </a:t>
                  </a:r>
                  <a:r>
                    <a:rPr sz="1600" i="1"/>
                    <a:t>A</a:t>
                  </a:r>
                </a:p>
              </p:txBody>
            </p:sp>
          </p:grpSp>
        </p:grpSp>
        <p:grpSp>
          <p:nvGrpSpPr>
            <p:cNvPr id="633" name="Group 106"/>
            <p:cNvGrpSpPr/>
            <p:nvPr/>
          </p:nvGrpSpPr>
          <p:grpSpPr>
            <a:xfrm>
              <a:off x="286067" y="-2"/>
              <a:ext cx="3734462" cy="2376491"/>
              <a:chOff x="0" y="-1"/>
              <a:chExt cx="3734461" cy="2376489"/>
            </a:xfrm>
          </p:grpSpPr>
          <p:grpSp>
            <p:nvGrpSpPr>
              <p:cNvPr id="624" name="Group 100"/>
              <p:cNvGrpSpPr/>
              <p:nvPr/>
            </p:nvGrpSpPr>
            <p:grpSpPr>
              <a:xfrm>
                <a:off x="0" y="-1"/>
                <a:ext cx="3392488" cy="2376489"/>
                <a:chOff x="0" y="0"/>
                <a:chExt cx="3392487" cy="2376487"/>
              </a:xfrm>
            </p:grpSpPr>
            <p:sp>
              <p:nvSpPr>
                <p:cNvPr id="616" name="Line 44"/>
                <p:cNvSpPr/>
                <p:nvPr/>
              </p:nvSpPr>
              <p:spPr>
                <a:xfrm flipH="1">
                  <a:off x="3392487" y="-1"/>
                  <a:ext cx="1" cy="2376488"/>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617" name="Line 45"/>
                <p:cNvSpPr/>
                <p:nvPr/>
              </p:nvSpPr>
              <p:spPr>
                <a:xfrm flipH="1">
                  <a:off x="2914650" y="122237"/>
                  <a:ext cx="1" cy="2244725"/>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618" name="Line 46"/>
                <p:cNvSpPr/>
                <p:nvPr/>
              </p:nvSpPr>
              <p:spPr>
                <a:xfrm flipH="1">
                  <a:off x="2428557" y="242887"/>
                  <a:ext cx="1" cy="2133600"/>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619" name="Line 47"/>
                <p:cNvSpPr/>
                <p:nvPr/>
              </p:nvSpPr>
              <p:spPr>
                <a:xfrm flipH="1">
                  <a:off x="1949450" y="365124"/>
                  <a:ext cx="1" cy="2001838"/>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620" name="Line 48"/>
                <p:cNvSpPr/>
                <p:nvPr/>
              </p:nvSpPr>
              <p:spPr>
                <a:xfrm flipH="1">
                  <a:off x="1452562" y="487362"/>
                  <a:ext cx="1" cy="1889125"/>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621" name="Line 49"/>
                <p:cNvSpPr/>
                <p:nvPr/>
              </p:nvSpPr>
              <p:spPr>
                <a:xfrm flipH="1">
                  <a:off x="954087" y="609599"/>
                  <a:ext cx="1" cy="1766889"/>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622" name="Line 50"/>
                <p:cNvSpPr/>
                <p:nvPr/>
              </p:nvSpPr>
              <p:spPr>
                <a:xfrm flipH="1">
                  <a:off x="467995" y="731837"/>
                  <a:ext cx="1" cy="1644650"/>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sp>
              <p:nvSpPr>
                <p:cNvPr id="623" name="Line 51"/>
                <p:cNvSpPr/>
                <p:nvPr/>
              </p:nvSpPr>
              <p:spPr>
                <a:xfrm flipH="1">
                  <a:off x="-1" y="852487"/>
                  <a:ext cx="1" cy="1514475"/>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a:endParaRPr/>
                </a:p>
              </p:txBody>
            </p:sp>
          </p:grpSp>
          <p:sp>
            <p:nvSpPr>
              <p:cNvPr id="625" name="Text Box 73"/>
              <p:cNvSpPr txBox="1"/>
              <p:nvPr/>
            </p:nvSpPr>
            <p:spPr>
              <a:xfrm>
                <a:off x="3403282" y="1537644"/>
                <a:ext cx="331179" cy="461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defRPr sz="1200"/>
                </a:pPr>
                <a:r>
                  <a:rPr sz="1200"/>
                  <a:t>bits</a:t>
                </a:r>
              </a:p>
              <a:p>
                <a:pPr>
                  <a:defRPr sz="1200"/>
                </a:pPr>
                <a:r>
                  <a:rPr sz="1200"/>
                  <a:t>0-7</a:t>
                </a:r>
              </a:p>
            </p:txBody>
          </p:sp>
          <p:sp>
            <p:nvSpPr>
              <p:cNvPr id="626" name="Text Box 76"/>
              <p:cNvSpPr txBox="1"/>
              <p:nvPr/>
            </p:nvSpPr>
            <p:spPr>
              <a:xfrm>
                <a:off x="2930207" y="1537644"/>
                <a:ext cx="398505" cy="461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defRPr sz="1200"/>
                </a:pPr>
                <a:r>
                  <a:rPr sz="1200"/>
                  <a:t>bits</a:t>
                </a:r>
              </a:p>
              <a:p>
                <a:pPr>
                  <a:defRPr sz="1200"/>
                </a:pPr>
                <a:r>
                  <a:rPr sz="1200"/>
                  <a:t>8-15</a:t>
                </a:r>
              </a:p>
            </p:txBody>
          </p:sp>
          <p:sp>
            <p:nvSpPr>
              <p:cNvPr id="627" name="Text Box 77"/>
              <p:cNvSpPr txBox="1"/>
              <p:nvPr/>
            </p:nvSpPr>
            <p:spPr>
              <a:xfrm>
                <a:off x="2441257" y="1537644"/>
                <a:ext cx="483464" cy="461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defRPr sz="1200"/>
                </a:pPr>
                <a:r>
                  <a:rPr sz="1200"/>
                  <a:t>bits</a:t>
                </a:r>
              </a:p>
              <a:p>
                <a:pPr>
                  <a:defRPr sz="1200"/>
                </a:pPr>
                <a:r>
                  <a:rPr sz="1200"/>
                  <a:t>16-23</a:t>
                </a:r>
              </a:p>
            </p:txBody>
          </p:sp>
          <p:sp>
            <p:nvSpPr>
              <p:cNvPr id="628" name="Text Box 78"/>
              <p:cNvSpPr txBox="1"/>
              <p:nvPr/>
            </p:nvSpPr>
            <p:spPr>
              <a:xfrm>
                <a:off x="1953895" y="1537644"/>
                <a:ext cx="483464" cy="461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defRPr sz="1200"/>
                </a:pPr>
                <a:r>
                  <a:rPr sz="1200"/>
                  <a:t>bits</a:t>
                </a:r>
              </a:p>
              <a:p>
                <a:pPr>
                  <a:defRPr sz="1200"/>
                </a:pPr>
                <a:r>
                  <a:rPr sz="1200"/>
                  <a:t>24-31</a:t>
                </a:r>
              </a:p>
            </p:txBody>
          </p:sp>
          <p:sp>
            <p:nvSpPr>
              <p:cNvPr id="629" name="Text Box 79"/>
              <p:cNvSpPr txBox="1"/>
              <p:nvPr/>
            </p:nvSpPr>
            <p:spPr>
              <a:xfrm>
                <a:off x="1466532" y="1537644"/>
                <a:ext cx="483464" cy="461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defRPr sz="1200"/>
                </a:pPr>
                <a:r>
                  <a:rPr sz="1200"/>
                  <a:t>bits</a:t>
                </a:r>
              </a:p>
              <a:p>
                <a:pPr>
                  <a:defRPr sz="1200"/>
                </a:pPr>
                <a:r>
                  <a:rPr sz="1200"/>
                  <a:t>32-39</a:t>
                </a:r>
              </a:p>
            </p:txBody>
          </p:sp>
          <p:sp>
            <p:nvSpPr>
              <p:cNvPr id="630" name="Text Box 80"/>
              <p:cNvSpPr txBox="1"/>
              <p:nvPr/>
            </p:nvSpPr>
            <p:spPr>
              <a:xfrm>
                <a:off x="947420" y="1537644"/>
                <a:ext cx="483464" cy="461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defRPr sz="1200"/>
                </a:pPr>
                <a:r>
                  <a:rPr sz="1200"/>
                  <a:t>bits</a:t>
                </a:r>
              </a:p>
              <a:p>
                <a:pPr>
                  <a:defRPr sz="1200"/>
                </a:pPr>
                <a:r>
                  <a:rPr sz="1200"/>
                  <a:t>40-47</a:t>
                </a:r>
              </a:p>
            </p:txBody>
          </p:sp>
          <p:sp>
            <p:nvSpPr>
              <p:cNvPr id="631" name="Text Box 81"/>
              <p:cNvSpPr txBox="1"/>
              <p:nvPr/>
            </p:nvSpPr>
            <p:spPr>
              <a:xfrm>
                <a:off x="460057" y="1537644"/>
                <a:ext cx="483464" cy="461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defRPr sz="1200"/>
                </a:pPr>
                <a:r>
                  <a:rPr sz="1200"/>
                  <a:t>bits</a:t>
                </a:r>
              </a:p>
              <a:p>
                <a:pPr>
                  <a:defRPr sz="1200"/>
                </a:pPr>
                <a:r>
                  <a:rPr sz="1200"/>
                  <a:t>48-55</a:t>
                </a:r>
              </a:p>
            </p:txBody>
          </p:sp>
          <p:sp>
            <p:nvSpPr>
              <p:cNvPr id="632" name="Text Box 82"/>
              <p:cNvSpPr txBox="1"/>
              <p:nvPr/>
            </p:nvSpPr>
            <p:spPr>
              <a:xfrm>
                <a:off x="4445" y="1537644"/>
                <a:ext cx="483464" cy="46166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defRPr sz="1200"/>
                </a:pPr>
                <a:r>
                  <a:rPr sz="1200"/>
                  <a:t>bits</a:t>
                </a:r>
              </a:p>
              <a:p>
                <a:pPr>
                  <a:defRPr sz="1200"/>
                </a:pPr>
                <a:r>
                  <a:rPr sz="1200"/>
                  <a:t>56-63</a:t>
                </a:r>
              </a:p>
            </p:txBody>
          </p:sp>
        </p:grpSp>
      </p:grpSp>
      <p:grpSp>
        <p:nvGrpSpPr>
          <p:cNvPr id="664" name="Group 139"/>
          <p:cNvGrpSpPr/>
          <p:nvPr/>
        </p:nvGrpSpPr>
        <p:grpSpPr>
          <a:xfrm>
            <a:off x="3559699" y="4678166"/>
            <a:ext cx="4006204" cy="1831263"/>
            <a:chOff x="-1" y="-7540"/>
            <a:chExt cx="4006202" cy="1831261"/>
          </a:xfrm>
        </p:grpSpPr>
        <p:grpSp>
          <p:nvGrpSpPr>
            <p:cNvPr id="637" name="Group 105"/>
            <p:cNvGrpSpPr/>
            <p:nvPr/>
          </p:nvGrpSpPr>
          <p:grpSpPr>
            <a:xfrm>
              <a:off x="1554480" y="1031557"/>
              <a:ext cx="1908402" cy="792164"/>
              <a:chOff x="0" y="0"/>
              <a:chExt cx="1908401" cy="792163"/>
            </a:xfrm>
          </p:grpSpPr>
          <p:sp>
            <p:nvSpPr>
              <p:cNvPr id="635" name="AutoShape 83"/>
              <p:cNvSpPr/>
              <p:nvPr/>
            </p:nvSpPr>
            <p:spPr>
              <a:xfrm>
                <a:off x="0" y="0"/>
                <a:ext cx="854075" cy="792163"/>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rgbClr val="FF99CC"/>
              </a:solidFill>
              <a:ln w="12700" cap="flat">
                <a:solidFill>
                  <a:srgbClr val="000004"/>
                </a:solidFill>
                <a:prstDash val="solid"/>
                <a:miter lim="800000"/>
              </a:ln>
              <a:effectLst>
                <a:outerShdw blurRad="63500" dist="38099" dir="2700000" rotWithShape="0">
                  <a:srgbClr val="000004">
                    <a:alpha val="74998"/>
                  </a:srgbClr>
                </a:outerShdw>
              </a:effectLst>
            </p:spPr>
            <p:txBody>
              <a:bodyPr wrap="square" lIns="45719" tIns="45719" rIns="45719" bIns="45719" numCol="1" anchor="ctr">
                <a:noAutofit/>
              </a:bodyPr>
              <a:lstStyle/>
              <a:p>
                <a:endParaRPr/>
              </a:p>
            </p:txBody>
          </p:sp>
          <p:sp>
            <p:nvSpPr>
              <p:cNvPr id="636" name="Text Box 84"/>
              <p:cNvSpPr txBox="1"/>
              <p:nvPr/>
            </p:nvSpPr>
            <p:spPr>
              <a:xfrm>
                <a:off x="801370" y="122030"/>
                <a:ext cx="1107031" cy="3385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600"/>
                </a:lvl1pPr>
              </a:lstStyle>
              <a:p>
                <a:r>
                  <a:t>64-bit word</a:t>
                </a:r>
              </a:p>
            </p:txBody>
          </p:sp>
        </p:grpSp>
        <p:grpSp>
          <p:nvGrpSpPr>
            <p:cNvPr id="663" name="Group 110"/>
            <p:cNvGrpSpPr/>
            <p:nvPr/>
          </p:nvGrpSpPr>
          <p:grpSpPr>
            <a:xfrm>
              <a:off x="-1" y="-7540"/>
              <a:ext cx="4006202" cy="451723"/>
              <a:chOff x="0" y="-7539"/>
              <a:chExt cx="4006200" cy="451721"/>
            </a:xfrm>
          </p:grpSpPr>
          <p:sp>
            <p:nvSpPr>
              <p:cNvPr id="638" name="Text Box 111"/>
              <p:cNvSpPr txBox="1"/>
              <p:nvPr/>
            </p:nvSpPr>
            <p:spPr>
              <a:xfrm>
                <a:off x="3843337" y="-7539"/>
                <a:ext cx="162863"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0</a:t>
                </a:r>
              </a:p>
            </p:txBody>
          </p:sp>
          <p:sp>
            <p:nvSpPr>
              <p:cNvPr id="639" name="Text Box 112"/>
              <p:cNvSpPr txBox="1"/>
              <p:nvPr/>
            </p:nvSpPr>
            <p:spPr>
              <a:xfrm>
                <a:off x="1947862"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31</a:t>
                </a:r>
              </a:p>
            </p:txBody>
          </p:sp>
          <p:sp>
            <p:nvSpPr>
              <p:cNvPr id="640" name="Text Box 113"/>
              <p:cNvSpPr txBox="1"/>
              <p:nvPr/>
            </p:nvSpPr>
            <p:spPr>
              <a:xfrm>
                <a:off x="3455987" y="-7539"/>
                <a:ext cx="162863"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7</a:t>
                </a:r>
              </a:p>
            </p:txBody>
          </p:sp>
          <p:sp>
            <p:nvSpPr>
              <p:cNvPr id="641" name="Text Box 114"/>
              <p:cNvSpPr txBox="1"/>
              <p:nvPr/>
            </p:nvSpPr>
            <p:spPr>
              <a:xfrm>
                <a:off x="3311525" y="-7539"/>
                <a:ext cx="162863"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8</a:t>
                </a:r>
              </a:p>
            </p:txBody>
          </p:sp>
          <p:sp>
            <p:nvSpPr>
              <p:cNvPr id="642" name="Text Box 115"/>
              <p:cNvSpPr txBox="1"/>
              <p:nvPr/>
            </p:nvSpPr>
            <p:spPr>
              <a:xfrm>
                <a:off x="2922587"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15</a:t>
                </a:r>
              </a:p>
            </p:txBody>
          </p:sp>
          <p:sp>
            <p:nvSpPr>
              <p:cNvPr id="643" name="Text Box 116"/>
              <p:cNvSpPr txBox="1"/>
              <p:nvPr/>
            </p:nvSpPr>
            <p:spPr>
              <a:xfrm>
                <a:off x="2740025"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16</a:t>
                </a:r>
              </a:p>
            </p:txBody>
          </p:sp>
          <p:sp>
            <p:nvSpPr>
              <p:cNvPr id="644" name="Text Box 117"/>
              <p:cNvSpPr txBox="1"/>
              <p:nvPr/>
            </p:nvSpPr>
            <p:spPr>
              <a:xfrm>
                <a:off x="2479675"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23</a:t>
                </a:r>
              </a:p>
            </p:txBody>
          </p:sp>
          <p:sp>
            <p:nvSpPr>
              <p:cNvPr id="645" name="Text Box 118"/>
              <p:cNvSpPr txBox="1"/>
              <p:nvPr/>
            </p:nvSpPr>
            <p:spPr>
              <a:xfrm>
                <a:off x="2312987"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24</a:t>
                </a:r>
              </a:p>
            </p:txBody>
          </p:sp>
          <p:sp>
            <p:nvSpPr>
              <p:cNvPr id="646" name="Text Box 119"/>
              <p:cNvSpPr txBox="1"/>
              <p:nvPr/>
            </p:nvSpPr>
            <p:spPr>
              <a:xfrm>
                <a:off x="1782762"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32</a:t>
                </a:r>
              </a:p>
            </p:txBody>
          </p:sp>
          <p:sp>
            <p:nvSpPr>
              <p:cNvPr id="647" name="Text Box 120"/>
              <p:cNvSpPr txBox="1"/>
              <p:nvPr/>
            </p:nvSpPr>
            <p:spPr>
              <a:xfrm>
                <a:off x="0"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63</a:t>
                </a:r>
              </a:p>
            </p:txBody>
          </p:sp>
          <p:sp>
            <p:nvSpPr>
              <p:cNvPr id="648" name="Text Box 121"/>
              <p:cNvSpPr txBox="1"/>
              <p:nvPr/>
            </p:nvSpPr>
            <p:spPr>
              <a:xfrm>
                <a:off x="1490662"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39</a:t>
                </a:r>
              </a:p>
            </p:txBody>
          </p:sp>
          <p:sp>
            <p:nvSpPr>
              <p:cNvPr id="649" name="Text Box 122"/>
              <p:cNvSpPr txBox="1"/>
              <p:nvPr/>
            </p:nvSpPr>
            <p:spPr>
              <a:xfrm>
                <a:off x="1293812"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40</a:t>
                </a:r>
              </a:p>
            </p:txBody>
          </p:sp>
          <p:sp>
            <p:nvSpPr>
              <p:cNvPr id="650" name="Text Box 123"/>
              <p:cNvSpPr txBox="1"/>
              <p:nvPr/>
            </p:nvSpPr>
            <p:spPr>
              <a:xfrm>
                <a:off x="974725"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47</a:t>
                </a:r>
              </a:p>
            </p:txBody>
          </p:sp>
          <p:sp>
            <p:nvSpPr>
              <p:cNvPr id="651" name="Text Box 124"/>
              <p:cNvSpPr txBox="1"/>
              <p:nvPr/>
            </p:nvSpPr>
            <p:spPr>
              <a:xfrm>
                <a:off x="806450"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48</a:t>
                </a:r>
              </a:p>
            </p:txBody>
          </p:sp>
          <p:sp>
            <p:nvSpPr>
              <p:cNvPr id="652" name="Text Box 125"/>
              <p:cNvSpPr txBox="1"/>
              <p:nvPr/>
            </p:nvSpPr>
            <p:spPr>
              <a:xfrm>
                <a:off x="501650"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55</a:t>
                </a:r>
              </a:p>
            </p:txBody>
          </p:sp>
          <p:sp>
            <p:nvSpPr>
              <p:cNvPr id="653" name="Text Box 126"/>
              <p:cNvSpPr txBox="1"/>
              <p:nvPr/>
            </p:nvSpPr>
            <p:spPr>
              <a:xfrm>
                <a:off x="301625" y="-7539"/>
                <a:ext cx="233395" cy="2462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000"/>
                </a:lvl1pPr>
              </a:lstStyle>
              <a:p>
                <a:r>
                  <a:t>56</a:t>
                </a:r>
              </a:p>
            </p:txBody>
          </p:sp>
          <p:grpSp>
            <p:nvGrpSpPr>
              <p:cNvPr id="662" name="Group 128"/>
              <p:cNvGrpSpPr/>
              <p:nvPr/>
            </p:nvGrpSpPr>
            <p:grpSpPr>
              <a:xfrm>
                <a:off x="62230" y="199707"/>
                <a:ext cx="3883026" cy="244475"/>
                <a:chOff x="0" y="0"/>
                <a:chExt cx="3883025" cy="244474"/>
              </a:xfrm>
            </p:grpSpPr>
            <p:sp>
              <p:nvSpPr>
                <p:cNvPr id="654" name="Rectangle 129"/>
                <p:cNvSpPr/>
                <p:nvPr/>
              </p:nvSpPr>
              <p:spPr>
                <a:xfrm>
                  <a:off x="1931987"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55" name="Rectangle 130"/>
                <p:cNvSpPr/>
                <p:nvPr/>
              </p:nvSpPr>
              <p:spPr>
                <a:xfrm>
                  <a:off x="2419350"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56" name="Rectangle 131"/>
                <p:cNvSpPr/>
                <p:nvPr/>
              </p:nvSpPr>
              <p:spPr>
                <a:xfrm>
                  <a:off x="2906712"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57" name="Rectangle 132"/>
                <p:cNvSpPr/>
                <p:nvPr/>
              </p:nvSpPr>
              <p:spPr>
                <a:xfrm>
                  <a:off x="3394075" y="-1"/>
                  <a:ext cx="488951"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58" name="Rectangle 133"/>
                <p:cNvSpPr/>
                <p:nvPr/>
              </p:nvSpPr>
              <p:spPr>
                <a:xfrm>
                  <a:off x="-1"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59" name="Rectangle 134"/>
                <p:cNvSpPr/>
                <p:nvPr/>
              </p:nvSpPr>
              <p:spPr>
                <a:xfrm>
                  <a:off x="487362"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60" name="Rectangle 135"/>
                <p:cNvSpPr/>
                <p:nvPr/>
              </p:nvSpPr>
              <p:spPr>
                <a:xfrm>
                  <a:off x="974725"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661" name="Rectangle 136"/>
                <p:cNvSpPr/>
                <p:nvPr/>
              </p:nvSpPr>
              <p:spPr>
                <a:xfrm>
                  <a:off x="1462087"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endParaRPr/>
                </a:p>
              </p:txBody>
            </p:sp>
          </p:grpSp>
        </p:grpSp>
      </p:grpSp>
    </p:spTree>
    <p:extLst>
      <p:ext uri="{BB962C8B-B14F-4D97-AF65-F5344CB8AC3E}">
        <p14:creationId xmlns:p14="http://schemas.microsoft.com/office/powerpoint/2010/main" val="145000939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6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6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 grpId="0" animBg="1" advAuto="0"/>
      <p:bldP spid="634" grpId="0" animBg="1" advAuto="0"/>
      <p:bldP spid="664" grpId="0"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Enhanced DRAMs, NV, and Disks</a:t>
            </a:r>
          </a:p>
        </p:txBody>
      </p:sp>
      <p:sp>
        <p:nvSpPr>
          <p:cNvPr id="11267" name="Rectangle 3"/>
          <p:cNvSpPr>
            <a:spLocks noGrp="1" noChangeArrowheads="1"/>
          </p:cNvSpPr>
          <p:nvPr>
            <p:ph type="body" idx="1"/>
          </p:nvPr>
        </p:nvSpPr>
        <p:spPr>
          <a:xfrm>
            <a:off x="381000" y="1125221"/>
            <a:ext cx="8406554" cy="4931833"/>
          </a:xfrm>
        </p:spPr>
        <p:txBody>
          <a:bodyPr/>
          <a:lstStyle/>
          <a:p>
            <a:pPr>
              <a:spcBef>
                <a:spcPts val="0"/>
              </a:spcBef>
            </a:pPr>
            <a:r>
              <a:rPr lang="en-US" altLang="zh-TW" sz="2400" dirty="0"/>
              <a:t>Fast Page Mode DRAM </a:t>
            </a:r>
            <a:r>
              <a:rPr lang="en-US" altLang="zh-TW" sz="2400" dirty="0">
                <a:solidFill>
                  <a:srgbClr val="FF0000"/>
                </a:solidFill>
              </a:rPr>
              <a:t>(FPM DRAM)</a:t>
            </a:r>
          </a:p>
          <a:p>
            <a:pPr>
              <a:spcBef>
                <a:spcPts val="0"/>
              </a:spcBef>
            </a:pPr>
            <a:r>
              <a:rPr lang="en-US" altLang="zh-TW" sz="2400" dirty="0"/>
              <a:t>Extended Data out DRAM </a:t>
            </a:r>
            <a:r>
              <a:rPr lang="en-US" altLang="zh-TW" sz="2400" dirty="0">
                <a:solidFill>
                  <a:srgbClr val="FF0000"/>
                </a:solidFill>
              </a:rPr>
              <a:t>(EDO DRAM) </a:t>
            </a:r>
          </a:p>
          <a:p>
            <a:pPr>
              <a:spcBef>
                <a:spcPts val="0"/>
              </a:spcBef>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Synchronous DRAM (</a:t>
            </a:r>
            <a:r>
              <a:rPr lang="en-US" altLang="zh-TW" sz="2400" dirty="0">
                <a:solidFill>
                  <a:srgbClr val="FF0000"/>
                </a:solidFill>
              </a:rPr>
              <a:t>SDRAM</a:t>
            </a:r>
            <a:r>
              <a:rPr lang="en-US" altLang="zh-TW" sz="2400" dirty="0"/>
              <a:t>)</a:t>
            </a:r>
          </a:p>
          <a:p>
            <a:pPr marL="342882" marR="0" lvl="0" indent="-342882" algn="l" defTabSz="914400" rtl="0" eaLnBrk="1" fontAlgn="base" latinLnBrk="0" hangingPunct="1">
              <a:lnSpc>
                <a:spcPct val="100000"/>
              </a:lnSpc>
              <a:spcBef>
                <a:spcPts val="0"/>
              </a:spcBef>
              <a:spcAft>
                <a:spcPct val="0"/>
              </a:spcAft>
              <a:buClr>
                <a:srgbClr val="0000FF"/>
              </a:buClr>
              <a:buSzPct val="80000"/>
              <a:buFont typeface="Wingdings" pitchFamily="2" charset="2"/>
              <a:buChar char="l"/>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Dual Data Rate SDRAM (</a:t>
            </a:r>
            <a:r>
              <a:rPr lang="en-US" altLang="zh-TW" sz="2400" dirty="0">
                <a:solidFill>
                  <a:srgbClr val="FF0000"/>
                </a:solidFill>
              </a:rPr>
              <a:t>DDR SDRAM) </a:t>
            </a:r>
          </a:p>
          <a:p>
            <a:pPr marL="342882" marR="0" lvl="0" indent="-342882" algn="l" defTabSz="914400" rtl="0" eaLnBrk="1" fontAlgn="base" latinLnBrk="0" hangingPunct="1">
              <a:lnSpc>
                <a:spcPct val="100000"/>
              </a:lnSpc>
              <a:spcBef>
                <a:spcPts val="0"/>
              </a:spcBef>
              <a:spcAft>
                <a:spcPct val="0"/>
              </a:spcAft>
              <a:buClr>
                <a:srgbClr val="0000FF"/>
              </a:buClr>
              <a:buSzPct val="80000"/>
              <a:buFont typeface="Wingdings" pitchFamily="2" charset="2"/>
              <a:buChar char="l"/>
              <a:tabLst/>
              <a:defRPr/>
            </a:pPr>
            <a:r>
              <a:rPr lang="en-US" altLang="zh-TW" sz="2400" dirty="0"/>
              <a:t>Rambus DRAM </a:t>
            </a:r>
            <a:r>
              <a:rPr lang="en-US" altLang="zh-TW" sz="2400" dirty="0">
                <a:solidFill>
                  <a:srgbClr val="FF0000"/>
                </a:solidFill>
              </a:rPr>
              <a:t>(RDRAM)</a:t>
            </a:r>
          </a:p>
          <a:p>
            <a:pPr marL="342882" marR="0" lvl="0" indent="-342882" algn="l" defTabSz="914400" rtl="0" eaLnBrk="1" fontAlgn="base" latinLnBrk="0" hangingPunct="1">
              <a:lnSpc>
                <a:spcPct val="100000"/>
              </a:lnSpc>
              <a:spcBef>
                <a:spcPts val="0"/>
              </a:spcBef>
              <a:spcAft>
                <a:spcPct val="0"/>
              </a:spcAft>
              <a:buClr>
                <a:srgbClr val="0000FF"/>
              </a:buClr>
              <a:buSzPct val="80000"/>
              <a:buFont typeface="Wingdings" pitchFamily="2" charset="2"/>
              <a:buChar char="l"/>
              <a:tabLst/>
              <a:defRPr/>
            </a:pPr>
            <a:r>
              <a:rPr lang="en-US" altLang="zh-TW" sz="2400" dirty="0"/>
              <a:t>Video RAM </a:t>
            </a:r>
            <a:r>
              <a:rPr lang="en-US" altLang="zh-TW" sz="2400" dirty="0">
                <a:solidFill>
                  <a:srgbClr val="FF0000"/>
                </a:solidFill>
              </a:rPr>
              <a:t>(VRAM)</a:t>
            </a:r>
          </a:p>
          <a:p>
            <a:pPr marL="342882" marR="0" lvl="0" indent="-342882" algn="l" defTabSz="914400" rtl="0" eaLnBrk="1" fontAlgn="base" latinLnBrk="0" hangingPunct="1">
              <a:lnSpc>
                <a:spcPct val="100000"/>
              </a:lnSpc>
              <a:spcBef>
                <a:spcPts val="0"/>
              </a:spcBef>
              <a:spcAft>
                <a:spcPct val="0"/>
              </a:spcAft>
              <a:buClr>
                <a:srgbClr val="0000FF"/>
              </a:buClr>
              <a:buSzPct val="80000"/>
              <a:buFont typeface="Wingdings" pitchFamily="2" charset="2"/>
              <a:buChar char="l"/>
              <a:tabLst/>
              <a:defRPr/>
            </a:pPr>
            <a:r>
              <a:rPr lang="en-US" altLang="zh-TW" sz="2400" dirty="0"/>
              <a:t>Embedded DRAM (</a:t>
            </a:r>
            <a:r>
              <a:rPr lang="en-US" altLang="zh-TW" sz="2400" dirty="0" err="1">
                <a:solidFill>
                  <a:srgbClr val="FF0000"/>
                </a:solidFill>
              </a:rPr>
              <a:t>eDRAM</a:t>
            </a:r>
            <a:r>
              <a:rPr lang="en-US" altLang="zh-TW" sz="2400" dirty="0"/>
              <a:t>) </a:t>
            </a:r>
          </a:p>
          <a:p>
            <a:pPr>
              <a:spcBef>
                <a:spcPts val="0"/>
              </a:spcBef>
            </a:pPr>
            <a:r>
              <a:rPr lang="en-US" altLang="zh-TW" sz="2400" dirty="0"/>
              <a:t>Flash Memory (</a:t>
            </a:r>
            <a:r>
              <a:rPr lang="en-US" altLang="zh-TW" sz="2400" dirty="0">
                <a:solidFill>
                  <a:srgbClr val="FF0000"/>
                </a:solidFill>
              </a:rPr>
              <a:t>NV memory</a:t>
            </a:r>
            <a:r>
              <a:rPr lang="en-US" altLang="zh-TW" sz="2400" dirty="0"/>
              <a:t>)</a:t>
            </a:r>
          </a:p>
          <a:p>
            <a:pPr lvl="1">
              <a:spcBef>
                <a:spcPts val="0"/>
              </a:spcBef>
            </a:pPr>
            <a:r>
              <a:rPr lang="en-US" altLang="zh-TW" sz="1867" dirty="0"/>
              <a:t>Will not lose data when the power is cut</a:t>
            </a:r>
          </a:p>
          <a:p>
            <a:pPr lvl="1">
              <a:spcBef>
                <a:spcPts val="0"/>
              </a:spcBef>
            </a:pPr>
            <a:r>
              <a:rPr lang="en-US" altLang="zh-TW" sz="1867" dirty="0"/>
              <a:t>electrically erasable programmable read-only memory (EEPROM)</a:t>
            </a:r>
          </a:p>
          <a:p>
            <a:pPr lvl="1">
              <a:spcBef>
                <a:spcPts val="0"/>
              </a:spcBef>
            </a:pPr>
            <a:r>
              <a:rPr lang="en-US" altLang="zh-TW" sz="1867" dirty="0"/>
              <a:t>Flash memory card, USB device, </a:t>
            </a:r>
            <a:r>
              <a:rPr lang="en-US" altLang="zh-TW" sz="1867" dirty="0" err="1"/>
              <a:t>etc</a:t>
            </a:r>
            <a:endParaRPr lang="en-US" altLang="zh-TW" sz="1867" dirty="0"/>
          </a:p>
          <a:p>
            <a:pPr>
              <a:spcBef>
                <a:spcPts val="0"/>
              </a:spcBef>
            </a:pPr>
            <a:r>
              <a:rPr lang="en-US" altLang="zh-TW" sz="2400" dirty="0"/>
              <a:t>Magnetic Disk and Tape</a:t>
            </a:r>
          </a:p>
          <a:p>
            <a:pPr lvl="1">
              <a:spcBef>
                <a:spcPts val="0"/>
              </a:spcBef>
            </a:pPr>
            <a:r>
              <a:rPr lang="en-US" altLang="zh-TW" sz="1867" dirty="0"/>
              <a:t>For long-term storage</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13</a:t>
            </a:fld>
            <a:endParaRPr lang="zh-TW" altLang="en-US"/>
          </a:p>
        </p:txBody>
      </p:sp>
      <p:pic>
        <p:nvPicPr>
          <p:cNvPr id="3074" name="Picture 2" descr="https://upload.wikimedia.org/wikipedia/commons/thumb/0/02/Cylinder_Head_Sector.svg/1920px-Cylinder_Head_Sector.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31675" y="3429000"/>
            <a:ext cx="2548753" cy="274624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A3C9726-D118-4271-AF89-220381684F13}"/>
              </a:ext>
            </a:extLst>
          </p:cNvPr>
          <p:cNvSpPr txBox="1"/>
          <p:nvPr/>
        </p:nvSpPr>
        <p:spPr>
          <a:xfrm>
            <a:off x="7877175" y="1086001"/>
            <a:ext cx="3857626" cy="646331"/>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DDR SDRAM dominates Computer </a:t>
            </a:r>
          </a:p>
          <a:p>
            <a:r>
              <a:rPr lang="en-US" dirty="0">
                <a:ea typeface="標楷體" pitchFamily="65" charset="-120"/>
                <a:cs typeface="Calibri" pitchFamily="34" charset="0"/>
              </a:rPr>
              <a:t>Memory market today</a:t>
            </a:r>
          </a:p>
        </p:txBody>
      </p:sp>
      <p:sp>
        <p:nvSpPr>
          <p:cNvPr id="3" name="TextBox 2">
            <a:extLst>
              <a:ext uri="{FF2B5EF4-FFF2-40B4-BE49-F238E27FC236}">
                <a16:creationId xmlns:a16="http://schemas.microsoft.com/office/drawing/2014/main" id="{129B7103-4732-92FE-583C-B882C6B868B6}"/>
              </a:ext>
            </a:extLst>
          </p:cNvPr>
          <p:cNvSpPr txBox="1"/>
          <p:nvPr/>
        </p:nvSpPr>
        <p:spPr>
          <a:xfrm>
            <a:off x="7877175" y="1882347"/>
            <a:ext cx="3857626" cy="923330"/>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All unconventional DRAM chips offer much higher bandwidth, but the latency remains the same.</a:t>
            </a:r>
          </a:p>
        </p:txBody>
      </p:sp>
    </p:spTree>
    <p:extLst>
      <p:ext uri="{BB962C8B-B14F-4D97-AF65-F5344CB8AC3E}">
        <p14:creationId xmlns:p14="http://schemas.microsoft.com/office/powerpoint/2010/main" val="61475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248698" y="173039"/>
            <a:ext cx="10314039" cy="643039"/>
          </a:xfrm>
        </p:spPr>
        <p:txBody>
          <a:bodyPr/>
          <a:lstStyle/>
          <a:p>
            <a:r>
              <a:rPr lang="en-US" altLang="zh-TW" dirty="0"/>
              <a:t>Comparisons of Speed and Cost</a:t>
            </a:r>
          </a:p>
        </p:txBody>
      </p:sp>
      <p:grpSp>
        <p:nvGrpSpPr>
          <p:cNvPr id="12291" name="Group 24"/>
          <p:cNvGrpSpPr/>
          <p:nvPr/>
        </p:nvGrpSpPr>
        <p:grpSpPr bwMode="auto">
          <a:xfrm>
            <a:off x="681318" y="1596688"/>
            <a:ext cx="10676964" cy="3402524"/>
            <a:chOff x="684" y="1131"/>
            <a:chExt cx="5000" cy="2531"/>
          </a:xfrm>
        </p:grpSpPr>
        <p:sp>
          <p:nvSpPr>
            <p:cNvPr id="12294" name="Rectangle 3"/>
            <p:cNvSpPr>
              <a:spLocks noChangeArrowheads="1"/>
            </p:cNvSpPr>
            <p:nvPr/>
          </p:nvSpPr>
          <p:spPr bwMode="auto">
            <a:xfrm>
              <a:off x="739" y="1280"/>
              <a:ext cx="1153" cy="557"/>
            </a:xfrm>
            <a:prstGeom prst="rect">
              <a:avLst/>
            </a:prstGeom>
            <a:noFill/>
            <a:ln w="9525">
              <a:noFill/>
              <a:miter lim="800000"/>
            </a:ln>
          </p:spPr>
          <p:txBody>
            <a:bodyPr wrap="none" lIns="92075" tIns="46039" rIns="92075" bIns="46039">
              <a:spAutoFit/>
            </a:bodyPr>
            <a:lstStyle/>
            <a:p>
              <a:pPr algn="ctr"/>
              <a:r>
                <a:rPr kumimoji="1" lang="en-US" altLang="zh-TW" sz="2133" b="1" dirty="0">
                  <a:latin typeface="Arial" panose="020B0604020202090204" pitchFamily="34" charset="0"/>
                </a:rPr>
                <a:t>Memory</a:t>
              </a:r>
            </a:p>
            <a:p>
              <a:pPr algn="ctr"/>
              <a:r>
                <a:rPr kumimoji="1" lang="en-US" altLang="zh-TW" sz="2133" b="1" dirty="0">
                  <a:latin typeface="Arial" panose="020B0604020202090204" pitchFamily="34" charset="0"/>
                </a:rPr>
                <a:t> technology</a:t>
              </a:r>
            </a:p>
          </p:txBody>
        </p:sp>
        <p:sp>
          <p:nvSpPr>
            <p:cNvPr id="12295" name="Line 4"/>
            <p:cNvSpPr>
              <a:spLocks noChangeShapeType="1"/>
            </p:cNvSpPr>
            <p:nvPr/>
          </p:nvSpPr>
          <p:spPr bwMode="auto">
            <a:xfrm>
              <a:off x="1987"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296" name="Line 5"/>
            <p:cNvSpPr>
              <a:spLocks noChangeShapeType="1"/>
            </p:cNvSpPr>
            <p:nvPr/>
          </p:nvSpPr>
          <p:spPr bwMode="auto">
            <a:xfrm>
              <a:off x="684" y="1131"/>
              <a:ext cx="4978" cy="0"/>
            </a:xfrm>
            <a:prstGeom prst="line">
              <a:avLst/>
            </a:prstGeom>
            <a:noFill/>
            <a:ln w="25400">
              <a:solidFill>
                <a:schemeClr val="tx1"/>
              </a:solidFill>
              <a:round/>
              <a:headEnd type="none" w="sm" len="sm"/>
              <a:tailEnd type="none" w="sm" len="sm"/>
            </a:ln>
          </p:spPr>
          <p:txBody>
            <a:bodyPr wrap="none" anchor="ctr"/>
            <a:lstStyle/>
            <a:p>
              <a:endParaRPr lang="zh-TW" altLang="en-US" sz="2133" dirty="0"/>
            </a:p>
          </p:txBody>
        </p:sp>
        <p:sp>
          <p:nvSpPr>
            <p:cNvPr id="12297" name="Line 6"/>
            <p:cNvSpPr>
              <a:spLocks noChangeShapeType="1"/>
            </p:cNvSpPr>
            <p:nvPr/>
          </p:nvSpPr>
          <p:spPr bwMode="auto">
            <a:xfrm>
              <a:off x="684"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298" name="Rectangle 7"/>
            <p:cNvSpPr>
              <a:spLocks noChangeArrowheads="1"/>
            </p:cNvSpPr>
            <p:nvPr/>
          </p:nvSpPr>
          <p:spPr bwMode="auto">
            <a:xfrm>
              <a:off x="4313" y="1284"/>
              <a:ext cx="890" cy="557"/>
            </a:xfrm>
            <a:prstGeom prst="rect">
              <a:avLst/>
            </a:prstGeom>
            <a:noFill/>
            <a:ln w="9525">
              <a:noFill/>
              <a:miter lim="800000"/>
            </a:ln>
          </p:spPr>
          <p:txBody>
            <a:bodyPr wrap="none" lIns="92075" tIns="46039" rIns="92075" bIns="46039">
              <a:spAutoFit/>
            </a:bodyPr>
            <a:lstStyle/>
            <a:p>
              <a:pPr algn="ctr"/>
              <a:r>
                <a:rPr kumimoji="1" lang="en-US" altLang="zh-TW" sz="2133" b="1" dirty="0">
                  <a:latin typeface="Arial" panose="020B0604020202090204" pitchFamily="34" charset="0"/>
                </a:rPr>
                <a:t>$USD per GB</a:t>
              </a:r>
            </a:p>
            <a:p>
              <a:pPr algn="ctr"/>
              <a:r>
                <a:rPr kumimoji="1" lang="en-US" altLang="zh-TW" sz="2133" b="1" dirty="0">
                  <a:latin typeface="Arial" panose="020B0604020202090204" pitchFamily="34" charset="0"/>
                </a:rPr>
                <a:t> </a:t>
              </a:r>
            </a:p>
          </p:txBody>
        </p:sp>
        <p:sp>
          <p:nvSpPr>
            <p:cNvPr id="12299" name="Rectangle 8"/>
            <p:cNvSpPr>
              <a:spLocks noChangeArrowheads="1"/>
            </p:cNvSpPr>
            <p:nvPr/>
          </p:nvSpPr>
          <p:spPr bwMode="auto">
            <a:xfrm>
              <a:off x="1014" y="1996"/>
              <a:ext cx="665" cy="313"/>
            </a:xfrm>
            <a:prstGeom prst="rect">
              <a:avLst/>
            </a:prstGeom>
            <a:noFill/>
            <a:ln w="9525">
              <a:noFill/>
              <a:miter lim="800000"/>
            </a:ln>
          </p:spPr>
          <p:txBody>
            <a:bodyPr wrap="none" lIns="92075" tIns="46039" rIns="92075" bIns="46039">
              <a:spAutoFit/>
            </a:bodyPr>
            <a:lstStyle/>
            <a:p>
              <a:r>
                <a:rPr kumimoji="1" lang="en-US" altLang="zh-TW" sz="2133" b="1" dirty="0">
                  <a:latin typeface="Arial" panose="020B0604020202090204" pitchFamily="34" charset="0"/>
                </a:rPr>
                <a:t>SRAM</a:t>
              </a:r>
            </a:p>
          </p:txBody>
        </p:sp>
        <p:sp>
          <p:nvSpPr>
            <p:cNvPr id="12300" name="Rectangle 9"/>
            <p:cNvSpPr>
              <a:spLocks noChangeArrowheads="1"/>
            </p:cNvSpPr>
            <p:nvPr/>
          </p:nvSpPr>
          <p:spPr bwMode="auto">
            <a:xfrm>
              <a:off x="4093" y="2019"/>
              <a:ext cx="977" cy="313"/>
            </a:xfrm>
            <a:prstGeom prst="rect">
              <a:avLst/>
            </a:prstGeom>
            <a:noFill/>
            <a:ln w="9525">
              <a:noFill/>
              <a:miter lim="800000"/>
            </a:ln>
          </p:spPr>
          <p:txBody>
            <a:bodyPr wrap="none" lIns="92075" tIns="46039" rIns="92075" bIns="46039">
              <a:spAutoFit/>
            </a:bodyPr>
            <a:lstStyle/>
            <a:p>
              <a:r>
                <a:rPr kumimoji="1" lang="zh-TW" altLang="en-US" sz="2133" b="1" dirty="0">
                  <a:latin typeface="Arial" panose="020B0604020202090204" pitchFamily="34" charset="0"/>
                </a:rPr>
                <a:t>$</a:t>
              </a:r>
              <a:r>
                <a:rPr kumimoji="1" lang="en-US" altLang="zh-TW" sz="2133" b="1" dirty="0">
                  <a:latin typeface="Arial" panose="020B0604020202090204" pitchFamily="34" charset="0"/>
                </a:rPr>
                <a:t>1000 – $5,000</a:t>
              </a:r>
            </a:p>
          </p:txBody>
        </p:sp>
        <p:sp>
          <p:nvSpPr>
            <p:cNvPr id="12301" name="Line 10"/>
            <p:cNvSpPr>
              <a:spLocks noChangeShapeType="1"/>
            </p:cNvSpPr>
            <p:nvPr/>
          </p:nvSpPr>
          <p:spPr bwMode="auto">
            <a:xfrm>
              <a:off x="684" y="2411"/>
              <a:ext cx="4978" cy="0"/>
            </a:xfrm>
            <a:prstGeom prst="line">
              <a:avLst/>
            </a:prstGeom>
            <a:noFill/>
            <a:ln w="25400">
              <a:solidFill>
                <a:schemeClr val="tx1"/>
              </a:solidFill>
              <a:round/>
              <a:headEnd type="none" w="sm" len="sm"/>
              <a:tailEnd type="none" w="sm" len="sm"/>
            </a:ln>
          </p:spPr>
          <p:txBody>
            <a:bodyPr wrap="none" anchor="ctr"/>
            <a:lstStyle/>
            <a:p>
              <a:endParaRPr lang="zh-TW" altLang="en-US" sz="2133" dirty="0"/>
            </a:p>
          </p:txBody>
        </p:sp>
        <p:sp>
          <p:nvSpPr>
            <p:cNvPr id="12302" name="Line 11"/>
            <p:cNvSpPr>
              <a:spLocks noChangeShapeType="1"/>
            </p:cNvSpPr>
            <p:nvPr/>
          </p:nvSpPr>
          <p:spPr bwMode="auto">
            <a:xfrm>
              <a:off x="706" y="1909"/>
              <a:ext cx="4978" cy="0"/>
            </a:xfrm>
            <a:prstGeom prst="line">
              <a:avLst/>
            </a:prstGeom>
            <a:noFill/>
            <a:ln w="25400">
              <a:solidFill>
                <a:schemeClr val="tx1"/>
              </a:solidFill>
              <a:round/>
              <a:headEnd type="none" w="sm" len="sm"/>
              <a:tailEnd type="none" w="sm" len="sm"/>
            </a:ln>
          </p:spPr>
          <p:txBody>
            <a:bodyPr wrap="none" anchor="ctr"/>
            <a:lstStyle/>
            <a:p>
              <a:endParaRPr lang="zh-TW" altLang="en-US" sz="2133" dirty="0"/>
            </a:p>
          </p:txBody>
        </p:sp>
        <p:sp>
          <p:nvSpPr>
            <p:cNvPr id="12303" name="Rectangle 12"/>
            <p:cNvSpPr>
              <a:spLocks noChangeArrowheads="1"/>
            </p:cNvSpPr>
            <p:nvPr/>
          </p:nvSpPr>
          <p:spPr bwMode="auto">
            <a:xfrm>
              <a:off x="1001" y="2538"/>
              <a:ext cx="674" cy="313"/>
            </a:xfrm>
            <a:prstGeom prst="rect">
              <a:avLst/>
            </a:prstGeom>
            <a:noFill/>
            <a:ln w="9525">
              <a:noFill/>
              <a:miter lim="800000"/>
            </a:ln>
          </p:spPr>
          <p:txBody>
            <a:bodyPr wrap="none" lIns="92075" tIns="46039" rIns="92075" bIns="46039">
              <a:spAutoFit/>
            </a:bodyPr>
            <a:lstStyle/>
            <a:p>
              <a:r>
                <a:rPr kumimoji="1" lang="en-US" altLang="zh-TW" sz="2133" b="1" dirty="0">
                  <a:latin typeface="Arial" panose="020B0604020202090204" pitchFamily="34" charset="0"/>
                </a:rPr>
                <a:t>DRAM</a:t>
              </a:r>
            </a:p>
          </p:txBody>
        </p:sp>
        <p:sp>
          <p:nvSpPr>
            <p:cNvPr id="12304" name="Line 13"/>
            <p:cNvSpPr>
              <a:spLocks noChangeShapeType="1"/>
            </p:cNvSpPr>
            <p:nvPr/>
          </p:nvSpPr>
          <p:spPr bwMode="auto">
            <a:xfrm>
              <a:off x="684" y="2933"/>
              <a:ext cx="4978" cy="0"/>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305" name="Rectangle 14"/>
            <p:cNvSpPr>
              <a:spLocks noChangeArrowheads="1"/>
            </p:cNvSpPr>
            <p:nvPr/>
          </p:nvSpPr>
          <p:spPr bwMode="auto">
            <a:xfrm>
              <a:off x="809" y="3040"/>
              <a:ext cx="970" cy="557"/>
            </a:xfrm>
            <a:prstGeom prst="rect">
              <a:avLst/>
            </a:prstGeom>
            <a:noFill/>
            <a:ln w="9525">
              <a:noFill/>
              <a:miter lim="800000"/>
            </a:ln>
          </p:spPr>
          <p:txBody>
            <a:bodyPr wrap="none" lIns="92075" tIns="46039" rIns="92075" bIns="46039">
              <a:spAutoFit/>
            </a:bodyPr>
            <a:lstStyle/>
            <a:p>
              <a:pPr algn="ctr"/>
              <a:r>
                <a:rPr kumimoji="1" lang="en-US" altLang="zh-TW" sz="2133" b="1" dirty="0">
                  <a:latin typeface="Arial" panose="020B0604020202090204" pitchFamily="34" charset="0"/>
                </a:rPr>
                <a:t>Magnetic </a:t>
              </a:r>
            </a:p>
            <a:p>
              <a:pPr algn="ctr"/>
              <a:r>
                <a:rPr kumimoji="1" lang="en-US" altLang="zh-TW" sz="2133" b="1" dirty="0">
                  <a:latin typeface="Arial" panose="020B0604020202090204" pitchFamily="34" charset="0"/>
                </a:rPr>
                <a:t>disk</a:t>
              </a:r>
            </a:p>
          </p:txBody>
        </p:sp>
        <p:sp>
          <p:nvSpPr>
            <p:cNvPr id="12306" name="Rectangle 15"/>
            <p:cNvSpPr>
              <a:spLocks noChangeArrowheads="1"/>
            </p:cNvSpPr>
            <p:nvPr/>
          </p:nvSpPr>
          <p:spPr bwMode="auto">
            <a:xfrm>
              <a:off x="4093" y="3105"/>
              <a:ext cx="1407" cy="557"/>
            </a:xfrm>
            <a:prstGeom prst="rect">
              <a:avLst/>
            </a:prstGeom>
            <a:noFill/>
            <a:ln w="9525">
              <a:noFill/>
              <a:miter lim="800000"/>
            </a:ln>
          </p:spPr>
          <p:txBody>
            <a:bodyPr wrap="square" lIns="92075" tIns="46039" rIns="92075" bIns="46039">
              <a:spAutoFit/>
            </a:bodyPr>
            <a:lstStyle/>
            <a:p>
              <a:r>
                <a:rPr kumimoji="1" lang="en-US" altLang="zh-TW" sz="2133" b="1" dirty="0">
                  <a:latin typeface="Arial" panose="020B0604020202090204" pitchFamily="34" charset="0"/>
                </a:rPr>
                <a:t>HDD: </a:t>
              </a:r>
              <a:r>
                <a:rPr kumimoji="1" lang="zh-TW" altLang="en-US" sz="2133" b="1" dirty="0">
                  <a:latin typeface="Arial" panose="020B0604020202090204" pitchFamily="34" charset="0"/>
                </a:rPr>
                <a:t>$0.</a:t>
              </a:r>
              <a:r>
                <a:rPr kumimoji="1" lang="en-US" altLang="zh-TW" sz="2133" b="1" dirty="0">
                  <a:latin typeface="Arial" panose="020B0604020202090204" pitchFamily="34" charset="0"/>
                </a:rPr>
                <a:t>02 – $0.05</a:t>
              </a:r>
            </a:p>
            <a:p>
              <a:r>
                <a:rPr kumimoji="1" lang="en-US" altLang="zh-TW" sz="2133" b="1" dirty="0">
                  <a:latin typeface="Arial" panose="020B0604020202090204" pitchFamily="34" charset="0"/>
                </a:rPr>
                <a:t>SSD: $0.06  </a:t>
              </a:r>
              <a:r>
                <a:rPr kumimoji="1" lang="en-US" altLang="zh-TW" sz="2133" b="1" i="0" u="none" strike="noStrike" kern="1200" cap="none" spc="0" normalizeH="0" baseline="0" noProof="0" dirty="0">
                  <a:ln>
                    <a:noFill/>
                  </a:ln>
                  <a:solidFill>
                    <a:prstClr val="black"/>
                  </a:solidFill>
                  <a:effectLst/>
                  <a:uLnTx/>
                  <a:uFillTx/>
                  <a:latin typeface="Arial" panose="020B0604020202090204" pitchFamily="34" charset="0"/>
                  <a:ea typeface="新細明體"/>
                  <a:cs typeface="+mn-cs"/>
                </a:rPr>
                <a:t>– $0.20</a:t>
              </a:r>
              <a:endParaRPr kumimoji="1" lang="en-US" altLang="zh-TW" sz="2133" b="1" dirty="0">
                <a:latin typeface="Arial" panose="020B0604020202090204" pitchFamily="34" charset="0"/>
              </a:endParaRPr>
            </a:p>
          </p:txBody>
        </p:sp>
        <p:sp>
          <p:nvSpPr>
            <p:cNvPr id="12307" name="Line 16"/>
            <p:cNvSpPr>
              <a:spLocks noChangeShapeType="1"/>
            </p:cNvSpPr>
            <p:nvPr/>
          </p:nvSpPr>
          <p:spPr bwMode="auto">
            <a:xfrm>
              <a:off x="684" y="3618"/>
              <a:ext cx="4978" cy="0"/>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308" name="Line 17"/>
            <p:cNvSpPr>
              <a:spLocks noChangeShapeType="1"/>
            </p:cNvSpPr>
            <p:nvPr/>
          </p:nvSpPr>
          <p:spPr bwMode="auto">
            <a:xfrm>
              <a:off x="3979"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309" name="Line 18"/>
            <p:cNvSpPr>
              <a:spLocks noChangeShapeType="1"/>
            </p:cNvSpPr>
            <p:nvPr/>
          </p:nvSpPr>
          <p:spPr bwMode="auto">
            <a:xfrm>
              <a:off x="5662"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310" name="Rectangle 19"/>
            <p:cNvSpPr>
              <a:spLocks noChangeArrowheads="1"/>
            </p:cNvSpPr>
            <p:nvPr/>
          </p:nvSpPr>
          <p:spPr bwMode="auto">
            <a:xfrm>
              <a:off x="2261" y="1318"/>
              <a:ext cx="1406" cy="557"/>
            </a:xfrm>
            <a:prstGeom prst="rect">
              <a:avLst/>
            </a:prstGeom>
            <a:noFill/>
            <a:ln w="9525">
              <a:noFill/>
              <a:miter lim="800000"/>
            </a:ln>
          </p:spPr>
          <p:txBody>
            <a:bodyPr wrap="none" lIns="92075" tIns="46039" rIns="92075" bIns="46039">
              <a:spAutoFit/>
            </a:bodyPr>
            <a:lstStyle/>
            <a:p>
              <a:pPr algn="ctr"/>
              <a:r>
                <a:rPr kumimoji="1" lang="en-US" altLang="zh-TW" sz="2133" b="1" dirty="0">
                  <a:latin typeface="Arial" panose="020B0604020202090204" pitchFamily="34" charset="0"/>
                </a:rPr>
                <a:t>Typical access</a:t>
              </a:r>
            </a:p>
            <a:p>
              <a:pPr algn="ctr"/>
              <a:r>
                <a:rPr kumimoji="1" lang="en-US" altLang="zh-TW" sz="2133" b="1" dirty="0">
                  <a:latin typeface="Arial" panose="020B0604020202090204" pitchFamily="34" charset="0"/>
                </a:rPr>
                <a:t> time</a:t>
              </a:r>
            </a:p>
          </p:txBody>
        </p:sp>
        <p:sp>
          <p:nvSpPr>
            <p:cNvPr id="12311" name="Rectangle 20"/>
            <p:cNvSpPr>
              <a:spLocks noChangeArrowheads="1"/>
            </p:cNvSpPr>
            <p:nvPr/>
          </p:nvSpPr>
          <p:spPr bwMode="auto">
            <a:xfrm>
              <a:off x="2526" y="2019"/>
              <a:ext cx="1102" cy="313"/>
            </a:xfrm>
            <a:prstGeom prst="rect">
              <a:avLst/>
            </a:prstGeom>
            <a:noFill/>
            <a:ln w="9525">
              <a:noFill/>
              <a:miter lim="800000"/>
            </a:ln>
          </p:spPr>
          <p:txBody>
            <a:bodyPr wrap="none" lIns="92075" tIns="46039" rIns="92075" bIns="46039">
              <a:spAutoFit/>
            </a:bodyPr>
            <a:lstStyle/>
            <a:p>
              <a:r>
                <a:rPr kumimoji="1" lang="en-US" altLang="zh-TW" sz="2133" b="1">
                  <a:latin typeface="Arial" panose="020B0604020202090204" pitchFamily="34" charset="0"/>
                </a:rPr>
                <a:t>0.5 </a:t>
              </a:r>
              <a:r>
                <a:rPr kumimoji="1" lang="zh-TW" altLang="en-US" sz="2133" b="1">
                  <a:latin typeface="Arial" panose="020B0604020202090204" pitchFamily="34" charset="0"/>
                </a:rPr>
                <a:t>–</a:t>
              </a:r>
              <a:r>
                <a:rPr kumimoji="1" lang="en-US" altLang="zh-TW" sz="2133" b="1">
                  <a:latin typeface="Arial" panose="020B0604020202090204" pitchFamily="34" charset="0"/>
                </a:rPr>
                <a:t> 2.5 ns</a:t>
              </a:r>
            </a:p>
          </p:txBody>
        </p:sp>
        <p:sp>
          <p:nvSpPr>
            <p:cNvPr id="12312" name="Rectangle 21"/>
            <p:cNvSpPr>
              <a:spLocks noChangeArrowheads="1"/>
            </p:cNvSpPr>
            <p:nvPr/>
          </p:nvSpPr>
          <p:spPr bwMode="auto">
            <a:xfrm>
              <a:off x="2565" y="2556"/>
              <a:ext cx="1001" cy="313"/>
            </a:xfrm>
            <a:prstGeom prst="rect">
              <a:avLst/>
            </a:prstGeom>
            <a:noFill/>
            <a:ln w="9525">
              <a:noFill/>
              <a:miter lim="800000"/>
            </a:ln>
          </p:spPr>
          <p:txBody>
            <a:bodyPr wrap="none" lIns="92075" tIns="46039" rIns="92075" bIns="46039">
              <a:spAutoFit/>
            </a:bodyPr>
            <a:lstStyle/>
            <a:p>
              <a:r>
                <a:rPr kumimoji="1" lang="zh-TW" altLang="en-US" sz="2133" b="1">
                  <a:latin typeface="Arial" panose="020B0604020202090204" pitchFamily="34" charset="0"/>
                </a:rPr>
                <a:t>50 – 70 </a:t>
              </a:r>
              <a:r>
                <a:rPr kumimoji="1" lang="en-US" altLang="zh-TW" sz="2133" b="1">
                  <a:latin typeface="Arial" panose="020B0604020202090204" pitchFamily="34" charset="0"/>
                </a:rPr>
                <a:t>ns</a:t>
              </a:r>
            </a:p>
          </p:txBody>
        </p:sp>
        <p:sp>
          <p:nvSpPr>
            <p:cNvPr id="12313" name="Rectangle 22"/>
            <p:cNvSpPr>
              <a:spLocks noChangeArrowheads="1"/>
            </p:cNvSpPr>
            <p:nvPr/>
          </p:nvSpPr>
          <p:spPr bwMode="auto">
            <a:xfrm>
              <a:off x="2343" y="3014"/>
              <a:ext cx="1358" cy="557"/>
            </a:xfrm>
            <a:prstGeom prst="rect">
              <a:avLst/>
            </a:prstGeom>
            <a:noFill/>
            <a:ln w="9525">
              <a:noFill/>
              <a:miter lim="800000"/>
            </a:ln>
          </p:spPr>
          <p:txBody>
            <a:bodyPr wrap="none" lIns="92075" tIns="46039" rIns="92075" bIns="46039">
              <a:spAutoFit/>
            </a:bodyPr>
            <a:lstStyle/>
            <a:p>
              <a:pPr algn="ctr"/>
              <a:r>
                <a:rPr kumimoji="1" lang="zh-TW" altLang="en-US" sz="2133" b="1" dirty="0">
                  <a:latin typeface="Arial" panose="020B0604020202090204" pitchFamily="34" charset="0"/>
                </a:rPr>
                <a:t>5,000,000 – </a:t>
              </a:r>
            </a:p>
            <a:p>
              <a:pPr algn="ctr"/>
              <a:r>
                <a:rPr kumimoji="1" lang="zh-TW" altLang="en-US" sz="2133" b="1" dirty="0">
                  <a:latin typeface="Arial" panose="020B0604020202090204" pitchFamily="34" charset="0"/>
                </a:rPr>
                <a:t> 20,000,000 </a:t>
              </a:r>
              <a:r>
                <a:rPr kumimoji="1" lang="en-US" altLang="zh-TW" sz="2133" b="1" dirty="0">
                  <a:latin typeface="Arial" panose="020B0604020202090204" pitchFamily="34" charset="0"/>
                </a:rPr>
                <a:t>ns</a:t>
              </a:r>
            </a:p>
          </p:txBody>
        </p:sp>
        <p:sp>
          <p:nvSpPr>
            <p:cNvPr id="12314" name="Rectangle 23"/>
            <p:cNvSpPr>
              <a:spLocks noChangeArrowheads="1"/>
            </p:cNvSpPr>
            <p:nvPr/>
          </p:nvSpPr>
          <p:spPr bwMode="auto">
            <a:xfrm>
              <a:off x="4243" y="2579"/>
              <a:ext cx="763" cy="313"/>
            </a:xfrm>
            <a:prstGeom prst="rect">
              <a:avLst/>
            </a:prstGeom>
            <a:noFill/>
            <a:ln w="12700">
              <a:noFill/>
              <a:miter lim="800000"/>
            </a:ln>
          </p:spPr>
          <p:txBody>
            <a:bodyPr wrap="none">
              <a:spAutoFit/>
            </a:bodyPr>
            <a:lstStyle/>
            <a:p>
              <a:r>
                <a:rPr kumimoji="1" lang="zh-TW" altLang="en-US" sz="2133" b="1" dirty="0">
                  <a:latin typeface="Arial" panose="020B0604020202090204" pitchFamily="34" charset="0"/>
                </a:rPr>
                <a:t>$</a:t>
              </a:r>
              <a:r>
                <a:rPr kumimoji="1" lang="en-US" altLang="zh-TW" sz="2133" b="1" dirty="0">
                  <a:latin typeface="Arial" panose="020B0604020202090204" pitchFamily="34" charset="0"/>
                </a:rPr>
                <a:t>2,$3 – $20</a:t>
              </a:r>
            </a:p>
          </p:txBody>
        </p:sp>
      </p:grpSp>
      <p:sp>
        <p:nvSpPr>
          <p:cNvPr id="27"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14</a:t>
            </a:fld>
            <a:endParaRPr lang="zh-TW" altLang="en-US"/>
          </a:p>
        </p:txBody>
      </p:sp>
      <p:sp>
        <p:nvSpPr>
          <p:cNvPr id="26" name="TextBox 25">
            <a:extLst>
              <a:ext uri="{FF2B5EF4-FFF2-40B4-BE49-F238E27FC236}">
                <a16:creationId xmlns:a16="http://schemas.microsoft.com/office/drawing/2014/main" id="{BD248089-5B5D-49BB-89EF-BF2B84F5EC3D}"/>
              </a:ext>
            </a:extLst>
          </p:cNvPr>
          <p:cNvSpPr txBox="1"/>
          <p:nvPr/>
        </p:nvSpPr>
        <p:spPr>
          <a:xfrm>
            <a:off x="3463735" y="4941649"/>
            <a:ext cx="3857626" cy="646331"/>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Why is SRAM disproportionately more expensive than DRAM?</a:t>
            </a:r>
          </a:p>
        </p:txBody>
      </p:sp>
      <p:sp>
        <p:nvSpPr>
          <p:cNvPr id="28" name="TextBox 27">
            <a:extLst>
              <a:ext uri="{FF2B5EF4-FFF2-40B4-BE49-F238E27FC236}">
                <a16:creationId xmlns:a16="http://schemas.microsoft.com/office/drawing/2014/main" id="{F0FB5B5D-66CE-467A-906B-51D20C03F15F}"/>
              </a:ext>
            </a:extLst>
          </p:cNvPr>
          <p:cNvSpPr txBox="1"/>
          <p:nvPr/>
        </p:nvSpPr>
        <p:spPr>
          <a:xfrm>
            <a:off x="6726202" y="5697697"/>
            <a:ext cx="4836533"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Yields, density, volume, design complexity, …</a:t>
            </a:r>
          </a:p>
        </p:txBody>
      </p:sp>
    </p:spTree>
    <p:extLst>
      <p:ext uri="{BB962C8B-B14F-4D97-AF65-F5344CB8AC3E}">
        <p14:creationId xmlns:p14="http://schemas.microsoft.com/office/powerpoint/2010/main" val="1502798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angle 5"/>
          <p:cNvSpPr txBox="1">
            <a:spLocks noGrp="1"/>
          </p:cNvSpPr>
          <p:nvPr>
            <p:ph type="sldNum" sz="quarter" idx="2"/>
          </p:nvPr>
        </p:nvSpPr>
        <p:spPr>
          <a:xfrm>
            <a:off x="10354844" y="6611779"/>
            <a:ext cx="168509"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sp>
        <p:nvSpPr>
          <p:cNvPr id="133" name="Rectangle 26"/>
          <p:cNvSpPr txBox="1">
            <a:spLocks noGrp="1"/>
          </p:cNvSpPr>
          <p:nvPr>
            <p:ph type="title"/>
          </p:nvPr>
        </p:nvSpPr>
        <p:spPr>
          <a:xfrm>
            <a:off x="1736369" y="53974"/>
            <a:ext cx="8786984" cy="762001"/>
          </a:xfrm>
          <a:prstGeom prst="rect">
            <a:avLst/>
          </a:prstGeom>
        </p:spPr>
        <p:txBody>
          <a:bodyPr/>
          <a:lstStyle>
            <a:lvl1pPr marL="0" indent="0">
              <a:defRPr sz="3200"/>
            </a:lvl1pPr>
          </a:lstStyle>
          <a:p>
            <a:r>
              <a:rPr lang="en-US" sz="4800" dirty="0"/>
              <a:t>Accessing Main Memory</a:t>
            </a:r>
            <a:endParaRPr sz="4800" dirty="0"/>
          </a:p>
        </p:txBody>
      </p:sp>
      <p:sp>
        <p:nvSpPr>
          <p:cNvPr id="134" name="Rectangle 27"/>
          <p:cNvSpPr txBox="1">
            <a:spLocks noGrp="1"/>
          </p:cNvSpPr>
          <p:nvPr>
            <p:ph type="body" idx="1"/>
          </p:nvPr>
        </p:nvSpPr>
        <p:spPr>
          <a:xfrm>
            <a:off x="1471442" y="1028700"/>
            <a:ext cx="9177508" cy="5448300"/>
          </a:xfrm>
          <a:prstGeom prst="rect">
            <a:avLst/>
          </a:prstGeom>
        </p:spPr>
        <p:txBody>
          <a:bodyPr/>
          <a:lstStyle/>
          <a:p>
            <a:r>
              <a:rPr sz="3000" dirty="0"/>
              <a:t>A </a:t>
            </a:r>
            <a:r>
              <a:rPr sz="3000" dirty="0">
                <a:solidFill>
                  <a:srgbClr val="C00000"/>
                </a:solidFill>
              </a:rPr>
              <a:t>bus </a:t>
            </a:r>
            <a:r>
              <a:rPr sz="3000" dirty="0"/>
              <a:t>is a collection of parallel wires that carry address, data, and control signals.</a:t>
            </a:r>
          </a:p>
          <a:p>
            <a:r>
              <a:rPr sz="3000" dirty="0"/>
              <a:t>Buses are typically shared by multiple devices.</a:t>
            </a:r>
          </a:p>
        </p:txBody>
      </p:sp>
      <p:grpSp>
        <p:nvGrpSpPr>
          <p:cNvPr id="137" name="Rectangle 5"/>
          <p:cNvGrpSpPr/>
          <p:nvPr/>
        </p:nvGrpSpPr>
        <p:grpSpPr>
          <a:xfrm>
            <a:off x="8450260" y="4888811"/>
            <a:ext cx="1049340" cy="1054101"/>
            <a:chOff x="-1" y="0"/>
            <a:chExt cx="1049339" cy="1054100"/>
          </a:xfrm>
        </p:grpSpPr>
        <p:sp>
          <p:nvSpPr>
            <p:cNvPr id="135" name="Square"/>
            <p:cNvSpPr/>
            <p:nvPr/>
          </p:nvSpPr>
          <p:spPr>
            <a:xfrm>
              <a:off x="-1" y="0"/>
              <a:ext cx="1049339" cy="10541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136" name="Main…"/>
            <p:cNvSpPr txBox="1"/>
            <p:nvPr/>
          </p:nvSpPr>
          <p:spPr>
            <a:xfrm>
              <a:off x="126131" y="234664"/>
              <a:ext cx="797075" cy="58477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p>
              <a:pPr algn="ctr">
                <a:defRPr sz="1600">
                  <a:latin typeface="Calibri"/>
                  <a:ea typeface="Calibri"/>
                  <a:cs typeface="Calibri"/>
                  <a:sym typeface="Calibri"/>
                </a:defRPr>
              </a:pPr>
              <a:r>
                <a:rPr sz="1600"/>
                <a:t>Main</a:t>
              </a:r>
            </a:p>
            <a:p>
              <a:pPr algn="ctr">
                <a:defRPr sz="1600">
                  <a:latin typeface="Calibri"/>
                  <a:ea typeface="Calibri"/>
                  <a:cs typeface="Calibri"/>
                  <a:sym typeface="Calibri"/>
                </a:defRPr>
              </a:pPr>
              <a:r>
                <a:rPr sz="1600"/>
                <a:t>memory</a:t>
              </a:r>
            </a:p>
          </p:txBody>
        </p:sp>
      </p:grpSp>
      <p:sp>
        <p:nvSpPr>
          <p:cNvPr id="138" name="AutoShape 6"/>
          <p:cNvSpPr/>
          <p:nvPr/>
        </p:nvSpPr>
        <p:spPr>
          <a:xfrm>
            <a:off x="5122862" y="5135563"/>
            <a:ext cx="3327398" cy="615951"/>
          </a:xfrm>
          <a:prstGeom prst="leftRightArrow">
            <a:avLst>
              <a:gd name="adj1" fmla="val 50000"/>
              <a:gd name="adj2" fmla="val 55876"/>
            </a:avLst>
          </a:pr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141" name="Rectangle 9"/>
          <p:cNvGrpSpPr/>
          <p:nvPr/>
        </p:nvGrpSpPr>
        <p:grpSpPr>
          <a:xfrm>
            <a:off x="2351087" y="5110163"/>
            <a:ext cx="2162176" cy="666751"/>
            <a:chOff x="0" y="0"/>
            <a:chExt cx="2162175" cy="666750"/>
          </a:xfrm>
        </p:grpSpPr>
        <p:sp>
          <p:nvSpPr>
            <p:cNvPr id="139" name="Rectangle"/>
            <p:cNvSpPr/>
            <p:nvPr/>
          </p:nvSpPr>
          <p:spPr>
            <a:xfrm>
              <a:off x="0" y="0"/>
              <a:ext cx="2162175" cy="66675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140" name="Memory Controller"/>
            <p:cNvSpPr txBox="1"/>
            <p:nvPr/>
          </p:nvSpPr>
          <p:spPr>
            <a:xfrm>
              <a:off x="234736" y="164099"/>
              <a:ext cx="1692703" cy="3385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Memory Controller</a:t>
              </a:r>
            </a:p>
          </p:txBody>
        </p:sp>
      </p:grpSp>
      <p:sp>
        <p:nvSpPr>
          <p:cNvPr id="142" name="Rectangle 10"/>
          <p:cNvSpPr/>
          <p:nvPr/>
        </p:nvSpPr>
        <p:spPr>
          <a:xfrm>
            <a:off x="3408363" y="3579813"/>
            <a:ext cx="788988" cy="176213"/>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43" name="Rectangle 11"/>
          <p:cNvSpPr/>
          <p:nvPr/>
        </p:nvSpPr>
        <p:spPr>
          <a:xfrm>
            <a:off x="3408363" y="3756026"/>
            <a:ext cx="788988" cy="176213"/>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44" name="Rectangle 12"/>
          <p:cNvSpPr/>
          <p:nvPr/>
        </p:nvSpPr>
        <p:spPr>
          <a:xfrm>
            <a:off x="3408363" y="3932237"/>
            <a:ext cx="788988" cy="174626"/>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45" name="Rectangle 13"/>
          <p:cNvSpPr/>
          <p:nvPr/>
        </p:nvSpPr>
        <p:spPr>
          <a:xfrm>
            <a:off x="3408363" y="4106863"/>
            <a:ext cx="788988" cy="176213"/>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46" name="Rectangle 14"/>
          <p:cNvSpPr/>
          <p:nvPr/>
        </p:nvSpPr>
        <p:spPr>
          <a:xfrm>
            <a:off x="3408363" y="4283076"/>
            <a:ext cx="788988" cy="176213"/>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47" name="AutoShape 15"/>
          <p:cNvSpPr/>
          <p:nvPr/>
        </p:nvSpPr>
        <p:spPr>
          <a:xfrm>
            <a:off x="4300539" y="3579812"/>
            <a:ext cx="512763" cy="439738"/>
          </a:xfrm>
          <a:prstGeom prst="rightArrow">
            <a:avLst>
              <a:gd name="adj1" fmla="val 50000"/>
              <a:gd name="adj2" fmla="val 29152"/>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48" name="AutoShape 16"/>
          <p:cNvSpPr/>
          <p:nvPr/>
        </p:nvSpPr>
        <p:spPr>
          <a:xfrm flipH="1">
            <a:off x="4197351" y="4019550"/>
            <a:ext cx="512763" cy="439738"/>
          </a:xfrm>
          <a:prstGeom prst="rightArrow">
            <a:avLst>
              <a:gd name="adj1" fmla="val 50000"/>
              <a:gd name="adj2" fmla="val 29152"/>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151" name="Rectangle 17"/>
          <p:cNvGrpSpPr/>
          <p:nvPr/>
        </p:nvGrpSpPr>
        <p:grpSpPr>
          <a:xfrm>
            <a:off x="4813299" y="3405187"/>
            <a:ext cx="614367" cy="1230315"/>
            <a:chOff x="-1" y="-1"/>
            <a:chExt cx="614365" cy="1230314"/>
          </a:xfrm>
        </p:grpSpPr>
        <p:sp>
          <p:nvSpPr>
            <p:cNvPr id="149" name="Rectangle"/>
            <p:cNvSpPr/>
            <p:nvPr/>
          </p:nvSpPr>
          <p:spPr>
            <a:xfrm>
              <a:off x="-1" y="-1"/>
              <a:ext cx="614365" cy="1230314"/>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150" name="ALU"/>
            <p:cNvSpPr txBox="1"/>
            <p:nvPr/>
          </p:nvSpPr>
          <p:spPr>
            <a:xfrm>
              <a:off x="94913" y="445880"/>
              <a:ext cx="424536"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ALU</a:t>
              </a:r>
            </a:p>
          </p:txBody>
        </p:sp>
      </p:grpSp>
      <p:sp>
        <p:nvSpPr>
          <p:cNvPr id="152" name="Text Box 18"/>
          <p:cNvSpPr txBox="1"/>
          <p:nvPr/>
        </p:nvSpPr>
        <p:spPr>
          <a:xfrm>
            <a:off x="3287396" y="3233530"/>
            <a:ext cx="107009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Register file</a:t>
            </a:r>
          </a:p>
        </p:txBody>
      </p:sp>
      <p:sp>
        <p:nvSpPr>
          <p:cNvPr id="153" name="AutoShape 19"/>
          <p:cNvSpPr/>
          <p:nvPr/>
        </p:nvSpPr>
        <p:spPr>
          <a:xfrm>
            <a:off x="3494089" y="4546601"/>
            <a:ext cx="703263" cy="52705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54" name="Rectangle 20"/>
          <p:cNvSpPr/>
          <p:nvPr/>
        </p:nvSpPr>
        <p:spPr>
          <a:xfrm>
            <a:off x="2176462" y="3140075"/>
            <a:ext cx="3427414" cy="2813050"/>
          </a:xfrm>
          <a:prstGeom prst="rect">
            <a:avLst/>
          </a:prstGeom>
          <a:ln w="12700">
            <a:solidFill>
              <a:srgbClr val="000000"/>
            </a:solidFill>
            <a:prstDash val="sysDot"/>
            <a:miter/>
          </a:ln>
        </p:spPr>
        <p:txBody>
          <a:bodyPr lIns="45719" rIns="45719" anchor="ctr"/>
          <a:lstStyle/>
          <a:p>
            <a:pPr>
              <a:defRPr>
                <a:latin typeface="Calibri"/>
                <a:ea typeface="Calibri"/>
                <a:cs typeface="Calibri"/>
                <a:sym typeface="Calibri"/>
              </a:defRPr>
            </a:pPr>
            <a:endParaRPr/>
          </a:p>
        </p:txBody>
      </p:sp>
      <p:sp>
        <p:nvSpPr>
          <p:cNvPr id="155" name="Text Box 21"/>
          <p:cNvSpPr txBox="1"/>
          <p:nvPr/>
        </p:nvSpPr>
        <p:spPr>
          <a:xfrm>
            <a:off x="2190432" y="2812048"/>
            <a:ext cx="83291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CPU chip</a:t>
            </a:r>
          </a:p>
        </p:txBody>
      </p:sp>
      <p:sp>
        <p:nvSpPr>
          <p:cNvPr id="156" name="Text Box 24"/>
          <p:cNvSpPr txBox="1"/>
          <p:nvPr/>
        </p:nvSpPr>
        <p:spPr>
          <a:xfrm>
            <a:off x="5741671" y="4237533"/>
            <a:ext cx="1149736"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Memory bus</a:t>
            </a:r>
          </a:p>
        </p:txBody>
      </p:sp>
      <p:sp>
        <p:nvSpPr>
          <p:cNvPr id="157" name="Line 25"/>
          <p:cNvSpPr/>
          <p:nvPr/>
        </p:nvSpPr>
        <p:spPr>
          <a:xfrm>
            <a:off x="6340477" y="4564766"/>
            <a:ext cx="1" cy="527051"/>
          </a:xfrm>
          <a:prstGeom prst="line">
            <a:avLst/>
          </a:prstGeom>
          <a:ln w="12700">
            <a:solidFill>
              <a:srgbClr val="000000"/>
            </a:solidFill>
            <a:tailEnd type="triangle"/>
          </a:ln>
        </p:spPr>
        <p:txBody>
          <a:bodyPr lIns="45719" rIns="45719"/>
          <a:lstStyle/>
          <a:p>
            <a:endParaRPr/>
          </a:p>
        </p:txBody>
      </p:sp>
    </p:spTree>
    <p:extLst>
      <p:ext uri="{BB962C8B-B14F-4D97-AF65-F5344CB8AC3E}">
        <p14:creationId xmlns:p14="http://schemas.microsoft.com/office/powerpoint/2010/main" val="404064499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Rectangle 5"/>
          <p:cNvSpPr txBox="1">
            <a:spLocks noGrp="1"/>
          </p:cNvSpPr>
          <p:nvPr>
            <p:ph type="sldNum" sz="quarter" idx="2"/>
          </p:nvPr>
        </p:nvSpPr>
        <p:spPr>
          <a:xfrm>
            <a:off x="10354844" y="6611779"/>
            <a:ext cx="168509"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160" name="Rectangle 32"/>
          <p:cNvSpPr txBox="1">
            <a:spLocks noGrp="1"/>
          </p:cNvSpPr>
          <p:nvPr>
            <p:ph type="title"/>
          </p:nvPr>
        </p:nvSpPr>
        <p:spPr>
          <a:xfrm>
            <a:off x="1881018" y="130882"/>
            <a:ext cx="8473826" cy="628532"/>
          </a:xfrm>
          <a:prstGeom prst="rect">
            <a:avLst/>
          </a:prstGeom>
        </p:spPr>
        <p:txBody>
          <a:bodyPr/>
          <a:lstStyle/>
          <a:p>
            <a:r>
              <a:rPr dirty="0"/>
              <a:t>Memory Read Transaction (1)</a:t>
            </a:r>
          </a:p>
        </p:txBody>
      </p:sp>
      <p:sp>
        <p:nvSpPr>
          <p:cNvPr id="161" name="Rectangle 33"/>
          <p:cNvSpPr txBox="1">
            <a:spLocks noGrp="1"/>
          </p:cNvSpPr>
          <p:nvPr>
            <p:ph type="body" idx="1"/>
          </p:nvPr>
        </p:nvSpPr>
        <p:spPr>
          <a:prstGeom prst="rect">
            <a:avLst/>
          </a:prstGeom>
        </p:spPr>
        <p:txBody>
          <a:bodyPr/>
          <a:lstStyle/>
          <a:p>
            <a:r>
              <a:rPr dirty="0"/>
              <a:t>CPU places address A on the memory bus.</a:t>
            </a:r>
          </a:p>
        </p:txBody>
      </p:sp>
      <p:sp>
        <p:nvSpPr>
          <p:cNvPr id="162" name="Rectangle 4"/>
          <p:cNvSpPr/>
          <p:nvPr/>
        </p:nvSpPr>
        <p:spPr>
          <a:xfrm>
            <a:off x="8291513" y="3810000"/>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163" name="AutoShape 5"/>
          <p:cNvSpPr/>
          <p:nvPr/>
        </p:nvSpPr>
        <p:spPr>
          <a:xfrm>
            <a:off x="4476320" y="3945524"/>
            <a:ext cx="3805669" cy="533401"/>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164" name="Rectangle 8"/>
          <p:cNvSpPr/>
          <p:nvPr/>
        </p:nvSpPr>
        <p:spPr>
          <a:xfrm>
            <a:off x="3411539" y="26670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65" name="Rectangle 9"/>
          <p:cNvSpPr/>
          <p:nvPr/>
        </p:nvSpPr>
        <p:spPr>
          <a:xfrm>
            <a:off x="3411539" y="28194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66" name="Rectangle 10"/>
          <p:cNvSpPr/>
          <p:nvPr/>
        </p:nvSpPr>
        <p:spPr>
          <a:xfrm>
            <a:off x="3411539" y="29718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67" name="Rectangle 11"/>
          <p:cNvSpPr/>
          <p:nvPr/>
        </p:nvSpPr>
        <p:spPr>
          <a:xfrm>
            <a:off x="3411539" y="31242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68" name="Rectangle 12"/>
          <p:cNvSpPr/>
          <p:nvPr/>
        </p:nvSpPr>
        <p:spPr>
          <a:xfrm>
            <a:off x="3411539" y="32766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69" name="AutoShape 13"/>
          <p:cNvSpPr/>
          <p:nvPr/>
        </p:nvSpPr>
        <p:spPr>
          <a:xfrm>
            <a:off x="4184650" y="26670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170" name="AutoShape 14"/>
          <p:cNvSpPr/>
          <p:nvPr/>
        </p:nvSpPr>
        <p:spPr>
          <a:xfrm flipH="1">
            <a:off x="4095750" y="30480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173" name="Rectangle 15"/>
          <p:cNvGrpSpPr/>
          <p:nvPr/>
        </p:nvGrpSpPr>
        <p:grpSpPr>
          <a:xfrm>
            <a:off x="4629150" y="2514600"/>
            <a:ext cx="533400" cy="1066800"/>
            <a:chOff x="0" y="0"/>
            <a:chExt cx="533400" cy="1066800"/>
          </a:xfrm>
        </p:grpSpPr>
        <p:sp>
          <p:nvSpPr>
            <p:cNvPr id="171"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172" name="ALU"/>
            <p:cNvSpPr txBox="1"/>
            <p:nvPr/>
          </p:nvSpPr>
          <p:spPr>
            <a:xfrm>
              <a:off x="54431" y="364124"/>
              <a:ext cx="424537"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ALU</a:t>
              </a:r>
            </a:p>
          </p:txBody>
        </p:sp>
      </p:grpSp>
      <p:sp>
        <p:nvSpPr>
          <p:cNvPr id="174" name="Text Box 16"/>
          <p:cNvSpPr txBox="1"/>
          <p:nvPr/>
        </p:nvSpPr>
        <p:spPr>
          <a:xfrm>
            <a:off x="3239237" y="2345323"/>
            <a:ext cx="107009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alibri"/>
                <a:ea typeface="Calibri"/>
                <a:cs typeface="Calibri"/>
                <a:sym typeface="Calibri"/>
              </a:defRPr>
            </a:lvl1pPr>
          </a:lstStyle>
          <a:p>
            <a:r>
              <a:t>Register file</a:t>
            </a:r>
          </a:p>
        </p:txBody>
      </p:sp>
      <p:sp>
        <p:nvSpPr>
          <p:cNvPr id="175" name="AutoShape 17"/>
          <p:cNvSpPr/>
          <p:nvPr/>
        </p:nvSpPr>
        <p:spPr>
          <a:xfrm>
            <a:off x="3486151" y="35052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178" name="Rectangle 19"/>
          <p:cNvGrpSpPr/>
          <p:nvPr/>
        </p:nvGrpSpPr>
        <p:grpSpPr>
          <a:xfrm>
            <a:off x="2495550" y="3994150"/>
            <a:ext cx="1873250" cy="577850"/>
            <a:chOff x="0" y="0"/>
            <a:chExt cx="1873250" cy="577850"/>
          </a:xfrm>
        </p:grpSpPr>
        <p:sp>
          <p:nvSpPr>
            <p:cNvPr id="176"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177" name="Memory Controller"/>
            <p:cNvSpPr txBox="1"/>
            <p:nvPr/>
          </p:nvSpPr>
          <p:spPr>
            <a:xfrm>
              <a:off x="90273" y="119649"/>
              <a:ext cx="1692704"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Memory Controller</a:t>
              </a:r>
            </a:p>
          </p:txBody>
        </p:sp>
      </p:grpSp>
      <p:grpSp>
        <p:nvGrpSpPr>
          <p:cNvPr id="181" name="Group 1"/>
          <p:cNvGrpSpPr/>
          <p:nvPr/>
        </p:nvGrpSpPr>
        <p:grpSpPr>
          <a:xfrm>
            <a:off x="4324350" y="3809000"/>
            <a:ext cx="3962402" cy="382002"/>
            <a:chOff x="0" y="-18978"/>
            <a:chExt cx="3962401" cy="382000"/>
          </a:xfrm>
        </p:grpSpPr>
        <p:sp>
          <p:nvSpPr>
            <p:cNvPr id="179" name="Line 18"/>
            <p:cNvSpPr/>
            <p:nvPr/>
          </p:nvSpPr>
          <p:spPr>
            <a:xfrm>
              <a:off x="0" y="363021"/>
              <a:ext cx="3962401" cy="1"/>
            </a:xfrm>
            <a:prstGeom prst="line">
              <a:avLst/>
            </a:prstGeom>
            <a:noFill/>
            <a:ln w="76200" cap="flat">
              <a:solidFill>
                <a:srgbClr val="00FFFF"/>
              </a:solidFill>
              <a:prstDash val="solid"/>
              <a:round/>
              <a:tailEnd type="triangle" w="med" len="med"/>
            </a:ln>
            <a:effectLst/>
          </p:spPr>
          <p:txBody>
            <a:bodyPr wrap="square" lIns="45719" tIns="45719" rIns="45719" bIns="45719" numCol="1" anchor="t">
              <a:noAutofit/>
            </a:bodyPr>
            <a:lstStyle/>
            <a:p>
              <a:endParaRPr/>
            </a:p>
          </p:txBody>
        </p:sp>
        <p:sp>
          <p:nvSpPr>
            <p:cNvPr id="180" name="Text Box 20"/>
            <p:cNvSpPr txBox="1"/>
            <p:nvPr/>
          </p:nvSpPr>
          <p:spPr>
            <a:xfrm>
              <a:off x="3020311" y="-18978"/>
              <a:ext cx="210953" cy="3385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i="1">
                  <a:latin typeface="Calibri"/>
                  <a:ea typeface="Calibri"/>
                  <a:cs typeface="Calibri"/>
                  <a:sym typeface="Calibri"/>
                </a:defRPr>
              </a:lvl1pPr>
            </a:lstStyle>
            <a:p>
              <a:r>
                <a:t>A</a:t>
              </a:r>
            </a:p>
          </p:txBody>
        </p:sp>
      </p:grpSp>
      <p:sp>
        <p:nvSpPr>
          <p:cNvPr id="182" name="Text Box 21"/>
          <p:cNvSpPr txBox="1"/>
          <p:nvPr/>
        </p:nvSpPr>
        <p:spPr>
          <a:xfrm>
            <a:off x="9243695" y="3686761"/>
            <a:ext cx="19652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0</a:t>
            </a:r>
          </a:p>
        </p:txBody>
      </p:sp>
      <p:sp>
        <p:nvSpPr>
          <p:cNvPr id="183" name="Text Box 22"/>
          <p:cNvSpPr txBox="1"/>
          <p:nvPr/>
        </p:nvSpPr>
        <p:spPr>
          <a:xfrm>
            <a:off x="9302371" y="4189999"/>
            <a:ext cx="210953"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rPr lang="en-US" dirty="0"/>
              <a:t>A</a:t>
            </a:r>
            <a:endParaRPr dirty="0"/>
          </a:p>
        </p:txBody>
      </p:sp>
      <p:grpSp>
        <p:nvGrpSpPr>
          <p:cNvPr id="186" name="Rectangle 23"/>
          <p:cNvGrpSpPr/>
          <p:nvPr/>
        </p:nvGrpSpPr>
        <p:grpSpPr>
          <a:xfrm>
            <a:off x="8286750" y="4159223"/>
            <a:ext cx="914400" cy="400108"/>
            <a:chOff x="0" y="-59653"/>
            <a:chExt cx="914400" cy="400105"/>
          </a:xfrm>
        </p:grpSpPr>
        <p:sp>
          <p:nvSpPr>
            <p:cNvPr id="184" name="Rectangle"/>
            <p:cNvSpPr/>
            <p:nvPr/>
          </p:nvSpPr>
          <p:spPr>
            <a:xfrm>
              <a:off x="0" y="64199"/>
              <a:ext cx="914400"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185" name="x"/>
            <p:cNvSpPr txBox="1"/>
            <p:nvPr/>
          </p:nvSpPr>
          <p:spPr>
            <a:xfrm>
              <a:off x="355731" y="-59653"/>
              <a:ext cx="202939" cy="4001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sz="2000" dirty="0"/>
                <a:t>x</a:t>
              </a:r>
            </a:p>
          </p:txBody>
        </p:sp>
      </p:grpSp>
      <p:sp>
        <p:nvSpPr>
          <p:cNvPr id="187" name="Text Box 24"/>
          <p:cNvSpPr txBox="1"/>
          <p:nvPr/>
        </p:nvSpPr>
        <p:spPr>
          <a:xfrm>
            <a:off x="8076870" y="3472448"/>
            <a:ext cx="1269961"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alibri"/>
                <a:ea typeface="Calibri"/>
                <a:cs typeface="Calibri"/>
                <a:sym typeface="Calibri"/>
              </a:defRPr>
            </a:lvl1pPr>
          </a:lstStyle>
          <a:p>
            <a:r>
              <a:t>Main memory</a:t>
            </a:r>
          </a:p>
        </p:txBody>
      </p:sp>
      <p:sp>
        <p:nvSpPr>
          <p:cNvPr id="188" name="Text Box 26"/>
          <p:cNvSpPr txBox="1"/>
          <p:nvPr/>
        </p:nvSpPr>
        <p:spPr>
          <a:xfrm>
            <a:off x="2464318" y="2857169"/>
            <a:ext cx="83291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ourier New"/>
                <a:ea typeface="Courier New"/>
                <a:cs typeface="Courier New"/>
                <a:sym typeface="Courier New"/>
              </a:defRPr>
            </a:lvl1pPr>
          </a:lstStyle>
          <a:p>
            <a:r>
              <a:rPr lang="en-US" dirty="0"/>
              <a:t>X1-X31</a:t>
            </a:r>
            <a:endParaRPr dirty="0"/>
          </a:p>
        </p:txBody>
      </p:sp>
      <p:sp>
        <p:nvSpPr>
          <p:cNvPr id="189" name="Text Box 28"/>
          <p:cNvSpPr txBox="1"/>
          <p:nvPr/>
        </p:nvSpPr>
        <p:spPr>
          <a:xfrm>
            <a:off x="6198870" y="2438399"/>
            <a:ext cx="3545584" cy="4001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600">
                <a:solidFill>
                  <a:srgbClr val="C00000"/>
                </a:solidFill>
                <a:latin typeface="Calibri"/>
                <a:ea typeface="Calibri"/>
                <a:cs typeface="Calibri"/>
                <a:sym typeface="Calibri"/>
              </a:defRPr>
            </a:pPr>
            <a:r>
              <a:rPr sz="2000" dirty="0"/>
              <a:t>Load operation</a:t>
            </a:r>
            <a:r>
              <a:rPr sz="2000" dirty="0">
                <a:solidFill>
                  <a:srgbClr val="000000"/>
                </a:solidFill>
              </a:rPr>
              <a:t>: </a:t>
            </a:r>
            <a:r>
              <a:rPr lang="en-US" sz="2000" dirty="0">
                <a:solidFill>
                  <a:srgbClr val="000000"/>
                </a:solidFill>
              </a:rPr>
              <a:t> </a:t>
            </a:r>
            <a:r>
              <a:rPr lang="en-US" sz="2000" dirty="0">
                <a:solidFill>
                  <a:srgbClr val="000000"/>
                </a:solidFill>
                <a:latin typeface="Courier New"/>
                <a:cs typeface="Courier New"/>
                <a:sym typeface="Courier New"/>
              </a:rPr>
              <a:t>LW</a:t>
            </a:r>
            <a:r>
              <a:rPr sz="2000" dirty="0">
                <a:solidFill>
                  <a:srgbClr val="000000"/>
                </a:solidFill>
                <a:latin typeface="Courier New"/>
                <a:ea typeface="Courier New"/>
                <a:cs typeface="Courier New"/>
                <a:sym typeface="Courier New"/>
              </a:rPr>
              <a:t> </a:t>
            </a:r>
            <a:r>
              <a:rPr lang="en-US" sz="2000" dirty="0">
                <a:solidFill>
                  <a:srgbClr val="000000"/>
                </a:solidFill>
                <a:latin typeface="Courier New"/>
                <a:ea typeface="Courier New"/>
                <a:cs typeface="Courier New"/>
                <a:sym typeface="Courier New"/>
              </a:rPr>
              <a:t>X1</a:t>
            </a:r>
            <a:r>
              <a:rPr sz="2000" dirty="0">
                <a:solidFill>
                  <a:srgbClr val="000000"/>
                </a:solidFill>
                <a:latin typeface="Courier New"/>
                <a:ea typeface="Courier New"/>
                <a:cs typeface="Courier New"/>
                <a:sym typeface="Courier New"/>
              </a:rPr>
              <a:t>,</a:t>
            </a:r>
            <a:r>
              <a:rPr lang="en-US" sz="2000" dirty="0">
                <a:solidFill>
                  <a:srgbClr val="000000"/>
                </a:solidFill>
                <a:latin typeface="Courier New"/>
                <a:ea typeface="Courier New"/>
                <a:cs typeface="Courier New"/>
                <a:sym typeface="Courier New"/>
              </a:rPr>
              <a:t>4(X2)</a:t>
            </a:r>
            <a:endParaRPr sz="2000" dirty="0">
              <a:latin typeface="Courier New"/>
              <a:ea typeface="Courier New"/>
              <a:cs typeface="Courier New"/>
              <a:sym typeface="Courier New"/>
            </a:endParaRPr>
          </a:p>
        </p:txBody>
      </p:sp>
    </p:spTree>
    <p:extLst>
      <p:ext uri="{BB962C8B-B14F-4D97-AF65-F5344CB8AC3E}">
        <p14:creationId xmlns:p14="http://schemas.microsoft.com/office/powerpoint/2010/main" val="15281475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p:tmAbs val="0"/>
                                  </p:iterate>
                                  <p:childTnLst>
                                    <p:set>
                                      <p:cBhvr>
                                        <p:cTn id="6" fill="hold"/>
                                        <p:tgtEl>
                                          <p:spTgt spid="181"/>
                                        </p:tgtEl>
                                        <p:attrNameLst>
                                          <p:attrName>style.visibility</p:attrName>
                                        </p:attrNameLst>
                                      </p:cBhvr>
                                      <p:to>
                                        <p:strVal val="visible"/>
                                      </p:to>
                                    </p:set>
                                    <p:animEffect transition="in" filter="wipe(left)">
                                      <p:cBhvr>
                                        <p:cTn id="7" dur="10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Rectangle 5"/>
          <p:cNvSpPr txBox="1">
            <a:spLocks noGrp="1"/>
          </p:cNvSpPr>
          <p:nvPr>
            <p:ph type="sldNum" sz="quarter" idx="2"/>
          </p:nvPr>
        </p:nvSpPr>
        <p:spPr>
          <a:xfrm>
            <a:off x="9763651" y="4097179"/>
            <a:ext cx="168509"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192" name="Rectangle 28"/>
          <p:cNvSpPr txBox="1">
            <a:spLocks noGrp="1"/>
          </p:cNvSpPr>
          <p:nvPr>
            <p:ph type="title"/>
          </p:nvPr>
        </p:nvSpPr>
        <p:spPr>
          <a:xfrm>
            <a:off x="1736639" y="-52052"/>
            <a:ext cx="9072732" cy="1066799"/>
          </a:xfrm>
          <a:prstGeom prst="rect">
            <a:avLst/>
          </a:prstGeom>
        </p:spPr>
        <p:txBody>
          <a:bodyPr/>
          <a:lstStyle/>
          <a:p>
            <a:r>
              <a:rPr dirty="0"/>
              <a:t>Memory Read Transaction (2)</a:t>
            </a:r>
          </a:p>
        </p:txBody>
      </p:sp>
      <p:sp>
        <p:nvSpPr>
          <p:cNvPr id="193" name="Rectangle 29"/>
          <p:cNvSpPr txBox="1">
            <a:spLocks noGrp="1"/>
          </p:cNvSpPr>
          <p:nvPr>
            <p:ph type="body" idx="1"/>
          </p:nvPr>
        </p:nvSpPr>
        <p:spPr>
          <a:prstGeom prst="rect">
            <a:avLst/>
          </a:prstGeom>
        </p:spPr>
        <p:txBody>
          <a:bodyPr/>
          <a:lstStyle/>
          <a:p>
            <a:r>
              <a:rPr sz="3000" dirty="0"/>
              <a:t>Main memory reads A from the memory bus, retrieves word x, and places it on the bus.</a:t>
            </a:r>
          </a:p>
        </p:txBody>
      </p:sp>
      <p:sp>
        <p:nvSpPr>
          <p:cNvPr id="33" name="Rectangle 4">
            <a:extLst>
              <a:ext uri="{FF2B5EF4-FFF2-40B4-BE49-F238E27FC236}">
                <a16:creationId xmlns:a16="http://schemas.microsoft.com/office/drawing/2014/main" id="{6FF692D8-9BBC-4A69-B8B2-F3ECD396320E}"/>
              </a:ext>
            </a:extLst>
          </p:cNvPr>
          <p:cNvSpPr/>
          <p:nvPr/>
        </p:nvSpPr>
        <p:spPr>
          <a:xfrm>
            <a:off x="8020172" y="4255769"/>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34" name="AutoShape 5">
            <a:extLst>
              <a:ext uri="{FF2B5EF4-FFF2-40B4-BE49-F238E27FC236}">
                <a16:creationId xmlns:a16="http://schemas.microsoft.com/office/drawing/2014/main" id="{AD75CA3D-B0AA-4290-B0AB-7032A2A24DEF}"/>
              </a:ext>
            </a:extLst>
          </p:cNvPr>
          <p:cNvSpPr/>
          <p:nvPr/>
        </p:nvSpPr>
        <p:spPr>
          <a:xfrm>
            <a:off x="4204979" y="4391293"/>
            <a:ext cx="3805669" cy="533401"/>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35" name="Rectangle 8">
            <a:extLst>
              <a:ext uri="{FF2B5EF4-FFF2-40B4-BE49-F238E27FC236}">
                <a16:creationId xmlns:a16="http://schemas.microsoft.com/office/drawing/2014/main" id="{945D1353-1AC9-45EC-91D7-C80030D6429E}"/>
              </a:ext>
            </a:extLst>
          </p:cNvPr>
          <p:cNvSpPr/>
          <p:nvPr/>
        </p:nvSpPr>
        <p:spPr>
          <a:xfrm>
            <a:off x="3140198" y="3112769"/>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6" name="Rectangle 9">
            <a:extLst>
              <a:ext uri="{FF2B5EF4-FFF2-40B4-BE49-F238E27FC236}">
                <a16:creationId xmlns:a16="http://schemas.microsoft.com/office/drawing/2014/main" id="{956ED76B-1456-4815-9982-AF7B70C2D0A5}"/>
              </a:ext>
            </a:extLst>
          </p:cNvPr>
          <p:cNvSpPr/>
          <p:nvPr/>
        </p:nvSpPr>
        <p:spPr>
          <a:xfrm>
            <a:off x="3140198" y="3265169"/>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7" name="Rectangle 10">
            <a:extLst>
              <a:ext uri="{FF2B5EF4-FFF2-40B4-BE49-F238E27FC236}">
                <a16:creationId xmlns:a16="http://schemas.microsoft.com/office/drawing/2014/main" id="{D96D3DFB-8D95-46D2-BF86-C543FB3D6B3D}"/>
              </a:ext>
            </a:extLst>
          </p:cNvPr>
          <p:cNvSpPr/>
          <p:nvPr/>
        </p:nvSpPr>
        <p:spPr>
          <a:xfrm>
            <a:off x="3140198" y="3417569"/>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8" name="Rectangle 11">
            <a:extLst>
              <a:ext uri="{FF2B5EF4-FFF2-40B4-BE49-F238E27FC236}">
                <a16:creationId xmlns:a16="http://schemas.microsoft.com/office/drawing/2014/main" id="{9CD05F00-F5B7-4035-AB7E-313DD64B746E}"/>
              </a:ext>
            </a:extLst>
          </p:cNvPr>
          <p:cNvSpPr/>
          <p:nvPr/>
        </p:nvSpPr>
        <p:spPr>
          <a:xfrm>
            <a:off x="3140198" y="3569969"/>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9" name="Rectangle 12">
            <a:extLst>
              <a:ext uri="{FF2B5EF4-FFF2-40B4-BE49-F238E27FC236}">
                <a16:creationId xmlns:a16="http://schemas.microsoft.com/office/drawing/2014/main" id="{7F7EDE5A-655A-4F87-9192-38D00B713F97}"/>
              </a:ext>
            </a:extLst>
          </p:cNvPr>
          <p:cNvSpPr/>
          <p:nvPr/>
        </p:nvSpPr>
        <p:spPr>
          <a:xfrm>
            <a:off x="3140198" y="3722369"/>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40" name="AutoShape 13">
            <a:extLst>
              <a:ext uri="{FF2B5EF4-FFF2-40B4-BE49-F238E27FC236}">
                <a16:creationId xmlns:a16="http://schemas.microsoft.com/office/drawing/2014/main" id="{F645EEF8-5904-43E0-9486-54C48DB8AE70}"/>
              </a:ext>
            </a:extLst>
          </p:cNvPr>
          <p:cNvSpPr/>
          <p:nvPr/>
        </p:nvSpPr>
        <p:spPr>
          <a:xfrm>
            <a:off x="3913309" y="3112769"/>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41" name="AutoShape 14">
            <a:extLst>
              <a:ext uri="{FF2B5EF4-FFF2-40B4-BE49-F238E27FC236}">
                <a16:creationId xmlns:a16="http://schemas.microsoft.com/office/drawing/2014/main" id="{6157E724-7C54-4CA8-BDC4-7CC22BCFC984}"/>
              </a:ext>
            </a:extLst>
          </p:cNvPr>
          <p:cNvSpPr/>
          <p:nvPr/>
        </p:nvSpPr>
        <p:spPr>
          <a:xfrm flipH="1">
            <a:off x="3824409" y="3493769"/>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42" name="Rectangle 15">
            <a:extLst>
              <a:ext uri="{FF2B5EF4-FFF2-40B4-BE49-F238E27FC236}">
                <a16:creationId xmlns:a16="http://schemas.microsoft.com/office/drawing/2014/main" id="{15562706-D63B-48ED-AE5B-15EC526CF0D1}"/>
              </a:ext>
            </a:extLst>
          </p:cNvPr>
          <p:cNvGrpSpPr/>
          <p:nvPr/>
        </p:nvGrpSpPr>
        <p:grpSpPr>
          <a:xfrm>
            <a:off x="4357809" y="2960369"/>
            <a:ext cx="533400" cy="1066800"/>
            <a:chOff x="0" y="0"/>
            <a:chExt cx="533400" cy="1066800"/>
          </a:xfrm>
        </p:grpSpPr>
        <p:sp>
          <p:nvSpPr>
            <p:cNvPr id="43" name="Rectangle">
              <a:extLst>
                <a:ext uri="{FF2B5EF4-FFF2-40B4-BE49-F238E27FC236}">
                  <a16:creationId xmlns:a16="http://schemas.microsoft.com/office/drawing/2014/main" id="{639A8A7C-0FA0-4335-B91F-78FD3C72AD71}"/>
                </a:ext>
              </a:extLst>
            </p:cNvPr>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44" name="ALU">
              <a:extLst>
                <a:ext uri="{FF2B5EF4-FFF2-40B4-BE49-F238E27FC236}">
                  <a16:creationId xmlns:a16="http://schemas.microsoft.com/office/drawing/2014/main" id="{DF6EAE00-89A5-4F88-93AE-DB0D04A9A41B}"/>
                </a:ext>
              </a:extLst>
            </p:cNvPr>
            <p:cNvSpPr txBox="1"/>
            <p:nvPr/>
          </p:nvSpPr>
          <p:spPr>
            <a:xfrm>
              <a:off x="54431" y="364124"/>
              <a:ext cx="424537"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ALU</a:t>
              </a:r>
            </a:p>
          </p:txBody>
        </p:sp>
      </p:grpSp>
      <p:sp>
        <p:nvSpPr>
          <p:cNvPr id="45" name="Text Box 16">
            <a:extLst>
              <a:ext uri="{FF2B5EF4-FFF2-40B4-BE49-F238E27FC236}">
                <a16:creationId xmlns:a16="http://schemas.microsoft.com/office/drawing/2014/main" id="{06DDC65F-7B60-45E9-9D70-6FE11B8C45B4}"/>
              </a:ext>
            </a:extLst>
          </p:cNvPr>
          <p:cNvSpPr txBox="1"/>
          <p:nvPr/>
        </p:nvSpPr>
        <p:spPr>
          <a:xfrm>
            <a:off x="2967896" y="2791092"/>
            <a:ext cx="107009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alibri"/>
                <a:ea typeface="Calibri"/>
                <a:cs typeface="Calibri"/>
                <a:sym typeface="Calibri"/>
              </a:defRPr>
            </a:lvl1pPr>
          </a:lstStyle>
          <a:p>
            <a:r>
              <a:t>Register file</a:t>
            </a:r>
          </a:p>
        </p:txBody>
      </p:sp>
      <p:sp>
        <p:nvSpPr>
          <p:cNvPr id="46" name="AutoShape 17">
            <a:extLst>
              <a:ext uri="{FF2B5EF4-FFF2-40B4-BE49-F238E27FC236}">
                <a16:creationId xmlns:a16="http://schemas.microsoft.com/office/drawing/2014/main" id="{19E1CD06-EF99-4472-8502-7D8FE005FCD9}"/>
              </a:ext>
            </a:extLst>
          </p:cNvPr>
          <p:cNvSpPr/>
          <p:nvPr/>
        </p:nvSpPr>
        <p:spPr>
          <a:xfrm>
            <a:off x="3214810" y="3950970"/>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47" name="Rectangle 19">
            <a:extLst>
              <a:ext uri="{FF2B5EF4-FFF2-40B4-BE49-F238E27FC236}">
                <a16:creationId xmlns:a16="http://schemas.microsoft.com/office/drawing/2014/main" id="{8A61935B-B84A-44A3-A03D-2460568303E4}"/>
              </a:ext>
            </a:extLst>
          </p:cNvPr>
          <p:cNvGrpSpPr/>
          <p:nvPr/>
        </p:nvGrpSpPr>
        <p:grpSpPr>
          <a:xfrm>
            <a:off x="2224209" y="4439919"/>
            <a:ext cx="1873250" cy="577850"/>
            <a:chOff x="0" y="0"/>
            <a:chExt cx="1873250" cy="577850"/>
          </a:xfrm>
        </p:grpSpPr>
        <p:sp>
          <p:nvSpPr>
            <p:cNvPr id="48" name="Rectangle">
              <a:extLst>
                <a:ext uri="{FF2B5EF4-FFF2-40B4-BE49-F238E27FC236}">
                  <a16:creationId xmlns:a16="http://schemas.microsoft.com/office/drawing/2014/main" id="{F670B005-62CB-430A-8078-D008454E8CE0}"/>
                </a:ext>
              </a:extLst>
            </p:cNvPr>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49" name="Memory Controller">
              <a:extLst>
                <a:ext uri="{FF2B5EF4-FFF2-40B4-BE49-F238E27FC236}">
                  <a16:creationId xmlns:a16="http://schemas.microsoft.com/office/drawing/2014/main" id="{C4EED2CB-AD9B-4964-943D-726DF11BAB99}"/>
                </a:ext>
              </a:extLst>
            </p:cNvPr>
            <p:cNvSpPr txBox="1"/>
            <p:nvPr/>
          </p:nvSpPr>
          <p:spPr>
            <a:xfrm>
              <a:off x="90273" y="119649"/>
              <a:ext cx="1692704"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Memory Controller</a:t>
              </a:r>
            </a:p>
          </p:txBody>
        </p:sp>
      </p:grpSp>
      <p:sp>
        <p:nvSpPr>
          <p:cNvPr id="53" name="Text Box 21">
            <a:extLst>
              <a:ext uri="{FF2B5EF4-FFF2-40B4-BE49-F238E27FC236}">
                <a16:creationId xmlns:a16="http://schemas.microsoft.com/office/drawing/2014/main" id="{465AFB63-BB03-4AAB-87B0-3650662D46A4}"/>
              </a:ext>
            </a:extLst>
          </p:cNvPr>
          <p:cNvSpPr txBox="1"/>
          <p:nvPr/>
        </p:nvSpPr>
        <p:spPr>
          <a:xfrm>
            <a:off x="8972354" y="4132530"/>
            <a:ext cx="19652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0</a:t>
            </a:r>
          </a:p>
        </p:txBody>
      </p:sp>
      <p:sp>
        <p:nvSpPr>
          <p:cNvPr id="54" name="Text Box 22">
            <a:extLst>
              <a:ext uri="{FF2B5EF4-FFF2-40B4-BE49-F238E27FC236}">
                <a16:creationId xmlns:a16="http://schemas.microsoft.com/office/drawing/2014/main" id="{EDAEE6CE-6474-4241-B17A-8F80472238CB}"/>
              </a:ext>
            </a:extLst>
          </p:cNvPr>
          <p:cNvSpPr txBox="1"/>
          <p:nvPr/>
        </p:nvSpPr>
        <p:spPr>
          <a:xfrm>
            <a:off x="9031030" y="4635768"/>
            <a:ext cx="210953"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rPr lang="en-US" dirty="0"/>
              <a:t>A</a:t>
            </a:r>
            <a:endParaRPr dirty="0"/>
          </a:p>
        </p:txBody>
      </p:sp>
      <p:grpSp>
        <p:nvGrpSpPr>
          <p:cNvPr id="55" name="Rectangle 23">
            <a:extLst>
              <a:ext uri="{FF2B5EF4-FFF2-40B4-BE49-F238E27FC236}">
                <a16:creationId xmlns:a16="http://schemas.microsoft.com/office/drawing/2014/main" id="{F2226C4D-7A5F-4D54-BCE4-22E702AC1EBE}"/>
              </a:ext>
            </a:extLst>
          </p:cNvPr>
          <p:cNvGrpSpPr/>
          <p:nvPr/>
        </p:nvGrpSpPr>
        <p:grpSpPr>
          <a:xfrm>
            <a:off x="8015409" y="4604992"/>
            <a:ext cx="914400" cy="400108"/>
            <a:chOff x="0" y="-59653"/>
            <a:chExt cx="914400" cy="400105"/>
          </a:xfrm>
        </p:grpSpPr>
        <p:sp>
          <p:nvSpPr>
            <p:cNvPr id="56" name="Rectangle">
              <a:extLst>
                <a:ext uri="{FF2B5EF4-FFF2-40B4-BE49-F238E27FC236}">
                  <a16:creationId xmlns:a16="http://schemas.microsoft.com/office/drawing/2014/main" id="{7F76AFFC-62A1-4FA0-A965-8C5582542550}"/>
                </a:ext>
              </a:extLst>
            </p:cNvPr>
            <p:cNvSpPr/>
            <p:nvPr/>
          </p:nvSpPr>
          <p:spPr>
            <a:xfrm>
              <a:off x="0" y="64199"/>
              <a:ext cx="914400"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57" name="x">
              <a:extLst>
                <a:ext uri="{FF2B5EF4-FFF2-40B4-BE49-F238E27FC236}">
                  <a16:creationId xmlns:a16="http://schemas.microsoft.com/office/drawing/2014/main" id="{2ECE4FCA-44C5-4B53-B8AA-7EEE42F7CA1D}"/>
                </a:ext>
              </a:extLst>
            </p:cNvPr>
            <p:cNvSpPr txBox="1"/>
            <p:nvPr/>
          </p:nvSpPr>
          <p:spPr>
            <a:xfrm>
              <a:off x="355731" y="-59653"/>
              <a:ext cx="202939" cy="4001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sz="2000" dirty="0"/>
                <a:t>x</a:t>
              </a:r>
            </a:p>
          </p:txBody>
        </p:sp>
      </p:grpSp>
      <p:sp>
        <p:nvSpPr>
          <p:cNvPr id="58" name="Text Box 24">
            <a:extLst>
              <a:ext uri="{FF2B5EF4-FFF2-40B4-BE49-F238E27FC236}">
                <a16:creationId xmlns:a16="http://schemas.microsoft.com/office/drawing/2014/main" id="{6128AF61-F2A2-466F-9772-954C23367591}"/>
              </a:ext>
            </a:extLst>
          </p:cNvPr>
          <p:cNvSpPr txBox="1"/>
          <p:nvPr/>
        </p:nvSpPr>
        <p:spPr>
          <a:xfrm>
            <a:off x="7805529" y="3918217"/>
            <a:ext cx="1269961"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alibri"/>
                <a:ea typeface="Calibri"/>
                <a:cs typeface="Calibri"/>
                <a:sym typeface="Calibri"/>
              </a:defRPr>
            </a:lvl1pPr>
          </a:lstStyle>
          <a:p>
            <a:r>
              <a:t>Main memory</a:t>
            </a:r>
          </a:p>
        </p:txBody>
      </p:sp>
      <p:sp>
        <p:nvSpPr>
          <p:cNvPr id="59" name="Text Box 26">
            <a:extLst>
              <a:ext uri="{FF2B5EF4-FFF2-40B4-BE49-F238E27FC236}">
                <a16:creationId xmlns:a16="http://schemas.microsoft.com/office/drawing/2014/main" id="{17309FBB-163F-49B1-B042-C06D9B2DDCB9}"/>
              </a:ext>
            </a:extLst>
          </p:cNvPr>
          <p:cNvSpPr txBox="1"/>
          <p:nvPr/>
        </p:nvSpPr>
        <p:spPr>
          <a:xfrm>
            <a:off x="2192977" y="3302938"/>
            <a:ext cx="83291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ourier New"/>
                <a:ea typeface="Courier New"/>
                <a:cs typeface="Courier New"/>
                <a:sym typeface="Courier New"/>
              </a:defRPr>
            </a:lvl1pPr>
          </a:lstStyle>
          <a:p>
            <a:r>
              <a:rPr lang="en-US" dirty="0"/>
              <a:t>X1-X31</a:t>
            </a:r>
            <a:endParaRPr dirty="0"/>
          </a:p>
        </p:txBody>
      </p:sp>
      <p:sp>
        <p:nvSpPr>
          <p:cNvPr id="60" name="Text Box 28">
            <a:extLst>
              <a:ext uri="{FF2B5EF4-FFF2-40B4-BE49-F238E27FC236}">
                <a16:creationId xmlns:a16="http://schemas.microsoft.com/office/drawing/2014/main" id="{BFD370A4-B9B3-4F6C-BD57-B8E3008BAC8F}"/>
              </a:ext>
            </a:extLst>
          </p:cNvPr>
          <p:cNvSpPr txBox="1"/>
          <p:nvPr/>
        </p:nvSpPr>
        <p:spPr>
          <a:xfrm>
            <a:off x="5927529" y="2884168"/>
            <a:ext cx="3545584" cy="4001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600">
                <a:solidFill>
                  <a:srgbClr val="C00000"/>
                </a:solidFill>
                <a:latin typeface="Calibri"/>
                <a:ea typeface="Calibri"/>
                <a:cs typeface="Calibri"/>
                <a:sym typeface="Calibri"/>
              </a:defRPr>
            </a:pPr>
            <a:r>
              <a:rPr sz="2000" dirty="0"/>
              <a:t>Load operation</a:t>
            </a:r>
            <a:r>
              <a:rPr sz="2000" dirty="0">
                <a:solidFill>
                  <a:srgbClr val="000000"/>
                </a:solidFill>
              </a:rPr>
              <a:t>: </a:t>
            </a:r>
            <a:r>
              <a:rPr lang="en-US" sz="2000" dirty="0">
                <a:solidFill>
                  <a:srgbClr val="000000"/>
                </a:solidFill>
              </a:rPr>
              <a:t> </a:t>
            </a:r>
            <a:r>
              <a:rPr lang="en-US" sz="2000" dirty="0">
                <a:solidFill>
                  <a:srgbClr val="000000"/>
                </a:solidFill>
                <a:latin typeface="Courier New"/>
                <a:cs typeface="Courier New"/>
                <a:sym typeface="Courier New"/>
              </a:rPr>
              <a:t>LW</a:t>
            </a:r>
            <a:r>
              <a:rPr sz="2000" dirty="0">
                <a:solidFill>
                  <a:srgbClr val="000000"/>
                </a:solidFill>
                <a:latin typeface="Courier New"/>
                <a:ea typeface="Courier New"/>
                <a:cs typeface="Courier New"/>
                <a:sym typeface="Courier New"/>
              </a:rPr>
              <a:t> </a:t>
            </a:r>
            <a:r>
              <a:rPr lang="en-US" sz="2000" dirty="0">
                <a:solidFill>
                  <a:srgbClr val="000000"/>
                </a:solidFill>
                <a:latin typeface="Courier New"/>
                <a:ea typeface="Courier New"/>
                <a:cs typeface="Courier New"/>
                <a:sym typeface="Courier New"/>
              </a:rPr>
              <a:t>X1</a:t>
            </a:r>
            <a:r>
              <a:rPr sz="2000" dirty="0">
                <a:solidFill>
                  <a:srgbClr val="000000"/>
                </a:solidFill>
                <a:latin typeface="Courier New"/>
                <a:ea typeface="Courier New"/>
                <a:cs typeface="Courier New"/>
                <a:sym typeface="Courier New"/>
              </a:rPr>
              <a:t>,</a:t>
            </a:r>
            <a:r>
              <a:rPr lang="en-US" sz="2000" dirty="0">
                <a:solidFill>
                  <a:srgbClr val="000000"/>
                </a:solidFill>
                <a:latin typeface="Courier New"/>
                <a:ea typeface="Courier New"/>
                <a:cs typeface="Courier New"/>
                <a:sym typeface="Courier New"/>
              </a:rPr>
              <a:t>4(X2)</a:t>
            </a:r>
            <a:endParaRPr sz="2000" dirty="0">
              <a:latin typeface="Courier New"/>
              <a:ea typeface="Courier New"/>
              <a:cs typeface="Courier New"/>
              <a:sym typeface="Courier New"/>
            </a:endParaRPr>
          </a:p>
        </p:txBody>
      </p:sp>
      <p:cxnSp>
        <p:nvCxnSpPr>
          <p:cNvPr id="3" name="Straight Arrow Connector 2">
            <a:extLst>
              <a:ext uri="{FF2B5EF4-FFF2-40B4-BE49-F238E27FC236}">
                <a16:creationId xmlns:a16="http://schemas.microsoft.com/office/drawing/2014/main" id="{20B1C071-D588-4CC6-BA81-52E37B16145B}"/>
              </a:ext>
            </a:extLst>
          </p:cNvPr>
          <p:cNvCxnSpPr/>
          <p:nvPr/>
        </p:nvCxnSpPr>
        <p:spPr bwMode="auto">
          <a:xfrm flipH="1">
            <a:off x="4357809" y="4657993"/>
            <a:ext cx="3447720" cy="0"/>
          </a:xfrm>
          <a:prstGeom prst="straightConnector1">
            <a:avLst/>
          </a:prstGeom>
          <a:noFill/>
          <a:ln w="57150" cap="flat" cmpd="sng" algn="ctr">
            <a:solidFill>
              <a:schemeClr val="accent1"/>
            </a:solidFill>
            <a:prstDash val="solid"/>
            <a:round/>
            <a:headEnd type="none" w="med" len="med"/>
            <a:tailEnd type="triangle"/>
          </a:ln>
          <a:effectLst/>
        </p:spPr>
      </p:cxnSp>
    </p:spTree>
    <p:extLst>
      <p:ext uri="{BB962C8B-B14F-4D97-AF65-F5344CB8AC3E}">
        <p14:creationId xmlns:p14="http://schemas.microsoft.com/office/powerpoint/2010/main" val="126316235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Rectangle 5"/>
          <p:cNvSpPr txBox="1">
            <a:spLocks noGrp="1"/>
          </p:cNvSpPr>
          <p:nvPr>
            <p:ph type="sldNum" sz="quarter" idx="2"/>
          </p:nvPr>
        </p:nvSpPr>
        <p:spPr>
          <a:xfrm>
            <a:off x="10354844" y="6611779"/>
            <a:ext cx="168509"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
        <p:nvSpPr>
          <p:cNvPr id="224" name="Rectangle 27"/>
          <p:cNvSpPr txBox="1">
            <a:spLocks noGrp="1"/>
          </p:cNvSpPr>
          <p:nvPr>
            <p:ph type="title"/>
          </p:nvPr>
        </p:nvSpPr>
        <p:spPr>
          <a:xfrm>
            <a:off x="1765015" y="-26195"/>
            <a:ext cx="9130283" cy="762001"/>
          </a:xfrm>
          <a:prstGeom prst="rect">
            <a:avLst/>
          </a:prstGeom>
        </p:spPr>
        <p:txBody>
          <a:bodyPr/>
          <a:lstStyle/>
          <a:p>
            <a:r>
              <a:rPr dirty="0"/>
              <a:t>Memory Read Transaction (3)</a:t>
            </a:r>
          </a:p>
        </p:txBody>
      </p:sp>
      <p:sp>
        <p:nvSpPr>
          <p:cNvPr id="225" name="Rectangle 28"/>
          <p:cNvSpPr txBox="1">
            <a:spLocks noGrp="1"/>
          </p:cNvSpPr>
          <p:nvPr>
            <p:ph type="body" idx="1"/>
          </p:nvPr>
        </p:nvSpPr>
        <p:spPr>
          <a:prstGeom prst="rect">
            <a:avLst/>
          </a:prstGeom>
        </p:spPr>
        <p:txBody>
          <a:bodyPr/>
          <a:lstStyle/>
          <a:p>
            <a:r>
              <a:rPr dirty="0"/>
              <a:t>CPU reads word x from the bus and copies it into register </a:t>
            </a:r>
            <a:r>
              <a:rPr lang="en-US" dirty="0">
                <a:latin typeface="Courier New"/>
                <a:cs typeface="Courier New"/>
                <a:sym typeface="Courier New"/>
              </a:rPr>
              <a:t>X1</a:t>
            </a:r>
            <a:r>
              <a:rPr dirty="0"/>
              <a:t>.</a:t>
            </a:r>
          </a:p>
        </p:txBody>
      </p:sp>
      <p:sp>
        <p:nvSpPr>
          <p:cNvPr id="226" name="AutoShape 4"/>
          <p:cNvSpPr/>
          <p:nvPr/>
        </p:nvSpPr>
        <p:spPr>
          <a:xfrm>
            <a:off x="4395788" y="3962400"/>
            <a:ext cx="3868738" cy="533400"/>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227" name="Rectangle 7"/>
          <p:cNvSpPr/>
          <p:nvPr/>
        </p:nvSpPr>
        <p:spPr>
          <a:xfrm>
            <a:off x="3416300" y="26670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28" name="Rectangle 8"/>
          <p:cNvSpPr/>
          <p:nvPr/>
        </p:nvSpPr>
        <p:spPr>
          <a:xfrm>
            <a:off x="3416300" y="28194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29" name="Rectangle 9"/>
          <p:cNvSpPr/>
          <p:nvPr/>
        </p:nvSpPr>
        <p:spPr>
          <a:xfrm>
            <a:off x="3416300" y="29718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30" name="Rectangle 10"/>
          <p:cNvSpPr/>
          <p:nvPr/>
        </p:nvSpPr>
        <p:spPr>
          <a:xfrm>
            <a:off x="3416300" y="3124200"/>
            <a:ext cx="684215" cy="152400"/>
          </a:xfrm>
          <a:prstGeom prst="rect">
            <a:avLst/>
          </a:prstGeom>
          <a:ln w="12700">
            <a:solidFill>
              <a:srgbClr val="000000"/>
            </a:solidFill>
            <a:miter/>
          </a:ln>
        </p:spPr>
        <p:txBody>
          <a:bodyPr lIns="45719" rIns="45719" anchor="ctr"/>
          <a:lstStyle/>
          <a:p>
            <a:pPr algn="ctr">
              <a:defRPr sz="1000" i="1">
                <a:latin typeface="Calibri"/>
                <a:ea typeface="Calibri"/>
                <a:cs typeface="Calibri"/>
                <a:sym typeface="Calibri"/>
              </a:defRPr>
            </a:pPr>
            <a:endParaRPr sz="1000"/>
          </a:p>
        </p:txBody>
      </p:sp>
      <p:sp>
        <p:nvSpPr>
          <p:cNvPr id="231" name="Rectangle 11"/>
          <p:cNvSpPr/>
          <p:nvPr/>
        </p:nvSpPr>
        <p:spPr>
          <a:xfrm>
            <a:off x="3416300" y="32766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32" name="AutoShape 12"/>
          <p:cNvSpPr/>
          <p:nvPr/>
        </p:nvSpPr>
        <p:spPr>
          <a:xfrm>
            <a:off x="4189414" y="266700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33" name="AutoShape 13"/>
          <p:cNvSpPr/>
          <p:nvPr/>
        </p:nvSpPr>
        <p:spPr>
          <a:xfrm flipH="1">
            <a:off x="4100514" y="304800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236" name="Rectangle 14"/>
          <p:cNvGrpSpPr/>
          <p:nvPr/>
        </p:nvGrpSpPr>
        <p:grpSpPr>
          <a:xfrm>
            <a:off x="4633914" y="2514600"/>
            <a:ext cx="533401" cy="1066800"/>
            <a:chOff x="0" y="0"/>
            <a:chExt cx="533400" cy="1066800"/>
          </a:xfrm>
        </p:grpSpPr>
        <p:sp>
          <p:nvSpPr>
            <p:cNvPr id="234"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235" name="ALU"/>
            <p:cNvSpPr txBox="1"/>
            <p:nvPr/>
          </p:nvSpPr>
          <p:spPr>
            <a:xfrm>
              <a:off x="52069" y="364124"/>
              <a:ext cx="424537"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600">
                  <a:latin typeface="Calibri"/>
                  <a:ea typeface="Calibri"/>
                  <a:cs typeface="Calibri"/>
                  <a:sym typeface="Calibri"/>
                </a:defRPr>
              </a:lvl1pPr>
            </a:lstStyle>
            <a:p>
              <a:r>
                <a:t>ALU</a:t>
              </a:r>
            </a:p>
          </p:txBody>
        </p:sp>
      </p:grpSp>
      <p:sp>
        <p:nvSpPr>
          <p:cNvPr id="237" name="Text Box 15"/>
          <p:cNvSpPr txBox="1"/>
          <p:nvPr/>
        </p:nvSpPr>
        <p:spPr>
          <a:xfrm>
            <a:off x="3258821" y="2345323"/>
            <a:ext cx="107009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Register file</a:t>
            </a:r>
          </a:p>
        </p:txBody>
      </p:sp>
      <p:sp>
        <p:nvSpPr>
          <p:cNvPr id="238" name="AutoShape 16"/>
          <p:cNvSpPr/>
          <p:nvPr/>
        </p:nvSpPr>
        <p:spPr>
          <a:xfrm>
            <a:off x="3490914" y="35052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241" name="Rectangle 17"/>
          <p:cNvGrpSpPr/>
          <p:nvPr/>
        </p:nvGrpSpPr>
        <p:grpSpPr>
          <a:xfrm>
            <a:off x="2500313" y="3994150"/>
            <a:ext cx="1873251" cy="577850"/>
            <a:chOff x="0" y="0"/>
            <a:chExt cx="1873250" cy="577850"/>
          </a:xfrm>
        </p:grpSpPr>
        <p:sp>
          <p:nvSpPr>
            <p:cNvPr id="239"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240" name="Memory Controller"/>
            <p:cNvSpPr txBox="1"/>
            <p:nvPr/>
          </p:nvSpPr>
          <p:spPr>
            <a:xfrm>
              <a:off x="90273" y="119649"/>
              <a:ext cx="1692703"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Memory Controller</a:t>
              </a:r>
            </a:p>
          </p:txBody>
        </p:sp>
      </p:grpSp>
      <p:sp>
        <p:nvSpPr>
          <p:cNvPr id="242" name="Line 18"/>
          <p:cNvSpPr/>
          <p:nvPr/>
        </p:nvSpPr>
        <p:spPr>
          <a:xfrm flipV="1">
            <a:off x="3795714" y="3276600"/>
            <a:ext cx="1" cy="762001"/>
          </a:xfrm>
          <a:prstGeom prst="line">
            <a:avLst/>
          </a:prstGeom>
          <a:ln w="76200">
            <a:solidFill>
              <a:schemeClr val="tx2"/>
            </a:solidFill>
            <a:tailEnd type="triangle"/>
          </a:ln>
        </p:spPr>
        <p:txBody>
          <a:bodyPr lIns="45719" rIns="45719"/>
          <a:lstStyle/>
          <a:p>
            <a:endParaRPr/>
          </a:p>
        </p:txBody>
      </p:sp>
      <p:sp>
        <p:nvSpPr>
          <p:cNvPr id="243" name="Rectangle 19"/>
          <p:cNvSpPr/>
          <p:nvPr/>
        </p:nvSpPr>
        <p:spPr>
          <a:xfrm>
            <a:off x="8296275" y="3810000"/>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grpSp>
        <p:nvGrpSpPr>
          <p:cNvPr id="246" name="Rectangle 20"/>
          <p:cNvGrpSpPr/>
          <p:nvPr/>
        </p:nvGrpSpPr>
        <p:grpSpPr>
          <a:xfrm>
            <a:off x="8291514" y="4205389"/>
            <a:ext cx="914401" cy="307775"/>
            <a:chOff x="0" y="-13487"/>
            <a:chExt cx="914400" cy="307773"/>
          </a:xfrm>
        </p:grpSpPr>
        <p:sp>
          <p:nvSpPr>
            <p:cNvPr id="244" name="Rectangle"/>
            <p:cNvSpPr/>
            <p:nvPr/>
          </p:nvSpPr>
          <p:spPr>
            <a:xfrm>
              <a:off x="0" y="64199"/>
              <a:ext cx="914400"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p>
          </p:txBody>
        </p:sp>
        <p:sp>
          <p:nvSpPr>
            <p:cNvPr id="245" name="x"/>
            <p:cNvSpPr txBox="1"/>
            <p:nvPr/>
          </p:nvSpPr>
          <p:spPr>
            <a:xfrm>
              <a:off x="371761" y="-13487"/>
              <a:ext cx="170878" cy="307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400" i="1">
                  <a:latin typeface="Calibri"/>
                  <a:ea typeface="Calibri"/>
                  <a:cs typeface="Calibri"/>
                  <a:sym typeface="Calibri"/>
                </a:defRPr>
              </a:lvl1pPr>
            </a:lstStyle>
            <a:p>
              <a:r>
                <a:t>x</a:t>
              </a:r>
            </a:p>
          </p:txBody>
        </p:sp>
      </p:grpSp>
      <p:sp>
        <p:nvSpPr>
          <p:cNvPr id="247" name="Text Box 21"/>
          <p:cNvSpPr txBox="1"/>
          <p:nvPr/>
        </p:nvSpPr>
        <p:spPr>
          <a:xfrm>
            <a:off x="8046720" y="3471446"/>
            <a:ext cx="140765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600">
                <a:latin typeface="Calibri"/>
                <a:ea typeface="Calibri"/>
                <a:cs typeface="Calibri"/>
                <a:sym typeface="Calibri"/>
              </a:defRPr>
            </a:lvl1pPr>
          </a:lstStyle>
          <a:p>
            <a:r>
              <a:t>Main memory</a:t>
            </a:r>
          </a:p>
        </p:txBody>
      </p:sp>
      <p:sp>
        <p:nvSpPr>
          <p:cNvPr id="248" name="Text Box 22"/>
          <p:cNvSpPr txBox="1"/>
          <p:nvPr/>
        </p:nvSpPr>
        <p:spPr>
          <a:xfrm>
            <a:off x="9248459" y="3670886"/>
            <a:ext cx="19652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0</a:t>
            </a:r>
          </a:p>
        </p:txBody>
      </p:sp>
      <p:sp>
        <p:nvSpPr>
          <p:cNvPr id="249" name="Text Box 23"/>
          <p:cNvSpPr txBox="1"/>
          <p:nvPr/>
        </p:nvSpPr>
        <p:spPr>
          <a:xfrm>
            <a:off x="9232584" y="4174123"/>
            <a:ext cx="210953"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A</a:t>
            </a:r>
          </a:p>
        </p:txBody>
      </p:sp>
      <p:sp>
        <p:nvSpPr>
          <p:cNvPr id="250" name="Text Box 24"/>
          <p:cNvSpPr txBox="1"/>
          <p:nvPr/>
        </p:nvSpPr>
        <p:spPr>
          <a:xfrm>
            <a:off x="2503899" y="2904331"/>
            <a:ext cx="83291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ourier New"/>
                <a:ea typeface="Courier New"/>
                <a:cs typeface="Courier New"/>
                <a:sym typeface="Courier New"/>
              </a:defRPr>
            </a:lvl1pPr>
          </a:lstStyle>
          <a:p>
            <a:r>
              <a:rPr lang="en-US" dirty="0"/>
              <a:t>X1-X31</a:t>
            </a:r>
            <a:endParaRPr dirty="0"/>
          </a:p>
        </p:txBody>
      </p:sp>
      <p:sp>
        <p:nvSpPr>
          <p:cNvPr id="251" name="Text Box 26"/>
          <p:cNvSpPr txBox="1"/>
          <p:nvPr/>
        </p:nvSpPr>
        <p:spPr>
          <a:xfrm>
            <a:off x="6217920" y="2438400"/>
            <a:ext cx="3301799" cy="4001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600">
                <a:solidFill>
                  <a:srgbClr val="C00000"/>
                </a:solidFill>
                <a:latin typeface="Calibri"/>
                <a:ea typeface="Calibri"/>
                <a:cs typeface="Calibri"/>
                <a:sym typeface="Calibri"/>
              </a:defRPr>
            </a:pPr>
            <a:r>
              <a:rPr sz="1600" dirty="0"/>
              <a:t>Load operation</a:t>
            </a:r>
            <a:r>
              <a:rPr sz="1600" dirty="0">
                <a:solidFill>
                  <a:srgbClr val="000000"/>
                </a:solidFill>
              </a:rPr>
              <a:t>:</a:t>
            </a:r>
            <a:r>
              <a:rPr kumimoji="0" lang="en-US" sz="2000" b="0" i="0" u="none" strike="noStrike" kern="1200" cap="none" spc="0" normalizeH="0" baseline="0" noProof="0" dirty="0">
                <a:ln>
                  <a:noFill/>
                </a:ln>
                <a:solidFill>
                  <a:srgbClr val="000000"/>
                </a:solidFill>
                <a:effectLst/>
                <a:uLnTx/>
                <a:uFillTx/>
                <a:latin typeface="Courier New"/>
                <a:ea typeface="新細明體"/>
                <a:cs typeface="Courier New"/>
                <a:sym typeface="Courier New"/>
              </a:rPr>
              <a:t> LW</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X1,4(X2)</a:t>
            </a:r>
            <a:r>
              <a:rPr lang="en-US" sz="1600" dirty="0">
                <a:solidFill>
                  <a:srgbClr val="000000"/>
                </a:solidFill>
              </a:rPr>
              <a:t> </a:t>
            </a:r>
            <a:endParaRPr sz="1600" dirty="0">
              <a:solidFill>
                <a:srgbClr val="000000"/>
              </a:solidFill>
              <a:latin typeface="Courier New"/>
              <a:ea typeface="Courier New"/>
              <a:cs typeface="Courier New"/>
              <a:sym typeface="Courier New"/>
            </a:endParaRPr>
          </a:p>
        </p:txBody>
      </p:sp>
      <p:grpSp>
        <p:nvGrpSpPr>
          <p:cNvPr id="254" name="Rectangle 10"/>
          <p:cNvGrpSpPr/>
          <p:nvPr/>
        </p:nvGrpSpPr>
        <p:grpSpPr>
          <a:xfrm>
            <a:off x="3416299" y="3040516"/>
            <a:ext cx="684216" cy="307775"/>
            <a:chOff x="0" y="-13487"/>
            <a:chExt cx="684214" cy="307773"/>
          </a:xfrm>
        </p:grpSpPr>
        <p:sp>
          <p:nvSpPr>
            <p:cNvPr id="252" name="Rectangle"/>
            <p:cNvSpPr/>
            <p:nvPr/>
          </p:nvSpPr>
          <p:spPr>
            <a:xfrm>
              <a:off x="0" y="64199"/>
              <a:ext cx="684214"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p>
          </p:txBody>
        </p:sp>
        <p:sp>
          <p:nvSpPr>
            <p:cNvPr id="253" name="x"/>
            <p:cNvSpPr txBox="1"/>
            <p:nvPr/>
          </p:nvSpPr>
          <p:spPr>
            <a:xfrm>
              <a:off x="256668" y="-13487"/>
              <a:ext cx="170878" cy="307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400" i="1">
                  <a:latin typeface="Calibri"/>
                  <a:ea typeface="Calibri"/>
                  <a:cs typeface="Calibri"/>
                  <a:sym typeface="Calibri"/>
                </a:defRPr>
              </a:lvl1pPr>
            </a:lstStyle>
            <a:p>
              <a:r>
                <a:t>x</a:t>
              </a:r>
            </a:p>
          </p:txBody>
        </p:sp>
      </p:grpSp>
    </p:spTree>
    <p:extLst>
      <p:ext uri="{BB962C8B-B14F-4D97-AF65-F5344CB8AC3E}">
        <p14:creationId xmlns:p14="http://schemas.microsoft.com/office/powerpoint/2010/main" val="137975544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iterate>
                                    <p:tmAbs val="0"/>
                                  </p:iterate>
                                  <p:childTnLst>
                                    <p:set>
                                      <p:cBhvr>
                                        <p:cTn id="6" fill="hold"/>
                                        <p:tgtEl>
                                          <p:spTgt spid="242"/>
                                        </p:tgtEl>
                                        <p:attrNameLst>
                                          <p:attrName>style.visibility</p:attrName>
                                        </p:attrNameLst>
                                      </p:cBhvr>
                                      <p:to>
                                        <p:strVal val="visible"/>
                                      </p:to>
                                    </p:set>
                                    <p:animEffect transition="in" filter="wipe(down)">
                                      <p:cBhvr>
                                        <p:cTn id="7" dur="500"/>
                                        <p:tgtEl>
                                          <p:spTgt spid="242"/>
                                        </p:tgtEl>
                                      </p:cBhvr>
                                    </p:animEffect>
                                  </p:childTnLst>
                                </p:cTn>
                              </p:par>
                            </p:childTnLst>
                          </p:cTn>
                        </p:par>
                        <p:par>
                          <p:cTn id="8" fill="hold">
                            <p:stCondLst>
                              <p:cond delay="500"/>
                            </p:stCondLst>
                            <p:childTnLst>
                              <p:par>
                                <p:cTn id="9" presetID="1" presetClass="entr" presetSubtype="0" fill="hold" grpId="0" nodeType="afterEffect">
                                  <p:stCondLst>
                                    <p:cond delay="0"/>
                                  </p:stCondLst>
                                  <p:iterate>
                                    <p:tmAbs val="0"/>
                                  </p:iterate>
                                  <p:childTnLst>
                                    <p:set>
                                      <p:cBhvr>
                                        <p:cTn id="10" fill="hold"/>
                                        <p:tgtEl>
                                          <p:spTgt spid="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animBg="1" advAuto="0"/>
      <p:bldP spid="254" grpId="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Rectangle 5"/>
          <p:cNvSpPr txBox="1">
            <a:spLocks noGrp="1"/>
          </p:cNvSpPr>
          <p:nvPr>
            <p:ph type="sldNum" sz="quarter" idx="2"/>
          </p:nvPr>
        </p:nvSpPr>
        <p:spPr>
          <a:xfrm>
            <a:off x="10354844" y="6611779"/>
            <a:ext cx="168509"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
        <p:nvSpPr>
          <p:cNvPr id="257" name="Rectangle 28"/>
          <p:cNvSpPr txBox="1">
            <a:spLocks noGrp="1"/>
          </p:cNvSpPr>
          <p:nvPr>
            <p:ph type="title"/>
          </p:nvPr>
        </p:nvSpPr>
        <p:spPr>
          <a:xfrm>
            <a:off x="1581373" y="88313"/>
            <a:ext cx="8294148" cy="762001"/>
          </a:xfrm>
          <a:prstGeom prst="rect">
            <a:avLst/>
          </a:prstGeom>
        </p:spPr>
        <p:txBody>
          <a:bodyPr/>
          <a:lstStyle/>
          <a:p>
            <a:r>
              <a:rPr dirty="0"/>
              <a:t>Memory Write Transaction (1)</a:t>
            </a:r>
          </a:p>
        </p:txBody>
      </p:sp>
      <p:sp>
        <p:nvSpPr>
          <p:cNvPr id="258" name="Rectangle 29"/>
          <p:cNvSpPr txBox="1">
            <a:spLocks noGrp="1"/>
          </p:cNvSpPr>
          <p:nvPr>
            <p:ph type="body" idx="1"/>
          </p:nvPr>
        </p:nvSpPr>
        <p:spPr>
          <a:prstGeom prst="rect">
            <a:avLst/>
          </a:prstGeom>
        </p:spPr>
        <p:txBody>
          <a:bodyPr/>
          <a:lstStyle/>
          <a:p>
            <a:r>
              <a:rPr sz="3000" dirty="0"/>
              <a:t>CPU places address A on bus. Main memory reads it and waits for the corresponding data word to arrive.</a:t>
            </a:r>
          </a:p>
        </p:txBody>
      </p:sp>
      <p:sp>
        <p:nvSpPr>
          <p:cNvPr id="259" name="AutoShape 4"/>
          <p:cNvSpPr/>
          <p:nvPr/>
        </p:nvSpPr>
        <p:spPr>
          <a:xfrm>
            <a:off x="4378325" y="3962400"/>
            <a:ext cx="3886200" cy="533400"/>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260" name="Rectangle 7"/>
          <p:cNvSpPr/>
          <p:nvPr/>
        </p:nvSpPr>
        <p:spPr>
          <a:xfrm>
            <a:off x="3416300" y="26670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61" name="Rectangle 8"/>
          <p:cNvSpPr/>
          <p:nvPr/>
        </p:nvSpPr>
        <p:spPr>
          <a:xfrm>
            <a:off x="3416300" y="28194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62" name="Rectangle 9"/>
          <p:cNvSpPr/>
          <p:nvPr/>
        </p:nvSpPr>
        <p:spPr>
          <a:xfrm>
            <a:off x="3416300" y="29718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265" name="Rectangle 10"/>
          <p:cNvGrpSpPr/>
          <p:nvPr/>
        </p:nvGrpSpPr>
        <p:grpSpPr>
          <a:xfrm>
            <a:off x="3416299" y="3046514"/>
            <a:ext cx="684216" cy="307775"/>
            <a:chOff x="0" y="-13487"/>
            <a:chExt cx="684214" cy="307773"/>
          </a:xfrm>
        </p:grpSpPr>
        <p:sp>
          <p:nvSpPr>
            <p:cNvPr id="263" name="Rectangle"/>
            <p:cNvSpPr/>
            <p:nvPr/>
          </p:nvSpPr>
          <p:spPr>
            <a:xfrm>
              <a:off x="0" y="64199"/>
              <a:ext cx="684214"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p>
          </p:txBody>
        </p:sp>
        <p:sp>
          <p:nvSpPr>
            <p:cNvPr id="264" name="y"/>
            <p:cNvSpPr txBox="1"/>
            <p:nvPr/>
          </p:nvSpPr>
          <p:spPr>
            <a:xfrm>
              <a:off x="255866" y="-13487"/>
              <a:ext cx="172480" cy="307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400" i="1">
                  <a:latin typeface="Calibri"/>
                  <a:ea typeface="Calibri"/>
                  <a:cs typeface="Calibri"/>
                  <a:sym typeface="Calibri"/>
                </a:defRPr>
              </a:lvl1pPr>
            </a:lstStyle>
            <a:p>
              <a:r>
                <a:t>y</a:t>
              </a:r>
            </a:p>
          </p:txBody>
        </p:sp>
      </p:grpSp>
      <p:sp>
        <p:nvSpPr>
          <p:cNvPr id="266" name="Rectangle 11"/>
          <p:cNvSpPr/>
          <p:nvPr/>
        </p:nvSpPr>
        <p:spPr>
          <a:xfrm>
            <a:off x="3416300" y="32766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67" name="AutoShape 12"/>
          <p:cNvSpPr/>
          <p:nvPr/>
        </p:nvSpPr>
        <p:spPr>
          <a:xfrm>
            <a:off x="4189414" y="266700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68" name="AutoShape 13"/>
          <p:cNvSpPr/>
          <p:nvPr/>
        </p:nvSpPr>
        <p:spPr>
          <a:xfrm flipH="1">
            <a:off x="4100514" y="304800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271" name="Rectangle 14"/>
          <p:cNvGrpSpPr/>
          <p:nvPr/>
        </p:nvGrpSpPr>
        <p:grpSpPr>
          <a:xfrm>
            <a:off x="4633914" y="2514600"/>
            <a:ext cx="533401" cy="1066800"/>
            <a:chOff x="0" y="0"/>
            <a:chExt cx="533400" cy="1066800"/>
          </a:xfrm>
        </p:grpSpPr>
        <p:sp>
          <p:nvSpPr>
            <p:cNvPr id="269"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270" name="ALU"/>
            <p:cNvSpPr txBox="1"/>
            <p:nvPr/>
          </p:nvSpPr>
          <p:spPr>
            <a:xfrm>
              <a:off x="54432" y="364124"/>
              <a:ext cx="424536"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ALU</a:t>
              </a:r>
            </a:p>
          </p:txBody>
        </p:sp>
      </p:grpSp>
      <p:sp>
        <p:nvSpPr>
          <p:cNvPr id="272" name="Text Box 15"/>
          <p:cNvSpPr txBox="1"/>
          <p:nvPr/>
        </p:nvSpPr>
        <p:spPr>
          <a:xfrm>
            <a:off x="3240027" y="2345323"/>
            <a:ext cx="107009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alibri"/>
                <a:ea typeface="Calibri"/>
                <a:cs typeface="Calibri"/>
                <a:sym typeface="Calibri"/>
              </a:defRPr>
            </a:lvl1pPr>
          </a:lstStyle>
          <a:p>
            <a:r>
              <a:t>Register file</a:t>
            </a:r>
          </a:p>
        </p:txBody>
      </p:sp>
      <p:sp>
        <p:nvSpPr>
          <p:cNvPr id="273" name="AutoShape 16"/>
          <p:cNvSpPr/>
          <p:nvPr/>
        </p:nvSpPr>
        <p:spPr>
          <a:xfrm>
            <a:off x="3490914" y="35052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276" name="Rectangle 18"/>
          <p:cNvGrpSpPr/>
          <p:nvPr/>
        </p:nvGrpSpPr>
        <p:grpSpPr>
          <a:xfrm>
            <a:off x="2500313" y="3994150"/>
            <a:ext cx="1873251" cy="577850"/>
            <a:chOff x="0" y="0"/>
            <a:chExt cx="1873250" cy="577850"/>
          </a:xfrm>
        </p:grpSpPr>
        <p:sp>
          <p:nvSpPr>
            <p:cNvPr id="274"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275" name="Memory Controller"/>
            <p:cNvSpPr txBox="1"/>
            <p:nvPr/>
          </p:nvSpPr>
          <p:spPr>
            <a:xfrm>
              <a:off x="90273" y="119649"/>
              <a:ext cx="1692703"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Memory Controller</a:t>
              </a:r>
            </a:p>
          </p:txBody>
        </p:sp>
      </p:grpSp>
      <p:grpSp>
        <p:nvGrpSpPr>
          <p:cNvPr id="279" name="Group 1"/>
          <p:cNvGrpSpPr/>
          <p:nvPr/>
        </p:nvGrpSpPr>
        <p:grpSpPr>
          <a:xfrm>
            <a:off x="4329113" y="3809000"/>
            <a:ext cx="3962402" cy="382002"/>
            <a:chOff x="0" y="-18978"/>
            <a:chExt cx="3962401" cy="382000"/>
          </a:xfrm>
        </p:grpSpPr>
        <p:sp>
          <p:nvSpPr>
            <p:cNvPr id="277" name="Line 17"/>
            <p:cNvSpPr/>
            <p:nvPr/>
          </p:nvSpPr>
          <p:spPr>
            <a:xfrm>
              <a:off x="0" y="363021"/>
              <a:ext cx="3962401" cy="1"/>
            </a:xfrm>
            <a:prstGeom prst="line">
              <a:avLst/>
            </a:prstGeom>
            <a:noFill/>
            <a:ln w="76200" cap="flat">
              <a:solidFill>
                <a:schemeClr val="tx2"/>
              </a:solidFill>
              <a:prstDash val="solid"/>
              <a:round/>
              <a:tailEnd type="triangle" w="med" len="med"/>
            </a:ln>
            <a:effectLst/>
          </p:spPr>
          <p:txBody>
            <a:bodyPr wrap="square" lIns="45719" tIns="45719" rIns="45719" bIns="45719" numCol="1" anchor="t">
              <a:noAutofit/>
            </a:bodyPr>
            <a:lstStyle/>
            <a:p>
              <a:endParaRPr/>
            </a:p>
          </p:txBody>
        </p:sp>
        <p:sp>
          <p:nvSpPr>
            <p:cNvPr id="278" name="Text Box 19"/>
            <p:cNvSpPr txBox="1"/>
            <p:nvPr/>
          </p:nvSpPr>
          <p:spPr>
            <a:xfrm>
              <a:off x="3020310" y="-18978"/>
              <a:ext cx="210953" cy="338550"/>
            </a:xfrm>
            <a:prstGeom prst="rect">
              <a:avLst/>
            </a:prstGeom>
            <a:noFill/>
            <a:ln w="12700" cap="flat">
              <a:solidFill>
                <a:schemeClr val="tx2"/>
              </a:solid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i="1">
                  <a:latin typeface="Calibri"/>
                  <a:ea typeface="Calibri"/>
                  <a:cs typeface="Calibri"/>
                  <a:sym typeface="Calibri"/>
                </a:defRPr>
              </a:lvl1pPr>
            </a:lstStyle>
            <a:p>
              <a:r>
                <a:t>A</a:t>
              </a:r>
            </a:p>
          </p:txBody>
        </p:sp>
      </p:grpSp>
      <p:sp>
        <p:nvSpPr>
          <p:cNvPr id="280" name="Rectangle 20"/>
          <p:cNvSpPr/>
          <p:nvPr/>
        </p:nvSpPr>
        <p:spPr>
          <a:xfrm>
            <a:off x="8296275" y="3810000"/>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281" name="Rectangle 21"/>
          <p:cNvSpPr/>
          <p:nvPr/>
        </p:nvSpPr>
        <p:spPr>
          <a:xfrm>
            <a:off x="8291514" y="4283075"/>
            <a:ext cx="914401" cy="152400"/>
          </a:xfrm>
          <a:prstGeom prst="rect">
            <a:avLst/>
          </a:prstGeom>
          <a:ln w="12700">
            <a:solidFill>
              <a:srgbClr val="000000"/>
            </a:solidFill>
            <a:miter/>
          </a:ln>
        </p:spPr>
        <p:txBody>
          <a:bodyPr lIns="45719" rIns="45719" anchor="ctr"/>
          <a:lstStyle/>
          <a:p>
            <a:pPr>
              <a:defRPr sz="1000">
                <a:latin typeface="Calibri"/>
                <a:ea typeface="Calibri"/>
                <a:cs typeface="Calibri"/>
                <a:sym typeface="Calibri"/>
              </a:defRPr>
            </a:pPr>
            <a:endParaRPr sz="1000"/>
          </a:p>
        </p:txBody>
      </p:sp>
      <p:sp>
        <p:nvSpPr>
          <p:cNvPr id="282" name="Text Box 22"/>
          <p:cNvSpPr txBox="1"/>
          <p:nvPr/>
        </p:nvSpPr>
        <p:spPr>
          <a:xfrm>
            <a:off x="8168503" y="3471446"/>
            <a:ext cx="1269961"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alibri"/>
                <a:ea typeface="Calibri"/>
                <a:cs typeface="Calibri"/>
                <a:sym typeface="Calibri"/>
              </a:defRPr>
            </a:lvl1pPr>
          </a:lstStyle>
          <a:p>
            <a:r>
              <a:t>Main memory</a:t>
            </a:r>
          </a:p>
        </p:txBody>
      </p:sp>
      <p:sp>
        <p:nvSpPr>
          <p:cNvPr id="283" name="Text Box 23"/>
          <p:cNvSpPr txBox="1"/>
          <p:nvPr/>
        </p:nvSpPr>
        <p:spPr>
          <a:xfrm>
            <a:off x="9248459" y="3670886"/>
            <a:ext cx="19652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0</a:t>
            </a:r>
          </a:p>
        </p:txBody>
      </p:sp>
      <p:sp>
        <p:nvSpPr>
          <p:cNvPr id="284" name="Text Box 24"/>
          <p:cNvSpPr txBox="1"/>
          <p:nvPr/>
        </p:nvSpPr>
        <p:spPr>
          <a:xfrm>
            <a:off x="9232584" y="4174123"/>
            <a:ext cx="210953"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i="1">
                <a:latin typeface="Calibri"/>
                <a:ea typeface="Calibri"/>
                <a:cs typeface="Calibri"/>
                <a:sym typeface="Calibri"/>
              </a:defRPr>
            </a:lvl1pPr>
          </a:lstStyle>
          <a:p>
            <a:r>
              <a:t>A</a:t>
            </a:r>
          </a:p>
        </p:txBody>
      </p:sp>
      <p:sp>
        <p:nvSpPr>
          <p:cNvPr id="285" name="Text Box 25"/>
          <p:cNvSpPr txBox="1"/>
          <p:nvPr/>
        </p:nvSpPr>
        <p:spPr>
          <a:xfrm>
            <a:off x="2544620" y="2904075"/>
            <a:ext cx="83291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ourier New"/>
                <a:ea typeface="Courier New"/>
                <a:cs typeface="Courier New"/>
                <a:sym typeface="Courier New"/>
              </a:defRPr>
            </a:lvl1pPr>
          </a:lstStyle>
          <a:p>
            <a:r>
              <a:rPr lang="en-US" dirty="0"/>
              <a:t>X1-X31</a:t>
            </a:r>
            <a:endParaRPr dirty="0"/>
          </a:p>
        </p:txBody>
      </p:sp>
      <p:sp>
        <p:nvSpPr>
          <p:cNvPr id="286" name="Text Box 27"/>
          <p:cNvSpPr txBox="1"/>
          <p:nvPr/>
        </p:nvSpPr>
        <p:spPr>
          <a:xfrm>
            <a:off x="6217920" y="2438399"/>
            <a:ext cx="3481977" cy="4001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600">
                <a:solidFill>
                  <a:srgbClr val="C00000"/>
                </a:solidFill>
                <a:latin typeface="Calibri"/>
                <a:ea typeface="Calibri"/>
                <a:cs typeface="Calibri"/>
                <a:sym typeface="Calibri"/>
              </a:defRPr>
            </a:pPr>
            <a:r>
              <a:rPr sz="2000" dirty="0"/>
              <a:t>Store operation</a:t>
            </a:r>
            <a:r>
              <a:rPr sz="2000" dirty="0">
                <a:solidFill>
                  <a:srgbClr val="000000"/>
                </a:solidFill>
              </a:rPr>
              <a:t>: </a:t>
            </a:r>
            <a:r>
              <a:rPr lang="en-US" sz="2000" dirty="0">
                <a:solidFill>
                  <a:srgbClr val="000000"/>
                </a:solidFill>
                <a:latin typeface="Courier New"/>
                <a:cs typeface="Courier New"/>
                <a:sym typeface="Courier New"/>
              </a:rPr>
              <a:t> </a:t>
            </a:r>
            <a:r>
              <a:rPr lang="en-US" sz="1600" dirty="0">
                <a:solidFill>
                  <a:srgbClr val="000000"/>
                </a:solidFill>
                <a:latin typeface="Courier New"/>
                <a:cs typeface="Courier New"/>
                <a:sym typeface="Courier New"/>
              </a:rPr>
              <a:t>SW X1, 4(X2)</a:t>
            </a:r>
            <a:endParaRPr sz="1600" dirty="0">
              <a:solidFill>
                <a:srgbClr val="000000"/>
              </a:solidFill>
              <a:latin typeface="Courier New"/>
              <a:ea typeface="Courier New"/>
              <a:cs typeface="Courier New"/>
              <a:sym typeface="Courier New"/>
            </a:endParaRPr>
          </a:p>
        </p:txBody>
      </p:sp>
    </p:spTree>
    <p:extLst>
      <p:ext uri="{BB962C8B-B14F-4D97-AF65-F5344CB8AC3E}">
        <p14:creationId xmlns:p14="http://schemas.microsoft.com/office/powerpoint/2010/main" val="85502113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p:tmAbs val="0"/>
                                  </p:iterate>
                                  <p:childTnLst>
                                    <p:set>
                                      <p:cBhvr>
                                        <p:cTn id="6" fill="hold"/>
                                        <p:tgtEl>
                                          <p:spTgt spid="279"/>
                                        </p:tgtEl>
                                        <p:attrNameLst>
                                          <p:attrName>style.visibility</p:attrName>
                                        </p:attrNameLst>
                                      </p:cBhvr>
                                      <p:to>
                                        <p:strVal val="visible"/>
                                      </p:to>
                                    </p:set>
                                    <p:animEffect transition="in" filter="wipe(left)">
                                      <p:cBhvr>
                                        <p:cTn id="7" dur="500"/>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 grpId="0"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Rectangle 5"/>
          <p:cNvSpPr txBox="1">
            <a:spLocks noGrp="1"/>
          </p:cNvSpPr>
          <p:nvPr>
            <p:ph type="sldNum" sz="quarter" idx="2"/>
          </p:nvPr>
        </p:nvSpPr>
        <p:spPr>
          <a:xfrm>
            <a:off x="10354844" y="6611779"/>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a:p>
        </p:txBody>
      </p:sp>
      <p:sp>
        <p:nvSpPr>
          <p:cNvPr id="289" name="Rectangle 29"/>
          <p:cNvSpPr txBox="1">
            <a:spLocks noGrp="1"/>
          </p:cNvSpPr>
          <p:nvPr>
            <p:ph type="title"/>
          </p:nvPr>
        </p:nvSpPr>
        <p:spPr>
          <a:xfrm>
            <a:off x="1447881" y="78610"/>
            <a:ext cx="8600894" cy="762001"/>
          </a:xfrm>
          <a:prstGeom prst="rect">
            <a:avLst/>
          </a:prstGeom>
        </p:spPr>
        <p:txBody>
          <a:bodyPr/>
          <a:lstStyle/>
          <a:p>
            <a:r>
              <a:rPr dirty="0"/>
              <a:t>Memory Write Transaction (2)</a:t>
            </a:r>
          </a:p>
        </p:txBody>
      </p:sp>
      <p:sp>
        <p:nvSpPr>
          <p:cNvPr id="290" name="Rectangle 30"/>
          <p:cNvSpPr txBox="1">
            <a:spLocks noGrp="1"/>
          </p:cNvSpPr>
          <p:nvPr>
            <p:ph type="body" idx="1"/>
          </p:nvPr>
        </p:nvSpPr>
        <p:spPr>
          <a:prstGeom prst="rect">
            <a:avLst/>
          </a:prstGeom>
        </p:spPr>
        <p:txBody>
          <a:bodyPr/>
          <a:lstStyle>
            <a:lvl1pPr marL="288925" indent="-288925"/>
          </a:lstStyle>
          <a:p>
            <a:r>
              <a:rPr dirty="0"/>
              <a:t> </a:t>
            </a:r>
            <a:r>
              <a:rPr sz="3000" dirty="0"/>
              <a:t>CPU places data word y on the bus.</a:t>
            </a:r>
          </a:p>
        </p:txBody>
      </p:sp>
      <p:sp>
        <p:nvSpPr>
          <p:cNvPr id="291" name="Rectangle 4"/>
          <p:cNvSpPr/>
          <p:nvPr/>
        </p:nvSpPr>
        <p:spPr>
          <a:xfrm>
            <a:off x="8291513" y="3810000"/>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292" name="AutoShape 5"/>
          <p:cNvSpPr/>
          <p:nvPr/>
        </p:nvSpPr>
        <p:spPr>
          <a:xfrm>
            <a:off x="4400551" y="3962400"/>
            <a:ext cx="3859213" cy="533400"/>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293" name="Rectangle 8"/>
          <p:cNvSpPr/>
          <p:nvPr/>
        </p:nvSpPr>
        <p:spPr>
          <a:xfrm>
            <a:off x="3411539" y="26670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94" name="Rectangle 9"/>
          <p:cNvSpPr/>
          <p:nvPr/>
        </p:nvSpPr>
        <p:spPr>
          <a:xfrm>
            <a:off x="3411539" y="28194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295" name="Rectangle 10"/>
          <p:cNvSpPr/>
          <p:nvPr/>
        </p:nvSpPr>
        <p:spPr>
          <a:xfrm>
            <a:off x="3411539" y="29718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298" name="Rectangle 11"/>
          <p:cNvGrpSpPr/>
          <p:nvPr/>
        </p:nvGrpSpPr>
        <p:grpSpPr>
          <a:xfrm>
            <a:off x="3411538" y="3046514"/>
            <a:ext cx="684214" cy="307775"/>
            <a:chOff x="0" y="-13487"/>
            <a:chExt cx="684213" cy="307773"/>
          </a:xfrm>
        </p:grpSpPr>
        <p:sp>
          <p:nvSpPr>
            <p:cNvPr id="296" name="Rectangle"/>
            <p:cNvSpPr/>
            <p:nvPr/>
          </p:nvSpPr>
          <p:spPr>
            <a:xfrm>
              <a:off x="0" y="64199"/>
              <a:ext cx="684213"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p>
          </p:txBody>
        </p:sp>
        <p:sp>
          <p:nvSpPr>
            <p:cNvPr id="297" name="y"/>
            <p:cNvSpPr txBox="1"/>
            <p:nvPr/>
          </p:nvSpPr>
          <p:spPr>
            <a:xfrm>
              <a:off x="255865" y="-13487"/>
              <a:ext cx="172481" cy="307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400" i="1">
                  <a:latin typeface="Calibri"/>
                  <a:ea typeface="Calibri"/>
                  <a:cs typeface="Calibri"/>
                  <a:sym typeface="Calibri"/>
                </a:defRPr>
              </a:lvl1pPr>
            </a:lstStyle>
            <a:p>
              <a:r>
                <a:t>y</a:t>
              </a:r>
            </a:p>
          </p:txBody>
        </p:sp>
      </p:grpSp>
      <p:sp>
        <p:nvSpPr>
          <p:cNvPr id="299" name="Rectangle 12"/>
          <p:cNvSpPr/>
          <p:nvPr/>
        </p:nvSpPr>
        <p:spPr>
          <a:xfrm>
            <a:off x="3411539" y="32766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00" name="AutoShape 13"/>
          <p:cNvSpPr/>
          <p:nvPr/>
        </p:nvSpPr>
        <p:spPr>
          <a:xfrm>
            <a:off x="4184650" y="26670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01" name="AutoShape 14"/>
          <p:cNvSpPr/>
          <p:nvPr/>
        </p:nvSpPr>
        <p:spPr>
          <a:xfrm flipH="1">
            <a:off x="4095750" y="30480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304" name="Rectangle 15"/>
          <p:cNvGrpSpPr/>
          <p:nvPr/>
        </p:nvGrpSpPr>
        <p:grpSpPr>
          <a:xfrm>
            <a:off x="4629150" y="2514600"/>
            <a:ext cx="533400" cy="1066800"/>
            <a:chOff x="0" y="0"/>
            <a:chExt cx="533400" cy="1066800"/>
          </a:xfrm>
        </p:grpSpPr>
        <p:sp>
          <p:nvSpPr>
            <p:cNvPr id="302"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303" name="ALU"/>
            <p:cNvSpPr txBox="1"/>
            <p:nvPr/>
          </p:nvSpPr>
          <p:spPr>
            <a:xfrm>
              <a:off x="52069" y="364124"/>
              <a:ext cx="424538"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600">
                  <a:latin typeface="Calibri"/>
                  <a:ea typeface="Calibri"/>
                  <a:cs typeface="Calibri"/>
                  <a:sym typeface="Calibri"/>
                </a:defRPr>
              </a:lvl1pPr>
            </a:lstStyle>
            <a:p>
              <a:r>
                <a:t>ALU</a:t>
              </a:r>
            </a:p>
          </p:txBody>
        </p:sp>
      </p:grpSp>
      <p:sp>
        <p:nvSpPr>
          <p:cNvPr id="305" name="Text Box 16"/>
          <p:cNvSpPr txBox="1"/>
          <p:nvPr/>
        </p:nvSpPr>
        <p:spPr>
          <a:xfrm>
            <a:off x="3235265" y="2345323"/>
            <a:ext cx="107009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alibri"/>
                <a:ea typeface="Calibri"/>
                <a:cs typeface="Calibri"/>
                <a:sym typeface="Calibri"/>
              </a:defRPr>
            </a:lvl1pPr>
          </a:lstStyle>
          <a:p>
            <a:r>
              <a:t>Register file</a:t>
            </a:r>
          </a:p>
        </p:txBody>
      </p:sp>
      <p:sp>
        <p:nvSpPr>
          <p:cNvPr id="306" name="AutoShape 17"/>
          <p:cNvSpPr/>
          <p:nvPr/>
        </p:nvSpPr>
        <p:spPr>
          <a:xfrm>
            <a:off x="3486151" y="35052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309" name="Rectangle 18"/>
          <p:cNvGrpSpPr/>
          <p:nvPr/>
        </p:nvGrpSpPr>
        <p:grpSpPr>
          <a:xfrm>
            <a:off x="2495550" y="3994150"/>
            <a:ext cx="1873250" cy="577850"/>
            <a:chOff x="0" y="0"/>
            <a:chExt cx="1873250" cy="577850"/>
          </a:xfrm>
        </p:grpSpPr>
        <p:sp>
          <p:nvSpPr>
            <p:cNvPr id="307"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308" name="Memory Controller"/>
            <p:cNvSpPr txBox="1"/>
            <p:nvPr/>
          </p:nvSpPr>
          <p:spPr>
            <a:xfrm>
              <a:off x="90273" y="119649"/>
              <a:ext cx="1692704"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Memory Controller</a:t>
              </a:r>
            </a:p>
          </p:txBody>
        </p:sp>
      </p:grpSp>
      <p:sp>
        <p:nvSpPr>
          <p:cNvPr id="310" name="Line 20"/>
          <p:cNvSpPr/>
          <p:nvPr/>
        </p:nvSpPr>
        <p:spPr>
          <a:xfrm>
            <a:off x="3790950" y="3305503"/>
            <a:ext cx="0" cy="914401"/>
          </a:xfrm>
          <a:prstGeom prst="line">
            <a:avLst/>
          </a:prstGeom>
          <a:ln w="76200">
            <a:solidFill>
              <a:schemeClr val="tx2"/>
            </a:solidFill>
          </a:ln>
        </p:spPr>
        <p:txBody>
          <a:bodyPr lIns="45719" rIns="45719"/>
          <a:lstStyle/>
          <a:p>
            <a:endParaRPr/>
          </a:p>
        </p:txBody>
      </p:sp>
      <p:grpSp>
        <p:nvGrpSpPr>
          <p:cNvPr id="313" name="Group 1"/>
          <p:cNvGrpSpPr/>
          <p:nvPr/>
        </p:nvGrpSpPr>
        <p:grpSpPr>
          <a:xfrm>
            <a:off x="3790950" y="3824389"/>
            <a:ext cx="4495802" cy="366612"/>
            <a:chOff x="0" y="-13487"/>
            <a:chExt cx="4495801" cy="366611"/>
          </a:xfrm>
        </p:grpSpPr>
        <p:sp>
          <p:nvSpPr>
            <p:cNvPr id="311" name="Text Box 19"/>
            <p:cNvSpPr txBox="1"/>
            <p:nvPr/>
          </p:nvSpPr>
          <p:spPr>
            <a:xfrm>
              <a:off x="3562033" y="-13487"/>
              <a:ext cx="172481" cy="307774"/>
            </a:xfrm>
            <a:prstGeom prst="rect">
              <a:avLst/>
            </a:prstGeom>
            <a:noFill/>
            <a:ln w="12700" cap="flat">
              <a:solidFill>
                <a:schemeClr val="tx2"/>
              </a:solid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400" i="1">
                  <a:latin typeface="Calibri"/>
                  <a:ea typeface="Calibri"/>
                  <a:cs typeface="Calibri"/>
                  <a:sym typeface="Calibri"/>
                </a:defRPr>
              </a:lvl1pPr>
            </a:lstStyle>
            <a:p>
              <a:r>
                <a:t>y</a:t>
              </a:r>
            </a:p>
          </p:txBody>
        </p:sp>
        <p:sp>
          <p:nvSpPr>
            <p:cNvPr id="312" name="Line 21"/>
            <p:cNvSpPr/>
            <p:nvPr/>
          </p:nvSpPr>
          <p:spPr>
            <a:xfrm>
              <a:off x="0" y="353123"/>
              <a:ext cx="4495801" cy="1"/>
            </a:xfrm>
            <a:prstGeom prst="line">
              <a:avLst/>
            </a:prstGeom>
            <a:noFill/>
            <a:ln w="76200" cap="flat">
              <a:solidFill>
                <a:schemeClr val="tx2"/>
              </a:solidFill>
              <a:prstDash val="solid"/>
              <a:round/>
              <a:tailEnd type="triangle" w="med" len="med"/>
            </a:ln>
            <a:effectLst/>
          </p:spPr>
          <p:txBody>
            <a:bodyPr wrap="square" lIns="45719" tIns="45719" rIns="45719" bIns="45719" numCol="1" anchor="t">
              <a:noAutofit/>
            </a:bodyPr>
            <a:lstStyle/>
            <a:p>
              <a:endParaRPr/>
            </a:p>
          </p:txBody>
        </p:sp>
      </p:grpSp>
      <p:sp>
        <p:nvSpPr>
          <p:cNvPr id="314" name="Rectangle 22"/>
          <p:cNvSpPr/>
          <p:nvPr/>
        </p:nvSpPr>
        <p:spPr>
          <a:xfrm>
            <a:off x="8286750" y="4267200"/>
            <a:ext cx="914400"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15" name="Text Box 23"/>
          <p:cNvSpPr txBox="1"/>
          <p:nvPr/>
        </p:nvSpPr>
        <p:spPr>
          <a:xfrm>
            <a:off x="8102972" y="3471446"/>
            <a:ext cx="1269961"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alibri"/>
                <a:ea typeface="Calibri"/>
                <a:cs typeface="Calibri"/>
                <a:sym typeface="Calibri"/>
              </a:defRPr>
            </a:lvl1pPr>
          </a:lstStyle>
          <a:p>
            <a:r>
              <a:t>Main memory</a:t>
            </a:r>
          </a:p>
        </p:txBody>
      </p:sp>
      <p:sp>
        <p:nvSpPr>
          <p:cNvPr id="316" name="Text Box 24"/>
          <p:cNvSpPr txBox="1"/>
          <p:nvPr/>
        </p:nvSpPr>
        <p:spPr>
          <a:xfrm>
            <a:off x="9243695" y="3686761"/>
            <a:ext cx="19652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0</a:t>
            </a:r>
          </a:p>
        </p:txBody>
      </p:sp>
      <p:sp>
        <p:nvSpPr>
          <p:cNvPr id="317" name="Text Box 25"/>
          <p:cNvSpPr txBox="1"/>
          <p:nvPr/>
        </p:nvSpPr>
        <p:spPr>
          <a:xfrm>
            <a:off x="9227820" y="4189998"/>
            <a:ext cx="210953"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A</a:t>
            </a:r>
          </a:p>
        </p:txBody>
      </p:sp>
      <p:sp>
        <p:nvSpPr>
          <p:cNvPr id="318" name="Text Box 26"/>
          <p:cNvSpPr txBox="1"/>
          <p:nvPr/>
        </p:nvSpPr>
        <p:spPr>
          <a:xfrm>
            <a:off x="2617707" y="2851148"/>
            <a:ext cx="83291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lgn="ctr">
              <a:defRPr sz="1600">
                <a:latin typeface="Courier New"/>
                <a:ea typeface="Courier New"/>
                <a:cs typeface="Courier New"/>
                <a:sym typeface="Courier New"/>
              </a:defRPr>
            </a:lvl1pPr>
          </a:lstStyle>
          <a:p>
            <a:r>
              <a:rPr lang="en-US" dirty="0"/>
              <a:t>X1-X31</a:t>
            </a:r>
            <a:endParaRPr dirty="0"/>
          </a:p>
        </p:txBody>
      </p:sp>
      <p:sp>
        <p:nvSpPr>
          <p:cNvPr id="34" name="Text Box 27">
            <a:extLst>
              <a:ext uri="{FF2B5EF4-FFF2-40B4-BE49-F238E27FC236}">
                <a16:creationId xmlns:a16="http://schemas.microsoft.com/office/drawing/2014/main" id="{085A8B3E-1A9D-4E25-8651-DD8241ED4B42}"/>
              </a:ext>
            </a:extLst>
          </p:cNvPr>
          <p:cNvSpPr txBox="1"/>
          <p:nvPr/>
        </p:nvSpPr>
        <p:spPr>
          <a:xfrm>
            <a:off x="5956796" y="2457390"/>
            <a:ext cx="3481977" cy="4001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600">
                <a:solidFill>
                  <a:srgbClr val="C00000"/>
                </a:solidFill>
                <a:latin typeface="Calibri"/>
                <a:ea typeface="Calibri"/>
                <a:cs typeface="Calibri"/>
                <a:sym typeface="Calibri"/>
              </a:defRPr>
            </a:pPr>
            <a:r>
              <a:rPr sz="2000" dirty="0"/>
              <a:t>Store operation</a:t>
            </a:r>
            <a:r>
              <a:rPr sz="2000" dirty="0">
                <a:solidFill>
                  <a:srgbClr val="000000"/>
                </a:solidFill>
              </a:rPr>
              <a:t>: </a:t>
            </a:r>
            <a:r>
              <a:rPr lang="en-US" sz="2000" dirty="0">
                <a:solidFill>
                  <a:srgbClr val="000000"/>
                </a:solidFill>
                <a:latin typeface="Courier New"/>
                <a:cs typeface="Courier New"/>
                <a:sym typeface="Courier New"/>
              </a:rPr>
              <a:t> </a:t>
            </a:r>
            <a:r>
              <a:rPr lang="en-US" sz="1600" dirty="0">
                <a:solidFill>
                  <a:srgbClr val="000000"/>
                </a:solidFill>
                <a:latin typeface="Courier New"/>
                <a:cs typeface="Courier New"/>
                <a:sym typeface="Courier New"/>
              </a:rPr>
              <a:t>SW X1, 4(X2)</a:t>
            </a:r>
            <a:endParaRPr sz="1600" dirty="0">
              <a:solidFill>
                <a:srgbClr val="000000"/>
              </a:solidFill>
              <a:latin typeface="Courier New"/>
              <a:ea typeface="Courier New"/>
              <a:cs typeface="Courier New"/>
              <a:sym typeface="Courier New"/>
            </a:endParaRPr>
          </a:p>
        </p:txBody>
      </p:sp>
    </p:spTree>
    <p:extLst>
      <p:ext uri="{BB962C8B-B14F-4D97-AF65-F5344CB8AC3E}">
        <p14:creationId xmlns:p14="http://schemas.microsoft.com/office/powerpoint/2010/main" val="84730431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p:tmAbs val="0"/>
                                  </p:iterate>
                                  <p:childTnLst>
                                    <p:set>
                                      <p:cBhvr>
                                        <p:cTn id="6" fill="hold"/>
                                        <p:tgtEl>
                                          <p:spTgt spid="310"/>
                                        </p:tgtEl>
                                        <p:attrNameLst>
                                          <p:attrName>style.visibility</p:attrName>
                                        </p:attrNameLst>
                                      </p:cBhvr>
                                      <p:to>
                                        <p:strVal val="visible"/>
                                      </p:to>
                                    </p:set>
                                    <p:animEffect transition="in" filter="wipe(up)">
                                      <p:cBhvr>
                                        <p:cTn id="7" dur="500"/>
                                        <p:tgtEl>
                                          <p:spTgt spid="310"/>
                                        </p:tgtEl>
                                      </p:cBhvr>
                                    </p:animEffect>
                                  </p:childTnLst>
                                </p:cTn>
                              </p:par>
                            </p:childTnLst>
                          </p:cTn>
                        </p:par>
                        <p:par>
                          <p:cTn id="8" fill="hold">
                            <p:stCondLst>
                              <p:cond delay="500"/>
                            </p:stCondLst>
                            <p:childTnLst>
                              <p:par>
                                <p:cTn id="9" presetID="22" presetClass="entr" presetSubtype="8" fill="hold" grpId="0" nodeType="afterEffect">
                                  <p:stCondLst>
                                    <p:cond delay="0"/>
                                  </p:stCondLst>
                                  <p:iterate>
                                    <p:tmAbs val="0"/>
                                  </p:iterate>
                                  <p:childTnLst>
                                    <p:set>
                                      <p:cBhvr>
                                        <p:cTn id="10" fill="hold"/>
                                        <p:tgtEl>
                                          <p:spTgt spid="313"/>
                                        </p:tgtEl>
                                        <p:attrNameLst>
                                          <p:attrName>style.visibility</p:attrName>
                                        </p:attrNameLst>
                                      </p:cBhvr>
                                      <p:to>
                                        <p:strVal val="visible"/>
                                      </p:to>
                                    </p:set>
                                    <p:animEffect transition="in" filter="wipe(left)">
                                      <p:cBhvr>
                                        <p:cTn id="11" dur="5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 grpId="0" animBg="1" advAuto="0"/>
      <p:bldP spid="313" grpId="0"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Rectangle 5"/>
          <p:cNvSpPr txBox="1">
            <a:spLocks noGrp="1"/>
          </p:cNvSpPr>
          <p:nvPr>
            <p:ph type="sldNum" sz="quarter" idx="2"/>
          </p:nvPr>
        </p:nvSpPr>
        <p:spPr>
          <a:xfrm>
            <a:off x="10354844" y="6611779"/>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sp>
        <p:nvSpPr>
          <p:cNvPr id="322" name="Rectangle 26"/>
          <p:cNvSpPr txBox="1">
            <a:spLocks noGrp="1"/>
          </p:cNvSpPr>
          <p:nvPr>
            <p:ph type="title"/>
          </p:nvPr>
        </p:nvSpPr>
        <p:spPr>
          <a:xfrm>
            <a:off x="1835718" y="89400"/>
            <a:ext cx="8966654" cy="762001"/>
          </a:xfrm>
          <a:prstGeom prst="rect">
            <a:avLst/>
          </a:prstGeom>
        </p:spPr>
        <p:txBody>
          <a:bodyPr/>
          <a:lstStyle/>
          <a:p>
            <a:r>
              <a:rPr dirty="0"/>
              <a:t>Memory Write Transaction (3)</a:t>
            </a:r>
          </a:p>
        </p:txBody>
      </p:sp>
      <p:sp>
        <p:nvSpPr>
          <p:cNvPr id="323" name="Rectangle 27"/>
          <p:cNvSpPr txBox="1">
            <a:spLocks noGrp="1"/>
          </p:cNvSpPr>
          <p:nvPr>
            <p:ph type="body" idx="1"/>
          </p:nvPr>
        </p:nvSpPr>
        <p:spPr>
          <a:prstGeom prst="rect">
            <a:avLst/>
          </a:prstGeom>
        </p:spPr>
        <p:txBody>
          <a:bodyPr/>
          <a:lstStyle>
            <a:lvl1pPr marL="401638" indent="-401638"/>
          </a:lstStyle>
          <a:p>
            <a:r>
              <a:rPr sz="3000" dirty="0"/>
              <a:t>Main memory reads data word y from the bus and stores it at address A.</a:t>
            </a:r>
          </a:p>
        </p:txBody>
      </p:sp>
      <p:sp>
        <p:nvSpPr>
          <p:cNvPr id="324" name="Rectangle 4"/>
          <p:cNvSpPr/>
          <p:nvPr/>
        </p:nvSpPr>
        <p:spPr>
          <a:xfrm>
            <a:off x="8296275" y="3806825"/>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325" name="AutoShape 5"/>
          <p:cNvSpPr/>
          <p:nvPr/>
        </p:nvSpPr>
        <p:spPr>
          <a:xfrm>
            <a:off x="4373564" y="3959225"/>
            <a:ext cx="3890963" cy="533400"/>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326" name="Rectangle 8"/>
          <p:cNvSpPr/>
          <p:nvPr/>
        </p:nvSpPr>
        <p:spPr>
          <a:xfrm>
            <a:off x="3416300" y="26638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27" name="Rectangle 9"/>
          <p:cNvSpPr/>
          <p:nvPr/>
        </p:nvSpPr>
        <p:spPr>
          <a:xfrm>
            <a:off x="3416300" y="28162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28" name="Rectangle 10"/>
          <p:cNvSpPr/>
          <p:nvPr/>
        </p:nvSpPr>
        <p:spPr>
          <a:xfrm>
            <a:off x="3416300" y="29686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331" name="Rectangle 11"/>
          <p:cNvGrpSpPr/>
          <p:nvPr/>
        </p:nvGrpSpPr>
        <p:grpSpPr>
          <a:xfrm>
            <a:off x="3416299" y="3043339"/>
            <a:ext cx="684216" cy="307775"/>
            <a:chOff x="0" y="-13487"/>
            <a:chExt cx="684214" cy="307773"/>
          </a:xfrm>
        </p:grpSpPr>
        <p:sp>
          <p:nvSpPr>
            <p:cNvPr id="329" name="Rectangle"/>
            <p:cNvSpPr/>
            <p:nvPr/>
          </p:nvSpPr>
          <p:spPr>
            <a:xfrm>
              <a:off x="0" y="64199"/>
              <a:ext cx="684214"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p>
          </p:txBody>
        </p:sp>
        <p:sp>
          <p:nvSpPr>
            <p:cNvPr id="330" name="y"/>
            <p:cNvSpPr txBox="1"/>
            <p:nvPr/>
          </p:nvSpPr>
          <p:spPr>
            <a:xfrm>
              <a:off x="255866" y="-13487"/>
              <a:ext cx="172480" cy="307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400" i="1">
                  <a:latin typeface="Calibri"/>
                  <a:ea typeface="Calibri"/>
                  <a:cs typeface="Calibri"/>
                  <a:sym typeface="Calibri"/>
                </a:defRPr>
              </a:lvl1pPr>
            </a:lstStyle>
            <a:p>
              <a:r>
                <a:t>y</a:t>
              </a:r>
            </a:p>
          </p:txBody>
        </p:sp>
      </p:grpSp>
      <p:sp>
        <p:nvSpPr>
          <p:cNvPr id="332" name="Rectangle 12"/>
          <p:cNvSpPr/>
          <p:nvPr/>
        </p:nvSpPr>
        <p:spPr>
          <a:xfrm>
            <a:off x="3416300" y="32734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33" name="AutoShape 13"/>
          <p:cNvSpPr/>
          <p:nvPr/>
        </p:nvSpPr>
        <p:spPr>
          <a:xfrm>
            <a:off x="4189414" y="2663825"/>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sp>
        <p:nvSpPr>
          <p:cNvPr id="334" name="AutoShape 14"/>
          <p:cNvSpPr/>
          <p:nvPr/>
        </p:nvSpPr>
        <p:spPr>
          <a:xfrm flipH="1">
            <a:off x="4100514" y="3044825"/>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337" name="Rectangle 15"/>
          <p:cNvGrpSpPr/>
          <p:nvPr/>
        </p:nvGrpSpPr>
        <p:grpSpPr>
          <a:xfrm>
            <a:off x="4633914" y="2511425"/>
            <a:ext cx="533401" cy="1066800"/>
            <a:chOff x="0" y="0"/>
            <a:chExt cx="533400" cy="1066800"/>
          </a:xfrm>
        </p:grpSpPr>
        <p:sp>
          <p:nvSpPr>
            <p:cNvPr id="335"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endParaRPr/>
            </a:p>
          </p:txBody>
        </p:sp>
        <p:sp>
          <p:nvSpPr>
            <p:cNvPr id="336" name="ALU"/>
            <p:cNvSpPr txBox="1"/>
            <p:nvPr/>
          </p:nvSpPr>
          <p:spPr>
            <a:xfrm>
              <a:off x="52069" y="364124"/>
              <a:ext cx="424537"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defRPr sz="1600">
                  <a:latin typeface="Calibri"/>
                  <a:ea typeface="Calibri"/>
                  <a:cs typeface="Calibri"/>
                  <a:sym typeface="Calibri"/>
                </a:defRPr>
              </a:lvl1pPr>
            </a:lstStyle>
            <a:p>
              <a:r>
                <a:t>ALU</a:t>
              </a:r>
            </a:p>
          </p:txBody>
        </p:sp>
      </p:grpSp>
      <p:sp>
        <p:nvSpPr>
          <p:cNvPr id="338" name="Text Box 16"/>
          <p:cNvSpPr txBox="1"/>
          <p:nvPr/>
        </p:nvSpPr>
        <p:spPr>
          <a:xfrm>
            <a:off x="3179446" y="2342148"/>
            <a:ext cx="1070099"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Register file</a:t>
            </a:r>
          </a:p>
        </p:txBody>
      </p:sp>
      <p:sp>
        <p:nvSpPr>
          <p:cNvPr id="339" name="AutoShape 17"/>
          <p:cNvSpPr/>
          <p:nvPr/>
        </p:nvSpPr>
        <p:spPr>
          <a:xfrm>
            <a:off x="3490914" y="3502026"/>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p>
        </p:txBody>
      </p:sp>
      <p:grpSp>
        <p:nvGrpSpPr>
          <p:cNvPr id="342" name="Rectangle 18"/>
          <p:cNvGrpSpPr/>
          <p:nvPr/>
        </p:nvGrpSpPr>
        <p:grpSpPr>
          <a:xfrm>
            <a:off x="2500313" y="3990975"/>
            <a:ext cx="1873251" cy="577850"/>
            <a:chOff x="0" y="0"/>
            <a:chExt cx="1873250" cy="577850"/>
          </a:xfrm>
        </p:grpSpPr>
        <p:sp>
          <p:nvSpPr>
            <p:cNvPr id="340"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p>
          </p:txBody>
        </p:sp>
        <p:sp>
          <p:nvSpPr>
            <p:cNvPr id="341" name="Memory Controller"/>
            <p:cNvSpPr txBox="1"/>
            <p:nvPr/>
          </p:nvSpPr>
          <p:spPr>
            <a:xfrm>
              <a:off x="90273" y="119649"/>
              <a:ext cx="1692703" cy="3385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600">
                  <a:latin typeface="Calibri"/>
                  <a:ea typeface="Calibri"/>
                  <a:cs typeface="Calibri"/>
                  <a:sym typeface="Calibri"/>
                </a:defRPr>
              </a:lvl1pPr>
            </a:lstStyle>
            <a:p>
              <a:r>
                <a:t>Memory Controller</a:t>
              </a:r>
            </a:p>
          </p:txBody>
        </p:sp>
      </p:grpSp>
      <p:grpSp>
        <p:nvGrpSpPr>
          <p:cNvPr id="345" name="Rectangle 19"/>
          <p:cNvGrpSpPr/>
          <p:nvPr/>
        </p:nvGrpSpPr>
        <p:grpSpPr>
          <a:xfrm>
            <a:off x="8291514" y="4186339"/>
            <a:ext cx="914401" cy="307775"/>
            <a:chOff x="0" y="-13487"/>
            <a:chExt cx="914400" cy="307773"/>
          </a:xfrm>
        </p:grpSpPr>
        <p:sp>
          <p:nvSpPr>
            <p:cNvPr id="343" name="Rectangle"/>
            <p:cNvSpPr/>
            <p:nvPr/>
          </p:nvSpPr>
          <p:spPr>
            <a:xfrm>
              <a:off x="0" y="64199"/>
              <a:ext cx="914400"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p>
          </p:txBody>
        </p:sp>
        <p:sp>
          <p:nvSpPr>
            <p:cNvPr id="344" name="y"/>
            <p:cNvSpPr txBox="1"/>
            <p:nvPr/>
          </p:nvSpPr>
          <p:spPr>
            <a:xfrm>
              <a:off x="370959" y="-13487"/>
              <a:ext cx="172481" cy="307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ctr">
              <a:spAutoFit/>
            </a:bodyPr>
            <a:lstStyle>
              <a:lvl1pPr algn="ctr">
                <a:defRPr sz="1400" i="1">
                  <a:latin typeface="Calibri"/>
                  <a:ea typeface="Calibri"/>
                  <a:cs typeface="Calibri"/>
                  <a:sym typeface="Calibri"/>
                </a:defRPr>
              </a:lvl1pPr>
            </a:lstStyle>
            <a:p>
              <a:r>
                <a:t>y</a:t>
              </a:r>
            </a:p>
          </p:txBody>
        </p:sp>
      </p:grpSp>
      <p:sp>
        <p:nvSpPr>
          <p:cNvPr id="346" name="Text Box 20"/>
          <p:cNvSpPr txBox="1"/>
          <p:nvPr/>
        </p:nvSpPr>
        <p:spPr>
          <a:xfrm>
            <a:off x="8099717" y="3467005"/>
            <a:ext cx="1269961"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Main memory</a:t>
            </a:r>
          </a:p>
        </p:txBody>
      </p:sp>
      <p:sp>
        <p:nvSpPr>
          <p:cNvPr id="347" name="Text Box 21"/>
          <p:cNvSpPr txBox="1"/>
          <p:nvPr/>
        </p:nvSpPr>
        <p:spPr>
          <a:xfrm>
            <a:off x="9248459" y="3667711"/>
            <a:ext cx="196527"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0</a:t>
            </a:r>
          </a:p>
        </p:txBody>
      </p:sp>
      <p:sp>
        <p:nvSpPr>
          <p:cNvPr id="348" name="Text Box 22"/>
          <p:cNvSpPr txBox="1"/>
          <p:nvPr/>
        </p:nvSpPr>
        <p:spPr>
          <a:xfrm>
            <a:off x="9232584" y="4170948"/>
            <a:ext cx="210953"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alibri"/>
                <a:ea typeface="Calibri"/>
                <a:cs typeface="Calibri"/>
                <a:sym typeface="Calibri"/>
              </a:defRPr>
            </a:lvl1pPr>
          </a:lstStyle>
          <a:p>
            <a:r>
              <a:t>A</a:t>
            </a:r>
          </a:p>
        </p:txBody>
      </p:sp>
      <p:sp>
        <p:nvSpPr>
          <p:cNvPr id="349" name="Text Box 23"/>
          <p:cNvSpPr txBox="1"/>
          <p:nvPr/>
        </p:nvSpPr>
        <p:spPr>
          <a:xfrm>
            <a:off x="2538932" y="2928304"/>
            <a:ext cx="83291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600">
                <a:latin typeface="Courier New"/>
                <a:ea typeface="Courier New"/>
                <a:cs typeface="Courier New"/>
                <a:sym typeface="Courier New"/>
              </a:defRPr>
            </a:lvl1pPr>
          </a:lstStyle>
          <a:p>
            <a:r>
              <a:rPr lang="en-US" dirty="0"/>
              <a:t>X1-X31</a:t>
            </a:r>
            <a:endParaRPr dirty="0"/>
          </a:p>
        </p:txBody>
      </p:sp>
      <p:sp>
        <p:nvSpPr>
          <p:cNvPr id="32" name="Text Box 27">
            <a:extLst>
              <a:ext uri="{FF2B5EF4-FFF2-40B4-BE49-F238E27FC236}">
                <a16:creationId xmlns:a16="http://schemas.microsoft.com/office/drawing/2014/main" id="{B2838715-1B79-4EE7-BB97-19ADF54D3767}"/>
              </a:ext>
            </a:extLst>
          </p:cNvPr>
          <p:cNvSpPr txBox="1"/>
          <p:nvPr/>
        </p:nvSpPr>
        <p:spPr>
          <a:xfrm>
            <a:off x="5956796" y="2457390"/>
            <a:ext cx="3481977" cy="4001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600">
                <a:solidFill>
                  <a:srgbClr val="C00000"/>
                </a:solidFill>
                <a:latin typeface="Calibri"/>
                <a:ea typeface="Calibri"/>
                <a:cs typeface="Calibri"/>
                <a:sym typeface="Calibri"/>
              </a:defRPr>
            </a:pPr>
            <a:r>
              <a:rPr sz="2000" dirty="0"/>
              <a:t>Store operation</a:t>
            </a:r>
            <a:r>
              <a:rPr sz="2000" dirty="0">
                <a:solidFill>
                  <a:srgbClr val="000000"/>
                </a:solidFill>
              </a:rPr>
              <a:t>: </a:t>
            </a:r>
            <a:r>
              <a:rPr lang="en-US" sz="2000" dirty="0">
                <a:solidFill>
                  <a:srgbClr val="000000"/>
                </a:solidFill>
                <a:latin typeface="Courier New"/>
                <a:cs typeface="Courier New"/>
                <a:sym typeface="Courier New"/>
              </a:rPr>
              <a:t> </a:t>
            </a:r>
            <a:r>
              <a:rPr lang="en-US" sz="1600" dirty="0">
                <a:solidFill>
                  <a:srgbClr val="000000"/>
                </a:solidFill>
                <a:latin typeface="Courier New"/>
                <a:cs typeface="Courier New"/>
                <a:sym typeface="Courier New"/>
              </a:rPr>
              <a:t>SW X1, 4(X2)</a:t>
            </a:r>
            <a:endParaRPr sz="1600" dirty="0">
              <a:solidFill>
                <a:srgbClr val="000000"/>
              </a:solidFill>
              <a:latin typeface="Courier New"/>
              <a:ea typeface="Courier New"/>
              <a:cs typeface="Courier New"/>
              <a:sym typeface="Courier New"/>
            </a:endParaRPr>
          </a:p>
        </p:txBody>
      </p:sp>
      <p:sp>
        <p:nvSpPr>
          <p:cNvPr id="2" name="TextBox 1">
            <a:extLst>
              <a:ext uri="{FF2B5EF4-FFF2-40B4-BE49-F238E27FC236}">
                <a16:creationId xmlns:a16="http://schemas.microsoft.com/office/drawing/2014/main" id="{6B2F2D67-2DA9-8397-75C4-01D4E1617799}"/>
              </a:ext>
            </a:extLst>
          </p:cNvPr>
          <p:cNvSpPr txBox="1"/>
          <p:nvPr/>
        </p:nvSpPr>
        <p:spPr>
          <a:xfrm>
            <a:off x="2538932" y="5475410"/>
            <a:ext cx="6609264" cy="646331"/>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The above read/write pictures are oversimplified. There are </a:t>
            </a:r>
            <a:r>
              <a:rPr lang="en-US" b="1" dirty="0" err="1">
                <a:ea typeface="標楷體" pitchFamily="65" charset="-120"/>
                <a:cs typeface="Calibri" pitchFamily="34" charset="0"/>
              </a:rPr>
              <a:t>CACHEes</a:t>
            </a:r>
            <a:r>
              <a:rPr lang="en-US" dirty="0">
                <a:ea typeface="標楷體" pitchFamily="65" charset="-120"/>
                <a:cs typeface="Calibri" pitchFamily="34" charset="0"/>
              </a:rPr>
              <a:t> sit between the registers and the memory controller.</a:t>
            </a:r>
          </a:p>
        </p:txBody>
      </p:sp>
    </p:spTree>
    <p:extLst>
      <p:ext uri="{BB962C8B-B14F-4D97-AF65-F5344CB8AC3E}">
        <p14:creationId xmlns:p14="http://schemas.microsoft.com/office/powerpoint/2010/main" val="261803048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 name="Rectangle 5"/>
          <p:cNvSpPr txBox="1">
            <a:spLocks noGrp="1"/>
          </p:cNvSpPr>
          <p:nvPr>
            <p:ph type="sldNum" sz="quarter" idx="2"/>
          </p:nvPr>
        </p:nvSpPr>
        <p:spPr>
          <a:xfrm>
            <a:off x="10354844" y="6611779"/>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a:p>
        </p:txBody>
      </p:sp>
      <p:sp>
        <p:nvSpPr>
          <p:cNvPr id="671" name="Rectangle 2"/>
          <p:cNvSpPr txBox="1">
            <a:spLocks noGrp="1"/>
          </p:cNvSpPr>
          <p:nvPr>
            <p:ph type="title"/>
          </p:nvPr>
        </p:nvSpPr>
        <p:spPr>
          <a:xfrm>
            <a:off x="1852443" y="8987"/>
            <a:ext cx="7592095" cy="762001"/>
          </a:xfrm>
          <a:prstGeom prst="rect">
            <a:avLst/>
          </a:prstGeom>
        </p:spPr>
        <p:txBody>
          <a:bodyPr/>
          <a:lstStyle/>
          <a:p>
            <a:r>
              <a:rPr dirty="0"/>
              <a:t>The CPU-Memory Gap</a:t>
            </a:r>
          </a:p>
        </p:txBody>
      </p:sp>
      <p:sp>
        <p:nvSpPr>
          <p:cNvPr id="672" name="Rectangle 4"/>
          <p:cNvSpPr txBox="1"/>
          <p:nvPr/>
        </p:nvSpPr>
        <p:spPr>
          <a:xfrm>
            <a:off x="1928813" y="1142999"/>
            <a:ext cx="8167686" cy="3554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95000"/>
              </a:lnSpc>
              <a:spcBef>
                <a:spcPts val="1400"/>
              </a:spcBef>
              <a:defRPr>
                <a:solidFill>
                  <a:srgbClr val="C00000"/>
                </a:solidFill>
                <a:effectLst>
                  <a:outerShdw blurRad="38100" dist="38100" dir="2700000" rotWithShape="0">
                    <a:srgbClr val="DDDDDD"/>
                  </a:outerShdw>
                </a:effectLst>
                <a:latin typeface="Calibri"/>
                <a:ea typeface="Calibri"/>
                <a:cs typeface="Calibri"/>
                <a:sym typeface="Calibri"/>
              </a:defRPr>
            </a:pPr>
            <a:r>
              <a:t>The gap </a:t>
            </a:r>
            <a:r>
              <a:rPr i="1">
                <a:ln w="9525" cap="flat">
                  <a:solidFill>
                    <a:srgbClr val="DF9F98"/>
                  </a:solidFill>
                  <a:prstDash val="solid"/>
                  <a:round/>
                </a:ln>
              </a:rPr>
              <a:t>widens</a:t>
            </a:r>
            <a:r>
              <a:t> between DRAM, disk, and CPU speeds. </a:t>
            </a:r>
          </a:p>
        </p:txBody>
      </p:sp>
      <p:graphicFrame>
        <p:nvGraphicFramePr>
          <p:cNvPr id="673" name="Chart 13"/>
          <p:cNvGraphicFramePr/>
          <p:nvPr>
            <p:extLst>
              <p:ext uri="{D42A27DB-BD31-4B8C-83A1-F6EECF244321}">
                <p14:modId xmlns:p14="http://schemas.microsoft.com/office/powerpoint/2010/main" val="2078863007"/>
              </p:ext>
            </p:extLst>
          </p:nvPr>
        </p:nvGraphicFramePr>
        <p:xfrm>
          <a:off x="1781141" y="1498481"/>
          <a:ext cx="8163324" cy="4519822"/>
        </p:xfrm>
        <a:graphic>
          <a:graphicData uri="http://schemas.openxmlformats.org/drawingml/2006/chart">
            <c:chart xmlns:c="http://schemas.openxmlformats.org/drawingml/2006/chart" xmlns:r="http://schemas.openxmlformats.org/officeDocument/2006/relationships" r:id="rId2"/>
          </a:graphicData>
        </a:graphic>
      </p:graphicFrame>
      <p:sp>
        <p:nvSpPr>
          <p:cNvPr id="674" name="TextBox 8"/>
          <p:cNvSpPr txBox="1"/>
          <p:nvPr/>
        </p:nvSpPr>
        <p:spPr>
          <a:xfrm>
            <a:off x="7012838" y="4159477"/>
            <a:ext cx="690252"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C00000"/>
                </a:solidFill>
                <a:latin typeface="Calibri"/>
                <a:ea typeface="Calibri"/>
                <a:cs typeface="Calibri"/>
                <a:sym typeface="Calibri"/>
              </a:defRPr>
            </a:lvl1pPr>
          </a:lstStyle>
          <a:p>
            <a:r>
              <a:t>DRAM</a:t>
            </a:r>
          </a:p>
        </p:txBody>
      </p:sp>
      <p:sp>
        <p:nvSpPr>
          <p:cNvPr id="675" name="TextBox 9"/>
          <p:cNvSpPr txBox="1"/>
          <p:nvPr/>
        </p:nvSpPr>
        <p:spPr>
          <a:xfrm>
            <a:off x="7585999" y="5189356"/>
            <a:ext cx="48186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C00000"/>
                </a:solidFill>
                <a:latin typeface="Calibri"/>
                <a:ea typeface="Calibri"/>
                <a:cs typeface="Calibri"/>
                <a:sym typeface="Calibri"/>
              </a:defRPr>
            </a:lvl1pPr>
          </a:lstStyle>
          <a:p>
            <a:r>
              <a:t>CPU</a:t>
            </a:r>
          </a:p>
        </p:txBody>
      </p:sp>
      <p:sp>
        <p:nvSpPr>
          <p:cNvPr id="676" name="TextBox 10"/>
          <p:cNvSpPr txBox="1"/>
          <p:nvPr/>
        </p:nvSpPr>
        <p:spPr>
          <a:xfrm>
            <a:off x="7278913" y="2890509"/>
            <a:ext cx="44659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C00000"/>
                </a:solidFill>
                <a:latin typeface="Calibri"/>
                <a:ea typeface="Calibri"/>
                <a:cs typeface="Calibri"/>
                <a:sym typeface="Calibri"/>
              </a:defRPr>
            </a:lvl1pPr>
          </a:lstStyle>
          <a:p>
            <a:r>
              <a:t>SSD</a:t>
            </a:r>
          </a:p>
        </p:txBody>
      </p:sp>
      <p:sp>
        <p:nvSpPr>
          <p:cNvPr id="677" name="TextBox 7"/>
          <p:cNvSpPr txBox="1"/>
          <p:nvPr/>
        </p:nvSpPr>
        <p:spPr>
          <a:xfrm>
            <a:off x="6988756" y="2297668"/>
            <a:ext cx="48186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C00000"/>
                </a:solidFill>
                <a:latin typeface="Calibri"/>
                <a:ea typeface="Calibri"/>
                <a:cs typeface="Calibri"/>
                <a:sym typeface="Calibri"/>
              </a:defRPr>
            </a:lvl1pPr>
          </a:lstStyle>
          <a:p>
            <a:r>
              <a:t>Disk</a:t>
            </a:r>
          </a:p>
        </p:txBody>
      </p:sp>
    </p:spTree>
    <p:extLst>
      <p:ext uri="{BB962C8B-B14F-4D97-AF65-F5344CB8AC3E}">
        <p14:creationId xmlns:p14="http://schemas.microsoft.com/office/powerpoint/2010/main" val="374135289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5" name="Group 110"/>
          <p:cNvGrpSpPr/>
          <p:nvPr/>
        </p:nvGrpSpPr>
        <p:grpSpPr bwMode="auto">
          <a:xfrm>
            <a:off x="896326" y="1356853"/>
            <a:ext cx="11122893" cy="4542503"/>
            <a:chOff x="249" y="682"/>
            <a:chExt cx="6280" cy="2401"/>
          </a:xfrm>
        </p:grpSpPr>
        <p:sp>
          <p:nvSpPr>
            <p:cNvPr id="13318" name="Rectangle 3"/>
            <p:cNvSpPr>
              <a:spLocks noChangeArrowheads="1"/>
            </p:cNvSpPr>
            <p:nvPr/>
          </p:nvSpPr>
          <p:spPr bwMode="auto">
            <a:xfrm>
              <a:off x="5068" y="710"/>
              <a:ext cx="964" cy="537"/>
            </a:xfrm>
            <a:prstGeom prst="rect">
              <a:avLst/>
            </a:prstGeom>
            <a:noFill/>
            <a:ln w="9525">
              <a:noFill/>
              <a:miter lim="800000"/>
            </a:ln>
          </p:spPr>
          <p:txBody>
            <a:bodyPr lIns="92075" tIns="46039" rIns="92075" bIns="46039">
              <a:spAutoFit/>
            </a:bodyPr>
            <a:lstStyle/>
            <a:p>
              <a:r>
                <a:rPr kumimoji="1" lang="en-US" altLang="zh-TW" sz="2000">
                  <a:latin typeface="Arial" panose="020B0604020202090204" pitchFamily="34" charset="0"/>
                </a:rPr>
                <a:t>Proc</a:t>
              </a:r>
            </a:p>
            <a:p>
              <a:r>
                <a:rPr kumimoji="1" lang="en-US" altLang="zh-TW" sz="2000">
                  <a:latin typeface="Arial" panose="020B0604020202090204" pitchFamily="34" charset="0"/>
                </a:rPr>
                <a:t>60%/yr.</a:t>
              </a:r>
            </a:p>
            <a:p>
              <a:r>
                <a:rPr kumimoji="1" lang="en-US" altLang="zh-TW" sz="2000">
                  <a:latin typeface="Arial" panose="020B0604020202090204" pitchFamily="34" charset="0"/>
                </a:rPr>
                <a:t>(2X/1.5 yr)</a:t>
              </a:r>
              <a:endParaRPr kumimoji="1" lang="en-US" altLang="zh-TW">
                <a:latin typeface="Arial" panose="020B0604020202090204" pitchFamily="34" charset="0"/>
              </a:endParaRPr>
            </a:p>
          </p:txBody>
        </p:sp>
        <p:sp>
          <p:nvSpPr>
            <p:cNvPr id="13319" name="Rectangle 4"/>
            <p:cNvSpPr>
              <a:spLocks noChangeArrowheads="1"/>
            </p:cNvSpPr>
            <p:nvPr/>
          </p:nvSpPr>
          <p:spPr bwMode="auto">
            <a:xfrm>
              <a:off x="5044" y="2080"/>
              <a:ext cx="1485" cy="537"/>
            </a:xfrm>
            <a:prstGeom prst="rect">
              <a:avLst/>
            </a:prstGeom>
            <a:noFill/>
            <a:ln w="9525">
              <a:noFill/>
              <a:miter lim="800000"/>
            </a:ln>
          </p:spPr>
          <p:txBody>
            <a:bodyPr wrap="square" lIns="92075" tIns="46039" rIns="92075" bIns="46039">
              <a:spAutoFit/>
            </a:bodyPr>
            <a:lstStyle/>
            <a:p>
              <a:r>
                <a:rPr kumimoji="1" lang="en-US" altLang="zh-TW" sz="2000" dirty="0">
                  <a:latin typeface="Arial" panose="020B0604020202090204" pitchFamily="34" charset="0"/>
                </a:rPr>
                <a:t>DRAM (main memory)</a:t>
              </a:r>
            </a:p>
            <a:p>
              <a:r>
                <a:rPr kumimoji="1" lang="en-US" altLang="zh-TW" sz="2000" dirty="0">
                  <a:latin typeface="Arial" panose="020B0604020202090204" pitchFamily="34" charset="0"/>
                </a:rPr>
                <a:t>9%/yr.</a:t>
              </a:r>
            </a:p>
            <a:p>
              <a:r>
                <a:rPr kumimoji="1" lang="en-US" altLang="zh-TW" sz="2000" dirty="0">
                  <a:latin typeface="Arial" panose="020B0604020202090204" pitchFamily="34" charset="0"/>
                </a:rPr>
                <a:t>(2X/10 </a:t>
              </a:r>
              <a:r>
                <a:rPr kumimoji="1" lang="en-US" altLang="zh-TW" sz="2000" dirty="0" err="1">
                  <a:latin typeface="Arial" panose="020B0604020202090204" pitchFamily="34" charset="0"/>
                </a:rPr>
                <a:t>yrs</a:t>
              </a:r>
              <a:r>
                <a:rPr kumimoji="1" lang="en-US" altLang="zh-TW" sz="2000" dirty="0">
                  <a:latin typeface="Arial" panose="020B0604020202090204" pitchFamily="34" charset="0"/>
                </a:rPr>
                <a:t>)</a:t>
              </a:r>
              <a:endParaRPr kumimoji="1" lang="en-US" altLang="zh-TW" dirty="0">
                <a:latin typeface="Arial" panose="020B0604020202090204" pitchFamily="34" charset="0"/>
              </a:endParaRPr>
            </a:p>
          </p:txBody>
        </p:sp>
        <p:sp>
          <p:nvSpPr>
            <p:cNvPr id="13320" name="Arc 5"/>
            <p:cNvSpPr/>
            <p:nvPr/>
          </p:nvSpPr>
          <p:spPr bwMode="auto">
            <a:xfrm>
              <a:off x="4707" y="2166"/>
              <a:ext cx="390" cy="1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4"/>
                    <a:pt x="9634" y="33"/>
                    <a:pt x="21540" y="0"/>
                  </a:cubicBezTo>
                </a:path>
                <a:path w="21600" h="21600" stroke="0" extrusionOk="0">
                  <a:moveTo>
                    <a:pt x="0" y="21600"/>
                  </a:moveTo>
                  <a:cubicBezTo>
                    <a:pt x="0" y="9694"/>
                    <a:pt x="9634" y="33"/>
                    <a:pt x="21540" y="0"/>
                  </a:cubicBezTo>
                  <a:lnTo>
                    <a:pt x="21600" y="21600"/>
                  </a:lnTo>
                  <a:lnTo>
                    <a:pt x="0" y="21600"/>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321" name="Line 6"/>
            <p:cNvSpPr>
              <a:spLocks noChangeShapeType="1"/>
            </p:cNvSpPr>
            <p:nvPr/>
          </p:nvSpPr>
          <p:spPr bwMode="auto">
            <a:xfrm>
              <a:off x="4641" y="831"/>
              <a:ext cx="17"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2" name="Line 7"/>
            <p:cNvSpPr>
              <a:spLocks noChangeShapeType="1"/>
            </p:cNvSpPr>
            <p:nvPr/>
          </p:nvSpPr>
          <p:spPr bwMode="auto">
            <a:xfrm flipV="1">
              <a:off x="1005" y="827"/>
              <a:ext cx="0" cy="1832"/>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3" name="Line 8"/>
            <p:cNvSpPr>
              <a:spLocks noChangeShapeType="1"/>
            </p:cNvSpPr>
            <p:nvPr/>
          </p:nvSpPr>
          <p:spPr bwMode="auto">
            <a:xfrm>
              <a:off x="975" y="2544"/>
              <a:ext cx="52"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4" name="Line 9"/>
            <p:cNvSpPr>
              <a:spLocks noChangeShapeType="1"/>
            </p:cNvSpPr>
            <p:nvPr/>
          </p:nvSpPr>
          <p:spPr bwMode="auto">
            <a:xfrm>
              <a:off x="1001" y="2688"/>
              <a:ext cx="3666" cy="0"/>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5" name="Line 10"/>
            <p:cNvSpPr>
              <a:spLocks noChangeShapeType="1"/>
            </p:cNvSpPr>
            <p:nvPr/>
          </p:nvSpPr>
          <p:spPr bwMode="auto">
            <a:xfrm flipV="1">
              <a:off x="1005"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6" name="Line 11"/>
            <p:cNvSpPr>
              <a:spLocks noChangeShapeType="1"/>
            </p:cNvSpPr>
            <p:nvPr/>
          </p:nvSpPr>
          <p:spPr bwMode="auto">
            <a:xfrm flipV="1">
              <a:off x="1187"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7" name="Line 12"/>
            <p:cNvSpPr>
              <a:spLocks noChangeShapeType="1"/>
            </p:cNvSpPr>
            <p:nvPr/>
          </p:nvSpPr>
          <p:spPr bwMode="auto">
            <a:xfrm flipV="1">
              <a:off x="1378"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8" name="Line 13"/>
            <p:cNvSpPr>
              <a:spLocks noChangeShapeType="1"/>
            </p:cNvSpPr>
            <p:nvPr/>
          </p:nvSpPr>
          <p:spPr bwMode="auto">
            <a:xfrm flipV="1">
              <a:off x="1560"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9" name="Line 14"/>
            <p:cNvSpPr>
              <a:spLocks noChangeShapeType="1"/>
            </p:cNvSpPr>
            <p:nvPr/>
          </p:nvSpPr>
          <p:spPr bwMode="auto">
            <a:xfrm flipV="1">
              <a:off x="1742"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0" name="Line 15"/>
            <p:cNvSpPr>
              <a:spLocks noChangeShapeType="1"/>
            </p:cNvSpPr>
            <p:nvPr/>
          </p:nvSpPr>
          <p:spPr bwMode="auto">
            <a:xfrm flipV="1">
              <a:off x="1924"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1" name="Line 16"/>
            <p:cNvSpPr>
              <a:spLocks noChangeShapeType="1"/>
            </p:cNvSpPr>
            <p:nvPr/>
          </p:nvSpPr>
          <p:spPr bwMode="auto">
            <a:xfrm flipV="1">
              <a:off x="2106"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2" name="Line 17"/>
            <p:cNvSpPr>
              <a:spLocks noChangeShapeType="1"/>
            </p:cNvSpPr>
            <p:nvPr/>
          </p:nvSpPr>
          <p:spPr bwMode="auto">
            <a:xfrm flipV="1">
              <a:off x="2288"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3" name="Line 18"/>
            <p:cNvSpPr>
              <a:spLocks noChangeShapeType="1"/>
            </p:cNvSpPr>
            <p:nvPr/>
          </p:nvSpPr>
          <p:spPr bwMode="auto">
            <a:xfrm flipV="1">
              <a:off x="2470"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4" name="Line 19"/>
            <p:cNvSpPr>
              <a:spLocks noChangeShapeType="1"/>
            </p:cNvSpPr>
            <p:nvPr/>
          </p:nvSpPr>
          <p:spPr bwMode="auto">
            <a:xfrm flipV="1">
              <a:off x="266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5" name="Line 20"/>
            <p:cNvSpPr>
              <a:spLocks noChangeShapeType="1"/>
            </p:cNvSpPr>
            <p:nvPr/>
          </p:nvSpPr>
          <p:spPr bwMode="auto">
            <a:xfrm flipV="1">
              <a:off x="28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6" name="Line 21"/>
            <p:cNvSpPr>
              <a:spLocks noChangeShapeType="1"/>
            </p:cNvSpPr>
            <p:nvPr/>
          </p:nvSpPr>
          <p:spPr bwMode="auto">
            <a:xfrm flipV="1">
              <a:off x="30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7" name="Line 22"/>
            <p:cNvSpPr>
              <a:spLocks noChangeShapeType="1"/>
            </p:cNvSpPr>
            <p:nvPr/>
          </p:nvSpPr>
          <p:spPr bwMode="auto">
            <a:xfrm flipV="1">
              <a:off x="32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8" name="Line 23"/>
            <p:cNvSpPr>
              <a:spLocks noChangeShapeType="1"/>
            </p:cNvSpPr>
            <p:nvPr/>
          </p:nvSpPr>
          <p:spPr bwMode="auto">
            <a:xfrm flipV="1">
              <a:off x="33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9" name="Line 24"/>
            <p:cNvSpPr>
              <a:spLocks noChangeShapeType="1"/>
            </p:cNvSpPr>
            <p:nvPr/>
          </p:nvSpPr>
          <p:spPr bwMode="auto">
            <a:xfrm flipV="1">
              <a:off x="35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0" name="Line 25"/>
            <p:cNvSpPr>
              <a:spLocks noChangeShapeType="1"/>
            </p:cNvSpPr>
            <p:nvPr/>
          </p:nvSpPr>
          <p:spPr bwMode="auto">
            <a:xfrm flipV="1">
              <a:off x="375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1" name="Line 26"/>
            <p:cNvSpPr>
              <a:spLocks noChangeShapeType="1"/>
            </p:cNvSpPr>
            <p:nvPr/>
          </p:nvSpPr>
          <p:spPr bwMode="auto">
            <a:xfrm flipV="1">
              <a:off x="39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2" name="Line 27"/>
            <p:cNvSpPr>
              <a:spLocks noChangeShapeType="1"/>
            </p:cNvSpPr>
            <p:nvPr/>
          </p:nvSpPr>
          <p:spPr bwMode="auto">
            <a:xfrm flipV="1">
              <a:off x="41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3" name="Line 28"/>
            <p:cNvSpPr>
              <a:spLocks noChangeShapeType="1"/>
            </p:cNvSpPr>
            <p:nvPr/>
          </p:nvSpPr>
          <p:spPr bwMode="auto">
            <a:xfrm flipV="1">
              <a:off x="43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4" name="Line 29"/>
            <p:cNvSpPr>
              <a:spLocks noChangeShapeType="1"/>
            </p:cNvSpPr>
            <p:nvPr/>
          </p:nvSpPr>
          <p:spPr bwMode="auto">
            <a:xfrm flipV="1">
              <a:off x="44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5" name="Line 30"/>
            <p:cNvSpPr>
              <a:spLocks noChangeShapeType="1"/>
            </p:cNvSpPr>
            <p:nvPr/>
          </p:nvSpPr>
          <p:spPr bwMode="auto">
            <a:xfrm flipV="1">
              <a:off x="46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6" name="Freeform 31"/>
            <p:cNvSpPr/>
            <p:nvPr/>
          </p:nvSpPr>
          <p:spPr bwMode="auto">
            <a:xfrm>
              <a:off x="1001" y="843"/>
              <a:ext cx="3667" cy="1817"/>
            </a:xfrm>
            <a:custGeom>
              <a:avLst/>
              <a:gdLst>
                <a:gd name="T0" fmla="*/ 0 w 3385"/>
                <a:gd name="T1" fmla="*/ 1816 h 1817"/>
                <a:gd name="T2" fmla="*/ 404 w 3385"/>
                <a:gd name="T3" fmla="*/ 1752 h 1817"/>
                <a:gd name="T4" fmla="*/ 829 w 3385"/>
                <a:gd name="T5" fmla="*/ 1696 h 1817"/>
                <a:gd name="T6" fmla="*/ 1236 w 3385"/>
                <a:gd name="T7" fmla="*/ 1640 h 1817"/>
                <a:gd name="T8" fmla="*/ 1637 w 3385"/>
                <a:gd name="T9" fmla="*/ 1576 h 1817"/>
                <a:gd name="T10" fmla="*/ 2045 w 3385"/>
                <a:gd name="T11" fmla="*/ 1520 h 1817"/>
                <a:gd name="T12" fmla="*/ 2452 w 3385"/>
                <a:gd name="T13" fmla="*/ 1456 h 1817"/>
                <a:gd name="T14" fmla="*/ 2856 w 3385"/>
                <a:gd name="T15" fmla="*/ 1400 h 1817"/>
                <a:gd name="T16" fmla="*/ 3260 w 3385"/>
                <a:gd name="T17" fmla="*/ 1296 h 1817"/>
                <a:gd name="T18" fmla="*/ 3684 w 3385"/>
                <a:gd name="T19" fmla="*/ 1184 h 1817"/>
                <a:gd name="T20" fmla="*/ 4089 w 3385"/>
                <a:gd name="T21" fmla="*/ 1080 h 1817"/>
                <a:gd name="T22" fmla="*/ 4494 w 3385"/>
                <a:gd name="T23" fmla="*/ 968 h 1817"/>
                <a:gd name="T24" fmla="*/ 4900 w 3385"/>
                <a:gd name="T25" fmla="*/ 864 h 1817"/>
                <a:gd name="T26" fmla="*/ 5305 w 3385"/>
                <a:gd name="T27" fmla="*/ 752 h 1817"/>
                <a:gd name="T28" fmla="*/ 5710 w 3385"/>
                <a:gd name="T29" fmla="*/ 648 h 1817"/>
                <a:gd name="T30" fmla="*/ 6115 w 3385"/>
                <a:gd name="T31" fmla="*/ 536 h 1817"/>
                <a:gd name="T32" fmla="*/ 6540 w 3385"/>
                <a:gd name="T33" fmla="*/ 432 h 1817"/>
                <a:gd name="T34" fmla="*/ 6945 w 3385"/>
                <a:gd name="T35" fmla="*/ 328 h 1817"/>
                <a:gd name="T36" fmla="*/ 7351 w 3385"/>
                <a:gd name="T37" fmla="*/ 216 h 1817"/>
                <a:gd name="T38" fmla="*/ 7755 w 3385"/>
                <a:gd name="T39" fmla="*/ 112 h 1817"/>
                <a:gd name="T40" fmla="*/ 8161 w 3385"/>
                <a:gd name="T41" fmla="*/ 0 h 18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1817"/>
                <a:gd name="T65" fmla="*/ 3385 w 3385"/>
                <a:gd name="T66" fmla="*/ 1817 h 18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1817">
                  <a:moveTo>
                    <a:pt x="0" y="1816"/>
                  </a:moveTo>
                  <a:lnTo>
                    <a:pt x="168" y="1752"/>
                  </a:lnTo>
                  <a:lnTo>
                    <a:pt x="344" y="1696"/>
                  </a:lnTo>
                  <a:lnTo>
                    <a:pt x="512" y="1640"/>
                  </a:lnTo>
                  <a:lnTo>
                    <a:pt x="680" y="1576"/>
                  </a:lnTo>
                  <a:lnTo>
                    <a:pt x="848" y="1520"/>
                  </a:lnTo>
                  <a:lnTo>
                    <a:pt x="1016" y="1456"/>
                  </a:lnTo>
                  <a:lnTo>
                    <a:pt x="1184" y="1400"/>
                  </a:lnTo>
                  <a:lnTo>
                    <a:pt x="1352" y="1296"/>
                  </a:lnTo>
                  <a:lnTo>
                    <a:pt x="1528" y="1184"/>
                  </a:lnTo>
                  <a:lnTo>
                    <a:pt x="1696" y="1080"/>
                  </a:lnTo>
                  <a:lnTo>
                    <a:pt x="1864" y="968"/>
                  </a:lnTo>
                  <a:lnTo>
                    <a:pt x="2032" y="864"/>
                  </a:lnTo>
                  <a:lnTo>
                    <a:pt x="2200" y="752"/>
                  </a:lnTo>
                  <a:lnTo>
                    <a:pt x="2368" y="648"/>
                  </a:lnTo>
                  <a:lnTo>
                    <a:pt x="2536" y="536"/>
                  </a:lnTo>
                  <a:lnTo>
                    <a:pt x="2712" y="432"/>
                  </a:lnTo>
                  <a:lnTo>
                    <a:pt x="2880" y="328"/>
                  </a:lnTo>
                  <a:lnTo>
                    <a:pt x="3048" y="216"/>
                  </a:lnTo>
                  <a:lnTo>
                    <a:pt x="3216" y="112"/>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7" name="Freeform 32"/>
            <p:cNvSpPr/>
            <p:nvPr/>
          </p:nvSpPr>
          <p:spPr bwMode="auto">
            <a:xfrm>
              <a:off x="1001" y="2299"/>
              <a:ext cx="3667" cy="361"/>
            </a:xfrm>
            <a:custGeom>
              <a:avLst/>
              <a:gdLst>
                <a:gd name="T0" fmla="*/ 0 w 3385"/>
                <a:gd name="T1" fmla="*/ 360 h 361"/>
                <a:gd name="T2" fmla="*/ 404 w 3385"/>
                <a:gd name="T3" fmla="*/ 344 h 361"/>
                <a:gd name="T4" fmla="*/ 829 w 3385"/>
                <a:gd name="T5" fmla="*/ 320 h 361"/>
                <a:gd name="T6" fmla="*/ 1236 w 3385"/>
                <a:gd name="T7" fmla="*/ 304 h 361"/>
                <a:gd name="T8" fmla="*/ 1637 w 3385"/>
                <a:gd name="T9" fmla="*/ 288 h 361"/>
                <a:gd name="T10" fmla="*/ 2045 w 3385"/>
                <a:gd name="T11" fmla="*/ 272 h 361"/>
                <a:gd name="T12" fmla="*/ 2452 w 3385"/>
                <a:gd name="T13" fmla="*/ 248 h 361"/>
                <a:gd name="T14" fmla="*/ 2856 w 3385"/>
                <a:gd name="T15" fmla="*/ 232 h 361"/>
                <a:gd name="T16" fmla="*/ 3260 w 3385"/>
                <a:gd name="T17" fmla="*/ 216 h 361"/>
                <a:gd name="T18" fmla="*/ 3684 w 3385"/>
                <a:gd name="T19" fmla="*/ 200 h 361"/>
                <a:gd name="T20" fmla="*/ 4089 w 3385"/>
                <a:gd name="T21" fmla="*/ 176 h 361"/>
                <a:gd name="T22" fmla="*/ 4494 w 3385"/>
                <a:gd name="T23" fmla="*/ 160 h 361"/>
                <a:gd name="T24" fmla="*/ 4900 w 3385"/>
                <a:gd name="T25" fmla="*/ 144 h 361"/>
                <a:gd name="T26" fmla="*/ 5305 w 3385"/>
                <a:gd name="T27" fmla="*/ 128 h 361"/>
                <a:gd name="T28" fmla="*/ 5710 w 3385"/>
                <a:gd name="T29" fmla="*/ 104 h 361"/>
                <a:gd name="T30" fmla="*/ 6115 w 3385"/>
                <a:gd name="T31" fmla="*/ 88 h 361"/>
                <a:gd name="T32" fmla="*/ 6540 w 3385"/>
                <a:gd name="T33" fmla="*/ 72 h 361"/>
                <a:gd name="T34" fmla="*/ 6945 w 3385"/>
                <a:gd name="T35" fmla="*/ 56 h 361"/>
                <a:gd name="T36" fmla="*/ 7351 w 3385"/>
                <a:gd name="T37" fmla="*/ 32 h 361"/>
                <a:gd name="T38" fmla="*/ 7755 w 3385"/>
                <a:gd name="T39" fmla="*/ 16 h 361"/>
                <a:gd name="T40" fmla="*/ 8161 w 3385"/>
                <a:gd name="T41" fmla="*/ 0 h 3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361"/>
                <a:gd name="T65" fmla="*/ 3385 w 3385"/>
                <a:gd name="T66" fmla="*/ 361 h 3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361">
                  <a:moveTo>
                    <a:pt x="0" y="360"/>
                  </a:moveTo>
                  <a:lnTo>
                    <a:pt x="168" y="344"/>
                  </a:lnTo>
                  <a:lnTo>
                    <a:pt x="344" y="320"/>
                  </a:lnTo>
                  <a:lnTo>
                    <a:pt x="512" y="304"/>
                  </a:lnTo>
                  <a:lnTo>
                    <a:pt x="680" y="288"/>
                  </a:lnTo>
                  <a:lnTo>
                    <a:pt x="848" y="272"/>
                  </a:lnTo>
                  <a:lnTo>
                    <a:pt x="1016" y="248"/>
                  </a:lnTo>
                  <a:lnTo>
                    <a:pt x="1184" y="232"/>
                  </a:lnTo>
                  <a:lnTo>
                    <a:pt x="1352" y="216"/>
                  </a:lnTo>
                  <a:lnTo>
                    <a:pt x="1528" y="200"/>
                  </a:lnTo>
                  <a:lnTo>
                    <a:pt x="1696" y="176"/>
                  </a:lnTo>
                  <a:lnTo>
                    <a:pt x="1864" y="160"/>
                  </a:lnTo>
                  <a:lnTo>
                    <a:pt x="2032" y="144"/>
                  </a:lnTo>
                  <a:lnTo>
                    <a:pt x="2200" y="128"/>
                  </a:lnTo>
                  <a:lnTo>
                    <a:pt x="2368" y="104"/>
                  </a:lnTo>
                  <a:lnTo>
                    <a:pt x="2536" y="88"/>
                  </a:lnTo>
                  <a:lnTo>
                    <a:pt x="2712" y="72"/>
                  </a:lnTo>
                  <a:lnTo>
                    <a:pt x="2880" y="56"/>
                  </a:lnTo>
                  <a:lnTo>
                    <a:pt x="3048" y="32"/>
                  </a:lnTo>
                  <a:lnTo>
                    <a:pt x="3216" y="16"/>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8" name="Rectangle 33"/>
            <p:cNvSpPr>
              <a:spLocks noChangeArrowheads="1"/>
            </p:cNvSpPr>
            <p:nvPr/>
          </p:nvSpPr>
          <p:spPr bwMode="auto">
            <a:xfrm>
              <a:off x="979" y="2634"/>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49" name="Rectangle 34"/>
            <p:cNvSpPr>
              <a:spLocks noChangeArrowheads="1"/>
            </p:cNvSpPr>
            <p:nvPr/>
          </p:nvSpPr>
          <p:spPr bwMode="auto">
            <a:xfrm>
              <a:off x="1161" y="2570"/>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0" name="Rectangle 35"/>
            <p:cNvSpPr>
              <a:spLocks noChangeArrowheads="1"/>
            </p:cNvSpPr>
            <p:nvPr/>
          </p:nvSpPr>
          <p:spPr bwMode="auto">
            <a:xfrm>
              <a:off x="1352" y="25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1" name="Rectangle 36"/>
            <p:cNvSpPr>
              <a:spLocks noChangeArrowheads="1"/>
            </p:cNvSpPr>
            <p:nvPr/>
          </p:nvSpPr>
          <p:spPr bwMode="auto">
            <a:xfrm>
              <a:off x="1534" y="246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2" name="Rectangle 37"/>
            <p:cNvSpPr>
              <a:spLocks noChangeArrowheads="1"/>
            </p:cNvSpPr>
            <p:nvPr/>
          </p:nvSpPr>
          <p:spPr bwMode="auto">
            <a:xfrm>
              <a:off x="1716" y="239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3" name="Rectangle 38"/>
            <p:cNvSpPr>
              <a:spLocks noChangeArrowheads="1"/>
            </p:cNvSpPr>
            <p:nvPr/>
          </p:nvSpPr>
          <p:spPr bwMode="auto">
            <a:xfrm>
              <a:off x="1898" y="234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4" name="Rectangle 39"/>
            <p:cNvSpPr>
              <a:spLocks noChangeArrowheads="1"/>
            </p:cNvSpPr>
            <p:nvPr/>
          </p:nvSpPr>
          <p:spPr bwMode="auto">
            <a:xfrm>
              <a:off x="2080" y="227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5" name="Rectangle 40"/>
            <p:cNvSpPr>
              <a:spLocks noChangeArrowheads="1"/>
            </p:cNvSpPr>
            <p:nvPr/>
          </p:nvSpPr>
          <p:spPr bwMode="auto">
            <a:xfrm>
              <a:off x="2262" y="22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6" name="Rectangle 41"/>
            <p:cNvSpPr>
              <a:spLocks noChangeArrowheads="1"/>
            </p:cNvSpPr>
            <p:nvPr/>
          </p:nvSpPr>
          <p:spPr bwMode="auto">
            <a:xfrm>
              <a:off x="2444" y="21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7" name="Rectangle 42"/>
            <p:cNvSpPr>
              <a:spLocks noChangeArrowheads="1"/>
            </p:cNvSpPr>
            <p:nvPr/>
          </p:nvSpPr>
          <p:spPr bwMode="auto">
            <a:xfrm>
              <a:off x="2635" y="200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8" name="Rectangle 43"/>
            <p:cNvSpPr>
              <a:spLocks noChangeArrowheads="1"/>
            </p:cNvSpPr>
            <p:nvPr/>
          </p:nvSpPr>
          <p:spPr bwMode="auto">
            <a:xfrm>
              <a:off x="2817" y="1903"/>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9" name="Rectangle 44"/>
            <p:cNvSpPr>
              <a:spLocks noChangeArrowheads="1"/>
            </p:cNvSpPr>
            <p:nvPr/>
          </p:nvSpPr>
          <p:spPr bwMode="auto">
            <a:xfrm>
              <a:off x="2999" y="179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0" name="Rectangle 45"/>
            <p:cNvSpPr>
              <a:spLocks noChangeArrowheads="1"/>
            </p:cNvSpPr>
            <p:nvPr/>
          </p:nvSpPr>
          <p:spPr bwMode="auto">
            <a:xfrm>
              <a:off x="3181" y="168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1" name="Rectangle 46"/>
            <p:cNvSpPr>
              <a:spLocks noChangeArrowheads="1"/>
            </p:cNvSpPr>
            <p:nvPr/>
          </p:nvSpPr>
          <p:spPr bwMode="auto">
            <a:xfrm>
              <a:off x="3363" y="1575"/>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2" name="Rectangle 47"/>
            <p:cNvSpPr>
              <a:spLocks noChangeArrowheads="1"/>
            </p:cNvSpPr>
            <p:nvPr/>
          </p:nvSpPr>
          <p:spPr bwMode="auto">
            <a:xfrm>
              <a:off x="3545" y="147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3" name="Rectangle 48"/>
            <p:cNvSpPr>
              <a:spLocks noChangeArrowheads="1"/>
            </p:cNvSpPr>
            <p:nvPr/>
          </p:nvSpPr>
          <p:spPr bwMode="auto">
            <a:xfrm>
              <a:off x="3727" y="1359"/>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4" name="Rectangle 49"/>
            <p:cNvSpPr>
              <a:spLocks noChangeArrowheads="1"/>
            </p:cNvSpPr>
            <p:nvPr/>
          </p:nvSpPr>
          <p:spPr bwMode="auto">
            <a:xfrm>
              <a:off x="3917" y="125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5" name="Rectangle 50"/>
            <p:cNvSpPr>
              <a:spLocks noChangeArrowheads="1"/>
            </p:cNvSpPr>
            <p:nvPr/>
          </p:nvSpPr>
          <p:spPr bwMode="auto">
            <a:xfrm>
              <a:off x="4099" y="1151"/>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6" name="Rectangle 51"/>
            <p:cNvSpPr>
              <a:spLocks noChangeArrowheads="1"/>
            </p:cNvSpPr>
            <p:nvPr/>
          </p:nvSpPr>
          <p:spPr bwMode="auto">
            <a:xfrm>
              <a:off x="4281" y="103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7" name="Rectangle 52"/>
            <p:cNvSpPr>
              <a:spLocks noChangeArrowheads="1"/>
            </p:cNvSpPr>
            <p:nvPr/>
          </p:nvSpPr>
          <p:spPr bwMode="auto">
            <a:xfrm>
              <a:off x="4463" y="93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8" name="Rectangle 53"/>
            <p:cNvSpPr>
              <a:spLocks noChangeArrowheads="1"/>
            </p:cNvSpPr>
            <p:nvPr/>
          </p:nvSpPr>
          <p:spPr bwMode="auto">
            <a:xfrm>
              <a:off x="4645" y="8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9" name="Rectangle 54"/>
            <p:cNvSpPr>
              <a:spLocks noChangeArrowheads="1"/>
            </p:cNvSpPr>
            <p:nvPr/>
          </p:nvSpPr>
          <p:spPr bwMode="auto">
            <a:xfrm>
              <a:off x="979" y="263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0" name="Rectangle 55"/>
            <p:cNvSpPr>
              <a:spLocks noChangeArrowheads="1"/>
            </p:cNvSpPr>
            <p:nvPr/>
          </p:nvSpPr>
          <p:spPr bwMode="auto">
            <a:xfrm>
              <a:off x="1161" y="261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1" name="Rectangle 56"/>
            <p:cNvSpPr>
              <a:spLocks noChangeArrowheads="1"/>
            </p:cNvSpPr>
            <p:nvPr/>
          </p:nvSpPr>
          <p:spPr bwMode="auto">
            <a:xfrm>
              <a:off x="1352" y="259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2" name="Rectangle 57"/>
            <p:cNvSpPr>
              <a:spLocks noChangeArrowheads="1"/>
            </p:cNvSpPr>
            <p:nvPr/>
          </p:nvSpPr>
          <p:spPr bwMode="auto">
            <a:xfrm>
              <a:off x="1534" y="257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3" name="Rectangle 58"/>
            <p:cNvSpPr>
              <a:spLocks noChangeArrowheads="1"/>
            </p:cNvSpPr>
            <p:nvPr/>
          </p:nvSpPr>
          <p:spPr bwMode="auto">
            <a:xfrm>
              <a:off x="1716" y="256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4" name="Rectangle 59"/>
            <p:cNvSpPr>
              <a:spLocks noChangeArrowheads="1"/>
            </p:cNvSpPr>
            <p:nvPr/>
          </p:nvSpPr>
          <p:spPr bwMode="auto">
            <a:xfrm>
              <a:off x="1898" y="2546"/>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5" name="Rectangle 60"/>
            <p:cNvSpPr>
              <a:spLocks noChangeArrowheads="1"/>
            </p:cNvSpPr>
            <p:nvPr/>
          </p:nvSpPr>
          <p:spPr bwMode="auto">
            <a:xfrm>
              <a:off x="2080" y="252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6" name="Rectangle 61"/>
            <p:cNvSpPr>
              <a:spLocks noChangeArrowheads="1"/>
            </p:cNvSpPr>
            <p:nvPr/>
          </p:nvSpPr>
          <p:spPr bwMode="auto">
            <a:xfrm>
              <a:off x="2262" y="25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7" name="Rectangle 62"/>
            <p:cNvSpPr>
              <a:spLocks noChangeArrowheads="1"/>
            </p:cNvSpPr>
            <p:nvPr/>
          </p:nvSpPr>
          <p:spPr bwMode="auto">
            <a:xfrm>
              <a:off x="2444" y="24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8" name="Rectangle 63"/>
            <p:cNvSpPr>
              <a:spLocks noChangeArrowheads="1"/>
            </p:cNvSpPr>
            <p:nvPr/>
          </p:nvSpPr>
          <p:spPr bwMode="auto">
            <a:xfrm>
              <a:off x="2635" y="247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9" name="Rectangle 64"/>
            <p:cNvSpPr>
              <a:spLocks noChangeArrowheads="1"/>
            </p:cNvSpPr>
            <p:nvPr/>
          </p:nvSpPr>
          <p:spPr bwMode="auto">
            <a:xfrm>
              <a:off x="2817" y="2455"/>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0" name="Rectangle 65"/>
            <p:cNvSpPr>
              <a:spLocks noChangeArrowheads="1"/>
            </p:cNvSpPr>
            <p:nvPr/>
          </p:nvSpPr>
          <p:spPr bwMode="auto">
            <a:xfrm>
              <a:off x="2999" y="243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1" name="Rectangle 66"/>
            <p:cNvSpPr>
              <a:spLocks noChangeArrowheads="1"/>
            </p:cNvSpPr>
            <p:nvPr/>
          </p:nvSpPr>
          <p:spPr bwMode="auto">
            <a:xfrm>
              <a:off x="3181" y="242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2" name="Rectangle 67"/>
            <p:cNvSpPr>
              <a:spLocks noChangeArrowheads="1"/>
            </p:cNvSpPr>
            <p:nvPr/>
          </p:nvSpPr>
          <p:spPr bwMode="auto">
            <a:xfrm>
              <a:off x="3363" y="240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3" name="Rectangle 68"/>
            <p:cNvSpPr>
              <a:spLocks noChangeArrowheads="1"/>
            </p:cNvSpPr>
            <p:nvPr/>
          </p:nvSpPr>
          <p:spPr bwMode="auto">
            <a:xfrm>
              <a:off x="3545" y="238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4" name="Rectangle 69"/>
            <p:cNvSpPr>
              <a:spLocks noChangeArrowheads="1"/>
            </p:cNvSpPr>
            <p:nvPr/>
          </p:nvSpPr>
          <p:spPr bwMode="auto">
            <a:xfrm>
              <a:off x="3727" y="236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5" name="Rectangle 70"/>
            <p:cNvSpPr>
              <a:spLocks noChangeArrowheads="1"/>
            </p:cNvSpPr>
            <p:nvPr/>
          </p:nvSpPr>
          <p:spPr bwMode="auto">
            <a:xfrm>
              <a:off x="3917" y="235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6" name="Rectangle 71"/>
            <p:cNvSpPr>
              <a:spLocks noChangeArrowheads="1"/>
            </p:cNvSpPr>
            <p:nvPr/>
          </p:nvSpPr>
          <p:spPr bwMode="auto">
            <a:xfrm>
              <a:off x="4099" y="233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7" name="Rectangle 72"/>
            <p:cNvSpPr>
              <a:spLocks noChangeArrowheads="1"/>
            </p:cNvSpPr>
            <p:nvPr/>
          </p:nvSpPr>
          <p:spPr bwMode="auto">
            <a:xfrm>
              <a:off x="4281" y="23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8" name="Rectangle 73"/>
            <p:cNvSpPr>
              <a:spLocks noChangeArrowheads="1"/>
            </p:cNvSpPr>
            <p:nvPr/>
          </p:nvSpPr>
          <p:spPr bwMode="auto">
            <a:xfrm>
              <a:off x="4463" y="22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9" name="Rectangle 74"/>
            <p:cNvSpPr>
              <a:spLocks noChangeArrowheads="1"/>
            </p:cNvSpPr>
            <p:nvPr/>
          </p:nvSpPr>
          <p:spPr bwMode="auto">
            <a:xfrm>
              <a:off x="4645" y="2279"/>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90" name="Rectangle 75"/>
            <p:cNvSpPr>
              <a:spLocks noChangeArrowheads="1"/>
            </p:cNvSpPr>
            <p:nvPr/>
          </p:nvSpPr>
          <p:spPr bwMode="auto">
            <a:xfrm>
              <a:off x="728" y="2514"/>
              <a:ext cx="21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a:t>
              </a:r>
            </a:p>
          </p:txBody>
        </p:sp>
        <p:sp>
          <p:nvSpPr>
            <p:cNvPr id="13391" name="Rectangle 76"/>
            <p:cNvSpPr>
              <a:spLocks noChangeArrowheads="1"/>
            </p:cNvSpPr>
            <p:nvPr/>
          </p:nvSpPr>
          <p:spPr bwMode="auto">
            <a:xfrm>
              <a:off x="563" y="1906"/>
              <a:ext cx="331"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a:t>
              </a:r>
            </a:p>
          </p:txBody>
        </p:sp>
        <p:sp>
          <p:nvSpPr>
            <p:cNvPr id="13392" name="Rectangle 77"/>
            <p:cNvSpPr>
              <a:spLocks noChangeArrowheads="1"/>
            </p:cNvSpPr>
            <p:nvPr/>
          </p:nvSpPr>
          <p:spPr bwMode="auto">
            <a:xfrm>
              <a:off x="451" y="1346"/>
              <a:ext cx="444"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a:t>
              </a:r>
            </a:p>
          </p:txBody>
        </p:sp>
        <p:sp>
          <p:nvSpPr>
            <p:cNvPr id="13393" name="Rectangle 78"/>
            <p:cNvSpPr>
              <a:spLocks noChangeArrowheads="1"/>
            </p:cNvSpPr>
            <p:nvPr/>
          </p:nvSpPr>
          <p:spPr bwMode="auto">
            <a:xfrm>
              <a:off x="286" y="682"/>
              <a:ext cx="55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1000</a:t>
              </a:r>
            </a:p>
          </p:txBody>
        </p:sp>
        <p:sp>
          <p:nvSpPr>
            <p:cNvPr id="13394" name="Rectangle 79"/>
            <p:cNvSpPr>
              <a:spLocks noChangeArrowheads="1"/>
            </p:cNvSpPr>
            <p:nvPr/>
          </p:nvSpPr>
          <p:spPr bwMode="auto">
            <a:xfrm rot="16200000">
              <a:off x="83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1980</a:t>
              </a:r>
            </a:p>
          </p:txBody>
        </p:sp>
        <p:sp>
          <p:nvSpPr>
            <p:cNvPr id="13395" name="Rectangle 80"/>
            <p:cNvSpPr>
              <a:spLocks noChangeArrowheads="1"/>
            </p:cNvSpPr>
            <p:nvPr/>
          </p:nvSpPr>
          <p:spPr bwMode="auto">
            <a:xfrm rot="16200000">
              <a:off x="1015"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1981</a:t>
              </a:r>
            </a:p>
          </p:txBody>
        </p:sp>
        <p:sp>
          <p:nvSpPr>
            <p:cNvPr id="13396" name="Rectangle 81"/>
            <p:cNvSpPr>
              <a:spLocks noChangeArrowheads="1"/>
            </p:cNvSpPr>
            <p:nvPr/>
          </p:nvSpPr>
          <p:spPr bwMode="auto">
            <a:xfrm rot="16200000">
              <a:off x="137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1983</a:t>
              </a:r>
            </a:p>
          </p:txBody>
        </p:sp>
        <p:sp>
          <p:nvSpPr>
            <p:cNvPr id="13397" name="Rectangle 82"/>
            <p:cNvSpPr>
              <a:spLocks noChangeArrowheads="1"/>
            </p:cNvSpPr>
            <p:nvPr/>
          </p:nvSpPr>
          <p:spPr bwMode="auto">
            <a:xfrm rot="16200000">
              <a:off x="1561"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1984</a:t>
              </a:r>
            </a:p>
          </p:txBody>
        </p:sp>
        <p:sp>
          <p:nvSpPr>
            <p:cNvPr id="13398" name="Rectangle 83"/>
            <p:cNvSpPr>
              <a:spLocks noChangeArrowheads="1"/>
            </p:cNvSpPr>
            <p:nvPr/>
          </p:nvSpPr>
          <p:spPr bwMode="auto">
            <a:xfrm rot="16200000">
              <a:off x="174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1985</a:t>
              </a:r>
            </a:p>
          </p:txBody>
        </p:sp>
        <p:sp>
          <p:nvSpPr>
            <p:cNvPr id="13399" name="Rectangle 84"/>
            <p:cNvSpPr>
              <a:spLocks noChangeArrowheads="1"/>
            </p:cNvSpPr>
            <p:nvPr/>
          </p:nvSpPr>
          <p:spPr bwMode="auto">
            <a:xfrm rot="16200000">
              <a:off x="19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1986</a:t>
              </a:r>
            </a:p>
          </p:txBody>
        </p:sp>
        <p:sp>
          <p:nvSpPr>
            <p:cNvPr id="13400" name="Rectangle 85"/>
            <p:cNvSpPr>
              <a:spLocks noChangeArrowheads="1"/>
            </p:cNvSpPr>
            <p:nvPr/>
          </p:nvSpPr>
          <p:spPr bwMode="auto">
            <a:xfrm rot="16200000">
              <a:off x="21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1987</a:t>
              </a:r>
            </a:p>
          </p:txBody>
        </p:sp>
        <p:sp>
          <p:nvSpPr>
            <p:cNvPr id="13401" name="Rectangle 86"/>
            <p:cNvSpPr>
              <a:spLocks noChangeArrowheads="1"/>
            </p:cNvSpPr>
            <p:nvPr/>
          </p:nvSpPr>
          <p:spPr bwMode="auto">
            <a:xfrm rot="16200000">
              <a:off x="22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1988</a:t>
              </a:r>
            </a:p>
          </p:txBody>
        </p:sp>
        <p:sp>
          <p:nvSpPr>
            <p:cNvPr id="13402" name="Rectangle 87"/>
            <p:cNvSpPr>
              <a:spLocks noChangeArrowheads="1"/>
            </p:cNvSpPr>
            <p:nvPr/>
          </p:nvSpPr>
          <p:spPr bwMode="auto">
            <a:xfrm rot="16200000">
              <a:off x="24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1989</a:t>
              </a:r>
            </a:p>
          </p:txBody>
        </p:sp>
        <p:sp>
          <p:nvSpPr>
            <p:cNvPr id="13403" name="Rectangle 88"/>
            <p:cNvSpPr>
              <a:spLocks noChangeArrowheads="1"/>
            </p:cNvSpPr>
            <p:nvPr/>
          </p:nvSpPr>
          <p:spPr bwMode="auto">
            <a:xfrm rot="16200000">
              <a:off x="26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1990</a:t>
              </a:r>
            </a:p>
          </p:txBody>
        </p:sp>
        <p:sp>
          <p:nvSpPr>
            <p:cNvPr id="13404" name="Rectangle 89"/>
            <p:cNvSpPr>
              <a:spLocks noChangeArrowheads="1"/>
            </p:cNvSpPr>
            <p:nvPr/>
          </p:nvSpPr>
          <p:spPr bwMode="auto">
            <a:xfrm rot="16200000">
              <a:off x="28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1991</a:t>
              </a:r>
            </a:p>
          </p:txBody>
        </p:sp>
        <p:sp>
          <p:nvSpPr>
            <p:cNvPr id="13405" name="Rectangle 90"/>
            <p:cNvSpPr>
              <a:spLocks noChangeArrowheads="1"/>
            </p:cNvSpPr>
            <p:nvPr/>
          </p:nvSpPr>
          <p:spPr bwMode="auto">
            <a:xfrm rot="16200000">
              <a:off x="30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1992</a:t>
              </a:r>
            </a:p>
          </p:txBody>
        </p:sp>
        <p:sp>
          <p:nvSpPr>
            <p:cNvPr id="13406" name="Rectangle 91"/>
            <p:cNvSpPr>
              <a:spLocks noChangeArrowheads="1"/>
            </p:cNvSpPr>
            <p:nvPr/>
          </p:nvSpPr>
          <p:spPr bwMode="auto">
            <a:xfrm rot="16200000">
              <a:off x="32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1993</a:t>
              </a:r>
            </a:p>
          </p:txBody>
        </p:sp>
        <p:sp>
          <p:nvSpPr>
            <p:cNvPr id="13407" name="Rectangle 92"/>
            <p:cNvSpPr>
              <a:spLocks noChangeArrowheads="1"/>
            </p:cNvSpPr>
            <p:nvPr/>
          </p:nvSpPr>
          <p:spPr bwMode="auto">
            <a:xfrm rot="16200000">
              <a:off x="3398"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1994</a:t>
              </a:r>
            </a:p>
          </p:txBody>
        </p:sp>
        <p:sp>
          <p:nvSpPr>
            <p:cNvPr id="13408" name="Rectangle 93"/>
            <p:cNvSpPr>
              <a:spLocks noChangeArrowheads="1"/>
            </p:cNvSpPr>
            <p:nvPr/>
          </p:nvSpPr>
          <p:spPr bwMode="auto">
            <a:xfrm rot="16200000">
              <a:off x="35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1995</a:t>
              </a:r>
            </a:p>
          </p:txBody>
        </p:sp>
        <p:sp>
          <p:nvSpPr>
            <p:cNvPr id="13409" name="Rectangle 94"/>
            <p:cNvSpPr>
              <a:spLocks noChangeArrowheads="1"/>
            </p:cNvSpPr>
            <p:nvPr/>
          </p:nvSpPr>
          <p:spPr bwMode="auto">
            <a:xfrm rot="16200000">
              <a:off x="37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1996</a:t>
              </a:r>
            </a:p>
          </p:txBody>
        </p:sp>
        <p:sp>
          <p:nvSpPr>
            <p:cNvPr id="13410" name="Rectangle 95"/>
            <p:cNvSpPr>
              <a:spLocks noChangeArrowheads="1"/>
            </p:cNvSpPr>
            <p:nvPr/>
          </p:nvSpPr>
          <p:spPr bwMode="auto">
            <a:xfrm rot="16200000">
              <a:off x="39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1997</a:t>
              </a:r>
            </a:p>
          </p:txBody>
        </p:sp>
        <p:sp>
          <p:nvSpPr>
            <p:cNvPr id="13411" name="Rectangle 96"/>
            <p:cNvSpPr>
              <a:spLocks noChangeArrowheads="1"/>
            </p:cNvSpPr>
            <p:nvPr/>
          </p:nvSpPr>
          <p:spPr bwMode="auto">
            <a:xfrm rot="16200000">
              <a:off x="412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1998</a:t>
              </a:r>
            </a:p>
          </p:txBody>
        </p:sp>
        <p:sp>
          <p:nvSpPr>
            <p:cNvPr id="13412" name="Rectangle 97"/>
            <p:cNvSpPr>
              <a:spLocks noChangeArrowheads="1"/>
            </p:cNvSpPr>
            <p:nvPr/>
          </p:nvSpPr>
          <p:spPr bwMode="auto">
            <a:xfrm rot="16200000">
              <a:off x="4317"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1999</a:t>
              </a:r>
            </a:p>
          </p:txBody>
        </p:sp>
        <p:sp>
          <p:nvSpPr>
            <p:cNvPr id="13413" name="Rectangle 98"/>
            <p:cNvSpPr>
              <a:spLocks noChangeArrowheads="1"/>
            </p:cNvSpPr>
            <p:nvPr/>
          </p:nvSpPr>
          <p:spPr bwMode="auto">
            <a:xfrm rot="16200000">
              <a:off x="44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2000</a:t>
              </a:r>
            </a:p>
          </p:txBody>
        </p:sp>
        <p:sp>
          <p:nvSpPr>
            <p:cNvPr id="13414" name="Arc 99"/>
            <p:cNvSpPr/>
            <p:nvPr/>
          </p:nvSpPr>
          <p:spPr bwMode="auto">
            <a:xfrm flipV="1">
              <a:off x="4529" y="960"/>
              <a:ext cx="571" cy="195"/>
            </a:xfrm>
            <a:custGeom>
              <a:avLst/>
              <a:gdLst>
                <a:gd name="T0" fmla="*/ 0 w 21513"/>
                <a:gd name="T1" fmla="*/ 0 h 21519"/>
                <a:gd name="T2" fmla="*/ 0 w 21513"/>
                <a:gd name="T3" fmla="*/ 0 h 21519"/>
                <a:gd name="T4" fmla="*/ 0 w 21513"/>
                <a:gd name="T5" fmla="*/ 0 h 21519"/>
                <a:gd name="T6" fmla="*/ 0 60000 65536"/>
                <a:gd name="T7" fmla="*/ 0 60000 65536"/>
                <a:gd name="T8" fmla="*/ 0 60000 65536"/>
                <a:gd name="T9" fmla="*/ 0 w 21513"/>
                <a:gd name="T10" fmla="*/ 0 h 21519"/>
                <a:gd name="T11" fmla="*/ 21513 w 21513"/>
                <a:gd name="T12" fmla="*/ 21519 h 21519"/>
              </a:gdLst>
              <a:ahLst/>
              <a:cxnLst>
                <a:cxn ang="T6">
                  <a:pos x="T0" y="T1"/>
                </a:cxn>
                <a:cxn ang="T7">
                  <a:pos x="T2" y="T3"/>
                </a:cxn>
                <a:cxn ang="T8">
                  <a:pos x="T4" y="T5"/>
                </a:cxn>
              </a:cxnLst>
              <a:rect l="T9" t="T10" r="T11" b="T12"/>
              <a:pathLst>
                <a:path w="21513" h="21519" fill="none" extrusionOk="0">
                  <a:moveTo>
                    <a:pt x="0" y="19582"/>
                  </a:moveTo>
                  <a:cubicBezTo>
                    <a:pt x="938" y="9156"/>
                    <a:pt x="9217" y="904"/>
                    <a:pt x="19645" y="-1"/>
                  </a:cubicBezTo>
                </a:path>
                <a:path w="21513" h="21519" stroke="0" extrusionOk="0">
                  <a:moveTo>
                    <a:pt x="0" y="19582"/>
                  </a:moveTo>
                  <a:cubicBezTo>
                    <a:pt x="938" y="9156"/>
                    <a:pt x="9217" y="904"/>
                    <a:pt x="19645" y="-1"/>
                  </a:cubicBezTo>
                  <a:lnTo>
                    <a:pt x="21513" y="21519"/>
                  </a:lnTo>
                  <a:lnTo>
                    <a:pt x="0" y="19582"/>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415" name="Rectangle 100"/>
            <p:cNvSpPr>
              <a:spLocks noChangeArrowheads="1"/>
            </p:cNvSpPr>
            <p:nvPr/>
          </p:nvSpPr>
          <p:spPr bwMode="auto">
            <a:xfrm rot="16200000">
              <a:off x="122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1982</a:t>
              </a:r>
            </a:p>
          </p:txBody>
        </p:sp>
        <p:sp>
          <p:nvSpPr>
            <p:cNvPr id="13416" name="Line 101"/>
            <p:cNvSpPr>
              <a:spLocks noChangeShapeType="1"/>
            </p:cNvSpPr>
            <p:nvPr/>
          </p:nvSpPr>
          <p:spPr bwMode="auto">
            <a:xfrm>
              <a:off x="4137" y="1203"/>
              <a:ext cx="0" cy="1152"/>
            </a:xfrm>
            <a:prstGeom prst="line">
              <a:avLst/>
            </a:prstGeom>
            <a:noFill/>
            <a:ln w="25400">
              <a:solidFill>
                <a:srgbClr val="FC0128"/>
              </a:solidFill>
              <a:round/>
              <a:headEnd type="stealth" w="med" len="lg"/>
              <a:tailEnd type="stealth" w="med" len="lg"/>
            </a:ln>
          </p:spPr>
          <p:txBody>
            <a:bodyPr wrap="none" anchor="ctr"/>
            <a:lstStyle/>
            <a:p>
              <a:endParaRPr lang="zh-TW" altLang="en-US"/>
            </a:p>
          </p:txBody>
        </p:sp>
        <p:sp>
          <p:nvSpPr>
            <p:cNvPr id="13417" name="Rectangle 102"/>
            <p:cNvSpPr>
              <a:spLocks noChangeArrowheads="1"/>
            </p:cNvSpPr>
            <p:nvPr/>
          </p:nvSpPr>
          <p:spPr bwMode="auto">
            <a:xfrm>
              <a:off x="4120" y="1349"/>
              <a:ext cx="1425" cy="537"/>
            </a:xfrm>
            <a:prstGeom prst="rect">
              <a:avLst/>
            </a:prstGeom>
            <a:noFill/>
            <a:ln w="9525">
              <a:noFill/>
              <a:miter lim="800000"/>
            </a:ln>
          </p:spPr>
          <p:txBody>
            <a:bodyPr wrap="none" lIns="92075" tIns="46039" rIns="92075" bIns="46039">
              <a:spAutoFit/>
            </a:bodyPr>
            <a:lstStyle/>
            <a:p>
              <a:r>
                <a:rPr kumimoji="1" lang="en-US" altLang="zh-TW" sz="2000" b="1">
                  <a:latin typeface="Arial" panose="020B0604020202090204" pitchFamily="34" charset="0"/>
                </a:rPr>
                <a:t>Processor-memory</a:t>
              </a:r>
            </a:p>
            <a:p>
              <a:r>
                <a:rPr kumimoji="1" lang="en-US" altLang="zh-TW" sz="2000" b="1">
                  <a:latin typeface="Arial" panose="020B0604020202090204" pitchFamily="34" charset="0"/>
                </a:rPr>
                <a:t>performance gap:</a:t>
              </a:r>
              <a:br>
                <a:rPr kumimoji="1" lang="en-US" altLang="zh-TW" sz="2000" b="1">
                  <a:latin typeface="Arial" panose="020B0604020202090204" pitchFamily="34" charset="0"/>
                </a:rPr>
              </a:br>
              <a:r>
                <a:rPr kumimoji="1" lang="en-US" altLang="zh-TW" sz="2000" b="1">
                  <a:latin typeface="Arial" panose="020B0604020202090204" pitchFamily="34" charset="0"/>
                </a:rPr>
                <a:t>(grows 50% / year)</a:t>
              </a:r>
            </a:p>
          </p:txBody>
        </p:sp>
        <p:sp>
          <p:nvSpPr>
            <p:cNvPr id="13418" name="Rectangle 103"/>
            <p:cNvSpPr>
              <a:spLocks noChangeArrowheads="1"/>
            </p:cNvSpPr>
            <p:nvPr/>
          </p:nvSpPr>
          <p:spPr bwMode="auto">
            <a:xfrm rot="16200000">
              <a:off x="-68" y="1773"/>
              <a:ext cx="844" cy="209"/>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Performance</a:t>
              </a:r>
            </a:p>
          </p:txBody>
        </p:sp>
        <p:sp>
          <p:nvSpPr>
            <p:cNvPr id="13419" name="Rectangle 104"/>
            <p:cNvSpPr>
              <a:spLocks noChangeArrowheads="1"/>
            </p:cNvSpPr>
            <p:nvPr/>
          </p:nvSpPr>
          <p:spPr bwMode="auto">
            <a:xfrm>
              <a:off x="4883" y="2688"/>
              <a:ext cx="380" cy="196"/>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Year</a:t>
              </a:r>
            </a:p>
          </p:txBody>
        </p:sp>
        <p:sp>
          <p:nvSpPr>
            <p:cNvPr id="13420" name="Rectangle 105"/>
            <p:cNvSpPr>
              <a:spLocks noChangeArrowheads="1"/>
            </p:cNvSpPr>
            <p:nvPr/>
          </p:nvSpPr>
          <p:spPr bwMode="auto">
            <a:xfrm>
              <a:off x="2728" y="966"/>
              <a:ext cx="841" cy="196"/>
            </a:xfrm>
            <a:prstGeom prst="rect">
              <a:avLst/>
            </a:prstGeom>
            <a:noFill/>
            <a:ln w="9525">
              <a:noFill/>
              <a:miter lim="800000"/>
            </a:ln>
          </p:spPr>
          <p:txBody>
            <a:bodyPr wrap="none" lIns="92075" tIns="46039" rIns="92075" bIns="46039">
              <a:spAutoFit/>
            </a:bodyPr>
            <a:lstStyle/>
            <a:p>
              <a:r>
                <a:rPr kumimoji="1" lang="en-US" altLang="zh-TW">
                  <a:solidFill>
                    <a:srgbClr val="FC0128"/>
                  </a:solidFill>
                  <a:latin typeface="Arial" panose="020B0604020202090204" pitchFamily="34" charset="0"/>
                </a:rPr>
                <a:t>Moore’s Law</a:t>
              </a:r>
            </a:p>
          </p:txBody>
        </p:sp>
        <p:sp>
          <p:nvSpPr>
            <p:cNvPr id="13421" name="Line 106"/>
            <p:cNvSpPr>
              <a:spLocks noChangeShapeType="1"/>
            </p:cNvSpPr>
            <p:nvPr/>
          </p:nvSpPr>
          <p:spPr bwMode="auto">
            <a:xfrm>
              <a:off x="1040" y="8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2" name="Line 107"/>
            <p:cNvSpPr>
              <a:spLocks noChangeShapeType="1"/>
            </p:cNvSpPr>
            <p:nvPr/>
          </p:nvSpPr>
          <p:spPr bwMode="auto">
            <a:xfrm>
              <a:off x="1040" y="1488"/>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3" name="Line 108"/>
            <p:cNvSpPr>
              <a:spLocks noChangeShapeType="1"/>
            </p:cNvSpPr>
            <p:nvPr/>
          </p:nvSpPr>
          <p:spPr bwMode="auto">
            <a:xfrm>
              <a:off x="1040" y="20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grpSp>
      <p:sp>
        <p:nvSpPr>
          <p:cNvPr id="13316" name="Rectangle 109"/>
          <p:cNvSpPr>
            <a:spLocks noGrp="1" noChangeArrowheads="1"/>
          </p:cNvSpPr>
          <p:nvPr>
            <p:ph type="title"/>
          </p:nvPr>
        </p:nvSpPr>
        <p:spPr>
          <a:xfrm>
            <a:off x="1258530" y="173040"/>
            <a:ext cx="9047521" cy="564381"/>
          </a:xfrm>
        </p:spPr>
        <p:txBody>
          <a:bodyPr/>
          <a:lstStyle/>
          <a:p>
            <a:r>
              <a:rPr lang="en-US" altLang="zh-TW" dirty="0"/>
              <a:t>Processor/Memory Latency Gap</a:t>
            </a:r>
          </a:p>
        </p:txBody>
      </p:sp>
      <p:sp>
        <p:nvSpPr>
          <p:cNvPr id="114"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5" name="Group 110"/>
          <p:cNvGrpSpPr/>
          <p:nvPr/>
        </p:nvGrpSpPr>
        <p:grpSpPr bwMode="auto">
          <a:xfrm>
            <a:off x="896326" y="1356853"/>
            <a:ext cx="11122893" cy="4542503"/>
            <a:chOff x="249" y="682"/>
            <a:chExt cx="6280" cy="2401"/>
          </a:xfrm>
        </p:grpSpPr>
        <p:sp>
          <p:nvSpPr>
            <p:cNvPr id="13318" name="Rectangle 3"/>
            <p:cNvSpPr>
              <a:spLocks noChangeArrowheads="1"/>
            </p:cNvSpPr>
            <p:nvPr/>
          </p:nvSpPr>
          <p:spPr bwMode="auto">
            <a:xfrm>
              <a:off x="5068" y="710"/>
              <a:ext cx="964" cy="537"/>
            </a:xfrm>
            <a:prstGeom prst="rect">
              <a:avLst/>
            </a:prstGeom>
            <a:noFill/>
            <a:ln w="9525">
              <a:noFill/>
              <a:miter lim="800000"/>
            </a:ln>
          </p:spPr>
          <p:txBody>
            <a:bodyPr lIns="92075" tIns="46039" rIns="92075" bIns="46039">
              <a:spAutoFit/>
            </a:bodyPr>
            <a:lstStyle/>
            <a:p>
              <a:r>
                <a:rPr kumimoji="1" lang="en-US" altLang="zh-TW" sz="2000">
                  <a:latin typeface="Arial" panose="020B0604020202090204" pitchFamily="34" charset="0"/>
                </a:rPr>
                <a:t>Proc</a:t>
              </a:r>
            </a:p>
            <a:p>
              <a:r>
                <a:rPr kumimoji="1" lang="en-US" altLang="zh-TW" sz="2000">
                  <a:latin typeface="Arial" panose="020B0604020202090204" pitchFamily="34" charset="0"/>
                </a:rPr>
                <a:t>60%/yr.</a:t>
              </a:r>
            </a:p>
            <a:p>
              <a:r>
                <a:rPr kumimoji="1" lang="en-US" altLang="zh-TW" sz="2000">
                  <a:latin typeface="Arial" panose="020B0604020202090204" pitchFamily="34" charset="0"/>
                </a:rPr>
                <a:t>(2X/1.5 yr)</a:t>
              </a:r>
              <a:endParaRPr kumimoji="1" lang="en-US" altLang="zh-TW">
                <a:latin typeface="Arial" panose="020B0604020202090204" pitchFamily="34" charset="0"/>
              </a:endParaRPr>
            </a:p>
          </p:txBody>
        </p:sp>
        <p:sp>
          <p:nvSpPr>
            <p:cNvPr id="13319" name="Rectangle 4"/>
            <p:cNvSpPr>
              <a:spLocks noChangeArrowheads="1"/>
            </p:cNvSpPr>
            <p:nvPr/>
          </p:nvSpPr>
          <p:spPr bwMode="auto">
            <a:xfrm>
              <a:off x="5044" y="2080"/>
              <a:ext cx="1485" cy="537"/>
            </a:xfrm>
            <a:prstGeom prst="rect">
              <a:avLst/>
            </a:prstGeom>
            <a:noFill/>
            <a:ln w="9525">
              <a:noFill/>
              <a:miter lim="800000"/>
            </a:ln>
          </p:spPr>
          <p:txBody>
            <a:bodyPr wrap="square" lIns="92075" tIns="46039" rIns="92075" bIns="46039">
              <a:spAutoFit/>
            </a:bodyPr>
            <a:lstStyle/>
            <a:p>
              <a:r>
                <a:rPr kumimoji="1" lang="en-US" altLang="zh-TW" sz="2000" dirty="0">
                  <a:latin typeface="Arial" panose="020B0604020202090204" pitchFamily="34" charset="0"/>
                </a:rPr>
                <a:t>DRAM (main memory)</a:t>
              </a:r>
            </a:p>
            <a:p>
              <a:r>
                <a:rPr kumimoji="1" lang="en-US" altLang="zh-TW" sz="2000" dirty="0">
                  <a:latin typeface="Arial" panose="020B0604020202090204" pitchFamily="34" charset="0"/>
                </a:rPr>
                <a:t>9%/yr.</a:t>
              </a:r>
            </a:p>
            <a:p>
              <a:r>
                <a:rPr kumimoji="1" lang="en-US" altLang="zh-TW" sz="2000" dirty="0">
                  <a:latin typeface="Arial" panose="020B0604020202090204" pitchFamily="34" charset="0"/>
                </a:rPr>
                <a:t>(2X/10 </a:t>
              </a:r>
              <a:r>
                <a:rPr kumimoji="1" lang="en-US" altLang="zh-TW" sz="2000" dirty="0" err="1">
                  <a:latin typeface="Arial" panose="020B0604020202090204" pitchFamily="34" charset="0"/>
                </a:rPr>
                <a:t>yrs</a:t>
              </a:r>
              <a:r>
                <a:rPr kumimoji="1" lang="en-US" altLang="zh-TW" sz="2000" dirty="0">
                  <a:latin typeface="Arial" panose="020B0604020202090204" pitchFamily="34" charset="0"/>
                </a:rPr>
                <a:t>)</a:t>
              </a:r>
              <a:endParaRPr kumimoji="1" lang="en-US" altLang="zh-TW" dirty="0">
                <a:latin typeface="Arial" panose="020B0604020202090204" pitchFamily="34" charset="0"/>
              </a:endParaRPr>
            </a:p>
          </p:txBody>
        </p:sp>
        <p:sp>
          <p:nvSpPr>
            <p:cNvPr id="13320" name="Arc 5"/>
            <p:cNvSpPr/>
            <p:nvPr/>
          </p:nvSpPr>
          <p:spPr bwMode="auto">
            <a:xfrm>
              <a:off x="4707" y="2166"/>
              <a:ext cx="390" cy="1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4"/>
                    <a:pt x="9634" y="33"/>
                    <a:pt x="21540" y="0"/>
                  </a:cubicBezTo>
                </a:path>
                <a:path w="21600" h="21600" stroke="0" extrusionOk="0">
                  <a:moveTo>
                    <a:pt x="0" y="21600"/>
                  </a:moveTo>
                  <a:cubicBezTo>
                    <a:pt x="0" y="9694"/>
                    <a:pt x="9634" y="33"/>
                    <a:pt x="21540" y="0"/>
                  </a:cubicBezTo>
                  <a:lnTo>
                    <a:pt x="21600" y="21600"/>
                  </a:lnTo>
                  <a:lnTo>
                    <a:pt x="0" y="21600"/>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321" name="Line 6"/>
            <p:cNvSpPr>
              <a:spLocks noChangeShapeType="1"/>
            </p:cNvSpPr>
            <p:nvPr/>
          </p:nvSpPr>
          <p:spPr bwMode="auto">
            <a:xfrm>
              <a:off x="4641" y="831"/>
              <a:ext cx="17"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2" name="Line 7"/>
            <p:cNvSpPr>
              <a:spLocks noChangeShapeType="1"/>
            </p:cNvSpPr>
            <p:nvPr/>
          </p:nvSpPr>
          <p:spPr bwMode="auto">
            <a:xfrm flipV="1">
              <a:off x="1005" y="827"/>
              <a:ext cx="0" cy="1832"/>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3" name="Line 8"/>
            <p:cNvSpPr>
              <a:spLocks noChangeShapeType="1"/>
            </p:cNvSpPr>
            <p:nvPr/>
          </p:nvSpPr>
          <p:spPr bwMode="auto">
            <a:xfrm>
              <a:off x="975" y="2544"/>
              <a:ext cx="52"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4" name="Line 9"/>
            <p:cNvSpPr>
              <a:spLocks noChangeShapeType="1"/>
            </p:cNvSpPr>
            <p:nvPr/>
          </p:nvSpPr>
          <p:spPr bwMode="auto">
            <a:xfrm>
              <a:off x="1001" y="2688"/>
              <a:ext cx="3666" cy="0"/>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5" name="Line 10"/>
            <p:cNvSpPr>
              <a:spLocks noChangeShapeType="1"/>
            </p:cNvSpPr>
            <p:nvPr/>
          </p:nvSpPr>
          <p:spPr bwMode="auto">
            <a:xfrm flipV="1">
              <a:off x="1005"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6" name="Line 11"/>
            <p:cNvSpPr>
              <a:spLocks noChangeShapeType="1"/>
            </p:cNvSpPr>
            <p:nvPr/>
          </p:nvSpPr>
          <p:spPr bwMode="auto">
            <a:xfrm flipV="1">
              <a:off x="1187"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7" name="Line 12"/>
            <p:cNvSpPr>
              <a:spLocks noChangeShapeType="1"/>
            </p:cNvSpPr>
            <p:nvPr/>
          </p:nvSpPr>
          <p:spPr bwMode="auto">
            <a:xfrm flipV="1">
              <a:off x="1378"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8" name="Line 13"/>
            <p:cNvSpPr>
              <a:spLocks noChangeShapeType="1"/>
            </p:cNvSpPr>
            <p:nvPr/>
          </p:nvSpPr>
          <p:spPr bwMode="auto">
            <a:xfrm flipV="1">
              <a:off x="1560"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9" name="Line 14"/>
            <p:cNvSpPr>
              <a:spLocks noChangeShapeType="1"/>
            </p:cNvSpPr>
            <p:nvPr/>
          </p:nvSpPr>
          <p:spPr bwMode="auto">
            <a:xfrm flipV="1">
              <a:off x="1742"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0" name="Line 15"/>
            <p:cNvSpPr>
              <a:spLocks noChangeShapeType="1"/>
            </p:cNvSpPr>
            <p:nvPr/>
          </p:nvSpPr>
          <p:spPr bwMode="auto">
            <a:xfrm flipV="1">
              <a:off x="1924"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1" name="Line 16"/>
            <p:cNvSpPr>
              <a:spLocks noChangeShapeType="1"/>
            </p:cNvSpPr>
            <p:nvPr/>
          </p:nvSpPr>
          <p:spPr bwMode="auto">
            <a:xfrm flipV="1">
              <a:off x="2106"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2" name="Line 17"/>
            <p:cNvSpPr>
              <a:spLocks noChangeShapeType="1"/>
            </p:cNvSpPr>
            <p:nvPr/>
          </p:nvSpPr>
          <p:spPr bwMode="auto">
            <a:xfrm flipV="1">
              <a:off x="2288"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3" name="Line 18"/>
            <p:cNvSpPr>
              <a:spLocks noChangeShapeType="1"/>
            </p:cNvSpPr>
            <p:nvPr/>
          </p:nvSpPr>
          <p:spPr bwMode="auto">
            <a:xfrm flipV="1">
              <a:off x="2470"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4" name="Line 19"/>
            <p:cNvSpPr>
              <a:spLocks noChangeShapeType="1"/>
            </p:cNvSpPr>
            <p:nvPr/>
          </p:nvSpPr>
          <p:spPr bwMode="auto">
            <a:xfrm flipV="1">
              <a:off x="266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5" name="Line 20"/>
            <p:cNvSpPr>
              <a:spLocks noChangeShapeType="1"/>
            </p:cNvSpPr>
            <p:nvPr/>
          </p:nvSpPr>
          <p:spPr bwMode="auto">
            <a:xfrm flipV="1">
              <a:off x="28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6" name="Line 21"/>
            <p:cNvSpPr>
              <a:spLocks noChangeShapeType="1"/>
            </p:cNvSpPr>
            <p:nvPr/>
          </p:nvSpPr>
          <p:spPr bwMode="auto">
            <a:xfrm flipV="1">
              <a:off x="30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7" name="Line 22"/>
            <p:cNvSpPr>
              <a:spLocks noChangeShapeType="1"/>
            </p:cNvSpPr>
            <p:nvPr/>
          </p:nvSpPr>
          <p:spPr bwMode="auto">
            <a:xfrm flipV="1">
              <a:off x="32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8" name="Line 23"/>
            <p:cNvSpPr>
              <a:spLocks noChangeShapeType="1"/>
            </p:cNvSpPr>
            <p:nvPr/>
          </p:nvSpPr>
          <p:spPr bwMode="auto">
            <a:xfrm flipV="1">
              <a:off x="33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9" name="Line 24"/>
            <p:cNvSpPr>
              <a:spLocks noChangeShapeType="1"/>
            </p:cNvSpPr>
            <p:nvPr/>
          </p:nvSpPr>
          <p:spPr bwMode="auto">
            <a:xfrm flipV="1">
              <a:off x="35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0" name="Line 25"/>
            <p:cNvSpPr>
              <a:spLocks noChangeShapeType="1"/>
            </p:cNvSpPr>
            <p:nvPr/>
          </p:nvSpPr>
          <p:spPr bwMode="auto">
            <a:xfrm flipV="1">
              <a:off x="375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1" name="Line 26"/>
            <p:cNvSpPr>
              <a:spLocks noChangeShapeType="1"/>
            </p:cNvSpPr>
            <p:nvPr/>
          </p:nvSpPr>
          <p:spPr bwMode="auto">
            <a:xfrm flipV="1">
              <a:off x="39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2" name="Line 27"/>
            <p:cNvSpPr>
              <a:spLocks noChangeShapeType="1"/>
            </p:cNvSpPr>
            <p:nvPr/>
          </p:nvSpPr>
          <p:spPr bwMode="auto">
            <a:xfrm flipV="1">
              <a:off x="41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3" name="Line 28"/>
            <p:cNvSpPr>
              <a:spLocks noChangeShapeType="1"/>
            </p:cNvSpPr>
            <p:nvPr/>
          </p:nvSpPr>
          <p:spPr bwMode="auto">
            <a:xfrm flipV="1">
              <a:off x="43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4" name="Line 29"/>
            <p:cNvSpPr>
              <a:spLocks noChangeShapeType="1"/>
            </p:cNvSpPr>
            <p:nvPr/>
          </p:nvSpPr>
          <p:spPr bwMode="auto">
            <a:xfrm flipV="1">
              <a:off x="44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5" name="Line 30"/>
            <p:cNvSpPr>
              <a:spLocks noChangeShapeType="1"/>
            </p:cNvSpPr>
            <p:nvPr/>
          </p:nvSpPr>
          <p:spPr bwMode="auto">
            <a:xfrm flipV="1">
              <a:off x="46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6" name="Freeform 31"/>
            <p:cNvSpPr/>
            <p:nvPr/>
          </p:nvSpPr>
          <p:spPr bwMode="auto">
            <a:xfrm>
              <a:off x="1001" y="843"/>
              <a:ext cx="3667" cy="1817"/>
            </a:xfrm>
            <a:custGeom>
              <a:avLst/>
              <a:gdLst>
                <a:gd name="T0" fmla="*/ 0 w 3385"/>
                <a:gd name="T1" fmla="*/ 1816 h 1817"/>
                <a:gd name="T2" fmla="*/ 404 w 3385"/>
                <a:gd name="T3" fmla="*/ 1752 h 1817"/>
                <a:gd name="T4" fmla="*/ 829 w 3385"/>
                <a:gd name="T5" fmla="*/ 1696 h 1817"/>
                <a:gd name="T6" fmla="*/ 1236 w 3385"/>
                <a:gd name="T7" fmla="*/ 1640 h 1817"/>
                <a:gd name="T8" fmla="*/ 1637 w 3385"/>
                <a:gd name="T9" fmla="*/ 1576 h 1817"/>
                <a:gd name="T10" fmla="*/ 2045 w 3385"/>
                <a:gd name="T11" fmla="*/ 1520 h 1817"/>
                <a:gd name="T12" fmla="*/ 2452 w 3385"/>
                <a:gd name="T13" fmla="*/ 1456 h 1817"/>
                <a:gd name="T14" fmla="*/ 2856 w 3385"/>
                <a:gd name="T15" fmla="*/ 1400 h 1817"/>
                <a:gd name="T16" fmla="*/ 3260 w 3385"/>
                <a:gd name="T17" fmla="*/ 1296 h 1817"/>
                <a:gd name="T18" fmla="*/ 3684 w 3385"/>
                <a:gd name="T19" fmla="*/ 1184 h 1817"/>
                <a:gd name="T20" fmla="*/ 4089 w 3385"/>
                <a:gd name="T21" fmla="*/ 1080 h 1817"/>
                <a:gd name="T22" fmla="*/ 4494 w 3385"/>
                <a:gd name="T23" fmla="*/ 968 h 1817"/>
                <a:gd name="T24" fmla="*/ 4900 w 3385"/>
                <a:gd name="T25" fmla="*/ 864 h 1817"/>
                <a:gd name="T26" fmla="*/ 5305 w 3385"/>
                <a:gd name="T27" fmla="*/ 752 h 1817"/>
                <a:gd name="T28" fmla="*/ 5710 w 3385"/>
                <a:gd name="T29" fmla="*/ 648 h 1817"/>
                <a:gd name="T30" fmla="*/ 6115 w 3385"/>
                <a:gd name="T31" fmla="*/ 536 h 1817"/>
                <a:gd name="T32" fmla="*/ 6540 w 3385"/>
                <a:gd name="T33" fmla="*/ 432 h 1817"/>
                <a:gd name="T34" fmla="*/ 6945 w 3385"/>
                <a:gd name="T35" fmla="*/ 328 h 1817"/>
                <a:gd name="T36" fmla="*/ 7351 w 3385"/>
                <a:gd name="T37" fmla="*/ 216 h 1817"/>
                <a:gd name="T38" fmla="*/ 7755 w 3385"/>
                <a:gd name="T39" fmla="*/ 112 h 1817"/>
                <a:gd name="T40" fmla="*/ 8161 w 3385"/>
                <a:gd name="T41" fmla="*/ 0 h 18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1817"/>
                <a:gd name="T65" fmla="*/ 3385 w 3385"/>
                <a:gd name="T66" fmla="*/ 1817 h 18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1817">
                  <a:moveTo>
                    <a:pt x="0" y="1816"/>
                  </a:moveTo>
                  <a:lnTo>
                    <a:pt x="168" y="1752"/>
                  </a:lnTo>
                  <a:lnTo>
                    <a:pt x="344" y="1696"/>
                  </a:lnTo>
                  <a:lnTo>
                    <a:pt x="512" y="1640"/>
                  </a:lnTo>
                  <a:lnTo>
                    <a:pt x="680" y="1576"/>
                  </a:lnTo>
                  <a:lnTo>
                    <a:pt x="848" y="1520"/>
                  </a:lnTo>
                  <a:lnTo>
                    <a:pt x="1016" y="1456"/>
                  </a:lnTo>
                  <a:lnTo>
                    <a:pt x="1184" y="1400"/>
                  </a:lnTo>
                  <a:lnTo>
                    <a:pt x="1352" y="1296"/>
                  </a:lnTo>
                  <a:lnTo>
                    <a:pt x="1528" y="1184"/>
                  </a:lnTo>
                  <a:lnTo>
                    <a:pt x="1696" y="1080"/>
                  </a:lnTo>
                  <a:lnTo>
                    <a:pt x="1864" y="968"/>
                  </a:lnTo>
                  <a:lnTo>
                    <a:pt x="2032" y="864"/>
                  </a:lnTo>
                  <a:lnTo>
                    <a:pt x="2200" y="752"/>
                  </a:lnTo>
                  <a:lnTo>
                    <a:pt x="2368" y="648"/>
                  </a:lnTo>
                  <a:lnTo>
                    <a:pt x="2536" y="536"/>
                  </a:lnTo>
                  <a:lnTo>
                    <a:pt x="2712" y="432"/>
                  </a:lnTo>
                  <a:lnTo>
                    <a:pt x="2880" y="328"/>
                  </a:lnTo>
                  <a:lnTo>
                    <a:pt x="3048" y="216"/>
                  </a:lnTo>
                  <a:lnTo>
                    <a:pt x="3216" y="112"/>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7" name="Freeform 32"/>
            <p:cNvSpPr/>
            <p:nvPr/>
          </p:nvSpPr>
          <p:spPr bwMode="auto">
            <a:xfrm>
              <a:off x="1001" y="2299"/>
              <a:ext cx="3667" cy="361"/>
            </a:xfrm>
            <a:custGeom>
              <a:avLst/>
              <a:gdLst>
                <a:gd name="T0" fmla="*/ 0 w 3385"/>
                <a:gd name="T1" fmla="*/ 360 h 361"/>
                <a:gd name="T2" fmla="*/ 404 w 3385"/>
                <a:gd name="T3" fmla="*/ 344 h 361"/>
                <a:gd name="T4" fmla="*/ 829 w 3385"/>
                <a:gd name="T5" fmla="*/ 320 h 361"/>
                <a:gd name="T6" fmla="*/ 1236 w 3385"/>
                <a:gd name="T7" fmla="*/ 304 h 361"/>
                <a:gd name="T8" fmla="*/ 1637 w 3385"/>
                <a:gd name="T9" fmla="*/ 288 h 361"/>
                <a:gd name="T10" fmla="*/ 2045 w 3385"/>
                <a:gd name="T11" fmla="*/ 272 h 361"/>
                <a:gd name="T12" fmla="*/ 2452 w 3385"/>
                <a:gd name="T13" fmla="*/ 248 h 361"/>
                <a:gd name="T14" fmla="*/ 2856 w 3385"/>
                <a:gd name="T15" fmla="*/ 232 h 361"/>
                <a:gd name="T16" fmla="*/ 3260 w 3385"/>
                <a:gd name="T17" fmla="*/ 216 h 361"/>
                <a:gd name="T18" fmla="*/ 3684 w 3385"/>
                <a:gd name="T19" fmla="*/ 200 h 361"/>
                <a:gd name="T20" fmla="*/ 4089 w 3385"/>
                <a:gd name="T21" fmla="*/ 176 h 361"/>
                <a:gd name="T22" fmla="*/ 4494 w 3385"/>
                <a:gd name="T23" fmla="*/ 160 h 361"/>
                <a:gd name="T24" fmla="*/ 4900 w 3385"/>
                <a:gd name="T25" fmla="*/ 144 h 361"/>
                <a:gd name="T26" fmla="*/ 5305 w 3385"/>
                <a:gd name="T27" fmla="*/ 128 h 361"/>
                <a:gd name="T28" fmla="*/ 5710 w 3385"/>
                <a:gd name="T29" fmla="*/ 104 h 361"/>
                <a:gd name="T30" fmla="*/ 6115 w 3385"/>
                <a:gd name="T31" fmla="*/ 88 h 361"/>
                <a:gd name="T32" fmla="*/ 6540 w 3385"/>
                <a:gd name="T33" fmla="*/ 72 h 361"/>
                <a:gd name="T34" fmla="*/ 6945 w 3385"/>
                <a:gd name="T35" fmla="*/ 56 h 361"/>
                <a:gd name="T36" fmla="*/ 7351 w 3385"/>
                <a:gd name="T37" fmla="*/ 32 h 361"/>
                <a:gd name="T38" fmla="*/ 7755 w 3385"/>
                <a:gd name="T39" fmla="*/ 16 h 361"/>
                <a:gd name="T40" fmla="*/ 8161 w 3385"/>
                <a:gd name="T41" fmla="*/ 0 h 3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361"/>
                <a:gd name="T65" fmla="*/ 3385 w 3385"/>
                <a:gd name="T66" fmla="*/ 361 h 3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361">
                  <a:moveTo>
                    <a:pt x="0" y="360"/>
                  </a:moveTo>
                  <a:lnTo>
                    <a:pt x="168" y="344"/>
                  </a:lnTo>
                  <a:lnTo>
                    <a:pt x="344" y="320"/>
                  </a:lnTo>
                  <a:lnTo>
                    <a:pt x="512" y="304"/>
                  </a:lnTo>
                  <a:lnTo>
                    <a:pt x="680" y="288"/>
                  </a:lnTo>
                  <a:lnTo>
                    <a:pt x="848" y="272"/>
                  </a:lnTo>
                  <a:lnTo>
                    <a:pt x="1016" y="248"/>
                  </a:lnTo>
                  <a:lnTo>
                    <a:pt x="1184" y="232"/>
                  </a:lnTo>
                  <a:lnTo>
                    <a:pt x="1352" y="216"/>
                  </a:lnTo>
                  <a:lnTo>
                    <a:pt x="1528" y="200"/>
                  </a:lnTo>
                  <a:lnTo>
                    <a:pt x="1696" y="176"/>
                  </a:lnTo>
                  <a:lnTo>
                    <a:pt x="1864" y="160"/>
                  </a:lnTo>
                  <a:lnTo>
                    <a:pt x="2032" y="144"/>
                  </a:lnTo>
                  <a:lnTo>
                    <a:pt x="2200" y="128"/>
                  </a:lnTo>
                  <a:lnTo>
                    <a:pt x="2368" y="104"/>
                  </a:lnTo>
                  <a:lnTo>
                    <a:pt x="2536" y="88"/>
                  </a:lnTo>
                  <a:lnTo>
                    <a:pt x="2712" y="72"/>
                  </a:lnTo>
                  <a:lnTo>
                    <a:pt x="2880" y="56"/>
                  </a:lnTo>
                  <a:lnTo>
                    <a:pt x="3048" y="32"/>
                  </a:lnTo>
                  <a:lnTo>
                    <a:pt x="3216" y="16"/>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8" name="Rectangle 33"/>
            <p:cNvSpPr>
              <a:spLocks noChangeArrowheads="1"/>
            </p:cNvSpPr>
            <p:nvPr/>
          </p:nvSpPr>
          <p:spPr bwMode="auto">
            <a:xfrm>
              <a:off x="979" y="2634"/>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49" name="Rectangle 34"/>
            <p:cNvSpPr>
              <a:spLocks noChangeArrowheads="1"/>
            </p:cNvSpPr>
            <p:nvPr/>
          </p:nvSpPr>
          <p:spPr bwMode="auto">
            <a:xfrm>
              <a:off x="1161" y="2570"/>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0" name="Rectangle 35"/>
            <p:cNvSpPr>
              <a:spLocks noChangeArrowheads="1"/>
            </p:cNvSpPr>
            <p:nvPr/>
          </p:nvSpPr>
          <p:spPr bwMode="auto">
            <a:xfrm>
              <a:off x="1352" y="25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1" name="Rectangle 36"/>
            <p:cNvSpPr>
              <a:spLocks noChangeArrowheads="1"/>
            </p:cNvSpPr>
            <p:nvPr/>
          </p:nvSpPr>
          <p:spPr bwMode="auto">
            <a:xfrm>
              <a:off x="1534" y="246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2" name="Rectangle 37"/>
            <p:cNvSpPr>
              <a:spLocks noChangeArrowheads="1"/>
            </p:cNvSpPr>
            <p:nvPr/>
          </p:nvSpPr>
          <p:spPr bwMode="auto">
            <a:xfrm>
              <a:off x="1716" y="239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3" name="Rectangle 38"/>
            <p:cNvSpPr>
              <a:spLocks noChangeArrowheads="1"/>
            </p:cNvSpPr>
            <p:nvPr/>
          </p:nvSpPr>
          <p:spPr bwMode="auto">
            <a:xfrm>
              <a:off x="1898" y="234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4" name="Rectangle 39"/>
            <p:cNvSpPr>
              <a:spLocks noChangeArrowheads="1"/>
            </p:cNvSpPr>
            <p:nvPr/>
          </p:nvSpPr>
          <p:spPr bwMode="auto">
            <a:xfrm>
              <a:off x="2080" y="227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5" name="Rectangle 40"/>
            <p:cNvSpPr>
              <a:spLocks noChangeArrowheads="1"/>
            </p:cNvSpPr>
            <p:nvPr/>
          </p:nvSpPr>
          <p:spPr bwMode="auto">
            <a:xfrm>
              <a:off x="2262" y="22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6" name="Rectangle 41"/>
            <p:cNvSpPr>
              <a:spLocks noChangeArrowheads="1"/>
            </p:cNvSpPr>
            <p:nvPr/>
          </p:nvSpPr>
          <p:spPr bwMode="auto">
            <a:xfrm>
              <a:off x="2444" y="21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7" name="Rectangle 42"/>
            <p:cNvSpPr>
              <a:spLocks noChangeArrowheads="1"/>
            </p:cNvSpPr>
            <p:nvPr/>
          </p:nvSpPr>
          <p:spPr bwMode="auto">
            <a:xfrm>
              <a:off x="2635" y="200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8" name="Rectangle 43"/>
            <p:cNvSpPr>
              <a:spLocks noChangeArrowheads="1"/>
            </p:cNvSpPr>
            <p:nvPr/>
          </p:nvSpPr>
          <p:spPr bwMode="auto">
            <a:xfrm>
              <a:off x="2817" y="1903"/>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9" name="Rectangle 44"/>
            <p:cNvSpPr>
              <a:spLocks noChangeArrowheads="1"/>
            </p:cNvSpPr>
            <p:nvPr/>
          </p:nvSpPr>
          <p:spPr bwMode="auto">
            <a:xfrm>
              <a:off x="2999" y="179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0" name="Rectangle 45"/>
            <p:cNvSpPr>
              <a:spLocks noChangeArrowheads="1"/>
            </p:cNvSpPr>
            <p:nvPr/>
          </p:nvSpPr>
          <p:spPr bwMode="auto">
            <a:xfrm>
              <a:off x="3181" y="168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1" name="Rectangle 46"/>
            <p:cNvSpPr>
              <a:spLocks noChangeArrowheads="1"/>
            </p:cNvSpPr>
            <p:nvPr/>
          </p:nvSpPr>
          <p:spPr bwMode="auto">
            <a:xfrm>
              <a:off x="3363" y="1575"/>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2" name="Rectangle 47"/>
            <p:cNvSpPr>
              <a:spLocks noChangeArrowheads="1"/>
            </p:cNvSpPr>
            <p:nvPr/>
          </p:nvSpPr>
          <p:spPr bwMode="auto">
            <a:xfrm>
              <a:off x="3545" y="147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3" name="Rectangle 48"/>
            <p:cNvSpPr>
              <a:spLocks noChangeArrowheads="1"/>
            </p:cNvSpPr>
            <p:nvPr/>
          </p:nvSpPr>
          <p:spPr bwMode="auto">
            <a:xfrm>
              <a:off x="3727" y="1359"/>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4" name="Rectangle 49"/>
            <p:cNvSpPr>
              <a:spLocks noChangeArrowheads="1"/>
            </p:cNvSpPr>
            <p:nvPr/>
          </p:nvSpPr>
          <p:spPr bwMode="auto">
            <a:xfrm>
              <a:off x="3917" y="125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5" name="Rectangle 50"/>
            <p:cNvSpPr>
              <a:spLocks noChangeArrowheads="1"/>
            </p:cNvSpPr>
            <p:nvPr/>
          </p:nvSpPr>
          <p:spPr bwMode="auto">
            <a:xfrm>
              <a:off x="4099" y="1151"/>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6" name="Rectangle 51"/>
            <p:cNvSpPr>
              <a:spLocks noChangeArrowheads="1"/>
            </p:cNvSpPr>
            <p:nvPr/>
          </p:nvSpPr>
          <p:spPr bwMode="auto">
            <a:xfrm>
              <a:off x="4281" y="103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7" name="Rectangle 52"/>
            <p:cNvSpPr>
              <a:spLocks noChangeArrowheads="1"/>
            </p:cNvSpPr>
            <p:nvPr/>
          </p:nvSpPr>
          <p:spPr bwMode="auto">
            <a:xfrm>
              <a:off x="4463" y="93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8" name="Rectangle 53"/>
            <p:cNvSpPr>
              <a:spLocks noChangeArrowheads="1"/>
            </p:cNvSpPr>
            <p:nvPr/>
          </p:nvSpPr>
          <p:spPr bwMode="auto">
            <a:xfrm>
              <a:off x="4645" y="8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9" name="Rectangle 54"/>
            <p:cNvSpPr>
              <a:spLocks noChangeArrowheads="1"/>
            </p:cNvSpPr>
            <p:nvPr/>
          </p:nvSpPr>
          <p:spPr bwMode="auto">
            <a:xfrm>
              <a:off x="979" y="263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0" name="Rectangle 55"/>
            <p:cNvSpPr>
              <a:spLocks noChangeArrowheads="1"/>
            </p:cNvSpPr>
            <p:nvPr/>
          </p:nvSpPr>
          <p:spPr bwMode="auto">
            <a:xfrm>
              <a:off x="1161" y="261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1" name="Rectangle 56"/>
            <p:cNvSpPr>
              <a:spLocks noChangeArrowheads="1"/>
            </p:cNvSpPr>
            <p:nvPr/>
          </p:nvSpPr>
          <p:spPr bwMode="auto">
            <a:xfrm>
              <a:off x="1352" y="259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2" name="Rectangle 57"/>
            <p:cNvSpPr>
              <a:spLocks noChangeArrowheads="1"/>
            </p:cNvSpPr>
            <p:nvPr/>
          </p:nvSpPr>
          <p:spPr bwMode="auto">
            <a:xfrm>
              <a:off x="1534" y="257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3" name="Rectangle 58"/>
            <p:cNvSpPr>
              <a:spLocks noChangeArrowheads="1"/>
            </p:cNvSpPr>
            <p:nvPr/>
          </p:nvSpPr>
          <p:spPr bwMode="auto">
            <a:xfrm>
              <a:off x="1716" y="256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4" name="Rectangle 59"/>
            <p:cNvSpPr>
              <a:spLocks noChangeArrowheads="1"/>
            </p:cNvSpPr>
            <p:nvPr/>
          </p:nvSpPr>
          <p:spPr bwMode="auto">
            <a:xfrm>
              <a:off x="1898" y="2546"/>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5" name="Rectangle 60"/>
            <p:cNvSpPr>
              <a:spLocks noChangeArrowheads="1"/>
            </p:cNvSpPr>
            <p:nvPr/>
          </p:nvSpPr>
          <p:spPr bwMode="auto">
            <a:xfrm>
              <a:off x="2080" y="252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6" name="Rectangle 61"/>
            <p:cNvSpPr>
              <a:spLocks noChangeArrowheads="1"/>
            </p:cNvSpPr>
            <p:nvPr/>
          </p:nvSpPr>
          <p:spPr bwMode="auto">
            <a:xfrm>
              <a:off x="2262" y="25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7" name="Rectangle 62"/>
            <p:cNvSpPr>
              <a:spLocks noChangeArrowheads="1"/>
            </p:cNvSpPr>
            <p:nvPr/>
          </p:nvSpPr>
          <p:spPr bwMode="auto">
            <a:xfrm>
              <a:off x="2444" y="24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8" name="Rectangle 63"/>
            <p:cNvSpPr>
              <a:spLocks noChangeArrowheads="1"/>
            </p:cNvSpPr>
            <p:nvPr/>
          </p:nvSpPr>
          <p:spPr bwMode="auto">
            <a:xfrm>
              <a:off x="2635" y="247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9" name="Rectangle 64"/>
            <p:cNvSpPr>
              <a:spLocks noChangeArrowheads="1"/>
            </p:cNvSpPr>
            <p:nvPr/>
          </p:nvSpPr>
          <p:spPr bwMode="auto">
            <a:xfrm>
              <a:off x="2817" y="2455"/>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0" name="Rectangle 65"/>
            <p:cNvSpPr>
              <a:spLocks noChangeArrowheads="1"/>
            </p:cNvSpPr>
            <p:nvPr/>
          </p:nvSpPr>
          <p:spPr bwMode="auto">
            <a:xfrm>
              <a:off x="2999" y="243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1" name="Rectangle 66"/>
            <p:cNvSpPr>
              <a:spLocks noChangeArrowheads="1"/>
            </p:cNvSpPr>
            <p:nvPr/>
          </p:nvSpPr>
          <p:spPr bwMode="auto">
            <a:xfrm>
              <a:off x="3181" y="242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2" name="Rectangle 67"/>
            <p:cNvSpPr>
              <a:spLocks noChangeArrowheads="1"/>
            </p:cNvSpPr>
            <p:nvPr/>
          </p:nvSpPr>
          <p:spPr bwMode="auto">
            <a:xfrm>
              <a:off x="3363" y="240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3" name="Rectangle 68"/>
            <p:cNvSpPr>
              <a:spLocks noChangeArrowheads="1"/>
            </p:cNvSpPr>
            <p:nvPr/>
          </p:nvSpPr>
          <p:spPr bwMode="auto">
            <a:xfrm>
              <a:off x="3545" y="238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4" name="Rectangle 69"/>
            <p:cNvSpPr>
              <a:spLocks noChangeArrowheads="1"/>
            </p:cNvSpPr>
            <p:nvPr/>
          </p:nvSpPr>
          <p:spPr bwMode="auto">
            <a:xfrm>
              <a:off x="3727" y="236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5" name="Rectangle 70"/>
            <p:cNvSpPr>
              <a:spLocks noChangeArrowheads="1"/>
            </p:cNvSpPr>
            <p:nvPr/>
          </p:nvSpPr>
          <p:spPr bwMode="auto">
            <a:xfrm>
              <a:off x="3917" y="235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6" name="Rectangle 71"/>
            <p:cNvSpPr>
              <a:spLocks noChangeArrowheads="1"/>
            </p:cNvSpPr>
            <p:nvPr/>
          </p:nvSpPr>
          <p:spPr bwMode="auto">
            <a:xfrm>
              <a:off x="4099" y="233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7" name="Rectangle 72"/>
            <p:cNvSpPr>
              <a:spLocks noChangeArrowheads="1"/>
            </p:cNvSpPr>
            <p:nvPr/>
          </p:nvSpPr>
          <p:spPr bwMode="auto">
            <a:xfrm>
              <a:off x="4281" y="23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8" name="Rectangle 73"/>
            <p:cNvSpPr>
              <a:spLocks noChangeArrowheads="1"/>
            </p:cNvSpPr>
            <p:nvPr/>
          </p:nvSpPr>
          <p:spPr bwMode="auto">
            <a:xfrm>
              <a:off x="4463" y="22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9" name="Rectangle 74"/>
            <p:cNvSpPr>
              <a:spLocks noChangeArrowheads="1"/>
            </p:cNvSpPr>
            <p:nvPr/>
          </p:nvSpPr>
          <p:spPr bwMode="auto">
            <a:xfrm>
              <a:off x="4645" y="2279"/>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90" name="Rectangle 75"/>
            <p:cNvSpPr>
              <a:spLocks noChangeArrowheads="1"/>
            </p:cNvSpPr>
            <p:nvPr/>
          </p:nvSpPr>
          <p:spPr bwMode="auto">
            <a:xfrm>
              <a:off x="728" y="2514"/>
              <a:ext cx="21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a:t>
              </a:r>
            </a:p>
          </p:txBody>
        </p:sp>
        <p:sp>
          <p:nvSpPr>
            <p:cNvPr id="13391" name="Rectangle 76"/>
            <p:cNvSpPr>
              <a:spLocks noChangeArrowheads="1"/>
            </p:cNvSpPr>
            <p:nvPr/>
          </p:nvSpPr>
          <p:spPr bwMode="auto">
            <a:xfrm>
              <a:off x="563" y="1906"/>
              <a:ext cx="331"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a:t>
              </a:r>
            </a:p>
          </p:txBody>
        </p:sp>
        <p:sp>
          <p:nvSpPr>
            <p:cNvPr id="13392" name="Rectangle 77"/>
            <p:cNvSpPr>
              <a:spLocks noChangeArrowheads="1"/>
            </p:cNvSpPr>
            <p:nvPr/>
          </p:nvSpPr>
          <p:spPr bwMode="auto">
            <a:xfrm>
              <a:off x="451" y="1346"/>
              <a:ext cx="444"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a:t>
              </a:r>
            </a:p>
          </p:txBody>
        </p:sp>
        <p:sp>
          <p:nvSpPr>
            <p:cNvPr id="13393" name="Rectangle 78"/>
            <p:cNvSpPr>
              <a:spLocks noChangeArrowheads="1"/>
            </p:cNvSpPr>
            <p:nvPr/>
          </p:nvSpPr>
          <p:spPr bwMode="auto">
            <a:xfrm>
              <a:off x="286" y="682"/>
              <a:ext cx="55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1000</a:t>
              </a:r>
            </a:p>
          </p:txBody>
        </p:sp>
        <p:sp>
          <p:nvSpPr>
            <p:cNvPr id="13394" name="Rectangle 79"/>
            <p:cNvSpPr>
              <a:spLocks noChangeArrowheads="1"/>
            </p:cNvSpPr>
            <p:nvPr/>
          </p:nvSpPr>
          <p:spPr bwMode="auto">
            <a:xfrm rot="16200000">
              <a:off x="83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1980</a:t>
              </a:r>
            </a:p>
          </p:txBody>
        </p:sp>
        <p:sp>
          <p:nvSpPr>
            <p:cNvPr id="13395" name="Rectangle 80"/>
            <p:cNvSpPr>
              <a:spLocks noChangeArrowheads="1"/>
            </p:cNvSpPr>
            <p:nvPr/>
          </p:nvSpPr>
          <p:spPr bwMode="auto">
            <a:xfrm rot="16200000">
              <a:off x="1015"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1981</a:t>
              </a:r>
            </a:p>
          </p:txBody>
        </p:sp>
        <p:sp>
          <p:nvSpPr>
            <p:cNvPr id="13396" name="Rectangle 81"/>
            <p:cNvSpPr>
              <a:spLocks noChangeArrowheads="1"/>
            </p:cNvSpPr>
            <p:nvPr/>
          </p:nvSpPr>
          <p:spPr bwMode="auto">
            <a:xfrm rot="16200000">
              <a:off x="137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1983</a:t>
              </a:r>
            </a:p>
          </p:txBody>
        </p:sp>
        <p:sp>
          <p:nvSpPr>
            <p:cNvPr id="13397" name="Rectangle 82"/>
            <p:cNvSpPr>
              <a:spLocks noChangeArrowheads="1"/>
            </p:cNvSpPr>
            <p:nvPr/>
          </p:nvSpPr>
          <p:spPr bwMode="auto">
            <a:xfrm rot="16200000">
              <a:off x="1561"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1984</a:t>
              </a:r>
            </a:p>
          </p:txBody>
        </p:sp>
        <p:sp>
          <p:nvSpPr>
            <p:cNvPr id="13398" name="Rectangle 83"/>
            <p:cNvSpPr>
              <a:spLocks noChangeArrowheads="1"/>
            </p:cNvSpPr>
            <p:nvPr/>
          </p:nvSpPr>
          <p:spPr bwMode="auto">
            <a:xfrm rot="16200000">
              <a:off x="174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1985</a:t>
              </a:r>
            </a:p>
          </p:txBody>
        </p:sp>
        <p:sp>
          <p:nvSpPr>
            <p:cNvPr id="13399" name="Rectangle 84"/>
            <p:cNvSpPr>
              <a:spLocks noChangeArrowheads="1"/>
            </p:cNvSpPr>
            <p:nvPr/>
          </p:nvSpPr>
          <p:spPr bwMode="auto">
            <a:xfrm rot="16200000">
              <a:off x="19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1986</a:t>
              </a:r>
            </a:p>
          </p:txBody>
        </p:sp>
        <p:sp>
          <p:nvSpPr>
            <p:cNvPr id="13400" name="Rectangle 85"/>
            <p:cNvSpPr>
              <a:spLocks noChangeArrowheads="1"/>
            </p:cNvSpPr>
            <p:nvPr/>
          </p:nvSpPr>
          <p:spPr bwMode="auto">
            <a:xfrm rot="16200000">
              <a:off x="21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1987</a:t>
              </a:r>
            </a:p>
          </p:txBody>
        </p:sp>
        <p:sp>
          <p:nvSpPr>
            <p:cNvPr id="13401" name="Rectangle 86"/>
            <p:cNvSpPr>
              <a:spLocks noChangeArrowheads="1"/>
            </p:cNvSpPr>
            <p:nvPr/>
          </p:nvSpPr>
          <p:spPr bwMode="auto">
            <a:xfrm rot="16200000">
              <a:off x="22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1988</a:t>
              </a:r>
            </a:p>
          </p:txBody>
        </p:sp>
        <p:sp>
          <p:nvSpPr>
            <p:cNvPr id="13402" name="Rectangle 87"/>
            <p:cNvSpPr>
              <a:spLocks noChangeArrowheads="1"/>
            </p:cNvSpPr>
            <p:nvPr/>
          </p:nvSpPr>
          <p:spPr bwMode="auto">
            <a:xfrm rot="16200000">
              <a:off x="24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1989</a:t>
              </a:r>
            </a:p>
          </p:txBody>
        </p:sp>
        <p:sp>
          <p:nvSpPr>
            <p:cNvPr id="13403" name="Rectangle 88"/>
            <p:cNvSpPr>
              <a:spLocks noChangeArrowheads="1"/>
            </p:cNvSpPr>
            <p:nvPr/>
          </p:nvSpPr>
          <p:spPr bwMode="auto">
            <a:xfrm rot="16200000">
              <a:off x="26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1990</a:t>
              </a:r>
            </a:p>
          </p:txBody>
        </p:sp>
        <p:sp>
          <p:nvSpPr>
            <p:cNvPr id="13404" name="Rectangle 89"/>
            <p:cNvSpPr>
              <a:spLocks noChangeArrowheads="1"/>
            </p:cNvSpPr>
            <p:nvPr/>
          </p:nvSpPr>
          <p:spPr bwMode="auto">
            <a:xfrm rot="16200000">
              <a:off x="28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1991</a:t>
              </a:r>
            </a:p>
          </p:txBody>
        </p:sp>
        <p:sp>
          <p:nvSpPr>
            <p:cNvPr id="13405" name="Rectangle 90"/>
            <p:cNvSpPr>
              <a:spLocks noChangeArrowheads="1"/>
            </p:cNvSpPr>
            <p:nvPr/>
          </p:nvSpPr>
          <p:spPr bwMode="auto">
            <a:xfrm rot="16200000">
              <a:off x="30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1992</a:t>
              </a:r>
            </a:p>
          </p:txBody>
        </p:sp>
        <p:sp>
          <p:nvSpPr>
            <p:cNvPr id="13406" name="Rectangle 91"/>
            <p:cNvSpPr>
              <a:spLocks noChangeArrowheads="1"/>
            </p:cNvSpPr>
            <p:nvPr/>
          </p:nvSpPr>
          <p:spPr bwMode="auto">
            <a:xfrm rot="16200000">
              <a:off x="32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1993</a:t>
              </a:r>
            </a:p>
          </p:txBody>
        </p:sp>
        <p:sp>
          <p:nvSpPr>
            <p:cNvPr id="13407" name="Rectangle 92"/>
            <p:cNvSpPr>
              <a:spLocks noChangeArrowheads="1"/>
            </p:cNvSpPr>
            <p:nvPr/>
          </p:nvSpPr>
          <p:spPr bwMode="auto">
            <a:xfrm rot="16200000">
              <a:off x="3398"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1994</a:t>
              </a:r>
            </a:p>
          </p:txBody>
        </p:sp>
        <p:sp>
          <p:nvSpPr>
            <p:cNvPr id="13408" name="Rectangle 93"/>
            <p:cNvSpPr>
              <a:spLocks noChangeArrowheads="1"/>
            </p:cNvSpPr>
            <p:nvPr/>
          </p:nvSpPr>
          <p:spPr bwMode="auto">
            <a:xfrm rot="16200000">
              <a:off x="35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1995</a:t>
              </a:r>
            </a:p>
          </p:txBody>
        </p:sp>
        <p:sp>
          <p:nvSpPr>
            <p:cNvPr id="13409" name="Rectangle 94"/>
            <p:cNvSpPr>
              <a:spLocks noChangeArrowheads="1"/>
            </p:cNvSpPr>
            <p:nvPr/>
          </p:nvSpPr>
          <p:spPr bwMode="auto">
            <a:xfrm rot="16200000">
              <a:off x="37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1996</a:t>
              </a:r>
            </a:p>
          </p:txBody>
        </p:sp>
        <p:sp>
          <p:nvSpPr>
            <p:cNvPr id="13410" name="Rectangle 95"/>
            <p:cNvSpPr>
              <a:spLocks noChangeArrowheads="1"/>
            </p:cNvSpPr>
            <p:nvPr/>
          </p:nvSpPr>
          <p:spPr bwMode="auto">
            <a:xfrm rot="16200000">
              <a:off x="39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1997</a:t>
              </a:r>
            </a:p>
          </p:txBody>
        </p:sp>
        <p:sp>
          <p:nvSpPr>
            <p:cNvPr id="13411" name="Rectangle 96"/>
            <p:cNvSpPr>
              <a:spLocks noChangeArrowheads="1"/>
            </p:cNvSpPr>
            <p:nvPr/>
          </p:nvSpPr>
          <p:spPr bwMode="auto">
            <a:xfrm rot="16200000">
              <a:off x="412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1998</a:t>
              </a:r>
            </a:p>
          </p:txBody>
        </p:sp>
        <p:sp>
          <p:nvSpPr>
            <p:cNvPr id="13412" name="Rectangle 97"/>
            <p:cNvSpPr>
              <a:spLocks noChangeArrowheads="1"/>
            </p:cNvSpPr>
            <p:nvPr/>
          </p:nvSpPr>
          <p:spPr bwMode="auto">
            <a:xfrm rot="16200000">
              <a:off x="4317"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1999</a:t>
              </a:r>
            </a:p>
          </p:txBody>
        </p:sp>
        <p:sp>
          <p:nvSpPr>
            <p:cNvPr id="13413" name="Rectangle 98"/>
            <p:cNvSpPr>
              <a:spLocks noChangeArrowheads="1"/>
            </p:cNvSpPr>
            <p:nvPr/>
          </p:nvSpPr>
          <p:spPr bwMode="auto">
            <a:xfrm rot="16200000">
              <a:off x="44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2000</a:t>
              </a:r>
            </a:p>
          </p:txBody>
        </p:sp>
        <p:sp>
          <p:nvSpPr>
            <p:cNvPr id="13414" name="Arc 99"/>
            <p:cNvSpPr/>
            <p:nvPr/>
          </p:nvSpPr>
          <p:spPr bwMode="auto">
            <a:xfrm flipV="1">
              <a:off x="4529" y="960"/>
              <a:ext cx="571" cy="195"/>
            </a:xfrm>
            <a:custGeom>
              <a:avLst/>
              <a:gdLst>
                <a:gd name="T0" fmla="*/ 0 w 21513"/>
                <a:gd name="T1" fmla="*/ 0 h 21519"/>
                <a:gd name="T2" fmla="*/ 0 w 21513"/>
                <a:gd name="T3" fmla="*/ 0 h 21519"/>
                <a:gd name="T4" fmla="*/ 0 w 21513"/>
                <a:gd name="T5" fmla="*/ 0 h 21519"/>
                <a:gd name="T6" fmla="*/ 0 60000 65536"/>
                <a:gd name="T7" fmla="*/ 0 60000 65536"/>
                <a:gd name="T8" fmla="*/ 0 60000 65536"/>
                <a:gd name="T9" fmla="*/ 0 w 21513"/>
                <a:gd name="T10" fmla="*/ 0 h 21519"/>
                <a:gd name="T11" fmla="*/ 21513 w 21513"/>
                <a:gd name="T12" fmla="*/ 21519 h 21519"/>
              </a:gdLst>
              <a:ahLst/>
              <a:cxnLst>
                <a:cxn ang="T6">
                  <a:pos x="T0" y="T1"/>
                </a:cxn>
                <a:cxn ang="T7">
                  <a:pos x="T2" y="T3"/>
                </a:cxn>
                <a:cxn ang="T8">
                  <a:pos x="T4" y="T5"/>
                </a:cxn>
              </a:cxnLst>
              <a:rect l="T9" t="T10" r="T11" b="T12"/>
              <a:pathLst>
                <a:path w="21513" h="21519" fill="none" extrusionOk="0">
                  <a:moveTo>
                    <a:pt x="0" y="19582"/>
                  </a:moveTo>
                  <a:cubicBezTo>
                    <a:pt x="938" y="9156"/>
                    <a:pt x="9217" y="904"/>
                    <a:pt x="19645" y="-1"/>
                  </a:cubicBezTo>
                </a:path>
                <a:path w="21513" h="21519" stroke="0" extrusionOk="0">
                  <a:moveTo>
                    <a:pt x="0" y="19582"/>
                  </a:moveTo>
                  <a:cubicBezTo>
                    <a:pt x="938" y="9156"/>
                    <a:pt x="9217" y="904"/>
                    <a:pt x="19645" y="-1"/>
                  </a:cubicBezTo>
                  <a:lnTo>
                    <a:pt x="21513" y="21519"/>
                  </a:lnTo>
                  <a:lnTo>
                    <a:pt x="0" y="19582"/>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415" name="Rectangle 100"/>
            <p:cNvSpPr>
              <a:spLocks noChangeArrowheads="1"/>
            </p:cNvSpPr>
            <p:nvPr/>
          </p:nvSpPr>
          <p:spPr bwMode="auto">
            <a:xfrm rot="16200000">
              <a:off x="122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1982</a:t>
              </a:r>
            </a:p>
          </p:txBody>
        </p:sp>
        <p:sp>
          <p:nvSpPr>
            <p:cNvPr id="13416" name="Line 101"/>
            <p:cNvSpPr>
              <a:spLocks noChangeShapeType="1"/>
            </p:cNvSpPr>
            <p:nvPr/>
          </p:nvSpPr>
          <p:spPr bwMode="auto">
            <a:xfrm>
              <a:off x="4137" y="1203"/>
              <a:ext cx="0" cy="1152"/>
            </a:xfrm>
            <a:prstGeom prst="line">
              <a:avLst/>
            </a:prstGeom>
            <a:noFill/>
            <a:ln w="25400">
              <a:solidFill>
                <a:srgbClr val="FC0128"/>
              </a:solidFill>
              <a:round/>
              <a:headEnd type="stealth" w="med" len="lg"/>
              <a:tailEnd type="stealth" w="med" len="lg"/>
            </a:ln>
          </p:spPr>
          <p:txBody>
            <a:bodyPr wrap="none" anchor="ctr"/>
            <a:lstStyle/>
            <a:p>
              <a:endParaRPr lang="zh-TW" altLang="en-US"/>
            </a:p>
          </p:txBody>
        </p:sp>
        <p:sp>
          <p:nvSpPr>
            <p:cNvPr id="13417" name="Rectangle 102"/>
            <p:cNvSpPr>
              <a:spLocks noChangeArrowheads="1"/>
            </p:cNvSpPr>
            <p:nvPr/>
          </p:nvSpPr>
          <p:spPr bwMode="auto">
            <a:xfrm>
              <a:off x="4120" y="1349"/>
              <a:ext cx="1425" cy="537"/>
            </a:xfrm>
            <a:prstGeom prst="rect">
              <a:avLst/>
            </a:prstGeom>
            <a:noFill/>
            <a:ln w="9525">
              <a:noFill/>
              <a:miter lim="800000"/>
            </a:ln>
          </p:spPr>
          <p:txBody>
            <a:bodyPr wrap="none" lIns="92075" tIns="46039" rIns="92075" bIns="46039">
              <a:spAutoFit/>
            </a:bodyPr>
            <a:lstStyle/>
            <a:p>
              <a:r>
                <a:rPr kumimoji="1" lang="en-US" altLang="zh-TW" sz="2000" b="1">
                  <a:latin typeface="Arial" panose="020B0604020202090204" pitchFamily="34" charset="0"/>
                </a:rPr>
                <a:t>Processor-memory</a:t>
              </a:r>
            </a:p>
            <a:p>
              <a:r>
                <a:rPr kumimoji="1" lang="en-US" altLang="zh-TW" sz="2000" b="1">
                  <a:latin typeface="Arial" panose="020B0604020202090204" pitchFamily="34" charset="0"/>
                </a:rPr>
                <a:t>performance gap:</a:t>
              </a:r>
              <a:br>
                <a:rPr kumimoji="1" lang="en-US" altLang="zh-TW" sz="2000" b="1">
                  <a:latin typeface="Arial" panose="020B0604020202090204" pitchFamily="34" charset="0"/>
                </a:rPr>
              </a:br>
              <a:r>
                <a:rPr kumimoji="1" lang="en-US" altLang="zh-TW" sz="2000" b="1">
                  <a:latin typeface="Arial" panose="020B0604020202090204" pitchFamily="34" charset="0"/>
                </a:rPr>
                <a:t>(grows 50% / year)</a:t>
              </a:r>
            </a:p>
          </p:txBody>
        </p:sp>
        <p:sp>
          <p:nvSpPr>
            <p:cNvPr id="13418" name="Rectangle 103"/>
            <p:cNvSpPr>
              <a:spLocks noChangeArrowheads="1"/>
            </p:cNvSpPr>
            <p:nvPr/>
          </p:nvSpPr>
          <p:spPr bwMode="auto">
            <a:xfrm rot="16200000">
              <a:off x="-68" y="1773"/>
              <a:ext cx="844" cy="209"/>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Performance</a:t>
              </a:r>
            </a:p>
          </p:txBody>
        </p:sp>
        <p:sp>
          <p:nvSpPr>
            <p:cNvPr id="13419" name="Rectangle 104"/>
            <p:cNvSpPr>
              <a:spLocks noChangeArrowheads="1"/>
            </p:cNvSpPr>
            <p:nvPr/>
          </p:nvSpPr>
          <p:spPr bwMode="auto">
            <a:xfrm>
              <a:off x="4883" y="2688"/>
              <a:ext cx="380" cy="196"/>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Year</a:t>
              </a:r>
            </a:p>
          </p:txBody>
        </p:sp>
        <p:sp>
          <p:nvSpPr>
            <p:cNvPr id="13420" name="Rectangle 105"/>
            <p:cNvSpPr>
              <a:spLocks noChangeArrowheads="1"/>
            </p:cNvSpPr>
            <p:nvPr/>
          </p:nvSpPr>
          <p:spPr bwMode="auto">
            <a:xfrm>
              <a:off x="2728" y="966"/>
              <a:ext cx="841" cy="196"/>
            </a:xfrm>
            <a:prstGeom prst="rect">
              <a:avLst/>
            </a:prstGeom>
            <a:noFill/>
            <a:ln w="9525">
              <a:noFill/>
              <a:miter lim="800000"/>
            </a:ln>
          </p:spPr>
          <p:txBody>
            <a:bodyPr wrap="none" lIns="92075" tIns="46039" rIns="92075" bIns="46039">
              <a:spAutoFit/>
            </a:bodyPr>
            <a:lstStyle/>
            <a:p>
              <a:r>
                <a:rPr kumimoji="1" lang="en-US" altLang="zh-TW">
                  <a:solidFill>
                    <a:srgbClr val="FC0128"/>
                  </a:solidFill>
                  <a:latin typeface="Arial" panose="020B0604020202090204" pitchFamily="34" charset="0"/>
                </a:rPr>
                <a:t>Moore’s Law</a:t>
              </a:r>
            </a:p>
          </p:txBody>
        </p:sp>
        <p:sp>
          <p:nvSpPr>
            <p:cNvPr id="13421" name="Line 106"/>
            <p:cNvSpPr>
              <a:spLocks noChangeShapeType="1"/>
            </p:cNvSpPr>
            <p:nvPr/>
          </p:nvSpPr>
          <p:spPr bwMode="auto">
            <a:xfrm>
              <a:off x="1040" y="8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2" name="Line 107"/>
            <p:cNvSpPr>
              <a:spLocks noChangeShapeType="1"/>
            </p:cNvSpPr>
            <p:nvPr/>
          </p:nvSpPr>
          <p:spPr bwMode="auto">
            <a:xfrm>
              <a:off x="1040" y="1488"/>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3" name="Line 108"/>
            <p:cNvSpPr>
              <a:spLocks noChangeShapeType="1"/>
            </p:cNvSpPr>
            <p:nvPr/>
          </p:nvSpPr>
          <p:spPr bwMode="auto">
            <a:xfrm>
              <a:off x="1040" y="20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grpSp>
      <p:sp>
        <p:nvSpPr>
          <p:cNvPr id="13316" name="Rectangle 109"/>
          <p:cNvSpPr>
            <a:spLocks noGrp="1" noChangeArrowheads="1"/>
          </p:cNvSpPr>
          <p:nvPr>
            <p:ph type="title"/>
          </p:nvPr>
        </p:nvSpPr>
        <p:spPr>
          <a:xfrm>
            <a:off x="1258530" y="173040"/>
            <a:ext cx="10550848" cy="564381"/>
          </a:xfrm>
        </p:spPr>
        <p:txBody>
          <a:bodyPr/>
          <a:lstStyle/>
          <a:p>
            <a:r>
              <a:rPr lang="en-US" altLang="zh-TW" dirty="0"/>
              <a:t>Impact from the Power Wall </a:t>
            </a:r>
          </a:p>
        </p:txBody>
      </p:sp>
      <p:sp>
        <p:nvSpPr>
          <p:cNvPr id="114"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24</a:t>
            </a:fld>
            <a:endParaRPr lang="zh-TW" altLang="en-US"/>
          </a:p>
        </p:txBody>
      </p:sp>
      <p:sp>
        <p:nvSpPr>
          <p:cNvPr id="5" name="Freeform: Shape 4">
            <a:extLst>
              <a:ext uri="{FF2B5EF4-FFF2-40B4-BE49-F238E27FC236}">
                <a16:creationId xmlns:a16="http://schemas.microsoft.com/office/drawing/2014/main" id="{FED5BEB4-D5FC-47B6-8D0C-67384C553215}"/>
              </a:ext>
            </a:extLst>
          </p:cNvPr>
          <p:cNvSpPr/>
          <p:nvPr/>
        </p:nvSpPr>
        <p:spPr bwMode="auto">
          <a:xfrm>
            <a:off x="8735438" y="1340925"/>
            <a:ext cx="2140085" cy="312777"/>
          </a:xfrm>
          <a:custGeom>
            <a:avLst/>
            <a:gdLst>
              <a:gd name="connsiteX0" fmla="*/ 0 w 2140085"/>
              <a:gd name="connsiteY0" fmla="*/ 312777 h 312777"/>
              <a:gd name="connsiteX1" fmla="*/ 437745 w 2140085"/>
              <a:gd name="connsiteY1" fmla="*/ 69586 h 312777"/>
              <a:gd name="connsiteX2" fmla="*/ 1050588 w 2140085"/>
              <a:gd name="connsiteY2" fmla="*/ 1492 h 312777"/>
              <a:gd name="connsiteX3" fmla="*/ 2140085 w 2140085"/>
              <a:gd name="connsiteY3" fmla="*/ 20947 h 312777"/>
              <a:gd name="connsiteX4" fmla="*/ 2140085 w 2140085"/>
              <a:gd name="connsiteY4" fmla="*/ 20947 h 31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85" h="312777">
                <a:moveTo>
                  <a:pt x="0" y="312777"/>
                </a:moveTo>
                <a:cubicBezTo>
                  <a:pt x="131323" y="217122"/>
                  <a:pt x="262647" y="121467"/>
                  <a:pt x="437745" y="69586"/>
                </a:cubicBezTo>
                <a:cubicBezTo>
                  <a:pt x="612843" y="17705"/>
                  <a:pt x="766865" y="9598"/>
                  <a:pt x="1050588" y="1492"/>
                </a:cubicBezTo>
                <a:cubicBezTo>
                  <a:pt x="1334311" y="-6614"/>
                  <a:pt x="2140085" y="20947"/>
                  <a:pt x="2140085" y="20947"/>
                </a:cubicBezTo>
                <a:lnTo>
                  <a:pt x="2140085" y="20947"/>
                </a:lnTo>
              </a:path>
            </a:pathLst>
          </a:cu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806859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5" name="Group 110"/>
          <p:cNvGrpSpPr/>
          <p:nvPr/>
        </p:nvGrpSpPr>
        <p:grpSpPr bwMode="auto">
          <a:xfrm>
            <a:off x="896326" y="1356853"/>
            <a:ext cx="11122893" cy="4542503"/>
            <a:chOff x="249" y="682"/>
            <a:chExt cx="6280" cy="2401"/>
          </a:xfrm>
        </p:grpSpPr>
        <p:sp>
          <p:nvSpPr>
            <p:cNvPr id="13318" name="Rectangle 3"/>
            <p:cNvSpPr>
              <a:spLocks noChangeArrowheads="1"/>
            </p:cNvSpPr>
            <p:nvPr/>
          </p:nvSpPr>
          <p:spPr bwMode="auto">
            <a:xfrm>
              <a:off x="5068" y="710"/>
              <a:ext cx="964" cy="537"/>
            </a:xfrm>
            <a:prstGeom prst="rect">
              <a:avLst/>
            </a:prstGeom>
            <a:noFill/>
            <a:ln w="9525">
              <a:noFill/>
              <a:miter lim="800000"/>
            </a:ln>
          </p:spPr>
          <p:txBody>
            <a:bodyPr lIns="92075" tIns="46039" rIns="92075" bIns="46039">
              <a:spAutoFit/>
            </a:bodyPr>
            <a:lstStyle/>
            <a:p>
              <a:r>
                <a:rPr kumimoji="1" lang="en-US" altLang="zh-TW" sz="2000">
                  <a:latin typeface="Arial" panose="020B0604020202090204" pitchFamily="34" charset="0"/>
                </a:rPr>
                <a:t>Proc</a:t>
              </a:r>
            </a:p>
            <a:p>
              <a:r>
                <a:rPr kumimoji="1" lang="en-US" altLang="zh-TW" sz="2000">
                  <a:latin typeface="Arial" panose="020B0604020202090204" pitchFamily="34" charset="0"/>
                </a:rPr>
                <a:t>60%/yr.</a:t>
              </a:r>
            </a:p>
            <a:p>
              <a:r>
                <a:rPr kumimoji="1" lang="en-US" altLang="zh-TW" sz="2000">
                  <a:latin typeface="Arial" panose="020B0604020202090204" pitchFamily="34" charset="0"/>
                </a:rPr>
                <a:t>(2X/1.5 yr)</a:t>
              </a:r>
              <a:endParaRPr kumimoji="1" lang="en-US" altLang="zh-TW">
                <a:latin typeface="Arial" panose="020B0604020202090204" pitchFamily="34" charset="0"/>
              </a:endParaRPr>
            </a:p>
          </p:txBody>
        </p:sp>
        <p:sp>
          <p:nvSpPr>
            <p:cNvPr id="13319" name="Rectangle 4"/>
            <p:cNvSpPr>
              <a:spLocks noChangeArrowheads="1"/>
            </p:cNvSpPr>
            <p:nvPr/>
          </p:nvSpPr>
          <p:spPr bwMode="auto">
            <a:xfrm>
              <a:off x="5044" y="2080"/>
              <a:ext cx="1485" cy="537"/>
            </a:xfrm>
            <a:prstGeom prst="rect">
              <a:avLst/>
            </a:prstGeom>
            <a:noFill/>
            <a:ln w="9525">
              <a:noFill/>
              <a:miter lim="800000"/>
            </a:ln>
          </p:spPr>
          <p:txBody>
            <a:bodyPr wrap="square" lIns="92075" tIns="46039" rIns="92075" bIns="46039">
              <a:spAutoFit/>
            </a:bodyPr>
            <a:lstStyle/>
            <a:p>
              <a:r>
                <a:rPr kumimoji="1" lang="en-US" altLang="zh-TW" sz="2000" dirty="0">
                  <a:latin typeface="Arial" panose="020B0604020202090204" pitchFamily="34" charset="0"/>
                </a:rPr>
                <a:t>DRAM (main memory)</a:t>
              </a:r>
            </a:p>
            <a:p>
              <a:r>
                <a:rPr kumimoji="1" lang="en-US" altLang="zh-TW" sz="2000" dirty="0">
                  <a:latin typeface="Arial" panose="020B0604020202090204" pitchFamily="34" charset="0"/>
                </a:rPr>
                <a:t>9%/yr.</a:t>
              </a:r>
            </a:p>
            <a:p>
              <a:r>
                <a:rPr kumimoji="1" lang="en-US" altLang="zh-TW" sz="2000" dirty="0">
                  <a:latin typeface="Arial" panose="020B0604020202090204" pitchFamily="34" charset="0"/>
                </a:rPr>
                <a:t>(2X/10 </a:t>
              </a:r>
              <a:r>
                <a:rPr kumimoji="1" lang="en-US" altLang="zh-TW" sz="2000" dirty="0" err="1">
                  <a:latin typeface="Arial" panose="020B0604020202090204" pitchFamily="34" charset="0"/>
                </a:rPr>
                <a:t>yrs</a:t>
              </a:r>
              <a:r>
                <a:rPr kumimoji="1" lang="en-US" altLang="zh-TW" sz="2000" dirty="0">
                  <a:latin typeface="Arial" panose="020B0604020202090204" pitchFamily="34" charset="0"/>
                </a:rPr>
                <a:t>)</a:t>
              </a:r>
              <a:endParaRPr kumimoji="1" lang="en-US" altLang="zh-TW" dirty="0">
                <a:latin typeface="Arial" panose="020B0604020202090204" pitchFamily="34" charset="0"/>
              </a:endParaRPr>
            </a:p>
          </p:txBody>
        </p:sp>
        <p:sp>
          <p:nvSpPr>
            <p:cNvPr id="13320" name="Arc 5"/>
            <p:cNvSpPr/>
            <p:nvPr/>
          </p:nvSpPr>
          <p:spPr bwMode="auto">
            <a:xfrm>
              <a:off x="4707" y="2166"/>
              <a:ext cx="390" cy="1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4"/>
                    <a:pt x="9634" y="33"/>
                    <a:pt x="21540" y="0"/>
                  </a:cubicBezTo>
                </a:path>
                <a:path w="21600" h="21600" stroke="0" extrusionOk="0">
                  <a:moveTo>
                    <a:pt x="0" y="21600"/>
                  </a:moveTo>
                  <a:cubicBezTo>
                    <a:pt x="0" y="9694"/>
                    <a:pt x="9634" y="33"/>
                    <a:pt x="21540" y="0"/>
                  </a:cubicBezTo>
                  <a:lnTo>
                    <a:pt x="21600" y="21600"/>
                  </a:lnTo>
                  <a:lnTo>
                    <a:pt x="0" y="21600"/>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321" name="Line 6"/>
            <p:cNvSpPr>
              <a:spLocks noChangeShapeType="1"/>
            </p:cNvSpPr>
            <p:nvPr/>
          </p:nvSpPr>
          <p:spPr bwMode="auto">
            <a:xfrm>
              <a:off x="4641" y="831"/>
              <a:ext cx="17"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2" name="Line 7"/>
            <p:cNvSpPr>
              <a:spLocks noChangeShapeType="1"/>
            </p:cNvSpPr>
            <p:nvPr/>
          </p:nvSpPr>
          <p:spPr bwMode="auto">
            <a:xfrm flipV="1">
              <a:off x="1005" y="827"/>
              <a:ext cx="0" cy="1832"/>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3" name="Line 8"/>
            <p:cNvSpPr>
              <a:spLocks noChangeShapeType="1"/>
            </p:cNvSpPr>
            <p:nvPr/>
          </p:nvSpPr>
          <p:spPr bwMode="auto">
            <a:xfrm>
              <a:off x="975" y="2544"/>
              <a:ext cx="52"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4" name="Line 9"/>
            <p:cNvSpPr>
              <a:spLocks noChangeShapeType="1"/>
            </p:cNvSpPr>
            <p:nvPr/>
          </p:nvSpPr>
          <p:spPr bwMode="auto">
            <a:xfrm>
              <a:off x="1001" y="2688"/>
              <a:ext cx="3666" cy="0"/>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5" name="Line 10"/>
            <p:cNvSpPr>
              <a:spLocks noChangeShapeType="1"/>
            </p:cNvSpPr>
            <p:nvPr/>
          </p:nvSpPr>
          <p:spPr bwMode="auto">
            <a:xfrm flipV="1">
              <a:off x="1005"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6" name="Line 11"/>
            <p:cNvSpPr>
              <a:spLocks noChangeShapeType="1"/>
            </p:cNvSpPr>
            <p:nvPr/>
          </p:nvSpPr>
          <p:spPr bwMode="auto">
            <a:xfrm flipV="1">
              <a:off x="1187"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7" name="Line 12"/>
            <p:cNvSpPr>
              <a:spLocks noChangeShapeType="1"/>
            </p:cNvSpPr>
            <p:nvPr/>
          </p:nvSpPr>
          <p:spPr bwMode="auto">
            <a:xfrm flipV="1">
              <a:off x="1378"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8" name="Line 13"/>
            <p:cNvSpPr>
              <a:spLocks noChangeShapeType="1"/>
            </p:cNvSpPr>
            <p:nvPr/>
          </p:nvSpPr>
          <p:spPr bwMode="auto">
            <a:xfrm flipV="1">
              <a:off x="1560"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9" name="Line 14"/>
            <p:cNvSpPr>
              <a:spLocks noChangeShapeType="1"/>
            </p:cNvSpPr>
            <p:nvPr/>
          </p:nvSpPr>
          <p:spPr bwMode="auto">
            <a:xfrm flipV="1">
              <a:off x="1742"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0" name="Line 15"/>
            <p:cNvSpPr>
              <a:spLocks noChangeShapeType="1"/>
            </p:cNvSpPr>
            <p:nvPr/>
          </p:nvSpPr>
          <p:spPr bwMode="auto">
            <a:xfrm flipV="1">
              <a:off x="1924"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1" name="Line 16"/>
            <p:cNvSpPr>
              <a:spLocks noChangeShapeType="1"/>
            </p:cNvSpPr>
            <p:nvPr/>
          </p:nvSpPr>
          <p:spPr bwMode="auto">
            <a:xfrm flipV="1">
              <a:off x="2106"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2" name="Line 17"/>
            <p:cNvSpPr>
              <a:spLocks noChangeShapeType="1"/>
            </p:cNvSpPr>
            <p:nvPr/>
          </p:nvSpPr>
          <p:spPr bwMode="auto">
            <a:xfrm flipV="1">
              <a:off x="2288"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3" name="Line 18"/>
            <p:cNvSpPr>
              <a:spLocks noChangeShapeType="1"/>
            </p:cNvSpPr>
            <p:nvPr/>
          </p:nvSpPr>
          <p:spPr bwMode="auto">
            <a:xfrm flipV="1">
              <a:off x="2470"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4" name="Line 19"/>
            <p:cNvSpPr>
              <a:spLocks noChangeShapeType="1"/>
            </p:cNvSpPr>
            <p:nvPr/>
          </p:nvSpPr>
          <p:spPr bwMode="auto">
            <a:xfrm flipV="1">
              <a:off x="266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5" name="Line 20"/>
            <p:cNvSpPr>
              <a:spLocks noChangeShapeType="1"/>
            </p:cNvSpPr>
            <p:nvPr/>
          </p:nvSpPr>
          <p:spPr bwMode="auto">
            <a:xfrm flipV="1">
              <a:off x="28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6" name="Line 21"/>
            <p:cNvSpPr>
              <a:spLocks noChangeShapeType="1"/>
            </p:cNvSpPr>
            <p:nvPr/>
          </p:nvSpPr>
          <p:spPr bwMode="auto">
            <a:xfrm flipV="1">
              <a:off x="30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7" name="Line 22"/>
            <p:cNvSpPr>
              <a:spLocks noChangeShapeType="1"/>
            </p:cNvSpPr>
            <p:nvPr/>
          </p:nvSpPr>
          <p:spPr bwMode="auto">
            <a:xfrm flipV="1">
              <a:off x="32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8" name="Line 23"/>
            <p:cNvSpPr>
              <a:spLocks noChangeShapeType="1"/>
            </p:cNvSpPr>
            <p:nvPr/>
          </p:nvSpPr>
          <p:spPr bwMode="auto">
            <a:xfrm flipV="1">
              <a:off x="33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9" name="Line 24"/>
            <p:cNvSpPr>
              <a:spLocks noChangeShapeType="1"/>
            </p:cNvSpPr>
            <p:nvPr/>
          </p:nvSpPr>
          <p:spPr bwMode="auto">
            <a:xfrm flipV="1">
              <a:off x="35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0" name="Line 25"/>
            <p:cNvSpPr>
              <a:spLocks noChangeShapeType="1"/>
            </p:cNvSpPr>
            <p:nvPr/>
          </p:nvSpPr>
          <p:spPr bwMode="auto">
            <a:xfrm flipV="1">
              <a:off x="375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1" name="Line 26"/>
            <p:cNvSpPr>
              <a:spLocks noChangeShapeType="1"/>
            </p:cNvSpPr>
            <p:nvPr/>
          </p:nvSpPr>
          <p:spPr bwMode="auto">
            <a:xfrm flipV="1">
              <a:off x="39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2" name="Line 27"/>
            <p:cNvSpPr>
              <a:spLocks noChangeShapeType="1"/>
            </p:cNvSpPr>
            <p:nvPr/>
          </p:nvSpPr>
          <p:spPr bwMode="auto">
            <a:xfrm flipV="1">
              <a:off x="41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3" name="Line 28"/>
            <p:cNvSpPr>
              <a:spLocks noChangeShapeType="1"/>
            </p:cNvSpPr>
            <p:nvPr/>
          </p:nvSpPr>
          <p:spPr bwMode="auto">
            <a:xfrm flipV="1">
              <a:off x="43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4" name="Line 29"/>
            <p:cNvSpPr>
              <a:spLocks noChangeShapeType="1"/>
            </p:cNvSpPr>
            <p:nvPr/>
          </p:nvSpPr>
          <p:spPr bwMode="auto">
            <a:xfrm flipV="1">
              <a:off x="44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5" name="Line 30"/>
            <p:cNvSpPr>
              <a:spLocks noChangeShapeType="1"/>
            </p:cNvSpPr>
            <p:nvPr/>
          </p:nvSpPr>
          <p:spPr bwMode="auto">
            <a:xfrm flipV="1">
              <a:off x="46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6" name="Freeform 31"/>
            <p:cNvSpPr/>
            <p:nvPr/>
          </p:nvSpPr>
          <p:spPr bwMode="auto">
            <a:xfrm>
              <a:off x="1001" y="843"/>
              <a:ext cx="3667" cy="1817"/>
            </a:xfrm>
            <a:custGeom>
              <a:avLst/>
              <a:gdLst>
                <a:gd name="T0" fmla="*/ 0 w 3385"/>
                <a:gd name="T1" fmla="*/ 1816 h 1817"/>
                <a:gd name="T2" fmla="*/ 404 w 3385"/>
                <a:gd name="T3" fmla="*/ 1752 h 1817"/>
                <a:gd name="T4" fmla="*/ 829 w 3385"/>
                <a:gd name="T5" fmla="*/ 1696 h 1817"/>
                <a:gd name="T6" fmla="*/ 1236 w 3385"/>
                <a:gd name="T7" fmla="*/ 1640 h 1817"/>
                <a:gd name="T8" fmla="*/ 1637 w 3385"/>
                <a:gd name="T9" fmla="*/ 1576 h 1817"/>
                <a:gd name="T10" fmla="*/ 2045 w 3385"/>
                <a:gd name="T11" fmla="*/ 1520 h 1817"/>
                <a:gd name="T12" fmla="*/ 2452 w 3385"/>
                <a:gd name="T13" fmla="*/ 1456 h 1817"/>
                <a:gd name="T14" fmla="*/ 2856 w 3385"/>
                <a:gd name="T15" fmla="*/ 1400 h 1817"/>
                <a:gd name="T16" fmla="*/ 3260 w 3385"/>
                <a:gd name="T17" fmla="*/ 1296 h 1817"/>
                <a:gd name="T18" fmla="*/ 3684 w 3385"/>
                <a:gd name="T19" fmla="*/ 1184 h 1817"/>
                <a:gd name="T20" fmla="*/ 4089 w 3385"/>
                <a:gd name="T21" fmla="*/ 1080 h 1817"/>
                <a:gd name="T22" fmla="*/ 4494 w 3385"/>
                <a:gd name="T23" fmla="*/ 968 h 1817"/>
                <a:gd name="T24" fmla="*/ 4900 w 3385"/>
                <a:gd name="T25" fmla="*/ 864 h 1817"/>
                <a:gd name="T26" fmla="*/ 5305 w 3385"/>
                <a:gd name="T27" fmla="*/ 752 h 1817"/>
                <a:gd name="T28" fmla="*/ 5710 w 3385"/>
                <a:gd name="T29" fmla="*/ 648 h 1817"/>
                <a:gd name="T30" fmla="*/ 6115 w 3385"/>
                <a:gd name="T31" fmla="*/ 536 h 1817"/>
                <a:gd name="T32" fmla="*/ 6540 w 3385"/>
                <a:gd name="T33" fmla="*/ 432 h 1817"/>
                <a:gd name="T34" fmla="*/ 6945 w 3385"/>
                <a:gd name="T35" fmla="*/ 328 h 1817"/>
                <a:gd name="T36" fmla="*/ 7351 w 3385"/>
                <a:gd name="T37" fmla="*/ 216 h 1817"/>
                <a:gd name="T38" fmla="*/ 7755 w 3385"/>
                <a:gd name="T39" fmla="*/ 112 h 1817"/>
                <a:gd name="T40" fmla="*/ 8161 w 3385"/>
                <a:gd name="T41" fmla="*/ 0 h 18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1817"/>
                <a:gd name="T65" fmla="*/ 3385 w 3385"/>
                <a:gd name="T66" fmla="*/ 1817 h 18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1817">
                  <a:moveTo>
                    <a:pt x="0" y="1816"/>
                  </a:moveTo>
                  <a:lnTo>
                    <a:pt x="168" y="1752"/>
                  </a:lnTo>
                  <a:lnTo>
                    <a:pt x="344" y="1696"/>
                  </a:lnTo>
                  <a:lnTo>
                    <a:pt x="512" y="1640"/>
                  </a:lnTo>
                  <a:lnTo>
                    <a:pt x="680" y="1576"/>
                  </a:lnTo>
                  <a:lnTo>
                    <a:pt x="848" y="1520"/>
                  </a:lnTo>
                  <a:lnTo>
                    <a:pt x="1016" y="1456"/>
                  </a:lnTo>
                  <a:lnTo>
                    <a:pt x="1184" y="1400"/>
                  </a:lnTo>
                  <a:lnTo>
                    <a:pt x="1352" y="1296"/>
                  </a:lnTo>
                  <a:lnTo>
                    <a:pt x="1528" y="1184"/>
                  </a:lnTo>
                  <a:lnTo>
                    <a:pt x="1696" y="1080"/>
                  </a:lnTo>
                  <a:lnTo>
                    <a:pt x="1864" y="968"/>
                  </a:lnTo>
                  <a:lnTo>
                    <a:pt x="2032" y="864"/>
                  </a:lnTo>
                  <a:lnTo>
                    <a:pt x="2200" y="752"/>
                  </a:lnTo>
                  <a:lnTo>
                    <a:pt x="2368" y="648"/>
                  </a:lnTo>
                  <a:lnTo>
                    <a:pt x="2536" y="536"/>
                  </a:lnTo>
                  <a:lnTo>
                    <a:pt x="2712" y="432"/>
                  </a:lnTo>
                  <a:lnTo>
                    <a:pt x="2880" y="328"/>
                  </a:lnTo>
                  <a:lnTo>
                    <a:pt x="3048" y="216"/>
                  </a:lnTo>
                  <a:lnTo>
                    <a:pt x="3216" y="112"/>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7" name="Freeform 32"/>
            <p:cNvSpPr/>
            <p:nvPr/>
          </p:nvSpPr>
          <p:spPr bwMode="auto">
            <a:xfrm>
              <a:off x="1001" y="2299"/>
              <a:ext cx="3667" cy="361"/>
            </a:xfrm>
            <a:custGeom>
              <a:avLst/>
              <a:gdLst>
                <a:gd name="T0" fmla="*/ 0 w 3385"/>
                <a:gd name="T1" fmla="*/ 360 h 361"/>
                <a:gd name="T2" fmla="*/ 404 w 3385"/>
                <a:gd name="T3" fmla="*/ 344 h 361"/>
                <a:gd name="T4" fmla="*/ 829 w 3385"/>
                <a:gd name="T5" fmla="*/ 320 h 361"/>
                <a:gd name="T6" fmla="*/ 1236 w 3385"/>
                <a:gd name="T7" fmla="*/ 304 h 361"/>
                <a:gd name="T8" fmla="*/ 1637 w 3385"/>
                <a:gd name="T9" fmla="*/ 288 h 361"/>
                <a:gd name="T10" fmla="*/ 2045 w 3385"/>
                <a:gd name="T11" fmla="*/ 272 h 361"/>
                <a:gd name="T12" fmla="*/ 2452 w 3385"/>
                <a:gd name="T13" fmla="*/ 248 h 361"/>
                <a:gd name="T14" fmla="*/ 2856 w 3385"/>
                <a:gd name="T15" fmla="*/ 232 h 361"/>
                <a:gd name="T16" fmla="*/ 3260 w 3385"/>
                <a:gd name="T17" fmla="*/ 216 h 361"/>
                <a:gd name="T18" fmla="*/ 3684 w 3385"/>
                <a:gd name="T19" fmla="*/ 200 h 361"/>
                <a:gd name="T20" fmla="*/ 4089 w 3385"/>
                <a:gd name="T21" fmla="*/ 176 h 361"/>
                <a:gd name="T22" fmla="*/ 4494 w 3385"/>
                <a:gd name="T23" fmla="*/ 160 h 361"/>
                <a:gd name="T24" fmla="*/ 4900 w 3385"/>
                <a:gd name="T25" fmla="*/ 144 h 361"/>
                <a:gd name="T26" fmla="*/ 5305 w 3385"/>
                <a:gd name="T27" fmla="*/ 128 h 361"/>
                <a:gd name="T28" fmla="*/ 5710 w 3385"/>
                <a:gd name="T29" fmla="*/ 104 h 361"/>
                <a:gd name="T30" fmla="*/ 6115 w 3385"/>
                <a:gd name="T31" fmla="*/ 88 h 361"/>
                <a:gd name="T32" fmla="*/ 6540 w 3385"/>
                <a:gd name="T33" fmla="*/ 72 h 361"/>
                <a:gd name="T34" fmla="*/ 6945 w 3385"/>
                <a:gd name="T35" fmla="*/ 56 h 361"/>
                <a:gd name="T36" fmla="*/ 7351 w 3385"/>
                <a:gd name="T37" fmla="*/ 32 h 361"/>
                <a:gd name="T38" fmla="*/ 7755 w 3385"/>
                <a:gd name="T39" fmla="*/ 16 h 361"/>
                <a:gd name="T40" fmla="*/ 8161 w 3385"/>
                <a:gd name="T41" fmla="*/ 0 h 3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361"/>
                <a:gd name="T65" fmla="*/ 3385 w 3385"/>
                <a:gd name="T66" fmla="*/ 361 h 3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361">
                  <a:moveTo>
                    <a:pt x="0" y="360"/>
                  </a:moveTo>
                  <a:lnTo>
                    <a:pt x="168" y="344"/>
                  </a:lnTo>
                  <a:lnTo>
                    <a:pt x="344" y="320"/>
                  </a:lnTo>
                  <a:lnTo>
                    <a:pt x="512" y="304"/>
                  </a:lnTo>
                  <a:lnTo>
                    <a:pt x="680" y="288"/>
                  </a:lnTo>
                  <a:lnTo>
                    <a:pt x="848" y="272"/>
                  </a:lnTo>
                  <a:lnTo>
                    <a:pt x="1016" y="248"/>
                  </a:lnTo>
                  <a:lnTo>
                    <a:pt x="1184" y="232"/>
                  </a:lnTo>
                  <a:lnTo>
                    <a:pt x="1352" y="216"/>
                  </a:lnTo>
                  <a:lnTo>
                    <a:pt x="1528" y="200"/>
                  </a:lnTo>
                  <a:lnTo>
                    <a:pt x="1696" y="176"/>
                  </a:lnTo>
                  <a:lnTo>
                    <a:pt x="1864" y="160"/>
                  </a:lnTo>
                  <a:lnTo>
                    <a:pt x="2032" y="144"/>
                  </a:lnTo>
                  <a:lnTo>
                    <a:pt x="2200" y="128"/>
                  </a:lnTo>
                  <a:lnTo>
                    <a:pt x="2368" y="104"/>
                  </a:lnTo>
                  <a:lnTo>
                    <a:pt x="2536" y="88"/>
                  </a:lnTo>
                  <a:lnTo>
                    <a:pt x="2712" y="72"/>
                  </a:lnTo>
                  <a:lnTo>
                    <a:pt x="2880" y="56"/>
                  </a:lnTo>
                  <a:lnTo>
                    <a:pt x="3048" y="32"/>
                  </a:lnTo>
                  <a:lnTo>
                    <a:pt x="3216" y="16"/>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8" name="Rectangle 33"/>
            <p:cNvSpPr>
              <a:spLocks noChangeArrowheads="1"/>
            </p:cNvSpPr>
            <p:nvPr/>
          </p:nvSpPr>
          <p:spPr bwMode="auto">
            <a:xfrm>
              <a:off x="979" y="2634"/>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49" name="Rectangle 34"/>
            <p:cNvSpPr>
              <a:spLocks noChangeArrowheads="1"/>
            </p:cNvSpPr>
            <p:nvPr/>
          </p:nvSpPr>
          <p:spPr bwMode="auto">
            <a:xfrm>
              <a:off x="1161" y="2570"/>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0" name="Rectangle 35"/>
            <p:cNvSpPr>
              <a:spLocks noChangeArrowheads="1"/>
            </p:cNvSpPr>
            <p:nvPr/>
          </p:nvSpPr>
          <p:spPr bwMode="auto">
            <a:xfrm>
              <a:off x="1352" y="25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1" name="Rectangle 36"/>
            <p:cNvSpPr>
              <a:spLocks noChangeArrowheads="1"/>
            </p:cNvSpPr>
            <p:nvPr/>
          </p:nvSpPr>
          <p:spPr bwMode="auto">
            <a:xfrm>
              <a:off x="1534" y="246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2" name="Rectangle 37"/>
            <p:cNvSpPr>
              <a:spLocks noChangeArrowheads="1"/>
            </p:cNvSpPr>
            <p:nvPr/>
          </p:nvSpPr>
          <p:spPr bwMode="auto">
            <a:xfrm>
              <a:off x="1716" y="239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3" name="Rectangle 38"/>
            <p:cNvSpPr>
              <a:spLocks noChangeArrowheads="1"/>
            </p:cNvSpPr>
            <p:nvPr/>
          </p:nvSpPr>
          <p:spPr bwMode="auto">
            <a:xfrm>
              <a:off x="1898" y="234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4" name="Rectangle 39"/>
            <p:cNvSpPr>
              <a:spLocks noChangeArrowheads="1"/>
            </p:cNvSpPr>
            <p:nvPr/>
          </p:nvSpPr>
          <p:spPr bwMode="auto">
            <a:xfrm>
              <a:off x="2080" y="227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5" name="Rectangle 40"/>
            <p:cNvSpPr>
              <a:spLocks noChangeArrowheads="1"/>
            </p:cNvSpPr>
            <p:nvPr/>
          </p:nvSpPr>
          <p:spPr bwMode="auto">
            <a:xfrm>
              <a:off x="2262" y="22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6" name="Rectangle 41"/>
            <p:cNvSpPr>
              <a:spLocks noChangeArrowheads="1"/>
            </p:cNvSpPr>
            <p:nvPr/>
          </p:nvSpPr>
          <p:spPr bwMode="auto">
            <a:xfrm>
              <a:off x="2444" y="21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7" name="Rectangle 42"/>
            <p:cNvSpPr>
              <a:spLocks noChangeArrowheads="1"/>
            </p:cNvSpPr>
            <p:nvPr/>
          </p:nvSpPr>
          <p:spPr bwMode="auto">
            <a:xfrm>
              <a:off x="2635" y="200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8" name="Rectangle 43"/>
            <p:cNvSpPr>
              <a:spLocks noChangeArrowheads="1"/>
            </p:cNvSpPr>
            <p:nvPr/>
          </p:nvSpPr>
          <p:spPr bwMode="auto">
            <a:xfrm>
              <a:off x="2817" y="1903"/>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9" name="Rectangle 44"/>
            <p:cNvSpPr>
              <a:spLocks noChangeArrowheads="1"/>
            </p:cNvSpPr>
            <p:nvPr/>
          </p:nvSpPr>
          <p:spPr bwMode="auto">
            <a:xfrm>
              <a:off x="2999" y="179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0" name="Rectangle 45"/>
            <p:cNvSpPr>
              <a:spLocks noChangeArrowheads="1"/>
            </p:cNvSpPr>
            <p:nvPr/>
          </p:nvSpPr>
          <p:spPr bwMode="auto">
            <a:xfrm>
              <a:off x="3181" y="168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1" name="Rectangle 46"/>
            <p:cNvSpPr>
              <a:spLocks noChangeArrowheads="1"/>
            </p:cNvSpPr>
            <p:nvPr/>
          </p:nvSpPr>
          <p:spPr bwMode="auto">
            <a:xfrm>
              <a:off x="3363" y="1575"/>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2" name="Rectangle 47"/>
            <p:cNvSpPr>
              <a:spLocks noChangeArrowheads="1"/>
            </p:cNvSpPr>
            <p:nvPr/>
          </p:nvSpPr>
          <p:spPr bwMode="auto">
            <a:xfrm>
              <a:off x="3545" y="147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3" name="Rectangle 48"/>
            <p:cNvSpPr>
              <a:spLocks noChangeArrowheads="1"/>
            </p:cNvSpPr>
            <p:nvPr/>
          </p:nvSpPr>
          <p:spPr bwMode="auto">
            <a:xfrm>
              <a:off x="3727" y="1359"/>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4" name="Rectangle 49"/>
            <p:cNvSpPr>
              <a:spLocks noChangeArrowheads="1"/>
            </p:cNvSpPr>
            <p:nvPr/>
          </p:nvSpPr>
          <p:spPr bwMode="auto">
            <a:xfrm>
              <a:off x="3917" y="125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5" name="Rectangle 50"/>
            <p:cNvSpPr>
              <a:spLocks noChangeArrowheads="1"/>
            </p:cNvSpPr>
            <p:nvPr/>
          </p:nvSpPr>
          <p:spPr bwMode="auto">
            <a:xfrm>
              <a:off x="4099" y="1151"/>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6" name="Rectangle 51"/>
            <p:cNvSpPr>
              <a:spLocks noChangeArrowheads="1"/>
            </p:cNvSpPr>
            <p:nvPr/>
          </p:nvSpPr>
          <p:spPr bwMode="auto">
            <a:xfrm>
              <a:off x="4281" y="103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7" name="Rectangle 52"/>
            <p:cNvSpPr>
              <a:spLocks noChangeArrowheads="1"/>
            </p:cNvSpPr>
            <p:nvPr/>
          </p:nvSpPr>
          <p:spPr bwMode="auto">
            <a:xfrm>
              <a:off x="4463" y="93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8" name="Rectangle 53"/>
            <p:cNvSpPr>
              <a:spLocks noChangeArrowheads="1"/>
            </p:cNvSpPr>
            <p:nvPr/>
          </p:nvSpPr>
          <p:spPr bwMode="auto">
            <a:xfrm>
              <a:off x="4645" y="8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9" name="Rectangle 54"/>
            <p:cNvSpPr>
              <a:spLocks noChangeArrowheads="1"/>
            </p:cNvSpPr>
            <p:nvPr/>
          </p:nvSpPr>
          <p:spPr bwMode="auto">
            <a:xfrm>
              <a:off x="979" y="263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0" name="Rectangle 55"/>
            <p:cNvSpPr>
              <a:spLocks noChangeArrowheads="1"/>
            </p:cNvSpPr>
            <p:nvPr/>
          </p:nvSpPr>
          <p:spPr bwMode="auto">
            <a:xfrm>
              <a:off x="1161" y="261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1" name="Rectangle 56"/>
            <p:cNvSpPr>
              <a:spLocks noChangeArrowheads="1"/>
            </p:cNvSpPr>
            <p:nvPr/>
          </p:nvSpPr>
          <p:spPr bwMode="auto">
            <a:xfrm>
              <a:off x="1352" y="259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2" name="Rectangle 57"/>
            <p:cNvSpPr>
              <a:spLocks noChangeArrowheads="1"/>
            </p:cNvSpPr>
            <p:nvPr/>
          </p:nvSpPr>
          <p:spPr bwMode="auto">
            <a:xfrm>
              <a:off x="1534" y="257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3" name="Rectangle 58"/>
            <p:cNvSpPr>
              <a:spLocks noChangeArrowheads="1"/>
            </p:cNvSpPr>
            <p:nvPr/>
          </p:nvSpPr>
          <p:spPr bwMode="auto">
            <a:xfrm>
              <a:off x="1716" y="256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4" name="Rectangle 59"/>
            <p:cNvSpPr>
              <a:spLocks noChangeArrowheads="1"/>
            </p:cNvSpPr>
            <p:nvPr/>
          </p:nvSpPr>
          <p:spPr bwMode="auto">
            <a:xfrm>
              <a:off x="1898" y="2546"/>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5" name="Rectangle 60"/>
            <p:cNvSpPr>
              <a:spLocks noChangeArrowheads="1"/>
            </p:cNvSpPr>
            <p:nvPr/>
          </p:nvSpPr>
          <p:spPr bwMode="auto">
            <a:xfrm>
              <a:off x="2080" y="252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6" name="Rectangle 61"/>
            <p:cNvSpPr>
              <a:spLocks noChangeArrowheads="1"/>
            </p:cNvSpPr>
            <p:nvPr/>
          </p:nvSpPr>
          <p:spPr bwMode="auto">
            <a:xfrm>
              <a:off x="2262" y="25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7" name="Rectangle 62"/>
            <p:cNvSpPr>
              <a:spLocks noChangeArrowheads="1"/>
            </p:cNvSpPr>
            <p:nvPr/>
          </p:nvSpPr>
          <p:spPr bwMode="auto">
            <a:xfrm>
              <a:off x="2444" y="24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8" name="Rectangle 63"/>
            <p:cNvSpPr>
              <a:spLocks noChangeArrowheads="1"/>
            </p:cNvSpPr>
            <p:nvPr/>
          </p:nvSpPr>
          <p:spPr bwMode="auto">
            <a:xfrm>
              <a:off x="2635" y="247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9" name="Rectangle 64"/>
            <p:cNvSpPr>
              <a:spLocks noChangeArrowheads="1"/>
            </p:cNvSpPr>
            <p:nvPr/>
          </p:nvSpPr>
          <p:spPr bwMode="auto">
            <a:xfrm>
              <a:off x="2817" y="2455"/>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0" name="Rectangle 65"/>
            <p:cNvSpPr>
              <a:spLocks noChangeArrowheads="1"/>
            </p:cNvSpPr>
            <p:nvPr/>
          </p:nvSpPr>
          <p:spPr bwMode="auto">
            <a:xfrm>
              <a:off x="2999" y="243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1" name="Rectangle 66"/>
            <p:cNvSpPr>
              <a:spLocks noChangeArrowheads="1"/>
            </p:cNvSpPr>
            <p:nvPr/>
          </p:nvSpPr>
          <p:spPr bwMode="auto">
            <a:xfrm>
              <a:off x="3181" y="242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2" name="Rectangle 67"/>
            <p:cNvSpPr>
              <a:spLocks noChangeArrowheads="1"/>
            </p:cNvSpPr>
            <p:nvPr/>
          </p:nvSpPr>
          <p:spPr bwMode="auto">
            <a:xfrm>
              <a:off x="3363" y="240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3" name="Rectangle 68"/>
            <p:cNvSpPr>
              <a:spLocks noChangeArrowheads="1"/>
            </p:cNvSpPr>
            <p:nvPr/>
          </p:nvSpPr>
          <p:spPr bwMode="auto">
            <a:xfrm>
              <a:off x="3545" y="238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4" name="Rectangle 69"/>
            <p:cNvSpPr>
              <a:spLocks noChangeArrowheads="1"/>
            </p:cNvSpPr>
            <p:nvPr/>
          </p:nvSpPr>
          <p:spPr bwMode="auto">
            <a:xfrm>
              <a:off x="3727" y="236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5" name="Rectangle 70"/>
            <p:cNvSpPr>
              <a:spLocks noChangeArrowheads="1"/>
            </p:cNvSpPr>
            <p:nvPr/>
          </p:nvSpPr>
          <p:spPr bwMode="auto">
            <a:xfrm>
              <a:off x="3917" y="235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6" name="Rectangle 71"/>
            <p:cNvSpPr>
              <a:spLocks noChangeArrowheads="1"/>
            </p:cNvSpPr>
            <p:nvPr/>
          </p:nvSpPr>
          <p:spPr bwMode="auto">
            <a:xfrm>
              <a:off x="4099" y="233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7" name="Rectangle 72"/>
            <p:cNvSpPr>
              <a:spLocks noChangeArrowheads="1"/>
            </p:cNvSpPr>
            <p:nvPr/>
          </p:nvSpPr>
          <p:spPr bwMode="auto">
            <a:xfrm>
              <a:off x="4281" y="23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8" name="Rectangle 73"/>
            <p:cNvSpPr>
              <a:spLocks noChangeArrowheads="1"/>
            </p:cNvSpPr>
            <p:nvPr/>
          </p:nvSpPr>
          <p:spPr bwMode="auto">
            <a:xfrm>
              <a:off x="4463" y="22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9" name="Rectangle 74"/>
            <p:cNvSpPr>
              <a:spLocks noChangeArrowheads="1"/>
            </p:cNvSpPr>
            <p:nvPr/>
          </p:nvSpPr>
          <p:spPr bwMode="auto">
            <a:xfrm>
              <a:off x="4645" y="2279"/>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90" name="Rectangle 75"/>
            <p:cNvSpPr>
              <a:spLocks noChangeArrowheads="1"/>
            </p:cNvSpPr>
            <p:nvPr/>
          </p:nvSpPr>
          <p:spPr bwMode="auto">
            <a:xfrm>
              <a:off x="728" y="2514"/>
              <a:ext cx="21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a:t>
              </a:r>
            </a:p>
          </p:txBody>
        </p:sp>
        <p:sp>
          <p:nvSpPr>
            <p:cNvPr id="13391" name="Rectangle 76"/>
            <p:cNvSpPr>
              <a:spLocks noChangeArrowheads="1"/>
            </p:cNvSpPr>
            <p:nvPr/>
          </p:nvSpPr>
          <p:spPr bwMode="auto">
            <a:xfrm>
              <a:off x="563" y="1906"/>
              <a:ext cx="331"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a:t>
              </a:r>
            </a:p>
          </p:txBody>
        </p:sp>
        <p:sp>
          <p:nvSpPr>
            <p:cNvPr id="13392" name="Rectangle 77"/>
            <p:cNvSpPr>
              <a:spLocks noChangeArrowheads="1"/>
            </p:cNvSpPr>
            <p:nvPr/>
          </p:nvSpPr>
          <p:spPr bwMode="auto">
            <a:xfrm>
              <a:off x="451" y="1346"/>
              <a:ext cx="444"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a:t>
              </a:r>
            </a:p>
          </p:txBody>
        </p:sp>
        <p:sp>
          <p:nvSpPr>
            <p:cNvPr id="13393" name="Rectangle 78"/>
            <p:cNvSpPr>
              <a:spLocks noChangeArrowheads="1"/>
            </p:cNvSpPr>
            <p:nvPr/>
          </p:nvSpPr>
          <p:spPr bwMode="auto">
            <a:xfrm>
              <a:off x="286" y="682"/>
              <a:ext cx="55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1000</a:t>
              </a:r>
            </a:p>
          </p:txBody>
        </p:sp>
        <p:sp>
          <p:nvSpPr>
            <p:cNvPr id="13394" name="Rectangle 79"/>
            <p:cNvSpPr>
              <a:spLocks noChangeArrowheads="1"/>
            </p:cNvSpPr>
            <p:nvPr/>
          </p:nvSpPr>
          <p:spPr bwMode="auto">
            <a:xfrm rot="16200000">
              <a:off x="83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1980</a:t>
              </a:r>
            </a:p>
          </p:txBody>
        </p:sp>
        <p:sp>
          <p:nvSpPr>
            <p:cNvPr id="13395" name="Rectangle 80"/>
            <p:cNvSpPr>
              <a:spLocks noChangeArrowheads="1"/>
            </p:cNvSpPr>
            <p:nvPr/>
          </p:nvSpPr>
          <p:spPr bwMode="auto">
            <a:xfrm rot="16200000">
              <a:off x="1015"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1981</a:t>
              </a:r>
            </a:p>
          </p:txBody>
        </p:sp>
        <p:sp>
          <p:nvSpPr>
            <p:cNvPr id="13396" name="Rectangle 81"/>
            <p:cNvSpPr>
              <a:spLocks noChangeArrowheads="1"/>
            </p:cNvSpPr>
            <p:nvPr/>
          </p:nvSpPr>
          <p:spPr bwMode="auto">
            <a:xfrm rot="16200000">
              <a:off x="137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1983</a:t>
              </a:r>
            </a:p>
          </p:txBody>
        </p:sp>
        <p:sp>
          <p:nvSpPr>
            <p:cNvPr id="13397" name="Rectangle 82"/>
            <p:cNvSpPr>
              <a:spLocks noChangeArrowheads="1"/>
            </p:cNvSpPr>
            <p:nvPr/>
          </p:nvSpPr>
          <p:spPr bwMode="auto">
            <a:xfrm rot="16200000">
              <a:off x="1561"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1984</a:t>
              </a:r>
            </a:p>
          </p:txBody>
        </p:sp>
        <p:sp>
          <p:nvSpPr>
            <p:cNvPr id="13398" name="Rectangle 83"/>
            <p:cNvSpPr>
              <a:spLocks noChangeArrowheads="1"/>
            </p:cNvSpPr>
            <p:nvPr/>
          </p:nvSpPr>
          <p:spPr bwMode="auto">
            <a:xfrm rot="16200000">
              <a:off x="174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1985</a:t>
              </a:r>
            </a:p>
          </p:txBody>
        </p:sp>
        <p:sp>
          <p:nvSpPr>
            <p:cNvPr id="13399" name="Rectangle 84"/>
            <p:cNvSpPr>
              <a:spLocks noChangeArrowheads="1"/>
            </p:cNvSpPr>
            <p:nvPr/>
          </p:nvSpPr>
          <p:spPr bwMode="auto">
            <a:xfrm rot="16200000">
              <a:off x="19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1986</a:t>
              </a:r>
            </a:p>
          </p:txBody>
        </p:sp>
        <p:sp>
          <p:nvSpPr>
            <p:cNvPr id="13400" name="Rectangle 85"/>
            <p:cNvSpPr>
              <a:spLocks noChangeArrowheads="1"/>
            </p:cNvSpPr>
            <p:nvPr/>
          </p:nvSpPr>
          <p:spPr bwMode="auto">
            <a:xfrm rot="16200000">
              <a:off x="21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1987</a:t>
              </a:r>
            </a:p>
          </p:txBody>
        </p:sp>
        <p:sp>
          <p:nvSpPr>
            <p:cNvPr id="13401" name="Rectangle 86"/>
            <p:cNvSpPr>
              <a:spLocks noChangeArrowheads="1"/>
            </p:cNvSpPr>
            <p:nvPr/>
          </p:nvSpPr>
          <p:spPr bwMode="auto">
            <a:xfrm rot="16200000">
              <a:off x="22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1988</a:t>
              </a:r>
            </a:p>
          </p:txBody>
        </p:sp>
        <p:sp>
          <p:nvSpPr>
            <p:cNvPr id="13402" name="Rectangle 87"/>
            <p:cNvSpPr>
              <a:spLocks noChangeArrowheads="1"/>
            </p:cNvSpPr>
            <p:nvPr/>
          </p:nvSpPr>
          <p:spPr bwMode="auto">
            <a:xfrm rot="16200000">
              <a:off x="24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1989</a:t>
              </a:r>
            </a:p>
          </p:txBody>
        </p:sp>
        <p:sp>
          <p:nvSpPr>
            <p:cNvPr id="13403" name="Rectangle 88"/>
            <p:cNvSpPr>
              <a:spLocks noChangeArrowheads="1"/>
            </p:cNvSpPr>
            <p:nvPr/>
          </p:nvSpPr>
          <p:spPr bwMode="auto">
            <a:xfrm rot="16200000">
              <a:off x="26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1990</a:t>
              </a:r>
            </a:p>
          </p:txBody>
        </p:sp>
        <p:sp>
          <p:nvSpPr>
            <p:cNvPr id="13404" name="Rectangle 89"/>
            <p:cNvSpPr>
              <a:spLocks noChangeArrowheads="1"/>
            </p:cNvSpPr>
            <p:nvPr/>
          </p:nvSpPr>
          <p:spPr bwMode="auto">
            <a:xfrm rot="16200000">
              <a:off x="28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1991</a:t>
              </a:r>
            </a:p>
          </p:txBody>
        </p:sp>
        <p:sp>
          <p:nvSpPr>
            <p:cNvPr id="13405" name="Rectangle 90"/>
            <p:cNvSpPr>
              <a:spLocks noChangeArrowheads="1"/>
            </p:cNvSpPr>
            <p:nvPr/>
          </p:nvSpPr>
          <p:spPr bwMode="auto">
            <a:xfrm rot="16200000">
              <a:off x="30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1992</a:t>
              </a:r>
            </a:p>
          </p:txBody>
        </p:sp>
        <p:sp>
          <p:nvSpPr>
            <p:cNvPr id="13406" name="Rectangle 91"/>
            <p:cNvSpPr>
              <a:spLocks noChangeArrowheads="1"/>
            </p:cNvSpPr>
            <p:nvPr/>
          </p:nvSpPr>
          <p:spPr bwMode="auto">
            <a:xfrm rot="16200000">
              <a:off x="32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1993</a:t>
              </a:r>
            </a:p>
          </p:txBody>
        </p:sp>
        <p:sp>
          <p:nvSpPr>
            <p:cNvPr id="13407" name="Rectangle 92"/>
            <p:cNvSpPr>
              <a:spLocks noChangeArrowheads="1"/>
            </p:cNvSpPr>
            <p:nvPr/>
          </p:nvSpPr>
          <p:spPr bwMode="auto">
            <a:xfrm rot="16200000">
              <a:off x="3398"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1994</a:t>
              </a:r>
            </a:p>
          </p:txBody>
        </p:sp>
        <p:sp>
          <p:nvSpPr>
            <p:cNvPr id="13408" name="Rectangle 93"/>
            <p:cNvSpPr>
              <a:spLocks noChangeArrowheads="1"/>
            </p:cNvSpPr>
            <p:nvPr/>
          </p:nvSpPr>
          <p:spPr bwMode="auto">
            <a:xfrm rot="16200000">
              <a:off x="35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1995</a:t>
              </a:r>
            </a:p>
          </p:txBody>
        </p:sp>
        <p:sp>
          <p:nvSpPr>
            <p:cNvPr id="13409" name="Rectangle 94"/>
            <p:cNvSpPr>
              <a:spLocks noChangeArrowheads="1"/>
            </p:cNvSpPr>
            <p:nvPr/>
          </p:nvSpPr>
          <p:spPr bwMode="auto">
            <a:xfrm rot="16200000">
              <a:off x="37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1996</a:t>
              </a:r>
            </a:p>
          </p:txBody>
        </p:sp>
        <p:sp>
          <p:nvSpPr>
            <p:cNvPr id="13410" name="Rectangle 95"/>
            <p:cNvSpPr>
              <a:spLocks noChangeArrowheads="1"/>
            </p:cNvSpPr>
            <p:nvPr/>
          </p:nvSpPr>
          <p:spPr bwMode="auto">
            <a:xfrm rot="16200000">
              <a:off x="39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1997</a:t>
              </a:r>
            </a:p>
          </p:txBody>
        </p:sp>
        <p:sp>
          <p:nvSpPr>
            <p:cNvPr id="13411" name="Rectangle 96"/>
            <p:cNvSpPr>
              <a:spLocks noChangeArrowheads="1"/>
            </p:cNvSpPr>
            <p:nvPr/>
          </p:nvSpPr>
          <p:spPr bwMode="auto">
            <a:xfrm rot="16200000">
              <a:off x="412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1998</a:t>
              </a:r>
            </a:p>
          </p:txBody>
        </p:sp>
        <p:sp>
          <p:nvSpPr>
            <p:cNvPr id="13412" name="Rectangle 97"/>
            <p:cNvSpPr>
              <a:spLocks noChangeArrowheads="1"/>
            </p:cNvSpPr>
            <p:nvPr/>
          </p:nvSpPr>
          <p:spPr bwMode="auto">
            <a:xfrm rot="16200000">
              <a:off x="4317"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1999</a:t>
              </a:r>
            </a:p>
          </p:txBody>
        </p:sp>
        <p:sp>
          <p:nvSpPr>
            <p:cNvPr id="13413" name="Rectangle 98"/>
            <p:cNvSpPr>
              <a:spLocks noChangeArrowheads="1"/>
            </p:cNvSpPr>
            <p:nvPr/>
          </p:nvSpPr>
          <p:spPr bwMode="auto">
            <a:xfrm rot="16200000">
              <a:off x="44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2000</a:t>
              </a:r>
            </a:p>
          </p:txBody>
        </p:sp>
        <p:sp>
          <p:nvSpPr>
            <p:cNvPr id="13414" name="Arc 99"/>
            <p:cNvSpPr/>
            <p:nvPr/>
          </p:nvSpPr>
          <p:spPr bwMode="auto">
            <a:xfrm flipV="1">
              <a:off x="4529" y="960"/>
              <a:ext cx="571" cy="195"/>
            </a:xfrm>
            <a:custGeom>
              <a:avLst/>
              <a:gdLst>
                <a:gd name="T0" fmla="*/ 0 w 21513"/>
                <a:gd name="T1" fmla="*/ 0 h 21519"/>
                <a:gd name="T2" fmla="*/ 0 w 21513"/>
                <a:gd name="T3" fmla="*/ 0 h 21519"/>
                <a:gd name="T4" fmla="*/ 0 w 21513"/>
                <a:gd name="T5" fmla="*/ 0 h 21519"/>
                <a:gd name="T6" fmla="*/ 0 60000 65536"/>
                <a:gd name="T7" fmla="*/ 0 60000 65536"/>
                <a:gd name="T8" fmla="*/ 0 60000 65536"/>
                <a:gd name="T9" fmla="*/ 0 w 21513"/>
                <a:gd name="T10" fmla="*/ 0 h 21519"/>
                <a:gd name="T11" fmla="*/ 21513 w 21513"/>
                <a:gd name="T12" fmla="*/ 21519 h 21519"/>
              </a:gdLst>
              <a:ahLst/>
              <a:cxnLst>
                <a:cxn ang="T6">
                  <a:pos x="T0" y="T1"/>
                </a:cxn>
                <a:cxn ang="T7">
                  <a:pos x="T2" y="T3"/>
                </a:cxn>
                <a:cxn ang="T8">
                  <a:pos x="T4" y="T5"/>
                </a:cxn>
              </a:cxnLst>
              <a:rect l="T9" t="T10" r="T11" b="T12"/>
              <a:pathLst>
                <a:path w="21513" h="21519" fill="none" extrusionOk="0">
                  <a:moveTo>
                    <a:pt x="0" y="19582"/>
                  </a:moveTo>
                  <a:cubicBezTo>
                    <a:pt x="938" y="9156"/>
                    <a:pt x="9217" y="904"/>
                    <a:pt x="19645" y="-1"/>
                  </a:cubicBezTo>
                </a:path>
                <a:path w="21513" h="21519" stroke="0" extrusionOk="0">
                  <a:moveTo>
                    <a:pt x="0" y="19582"/>
                  </a:moveTo>
                  <a:cubicBezTo>
                    <a:pt x="938" y="9156"/>
                    <a:pt x="9217" y="904"/>
                    <a:pt x="19645" y="-1"/>
                  </a:cubicBezTo>
                  <a:lnTo>
                    <a:pt x="21513" y="21519"/>
                  </a:lnTo>
                  <a:lnTo>
                    <a:pt x="0" y="19582"/>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415" name="Rectangle 100"/>
            <p:cNvSpPr>
              <a:spLocks noChangeArrowheads="1"/>
            </p:cNvSpPr>
            <p:nvPr/>
          </p:nvSpPr>
          <p:spPr bwMode="auto">
            <a:xfrm rot="16200000">
              <a:off x="122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1982</a:t>
              </a:r>
            </a:p>
          </p:txBody>
        </p:sp>
        <p:sp>
          <p:nvSpPr>
            <p:cNvPr id="13416" name="Line 101"/>
            <p:cNvSpPr>
              <a:spLocks noChangeShapeType="1"/>
            </p:cNvSpPr>
            <p:nvPr/>
          </p:nvSpPr>
          <p:spPr bwMode="auto">
            <a:xfrm>
              <a:off x="4137" y="1203"/>
              <a:ext cx="0" cy="1152"/>
            </a:xfrm>
            <a:prstGeom prst="line">
              <a:avLst/>
            </a:prstGeom>
            <a:noFill/>
            <a:ln w="25400">
              <a:solidFill>
                <a:srgbClr val="FC0128"/>
              </a:solidFill>
              <a:round/>
              <a:headEnd type="stealth" w="med" len="lg"/>
              <a:tailEnd type="stealth" w="med" len="lg"/>
            </a:ln>
          </p:spPr>
          <p:txBody>
            <a:bodyPr wrap="none" anchor="ctr"/>
            <a:lstStyle/>
            <a:p>
              <a:endParaRPr lang="zh-TW" altLang="en-US"/>
            </a:p>
          </p:txBody>
        </p:sp>
        <p:sp>
          <p:nvSpPr>
            <p:cNvPr id="13417" name="Rectangle 102"/>
            <p:cNvSpPr>
              <a:spLocks noChangeArrowheads="1"/>
            </p:cNvSpPr>
            <p:nvPr/>
          </p:nvSpPr>
          <p:spPr bwMode="auto">
            <a:xfrm>
              <a:off x="4120" y="1349"/>
              <a:ext cx="1425" cy="537"/>
            </a:xfrm>
            <a:prstGeom prst="rect">
              <a:avLst/>
            </a:prstGeom>
            <a:noFill/>
            <a:ln w="9525">
              <a:noFill/>
              <a:miter lim="800000"/>
            </a:ln>
          </p:spPr>
          <p:txBody>
            <a:bodyPr wrap="none" lIns="92075" tIns="46039" rIns="92075" bIns="46039">
              <a:spAutoFit/>
            </a:bodyPr>
            <a:lstStyle/>
            <a:p>
              <a:r>
                <a:rPr kumimoji="1" lang="en-US" altLang="zh-TW" sz="2000" b="1">
                  <a:latin typeface="Arial" panose="020B0604020202090204" pitchFamily="34" charset="0"/>
                </a:rPr>
                <a:t>Processor-memory</a:t>
              </a:r>
            </a:p>
            <a:p>
              <a:r>
                <a:rPr kumimoji="1" lang="en-US" altLang="zh-TW" sz="2000" b="1">
                  <a:latin typeface="Arial" panose="020B0604020202090204" pitchFamily="34" charset="0"/>
                </a:rPr>
                <a:t>performance gap:</a:t>
              </a:r>
              <a:br>
                <a:rPr kumimoji="1" lang="en-US" altLang="zh-TW" sz="2000" b="1">
                  <a:latin typeface="Arial" panose="020B0604020202090204" pitchFamily="34" charset="0"/>
                </a:rPr>
              </a:br>
              <a:r>
                <a:rPr kumimoji="1" lang="en-US" altLang="zh-TW" sz="2000" b="1">
                  <a:latin typeface="Arial" panose="020B0604020202090204" pitchFamily="34" charset="0"/>
                </a:rPr>
                <a:t>(grows 50% / year)</a:t>
              </a:r>
            </a:p>
          </p:txBody>
        </p:sp>
        <p:sp>
          <p:nvSpPr>
            <p:cNvPr id="13418" name="Rectangle 103"/>
            <p:cNvSpPr>
              <a:spLocks noChangeArrowheads="1"/>
            </p:cNvSpPr>
            <p:nvPr/>
          </p:nvSpPr>
          <p:spPr bwMode="auto">
            <a:xfrm rot="16200000">
              <a:off x="-68" y="1773"/>
              <a:ext cx="844" cy="209"/>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Performance</a:t>
              </a:r>
            </a:p>
          </p:txBody>
        </p:sp>
        <p:sp>
          <p:nvSpPr>
            <p:cNvPr id="13419" name="Rectangle 104"/>
            <p:cNvSpPr>
              <a:spLocks noChangeArrowheads="1"/>
            </p:cNvSpPr>
            <p:nvPr/>
          </p:nvSpPr>
          <p:spPr bwMode="auto">
            <a:xfrm>
              <a:off x="4883" y="2688"/>
              <a:ext cx="380" cy="196"/>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Year</a:t>
              </a:r>
            </a:p>
          </p:txBody>
        </p:sp>
        <p:sp>
          <p:nvSpPr>
            <p:cNvPr id="13420" name="Rectangle 105"/>
            <p:cNvSpPr>
              <a:spLocks noChangeArrowheads="1"/>
            </p:cNvSpPr>
            <p:nvPr/>
          </p:nvSpPr>
          <p:spPr bwMode="auto">
            <a:xfrm>
              <a:off x="2728" y="966"/>
              <a:ext cx="841" cy="196"/>
            </a:xfrm>
            <a:prstGeom prst="rect">
              <a:avLst/>
            </a:prstGeom>
            <a:noFill/>
            <a:ln w="9525">
              <a:noFill/>
              <a:miter lim="800000"/>
            </a:ln>
          </p:spPr>
          <p:txBody>
            <a:bodyPr wrap="none" lIns="92075" tIns="46039" rIns="92075" bIns="46039">
              <a:spAutoFit/>
            </a:bodyPr>
            <a:lstStyle/>
            <a:p>
              <a:r>
                <a:rPr kumimoji="1" lang="en-US" altLang="zh-TW">
                  <a:solidFill>
                    <a:srgbClr val="FC0128"/>
                  </a:solidFill>
                  <a:latin typeface="Arial" panose="020B0604020202090204" pitchFamily="34" charset="0"/>
                </a:rPr>
                <a:t>Moore’s Law</a:t>
              </a:r>
            </a:p>
          </p:txBody>
        </p:sp>
        <p:sp>
          <p:nvSpPr>
            <p:cNvPr id="13421" name="Line 106"/>
            <p:cNvSpPr>
              <a:spLocks noChangeShapeType="1"/>
            </p:cNvSpPr>
            <p:nvPr/>
          </p:nvSpPr>
          <p:spPr bwMode="auto">
            <a:xfrm>
              <a:off x="1040" y="8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2" name="Line 107"/>
            <p:cNvSpPr>
              <a:spLocks noChangeShapeType="1"/>
            </p:cNvSpPr>
            <p:nvPr/>
          </p:nvSpPr>
          <p:spPr bwMode="auto">
            <a:xfrm>
              <a:off x="1040" y="1488"/>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3" name="Line 108"/>
            <p:cNvSpPr>
              <a:spLocks noChangeShapeType="1"/>
            </p:cNvSpPr>
            <p:nvPr/>
          </p:nvSpPr>
          <p:spPr bwMode="auto">
            <a:xfrm>
              <a:off x="1040" y="20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grpSp>
      <p:sp>
        <p:nvSpPr>
          <p:cNvPr id="13316" name="Rectangle 109"/>
          <p:cNvSpPr>
            <a:spLocks noGrp="1" noChangeArrowheads="1"/>
          </p:cNvSpPr>
          <p:nvPr>
            <p:ph type="title"/>
          </p:nvPr>
        </p:nvSpPr>
        <p:spPr>
          <a:xfrm>
            <a:off x="1258530" y="173040"/>
            <a:ext cx="10550848" cy="564381"/>
          </a:xfrm>
        </p:spPr>
        <p:txBody>
          <a:bodyPr/>
          <a:lstStyle/>
          <a:p>
            <a:r>
              <a:rPr lang="en-US" altLang="zh-TW" dirty="0"/>
              <a:t>Clock Frequency Stays Flat, But …</a:t>
            </a:r>
          </a:p>
        </p:txBody>
      </p:sp>
      <p:sp>
        <p:nvSpPr>
          <p:cNvPr id="114"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25</a:t>
            </a:fld>
            <a:endParaRPr lang="zh-TW" altLang="en-US"/>
          </a:p>
        </p:txBody>
      </p:sp>
      <p:sp>
        <p:nvSpPr>
          <p:cNvPr id="5" name="Freeform: Shape 4">
            <a:extLst>
              <a:ext uri="{FF2B5EF4-FFF2-40B4-BE49-F238E27FC236}">
                <a16:creationId xmlns:a16="http://schemas.microsoft.com/office/drawing/2014/main" id="{FED5BEB4-D5FC-47B6-8D0C-67384C553215}"/>
              </a:ext>
            </a:extLst>
          </p:cNvPr>
          <p:cNvSpPr/>
          <p:nvPr/>
        </p:nvSpPr>
        <p:spPr bwMode="auto">
          <a:xfrm>
            <a:off x="8735438" y="1340925"/>
            <a:ext cx="2140085" cy="312777"/>
          </a:xfrm>
          <a:custGeom>
            <a:avLst/>
            <a:gdLst>
              <a:gd name="connsiteX0" fmla="*/ 0 w 2140085"/>
              <a:gd name="connsiteY0" fmla="*/ 312777 h 312777"/>
              <a:gd name="connsiteX1" fmla="*/ 437745 w 2140085"/>
              <a:gd name="connsiteY1" fmla="*/ 69586 h 312777"/>
              <a:gd name="connsiteX2" fmla="*/ 1050588 w 2140085"/>
              <a:gd name="connsiteY2" fmla="*/ 1492 h 312777"/>
              <a:gd name="connsiteX3" fmla="*/ 2140085 w 2140085"/>
              <a:gd name="connsiteY3" fmla="*/ 20947 h 312777"/>
              <a:gd name="connsiteX4" fmla="*/ 2140085 w 2140085"/>
              <a:gd name="connsiteY4" fmla="*/ 20947 h 31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85" h="312777">
                <a:moveTo>
                  <a:pt x="0" y="312777"/>
                </a:moveTo>
                <a:cubicBezTo>
                  <a:pt x="131323" y="217122"/>
                  <a:pt x="262647" y="121467"/>
                  <a:pt x="437745" y="69586"/>
                </a:cubicBezTo>
                <a:cubicBezTo>
                  <a:pt x="612843" y="17705"/>
                  <a:pt x="766865" y="9598"/>
                  <a:pt x="1050588" y="1492"/>
                </a:cubicBezTo>
                <a:cubicBezTo>
                  <a:pt x="1334311" y="-6614"/>
                  <a:pt x="2140085" y="20947"/>
                  <a:pt x="2140085" y="20947"/>
                </a:cubicBezTo>
                <a:lnTo>
                  <a:pt x="2140085" y="20947"/>
                </a:lnTo>
              </a:path>
            </a:pathLst>
          </a:cu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 name="TextBox 1">
            <a:extLst>
              <a:ext uri="{FF2B5EF4-FFF2-40B4-BE49-F238E27FC236}">
                <a16:creationId xmlns:a16="http://schemas.microsoft.com/office/drawing/2014/main" id="{64D7CCB0-1BA4-4358-B900-A69508483D8A}"/>
              </a:ext>
            </a:extLst>
          </p:cNvPr>
          <p:cNvSpPr txBox="1"/>
          <p:nvPr/>
        </p:nvSpPr>
        <p:spPr>
          <a:xfrm>
            <a:off x="465608" y="1067741"/>
            <a:ext cx="6882012" cy="3970318"/>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Processors are still getting more powerful:</a:t>
            </a:r>
          </a:p>
          <a:p>
            <a:pPr marL="914400" lvl="1" indent="-457200">
              <a:buFont typeface="Wingdings" panose="05000000000000000000" pitchFamily="2" charset="2"/>
              <a:buChar char="§"/>
            </a:pPr>
            <a:r>
              <a:rPr lang="en-US" sz="2800" dirty="0">
                <a:ea typeface="標楷體" pitchFamily="65" charset="-120"/>
                <a:cs typeface="Calibri" pitchFamily="34" charset="0"/>
              </a:rPr>
              <a:t>Super-scalar</a:t>
            </a:r>
          </a:p>
          <a:p>
            <a:pPr marL="914400" lvl="1" indent="-457200">
              <a:buFont typeface="Wingdings" panose="05000000000000000000" pitchFamily="2" charset="2"/>
              <a:buChar char="§"/>
            </a:pPr>
            <a:r>
              <a:rPr lang="en-US" sz="2800" dirty="0">
                <a:ea typeface="標楷體" pitchFamily="65" charset="-120"/>
                <a:cs typeface="Calibri" pitchFamily="34" charset="0"/>
              </a:rPr>
              <a:t>Out-of-order</a:t>
            </a:r>
          </a:p>
          <a:p>
            <a:pPr marL="914400" lvl="1" indent="-457200">
              <a:buFont typeface="Wingdings" panose="05000000000000000000" pitchFamily="2" charset="2"/>
              <a:buChar char="§"/>
            </a:pPr>
            <a:r>
              <a:rPr lang="en-US" sz="2800" dirty="0">
                <a:ea typeface="標楷體" pitchFamily="65" charset="-120"/>
                <a:cs typeface="Calibri" pitchFamily="34" charset="0"/>
              </a:rPr>
              <a:t>SIMD/Vector</a:t>
            </a:r>
          </a:p>
          <a:p>
            <a:pPr marL="914400" lvl="1" indent="-457200">
              <a:buFont typeface="Wingdings" panose="05000000000000000000" pitchFamily="2" charset="2"/>
              <a:buChar char="§"/>
            </a:pPr>
            <a:r>
              <a:rPr lang="en-US" sz="2800" dirty="0">
                <a:ea typeface="標楷體" pitchFamily="65" charset="-120"/>
                <a:cs typeface="Calibri" pitchFamily="34" charset="0"/>
              </a:rPr>
              <a:t>Multi-core</a:t>
            </a:r>
          </a:p>
          <a:p>
            <a:pPr marL="914400" lvl="1" indent="-457200">
              <a:buFont typeface="Wingdings" panose="05000000000000000000" pitchFamily="2" charset="2"/>
              <a:buChar char="§"/>
            </a:pPr>
            <a:r>
              <a:rPr lang="en-US" sz="2800" dirty="0">
                <a:ea typeface="標楷體" pitchFamily="65" charset="-120"/>
                <a:cs typeface="Calibri" pitchFamily="34" charset="0"/>
              </a:rPr>
              <a:t>GPU</a:t>
            </a:r>
          </a:p>
          <a:p>
            <a:r>
              <a:rPr lang="en-US" sz="2800" dirty="0">
                <a:ea typeface="標楷體" pitchFamily="65" charset="-120"/>
                <a:cs typeface="Calibri" pitchFamily="34" charset="0"/>
              </a:rPr>
              <a:t>Memory Wall remains a challenge.</a:t>
            </a:r>
          </a:p>
          <a:p>
            <a:r>
              <a:rPr lang="en-US" sz="2800" dirty="0">
                <a:ea typeface="標楷體" pitchFamily="65" charset="-120"/>
                <a:cs typeface="Calibri" pitchFamily="34" charset="0"/>
              </a:rPr>
              <a:t>	Memory is far away</a:t>
            </a:r>
          </a:p>
          <a:p>
            <a:r>
              <a:rPr lang="en-US" sz="2800" dirty="0">
                <a:ea typeface="標楷體" pitchFamily="65" charset="-120"/>
                <a:cs typeface="Calibri" pitchFamily="34" charset="0"/>
              </a:rPr>
              <a:t>	Memory bandwidth is insufficient</a:t>
            </a:r>
          </a:p>
        </p:txBody>
      </p:sp>
    </p:spTree>
    <p:extLst>
      <p:ext uri="{BB962C8B-B14F-4D97-AF65-F5344CB8AC3E}">
        <p14:creationId xmlns:p14="http://schemas.microsoft.com/office/powerpoint/2010/main" val="241206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Memory Wall</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26</a:t>
            </a:fld>
            <a:endParaRPr lang="zh-TW" altLang="en-US"/>
          </a:p>
        </p:txBody>
      </p:sp>
      <p:sp>
        <p:nvSpPr>
          <p:cNvPr id="10" name="Rectangle 3">
            <a:extLst>
              <a:ext uri="{FF2B5EF4-FFF2-40B4-BE49-F238E27FC236}">
                <a16:creationId xmlns:a16="http://schemas.microsoft.com/office/drawing/2014/main" id="{A996486F-FFE6-4065-99D0-F02763DA369F}"/>
              </a:ext>
            </a:extLst>
          </p:cNvPr>
          <p:cNvSpPr txBox="1">
            <a:spLocks noChangeArrowheads="1"/>
          </p:cNvSpPr>
          <p:nvPr/>
        </p:nvSpPr>
        <p:spPr bwMode="auto">
          <a:xfrm>
            <a:off x="186017" y="1085196"/>
            <a:ext cx="11535813" cy="49311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spcBef>
                <a:spcPts val="0"/>
              </a:spcBef>
              <a:buFont typeface="Wingdings" panose="05000000000000000000" pitchFamily="2" charset="2"/>
              <a:buChar char="q"/>
            </a:pPr>
            <a:r>
              <a:rPr lang="en-US" sz="2800" b="0" i="0" dirty="0">
                <a:effectLst/>
                <a:latin typeface="Google Sans"/>
              </a:rPr>
              <a:t>In computer architecture, the "memory wall" refers to the growing gap between the speed of processors and the speed of main memory (DRAM).</a:t>
            </a:r>
          </a:p>
          <a:p>
            <a:pPr lvl="1">
              <a:spcBef>
                <a:spcPts val="0"/>
              </a:spcBef>
              <a:buFont typeface="Wingdings" panose="05000000000000000000" pitchFamily="2" charset="2"/>
              <a:buChar char="q"/>
            </a:pPr>
            <a:r>
              <a:rPr lang="en-US" sz="2800" dirty="0">
                <a:highlight>
                  <a:srgbClr val="FFFF00"/>
                </a:highlight>
                <a:latin typeface="Google Sans"/>
              </a:rPr>
              <a:t>Latency</a:t>
            </a:r>
          </a:p>
          <a:p>
            <a:pPr lvl="2">
              <a:spcBef>
                <a:spcPts val="0"/>
              </a:spcBef>
              <a:buFont typeface="Wingdings" panose="05000000000000000000" pitchFamily="2" charset="2"/>
              <a:buChar char="q"/>
            </a:pPr>
            <a:r>
              <a:rPr lang="en-US" sz="2267" dirty="0">
                <a:latin typeface="Google Sans"/>
              </a:rPr>
              <a:t>Reduction: Cache, Local Memory, NUMA, PIM, CIM</a:t>
            </a:r>
          </a:p>
          <a:p>
            <a:pPr lvl="2">
              <a:spcBef>
                <a:spcPts val="0"/>
              </a:spcBef>
              <a:buFont typeface="Wingdings" panose="05000000000000000000" pitchFamily="2" charset="2"/>
              <a:buChar char="q"/>
            </a:pPr>
            <a:r>
              <a:rPr lang="en-US" sz="2267" dirty="0">
                <a:latin typeface="Google Sans"/>
              </a:rPr>
              <a:t>Hiding: Multi-threading/Hyper-threading, WARP interleaving, chip-multithreading</a:t>
            </a:r>
          </a:p>
          <a:p>
            <a:pPr lvl="1">
              <a:spcBef>
                <a:spcPts val="0"/>
              </a:spcBef>
              <a:buFont typeface="Wingdings" panose="05000000000000000000" pitchFamily="2" charset="2"/>
              <a:buChar char="q"/>
            </a:pPr>
            <a:r>
              <a:rPr lang="en-US" sz="2800" b="0" i="0" dirty="0">
                <a:effectLst/>
                <a:highlight>
                  <a:srgbClr val="FFFF00"/>
                </a:highlight>
                <a:latin typeface="Google Sans"/>
              </a:rPr>
              <a:t>Bandwidth</a:t>
            </a:r>
          </a:p>
          <a:p>
            <a:pPr lvl="2">
              <a:spcBef>
                <a:spcPts val="0"/>
              </a:spcBef>
              <a:buFont typeface="Wingdings" panose="05000000000000000000" pitchFamily="2" charset="2"/>
              <a:buChar char="q"/>
            </a:pPr>
            <a:r>
              <a:rPr lang="en-US" sz="2267" dirty="0">
                <a:latin typeface="Google Sans"/>
              </a:rPr>
              <a:t> Memory bandwidth: Multi-banks and interleaved memory, SDRAM, HBM</a:t>
            </a:r>
          </a:p>
          <a:p>
            <a:pPr lvl="2">
              <a:spcBef>
                <a:spcPts val="0"/>
              </a:spcBef>
              <a:buFont typeface="Wingdings" panose="05000000000000000000" pitchFamily="2" charset="2"/>
              <a:buChar char="q"/>
            </a:pPr>
            <a:r>
              <a:rPr lang="en-US" sz="2267" dirty="0">
                <a:latin typeface="Google Sans"/>
              </a:rPr>
              <a:t> Communication bandwidth: wider bus, interconnection network</a:t>
            </a:r>
          </a:p>
          <a:p>
            <a:pPr marL="914354" lvl="2" indent="0">
              <a:spcBef>
                <a:spcPts val="0"/>
              </a:spcBef>
              <a:buNone/>
            </a:pPr>
            <a:endParaRPr lang="en-US" sz="2267" dirty="0">
              <a:latin typeface="Google Sans"/>
            </a:endParaRPr>
          </a:p>
          <a:p>
            <a:pPr>
              <a:spcBef>
                <a:spcPts val="0"/>
              </a:spcBef>
              <a:buFont typeface="Wingdings" panose="05000000000000000000" pitchFamily="2" charset="2"/>
              <a:buChar char="q"/>
            </a:pPr>
            <a:r>
              <a:rPr lang="en-US" altLang="zh-TW" sz="2600" kern="0" dirty="0">
                <a:latin typeface="Google Sans"/>
              </a:rPr>
              <a:t> In HPC (High-Performance Computing), including ML/LLM, memory performance is often the primary bottleneck. </a:t>
            </a:r>
          </a:p>
          <a:p>
            <a:pPr>
              <a:spcBef>
                <a:spcPts val="0"/>
              </a:spcBef>
              <a:buFont typeface="Wingdings" panose="05000000000000000000" pitchFamily="2" charset="2"/>
              <a:buChar char="q"/>
            </a:pPr>
            <a:r>
              <a:rPr lang="en-US" altLang="zh-TW" sz="2600" kern="0" dirty="0">
                <a:latin typeface="Google Sans"/>
              </a:rPr>
              <a:t>GPUs excel at parallel processing, and HBM gives the needed high memory bandwidth. But due to its limited HBM size, data transfers still pose a challenge.</a:t>
            </a:r>
            <a:endParaRPr lang="en-US" altLang="zh-TW" sz="2600" kern="0" dirty="0"/>
          </a:p>
        </p:txBody>
      </p:sp>
    </p:spTree>
    <p:extLst>
      <p:ext uri="{BB962C8B-B14F-4D97-AF65-F5344CB8AC3E}">
        <p14:creationId xmlns:p14="http://schemas.microsoft.com/office/powerpoint/2010/main" val="1755552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Memory Wall</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27</a:t>
            </a:fld>
            <a:endParaRPr lang="zh-TW" altLang="en-US"/>
          </a:p>
        </p:txBody>
      </p:sp>
      <p:sp>
        <p:nvSpPr>
          <p:cNvPr id="10" name="Rectangle 3">
            <a:extLst>
              <a:ext uri="{FF2B5EF4-FFF2-40B4-BE49-F238E27FC236}">
                <a16:creationId xmlns:a16="http://schemas.microsoft.com/office/drawing/2014/main" id="{A996486F-FFE6-4065-99D0-F02763DA369F}"/>
              </a:ext>
            </a:extLst>
          </p:cNvPr>
          <p:cNvSpPr txBox="1">
            <a:spLocks noChangeArrowheads="1"/>
          </p:cNvSpPr>
          <p:nvPr/>
        </p:nvSpPr>
        <p:spPr bwMode="auto">
          <a:xfrm>
            <a:off x="186017" y="1085196"/>
            <a:ext cx="11535813" cy="49311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spcBef>
                <a:spcPts val="0"/>
              </a:spcBef>
              <a:buFont typeface="Wingdings" panose="05000000000000000000" pitchFamily="2" charset="2"/>
              <a:buChar char="q"/>
            </a:pPr>
            <a:r>
              <a:rPr lang="en-US" sz="2800" b="0" i="0" dirty="0">
                <a:effectLst/>
                <a:latin typeface="Google Sans"/>
              </a:rPr>
              <a:t>In computer architecture, the "memory wall" refers to the growing gap between the speed of processors and the speed of main memory (DRAM).</a:t>
            </a:r>
          </a:p>
          <a:p>
            <a:pPr lvl="1">
              <a:spcBef>
                <a:spcPts val="0"/>
              </a:spcBef>
              <a:buFont typeface="Wingdings" panose="05000000000000000000" pitchFamily="2" charset="2"/>
              <a:buChar char="q"/>
            </a:pPr>
            <a:r>
              <a:rPr lang="en-US" sz="2800" dirty="0">
                <a:highlight>
                  <a:srgbClr val="FFFF00"/>
                </a:highlight>
                <a:latin typeface="Google Sans"/>
              </a:rPr>
              <a:t>Latency</a:t>
            </a:r>
          </a:p>
          <a:p>
            <a:pPr lvl="2">
              <a:spcBef>
                <a:spcPts val="0"/>
              </a:spcBef>
              <a:buFont typeface="Wingdings" panose="05000000000000000000" pitchFamily="2" charset="2"/>
              <a:buChar char="q"/>
            </a:pPr>
            <a:r>
              <a:rPr lang="en-US" sz="2267" dirty="0">
                <a:latin typeface="Google Sans"/>
              </a:rPr>
              <a:t>Reduction: Cache, Local Memory, NUMA, PIM, CIM</a:t>
            </a:r>
          </a:p>
          <a:p>
            <a:pPr lvl="2">
              <a:spcBef>
                <a:spcPts val="0"/>
              </a:spcBef>
              <a:buFont typeface="Wingdings" panose="05000000000000000000" pitchFamily="2" charset="2"/>
              <a:buChar char="q"/>
            </a:pPr>
            <a:r>
              <a:rPr lang="en-US" sz="2267" dirty="0">
                <a:latin typeface="Google Sans"/>
              </a:rPr>
              <a:t>Hiding: Multi-threading/Hyper-threading, WARP interleaving, chip-multithreading</a:t>
            </a:r>
          </a:p>
          <a:p>
            <a:pPr lvl="1">
              <a:spcBef>
                <a:spcPts val="0"/>
              </a:spcBef>
              <a:buFont typeface="Wingdings" panose="05000000000000000000" pitchFamily="2" charset="2"/>
              <a:buChar char="q"/>
            </a:pPr>
            <a:r>
              <a:rPr lang="en-US" sz="2800" b="0" i="0" dirty="0">
                <a:effectLst/>
                <a:highlight>
                  <a:srgbClr val="FFFF00"/>
                </a:highlight>
                <a:latin typeface="Google Sans"/>
              </a:rPr>
              <a:t>Bandwidth</a:t>
            </a:r>
          </a:p>
          <a:p>
            <a:pPr lvl="2">
              <a:spcBef>
                <a:spcPts val="0"/>
              </a:spcBef>
              <a:buFont typeface="Wingdings" panose="05000000000000000000" pitchFamily="2" charset="2"/>
              <a:buChar char="q"/>
            </a:pPr>
            <a:r>
              <a:rPr lang="en-US" sz="2267" dirty="0">
                <a:latin typeface="Google Sans"/>
              </a:rPr>
              <a:t> Memory bandwidth: Multi-banks and interleaved memory, SDRAM, HBM</a:t>
            </a:r>
          </a:p>
          <a:p>
            <a:pPr lvl="2">
              <a:spcBef>
                <a:spcPts val="0"/>
              </a:spcBef>
              <a:buFont typeface="Wingdings" panose="05000000000000000000" pitchFamily="2" charset="2"/>
              <a:buChar char="q"/>
            </a:pPr>
            <a:r>
              <a:rPr lang="en-US" sz="2267" dirty="0">
                <a:latin typeface="Google Sans"/>
              </a:rPr>
              <a:t> Communication bandwidth: wider bus, interconnection network</a:t>
            </a:r>
          </a:p>
          <a:p>
            <a:pPr marL="914354" lvl="2" indent="0">
              <a:spcBef>
                <a:spcPts val="0"/>
              </a:spcBef>
              <a:buNone/>
            </a:pPr>
            <a:endParaRPr lang="en-US" sz="2267" dirty="0">
              <a:latin typeface="Google Sans"/>
            </a:endParaRPr>
          </a:p>
          <a:p>
            <a:pPr>
              <a:spcBef>
                <a:spcPts val="0"/>
              </a:spcBef>
              <a:buFont typeface="Wingdings" panose="05000000000000000000" pitchFamily="2" charset="2"/>
              <a:buChar char="q"/>
            </a:pPr>
            <a:r>
              <a:rPr lang="en-US" altLang="zh-TW" sz="2600" kern="0" dirty="0">
                <a:latin typeface="Google Sans"/>
              </a:rPr>
              <a:t> In HPC (High-Performance Computing), including ML/LLM, memory performance is often the primary bottleneck. </a:t>
            </a:r>
          </a:p>
          <a:p>
            <a:pPr>
              <a:spcBef>
                <a:spcPts val="0"/>
              </a:spcBef>
              <a:buFont typeface="Wingdings" panose="05000000000000000000" pitchFamily="2" charset="2"/>
              <a:buChar char="q"/>
            </a:pPr>
            <a:r>
              <a:rPr lang="en-US" altLang="zh-TW" sz="2600" kern="0" dirty="0">
                <a:latin typeface="Google Sans"/>
              </a:rPr>
              <a:t>GPUs excel at parallel processing, and HBM gives the needed high memory bandwidth. But due to its limited HBM size, data transfers still pose a challenge.</a:t>
            </a:r>
            <a:endParaRPr lang="en-US" altLang="zh-TW" sz="2600" kern="0" dirty="0"/>
          </a:p>
        </p:txBody>
      </p:sp>
      <p:sp>
        <p:nvSpPr>
          <p:cNvPr id="2" name="TextBox 1">
            <a:extLst>
              <a:ext uri="{FF2B5EF4-FFF2-40B4-BE49-F238E27FC236}">
                <a16:creationId xmlns:a16="http://schemas.microsoft.com/office/drawing/2014/main" id="{DA6C9BED-51D5-5EDA-406D-BD2BAA0E1671}"/>
              </a:ext>
            </a:extLst>
          </p:cNvPr>
          <p:cNvSpPr txBox="1"/>
          <p:nvPr/>
        </p:nvSpPr>
        <p:spPr>
          <a:xfrm>
            <a:off x="8937673" y="1998964"/>
            <a:ext cx="3185487" cy="1723549"/>
          </a:xfrm>
          <a:prstGeom prst="rect">
            <a:avLst/>
          </a:prstGeom>
          <a:solidFill>
            <a:srgbClr val="FFFF00"/>
          </a:solidFill>
          <a:ln>
            <a:solidFill>
              <a:srgbClr val="FF0000"/>
            </a:solidFill>
          </a:ln>
        </p:spPr>
        <p:txBody>
          <a:bodyPr wrap="none" rtlCol="0" anchor="ctr" anchorCtr="1">
            <a:spAutoFit/>
          </a:bodyPr>
          <a:lstStyle/>
          <a:p>
            <a:r>
              <a:rPr lang="en-US" sz="2200" dirty="0">
                <a:ea typeface="標楷體" pitchFamily="65" charset="-120"/>
                <a:cs typeface="Calibri" pitchFamily="34" charset="0"/>
              </a:rPr>
              <a:t>In the past, it referred to</a:t>
            </a:r>
          </a:p>
          <a:p>
            <a:r>
              <a:rPr lang="en-US" sz="2200" dirty="0">
                <a:ea typeface="標楷體" pitchFamily="65" charset="-120"/>
                <a:cs typeface="Calibri" pitchFamily="34" charset="0"/>
              </a:rPr>
              <a:t>Latency gap</a:t>
            </a:r>
          </a:p>
          <a:p>
            <a:endParaRPr lang="en-US" dirty="0">
              <a:ea typeface="標楷體" pitchFamily="65" charset="-120"/>
              <a:cs typeface="Calibri" pitchFamily="34" charset="0"/>
            </a:endParaRPr>
          </a:p>
          <a:p>
            <a:r>
              <a:rPr lang="en-US" sz="2200" dirty="0">
                <a:ea typeface="標楷體" pitchFamily="65" charset="-120"/>
                <a:cs typeface="Calibri" pitchFamily="34" charset="0"/>
              </a:rPr>
              <a:t>Nowadays, it refers to</a:t>
            </a:r>
          </a:p>
          <a:p>
            <a:r>
              <a:rPr lang="en-US" sz="2200" dirty="0">
                <a:ea typeface="標楷體" pitchFamily="65" charset="-120"/>
                <a:cs typeface="Calibri" pitchFamily="34" charset="0"/>
              </a:rPr>
              <a:t>Performance gap </a:t>
            </a:r>
          </a:p>
        </p:txBody>
      </p:sp>
    </p:spTree>
    <p:extLst>
      <p:ext uri="{BB962C8B-B14F-4D97-AF65-F5344CB8AC3E}">
        <p14:creationId xmlns:p14="http://schemas.microsoft.com/office/powerpoint/2010/main" val="2310754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2" name="Rectangle 5"/>
          <p:cNvSpPr txBox="1">
            <a:spLocks noGrp="1"/>
          </p:cNvSpPr>
          <p:nvPr>
            <p:ph type="sldNum" sz="quarter" idx="2"/>
          </p:nvPr>
        </p:nvSpPr>
        <p:spPr>
          <a:xfrm>
            <a:off x="10354844" y="6611779"/>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28</a:t>
            </a:fld>
            <a:endParaRPr/>
          </a:p>
        </p:txBody>
      </p:sp>
      <p:sp>
        <p:nvSpPr>
          <p:cNvPr id="1893" name="Rectangle 18"/>
          <p:cNvSpPr/>
          <p:nvPr/>
        </p:nvSpPr>
        <p:spPr>
          <a:xfrm>
            <a:off x="1857983" y="3032126"/>
            <a:ext cx="8326877" cy="422275"/>
          </a:xfrm>
          <a:prstGeom prst="rect">
            <a:avLst/>
          </a:prstGeom>
          <a:solidFill>
            <a:srgbClr val="E6E6E6"/>
          </a:solidFill>
          <a:ln w="28575">
            <a:solidFill>
              <a:srgbClr val="000000"/>
            </a:solidFill>
            <a:tailEnd type="triangle"/>
          </a:ln>
        </p:spPr>
        <p:txBody>
          <a:bodyPr lIns="45719" rIns="45719" anchor="ctr"/>
          <a:lstStyle/>
          <a:p>
            <a:pPr algn="ctr">
              <a:defRPr>
                <a:solidFill>
                  <a:srgbClr val="22228B"/>
                </a:solidFill>
                <a:latin typeface="Calibri"/>
                <a:ea typeface="Calibri"/>
                <a:cs typeface="Calibri"/>
                <a:sym typeface="Calibri"/>
              </a:defRPr>
            </a:pPr>
            <a:endParaRPr/>
          </a:p>
        </p:txBody>
      </p:sp>
      <p:sp>
        <p:nvSpPr>
          <p:cNvPr id="1894" name="Rectangle 3"/>
          <p:cNvSpPr/>
          <p:nvPr/>
        </p:nvSpPr>
        <p:spPr>
          <a:xfrm>
            <a:off x="856035" y="3020212"/>
            <a:ext cx="9328826" cy="1474763"/>
          </a:xfrm>
          <a:prstGeom prst="rect">
            <a:avLst/>
          </a:prstGeom>
          <a:ln w="28575">
            <a:solidFill>
              <a:srgbClr val="000000"/>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450" tIns="44450" rIns="44450" bIns="44450">
            <a:spAutoFit/>
          </a:bodyPr>
          <a:lstStyle/>
          <a:p>
            <a:pPr defTabSz="857250">
              <a:defRPr sz="2000"/>
            </a:pPr>
            <a:r>
              <a:rPr sz="2000" dirty="0"/>
              <a:t>Metric		1985	1990	1995	2000	2005	2010	2015	</a:t>
            </a:r>
            <a:r>
              <a:rPr sz="2000" i="1" dirty="0">
                <a:solidFill>
                  <a:srgbClr val="FF0000"/>
                </a:solidFill>
              </a:rPr>
              <a:t>2015:1985</a:t>
            </a:r>
          </a:p>
          <a:p>
            <a:pPr defTabSz="857250">
              <a:defRPr sz="1600">
                <a:solidFill>
                  <a:srgbClr val="22228B"/>
                </a:solidFill>
              </a:defRPr>
            </a:pPr>
            <a:endParaRPr sz="1600" i="1" dirty="0"/>
          </a:p>
          <a:p>
            <a:pPr defTabSz="857250">
              <a:defRPr sz="1800">
                <a:solidFill>
                  <a:srgbClr val="22228B"/>
                </a:solidFill>
              </a:defRPr>
            </a:pPr>
            <a:r>
              <a:rPr dirty="0"/>
              <a:t>$/MB		880	100	30	1	0.1	0.06	0.02	</a:t>
            </a:r>
            <a:r>
              <a:rPr i="1" dirty="0">
                <a:solidFill>
                  <a:srgbClr val="FF0000"/>
                </a:solidFill>
              </a:rPr>
              <a:t>44,000</a:t>
            </a:r>
          </a:p>
          <a:p>
            <a:pPr defTabSz="857250">
              <a:defRPr sz="1800">
                <a:solidFill>
                  <a:srgbClr val="22228B"/>
                </a:solidFill>
              </a:defRPr>
            </a:pPr>
            <a:r>
              <a:rPr dirty="0"/>
              <a:t>access (ns)	200	100	70	60	50	40	20	</a:t>
            </a:r>
            <a:r>
              <a:rPr i="1" dirty="0">
                <a:solidFill>
                  <a:srgbClr val="FF0000"/>
                </a:solidFill>
              </a:rPr>
              <a:t>10</a:t>
            </a:r>
          </a:p>
          <a:p>
            <a:pPr defTabSz="857250">
              <a:defRPr sz="1800">
                <a:solidFill>
                  <a:srgbClr val="22228B"/>
                </a:solidFill>
              </a:defRPr>
            </a:pPr>
            <a:r>
              <a:rPr dirty="0"/>
              <a:t>size (MB) 	0.256	4	16	64	2,000	8,000	16.000	</a:t>
            </a:r>
            <a:r>
              <a:rPr i="1" dirty="0">
                <a:solidFill>
                  <a:srgbClr val="FF0000"/>
                </a:solidFill>
              </a:rPr>
              <a:t>62,500</a:t>
            </a:r>
          </a:p>
        </p:txBody>
      </p:sp>
      <p:sp>
        <p:nvSpPr>
          <p:cNvPr id="1895" name="Rectangle 17"/>
          <p:cNvSpPr/>
          <p:nvPr/>
        </p:nvSpPr>
        <p:spPr>
          <a:xfrm>
            <a:off x="1857983" y="4717871"/>
            <a:ext cx="8555444" cy="422275"/>
          </a:xfrm>
          <a:prstGeom prst="rect">
            <a:avLst/>
          </a:prstGeom>
          <a:solidFill>
            <a:srgbClr val="E2E2E2"/>
          </a:solidFill>
          <a:ln w="28575">
            <a:solidFill>
              <a:srgbClr val="000000"/>
            </a:solidFill>
            <a:tailEnd type="triangle"/>
          </a:ln>
        </p:spPr>
        <p:txBody>
          <a:bodyPr lIns="45719" rIns="45719" anchor="ctr"/>
          <a:lstStyle/>
          <a:p>
            <a:pPr algn="ctr">
              <a:defRPr>
                <a:solidFill>
                  <a:srgbClr val="22228B"/>
                </a:solidFill>
                <a:latin typeface="Calibri"/>
                <a:ea typeface="Calibri"/>
                <a:cs typeface="Calibri"/>
                <a:sym typeface="Calibri"/>
              </a:defRPr>
            </a:pPr>
            <a:endParaRPr/>
          </a:p>
        </p:txBody>
      </p:sp>
      <p:sp>
        <p:nvSpPr>
          <p:cNvPr id="1896" name="Rectangle 15"/>
          <p:cNvSpPr/>
          <p:nvPr/>
        </p:nvSpPr>
        <p:spPr>
          <a:xfrm>
            <a:off x="1857983" y="1482726"/>
            <a:ext cx="8326878" cy="422275"/>
          </a:xfrm>
          <a:prstGeom prst="rect">
            <a:avLst/>
          </a:prstGeom>
          <a:solidFill>
            <a:srgbClr val="E6E6E6"/>
          </a:solidFill>
          <a:ln w="28575">
            <a:solidFill>
              <a:srgbClr val="000000"/>
            </a:solidFill>
            <a:tailEnd type="triangle"/>
          </a:ln>
        </p:spPr>
        <p:txBody>
          <a:bodyPr lIns="45719" rIns="45719" anchor="ctr"/>
          <a:lstStyle/>
          <a:p>
            <a:pPr algn="ctr">
              <a:defRPr>
                <a:latin typeface="Calibri"/>
                <a:ea typeface="Calibri"/>
                <a:cs typeface="Calibri"/>
                <a:sym typeface="Calibri"/>
              </a:defRPr>
            </a:pPr>
            <a:endParaRPr/>
          </a:p>
        </p:txBody>
      </p:sp>
      <p:sp>
        <p:nvSpPr>
          <p:cNvPr id="1897" name="Rectangle 2"/>
          <p:cNvSpPr txBox="1">
            <a:spLocks noGrp="1"/>
          </p:cNvSpPr>
          <p:nvPr>
            <p:ph type="title"/>
          </p:nvPr>
        </p:nvSpPr>
        <p:spPr>
          <a:xfrm>
            <a:off x="1783741" y="59737"/>
            <a:ext cx="9218242" cy="762001"/>
          </a:xfrm>
          <a:prstGeom prst="rect">
            <a:avLst/>
          </a:prstGeom>
        </p:spPr>
        <p:txBody>
          <a:bodyPr/>
          <a:lstStyle/>
          <a:p>
            <a:r>
              <a:rPr lang="en-US" dirty="0"/>
              <a:t>6.1.4 </a:t>
            </a:r>
            <a:r>
              <a:rPr dirty="0"/>
              <a:t>Storage </a:t>
            </a:r>
            <a:r>
              <a:rPr lang="en-US" dirty="0"/>
              <a:t>Technology </a:t>
            </a:r>
            <a:r>
              <a:rPr dirty="0"/>
              <a:t>Trends</a:t>
            </a:r>
          </a:p>
        </p:txBody>
      </p:sp>
      <p:sp>
        <p:nvSpPr>
          <p:cNvPr id="1898" name="Rectangle 5"/>
          <p:cNvSpPr txBox="1"/>
          <p:nvPr/>
        </p:nvSpPr>
        <p:spPr>
          <a:xfrm>
            <a:off x="866274" y="2677710"/>
            <a:ext cx="769441"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4450" tIns="44450" rIns="44450" bIns="44450">
            <a:spAutoFit/>
          </a:bodyPr>
          <a:lstStyle>
            <a:lvl1pPr>
              <a:defRPr sz="1800">
                <a:solidFill>
                  <a:srgbClr val="FF0000"/>
                </a:solidFill>
              </a:defRPr>
            </a:lvl1pPr>
          </a:lstStyle>
          <a:p>
            <a:r>
              <a:rPr dirty="0"/>
              <a:t>DRAM</a:t>
            </a:r>
          </a:p>
        </p:txBody>
      </p:sp>
      <p:sp>
        <p:nvSpPr>
          <p:cNvPr id="1899" name="Rectangle 8"/>
          <p:cNvSpPr txBox="1"/>
          <p:nvPr/>
        </p:nvSpPr>
        <p:spPr>
          <a:xfrm>
            <a:off x="843584" y="1115957"/>
            <a:ext cx="756617"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4450" tIns="44450" rIns="44450" bIns="44450">
            <a:spAutoFit/>
          </a:bodyPr>
          <a:lstStyle>
            <a:lvl1pPr>
              <a:defRPr sz="1800">
                <a:solidFill>
                  <a:srgbClr val="FF0000"/>
                </a:solidFill>
              </a:defRPr>
            </a:lvl1pPr>
          </a:lstStyle>
          <a:p>
            <a:r>
              <a:rPr dirty="0"/>
              <a:t>SRAM</a:t>
            </a:r>
          </a:p>
        </p:txBody>
      </p:sp>
      <p:sp>
        <p:nvSpPr>
          <p:cNvPr id="1900" name="Rectangle 9"/>
          <p:cNvSpPr/>
          <p:nvPr/>
        </p:nvSpPr>
        <p:spPr>
          <a:xfrm>
            <a:off x="866274" y="4717871"/>
            <a:ext cx="9547153" cy="1474763"/>
          </a:xfrm>
          <a:prstGeom prst="rect">
            <a:avLst/>
          </a:prstGeom>
          <a:ln w="28575">
            <a:solidFill>
              <a:srgbClr val="000000"/>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450" tIns="44450" rIns="44450" bIns="44450">
            <a:spAutoFit/>
          </a:bodyPr>
          <a:lstStyle/>
          <a:p>
            <a:pPr defTabSz="857250">
              <a:defRPr sz="2000"/>
            </a:pPr>
            <a:r>
              <a:rPr sz="2000" dirty="0"/>
              <a:t>Metric		1985	1990	1995	2000	2005	2010	2015	</a:t>
            </a:r>
            <a:r>
              <a:rPr sz="2000" i="1" dirty="0">
                <a:solidFill>
                  <a:srgbClr val="FF0000"/>
                </a:solidFill>
              </a:rPr>
              <a:t>2015:1985</a:t>
            </a:r>
          </a:p>
          <a:p>
            <a:pPr defTabSz="857250">
              <a:defRPr sz="1600">
                <a:solidFill>
                  <a:srgbClr val="22228B"/>
                </a:solidFill>
              </a:defRPr>
            </a:pPr>
            <a:endParaRPr sz="1600" i="1" dirty="0"/>
          </a:p>
          <a:p>
            <a:pPr defTabSz="857250">
              <a:defRPr sz="1800">
                <a:solidFill>
                  <a:srgbClr val="22228B"/>
                </a:solidFill>
              </a:defRPr>
            </a:pPr>
            <a:r>
              <a:rPr dirty="0"/>
              <a:t>$/GB		100,000	8,000	300	10	5	0.3	0.03	</a:t>
            </a:r>
            <a:r>
              <a:rPr i="1" dirty="0">
                <a:solidFill>
                  <a:srgbClr val="FF0000"/>
                </a:solidFill>
              </a:rPr>
              <a:t>3,333,333</a:t>
            </a:r>
          </a:p>
          <a:p>
            <a:pPr defTabSz="857250">
              <a:defRPr sz="1800">
                <a:solidFill>
                  <a:srgbClr val="22228B"/>
                </a:solidFill>
              </a:defRPr>
            </a:pPr>
            <a:r>
              <a:rPr dirty="0"/>
              <a:t>access (</a:t>
            </a:r>
            <a:r>
              <a:rPr dirty="0" err="1"/>
              <a:t>ms</a:t>
            </a:r>
            <a:r>
              <a:rPr dirty="0"/>
              <a:t>)	75	28	10	8	</a:t>
            </a:r>
            <a:r>
              <a:rPr i="1" dirty="0"/>
              <a:t>5	3	3	</a:t>
            </a:r>
            <a:r>
              <a:rPr i="1" dirty="0">
                <a:solidFill>
                  <a:srgbClr val="FF0000"/>
                </a:solidFill>
              </a:rPr>
              <a:t>25</a:t>
            </a:r>
          </a:p>
          <a:p>
            <a:pPr defTabSz="857250">
              <a:defRPr sz="1800">
                <a:solidFill>
                  <a:srgbClr val="22228B"/>
                </a:solidFill>
              </a:defRPr>
            </a:pPr>
            <a:r>
              <a:rPr dirty="0"/>
              <a:t>size (GB) 	0.01	0.16	1	20	160	1,500	3,000	</a:t>
            </a:r>
            <a:r>
              <a:rPr i="1" dirty="0">
                <a:solidFill>
                  <a:srgbClr val="FF0000"/>
                </a:solidFill>
              </a:rPr>
              <a:t>300,000</a:t>
            </a:r>
          </a:p>
        </p:txBody>
      </p:sp>
      <p:sp>
        <p:nvSpPr>
          <p:cNvPr id="1901" name="Rectangle 11"/>
          <p:cNvSpPr txBox="1"/>
          <p:nvPr/>
        </p:nvSpPr>
        <p:spPr>
          <a:xfrm>
            <a:off x="843584" y="4423040"/>
            <a:ext cx="538609" cy="36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4450" tIns="44450" rIns="44450" bIns="44450">
            <a:spAutoFit/>
          </a:bodyPr>
          <a:lstStyle>
            <a:lvl1pPr>
              <a:defRPr sz="1800">
                <a:solidFill>
                  <a:srgbClr val="FF0000"/>
                </a:solidFill>
              </a:defRPr>
            </a:lvl1pPr>
          </a:lstStyle>
          <a:p>
            <a:r>
              <a:rPr dirty="0"/>
              <a:t>Disk</a:t>
            </a:r>
          </a:p>
        </p:txBody>
      </p:sp>
      <p:sp>
        <p:nvSpPr>
          <p:cNvPr id="1902" name="Rectangle 6"/>
          <p:cNvSpPr/>
          <p:nvPr/>
        </p:nvSpPr>
        <p:spPr>
          <a:xfrm>
            <a:off x="856034" y="1482724"/>
            <a:ext cx="9328826" cy="1197764"/>
          </a:xfrm>
          <a:prstGeom prst="rect">
            <a:avLst/>
          </a:prstGeom>
          <a:ln w="28575">
            <a:solidFill>
              <a:srgbClr val="000000"/>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450" tIns="44450" rIns="44450" bIns="44450">
            <a:spAutoFit/>
          </a:bodyPr>
          <a:lstStyle/>
          <a:p>
            <a:pPr defTabSz="857250">
              <a:defRPr sz="2000"/>
            </a:pPr>
            <a:r>
              <a:rPr sz="2000" dirty="0"/>
              <a:t>Metric		1985	1990	1995	2000	2005	2010	2015	</a:t>
            </a:r>
            <a:r>
              <a:rPr sz="2000" i="1" dirty="0">
                <a:solidFill>
                  <a:srgbClr val="FF0000"/>
                </a:solidFill>
              </a:rPr>
              <a:t>2015:1985</a:t>
            </a:r>
          </a:p>
          <a:p>
            <a:pPr defTabSz="857250">
              <a:defRPr sz="1600">
                <a:solidFill>
                  <a:srgbClr val="22228B"/>
                </a:solidFill>
              </a:defRPr>
            </a:pPr>
            <a:endParaRPr sz="1600" i="1" dirty="0"/>
          </a:p>
          <a:p>
            <a:pPr defTabSz="857250">
              <a:defRPr sz="1800">
                <a:solidFill>
                  <a:srgbClr val="22228B"/>
                </a:solidFill>
              </a:defRPr>
            </a:pPr>
            <a:r>
              <a:rPr dirty="0"/>
              <a:t>$/MB		2,900	320	256	100	75	60	</a:t>
            </a:r>
            <a:r>
              <a:rPr lang="en-US" i="1" dirty="0"/>
              <a:t>25</a:t>
            </a:r>
            <a:r>
              <a:rPr i="1" dirty="0"/>
              <a:t>	</a:t>
            </a:r>
            <a:r>
              <a:rPr i="1" dirty="0">
                <a:solidFill>
                  <a:srgbClr val="FF0000"/>
                </a:solidFill>
              </a:rPr>
              <a:t>116</a:t>
            </a:r>
          </a:p>
          <a:p>
            <a:pPr defTabSz="857250">
              <a:defRPr sz="1800">
                <a:solidFill>
                  <a:srgbClr val="22228B"/>
                </a:solidFill>
              </a:defRPr>
            </a:pPr>
            <a:r>
              <a:rPr dirty="0"/>
              <a:t>access (ns)	150	35	15	3	2	1.5	</a:t>
            </a:r>
            <a:r>
              <a:rPr lang="en-US" i="1" dirty="0"/>
              <a:t>1.3</a:t>
            </a:r>
            <a:r>
              <a:rPr i="1" dirty="0"/>
              <a:t>	</a:t>
            </a:r>
            <a:r>
              <a:rPr i="1" dirty="0">
                <a:solidFill>
                  <a:srgbClr val="FF0000"/>
                </a:solidFill>
              </a:rPr>
              <a:t>115</a:t>
            </a:r>
          </a:p>
        </p:txBody>
      </p:sp>
      <p:sp>
        <p:nvSpPr>
          <p:cNvPr id="2" name="Oval 1">
            <a:extLst>
              <a:ext uri="{FF2B5EF4-FFF2-40B4-BE49-F238E27FC236}">
                <a16:creationId xmlns:a16="http://schemas.microsoft.com/office/drawing/2014/main" id="{E4307206-C3C0-0365-3D0E-D9CE4D84F0A9}"/>
              </a:ext>
            </a:extLst>
          </p:cNvPr>
          <p:cNvSpPr/>
          <p:nvPr/>
        </p:nvSpPr>
        <p:spPr bwMode="auto">
          <a:xfrm>
            <a:off x="8521430" y="3794125"/>
            <a:ext cx="505837" cy="408884"/>
          </a:xfrm>
          <a:prstGeom prst="ellipse">
            <a:avLst/>
          </a:prstGeom>
          <a:noFill/>
          <a:ln w="158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 name="Rectangle 5"/>
          <p:cNvSpPr txBox="1">
            <a:spLocks noGrp="1"/>
          </p:cNvSpPr>
          <p:nvPr>
            <p:ph type="sldNum" sz="quarter" idx="2"/>
          </p:nvPr>
        </p:nvSpPr>
        <p:spPr>
          <a:xfrm>
            <a:off x="10354844" y="6611779"/>
            <a:ext cx="232877" cy="2285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29</a:t>
            </a:fld>
            <a:endParaRPr/>
          </a:p>
        </p:txBody>
      </p:sp>
      <p:sp>
        <p:nvSpPr>
          <p:cNvPr id="685" name="Content Placeholder 2"/>
          <p:cNvSpPr txBox="1">
            <a:spLocks noGrp="1"/>
          </p:cNvSpPr>
          <p:nvPr>
            <p:ph type="body" idx="1"/>
          </p:nvPr>
        </p:nvSpPr>
        <p:spPr>
          <a:xfrm>
            <a:off x="418289" y="1068623"/>
            <a:ext cx="11149824" cy="5137624"/>
          </a:xfrm>
          <a:prstGeom prst="rect">
            <a:avLst/>
          </a:prstGeom>
        </p:spPr>
        <p:txBody>
          <a:bodyPr/>
          <a:lstStyle/>
          <a:p>
            <a:pPr>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a:solidFill>
                  <a:srgbClr val="C00000"/>
                </a:solidFill>
              </a:defRPr>
            </a:pPr>
            <a:r>
              <a:rPr sz="3200" dirty="0"/>
              <a:t>Principle of Locality: </a:t>
            </a:r>
            <a:r>
              <a:rPr sz="2800" dirty="0">
                <a:solidFill>
                  <a:srgbClr val="000000"/>
                </a:solidFill>
              </a:rPr>
              <a:t>Many Programs tend to use data and instructions with addresses near or equal to those they have used recently.</a:t>
            </a:r>
          </a:p>
          <a:p>
            <a:pPr>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a:solidFill>
                  <a:srgbClr val="C00000"/>
                </a:solidFill>
              </a:defRPr>
            </a:pPr>
            <a:r>
              <a:rPr sz="3200" dirty="0"/>
              <a:t>Temporal locality:  </a:t>
            </a:r>
          </a:p>
          <a:p>
            <a:pPr marL="742950" lvl="1" indent="-285750">
              <a:spcBef>
                <a:spcPts val="400"/>
              </a:spcBef>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sz="2000" b="0"/>
            </a:pPr>
            <a:r>
              <a:rPr dirty="0"/>
              <a:t>Recently referenced items are likely </a:t>
            </a:r>
            <a:br>
              <a:rPr dirty="0"/>
            </a:br>
            <a:r>
              <a:rPr dirty="0"/>
              <a:t>to be referenced again in the near future</a:t>
            </a:r>
          </a:p>
          <a:p>
            <a:pPr>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a:solidFill>
                  <a:srgbClr val="C00000"/>
                </a:solidFill>
              </a:defRPr>
            </a:pPr>
            <a:r>
              <a:rPr sz="3200" dirty="0"/>
              <a:t>Spatial locality:  </a:t>
            </a:r>
          </a:p>
          <a:p>
            <a:pPr marL="742950" lvl="1" indent="-285750">
              <a:spcBef>
                <a:spcPts val="400"/>
              </a:spcBef>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sz="2000" b="0"/>
            </a:pPr>
            <a:r>
              <a:rPr dirty="0"/>
              <a:t>Items with nearby addresses tend </a:t>
            </a:r>
            <a:br>
              <a:rPr dirty="0"/>
            </a:br>
            <a:r>
              <a:rPr dirty="0"/>
              <a:t>to be referenced close together in time</a:t>
            </a:r>
            <a:endParaRPr lang="en-US" dirty="0"/>
          </a:p>
          <a:p>
            <a:pPr marL="342919" indent="-285750">
              <a:spcBef>
                <a:spcPts val="400"/>
              </a:spcBef>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sz="2000" b="0"/>
            </a:pPr>
            <a:r>
              <a:rPr lang="en-US" sz="2800" dirty="0">
                <a:solidFill>
                  <a:srgbClr val="000000"/>
                </a:solidFill>
              </a:rPr>
              <a:t>All levels of modern computer systems, from the hardware to the operating system to application programs, are designed to take advantage of locality. </a:t>
            </a:r>
            <a:endParaRPr lang="en-US" sz="3333" dirty="0"/>
          </a:p>
        </p:txBody>
      </p:sp>
      <p:sp>
        <p:nvSpPr>
          <p:cNvPr id="686" name="Rectangle 3"/>
          <p:cNvSpPr/>
          <p:nvPr/>
        </p:nvSpPr>
        <p:spPr>
          <a:xfrm>
            <a:off x="6598596" y="2731951"/>
            <a:ext cx="1905000" cy="304800"/>
          </a:xfrm>
          <a:prstGeom prst="rect">
            <a:avLst/>
          </a:prstGeom>
          <a:solidFill>
            <a:schemeClr val="accent3">
              <a:lumOff val="44000"/>
            </a:schemeClr>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a:p>
        </p:txBody>
      </p:sp>
      <p:sp>
        <p:nvSpPr>
          <p:cNvPr id="687" name="Rectangle 4"/>
          <p:cNvSpPr/>
          <p:nvPr/>
        </p:nvSpPr>
        <p:spPr>
          <a:xfrm>
            <a:off x="6992296" y="2731951"/>
            <a:ext cx="381000" cy="304800"/>
          </a:xfrm>
          <a:prstGeom prst="rect">
            <a:avLst/>
          </a:prstGeom>
          <a:solidFill>
            <a:srgbClr val="FF9999"/>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a:p>
        </p:txBody>
      </p:sp>
      <p:sp>
        <p:nvSpPr>
          <p:cNvPr id="688" name="Freeform 5"/>
          <p:cNvSpPr/>
          <p:nvPr/>
        </p:nvSpPr>
        <p:spPr>
          <a:xfrm>
            <a:off x="6859094" y="2242397"/>
            <a:ext cx="547260" cy="413355"/>
          </a:xfrm>
          <a:custGeom>
            <a:avLst/>
            <a:gdLst/>
            <a:ahLst/>
            <a:cxnLst>
              <a:cxn ang="0">
                <a:pos x="wd2" y="hd2"/>
              </a:cxn>
              <a:cxn ang="5400000">
                <a:pos x="wd2" y="hd2"/>
              </a:cxn>
              <a:cxn ang="10800000">
                <a:pos x="wd2" y="hd2"/>
              </a:cxn>
              <a:cxn ang="16200000">
                <a:pos x="wd2" y="hd2"/>
              </a:cxn>
            </a:cxnLst>
            <a:rect l="0" t="0" r="r" b="b"/>
            <a:pathLst>
              <a:path w="18828" h="20592" extrusionOk="0">
                <a:moveTo>
                  <a:pt x="8718" y="20592"/>
                </a:moveTo>
                <a:cubicBezTo>
                  <a:pt x="3715" y="13160"/>
                  <a:pt x="-1288" y="5729"/>
                  <a:pt x="300" y="2628"/>
                </a:cubicBezTo>
                <a:cubicBezTo>
                  <a:pt x="1887" y="-473"/>
                  <a:pt x="16177" y="-1008"/>
                  <a:pt x="18244" y="1986"/>
                </a:cubicBezTo>
                <a:cubicBezTo>
                  <a:pt x="20312" y="4980"/>
                  <a:pt x="16509" y="12786"/>
                  <a:pt x="12706" y="20592"/>
                </a:cubicBezTo>
              </a:path>
            </a:pathLst>
          </a:custGeom>
          <a:ln w="25400">
            <a:solidFill>
              <a:srgbClr val="000000"/>
            </a:solidFill>
            <a:tailEnd type="triangle"/>
          </a:ln>
        </p:spPr>
        <p:txBody>
          <a:bodyPr lIns="45719" rIns="45719" anchor="ctr"/>
          <a:lstStyle/>
          <a:p>
            <a:pPr algn="ctr"/>
            <a:endParaRPr/>
          </a:p>
        </p:txBody>
      </p:sp>
      <p:sp>
        <p:nvSpPr>
          <p:cNvPr id="689" name="Rectangle 6"/>
          <p:cNvSpPr/>
          <p:nvPr/>
        </p:nvSpPr>
        <p:spPr>
          <a:xfrm>
            <a:off x="6598595" y="3948261"/>
            <a:ext cx="1905001" cy="304801"/>
          </a:xfrm>
          <a:prstGeom prst="rect">
            <a:avLst/>
          </a:prstGeom>
          <a:solidFill>
            <a:schemeClr val="accent3">
              <a:lumOff val="44000"/>
            </a:schemeClr>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a:p>
        </p:txBody>
      </p:sp>
      <p:sp>
        <p:nvSpPr>
          <p:cNvPr id="690" name="Rectangle 7"/>
          <p:cNvSpPr/>
          <p:nvPr/>
        </p:nvSpPr>
        <p:spPr>
          <a:xfrm>
            <a:off x="6992295" y="3948261"/>
            <a:ext cx="381001" cy="304801"/>
          </a:xfrm>
          <a:prstGeom prst="rect">
            <a:avLst/>
          </a:prstGeom>
          <a:solidFill>
            <a:srgbClr val="FF9999"/>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a:p>
        </p:txBody>
      </p:sp>
      <p:sp>
        <p:nvSpPr>
          <p:cNvPr id="691" name="Rectangle 9"/>
          <p:cNvSpPr/>
          <p:nvPr/>
        </p:nvSpPr>
        <p:spPr>
          <a:xfrm>
            <a:off x="7367034" y="3948261"/>
            <a:ext cx="381000" cy="304801"/>
          </a:xfrm>
          <a:prstGeom prst="rect">
            <a:avLst/>
          </a:prstGeom>
          <a:solidFill>
            <a:srgbClr val="FF9999"/>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a:p>
        </p:txBody>
      </p:sp>
      <p:sp>
        <p:nvSpPr>
          <p:cNvPr id="692" name="Freeform 10"/>
          <p:cNvSpPr/>
          <p:nvPr/>
        </p:nvSpPr>
        <p:spPr>
          <a:xfrm>
            <a:off x="6968496" y="3533569"/>
            <a:ext cx="730912" cy="343859"/>
          </a:xfrm>
          <a:custGeom>
            <a:avLst/>
            <a:gdLst/>
            <a:ahLst/>
            <a:cxnLst>
              <a:cxn ang="0">
                <a:pos x="wd2" y="hd2"/>
              </a:cxn>
              <a:cxn ang="5400000">
                <a:pos x="wd2" y="hd2"/>
              </a:cxn>
              <a:cxn ang="10800000">
                <a:pos x="wd2" y="hd2"/>
              </a:cxn>
              <a:cxn ang="16200000">
                <a:pos x="wd2" y="hd2"/>
              </a:cxn>
            </a:cxnLst>
            <a:rect l="0" t="0" r="r" b="b"/>
            <a:pathLst>
              <a:path w="18763" h="20658" extrusionOk="0">
                <a:moveTo>
                  <a:pt x="3729" y="20271"/>
                </a:moveTo>
                <a:cubicBezTo>
                  <a:pt x="1153" y="12888"/>
                  <a:pt x="-1423" y="5506"/>
                  <a:pt x="919" y="2475"/>
                </a:cubicBezTo>
                <a:cubicBezTo>
                  <a:pt x="3261" y="-555"/>
                  <a:pt x="15383" y="-942"/>
                  <a:pt x="17780" y="2088"/>
                </a:cubicBezTo>
                <a:cubicBezTo>
                  <a:pt x="20177" y="5119"/>
                  <a:pt x="17739" y="12888"/>
                  <a:pt x="15300" y="20658"/>
                </a:cubicBezTo>
              </a:path>
            </a:pathLst>
          </a:custGeom>
          <a:ln w="25400">
            <a:solidFill>
              <a:srgbClr val="000000"/>
            </a:solidFill>
            <a:tailEnd type="triangle"/>
          </a:ln>
        </p:spPr>
        <p:txBody>
          <a:bodyPr lIns="45719" rIns="45719" anchor="ctr"/>
          <a:lstStyle/>
          <a:p>
            <a:pPr algn="ctr"/>
            <a:endParaRPr/>
          </a:p>
        </p:txBody>
      </p:sp>
      <p:sp>
        <p:nvSpPr>
          <p:cNvPr id="4" name="Rectangle 2">
            <a:extLst>
              <a:ext uri="{FF2B5EF4-FFF2-40B4-BE49-F238E27FC236}">
                <a16:creationId xmlns:a16="http://schemas.microsoft.com/office/drawing/2014/main" id="{A7472428-29B1-1119-2B6B-9B7D5982011C}"/>
              </a:ext>
            </a:extLst>
          </p:cNvPr>
          <p:cNvSpPr>
            <a:spLocks noGrp="1" noChangeArrowheads="1"/>
          </p:cNvSpPr>
          <p:nvPr>
            <p:ph type="title"/>
          </p:nvPr>
        </p:nvSpPr>
        <p:spPr>
          <a:xfrm>
            <a:off x="1049338" y="144463"/>
            <a:ext cx="10518775" cy="692150"/>
          </a:xfrm>
        </p:spPr>
        <p:txBody>
          <a:bodyPr/>
          <a:lstStyle/>
          <a:p>
            <a:r>
              <a:rPr lang="en-US" altLang="zh-TW" dirty="0">
                <a:solidFill>
                  <a:srgbClr val="002060"/>
                </a:solidFill>
              </a:rPr>
              <a:t>6.2 Locality</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85">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685">
                                            <p:txEl>
                                              <p:pRg st="2" end="2"/>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68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687"/>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6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685">
                                            <p:txEl>
                                              <p:pRg st="3" end="3"/>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iterate>
                                    <p:tmAbs val="0"/>
                                  </p:iterate>
                                  <p:childTnLst>
                                    <p:set>
                                      <p:cBhvr>
                                        <p:cTn id="25" fill="hold"/>
                                        <p:tgtEl>
                                          <p:spTgt spid="685">
                                            <p:txEl>
                                              <p:pRg st="4" end="4"/>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685">
                                            <p:txEl>
                                              <p:pRg st="5" end="5"/>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iterate>
                                    <p:tmAbs val="0"/>
                                  </p:iterate>
                                  <p:childTnLst>
                                    <p:set>
                                      <p:cBhvr>
                                        <p:cTn id="31" fill="hold"/>
                                        <p:tgtEl>
                                          <p:spTgt spid="689"/>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iterate>
                                    <p:tmAbs val="0"/>
                                  </p:iterate>
                                  <p:childTnLst>
                                    <p:set>
                                      <p:cBhvr>
                                        <p:cTn id="34" fill="hold"/>
                                        <p:tgtEl>
                                          <p:spTgt spid="690"/>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iterate>
                                    <p:tmAbs val="0"/>
                                  </p:iterate>
                                  <p:childTnLst>
                                    <p:set>
                                      <p:cBhvr>
                                        <p:cTn id="37" fill="hold"/>
                                        <p:tgtEl>
                                          <p:spTgt spid="691"/>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iterate>
                                    <p:tmAbs val="0"/>
                                  </p:iterate>
                                  <p:childTnLst>
                                    <p:set>
                                      <p:cBhvr>
                                        <p:cTn id="40" fill="hold"/>
                                        <p:tgtEl>
                                          <p:spTgt spid="6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 grpId="0" build="p" bldLvl="5" advAuto="0"/>
      <p:bldP spid="686" grpId="0" animBg="1" advAuto="0"/>
      <p:bldP spid="687" grpId="0" animBg="1" advAuto="0"/>
      <p:bldP spid="688" grpId="0" animBg="1" advAuto="0"/>
      <p:bldP spid="689" grpId="0" animBg="1" advAuto="0"/>
      <p:bldP spid="690" grpId="0" animBg="1" advAuto="0"/>
      <p:bldP spid="691" grpId="0" animBg="1" advAuto="0"/>
      <p:bldP spid="692" grpId="0"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sz="4000" dirty="0"/>
              <a:t>6.3 Memory Hierarchy</a:t>
            </a:r>
            <a:endParaRPr lang="en-US" sz="4000" dirty="0"/>
          </a:p>
        </p:txBody>
      </p:sp>
      <p:sp>
        <p:nvSpPr>
          <p:cNvPr id="3" name="Content Placeholder 2"/>
          <p:cNvSpPr>
            <a:spLocks noGrp="1"/>
          </p:cNvSpPr>
          <p:nvPr>
            <p:ph idx="1"/>
          </p:nvPr>
        </p:nvSpPr>
        <p:spPr>
          <a:xfrm>
            <a:off x="826851" y="1089020"/>
            <a:ext cx="7463857" cy="5035305"/>
          </a:xfrm>
        </p:spPr>
        <p:txBody>
          <a:bodyPr>
            <a:noAutofit/>
          </a:bodyPr>
          <a:lstStyle/>
          <a:p>
            <a:r>
              <a:rPr lang="en-US" sz="2667" dirty="0">
                <a:solidFill>
                  <a:srgbClr val="FF0000"/>
                </a:solidFill>
              </a:rPr>
              <a:t>Block</a:t>
            </a:r>
            <a:r>
              <a:rPr lang="en-US" sz="2667" dirty="0">
                <a:solidFill>
                  <a:schemeClr val="accent1"/>
                </a:solidFill>
              </a:rPr>
              <a:t> </a:t>
            </a:r>
            <a:r>
              <a:rPr lang="en-US" sz="2667" dirty="0"/>
              <a:t>(aka </a:t>
            </a:r>
            <a:r>
              <a:rPr lang="en-US" sz="2667" dirty="0">
                <a:solidFill>
                  <a:srgbClr val="FF0000"/>
                </a:solidFill>
              </a:rPr>
              <a:t>line</a:t>
            </a:r>
            <a:r>
              <a:rPr lang="en-US" sz="2667" dirty="0"/>
              <a:t>): unit of copying</a:t>
            </a:r>
          </a:p>
          <a:p>
            <a:pPr lvl="1"/>
            <a:r>
              <a:rPr lang="en-US" sz="2133" dirty="0"/>
              <a:t>May be multiple words</a:t>
            </a:r>
          </a:p>
          <a:p>
            <a:r>
              <a:rPr lang="en-US" sz="2667" dirty="0"/>
              <a:t>If accessed data is present in the upper-level</a:t>
            </a:r>
          </a:p>
          <a:p>
            <a:pPr lvl="1"/>
            <a:r>
              <a:rPr lang="en-US" sz="2133" b="1" dirty="0">
                <a:solidFill>
                  <a:srgbClr val="FF0000"/>
                </a:solidFill>
              </a:rPr>
              <a:t>Hit</a:t>
            </a:r>
            <a:r>
              <a:rPr lang="en-US" sz="2133" dirty="0"/>
              <a:t>: access satisfied by upper level</a:t>
            </a:r>
          </a:p>
          <a:p>
            <a:pPr lvl="1"/>
            <a:r>
              <a:rPr lang="en-US" sz="2133" b="1" dirty="0">
                <a:solidFill>
                  <a:srgbClr val="FF0000"/>
                </a:solidFill>
              </a:rPr>
              <a:t>Hit ratio</a:t>
            </a:r>
            <a:r>
              <a:rPr lang="en-US" sz="2133" dirty="0"/>
              <a:t>: hits/accesses</a:t>
            </a:r>
          </a:p>
          <a:p>
            <a:r>
              <a:rPr lang="en-US" sz="2667" dirty="0"/>
              <a:t>If accessed data is absent</a:t>
            </a:r>
          </a:p>
          <a:p>
            <a:pPr lvl="1"/>
            <a:r>
              <a:rPr lang="en-US" sz="2133" b="1" dirty="0">
                <a:solidFill>
                  <a:srgbClr val="FF0000"/>
                </a:solidFill>
              </a:rPr>
              <a:t>Miss</a:t>
            </a:r>
            <a:r>
              <a:rPr lang="en-US" sz="2133" dirty="0"/>
              <a:t>: block copied from lower level</a:t>
            </a:r>
          </a:p>
          <a:p>
            <a:pPr lvl="1"/>
            <a:r>
              <a:rPr lang="en-US" sz="2133" b="1" dirty="0">
                <a:solidFill>
                  <a:srgbClr val="FF0000"/>
                </a:solidFill>
              </a:rPr>
              <a:t>Miss penalty</a:t>
            </a:r>
            <a:r>
              <a:rPr lang="en-US" sz="2133" dirty="0"/>
              <a:t>: extra time taken</a:t>
            </a:r>
          </a:p>
          <a:p>
            <a:pPr lvl="1"/>
            <a:r>
              <a:rPr lang="en-US" sz="2133" b="1" dirty="0">
                <a:solidFill>
                  <a:srgbClr val="FF0000"/>
                </a:solidFill>
              </a:rPr>
              <a:t>Miss ratio</a:t>
            </a:r>
            <a:r>
              <a:rPr lang="en-US" sz="2133" dirty="0"/>
              <a:t>: misses/accesses = (1 – hit ratio)</a:t>
            </a:r>
          </a:p>
          <a:p>
            <a:r>
              <a:rPr lang="en-US" sz="2667" dirty="0"/>
              <a:t>Then accessed data supplied from the upper-level</a:t>
            </a:r>
          </a:p>
          <a:p>
            <a:r>
              <a:rPr lang="en-US" sz="2667" dirty="0">
                <a:solidFill>
                  <a:srgbClr val="FF0000"/>
                </a:solidFill>
              </a:rPr>
              <a:t>Hit time &lt;&lt; Miss penalty</a:t>
            </a:r>
          </a:p>
        </p:txBody>
      </p:sp>
      <p:pic>
        <p:nvPicPr>
          <p:cNvPr id="8" name="Picture 7"/>
          <p:cNvPicPr>
            <a:picLocks noChangeAspect="1"/>
          </p:cNvPicPr>
          <p:nvPr/>
        </p:nvPicPr>
        <p:blipFill>
          <a:blip r:embed="rId2"/>
          <a:stretch>
            <a:fillRect/>
          </a:stretch>
        </p:blipFill>
        <p:spPr>
          <a:xfrm>
            <a:off x="8666425" y="1615947"/>
            <a:ext cx="3286393" cy="3739807"/>
          </a:xfrm>
          <a:prstGeom prst="rect">
            <a:avLst/>
          </a:prstGeom>
        </p:spPr>
      </p:pic>
      <p:sp>
        <p:nvSpPr>
          <p:cNvPr id="6" name="Slide Number Placeholder 5"/>
          <p:cNvSpPr>
            <a:spLocks noGrp="1"/>
          </p:cNvSpPr>
          <p:nvPr>
            <p:ph type="sldNum" sz="quarter" idx="10"/>
          </p:nvPr>
        </p:nvSpPr>
        <p:spPr/>
        <p:txBody>
          <a:bodyPr/>
          <a:lstStyle/>
          <a:p>
            <a:fld id="{D9B6BDF2-6896-4B98-8776-C18582F63BA5}" type="slidenum">
              <a:rPr lang="zh-TW" altLang="en-US" smtClean="0"/>
              <a:t>30</a:t>
            </a:fld>
            <a:endParaRPr lang="zh-TW" altLang="en-US"/>
          </a:p>
        </p:txBody>
      </p:sp>
      <p:sp>
        <p:nvSpPr>
          <p:cNvPr id="4" name="TextBox 3">
            <a:extLst>
              <a:ext uri="{FF2B5EF4-FFF2-40B4-BE49-F238E27FC236}">
                <a16:creationId xmlns:a16="http://schemas.microsoft.com/office/drawing/2014/main" id="{E6031F7C-300D-566C-D0DF-A93C6F28E360}"/>
              </a:ext>
            </a:extLst>
          </p:cNvPr>
          <p:cNvSpPr txBox="1"/>
          <p:nvPr/>
        </p:nvSpPr>
        <p:spPr>
          <a:xfrm>
            <a:off x="7106028" y="2683342"/>
            <a:ext cx="1813317"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Closer</a:t>
            </a:r>
          </a:p>
          <a:p>
            <a:r>
              <a:rPr lang="en-US" dirty="0">
                <a:ea typeface="標楷體" pitchFamily="65" charset="-120"/>
                <a:cs typeface="Calibri" pitchFamily="34" charset="0"/>
              </a:rPr>
              <a:t>Smaller</a:t>
            </a:r>
          </a:p>
          <a:p>
            <a:r>
              <a:rPr lang="en-US" dirty="0">
                <a:ea typeface="標楷體" pitchFamily="65" charset="-120"/>
                <a:cs typeface="Calibri" pitchFamily="34" charset="0"/>
              </a:rPr>
              <a:t>More expensive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31</a:t>
            </a:fld>
            <a:endParaRPr lang="zh-TW" altLang="en-US"/>
          </a:p>
        </p:txBody>
      </p:sp>
      <p:grpSp>
        <p:nvGrpSpPr>
          <p:cNvPr id="3" name="组合 2"/>
          <p:cNvGrpSpPr/>
          <p:nvPr/>
        </p:nvGrpSpPr>
        <p:grpSpPr>
          <a:xfrm>
            <a:off x="1239258" y="1790752"/>
            <a:ext cx="6310416" cy="4157901"/>
            <a:chOff x="966019" y="1425360"/>
            <a:chExt cx="4732812" cy="3118426"/>
          </a:xfrm>
        </p:grpSpPr>
        <p:sp>
          <p:nvSpPr>
            <p:cNvPr id="34" name="Rectangle 2"/>
            <p:cNvSpPr>
              <a:spLocks noChangeArrowheads="1"/>
            </p:cNvSpPr>
            <p:nvPr/>
          </p:nvSpPr>
          <p:spPr bwMode="auto">
            <a:xfrm>
              <a:off x="2501304" y="1425360"/>
              <a:ext cx="1201656" cy="286558"/>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5" name="Rectangle 3"/>
            <p:cNvSpPr>
              <a:spLocks noChangeArrowheads="1"/>
            </p:cNvSpPr>
            <p:nvPr/>
          </p:nvSpPr>
          <p:spPr bwMode="auto">
            <a:xfrm>
              <a:off x="2117483" y="2082758"/>
              <a:ext cx="1969299"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6" name="Rectangle 4"/>
            <p:cNvSpPr>
              <a:spLocks noChangeArrowheads="1"/>
            </p:cNvSpPr>
            <p:nvPr/>
          </p:nvSpPr>
          <p:spPr bwMode="auto">
            <a:xfrm>
              <a:off x="1854670" y="2790725"/>
              <a:ext cx="2890470"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7" name="Rectangle 5"/>
            <p:cNvSpPr>
              <a:spLocks noChangeArrowheads="1"/>
            </p:cNvSpPr>
            <p:nvPr/>
          </p:nvSpPr>
          <p:spPr bwMode="auto">
            <a:xfrm>
              <a:off x="1273076" y="3498692"/>
              <a:ext cx="3965169"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dirty="0"/>
            </a:p>
          </p:txBody>
        </p:sp>
        <p:sp>
          <p:nvSpPr>
            <p:cNvPr id="38" name="Rectangle 6"/>
            <p:cNvSpPr>
              <a:spLocks noChangeArrowheads="1"/>
            </p:cNvSpPr>
            <p:nvPr/>
          </p:nvSpPr>
          <p:spPr bwMode="auto">
            <a:xfrm>
              <a:off x="966019" y="4206659"/>
              <a:ext cx="4732812"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9" name="Rectangle 7"/>
            <p:cNvSpPr>
              <a:spLocks noChangeArrowheads="1"/>
            </p:cNvSpPr>
            <p:nvPr/>
          </p:nvSpPr>
          <p:spPr bwMode="auto">
            <a:xfrm>
              <a:off x="2592819" y="1454861"/>
              <a:ext cx="94577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Registers</a:t>
              </a:r>
            </a:p>
          </p:txBody>
        </p:sp>
        <p:sp>
          <p:nvSpPr>
            <p:cNvPr id="40" name="Rectangle 8"/>
            <p:cNvSpPr>
              <a:spLocks noChangeArrowheads="1"/>
            </p:cNvSpPr>
            <p:nvPr/>
          </p:nvSpPr>
          <p:spPr bwMode="auto">
            <a:xfrm>
              <a:off x="2732925" y="2149130"/>
              <a:ext cx="1233109"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Cache / LM</a:t>
              </a:r>
            </a:p>
          </p:txBody>
        </p:sp>
        <p:sp>
          <p:nvSpPr>
            <p:cNvPr id="41" name="Rectangle 9"/>
            <p:cNvSpPr>
              <a:spLocks noChangeArrowheads="1"/>
            </p:cNvSpPr>
            <p:nvPr/>
          </p:nvSpPr>
          <p:spPr bwMode="auto">
            <a:xfrm>
              <a:off x="2713827" y="2857097"/>
              <a:ext cx="833161"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Memory</a:t>
              </a:r>
            </a:p>
          </p:txBody>
        </p:sp>
        <p:sp>
          <p:nvSpPr>
            <p:cNvPr id="42" name="Rectangle 10"/>
            <p:cNvSpPr>
              <a:spLocks noChangeArrowheads="1"/>
            </p:cNvSpPr>
            <p:nvPr/>
          </p:nvSpPr>
          <p:spPr bwMode="auto">
            <a:xfrm>
              <a:off x="2831813" y="3565063"/>
              <a:ext cx="50695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Disk</a:t>
              </a:r>
            </a:p>
          </p:txBody>
        </p:sp>
        <p:sp>
          <p:nvSpPr>
            <p:cNvPr id="43" name="Rectangle 11"/>
            <p:cNvSpPr>
              <a:spLocks noChangeArrowheads="1"/>
            </p:cNvSpPr>
            <p:nvPr/>
          </p:nvSpPr>
          <p:spPr bwMode="auto">
            <a:xfrm>
              <a:off x="2812714" y="4271982"/>
              <a:ext cx="533304"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Tape</a:t>
              </a:r>
            </a:p>
          </p:txBody>
        </p:sp>
        <p:sp>
          <p:nvSpPr>
            <p:cNvPr id="44" name="Line 12"/>
            <p:cNvSpPr>
              <a:spLocks noChangeShapeType="1"/>
            </p:cNvSpPr>
            <p:nvPr/>
          </p:nvSpPr>
          <p:spPr bwMode="auto">
            <a:xfrm>
              <a:off x="3102133" y="1720346"/>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5" name="Line 13"/>
            <p:cNvSpPr>
              <a:spLocks noChangeShapeType="1"/>
            </p:cNvSpPr>
            <p:nvPr/>
          </p:nvSpPr>
          <p:spPr bwMode="auto">
            <a:xfrm>
              <a:off x="3102133" y="2428313"/>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6" name="Line 14"/>
            <p:cNvSpPr>
              <a:spLocks noChangeShapeType="1"/>
            </p:cNvSpPr>
            <p:nvPr/>
          </p:nvSpPr>
          <p:spPr bwMode="auto">
            <a:xfrm>
              <a:off x="3102133" y="3136280"/>
              <a:ext cx="0" cy="353984"/>
            </a:xfrm>
            <a:prstGeom prst="line">
              <a:avLst/>
            </a:prstGeom>
            <a:noFill/>
            <a:ln w="25400">
              <a:solidFill>
                <a:schemeClr val="tx1"/>
              </a:solidFill>
              <a:round/>
              <a:headEnd type="stealth" w="med" len="lg"/>
              <a:tailEnd type="stealth" w="med" len="lg"/>
            </a:ln>
          </p:spPr>
          <p:txBody>
            <a:bodyPr wrap="none" anchor="ctr"/>
            <a:lstStyle/>
            <a:p>
              <a:endParaRPr lang="zh-TW" altLang="en-US" sz="1867"/>
            </a:p>
          </p:txBody>
        </p:sp>
        <p:sp>
          <p:nvSpPr>
            <p:cNvPr id="47" name="Line 15"/>
            <p:cNvSpPr>
              <a:spLocks noChangeShapeType="1"/>
            </p:cNvSpPr>
            <p:nvPr/>
          </p:nvSpPr>
          <p:spPr bwMode="auto">
            <a:xfrm>
              <a:off x="3102133" y="3844247"/>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8" name="Rectangle 16"/>
            <p:cNvSpPr>
              <a:spLocks noChangeArrowheads="1"/>
            </p:cNvSpPr>
            <p:nvPr/>
          </p:nvSpPr>
          <p:spPr bwMode="auto">
            <a:xfrm>
              <a:off x="3192184" y="1795147"/>
              <a:ext cx="194003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Instruction Operands</a:t>
              </a:r>
            </a:p>
          </p:txBody>
        </p:sp>
        <p:sp>
          <p:nvSpPr>
            <p:cNvPr id="49" name="Rectangle 17"/>
            <p:cNvSpPr>
              <a:spLocks noChangeArrowheads="1"/>
            </p:cNvSpPr>
            <p:nvPr/>
          </p:nvSpPr>
          <p:spPr bwMode="auto">
            <a:xfrm>
              <a:off x="3192184" y="2503114"/>
              <a:ext cx="1233111"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Blocks/Lines</a:t>
              </a:r>
            </a:p>
          </p:txBody>
        </p:sp>
        <p:sp>
          <p:nvSpPr>
            <p:cNvPr id="50" name="Rectangle 18"/>
            <p:cNvSpPr>
              <a:spLocks noChangeArrowheads="1"/>
            </p:cNvSpPr>
            <p:nvPr/>
          </p:nvSpPr>
          <p:spPr bwMode="auto">
            <a:xfrm>
              <a:off x="3192184" y="3211081"/>
              <a:ext cx="65723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Pages</a:t>
              </a:r>
            </a:p>
          </p:txBody>
        </p:sp>
        <p:sp>
          <p:nvSpPr>
            <p:cNvPr id="51" name="Rectangle 19"/>
            <p:cNvSpPr>
              <a:spLocks noChangeArrowheads="1"/>
            </p:cNvSpPr>
            <p:nvPr/>
          </p:nvSpPr>
          <p:spPr bwMode="auto">
            <a:xfrm>
              <a:off x="3192183" y="3919048"/>
              <a:ext cx="53580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Files</a:t>
              </a:r>
            </a:p>
          </p:txBody>
        </p:sp>
      </p:grpSp>
      <p:grpSp>
        <p:nvGrpSpPr>
          <p:cNvPr id="2" name="组合 1"/>
          <p:cNvGrpSpPr/>
          <p:nvPr/>
        </p:nvGrpSpPr>
        <p:grpSpPr>
          <a:xfrm>
            <a:off x="7061368" y="1362218"/>
            <a:ext cx="2695718" cy="3969912"/>
            <a:chOff x="5210694" y="1101523"/>
            <a:chExt cx="2021788" cy="2977434"/>
          </a:xfrm>
        </p:grpSpPr>
        <p:sp>
          <p:nvSpPr>
            <p:cNvPr id="52" name="Rectangle 20"/>
            <p:cNvSpPr>
              <a:spLocks noChangeArrowheads="1"/>
            </p:cNvSpPr>
            <p:nvPr/>
          </p:nvSpPr>
          <p:spPr bwMode="auto">
            <a:xfrm>
              <a:off x="5210694" y="1101523"/>
              <a:ext cx="1584564" cy="439191"/>
            </a:xfrm>
            <a:prstGeom prst="rect">
              <a:avLst/>
            </a:prstGeom>
            <a:noFill/>
            <a:ln w="9525">
              <a:noFill/>
              <a:miter lim="800000"/>
            </a:ln>
          </p:spPr>
          <p:txBody>
            <a:bodyPr wrap="square" lIns="84667" tIns="33867" rIns="84667" bIns="33867">
              <a:spAutoFit/>
            </a:bodyPr>
            <a:lstStyle/>
            <a:p>
              <a:pPr algn="ctr">
                <a:lnSpc>
                  <a:spcPct val="90000"/>
                </a:lnSpc>
              </a:pPr>
              <a:r>
                <a:rPr kumimoji="1" lang="en-US" altLang="zh-TW" sz="1867" b="1" dirty="0">
                  <a:latin typeface="Arial" panose="020B0604020202090204" pitchFamily="34" charset="0"/>
                </a:rPr>
                <a:t>Staging</a:t>
              </a:r>
            </a:p>
            <a:p>
              <a:pPr algn="ctr">
                <a:lnSpc>
                  <a:spcPct val="90000"/>
                </a:lnSpc>
              </a:pPr>
              <a:r>
                <a:rPr kumimoji="1" lang="en-US" altLang="zh-TW" sz="1867" b="1" dirty="0">
                  <a:latin typeface="Arial" panose="020B0604020202090204" pitchFamily="34" charset="0"/>
                </a:rPr>
                <a:t>Transfer Unit</a:t>
              </a:r>
            </a:p>
          </p:txBody>
        </p:sp>
        <p:sp>
          <p:nvSpPr>
            <p:cNvPr id="53" name="Rectangle 21"/>
            <p:cNvSpPr>
              <a:spLocks noChangeArrowheads="1"/>
            </p:cNvSpPr>
            <p:nvPr/>
          </p:nvSpPr>
          <p:spPr bwMode="auto">
            <a:xfrm>
              <a:off x="5210694" y="1768775"/>
              <a:ext cx="2021788" cy="439191"/>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Programmer/</a:t>
              </a:r>
              <a:r>
                <a:rPr kumimoji="1" lang="en-US" altLang="zh-CN" sz="1867" b="1" dirty="0">
                  <a:latin typeface="Arial" panose="020B0604020202090204" pitchFamily="34" charset="0"/>
                </a:rPr>
                <a:t>C</a:t>
              </a:r>
              <a:r>
                <a:rPr kumimoji="1" lang="en-US" altLang="zh-TW" sz="1867" b="1" dirty="0">
                  <a:latin typeface="Arial" panose="020B0604020202090204" pitchFamily="34" charset="0"/>
                </a:rPr>
                <a:t>ompiler</a:t>
              </a:r>
            </a:p>
            <a:p>
              <a:pPr>
                <a:lnSpc>
                  <a:spcPct val="90000"/>
                </a:lnSpc>
              </a:pPr>
              <a:endParaRPr kumimoji="1" lang="en-US" altLang="zh-TW" sz="1867" b="1" dirty="0">
                <a:latin typeface="Arial" panose="020B0604020202090204" pitchFamily="34" charset="0"/>
              </a:endParaRPr>
            </a:p>
          </p:txBody>
        </p:sp>
        <p:sp>
          <p:nvSpPr>
            <p:cNvPr id="54" name="Rectangle 22"/>
            <p:cNvSpPr>
              <a:spLocks noChangeArrowheads="1"/>
            </p:cNvSpPr>
            <p:nvPr/>
          </p:nvSpPr>
          <p:spPr bwMode="auto">
            <a:xfrm>
              <a:off x="5391775" y="2518783"/>
              <a:ext cx="1572146"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Cache Controller</a:t>
              </a:r>
            </a:p>
          </p:txBody>
        </p:sp>
        <p:sp>
          <p:nvSpPr>
            <p:cNvPr id="55" name="Rectangle 23"/>
            <p:cNvSpPr>
              <a:spLocks noChangeArrowheads="1"/>
            </p:cNvSpPr>
            <p:nvPr/>
          </p:nvSpPr>
          <p:spPr bwMode="auto">
            <a:xfrm>
              <a:off x="5335239" y="3174253"/>
              <a:ext cx="1731984" cy="439191"/>
            </a:xfrm>
            <a:prstGeom prst="rect">
              <a:avLst/>
            </a:prstGeom>
            <a:noFill/>
            <a:ln w="9525">
              <a:noFill/>
              <a:miter lim="800000"/>
            </a:ln>
          </p:spPr>
          <p:txBody>
            <a:bodyPr wrap="square" lIns="84667" tIns="33867" rIns="84667" bIns="33867">
              <a:spAutoFit/>
            </a:bodyPr>
            <a:lstStyle/>
            <a:p>
              <a:pPr>
                <a:lnSpc>
                  <a:spcPct val="90000"/>
                </a:lnSpc>
              </a:pPr>
              <a:r>
                <a:rPr kumimoji="1" lang="en-US" altLang="zh-TW" sz="1867" b="1" dirty="0">
                  <a:latin typeface="Arial" panose="020B0604020202090204" pitchFamily="34" charset="0"/>
                </a:rPr>
                <a:t>Operating System</a:t>
              </a:r>
            </a:p>
            <a:p>
              <a:pPr>
                <a:lnSpc>
                  <a:spcPct val="90000"/>
                </a:lnSpc>
              </a:pPr>
              <a:endParaRPr kumimoji="1" lang="en-US" altLang="zh-TW" sz="1867" b="1" dirty="0">
                <a:latin typeface="Arial" panose="020B0604020202090204" pitchFamily="34" charset="0"/>
              </a:endParaRPr>
            </a:p>
          </p:txBody>
        </p:sp>
        <p:sp>
          <p:nvSpPr>
            <p:cNvPr id="56" name="Rectangle 24"/>
            <p:cNvSpPr>
              <a:spLocks noChangeArrowheads="1"/>
            </p:cNvSpPr>
            <p:nvPr/>
          </p:nvSpPr>
          <p:spPr bwMode="auto">
            <a:xfrm>
              <a:off x="5520208" y="3833713"/>
              <a:ext cx="1334100"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User/Operator</a:t>
              </a:r>
            </a:p>
          </p:txBody>
        </p:sp>
      </p:grpSp>
      <p:grpSp>
        <p:nvGrpSpPr>
          <p:cNvPr id="4" name="组合 3"/>
          <p:cNvGrpSpPr/>
          <p:nvPr/>
        </p:nvGrpSpPr>
        <p:grpSpPr>
          <a:xfrm>
            <a:off x="9437205" y="1185341"/>
            <a:ext cx="1590039" cy="4809732"/>
            <a:chOff x="6831015" y="971301"/>
            <a:chExt cx="1192529" cy="3607299"/>
          </a:xfrm>
        </p:grpSpPr>
        <p:sp>
          <p:nvSpPr>
            <p:cNvPr id="57" name="Rectangle 25"/>
            <p:cNvSpPr>
              <a:spLocks noChangeArrowheads="1"/>
            </p:cNvSpPr>
            <p:nvPr/>
          </p:nvSpPr>
          <p:spPr bwMode="auto">
            <a:xfrm>
              <a:off x="6846437" y="971301"/>
              <a:ext cx="115376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Upper Level</a:t>
              </a:r>
            </a:p>
          </p:txBody>
        </p:sp>
        <p:sp>
          <p:nvSpPr>
            <p:cNvPr id="58" name="Rectangle 26"/>
            <p:cNvSpPr>
              <a:spLocks noChangeArrowheads="1"/>
            </p:cNvSpPr>
            <p:nvPr/>
          </p:nvSpPr>
          <p:spPr bwMode="auto">
            <a:xfrm>
              <a:off x="6831015" y="4344128"/>
              <a:ext cx="116338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Lower Level</a:t>
              </a:r>
            </a:p>
          </p:txBody>
        </p:sp>
        <p:sp>
          <p:nvSpPr>
            <p:cNvPr id="59" name="Line 27"/>
            <p:cNvSpPr>
              <a:spLocks noChangeShapeType="1"/>
            </p:cNvSpPr>
            <p:nvPr/>
          </p:nvSpPr>
          <p:spPr bwMode="auto">
            <a:xfrm flipV="1">
              <a:off x="7093878" y="1265224"/>
              <a:ext cx="0" cy="2933007"/>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0" name="Rectangle 28"/>
            <p:cNvSpPr>
              <a:spLocks noChangeArrowheads="1"/>
            </p:cNvSpPr>
            <p:nvPr/>
          </p:nvSpPr>
          <p:spPr bwMode="auto">
            <a:xfrm>
              <a:off x="7183931" y="1238886"/>
              <a:ext cx="617557"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a:latin typeface="Arial" panose="020B0604020202090204" pitchFamily="34" charset="0"/>
                </a:rPr>
                <a:t>faster</a:t>
              </a:r>
            </a:p>
          </p:txBody>
        </p:sp>
        <p:sp>
          <p:nvSpPr>
            <p:cNvPr id="61" name="Line 29"/>
            <p:cNvSpPr>
              <a:spLocks noChangeShapeType="1"/>
            </p:cNvSpPr>
            <p:nvPr/>
          </p:nvSpPr>
          <p:spPr bwMode="auto">
            <a:xfrm>
              <a:off x="7707995" y="1518070"/>
              <a:ext cx="0" cy="2477885"/>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2" name="Rectangle 30"/>
            <p:cNvSpPr>
              <a:spLocks noChangeArrowheads="1"/>
            </p:cNvSpPr>
            <p:nvPr/>
          </p:nvSpPr>
          <p:spPr bwMode="auto">
            <a:xfrm>
              <a:off x="7337458" y="4070760"/>
              <a:ext cx="686086"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Larger</a:t>
              </a:r>
            </a:p>
          </p:txBody>
        </p:sp>
      </p:grpSp>
      <p:sp>
        <p:nvSpPr>
          <p:cNvPr id="64" name="Rectangle 31"/>
          <p:cNvSpPr>
            <a:spLocks noGrp="1" noChangeArrowheads="1"/>
          </p:cNvSpPr>
          <p:nvPr>
            <p:ph type="title"/>
          </p:nvPr>
        </p:nvSpPr>
        <p:spPr>
          <a:xfrm>
            <a:off x="1248696" y="230718"/>
            <a:ext cx="10223976" cy="491084"/>
          </a:xfrm>
        </p:spPr>
        <p:txBody>
          <a:bodyPr/>
          <a:lstStyle/>
          <a:p>
            <a:r>
              <a:rPr lang="en-US" altLang="zh-TW" dirty="0"/>
              <a:t>Levels of Memory Hierarchy </a:t>
            </a:r>
          </a:p>
        </p:txBody>
      </p:sp>
      <p:sp>
        <p:nvSpPr>
          <p:cNvPr id="5" name="TextBox 4">
            <a:extLst>
              <a:ext uri="{FF2B5EF4-FFF2-40B4-BE49-F238E27FC236}">
                <a16:creationId xmlns:a16="http://schemas.microsoft.com/office/drawing/2014/main" id="{C5ADE593-3CE7-4237-B65C-EB18C624A9A3}"/>
              </a:ext>
            </a:extLst>
          </p:cNvPr>
          <p:cNvSpPr txBox="1"/>
          <p:nvPr/>
        </p:nvSpPr>
        <p:spPr>
          <a:xfrm>
            <a:off x="1553214" y="2675317"/>
            <a:ext cx="190308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Cache Hierarchy</a:t>
            </a:r>
          </a:p>
        </p:txBody>
      </p:sp>
      <p:sp>
        <p:nvSpPr>
          <p:cNvPr id="7" name="Arrow: Down 6">
            <a:extLst>
              <a:ext uri="{FF2B5EF4-FFF2-40B4-BE49-F238E27FC236}">
                <a16:creationId xmlns:a16="http://schemas.microsoft.com/office/drawing/2014/main" id="{29BDF7E1-33D3-4AF6-AF6F-5D85FD3B7EFF}"/>
              </a:ext>
            </a:extLst>
          </p:cNvPr>
          <p:cNvSpPr/>
          <p:nvPr/>
        </p:nvSpPr>
        <p:spPr bwMode="auto">
          <a:xfrm>
            <a:off x="2245700" y="3049898"/>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3" name="Arrow: Down 62">
            <a:extLst>
              <a:ext uri="{FF2B5EF4-FFF2-40B4-BE49-F238E27FC236}">
                <a16:creationId xmlns:a16="http://schemas.microsoft.com/office/drawing/2014/main" id="{7D94F4DB-853A-49B1-9EC5-69C0AEE14A52}"/>
              </a:ext>
            </a:extLst>
          </p:cNvPr>
          <p:cNvSpPr/>
          <p:nvPr/>
        </p:nvSpPr>
        <p:spPr bwMode="auto">
          <a:xfrm rot="10800000">
            <a:off x="2262440" y="2057624"/>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5" name="TextBox 64">
            <a:extLst>
              <a:ext uri="{FF2B5EF4-FFF2-40B4-BE49-F238E27FC236}">
                <a16:creationId xmlns:a16="http://schemas.microsoft.com/office/drawing/2014/main" id="{C2FEF8F0-56A8-4782-BD30-577A197B1C9D}"/>
              </a:ext>
            </a:extLst>
          </p:cNvPr>
          <p:cNvSpPr txBox="1"/>
          <p:nvPr/>
        </p:nvSpPr>
        <p:spPr>
          <a:xfrm>
            <a:off x="1110198" y="4255412"/>
            <a:ext cx="173220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Virtual Memory</a:t>
            </a:r>
          </a:p>
        </p:txBody>
      </p:sp>
      <p:sp>
        <p:nvSpPr>
          <p:cNvPr id="66" name="Arrow: Down 65">
            <a:extLst>
              <a:ext uri="{FF2B5EF4-FFF2-40B4-BE49-F238E27FC236}">
                <a16:creationId xmlns:a16="http://schemas.microsoft.com/office/drawing/2014/main" id="{AC5D9110-8C60-414A-A60F-5A782A7CD8E6}"/>
              </a:ext>
            </a:extLst>
          </p:cNvPr>
          <p:cNvSpPr/>
          <p:nvPr/>
        </p:nvSpPr>
        <p:spPr bwMode="auto">
          <a:xfrm>
            <a:off x="1802684" y="4629993"/>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7" name="Arrow: Down 66">
            <a:extLst>
              <a:ext uri="{FF2B5EF4-FFF2-40B4-BE49-F238E27FC236}">
                <a16:creationId xmlns:a16="http://schemas.microsoft.com/office/drawing/2014/main" id="{1F6B1014-8072-419D-B46F-E8960D2DCF1D}"/>
              </a:ext>
            </a:extLst>
          </p:cNvPr>
          <p:cNvSpPr/>
          <p:nvPr/>
        </p:nvSpPr>
        <p:spPr bwMode="auto">
          <a:xfrm rot="10800000">
            <a:off x="1819424" y="3637719"/>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TextBox 5">
            <a:extLst>
              <a:ext uri="{FF2B5EF4-FFF2-40B4-BE49-F238E27FC236}">
                <a16:creationId xmlns:a16="http://schemas.microsoft.com/office/drawing/2014/main" id="{FC2E5A38-9640-ACE2-275C-664360302BC9}"/>
              </a:ext>
            </a:extLst>
          </p:cNvPr>
          <p:cNvSpPr txBox="1"/>
          <p:nvPr/>
        </p:nvSpPr>
        <p:spPr>
          <a:xfrm>
            <a:off x="6164420" y="2618072"/>
            <a:ext cx="1364476" cy="369332"/>
          </a:xfrm>
          <a:prstGeom prst="rect">
            <a:avLst/>
          </a:prstGeom>
          <a:solidFill>
            <a:srgbClr val="92D050"/>
          </a:solidFill>
        </p:spPr>
        <p:txBody>
          <a:bodyPr wrap="none" rtlCol="0" anchor="ctr" anchorCtr="1">
            <a:spAutoFit/>
          </a:bodyPr>
          <a:lstStyle/>
          <a:p>
            <a:r>
              <a:rPr lang="en-US" b="1" dirty="0" err="1">
                <a:ea typeface="標楷體" pitchFamily="65" charset="-120"/>
                <a:cs typeface="Calibri" pitchFamily="34" charset="0"/>
              </a:rPr>
              <a:t>lw</a:t>
            </a:r>
            <a:r>
              <a:rPr lang="en-US" b="1" dirty="0">
                <a:ea typeface="標楷體" pitchFamily="65" charset="-120"/>
                <a:cs typeface="Calibri" pitchFamily="34" charset="0"/>
              </a:rPr>
              <a:t> t1,4(s1) </a:t>
            </a:r>
          </a:p>
        </p:txBody>
      </p:sp>
      <p:sp>
        <p:nvSpPr>
          <p:cNvPr id="8" name="TextBox 7">
            <a:extLst>
              <a:ext uri="{FF2B5EF4-FFF2-40B4-BE49-F238E27FC236}">
                <a16:creationId xmlns:a16="http://schemas.microsoft.com/office/drawing/2014/main" id="{D1CA36CC-472B-7EAB-32C6-128BAFE208E8}"/>
              </a:ext>
            </a:extLst>
          </p:cNvPr>
          <p:cNvSpPr txBox="1"/>
          <p:nvPr/>
        </p:nvSpPr>
        <p:spPr>
          <a:xfrm>
            <a:off x="6163319" y="3002525"/>
            <a:ext cx="1689309" cy="369332"/>
          </a:xfrm>
          <a:prstGeom prst="rect">
            <a:avLst/>
          </a:prstGeom>
          <a:solidFill>
            <a:srgbClr val="FFC000"/>
          </a:solidFill>
          <a:ln>
            <a:solidFill>
              <a:srgbClr val="FF0000"/>
            </a:solidFill>
          </a:ln>
        </p:spPr>
        <p:txBody>
          <a:bodyPr wrap="none" rtlCol="0" anchor="ctr" anchorCtr="1">
            <a:spAutoFit/>
          </a:bodyPr>
          <a:lstStyle/>
          <a:p>
            <a:r>
              <a:rPr lang="en-US" b="1" dirty="0" err="1">
                <a:ea typeface="標楷體" pitchFamily="65" charset="-120"/>
                <a:cs typeface="Calibri" pitchFamily="34" charset="0"/>
              </a:rPr>
              <a:t>lw.lm</a:t>
            </a:r>
            <a:r>
              <a:rPr lang="en-US" b="1" dirty="0">
                <a:ea typeface="標楷體" pitchFamily="65" charset="-120"/>
                <a:cs typeface="Calibri" pitchFamily="34" charset="0"/>
              </a:rPr>
              <a:t> t1,4(s1)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32</a:t>
            </a:fld>
            <a:endParaRPr lang="zh-TW" altLang="en-US"/>
          </a:p>
        </p:txBody>
      </p:sp>
      <p:grpSp>
        <p:nvGrpSpPr>
          <p:cNvPr id="3" name="组合 2"/>
          <p:cNvGrpSpPr/>
          <p:nvPr/>
        </p:nvGrpSpPr>
        <p:grpSpPr>
          <a:xfrm>
            <a:off x="1203621" y="1607938"/>
            <a:ext cx="6310416" cy="4179548"/>
            <a:chOff x="966019" y="1409125"/>
            <a:chExt cx="4732812" cy="3134661"/>
          </a:xfrm>
        </p:grpSpPr>
        <p:sp>
          <p:nvSpPr>
            <p:cNvPr id="34" name="Rectangle 2"/>
            <p:cNvSpPr>
              <a:spLocks noChangeArrowheads="1"/>
            </p:cNvSpPr>
            <p:nvPr/>
          </p:nvSpPr>
          <p:spPr bwMode="auto">
            <a:xfrm>
              <a:off x="2420920" y="1409125"/>
              <a:ext cx="1201656" cy="286558"/>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5" name="Rectangle 3"/>
            <p:cNvSpPr>
              <a:spLocks noChangeArrowheads="1"/>
            </p:cNvSpPr>
            <p:nvPr/>
          </p:nvSpPr>
          <p:spPr bwMode="auto">
            <a:xfrm>
              <a:off x="2117482" y="2082758"/>
              <a:ext cx="3120761"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6" name="Rectangle 4"/>
            <p:cNvSpPr>
              <a:spLocks noChangeArrowheads="1"/>
            </p:cNvSpPr>
            <p:nvPr/>
          </p:nvSpPr>
          <p:spPr bwMode="auto">
            <a:xfrm>
              <a:off x="1854670" y="2790725"/>
              <a:ext cx="3595688"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7" name="Rectangle 5"/>
            <p:cNvSpPr>
              <a:spLocks noChangeArrowheads="1"/>
            </p:cNvSpPr>
            <p:nvPr/>
          </p:nvSpPr>
          <p:spPr bwMode="auto">
            <a:xfrm>
              <a:off x="1273075" y="3498692"/>
              <a:ext cx="4267334"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dirty="0"/>
            </a:p>
          </p:txBody>
        </p:sp>
        <p:sp>
          <p:nvSpPr>
            <p:cNvPr id="38" name="Rectangle 6"/>
            <p:cNvSpPr>
              <a:spLocks noChangeArrowheads="1"/>
            </p:cNvSpPr>
            <p:nvPr/>
          </p:nvSpPr>
          <p:spPr bwMode="auto">
            <a:xfrm>
              <a:off x="966019" y="4206659"/>
              <a:ext cx="4732812"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9" name="Rectangle 7"/>
            <p:cNvSpPr>
              <a:spLocks noChangeArrowheads="1"/>
            </p:cNvSpPr>
            <p:nvPr/>
          </p:nvSpPr>
          <p:spPr bwMode="auto">
            <a:xfrm>
              <a:off x="2592819" y="1454861"/>
              <a:ext cx="94577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Registers</a:t>
              </a:r>
            </a:p>
          </p:txBody>
        </p:sp>
        <p:sp>
          <p:nvSpPr>
            <p:cNvPr id="40" name="Rectangle 8"/>
            <p:cNvSpPr>
              <a:spLocks noChangeArrowheads="1"/>
            </p:cNvSpPr>
            <p:nvPr/>
          </p:nvSpPr>
          <p:spPr bwMode="auto">
            <a:xfrm>
              <a:off x="2732925" y="2149130"/>
              <a:ext cx="1233109"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Cache / LM</a:t>
              </a:r>
            </a:p>
          </p:txBody>
        </p:sp>
        <p:sp>
          <p:nvSpPr>
            <p:cNvPr id="41" name="Rectangle 9"/>
            <p:cNvSpPr>
              <a:spLocks noChangeArrowheads="1"/>
            </p:cNvSpPr>
            <p:nvPr/>
          </p:nvSpPr>
          <p:spPr bwMode="auto">
            <a:xfrm>
              <a:off x="2713827" y="2857097"/>
              <a:ext cx="833161"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Memory</a:t>
              </a:r>
            </a:p>
          </p:txBody>
        </p:sp>
        <p:sp>
          <p:nvSpPr>
            <p:cNvPr id="42" name="Rectangle 10"/>
            <p:cNvSpPr>
              <a:spLocks noChangeArrowheads="1"/>
            </p:cNvSpPr>
            <p:nvPr/>
          </p:nvSpPr>
          <p:spPr bwMode="auto">
            <a:xfrm>
              <a:off x="2831813" y="3565063"/>
              <a:ext cx="50695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Disk</a:t>
              </a:r>
            </a:p>
          </p:txBody>
        </p:sp>
        <p:sp>
          <p:nvSpPr>
            <p:cNvPr id="43" name="Rectangle 11"/>
            <p:cNvSpPr>
              <a:spLocks noChangeArrowheads="1"/>
            </p:cNvSpPr>
            <p:nvPr/>
          </p:nvSpPr>
          <p:spPr bwMode="auto">
            <a:xfrm>
              <a:off x="2812714" y="4271982"/>
              <a:ext cx="533304"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Tape</a:t>
              </a:r>
            </a:p>
          </p:txBody>
        </p:sp>
        <p:sp>
          <p:nvSpPr>
            <p:cNvPr id="44" name="Line 12"/>
            <p:cNvSpPr>
              <a:spLocks noChangeShapeType="1"/>
            </p:cNvSpPr>
            <p:nvPr/>
          </p:nvSpPr>
          <p:spPr bwMode="auto">
            <a:xfrm>
              <a:off x="3102133" y="1720346"/>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5" name="Line 13"/>
            <p:cNvSpPr>
              <a:spLocks noChangeShapeType="1"/>
            </p:cNvSpPr>
            <p:nvPr/>
          </p:nvSpPr>
          <p:spPr bwMode="auto">
            <a:xfrm>
              <a:off x="3102133" y="2428313"/>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6" name="Line 14"/>
            <p:cNvSpPr>
              <a:spLocks noChangeShapeType="1"/>
            </p:cNvSpPr>
            <p:nvPr/>
          </p:nvSpPr>
          <p:spPr bwMode="auto">
            <a:xfrm>
              <a:off x="3102133" y="3136280"/>
              <a:ext cx="0" cy="353984"/>
            </a:xfrm>
            <a:prstGeom prst="line">
              <a:avLst/>
            </a:prstGeom>
            <a:noFill/>
            <a:ln w="25400">
              <a:solidFill>
                <a:schemeClr val="tx1"/>
              </a:solidFill>
              <a:round/>
              <a:headEnd type="stealth" w="med" len="lg"/>
              <a:tailEnd type="stealth" w="med" len="lg"/>
            </a:ln>
          </p:spPr>
          <p:txBody>
            <a:bodyPr wrap="none" anchor="ctr"/>
            <a:lstStyle/>
            <a:p>
              <a:endParaRPr lang="zh-TW" altLang="en-US" sz="1867"/>
            </a:p>
          </p:txBody>
        </p:sp>
        <p:sp>
          <p:nvSpPr>
            <p:cNvPr id="47" name="Line 15"/>
            <p:cNvSpPr>
              <a:spLocks noChangeShapeType="1"/>
            </p:cNvSpPr>
            <p:nvPr/>
          </p:nvSpPr>
          <p:spPr bwMode="auto">
            <a:xfrm>
              <a:off x="3102133" y="3844247"/>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8" name="Rectangle 16"/>
            <p:cNvSpPr>
              <a:spLocks noChangeArrowheads="1"/>
            </p:cNvSpPr>
            <p:nvPr/>
          </p:nvSpPr>
          <p:spPr bwMode="auto">
            <a:xfrm>
              <a:off x="3192184" y="1795147"/>
              <a:ext cx="194003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Instruction Operands</a:t>
              </a:r>
            </a:p>
          </p:txBody>
        </p:sp>
        <p:sp>
          <p:nvSpPr>
            <p:cNvPr id="49" name="Rectangle 17"/>
            <p:cNvSpPr>
              <a:spLocks noChangeArrowheads="1"/>
            </p:cNvSpPr>
            <p:nvPr/>
          </p:nvSpPr>
          <p:spPr bwMode="auto">
            <a:xfrm>
              <a:off x="3192184" y="2503114"/>
              <a:ext cx="1233111"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Blocks/Lines</a:t>
              </a:r>
            </a:p>
          </p:txBody>
        </p:sp>
        <p:sp>
          <p:nvSpPr>
            <p:cNvPr id="50" name="Rectangle 18"/>
            <p:cNvSpPr>
              <a:spLocks noChangeArrowheads="1"/>
            </p:cNvSpPr>
            <p:nvPr/>
          </p:nvSpPr>
          <p:spPr bwMode="auto">
            <a:xfrm>
              <a:off x="3192184" y="3211081"/>
              <a:ext cx="65723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Pages</a:t>
              </a:r>
            </a:p>
          </p:txBody>
        </p:sp>
        <p:sp>
          <p:nvSpPr>
            <p:cNvPr id="51" name="Rectangle 19"/>
            <p:cNvSpPr>
              <a:spLocks noChangeArrowheads="1"/>
            </p:cNvSpPr>
            <p:nvPr/>
          </p:nvSpPr>
          <p:spPr bwMode="auto">
            <a:xfrm>
              <a:off x="3192183" y="3919048"/>
              <a:ext cx="53580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Files</a:t>
              </a:r>
            </a:p>
          </p:txBody>
        </p:sp>
      </p:grpSp>
      <p:grpSp>
        <p:nvGrpSpPr>
          <p:cNvPr id="2" name="组合 1"/>
          <p:cNvGrpSpPr/>
          <p:nvPr/>
        </p:nvGrpSpPr>
        <p:grpSpPr>
          <a:xfrm>
            <a:off x="7061368" y="1362218"/>
            <a:ext cx="2695718" cy="3969912"/>
            <a:chOff x="5210694" y="1101523"/>
            <a:chExt cx="2021788" cy="2977434"/>
          </a:xfrm>
        </p:grpSpPr>
        <p:sp>
          <p:nvSpPr>
            <p:cNvPr id="52" name="Rectangle 20"/>
            <p:cNvSpPr>
              <a:spLocks noChangeArrowheads="1"/>
            </p:cNvSpPr>
            <p:nvPr/>
          </p:nvSpPr>
          <p:spPr bwMode="auto">
            <a:xfrm>
              <a:off x="5210694" y="1101523"/>
              <a:ext cx="1584564" cy="439191"/>
            </a:xfrm>
            <a:prstGeom prst="rect">
              <a:avLst/>
            </a:prstGeom>
            <a:noFill/>
            <a:ln w="9525">
              <a:noFill/>
              <a:miter lim="800000"/>
            </a:ln>
          </p:spPr>
          <p:txBody>
            <a:bodyPr wrap="square" lIns="84667" tIns="33867" rIns="84667" bIns="33867">
              <a:spAutoFit/>
            </a:bodyPr>
            <a:lstStyle/>
            <a:p>
              <a:pPr algn="ctr">
                <a:lnSpc>
                  <a:spcPct val="90000"/>
                </a:lnSpc>
              </a:pPr>
              <a:r>
                <a:rPr kumimoji="1" lang="en-US" altLang="zh-TW" sz="1867" b="1" dirty="0">
                  <a:latin typeface="Arial" panose="020B0604020202090204" pitchFamily="34" charset="0"/>
                </a:rPr>
                <a:t>Staging</a:t>
              </a:r>
            </a:p>
            <a:p>
              <a:pPr algn="ctr">
                <a:lnSpc>
                  <a:spcPct val="90000"/>
                </a:lnSpc>
              </a:pPr>
              <a:r>
                <a:rPr kumimoji="1" lang="en-US" altLang="zh-TW" sz="1867" b="1" dirty="0">
                  <a:latin typeface="Arial" panose="020B0604020202090204" pitchFamily="34" charset="0"/>
                </a:rPr>
                <a:t>Transfer Unit</a:t>
              </a:r>
            </a:p>
          </p:txBody>
        </p:sp>
        <p:sp>
          <p:nvSpPr>
            <p:cNvPr id="53" name="Rectangle 21"/>
            <p:cNvSpPr>
              <a:spLocks noChangeArrowheads="1"/>
            </p:cNvSpPr>
            <p:nvPr/>
          </p:nvSpPr>
          <p:spPr bwMode="auto">
            <a:xfrm>
              <a:off x="5210694" y="1768775"/>
              <a:ext cx="2021788" cy="439191"/>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Programmer/</a:t>
              </a:r>
              <a:r>
                <a:rPr kumimoji="1" lang="en-US" altLang="zh-CN" sz="1867" b="1" dirty="0">
                  <a:latin typeface="Arial" panose="020B0604020202090204" pitchFamily="34" charset="0"/>
                </a:rPr>
                <a:t>C</a:t>
              </a:r>
              <a:r>
                <a:rPr kumimoji="1" lang="en-US" altLang="zh-TW" sz="1867" b="1" dirty="0">
                  <a:latin typeface="Arial" panose="020B0604020202090204" pitchFamily="34" charset="0"/>
                </a:rPr>
                <a:t>ompiler</a:t>
              </a:r>
            </a:p>
            <a:p>
              <a:pPr>
                <a:lnSpc>
                  <a:spcPct val="90000"/>
                </a:lnSpc>
              </a:pPr>
              <a:endParaRPr kumimoji="1" lang="en-US" altLang="zh-TW" sz="1867" b="1" dirty="0">
                <a:latin typeface="Arial" panose="020B0604020202090204" pitchFamily="34" charset="0"/>
              </a:endParaRPr>
            </a:p>
          </p:txBody>
        </p:sp>
        <p:sp>
          <p:nvSpPr>
            <p:cNvPr id="54" name="Rectangle 22"/>
            <p:cNvSpPr>
              <a:spLocks noChangeArrowheads="1"/>
            </p:cNvSpPr>
            <p:nvPr/>
          </p:nvSpPr>
          <p:spPr bwMode="auto">
            <a:xfrm>
              <a:off x="5391775" y="2518783"/>
              <a:ext cx="1572146"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Cache Controller</a:t>
              </a:r>
            </a:p>
          </p:txBody>
        </p:sp>
        <p:sp>
          <p:nvSpPr>
            <p:cNvPr id="55" name="Rectangle 23"/>
            <p:cNvSpPr>
              <a:spLocks noChangeArrowheads="1"/>
            </p:cNvSpPr>
            <p:nvPr/>
          </p:nvSpPr>
          <p:spPr bwMode="auto">
            <a:xfrm>
              <a:off x="5335239" y="3174253"/>
              <a:ext cx="1731984" cy="439191"/>
            </a:xfrm>
            <a:prstGeom prst="rect">
              <a:avLst/>
            </a:prstGeom>
            <a:noFill/>
            <a:ln w="9525">
              <a:noFill/>
              <a:miter lim="800000"/>
            </a:ln>
          </p:spPr>
          <p:txBody>
            <a:bodyPr wrap="square" lIns="84667" tIns="33867" rIns="84667" bIns="33867">
              <a:spAutoFit/>
            </a:bodyPr>
            <a:lstStyle/>
            <a:p>
              <a:pPr>
                <a:lnSpc>
                  <a:spcPct val="90000"/>
                </a:lnSpc>
              </a:pPr>
              <a:r>
                <a:rPr kumimoji="1" lang="en-US" altLang="zh-TW" sz="1867" b="1" dirty="0">
                  <a:latin typeface="Arial" panose="020B0604020202090204" pitchFamily="34" charset="0"/>
                </a:rPr>
                <a:t>Operating System</a:t>
              </a:r>
            </a:p>
            <a:p>
              <a:pPr>
                <a:lnSpc>
                  <a:spcPct val="90000"/>
                </a:lnSpc>
              </a:pPr>
              <a:endParaRPr kumimoji="1" lang="en-US" altLang="zh-TW" sz="1867" b="1" dirty="0">
                <a:latin typeface="Arial" panose="020B0604020202090204" pitchFamily="34" charset="0"/>
              </a:endParaRPr>
            </a:p>
          </p:txBody>
        </p:sp>
        <p:sp>
          <p:nvSpPr>
            <p:cNvPr id="56" name="Rectangle 24"/>
            <p:cNvSpPr>
              <a:spLocks noChangeArrowheads="1"/>
            </p:cNvSpPr>
            <p:nvPr/>
          </p:nvSpPr>
          <p:spPr bwMode="auto">
            <a:xfrm>
              <a:off x="5520208" y="3833713"/>
              <a:ext cx="1334100"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User/Operator</a:t>
              </a:r>
            </a:p>
          </p:txBody>
        </p:sp>
      </p:grpSp>
      <p:grpSp>
        <p:nvGrpSpPr>
          <p:cNvPr id="4" name="组合 3"/>
          <p:cNvGrpSpPr/>
          <p:nvPr/>
        </p:nvGrpSpPr>
        <p:grpSpPr>
          <a:xfrm>
            <a:off x="9437205" y="1185341"/>
            <a:ext cx="1590039" cy="4809732"/>
            <a:chOff x="6831015" y="971301"/>
            <a:chExt cx="1192529" cy="3607299"/>
          </a:xfrm>
        </p:grpSpPr>
        <p:sp>
          <p:nvSpPr>
            <p:cNvPr id="57" name="Rectangle 25"/>
            <p:cNvSpPr>
              <a:spLocks noChangeArrowheads="1"/>
            </p:cNvSpPr>
            <p:nvPr/>
          </p:nvSpPr>
          <p:spPr bwMode="auto">
            <a:xfrm>
              <a:off x="6846437" y="971301"/>
              <a:ext cx="115376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Upper Level</a:t>
              </a:r>
            </a:p>
          </p:txBody>
        </p:sp>
        <p:sp>
          <p:nvSpPr>
            <p:cNvPr id="58" name="Rectangle 26"/>
            <p:cNvSpPr>
              <a:spLocks noChangeArrowheads="1"/>
            </p:cNvSpPr>
            <p:nvPr/>
          </p:nvSpPr>
          <p:spPr bwMode="auto">
            <a:xfrm>
              <a:off x="6831015" y="4344128"/>
              <a:ext cx="116338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Lower Level</a:t>
              </a:r>
            </a:p>
          </p:txBody>
        </p:sp>
        <p:sp>
          <p:nvSpPr>
            <p:cNvPr id="59" name="Line 27"/>
            <p:cNvSpPr>
              <a:spLocks noChangeShapeType="1"/>
            </p:cNvSpPr>
            <p:nvPr/>
          </p:nvSpPr>
          <p:spPr bwMode="auto">
            <a:xfrm flipV="1">
              <a:off x="7093878" y="1265224"/>
              <a:ext cx="0" cy="2933007"/>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0" name="Rectangle 28"/>
            <p:cNvSpPr>
              <a:spLocks noChangeArrowheads="1"/>
            </p:cNvSpPr>
            <p:nvPr/>
          </p:nvSpPr>
          <p:spPr bwMode="auto">
            <a:xfrm>
              <a:off x="7183931" y="1238886"/>
              <a:ext cx="617557"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a:latin typeface="Arial" panose="020B0604020202090204" pitchFamily="34" charset="0"/>
                </a:rPr>
                <a:t>faster</a:t>
              </a:r>
            </a:p>
          </p:txBody>
        </p:sp>
        <p:sp>
          <p:nvSpPr>
            <p:cNvPr id="61" name="Line 29"/>
            <p:cNvSpPr>
              <a:spLocks noChangeShapeType="1"/>
            </p:cNvSpPr>
            <p:nvPr/>
          </p:nvSpPr>
          <p:spPr bwMode="auto">
            <a:xfrm>
              <a:off x="7707995" y="1518070"/>
              <a:ext cx="0" cy="2477885"/>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2" name="Rectangle 30"/>
            <p:cNvSpPr>
              <a:spLocks noChangeArrowheads="1"/>
            </p:cNvSpPr>
            <p:nvPr/>
          </p:nvSpPr>
          <p:spPr bwMode="auto">
            <a:xfrm>
              <a:off x="7337458" y="4070760"/>
              <a:ext cx="686086"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Larger</a:t>
              </a:r>
            </a:p>
          </p:txBody>
        </p:sp>
      </p:grpSp>
      <p:sp>
        <p:nvSpPr>
          <p:cNvPr id="64" name="Rectangle 31"/>
          <p:cNvSpPr>
            <a:spLocks noGrp="1" noChangeArrowheads="1"/>
          </p:cNvSpPr>
          <p:nvPr>
            <p:ph type="title"/>
          </p:nvPr>
        </p:nvSpPr>
        <p:spPr>
          <a:xfrm>
            <a:off x="1248696" y="230718"/>
            <a:ext cx="10223976" cy="491084"/>
          </a:xfrm>
        </p:spPr>
        <p:txBody>
          <a:bodyPr/>
          <a:lstStyle/>
          <a:p>
            <a:r>
              <a:rPr lang="en-US" altLang="zh-TW" dirty="0"/>
              <a:t>Adding Vector Registers </a:t>
            </a:r>
          </a:p>
        </p:txBody>
      </p:sp>
      <p:sp>
        <p:nvSpPr>
          <p:cNvPr id="5" name="TextBox 4">
            <a:extLst>
              <a:ext uri="{FF2B5EF4-FFF2-40B4-BE49-F238E27FC236}">
                <a16:creationId xmlns:a16="http://schemas.microsoft.com/office/drawing/2014/main" id="{C5ADE593-3CE7-4237-B65C-EB18C624A9A3}"/>
              </a:ext>
            </a:extLst>
          </p:cNvPr>
          <p:cNvSpPr txBox="1"/>
          <p:nvPr/>
        </p:nvSpPr>
        <p:spPr>
          <a:xfrm>
            <a:off x="1553214" y="2675317"/>
            <a:ext cx="190308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Cache Hierarchy</a:t>
            </a:r>
          </a:p>
        </p:txBody>
      </p:sp>
      <p:sp>
        <p:nvSpPr>
          <p:cNvPr id="7" name="Arrow: Down 6">
            <a:extLst>
              <a:ext uri="{FF2B5EF4-FFF2-40B4-BE49-F238E27FC236}">
                <a16:creationId xmlns:a16="http://schemas.microsoft.com/office/drawing/2014/main" id="{29BDF7E1-33D3-4AF6-AF6F-5D85FD3B7EFF}"/>
              </a:ext>
            </a:extLst>
          </p:cNvPr>
          <p:cNvSpPr/>
          <p:nvPr/>
        </p:nvSpPr>
        <p:spPr bwMode="auto">
          <a:xfrm>
            <a:off x="2245700" y="3049898"/>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3" name="Arrow: Down 62">
            <a:extLst>
              <a:ext uri="{FF2B5EF4-FFF2-40B4-BE49-F238E27FC236}">
                <a16:creationId xmlns:a16="http://schemas.microsoft.com/office/drawing/2014/main" id="{7D94F4DB-853A-49B1-9EC5-69C0AEE14A52}"/>
              </a:ext>
            </a:extLst>
          </p:cNvPr>
          <p:cNvSpPr/>
          <p:nvPr/>
        </p:nvSpPr>
        <p:spPr bwMode="auto">
          <a:xfrm rot="10800000">
            <a:off x="2262440" y="2057624"/>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5" name="TextBox 64">
            <a:extLst>
              <a:ext uri="{FF2B5EF4-FFF2-40B4-BE49-F238E27FC236}">
                <a16:creationId xmlns:a16="http://schemas.microsoft.com/office/drawing/2014/main" id="{C2FEF8F0-56A8-4782-BD30-577A197B1C9D}"/>
              </a:ext>
            </a:extLst>
          </p:cNvPr>
          <p:cNvSpPr txBox="1"/>
          <p:nvPr/>
        </p:nvSpPr>
        <p:spPr>
          <a:xfrm>
            <a:off x="1110198" y="4255412"/>
            <a:ext cx="173220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Virtual Memory</a:t>
            </a:r>
          </a:p>
        </p:txBody>
      </p:sp>
      <p:sp>
        <p:nvSpPr>
          <p:cNvPr id="66" name="Arrow: Down 65">
            <a:extLst>
              <a:ext uri="{FF2B5EF4-FFF2-40B4-BE49-F238E27FC236}">
                <a16:creationId xmlns:a16="http://schemas.microsoft.com/office/drawing/2014/main" id="{AC5D9110-8C60-414A-A60F-5A782A7CD8E6}"/>
              </a:ext>
            </a:extLst>
          </p:cNvPr>
          <p:cNvSpPr/>
          <p:nvPr/>
        </p:nvSpPr>
        <p:spPr bwMode="auto">
          <a:xfrm>
            <a:off x="1802684" y="4629993"/>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7" name="Arrow: Down 66">
            <a:extLst>
              <a:ext uri="{FF2B5EF4-FFF2-40B4-BE49-F238E27FC236}">
                <a16:creationId xmlns:a16="http://schemas.microsoft.com/office/drawing/2014/main" id="{1F6B1014-8072-419D-B46F-E8960D2DCF1D}"/>
              </a:ext>
            </a:extLst>
          </p:cNvPr>
          <p:cNvSpPr/>
          <p:nvPr/>
        </p:nvSpPr>
        <p:spPr bwMode="auto">
          <a:xfrm rot="10800000">
            <a:off x="1819424" y="3637719"/>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8" name="Rectangle 2">
            <a:extLst>
              <a:ext uri="{FF2B5EF4-FFF2-40B4-BE49-F238E27FC236}">
                <a16:creationId xmlns:a16="http://schemas.microsoft.com/office/drawing/2014/main" id="{90B333D4-35C5-4E8A-BDC6-1C8B8C81F36E}"/>
              </a:ext>
            </a:extLst>
          </p:cNvPr>
          <p:cNvSpPr>
            <a:spLocks noChangeArrowheads="1"/>
          </p:cNvSpPr>
          <p:nvPr/>
        </p:nvSpPr>
        <p:spPr bwMode="auto">
          <a:xfrm>
            <a:off x="4945443" y="1599471"/>
            <a:ext cx="1602208" cy="38207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69" name="Rectangle 7">
            <a:extLst>
              <a:ext uri="{FF2B5EF4-FFF2-40B4-BE49-F238E27FC236}">
                <a16:creationId xmlns:a16="http://schemas.microsoft.com/office/drawing/2014/main" id="{28FBA516-008F-4FB1-A81F-2D10E5AA0993}"/>
              </a:ext>
            </a:extLst>
          </p:cNvPr>
          <p:cNvSpPr>
            <a:spLocks noChangeArrowheads="1"/>
          </p:cNvSpPr>
          <p:nvPr/>
        </p:nvSpPr>
        <p:spPr bwMode="auto">
          <a:xfrm>
            <a:off x="5040053" y="1660022"/>
            <a:ext cx="1487054" cy="312629"/>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V Registers</a:t>
            </a:r>
          </a:p>
        </p:txBody>
      </p:sp>
      <p:sp>
        <p:nvSpPr>
          <p:cNvPr id="70" name="Line 12">
            <a:extLst>
              <a:ext uri="{FF2B5EF4-FFF2-40B4-BE49-F238E27FC236}">
                <a16:creationId xmlns:a16="http://schemas.microsoft.com/office/drawing/2014/main" id="{4D21EBCC-5679-4C82-B434-9F4872106051}"/>
              </a:ext>
            </a:extLst>
          </p:cNvPr>
          <p:cNvSpPr>
            <a:spLocks noChangeShapeType="1"/>
          </p:cNvSpPr>
          <p:nvPr/>
        </p:nvSpPr>
        <p:spPr bwMode="auto">
          <a:xfrm>
            <a:off x="5546590" y="2034136"/>
            <a:ext cx="0" cy="471979"/>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Tree>
    <p:extLst>
      <p:ext uri="{BB962C8B-B14F-4D97-AF65-F5344CB8AC3E}">
        <p14:creationId xmlns:p14="http://schemas.microsoft.com/office/powerpoint/2010/main" val="1715516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33</a:t>
            </a:fld>
            <a:endParaRPr lang="zh-TW" altLang="en-US"/>
          </a:p>
        </p:txBody>
      </p:sp>
      <p:grpSp>
        <p:nvGrpSpPr>
          <p:cNvPr id="3" name="组合 2"/>
          <p:cNvGrpSpPr/>
          <p:nvPr/>
        </p:nvGrpSpPr>
        <p:grpSpPr>
          <a:xfrm>
            <a:off x="1203621" y="1607938"/>
            <a:ext cx="6310416" cy="4179548"/>
            <a:chOff x="966019" y="1409125"/>
            <a:chExt cx="4732812" cy="3134661"/>
          </a:xfrm>
        </p:grpSpPr>
        <p:sp>
          <p:nvSpPr>
            <p:cNvPr id="34" name="Rectangle 2"/>
            <p:cNvSpPr>
              <a:spLocks noChangeArrowheads="1"/>
            </p:cNvSpPr>
            <p:nvPr/>
          </p:nvSpPr>
          <p:spPr bwMode="auto">
            <a:xfrm>
              <a:off x="2420920" y="1409125"/>
              <a:ext cx="1201656" cy="286558"/>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5" name="Rectangle 3"/>
            <p:cNvSpPr>
              <a:spLocks noChangeArrowheads="1"/>
            </p:cNvSpPr>
            <p:nvPr/>
          </p:nvSpPr>
          <p:spPr bwMode="auto">
            <a:xfrm>
              <a:off x="2117482" y="2082758"/>
              <a:ext cx="3120761"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6" name="Rectangle 4"/>
            <p:cNvSpPr>
              <a:spLocks noChangeArrowheads="1"/>
            </p:cNvSpPr>
            <p:nvPr/>
          </p:nvSpPr>
          <p:spPr bwMode="auto">
            <a:xfrm>
              <a:off x="1854670" y="2790725"/>
              <a:ext cx="3595688"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7" name="Rectangle 5"/>
            <p:cNvSpPr>
              <a:spLocks noChangeArrowheads="1"/>
            </p:cNvSpPr>
            <p:nvPr/>
          </p:nvSpPr>
          <p:spPr bwMode="auto">
            <a:xfrm>
              <a:off x="1273075" y="3498692"/>
              <a:ext cx="4267334"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dirty="0"/>
            </a:p>
          </p:txBody>
        </p:sp>
        <p:sp>
          <p:nvSpPr>
            <p:cNvPr id="38" name="Rectangle 6"/>
            <p:cNvSpPr>
              <a:spLocks noChangeArrowheads="1"/>
            </p:cNvSpPr>
            <p:nvPr/>
          </p:nvSpPr>
          <p:spPr bwMode="auto">
            <a:xfrm>
              <a:off x="966019" y="4206659"/>
              <a:ext cx="4732812"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9" name="Rectangle 7"/>
            <p:cNvSpPr>
              <a:spLocks noChangeArrowheads="1"/>
            </p:cNvSpPr>
            <p:nvPr/>
          </p:nvSpPr>
          <p:spPr bwMode="auto">
            <a:xfrm>
              <a:off x="2592819" y="1454861"/>
              <a:ext cx="94577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Registers</a:t>
              </a:r>
            </a:p>
          </p:txBody>
        </p:sp>
        <p:sp>
          <p:nvSpPr>
            <p:cNvPr id="40" name="Rectangle 8"/>
            <p:cNvSpPr>
              <a:spLocks noChangeArrowheads="1"/>
            </p:cNvSpPr>
            <p:nvPr/>
          </p:nvSpPr>
          <p:spPr bwMode="auto">
            <a:xfrm>
              <a:off x="2732925" y="2149130"/>
              <a:ext cx="1233109"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Cache / LM</a:t>
              </a:r>
            </a:p>
          </p:txBody>
        </p:sp>
        <p:sp>
          <p:nvSpPr>
            <p:cNvPr id="41" name="Rectangle 9"/>
            <p:cNvSpPr>
              <a:spLocks noChangeArrowheads="1"/>
            </p:cNvSpPr>
            <p:nvPr/>
          </p:nvSpPr>
          <p:spPr bwMode="auto">
            <a:xfrm>
              <a:off x="2713827" y="2857097"/>
              <a:ext cx="833161"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Memory</a:t>
              </a:r>
            </a:p>
          </p:txBody>
        </p:sp>
        <p:sp>
          <p:nvSpPr>
            <p:cNvPr id="42" name="Rectangle 10"/>
            <p:cNvSpPr>
              <a:spLocks noChangeArrowheads="1"/>
            </p:cNvSpPr>
            <p:nvPr/>
          </p:nvSpPr>
          <p:spPr bwMode="auto">
            <a:xfrm>
              <a:off x="2831813" y="3565063"/>
              <a:ext cx="50695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Disk</a:t>
              </a:r>
            </a:p>
          </p:txBody>
        </p:sp>
        <p:sp>
          <p:nvSpPr>
            <p:cNvPr id="43" name="Rectangle 11"/>
            <p:cNvSpPr>
              <a:spLocks noChangeArrowheads="1"/>
            </p:cNvSpPr>
            <p:nvPr/>
          </p:nvSpPr>
          <p:spPr bwMode="auto">
            <a:xfrm>
              <a:off x="2812714" y="4271982"/>
              <a:ext cx="533304"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Tape</a:t>
              </a:r>
            </a:p>
          </p:txBody>
        </p:sp>
        <p:sp>
          <p:nvSpPr>
            <p:cNvPr id="44" name="Line 12"/>
            <p:cNvSpPr>
              <a:spLocks noChangeShapeType="1"/>
            </p:cNvSpPr>
            <p:nvPr/>
          </p:nvSpPr>
          <p:spPr bwMode="auto">
            <a:xfrm>
              <a:off x="3102133" y="1720346"/>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5" name="Line 13"/>
            <p:cNvSpPr>
              <a:spLocks noChangeShapeType="1"/>
            </p:cNvSpPr>
            <p:nvPr/>
          </p:nvSpPr>
          <p:spPr bwMode="auto">
            <a:xfrm>
              <a:off x="3102133" y="2428313"/>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6" name="Line 14"/>
            <p:cNvSpPr>
              <a:spLocks noChangeShapeType="1"/>
            </p:cNvSpPr>
            <p:nvPr/>
          </p:nvSpPr>
          <p:spPr bwMode="auto">
            <a:xfrm>
              <a:off x="3102133" y="3136280"/>
              <a:ext cx="0" cy="353984"/>
            </a:xfrm>
            <a:prstGeom prst="line">
              <a:avLst/>
            </a:prstGeom>
            <a:noFill/>
            <a:ln w="25400">
              <a:solidFill>
                <a:schemeClr val="tx1"/>
              </a:solidFill>
              <a:round/>
              <a:headEnd type="stealth" w="med" len="lg"/>
              <a:tailEnd type="stealth" w="med" len="lg"/>
            </a:ln>
          </p:spPr>
          <p:txBody>
            <a:bodyPr wrap="none" anchor="ctr"/>
            <a:lstStyle/>
            <a:p>
              <a:endParaRPr lang="zh-TW" altLang="en-US" sz="1867"/>
            </a:p>
          </p:txBody>
        </p:sp>
        <p:sp>
          <p:nvSpPr>
            <p:cNvPr id="47" name="Line 15"/>
            <p:cNvSpPr>
              <a:spLocks noChangeShapeType="1"/>
            </p:cNvSpPr>
            <p:nvPr/>
          </p:nvSpPr>
          <p:spPr bwMode="auto">
            <a:xfrm>
              <a:off x="3102133" y="3844247"/>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8" name="Rectangle 16"/>
            <p:cNvSpPr>
              <a:spLocks noChangeArrowheads="1"/>
            </p:cNvSpPr>
            <p:nvPr/>
          </p:nvSpPr>
          <p:spPr bwMode="auto">
            <a:xfrm>
              <a:off x="3192184" y="1795147"/>
              <a:ext cx="194003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Instruction Operands</a:t>
              </a:r>
            </a:p>
          </p:txBody>
        </p:sp>
        <p:sp>
          <p:nvSpPr>
            <p:cNvPr id="49" name="Rectangle 17"/>
            <p:cNvSpPr>
              <a:spLocks noChangeArrowheads="1"/>
            </p:cNvSpPr>
            <p:nvPr/>
          </p:nvSpPr>
          <p:spPr bwMode="auto">
            <a:xfrm>
              <a:off x="3192184" y="2503114"/>
              <a:ext cx="1233111"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Blocks/Lines</a:t>
              </a:r>
            </a:p>
          </p:txBody>
        </p:sp>
        <p:sp>
          <p:nvSpPr>
            <p:cNvPr id="50" name="Rectangle 18"/>
            <p:cNvSpPr>
              <a:spLocks noChangeArrowheads="1"/>
            </p:cNvSpPr>
            <p:nvPr/>
          </p:nvSpPr>
          <p:spPr bwMode="auto">
            <a:xfrm>
              <a:off x="3192184" y="3211081"/>
              <a:ext cx="65723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Pages</a:t>
              </a:r>
            </a:p>
          </p:txBody>
        </p:sp>
        <p:sp>
          <p:nvSpPr>
            <p:cNvPr id="51" name="Rectangle 19"/>
            <p:cNvSpPr>
              <a:spLocks noChangeArrowheads="1"/>
            </p:cNvSpPr>
            <p:nvPr/>
          </p:nvSpPr>
          <p:spPr bwMode="auto">
            <a:xfrm>
              <a:off x="3192183" y="3919048"/>
              <a:ext cx="53580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Files</a:t>
              </a:r>
            </a:p>
          </p:txBody>
        </p:sp>
      </p:grpSp>
      <p:grpSp>
        <p:nvGrpSpPr>
          <p:cNvPr id="2" name="组合 1"/>
          <p:cNvGrpSpPr/>
          <p:nvPr/>
        </p:nvGrpSpPr>
        <p:grpSpPr>
          <a:xfrm>
            <a:off x="7061368" y="1362218"/>
            <a:ext cx="2695718" cy="3969912"/>
            <a:chOff x="5210694" y="1101523"/>
            <a:chExt cx="2021788" cy="2977434"/>
          </a:xfrm>
        </p:grpSpPr>
        <p:sp>
          <p:nvSpPr>
            <p:cNvPr id="52" name="Rectangle 20"/>
            <p:cNvSpPr>
              <a:spLocks noChangeArrowheads="1"/>
            </p:cNvSpPr>
            <p:nvPr/>
          </p:nvSpPr>
          <p:spPr bwMode="auto">
            <a:xfrm>
              <a:off x="5210694" y="1101523"/>
              <a:ext cx="1584564" cy="439191"/>
            </a:xfrm>
            <a:prstGeom prst="rect">
              <a:avLst/>
            </a:prstGeom>
            <a:noFill/>
            <a:ln w="9525">
              <a:noFill/>
              <a:miter lim="800000"/>
            </a:ln>
          </p:spPr>
          <p:txBody>
            <a:bodyPr wrap="square" lIns="84667" tIns="33867" rIns="84667" bIns="33867">
              <a:spAutoFit/>
            </a:bodyPr>
            <a:lstStyle/>
            <a:p>
              <a:pPr algn="ctr">
                <a:lnSpc>
                  <a:spcPct val="90000"/>
                </a:lnSpc>
              </a:pPr>
              <a:r>
                <a:rPr kumimoji="1" lang="en-US" altLang="zh-TW" sz="1867" b="1" dirty="0">
                  <a:latin typeface="Arial" panose="020B0604020202090204" pitchFamily="34" charset="0"/>
                </a:rPr>
                <a:t>Staging</a:t>
              </a:r>
            </a:p>
            <a:p>
              <a:pPr algn="ctr">
                <a:lnSpc>
                  <a:spcPct val="90000"/>
                </a:lnSpc>
              </a:pPr>
              <a:r>
                <a:rPr kumimoji="1" lang="en-US" altLang="zh-TW" sz="1867" b="1" dirty="0">
                  <a:latin typeface="Arial" panose="020B0604020202090204" pitchFamily="34" charset="0"/>
                </a:rPr>
                <a:t>Transfer Unit</a:t>
              </a:r>
            </a:p>
          </p:txBody>
        </p:sp>
        <p:sp>
          <p:nvSpPr>
            <p:cNvPr id="53" name="Rectangle 21"/>
            <p:cNvSpPr>
              <a:spLocks noChangeArrowheads="1"/>
            </p:cNvSpPr>
            <p:nvPr/>
          </p:nvSpPr>
          <p:spPr bwMode="auto">
            <a:xfrm>
              <a:off x="5210694" y="1768775"/>
              <a:ext cx="2021788" cy="439191"/>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Programmer/</a:t>
              </a:r>
              <a:r>
                <a:rPr kumimoji="1" lang="en-US" altLang="zh-CN" sz="1867" b="1" dirty="0">
                  <a:latin typeface="Arial" panose="020B0604020202090204" pitchFamily="34" charset="0"/>
                </a:rPr>
                <a:t>C</a:t>
              </a:r>
              <a:r>
                <a:rPr kumimoji="1" lang="en-US" altLang="zh-TW" sz="1867" b="1" dirty="0">
                  <a:latin typeface="Arial" panose="020B0604020202090204" pitchFamily="34" charset="0"/>
                </a:rPr>
                <a:t>ompiler</a:t>
              </a:r>
            </a:p>
            <a:p>
              <a:pPr>
                <a:lnSpc>
                  <a:spcPct val="90000"/>
                </a:lnSpc>
              </a:pPr>
              <a:endParaRPr kumimoji="1" lang="en-US" altLang="zh-TW" sz="1867" b="1" dirty="0">
                <a:latin typeface="Arial" panose="020B0604020202090204" pitchFamily="34" charset="0"/>
              </a:endParaRPr>
            </a:p>
          </p:txBody>
        </p:sp>
        <p:sp>
          <p:nvSpPr>
            <p:cNvPr id="54" name="Rectangle 22"/>
            <p:cNvSpPr>
              <a:spLocks noChangeArrowheads="1"/>
            </p:cNvSpPr>
            <p:nvPr/>
          </p:nvSpPr>
          <p:spPr bwMode="auto">
            <a:xfrm>
              <a:off x="5391775" y="2518783"/>
              <a:ext cx="1572146"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Cache Controller</a:t>
              </a:r>
            </a:p>
          </p:txBody>
        </p:sp>
        <p:sp>
          <p:nvSpPr>
            <p:cNvPr id="55" name="Rectangle 23"/>
            <p:cNvSpPr>
              <a:spLocks noChangeArrowheads="1"/>
            </p:cNvSpPr>
            <p:nvPr/>
          </p:nvSpPr>
          <p:spPr bwMode="auto">
            <a:xfrm>
              <a:off x="5335239" y="3174253"/>
              <a:ext cx="1731984" cy="439191"/>
            </a:xfrm>
            <a:prstGeom prst="rect">
              <a:avLst/>
            </a:prstGeom>
            <a:noFill/>
            <a:ln w="9525">
              <a:noFill/>
              <a:miter lim="800000"/>
            </a:ln>
          </p:spPr>
          <p:txBody>
            <a:bodyPr wrap="square" lIns="84667" tIns="33867" rIns="84667" bIns="33867">
              <a:spAutoFit/>
            </a:bodyPr>
            <a:lstStyle/>
            <a:p>
              <a:pPr>
                <a:lnSpc>
                  <a:spcPct val="90000"/>
                </a:lnSpc>
              </a:pPr>
              <a:r>
                <a:rPr kumimoji="1" lang="en-US" altLang="zh-TW" sz="1867" b="1" dirty="0">
                  <a:latin typeface="Arial" panose="020B0604020202090204" pitchFamily="34" charset="0"/>
                </a:rPr>
                <a:t>Operating System</a:t>
              </a:r>
            </a:p>
            <a:p>
              <a:pPr>
                <a:lnSpc>
                  <a:spcPct val="90000"/>
                </a:lnSpc>
              </a:pPr>
              <a:endParaRPr kumimoji="1" lang="en-US" altLang="zh-TW" sz="1867" b="1" dirty="0">
                <a:latin typeface="Arial" panose="020B0604020202090204" pitchFamily="34" charset="0"/>
              </a:endParaRPr>
            </a:p>
          </p:txBody>
        </p:sp>
        <p:sp>
          <p:nvSpPr>
            <p:cNvPr id="56" name="Rectangle 24"/>
            <p:cNvSpPr>
              <a:spLocks noChangeArrowheads="1"/>
            </p:cNvSpPr>
            <p:nvPr/>
          </p:nvSpPr>
          <p:spPr bwMode="auto">
            <a:xfrm>
              <a:off x="5520208" y="3833713"/>
              <a:ext cx="1334100"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User/Operator</a:t>
              </a:r>
            </a:p>
          </p:txBody>
        </p:sp>
      </p:grpSp>
      <p:grpSp>
        <p:nvGrpSpPr>
          <p:cNvPr id="4" name="组合 3"/>
          <p:cNvGrpSpPr/>
          <p:nvPr/>
        </p:nvGrpSpPr>
        <p:grpSpPr>
          <a:xfrm>
            <a:off x="9437205" y="1185341"/>
            <a:ext cx="1590039" cy="4809732"/>
            <a:chOff x="6831015" y="971301"/>
            <a:chExt cx="1192529" cy="3607299"/>
          </a:xfrm>
        </p:grpSpPr>
        <p:sp>
          <p:nvSpPr>
            <p:cNvPr id="57" name="Rectangle 25"/>
            <p:cNvSpPr>
              <a:spLocks noChangeArrowheads="1"/>
            </p:cNvSpPr>
            <p:nvPr/>
          </p:nvSpPr>
          <p:spPr bwMode="auto">
            <a:xfrm>
              <a:off x="6846437" y="971301"/>
              <a:ext cx="115376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Upper Level</a:t>
              </a:r>
            </a:p>
          </p:txBody>
        </p:sp>
        <p:sp>
          <p:nvSpPr>
            <p:cNvPr id="58" name="Rectangle 26"/>
            <p:cNvSpPr>
              <a:spLocks noChangeArrowheads="1"/>
            </p:cNvSpPr>
            <p:nvPr/>
          </p:nvSpPr>
          <p:spPr bwMode="auto">
            <a:xfrm>
              <a:off x="6831015" y="4344128"/>
              <a:ext cx="116338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Lower Level</a:t>
              </a:r>
            </a:p>
          </p:txBody>
        </p:sp>
        <p:sp>
          <p:nvSpPr>
            <p:cNvPr id="59" name="Line 27"/>
            <p:cNvSpPr>
              <a:spLocks noChangeShapeType="1"/>
            </p:cNvSpPr>
            <p:nvPr/>
          </p:nvSpPr>
          <p:spPr bwMode="auto">
            <a:xfrm flipV="1">
              <a:off x="7093878" y="1265224"/>
              <a:ext cx="0" cy="2933007"/>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0" name="Rectangle 28"/>
            <p:cNvSpPr>
              <a:spLocks noChangeArrowheads="1"/>
            </p:cNvSpPr>
            <p:nvPr/>
          </p:nvSpPr>
          <p:spPr bwMode="auto">
            <a:xfrm>
              <a:off x="7183931" y="1238886"/>
              <a:ext cx="617557"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a:latin typeface="Arial" panose="020B0604020202090204" pitchFamily="34" charset="0"/>
                </a:rPr>
                <a:t>faster</a:t>
              </a:r>
            </a:p>
          </p:txBody>
        </p:sp>
        <p:sp>
          <p:nvSpPr>
            <p:cNvPr id="61" name="Line 29"/>
            <p:cNvSpPr>
              <a:spLocks noChangeShapeType="1"/>
            </p:cNvSpPr>
            <p:nvPr/>
          </p:nvSpPr>
          <p:spPr bwMode="auto">
            <a:xfrm>
              <a:off x="7707995" y="1518070"/>
              <a:ext cx="0" cy="2477885"/>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2" name="Rectangle 30"/>
            <p:cNvSpPr>
              <a:spLocks noChangeArrowheads="1"/>
            </p:cNvSpPr>
            <p:nvPr/>
          </p:nvSpPr>
          <p:spPr bwMode="auto">
            <a:xfrm>
              <a:off x="7337458" y="4070760"/>
              <a:ext cx="686086"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Larger</a:t>
              </a:r>
            </a:p>
          </p:txBody>
        </p:sp>
      </p:grpSp>
      <p:sp>
        <p:nvSpPr>
          <p:cNvPr id="64" name="Rectangle 31"/>
          <p:cNvSpPr>
            <a:spLocks noGrp="1" noChangeArrowheads="1"/>
          </p:cNvSpPr>
          <p:nvPr>
            <p:ph type="title"/>
          </p:nvPr>
        </p:nvSpPr>
        <p:spPr>
          <a:xfrm>
            <a:off x="1248696" y="230718"/>
            <a:ext cx="10223976" cy="491084"/>
          </a:xfrm>
        </p:spPr>
        <p:txBody>
          <a:bodyPr/>
          <a:lstStyle/>
          <a:p>
            <a:r>
              <a:rPr lang="en-US" altLang="zh-TW" dirty="0"/>
              <a:t>Why Memory Hierarchy Works</a:t>
            </a:r>
          </a:p>
        </p:txBody>
      </p:sp>
      <p:sp>
        <p:nvSpPr>
          <p:cNvPr id="68" name="Rectangle 2">
            <a:extLst>
              <a:ext uri="{FF2B5EF4-FFF2-40B4-BE49-F238E27FC236}">
                <a16:creationId xmlns:a16="http://schemas.microsoft.com/office/drawing/2014/main" id="{90B333D4-35C5-4E8A-BDC6-1C8B8C81F36E}"/>
              </a:ext>
            </a:extLst>
          </p:cNvPr>
          <p:cNvSpPr>
            <a:spLocks noChangeArrowheads="1"/>
          </p:cNvSpPr>
          <p:nvPr/>
        </p:nvSpPr>
        <p:spPr bwMode="auto">
          <a:xfrm>
            <a:off x="4945443" y="1599471"/>
            <a:ext cx="1602208" cy="38207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69" name="Rectangle 7">
            <a:extLst>
              <a:ext uri="{FF2B5EF4-FFF2-40B4-BE49-F238E27FC236}">
                <a16:creationId xmlns:a16="http://schemas.microsoft.com/office/drawing/2014/main" id="{28FBA516-008F-4FB1-A81F-2D10E5AA0993}"/>
              </a:ext>
            </a:extLst>
          </p:cNvPr>
          <p:cNvSpPr>
            <a:spLocks noChangeArrowheads="1"/>
          </p:cNvSpPr>
          <p:nvPr/>
        </p:nvSpPr>
        <p:spPr bwMode="auto">
          <a:xfrm>
            <a:off x="5040053" y="1660022"/>
            <a:ext cx="1487054" cy="312629"/>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V Registers</a:t>
            </a:r>
          </a:p>
        </p:txBody>
      </p:sp>
      <p:sp>
        <p:nvSpPr>
          <p:cNvPr id="70" name="Line 12">
            <a:extLst>
              <a:ext uri="{FF2B5EF4-FFF2-40B4-BE49-F238E27FC236}">
                <a16:creationId xmlns:a16="http://schemas.microsoft.com/office/drawing/2014/main" id="{4D21EBCC-5679-4C82-B434-9F4872106051}"/>
              </a:ext>
            </a:extLst>
          </p:cNvPr>
          <p:cNvSpPr>
            <a:spLocks noChangeShapeType="1"/>
          </p:cNvSpPr>
          <p:nvPr/>
        </p:nvSpPr>
        <p:spPr bwMode="auto">
          <a:xfrm>
            <a:off x="5546590" y="2034136"/>
            <a:ext cx="0" cy="471979"/>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6" name="Oval 5">
            <a:extLst>
              <a:ext uri="{FF2B5EF4-FFF2-40B4-BE49-F238E27FC236}">
                <a16:creationId xmlns:a16="http://schemas.microsoft.com/office/drawing/2014/main" id="{4251E5F9-1A37-4F45-814C-1D64FC219061}"/>
              </a:ext>
            </a:extLst>
          </p:cNvPr>
          <p:cNvSpPr/>
          <p:nvPr/>
        </p:nvSpPr>
        <p:spPr bwMode="auto">
          <a:xfrm>
            <a:off x="808273" y="1583545"/>
            <a:ext cx="2688022" cy="1389617"/>
          </a:xfrm>
          <a:prstGeom prst="ellipse">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i="0" u="none" strike="noStrike" cap="none" normalizeH="0" baseline="0" dirty="0">
                <a:ln>
                  <a:noFill/>
                </a:ln>
                <a:solidFill>
                  <a:schemeClr val="tx1"/>
                </a:solidFill>
                <a:effectLst/>
                <a:latin typeface="Arial" pitchFamily="34" charset="0"/>
                <a:ea typeface="新細明體" pitchFamily="18" charset="-120"/>
              </a:rPr>
              <a:t>Majority of </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R</a:t>
            </a:r>
            <a:r>
              <a:rPr kumimoji="1" lang="en-US" sz="2400" b="1" i="0" u="none" strike="noStrike" cap="none" normalizeH="0" baseline="0" dirty="0">
                <a:ln>
                  <a:noFill/>
                </a:ln>
                <a:solidFill>
                  <a:schemeClr val="tx1"/>
                </a:solidFill>
                <a:effectLst/>
                <a:latin typeface="Arial" pitchFamily="34" charset="0"/>
                <a:ea typeface="新細明體" pitchFamily="18" charset="-120"/>
              </a:rPr>
              <a:t>eferences</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are here</a:t>
            </a:r>
            <a:endParaRPr kumimoji="1" lang="en-US" sz="2400" b="1" i="0" u="none" strike="noStrike" cap="none" normalizeH="0" baseline="0" dirty="0">
              <a:ln>
                <a:noFill/>
              </a:ln>
              <a:solidFill>
                <a:schemeClr val="tx1"/>
              </a:solidFill>
              <a:effectLst/>
              <a:latin typeface="Arial" pitchFamily="34" charset="0"/>
              <a:ea typeface="新細明體" pitchFamily="18" charset="-120"/>
            </a:endParaRPr>
          </a:p>
        </p:txBody>
      </p:sp>
      <p:sp>
        <p:nvSpPr>
          <p:cNvPr id="71" name="Oval 70">
            <a:extLst>
              <a:ext uri="{FF2B5EF4-FFF2-40B4-BE49-F238E27FC236}">
                <a16:creationId xmlns:a16="http://schemas.microsoft.com/office/drawing/2014/main" id="{AD16CFEE-7BAB-4602-810C-165C9562F76E}"/>
              </a:ext>
            </a:extLst>
          </p:cNvPr>
          <p:cNvSpPr/>
          <p:nvPr/>
        </p:nvSpPr>
        <p:spPr bwMode="auto">
          <a:xfrm>
            <a:off x="710441" y="3694881"/>
            <a:ext cx="2688022" cy="1732805"/>
          </a:xfrm>
          <a:prstGeom prst="ellipse">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i="0" u="none" strike="noStrike" cap="none" normalizeH="0" baseline="0" dirty="0">
                <a:ln>
                  <a:noFill/>
                </a:ln>
                <a:solidFill>
                  <a:schemeClr val="tx1"/>
                </a:solidFill>
                <a:effectLst/>
                <a:latin typeface="Arial" pitchFamily="34" charset="0"/>
                <a:ea typeface="新細明體" pitchFamily="18" charset="-120"/>
              </a:rPr>
              <a:t>Your</a:t>
            </a:r>
            <a:r>
              <a:rPr kumimoji="1" lang="en-US" sz="2400" b="1" i="0" u="none" strike="noStrike" cap="none" normalizeH="0" dirty="0">
                <a:ln>
                  <a:noFill/>
                </a:ln>
                <a:solidFill>
                  <a:schemeClr val="tx1"/>
                </a:solidFill>
                <a:effectLst/>
                <a:latin typeface="Arial" pitchFamily="34" charset="0"/>
                <a:ea typeface="新細明體" pitchFamily="18" charset="-120"/>
              </a:rPr>
              <a:t> </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P</a:t>
            </a:r>
            <a:r>
              <a:rPr kumimoji="1" lang="en-US" sz="2400" b="1" i="0" u="none" strike="noStrike" cap="none" normalizeH="0" dirty="0">
                <a:ln>
                  <a:noFill/>
                </a:ln>
                <a:solidFill>
                  <a:schemeClr val="tx1"/>
                </a:solidFill>
                <a:effectLst/>
                <a:latin typeface="Arial" pitchFamily="34" charset="0"/>
                <a:ea typeface="新細明體" pitchFamily="18" charset="-120"/>
              </a:rPr>
              <a:t>rogram and Data</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baseline="0" dirty="0">
                <a:latin typeface="Arial" pitchFamily="34" charset="0"/>
                <a:ea typeface="新細明體" pitchFamily="18" charset="-120"/>
              </a:rPr>
              <a:t>Stored here</a:t>
            </a:r>
            <a:endParaRPr kumimoji="1" lang="en-US" sz="2400" b="1" i="0" u="none" strike="noStrike" cap="none" normalizeH="0" baseline="0" dirty="0">
              <a:ln>
                <a:noFill/>
              </a:ln>
              <a:solidFill>
                <a:schemeClr val="tx1"/>
              </a:solidFill>
              <a:effectLst/>
              <a:latin typeface="Arial" pitchFamily="34" charset="0"/>
              <a:ea typeface="新細明體" pitchFamily="18" charset="-120"/>
            </a:endParaRPr>
          </a:p>
        </p:txBody>
      </p:sp>
      <p:sp>
        <p:nvSpPr>
          <p:cNvPr id="72" name="Oval 71">
            <a:extLst>
              <a:ext uri="{FF2B5EF4-FFF2-40B4-BE49-F238E27FC236}">
                <a16:creationId xmlns:a16="http://schemas.microsoft.com/office/drawing/2014/main" id="{54369E22-B902-4422-AC2C-430387257512}"/>
              </a:ext>
            </a:extLst>
          </p:cNvPr>
          <p:cNvSpPr/>
          <p:nvPr/>
        </p:nvSpPr>
        <p:spPr bwMode="auto">
          <a:xfrm>
            <a:off x="6260474" y="1438716"/>
            <a:ext cx="2847543" cy="1389617"/>
          </a:xfrm>
          <a:prstGeom prst="ellipse">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i="0" u="none" strike="noStrike" cap="none" normalizeH="0" baseline="0" dirty="0">
                <a:ln>
                  <a:noFill/>
                </a:ln>
                <a:solidFill>
                  <a:schemeClr val="tx1"/>
                </a:solidFill>
                <a:effectLst/>
                <a:latin typeface="Arial" pitchFamily="34" charset="0"/>
                <a:ea typeface="新細明體" pitchFamily="18" charset="-120"/>
              </a:rPr>
              <a:t>The</a:t>
            </a:r>
            <a:r>
              <a:rPr kumimoji="1" lang="en-US" sz="2400" b="1" i="0" u="none" strike="noStrike" cap="none" normalizeH="0" dirty="0">
                <a:ln>
                  <a:noFill/>
                </a:ln>
                <a:solidFill>
                  <a:schemeClr val="tx1"/>
                </a:solidFill>
                <a:effectLst/>
                <a:latin typeface="Arial" pitchFamily="34" charset="0"/>
                <a:ea typeface="新細明體" pitchFamily="18" charset="-120"/>
              </a:rPr>
              <a:t> Upper </a:t>
            </a:r>
            <a:r>
              <a:rPr kumimoji="1" lang="en-US" sz="2400" b="1" dirty="0">
                <a:latin typeface="Arial" pitchFamily="34" charset="0"/>
                <a:ea typeface="新細明體" pitchFamily="18" charset="-120"/>
              </a:rPr>
              <a:t>L</a:t>
            </a:r>
            <a:r>
              <a:rPr kumimoji="1" lang="en-US" sz="2400" b="1" i="0" u="none" strike="noStrike" cap="none" normalizeH="0" dirty="0">
                <a:ln>
                  <a:noFill/>
                </a:ln>
                <a:solidFill>
                  <a:schemeClr val="tx1"/>
                </a:solidFill>
                <a:effectLst/>
                <a:latin typeface="Arial" pitchFamily="34" charset="0"/>
                <a:ea typeface="新細明體" pitchFamily="18" charset="-120"/>
              </a:rPr>
              <a:t>evel</a:t>
            </a:r>
            <a:r>
              <a:rPr kumimoji="1" lang="en-US" sz="2400" b="1" dirty="0">
                <a:latin typeface="Arial" pitchFamily="34" charset="0"/>
                <a:ea typeface="新細明體" pitchFamily="18" charset="-120"/>
              </a:rPr>
              <a:t>s</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a</a:t>
            </a:r>
            <a:r>
              <a:rPr kumimoji="1" lang="en-US" sz="2400" b="1" i="0" u="none" strike="noStrike" cap="none" normalizeH="0" dirty="0">
                <a:ln>
                  <a:noFill/>
                </a:ln>
                <a:solidFill>
                  <a:schemeClr val="tx1"/>
                </a:solidFill>
                <a:effectLst/>
                <a:latin typeface="Arial" pitchFamily="34" charset="0"/>
                <a:ea typeface="新細明體" pitchFamily="18" charset="-120"/>
              </a:rPr>
              <a:t>re Fast but Small</a:t>
            </a:r>
          </a:p>
        </p:txBody>
      </p:sp>
      <p:sp>
        <p:nvSpPr>
          <p:cNvPr id="73" name="Oval 72">
            <a:extLst>
              <a:ext uri="{FF2B5EF4-FFF2-40B4-BE49-F238E27FC236}">
                <a16:creationId xmlns:a16="http://schemas.microsoft.com/office/drawing/2014/main" id="{C233E087-A32D-4C81-BAFF-140415AA8979}"/>
              </a:ext>
            </a:extLst>
          </p:cNvPr>
          <p:cNvSpPr/>
          <p:nvPr/>
        </p:nvSpPr>
        <p:spPr bwMode="auto">
          <a:xfrm>
            <a:off x="6125545" y="3952503"/>
            <a:ext cx="3060712" cy="1834983"/>
          </a:xfrm>
          <a:prstGeom prst="ellipse">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i="0" u="none" strike="noStrike" cap="none" normalizeH="0" baseline="0" dirty="0">
                <a:ln>
                  <a:noFill/>
                </a:ln>
                <a:solidFill>
                  <a:schemeClr val="tx1"/>
                </a:solidFill>
                <a:effectLst/>
                <a:latin typeface="Arial" pitchFamily="34" charset="0"/>
                <a:ea typeface="新細明體" pitchFamily="18" charset="-120"/>
              </a:rPr>
              <a:t>The </a:t>
            </a:r>
            <a:r>
              <a:rPr kumimoji="1" lang="en-US" sz="2400" b="1" dirty="0">
                <a:latin typeface="Arial" pitchFamily="34" charset="0"/>
                <a:ea typeface="新細明體" pitchFamily="18" charset="-120"/>
              </a:rPr>
              <a:t>Lower</a:t>
            </a:r>
            <a:r>
              <a:rPr kumimoji="1" lang="en-US" sz="2400" b="1" i="0" u="none" strike="noStrike" cap="none" normalizeH="0" dirty="0">
                <a:ln>
                  <a:noFill/>
                </a:ln>
                <a:solidFill>
                  <a:schemeClr val="tx1"/>
                </a:solidFill>
                <a:effectLst/>
                <a:latin typeface="Arial" pitchFamily="34" charset="0"/>
                <a:ea typeface="新細明體" pitchFamily="18" charset="-120"/>
              </a:rPr>
              <a:t> </a:t>
            </a:r>
            <a:r>
              <a:rPr kumimoji="1" lang="en-US" sz="2400" b="1" dirty="0">
                <a:latin typeface="Arial" pitchFamily="34" charset="0"/>
                <a:ea typeface="新細明體" pitchFamily="18" charset="-120"/>
              </a:rPr>
              <a:t>L</a:t>
            </a:r>
            <a:r>
              <a:rPr kumimoji="1" lang="en-US" sz="2400" b="1" i="0" u="none" strike="noStrike" cap="none" normalizeH="0" dirty="0">
                <a:ln>
                  <a:noFill/>
                </a:ln>
                <a:solidFill>
                  <a:schemeClr val="tx1"/>
                </a:solidFill>
                <a:effectLst/>
                <a:latin typeface="Arial" pitchFamily="34" charset="0"/>
                <a:ea typeface="新細明體" pitchFamily="18" charset="-120"/>
              </a:rPr>
              <a:t>evel</a:t>
            </a:r>
            <a:r>
              <a:rPr kumimoji="1" lang="en-US" sz="2400" b="1" dirty="0">
                <a:latin typeface="Arial" pitchFamily="34" charset="0"/>
                <a:ea typeface="新細明體" pitchFamily="18" charset="-120"/>
              </a:rPr>
              <a:t>s</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a</a:t>
            </a:r>
            <a:r>
              <a:rPr kumimoji="1" lang="en-US" sz="2400" b="1" i="0" u="none" strike="noStrike" cap="none" normalizeH="0" dirty="0">
                <a:ln>
                  <a:noFill/>
                </a:ln>
                <a:solidFill>
                  <a:schemeClr val="tx1"/>
                </a:solidFill>
                <a:effectLst/>
                <a:latin typeface="Arial" pitchFamily="34" charset="0"/>
                <a:ea typeface="新細明體" pitchFamily="18" charset="-120"/>
              </a:rPr>
              <a:t>re Slow but Large</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and Cheap</a:t>
            </a:r>
            <a:endParaRPr kumimoji="1" lang="en-US" sz="2400" b="1" i="0" u="none" strike="noStrike" cap="none" normalizeH="0" dirty="0">
              <a:ln>
                <a:noFill/>
              </a:ln>
              <a:solidFill>
                <a:schemeClr val="tx1"/>
              </a:solidFill>
              <a:effectLst/>
              <a:latin typeface="Arial" pitchFamily="34" charset="0"/>
              <a:ea typeface="新細明體" pitchFamily="18" charset="-120"/>
            </a:endParaRPr>
          </a:p>
        </p:txBody>
      </p:sp>
      <p:sp>
        <p:nvSpPr>
          <p:cNvPr id="8" name="TextBox 7">
            <a:extLst>
              <a:ext uri="{FF2B5EF4-FFF2-40B4-BE49-F238E27FC236}">
                <a16:creationId xmlns:a16="http://schemas.microsoft.com/office/drawing/2014/main" id="{3DD1FDC2-9E28-4B81-9F37-69D8AC7D3036}"/>
              </a:ext>
            </a:extLst>
          </p:cNvPr>
          <p:cNvSpPr txBox="1"/>
          <p:nvPr/>
        </p:nvSpPr>
        <p:spPr>
          <a:xfrm>
            <a:off x="1398221" y="5982016"/>
            <a:ext cx="8952066"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This gives you </a:t>
            </a:r>
            <a:r>
              <a:rPr lang="en-US" sz="2800" dirty="0">
                <a:solidFill>
                  <a:srgbClr val="FF0000"/>
                </a:solidFill>
                <a:ea typeface="標楷體" pitchFamily="65" charset="-120"/>
                <a:cs typeface="Calibri" pitchFamily="34" charset="0"/>
              </a:rPr>
              <a:t>Large</a:t>
            </a:r>
            <a:r>
              <a:rPr lang="en-US" sz="2800" dirty="0">
                <a:ea typeface="標楷體" pitchFamily="65" charset="-120"/>
                <a:cs typeface="Calibri" pitchFamily="34" charset="0"/>
              </a:rPr>
              <a:t>, </a:t>
            </a:r>
            <a:r>
              <a:rPr lang="en-US" sz="2800" dirty="0">
                <a:solidFill>
                  <a:srgbClr val="FF0000"/>
                </a:solidFill>
                <a:ea typeface="標楷體" pitchFamily="65" charset="-120"/>
                <a:cs typeface="Calibri" pitchFamily="34" charset="0"/>
              </a:rPr>
              <a:t>Cheap</a:t>
            </a:r>
            <a:r>
              <a:rPr lang="en-US" sz="2800" dirty="0">
                <a:ea typeface="標楷體" pitchFamily="65" charset="-120"/>
                <a:cs typeface="Calibri" pitchFamily="34" charset="0"/>
              </a:rPr>
              <a:t> memory, but </a:t>
            </a:r>
            <a:r>
              <a:rPr lang="en-US" sz="2800" dirty="0">
                <a:solidFill>
                  <a:srgbClr val="FF0000"/>
                </a:solidFill>
                <a:ea typeface="標楷體" pitchFamily="65" charset="-120"/>
                <a:cs typeface="Calibri" pitchFamily="34" charset="0"/>
              </a:rPr>
              <a:t>Fast </a:t>
            </a:r>
            <a:r>
              <a:rPr lang="en-US" sz="2800" dirty="0">
                <a:ea typeface="標楷體" pitchFamily="65" charset="-120"/>
                <a:cs typeface="Calibri" pitchFamily="34" charset="0"/>
              </a:rPr>
              <a:t>access </a:t>
            </a:r>
          </a:p>
        </p:txBody>
      </p:sp>
    </p:spTree>
    <p:extLst>
      <p:ext uri="{BB962C8B-B14F-4D97-AF65-F5344CB8AC3E}">
        <p14:creationId xmlns:p14="http://schemas.microsoft.com/office/powerpoint/2010/main" val="255051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1" grpId="0" animBg="1"/>
      <p:bldP spid="72" grpId="0" animBg="1"/>
      <p:bldP spid="73"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48698" y="173040"/>
            <a:ext cx="10394663" cy="672536"/>
          </a:xfrm>
        </p:spPr>
        <p:txBody>
          <a:bodyPr/>
          <a:lstStyle/>
          <a:p>
            <a:r>
              <a:rPr lang="en-US" altLang="zh-TW" dirty="0">
                <a:solidFill>
                  <a:srgbClr val="002060"/>
                </a:solidFill>
              </a:rPr>
              <a:t>How Is the Memory Hierarchy Managed</a:t>
            </a:r>
          </a:p>
        </p:txBody>
      </p:sp>
      <p:sp>
        <p:nvSpPr>
          <p:cNvPr id="18435" name="Rectangle 3"/>
          <p:cNvSpPr>
            <a:spLocks noGrp="1" noChangeArrowheads="1"/>
          </p:cNvSpPr>
          <p:nvPr>
            <p:ph type="body" idx="1"/>
          </p:nvPr>
        </p:nvSpPr>
        <p:spPr>
          <a:xfrm>
            <a:off x="851647" y="1090073"/>
            <a:ext cx="10300447" cy="4970068"/>
          </a:xfrm>
        </p:spPr>
        <p:txBody>
          <a:bodyPr/>
          <a:lstStyle/>
          <a:p>
            <a:pPr>
              <a:spcBef>
                <a:spcPts val="0"/>
              </a:spcBef>
            </a:pPr>
            <a:r>
              <a:rPr lang="en-US" altLang="zh-TW" sz="3200" dirty="0"/>
              <a:t>Registers &lt;-&gt; Memory</a:t>
            </a:r>
          </a:p>
          <a:p>
            <a:pPr lvl="1">
              <a:spcBef>
                <a:spcPts val="0"/>
              </a:spcBef>
            </a:pPr>
            <a:r>
              <a:rPr lang="en-US" altLang="zh-TW" dirty="0"/>
              <a:t>By compiler (programmer?)</a:t>
            </a:r>
          </a:p>
          <a:p>
            <a:pPr>
              <a:spcBef>
                <a:spcPts val="0"/>
              </a:spcBef>
            </a:pPr>
            <a:r>
              <a:rPr lang="en-US" altLang="zh-TW" sz="3200" dirty="0">
                <a:solidFill>
                  <a:srgbClr val="FF0000"/>
                </a:solidFill>
              </a:rPr>
              <a:t>Cache &lt;-&gt; Memory </a:t>
            </a:r>
            <a:r>
              <a:rPr lang="en-US" altLang="zh-TW" sz="3200" dirty="0"/>
              <a:t>/ </a:t>
            </a:r>
            <a:r>
              <a:rPr lang="en-US" altLang="zh-TW" sz="3200" dirty="0">
                <a:solidFill>
                  <a:srgbClr val="00B050"/>
                </a:solidFill>
              </a:rPr>
              <a:t>Local memory &lt;-&gt; Memory</a:t>
            </a:r>
          </a:p>
          <a:p>
            <a:pPr lvl="1">
              <a:spcBef>
                <a:spcPts val="0"/>
              </a:spcBef>
            </a:pPr>
            <a:r>
              <a:rPr lang="en-US" altLang="zh-TW" dirty="0">
                <a:solidFill>
                  <a:srgbClr val="FF0000"/>
                </a:solidFill>
              </a:rPr>
              <a:t>By the hardware </a:t>
            </a:r>
            <a:r>
              <a:rPr lang="en-US" altLang="zh-TW" dirty="0"/>
              <a:t>/ </a:t>
            </a:r>
            <a:r>
              <a:rPr lang="en-US" altLang="zh-TW" dirty="0">
                <a:solidFill>
                  <a:srgbClr val="00B050"/>
                </a:solidFill>
              </a:rPr>
              <a:t>by the compiler/programmer</a:t>
            </a:r>
          </a:p>
          <a:p>
            <a:pPr>
              <a:spcBef>
                <a:spcPts val="0"/>
              </a:spcBef>
            </a:pPr>
            <a:r>
              <a:rPr lang="en-US" altLang="zh-TW" sz="3200" dirty="0">
                <a:solidFill>
                  <a:schemeClr val="accent6"/>
                </a:solidFill>
              </a:rPr>
              <a:t>Memory &lt;-&gt; Disks</a:t>
            </a:r>
          </a:p>
          <a:p>
            <a:pPr lvl="1">
              <a:spcBef>
                <a:spcPts val="0"/>
              </a:spcBef>
            </a:pPr>
            <a:r>
              <a:rPr lang="en-US" altLang="zh-TW" dirty="0">
                <a:solidFill>
                  <a:schemeClr val="accent6"/>
                </a:solidFill>
              </a:rPr>
              <a:t>By the hardware and operating system (virtual memory)</a:t>
            </a:r>
          </a:p>
          <a:p>
            <a:pPr lvl="1">
              <a:spcBef>
                <a:spcPts val="0"/>
              </a:spcBef>
            </a:pPr>
            <a:r>
              <a:rPr lang="en-US" altLang="zh-TW" dirty="0"/>
              <a:t>By the programmer (files)</a:t>
            </a:r>
          </a:p>
          <a:p>
            <a:pPr>
              <a:spcBef>
                <a:spcPts val="0"/>
              </a:spcBef>
            </a:pPr>
            <a:r>
              <a:rPr lang="en-US" altLang="zh-TW" sz="3200" dirty="0"/>
              <a:t>Disks &lt;-&gt; Tapes</a:t>
            </a:r>
          </a:p>
          <a:p>
            <a:pPr lvl="1">
              <a:spcBef>
                <a:spcPts val="0"/>
              </a:spcBef>
            </a:pPr>
            <a:r>
              <a:rPr lang="en-US" altLang="zh-TW" dirty="0"/>
              <a:t>By the hardware </a:t>
            </a:r>
          </a:p>
          <a:p>
            <a:pPr lvl="1">
              <a:spcBef>
                <a:spcPts val="0"/>
              </a:spcBef>
            </a:pPr>
            <a:r>
              <a:rPr lang="en-US" altLang="zh-TW" dirty="0"/>
              <a:t>By the operator/programmer</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34</a:t>
            </a:fld>
            <a:endParaRPr lang="zh-TW" altLang="en-US"/>
          </a:p>
        </p:txBody>
      </p:sp>
    </p:spTree>
    <p:extLst>
      <p:ext uri="{BB962C8B-B14F-4D97-AF65-F5344CB8AC3E}">
        <p14:creationId xmlns:p14="http://schemas.microsoft.com/office/powerpoint/2010/main" val="1828893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268362" y="173040"/>
            <a:ext cx="9037689" cy="613541"/>
          </a:xfrm>
        </p:spPr>
        <p:txBody>
          <a:bodyPr/>
          <a:lstStyle/>
          <a:p>
            <a:r>
              <a:rPr lang="en-US" altLang="zh-TW" dirty="0"/>
              <a:t>Summary of Memory Hierarchy (1)</a:t>
            </a:r>
          </a:p>
        </p:txBody>
      </p:sp>
      <p:sp>
        <p:nvSpPr>
          <p:cNvPr id="21507" name="Rectangle 3"/>
          <p:cNvSpPr>
            <a:spLocks noGrp="1" noChangeArrowheads="1"/>
          </p:cNvSpPr>
          <p:nvPr>
            <p:ph type="body" idx="1"/>
          </p:nvPr>
        </p:nvSpPr>
        <p:spPr>
          <a:xfrm>
            <a:off x="714375" y="1125538"/>
            <a:ext cx="10868025" cy="4925066"/>
          </a:xfrm>
        </p:spPr>
        <p:txBody>
          <a:bodyPr/>
          <a:lstStyle/>
          <a:p>
            <a:pPr>
              <a:spcBef>
                <a:spcPts val="0"/>
              </a:spcBef>
            </a:pPr>
            <a:r>
              <a:rPr lang="en-US" altLang="zh-TW" sz="2800" dirty="0"/>
              <a:t>Memory wall</a:t>
            </a:r>
          </a:p>
          <a:p>
            <a:pPr lvl="1">
              <a:spcBef>
                <a:spcPts val="0"/>
              </a:spcBef>
            </a:pPr>
            <a:r>
              <a:rPr lang="en-US" altLang="zh-TW" sz="2400" dirty="0"/>
              <a:t>Latency: getting longer </a:t>
            </a:r>
          </a:p>
          <a:p>
            <a:pPr lvl="1">
              <a:spcBef>
                <a:spcPts val="0"/>
              </a:spcBef>
            </a:pPr>
            <a:r>
              <a:rPr lang="en-US" altLang="zh-TW" sz="2400" dirty="0"/>
              <a:t>Bandwidth: insufficient</a:t>
            </a:r>
          </a:p>
          <a:p>
            <a:pPr marL="457176" lvl="1" indent="0">
              <a:spcBef>
                <a:spcPts val="0"/>
              </a:spcBef>
              <a:buNone/>
            </a:pPr>
            <a:endParaRPr lang="en-US" altLang="zh-TW" sz="2400" dirty="0"/>
          </a:p>
          <a:p>
            <a:pPr>
              <a:spcBef>
                <a:spcPts val="0"/>
              </a:spcBef>
            </a:pPr>
            <a:r>
              <a:rPr lang="en-US" altLang="zh-TW" sz="2800" dirty="0"/>
              <a:t>Solution:</a:t>
            </a:r>
          </a:p>
          <a:p>
            <a:pPr lvl="1">
              <a:spcBef>
                <a:spcPts val="0"/>
              </a:spcBef>
            </a:pPr>
            <a:r>
              <a:rPr lang="en-US" altLang="zh-TW" sz="2267" dirty="0"/>
              <a:t>Memory Hierarchy</a:t>
            </a:r>
          </a:p>
          <a:p>
            <a:pPr marL="457176" marR="0" lvl="1" indent="0" algn="l" defTabSz="914400" rtl="0" eaLnBrk="1" fontAlgn="base" latinLnBrk="0" hangingPunct="1">
              <a:lnSpc>
                <a:spcPct val="100000"/>
              </a:lnSpc>
              <a:spcBef>
                <a:spcPts val="0"/>
              </a:spcBef>
              <a:spcAft>
                <a:spcPct val="0"/>
              </a:spcAft>
              <a:buClr>
                <a:srgbClr val="0000FF"/>
              </a:buClr>
              <a:buSzPct val="90000"/>
              <a:buFont typeface="Arial" charset="0"/>
              <a:buNone/>
              <a:tabLst/>
              <a:defRPr/>
            </a:pPr>
            <a:r>
              <a:rPr kumimoji="1" lang="en-US" altLang="zh-TW" sz="2267" b="0" i="0" u="none" strike="noStrike" kern="0" cap="none" spc="0" normalizeH="0" baseline="0" noProof="0" dirty="0">
                <a:ln>
                  <a:noFill/>
                </a:ln>
                <a:solidFill>
                  <a:prstClr val="black"/>
                </a:solidFill>
                <a:effectLst/>
                <a:uLnTx/>
                <a:uFillTx/>
                <a:latin typeface="Calibri" pitchFamily="34" charset="0"/>
                <a:ea typeface="標楷體" pitchFamily="65" charset="-120"/>
              </a:rPr>
              <a:t>	A small, fast memory close to the CPU</a:t>
            </a:r>
          </a:p>
          <a:p>
            <a:pPr marL="1142943" marR="0" lvl="2" indent="-228589" algn="l" defTabSz="914400" rtl="0" eaLnBrk="1" fontAlgn="base" latinLnBrk="0" hangingPunct="1">
              <a:lnSpc>
                <a:spcPct val="100000"/>
              </a:lnSpc>
              <a:spcBef>
                <a:spcPts val="0"/>
              </a:spcBef>
              <a:spcAft>
                <a:spcPct val="0"/>
              </a:spcAft>
              <a:buClrTx/>
              <a:buSzTx/>
              <a:buFont typeface="Wingdings" panose="05000000000000000000" pitchFamily="2" charset="2"/>
              <a:buChar char="Ø"/>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rPr>
              <a:t>low latency</a:t>
            </a:r>
          </a:p>
          <a:p>
            <a:pPr marL="1142943" marR="0" lvl="2" indent="-228589" algn="l" defTabSz="914400" rtl="0" eaLnBrk="1" fontAlgn="base" latinLnBrk="0" hangingPunct="1">
              <a:lnSpc>
                <a:spcPct val="100000"/>
              </a:lnSpc>
              <a:spcBef>
                <a:spcPts val="0"/>
              </a:spcBef>
              <a:spcAft>
                <a:spcPct val="0"/>
              </a:spcAft>
              <a:buClrTx/>
              <a:buSzTx/>
              <a:buFont typeface="Wingdings" panose="05000000000000000000" pitchFamily="2" charset="2"/>
              <a:buChar char="Ø"/>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rPr>
              <a:t> high bandwidth (not limited by refresh cycles, pin-bandwidth) </a:t>
            </a:r>
            <a:endParaRPr lang="en-US" altLang="zh-TW" sz="2267" dirty="0"/>
          </a:p>
          <a:p>
            <a:pPr lvl="1">
              <a:spcBef>
                <a:spcPts val="0"/>
              </a:spcBef>
            </a:pPr>
            <a:r>
              <a:rPr lang="en-US" altLang="zh-TW" sz="2267" dirty="0"/>
              <a:t>Transparent solution</a:t>
            </a:r>
          </a:p>
          <a:p>
            <a:pPr lvl="2">
              <a:spcBef>
                <a:spcPts val="0"/>
              </a:spcBef>
              <a:buFont typeface="Wingdings" panose="05000000000000000000" pitchFamily="2" charset="2"/>
              <a:buChar char="Ø"/>
            </a:pPr>
            <a:r>
              <a:rPr lang="en-US" altLang="zh-TW" sz="1734" dirty="0"/>
              <a:t> </a:t>
            </a:r>
            <a:r>
              <a:rPr lang="en-US" altLang="zh-TW" sz="2400" b="1" dirty="0">
                <a:solidFill>
                  <a:srgbClr val="FF0000"/>
                </a:solidFill>
              </a:rPr>
              <a:t>Caches</a:t>
            </a:r>
          </a:p>
          <a:p>
            <a:pPr lvl="1">
              <a:spcBef>
                <a:spcPts val="0"/>
              </a:spcBef>
            </a:pPr>
            <a:r>
              <a:rPr lang="en-US" altLang="zh-TW" sz="2267" dirty="0"/>
              <a:t>Explicit management</a:t>
            </a:r>
          </a:p>
          <a:p>
            <a:pPr lvl="2">
              <a:spcBef>
                <a:spcPts val="0"/>
              </a:spcBef>
              <a:buFont typeface="Wingdings" panose="05000000000000000000" pitchFamily="2" charset="2"/>
              <a:buChar char="Ø"/>
            </a:pPr>
            <a:r>
              <a:rPr lang="en-US" altLang="zh-TW" sz="2400" dirty="0">
                <a:solidFill>
                  <a:srgbClr val="FF0000"/>
                </a:solidFill>
              </a:rPr>
              <a:t>Local memory (e.g. ARM scratch-pad memory or NVIDIA’s shared memory)</a:t>
            </a:r>
          </a:p>
          <a:p>
            <a:pPr marL="457176" lvl="1" indent="0">
              <a:spcBef>
                <a:spcPts val="0"/>
              </a:spcBef>
              <a:buNone/>
            </a:pPr>
            <a:r>
              <a:rPr lang="en-US" altLang="zh-TW" sz="2267" dirty="0"/>
              <a:t>	</a:t>
            </a:r>
            <a:r>
              <a:rPr lang="en-US" altLang="zh-TW" sz="2933" dirty="0"/>
              <a:t> </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35</a:t>
            </a:fld>
            <a:endParaRPr lang="zh-TW" altLang="en-US"/>
          </a:p>
        </p:txBody>
      </p:sp>
      <p:sp>
        <p:nvSpPr>
          <p:cNvPr id="6" name="TextBox 5">
            <a:extLst>
              <a:ext uri="{FF2B5EF4-FFF2-40B4-BE49-F238E27FC236}">
                <a16:creationId xmlns:a16="http://schemas.microsoft.com/office/drawing/2014/main" id="{FB347A50-3D3D-48CD-A6C2-51C87A54EFE9}"/>
              </a:ext>
            </a:extLst>
          </p:cNvPr>
          <p:cNvSpPr txBox="1"/>
          <p:nvPr/>
        </p:nvSpPr>
        <p:spPr>
          <a:xfrm>
            <a:off x="8334374" y="2941740"/>
            <a:ext cx="3857626" cy="646331"/>
          </a:xfrm>
          <a:prstGeom prst="rect">
            <a:avLst/>
          </a:prstGeom>
          <a:solidFill>
            <a:srgbClr val="FFFF00"/>
          </a:solidFill>
          <a:ln>
            <a:solidFill>
              <a:srgbClr val="FF0000"/>
            </a:solidFill>
          </a:ln>
        </p:spPr>
        <p:txBody>
          <a:bodyPr wrap="square" rtlCol="0" anchor="ctr" anchorCtr="1">
            <a:spAutoFit/>
          </a:bodyPr>
          <a:lstStyle/>
          <a:p>
            <a:pPr algn="ctr"/>
            <a:r>
              <a:rPr lang="en-US" dirty="0">
                <a:ea typeface="標楷體" pitchFamily="65" charset="-120"/>
                <a:cs typeface="Calibri" pitchFamily="34" charset="0"/>
              </a:rPr>
              <a:t>Story about </a:t>
            </a:r>
          </a:p>
          <a:p>
            <a:pPr algn="ctr"/>
            <a:r>
              <a:rPr lang="en-US" dirty="0">
                <a:ea typeface="標楷體" pitchFamily="65" charset="-120"/>
                <a:cs typeface="Calibri" pitchFamily="34" charset="0"/>
              </a:rPr>
              <a:t>IBM 360/91 and 360/85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268362" y="173040"/>
            <a:ext cx="9037689" cy="613541"/>
          </a:xfrm>
        </p:spPr>
        <p:txBody>
          <a:bodyPr/>
          <a:lstStyle/>
          <a:p>
            <a:r>
              <a:rPr lang="en-US" altLang="zh-TW" dirty="0"/>
              <a:t>Summary of Memory Hierarchy (2)</a:t>
            </a:r>
          </a:p>
        </p:txBody>
      </p:sp>
      <p:sp>
        <p:nvSpPr>
          <p:cNvPr id="21507" name="Rectangle 3"/>
          <p:cNvSpPr>
            <a:spLocks noGrp="1" noChangeArrowheads="1"/>
          </p:cNvSpPr>
          <p:nvPr>
            <p:ph type="body" idx="1"/>
          </p:nvPr>
        </p:nvSpPr>
        <p:spPr>
          <a:xfrm>
            <a:off x="1327355" y="1125538"/>
            <a:ext cx="10255045" cy="4519359"/>
          </a:xfrm>
        </p:spPr>
        <p:txBody>
          <a:bodyPr/>
          <a:lstStyle/>
          <a:p>
            <a:pPr>
              <a:spcBef>
                <a:spcPts val="0"/>
              </a:spcBef>
            </a:pPr>
            <a:r>
              <a:rPr lang="en-US" altLang="zh-TW" sz="2667" dirty="0"/>
              <a:t>DRAM is slow but cheap and dense</a:t>
            </a:r>
          </a:p>
          <a:p>
            <a:pPr lvl="1">
              <a:spcBef>
                <a:spcPts val="0"/>
              </a:spcBef>
            </a:pPr>
            <a:r>
              <a:rPr lang="en-US" altLang="zh-TW" sz="2400" dirty="0"/>
              <a:t>Good for presenting users with a </a:t>
            </a:r>
            <a:r>
              <a:rPr lang="en-US" altLang="zh-TW" sz="2400" dirty="0">
                <a:solidFill>
                  <a:srgbClr val="FF0000"/>
                </a:solidFill>
              </a:rPr>
              <a:t>BIG</a:t>
            </a:r>
            <a:r>
              <a:rPr lang="en-US" altLang="zh-TW" sz="2400" dirty="0"/>
              <a:t> memory system</a:t>
            </a:r>
          </a:p>
          <a:p>
            <a:pPr>
              <a:spcBef>
                <a:spcPts val="0"/>
              </a:spcBef>
            </a:pPr>
            <a:r>
              <a:rPr lang="en-US" altLang="zh-TW" sz="2667" dirty="0"/>
              <a:t>SRAM is fast but expensive, not very dense</a:t>
            </a:r>
          </a:p>
          <a:p>
            <a:pPr lvl="1">
              <a:spcBef>
                <a:spcPts val="0"/>
              </a:spcBef>
            </a:pPr>
            <a:r>
              <a:rPr lang="en-US" altLang="zh-TW" sz="2400" dirty="0"/>
              <a:t>Good choice for on-chip memory</a:t>
            </a:r>
          </a:p>
          <a:p>
            <a:pPr lvl="1">
              <a:spcBef>
                <a:spcPts val="0"/>
              </a:spcBef>
            </a:pPr>
            <a:r>
              <a:rPr lang="en-US" altLang="zh-TW" sz="2400" dirty="0"/>
              <a:t>Good for providing </a:t>
            </a:r>
            <a:r>
              <a:rPr lang="en-US" altLang="zh-TW" sz="2400" dirty="0">
                <a:solidFill>
                  <a:srgbClr val="FF0000"/>
                </a:solidFill>
              </a:rPr>
              <a:t>FAST</a:t>
            </a:r>
            <a:r>
              <a:rPr lang="en-US" altLang="zh-TW" sz="2400" dirty="0"/>
              <a:t> access and high bandwidth</a:t>
            </a:r>
            <a:endParaRPr lang="en-US" altLang="zh-TW" sz="2667" dirty="0"/>
          </a:p>
          <a:p>
            <a:pPr>
              <a:spcBef>
                <a:spcPts val="0"/>
              </a:spcBef>
            </a:pPr>
            <a:r>
              <a:rPr lang="en-US" altLang="zh-TW" sz="2667" dirty="0"/>
              <a:t>Two different types of locality</a:t>
            </a:r>
          </a:p>
          <a:p>
            <a:pPr lvl="1">
              <a:spcBef>
                <a:spcPts val="0"/>
              </a:spcBef>
            </a:pPr>
            <a:r>
              <a:rPr lang="en-US" altLang="zh-TW" sz="2400" dirty="0"/>
              <a:t>Temporal Locality (Locality in Time)</a:t>
            </a:r>
          </a:p>
          <a:p>
            <a:pPr lvl="1">
              <a:spcBef>
                <a:spcPts val="0"/>
              </a:spcBef>
            </a:pPr>
            <a:r>
              <a:rPr lang="en-US" altLang="zh-TW" sz="2400" dirty="0"/>
              <a:t>Spatial Locality (Locality in Space)</a:t>
            </a:r>
          </a:p>
          <a:p>
            <a:pPr>
              <a:spcBef>
                <a:spcPts val="0"/>
              </a:spcBef>
            </a:pPr>
            <a:r>
              <a:rPr lang="en-US" altLang="zh-TW" sz="2667" dirty="0"/>
              <a:t>Use the principle of locality</a:t>
            </a:r>
          </a:p>
          <a:p>
            <a:pPr lvl="1">
              <a:spcBef>
                <a:spcPts val="0"/>
              </a:spcBef>
            </a:pPr>
            <a:r>
              <a:rPr lang="en-US" altLang="zh-TW" sz="2400" dirty="0"/>
              <a:t>Present the user with as much memory as is available in the cheapest technology (keep the cost low)</a:t>
            </a:r>
          </a:p>
          <a:p>
            <a:pPr lvl="1">
              <a:spcBef>
                <a:spcPts val="0"/>
              </a:spcBef>
            </a:pPr>
            <a:r>
              <a:rPr lang="en-US" altLang="zh-TW" sz="2400" dirty="0"/>
              <a:t>Provide access at the speed offered by the fastest technology</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36</a:t>
            </a:fld>
            <a:endParaRPr lang="zh-TW" altLang="en-US"/>
          </a:p>
        </p:txBody>
      </p:sp>
    </p:spTree>
    <p:extLst>
      <p:ext uri="{BB962C8B-B14F-4D97-AF65-F5344CB8AC3E}">
        <p14:creationId xmlns:p14="http://schemas.microsoft.com/office/powerpoint/2010/main" val="3063215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19200" y="173039"/>
            <a:ext cx="10594848" cy="633207"/>
          </a:xfrm>
        </p:spPr>
        <p:txBody>
          <a:bodyPr/>
          <a:lstStyle/>
          <a:p>
            <a:r>
              <a:rPr lang="en-US" altLang="zh-TW" sz="4000" dirty="0"/>
              <a:t>6.4 Cache Memories</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37</a:t>
            </a:fld>
            <a:endParaRPr lang="zh-TW" altLang="en-US"/>
          </a:p>
        </p:txBody>
      </p:sp>
      <p:sp>
        <p:nvSpPr>
          <p:cNvPr id="4" name="Rectangle 7">
            <a:extLst>
              <a:ext uri="{FF2B5EF4-FFF2-40B4-BE49-F238E27FC236}">
                <a16:creationId xmlns:a16="http://schemas.microsoft.com/office/drawing/2014/main" id="{E653B839-BC03-5EDC-3E49-F8A6F6F5E4BD}"/>
              </a:ext>
            </a:extLst>
          </p:cNvPr>
          <p:cNvSpPr txBox="1">
            <a:spLocks/>
          </p:cNvSpPr>
          <p:nvPr/>
        </p:nvSpPr>
        <p:spPr bwMode="auto">
          <a:xfrm>
            <a:off x="963039" y="942974"/>
            <a:ext cx="10594848" cy="49720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315468" indent="-315468" defTabSz="841247">
              <a:defRPr sz="2208" i="1">
                <a:solidFill>
                  <a:srgbClr val="C00000"/>
                </a:solidFill>
              </a:defRPr>
            </a:pPr>
            <a:r>
              <a:rPr lang="en-US" sz="2800" i="1" kern="0" dirty="0">
                <a:solidFill>
                  <a:srgbClr val="C00000"/>
                </a:solidFill>
              </a:rPr>
              <a:t>Cache:</a:t>
            </a:r>
            <a:r>
              <a:rPr lang="en-US" sz="2800" i="1" kern="0" dirty="0">
                <a:solidFill>
                  <a:srgbClr val="000000"/>
                </a:solidFill>
              </a:rPr>
              <a:t> </a:t>
            </a:r>
            <a:r>
              <a:rPr lang="en-US" sz="2400" kern="0" dirty="0">
                <a:solidFill>
                  <a:srgbClr val="000000"/>
                </a:solidFill>
              </a:rPr>
              <a:t>A smaller, faster storage device that acts as a staging area for a subset of the data in a larger, slower device</a:t>
            </a:r>
            <a:r>
              <a:rPr lang="en-US" sz="2208" kern="0" dirty="0">
                <a:solidFill>
                  <a:srgbClr val="000000"/>
                </a:solidFill>
              </a:rPr>
              <a:t>.</a:t>
            </a:r>
          </a:p>
          <a:p>
            <a:pPr marL="315468" indent="-315468" defTabSz="841247">
              <a:defRPr sz="2208" i="1">
                <a:solidFill>
                  <a:srgbClr val="C00000"/>
                </a:solidFill>
              </a:defRPr>
            </a:pPr>
            <a:endParaRPr lang="en-US" sz="2208" kern="0" dirty="0">
              <a:solidFill>
                <a:srgbClr val="000000"/>
              </a:solidFill>
            </a:endParaRPr>
          </a:p>
        </p:txBody>
      </p:sp>
      <p:pic>
        <p:nvPicPr>
          <p:cNvPr id="6" name="Picture 4" descr="f01-09-P374493">
            <a:extLst>
              <a:ext uri="{FF2B5EF4-FFF2-40B4-BE49-F238E27FC236}">
                <a16:creationId xmlns:a16="http://schemas.microsoft.com/office/drawing/2014/main" id="{E25E2F87-4207-7AD0-2FA0-19CCE32E27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4629" y="1880914"/>
            <a:ext cx="10044332" cy="419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6">
            <a:extLst>
              <a:ext uri="{FF2B5EF4-FFF2-40B4-BE49-F238E27FC236}">
                <a16:creationId xmlns:a16="http://schemas.microsoft.com/office/drawing/2014/main" id="{2CB88A0A-950D-2193-C4FC-60C23B6D9094}"/>
              </a:ext>
            </a:extLst>
          </p:cNvPr>
          <p:cNvSpPr/>
          <p:nvPr/>
        </p:nvSpPr>
        <p:spPr bwMode="auto">
          <a:xfrm>
            <a:off x="7638931" y="2445689"/>
            <a:ext cx="977153" cy="1461247"/>
          </a:xfrm>
          <a:prstGeom prst="ellipse">
            <a:avLst/>
          </a:prstGeom>
          <a:noFill/>
          <a:ln w="158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Oval 7">
            <a:extLst>
              <a:ext uri="{FF2B5EF4-FFF2-40B4-BE49-F238E27FC236}">
                <a16:creationId xmlns:a16="http://schemas.microsoft.com/office/drawing/2014/main" id="{4109B1E4-49B2-9BA8-2C45-76C0E85CA05C}"/>
              </a:ext>
            </a:extLst>
          </p:cNvPr>
          <p:cNvSpPr/>
          <p:nvPr/>
        </p:nvSpPr>
        <p:spPr bwMode="auto">
          <a:xfrm>
            <a:off x="8468662" y="2223247"/>
            <a:ext cx="639355" cy="1461247"/>
          </a:xfrm>
          <a:prstGeom prst="ellipse">
            <a:avLst/>
          </a:prstGeom>
          <a:noFill/>
          <a:ln w="38100" cap="flat" cmpd="sng" algn="ctr">
            <a:solidFill>
              <a:srgbClr val="00B0F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Oval 8">
            <a:extLst>
              <a:ext uri="{FF2B5EF4-FFF2-40B4-BE49-F238E27FC236}">
                <a16:creationId xmlns:a16="http://schemas.microsoft.com/office/drawing/2014/main" id="{90493A0A-D3AD-4482-6F3C-D9477B7A6E07}"/>
              </a:ext>
            </a:extLst>
          </p:cNvPr>
          <p:cNvSpPr/>
          <p:nvPr/>
        </p:nvSpPr>
        <p:spPr bwMode="auto">
          <a:xfrm>
            <a:off x="6615953" y="2223247"/>
            <a:ext cx="735106" cy="1757082"/>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0" name="Straight Arrow Connector 9">
            <a:extLst>
              <a:ext uri="{FF2B5EF4-FFF2-40B4-BE49-F238E27FC236}">
                <a16:creationId xmlns:a16="http://schemas.microsoft.com/office/drawing/2014/main" id="{238581BE-88CB-03FC-C3B5-3007D2830699}"/>
              </a:ext>
            </a:extLst>
          </p:cNvPr>
          <p:cNvCxnSpPr/>
          <p:nvPr/>
        </p:nvCxnSpPr>
        <p:spPr bwMode="auto">
          <a:xfrm flipH="1">
            <a:off x="1867711" y="3093396"/>
            <a:ext cx="4748242" cy="0"/>
          </a:xfrm>
          <a:prstGeom prst="straightConnector1">
            <a:avLst/>
          </a:prstGeom>
          <a:noFill/>
          <a:ln w="28575"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76BCFBBB-A934-1490-3C45-762C160A8A8D}"/>
              </a:ext>
            </a:extLst>
          </p:cNvPr>
          <p:cNvCxnSpPr/>
          <p:nvPr/>
        </p:nvCxnSpPr>
        <p:spPr bwMode="auto">
          <a:xfrm flipH="1">
            <a:off x="2890689" y="2837233"/>
            <a:ext cx="4748242" cy="0"/>
          </a:xfrm>
          <a:prstGeom prst="straightConnector1">
            <a:avLst/>
          </a:prstGeom>
          <a:noFill/>
          <a:ln w="28575" cap="flat" cmpd="sng" algn="ctr">
            <a:solidFill>
              <a:srgbClr val="00B05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0B8201DF-0188-2D74-EF88-46B66DAE3BD4}"/>
              </a:ext>
            </a:extLst>
          </p:cNvPr>
          <p:cNvCxnSpPr>
            <a:cxnSpLocks/>
          </p:cNvCxnSpPr>
          <p:nvPr/>
        </p:nvCxnSpPr>
        <p:spPr bwMode="auto">
          <a:xfrm flipH="1">
            <a:off x="2890689" y="3563565"/>
            <a:ext cx="4975222" cy="0"/>
          </a:xfrm>
          <a:prstGeom prst="straightConnector1">
            <a:avLst/>
          </a:prstGeom>
          <a:noFill/>
          <a:ln w="28575" cap="flat" cmpd="sng" algn="ctr">
            <a:solidFill>
              <a:srgbClr val="00B05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A3184C69-1CEA-3E89-C902-35711C90EC8A}"/>
              </a:ext>
            </a:extLst>
          </p:cNvPr>
          <p:cNvCxnSpPr>
            <a:cxnSpLocks/>
          </p:cNvCxnSpPr>
          <p:nvPr/>
        </p:nvCxnSpPr>
        <p:spPr bwMode="auto">
          <a:xfrm flipH="1">
            <a:off x="3492230" y="3265252"/>
            <a:ext cx="4977891" cy="0"/>
          </a:xfrm>
          <a:prstGeom prst="straightConnector1">
            <a:avLst/>
          </a:prstGeom>
          <a:noFill/>
          <a:ln w="28575" cap="flat" cmpd="sng" algn="ctr">
            <a:solidFill>
              <a:srgbClr val="00B0F0"/>
            </a:solidFill>
            <a:prstDash val="solid"/>
            <a:round/>
            <a:headEnd type="none" w="med" len="med"/>
            <a:tailEnd type="triangle"/>
          </a:ln>
          <a:effectLst/>
        </p:spPr>
      </p:cxnSp>
      <p:sp>
        <p:nvSpPr>
          <p:cNvPr id="14" name="Rectangle 3">
            <a:extLst>
              <a:ext uri="{FF2B5EF4-FFF2-40B4-BE49-F238E27FC236}">
                <a16:creationId xmlns:a16="http://schemas.microsoft.com/office/drawing/2014/main" id="{E06EBA99-8468-6747-B7DD-CB1DEEA8E60A}"/>
              </a:ext>
            </a:extLst>
          </p:cNvPr>
          <p:cNvSpPr txBox="1">
            <a:spLocks noChangeArrowheads="1"/>
          </p:cNvSpPr>
          <p:nvPr/>
        </p:nvSpPr>
        <p:spPr bwMode="auto">
          <a:xfrm>
            <a:off x="3063594" y="6167304"/>
            <a:ext cx="6286401" cy="459247"/>
          </a:xfrm>
          <a:prstGeom prst="rect">
            <a:avLst/>
          </a:prstGeom>
          <a:solidFill>
            <a:srgbClr val="FFFF00"/>
          </a:solid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667" kern="0" dirty="0">
                <a:ea typeface="新細明體" panose="02020500000000000000" pitchFamily="18" charset="-120"/>
              </a:rPr>
              <a:t>AMD Barcelona (2007): 4 processor cores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19200" y="173039"/>
            <a:ext cx="10594848" cy="633207"/>
          </a:xfrm>
        </p:spPr>
        <p:txBody>
          <a:bodyPr/>
          <a:lstStyle/>
          <a:p>
            <a:r>
              <a:rPr lang="en-US" altLang="zh-TW" sz="4000" dirty="0"/>
              <a:t>Four</a:t>
            </a:r>
            <a:r>
              <a:rPr lang="zh-TW" altLang="en-US" sz="4000" dirty="0"/>
              <a:t> </a:t>
            </a:r>
            <a:r>
              <a:rPr lang="en-US" altLang="zh-TW" sz="4000" dirty="0"/>
              <a:t>Questions for Cache Design</a:t>
            </a:r>
          </a:p>
        </p:txBody>
      </p:sp>
      <p:sp>
        <p:nvSpPr>
          <p:cNvPr id="20483" name="Rectangle 3"/>
          <p:cNvSpPr>
            <a:spLocks noGrp="1" noChangeArrowheads="1"/>
          </p:cNvSpPr>
          <p:nvPr>
            <p:ph type="body" idx="1"/>
          </p:nvPr>
        </p:nvSpPr>
        <p:spPr>
          <a:xfrm>
            <a:off x="1317523" y="1125537"/>
            <a:ext cx="10264877" cy="4895851"/>
          </a:xfrm>
        </p:spPr>
        <p:txBody>
          <a:bodyPr/>
          <a:lstStyle/>
          <a:p>
            <a:pPr>
              <a:buFont typeface="Wingdings" panose="05000000000000000000" pitchFamily="2" charset="2"/>
              <a:buNone/>
            </a:pPr>
            <a:r>
              <a:rPr lang="en-US" altLang="zh-TW" sz="2667" dirty="0"/>
              <a:t>Q1: Where can a block be placed in the upper level?</a:t>
            </a:r>
            <a:br>
              <a:rPr lang="en-US" altLang="zh-TW" sz="2667" dirty="0"/>
            </a:br>
            <a:r>
              <a:rPr lang="en-US" altLang="zh-TW" sz="2400" dirty="0"/>
              <a:t>=&gt; </a:t>
            </a:r>
            <a:r>
              <a:rPr lang="en-US" altLang="zh-TW" sz="2400" dirty="0">
                <a:solidFill>
                  <a:srgbClr val="FF0000"/>
                </a:solidFill>
              </a:rPr>
              <a:t>Block placement</a:t>
            </a:r>
          </a:p>
          <a:p>
            <a:pPr>
              <a:buFont typeface="Wingdings" panose="05000000000000000000" pitchFamily="2" charset="2"/>
              <a:buNone/>
            </a:pPr>
            <a:r>
              <a:rPr lang="en-US" altLang="zh-TW" sz="2667" dirty="0"/>
              <a:t>Q2: How is a block found if it is in the upper level?</a:t>
            </a:r>
            <a:br>
              <a:rPr lang="en-US" altLang="zh-TW" sz="2667" dirty="0"/>
            </a:br>
            <a:r>
              <a:rPr lang="en-US" altLang="zh-TW" sz="2400" dirty="0"/>
              <a:t>=&gt; </a:t>
            </a:r>
            <a:r>
              <a:rPr lang="en-US" altLang="zh-TW" sz="2400" dirty="0">
                <a:solidFill>
                  <a:srgbClr val="FF0000"/>
                </a:solidFill>
              </a:rPr>
              <a:t>Block finding</a:t>
            </a:r>
          </a:p>
          <a:p>
            <a:pPr>
              <a:buFont typeface="Wingdings" panose="05000000000000000000" pitchFamily="2" charset="2"/>
              <a:buNone/>
            </a:pPr>
            <a:r>
              <a:rPr lang="en-US" altLang="zh-TW" sz="2667" dirty="0"/>
              <a:t>Q3: Which block should be replaced on a miss?</a:t>
            </a:r>
            <a:br>
              <a:rPr lang="en-US" altLang="zh-TW" sz="2667" dirty="0"/>
            </a:br>
            <a:r>
              <a:rPr lang="en-US" altLang="zh-TW" sz="2400" dirty="0"/>
              <a:t>=&gt; </a:t>
            </a:r>
            <a:r>
              <a:rPr lang="en-US" altLang="zh-TW" sz="2400" dirty="0">
                <a:solidFill>
                  <a:srgbClr val="FF0000"/>
                </a:solidFill>
              </a:rPr>
              <a:t>Block replacement</a:t>
            </a:r>
          </a:p>
          <a:p>
            <a:pPr>
              <a:buFont typeface="Wingdings" panose="05000000000000000000" pitchFamily="2" charset="2"/>
              <a:buNone/>
            </a:pPr>
            <a:r>
              <a:rPr lang="en-US" altLang="zh-TW" sz="2667" dirty="0"/>
              <a:t>Q4: What happens on a write?</a:t>
            </a:r>
            <a:br>
              <a:rPr lang="en-US" altLang="zh-TW" sz="2667" dirty="0"/>
            </a:br>
            <a:r>
              <a:rPr lang="en-US" altLang="zh-TW" sz="2400" dirty="0"/>
              <a:t>=&gt; </a:t>
            </a:r>
            <a:r>
              <a:rPr lang="en-US" altLang="zh-TW" sz="2400" dirty="0">
                <a:solidFill>
                  <a:srgbClr val="FF0000"/>
                </a:solidFill>
              </a:rPr>
              <a:t>Write strategy</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38</a:t>
            </a:fld>
            <a:endParaRPr lang="zh-TW" altLang="en-US"/>
          </a:p>
        </p:txBody>
      </p:sp>
      <p:sp>
        <p:nvSpPr>
          <p:cNvPr id="2" name="TextBox 1">
            <a:extLst>
              <a:ext uri="{FF2B5EF4-FFF2-40B4-BE49-F238E27FC236}">
                <a16:creationId xmlns:a16="http://schemas.microsoft.com/office/drawing/2014/main" id="{D79CC8D2-9921-232A-E098-13908970782B}"/>
              </a:ext>
            </a:extLst>
          </p:cNvPr>
          <p:cNvSpPr txBox="1"/>
          <p:nvPr/>
        </p:nvSpPr>
        <p:spPr>
          <a:xfrm>
            <a:off x="1219200" y="5087886"/>
            <a:ext cx="9962023" cy="738664"/>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Remember: The </a:t>
            </a:r>
            <a:r>
              <a:rPr lang="en-US" sz="2400" b="1" dirty="0">
                <a:ea typeface="標楷體" pitchFamily="65" charset="-120"/>
                <a:cs typeface="Calibri" pitchFamily="34" charset="0"/>
              </a:rPr>
              <a:t>byte address </a:t>
            </a:r>
            <a:r>
              <a:rPr lang="en-US" dirty="0">
                <a:ea typeface="標楷體" pitchFamily="65" charset="-120"/>
                <a:cs typeface="Calibri" pitchFamily="34" charset="0"/>
              </a:rPr>
              <a:t>of a data item determines where a block is placed and how </a:t>
            </a:r>
          </a:p>
          <a:p>
            <a:r>
              <a:rPr lang="en-US" dirty="0">
                <a:ea typeface="標楷體" pitchFamily="65" charset="-120"/>
                <a:cs typeface="Calibri" pitchFamily="34" charset="0"/>
              </a:rPr>
              <a:t>the block is found. </a:t>
            </a:r>
          </a:p>
        </p:txBody>
      </p:sp>
    </p:spTree>
    <p:extLst>
      <p:ext uri="{BB962C8B-B14F-4D97-AF65-F5344CB8AC3E}">
        <p14:creationId xmlns:p14="http://schemas.microsoft.com/office/powerpoint/2010/main" val="2106196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387475" y="312739"/>
            <a:ext cx="1112839" cy="477837"/>
          </a:xfrm>
          <a:prstGeom prst="rect">
            <a:avLst/>
          </a:prstGeom>
          <a:noFill/>
          <a:ln w="12700">
            <a:noFill/>
            <a:miter lim="800000"/>
          </a:ln>
        </p:spPr>
        <p:txBody>
          <a:bodyPr wrap="none" anchor="ctr"/>
          <a:lstStyle/>
          <a:p>
            <a:endParaRPr lang="zh-TW" altLang="en-US"/>
          </a:p>
        </p:txBody>
      </p:sp>
      <p:sp>
        <p:nvSpPr>
          <p:cNvPr id="25603" name="Rectangle 4"/>
          <p:cNvSpPr>
            <a:spLocks noGrp="1" noChangeArrowheads="1"/>
          </p:cNvSpPr>
          <p:nvPr>
            <p:ph type="title"/>
          </p:nvPr>
        </p:nvSpPr>
        <p:spPr>
          <a:xfrm>
            <a:off x="1258530" y="173040"/>
            <a:ext cx="9047521" cy="682368"/>
          </a:xfrm>
        </p:spPr>
        <p:txBody>
          <a:bodyPr/>
          <a:lstStyle/>
          <a:p>
            <a:r>
              <a:rPr lang="en-US" altLang="zh-TW" dirty="0"/>
              <a:t>Two Simple Caches</a:t>
            </a:r>
          </a:p>
        </p:txBody>
      </p:sp>
      <p:sp>
        <p:nvSpPr>
          <p:cNvPr id="14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39</a:t>
            </a:fld>
            <a:endParaRPr lang="zh-TW" altLang="en-US"/>
          </a:p>
        </p:txBody>
      </p:sp>
      <p:graphicFrame>
        <p:nvGraphicFramePr>
          <p:cNvPr id="3" name="Table 3">
            <a:extLst>
              <a:ext uri="{FF2B5EF4-FFF2-40B4-BE49-F238E27FC236}">
                <a16:creationId xmlns:a16="http://schemas.microsoft.com/office/drawing/2014/main" id="{ED1E1085-A0D1-482D-8E58-0B492A7CD204}"/>
              </a:ext>
            </a:extLst>
          </p:cNvPr>
          <p:cNvGraphicFramePr>
            <a:graphicFrameLocks noGrp="1"/>
          </p:cNvGraphicFramePr>
          <p:nvPr>
            <p:extLst>
              <p:ext uri="{D42A27DB-BD31-4B8C-83A1-F6EECF244321}">
                <p14:modId xmlns:p14="http://schemas.microsoft.com/office/powerpoint/2010/main" val="3955508117"/>
              </p:ext>
            </p:extLst>
          </p:nvPr>
        </p:nvGraphicFramePr>
        <p:xfrm>
          <a:off x="161365" y="5282701"/>
          <a:ext cx="11483790" cy="370840"/>
        </p:xfrm>
        <a:graphic>
          <a:graphicData uri="http://schemas.openxmlformats.org/drawingml/2006/table">
            <a:tbl>
              <a:tblPr firstRow="1" bandRow="1">
                <a:tableStyleId>{5C22544A-7EE6-4342-B048-85BDC9FD1C3A}</a:tableStyleId>
              </a:tblPr>
              <a:tblGrid>
                <a:gridCol w="765586">
                  <a:extLst>
                    <a:ext uri="{9D8B030D-6E8A-4147-A177-3AD203B41FA5}">
                      <a16:colId xmlns:a16="http://schemas.microsoft.com/office/drawing/2014/main" val="82528858"/>
                    </a:ext>
                  </a:extLst>
                </a:gridCol>
                <a:gridCol w="765586">
                  <a:extLst>
                    <a:ext uri="{9D8B030D-6E8A-4147-A177-3AD203B41FA5}">
                      <a16:colId xmlns:a16="http://schemas.microsoft.com/office/drawing/2014/main" val="2142732126"/>
                    </a:ext>
                  </a:extLst>
                </a:gridCol>
                <a:gridCol w="765586">
                  <a:extLst>
                    <a:ext uri="{9D8B030D-6E8A-4147-A177-3AD203B41FA5}">
                      <a16:colId xmlns:a16="http://schemas.microsoft.com/office/drawing/2014/main" val="1309982811"/>
                    </a:ext>
                  </a:extLst>
                </a:gridCol>
                <a:gridCol w="765586">
                  <a:extLst>
                    <a:ext uri="{9D8B030D-6E8A-4147-A177-3AD203B41FA5}">
                      <a16:colId xmlns:a16="http://schemas.microsoft.com/office/drawing/2014/main" val="2540695326"/>
                    </a:ext>
                  </a:extLst>
                </a:gridCol>
                <a:gridCol w="765586">
                  <a:extLst>
                    <a:ext uri="{9D8B030D-6E8A-4147-A177-3AD203B41FA5}">
                      <a16:colId xmlns:a16="http://schemas.microsoft.com/office/drawing/2014/main" val="2449459562"/>
                    </a:ext>
                  </a:extLst>
                </a:gridCol>
                <a:gridCol w="765586">
                  <a:extLst>
                    <a:ext uri="{9D8B030D-6E8A-4147-A177-3AD203B41FA5}">
                      <a16:colId xmlns:a16="http://schemas.microsoft.com/office/drawing/2014/main" val="2763889219"/>
                    </a:ext>
                  </a:extLst>
                </a:gridCol>
                <a:gridCol w="765586">
                  <a:extLst>
                    <a:ext uri="{9D8B030D-6E8A-4147-A177-3AD203B41FA5}">
                      <a16:colId xmlns:a16="http://schemas.microsoft.com/office/drawing/2014/main" val="2851306438"/>
                    </a:ext>
                  </a:extLst>
                </a:gridCol>
                <a:gridCol w="765586">
                  <a:extLst>
                    <a:ext uri="{9D8B030D-6E8A-4147-A177-3AD203B41FA5}">
                      <a16:colId xmlns:a16="http://schemas.microsoft.com/office/drawing/2014/main" val="1421097796"/>
                    </a:ext>
                  </a:extLst>
                </a:gridCol>
                <a:gridCol w="765586">
                  <a:extLst>
                    <a:ext uri="{9D8B030D-6E8A-4147-A177-3AD203B41FA5}">
                      <a16:colId xmlns:a16="http://schemas.microsoft.com/office/drawing/2014/main" val="960111391"/>
                    </a:ext>
                  </a:extLst>
                </a:gridCol>
                <a:gridCol w="765586">
                  <a:extLst>
                    <a:ext uri="{9D8B030D-6E8A-4147-A177-3AD203B41FA5}">
                      <a16:colId xmlns:a16="http://schemas.microsoft.com/office/drawing/2014/main" val="618921864"/>
                    </a:ext>
                  </a:extLst>
                </a:gridCol>
                <a:gridCol w="765586">
                  <a:extLst>
                    <a:ext uri="{9D8B030D-6E8A-4147-A177-3AD203B41FA5}">
                      <a16:colId xmlns:a16="http://schemas.microsoft.com/office/drawing/2014/main" val="1992070185"/>
                    </a:ext>
                  </a:extLst>
                </a:gridCol>
                <a:gridCol w="765586">
                  <a:extLst>
                    <a:ext uri="{9D8B030D-6E8A-4147-A177-3AD203B41FA5}">
                      <a16:colId xmlns:a16="http://schemas.microsoft.com/office/drawing/2014/main" val="1622603154"/>
                    </a:ext>
                  </a:extLst>
                </a:gridCol>
                <a:gridCol w="765586">
                  <a:extLst>
                    <a:ext uri="{9D8B030D-6E8A-4147-A177-3AD203B41FA5}">
                      <a16:colId xmlns:a16="http://schemas.microsoft.com/office/drawing/2014/main" val="1743264039"/>
                    </a:ext>
                  </a:extLst>
                </a:gridCol>
                <a:gridCol w="765586">
                  <a:extLst>
                    <a:ext uri="{9D8B030D-6E8A-4147-A177-3AD203B41FA5}">
                      <a16:colId xmlns:a16="http://schemas.microsoft.com/office/drawing/2014/main" val="3587783921"/>
                    </a:ext>
                  </a:extLst>
                </a:gridCol>
                <a:gridCol w="765586">
                  <a:extLst>
                    <a:ext uri="{9D8B030D-6E8A-4147-A177-3AD203B41FA5}">
                      <a16:colId xmlns:a16="http://schemas.microsoft.com/office/drawing/2014/main" val="798685254"/>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53229399"/>
                  </a:ext>
                </a:extLst>
              </a:tr>
            </a:tbl>
          </a:graphicData>
        </a:graphic>
      </p:graphicFrame>
      <p:graphicFrame>
        <p:nvGraphicFramePr>
          <p:cNvPr id="4" name="Table 4">
            <a:extLst>
              <a:ext uri="{FF2B5EF4-FFF2-40B4-BE49-F238E27FC236}">
                <a16:creationId xmlns:a16="http://schemas.microsoft.com/office/drawing/2014/main" id="{FD0BA549-E54B-4C38-985F-3C3B1F8BFA3B}"/>
              </a:ext>
            </a:extLst>
          </p:cNvPr>
          <p:cNvGraphicFramePr>
            <a:graphicFrameLocks noGrp="1"/>
          </p:cNvGraphicFramePr>
          <p:nvPr>
            <p:extLst>
              <p:ext uri="{D42A27DB-BD31-4B8C-83A1-F6EECF244321}">
                <p14:modId xmlns:p14="http://schemas.microsoft.com/office/powerpoint/2010/main" val="3658557705"/>
              </p:ext>
            </p:extLst>
          </p:nvPr>
        </p:nvGraphicFramePr>
        <p:xfrm>
          <a:off x="2743200" y="1867149"/>
          <a:ext cx="2608784" cy="370840"/>
        </p:xfrm>
        <a:graphic>
          <a:graphicData uri="http://schemas.openxmlformats.org/drawingml/2006/table">
            <a:tbl>
              <a:tblPr firstRow="1" bandRow="1">
                <a:tableStyleId>{5C22544A-7EE6-4342-B048-85BDC9FD1C3A}</a:tableStyleId>
              </a:tblPr>
              <a:tblGrid>
                <a:gridCol w="652196">
                  <a:extLst>
                    <a:ext uri="{9D8B030D-6E8A-4147-A177-3AD203B41FA5}">
                      <a16:colId xmlns:a16="http://schemas.microsoft.com/office/drawing/2014/main" val="550929176"/>
                    </a:ext>
                  </a:extLst>
                </a:gridCol>
                <a:gridCol w="652196">
                  <a:extLst>
                    <a:ext uri="{9D8B030D-6E8A-4147-A177-3AD203B41FA5}">
                      <a16:colId xmlns:a16="http://schemas.microsoft.com/office/drawing/2014/main" val="3669468378"/>
                    </a:ext>
                  </a:extLst>
                </a:gridCol>
                <a:gridCol w="652196">
                  <a:extLst>
                    <a:ext uri="{9D8B030D-6E8A-4147-A177-3AD203B41FA5}">
                      <a16:colId xmlns:a16="http://schemas.microsoft.com/office/drawing/2014/main" val="3043544897"/>
                    </a:ext>
                  </a:extLst>
                </a:gridCol>
                <a:gridCol w="652196">
                  <a:extLst>
                    <a:ext uri="{9D8B030D-6E8A-4147-A177-3AD203B41FA5}">
                      <a16:colId xmlns:a16="http://schemas.microsoft.com/office/drawing/2014/main" val="298903636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69637672"/>
                  </a:ext>
                </a:extLst>
              </a:tr>
            </a:tbl>
          </a:graphicData>
        </a:graphic>
      </p:graphicFrame>
      <p:graphicFrame>
        <p:nvGraphicFramePr>
          <p:cNvPr id="139" name="Table 4">
            <a:extLst>
              <a:ext uri="{FF2B5EF4-FFF2-40B4-BE49-F238E27FC236}">
                <a16:creationId xmlns:a16="http://schemas.microsoft.com/office/drawing/2014/main" id="{3EA584CB-E531-46D5-A5F9-973E006F1924}"/>
              </a:ext>
            </a:extLst>
          </p:cNvPr>
          <p:cNvGraphicFramePr>
            <a:graphicFrameLocks noGrp="1"/>
          </p:cNvGraphicFramePr>
          <p:nvPr>
            <p:extLst>
              <p:ext uri="{D42A27DB-BD31-4B8C-83A1-F6EECF244321}">
                <p14:modId xmlns:p14="http://schemas.microsoft.com/office/powerpoint/2010/main" val="1096276867"/>
              </p:ext>
            </p:extLst>
          </p:nvPr>
        </p:nvGraphicFramePr>
        <p:xfrm>
          <a:off x="7010400" y="1867149"/>
          <a:ext cx="2608784" cy="370840"/>
        </p:xfrm>
        <a:graphic>
          <a:graphicData uri="http://schemas.openxmlformats.org/drawingml/2006/table">
            <a:tbl>
              <a:tblPr firstRow="1" bandRow="1">
                <a:tableStyleId>{5C22544A-7EE6-4342-B048-85BDC9FD1C3A}</a:tableStyleId>
              </a:tblPr>
              <a:tblGrid>
                <a:gridCol w="652196">
                  <a:extLst>
                    <a:ext uri="{9D8B030D-6E8A-4147-A177-3AD203B41FA5}">
                      <a16:colId xmlns:a16="http://schemas.microsoft.com/office/drawing/2014/main" val="550929176"/>
                    </a:ext>
                  </a:extLst>
                </a:gridCol>
                <a:gridCol w="652196">
                  <a:extLst>
                    <a:ext uri="{9D8B030D-6E8A-4147-A177-3AD203B41FA5}">
                      <a16:colId xmlns:a16="http://schemas.microsoft.com/office/drawing/2014/main" val="3669468378"/>
                    </a:ext>
                  </a:extLst>
                </a:gridCol>
                <a:gridCol w="652196">
                  <a:extLst>
                    <a:ext uri="{9D8B030D-6E8A-4147-A177-3AD203B41FA5}">
                      <a16:colId xmlns:a16="http://schemas.microsoft.com/office/drawing/2014/main" val="3043544897"/>
                    </a:ext>
                  </a:extLst>
                </a:gridCol>
                <a:gridCol w="652196">
                  <a:extLst>
                    <a:ext uri="{9D8B030D-6E8A-4147-A177-3AD203B41FA5}">
                      <a16:colId xmlns:a16="http://schemas.microsoft.com/office/drawing/2014/main" val="298903636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69637672"/>
                  </a:ext>
                </a:extLst>
              </a:tr>
            </a:tbl>
          </a:graphicData>
        </a:graphic>
      </p:graphicFrame>
      <p:sp>
        <p:nvSpPr>
          <p:cNvPr id="5" name="TextBox 4">
            <a:extLst>
              <a:ext uri="{FF2B5EF4-FFF2-40B4-BE49-F238E27FC236}">
                <a16:creationId xmlns:a16="http://schemas.microsoft.com/office/drawing/2014/main" id="{7FFB4D8F-2398-44CE-A597-2047CA00F627}"/>
              </a:ext>
            </a:extLst>
          </p:cNvPr>
          <p:cNvSpPr txBox="1"/>
          <p:nvPr/>
        </p:nvSpPr>
        <p:spPr>
          <a:xfrm>
            <a:off x="1084784" y="1868657"/>
            <a:ext cx="1043876" cy="369332"/>
          </a:xfrm>
          <a:prstGeom prst="rect">
            <a:avLst/>
          </a:prstGeom>
          <a:noFill/>
        </p:spPr>
        <p:txBody>
          <a:bodyPr wrap="none" rtlCol="0" anchor="ctr" anchorCtr="1">
            <a:spAutoFit/>
          </a:bodyPr>
          <a:lstStyle/>
          <a:p>
            <a:r>
              <a:rPr lang="en-US" dirty="0">
                <a:ea typeface="標楷體" pitchFamily="65" charset="-120"/>
                <a:cs typeface="Calibri" pitchFamily="34" charset="0"/>
              </a:rPr>
              <a:t>Cache 1</a:t>
            </a:r>
          </a:p>
        </p:txBody>
      </p:sp>
      <p:sp>
        <p:nvSpPr>
          <p:cNvPr id="141" name="TextBox 140">
            <a:extLst>
              <a:ext uri="{FF2B5EF4-FFF2-40B4-BE49-F238E27FC236}">
                <a16:creationId xmlns:a16="http://schemas.microsoft.com/office/drawing/2014/main" id="{37E61C58-A7FE-45B5-BFCE-B5CF820BF1E9}"/>
              </a:ext>
            </a:extLst>
          </p:cNvPr>
          <p:cNvSpPr txBox="1"/>
          <p:nvPr/>
        </p:nvSpPr>
        <p:spPr>
          <a:xfrm>
            <a:off x="9879160" y="1867149"/>
            <a:ext cx="1043876" cy="369332"/>
          </a:xfrm>
          <a:prstGeom prst="rect">
            <a:avLst/>
          </a:prstGeom>
          <a:noFill/>
        </p:spPr>
        <p:txBody>
          <a:bodyPr wrap="none" rtlCol="0" anchor="ctr" anchorCtr="1">
            <a:spAutoFit/>
          </a:bodyPr>
          <a:lstStyle/>
          <a:p>
            <a:r>
              <a:rPr lang="en-US" dirty="0">
                <a:ea typeface="標楷體" pitchFamily="65" charset="-120"/>
                <a:cs typeface="Calibri" pitchFamily="34" charset="0"/>
              </a:rPr>
              <a:t>Cache 2</a:t>
            </a:r>
          </a:p>
        </p:txBody>
      </p:sp>
      <p:sp>
        <p:nvSpPr>
          <p:cNvPr id="6" name="Rectangle 5">
            <a:extLst>
              <a:ext uri="{FF2B5EF4-FFF2-40B4-BE49-F238E27FC236}">
                <a16:creationId xmlns:a16="http://schemas.microsoft.com/office/drawing/2014/main" id="{526CC187-056C-43CA-AD58-9A8ED17E865D}"/>
              </a:ext>
            </a:extLst>
          </p:cNvPr>
          <p:cNvSpPr/>
          <p:nvPr/>
        </p:nvSpPr>
        <p:spPr bwMode="auto">
          <a:xfrm>
            <a:off x="3980330" y="528270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EBAC917F-EFCF-4897-B0FB-0897E4D61856}"/>
              </a:ext>
            </a:extLst>
          </p:cNvPr>
          <p:cNvSpPr txBox="1"/>
          <p:nvPr/>
        </p:nvSpPr>
        <p:spPr>
          <a:xfrm>
            <a:off x="1084784" y="2880398"/>
            <a:ext cx="3788217" cy="369332"/>
          </a:xfrm>
          <a:prstGeom prst="rect">
            <a:avLst/>
          </a:prstGeom>
          <a:noFill/>
        </p:spPr>
        <p:txBody>
          <a:bodyPr wrap="none" rtlCol="0" anchor="ctr" anchorCtr="1">
            <a:spAutoFit/>
          </a:bodyPr>
          <a:lstStyle/>
          <a:p>
            <a:r>
              <a:rPr lang="en-US" dirty="0">
                <a:ea typeface="標楷體" pitchFamily="65" charset="-120"/>
                <a:cs typeface="Calibri" pitchFamily="34" charset="0"/>
              </a:rPr>
              <a:t>Where do I place this yellow block?</a:t>
            </a:r>
          </a:p>
        </p:txBody>
      </p:sp>
      <p:sp>
        <p:nvSpPr>
          <p:cNvPr id="144" name="TextBox 143">
            <a:extLst>
              <a:ext uri="{FF2B5EF4-FFF2-40B4-BE49-F238E27FC236}">
                <a16:creationId xmlns:a16="http://schemas.microsoft.com/office/drawing/2014/main" id="{4E178743-118A-4045-963E-918544001BCF}"/>
              </a:ext>
            </a:extLst>
          </p:cNvPr>
          <p:cNvSpPr txBox="1"/>
          <p:nvPr/>
        </p:nvSpPr>
        <p:spPr>
          <a:xfrm>
            <a:off x="260085" y="5719752"/>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0000</a:t>
            </a:r>
          </a:p>
        </p:txBody>
      </p:sp>
      <p:sp>
        <p:nvSpPr>
          <p:cNvPr id="145" name="TextBox 144">
            <a:extLst>
              <a:ext uri="{FF2B5EF4-FFF2-40B4-BE49-F238E27FC236}">
                <a16:creationId xmlns:a16="http://schemas.microsoft.com/office/drawing/2014/main" id="{C30D9B3E-AB6C-4676-8946-6A3AF6609719}"/>
              </a:ext>
            </a:extLst>
          </p:cNvPr>
          <p:cNvSpPr txBox="1"/>
          <p:nvPr/>
        </p:nvSpPr>
        <p:spPr>
          <a:xfrm>
            <a:off x="957712" y="5719752"/>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0001</a:t>
            </a:r>
          </a:p>
        </p:txBody>
      </p:sp>
      <p:sp>
        <p:nvSpPr>
          <p:cNvPr id="146" name="TextBox 145">
            <a:extLst>
              <a:ext uri="{FF2B5EF4-FFF2-40B4-BE49-F238E27FC236}">
                <a16:creationId xmlns:a16="http://schemas.microsoft.com/office/drawing/2014/main" id="{DF2FDA89-525B-4E8F-A3A4-2A6EE9E6A4F9}"/>
              </a:ext>
            </a:extLst>
          </p:cNvPr>
          <p:cNvSpPr txBox="1"/>
          <p:nvPr/>
        </p:nvSpPr>
        <p:spPr>
          <a:xfrm>
            <a:off x="1722034" y="5695041"/>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0010</a:t>
            </a:r>
          </a:p>
        </p:txBody>
      </p:sp>
      <p:sp>
        <p:nvSpPr>
          <p:cNvPr id="147" name="TextBox 146">
            <a:extLst>
              <a:ext uri="{FF2B5EF4-FFF2-40B4-BE49-F238E27FC236}">
                <a16:creationId xmlns:a16="http://schemas.microsoft.com/office/drawing/2014/main" id="{0C79FD94-04CF-4E5C-B2C3-1E4C1C6E34D7}"/>
              </a:ext>
            </a:extLst>
          </p:cNvPr>
          <p:cNvSpPr txBox="1"/>
          <p:nvPr/>
        </p:nvSpPr>
        <p:spPr>
          <a:xfrm>
            <a:off x="2454008" y="5693901"/>
            <a:ext cx="680507" cy="369332"/>
          </a:xfrm>
          <a:prstGeom prst="rect">
            <a:avLst/>
          </a:prstGeom>
          <a:noFill/>
        </p:spPr>
        <p:txBody>
          <a:bodyPr wrap="none" rtlCol="0" anchor="ctr" anchorCtr="1">
            <a:spAutoFit/>
          </a:bodyPr>
          <a:lstStyle/>
          <a:p>
            <a:r>
              <a:rPr lang="en-US" dirty="0">
                <a:ea typeface="標楷體" pitchFamily="65" charset="-120"/>
                <a:cs typeface="Calibri" pitchFamily="34" charset="0"/>
              </a:rPr>
              <a:t>0011</a:t>
            </a:r>
          </a:p>
        </p:txBody>
      </p:sp>
      <p:sp>
        <p:nvSpPr>
          <p:cNvPr id="148" name="TextBox 147">
            <a:extLst>
              <a:ext uri="{FF2B5EF4-FFF2-40B4-BE49-F238E27FC236}">
                <a16:creationId xmlns:a16="http://schemas.microsoft.com/office/drawing/2014/main" id="{43CF2D8A-E0F4-485E-87C0-CABAE2491877}"/>
              </a:ext>
            </a:extLst>
          </p:cNvPr>
          <p:cNvSpPr txBox="1"/>
          <p:nvPr/>
        </p:nvSpPr>
        <p:spPr>
          <a:xfrm>
            <a:off x="3282703" y="5709550"/>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0100</a:t>
            </a:r>
          </a:p>
        </p:txBody>
      </p:sp>
      <p:sp>
        <p:nvSpPr>
          <p:cNvPr id="149" name="TextBox 148">
            <a:extLst>
              <a:ext uri="{FF2B5EF4-FFF2-40B4-BE49-F238E27FC236}">
                <a16:creationId xmlns:a16="http://schemas.microsoft.com/office/drawing/2014/main" id="{B9C5FE5A-17E5-4D85-BF65-3A5F3A165671}"/>
              </a:ext>
            </a:extLst>
          </p:cNvPr>
          <p:cNvSpPr txBox="1"/>
          <p:nvPr/>
        </p:nvSpPr>
        <p:spPr>
          <a:xfrm>
            <a:off x="4016998" y="5693901"/>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0101</a:t>
            </a:r>
          </a:p>
        </p:txBody>
      </p:sp>
      <p:sp>
        <p:nvSpPr>
          <p:cNvPr id="150" name="TextBox 149">
            <a:extLst>
              <a:ext uri="{FF2B5EF4-FFF2-40B4-BE49-F238E27FC236}">
                <a16:creationId xmlns:a16="http://schemas.microsoft.com/office/drawing/2014/main" id="{4A4B6879-A834-4A66-B7A2-9390CEB2A64B}"/>
              </a:ext>
            </a:extLst>
          </p:cNvPr>
          <p:cNvSpPr txBox="1"/>
          <p:nvPr/>
        </p:nvSpPr>
        <p:spPr>
          <a:xfrm>
            <a:off x="4769332" y="5693901"/>
            <a:ext cx="680507" cy="369332"/>
          </a:xfrm>
          <a:prstGeom prst="rect">
            <a:avLst/>
          </a:prstGeom>
          <a:noFill/>
        </p:spPr>
        <p:txBody>
          <a:bodyPr wrap="none" rtlCol="0" anchor="ctr" anchorCtr="1">
            <a:spAutoFit/>
          </a:bodyPr>
          <a:lstStyle/>
          <a:p>
            <a:r>
              <a:rPr lang="en-US" dirty="0">
                <a:ea typeface="標楷體" pitchFamily="65" charset="-120"/>
                <a:cs typeface="Calibri" pitchFamily="34" charset="0"/>
              </a:rPr>
              <a:t>0110</a:t>
            </a:r>
          </a:p>
        </p:txBody>
      </p:sp>
      <p:sp>
        <p:nvSpPr>
          <p:cNvPr id="151" name="TextBox 150">
            <a:extLst>
              <a:ext uri="{FF2B5EF4-FFF2-40B4-BE49-F238E27FC236}">
                <a16:creationId xmlns:a16="http://schemas.microsoft.com/office/drawing/2014/main" id="{D467FC10-A6E1-479B-82B2-ADD2111E42FB}"/>
              </a:ext>
            </a:extLst>
          </p:cNvPr>
          <p:cNvSpPr txBox="1"/>
          <p:nvPr/>
        </p:nvSpPr>
        <p:spPr>
          <a:xfrm>
            <a:off x="5518453" y="5653541"/>
            <a:ext cx="663387" cy="369332"/>
          </a:xfrm>
          <a:prstGeom prst="rect">
            <a:avLst/>
          </a:prstGeom>
          <a:noFill/>
        </p:spPr>
        <p:txBody>
          <a:bodyPr wrap="none" rtlCol="0" anchor="ctr" anchorCtr="1">
            <a:spAutoFit/>
          </a:bodyPr>
          <a:lstStyle/>
          <a:p>
            <a:r>
              <a:rPr lang="en-US" dirty="0">
                <a:ea typeface="標楷體" pitchFamily="65" charset="-120"/>
                <a:cs typeface="Calibri" pitchFamily="34" charset="0"/>
              </a:rPr>
              <a:t>0111</a:t>
            </a:r>
          </a:p>
        </p:txBody>
      </p:sp>
      <p:sp>
        <p:nvSpPr>
          <p:cNvPr id="152" name="TextBox 151">
            <a:extLst>
              <a:ext uri="{FF2B5EF4-FFF2-40B4-BE49-F238E27FC236}">
                <a16:creationId xmlns:a16="http://schemas.microsoft.com/office/drawing/2014/main" id="{42BA93C3-B708-4C8E-BE7A-007BB0E2F182}"/>
              </a:ext>
            </a:extLst>
          </p:cNvPr>
          <p:cNvSpPr txBox="1"/>
          <p:nvPr/>
        </p:nvSpPr>
        <p:spPr>
          <a:xfrm>
            <a:off x="1089950" y="3327457"/>
            <a:ext cx="5314275" cy="646331"/>
          </a:xfrm>
          <a:prstGeom prst="rect">
            <a:avLst/>
          </a:prstGeom>
          <a:noFill/>
        </p:spPr>
        <p:txBody>
          <a:bodyPr wrap="none" rtlCol="0" anchor="ctr" anchorCtr="1">
            <a:spAutoFit/>
          </a:bodyPr>
          <a:lstStyle/>
          <a:p>
            <a:r>
              <a:rPr lang="en-US" dirty="0">
                <a:ea typeface="標楷體" pitchFamily="65" charset="-120"/>
                <a:cs typeface="Calibri" pitchFamily="34" charset="0"/>
              </a:rPr>
              <a:t>In cache 1, I can place the yellow block in any one</a:t>
            </a:r>
          </a:p>
          <a:p>
            <a:r>
              <a:rPr lang="en-US" dirty="0">
                <a:ea typeface="標楷體" pitchFamily="65" charset="-120"/>
                <a:cs typeface="Calibri" pitchFamily="34" charset="0"/>
              </a:rPr>
              <a:t>of the four blocks?</a:t>
            </a:r>
          </a:p>
        </p:txBody>
      </p:sp>
      <p:sp>
        <p:nvSpPr>
          <p:cNvPr id="153" name="Rectangle 152">
            <a:extLst>
              <a:ext uri="{FF2B5EF4-FFF2-40B4-BE49-F238E27FC236}">
                <a16:creationId xmlns:a16="http://schemas.microsoft.com/office/drawing/2014/main" id="{C4133C3D-8401-4E53-A8A7-01BA8947FBD0}"/>
              </a:ext>
            </a:extLst>
          </p:cNvPr>
          <p:cNvSpPr/>
          <p:nvPr/>
        </p:nvSpPr>
        <p:spPr bwMode="auto">
          <a:xfrm>
            <a:off x="3980329" y="1855614"/>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4" name="TextBox 153">
            <a:extLst>
              <a:ext uri="{FF2B5EF4-FFF2-40B4-BE49-F238E27FC236}">
                <a16:creationId xmlns:a16="http://schemas.microsoft.com/office/drawing/2014/main" id="{1E3D2B40-61B8-451C-8E59-85C4EDB73A2E}"/>
              </a:ext>
            </a:extLst>
          </p:cNvPr>
          <p:cNvSpPr txBox="1"/>
          <p:nvPr/>
        </p:nvSpPr>
        <p:spPr>
          <a:xfrm>
            <a:off x="3980329" y="1548582"/>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0101</a:t>
            </a:r>
          </a:p>
        </p:txBody>
      </p:sp>
      <p:sp>
        <p:nvSpPr>
          <p:cNvPr id="155" name="Rectangle 154">
            <a:extLst>
              <a:ext uri="{FF2B5EF4-FFF2-40B4-BE49-F238E27FC236}">
                <a16:creationId xmlns:a16="http://schemas.microsoft.com/office/drawing/2014/main" id="{618224F0-1A44-4680-921F-840231D29C70}"/>
              </a:ext>
            </a:extLst>
          </p:cNvPr>
          <p:cNvSpPr/>
          <p:nvPr/>
        </p:nvSpPr>
        <p:spPr bwMode="auto">
          <a:xfrm>
            <a:off x="932613" y="528270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6" name="Rectangle 155">
            <a:extLst>
              <a:ext uri="{FF2B5EF4-FFF2-40B4-BE49-F238E27FC236}">
                <a16:creationId xmlns:a16="http://schemas.microsoft.com/office/drawing/2014/main" id="{0063EF3C-FAD1-4026-A16A-D66CCCE0BB86}"/>
              </a:ext>
            </a:extLst>
          </p:cNvPr>
          <p:cNvSpPr/>
          <p:nvPr/>
        </p:nvSpPr>
        <p:spPr bwMode="auto">
          <a:xfrm>
            <a:off x="2664722" y="1887329"/>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7" name="TextBox 156">
            <a:extLst>
              <a:ext uri="{FF2B5EF4-FFF2-40B4-BE49-F238E27FC236}">
                <a16:creationId xmlns:a16="http://schemas.microsoft.com/office/drawing/2014/main" id="{8B3E2598-5604-46DC-B69C-3BEBAEDAFBE9}"/>
              </a:ext>
            </a:extLst>
          </p:cNvPr>
          <p:cNvSpPr txBox="1"/>
          <p:nvPr/>
        </p:nvSpPr>
        <p:spPr>
          <a:xfrm>
            <a:off x="2679285" y="1564231"/>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0001</a:t>
            </a:r>
          </a:p>
        </p:txBody>
      </p:sp>
      <p:sp>
        <p:nvSpPr>
          <p:cNvPr id="158" name="TextBox 157">
            <a:extLst>
              <a:ext uri="{FF2B5EF4-FFF2-40B4-BE49-F238E27FC236}">
                <a16:creationId xmlns:a16="http://schemas.microsoft.com/office/drawing/2014/main" id="{EE770DF1-2DF5-473F-89F3-98CB99739EF2}"/>
              </a:ext>
            </a:extLst>
          </p:cNvPr>
          <p:cNvSpPr txBox="1"/>
          <p:nvPr/>
        </p:nvSpPr>
        <p:spPr>
          <a:xfrm>
            <a:off x="1084784" y="4145070"/>
            <a:ext cx="3560590" cy="461665"/>
          </a:xfrm>
          <a:prstGeom prst="rect">
            <a:avLst/>
          </a:prstGeom>
          <a:noFill/>
        </p:spPr>
        <p:txBody>
          <a:bodyPr wrap="none" rtlCol="0" anchor="ctr" anchorCtr="1">
            <a:spAutoFit/>
          </a:bodyPr>
          <a:lstStyle/>
          <a:p>
            <a:r>
              <a:rPr lang="en-US" dirty="0">
                <a:ea typeface="標楷體" pitchFamily="65" charset="-120"/>
                <a:cs typeface="Calibri" pitchFamily="34" charset="0"/>
              </a:rPr>
              <a:t>Cache1 is </a:t>
            </a:r>
            <a:r>
              <a:rPr lang="en-US" sz="2400" dirty="0">
                <a:solidFill>
                  <a:srgbClr val="FF0000"/>
                </a:solidFill>
                <a:ea typeface="標楷體" pitchFamily="65" charset="-120"/>
                <a:cs typeface="Calibri" pitchFamily="34" charset="0"/>
              </a:rPr>
              <a:t>fully associative</a:t>
            </a:r>
            <a:r>
              <a:rPr lang="en-US" dirty="0">
                <a:ea typeface="標楷體" pitchFamily="65" charset="-120"/>
                <a:cs typeface="Calibri" pitchFamily="34" charset="0"/>
              </a:rPr>
              <a:t>?</a:t>
            </a:r>
          </a:p>
        </p:txBody>
      </p:sp>
      <p:sp>
        <p:nvSpPr>
          <p:cNvPr id="159" name="TextBox 158">
            <a:extLst>
              <a:ext uri="{FF2B5EF4-FFF2-40B4-BE49-F238E27FC236}">
                <a16:creationId xmlns:a16="http://schemas.microsoft.com/office/drawing/2014/main" id="{F1BD9CE0-5819-4589-8089-9E379D5CD593}"/>
              </a:ext>
            </a:extLst>
          </p:cNvPr>
          <p:cNvSpPr txBox="1"/>
          <p:nvPr/>
        </p:nvSpPr>
        <p:spPr>
          <a:xfrm>
            <a:off x="6737715" y="3253790"/>
            <a:ext cx="4993675" cy="646331"/>
          </a:xfrm>
          <a:prstGeom prst="rect">
            <a:avLst/>
          </a:prstGeom>
          <a:noFill/>
        </p:spPr>
        <p:txBody>
          <a:bodyPr wrap="none" rtlCol="0" anchor="ctr" anchorCtr="1">
            <a:spAutoFit/>
          </a:bodyPr>
          <a:lstStyle/>
          <a:p>
            <a:r>
              <a:rPr lang="en-US" dirty="0">
                <a:ea typeface="標楷體" pitchFamily="65" charset="-120"/>
                <a:cs typeface="Calibri" pitchFamily="34" charset="0"/>
              </a:rPr>
              <a:t>In cache 2, I can place the yellow block only at </a:t>
            </a:r>
          </a:p>
          <a:p>
            <a:r>
              <a:rPr lang="en-US" dirty="0">
                <a:ea typeface="標楷體" pitchFamily="65" charset="-120"/>
                <a:cs typeface="Calibri" pitchFamily="34" charset="0"/>
              </a:rPr>
              <a:t>the cache block with identical lower two bits</a:t>
            </a:r>
          </a:p>
        </p:txBody>
      </p:sp>
      <p:sp>
        <p:nvSpPr>
          <p:cNvPr id="160" name="TextBox 159">
            <a:extLst>
              <a:ext uri="{FF2B5EF4-FFF2-40B4-BE49-F238E27FC236}">
                <a16:creationId xmlns:a16="http://schemas.microsoft.com/office/drawing/2014/main" id="{1089A65F-1EBA-48C1-B7EF-00C7007E0791}"/>
              </a:ext>
            </a:extLst>
          </p:cNvPr>
          <p:cNvSpPr txBox="1"/>
          <p:nvPr/>
        </p:nvSpPr>
        <p:spPr>
          <a:xfrm>
            <a:off x="7094653" y="217649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00</a:t>
            </a:r>
          </a:p>
        </p:txBody>
      </p:sp>
      <p:sp>
        <p:nvSpPr>
          <p:cNvPr id="161" name="TextBox 160">
            <a:extLst>
              <a:ext uri="{FF2B5EF4-FFF2-40B4-BE49-F238E27FC236}">
                <a16:creationId xmlns:a16="http://schemas.microsoft.com/office/drawing/2014/main" id="{CC7C47FE-15D7-4CB1-96E0-0DDAFA8B51C3}"/>
              </a:ext>
            </a:extLst>
          </p:cNvPr>
          <p:cNvSpPr txBox="1"/>
          <p:nvPr/>
        </p:nvSpPr>
        <p:spPr>
          <a:xfrm>
            <a:off x="7783292" y="215883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01</a:t>
            </a:r>
          </a:p>
        </p:txBody>
      </p:sp>
      <p:sp>
        <p:nvSpPr>
          <p:cNvPr id="162" name="TextBox 161">
            <a:extLst>
              <a:ext uri="{FF2B5EF4-FFF2-40B4-BE49-F238E27FC236}">
                <a16:creationId xmlns:a16="http://schemas.microsoft.com/office/drawing/2014/main" id="{FD8C81EF-1E5D-4AA5-A81A-E4EE66073984}"/>
              </a:ext>
            </a:extLst>
          </p:cNvPr>
          <p:cNvSpPr txBox="1"/>
          <p:nvPr/>
        </p:nvSpPr>
        <p:spPr>
          <a:xfrm>
            <a:off x="8410260" y="215883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10</a:t>
            </a:r>
          </a:p>
        </p:txBody>
      </p:sp>
      <p:sp>
        <p:nvSpPr>
          <p:cNvPr id="163" name="TextBox 162">
            <a:extLst>
              <a:ext uri="{FF2B5EF4-FFF2-40B4-BE49-F238E27FC236}">
                <a16:creationId xmlns:a16="http://schemas.microsoft.com/office/drawing/2014/main" id="{A750EF82-2393-41AD-BCBD-3583E5E73F6D}"/>
              </a:ext>
            </a:extLst>
          </p:cNvPr>
          <p:cNvSpPr txBox="1"/>
          <p:nvPr/>
        </p:nvSpPr>
        <p:spPr>
          <a:xfrm>
            <a:off x="9037228" y="2171510"/>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164" name="Rectangle 163">
            <a:extLst>
              <a:ext uri="{FF2B5EF4-FFF2-40B4-BE49-F238E27FC236}">
                <a16:creationId xmlns:a16="http://schemas.microsoft.com/office/drawing/2014/main" id="{E4784239-80C7-4ADB-B12C-0C4D0808D128}"/>
              </a:ext>
            </a:extLst>
          </p:cNvPr>
          <p:cNvSpPr/>
          <p:nvPr/>
        </p:nvSpPr>
        <p:spPr bwMode="auto">
          <a:xfrm>
            <a:off x="7618383" y="1852194"/>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5" name="TextBox 164">
            <a:extLst>
              <a:ext uri="{FF2B5EF4-FFF2-40B4-BE49-F238E27FC236}">
                <a16:creationId xmlns:a16="http://schemas.microsoft.com/office/drawing/2014/main" id="{B250A944-36D7-458F-8AC1-BCBED374CA7A}"/>
              </a:ext>
            </a:extLst>
          </p:cNvPr>
          <p:cNvSpPr txBox="1"/>
          <p:nvPr/>
        </p:nvSpPr>
        <p:spPr>
          <a:xfrm>
            <a:off x="7618383" y="1548582"/>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0101</a:t>
            </a:r>
          </a:p>
        </p:txBody>
      </p:sp>
      <p:sp>
        <p:nvSpPr>
          <p:cNvPr id="166" name="Rectangle 165">
            <a:extLst>
              <a:ext uri="{FF2B5EF4-FFF2-40B4-BE49-F238E27FC236}">
                <a16:creationId xmlns:a16="http://schemas.microsoft.com/office/drawing/2014/main" id="{151B7BF3-2BB2-48C4-91FB-C53A069523A3}"/>
              </a:ext>
            </a:extLst>
          </p:cNvPr>
          <p:cNvSpPr/>
          <p:nvPr/>
        </p:nvSpPr>
        <p:spPr bwMode="auto">
          <a:xfrm>
            <a:off x="7639296" y="244901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7" name="TextBox 166">
            <a:extLst>
              <a:ext uri="{FF2B5EF4-FFF2-40B4-BE49-F238E27FC236}">
                <a16:creationId xmlns:a16="http://schemas.microsoft.com/office/drawing/2014/main" id="{A29025B0-2074-4F67-A7CA-A6F7401626C5}"/>
              </a:ext>
            </a:extLst>
          </p:cNvPr>
          <p:cNvSpPr txBox="1"/>
          <p:nvPr/>
        </p:nvSpPr>
        <p:spPr>
          <a:xfrm>
            <a:off x="7655051" y="2739188"/>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0001</a:t>
            </a:r>
          </a:p>
        </p:txBody>
      </p:sp>
      <p:sp>
        <p:nvSpPr>
          <p:cNvPr id="168" name="TextBox 167">
            <a:extLst>
              <a:ext uri="{FF2B5EF4-FFF2-40B4-BE49-F238E27FC236}">
                <a16:creationId xmlns:a16="http://schemas.microsoft.com/office/drawing/2014/main" id="{B94BE49D-34CC-469B-9A7B-72D31C0731CB}"/>
              </a:ext>
            </a:extLst>
          </p:cNvPr>
          <p:cNvSpPr txBox="1"/>
          <p:nvPr/>
        </p:nvSpPr>
        <p:spPr>
          <a:xfrm>
            <a:off x="6805404" y="4103228"/>
            <a:ext cx="3244799" cy="461665"/>
          </a:xfrm>
          <a:prstGeom prst="rect">
            <a:avLst/>
          </a:prstGeom>
          <a:noFill/>
        </p:spPr>
        <p:txBody>
          <a:bodyPr wrap="none" rtlCol="0" anchor="ctr" anchorCtr="1">
            <a:spAutoFit/>
          </a:bodyPr>
          <a:lstStyle/>
          <a:p>
            <a:r>
              <a:rPr lang="en-US" dirty="0">
                <a:ea typeface="標楷體" pitchFamily="65" charset="-120"/>
                <a:cs typeface="Calibri" pitchFamily="34" charset="0"/>
              </a:rPr>
              <a:t>Cache2 is </a:t>
            </a:r>
            <a:r>
              <a:rPr lang="en-US" sz="2400" dirty="0">
                <a:solidFill>
                  <a:srgbClr val="FF0000"/>
                </a:solidFill>
                <a:ea typeface="標楷體" pitchFamily="65" charset="-120"/>
                <a:cs typeface="Calibri" pitchFamily="34" charset="0"/>
              </a:rPr>
              <a:t>direct-mapped</a:t>
            </a:r>
          </a:p>
        </p:txBody>
      </p:sp>
      <p:sp>
        <p:nvSpPr>
          <p:cNvPr id="8" name="TextBox 7">
            <a:extLst>
              <a:ext uri="{FF2B5EF4-FFF2-40B4-BE49-F238E27FC236}">
                <a16:creationId xmlns:a16="http://schemas.microsoft.com/office/drawing/2014/main" id="{D72D04AA-483A-4AB2-BEA8-81424D18F93B}"/>
              </a:ext>
            </a:extLst>
          </p:cNvPr>
          <p:cNvSpPr txBox="1"/>
          <p:nvPr/>
        </p:nvSpPr>
        <p:spPr>
          <a:xfrm>
            <a:off x="4714625" y="1150157"/>
            <a:ext cx="505267" cy="369332"/>
          </a:xfrm>
          <a:prstGeom prst="rect">
            <a:avLst/>
          </a:prstGeom>
          <a:noFill/>
        </p:spPr>
        <p:txBody>
          <a:bodyPr wrap="none" rtlCol="0" anchor="ctr" anchorCtr="1">
            <a:spAutoFit/>
          </a:bodyPr>
          <a:lstStyle/>
          <a:p>
            <a:r>
              <a:rPr lang="en-US" dirty="0">
                <a:ea typeface="標楷體" pitchFamily="65" charset="-120"/>
                <a:cs typeface="Calibri" pitchFamily="34" charset="0"/>
              </a:rPr>
              <a:t>tag</a:t>
            </a:r>
          </a:p>
        </p:txBody>
      </p:sp>
      <p:sp>
        <p:nvSpPr>
          <p:cNvPr id="39" name="TextBox 38">
            <a:extLst>
              <a:ext uri="{FF2B5EF4-FFF2-40B4-BE49-F238E27FC236}">
                <a16:creationId xmlns:a16="http://schemas.microsoft.com/office/drawing/2014/main" id="{1586F088-8298-4A41-AEB9-954819B42A56}"/>
              </a:ext>
            </a:extLst>
          </p:cNvPr>
          <p:cNvSpPr txBox="1"/>
          <p:nvPr/>
        </p:nvSpPr>
        <p:spPr>
          <a:xfrm>
            <a:off x="3980329" y="1177742"/>
            <a:ext cx="697627" cy="369332"/>
          </a:xfrm>
          <a:prstGeom prst="rect">
            <a:avLst/>
          </a:prstGeom>
          <a:noFill/>
        </p:spPr>
        <p:txBody>
          <a:bodyPr wrap="none" rtlCol="0" anchor="ctr" anchorCtr="1">
            <a:spAutoFit/>
          </a:bodyPr>
          <a:lstStyle/>
          <a:p>
            <a:r>
              <a:rPr lang="en-US" dirty="0">
                <a:solidFill>
                  <a:srgbClr val="7030A0"/>
                </a:solidFill>
                <a:ea typeface="標楷體" pitchFamily="65" charset="-120"/>
                <a:cs typeface="Calibri" pitchFamily="34" charset="0"/>
              </a:rPr>
              <a:t>0101</a:t>
            </a:r>
          </a:p>
        </p:txBody>
      </p:sp>
      <p:cxnSp>
        <p:nvCxnSpPr>
          <p:cNvPr id="40" name="Straight Arrow Connector 39">
            <a:extLst>
              <a:ext uri="{FF2B5EF4-FFF2-40B4-BE49-F238E27FC236}">
                <a16:creationId xmlns:a16="http://schemas.microsoft.com/office/drawing/2014/main" id="{193C7174-B433-4DBE-B4CB-FA4D0B855C9C}"/>
              </a:ext>
            </a:extLst>
          </p:cNvPr>
          <p:cNvCxnSpPr>
            <a:cxnSpLocks/>
          </p:cNvCxnSpPr>
          <p:nvPr/>
        </p:nvCxnSpPr>
        <p:spPr bwMode="auto">
          <a:xfrm flipH="1">
            <a:off x="4645374" y="1428864"/>
            <a:ext cx="227629" cy="0"/>
          </a:xfrm>
          <a:prstGeom prst="straightConnector1">
            <a:avLst/>
          </a:prstGeom>
          <a:noFill/>
          <a:ln w="15875" cap="flat" cmpd="sng" algn="ctr">
            <a:solidFill>
              <a:srgbClr val="FF0000"/>
            </a:solidFill>
            <a:prstDash val="solid"/>
            <a:round/>
            <a:headEnd type="none" w="med" len="med"/>
            <a:tailEnd type="triangle"/>
          </a:ln>
          <a:effectLst/>
        </p:spPr>
      </p:cxnSp>
      <p:sp>
        <p:nvSpPr>
          <p:cNvPr id="42" name="TextBox 41">
            <a:extLst>
              <a:ext uri="{FF2B5EF4-FFF2-40B4-BE49-F238E27FC236}">
                <a16:creationId xmlns:a16="http://schemas.microsoft.com/office/drawing/2014/main" id="{7D573F4C-A4A2-4187-B4CF-6675F983943F}"/>
              </a:ext>
            </a:extLst>
          </p:cNvPr>
          <p:cNvSpPr txBox="1"/>
          <p:nvPr/>
        </p:nvSpPr>
        <p:spPr>
          <a:xfrm>
            <a:off x="8500969" y="1121499"/>
            <a:ext cx="505267" cy="369332"/>
          </a:xfrm>
          <a:prstGeom prst="rect">
            <a:avLst/>
          </a:prstGeom>
          <a:noFill/>
        </p:spPr>
        <p:txBody>
          <a:bodyPr wrap="none" rtlCol="0" anchor="ctr" anchorCtr="1">
            <a:spAutoFit/>
          </a:bodyPr>
          <a:lstStyle/>
          <a:p>
            <a:r>
              <a:rPr lang="en-US" dirty="0">
                <a:ea typeface="標楷體" pitchFamily="65" charset="-120"/>
                <a:cs typeface="Calibri" pitchFamily="34" charset="0"/>
              </a:rPr>
              <a:t>tag</a:t>
            </a:r>
          </a:p>
        </p:txBody>
      </p:sp>
      <p:sp>
        <p:nvSpPr>
          <p:cNvPr id="43" name="TextBox 42">
            <a:extLst>
              <a:ext uri="{FF2B5EF4-FFF2-40B4-BE49-F238E27FC236}">
                <a16:creationId xmlns:a16="http://schemas.microsoft.com/office/drawing/2014/main" id="{8CEB6CFC-C2DA-45DF-8263-8F7A56E71CB2}"/>
              </a:ext>
            </a:extLst>
          </p:cNvPr>
          <p:cNvSpPr txBox="1"/>
          <p:nvPr/>
        </p:nvSpPr>
        <p:spPr>
          <a:xfrm>
            <a:off x="7911532" y="1158874"/>
            <a:ext cx="441146" cy="369332"/>
          </a:xfrm>
          <a:prstGeom prst="rect">
            <a:avLst/>
          </a:prstGeom>
          <a:noFill/>
        </p:spPr>
        <p:txBody>
          <a:bodyPr wrap="none" rtlCol="0" anchor="ctr" anchorCtr="1">
            <a:spAutoFit/>
          </a:bodyPr>
          <a:lstStyle/>
          <a:p>
            <a:r>
              <a:rPr lang="en-US" dirty="0">
                <a:solidFill>
                  <a:srgbClr val="7030A0"/>
                </a:solidFill>
                <a:ea typeface="標楷體" pitchFamily="65" charset="-120"/>
                <a:cs typeface="Calibri" pitchFamily="34" charset="0"/>
              </a:rPr>
              <a:t>01</a:t>
            </a:r>
          </a:p>
        </p:txBody>
      </p:sp>
      <p:cxnSp>
        <p:nvCxnSpPr>
          <p:cNvPr id="44" name="Straight Arrow Connector 43">
            <a:extLst>
              <a:ext uri="{FF2B5EF4-FFF2-40B4-BE49-F238E27FC236}">
                <a16:creationId xmlns:a16="http://schemas.microsoft.com/office/drawing/2014/main" id="{27E65357-6512-4404-8838-1C6F52192793}"/>
              </a:ext>
            </a:extLst>
          </p:cNvPr>
          <p:cNvCxnSpPr>
            <a:cxnSpLocks/>
          </p:cNvCxnSpPr>
          <p:nvPr/>
        </p:nvCxnSpPr>
        <p:spPr bwMode="auto">
          <a:xfrm flipH="1">
            <a:off x="8279500" y="1396704"/>
            <a:ext cx="374069" cy="6717"/>
          </a:xfrm>
          <a:prstGeom prst="straightConnector1">
            <a:avLst/>
          </a:prstGeom>
          <a:noFill/>
          <a:ln w="15875" cap="flat" cmpd="sng" algn="ctr">
            <a:solidFill>
              <a:srgbClr val="FF0000"/>
            </a:solidFill>
            <a:prstDash val="solid"/>
            <a:round/>
            <a:headEnd type="none" w="med" len="med"/>
            <a:tailEnd type="triangle"/>
          </a:ln>
          <a:effectLst/>
        </p:spPr>
      </p:cxnSp>
      <p:sp>
        <p:nvSpPr>
          <p:cNvPr id="46" name="TextBox 45">
            <a:extLst>
              <a:ext uri="{FF2B5EF4-FFF2-40B4-BE49-F238E27FC236}">
                <a16:creationId xmlns:a16="http://schemas.microsoft.com/office/drawing/2014/main" id="{7D6BFD25-9D53-469E-8291-CFCD5807E9C9}"/>
              </a:ext>
            </a:extLst>
          </p:cNvPr>
          <p:cNvSpPr txBox="1"/>
          <p:nvPr/>
        </p:nvSpPr>
        <p:spPr>
          <a:xfrm>
            <a:off x="7804205" y="2945010"/>
            <a:ext cx="441146" cy="369332"/>
          </a:xfrm>
          <a:prstGeom prst="rect">
            <a:avLst/>
          </a:prstGeom>
          <a:noFill/>
        </p:spPr>
        <p:txBody>
          <a:bodyPr wrap="none" rtlCol="0" anchor="ctr" anchorCtr="1">
            <a:spAutoFit/>
          </a:bodyPr>
          <a:lstStyle/>
          <a:p>
            <a:r>
              <a:rPr lang="en-US" dirty="0">
                <a:solidFill>
                  <a:srgbClr val="7030A0"/>
                </a:solidFill>
                <a:ea typeface="標楷體" pitchFamily="65" charset="-120"/>
                <a:cs typeface="Calibri" pitchFamily="34" charset="0"/>
              </a:rPr>
              <a:t>00</a:t>
            </a:r>
          </a:p>
        </p:txBody>
      </p:sp>
      <p:cxnSp>
        <p:nvCxnSpPr>
          <p:cNvPr id="45" name="Straight Arrow Connector 44">
            <a:extLst>
              <a:ext uri="{FF2B5EF4-FFF2-40B4-BE49-F238E27FC236}">
                <a16:creationId xmlns:a16="http://schemas.microsoft.com/office/drawing/2014/main" id="{016B3748-6BBE-49B0-AB0F-87913767BECE}"/>
              </a:ext>
            </a:extLst>
          </p:cNvPr>
          <p:cNvCxnSpPr>
            <a:cxnSpLocks/>
          </p:cNvCxnSpPr>
          <p:nvPr/>
        </p:nvCxnSpPr>
        <p:spPr bwMode="auto">
          <a:xfrm flipH="1">
            <a:off x="8105776" y="1396704"/>
            <a:ext cx="476249" cy="1711816"/>
          </a:xfrm>
          <a:prstGeom prst="straightConnector1">
            <a:avLst/>
          </a:prstGeom>
          <a:noFill/>
          <a:ln w="15875" cap="flat" cmpd="sng" algn="ctr">
            <a:solidFill>
              <a:srgbClr val="FF0000"/>
            </a:solidFill>
            <a:prstDash val="solid"/>
            <a:round/>
            <a:headEnd type="none" w="med" len="med"/>
            <a:tailEnd type="triangle"/>
          </a:ln>
          <a:effectLst/>
        </p:spPr>
      </p:cxnSp>
      <p:sp>
        <p:nvSpPr>
          <p:cNvPr id="2" name="TextBox 1">
            <a:extLst>
              <a:ext uri="{FF2B5EF4-FFF2-40B4-BE49-F238E27FC236}">
                <a16:creationId xmlns:a16="http://schemas.microsoft.com/office/drawing/2014/main" id="{73CC26F5-2BE5-496D-B778-373A214172ED}"/>
              </a:ext>
            </a:extLst>
          </p:cNvPr>
          <p:cNvSpPr txBox="1"/>
          <p:nvPr/>
        </p:nvSpPr>
        <p:spPr>
          <a:xfrm>
            <a:off x="7174927" y="5733027"/>
            <a:ext cx="4211409" cy="369332"/>
          </a:xfrm>
          <a:prstGeom prst="rect">
            <a:avLst/>
          </a:prstGeom>
          <a:solidFill>
            <a:srgbClr val="FFC000"/>
          </a:solidFill>
          <a:ln>
            <a:solidFill>
              <a:schemeClr val="tx1">
                <a:lumMod val="85000"/>
                <a:lumOff val="15000"/>
              </a:schemeClr>
            </a:solidFill>
          </a:ln>
        </p:spPr>
        <p:txBody>
          <a:bodyPr wrap="none" rtlCol="0" anchor="ctr" anchorCtr="1">
            <a:spAutoFit/>
          </a:bodyPr>
          <a:lstStyle/>
          <a:p>
            <a:r>
              <a:rPr lang="en-US" dirty="0">
                <a:ea typeface="標楷體" pitchFamily="65" charset="-120"/>
                <a:cs typeface="Calibri" pitchFamily="34" charset="0"/>
              </a:rPr>
              <a:t>Each block is a cache line with 64Bytes</a:t>
            </a:r>
          </a:p>
        </p:txBody>
      </p:sp>
      <p:sp>
        <p:nvSpPr>
          <p:cNvPr id="47" name="TextBox 46">
            <a:extLst>
              <a:ext uri="{FF2B5EF4-FFF2-40B4-BE49-F238E27FC236}">
                <a16:creationId xmlns:a16="http://schemas.microsoft.com/office/drawing/2014/main" id="{8A6F3CA5-A517-463D-ACD8-D807832426AA}"/>
              </a:ext>
            </a:extLst>
          </p:cNvPr>
          <p:cNvSpPr txBox="1"/>
          <p:nvPr/>
        </p:nvSpPr>
        <p:spPr>
          <a:xfrm>
            <a:off x="1511307" y="5990953"/>
            <a:ext cx="3935693" cy="338554"/>
          </a:xfrm>
          <a:prstGeom prst="rect">
            <a:avLst/>
          </a:prstGeom>
          <a:solidFill>
            <a:srgbClr val="FFC000"/>
          </a:solidFill>
          <a:ln>
            <a:solidFill>
              <a:schemeClr val="tx1">
                <a:lumMod val="85000"/>
                <a:lumOff val="15000"/>
              </a:schemeClr>
            </a:solidFill>
          </a:ln>
        </p:spPr>
        <p:txBody>
          <a:bodyPr wrap="none" rtlCol="0" anchor="ctr" anchorCtr="1">
            <a:spAutoFit/>
          </a:bodyPr>
          <a:lstStyle/>
          <a:p>
            <a:r>
              <a:rPr lang="en-US" sz="1600" dirty="0">
                <a:ea typeface="標楷體" pitchFamily="65" charset="-120"/>
                <a:cs typeface="Calibri" pitchFamily="34" charset="0"/>
              </a:rPr>
              <a:t>These are cache line (aka block) address</a:t>
            </a:r>
          </a:p>
        </p:txBody>
      </p:sp>
    </p:spTree>
    <p:extLst>
      <p:ext uri="{BB962C8B-B14F-4D97-AF65-F5344CB8AC3E}">
        <p14:creationId xmlns:p14="http://schemas.microsoft.com/office/powerpoint/2010/main" val="312707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52" grpId="0"/>
      <p:bldP spid="153" grpId="0" animBg="1"/>
      <p:bldP spid="154" grpId="0"/>
      <p:bldP spid="155" grpId="0" animBg="1"/>
      <p:bldP spid="156" grpId="0" animBg="1"/>
      <p:bldP spid="157" grpId="0"/>
      <p:bldP spid="158" grpId="0"/>
      <p:bldP spid="159" grpId="0"/>
      <p:bldP spid="164" grpId="0" animBg="1"/>
      <p:bldP spid="165" grpId="0"/>
      <p:bldP spid="166" grpId="0" animBg="1"/>
      <p:bldP spid="167" grpId="0"/>
      <p:bldP spid="168" grpId="0"/>
      <p:bldP spid="8" grpId="0"/>
      <p:bldP spid="39" grpId="0"/>
      <p:bldP spid="42" grpId="0"/>
      <p:bldP spid="43" grpId="0"/>
      <p:bldP spid="4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387475" y="312739"/>
            <a:ext cx="1112839" cy="477837"/>
          </a:xfrm>
          <a:prstGeom prst="rect">
            <a:avLst/>
          </a:prstGeom>
          <a:noFill/>
          <a:ln w="12700">
            <a:noFill/>
            <a:miter lim="800000"/>
          </a:ln>
        </p:spPr>
        <p:txBody>
          <a:bodyPr wrap="none" anchor="ctr"/>
          <a:lstStyle/>
          <a:p>
            <a:endParaRPr lang="zh-TW" altLang="en-US"/>
          </a:p>
        </p:txBody>
      </p:sp>
      <p:sp>
        <p:nvSpPr>
          <p:cNvPr id="25603" name="Rectangle 4"/>
          <p:cNvSpPr>
            <a:spLocks noGrp="1" noChangeArrowheads="1"/>
          </p:cNvSpPr>
          <p:nvPr>
            <p:ph type="title"/>
          </p:nvPr>
        </p:nvSpPr>
        <p:spPr>
          <a:xfrm>
            <a:off x="1258530" y="173040"/>
            <a:ext cx="9047521" cy="682368"/>
          </a:xfrm>
        </p:spPr>
        <p:txBody>
          <a:bodyPr/>
          <a:lstStyle/>
          <a:p>
            <a:r>
              <a:rPr lang="en-US" altLang="zh-TW" dirty="0"/>
              <a:t>Which one is better?</a:t>
            </a:r>
          </a:p>
        </p:txBody>
      </p:sp>
      <p:sp>
        <p:nvSpPr>
          <p:cNvPr id="14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40</a:t>
            </a:fld>
            <a:endParaRPr lang="zh-TW" altLang="en-US"/>
          </a:p>
        </p:txBody>
      </p:sp>
      <p:graphicFrame>
        <p:nvGraphicFramePr>
          <p:cNvPr id="3" name="Table 3">
            <a:extLst>
              <a:ext uri="{FF2B5EF4-FFF2-40B4-BE49-F238E27FC236}">
                <a16:creationId xmlns:a16="http://schemas.microsoft.com/office/drawing/2014/main" id="{ED1E1085-A0D1-482D-8E58-0B492A7CD204}"/>
              </a:ext>
            </a:extLst>
          </p:cNvPr>
          <p:cNvGraphicFramePr>
            <a:graphicFrameLocks noGrp="1"/>
          </p:cNvGraphicFramePr>
          <p:nvPr/>
        </p:nvGraphicFramePr>
        <p:xfrm>
          <a:off x="161365" y="5282701"/>
          <a:ext cx="11483790" cy="370840"/>
        </p:xfrm>
        <a:graphic>
          <a:graphicData uri="http://schemas.openxmlformats.org/drawingml/2006/table">
            <a:tbl>
              <a:tblPr firstRow="1" bandRow="1">
                <a:tableStyleId>{5C22544A-7EE6-4342-B048-85BDC9FD1C3A}</a:tableStyleId>
              </a:tblPr>
              <a:tblGrid>
                <a:gridCol w="765586">
                  <a:extLst>
                    <a:ext uri="{9D8B030D-6E8A-4147-A177-3AD203B41FA5}">
                      <a16:colId xmlns:a16="http://schemas.microsoft.com/office/drawing/2014/main" val="82528858"/>
                    </a:ext>
                  </a:extLst>
                </a:gridCol>
                <a:gridCol w="765586">
                  <a:extLst>
                    <a:ext uri="{9D8B030D-6E8A-4147-A177-3AD203B41FA5}">
                      <a16:colId xmlns:a16="http://schemas.microsoft.com/office/drawing/2014/main" val="2142732126"/>
                    </a:ext>
                  </a:extLst>
                </a:gridCol>
                <a:gridCol w="765586">
                  <a:extLst>
                    <a:ext uri="{9D8B030D-6E8A-4147-A177-3AD203B41FA5}">
                      <a16:colId xmlns:a16="http://schemas.microsoft.com/office/drawing/2014/main" val="1309982811"/>
                    </a:ext>
                  </a:extLst>
                </a:gridCol>
                <a:gridCol w="765586">
                  <a:extLst>
                    <a:ext uri="{9D8B030D-6E8A-4147-A177-3AD203B41FA5}">
                      <a16:colId xmlns:a16="http://schemas.microsoft.com/office/drawing/2014/main" val="2540695326"/>
                    </a:ext>
                  </a:extLst>
                </a:gridCol>
                <a:gridCol w="765586">
                  <a:extLst>
                    <a:ext uri="{9D8B030D-6E8A-4147-A177-3AD203B41FA5}">
                      <a16:colId xmlns:a16="http://schemas.microsoft.com/office/drawing/2014/main" val="2449459562"/>
                    </a:ext>
                  </a:extLst>
                </a:gridCol>
                <a:gridCol w="765586">
                  <a:extLst>
                    <a:ext uri="{9D8B030D-6E8A-4147-A177-3AD203B41FA5}">
                      <a16:colId xmlns:a16="http://schemas.microsoft.com/office/drawing/2014/main" val="2763889219"/>
                    </a:ext>
                  </a:extLst>
                </a:gridCol>
                <a:gridCol w="765586">
                  <a:extLst>
                    <a:ext uri="{9D8B030D-6E8A-4147-A177-3AD203B41FA5}">
                      <a16:colId xmlns:a16="http://schemas.microsoft.com/office/drawing/2014/main" val="2851306438"/>
                    </a:ext>
                  </a:extLst>
                </a:gridCol>
                <a:gridCol w="765586">
                  <a:extLst>
                    <a:ext uri="{9D8B030D-6E8A-4147-A177-3AD203B41FA5}">
                      <a16:colId xmlns:a16="http://schemas.microsoft.com/office/drawing/2014/main" val="1421097796"/>
                    </a:ext>
                  </a:extLst>
                </a:gridCol>
                <a:gridCol w="765586">
                  <a:extLst>
                    <a:ext uri="{9D8B030D-6E8A-4147-A177-3AD203B41FA5}">
                      <a16:colId xmlns:a16="http://schemas.microsoft.com/office/drawing/2014/main" val="960111391"/>
                    </a:ext>
                  </a:extLst>
                </a:gridCol>
                <a:gridCol w="765586">
                  <a:extLst>
                    <a:ext uri="{9D8B030D-6E8A-4147-A177-3AD203B41FA5}">
                      <a16:colId xmlns:a16="http://schemas.microsoft.com/office/drawing/2014/main" val="618921864"/>
                    </a:ext>
                  </a:extLst>
                </a:gridCol>
                <a:gridCol w="765586">
                  <a:extLst>
                    <a:ext uri="{9D8B030D-6E8A-4147-A177-3AD203B41FA5}">
                      <a16:colId xmlns:a16="http://schemas.microsoft.com/office/drawing/2014/main" val="1992070185"/>
                    </a:ext>
                  </a:extLst>
                </a:gridCol>
                <a:gridCol w="765586">
                  <a:extLst>
                    <a:ext uri="{9D8B030D-6E8A-4147-A177-3AD203B41FA5}">
                      <a16:colId xmlns:a16="http://schemas.microsoft.com/office/drawing/2014/main" val="1622603154"/>
                    </a:ext>
                  </a:extLst>
                </a:gridCol>
                <a:gridCol w="765586">
                  <a:extLst>
                    <a:ext uri="{9D8B030D-6E8A-4147-A177-3AD203B41FA5}">
                      <a16:colId xmlns:a16="http://schemas.microsoft.com/office/drawing/2014/main" val="1743264039"/>
                    </a:ext>
                  </a:extLst>
                </a:gridCol>
                <a:gridCol w="765586">
                  <a:extLst>
                    <a:ext uri="{9D8B030D-6E8A-4147-A177-3AD203B41FA5}">
                      <a16:colId xmlns:a16="http://schemas.microsoft.com/office/drawing/2014/main" val="3587783921"/>
                    </a:ext>
                  </a:extLst>
                </a:gridCol>
                <a:gridCol w="765586">
                  <a:extLst>
                    <a:ext uri="{9D8B030D-6E8A-4147-A177-3AD203B41FA5}">
                      <a16:colId xmlns:a16="http://schemas.microsoft.com/office/drawing/2014/main" val="798685254"/>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53229399"/>
                  </a:ext>
                </a:extLst>
              </a:tr>
            </a:tbl>
          </a:graphicData>
        </a:graphic>
      </p:graphicFrame>
      <p:graphicFrame>
        <p:nvGraphicFramePr>
          <p:cNvPr id="4" name="Table 4">
            <a:extLst>
              <a:ext uri="{FF2B5EF4-FFF2-40B4-BE49-F238E27FC236}">
                <a16:creationId xmlns:a16="http://schemas.microsoft.com/office/drawing/2014/main" id="{FD0BA549-E54B-4C38-985F-3C3B1F8BFA3B}"/>
              </a:ext>
            </a:extLst>
          </p:cNvPr>
          <p:cNvGraphicFramePr>
            <a:graphicFrameLocks noGrp="1"/>
          </p:cNvGraphicFramePr>
          <p:nvPr/>
        </p:nvGraphicFramePr>
        <p:xfrm>
          <a:off x="2743200" y="1867149"/>
          <a:ext cx="2608784" cy="370840"/>
        </p:xfrm>
        <a:graphic>
          <a:graphicData uri="http://schemas.openxmlformats.org/drawingml/2006/table">
            <a:tbl>
              <a:tblPr firstRow="1" bandRow="1">
                <a:tableStyleId>{5C22544A-7EE6-4342-B048-85BDC9FD1C3A}</a:tableStyleId>
              </a:tblPr>
              <a:tblGrid>
                <a:gridCol w="652196">
                  <a:extLst>
                    <a:ext uri="{9D8B030D-6E8A-4147-A177-3AD203B41FA5}">
                      <a16:colId xmlns:a16="http://schemas.microsoft.com/office/drawing/2014/main" val="550929176"/>
                    </a:ext>
                  </a:extLst>
                </a:gridCol>
                <a:gridCol w="652196">
                  <a:extLst>
                    <a:ext uri="{9D8B030D-6E8A-4147-A177-3AD203B41FA5}">
                      <a16:colId xmlns:a16="http://schemas.microsoft.com/office/drawing/2014/main" val="3669468378"/>
                    </a:ext>
                  </a:extLst>
                </a:gridCol>
                <a:gridCol w="652196">
                  <a:extLst>
                    <a:ext uri="{9D8B030D-6E8A-4147-A177-3AD203B41FA5}">
                      <a16:colId xmlns:a16="http://schemas.microsoft.com/office/drawing/2014/main" val="3043544897"/>
                    </a:ext>
                  </a:extLst>
                </a:gridCol>
                <a:gridCol w="652196">
                  <a:extLst>
                    <a:ext uri="{9D8B030D-6E8A-4147-A177-3AD203B41FA5}">
                      <a16:colId xmlns:a16="http://schemas.microsoft.com/office/drawing/2014/main" val="298903636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69637672"/>
                  </a:ext>
                </a:extLst>
              </a:tr>
            </a:tbl>
          </a:graphicData>
        </a:graphic>
      </p:graphicFrame>
      <p:graphicFrame>
        <p:nvGraphicFramePr>
          <p:cNvPr id="139" name="Table 4">
            <a:extLst>
              <a:ext uri="{FF2B5EF4-FFF2-40B4-BE49-F238E27FC236}">
                <a16:creationId xmlns:a16="http://schemas.microsoft.com/office/drawing/2014/main" id="{3EA584CB-E531-46D5-A5F9-973E006F1924}"/>
              </a:ext>
            </a:extLst>
          </p:cNvPr>
          <p:cNvGraphicFramePr>
            <a:graphicFrameLocks noGrp="1"/>
          </p:cNvGraphicFramePr>
          <p:nvPr/>
        </p:nvGraphicFramePr>
        <p:xfrm>
          <a:off x="7010400" y="1867149"/>
          <a:ext cx="2608784" cy="370840"/>
        </p:xfrm>
        <a:graphic>
          <a:graphicData uri="http://schemas.openxmlformats.org/drawingml/2006/table">
            <a:tbl>
              <a:tblPr firstRow="1" bandRow="1">
                <a:tableStyleId>{5C22544A-7EE6-4342-B048-85BDC9FD1C3A}</a:tableStyleId>
              </a:tblPr>
              <a:tblGrid>
                <a:gridCol w="652196">
                  <a:extLst>
                    <a:ext uri="{9D8B030D-6E8A-4147-A177-3AD203B41FA5}">
                      <a16:colId xmlns:a16="http://schemas.microsoft.com/office/drawing/2014/main" val="550929176"/>
                    </a:ext>
                  </a:extLst>
                </a:gridCol>
                <a:gridCol w="652196">
                  <a:extLst>
                    <a:ext uri="{9D8B030D-6E8A-4147-A177-3AD203B41FA5}">
                      <a16:colId xmlns:a16="http://schemas.microsoft.com/office/drawing/2014/main" val="3669468378"/>
                    </a:ext>
                  </a:extLst>
                </a:gridCol>
                <a:gridCol w="652196">
                  <a:extLst>
                    <a:ext uri="{9D8B030D-6E8A-4147-A177-3AD203B41FA5}">
                      <a16:colId xmlns:a16="http://schemas.microsoft.com/office/drawing/2014/main" val="3043544897"/>
                    </a:ext>
                  </a:extLst>
                </a:gridCol>
                <a:gridCol w="652196">
                  <a:extLst>
                    <a:ext uri="{9D8B030D-6E8A-4147-A177-3AD203B41FA5}">
                      <a16:colId xmlns:a16="http://schemas.microsoft.com/office/drawing/2014/main" val="298903636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69637672"/>
                  </a:ext>
                </a:extLst>
              </a:tr>
            </a:tbl>
          </a:graphicData>
        </a:graphic>
      </p:graphicFrame>
      <p:sp>
        <p:nvSpPr>
          <p:cNvPr id="5" name="TextBox 4">
            <a:extLst>
              <a:ext uri="{FF2B5EF4-FFF2-40B4-BE49-F238E27FC236}">
                <a16:creationId xmlns:a16="http://schemas.microsoft.com/office/drawing/2014/main" id="{7FFB4D8F-2398-44CE-A597-2047CA00F627}"/>
              </a:ext>
            </a:extLst>
          </p:cNvPr>
          <p:cNvSpPr txBox="1"/>
          <p:nvPr/>
        </p:nvSpPr>
        <p:spPr>
          <a:xfrm>
            <a:off x="1084784" y="1868657"/>
            <a:ext cx="1043876" cy="369332"/>
          </a:xfrm>
          <a:prstGeom prst="rect">
            <a:avLst/>
          </a:prstGeom>
          <a:noFill/>
        </p:spPr>
        <p:txBody>
          <a:bodyPr wrap="none" rtlCol="0" anchor="ctr" anchorCtr="1">
            <a:spAutoFit/>
          </a:bodyPr>
          <a:lstStyle/>
          <a:p>
            <a:r>
              <a:rPr lang="en-US" dirty="0">
                <a:ea typeface="標楷體" pitchFamily="65" charset="-120"/>
                <a:cs typeface="Calibri" pitchFamily="34" charset="0"/>
              </a:rPr>
              <a:t>Cache 1</a:t>
            </a:r>
          </a:p>
        </p:txBody>
      </p:sp>
      <p:sp>
        <p:nvSpPr>
          <p:cNvPr id="141" name="TextBox 140">
            <a:extLst>
              <a:ext uri="{FF2B5EF4-FFF2-40B4-BE49-F238E27FC236}">
                <a16:creationId xmlns:a16="http://schemas.microsoft.com/office/drawing/2014/main" id="{37E61C58-A7FE-45B5-BFCE-B5CF820BF1E9}"/>
              </a:ext>
            </a:extLst>
          </p:cNvPr>
          <p:cNvSpPr txBox="1"/>
          <p:nvPr/>
        </p:nvSpPr>
        <p:spPr>
          <a:xfrm>
            <a:off x="9879160" y="1867149"/>
            <a:ext cx="1043876" cy="369332"/>
          </a:xfrm>
          <a:prstGeom prst="rect">
            <a:avLst/>
          </a:prstGeom>
          <a:noFill/>
        </p:spPr>
        <p:txBody>
          <a:bodyPr wrap="none" rtlCol="0" anchor="ctr" anchorCtr="1">
            <a:spAutoFit/>
          </a:bodyPr>
          <a:lstStyle/>
          <a:p>
            <a:r>
              <a:rPr lang="en-US" dirty="0">
                <a:ea typeface="標楷體" pitchFamily="65" charset="-120"/>
                <a:cs typeface="Calibri" pitchFamily="34" charset="0"/>
              </a:rPr>
              <a:t>Cache 2</a:t>
            </a:r>
          </a:p>
        </p:txBody>
      </p:sp>
      <p:sp>
        <p:nvSpPr>
          <p:cNvPr id="6" name="Rectangle 5">
            <a:extLst>
              <a:ext uri="{FF2B5EF4-FFF2-40B4-BE49-F238E27FC236}">
                <a16:creationId xmlns:a16="http://schemas.microsoft.com/office/drawing/2014/main" id="{526CC187-056C-43CA-AD58-9A8ED17E865D}"/>
              </a:ext>
            </a:extLst>
          </p:cNvPr>
          <p:cNvSpPr/>
          <p:nvPr/>
        </p:nvSpPr>
        <p:spPr bwMode="auto">
          <a:xfrm>
            <a:off x="3980330" y="528270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EBAC917F-EFCF-4897-B0FB-0897E4D61856}"/>
              </a:ext>
            </a:extLst>
          </p:cNvPr>
          <p:cNvSpPr txBox="1"/>
          <p:nvPr/>
        </p:nvSpPr>
        <p:spPr>
          <a:xfrm>
            <a:off x="1084784" y="2880398"/>
            <a:ext cx="3788217" cy="369332"/>
          </a:xfrm>
          <a:prstGeom prst="rect">
            <a:avLst/>
          </a:prstGeom>
          <a:noFill/>
        </p:spPr>
        <p:txBody>
          <a:bodyPr wrap="none" rtlCol="0" anchor="ctr" anchorCtr="1">
            <a:spAutoFit/>
          </a:bodyPr>
          <a:lstStyle/>
          <a:p>
            <a:r>
              <a:rPr lang="en-US" dirty="0">
                <a:ea typeface="標楷體" pitchFamily="65" charset="-120"/>
                <a:cs typeface="Calibri" pitchFamily="34" charset="0"/>
              </a:rPr>
              <a:t>Where do I place this yellow block?</a:t>
            </a:r>
          </a:p>
        </p:txBody>
      </p:sp>
      <p:sp>
        <p:nvSpPr>
          <p:cNvPr id="144" name="TextBox 143">
            <a:extLst>
              <a:ext uri="{FF2B5EF4-FFF2-40B4-BE49-F238E27FC236}">
                <a16:creationId xmlns:a16="http://schemas.microsoft.com/office/drawing/2014/main" id="{4E178743-118A-4045-963E-918544001BCF}"/>
              </a:ext>
            </a:extLst>
          </p:cNvPr>
          <p:cNvSpPr txBox="1"/>
          <p:nvPr/>
        </p:nvSpPr>
        <p:spPr>
          <a:xfrm>
            <a:off x="260085" y="5719752"/>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0000</a:t>
            </a:r>
          </a:p>
        </p:txBody>
      </p:sp>
      <p:sp>
        <p:nvSpPr>
          <p:cNvPr id="145" name="TextBox 144">
            <a:extLst>
              <a:ext uri="{FF2B5EF4-FFF2-40B4-BE49-F238E27FC236}">
                <a16:creationId xmlns:a16="http://schemas.microsoft.com/office/drawing/2014/main" id="{C30D9B3E-AB6C-4676-8946-6A3AF6609719}"/>
              </a:ext>
            </a:extLst>
          </p:cNvPr>
          <p:cNvSpPr txBox="1"/>
          <p:nvPr/>
        </p:nvSpPr>
        <p:spPr>
          <a:xfrm>
            <a:off x="957712" y="5719752"/>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0001</a:t>
            </a:r>
          </a:p>
        </p:txBody>
      </p:sp>
      <p:sp>
        <p:nvSpPr>
          <p:cNvPr id="146" name="TextBox 145">
            <a:extLst>
              <a:ext uri="{FF2B5EF4-FFF2-40B4-BE49-F238E27FC236}">
                <a16:creationId xmlns:a16="http://schemas.microsoft.com/office/drawing/2014/main" id="{DF2FDA89-525B-4E8F-A3A4-2A6EE9E6A4F9}"/>
              </a:ext>
            </a:extLst>
          </p:cNvPr>
          <p:cNvSpPr txBox="1"/>
          <p:nvPr/>
        </p:nvSpPr>
        <p:spPr>
          <a:xfrm>
            <a:off x="1722034" y="5695041"/>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0010</a:t>
            </a:r>
          </a:p>
        </p:txBody>
      </p:sp>
      <p:sp>
        <p:nvSpPr>
          <p:cNvPr id="147" name="TextBox 146">
            <a:extLst>
              <a:ext uri="{FF2B5EF4-FFF2-40B4-BE49-F238E27FC236}">
                <a16:creationId xmlns:a16="http://schemas.microsoft.com/office/drawing/2014/main" id="{0C79FD94-04CF-4E5C-B2C3-1E4C1C6E34D7}"/>
              </a:ext>
            </a:extLst>
          </p:cNvPr>
          <p:cNvSpPr txBox="1"/>
          <p:nvPr/>
        </p:nvSpPr>
        <p:spPr>
          <a:xfrm>
            <a:off x="2454008" y="5693901"/>
            <a:ext cx="680507" cy="369332"/>
          </a:xfrm>
          <a:prstGeom prst="rect">
            <a:avLst/>
          </a:prstGeom>
          <a:noFill/>
        </p:spPr>
        <p:txBody>
          <a:bodyPr wrap="none" rtlCol="0" anchor="ctr" anchorCtr="1">
            <a:spAutoFit/>
          </a:bodyPr>
          <a:lstStyle/>
          <a:p>
            <a:r>
              <a:rPr lang="en-US" dirty="0">
                <a:ea typeface="標楷體" pitchFamily="65" charset="-120"/>
                <a:cs typeface="Calibri" pitchFamily="34" charset="0"/>
              </a:rPr>
              <a:t>0011</a:t>
            </a:r>
          </a:p>
        </p:txBody>
      </p:sp>
      <p:sp>
        <p:nvSpPr>
          <p:cNvPr id="148" name="TextBox 147">
            <a:extLst>
              <a:ext uri="{FF2B5EF4-FFF2-40B4-BE49-F238E27FC236}">
                <a16:creationId xmlns:a16="http://schemas.microsoft.com/office/drawing/2014/main" id="{43CF2D8A-E0F4-485E-87C0-CABAE2491877}"/>
              </a:ext>
            </a:extLst>
          </p:cNvPr>
          <p:cNvSpPr txBox="1"/>
          <p:nvPr/>
        </p:nvSpPr>
        <p:spPr>
          <a:xfrm>
            <a:off x="3282703" y="5709550"/>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0100</a:t>
            </a:r>
          </a:p>
        </p:txBody>
      </p:sp>
      <p:sp>
        <p:nvSpPr>
          <p:cNvPr id="149" name="TextBox 148">
            <a:extLst>
              <a:ext uri="{FF2B5EF4-FFF2-40B4-BE49-F238E27FC236}">
                <a16:creationId xmlns:a16="http://schemas.microsoft.com/office/drawing/2014/main" id="{B9C5FE5A-17E5-4D85-BF65-3A5F3A165671}"/>
              </a:ext>
            </a:extLst>
          </p:cNvPr>
          <p:cNvSpPr txBox="1"/>
          <p:nvPr/>
        </p:nvSpPr>
        <p:spPr>
          <a:xfrm>
            <a:off x="4016998" y="5693901"/>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0101</a:t>
            </a:r>
          </a:p>
        </p:txBody>
      </p:sp>
      <p:sp>
        <p:nvSpPr>
          <p:cNvPr id="150" name="TextBox 149">
            <a:extLst>
              <a:ext uri="{FF2B5EF4-FFF2-40B4-BE49-F238E27FC236}">
                <a16:creationId xmlns:a16="http://schemas.microsoft.com/office/drawing/2014/main" id="{4A4B6879-A834-4A66-B7A2-9390CEB2A64B}"/>
              </a:ext>
            </a:extLst>
          </p:cNvPr>
          <p:cNvSpPr txBox="1"/>
          <p:nvPr/>
        </p:nvSpPr>
        <p:spPr>
          <a:xfrm>
            <a:off x="4769332" y="5693901"/>
            <a:ext cx="680507" cy="369332"/>
          </a:xfrm>
          <a:prstGeom prst="rect">
            <a:avLst/>
          </a:prstGeom>
          <a:noFill/>
        </p:spPr>
        <p:txBody>
          <a:bodyPr wrap="none" rtlCol="0" anchor="ctr" anchorCtr="1">
            <a:spAutoFit/>
          </a:bodyPr>
          <a:lstStyle/>
          <a:p>
            <a:r>
              <a:rPr lang="en-US" dirty="0">
                <a:ea typeface="標楷體" pitchFamily="65" charset="-120"/>
                <a:cs typeface="Calibri" pitchFamily="34" charset="0"/>
              </a:rPr>
              <a:t>0110</a:t>
            </a:r>
          </a:p>
        </p:txBody>
      </p:sp>
      <p:sp>
        <p:nvSpPr>
          <p:cNvPr id="151" name="TextBox 150">
            <a:extLst>
              <a:ext uri="{FF2B5EF4-FFF2-40B4-BE49-F238E27FC236}">
                <a16:creationId xmlns:a16="http://schemas.microsoft.com/office/drawing/2014/main" id="{D467FC10-A6E1-479B-82B2-ADD2111E42FB}"/>
              </a:ext>
            </a:extLst>
          </p:cNvPr>
          <p:cNvSpPr txBox="1"/>
          <p:nvPr/>
        </p:nvSpPr>
        <p:spPr>
          <a:xfrm>
            <a:off x="5518453" y="5653541"/>
            <a:ext cx="663387" cy="369332"/>
          </a:xfrm>
          <a:prstGeom prst="rect">
            <a:avLst/>
          </a:prstGeom>
          <a:noFill/>
        </p:spPr>
        <p:txBody>
          <a:bodyPr wrap="none" rtlCol="0" anchor="ctr" anchorCtr="1">
            <a:spAutoFit/>
          </a:bodyPr>
          <a:lstStyle/>
          <a:p>
            <a:r>
              <a:rPr lang="en-US" dirty="0">
                <a:ea typeface="標楷體" pitchFamily="65" charset="-120"/>
                <a:cs typeface="Calibri" pitchFamily="34" charset="0"/>
              </a:rPr>
              <a:t>0111</a:t>
            </a:r>
          </a:p>
        </p:txBody>
      </p:sp>
      <p:sp>
        <p:nvSpPr>
          <p:cNvPr id="152" name="TextBox 151">
            <a:extLst>
              <a:ext uri="{FF2B5EF4-FFF2-40B4-BE49-F238E27FC236}">
                <a16:creationId xmlns:a16="http://schemas.microsoft.com/office/drawing/2014/main" id="{42BA93C3-B708-4C8E-BE7A-007BB0E2F182}"/>
              </a:ext>
            </a:extLst>
          </p:cNvPr>
          <p:cNvSpPr txBox="1"/>
          <p:nvPr/>
        </p:nvSpPr>
        <p:spPr>
          <a:xfrm>
            <a:off x="1089950" y="3327457"/>
            <a:ext cx="5314275" cy="646331"/>
          </a:xfrm>
          <a:prstGeom prst="rect">
            <a:avLst/>
          </a:prstGeom>
          <a:noFill/>
        </p:spPr>
        <p:txBody>
          <a:bodyPr wrap="none" rtlCol="0" anchor="ctr" anchorCtr="1">
            <a:spAutoFit/>
          </a:bodyPr>
          <a:lstStyle/>
          <a:p>
            <a:r>
              <a:rPr lang="en-US" dirty="0">
                <a:ea typeface="標楷體" pitchFamily="65" charset="-120"/>
                <a:cs typeface="Calibri" pitchFamily="34" charset="0"/>
              </a:rPr>
              <a:t>In cache 1, I can place the yellow block in any one</a:t>
            </a:r>
          </a:p>
          <a:p>
            <a:r>
              <a:rPr lang="en-US" dirty="0">
                <a:ea typeface="標楷體" pitchFamily="65" charset="-120"/>
                <a:cs typeface="Calibri" pitchFamily="34" charset="0"/>
              </a:rPr>
              <a:t>of the four blocks?</a:t>
            </a:r>
          </a:p>
        </p:txBody>
      </p:sp>
      <p:sp>
        <p:nvSpPr>
          <p:cNvPr id="153" name="Rectangle 152">
            <a:extLst>
              <a:ext uri="{FF2B5EF4-FFF2-40B4-BE49-F238E27FC236}">
                <a16:creationId xmlns:a16="http://schemas.microsoft.com/office/drawing/2014/main" id="{C4133C3D-8401-4E53-A8A7-01BA8947FBD0}"/>
              </a:ext>
            </a:extLst>
          </p:cNvPr>
          <p:cNvSpPr/>
          <p:nvPr/>
        </p:nvSpPr>
        <p:spPr bwMode="auto">
          <a:xfrm>
            <a:off x="3980329" y="1855614"/>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4" name="TextBox 153">
            <a:extLst>
              <a:ext uri="{FF2B5EF4-FFF2-40B4-BE49-F238E27FC236}">
                <a16:creationId xmlns:a16="http://schemas.microsoft.com/office/drawing/2014/main" id="{1E3D2B40-61B8-451C-8E59-85C4EDB73A2E}"/>
              </a:ext>
            </a:extLst>
          </p:cNvPr>
          <p:cNvSpPr txBox="1"/>
          <p:nvPr/>
        </p:nvSpPr>
        <p:spPr>
          <a:xfrm>
            <a:off x="3980329" y="1548582"/>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0101</a:t>
            </a:r>
          </a:p>
        </p:txBody>
      </p:sp>
      <p:sp>
        <p:nvSpPr>
          <p:cNvPr id="155" name="Rectangle 154">
            <a:extLst>
              <a:ext uri="{FF2B5EF4-FFF2-40B4-BE49-F238E27FC236}">
                <a16:creationId xmlns:a16="http://schemas.microsoft.com/office/drawing/2014/main" id="{618224F0-1A44-4680-921F-840231D29C70}"/>
              </a:ext>
            </a:extLst>
          </p:cNvPr>
          <p:cNvSpPr/>
          <p:nvPr/>
        </p:nvSpPr>
        <p:spPr bwMode="auto">
          <a:xfrm>
            <a:off x="932613" y="528270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6" name="Rectangle 155">
            <a:extLst>
              <a:ext uri="{FF2B5EF4-FFF2-40B4-BE49-F238E27FC236}">
                <a16:creationId xmlns:a16="http://schemas.microsoft.com/office/drawing/2014/main" id="{0063EF3C-FAD1-4026-A16A-D66CCCE0BB86}"/>
              </a:ext>
            </a:extLst>
          </p:cNvPr>
          <p:cNvSpPr/>
          <p:nvPr/>
        </p:nvSpPr>
        <p:spPr bwMode="auto">
          <a:xfrm>
            <a:off x="2664722" y="1887329"/>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7" name="TextBox 156">
            <a:extLst>
              <a:ext uri="{FF2B5EF4-FFF2-40B4-BE49-F238E27FC236}">
                <a16:creationId xmlns:a16="http://schemas.microsoft.com/office/drawing/2014/main" id="{8B3E2598-5604-46DC-B69C-3BEBAEDAFBE9}"/>
              </a:ext>
            </a:extLst>
          </p:cNvPr>
          <p:cNvSpPr txBox="1"/>
          <p:nvPr/>
        </p:nvSpPr>
        <p:spPr>
          <a:xfrm>
            <a:off x="2679285" y="1564231"/>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0001</a:t>
            </a:r>
          </a:p>
        </p:txBody>
      </p:sp>
      <p:sp>
        <p:nvSpPr>
          <p:cNvPr id="158" name="TextBox 157">
            <a:extLst>
              <a:ext uri="{FF2B5EF4-FFF2-40B4-BE49-F238E27FC236}">
                <a16:creationId xmlns:a16="http://schemas.microsoft.com/office/drawing/2014/main" id="{EE770DF1-2DF5-473F-89F3-98CB99739EF2}"/>
              </a:ext>
            </a:extLst>
          </p:cNvPr>
          <p:cNvSpPr txBox="1"/>
          <p:nvPr/>
        </p:nvSpPr>
        <p:spPr>
          <a:xfrm>
            <a:off x="1084784" y="4114292"/>
            <a:ext cx="3921266" cy="523220"/>
          </a:xfrm>
          <a:prstGeom prst="rect">
            <a:avLst/>
          </a:prstGeom>
          <a:noFill/>
        </p:spPr>
        <p:txBody>
          <a:bodyPr wrap="none" rtlCol="0" anchor="ctr" anchorCtr="1">
            <a:spAutoFit/>
          </a:bodyPr>
          <a:lstStyle/>
          <a:p>
            <a:r>
              <a:rPr lang="en-US" dirty="0">
                <a:ea typeface="標楷體" pitchFamily="65" charset="-120"/>
                <a:cs typeface="Calibri" pitchFamily="34" charset="0"/>
              </a:rPr>
              <a:t>Cache1 is </a:t>
            </a:r>
            <a:r>
              <a:rPr lang="en-US" sz="2800" dirty="0">
                <a:solidFill>
                  <a:srgbClr val="FF0000"/>
                </a:solidFill>
                <a:ea typeface="標楷體" pitchFamily="65" charset="-120"/>
                <a:cs typeface="Calibri" pitchFamily="34" charset="0"/>
              </a:rPr>
              <a:t>fully associative</a:t>
            </a:r>
            <a:r>
              <a:rPr lang="en-US" dirty="0">
                <a:ea typeface="標楷體" pitchFamily="65" charset="-120"/>
                <a:cs typeface="Calibri" pitchFamily="34" charset="0"/>
              </a:rPr>
              <a:t>?</a:t>
            </a:r>
          </a:p>
        </p:txBody>
      </p:sp>
      <p:sp>
        <p:nvSpPr>
          <p:cNvPr id="159" name="TextBox 158">
            <a:extLst>
              <a:ext uri="{FF2B5EF4-FFF2-40B4-BE49-F238E27FC236}">
                <a16:creationId xmlns:a16="http://schemas.microsoft.com/office/drawing/2014/main" id="{F1BD9CE0-5819-4589-8089-9E379D5CD593}"/>
              </a:ext>
            </a:extLst>
          </p:cNvPr>
          <p:cNvSpPr txBox="1"/>
          <p:nvPr/>
        </p:nvSpPr>
        <p:spPr>
          <a:xfrm>
            <a:off x="6737715" y="3253790"/>
            <a:ext cx="4993675" cy="646331"/>
          </a:xfrm>
          <a:prstGeom prst="rect">
            <a:avLst/>
          </a:prstGeom>
          <a:noFill/>
        </p:spPr>
        <p:txBody>
          <a:bodyPr wrap="none" rtlCol="0" anchor="ctr" anchorCtr="1">
            <a:spAutoFit/>
          </a:bodyPr>
          <a:lstStyle/>
          <a:p>
            <a:r>
              <a:rPr lang="en-US" dirty="0">
                <a:ea typeface="標楷體" pitchFamily="65" charset="-120"/>
                <a:cs typeface="Calibri" pitchFamily="34" charset="0"/>
              </a:rPr>
              <a:t>In cache 2, I can place the yellow block only at </a:t>
            </a:r>
          </a:p>
          <a:p>
            <a:r>
              <a:rPr lang="en-US" dirty="0">
                <a:ea typeface="標楷體" pitchFamily="65" charset="-120"/>
                <a:cs typeface="Calibri" pitchFamily="34" charset="0"/>
              </a:rPr>
              <a:t>the cache block with identical lower two bits</a:t>
            </a:r>
          </a:p>
        </p:txBody>
      </p:sp>
      <p:sp>
        <p:nvSpPr>
          <p:cNvPr id="160" name="TextBox 159">
            <a:extLst>
              <a:ext uri="{FF2B5EF4-FFF2-40B4-BE49-F238E27FC236}">
                <a16:creationId xmlns:a16="http://schemas.microsoft.com/office/drawing/2014/main" id="{1089A65F-1EBA-48C1-B7EF-00C7007E0791}"/>
              </a:ext>
            </a:extLst>
          </p:cNvPr>
          <p:cNvSpPr txBox="1"/>
          <p:nvPr/>
        </p:nvSpPr>
        <p:spPr>
          <a:xfrm>
            <a:off x="7094653" y="217649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00</a:t>
            </a:r>
          </a:p>
        </p:txBody>
      </p:sp>
      <p:sp>
        <p:nvSpPr>
          <p:cNvPr id="161" name="TextBox 160">
            <a:extLst>
              <a:ext uri="{FF2B5EF4-FFF2-40B4-BE49-F238E27FC236}">
                <a16:creationId xmlns:a16="http://schemas.microsoft.com/office/drawing/2014/main" id="{CC7C47FE-15D7-4CB1-96E0-0DDAFA8B51C3}"/>
              </a:ext>
            </a:extLst>
          </p:cNvPr>
          <p:cNvSpPr txBox="1"/>
          <p:nvPr/>
        </p:nvSpPr>
        <p:spPr>
          <a:xfrm>
            <a:off x="7783292" y="215883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01</a:t>
            </a:r>
          </a:p>
        </p:txBody>
      </p:sp>
      <p:sp>
        <p:nvSpPr>
          <p:cNvPr id="162" name="TextBox 161">
            <a:extLst>
              <a:ext uri="{FF2B5EF4-FFF2-40B4-BE49-F238E27FC236}">
                <a16:creationId xmlns:a16="http://schemas.microsoft.com/office/drawing/2014/main" id="{FD8C81EF-1E5D-4AA5-A81A-E4EE66073984}"/>
              </a:ext>
            </a:extLst>
          </p:cNvPr>
          <p:cNvSpPr txBox="1"/>
          <p:nvPr/>
        </p:nvSpPr>
        <p:spPr>
          <a:xfrm>
            <a:off x="8410260" y="215883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10</a:t>
            </a:r>
          </a:p>
        </p:txBody>
      </p:sp>
      <p:sp>
        <p:nvSpPr>
          <p:cNvPr id="163" name="TextBox 162">
            <a:extLst>
              <a:ext uri="{FF2B5EF4-FFF2-40B4-BE49-F238E27FC236}">
                <a16:creationId xmlns:a16="http://schemas.microsoft.com/office/drawing/2014/main" id="{A750EF82-2393-41AD-BCBD-3583E5E73F6D}"/>
              </a:ext>
            </a:extLst>
          </p:cNvPr>
          <p:cNvSpPr txBox="1"/>
          <p:nvPr/>
        </p:nvSpPr>
        <p:spPr>
          <a:xfrm>
            <a:off x="9037228" y="2171510"/>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164" name="Rectangle 163">
            <a:extLst>
              <a:ext uri="{FF2B5EF4-FFF2-40B4-BE49-F238E27FC236}">
                <a16:creationId xmlns:a16="http://schemas.microsoft.com/office/drawing/2014/main" id="{E4784239-80C7-4ADB-B12C-0C4D0808D128}"/>
              </a:ext>
            </a:extLst>
          </p:cNvPr>
          <p:cNvSpPr/>
          <p:nvPr/>
        </p:nvSpPr>
        <p:spPr bwMode="auto">
          <a:xfrm>
            <a:off x="7618383" y="1852194"/>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5" name="TextBox 164">
            <a:extLst>
              <a:ext uri="{FF2B5EF4-FFF2-40B4-BE49-F238E27FC236}">
                <a16:creationId xmlns:a16="http://schemas.microsoft.com/office/drawing/2014/main" id="{B250A944-36D7-458F-8AC1-BCBED374CA7A}"/>
              </a:ext>
            </a:extLst>
          </p:cNvPr>
          <p:cNvSpPr txBox="1"/>
          <p:nvPr/>
        </p:nvSpPr>
        <p:spPr>
          <a:xfrm>
            <a:off x="7618383" y="1548582"/>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0101</a:t>
            </a:r>
          </a:p>
        </p:txBody>
      </p:sp>
      <p:sp>
        <p:nvSpPr>
          <p:cNvPr id="166" name="Rectangle 165">
            <a:extLst>
              <a:ext uri="{FF2B5EF4-FFF2-40B4-BE49-F238E27FC236}">
                <a16:creationId xmlns:a16="http://schemas.microsoft.com/office/drawing/2014/main" id="{151B7BF3-2BB2-48C4-91FB-C53A069523A3}"/>
              </a:ext>
            </a:extLst>
          </p:cNvPr>
          <p:cNvSpPr/>
          <p:nvPr/>
        </p:nvSpPr>
        <p:spPr bwMode="auto">
          <a:xfrm>
            <a:off x="7639296" y="244901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7" name="TextBox 166">
            <a:extLst>
              <a:ext uri="{FF2B5EF4-FFF2-40B4-BE49-F238E27FC236}">
                <a16:creationId xmlns:a16="http://schemas.microsoft.com/office/drawing/2014/main" id="{A29025B0-2074-4F67-A7CA-A6F7401626C5}"/>
              </a:ext>
            </a:extLst>
          </p:cNvPr>
          <p:cNvSpPr txBox="1"/>
          <p:nvPr/>
        </p:nvSpPr>
        <p:spPr>
          <a:xfrm>
            <a:off x="7655051" y="2739188"/>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0001</a:t>
            </a:r>
          </a:p>
        </p:txBody>
      </p:sp>
      <p:sp>
        <p:nvSpPr>
          <p:cNvPr id="168" name="TextBox 167">
            <a:extLst>
              <a:ext uri="{FF2B5EF4-FFF2-40B4-BE49-F238E27FC236}">
                <a16:creationId xmlns:a16="http://schemas.microsoft.com/office/drawing/2014/main" id="{B94BE49D-34CC-469B-9A7B-72D31C0731CB}"/>
              </a:ext>
            </a:extLst>
          </p:cNvPr>
          <p:cNvSpPr txBox="1"/>
          <p:nvPr/>
        </p:nvSpPr>
        <p:spPr>
          <a:xfrm>
            <a:off x="6805404" y="4072450"/>
            <a:ext cx="3576620" cy="523220"/>
          </a:xfrm>
          <a:prstGeom prst="rect">
            <a:avLst/>
          </a:prstGeom>
          <a:noFill/>
        </p:spPr>
        <p:txBody>
          <a:bodyPr wrap="none" rtlCol="0" anchor="ctr" anchorCtr="1">
            <a:spAutoFit/>
          </a:bodyPr>
          <a:lstStyle/>
          <a:p>
            <a:r>
              <a:rPr lang="en-US" dirty="0">
                <a:ea typeface="標楷體" pitchFamily="65" charset="-120"/>
                <a:cs typeface="Calibri" pitchFamily="34" charset="0"/>
              </a:rPr>
              <a:t>Cache2 is </a:t>
            </a:r>
            <a:r>
              <a:rPr lang="en-US" sz="2800" dirty="0">
                <a:solidFill>
                  <a:srgbClr val="FF0000"/>
                </a:solidFill>
                <a:ea typeface="標楷體" pitchFamily="65" charset="-120"/>
                <a:cs typeface="Calibri" pitchFamily="34" charset="0"/>
              </a:rPr>
              <a:t>direct-mapped</a:t>
            </a:r>
          </a:p>
        </p:txBody>
      </p:sp>
      <p:sp>
        <p:nvSpPr>
          <p:cNvPr id="2" name="TextBox 1">
            <a:extLst>
              <a:ext uri="{FF2B5EF4-FFF2-40B4-BE49-F238E27FC236}">
                <a16:creationId xmlns:a16="http://schemas.microsoft.com/office/drawing/2014/main" id="{217FE3A9-B283-4F65-8B13-164139C79C79}"/>
              </a:ext>
            </a:extLst>
          </p:cNvPr>
          <p:cNvSpPr txBox="1"/>
          <p:nvPr/>
        </p:nvSpPr>
        <p:spPr>
          <a:xfrm>
            <a:off x="1161624" y="4651759"/>
            <a:ext cx="3920689" cy="523220"/>
          </a:xfrm>
          <a:prstGeom prst="rect">
            <a:avLst/>
          </a:prstGeom>
          <a:solidFill>
            <a:schemeClr val="accent5">
              <a:lumMod val="40000"/>
              <a:lumOff val="60000"/>
            </a:schemeClr>
          </a:solidFill>
        </p:spPr>
        <p:txBody>
          <a:bodyPr wrap="none" rtlCol="0" anchor="ctr" anchorCtr="1">
            <a:spAutoFit/>
          </a:bodyPr>
          <a:lstStyle/>
          <a:p>
            <a:r>
              <a:rPr lang="en-US" sz="2800" dirty="0">
                <a:ea typeface="標楷體" pitchFamily="65" charset="-120"/>
                <a:cs typeface="Calibri" pitchFamily="34" charset="0"/>
              </a:rPr>
              <a:t>Hit better, fewer misses</a:t>
            </a:r>
          </a:p>
        </p:txBody>
      </p:sp>
      <p:sp>
        <p:nvSpPr>
          <p:cNvPr id="40" name="TextBox 39">
            <a:extLst>
              <a:ext uri="{FF2B5EF4-FFF2-40B4-BE49-F238E27FC236}">
                <a16:creationId xmlns:a16="http://schemas.microsoft.com/office/drawing/2014/main" id="{C0316244-E5CF-4E5E-A2E2-B1D8420DD48C}"/>
              </a:ext>
            </a:extLst>
          </p:cNvPr>
          <p:cNvSpPr txBox="1"/>
          <p:nvPr/>
        </p:nvSpPr>
        <p:spPr>
          <a:xfrm>
            <a:off x="6408750" y="4675429"/>
            <a:ext cx="5322640" cy="523220"/>
          </a:xfrm>
          <a:prstGeom prst="rect">
            <a:avLst/>
          </a:prstGeom>
          <a:solidFill>
            <a:schemeClr val="accent5">
              <a:lumMod val="40000"/>
              <a:lumOff val="60000"/>
            </a:schemeClr>
          </a:solidFill>
        </p:spPr>
        <p:txBody>
          <a:bodyPr wrap="square" rtlCol="0" anchor="ctr" anchorCtr="1">
            <a:spAutoFit/>
          </a:bodyPr>
          <a:lstStyle/>
          <a:p>
            <a:r>
              <a:rPr lang="en-US" sz="2800" dirty="0">
                <a:ea typeface="標楷體" pitchFamily="65" charset="-120"/>
                <a:cs typeface="Calibri" pitchFamily="34" charset="0"/>
              </a:rPr>
              <a:t>Faster to find, cheaper </a:t>
            </a:r>
            <a:r>
              <a:rPr lang="en-US" sz="2200" dirty="0">
                <a:ea typeface="標楷體" pitchFamily="65" charset="-120"/>
                <a:cs typeface="Calibri" pitchFamily="34" charset="0"/>
              </a:rPr>
              <a:t>(small tag) </a:t>
            </a:r>
          </a:p>
        </p:txBody>
      </p:sp>
    </p:spTree>
    <p:extLst>
      <p:ext uri="{BB962C8B-B14F-4D97-AF65-F5344CB8AC3E}">
        <p14:creationId xmlns:p14="http://schemas.microsoft.com/office/powerpoint/2010/main" val="929508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356853" y="173039"/>
            <a:ext cx="8949199" cy="652871"/>
          </a:xfrm>
        </p:spPr>
        <p:txBody>
          <a:bodyPr/>
          <a:lstStyle/>
          <a:p>
            <a:r>
              <a:rPr lang="en-US" altLang="zh-TW" dirty="0"/>
              <a:t>Tags and Valid Bits - Block Finding</a:t>
            </a:r>
            <a:r>
              <a:rPr lang="en-US" altLang="zh-TW" sz="3200" dirty="0"/>
              <a:t> </a:t>
            </a:r>
            <a:endParaRPr lang="en-AU" altLang="zh-TW" sz="3200" dirty="0"/>
          </a:p>
        </p:txBody>
      </p:sp>
      <p:sp>
        <p:nvSpPr>
          <p:cNvPr id="20484" name="Rectangle 3"/>
          <p:cNvSpPr>
            <a:spLocks noGrp="1" noChangeArrowheads="1"/>
          </p:cNvSpPr>
          <p:nvPr>
            <p:ph type="body" idx="1"/>
          </p:nvPr>
        </p:nvSpPr>
        <p:spPr>
          <a:xfrm>
            <a:off x="1433667" y="1105771"/>
            <a:ext cx="9155675" cy="4757147"/>
          </a:xfrm>
        </p:spPr>
        <p:txBody>
          <a:bodyPr/>
          <a:lstStyle/>
          <a:p>
            <a:r>
              <a:rPr lang="en-US" altLang="zh-TW" sz="2667" dirty="0"/>
              <a:t>How do we know which particular block is stored in a cache location</a:t>
            </a:r>
          </a:p>
          <a:p>
            <a:pPr lvl="1"/>
            <a:r>
              <a:rPr lang="en-US" altLang="zh-TW" sz="2400" dirty="0"/>
              <a:t>Store the </a:t>
            </a:r>
            <a:r>
              <a:rPr lang="en-US" altLang="zh-TW" sz="2400" dirty="0">
                <a:solidFill>
                  <a:srgbClr val="FF0000"/>
                </a:solidFill>
              </a:rPr>
              <a:t>block address </a:t>
            </a:r>
            <a:r>
              <a:rPr lang="en-US" altLang="zh-TW" sz="2400" dirty="0"/>
              <a:t>as well as the data</a:t>
            </a:r>
          </a:p>
          <a:p>
            <a:pPr lvl="1"/>
            <a:r>
              <a:rPr lang="en-US" altLang="zh-TW" sz="2400" dirty="0"/>
              <a:t>Actually, only need the high-order bits</a:t>
            </a:r>
          </a:p>
          <a:p>
            <a:pPr lvl="1"/>
            <a:r>
              <a:rPr lang="en-US" altLang="zh-TW" sz="2400" dirty="0"/>
              <a:t>Called the </a:t>
            </a:r>
            <a:r>
              <a:rPr lang="en-US" altLang="zh-TW" sz="2400" dirty="0">
                <a:solidFill>
                  <a:srgbClr val="FF0000"/>
                </a:solidFill>
              </a:rPr>
              <a:t>tag</a:t>
            </a:r>
          </a:p>
          <a:p>
            <a:r>
              <a:rPr lang="en-US" altLang="zh-TW" sz="2667" dirty="0"/>
              <a:t>What if there is no data in a location</a:t>
            </a:r>
          </a:p>
          <a:p>
            <a:pPr lvl="1"/>
            <a:r>
              <a:rPr lang="en-US" altLang="zh-TW" sz="2400" dirty="0">
                <a:solidFill>
                  <a:srgbClr val="FF0000"/>
                </a:solidFill>
              </a:rPr>
              <a:t>Valid bit</a:t>
            </a:r>
            <a:r>
              <a:rPr lang="en-US" altLang="zh-TW" sz="2400" dirty="0"/>
              <a:t>: 1 = present, cache line valid</a:t>
            </a:r>
          </a:p>
          <a:p>
            <a:pPr lvl="1"/>
            <a:r>
              <a:rPr lang="en-US" altLang="zh-TW" sz="2400" dirty="0">
                <a:ea typeface="新細明體" panose="02020500000000000000" pitchFamily="18" charset="-120"/>
              </a:rPr>
              <a:t>Valid bit = 0 </a:t>
            </a:r>
          </a:p>
          <a:p>
            <a:pPr lvl="2"/>
            <a:r>
              <a:rPr lang="en-US" altLang="zh-TW" sz="1867" dirty="0">
                <a:ea typeface="新細明體" panose="02020500000000000000" pitchFamily="18" charset="-120"/>
              </a:rPr>
              <a:t>When a cache line of data has not come back from memory yet</a:t>
            </a:r>
          </a:p>
          <a:p>
            <a:pPr lvl="2"/>
            <a:r>
              <a:rPr lang="en-US" altLang="zh-TW" sz="1867" dirty="0">
                <a:ea typeface="新細明體" panose="02020500000000000000" pitchFamily="18" charset="-120"/>
              </a:rPr>
              <a:t>Cache line is currently being replaced</a:t>
            </a:r>
          </a:p>
          <a:p>
            <a:pPr lvl="2"/>
            <a:r>
              <a:rPr lang="en-US" altLang="zh-TW" sz="1867" dirty="0">
                <a:ea typeface="新細明體" panose="02020500000000000000" pitchFamily="18" charset="-120"/>
              </a:rPr>
              <a:t>Cache is flushed</a:t>
            </a:r>
            <a:endParaRPr lang="en-AU" altLang="zh-TW" sz="1867"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41</a:t>
            </a:fld>
            <a:endParaRPr lang="zh-TW" altLang="en-US"/>
          </a:p>
        </p:txBody>
      </p:sp>
      <p:sp>
        <p:nvSpPr>
          <p:cNvPr id="2" name="Rectangle 1">
            <a:extLst>
              <a:ext uri="{FF2B5EF4-FFF2-40B4-BE49-F238E27FC236}">
                <a16:creationId xmlns:a16="http://schemas.microsoft.com/office/drawing/2014/main" id="{7B46017F-A86B-A588-3410-3D30CC798C18}"/>
              </a:ext>
            </a:extLst>
          </p:cNvPr>
          <p:cNvSpPr/>
          <p:nvPr/>
        </p:nvSpPr>
        <p:spPr bwMode="auto">
          <a:xfrm>
            <a:off x="4444103" y="1592583"/>
            <a:ext cx="3055291"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 name="Rectangle 3">
            <a:extLst>
              <a:ext uri="{FF2B5EF4-FFF2-40B4-BE49-F238E27FC236}">
                <a16:creationId xmlns:a16="http://schemas.microsoft.com/office/drawing/2014/main" id="{4114F518-441B-E4C4-A67F-DB511626C31D}"/>
              </a:ext>
            </a:extLst>
          </p:cNvPr>
          <p:cNvSpPr/>
          <p:nvPr/>
        </p:nvSpPr>
        <p:spPr bwMode="auto">
          <a:xfrm>
            <a:off x="7499394" y="1592583"/>
            <a:ext cx="1410134"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TextBox 5">
            <a:extLst>
              <a:ext uri="{FF2B5EF4-FFF2-40B4-BE49-F238E27FC236}">
                <a16:creationId xmlns:a16="http://schemas.microsoft.com/office/drawing/2014/main" id="{7BF4301F-2527-7AF4-70C3-CA7272166F88}"/>
              </a:ext>
            </a:extLst>
          </p:cNvPr>
          <p:cNvSpPr txBox="1"/>
          <p:nvPr/>
        </p:nvSpPr>
        <p:spPr>
          <a:xfrm>
            <a:off x="7404282" y="1626581"/>
            <a:ext cx="1600359" cy="369332"/>
          </a:xfrm>
          <a:prstGeom prst="rect">
            <a:avLst/>
          </a:prstGeom>
          <a:noFill/>
        </p:spPr>
        <p:txBody>
          <a:bodyPr wrap="square" rtlCol="0" anchor="ctr" anchorCtr="1">
            <a:spAutoFit/>
          </a:bodyPr>
          <a:lstStyle/>
          <a:p>
            <a:r>
              <a:rPr lang="en-US" dirty="0">
                <a:solidFill>
                  <a:srgbClr val="00B050"/>
                </a:solidFill>
                <a:ea typeface="標楷體" pitchFamily="65" charset="-120"/>
                <a:cs typeface="Calibri" pitchFamily="34" charset="0"/>
              </a:rPr>
              <a:t>Byte offset</a:t>
            </a:r>
          </a:p>
        </p:txBody>
      </p:sp>
      <p:sp>
        <p:nvSpPr>
          <p:cNvPr id="8" name="TextBox 7">
            <a:extLst>
              <a:ext uri="{FF2B5EF4-FFF2-40B4-BE49-F238E27FC236}">
                <a16:creationId xmlns:a16="http://schemas.microsoft.com/office/drawing/2014/main" id="{B969E0EC-2F82-CEB4-C783-5659BD6883C5}"/>
              </a:ext>
            </a:extLst>
          </p:cNvPr>
          <p:cNvSpPr txBox="1"/>
          <p:nvPr/>
        </p:nvSpPr>
        <p:spPr>
          <a:xfrm>
            <a:off x="4692607" y="1592583"/>
            <a:ext cx="2394424" cy="369332"/>
          </a:xfrm>
          <a:prstGeom prst="rect">
            <a:avLst/>
          </a:prstGeom>
          <a:noFill/>
        </p:spPr>
        <p:txBody>
          <a:bodyPr wrap="square" rtlCol="0" anchor="ctr" anchorCtr="1">
            <a:spAutoFit/>
          </a:bodyPr>
          <a:lstStyle/>
          <a:p>
            <a:r>
              <a:rPr lang="en-US" dirty="0">
                <a:solidFill>
                  <a:srgbClr val="00B050"/>
                </a:solidFill>
                <a:ea typeface="標楷體" pitchFamily="65" charset="-120"/>
                <a:cs typeface="Calibri" pitchFamily="34" charset="0"/>
              </a:rPr>
              <a:t>Tag (block address)</a:t>
            </a:r>
          </a:p>
        </p:txBody>
      </p:sp>
      <p:sp>
        <p:nvSpPr>
          <p:cNvPr id="10" name="Rectangle 9">
            <a:extLst>
              <a:ext uri="{FF2B5EF4-FFF2-40B4-BE49-F238E27FC236}">
                <a16:creationId xmlns:a16="http://schemas.microsoft.com/office/drawing/2014/main" id="{98CC98D5-5EBC-B30C-A6D6-1FDB65CAC71B}"/>
              </a:ext>
            </a:extLst>
          </p:cNvPr>
          <p:cNvSpPr/>
          <p:nvPr/>
        </p:nvSpPr>
        <p:spPr bwMode="auto">
          <a:xfrm>
            <a:off x="4444673" y="2851373"/>
            <a:ext cx="3055291"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Rectangle 10">
            <a:extLst>
              <a:ext uri="{FF2B5EF4-FFF2-40B4-BE49-F238E27FC236}">
                <a16:creationId xmlns:a16="http://schemas.microsoft.com/office/drawing/2014/main" id="{F860C512-AF02-BA00-15DF-F73680776007}"/>
              </a:ext>
            </a:extLst>
          </p:cNvPr>
          <p:cNvSpPr/>
          <p:nvPr/>
        </p:nvSpPr>
        <p:spPr bwMode="auto">
          <a:xfrm>
            <a:off x="7522454" y="2843022"/>
            <a:ext cx="2232713"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2" name="Rectangle 11">
            <a:extLst>
              <a:ext uri="{FF2B5EF4-FFF2-40B4-BE49-F238E27FC236}">
                <a16:creationId xmlns:a16="http://schemas.microsoft.com/office/drawing/2014/main" id="{E7D2A170-CD15-5BA0-FD0B-3FA600CCB9CB}"/>
              </a:ext>
            </a:extLst>
          </p:cNvPr>
          <p:cNvSpPr/>
          <p:nvPr/>
        </p:nvSpPr>
        <p:spPr bwMode="auto">
          <a:xfrm>
            <a:off x="9777657" y="2843022"/>
            <a:ext cx="1410134"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3" name="TextBox 12">
            <a:extLst>
              <a:ext uri="{FF2B5EF4-FFF2-40B4-BE49-F238E27FC236}">
                <a16:creationId xmlns:a16="http://schemas.microsoft.com/office/drawing/2014/main" id="{73F17413-065C-FD14-20B3-93EF6FE1B96C}"/>
              </a:ext>
            </a:extLst>
          </p:cNvPr>
          <p:cNvSpPr txBox="1"/>
          <p:nvPr/>
        </p:nvSpPr>
        <p:spPr>
          <a:xfrm>
            <a:off x="9755168" y="2899709"/>
            <a:ext cx="1303508" cy="369332"/>
          </a:xfrm>
          <a:prstGeom prst="rect">
            <a:avLst/>
          </a:prstGeom>
          <a:noFill/>
        </p:spPr>
        <p:txBody>
          <a:bodyPr wrap="square" rtlCol="0" anchor="ctr" anchorCtr="1">
            <a:spAutoFit/>
          </a:bodyPr>
          <a:lstStyle/>
          <a:p>
            <a:r>
              <a:rPr lang="en-US" dirty="0">
                <a:solidFill>
                  <a:srgbClr val="00B050"/>
                </a:solidFill>
                <a:ea typeface="標楷體" pitchFamily="65" charset="-120"/>
                <a:cs typeface="Calibri" pitchFamily="34" charset="0"/>
              </a:rPr>
              <a:t>Byte offset</a:t>
            </a:r>
          </a:p>
        </p:txBody>
      </p:sp>
      <p:sp>
        <p:nvSpPr>
          <p:cNvPr id="14" name="TextBox 13">
            <a:extLst>
              <a:ext uri="{FF2B5EF4-FFF2-40B4-BE49-F238E27FC236}">
                <a16:creationId xmlns:a16="http://schemas.microsoft.com/office/drawing/2014/main" id="{887AEDE5-B786-6E26-A058-55D1E833490A}"/>
              </a:ext>
            </a:extLst>
          </p:cNvPr>
          <p:cNvSpPr txBox="1"/>
          <p:nvPr/>
        </p:nvSpPr>
        <p:spPr>
          <a:xfrm>
            <a:off x="7850077" y="2879060"/>
            <a:ext cx="1712781" cy="369332"/>
          </a:xfrm>
          <a:prstGeom prst="rect">
            <a:avLst/>
          </a:prstGeom>
          <a:noFill/>
        </p:spPr>
        <p:txBody>
          <a:bodyPr wrap="squar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15" name="TextBox 14">
            <a:extLst>
              <a:ext uri="{FF2B5EF4-FFF2-40B4-BE49-F238E27FC236}">
                <a16:creationId xmlns:a16="http://schemas.microsoft.com/office/drawing/2014/main" id="{E6DDD03E-3700-3BCB-6716-BA2C28505765}"/>
              </a:ext>
            </a:extLst>
          </p:cNvPr>
          <p:cNvSpPr txBox="1"/>
          <p:nvPr/>
        </p:nvSpPr>
        <p:spPr>
          <a:xfrm>
            <a:off x="4936547" y="2851373"/>
            <a:ext cx="2151054" cy="369332"/>
          </a:xfrm>
          <a:prstGeom prst="rect">
            <a:avLst/>
          </a:prstGeom>
          <a:noFill/>
        </p:spPr>
        <p:txBody>
          <a:bodyPr wrap="square" rtlCol="0" anchor="ctr" anchorCtr="1">
            <a:spAutoFit/>
          </a:bodyPr>
          <a:lstStyle/>
          <a:p>
            <a:r>
              <a:rPr lang="en-US" dirty="0">
                <a:solidFill>
                  <a:srgbClr val="00B050"/>
                </a:solidFill>
                <a:ea typeface="標楷體" pitchFamily="65" charset="-120"/>
                <a:cs typeface="Calibri" pitchFamily="34" charset="0"/>
              </a:rPr>
              <a:t>Tag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p:bldP spid="8" grpId="0"/>
      <p:bldP spid="10" grpId="0" animBg="1"/>
      <p:bldP spid="11" grpId="0" animBg="1"/>
      <p:bldP spid="12" grpId="0" animBg="1"/>
      <p:bldP spid="13" grpId="0"/>
      <p:bldP spid="14" grpId="0"/>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(1)</a:t>
            </a:r>
          </a:p>
        </p:txBody>
      </p:sp>
      <p:sp>
        <p:nvSpPr>
          <p:cNvPr id="3" name="Content Placeholder 2"/>
          <p:cNvSpPr>
            <a:spLocks noGrp="1"/>
          </p:cNvSpPr>
          <p:nvPr>
            <p:ph idx="1"/>
          </p:nvPr>
        </p:nvSpPr>
        <p:spPr>
          <a:xfrm>
            <a:off x="1448228" y="1006975"/>
            <a:ext cx="10119360" cy="1496624"/>
          </a:xfrm>
        </p:spPr>
        <p:txBody>
          <a:bodyPr/>
          <a:lstStyle/>
          <a:p>
            <a:r>
              <a:rPr lang="en-US" sz="2667" dirty="0"/>
              <a:t>8-blocks, 1 word/block, </a:t>
            </a:r>
            <a:r>
              <a:rPr lang="en-US" sz="3200" b="1" dirty="0">
                <a:solidFill>
                  <a:srgbClr val="FF0000"/>
                </a:solidFill>
              </a:rPr>
              <a:t>direct-mapped</a:t>
            </a:r>
          </a:p>
          <a:p>
            <a:r>
              <a:rPr lang="en-US" sz="2667" dirty="0"/>
              <a:t>Initial state of cache</a:t>
            </a:r>
          </a:p>
          <a:p>
            <a:r>
              <a:rPr lang="en-US" sz="2667" dirty="0"/>
              <a:t>A set is a group of lines that can hold memory blocks.</a:t>
            </a:r>
          </a:p>
        </p:txBody>
      </p:sp>
      <p:graphicFrame>
        <p:nvGraphicFramePr>
          <p:cNvPr id="6" name="Table 5"/>
          <p:cNvGraphicFramePr>
            <a:graphicFrameLocks noGrp="1"/>
          </p:cNvGraphicFramePr>
          <p:nvPr>
            <p:extLst>
              <p:ext uri="{D42A27DB-BD31-4B8C-83A1-F6EECF244321}">
                <p14:modId xmlns:p14="http://schemas.microsoft.com/office/powerpoint/2010/main" val="1684445511"/>
              </p:ext>
            </p:extLst>
          </p:nvPr>
        </p:nvGraphicFramePr>
        <p:xfrm>
          <a:off x="2798033" y="2503599"/>
          <a:ext cx="7020000" cy="342900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5920">
                <a:tc>
                  <a:txBody>
                    <a:bodyPr/>
                    <a:lstStyle/>
                    <a:p>
                      <a:pPr algn="ctr"/>
                      <a:r>
                        <a:rPr lang="en-US" sz="1900" dirty="0"/>
                        <a:t>Index</a:t>
                      </a:r>
                    </a:p>
                  </a:txBody>
                  <a:tcPr anchor="ctr">
                    <a:solidFill>
                      <a:schemeClr val="accent5">
                        <a:lumMod val="40000"/>
                        <a:lumOff val="60000"/>
                      </a:schemeClr>
                    </a:solidFill>
                  </a:tcPr>
                </a:tc>
                <a:tc>
                  <a:txBody>
                    <a:bodyPr/>
                    <a:lstStyle/>
                    <a:p>
                      <a:pPr algn="ctr"/>
                      <a:r>
                        <a:rPr lang="en-US" sz="1900" dirty="0"/>
                        <a:t>V</a:t>
                      </a:r>
                    </a:p>
                  </a:txBody>
                  <a:tcPr anchor="ctr"/>
                </a:tc>
                <a:tc>
                  <a:txBody>
                    <a:bodyPr/>
                    <a:lstStyle/>
                    <a:p>
                      <a:pPr algn="ctr"/>
                      <a:r>
                        <a:rPr lang="en-US" sz="1900" dirty="0"/>
                        <a:t>Tag</a:t>
                      </a:r>
                    </a:p>
                  </a:txBody>
                  <a:tcPr anchor="ctr"/>
                </a:tc>
                <a:tc>
                  <a:txBody>
                    <a:bodyPr/>
                    <a:lstStyle/>
                    <a:p>
                      <a:pPr algn="ctr"/>
                      <a:r>
                        <a:rPr lang="en-US" sz="1900" dirty="0"/>
                        <a:t>Data</a:t>
                      </a:r>
                    </a:p>
                  </a:txBody>
                  <a:tcPr anchor="ctr"/>
                </a:tc>
                <a:extLst>
                  <a:ext uri="{0D108BD9-81ED-4DB2-BD59-A6C34878D82A}">
                    <a16:rowId xmlns:a16="http://schemas.microsoft.com/office/drawing/2014/main" val="10000"/>
                  </a:ext>
                </a:extLst>
              </a:tr>
              <a:tr h="375920">
                <a:tc>
                  <a:txBody>
                    <a:bodyPr/>
                    <a:lstStyle/>
                    <a:p>
                      <a:pPr algn="ctr"/>
                      <a:r>
                        <a:rPr lang="en-US" sz="1900" dirty="0"/>
                        <a:t>000</a:t>
                      </a:r>
                    </a:p>
                  </a:txBody>
                  <a:tcPr anchor="ctr">
                    <a:solidFill>
                      <a:schemeClr val="accent5">
                        <a:lumMod val="40000"/>
                        <a:lumOff val="60000"/>
                      </a:schemeClr>
                    </a:solidFill>
                  </a:tcP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dirty="0"/>
                    </a:p>
                  </a:txBody>
                  <a:tcPr anchor="ctr"/>
                </a:tc>
                <a:extLst>
                  <a:ext uri="{0D108BD9-81ED-4DB2-BD59-A6C34878D82A}">
                    <a16:rowId xmlns:a16="http://schemas.microsoft.com/office/drawing/2014/main" val="10001"/>
                  </a:ext>
                </a:extLst>
              </a:tr>
              <a:tr h="375920">
                <a:tc>
                  <a:txBody>
                    <a:bodyPr/>
                    <a:lstStyle/>
                    <a:p>
                      <a:pPr algn="ctr"/>
                      <a:r>
                        <a:rPr lang="en-US" sz="1900" dirty="0"/>
                        <a:t>001</a:t>
                      </a:r>
                    </a:p>
                  </a:txBody>
                  <a:tcPr anchor="ctr">
                    <a:solidFill>
                      <a:schemeClr val="accent5">
                        <a:lumMod val="40000"/>
                        <a:lumOff val="60000"/>
                      </a:schemeClr>
                    </a:solidFill>
                  </a:tcP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dirty="0"/>
                    </a:p>
                  </a:txBody>
                  <a:tcPr anchor="ctr"/>
                </a:tc>
                <a:extLst>
                  <a:ext uri="{0D108BD9-81ED-4DB2-BD59-A6C34878D82A}">
                    <a16:rowId xmlns:a16="http://schemas.microsoft.com/office/drawing/2014/main" val="10002"/>
                  </a:ext>
                </a:extLst>
              </a:tr>
              <a:tr h="375920">
                <a:tc>
                  <a:txBody>
                    <a:bodyPr/>
                    <a:lstStyle/>
                    <a:p>
                      <a:pPr algn="ctr"/>
                      <a:r>
                        <a:rPr lang="en-US" sz="1900" dirty="0"/>
                        <a:t>010</a:t>
                      </a:r>
                    </a:p>
                  </a:txBody>
                  <a:tcPr anchor="ctr">
                    <a:solidFill>
                      <a:schemeClr val="accent5">
                        <a:lumMod val="40000"/>
                        <a:lumOff val="60000"/>
                      </a:schemeClr>
                    </a:solidFill>
                  </a:tcP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a:p>
                  </a:txBody>
                  <a:tcPr anchor="ctr"/>
                </a:tc>
                <a:extLst>
                  <a:ext uri="{0D108BD9-81ED-4DB2-BD59-A6C34878D82A}">
                    <a16:rowId xmlns:a16="http://schemas.microsoft.com/office/drawing/2014/main" val="10003"/>
                  </a:ext>
                </a:extLst>
              </a:tr>
              <a:tr h="375920">
                <a:tc>
                  <a:txBody>
                    <a:bodyPr/>
                    <a:lstStyle/>
                    <a:p>
                      <a:pPr algn="ctr"/>
                      <a:r>
                        <a:rPr lang="en-US" sz="1900" dirty="0"/>
                        <a:t>011</a:t>
                      </a:r>
                    </a:p>
                  </a:txBody>
                  <a:tcPr anchor="ctr">
                    <a:solidFill>
                      <a:schemeClr val="accent5">
                        <a:lumMod val="40000"/>
                        <a:lumOff val="60000"/>
                      </a:schemeClr>
                    </a:solidFill>
                  </a:tcP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a:p>
                  </a:txBody>
                  <a:tcPr anchor="ctr"/>
                </a:tc>
                <a:extLst>
                  <a:ext uri="{0D108BD9-81ED-4DB2-BD59-A6C34878D82A}">
                    <a16:rowId xmlns:a16="http://schemas.microsoft.com/office/drawing/2014/main" val="10004"/>
                  </a:ext>
                </a:extLst>
              </a:tr>
              <a:tr h="375920">
                <a:tc>
                  <a:txBody>
                    <a:bodyPr/>
                    <a:lstStyle/>
                    <a:p>
                      <a:pPr algn="ctr"/>
                      <a:r>
                        <a:rPr lang="en-US" sz="1900" dirty="0"/>
                        <a:t>100</a:t>
                      </a:r>
                    </a:p>
                  </a:txBody>
                  <a:tcPr anchor="ctr">
                    <a:solidFill>
                      <a:schemeClr val="accent5">
                        <a:lumMod val="40000"/>
                        <a:lumOff val="60000"/>
                      </a:schemeClr>
                    </a:solidFill>
                  </a:tcP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a:p>
                  </a:txBody>
                  <a:tcPr anchor="ctr"/>
                </a:tc>
                <a:extLst>
                  <a:ext uri="{0D108BD9-81ED-4DB2-BD59-A6C34878D82A}">
                    <a16:rowId xmlns:a16="http://schemas.microsoft.com/office/drawing/2014/main" val="10005"/>
                  </a:ext>
                </a:extLst>
              </a:tr>
              <a:tr h="375920">
                <a:tc>
                  <a:txBody>
                    <a:bodyPr/>
                    <a:lstStyle/>
                    <a:p>
                      <a:pPr algn="ctr"/>
                      <a:r>
                        <a:rPr lang="en-US" sz="1900" dirty="0"/>
                        <a:t>101</a:t>
                      </a:r>
                    </a:p>
                  </a:txBody>
                  <a:tcPr anchor="ctr">
                    <a:solidFill>
                      <a:schemeClr val="accent5">
                        <a:lumMod val="40000"/>
                        <a:lumOff val="60000"/>
                      </a:schemeClr>
                    </a:solidFill>
                  </a:tcPr>
                </a:tc>
                <a:tc>
                  <a:txBody>
                    <a:bodyPr/>
                    <a:lstStyle/>
                    <a:p>
                      <a:pPr algn="ctr"/>
                      <a:r>
                        <a:rPr lang="en-US" sz="1900" dirty="0"/>
                        <a:t>N</a:t>
                      </a:r>
                    </a:p>
                  </a:txBody>
                  <a:tcPr anchor="ctr"/>
                </a:tc>
                <a:tc>
                  <a:txBody>
                    <a:bodyPr/>
                    <a:lstStyle/>
                    <a:p>
                      <a:pPr algn="ctr"/>
                      <a:endParaRPr lang="en-US" sz="1900" dirty="0"/>
                    </a:p>
                  </a:txBody>
                  <a:tcPr anchor="ctr"/>
                </a:tc>
                <a:tc>
                  <a:txBody>
                    <a:bodyPr/>
                    <a:lstStyle/>
                    <a:p>
                      <a:pPr algn="ctr"/>
                      <a:endParaRPr lang="en-US" sz="1900"/>
                    </a:p>
                  </a:txBody>
                  <a:tcPr anchor="ctr"/>
                </a:tc>
                <a:extLst>
                  <a:ext uri="{0D108BD9-81ED-4DB2-BD59-A6C34878D82A}">
                    <a16:rowId xmlns:a16="http://schemas.microsoft.com/office/drawing/2014/main" val="10006"/>
                  </a:ext>
                </a:extLst>
              </a:tr>
              <a:tr h="375920">
                <a:tc>
                  <a:txBody>
                    <a:bodyPr/>
                    <a:lstStyle/>
                    <a:p>
                      <a:pPr algn="ctr"/>
                      <a:r>
                        <a:rPr lang="en-US" sz="1900" dirty="0"/>
                        <a:t>110</a:t>
                      </a:r>
                    </a:p>
                  </a:txBody>
                  <a:tcPr anchor="ctr">
                    <a:solidFill>
                      <a:schemeClr val="accent5">
                        <a:lumMod val="40000"/>
                        <a:lumOff val="60000"/>
                      </a:schemeClr>
                    </a:solidFill>
                  </a:tcP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dirty="0"/>
                    </a:p>
                  </a:txBody>
                  <a:tcPr anchor="ctr"/>
                </a:tc>
                <a:extLst>
                  <a:ext uri="{0D108BD9-81ED-4DB2-BD59-A6C34878D82A}">
                    <a16:rowId xmlns:a16="http://schemas.microsoft.com/office/drawing/2014/main" val="10007"/>
                  </a:ext>
                </a:extLst>
              </a:tr>
              <a:tr h="375920">
                <a:tc>
                  <a:txBody>
                    <a:bodyPr/>
                    <a:lstStyle/>
                    <a:p>
                      <a:pPr algn="ctr"/>
                      <a:r>
                        <a:rPr lang="en-US" sz="1900" dirty="0"/>
                        <a:t>111</a:t>
                      </a:r>
                    </a:p>
                  </a:txBody>
                  <a:tcPr anchor="ctr">
                    <a:solidFill>
                      <a:schemeClr val="accent5">
                        <a:lumMod val="40000"/>
                        <a:lumOff val="60000"/>
                      </a:schemeClr>
                    </a:solidFill>
                  </a:tcP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dirty="0"/>
                    </a:p>
                  </a:txBody>
                  <a:tcPr anchor="ctr"/>
                </a:tc>
                <a:extLst>
                  <a:ext uri="{0D108BD9-81ED-4DB2-BD59-A6C34878D82A}">
                    <a16:rowId xmlns:a16="http://schemas.microsoft.com/office/drawing/2014/main" val="10008"/>
                  </a:ext>
                </a:extLst>
              </a:tr>
            </a:tbl>
          </a:graphicData>
        </a:graphic>
      </p:graphicFrame>
      <p:sp>
        <p:nvSpPr>
          <p:cNvPr id="7" name="Slide Number Placeholder 6"/>
          <p:cNvSpPr>
            <a:spLocks noGrp="1"/>
          </p:cNvSpPr>
          <p:nvPr>
            <p:ph type="sldNum" sz="quarter" idx="10"/>
          </p:nvPr>
        </p:nvSpPr>
        <p:spPr/>
        <p:txBody>
          <a:bodyPr/>
          <a:lstStyle/>
          <a:p>
            <a:fld id="{D9B6BDF2-6896-4B98-8776-C18582F63BA5}" type="slidenum">
              <a:rPr lang="zh-TW" altLang="en-US" smtClean="0"/>
              <a:t>42</a:t>
            </a:fld>
            <a:endParaRPr lang="zh-TW" altLang="en-US"/>
          </a:p>
        </p:txBody>
      </p:sp>
      <p:sp>
        <p:nvSpPr>
          <p:cNvPr id="4" name="TextBox 3">
            <a:extLst>
              <a:ext uri="{FF2B5EF4-FFF2-40B4-BE49-F238E27FC236}">
                <a16:creationId xmlns:a16="http://schemas.microsoft.com/office/drawing/2014/main" id="{53956691-F838-4609-9B48-EAD063AE980E}"/>
              </a:ext>
            </a:extLst>
          </p:cNvPr>
          <p:cNvSpPr txBox="1"/>
          <p:nvPr/>
        </p:nvSpPr>
        <p:spPr>
          <a:xfrm>
            <a:off x="1463040" y="3925711"/>
            <a:ext cx="1277914" cy="584775"/>
          </a:xfrm>
          <a:prstGeom prst="rect">
            <a:avLst/>
          </a:prstGeom>
          <a:solidFill>
            <a:srgbClr val="FFFF00"/>
          </a:solidFill>
          <a:ln>
            <a:solidFill>
              <a:srgbClr val="FF0000"/>
            </a:solidFill>
          </a:ln>
        </p:spPr>
        <p:txBody>
          <a:bodyPr wrap="none" rtlCol="0" anchor="ctr" anchorCtr="1">
            <a:spAutoFit/>
          </a:bodyPr>
          <a:lstStyle/>
          <a:p>
            <a:r>
              <a:rPr lang="en-US" sz="3200" dirty="0">
                <a:ea typeface="標楷體" pitchFamily="65" charset="-120"/>
                <a:cs typeface="Calibri" pitchFamily="34" charset="0"/>
              </a:rPr>
              <a:t>8 sets</a:t>
            </a:r>
          </a:p>
        </p:txBody>
      </p:sp>
      <p:sp>
        <p:nvSpPr>
          <p:cNvPr id="5" name="Left Brace 4">
            <a:extLst>
              <a:ext uri="{FF2B5EF4-FFF2-40B4-BE49-F238E27FC236}">
                <a16:creationId xmlns:a16="http://schemas.microsoft.com/office/drawing/2014/main" id="{9274A756-5904-46A3-A946-D077BA5FFAB4}"/>
              </a:ext>
            </a:extLst>
          </p:cNvPr>
          <p:cNvSpPr/>
          <p:nvPr/>
        </p:nvSpPr>
        <p:spPr bwMode="auto">
          <a:xfrm>
            <a:off x="2798033" y="2913529"/>
            <a:ext cx="2007048" cy="2818934"/>
          </a:xfrm>
          <a:prstGeom prst="leftBrace">
            <a:avLst>
              <a:gd name="adj1" fmla="val 8333"/>
              <a:gd name="adj2" fmla="val 45866"/>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(2) </a:t>
            </a:r>
          </a:p>
        </p:txBody>
      </p:sp>
      <p:graphicFrame>
        <p:nvGraphicFramePr>
          <p:cNvPr id="6" name="Table 5"/>
          <p:cNvGraphicFramePr>
            <a:graphicFrameLocks noGrp="1"/>
          </p:cNvGraphicFramePr>
          <p:nvPr/>
        </p:nvGraphicFramePr>
        <p:xfrm>
          <a:off x="2586000" y="2509907"/>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dirty="0"/>
                        <a:t>000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1"/>
                  </a:ext>
                </a:extLst>
              </a:tr>
              <a:tr h="370840">
                <a:tc>
                  <a:txBody>
                    <a:bodyPr/>
                    <a:lstStyle/>
                    <a:p>
                      <a:pPr algn="ctr"/>
                      <a:r>
                        <a:rPr lang="en-US" sz="1600" dirty="0"/>
                        <a:t>001</a:t>
                      </a:r>
                    </a:p>
                  </a:txBody>
                  <a:tcPr anchor="ctr"/>
                </a:tc>
                <a:tc>
                  <a:txBody>
                    <a:bodyPr/>
                    <a:lstStyle/>
                    <a:p>
                      <a:pPr algn="ctr"/>
                      <a:r>
                        <a:rPr lang="en-US" sz="1600" dirty="0"/>
                        <a:t>N</a:t>
                      </a:r>
                    </a:p>
                  </a:txBody>
                  <a:tcPr anchor="ctr"/>
                </a:tc>
                <a:tc>
                  <a:txBody>
                    <a:bodyPr/>
                    <a:lstStyle/>
                    <a:p>
                      <a:pPr algn="ctr"/>
                      <a:endParaRPr lang="en-US" sz="1600" dirty="0"/>
                    </a:p>
                  </a:txBody>
                  <a:tcPr anchor="ctr"/>
                </a:tc>
                <a:tc>
                  <a:txBody>
                    <a:bodyPr/>
                    <a:lstStyle/>
                    <a:p>
                      <a:pPr algn="ctr"/>
                      <a:endParaRPr lang="en-US" sz="1600" dirty="0"/>
                    </a:p>
                  </a:txBody>
                  <a:tcPr anchor="ctr"/>
                </a:tc>
                <a:extLst>
                  <a:ext uri="{0D108BD9-81ED-4DB2-BD59-A6C34878D82A}">
                    <a16:rowId xmlns:a16="http://schemas.microsoft.com/office/drawing/2014/main" val="10002"/>
                  </a:ext>
                </a:extLst>
              </a:tr>
              <a:tr h="370840">
                <a:tc>
                  <a:txBody>
                    <a:bodyPr/>
                    <a:lstStyle/>
                    <a:p>
                      <a:pPr algn="ctr"/>
                      <a:r>
                        <a:rPr lang="en-US" sz="1600" dirty="0"/>
                        <a:t>010</a:t>
                      </a:r>
                    </a:p>
                  </a:txBody>
                  <a:tcPr anchor="ctr"/>
                </a:tc>
                <a:tc>
                  <a:txBody>
                    <a:bodyPr/>
                    <a:lstStyle/>
                    <a:p>
                      <a:pPr algn="ctr"/>
                      <a:r>
                        <a:rPr lang="en-US" sz="1600" dirty="0"/>
                        <a:t>N</a:t>
                      </a:r>
                    </a:p>
                  </a:txBody>
                  <a:tcPr anchor="ctr"/>
                </a:tc>
                <a:tc>
                  <a:txBody>
                    <a:bodyPr/>
                    <a:lstStyle/>
                    <a:p>
                      <a:pPr algn="ctr"/>
                      <a:endParaRPr lang="en-US" sz="1600" dirty="0"/>
                    </a:p>
                  </a:txBody>
                  <a:tcPr anchor="ctr"/>
                </a:tc>
                <a:tc>
                  <a:txBody>
                    <a:bodyPr/>
                    <a:lstStyle/>
                    <a:p>
                      <a:pPr algn="ctr"/>
                      <a:endParaRPr lang="en-US" sz="1600"/>
                    </a:p>
                  </a:txBody>
                  <a:tcPr anchor="ctr"/>
                </a:tc>
                <a:extLst>
                  <a:ext uri="{0D108BD9-81ED-4DB2-BD59-A6C34878D82A}">
                    <a16:rowId xmlns:a16="http://schemas.microsoft.com/office/drawing/2014/main" val="10003"/>
                  </a:ext>
                </a:extLst>
              </a:tr>
              <a:tr h="370840">
                <a:tc>
                  <a:txBody>
                    <a:bodyPr/>
                    <a:lstStyle/>
                    <a:p>
                      <a:pPr algn="ctr"/>
                      <a:r>
                        <a:rPr lang="en-US" sz="1600" dirty="0"/>
                        <a:t>011</a:t>
                      </a:r>
                    </a:p>
                  </a:txBody>
                  <a:tcPr anchor="ctr"/>
                </a:tc>
                <a:tc>
                  <a:txBody>
                    <a:bodyPr/>
                    <a:lstStyle/>
                    <a:p>
                      <a:pPr algn="ctr"/>
                      <a:r>
                        <a:rPr lang="en-US" sz="1600" dirty="0"/>
                        <a:t>N</a:t>
                      </a:r>
                    </a:p>
                  </a:txBody>
                  <a:tcPr anchor="ctr"/>
                </a:tc>
                <a:tc>
                  <a:txBody>
                    <a:bodyPr/>
                    <a:lstStyle/>
                    <a:p>
                      <a:pPr algn="ctr"/>
                      <a:endParaRPr lang="en-US" sz="1600" dirty="0"/>
                    </a:p>
                  </a:txBody>
                  <a:tcPr anchor="ctr"/>
                </a:tc>
                <a:tc>
                  <a:txBody>
                    <a:bodyPr/>
                    <a:lstStyle/>
                    <a:p>
                      <a:pPr algn="ctr"/>
                      <a:endParaRPr lang="en-US" sz="1600" dirty="0"/>
                    </a:p>
                  </a:txBody>
                  <a:tcPr anchor="ctr"/>
                </a:tc>
                <a:extLst>
                  <a:ext uri="{0D108BD9-81ED-4DB2-BD59-A6C34878D82A}">
                    <a16:rowId xmlns:a16="http://schemas.microsoft.com/office/drawing/2014/main" val="10004"/>
                  </a:ext>
                </a:extLst>
              </a:tr>
              <a:tr h="370840">
                <a:tc>
                  <a:txBody>
                    <a:bodyPr/>
                    <a:lstStyle/>
                    <a:p>
                      <a:pPr algn="ctr"/>
                      <a:r>
                        <a:rPr lang="en-US" sz="1600" dirty="0"/>
                        <a:t>100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5"/>
                  </a:ext>
                </a:extLst>
              </a:tr>
              <a:tr h="370840">
                <a:tc>
                  <a:txBody>
                    <a:bodyPr/>
                    <a:lstStyle/>
                    <a:p>
                      <a:pPr algn="ctr"/>
                      <a:r>
                        <a:rPr lang="en-US" sz="1600" dirty="0"/>
                        <a:t>101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altLang="zh-CN" sz="1600" b="0" dirty="0">
                          <a:solidFill>
                            <a:schemeClr val="tx1"/>
                          </a:solidFill>
                        </a:rPr>
                        <a:t>N</a:t>
                      </a:r>
                      <a:endParaRPr lang="en-US" sz="1600" b="0" dirty="0">
                        <a:solidFill>
                          <a:schemeClr val="tx1"/>
                        </a:solidFill>
                      </a:endParaRPr>
                    </a:p>
                  </a:txBody>
                  <a:tcPr anchor="ctr"/>
                </a:tc>
                <a:tc>
                  <a:txBody>
                    <a:bodyPr/>
                    <a:lstStyle/>
                    <a:p>
                      <a:pPr algn="ctr"/>
                      <a:endParaRPr lang="en-US" sz="1600" b="1" dirty="0">
                        <a:solidFill>
                          <a:srgbClr val="FF0000"/>
                        </a:solidFill>
                      </a:endParaRPr>
                    </a:p>
                  </a:txBody>
                  <a:tcPr anchor="ctr"/>
                </a:tc>
                <a:tc>
                  <a:txBody>
                    <a:bodyPr/>
                    <a:lstStyle/>
                    <a:p>
                      <a:pPr algn="ctr"/>
                      <a:endParaRPr lang="en-US" sz="1600" b="1" dirty="0">
                        <a:solidFill>
                          <a:srgbClr val="FF0000"/>
                        </a:solidFill>
                      </a:endParaRP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7" name="Table 6"/>
          <p:cNvGraphicFramePr>
            <a:graphicFrameLocks noGrp="1"/>
          </p:cNvGraphicFramePr>
          <p:nvPr/>
        </p:nvGraphicFramePr>
        <p:xfrm>
          <a:off x="2587981" y="125684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43</a:t>
            </a:fld>
            <a:endParaRPr lang="zh-TW" altLang="en-US"/>
          </a:p>
        </p:txBody>
      </p:sp>
      <p:graphicFrame>
        <p:nvGraphicFramePr>
          <p:cNvPr id="4" name="表格 3"/>
          <p:cNvGraphicFramePr>
            <a:graphicFrameLocks noGrp="1"/>
          </p:cNvGraphicFramePr>
          <p:nvPr>
            <p:extLst>
              <p:ext uri="{D42A27DB-BD31-4B8C-83A1-F6EECF244321}">
                <p14:modId xmlns:p14="http://schemas.microsoft.com/office/powerpoint/2010/main" val="4096048162"/>
              </p:ext>
            </p:extLst>
          </p:nvPr>
        </p:nvGraphicFramePr>
        <p:xfrm>
          <a:off x="2586000" y="5127989"/>
          <a:ext cx="7020000" cy="335280"/>
        </p:xfrm>
        <a:graphic>
          <a:graphicData uri="http://schemas.openxmlformats.org/drawingml/2006/table">
            <a:tbl>
              <a:tblPr firstRow="1" bandRow="1">
                <a:tableStyleId>{5C22544A-7EE6-4342-B048-85BDC9FD1C3A}</a:tableStyleId>
              </a:tblPr>
              <a:tblGrid>
                <a:gridCol w="1266153">
                  <a:extLst>
                    <a:ext uri="{9D8B030D-6E8A-4147-A177-3AD203B41FA5}">
                      <a16:colId xmlns:a16="http://schemas.microsoft.com/office/drawing/2014/main" val="20000"/>
                    </a:ext>
                  </a:extLst>
                </a:gridCol>
                <a:gridCol w="713847">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35280">
                <a:tc>
                  <a:txBody>
                    <a:bodyPr/>
                    <a:lstStyle/>
                    <a:p>
                      <a:pPr algn="ctr"/>
                      <a:r>
                        <a:rPr lang="en-US" sz="1600" b="1" dirty="0">
                          <a:solidFill>
                            <a:srgbClr val="FF0000"/>
                          </a:solidFill>
                        </a:rPr>
                        <a:t>110</a:t>
                      </a:r>
                    </a:p>
                  </a:txBody>
                  <a:tcPr anchor="ctr">
                    <a:solidFill>
                      <a:srgbClr val="00B0F0"/>
                    </a:solidFill>
                  </a:tcPr>
                </a:tc>
                <a:tc>
                  <a:txBody>
                    <a:bodyPr/>
                    <a:lstStyle/>
                    <a:p>
                      <a:pPr algn="ctr"/>
                      <a:r>
                        <a:rPr lang="en-US" sz="1600" b="1" dirty="0">
                          <a:solidFill>
                            <a:srgbClr val="FF0000"/>
                          </a:solidFill>
                        </a:rPr>
                        <a:t>Y</a:t>
                      </a:r>
                    </a:p>
                  </a:txBody>
                  <a:tcPr anchor="ctr">
                    <a:solidFill>
                      <a:srgbClr val="00B0F0"/>
                    </a:solidFill>
                  </a:tcPr>
                </a:tc>
                <a:tc>
                  <a:txBody>
                    <a:bodyPr/>
                    <a:lstStyle/>
                    <a:p>
                      <a:pPr algn="ctr"/>
                      <a:r>
                        <a:rPr lang="en-US" sz="1600" b="1" dirty="0">
                          <a:solidFill>
                            <a:srgbClr val="FF0000"/>
                          </a:solidFill>
                        </a:rPr>
                        <a:t>10</a:t>
                      </a:r>
                    </a:p>
                  </a:txBody>
                  <a:tcPr anchor="ctr">
                    <a:solidFill>
                      <a:srgbClr val="00B0F0"/>
                    </a:solidFill>
                  </a:tcPr>
                </a:tc>
                <a:tc>
                  <a:txBody>
                    <a:bodyPr/>
                    <a:lstStyle/>
                    <a:p>
                      <a:pPr algn="ctr"/>
                      <a:r>
                        <a:rPr lang="en-US" sz="1600" b="1" dirty="0">
                          <a:solidFill>
                            <a:srgbClr val="FF0000"/>
                          </a:solidFill>
                        </a:rPr>
                        <a:t>Memory[10110</a:t>
                      </a:r>
                      <a:r>
                        <a:rPr lang="en-US" sz="1600" b="1" baseline="-25000" dirty="0">
                          <a:solidFill>
                            <a:srgbClr val="FF0000"/>
                          </a:solidFill>
                        </a:rPr>
                        <a:t>2</a:t>
                      </a:r>
                      <a:r>
                        <a:rPr lang="en-US" sz="1600" b="1" dirty="0">
                          <a:solidFill>
                            <a:srgbClr val="FF0000"/>
                          </a:solidFill>
                        </a:rPr>
                        <a:t>]</a:t>
                      </a:r>
                    </a:p>
                  </a:txBody>
                  <a:tcPr anchor="ctr">
                    <a:solidFill>
                      <a:srgbClr val="00B0F0"/>
                    </a:solidFill>
                  </a:tcPr>
                </a:tc>
                <a:extLst>
                  <a:ext uri="{0D108BD9-81ED-4DB2-BD59-A6C34878D82A}">
                    <a16:rowId xmlns:a16="http://schemas.microsoft.com/office/drawing/2014/main" val="10000"/>
                  </a:ext>
                </a:extLst>
              </a:tr>
            </a:tbl>
          </a:graphicData>
        </a:graphic>
      </p:graphicFrame>
      <p:graphicFrame>
        <p:nvGraphicFramePr>
          <p:cNvPr id="8" name="Table 6"/>
          <p:cNvGraphicFramePr>
            <a:graphicFrameLocks noGrp="1"/>
          </p:cNvGraphicFramePr>
          <p:nvPr/>
        </p:nvGraphicFramePr>
        <p:xfrm>
          <a:off x="2587981" y="162733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0" dirty="0">
                          <a:solidFill>
                            <a:schemeClr val="tx1"/>
                          </a:solidFill>
                        </a:rPr>
                        <a:t>22</a:t>
                      </a:r>
                    </a:p>
                  </a:txBody>
                  <a:tcPr anchor="ctr">
                    <a:solidFill>
                      <a:schemeClr val="accent1">
                        <a:lumMod val="20000"/>
                        <a:lumOff val="80000"/>
                      </a:schemeClr>
                    </a:solidFill>
                  </a:tcPr>
                </a:tc>
                <a:tc>
                  <a:txBody>
                    <a:bodyPr/>
                    <a:lstStyle/>
                    <a:p>
                      <a:pPr algn="ctr"/>
                      <a:r>
                        <a:rPr lang="en-US" sz="1600" b="0" dirty="0">
                          <a:solidFill>
                            <a:schemeClr val="tx1"/>
                          </a:solidFill>
                        </a:rPr>
                        <a:t>10</a:t>
                      </a:r>
                      <a:r>
                        <a:rPr lang="en-US" sz="1600" b="0" baseline="0" dirty="0">
                          <a:solidFill>
                            <a:schemeClr val="tx1"/>
                          </a:solidFill>
                        </a:rPr>
                        <a:t> 110</a:t>
                      </a:r>
                      <a:endParaRPr lang="en-US" sz="1600" b="0" dirty="0">
                        <a:solidFill>
                          <a:schemeClr val="tx1"/>
                        </a:solidFill>
                      </a:endParaRPr>
                    </a:p>
                  </a:txBody>
                  <a:tcPr anchor="ctr">
                    <a:solidFill>
                      <a:schemeClr val="accent1">
                        <a:lumMod val="20000"/>
                        <a:lumOff val="80000"/>
                      </a:schemeClr>
                    </a:solidFill>
                  </a:tcPr>
                </a:tc>
                <a:tc>
                  <a:txBody>
                    <a:bodyPr/>
                    <a:lstStyle/>
                    <a:p>
                      <a:pPr algn="ctr"/>
                      <a:r>
                        <a:rPr lang="en-US" sz="1600" b="0" dirty="0">
                          <a:solidFill>
                            <a:schemeClr val="tx1"/>
                          </a:solidFill>
                        </a:rPr>
                        <a:t>Miss</a:t>
                      </a:r>
                    </a:p>
                  </a:txBody>
                  <a:tcPr anchor="ctr">
                    <a:solidFill>
                      <a:schemeClr val="accent1">
                        <a:lumMod val="20000"/>
                        <a:lumOff val="80000"/>
                      </a:schemeClr>
                    </a:solidFill>
                  </a:tcPr>
                </a:tc>
                <a:tc>
                  <a:txBody>
                    <a:bodyPr/>
                    <a:lstStyle/>
                    <a:p>
                      <a:pPr algn="ctr"/>
                      <a:r>
                        <a:rPr lang="en-US" sz="1600" b="0" dirty="0">
                          <a:solidFill>
                            <a:schemeClr val="tx1"/>
                          </a:solidFill>
                        </a:rPr>
                        <a:t>110</a:t>
                      </a:r>
                    </a:p>
                  </a:txBody>
                  <a:tcPr anchor="ctr">
                    <a:solidFill>
                      <a:schemeClr val="accent1">
                        <a:lumMod val="20000"/>
                        <a:lumOff val="80000"/>
                      </a:schemeClr>
                    </a:solidFill>
                  </a:tcPr>
                </a:tc>
                <a:extLst>
                  <a:ext uri="{0D108BD9-81ED-4DB2-BD59-A6C34878D82A}">
                    <a16:rowId xmlns:a16="http://schemas.microsoft.com/office/drawing/2014/main" val="10000"/>
                  </a:ext>
                </a:extLst>
              </a:tr>
            </a:tbl>
          </a:graphicData>
        </a:graphic>
      </p:graphicFrame>
      <p:sp>
        <p:nvSpPr>
          <p:cNvPr id="11" name="Oval 10">
            <a:extLst>
              <a:ext uri="{FF2B5EF4-FFF2-40B4-BE49-F238E27FC236}">
                <a16:creationId xmlns:a16="http://schemas.microsoft.com/office/drawing/2014/main" id="{E07E39E1-09F7-4BEE-83C6-F9D98F4DC9A8}"/>
              </a:ext>
            </a:extLst>
          </p:cNvPr>
          <p:cNvSpPr/>
          <p:nvPr/>
        </p:nvSpPr>
        <p:spPr bwMode="auto">
          <a:xfrm>
            <a:off x="5755341" y="1663159"/>
            <a:ext cx="681317" cy="358378"/>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4" name="Straight Arrow Connector 13">
            <a:extLst>
              <a:ext uri="{FF2B5EF4-FFF2-40B4-BE49-F238E27FC236}">
                <a16:creationId xmlns:a16="http://schemas.microsoft.com/office/drawing/2014/main" id="{09D6E2A8-7991-4FA6-BFD7-5F77ECEFFC33}"/>
              </a:ext>
            </a:extLst>
          </p:cNvPr>
          <p:cNvCxnSpPr/>
          <p:nvPr/>
        </p:nvCxnSpPr>
        <p:spPr bwMode="auto">
          <a:xfrm flipV="1">
            <a:off x="5477435" y="1918447"/>
            <a:ext cx="143436" cy="3209542"/>
          </a:xfrm>
          <a:prstGeom prst="straightConnector1">
            <a:avLst/>
          </a:prstGeom>
          <a:noFill/>
          <a:ln w="15875" cap="flat" cmpd="sng" algn="ctr">
            <a:solidFill>
              <a:srgbClr val="FF0000"/>
            </a:solidFill>
            <a:prstDash val="solid"/>
            <a:round/>
            <a:headEnd type="none" w="med" len="med"/>
            <a:tailEnd type="triangle"/>
          </a:ln>
          <a:effectLst/>
        </p:spPr>
      </p:cxnSp>
      <p:sp>
        <p:nvSpPr>
          <p:cNvPr id="15" name="TextBox 14">
            <a:extLst>
              <a:ext uri="{FF2B5EF4-FFF2-40B4-BE49-F238E27FC236}">
                <a16:creationId xmlns:a16="http://schemas.microsoft.com/office/drawing/2014/main" id="{E97D21F3-F3FE-4D8C-B46B-314ED8EF3D73}"/>
              </a:ext>
            </a:extLst>
          </p:cNvPr>
          <p:cNvSpPr txBox="1"/>
          <p:nvPr/>
        </p:nvSpPr>
        <p:spPr>
          <a:xfrm>
            <a:off x="110054" y="1213349"/>
            <a:ext cx="2159566"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Step 1</a:t>
            </a:r>
          </a:p>
          <a:p>
            <a:r>
              <a:rPr lang="en-US" dirty="0">
                <a:ea typeface="標楷體" pitchFamily="65" charset="-120"/>
                <a:cs typeface="Calibri" pitchFamily="34" charset="0"/>
              </a:rPr>
              <a:t>Check hit/miss</a:t>
            </a:r>
          </a:p>
          <a:p>
            <a:r>
              <a:rPr lang="en-US" dirty="0">
                <a:ea typeface="標楷體" pitchFamily="65" charset="-120"/>
                <a:cs typeface="Calibri" pitchFamily="34" charset="0"/>
              </a:rPr>
              <a:t>determine the set #</a:t>
            </a:r>
          </a:p>
        </p:txBody>
      </p:sp>
      <p:sp>
        <p:nvSpPr>
          <p:cNvPr id="16" name="TextBox 15">
            <a:extLst>
              <a:ext uri="{FF2B5EF4-FFF2-40B4-BE49-F238E27FC236}">
                <a16:creationId xmlns:a16="http://schemas.microsoft.com/office/drawing/2014/main" id="{B8FBC1D7-2512-4F20-B2F4-7FE08A3D9A2A}"/>
              </a:ext>
            </a:extLst>
          </p:cNvPr>
          <p:cNvSpPr txBox="1"/>
          <p:nvPr/>
        </p:nvSpPr>
        <p:spPr>
          <a:xfrm>
            <a:off x="92560" y="2673325"/>
            <a:ext cx="2095445"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Step 2</a:t>
            </a:r>
          </a:p>
          <a:p>
            <a:r>
              <a:rPr lang="en-US" dirty="0">
                <a:ea typeface="標楷體" pitchFamily="65" charset="-120"/>
                <a:cs typeface="Calibri" pitchFamily="34" charset="0"/>
              </a:rPr>
              <a:t>Check tag</a:t>
            </a:r>
          </a:p>
          <a:p>
            <a:r>
              <a:rPr lang="en-US" dirty="0">
                <a:ea typeface="標楷體" pitchFamily="65" charset="-120"/>
                <a:cs typeface="Calibri" pitchFamily="34" charset="0"/>
              </a:rPr>
              <a:t>Determine hit/miss</a:t>
            </a:r>
          </a:p>
        </p:txBody>
      </p:sp>
      <p:sp>
        <p:nvSpPr>
          <p:cNvPr id="17" name="TextBox 16">
            <a:extLst>
              <a:ext uri="{FF2B5EF4-FFF2-40B4-BE49-F238E27FC236}">
                <a16:creationId xmlns:a16="http://schemas.microsoft.com/office/drawing/2014/main" id="{9CEDF3B5-E9DA-41B2-81EB-7F702942F344}"/>
              </a:ext>
            </a:extLst>
          </p:cNvPr>
          <p:cNvSpPr txBox="1"/>
          <p:nvPr/>
        </p:nvSpPr>
        <p:spPr>
          <a:xfrm>
            <a:off x="92560" y="4178687"/>
            <a:ext cx="2274982" cy="1477328"/>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Step 3</a:t>
            </a:r>
          </a:p>
          <a:p>
            <a:r>
              <a:rPr lang="en-US" dirty="0">
                <a:ea typeface="標楷體" pitchFamily="65" charset="-120"/>
                <a:cs typeface="Calibri" pitchFamily="34" charset="0"/>
              </a:rPr>
              <a:t>If miss</a:t>
            </a:r>
          </a:p>
          <a:p>
            <a:r>
              <a:rPr lang="en-US" dirty="0">
                <a:ea typeface="標楷體" pitchFamily="65" charset="-120"/>
                <a:cs typeface="Calibri" pitchFamily="34" charset="0"/>
              </a:rPr>
              <a:t>Copy from Mem to $</a:t>
            </a:r>
          </a:p>
          <a:p>
            <a:r>
              <a:rPr lang="en-US" dirty="0">
                <a:ea typeface="標楷體" pitchFamily="65" charset="-120"/>
                <a:cs typeface="Calibri" pitchFamily="34" charset="0"/>
              </a:rPr>
              <a:t>Setting Valid bit</a:t>
            </a:r>
          </a:p>
          <a:p>
            <a:r>
              <a:rPr lang="en-US" dirty="0">
                <a:ea typeface="標楷體" pitchFamily="65" charset="-120"/>
                <a:cs typeface="Calibri" pitchFamily="34" charset="0"/>
              </a:rPr>
              <a:t>Setting tag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(3) </a:t>
            </a:r>
          </a:p>
        </p:txBody>
      </p:sp>
      <p:graphicFrame>
        <p:nvGraphicFramePr>
          <p:cNvPr id="6" name="Table 5"/>
          <p:cNvGraphicFramePr>
            <a:graphicFrameLocks noGrp="1"/>
          </p:cNvGraphicFramePr>
          <p:nvPr/>
        </p:nvGraphicFramePr>
        <p:xfrm>
          <a:off x="2610339" y="2679535"/>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dirty="0"/>
                        <a:t>000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1"/>
                  </a:ext>
                </a:extLst>
              </a:tr>
              <a:tr h="370840">
                <a:tc>
                  <a:txBody>
                    <a:bodyPr/>
                    <a:lstStyle/>
                    <a:p>
                      <a:pPr algn="ctr"/>
                      <a:r>
                        <a:rPr lang="en-US" sz="1600" dirty="0"/>
                        <a:t>001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2"/>
                  </a:ext>
                </a:extLst>
              </a:tr>
              <a:tr h="370840">
                <a:tc>
                  <a:txBody>
                    <a:bodyPr/>
                    <a:lstStyle/>
                    <a:p>
                      <a:pPr algn="ctr"/>
                      <a:r>
                        <a:rPr lang="en-US" sz="1600" b="0" dirty="0">
                          <a:solidFill>
                            <a:schemeClr val="tx1"/>
                          </a:solidFill>
                        </a:rPr>
                        <a:t>010</a:t>
                      </a:r>
                    </a:p>
                  </a:txBody>
                  <a:tcPr anchor="ctr"/>
                </a:tc>
                <a:tc>
                  <a:txBody>
                    <a:bodyPr/>
                    <a:lstStyle/>
                    <a:p>
                      <a:pPr algn="ctr"/>
                      <a:r>
                        <a:rPr lang="en-US" altLang="zh-CN" sz="1600" b="0" dirty="0">
                          <a:solidFill>
                            <a:schemeClr val="tx1"/>
                          </a:solidFill>
                        </a:rPr>
                        <a:t>N</a:t>
                      </a:r>
                      <a:endParaRPr lang="en-US" sz="1600" b="0" dirty="0">
                        <a:solidFill>
                          <a:schemeClr val="tx1"/>
                        </a:solidFill>
                      </a:endParaRPr>
                    </a:p>
                  </a:txBody>
                  <a:tcPr anchor="ctr"/>
                </a:tc>
                <a:tc>
                  <a:txBody>
                    <a:bodyPr/>
                    <a:lstStyle/>
                    <a:p>
                      <a:pPr algn="ctr"/>
                      <a:endParaRPr lang="en-US" sz="1600" b="1" dirty="0">
                        <a:solidFill>
                          <a:srgbClr val="FF0000"/>
                        </a:solidFill>
                      </a:endParaRPr>
                    </a:p>
                  </a:txBody>
                  <a:tcPr anchor="ctr"/>
                </a:tc>
                <a:tc>
                  <a:txBody>
                    <a:bodyPr/>
                    <a:lstStyle/>
                    <a:p>
                      <a:pPr algn="ctr"/>
                      <a:endParaRPr lang="en-US" sz="1600" b="1" dirty="0">
                        <a:solidFill>
                          <a:srgbClr val="FF0000"/>
                        </a:solidFill>
                      </a:endParaRPr>
                    </a:p>
                  </a:txBody>
                  <a:tcPr anchor="ctr"/>
                </a:tc>
                <a:extLst>
                  <a:ext uri="{0D108BD9-81ED-4DB2-BD59-A6C34878D82A}">
                    <a16:rowId xmlns:a16="http://schemas.microsoft.com/office/drawing/2014/main" val="10003"/>
                  </a:ext>
                </a:extLst>
              </a:tr>
              <a:tr h="370840">
                <a:tc>
                  <a:txBody>
                    <a:bodyPr/>
                    <a:lstStyle/>
                    <a:p>
                      <a:pPr algn="ctr"/>
                      <a:r>
                        <a:rPr lang="en-US" sz="1600" dirty="0"/>
                        <a:t>011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4"/>
                  </a:ext>
                </a:extLst>
              </a:tr>
              <a:tr h="370840">
                <a:tc>
                  <a:txBody>
                    <a:bodyPr/>
                    <a:lstStyle/>
                    <a:p>
                      <a:pPr algn="ctr"/>
                      <a:r>
                        <a:rPr lang="en-US" sz="1600" dirty="0"/>
                        <a:t>100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5"/>
                  </a:ext>
                </a:extLst>
              </a:tr>
              <a:tr h="370840">
                <a:tc>
                  <a:txBody>
                    <a:bodyPr/>
                    <a:lstStyle/>
                    <a:p>
                      <a:pPr algn="ctr"/>
                      <a:r>
                        <a:rPr lang="en-US" sz="1600" dirty="0"/>
                        <a:t>101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Memory[10110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2587981" y="125684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44</a:t>
            </a:fld>
            <a:endParaRPr lang="zh-TW" altLang="en-US"/>
          </a:p>
        </p:txBody>
      </p:sp>
      <p:graphicFrame>
        <p:nvGraphicFramePr>
          <p:cNvPr id="4" name="表格 3"/>
          <p:cNvGraphicFramePr>
            <a:graphicFrameLocks noGrp="1"/>
          </p:cNvGraphicFramePr>
          <p:nvPr>
            <p:extLst>
              <p:ext uri="{D42A27DB-BD31-4B8C-83A1-F6EECF244321}">
                <p14:modId xmlns:p14="http://schemas.microsoft.com/office/powerpoint/2010/main" val="1471695826"/>
              </p:ext>
            </p:extLst>
          </p:nvPr>
        </p:nvGraphicFramePr>
        <p:xfrm>
          <a:off x="2610339" y="3816309"/>
          <a:ext cx="7020000" cy="37084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b="1" dirty="0">
                          <a:solidFill>
                            <a:srgbClr val="FF0000"/>
                          </a:solidFill>
                        </a:rPr>
                        <a:t>010</a:t>
                      </a:r>
                    </a:p>
                  </a:txBody>
                  <a:tcPr anchor="ctr">
                    <a:solidFill>
                      <a:srgbClr val="00B0F0"/>
                    </a:solidFill>
                  </a:tcPr>
                </a:tc>
                <a:tc>
                  <a:txBody>
                    <a:bodyPr/>
                    <a:lstStyle/>
                    <a:p>
                      <a:pPr algn="ctr"/>
                      <a:r>
                        <a:rPr lang="en-US" sz="1600" b="1" dirty="0">
                          <a:solidFill>
                            <a:srgbClr val="FF0000"/>
                          </a:solidFill>
                        </a:rPr>
                        <a:t>Y</a:t>
                      </a:r>
                    </a:p>
                  </a:txBody>
                  <a:tcPr anchor="ctr">
                    <a:solidFill>
                      <a:srgbClr val="00B0F0"/>
                    </a:solidFill>
                  </a:tcPr>
                </a:tc>
                <a:tc>
                  <a:txBody>
                    <a:bodyPr/>
                    <a:lstStyle/>
                    <a:p>
                      <a:pPr algn="ctr"/>
                      <a:r>
                        <a:rPr lang="en-US" sz="1600" b="1" dirty="0">
                          <a:solidFill>
                            <a:srgbClr val="FF0000"/>
                          </a:solidFill>
                        </a:rPr>
                        <a:t>11</a:t>
                      </a:r>
                    </a:p>
                  </a:txBody>
                  <a:tcPr anchor="ctr">
                    <a:solidFill>
                      <a:srgbClr val="00B0F0"/>
                    </a:solidFill>
                  </a:tcPr>
                </a:tc>
                <a:tc>
                  <a:txBody>
                    <a:bodyPr/>
                    <a:lstStyle/>
                    <a:p>
                      <a:pPr algn="ctr"/>
                      <a:r>
                        <a:rPr lang="en-US" sz="1600" b="1" dirty="0">
                          <a:solidFill>
                            <a:srgbClr val="FF0000"/>
                          </a:solidFill>
                        </a:rPr>
                        <a:t>Memory[11010</a:t>
                      </a:r>
                      <a:r>
                        <a:rPr lang="en-US" sz="1600" b="1" baseline="-25000" dirty="0">
                          <a:solidFill>
                            <a:srgbClr val="FF0000"/>
                          </a:solidFill>
                        </a:rPr>
                        <a:t>2</a:t>
                      </a:r>
                      <a:r>
                        <a:rPr lang="en-US" sz="1600" b="1" dirty="0">
                          <a:solidFill>
                            <a:srgbClr val="FF0000"/>
                          </a:solidFill>
                        </a:rPr>
                        <a:t>]</a:t>
                      </a:r>
                    </a:p>
                  </a:txBody>
                  <a:tcPr anchor="ctr">
                    <a:solidFill>
                      <a:srgbClr val="00B0F0"/>
                    </a:solidFill>
                  </a:tcPr>
                </a:tc>
                <a:extLst>
                  <a:ext uri="{0D108BD9-81ED-4DB2-BD59-A6C34878D82A}">
                    <a16:rowId xmlns:a16="http://schemas.microsoft.com/office/drawing/2014/main" val="10000"/>
                  </a:ext>
                </a:extLst>
              </a:tr>
            </a:tbl>
          </a:graphicData>
        </a:graphic>
      </p:graphicFrame>
      <p:graphicFrame>
        <p:nvGraphicFramePr>
          <p:cNvPr id="7" name="Table 7"/>
          <p:cNvGraphicFramePr>
            <a:graphicFrameLocks noGrp="1"/>
          </p:cNvGraphicFramePr>
          <p:nvPr/>
        </p:nvGraphicFramePr>
        <p:xfrm>
          <a:off x="2592333" y="1607345"/>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0" dirty="0">
                          <a:solidFill>
                            <a:schemeClr val="tx1"/>
                          </a:solidFill>
                        </a:rPr>
                        <a:t>26</a:t>
                      </a:r>
                    </a:p>
                  </a:txBody>
                  <a:tcPr anchor="ctr">
                    <a:solidFill>
                      <a:schemeClr val="tx2">
                        <a:lumMod val="20000"/>
                        <a:lumOff val="80000"/>
                      </a:schemeClr>
                    </a:solidFill>
                  </a:tcPr>
                </a:tc>
                <a:tc>
                  <a:txBody>
                    <a:bodyPr/>
                    <a:lstStyle/>
                    <a:p>
                      <a:pPr algn="ctr"/>
                      <a:r>
                        <a:rPr lang="en-US" sz="1600" b="0" dirty="0">
                          <a:solidFill>
                            <a:schemeClr val="tx1"/>
                          </a:solidFill>
                        </a:rPr>
                        <a:t>11</a:t>
                      </a:r>
                      <a:r>
                        <a:rPr lang="en-US" sz="1600" b="0" baseline="0" dirty="0">
                          <a:solidFill>
                            <a:schemeClr val="tx1"/>
                          </a:solidFill>
                        </a:rPr>
                        <a:t> 010</a:t>
                      </a:r>
                      <a:endParaRPr lang="en-US" sz="1600" b="0" dirty="0">
                        <a:solidFill>
                          <a:schemeClr val="tx1"/>
                        </a:solidFill>
                      </a:endParaRPr>
                    </a:p>
                  </a:txBody>
                  <a:tcPr anchor="ctr">
                    <a:solidFill>
                      <a:schemeClr val="tx2">
                        <a:lumMod val="20000"/>
                        <a:lumOff val="80000"/>
                      </a:schemeClr>
                    </a:solidFill>
                  </a:tcPr>
                </a:tc>
                <a:tc>
                  <a:txBody>
                    <a:bodyPr/>
                    <a:lstStyle/>
                    <a:p>
                      <a:pPr algn="ctr"/>
                      <a:r>
                        <a:rPr lang="en-US" sz="1600" b="0" dirty="0">
                          <a:solidFill>
                            <a:schemeClr val="tx1"/>
                          </a:solidFill>
                        </a:rPr>
                        <a:t>Miss</a:t>
                      </a:r>
                    </a:p>
                  </a:txBody>
                  <a:tcPr anchor="ctr">
                    <a:solidFill>
                      <a:schemeClr val="tx2">
                        <a:lumMod val="20000"/>
                        <a:lumOff val="80000"/>
                      </a:schemeClr>
                    </a:solidFill>
                  </a:tcPr>
                </a:tc>
                <a:tc>
                  <a:txBody>
                    <a:bodyPr/>
                    <a:lstStyle/>
                    <a:p>
                      <a:pPr algn="ctr"/>
                      <a:r>
                        <a:rPr lang="en-US" sz="1600" b="0" dirty="0">
                          <a:solidFill>
                            <a:schemeClr val="tx1"/>
                          </a:solidFill>
                        </a:rPr>
                        <a:t>010</a:t>
                      </a:r>
                    </a:p>
                  </a:txBody>
                  <a:tcPr anchor="ctr">
                    <a:solidFill>
                      <a:schemeClr val="tx2">
                        <a:lumMod val="20000"/>
                        <a:lumOff val="80000"/>
                      </a:schemeClr>
                    </a:solidFill>
                  </a:tcPr>
                </a:tc>
                <a:extLst>
                  <a:ext uri="{0D108BD9-81ED-4DB2-BD59-A6C34878D82A}">
                    <a16:rowId xmlns:a16="http://schemas.microsoft.com/office/drawing/2014/main" val="10000"/>
                  </a:ext>
                </a:extLst>
              </a:tr>
            </a:tbl>
          </a:graphicData>
        </a:graphic>
      </p:graphicFrame>
      <p:sp>
        <p:nvSpPr>
          <p:cNvPr id="9" name="Oval 8">
            <a:extLst>
              <a:ext uri="{FF2B5EF4-FFF2-40B4-BE49-F238E27FC236}">
                <a16:creationId xmlns:a16="http://schemas.microsoft.com/office/drawing/2014/main" id="{48C4924C-0961-4F43-A3D6-1B5A9A9FA195}"/>
              </a:ext>
            </a:extLst>
          </p:cNvPr>
          <p:cNvSpPr/>
          <p:nvPr/>
        </p:nvSpPr>
        <p:spPr bwMode="auto">
          <a:xfrm>
            <a:off x="5755341" y="1607345"/>
            <a:ext cx="681317" cy="358378"/>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2586001" y="193946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dirty="0"/>
                        <a:t>26</a:t>
                      </a:r>
                    </a:p>
                  </a:txBody>
                  <a:tcPr anchor="ctr">
                    <a:solidFill>
                      <a:schemeClr val="tx2">
                        <a:lumMod val="40000"/>
                        <a:lumOff val="60000"/>
                      </a:schemeClr>
                    </a:solidFill>
                  </a:tcPr>
                </a:tc>
                <a:tc>
                  <a:txBody>
                    <a:bodyPr/>
                    <a:lstStyle/>
                    <a:p>
                      <a:pPr algn="ctr"/>
                      <a:r>
                        <a:rPr lang="en-US" sz="1600" dirty="0"/>
                        <a:t>11</a:t>
                      </a:r>
                      <a:r>
                        <a:rPr lang="en-US" sz="1600" baseline="0" dirty="0"/>
                        <a:t> 010</a:t>
                      </a:r>
                      <a:endParaRPr lang="en-US" sz="1600" dirty="0"/>
                    </a:p>
                  </a:txBody>
                  <a:tcPr anchor="ctr">
                    <a:solidFill>
                      <a:schemeClr val="tx2">
                        <a:lumMod val="40000"/>
                        <a:lumOff val="60000"/>
                      </a:schemeClr>
                    </a:solidFill>
                  </a:tcPr>
                </a:tc>
                <a:tc>
                  <a:txBody>
                    <a:bodyPr/>
                    <a:lstStyle/>
                    <a:p>
                      <a:pPr algn="ctr"/>
                      <a:r>
                        <a:rPr lang="en-US" sz="1600" dirty="0"/>
                        <a:t>Hit</a:t>
                      </a:r>
                    </a:p>
                  </a:txBody>
                  <a:tcPr anchor="ctr">
                    <a:solidFill>
                      <a:schemeClr val="tx2">
                        <a:lumMod val="40000"/>
                        <a:lumOff val="60000"/>
                      </a:schemeClr>
                    </a:solidFill>
                  </a:tcPr>
                </a:tc>
                <a:tc>
                  <a:txBody>
                    <a:bodyPr/>
                    <a:lstStyle/>
                    <a:p>
                      <a:pPr algn="ctr"/>
                      <a:r>
                        <a:rPr lang="en-US" sz="1600" dirty="0"/>
                        <a:t>010</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2" name="Title 1"/>
          <p:cNvSpPr>
            <a:spLocks noGrp="1"/>
          </p:cNvSpPr>
          <p:nvPr>
            <p:ph type="title"/>
          </p:nvPr>
        </p:nvSpPr>
        <p:spPr/>
        <p:txBody>
          <a:bodyPr/>
          <a:lstStyle/>
          <a:p>
            <a:r>
              <a:rPr lang="en-US" dirty="0"/>
              <a:t>Cache Example (4) </a:t>
            </a:r>
          </a:p>
        </p:txBody>
      </p:sp>
      <p:graphicFrame>
        <p:nvGraphicFramePr>
          <p:cNvPr id="6" name="Table 5"/>
          <p:cNvGraphicFramePr>
            <a:graphicFrameLocks noGrp="1"/>
          </p:cNvGraphicFramePr>
          <p:nvPr/>
        </p:nvGraphicFramePr>
        <p:xfrm>
          <a:off x="2587980" y="2658332"/>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dirty="0"/>
                        <a:t>000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1"/>
                  </a:ext>
                </a:extLst>
              </a:tr>
              <a:tr h="370840">
                <a:tc>
                  <a:txBody>
                    <a:bodyPr/>
                    <a:lstStyle/>
                    <a:p>
                      <a:pPr algn="ctr"/>
                      <a:r>
                        <a:rPr lang="en-US" sz="1600" dirty="0"/>
                        <a:t>001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2"/>
                  </a:ext>
                </a:extLst>
              </a:tr>
              <a:tr h="370840">
                <a:tc>
                  <a:txBody>
                    <a:bodyPr/>
                    <a:lstStyle/>
                    <a:p>
                      <a:pPr algn="ctr"/>
                      <a:r>
                        <a:rPr lang="en-US" sz="1600" b="0" dirty="0">
                          <a:solidFill>
                            <a:schemeClr val="tx1"/>
                          </a:solidFill>
                        </a:rPr>
                        <a:t>010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11</a:t>
                      </a:r>
                    </a:p>
                  </a:txBody>
                  <a:tcPr anchor="ctr"/>
                </a:tc>
                <a:tc>
                  <a:txBody>
                    <a:bodyPr/>
                    <a:lstStyle/>
                    <a:p>
                      <a:pPr algn="ctr"/>
                      <a:r>
                        <a:rPr lang="en-US" sz="1600" b="0" dirty="0">
                          <a:solidFill>
                            <a:schemeClr val="tx1"/>
                          </a:solidFill>
                        </a:rPr>
                        <a:t>Memory[11010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3"/>
                  </a:ext>
                </a:extLst>
              </a:tr>
              <a:tr h="370840">
                <a:tc>
                  <a:txBody>
                    <a:bodyPr/>
                    <a:lstStyle/>
                    <a:p>
                      <a:pPr algn="ctr"/>
                      <a:r>
                        <a:rPr lang="en-US" sz="1600" dirty="0"/>
                        <a:t>011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4"/>
                  </a:ext>
                </a:extLst>
              </a:tr>
              <a:tr h="370840">
                <a:tc>
                  <a:txBody>
                    <a:bodyPr/>
                    <a:lstStyle/>
                    <a:p>
                      <a:pPr algn="ctr"/>
                      <a:r>
                        <a:rPr lang="en-US" sz="1600" dirty="0"/>
                        <a:t>100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5"/>
                  </a:ext>
                </a:extLst>
              </a:tr>
              <a:tr h="370840">
                <a:tc>
                  <a:txBody>
                    <a:bodyPr/>
                    <a:lstStyle/>
                    <a:p>
                      <a:pPr algn="ctr"/>
                      <a:r>
                        <a:rPr lang="en-US" sz="1600" dirty="0"/>
                        <a:t>101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Memory[10110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2587981" y="125684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45</a:t>
            </a:fld>
            <a:endParaRPr lang="zh-TW" altLang="en-US"/>
          </a:p>
        </p:txBody>
      </p:sp>
      <p:graphicFrame>
        <p:nvGraphicFramePr>
          <p:cNvPr id="4" name="表格 3"/>
          <p:cNvGraphicFramePr>
            <a:graphicFrameLocks noGrp="1"/>
          </p:cNvGraphicFramePr>
          <p:nvPr/>
        </p:nvGraphicFramePr>
        <p:xfrm>
          <a:off x="2586001" y="1626735"/>
          <a:ext cx="7018020" cy="33528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35280">
                <a:tc>
                  <a:txBody>
                    <a:bodyPr/>
                    <a:lstStyle/>
                    <a:p>
                      <a:pPr algn="ctr"/>
                      <a:r>
                        <a:rPr lang="en-US" sz="1600" dirty="0"/>
                        <a:t>22</a:t>
                      </a:r>
                    </a:p>
                  </a:txBody>
                  <a:tcPr anchor="ctr">
                    <a:solidFill>
                      <a:schemeClr val="tx2">
                        <a:lumMod val="40000"/>
                        <a:lumOff val="60000"/>
                      </a:schemeClr>
                    </a:solidFill>
                  </a:tcPr>
                </a:tc>
                <a:tc>
                  <a:txBody>
                    <a:bodyPr/>
                    <a:lstStyle/>
                    <a:p>
                      <a:pPr algn="ctr"/>
                      <a:r>
                        <a:rPr lang="en-US" sz="1600" dirty="0"/>
                        <a:t>10</a:t>
                      </a:r>
                      <a:r>
                        <a:rPr lang="en-US" sz="1600" baseline="0" dirty="0"/>
                        <a:t> 110</a:t>
                      </a:r>
                      <a:endParaRPr lang="en-US" sz="1600" dirty="0"/>
                    </a:p>
                  </a:txBody>
                  <a:tcPr anchor="ctr">
                    <a:solidFill>
                      <a:schemeClr val="tx2">
                        <a:lumMod val="40000"/>
                        <a:lumOff val="60000"/>
                      </a:schemeClr>
                    </a:solidFill>
                  </a:tcPr>
                </a:tc>
                <a:tc>
                  <a:txBody>
                    <a:bodyPr/>
                    <a:lstStyle/>
                    <a:p>
                      <a:pPr algn="ctr"/>
                      <a:r>
                        <a:rPr lang="en-US" sz="1600" dirty="0"/>
                        <a:t>Hit</a:t>
                      </a:r>
                    </a:p>
                  </a:txBody>
                  <a:tcPr anchor="ctr">
                    <a:solidFill>
                      <a:schemeClr val="tx2">
                        <a:lumMod val="40000"/>
                        <a:lumOff val="60000"/>
                      </a:schemeClr>
                    </a:solidFill>
                  </a:tcPr>
                </a:tc>
                <a:tc>
                  <a:txBody>
                    <a:bodyPr/>
                    <a:lstStyle/>
                    <a:p>
                      <a:pPr algn="ctr"/>
                      <a:r>
                        <a:rPr lang="en-US" sz="1600" dirty="0"/>
                        <a:t>110</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cxnSp>
        <p:nvCxnSpPr>
          <p:cNvPr id="9" name="连接符: 曲线 8"/>
          <p:cNvCxnSpPr/>
          <p:nvPr/>
        </p:nvCxnSpPr>
        <p:spPr bwMode="auto">
          <a:xfrm rot="5400000">
            <a:off x="4390737" y="3075509"/>
            <a:ext cx="3473377" cy="892403"/>
          </a:xfrm>
          <a:prstGeom prst="curvedConnector3">
            <a:avLst>
              <a:gd name="adj1" fmla="val 50000"/>
            </a:avLst>
          </a:prstGeom>
          <a:noFill/>
          <a:ln w="15875" cap="flat" cmpd="sng" algn="ctr">
            <a:solidFill>
              <a:srgbClr val="FF0000"/>
            </a:solidFill>
            <a:prstDash val="solid"/>
            <a:round/>
            <a:headEnd type="none" w="med" len="med"/>
            <a:tailEnd type="triangle"/>
          </a:ln>
          <a:effectLst/>
        </p:spPr>
      </p:cxnSp>
      <p:cxnSp>
        <p:nvCxnSpPr>
          <p:cNvPr id="16" name="连接符: 曲线 15"/>
          <p:cNvCxnSpPr/>
          <p:nvPr/>
        </p:nvCxnSpPr>
        <p:spPr bwMode="auto">
          <a:xfrm rot="5400000">
            <a:off x="5134800" y="2692700"/>
            <a:ext cx="1645883" cy="553037"/>
          </a:xfrm>
          <a:prstGeom prst="curvedConnector3">
            <a:avLst>
              <a:gd name="adj1" fmla="val 50000"/>
            </a:avLst>
          </a:prstGeom>
          <a:noFill/>
          <a:ln w="15875"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(5) </a:t>
            </a:r>
          </a:p>
        </p:txBody>
      </p:sp>
      <p:graphicFrame>
        <p:nvGraphicFramePr>
          <p:cNvPr id="6" name="Table 5"/>
          <p:cNvGraphicFramePr>
            <a:graphicFrameLocks noGrp="1"/>
          </p:cNvGraphicFramePr>
          <p:nvPr/>
        </p:nvGraphicFramePr>
        <p:xfrm>
          <a:off x="2586000" y="2796161"/>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b="0" dirty="0">
                          <a:solidFill>
                            <a:schemeClr val="tx1"/>
                          </a:solidFill>
                        </a:rPr>
                        <a:t>000</a:t>
                      </a:r>
                    </a:p>
                  </a:txBody>
                  <a:tcPr anchor="ctr"/>
                </a:tc>
                <a:tc>
                  <a:txBody>
                    <a:bodyPr/>
                    <a:lstStyle/>
                    <a:p>
                      <a:pPr algn="ctr"/>
                      <a:r>
                        <a:rPr lang="en-US" sz="1600" b="0" dirty="0">
                          <a:solidFill>
                            <a:schemeClr val="tx1"/>
                          </a:solidFill>
                        </a:rPr>
                        <a:t>N</a:t>
                      </a:r>
                    </a:p>
                  </a:txBody>
                  <a:tcPr anchor="ctr"/>
                </a:tc>
                <a:tc>
                  <a:txBody>
                    <a:bodyPr/>
                    <a:lstStyle/>
                    <a:p>
                      <a:pPr algn="ctr"/>
                      <a:endParaRPr lang="en-US" sz="1600" b="1" dirty="0">
                        <a:solidFill>
                          <a:srgbClr val="FF0000"/>
                        </a:solidFill>
                      </a:endParaRPr>
                    </a:p>
                  </a:txBody>
                  <a:tcPr anchor="ctr"/>
                </a:tc>
                <a:tc>
                  <a:txBody>
                    <a:bodyPr/>
                    <a:lstStyle/>
                    <a:p>
                      <a:pPr algn="ctr"/>
                      <a:endParaRPr lang="en-US" sz="1600" b="1" dirty="0">
                        <a:solidFill>
                          <a:srgbClr val="FF0000"/>
                        </a:solidFill>
                      </a:endParaRPr>
                    </a:p>
                  </a:txBody>
                  <a:tcPr anchor="ctr"/>
                </a:tc>
                <a:extLst>
                  <a:ext uri="{0D108BD9-81ED-4DB2-BD59-A6C34878D82A}">
                    <a16:rowId xmlns:a16="http://schemas.microsoft.com/office/drawing/2014/main" val="10001"/>
                  </a:ext>
                </a:extLst>
              </a:tr>
              <a:tr h="370840">
                <a:tc>
                  <a:txBody>
                    <a:bodyPr/>
                    <a:lstStyle/>
                    <a:p>
                      <a:pPr algn="ctr"/>
                      <a:r>
                        <a:rPr lang="en-US" sz="1600" dirty="0"/>
                        <a:t>001</a:t>
                      </a:r>
                    </a:p>
                  </a:txBody>
                  <a:tcPr anchor="ctr"/>
                </a:tc>
                <a:tc>
                  <a:txBody>
                    <a:bodyPr/>
                    <a:lstStyle/>
                    <a:p>
                      <a:pPr algn="ctr"/>
                      <a:r>
                        <a:rPr lang="en-US" sz="1600" dirty="0"/>
                        <a:t>N</a:t>
                      </a:r>
                    </a:p>
                  </a:txBody>
                  <a:tcPr anchor="ctr"/>
                </a:tc>
                <a:tc>
                  <a:txBody>
                    <a:bodyPr/>
                    <a:lstStyle/>
                    <a:p>
                      <a:pPr algn="ctr"/>
                      <a:endParaRPr lang="en-US" sz="1600" dirty="0"/>
                    </a:p>
                  </a:txBody>
                  <a:tcPr anchor="ctr"/>
                </a:tc>
                <a:tc>
                  <a:txBody>
                    <a:bodyPr/>
                    <a:lstStyle/>
                    <a:p>
                      <a:pPr algn="ctr"/>
                      <a:endParaRPr lang="en-US" sz="1600" dirty="0"/>
                    </a:p>
                  </a:txBody>
                  <a:tcPr anchor="ctr"/>
                </a:tc>
                <a:extLst>
                  <a:ext uri="{0D108BD9-81ED-4DB2-BD59-A6C34878D82A}">
                    <a16:rowId xmlns:a16="http://schemas.microsoft.com/office/drawing/2014/main" val="10002"/>
                  </a:ext>
                </a:extLst>
              </a:tr>
              <a:tr h="370840">
                <a:tc>
                  <a:txBody>
                    <a:bodyPr/>
                    <a:lstStyle/>
                    <a:p>
                      <a:pPr algn="ctr"/>
                      <a:r>
                        <a:rPr lang="en-US" sz="1600" b="0" dirty="0">
                          <a:solidFill>
                            <a:schemeClr val="tx1"/>
                          </a:solidFill>
                        </a:rPr>
                        <a:t>010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11</a:t>
                      </a:r>
                    </a:p>
                  </a:txBody>
                  <a:tcPr anchor="ctr"/>
                </a:tc>
                <a:tc>
                  <a:txBody>
                    <a:bodyPr/>
                    <a:lstStyle/>
                    <a:p>
                      <a:pPr algn="ctr"/>
                      <a:r>
                        <a:rPr lang="en-US" sz="1600" b="0" dirty="0">
                          <a:solidFill>
                            <a:schemeClr val="tx1"/>
                          </a:solidFill>
                        </a:rPr>
                        <a:t>Memory[11010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3"/>
                  </a:ext>
                </a:extLst>
              </a:tr>
              <a:tr h="370840">
                <a:tc>
                  <a:txBody>
                    <a:bodyPr/>
                    <a:lstStyle/>
                    <a:p>
                      <a:pPr algn="ctr"/>
                      <a:r>
                        <a:rPr lang="en-US" sz="1600" b="0" dirty="0">
                          <a:solidFill>
                            <a:schemeClr val="tx1"/>
                          </a:solidFill>
                        </a:rPr>
                        <a:t>011</a:t>
                      </a:r>
                    </a:p>
                  </a:txBody>
                  <a:tcPr anchor="ctr"/>
                </a:tc>
                <a:tc>
                  <a:txBody>
                    <a:bodyPr/>
                    <a:lstStyle/>
                    <a:p>
                      <a:pPr algn="ctr"/>
                      <a:r>
                        <a:rPr lang="en-US" sz="1600" b="0" dirty="0">
                          <a:solidFill>
                            <a:schemeClr val="tx1"/>
                          </a:solidFill>
                        </a:rPr>
                        <a:t>N</a:t>
                      </a:r>
                    </a:p>
                  </a:txBody>
                  <a:tcPr anchor="ctr"/>
                </a:tc>
                <a:tc>
                  <a:txBody>
                    <a:bodyPr/>
                    <a:lstStyle/>
                    <a:p>
                      <a:pPr algn="ctr"/>
                      <a:endParaRPr lang="en-US" sz="1600" b="0" dirty="0">
                        <a:solidFill>
                          <a:schemeClr val="tx1"/>
                        </a:solidFill>
                      </a:endParaRPr>
                    </a:p>
                  </a:txBody>
                  <a:tcPr anchor="ctr"/>
                </a:tc>
                <a:tc>
                  <a:txBody>
                    <a:bodyPr/>
                    <a:lstStyle/>
                    <a:p>
                      <a:pPr algn="ctr"/>
                      <a:endParaRPr lang="en-US" sz="1600" b="0" dirty="0">
                        <a:solidFill>
                          <a:schemeClr val="tx1"/>
                        </a:solidFill>
                      </a:endParaRPr>
                    </a:p>
                  </a:txBody>
                  <a:tcPr anchor="ctr"/>
                </a:tc>
                <a:extLst>
                  <a:ext uri="{0D108BD9-81ED-4DB2-BD59-A6C34878D82A}">
                    <a16:rowId xmlns:a16="http://schemas.microsoft.com/office/drawing/2014/main" val="10004"/>
                  </a:ext>
                </a:extLst>
              </a:tr>
              <a:tr h="370840">
                <a:tc>
                  <a:txBody>
                    <a:bodyPr/>
                    <a:lstStyle/>
                    <a:p>
                      <a:pPr algn="ctr"/>
                      <a:r>
                        <a:rPr lang="en-US" sz="1600" dirty="0"/>
                        <a:t>100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5"/>
                  </a:ext>
                </a:extLst>
              </a:tr>
              <a:tr h="370840">
                <a:tc>
                  <a:txBody>
                    <a:bodyPr/>
                    <a:lstStyle/>
                    <a:p>
                      <a:pPr algn="ctr"/>
                      <a:r>
                        <a:rPr lang="en-US" sz="1600" dirty="0"/>
                        <a:t>101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Memory[10110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2587981" y="1076625"/>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46</a:t>
            </a:fld>
            <a:endParaRPr lang="zh-TW" altLang="en-US"/>
          </a:p>
        </p:txBody>
      </p:sp>
      <p:graphicFrame>
        <p:nvGraphicFramePr>
          <p:cNvPr id="7" name="Table 7"/>
          <p:cNvGraphicFramePr>
            <a:graphicFrameLocks noGrp="1"/>
          </p:cNvGraphicFramePr>
          <p:nvPr/>
        </p:nvGraphicFramePr>
        <p:xfrm>
          <a:off x="2586990" y="2129441"/>
          <a:ext cx="7018020" cy="33528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35280">
                <a:tc>
                  <a:txBody>
                    <a:bodyPr/>
                    <a:lstStyle/>
                    <a:p>
                      <a:pPr algn="ctr"/>
                      <a:r>
                        <a:rPr lang="en-US" sz="1600" dirty="0"/>
                        <a:t>3</a:t>
                      </a:r>
                    </a:p>
                  </a:txBody>
                  <a:tcPr anchor="ctr">
                    <a:solidFill>
                      <a:schemeClr val="tx2">
                        <a:lumMod val="40000"/>
                        <a:lumOff val="60000"/>
                      </a:schemeClr>
                    </a:solidFill>
                  </a:tcPr>
                </a:tc>
                <a:tc>
                  <a:txBody>
                    <a:bodyPr/>
                    <a:lstStyle/>
                    <a:p>
                      <a:pPr algn="ctr"/>
                      <a:r>
                        <a:rPr lang="en-US" sz="1600" dirty="0"/>
                        <a:t>00 011</a:t>
                      </a:r>
                    </a:p>
                  </a:txBody>
                  <a:tcPr anchor="ctr">
                    <a:solidFill>
                      <a:schemeClr val="tx2">
                        <a:lumMod val="40000"/>
                        <a:lumOff val="60000"/>
                      </a:schemeClr>
                    </a:solidFill>
                  </a:tcPr>
                </a:tc>
                <a:tc>
                  <a:txBody>
                    <a:bodyPr/>
                    <a:lstStyle/>
                    <a:p>
                      <a:pPr algn="ctr"/>
                      <a:r>
                        <a:rPr lang="en-US" sz="1600" dirty="0"/>
                        <a:t>Miss</a:t>
                      </a:r>
                    </a:p>
                  </a:txBody>
                  <a:tcPr anchor="ctr">
                    <a:solidFill>
                      <a:schemeClr val="tx2">
                        <a:lumMod val="40000"/>
                        <a:lumOff val="60000"/>
                      </a:schemeClr>
                    </a:solidFill>
                  </a:tcPr>
                </a:tc>
                <a:tc>
                  <a:txBody>
                    <a:bodyPr/>
                    <a:lstStyle/>
                    <a:p>
                      <a:pPr algn="ctr"/>
                      <a:r>
                        <a:rPr lang="en-US" sz="1600" dirty="0"/>
                        <a:t>011</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9" name="Table 7"/>
          <p:cNvGraphicFramePr>
            <a:graphicFrameLocks noGrp="1"/>
          </p:cNvGraphicFramePr>
          <p:nvPr/>
        </p:nvGraphicFramePr>
        <p:xfrm>
          <a:off x="2587981" y="1791421"/>
          <a:ext cx="7018020" cy="33528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35280">
                <a:tc>
                  <a:txBody>
                    <a:bodyPr/>
                    <a:lstStyle/>
                    <a:p>
                      <a:pPr algn="ctr"/>
                      <a:r>
                        <a:rPr lang="en-US" sz="1600" dirty="0"/>
                        <a:t>16</a:t>
                      </a:r>
                    </a:p>
                  </a:txBody>
                  <a:tcPr anchor="ctr">
                    <a:solidFill>
                      <a:schemeClr val="tx2">
                        <a:lumMod val="40000"/>
                        <a:lumOff val="60000"/>
                      </a:schemeClr>
                    </a:solidFill>
                  </a:tcPr>
                </a:tc>
                <a:tc>
                  <a:txBody>
                    <a:bodyPr/>
                    <a:lstStyle/>
                    <a:p>
                      <a:pPr algn="ctr"/>
                      <a:r>
                        <a:rPr lang="en-US" sz="1600" dirty="0"/>
                        <a:t>10</a:t>
                      </a:r>
                      <a:r>
                        <a:rPr lang="en-US" sz="1600" baseline="0" dirty="0"/>
                        <a:t> 000</a:t>
                      </a:r>
                      <a:endParaRPr lang="en-US" sz="1600" dirty="0"/>
                    </a:p>
                  </a:txBody>
                  <a:tcPr anchor="ctr">
                    <a:solidFill>
                      <a:schemeClr val="tx2">
                        <a:lumMod val="40000"/>
                        <a:lumOff val="60000"/>
                      </a:schemeClr>
                    </a:solidFill>
                  </a:tcPr>
                </a:tc>
                <a:tc>
                  <a:txBody>
                    <a:bodyPr/>
                    <a:lstStyle/>
                    <a:p>
                      <a:pPr algn="ctr"/>
                      <a:r>
                        <a:rPr lang="en-US" sz="1600" dirty="0"/>
                        <a:t>Hit</a:t>
                      </a:r>
                    </a:p>
                  </a:txBody>
                  <a:tcPr anchor="ctr">
                    <a:solidFill>
                      <a:schemeClr val="tx2">
                        <a:lumMod val="40000"/>
                        <a:lumOff val="60000"/>
                      </a:schemeClr>
                    </a:solidFill>
                  </a:tcPr>
                </a:tc>
                <a:tc>
                  <a:txBody>
                    <a:bodyPr/>
                    <a:lstStyle/>
                    <a:p>
                      <a:pPr algn="ctr"/>
                      <a:r>
                        <a:rPr lang="en-US" sz="1600" dirty="0"/>
                        <a:t>000</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10" name="Table 7"/>
          <p:cNvGraphicFramePr>
            <a:graphicFrameLocks noGrp="1"/>
          </p:cNvGraphicFramePr>
          <p:nvPr/>
        </p:nvGraphicFramePr>
        <p:xfrm>
          <a:off x="2587981" y="1456141"/>
          <a:ext cx="7018020" cy="33528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35280">
                <a:tc>
                  <a:txBody>
                    <a:bodyPr/>
                    <a:lstStyle/>
                    <a:p>
                      <a:pPr algn="ctr"/>
                      <a:r>
                        <a:rPr lang="en-US" sz="1600" dirty="0"/>
                        <a:t>16</a:t>
                      </a:r>
                    </a:p>
                  </a:txBody>
                  <a:tcPr anchor="ctr">
                    <a:solidFill>
                      <a:schemeClr val="tx2">
                        <a:lumMod val="40000"/>
                        <a:lumOff val="60000"/>
                      </a:schemeClr>
                    </a:solidFill>
                  </a:tcPr>
                </a:tc>
                <a:tc>
                  <a:txBody>
                    <a:bodyPr/>
                    <a:lstStyle/>
                    <a:p>
                      <a:pPr algn="ctr"/>
                      <a:r>
                        <a:rPr lang="en-US" sz="1600" dirty="0"/>
                        <a:t>10 000</a:t>
                      </a:r>
                    </a:p>
                  </a:txBody>
                  <a:tcPr anchor="ctr">
                    <a:solidFill>
                      <a:schemeClr val="tx2">
                        <a:lumMod val="40000"/>
                        <a:lumOff val="60000"/>
                      </a:schemeClr>
                    </a:solidFill>
                  </a:tcPr>
                </a:tc>
                <a:tc>
                  <a:txBody>
                    <a:bodyPr/>
                    <a:lstStyle/>
                    <a:p>
                      <a:pPr algn="ctr"/>
                      <a:r>
                        <a:rPr lang="en-US" sz="1600" dirty="0"/>
                        <a:t>Miss</a:t>
                      </a:r>
                    </a:p>
                  </a:txBody>
                  <a:tcPr anchor="ctr">
                    <a:solidFill>
                      <a:schemeClr val="tx2">
                        <a:lumMod val="40000"/>
                        <a:lumOff val="60000"/>
                      </a:schemeClr>
                    </a:solidFill>
                  </a:tcPr>
                </a:tc>
                <a:tc>
                  <a:txBody>
                    <a:bodyPr/>
                    <a:lstStyle/>
                    <a:p>
                      <a:pPr algn="ctr"/>
                      <a:r>
                        <a:rPr lang="en-US" sz="1600" dirty="0"/>
                        <a:t>000</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43538365"/>
              </p:ext>
            </p:extLst>
          </p:nvPr>
        </p:nvGraphicFramePr>
        <p:xfrm>
          <a:off x="2585999" y="3167001"/>
          <a:ext cx="7020000" cy="37084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b="1" dirty="0">
                          <a:solidFill>
                            <a:srgbClr val="FF0000"/>
                          </a:solidFill>
                        </a:rPr>
                        <a:t>000</a:t>
                      </a:r>
                    </a:p>
                  </a:txBody>
                  <a:tcPr anchor="ctr">
                    <a:solidFill>
                      <a:srgbClr val="00B0F0"/>
                    </a:solidFill>
                  </a:tcPr>
                </a:tc>
                <a:tc>
                  <a:txBody>
                    <a:bodyPr/>
                    <a:lstStyle/>
                    <a:p>
                      <a:pPr algn="ctr"/>
                      <a:r>
                        <a:rPr lang="en-US" sz="1600" b="1" dirty="0">
                          <a:solidFill>
                            <a:srgbClr val="FF0000"/>
                          </a:solidFill>
                        </a:rPr>
                        <a:t>Y</a:t>
                      </a:r>
                    </a:p>
                  </a:txBody>
                  <a:tcPr anchor="ctr">
                    <a:solidFill>
                      <a:srgbClr val="00B0F0"/>
                    </a:solidFill>
                  </a:tcPr>
                </a:tc>
                <a:tc>
                  <a:txBody>
                    <a:bodyPr/>
                    <a:lstStyle/>
                    <a:p>
                      <a:pPr algn="ctr"/>
                      <a:r>
                        <a:rPr lang="en-US" sz="1600" b="1" dirty="0">
                          <a:solidFill>
                            <a:srgbClr val="FF0000"/>
                          </a:solidFill>
                        </a:rPr>
                        <a:t>10</a:t>
                      </a:r>
                    </a:p>
                  </a:txBody>
                  <a:tcPr anchor="ctr">
                    <a:solidFill>
                      <a:srgbClr val="00B0F0"/>
                    </a:solidFill>
                  </a:tcPr>
                </a:tc>
                <a:tc>
                  <a:txBody>
                    <a:bodyPr/>
                    <a:lstStyle/>
                    <a:p>
                      <a:pPr algn="ctr"/>
                      <a:r>
                        <a:rPr lang="en-US" sz="1600" b="1" dirty="0">
                          <a:solidFill>
                            <a:srgbClr val="FF0000"/>
                          </a:solidFill>
                        </a:rPr>
                        <a:t>Memory[10000</a:t>
                      </a:r>
                      <a:r>
                        <a:rPr lang="en-US" sz="1600" b="1" baseline="-25000" dirty="0">
                          <a:solidFill>
                            <a:srgbClr val="FF0000"/>
                          </a:solidFill>
                        </a:rPr>
                        <a:t>2</a:t>
                      </a:r>
                      <a:r>
                        <a:rPr lang="en-US" sz="1600" b="1" dirty="0">
                          <a:solidFill>
                            <a:srgbClr val="FF0000"/>
                          </a:solidFill>
                        </a:rPr>
                        <a:t>]</a:t>
                      </a:r>
                    </a:p>
                  </a:txBody>
                  <a:tcPr anchor="ctr">
                    <a:solidFill>
                      <a:srgbClr val="00B0F0"/>
                    </a:solidFill>
                  </a:tcPr>
                </a:tc>
                <a:extLst>
                  <a:ext uri="{0D108BD9-81ED-4DB2-BD59-A6C34878D82A}">
                    <a16:rowId xmlns:a16="http://schemas.microsoft.com/office/drawing/2014/main" val="10000"/>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290268134"/>
              </p:ext>
            </p:extLst>
          </p:nvPr>
        </p:nvGraphicFramePr>
        <p:xfrm>
          <a:off x="2585999" y="4307227"/>
          <a:ext cx="7020000" cy="37084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b="1" dirty="0">
                          <a:solidFill>
                            <a:srgbClr val="FF0000"/>
                          </a:solidFill>
                        </a:rPr>
                        <a:t>011</a:t>
                      </a:r>
                    </a:p>
                  </a:txBody>
                  <a:tcPr anchor="ctr">
                    <a:solidFill>
                      <a:srgbClr val="00B0F0"/>
                    </a:solidFill>
                  </a:tcPr>
                </a:tc>
                <a:tc>
                  <a:txBody>
                    <a:bodyPr/>
                    <a:lstStyle/>
                    <a:p>
                      <a:pPr algn="ctr"/>
                      <a:r>
                        <a:rPr lang="en-US" sz="1600" b="1" dirty="0">
                          <a:solidFill>
                            <a:srgbClr val="FF0000"/>
                          </a:solidFill>
                        </a:rPr>
                        <a:t>Y</a:t>
                      </a:r>
                    </a:p>
                  </a:txBody>
                  <a:tcPr anchor="ctr">
                    <a:solidFill>
                      <a:srgbClr val="00B0F0"/>
                    </a:solidFill>
                  </a:tcPr>
                </a:tc>
                <a:tc>
                  <a:txBody>
                    <a:bodyPr/>
                    <a:lstStyle/>
                    <a:p>
                      <a:pPr algn="ctr"/>
                      <a:r>
                        <a:rPr lang="en-US" sz="1600" b="1" dirty="0">
                          <a:solidFill>
                            <a:srgbClr val="FF0000"/>
                          </a:solidFill>
                        </a:rPr>
                        <a:t>00</a:t>
                      </a:r>
                    </a:p>
                  </a:txBody>
                  <a:tcPr anchor="ctr">
                    <a:solidFill>
                      <a:srgbClr val="00B0F0"/>
                    </a:solidFill>
                  </a:tcPr>
                </a:tc>
                <a:tc>
                  <a:txBody>
                    <a:bodyPr/>
                    <a:lstStyle/>
                    <a:p>
                      <a:pPr algn="ctr"/>
                      <a:r>
                        <a:rPr lang="en-US" sz="1600" b="1" dirty="0">
                          <a:solidFill>
                            <a:srgbClr val="FF0000"/>
                          </a:solidFill>
                        </a:rPr>
                        <a:t>Memory[00011</a:t>
                      </a:r>
                      <a:r>
                        <a:rPr lang="en-US" sz="1600" b="1" baseline="-25000" dirty="0">
                          <a:solidFill>
                            <a:srgbClr val="FF0000"/>
                          </a:solidFill>
                        </a:rPr>
                        <a:t>2</a:t>
                      </a:r>
                      <a:r>
                        <a:rPr lang="en-US" sz="1600" b="1" dirty="0">
                          <a:solidFill>
                            <a:srgbClr val="FF0000"/>
                          </a:solidFill>
                        </a:rPr>
                        <a:t>]</a:t>
                      </a:r>
                    </a:p>
                  </a:txBody>
                  <a:tcPr anchor="ctr">
                    <a:solidFill>
                      <a:srgbClr val="00B0F0"/>
                    </a:solidFill>
                  </a:tcPr>
                </a:tc>
                <a:extLst>
                  <a:ext uri="{0D108BD9-81ED-4DB2-BD59-A6C34878D82A}">
                    <a16:rowId xmlns:a16="http://schemas.microsoft.com/office/drawing/2014/main" val="10000"/>
                  </a:ext>
                </a:extLst>
              </a:tr>
            </a:tbl>
          </a:graphicData>
        </a:graphic>
      </p:graphicFrame>
      <p:cxnSp>
        <p:nvCxnSpPr>
          <p:cNvPr id="11" name="连接符: 曲线 10"/>
          <p:cNvCxnSpPr/>
          <p:nvPr/>
        </p:nvCxnSpPr>
        <p:spPr bwMode="auto">
          <a:xfrm rot="5400000">
            <a:off x="5469289" y="2503780"/>
            <a:ext cx="1420015" cy="386445"/>
          </a:xfrm>
          <a:prstGeom prst="curvedConnector3">
            <a:avLst>
              <a:gd name="adj1" fmla="val 50000"/>
            </a:avLst>
          </a:prstGeom>
          <a:noFill/>
          <a:ln w="15875"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5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 presetClass="entr" presetSubtype="4" fill="hold" nodeType="afterEffect">
                                  <p:stCondLst>
                                    <p:cond delay="50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ppt_x"/>
                                          </p:val>
                                        </p:tav>
                                        <p:tav tm="100000">
                                          <p:val>
                                            <p:strVal val="#ppt_x"/>
                                          </p:val>
                                        </p:tav>
                                      </p:tavLst>
                                    </p:anim>
                                    <p:anim calcmode="lin" valueType="num">
                                      <p:cBhvr additive="base">
                                        <p:cTn id="3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(6) </a:t>
            </a:r>
          </a:p>
        </p:txBody>
      </p:sp>
      <p:graphicFrame>
        <p:nvGraphicFramePr>
          <p:cNvPr id="6" name="Table 5"/>
          <p:cNvGraphicFramePr>
            <a:graphicFrameLocks noGrp="1"/>
          </p:cNvGraphicFramePr>
          <p:nvPr/>
        </p:nvGraphicFramePr>
        <p:xfrm>
          <a:off x="2586000" y="2764352"/>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b="0" dirty="0">
                          <a:solidFill>
                            <a:schemeClr val="tx1"/>
                          </a:solidFill>
                        </a:rPr>
                        <a:t>000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Memory[10000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1"/>
                  </a:ext>
                </a:extLst>
              </a:tr>
              <a:tr h="370840">
                <a:tc>
                  <a:txBody>
                    <a:bodyPr/>
                    <a:lstStyle/>
                    <a:p>
                      <a:pPr algn="ctr"/>
                      <a:r>
                        <a:rPr lang="en-US" sz="1600" b="0" dirty="0">
                          <a:solidFill>
                            <a:schemeClr val="tx1"/>
                          </a:solidFill>
                        </a:rPr>
                        <a:t>001</a:t>
                      </a:r>
                    </a:p>
                  </a:txBody>
                  <a:tcPr anchor="ctr"/>
                </a:tc>
                <a:tc>
                  <a:txBody>
                    <a:bodyPr/>
                    <a:lstStyle/>
                    <a:p>
                      <a:pPr algn="ctr"/>
                      <a:r>
                        <a:rPr lang="en-US" sz="1600" b="0" dirty="0">
                          <a:solidFill>
                            <a:schemeClr val="tx1"/>
                          </a:solidFill>
                        </a:rPr>
                        <a:t>N</a:t>
                      </a:r>
                    </a:p>
                  </a:txBody>
                  <a:tcPr anchor="ctr"/>
                </a:tc>
                <a:tc>
                  <a:txBody>
                    <a:bodyPr/>
                    <a:lstStyle/>
                    <a:p>
                      <a:pPr algn="ctr"/>
                      <a:endParaRPr lang="en-US" sz="1600" b="0" dirty="0">
                        <a:solidFill>
                          <a:schemeClr val="tx1"/>
                        </a:solidFill>
                      </a:endParaRPr>
                    </a:p>
                  </a:txBody>
                  <a:tcPr anchor="ctr"/>
                </a:tc>
                <a:tc>
                  <a:txBody>
                    <a:bodyPr/>
                    <a:lstStyle/>
                    <a:p>
                      <a:pPr algn="ctr"/>
                      <a:endParaRPr lang="en-US" sz="1600" b="0" dirty="0">
                        <a:solidFill>
                          <a:schemeClr val="tx1"/>
                        </a:solidFill>
                      </a:endParaRPr>
                    </a:p>
                  </a:txBody>
                  <a:tcPr anchor="ctr"/>
                </a:tc>
                <a:extLst>
                  <a:ext uri="{0D108BD9-81ED-4DB2-BD59-A6C34878D82A}">
                    <a16:rowId xmlns:a16="http://schemas.microsoft.com/office/drawing/2014/main" val="10002"/>
                  </a:ext>
                </a:extLst>
              </a:tr>
              <a:tr h="370840">
                <a:tc>
                  <a:txBody>
                    <a:bodyPr/>
                    <a:lstStyle/>
                    <a:p>
                      <a:pPr algn="ctr"/>
                      <a:r>
                        <a:rPr lang="en-US" sz="1600" b="0" dirty="0">
                          <a:solidFill>
                            <a:schemeClr val="tx1"/>
                          </a:solidFill>
                        </a:rPr>
                        <a:t>010</a:t>
                      </a:r>
                    </a:p>
                  </a:txBody>
                  <a:tcPr anchor="ctr"/>
                </a:tc>
                <a:tc>
                  <a:txBody>
                    <a:bodyPr/>
                    <a:lstStyle/>
                    <a:p>
                      <a:pPr algn="ctr"/>
                      <a:r>
                        <a:rPr lang="en-US" sz="1600" b="0" dirty="0">
                          <a:solidFill>
                            <a:schemeClr val="tx1"/>
                          </a:solidFill>
                        </a:rPr>
                        <a:t>N</a:t>
                      </a:r>
                    </a:p>
                  </a:txBody>
                  <a:tcPr anchor="ctr"/>
                </a:tc>
                <a:tc>
                  <a:txBody>
                    <a:bodyPr/>
                    <a:lstStyle/>
                    <a:p>
                      <a:pPr algn="ctr"/>
                      <a:endParaRPr lang="en-US" sz="1600" b="0" dirty="0">
                        <a:solidFill>
                          <a:schemeClr val="tx1"/>
                        </a:solidFill>
                      </a:endParaRPr>
                    </a:p>
                  </a:txBody>
                  <a:tcPr anchor="ctr"/>
                </a:tc>
                <a:tc>
                  <a:txBody>
                    <a:bodyPr/>
                    <a:lstStyle/>
                    <a:p>
                      <a:pPr algn="ctr"/>
                      <a:endParaRPr lang="en-US" sz="1600" b="0" dirty="0">
                        <a:solidFill>
                          <a:schemeClr val="tx1"/>
                        </a:solidFill>
                      </a:endParaRPr>
                    </a:p>
                  </a:txBody>
                  <a:tcPr anchor="ctr"/>
                </a:tc>
                <a:extLst>
                  <a:ext uri="{0D108BD9-81ED-4DB2-BD59-A6C34878D82A}">
                    <a16:rowId xmlns:a16="http://schemas.microsoft.com/office/drawing/2014/main" val="10003"/>
                  </a:ext>
                </a:extLst>
              </a:tr>
              <a:tr h="370840">
                <a:tc>
                  <a:txBody>
                    <a:bodyPr/>
                    <a:lstStyle/>
                    <a:p>
                      <a:pPr algn="ctr"/>
                      <a:r>
                        <a:rPr lang="en-US" sz="1600" b="0" dirty="0">
                          <a:solidFill>
                            <a:schemeClr val="tx1"/>
                          </a:solidFill>
                        </a:rPr>
                        <a:t>011</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00</a:t>
                      </a:r>
                    </a:p>
                  </a:txBody>
                  <a:tcPr anchor="ctr"/>
                </a:tc>
                <a:tc>
                  <a:txBody>
                    <a:bodyPr/>
                    <a:lstStyle/>
                    <a:p>
                      <a:pPr algn="ctr"/>
                      <a:r>
                        <a:rPr lang="en-US" sz="1600" b="0" dirty="0">
                          <a:solidFill>
                            <a:schemeClr val="tx1"/>
                          </a:solidFill>
                        </a:rPr>
                        <a:t>Memory[00011</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4"/>
                  </a:ext>
                </a:extLst>
              </a:tr>
              <a:tr h="370840">
                <a:tc>
                  <a:txBody>
                    <a:bodyPr/>
                    <a:lstStyle/>
                    <a:p>
                      <a:pPr algn="ctr"/>
                      <a:r>
                        <a:rPr lang="en-US" sz="1600" b="0" dirty="0">
                          <a:solidFill>
                            <a:schemeClr val="tx1"/>
                          </a:solidFill>
                        </a:rPr>
                        <a:t>100</a:t>
                      </a:r>
                    </a:p>
                  </a:txBody>
                  <a:tcPr anchor="ctr"/>
                </a:tc>
                <a:tc>
                  <a:txBody>
                    <a:bodyPr/>
                    <a:lstStyle/>
                    <a:p>
                      <a:pPr algn="ctr"/>
                      <a:r>
                        <a:rPr lang="en-US" sz="1600" b="0" dirty="0">
                          <a:solidFill>
                            <a:schemeClr val="tx1"/>
                          </a:solidFill>
                        </a:rPr>
                        <a:t>N</a:t>
                      </a:r>
                    </a:p>
                  </a:txBody>
                  <a:tcPr anchor="ctr"/>
                </a:tc>
                <a:tc>
                  <a:txBody>
                    <a:bodyPr/>
                    <a:lstStyle/>
                    <a:p>
                      <a:pPr algn="ctr"/>
                      <a:endParaRPr lang="en-US" sz="1600" b="0">
                        <a:solidFill>
                          <a:schemeClr val="tx1"/>
                        </a:solidFill>
                      </a:endParaRPr>
                    </a:p>
                  </a:txBody>
                  <a:tcPr anchor="ctr"/>
                </a:tc>
                <a:tc>
                  <a:txBody>
                    <a:bodyPr/>
                    <a:lstStyle/>
                    <a:p>
                      <a:pPr algn="ctr"/>
                      <a:endParaRPr lang="en-US" sz="1600" b="0">
                        <a:solidFill>
                          <a:schemeClr val="tx1"/>
                        </a:solidFill>
                      </a:endParaRPr>
                    </a:p>
                  </a:txBody>
                  <a:tcPr anchor="ctr"/>
                </a:tc>
                <a:extLst>
                  <a:ext uri="{0D108BD9-81ED-4DB2-BD59-A6C34878D82A}">
                    <a16:rowId xmlns:a16="http://schemas.microsoft.com/office/drawing/2014/main" val="10005"/>
                  </a:ext>
                </a:extLst>
              </a:tr>
              <a:tr h="370840">
                <a:tc>
                  <a:txBody>
                    <a:bodyPr/>
                    <a:lstStyle/>
                    <a:p>
                      <a:pPr algn="ctr"/>
                      <a:r>
                        <a:rPr lang="en-US" sz="1600" b="0" dirty="0">
                          <a:solidFill>
                            <a:schemeClr val="tx1"/>
                          </a:solidFill>
                        </a:rPr>
                        <a:t>101</a:t>
                      </a:r>
                    </a:p>
                  </a:txBody>
                  <a:tcPr anchor="ctr"/>
                </a:tc>
                <a:tc>
                  <a:txBody>
                    <a:bodyPr/>
                    <a:lstStyle/>
                    <a:p>
                      <a:pPr algn="ctr"/>
                      <a:r>
                        <a:rPr lang="en-US" sz="1600" b="0" dirty="0">
                          <a:solidFill>
                            <a:schemeClr val="tx1"/>
                          </a:solidFill>
                        </a:rPr>
                        <a:t>N</a:t>
                      </a:r>
                    </a:p>
                  </a:txBody>
                  <a:tcPr anchor="ctr"/>
                </a:tc>
                <a:tc>
                  <a:txBody>
                    <a:bodyPr/>
                    <a:lstStyle/>
                    <a:p>
                      <a:pPr algn="ctr"/>
                      <a:endParaRPr lang="en-US" sz="1600" b="0">
                        <a:solidFill>
                          <a:schemeClr val="tx1"/>
                        </a:solidFill>
                      </a:endParaRPr>
                    </a:p>
                  </a:txBody>
                  <a:tcPr anchor="ctr"/>
                </a:tc>
                <a:tc>
                  <a:txBody>
                    <a:bodyPr/>
                    <a:lstStyle/>
                    <a:p>
                      <a:pPr algn="ctr"/>
                      <a:endParaRPr lang="en-US" sz="1600" b="0">
                        <a:solidFill>
                          <a:schemeClr val="tx1"/>
                        </a:solidFill>
                      </a:endParaRPr>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Memory[10110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2587981" y="125684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47</a:t>
            </a:fld>
            <a:endParaRPr lang="zh-TW" altLang="en-US"/>
          </a:p>
        </p:txBody>
      </p:sp>
      <p:graphicFrame>
        <p:nvGraphicFramePr>
          <p:cNvPr id="4" name="表格 3"/>
          <p:cNvGraphicFramePr>
            <a:graphicFrameLocks noGrp="1"/>
          </p:cNvGraphicFramePr>
          <p:nvPr/>
        </p:nvGraphicFramePr>
        <p:xfrm>
          <a:off x="2586000" y="3902782"/>
          <a:ext cx="7020000" cy="346228"/>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46228">
                <a:tc>
                  <a:txBody>
                    <a:bodyPr/>
                    <a:lstStyle/>
                    <a:p>
                      <a:pPr algn="ctr"/>
                      <a:r>
                        <a:rPr lang="en-US" sz="1600" b="1" dirty="0">
                          <a:solidFill>
                            <a:srgbClr val="FF0000"/>
                          </a:solidFill>
                        </a:rPr>
                        <a:t>010</a:t>
                      </a:r>
                    </a:p>
                  </a:txBody>
                  <a:tcPr anchor="ctr">
                    <a:solidFill>
                      <a:srgbClr val="0000FF"/>
                    </a:solidFill>
                  </a:tcPr>
                </a:tc>
                <a:tc>
                  <a:txBody>
                    <a:bodyPr/>
                    <a:lstStyle/>
                    <a:p>
                      <a:pPr algn="ctr"/>
                      <a:r>
                        <a:rPr lang="en-US" sz="1600" b="1" dirty="0">
                          <a:solidFill>
                            <a:srgbClr val="FF0000"/>
                          </a:solidFill>
                        </a:rPr>
                        <a:t>Y</a:t>
                      </a:r>
                    </a:p>
                  </a:txBody>
                  <a:tcPr anchor="ctr">
                    <a:solidFill>
                      <a:srgbClr val="0000FF"/>
                    </a:solidFill>
                  </a:tcPr>
                </a:tc>
                <a:tc>
                  <a:txBody>
                    <a:bodyPr/>
                    <a:lstStyle/>
                    <a:p>
                      <a:pPr algn="ctr"/>
                      <a:r>
                        <a:rPr lang="en-US" sz="1600" b="1" dirty="0">
                          <a:solidFill>
                            <a:srgbClr val="FF0000"/>
                          </a:solidFill>
                        </a:rPr>
                        <a:t>10</a:t>
                      </a:r>
                    </a:p>
                  </a:txBody>
                  <a:tcPr anchor="ctr">
                    <a:solidFill>
                      <a:srgbClr val="0000FF"/>
                    </a:solidFill>
                  </a:tcPr>
                </a:tc>
                <a:tc>
                  <a:txBody>
                    <a:bodyPr/>
                    <a:lstStyle/>
                    <a:p>
                      <a:pPr algn="ctr"/>
                      <a:r>
                        <a:rPr lang="en-US" sz="1600" b="1" dirty="0">
                          <a:solidFill>
                            <a:srgbClr val="FF0000"/>
                          </a:solidFill>
                        </a:rPr>
                        <a:t>Memory[10010</a:t>
                      </a:r>
                      <a:r>
                        <a:rPr lang="en-US" sz="1600" b="1" baseline="-25000" dirty="0">
                          <a:solidFill>
                            <a:srgbClr val="FF0000"/>
                          </a:solidFill>
                        </a:rPr>
                        <a:t>2</a:t>
                      </a:r>
                      <a:r>
                        <a:rPr lang="en-US" sz="1600" b="1" dirty="0">
                          <a:solidFill>
                            <a:srgbClr val="FF0000"/>
                          </a:solidFill>
                        </a:rPr>
                        <a:t>]</a:t>
                      </a:r>
                    </a:p>
                  </a:txBody>
                  <a:tcPr anchor="ctr">
                    <a:solidFill>
                      <a:srgbClr val="0000FF"/>
                    </a:solidFill>
                  </a:tcPr>
                </a:tc>
                <a:extLst>
                  <a:ext uri="{0D108BD9-81ED-4DB2-BD59-A6C34878D82A}">
                    <a16:rowId xmlns:a16="http://schemas.microsoft.com/office/drawing/2014/main" val="10000"/>
                  </a:ext>
                </a:extLst>
              </a:tr>
            </a:tbl>
          </a:graphicData>
        </a:graphic>
      </p:graphicFrame>
      <p:graphicFrame>
        <p:nvGraphicFramePr>
          <p:cNvPr id="7" name="Table 7"/>
          <p:cNvGraphicFramePr>
            <a:graphicFrameLocks noGrp="1"/>
          </p:cNvGraphicFramePr>
          <p:nvPr/>
        </p:nvGraphicFramePr>
        <p:xfrm>
          <a:off x="2586001" y="162768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0" dirty="0">
                          <a:solidFill>
                            <a:schemeClr val="tx1"/>
                          </a:solidFill>
                        </a:rPr>
                        <a:t>18</a:t>
                      </a:r>
                    </a:p>
                  </a:txBody>
                  <a:tcPr anchor="ctr">
                    <a:solidFill>
                      <a:schemeClr val="tx2">
                        <a:lumMod val="20000"/>
                        <a:lumOff val="80000"/>
                      </a:schemeClr>
                    </a:solidFill>
                  </a:tcPr>
                </a:tc>
                <a:tc>
                  <a:txBody>
                    <a:bodyPr/>
                    <a:lstStyle/>
                    <a:p>
                      <a:pPr algn="ctr"/>
                      <a:r>
                        <a:rPr lang="en-US" sz="1600" b="0" dirty="0">
                          <a:solidFill>
                            <a:schemeClr val="tx1"/>
                          </a:solidFill>
                        </a:rPr>
                        <a:t>10 010</a:t>
                      </a:r>
                    </a:p>
                  </a:txBody>
                  <a:tcPr anchor="ctr">
                    <a:solidFill>
                      <a:schemeClr val="tx2">
                        <a:lumMod val="20000"/>
                        <a:lumOff val="80000"/>
                      </a:schemeClr>
                    </a:solidFill>
                  </a:tcPr>
                </a:tc>
                <a:tc>
                  <a:txBody>
                    <a:bodyPr/>
                    <a:lstStyle/>
                    <a:p>
                      <a:pPr algn="ctr"/>
                      <a:r>
                        <a:rPr lang="en-US" sz="1600" b="0" dirty="0">
                          <a:solidFill>
                            <a:schemeClr val="tx1"/>
                          </a:solidFill>
                        </a:rPr>
                        <a:t>Miss</a:t>
                      </a:r>
                    </a:p>
                  </a:txBody>
                  <a:tcPr anchor="ctr">
                    <a:solidFill>
                      <a:schemeClr val="tx2">
                        <a:lumMod val="20000"/>
                        <a:lumOff val="80000"/>
                      </a:schemeClr>
                    </a:solidFill>
                  </a:tcPr>
                </a:tc>
                <a:tc>
                  <a:txBody>
                    <a:bodyPr/>
                    <a:lstStyle/>
                    <a:p>
                      <a:pPr algn="ctr"/>
                      <a:r>
                        <a:rPr lang="en-US" sz="1600" b="0" dirty="0">
                          <a:solidFill>
                            <a:schemeClr val="tx1"/>
                          </a:solidFill>
                        </a:rPr>
                        <a:t>010</a:t>
                      </a:r>
                    </a:p>
                  </a:txBody>
                  <a:tcPr anchor="ctr">
                    <a:solidFill>
                      <a:schemeClr val="tx2">
                        <a:lumMod val="20000"/>
                        <a:lumOff val="80000"/>
                      </a:schemeClr>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5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356853" y="173039"/>
            <a:ext cx="8949199" cy="652871"/>
          </a:xfrm>
        </p:spPr>
        <p:txBody>
          <a:bodyPr/>
          <a:lstStyle/>
          <a:p>
            <a:r>
              <a:rPr lang="en-AU" altLang="zh-TW" dirty="0"/>
              <a:t>Set Associative Caches</a:t>
            </a:r>
          </a:p>
        </p:txBody>
      </p:sp>
      <p:sp>
        <p:nvSpPr>
          <p:cNvPr id="20484" name="Rectangle 3"/>
          <p:cNvSpPr>
            <a:spLocks noGrp="1" noChangeArrowheads="1"/>
          </p:cNvSpPr>
          <p:nvPr>
            <p:ph type="body" idx="1"/>
          </p:nvPr>
        </p:nvSpPr>
        <p:spPr>
          <a:xfrm>
            <a:off x="238126" y="1105771"/>
            <a:ext cx="11601450" cy="4757147"/>
          </a:xfrm>
        </p:spPr>
        <p:txBody>
          <a:bodyPr/>
          <a:lstStyle/>
          <a:p>
            <a:r>
              <a:rPr lang="en-US" altLang="zh-TW" sz="3200" dirty="0">
                <a:ea typeface="新細明體" panose="02020500000000000000" pitchFamily="18" charset="-120"/>
              </a:rPr>
              <a:t>Cache Structure: Sets and Ways</a:t>
            </a:r>
          </a:p>
          <a:p>
            <a:pPr lvl="1">
              <a:buFont typeface="Wingdings" panose="05000000000000000000" pitchFamily="2" charset="2"/>
              <a:buChar char="Ø"/>
            </a:pPr>
            <a:r>
              <a:rPr lang="en-US" altLang="zh-TW" sz="2800" dirty="0">
                <a:ea typeface="新細明體" panose="02020500000000000000" pitchFamily="18" charset="-120"/>
              </a:rPr>
              <a:t>A cache is divided into a fixed number of Sets.   </a:t>
            </a:r>
          </a:p>
          <a:p>
            <a:pPr lvl="1">
              <a:buFont typeface="Wingdings" panose="05000000000000000000" pitchFamily="2" charset="2"/>
              <a:buChar char="Ø"/>
            </a:pPr>
            <a:r>
              <a:rPr lang="en-US" altLang="zh-TW" sz="2800" dirty="0">
                <a:ea typeface="新細明體" panose="02020500000000000000" pitchFamily="18" charset="-120"/>
              </a:rPr>
              <a:t>Each Set contains a fixed number of cache lines (i.e. blocks). This number is known as the associativity or the number of Ways.</a:t>
            </a:r>
          </a:p>
          <a:p>
            <a:pPr lvl="1">
              <a:buFont typeface="Wingdings" panose="05000000000000000000" pitchFamily="2" charset="2"/>
              <a:buChar char="Ø"/>
            </a:pPr>
            <a:r>
              <a:rPr lang="en-US" altLang="zh-TW" sz="2800" dirty="0">
                <a:ea typeface="新細明體" panose="02020500000000000000" pitchFamily="18" charset="-120"/>
              </a:rPr>
              <a:t>So, a cache described as "N-way set-associative" means there are N cache lines within each set.</a:t>
            </a:r>
          </a:p>
          <a:p>
            <a:pPr lvl="1">
              <a:buFont typeface="Wingdings" panose="05000000000000000000" pitchFamily="2" charset="2"/>
              <a:buChar char="Ø"/>
            </a:pPr>
            <a:r>
              <a:rPr lang="en-US" altLang="zh-TW" sz="2800" dirty="0">
                <a:ea typeface="新細明體" panose="02020500000000000000" pitchFamily="18" charset="-120"/>
              </a:rPr>
              <a:t>Example: A 4-way set-associative cache has 4 cache lines in every set. </a:t>
            </a:r>
          </a:p>
          <a:p>
            <a:pPr lvl="1">
              <a:buFont typeface="Wingdings" panose="05000000000000000000" pitchFamily="2" charset="2"/>
              <a:buChar char="Ø"/>
            </a:pPr>
            <a:r>
              <a:rPr lang="en-US" altLang="zh-TW" sz="2800" dirty="0">
                <a:ea typeface="新細明體" panose="02020500000000000000" pitchFamily="18" charset="-120"/>
              </a:rPr>
              <a:t>A </a:t>
            </a:r>
            <a:r>
              <a:rPr lang="en-US" altLang="zh-TW" sz="2800" b="1" dirty="0">
                <a:solidFill>
                  <a:srgbClr val="FF0000"/>
                </a:solidFill>
                <a:ea typeface="新細明體" panose="02020500000000000000" pitchFamily="18" charset="-120"/>
              </a:rPr>
              <a:t>direct-mapped</a:t>
            </a:r>
            <a:r>
              <a:rPr lang="en-US" altLang="zh-TW" sz="2800" dirty="0">
                <a:ea typeface="新細明體" panose="02020500000000000000" pitchFamily="18" charset="-120"/>
              </a:rPr>
              <a:t> cache is a </a:t>
            </a:r>
            <a:r>
              <a:rPr lang="en-US" altLang="zh-TW" b="1" dirty="0">
                <a:solidFill>
                  <a:srgbClr val="FF0000"/>
                </a:solidFill>
                <a:ea typeface="新細明體" panose="02020500000000000000" pitchFamily="18" charset="-120"/>
              </a:rPr>
              <a:t>one-way</a:t>
            </a:r>
            <a:r>
              <a:rPr lang="en-US" altLang="zh-TW" sz="2800" dirty="0">
                <a:ea typeface="新細明體" panose="02020500000000000000" pitchFamily="18" charset="-120"/>
              </a:rPr>
              <a:t> cache: each set has only one line </a:t>
            </a:r>
          </a:p>
          <a:p>
            <a:pPr lvl="1">
              <a:buFont typeface="Wingdings" panose="05000000000000000000" pitchFamily="2" charset="2"/>
              <a:buChar char="Ø"/>
            </a:pPr>
            <a:r>
              <a:rPr lang="en-US" altLang="zh-TW" sz="2800" dirty="0">
                <a:ea typeface="新細明體" panose="02020500000000000000" pitchFamily="18" charset="-120"/>
              </a:rPr>
              <a:t>A </a:t>
            </a:r>
            <a:r>
              <a:rPr lang="en-US" altLang="zh-TW" sz="2800" b="1" dirty="0">
                <a:solidFill>
                  <a:srgbClr val="FF0000"/>
                </a:solidFill>
                <a:ea typeface="新細明體" panose="02020500000000000000" pitchFamily="18" charset="-120"/>
              </a:rPr>
              <a:t>fully associative </a:t>
            </a:r>
            <a:r>
              <a:rPr lang="en-US" altLang="zh-TW" sz="2800" dirty="0">
                <a:ea typeface="新細明體" panose="02020500000000000000" pitchFamily="18" charset="-120"/>
              </a:rPr>
              <a:t>cache is a </a:t>
            </a:r>
            <a:r>
              <a:rPr lang="en-US" altLang="zh-TW" b="1" dirty="0">
                <a:solidFill>
                  <a:srgbClr val="FF0000"/>
                </a:solidFill>
                <a:ea typeface="新細明體" panose="02020500000000000000" pitchFamily="18" charset="-120"/>
              </a:rPr>
              <a:t>one-set</a:t>
            </a:r>
            <a:r>
              <a:rPr lang="en-US" altLang="zh-TW" sz="2800" b="1" dirty="0">
                <a:ea typeface="新細明體" panose="02020500000000000000" pitchFamily="18" charset="-120"/>
              </a:rPr>
              <a:t> </a:t>
            </a:r>
            <a:r>
              <a:rPr lang="en-US" altLang="zh-TW" sz="2800" dirty="0">
                <a:ea typeface="新細明體" panose="02020500000000000000" pitchFamily="18" charset="-120"/>
              </a:rPr>
              <a:t>cache. All lines are kept in one set.</a:t>
            </a:r>
            <a:endParaRPr lang="en-AU" altLang="zh-TW" sz="28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48</a:t>
            </a:fld>
            <a:endParaRPr lang="zh-TW" altLang="en-US"/>
          </a:p>
        </p:txBody>
      </p:sp>
    </p:spTree>
    <p:extLst>
      <p:ext uri="{BB962C8B-B14F-4D97-AF65-F5344CB8AC3E}">
        <p14:creationId xmlns:p14="http://schemas.microsoft.com/office/powerpoint/2010/main" val="21800115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1387475" y="312739"/>
            <a:ext cx="3187700" cy="477837"/>
          </a:xfrm>
          <a:prstGeom prst="rect">
            <a:avLst/>
          </a:prstGeom>
          <a:noFill/>
          <a:ln w="12700">
            <a:noFill/>
            <a:miter lim="800000"/>
          </a:ln>
        </p:spPr>
        <p:txBody>
          <a:bodyPr wrap="none" anchor="ctr"/>
          <a:lstStyle/>
          <a:p>
            <a:endParaRPr lang="zh-TW" altLang="en-US"/>
          </a:p>
        </p:txBody>
      </p:sp>
      <p:sp>
        <p:nvSpPr>
          <p:cNvPr id="58371" name="Rectangle 5"/>
          <p:cNvSpPr>
            <a:spLocks noGrp="1" noChangeArrowheads="1"/>
          </p:cNvSpPr>
          <p:nvPr>
            <p:ph type="title"/>
          </p:nvPr>
        </p:nvSpPr>
        <p:spPr>
          <a:xfrm>
            <a:off x="1248698" y="180976"/>
            <a:ext cx="9057353" cy="605605"/>
          </a:xfrm>
        </p:spPr>
        <p:txBody>
          <a:bodyPr/>
          <a:lstStyle/>
          <a:p>
            <a:r>
              <a:rPr lang="en-US" altLang="zh-TW" sz="4267" dirty="0"/>
              <a:t>Associativity Structures</a:t>
            </a:r>
          </a:p>
        </p:txBody>
      </p:sp>
      <p:pic>
        <p:nvPicPr>
          <p:cNvPr id="58372" name="Picture 3"/>
          <p:cNvPicPr>
            <a:picLocks noChangeArrowheads="1"/>
          </p:cNvPicPr>
          <p:nvPr/>
        </p:nvPicPr>
        <p:blipFill>
          <a:blip r:embed="rId3"/>
          <a:srcRect t="1569"/>
          <a:stretch>
            <a:fillRect/>
          </a:stretch>
        </p:blipFill>
        <p:spPr bwMode="auto">
          <a:xfrm>
            <a:off x="1558925" y="1177961"/>
            <a:ext cx="10023475" cy="4667396"/>
          </a:xfrm>
          <a:prstGeom prst="rect">
            <a:avLst/>
          </a:prstGeom>
          <a:solidFill>
            <a:srgbClr val="FFFFFF"/>
          </a:solidFill>
          <a:ln w="12700">
            <a:noFill/>
            <a:miter lim="800000"/>
            <a:headEnd/>
            <a:tailEnd/>
          </a:ln>
        </p:spPr>
      </p:pic>
      <p:sp>
        <p:nvSpPr>
          <p:cNvPr id="58373" name="Text Box 4"/>
          <p:cNvSpPr txBox="1">
            <a:spLocks noChangeArrowheads="1"/>
          </p:cNvSpPr>
          <p:nvPr/>
        </p:nvSpPr>
        <p:spPr bwMode="auto">
          <a:xfrm>
            <a:off x="56438" y="958014"/>
            <a:ext cx="3966022" cy="461665"/>
          </a:xfrm>
          <a:prstGeom prst="rect">
            <a:avLst/>
          </a:prstGeom>
          <a:noFill/>
          <a:ln w="12700">
            <a:noFill/>
            <a:prstDash val="sysDot"/>
            <a:miter lim="800000"/>
            <a:headEnd type="none" w="sm" len="sm"/>
            <a:tailEnd type="none" w="sm" len="sm"/>
          </a:ln>
        </p:spPr>
        <p:txBody>
          <a:bodyPr wrap="none">
            <a:spAutoFit/>
          </a:bodyPr>
          <a:lstStyle/>
          <a:p>
            <a:pPr marL="457189" indent="-457189">
              <a:buClr>
                <a:srgbClr val="8064A2"/>
              </a:buClr>
              <a:buFont typeface="Wingdings" panose="05000000000000000000" pitchFamily="2" charset="2"/>
              <a:buChar char="l"/>
            </a:pPr>
            <a:r>
              <a:rPr kumimoji="1" lang="en-US" altLang="zh-TW" sz="2400" dirty="0">
                <a:latin typeface="Calibri" panose="020F07020304040A0204" pitchFamily="34" charset="0"/>
                <a:cs typeface="Calibri" panose="020F07020304040A0204" pitchFamily="34" charset="0"/>
              </a:rPr>
              <a:t>Example: An 8-block cache</a:t>
            </a:r>
          </a:p>
        </p:txBody>
      </p:sp>
      <p:sp>
        <p:nvSpPr>
          <p:cNvPr id="7"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49</a:t>
            </a:fld>
            <a:endParaRPr lang="zh-TW" altLang="en-US"/>
          </a:p>
        </p:txBody>
      </p:sp>
      <p:sp>
        <p:nvSpPr>
          <p:cNvPr id="3" name="TextBox 2">
            <a:extLst>
              <a:ext uri="{FF2B5EF4-FFF2-40B4-BE49-F238E27FC236}">
                <a16:creationId xmlns:a16="http://schemas.microsoft.com/office/drawing/2014/main" id="{99616696-4A4A-4B58-B6E0-91C48946BF0B}"/>
              </a:ext>
            </a:extLst>
          </p:cNvPr>
          <p:cNvSpPr txBox="1"/>
          <p:nvPr/>
        </p:nvSpPr>
        <p:spPr>
          <a:xfrm>
            <a:off x="941529" y="2438401"/>
            <a:ext cx="2206053"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Direct-Mapped</a:t>
            </a:r>
          </a:p>
        </p:txBody>
      </p:sp>
      <p:sp>
        <p:nvSpPr>
          <p:cNvPr id="15" name="TextBox 14">
            <a:extLst>
              <a:ext uri="{FF2B5EF4-FFF2-40B4-BE49-F238E27FC236}">
                <a16:creationId xmlns:a16="http://schemas.microsoft.com/office/drawing/2014/main" id="{F5D19C03-9811-4709-8D8B-0E91BAF45873}"/>
              </a:ext>
            </a:extLst>
          </p:cNvPr>
          <p:cNvSpPr txBox="1"/>
          <p:nvPr/>
        </p:nvSpPr>
        <p:spPr>
          <a:xfrm>
            <a:off x="9530694" y="2515345"/>
            <a:ext cx="2307042" cy="830997"/>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Two-Way</a:t>
            </a:r>
          </a:p>
          <a:p>
            <a:r>
              <a:rPr lang="en-US" sz="2400" dirty="0">
                <a:ea typeface="標楷體" pitchFamily="65" charset="-120"/>
                <a:cs typeface="Calibri" pitchFamily="34" charset="0"/>
              </a:rPr>
              <a:t>Set-Associative</a:t>
            </a:r>
          </a:p>
        </p:txBody>
      </p:sp>
      <p:sp>
        <p:nvSpPr>
          <p:cNvPr id="16" name="TextBox 15">
            <a:extLst>
              <a:ext uri="{FF2B5EF4-FFF2-40B4-BE49-F238E27FC236}">
                <a16:creationId xmlns:a16="http://schemas.microsoft.com/office/drawing/2014/main" id="{82C2F55F-4D81-4B3D-95F8-FFD004CF465C}"/>
              </a:ext>
            </a:extLst>
          </p:cNvPr>
          <p:cNvSpPr txBox="1"/>
          <p:nvPr/>
        </p:nvSpPr>
        <p:spPr>
          <a:xfrm>
            <a:off x="1248698" y="4299168"/>
            <a:ext cx="2307042" cy="830997"/>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Four-Way</a:t>
            </a:r>
          </a:p>
          <a:p>
            <a:r>
              <a:rPr lang="en-US" sz="2400" dirty="0">
                <a:ea typeface="標楷體" pitchFamily="65" charset="-120"/>
                <a:cs typeface="Calibri" pitchFamily="34" charset="0"/>
              </a:rPr>
              <a:t>Set-Associative</a:t>
            </a:r>
          </a:p>
        </p:txBody>
      </p:sp>
      <p:sp>
        <p:nvSpPr>
          <p:cNvPr id="17" name="TextBox 16">
            <a:extLst>
              <a:ext uri="{FF2B5EF4-FFF2-40B4-BE49-F238E27FC236}">
                <a16:creationId xmlns:a16="http://schemas.microsoft.com/office/drawing/2014/main" id="{BA06A88D-890A-4411-9FA3-A92AC614AEF0}"/>
              </a:ext>
            </a:extLst>
          </p:cNvPr>
          <p:cNvSpPr txBox="1"/>
          <p:nvPr/>
        </p:nvSpPr>
        <p:spPr>
          <a:xfrm>
            <a:off x="8401051" y="5911393"/>
            <a:ext cx="1742785" cy="830997"/>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Fully</a:t>
            </a:r>
          </a:p>
          <a:p>
            <a:r>
              <a:rPr lang="en-US" sz="2400" dirty="0">
                <a:ea typeface="標楷體" pitchFamily="65" charset="-120"/>
                <a:cs typeface="Calibri" pitchFamily="34" charset="0"/>
              </a:rPr>
              <a:t>Associative</a:t>
            </a:r>
          </a:p>
        </p:txBody>
      </p:sp>
      <p:sp>
        <p:nvSpPr>
          <p:cNvPr id="4" name="Arrow: Right 3">
            <a:extLst>
              <a:ext uri="{FF2B5EF4-FFF2-40B4-BE49-F238E27FC236}">
                <a16:creationId xmlns:a16="http://schemas.microsoft.com/office/drawing/2014/main" id="{F32F6E85-C06A-46B0-B183-7348010735D5}"/>
              </a:ext>
            </a:extLst>
          </p:cNvPr>
          <p:cNvSpPr/>
          <p:nvPr/>
        </p:nvSpPr>
        <p:spPr bwMode="auto">
          <a:xfrm>
            <a:off x="3226283" y="2338852"/>
            <a:ext cx="1126515" cy="266699"/>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9" name="Arrow: Right 18">
            <a:extLst>
              <a:ext uri="{FF2B5EF4-FFF2-40B4-BE49-F238E27FC236}">
                <a16:creationId xmlns:a16="http://schemas.microsoft.com/office/drawing/2014/main" id="{5977DBC1-B3E7-43C6-B917-FC661AE17CF4}"/>
              </a:ext>
            </a:extLst>
          </p:cNvPr>
          <p:cNvSpPr/>
          <p:nvPr/>
        </p:nvSpPr>
        <p:spPr bwMode="auto">
          <a:xfrm>
            <a:off x="5938573" y="2766716"/>
            <a:ext cx="1187173" cy="266699"/>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Arrow: Down 4">
            <a:extLst>
              <a:ext uri="{FF2B5EF4-FFF2-40B4-BE49-F238E27FC236}">
                <a16:creationId xmlns:a16="http://schemas.microsoft.com/office/drawing/2014/main" id="{0406F63E-5E40-4A5E-AD48-53AE421961C4}"/>
              </a:ext>
            </a:extLst>
          </p:cNvPr>
          <p:cNvSpPr/>
          <p:nvPr/>
        </p:nvSpPr>
        <p:spPr bwMode="auto">
          <a:xfrm>
            <a:off x="7419240" y="2633365"/>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1" name="Arrow: Down 20">
            <a:extLst>
              <a:ext uri="{FF2B5EF4-FFF2-40B4-BE49-F238E27FC236}">
                <a16:creationId xmlns:a16="http://schemas.microsoft.com/office/drawing/2014/main" id="{0B898232-E1A5-49D7-91B3-CE3A735CFA70}"/>
              </a:ext>
            </a:extLst>
          </p:cNvPr>
          <p:cNvSpPr/>
          <p:nvPr/>
        </p:nvSpPr>
        <p:spPr bwMode="auto">
          <a:xfrm>
            <a:off x="8637758" y="2669233"/>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2" name="Arrow: Right 21">
            <a:extLst>
              <a:ext uri="{FF2B5EF4-FFF2-40B4-BE49-F238E27FC236}">
                <a16:creationId xmlns:a16="http://schemas.microsoft.com/office/drawing/2014/main" id="{D87FA06F-C664-4018-B341-A1CD6588C373}"/>
              </a:ext>
            </a:extLst>
          </p:cNvPr>
          <p:cNvSpPr/>
          <p:nvPr/>
        </p:nvSpPr>
        <p:spPr bwMode="auto">
          <a:xfrm>
            <a:off x="3373215" y="4532123"/>
            <a:ext cx="978408" cy="266699"/>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3" name="Arrow: Down 22">
            <a:extLst>
              <a:ext uri="{FF2B5EF4-FFF2-40B4-BE49-F238E27FC236}">
                <a16:creationId xmlns:a16="http://schemas.microsoft.com/office/drawing/2014/main" id="{4195729F-BDF0-4A0D-A45E-2D1E6AB026CF}"/>
              </a:ext>
            </a:extLst>
          </p:cNvPr>
          <p:cNvSpPr/>
          <p:nvPr/>
        </p:nvSpPr>
        <p:spPr bwMode="auto">
          <a:xfrm>
            <a:off x="4650589" y="4449569"/>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Arrow: Down 23">
            <a:extLst>
              <a:ext uri="{FF2B5EF4-FFF2-40B4-BE49-F238E27FC236}">
                <a16:creationId xmlns:a16="http://schemas.microsoft.com/office/drawing/2014/main" id="{956B80FE-AB0B-4C3D-BAB7-160ECB461363}"/>
              </a:ext>
            </a:extLst>
          </p:cNvPr>
          <p:cNvSpPr/>
          <p:nvPr/>
        </p:nvSpPr>
        <p:spPr bwMode="auto">
          <a:xfrm>
            <a:off x="5860264" y="4489062"/>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5" name="Arrow: Down 24">
            <a:extLst>
              <a:ext uri="{FF2B5EF4-FFF2-40B4-BE49-F238E27FC236}">
                <a16:creationId xmlns:a16="http://schemas.microsoft.com/office/drawing/2014/main" id="{ECB23BA6-B877-481E-981C-58E490EED296}"/>
              </a:ext>
            </a:extLst>
          </p:cNvPr>
          <p:cNvSpPr/>
          <p:nvPr/>
        </p:nvSpPr>
        <p:spPr bwMode="auto">
          <a:xfrm>
            <a:off x="7289839" y="4447965"/>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6" name="Arrow: Down 25">
            <a:extLst>
              <a:ext uri="{FF2B5EF4-FFF2-40B4-BE49-F238E27FC236}">
                <a16:creationId xmlns:a16="http://schemas.microsoft.com/office/drawing/2014/main" id="{84B5D7EF-AF5F-4717-9193-910D1F4E2508}"/>
              </a:ext>
            </a:extLst>
          </p:cNvPr>
          <p:cNvSpPr/>
          <p:nvPr/>
        </p:nvSpPr>
        <p:spPr bwMode="auto">
          <a:xfrm>
            <a:off x="8490649" y="4415036"/>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7" name="Arrow: Down 26">
            <a:extLst>
              <a:ext uri="{FF2B5EF4-FFF2-40B4-BE49-F238E27FC236}">
                <a16:creationId xmlns:a16="http://schemas.microsoft.com/office/drawing/2014/main" id="{C2F67E97-E59C-44B3-9E20-2EF8418FEEEF}"/>
              </a:ext>
            </a:extLst>
          </p:cNvPr>
          <p:cNvSpPr/>
          <p:nvPr/>
        </p:nvSpPr>
        <p:spPr bwMode="auto">
          <a:xfrm>
            <a:off x="4663025" y="2248645"/>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6" grpId="0" animBg="1"/>
      <p:bldP spid="17" grpId="0" animBg="1"/>
      <p:bldP spid="4" grpId="0" animBg="1"/>
      <p:bldP spid="19" grpId="0" animBg="1"/>
      <p:bldP spid="5" grpId="0" animBg="1"/>
      <p:bldP spid="21" grpId="0" animBg="1"/>
      <p:bldP spid="22" grpId="0" animBg="1"/>
      <p:bldP spid="23" grpId="0" animBg="1"/>
      <p:bldP spid="24" grpId="0" animBg="1"/>
      <p:bldP spid="25" grpId="0" animBg="1"/>
      <p:bldP spid="26" grpId="0" animBg="1"/>
      <p:bldP spid="2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22F2-8EE6-4785-9A62-A7CF2628E5B4}"/>
              </a:ext>
            </a:extLst>
          </p:cNvPr>
          <p:cNvSpPr>
            <a:spLocks noGrp="1"/>
          </p:cNvSpPr>
          <p:nvPr>
            <p:ph type="title"/>
          </p:nvPr>
        </p:nvSpPr>
        <p:spPr>
          <a:xfrm>
            <a:off x="1049867" y="144466"/>
            <a:ext cx="10808150" cy="692151"/>
          </a:xfrm>
        </p:spPr>
        <p:txBody>
          <a:bodyPr/>
          <a:lstStyle/>
          <a:p>
            <a:r>
              <a:rPr lang="en-US" sz="4000" dirty="0"/>
              <a:t>Address Subdivision for Set Associative Caches (1)</a:t>
            </a:r>
          </a:p>
        </p:txBody>
      </p:sp>
      <p:sp>
        <p:nvSpPr>
          <p:cNvPr id="3" name="Slide Number Placeholder 2">
            <a:extLst>
              <a:ext uri="{FF2B5EF4-FFF2-40B4-BE49-F238E27FC236}">
                <a16:creationId xmlns:a16="http://schemas.microsoft.com/office/drawing/2014/main" id="{DF7AF588-49BA-4BE3-8063-328F7F7CD6F5}"/>
              </a:ext>
            </a:extLst>
          </p:cNvPr>
          <p:cNvSpPr>
            <a:spLocks noGrp="1"/>
          </p:cNvSpPr>
          <p:nvPr>
            <p:ph type="sldNum" sz="quarter" idx="10"/>
          </p:nvPr>
        </p:nvSpPr>
        <p:spPr/>
        <p:txBody>
          <a:bodyPr/>
          <a:lstStyle/>
          <a:p>
            <a:fld id="{D9B6BDF2-6896-4B98-8776-C18582F63BA5}" type="slidenum">
              <a:rPr lang="zh-TW" altLang="en-US" smtClean="0"/>
              <a:pPr/>
              <a:t>50</a:t>
            </a:fld>
            <a:endParaRPr lang="zh-TW" altLang="en-US"/>
          </a:p>
        </p:txBody>
      </p:sp>
      <p:sp>
        <p:nvSpPr>
          <p:cNvPr id="4" name="Rectangle 3">
            <a:extLst>
              <a:ext uri="{FF2B5EF4-FFF2-40B4-BE49-F238E27FC236}">
                <a16:creationId xmlns:a16="http://schemas.microsoft.com/office/drawing/2014/main" id="{A7B32AC6-2C43-4D70-B0F2-C08DC71CCFFF}"/>
              </a:ext>
            </a:extLst>
          </p:cNvPr>
          <p:cNvSpPr/>
          <p:nvPr/>
        </p:nvSpPr>
        <p:spPr bwMode="auto">
          <a:xfrm>
            <a:off x="1379654" y="2164172"/>
            <a:ext cx="442856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Rectangle 4">
            <a:extLst>
              <a:ext uri="{FF2B5EF4-FFF2-40B4-BE49-F238E27FC236}">
                <a16:creationId xmlns:a16="http://schemas.microsoft.com/office/drawing/2014/main" id="{2DBBF428-A1E6-470E-9F61-8C9886AB28B6}"/>
              </a:ext>
            </a:extLst>
          </p:cNvPr>
          <p:cNvSpPr/>
          <p:nvPr/>
        </p:nvSpPr>
        <p:spPr bwMode="auto">
          <a:xfrm>
            <a:off x="5808219" y="2164172"/>
            <a:ext cx="323625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Rectangle 5">
            <a:extLst>
              <a:ext uri="{FF2B5EF4-FFF2-40B4-BE49-F238E27FC236}">
                <a16:creationId xmlns:a16="http://schemas.microsoft.com/office/drawing/2014/main" id="{0BFBE788-4D1F-429C-B42A-5F54AF8C6ADA}"/>
              </a:ext>
            </a:extLst>
          </p:cNvPr>
          <p:cNvSpPr/>
          <p:nvPr/>
        </p:nvSpPr>
        <p:spPr bwMode="auto">
          <a:xfrm>
            <a:off x="9044478" y="216417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CB16C9E1-4EF4-4145-AF77-72BDB0344F35}"/>
              </a:ext>
            </a:extLst>
          </p:cNvPr>
          <p:cNvSpPr txBox="1"/>
          <p:nvPr/>
        </p:nvSpPr>
        <p:spPr>
          <a:xfrm>
            <a:off x="10838278"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 name="TextBox 7">
            <a:extLst>
              <a:ext uri="{FF2B5EF4-FFF2-40B4-BE49-F238E27FC236}">
                <a16:creationId xmlns:a16="http://schemas.microsoft.com/office/drawing/2014/main" id="{873424D3-BD5D-497C-B878-716380B3786B}"/>
              </a:ext>
            </a:extLst>
          </p:cNvPr>
          <p:cNvSpPr txBox="1"/>
          <p:nvPr/>
        </p:nvSpPr>
        <p:spPr>
          <a:xfrm>
            <a:off x="8946725"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9" name="TextBox 8">
            <a:extLst>
              <a:ext uri="{FF2B5EF4-FFF2-40B4-BE49-F238E27FC236}">
                <a16:creationId xmlns:a16="http://schemas.microsoft.com/office/drawing/2014/main" id="{0E26A2AA-A524-4A7C-A640-0A4380985678}"/>
              </a:ext>
            </a:extLst>
          </p:cNvPr>
          <p:cNvSpPr txBox="1"/>
          <p:nvPr/>
        </p:nvSpPr>
        <p:spPr>
          <a:xfrm>
            <a:off x="8731572" y="180999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10" name="TextBox 9">
            <a:extLst>
              <a:ext uri="{FF2B5EF4-FFF2-40B4-BE49-F238E27FC236}">
                <a16:creationId xmlns:a16="http://schemas.microsoft.com/office/drawing/2014/main" id="{07FCD820-DA37-42F2-8CE6-BEEDFFAB8E69}"/>
              </a:ext>
            </a:extLst>
          </p:cNvPr>
          <p:cNvSpPr txBox="1"/>
          <p:nvPr/>
        </p:nvSpPr>
        <p:spPr>
          <a:xfrm>
            <a:off x="5728396" y="180999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13</a:t>
            </a:r>
          </a:p>
        </p:txBody>
      </p:sp>
      <p:sp>
        <p:nvSpPr>
          <p:cNvPr id="11" name="TextBox 10">
            <a:extLst>
              <a:ext uri="{FF2B5EF4-FFF2-40B4-BE49-F238E27FC236}">
                <a16:creationId xmlns:a16="http://schemas.microsoft.com/office/drawing/2014/main" id="{5F622DE5-2C65-4C05-8689-47DD3C084A43}"/>
              </a:ext>
            </a:extLst>
          </p:cNvPr>
          <p:cNvSpPr txBox="1"/>
          <p:nvPr/>
        </p:nvSpPr>
        <p:spPr>
          <a:xfrm>
            <a:off x="5443703"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14</a:t>
            </a:r>
          </a:p>
        </p:txBody>
      </p:sp>
      <p:sp>
        <p:nvSpPr>
          <p:cNvPr id="12" name="TextBox 11">
            <a:extLst>
              <a:ext uri="{FF2B5EF4-FFF2-40B4-BE49-F238E27FC236}">
                <a16:creationId xmlns:a16="http://schemas.microsoft.com/office/drawing/2014/main" id="{80634063-AA43-411B-BAFE-0A913892A17A}"/>
              </a:ext>
            </a:extLst>
          </p:cNvPr>
          <p:cNvSpPr txBox="1"/>
          <p:nvPr/>
        </p:nvSpPr>
        <p:spPr>
          <a:xfrm>
            <a:off x="1254148"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3" name="TextBox 12">
            <a:extLst>
              <a:ext uri="{FF2B5EF4-FFF2-40B4-BE49-F238E27FC236}">
                <a16:creationId xmlns:a16="http://schemas.microsoft.com/office/drawing/2014/main" id="{0284C7D5-7358-4B2D-932D-602DA3E21E33}"/>
              </a:ext>
            </a:extLst>
          </p:cNvPr>
          <p:cNvSpPr txBox="1"/>
          <p:nvPr/>
        </p:nvSpPr>
        <p:spPr>
          <a:xfrm>
            <a:off x="9378047" y="225804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14" name="TextBox 13">
            <a:extLst>
              <a:ext uri="{FF2B5EF4-FFF2-40B4-BE49-F238E27FC236}">
                <a16:creationId xmlns:a16="http://schemas.microsoft.com/office/drawing/2014/main" id="{60395B04-3514-4B27-9144-105A5561109B}"/>
              </a:ext>
            </a:extLst>
          </p:cNvPr>
          <p:cNvSpPr txBox="1"/>
          <p:nvPr/>
        </p:nvSpPr>
        <p:spPr>
          <a:xfrm>
            <a:off x="6672529" y="220021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15" name="TextBox 14">
            <a:extLst>
              <a:ext uri="{FF2B5EF4-FFF2-40B4-BE49-F238E27FC236}">
                <a16:creationId xmlns:a16="http://schemas.microsoft.com/office/drawing/2014/main" id="{595145BD-0E2A-4AC7-842C-962D429D2453}"/>
              </a:ext>
            </a:extLst>
          </p:cNvPr>
          <p:cNvSpPr txBox="1"/>
          <p:nvPr/>
        </p:nvSpPr>
        <p:spPr>
          <a:xfrm>
            <a:off x="2919548" y="222086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41" name="Content Placeholder 5">
            <a:extLst>
              <a:ext uri="{FF2B5EF4-FFF2-40B4-BE49-F238E27FC236}">
                <a16:creationId xmlns:a16="http://schemas.microsoft.com/office/drawing/2014/main" id="{44DC79D3-FD9E-4188-B3BA-D6F9607ED865}"/>
              </a:ext>
            </a:extLst>
          </p:cNvPr>
          <p:cNvSpPr txBox="1">
            <a:spLocks/>
          </p:cNvSpPr>
          <p:nvPr/>
        </p:nvSpPr>
        <p:spPr>
          <a:xfrm>
            <a:off x="609600" y="1125537"/>
            <a:ext cx="10972800" cy="1133984"/>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667" kern="0" dirty="0"/>
              <a:t>Assume a </a:t>
            </a:r>
            <a:r>
              <a:rPr lang="en-US" sz="2800" kern="0" dirty="0">
                <a:solidFill>
                  <a:srgbClr val="FF0000"/>
                </a:solidFill>
              </a:rPr>
              <a:t>16KB</a:t>
            </a:r>
            <a:r>
              <a:rPr lang="en-US" sz="2667" kern="0" dirty="0"/>
              <a:t> cache, line (block) size is 64B.</a:t>
            </a:r>
          </a:p>
          <a:p>
            <a:r>
              <a:rPr lang="en-US" sz="2200" kern="0" dirty="0"/>
              <a:t>Case 1: direct mapped</a:t>
            </a:r>
          </a:p>
          <a:p>
            <a:endParaRPr lang="en-US" sz="2200" kern="0" dirty="0"/>
          </a:p>
          <a:p>
            <a:pPr marL="0" indent="0">
              <a:buNone/>
            </a:pPr>
            <a:endParaRPr lang="en-US" sz="2200" kern="0" dirty="0"/>
          </a:p>
        </p:txBody>
      </p:sp>
      <p:sp>
        <p:nvSpPr>
          <p:cNvPr id="42" name="Content Placeholder 5">
            <a:extLst>
              <a:ext uri="{FF2B5EF4-FFF2-40B4-BE49-F238E27FC236}">
                <a16:creationId xmlns:a16="http://schemas.microsoft.com/office/drawing/2014/main" id="{91328DB2-4452-4489-9289-2620D97DA9F3}"/>
              </a:ext>
            </a:extLst>
          </p:cNvPr>
          <p:cNvSpPr txBox="1">
            <a:spLocks/>
          </p:cNvSpPr>
          <p:nvPr/>
        </p:nvSpPr>
        <p:spPr>
          <a:xfrm>
            <a:off x="683142" y="2597165"/>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2: Fully associative</a:t>
            </a:r>
          </a:p>
          <a:p>
            <a:endParaRPr lang="en-US" sz="2200" kern="0" dirty="0"/>
          </a:p>
          <a:p>
            <a:pPr marL="0" indent="0">
              <a:buNone/>
            </a:pPr>
            <a:endParaRPr lang="en-US" sz="2200" kern="0" dirty="0"/>
          </a:p>
        </p:txBody>
      </p:sp>
      <p:sp>
        <p:nvSpPr>
          <p:cNvPr id="43" name="Rectangle 42">
            <a:extLst>
              <a:ext uri="{FF2B5EF4-FFF2-40B4-BE49-F238E27FC236}">
                <a16:creationId xmlns:a16="http://schemas.microsoft.com/office/drawing/2014/main" id="{06D29048-10AA-42B5-B7E5-A0184EA19E78}"/>
              </a:ext>
            </a:extLst>
          </p:cNvPr>
          <p:cNvSpPr/>
          <p:nvPr/>
        </p:nvSpPr>
        <p:spPr bwMode="auto">
          <a:xfrm>
            <a:off x="1379654" y="3217961"/>
            <a:ext cx="7664824"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5" name="Rectangle 44">
            <a:extLst>
              <a:ext uri="{FF2B5EF4-FFF2-40B4-BE49-F238E27FC236}">
                <a16:creationId xmlns:a16="http://schemas.microsoft.com/office/drawing/2014/main" id="{5DCA60ED-8C15-460E-BDFF-78A6DC43B4CE}"/>
              </a:ext>
            </a:extLst>
          </p:cNvPr>
          <p:cNvSpPr/>
          <p:nvPr/>
        </p:nvSpPr>
        <p:spPr bwMode="auto">
          <a:xfrm>
            <a:off x="9044478" y="3217961"/>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6" name="TextBox 45">
            <a:extLst>
              <a:ext uri="{FF2B5EF4-FFF2-40B4-BE49-F238E27FC236}">
                <a16:creationId xmlns:a16="http://schemas.microsoft.com/office/drawing/2014/main" id="{3F8B2C32-3F90-40D2-8AC3-B09482976C7B}"/>
              </a:ext>
            </a:extLst>
          </p:cNvPr>
          <p:cNvSpPr txBox="1"/>
          <p:nvPr/>
        </p:nvSpPr>
        <p:spPr>
          <a:xfrm>
            <a:off x="8731572" y="286378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49" name="TextBox 48">
            <a:extLst>
              <a:ext uri="{FF2B5EF4-FFF2-40B4-BE49-F238E27FC236}">
                <a16:creationId xmlns:a16="http://schemas.microsoft.com/office/drawing/2014/main" id="{093B010A-EBF9-412B-B14D-4270C9108693}"/>
              </a:ext>
            </a:extLst>
          </p:cNvPr>
          <p:cNvSpPr txBox="1"/>
          <p:nvPr/>
        </p:nvSpPr>
        <p:spPr>
          <a:xfrm>
            <a:off x="1254148" y="28803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50" name="TextBox 49">
            <a:extLst>
              <a:ext uri="{FF2B5EF4-FFF2-40B4-BE49-F238E27FC236}">
                <a16:creationId xmlns:a16="http://schemas.microsoft.com/office/drawing/2014/main" id="{B091B137-167A-4067-B2DF-B814354D2B07}"/>
              </a:ext>
            </a:extLst>
          </p:cNvPr>
          <p:cNvSpPr txBox="1"/>
          <p:nvPr/>
        </p:nvSpPr>
        <p:spPr>
          <a:xfrm>
            <a:off x="9378047" y="3311832"/>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52" name="TextBox 51">
            <a:extLst>
              <a:ext uri="{FF2B5EF4-FFF2-40B4-BE49-F238E27FC236}">
                <a16:creationId xmlns:a16="http://schemas.microsoft.com/office/drawing/2014/main" id="{871495E1-4AC9-4B4E-A249-E4579EF0D24C}"/>
              </a:ext>
            </a:extLst>
          </p:cNvPr>
          <p:cNvSpPr txBox="1"/>
          <p:nvPr/>
        </p:nvSpPr>
        <p:spPr>
          <a:xfrm>
            <a:off x="2919548" y="3274649"/>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53" name="Content Placeholder 5">
            <a:extLst>
              <a:ext uri="{FF2B5EF4-FFF2-40B4-BE49-F238E27FC236}">
                <a16:creationId xmlns:a16="http://schemas.microsoft.com/office/drawing/2014/main" id="{A748E733-5D87-4B39-ABB0-44AF7A4226F6}"/>
              </a:ext>
            </a:extLst>
          </p:cNvPr>
          <p:cNvSpPr txBox="1">
            <a:spLocks/>
          </p:cNvSpPr>
          <p:nvPr/>
        </p:nvSpPr>
        <p:spPr>
          <a:xfrm>
            <a:off x="767449" y="3665103"/>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3: Two-way set associative</a:t>
            </a:r>
          </a:p>
          <a:p>
            <a:endParaRPr lang="en-US" sz="2200" kern="0" dirty="0"/>
          </a:p>
          <a:p>
            <a:pPr marL="0" indent="0">
              <a:buNone/>
            </a:pPr>
            <a:endParaRPr lang="en-US" sz="2200" kern="0" dirty="0"/>
          </a:p>
        </p:txBody>
      </p:sp>
      <p:sp>
        <p:nvSpPr>
          <p:cNvPr id="54" name="Rectangle 53">
            <a:extLst>
              <a:ext uri="{FF2B5EF4-FFF2-40B4-BE49-F238E27FC236}">
                <a16:creationId xmlns:a16="http://schemas.microsoft.com/office/drawing/2014/main" id="{8A01465A-3507-4205-9AD0-C324977C1F97}"/>
              </a:ext>
            </a:extLst>
          </p:cNvPr>
          <p:cNvSpPr/>
          <p:nvPr/>
        </p:nvSpPr>
        <p:spPr bwMode="auto">
          <a:xfrm>
            <a:off x="1379654" y="4298402"/>
            <a:ext cx="471234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5" name="Rectangle 54">
            <a:extLst>
              <a:ext uri="{FF2B5EF4-FFF2-40B4-BE49-F238E27FC236}">
                <a16:creationId xmlns:a16="http://schemas.microsoft.com/office/drawing/2014/main" id="{5258AA2A-0602-4A4E-91DD-0DE784A5AEA1}"/>
              </a:ext>
            </a:extLst>
          </p:cNvPr>
          <p:cNvSpPr/>
          <p:nvPr/>
        </p:nvSpPr>
        <p:spPr bwMode="auto">
          <a:xfrm>
            <a:off x="6100002" y="4298402"/>
            <a:ext cx="2944476"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Rectangle 55">
            <a:extLst>
              <a:ext uri="{FF2B5EF4-FFF2-40B4-BE49-F238E27FC236}">
                <a16:creationId xmlns:a16="http://schemas.microsoft.com/office/drawing/2014/main" id="{ABA0C0B8-8344-448B-98D1-0D2EF2F6E564}"/>
              </a:ext>
            </a:extLst>
          </p:cNvPr>
          <p:cNvSpPr/>
          <p:nvPr/>
        </p:nvSpPr>
        <p:spPr bwMode="auto">
          <a:xfrm>
            <a:off x="9044478" y="429840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7" name="TextBox 56">
            <a:extLst>
              <a:ext uri="{FF2B5EF4-FFF2-40B4-BE49-F238E27FC236}">
                <a16:creationId xmlns:a16="http://schemas.microsoft.com/office/drawing/2014/main" id="{AFDA3E41-92DC-4DAB-A03E-B9DBD46CE73C}"/>
              </a:ext>
            </a:extLst>
          </p:cNvPr>
          <p:cNvSpPr txBox="1"/>
          <p:nvPr/>
        </p:nvSpPr>
        <p:spPr>
          <a:xfrm>
            <a:off x="10838278"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58" name="TextBox 57">
            <a:extLst>
              <a:ext uri="{FF2B5EF4-FFF2-40B4-BE49-F238E27FC236}">
                <a16:creationId xmlns:a16="http://schemas.microsoft.com/office/drawing/2014/main" id="{3156518D-2FE6-4ABA-AF63-08C0E3ADF54F}"/>
              </a:ext>
            </a:extLst>
          </p:cNvPr>
          <p:cNvSpPr txBox="1"/>
          <p:nvPr/>
        </p:nvSpPr>
        <p:spPr>
          <a:xfrm>
            <a:off x="8946725"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59" name="TextBox 58">
            <a:extLst>
              <a:ext uri="{FF2B5EF4-FFF2-40B4-BE49-F238E27FC236}">
                <a16:creationId xmlns:a16="http://schemas.microsoft.com/office/drawing/2014/main" id="{BCC3B78E-2053-4FC8-A22E-1B554F614E2B}"/>
              </a:ext>
            </a:extLst>
          </p:cNvPr>
          <p:cNvSpPr txBox="1"/>
          <p:nvPr/>
        </p:nvSpPr>
        <p:spPr>
          <a:xfrm>
            <a:off x="8731572" y="394422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60" name="TextBox 59">
            <a:extLst>
              <a:ext uri="{FF2B5EF4-FFF2-40B4-BE49-F238E27FC236}">
                <a16:creationId xmlns:a16="http://schemas.microsoft.com/office/drawing/2014/main" id="{17BE93BF-91CC-4954-B48F-0A2E2A45B041}"/>
              </a:ext>
            </a:extLst>
          </p:cNvPr>
          <p:cNvSpPr txBox="1"/>
          <p:nvPr/>
        </p:nvSpPr>
        <p:spPr>
          <a:xfrm>
            <a:off x="5728396" y="394422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13</a:t>
            </a:r>
          </a:p>
        </p:txBody>
      </p:sp>
      <p:sp>
        <p:nvSpPr>
          <p:cNvPr id="61" name="TextBox 60">
            <a:extLst>
              <a:ext uri="{FF2B5EF4-FFF2-40B4-BE49-F238E27FC236}">
                <a16:creationId xmlns:a16="http://schemas.microsoft.com/office/drawing/2014/main" id="{68EDF19D-9F8B-4E58-8ABD-E7CC22891306}"/>
              </a:ext>
            </a:extLst>
          </p:cNvPr>
          <p:cNvSpPr txBox="1"/>
          <p:nvPr/>
        </p:nvSpPr>
        <p:spPr>
          <a:xfrm>
            <a:off x="6012796" y="392907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62" name="TextBox 61">
            <a:extLst>
              <a:ext uri="{FF2B5EF4-FFF2-40B4-BE49-F238E27FC236}">
                <a16:creationId xmlns:a16="http://schemas.microsoft.com/office/drawing/2014/main" id="{2FE1CEA6-65AE-4AE5-946A-E2C8DF15D391}"/>
              </a:ext>
            </a:extLst>
          </p:cNvPr>
          <p:cNvSpPr txBox="1"/>
          <p:nvPr/>
        </p:nvSpPr>
        <p:spPr>
          <a:xfrm>
            <a:off x="1254148" y="396075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63" name="TextBox 62">
            <a:extLst>
              <a:ext uri="{FF2B5EF4-FFF2-40B4-BE49-F238E27FC236}">
                <a16:creationId xmlns:a16="http://schemas.microsoft.com/office/drawing/2014/main" id="{4FB11EAD-7E91-4828-9AAF-D886B6CAEB5E}"/>
              </a:ext>
            </a:extLst>
          </p:cNvPr>
          <p:cNvSpPr txBox="1"/>
          <p:nvPr/>
        </p:nvSpPr>
        <p:spPr>
          <a:xfrm>
            <a:off x="9378047" y="439227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64" name="TextBox 63">
            <a:extLst>
              <a:ext uri="{FF2B5EF4-FFF2-40B4-BE49-F238E27FC236}">
                <a16:creationId xmlns:a16="http://schemas.microsoft.com/office/drawing/2014/main" id="{13B831A5-F09B-4A50-8CB6-D37560F69A4D}"/>
              </a:ext>
            </a:extLst>
          </p:cNvPr>
          <p:cNvSpPr txBox="1"/>
          <p:nvPr/>
        </p:nvSpPr>
        <p:spPr>
          <a:xfrm>
            <a:off x="6672529" y="433444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65" name="TextBox 64">
            <a:extLst>
              <a:ext uri="{FF2B5EF4-FFF2-40B4-BE49-F238E27FC236}">
                <a16:creationId xmlns:a16="http://schemas.microsoft.com/office/drawing/2014/main" id="{8A8ED754-AC80-45FC-902F-FE66BA11B6FC}"/>
              </a:ext>
            </a:extLst>
          </p:cNvPr>
          <p:cNvSpPr txBox="1"/>
          <p:nvPr/>
        </p:nvSpPr>
        <p:spPr>
          <a:xfrm>
            <a:off x="2919548" y="435509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66" name="Content Placeholder 5">
            <a:extLst>
              <a:ext uri="{FF2B5EF4-FFF2-40B4-BE49-F238E27FC236}">
                <a16:creationId xmlns:a16="http://schemas.microsoft.com/office/drawing/2014/main" id="{D1FC9DE1-73D3-439E-82B2-7D604C62F03E}"/>
              </a:ext>
            </a:extLst>
          </p:cNvPr>
          <p:cNvSpPr txBox="1">
            <a:spLocks/>
          </p:cNvSpPr>
          <p:nvPr/>
        </p:nvSpPr>
        <p:spPr>
          <a:xfrm>
            <a:off x="823065" y="4753017"/>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4: Four-way set associative</a:t>
            </a:r>
          </a:p>
          <a:p>
            <a:endParaRPr lang="en-US" sz="2200" kern="0" dirty="0"/>
          </a:p>
          <a:p>
            <a:pPr marL="0" indent="0">
              <a:buNone/>
            </a:pPr>
            <a:endParaRPr lang="en-US" sz="2200" kern="0" dirty="0"/>
          </a:p>
        </p:txBody>
      </p:sp>
      <p:sp>
        <p:nvSpPr>
          <p:cNvPr id="67" name="Rectangle 66">
            <a:extLst>
              <a:ext uri="{FF2B5EF4-FFF2-40B4-BE49-F238E27FC236}">
                <a16:creationId xmlns:a16="http://schemas.microsoft.com/office/drawing/2014/main" id="{697A61A0-962B-413B-A7BD-F9DD8A0FAA05}"/>
              </a:ext>
            </a:extLst>
          </p:cNvPr>
          <p:cNvSpPr/>
          <p:nvPr/>
        </p:nvSpPr>
        <p:spPr bwMode="auto">
          <a:xfrm>
            <a:off x="1428893" y="5440707"/>
            <a:ext cx="502504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8" name="Rectangle 67">
            <a:extLst>
              <a:ext uri="{FF2B5EF4-FFF2-40B4-BE49-F238E27FC236}">
                <a16:creationId xmlns:a16="http://schemas.microsoft.com/office/drawing/2014/main" id="{F8328E39-6F95-4CE0-858D-AC7A3FF99496}"/>
              </a:ext>
            </a:extLst>
          </p:cNvPr>
          <p:cNvSpPr/>
          <p:nvPr/>
        </p:nvSpPr>
        <p:spPr bwMode="auto">
          <a:xfrm>
            <a:off x="6453941" y="5440707"/>
            <a:ext cx="263977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9" name="Rectangle 68">
            <a:extLst>
              <a:ext uri="{FF2B5EF4-FFF2-40B4-BE49-F238E27FC236}">
                <a16:creationId xmlns:a16="http://schemas.microsoft.com/office/drawing/2014/main" id="{6783D0C7-C7F3-4E88-8317-A5D659444494}"/>
              </a:ext>
            </a:extLst>
          </p:cNvPr>
          <p:cNvSpPr/>
          <p:nvPr/>
        </p:nvSpPr>
        <p:spPr bwMode="auto">
          <a:xfrm>
            <a:off x="9093717" y="5440707"/>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0" name="TextBox 69">
            <a:extLst>
              <a:ext uri="{FF2B5EF4-FFF2-40B4-BE49-F238E27FC236}">
                <a16:creationId xmlns:a16="http://schemas.microsoft.com/office/drawing/2014/main" id="{D9A192FA-BEE5-404C-8BCA-2F950F5793D9}"/>
              </a:ext>
            </a:extLst>
          </p:cNvPr>
          <p:cNvSpPr txBox="1"/>
          <p:nvPr/>
        </p:nvSpPr>
        <p:spPr>
          <a:xfrm>
            <a:off x="8780811" y="508652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71" name="TextBox 70">
            <a:extLst>
              <a:ext uri="{FF2B5EF4-FFF2-40B4-BE49-F238E27FC236}">
                <a16:creationId xmlns:a16="http://schemas.microsoft.com/office/drawing/2014/main" id="{36E34328-57EA-4A84-AA13-82D35A3F606C}"/>
              </a:ext>
            </a:extLst>
          </p:cNvPr>
          <p:cNvSpPr txBox="1"/>
          <p:nvPr/>
        </p:nvSpPr>
        <p:spPr>
          <a:xfrm>
            <a:off x="6078663" y="5086529"/>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72" name="TextBox 71">
            <a:extLst>
              <a:ext uri="{FF2B5EF4-FFF2-40B4-BE49-F238E27FC236}">
                <a16:creationId xmlns:a16="http://schemas.microsoft.com/office/drawing/2014/main" id="{0EA4BF7B-F3F7-4272-8016-977CAA9C424D}"/>
              </a:ext>
            </a:extLst>
          </p:cNvPr>
          <p:cNvSpPr txBox="1"/>
          <p:nvPr/>
        </p:nvSpPr>
        <p:spPr>
          <a:xfrm>
            <a:off x="1303387" y="510306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73" name="TextBox 72">
            <a:extLst>
              <a:ext uri="{FF2B5EF4-FFF2-40B4-BE49-F238E27FC236}">
                <a16:creationId xmlns:a16="http://schemas.microsoft.com/office/drawing/2014/main" id="{6EAC5E44-5162-4A8D-B901-CE3853CEAD21}"/>
              </a:ext>
            </a:extLst>
          </p:cNvPr>
          <p:cNvSpPr txBox="1"/>
          <p:nvPr/>
        </p:nvSpPr>
        <p:spPr>
          <a:xfrm>
            <a:off x="9427286" y="5534578"/>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74" name="TextBox 73">
            <a:extLst>
              <a:ext uri="{FF2B5EF4-FFF2-40B4-BE49-F238E27FC236}">
                <a16:creationId xmlns:a16="http://schemas.microsoft.com/office/drawing/2014/main" id="{06CF4AA2-00D4-4384-AD63-44251E1AC9A7}"/>
              </a:ext>
            </a:extLst>
          </p:cNvPr>
          <p:cNvSpPr txBox="1"/>
          <p:nvPr/>
        </p:nvSpPr>
        <p:spPr>
          <a:xfrm>
            <a:off x="6721768" y="5476745"/>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75" name="TextBox 74">
            <a:extLst>
              <a:ext uri="{FF2B5EF4-FFF2-40B4-BE49-F238E27FC236}">
                <a16:creationId xmlns:a16="http://schemas.microsoft.com/office/drawing/2014/main" id="{D88998F6-A178-40B0-A84A-521B343261D8}"/>
              </a:ext>
            </a:extLst>
          </p:cNvPr>
          <p:cNvSpPr txBox="1"/>
          <p:nvPr/>
        </p:nvSpPr>
        <p:spPr>
          <a:xfrm>
            <a:off x="2968787" y="5497395"/>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76" name="TextBox 75">
            <a:extLst>
              <a:ext uri="{FF2B5EF4-FFF2-40B4-BE49-F238E27FC236}">
                <a16:creationId xmlns:a16="http://schemas.microsoft.com/office/drawing/2014/main" id="{946CDB01-6F89-4EFF-8AC6-5EB96BD7D36C}"/>
              </a:ext>
            </a:extLst>
          </p:cNvPr>
          <p:cNvSpPr txBox="1"/>
          <p:nvPr/>
        </p:nvSpPr>
        <p:spPr>
          <a:xfrm>
            <a:off x="6371109" y="5082449"/>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77" name="TextBox 76">
            <a:extLst>
              <a:ext uri="{FF2B5EF4-FFF2-40B4-BE49-F238E27FC236}">
                <a16:creationId xmlns:a16="http://schemas.microsoft.com/office/drawing/2014/main" id="{99296B3F-ED3D-4AB3-B925-0FD4F1687485}"/>
              </a:ext>
            </a:extLst>
          </p:cNvPr>
          <p:cNvSpPr txBox="1"/>
          <p:nvPr/>
        </p:nvSpPr>
        <p:spPr>
          <a:xfrm>
            <a:off x="30664" y="2156593"/>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256 sets</a:t>
            </a:r>
          </a:p>
        </p:txBody>
      </p:sp>
      <p:sp>
        <p:nvSpPr>
          <p:cNvPr id="78" name="TextBox 77">
            <a:extLst>
              <a:ext uri="{FF2B5EF4-FFF2-40B4-BE49-F238E27FC236}">
                <a16:creationId xmlns:a16="http://schemas.microsoft.com/office/drawing/2014/main" id="{5E5A514D-790E-4082-9A5F-76735D05D40B}"/>
              </a:ext>
            </a:extLst>
          </p:cNvPr>
          <p:cNvSpPr txBox="1"/>
          <p:nvPr/>
        </p:nvSpPr>
        <p:spPr>
          <a:xfrm>
            <a:off x="185665" y="3234913"/>
            <a:ext cx="684803" cy="369332"/>
          </a:xfrm>
          <a:prstGeom prst="rect">
            <a:avLst/>
          </a:prstGeom>
          <a:noFill/>
        </p:spPr>
        <p:txBody>
          <a:bodyPr wrap="none" rtlCol="0" anchor="ctr" anchorCtr="1">
            <a:spAutoFit/>
          </a:bodyPr>
          <a:lstStyle/>
          <a:p>
            <a:r>
              <a:rPr lang="en-US" dirty="0">
                <a:ea typeface="標楷體" pitchFamily="65" charset="-120"/>
                <a:cs typeface="Calibri" pitchFamily="34" charset="0"/>
              </a:rPr>
              <a:t>1 set</a:t>
            </a:r>
          </a:p>
        </p:txBody>
      </p:sp>
      <p:sp>
        <p:nvSpPr>
          <p:cNvPr id="79" name="TextBox 78">
            <a:extLst>
              <a:ext uri="{FF2B5EF4-FFF2-40B4-BE49-F238E27FC236}">
                <a16:creationId xmlns:a16="http://schemas.microsoft.com/office/drawing/2014/main" id="{AEAE561D-BC32-4352-8C60-831290C722F6}"/>
              </a:ext>
            </a:extLst>
          </p:cNvPr>
          <p:cNvSpPr txBox="1"/>
          <p:nvPr/>
        </p:nvSpPr>
        <p:spPr>
          <a:xfrm>
            <a:off x="114246" y="4332400"/>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128 sets</a:t>
            </a:r>
          </a:p>
        </p:txBody>
      </p:sp>
      <p:sp>
        <p:nvSpPr>
          <p:cNvPr id="80" name="TextBox 79">
            <a:extLst>
              <a:ext uri="{FF2B5EF4-FFF2-40B4-BE49-F238E27FC236}">
                <a16:creationId xmlns:a16="http://schemas.microsoft.com/office/drawing/2014/main" id="{7071DC5A-389D-48D8-AD31-93A12B7BEA91}"/>
              </a:ext>
            </a:extLst>
          </p:cNvPr>
          <p:cNvSpPr txBox="1"/>
          <p:nvPr/>
        </p:nvSpPr>
        <p:spPr>
          <a:xfrm>
            <a:off x="263252" y="5448598"/>
            <a:ext cx="928459" cy="369332"/>
          </a:xfrm>
          <a:prstGeom prst="rect">
            <a:avLst/>
          </a:prstGeom>
          <a:noFill/>
        </p:spPr>
        <p:txBody>
          <a:bodyPr wrap="none" rtlCol="0" anchor="ctr" anchorCtr="1">
            <a:spAutoFit/>
          </a:bodyPr>
          <a:lstStyle/>
          <a:p>
            <a:r>
              <a:rPr lang="en-US" dirty="0">
                <a:ea typeface="標楷體" pitchFamily="65" charset="-120"/>
                <a:cs typeface="Calibri" pitchFamily="34" charset="0"/>
              </a:rPr>
              <a:t>64 sets</a:t>
            </a:r>
          </a:p>
        </p:txBody>
      </p:sp>
      <p:sp>
        <p:nvSpPr>
          <p:cNvPr id="81" name="TextBox 80">
            <a:extLst>
              <a:ext uri="{FF2B5EF4-FFF2-40B4-BE49-F238E27FC236}">
                <a16:creationId xmlns:a16="http://schemas.microsoft.com/office/drawing/2014/main" id="{79ED3834-FF90-4250-8B3D-21E5C7F6D9E6}"/>
              </a:ext>
            </a:extLst>
          </p:cNvPr>
          <p:cNvSpPr txBox="1"/>
          <p:nvPr/>
        </p:nvSpPr>
        <p:spPr>
          <a:xfrm>
            <a:off x="8995997" y="509097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82" name="TextBox 81">
            <a:extLst>
              <a:ext uri="{FF2B5EF4-FFF2-40B4-BE49-F238E27FC236}">
                <a16:creationId xmlns:a16="http://schemas.microsoft.com/office/drawing/2014/main" id="{17E17A34-073E-4325-A37A-A3DD7EF73BD7}"/>
              </a:ext>
            </a:extLst>
          </p:cNvPr>
          <p:cNvSpPr txBox="1"/>
          <p:nvPr/>
        </p:nvSpPr>
        <p:spPr>
          <a:xfrm>
            <a:off x="10842901" y="2883025"/>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3" name="TextBox 82">
            <a:extLst>
              <a:ext uri="{FF2B5EF4-FFF2-40B4-BE49-F238E27FC236}">
                <a16:creationId xmlns:a16="http://schemas.microsoft.com/office/drawing/2014/main" id="{441B56B9-E1C8-4DAA-A0D5-BE23F136BE2D}"/>
              </a:ext>
            </a:extLst>
          </p:cNvPr>
          <p:cNvSpPr txBox="1"/>
          <p:nvPr/>
        </p:nvSpPr>
        <p:spPr>
          <a:xfrm>
            <a:off x="10922938" y="514085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4" name="TextBox 83">
            <a:extLst>
              <a:ext uri="{FF2B5EF4-FFF2-40B4-BE49-F238E27FC236}">
                <a16:creationId xmlns:a16="http://schemas.microsoft.com/office/drawing/2014/main" id="{473A3256-50E9-4CEE-B992-5947B6F19567}"/>
              </a:ext>
            </a:extLst>
          </p:cNvPr>
          <p:cNvSpPr txBox="1"/>
          <p:nvPr/>
        </p:nvSpPr>
        <p:spPr>
          <a:xfrm>
            <a:off x="8981639" y="286113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Tree>
    <p:extLst>
      <p:ext uri="{BB962C8B-B14F-4D97-AF65-F5344CB8AC3E}">
        <p14:creationId xmlns:p14="http://schemas.microsoft.com/office/powerpoint/2010/main" val="23736567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22F2-8EE6-4785-9A62-A7CF2628E5B4}"/>
              </a:ext>
            </a:extLst>
          </p:cNvPr>
          <p:cNvSpPr>
            <a:spLocks noGrp="1"/>
          </p:cNvSpPr>
          <p:nvPr>
            <p:ph type="title"/>
          </p:nvPr>
        </p:nvSpPr>
        <p:spPr>
          <a:xfrm>
            <a:off x="1049867" y="144466"/>
            <a:ext cx="10808150" cy="692151"/>
          </a:xfrm>
        </p:spPr>
        <p:txBody>
          <a:bodyPr/>
          <a:lstStyle/>
          <a:p>
            <a:r>
              <a:rPr lang="en-US" sz="4000" dirty="0"/>
              <a:t>Address Subdivision for Set Associative Caches (2)</a:t>
            </a:r>
          </a:p>
        </p:txBody>
      </p:sp>
      <p:sp>
        <p:nvSpPr>
          <p:cNvPr id="3" name="Slide Number Placeholder 2">
            <a:extLst>
              <a:ext uri="{FF2B5EF4-FFF2-40B4-BE49-F238E27FC236}">
                <a16:creationId xmlns:a16="http://schemas.microsoft.com/office/drawing/2014/main" id="{DF7AF588-49BA-4BE3-8063-328F7F7CD6F5}"/>
              </a:ext>
            </a:extLst>
          </p:cNvPr>
          <p:cNvSpPr>
            <a:spLocks noGrp="1"/>
          </p:cNvSpPr>
          <p:nvPr>
            <p:ph type="sldNum" sz="quarter" idx="10"/>
          </p:nvPr>
        </p:nvSpPr>
        <p:spPr/>
        <p:txBody>
          <a:bodyPr/>
          <a:lstStyle/>
          <a:p>
            <a:fld id="{D9B6BDF2-6896-4B98-8776-C18582F63BA5}" type="slidenum">
              <a:rPr lang="zh-TW" altLang="en-US" smtClean="0"/>
              <a:pPr/>
              <a:t>51</a:t>
            </a:fld>
            <a:endParaRPr lang="zh-TW" altLang="en-US"/>
          </a:p>
        </p:txBody>
      </p:sp>
      <p:sp>
        <p:nvSpPr>
          <p:cNvPr id="4" name="Rectangle 3">
            <a:extLst>
              <a:ext uri="{FF2B5EF4-FFF2-40B4-BE49-F238E27FC236}">
                <a16:creationId xmlns:a16="http://schemas.microsoft.com/office/drawing/2014/main" id="{A7B32AC6-2C43-4D70-B0F2-C08DC71CCFFF}"/>
              </a:ext>
            </a:extLst>
          </p:cNvPr>
          <p:cNvSpPr/>
          <p:nvPr/>
        </p:nvSpPr>
        <p:spPr bwMode="auto">
          <a:xfrm>
            <a:off x="1379654" y="2164172"/>
            <a:ext cx="442856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Rectangle 4">
            <a:extLst>
              <a:ext uri="{FF2B5EF4-FFF2-40B4-BE49-F238E27FC236}">
                <a16:creationId xmlns:a16="http://schemas.microsoft.com/office/drawing/2014/main" id="{2DBBF428-A1E6-470E-9F61-8C9886AB28B6}"/>
              </a:ext>
            </a:extLst>
          </p:cNvPr>
          <p:cNvSpPr/>
          <p:nvPr/>
        </p:nvSpPr>
        <p:spPr bwMode="auto">
          <a:xfrm>
            <a:off x="5808219" y="2164172"/>
            <a:ext cx="323625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Rectangle 5">
            <a:extLst>
              <a:ext uri="{FF2B5EF4-FFF2-40B4-BE49-F238E27FC236}">
                <a16:creationId xmlns:a16="http://schemas.microsoft.com/office/drawing/2014/main" id="{0BFBE788-4D1F-429C-B42A-5F54AF8C6ADA}"/>
              </a:ext>
            </a:extLst>
          </p:cNvPr>
          <p:cNvSpPr/>
          <p:nvPr/>
        </p:nvSpPr>
        <p:spPr bwMode="auto">
          <a:xfrm>
            <a:off x="9044478" y="216417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CB16C9E1-4EF4-4145-AF77-72BDB0344F35}"/>
              </a:ext>
            </a:extLst>
          </p:cNvPr>
          <p:cNvSpPr txBox="1"/>
          <p:nvPr/>
        </p:nvSpPr>
        <p:spPr>
          <a:xfrm>
            <a:off x="10838278"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 name="TextBox 7">
            <a:extLst>
              <a:ext uri="{FF2B5EF4-FFF2-40B4-BE49-F238E27FC236}">
                <a16:creationId xmlns:a16="http://schemas.microsoft.com/office/drawing/2014/main" id="{873424D3-BD5D-497C-B878-716380B3786B}"/>
              </a:ext>
            </a:extLst>
          </p:cNvPr>
          <p:cNvSpPr txBox="1"/>
          <p:nvPr/>
        </p:nvSpPr>
        <p:spPr>
          <a:xfrm>
            <a:off x="8946725"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9" name="TextBox 8">
            <a:extLst>
              <a:ext uri="{FF2B5EF4-FFF2-40B4-BE49-F238E27FC236}">
                <a16:creationId xmlns:a16="http://schemas.microsoft.com/office/drawing/2014/main" id="{0E26A2AA-A524-4A7C-A640-0A4380985678}"/>
              </a:ext>
            </a:extLst>
          </p:cNvPr>
          <p:cNvSpPr txBox="1"/>
          <p:nvPr/>
        </p:nvSpPr>
        <p:spPr>
          <a:xfrm>
            <a:off x="8731572" y="180999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10" name="TextBox 9">
            <a:extLst>
              <a:ext uri="{FF2B5EF4-FFF2-40B4-BE49-F238E27FC236}">
                <a16:creationId xmlns:a16="http://schemas.microsoft.com/office/drawing/2014/main" id="{07FCD820-DA37-42F2-8CE6-BEEDFFAB8E69}"/>
              </a:ext>
            </a:extLst>
          </p:cNvPr>
          <p:cNvSpPr txBox="1"/>
          <p:nvPr/>
        </p:nvSpPr>
        <p:spPr>
          <a:xfrm>
            <a:off x="5728396" y="180999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11" name="TextBox 10">
            <a:extLst>
              <a:ext uri="{FF2B5EF4-FFF2-40B4-BE49-F238E27FC236}">
                <a16:creationId xmlns:a16="http://schemas.microsoft.com/office/drawing/2014/main" id="{5F622DE5-2C65-4C05-8689-47DD3C084A43}"/>
              </a:ext>
            </a:extLst>
          </p:cNvPr>
          <p:cNvSpPr txBox="1"/>
          <p:nvPr/>
        </p:nvSpPr>
        <p:spPr>
          <a:xfrm>
            <a:off x="5443703" y="1826528"/>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12" name="TextBox 11">
            <a:extLst>
              <a:ext uri="{FF2B5EF4-FFF2-40B4-BE49-F238E27FC236}">
                <a16:creationId xmlns:a16="http://schemas.microsoft.com/office/drawing/2014/main" id="{80634063-AA43-411B-BAFE-0A913892A17A}"/>
              </a:ext>
            </a:extLst>
          </p:cNvPr>
          <p:cNvSpPr txBox="1"/>
          <p:nvPr/>
        </p:nvSpPr>
        <p:spPr>
          <a:xfrm>
            <a:off x="1254148"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3" name="TextBox 12">
            <a:extLst>
              <a:ext uri="{FF2B5EF4-FFF2-40B4-BE49-F238E27FC236}">
                <a16:creationId xmlns:a16="http://schemas.microsoft.com/office/drawing/2014/main" id="{0284C7D5-7358-4B2D-932D-602DA3E21E33}"/>
              </a:ext>
            </a:extLst>
          </p:cNvPr>
          <p:cNvSpPr txBox="1"/>
          <p:nvPr/>
        </p:nvSpPr>
        <p:spPr>
          <a:xfrm>
            <a:off x="9378047" y="225804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14" name="TextBox 13">
            <a:extLst>
              <a:ext uri="{FF2B5EF4-FFF2-40B4-BE49-F238E27FC236}">
                <a16:creationId xmlns:a16="http://schemas.microsoft.com/office/drawing/2014/main" id="{60395B04-3514-4B27-9144-105A5561109B}"/>
              </a:ext>
            </a:extLst>
          </p:cNvPr>
          <p:cNvSpPr txBox="1"/>
          <p:nvPr/>
        </p:nvSpPr>
        <p:spPr>
          <a:xfrm>
            <a:off x="6672529" y="220021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15" name="TextBox 14">
            <a:extLst>
              <a:ext uri="{FF2B5EF4-FFF2-40B4-BE49-F238E27FC236}">
                <a16:creationId xmlns:a16="http://schemas.microsoft.com/office/drawing/2014/main" id="{595145BD-0E2A-4AC7-842C-962D429D2453}"/>
              </a:ext>
            </a:extLst>
          </p:cNvPr>
          <p:cNvSpPr txBox="1"/>
          <p:nvPr/>
        </p:nvSpPr>
        <p:spPr>
          <a:xfrm>
            <a:off x="2919548" y="222086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41" name="Content Placeholder 5">
            <a:extLst>
              <a:ext uri="{FF2B5EF4-FFF2-40B4-BE49-F238E27FC236}">
                <a16:creationId xmlns:a16="http://schemas.microsoft.com/office/drawing/2014/main" id="{44DC79D3-FD9E-4188-B3BA-D6F9607ED865}"/>
              </a:ext>
            </a:extLst>
          </p:cNvPr>
          <p:cNvSpPr txBox="1">
            <a:spLocks/>
          </p:cNvSpPr>
          <p:nvPr/>
        </p:nvSpPr>
        <p:spPr>
          <a:xfrm>
            <a:off x="613602" y="1026218"/>
            <a:ext cx="10972800" cy="508478"/>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667" kern="0" dirty="0"/>
              <a:t>Assume a </a:t>
            </a:r>
            <a:r>
              <a:rPr lang="en-US" sz="2800" kern="0" dirty="0">
                <a:solidFill>
                  <a:srgbClr val="FF0000"/>
                </a:solidFill>
              </a:rPr>
              <a:t>64KB</a:t>
            </a:r>
            <a:r>
              <a:rPr lang="en-US" sz="2667" kern="0" dirty="0"/>
              <a:t> cache, line (block) size is </a:t>
            </a:r>
            <a:r>
              <a:rPr lang="en-US" sz="2667" kern="0" dirty="0">
                <a:solidFill>
                  <a:srgbClr val="FF0000"/>
                </a:solidFill>
              </a:rPr>
              <a:t>128 B</a:t>
            </a:r>
            <a:r>
              <a:rPr lang="en-US" sz="2667" kern="0" dirty="0"/>
              <a:t>.</a:t>
            </a:r>
          </a:p>
          <a:p>
            <a:r>
              <a:rPr lang="en-US" sz="2200" kern="0" dirty="0"/>
              <a:t>Case 1: direct mapped</a:t>
            </a:r>
          </a:p>
          <a:p>
            <a:pPr marL="0" indent="0">
              <a:buNone/>
            </a:pPr>
            <a:endParaRPr lang="en-US" sz="2200" kern="0" dirty="0"/>
          </a:p>
          <a:p>
            <a:pPr marL="0" indent="0">
              <a:buNone/>
            </a:pPr>
            <a:endParaRPr lang="en-US" sz="2200" kern="0" dirty="0"/>
          </a:p>
        </p:txBody>
      </p:sp>
      <p:sp>
        <p:nvSpPr>
          <p:cNvPr id="42" name="Content Placeholder 5">
            <a:extLst>
              <a:ext uri="{FF2B5EF4-FFF2-40B4-BE49-F238E27FC236}">
                <a16:creationId xmlns:a16="http://schemas.microsoft.com/office/drawing/2014/main" id="{91328DB2-4452-4489-9289-2620D97DA9F3}"/>
              </a:ext>
            </a:extLst>
          </p:cNvPr>
          <p:cNvSpPr txBox="1">
            <a:spLocks/>
          </p:cNvSpPr>
          <p:nvPr/>
        </p:nvSpPr>
        <p:spPr>
          <a:xfrm>
            <a:off x="683142" y="2597165"/>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2: Fully associative</a:t>
            </a:r>
          </a:p>
          <a:p>
            <a:endParaRPr lang="en-US" sz="2200" kern="0" dirty="0"/>
          </a:p>
          <a:p>
            <a:pPr marL="0" indent="0">
              <a:buNone/>
            </a:pPr>
            <a:endParaRPr lang="en-US" sz="2200" kern="0" dirty="0"/>
          </a:p>
        </p:txBody>
      </p:sp>
      <p:sp>
        <p:nvSpPr>
          <p:cNvPr id="43" name="Rectangle 42">
            <a:extLst>
              <a:ext uri="{FF2B5EF4-FFF2-40B4-BE49-F238E27FC236}">
                <a16:creationId xmlns:a16="http://schemas.microsoft.com/office/drawing/2014/main" id="{06D29048-10AA-42B5-B7E5-A0184EA19E78}"/>
              </a:ext>
            </a:extLst>
          </p:cNvPr>
          <p:cNvSpPr/>
          <p:nvPr/>
        </p:nvSpPr>
        <p:spPr bwMode="auto">
          <a:xfrm>
            <a:off x="1379654" y="3217961"/>
            <a:ext cx="7664824"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5" name="Rectangle 44">
            <a:extLst>
              <a:ext uri="{FF2B5EF4-FFF2-40B4-BE49-F238E27FC236}">
                <a16:creationId xmlns:a16="http://schemas.microsoft.com/office/drawing/2014/main" id="{5DCA60ED-8C15-460E-BDFF-78A6DC43B4CE}"/>
              </a:ext>
            </a:extLst>
          </p:cNvPr>
          <p:cNvSpPr/>
          <p:nvPr/>
        </p:nvSpPr>
        <p:spPr bwMode="auto">
          <a:xfrm>
            <a:off x="9044478" y="3217961"/>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6" name="TextBox 45">
            <a:extLst>
              <a:ext uri="{FF2B5EF4-FFF2-40B4-BE49-F238E27FC236}">
                <a16:creationId xmlns:a16="http://schemas.microsoft.com/office/drawing/2014/main" id="{3F8B2C32-3F90-40D2-8AC3-B09482976C7B}"/>
              </a:ext>
            </a:extLst>
          </p:cNvPr>
          <p:cNvSpPr txBox="1"/>
          <p:nvPr/>
        </p:nvSpPr>
        <p:spPr>
          <a:xfrm>
            <a:off x="8731572" y="286378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49" name="TextBox 48">
            <a:extLst>
              <a:ext uri="{FF2B5EF4-FFF2-40B4-BE49-F238E27FC236}">
                <a16:creationId xmlns:a16="http://schemas.microsoft.com/office/drawing/2014/main" id="{093B010A-EBF9-412B-B14D-4270C9108693}"/>
              </a:ext>
            </a:extLst>
          </p:cNvPr>
          <p:cNvSpPr txBox="1"/>
          <p:nvPr/>
        </p:nvSpPr>
        <p:spPr>
          <a:xfrm>
            <a:off x="1254148" y="28803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50" name="TextBox 49">
            <a:extLst>
              <a:ext uri="{FF2B5EF4-FFF2-40B4-BE49-F238E27FC236}">
                <a16:creationId xmlns:a16="http://schemas.microsoft.com/office/drawing/2014/main" id="{B091B137-167A-4067-B2DF-B814354D2B07}"/>
              </a:ext>
            </a:extLst>
          </p:cNvPr>
          <p:cNvSpPr txBox="1"/>
          <p:nvPr/>
        </p:nvSpPr>
        <p:spPr>
          <a:xfrm>
            <a:off x="9378047" y="3311832"/>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52" name="TextBox 51">
            <a:extLst>
              <a:ext uri="{FF2B5EF4-FFF2-40B4-BE49-F238E27FC236}">
                <a16:creationId xmlns:a16="http://schemas.microsoft.com/office/drawing/2014/main" id="{871495E1-4AC9-4B4E-A249-E4579EF0D24C}"/>
              </a:ext>
            </a:extLst>
          </p:cNvPr>
          <p:cNvSpPr txBox="1"/>
          <p:nvPr/>
        </p:nvSpPr>
        <p:spPr>
          <a:xfrm>
            <a:off x="2919548" y="3274649"/>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53" name="Content Placeholder 5">
            <a:extLst>
              <a:ext uri="{FF2B5EF4-FFF2-40B4-BE49-F238E27FC236}">
                <a16:creationId xmlns:a16="http://schemas.microsoft.com/office/drawing/2014/main" id="{A748E733-5D87-4B39-ABB0-44AF7A4226F6}"/>
              </a:ext>
            </a:extLst>
          </p:cNvPr>
          <p:cNvSpPr txBox="1">
            <a:spLocks/>
          </p:cNvSpPr>
          <p:nvPr/>
        </p:nvSpPr>
        <p:spPr>
          <a:xfrm>
            <a:off x="767449" y="3665103"/>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3: Two-way set associative</a:t>
            </a:r>
          </a:p>
          <a:p>
            <a:endParaRPr lang="en-US" sz="2200" kern="0" dirty="0"/>
          </a:p>
          <a:p>
            <a:pPr marL="0" indent="0">
              <a:buNone/>
            </a:pPr>
            <a:endParaRPr lang="en-US" sz="2200" kern="0" dirty="0"/>
          </a:p>
        </p:txBody>
      </p:sp>
      <p:sp>
        <p:nvSpPr>
          <p:cNvPr id="54" name="Rectangle 53">
            <a:extLst>
              <a:ext uri="{FF2B5EF4-FFF2-40B4-BE49-F238E27FC236}">
                <a16:creationId xmlns:a16="http://schemas.microsoft.com/office/drawing/2014/main" id="{8A01465A-3507-4205-9AD0-C324977C1F97}"/>
              </a:ext>
            </a:extLst>
          </p:cNvPr>
          <p:cNvSpPr/>
          <p:nvPr/>
        </p:nvSpPr>
        <p:spPr bwMode="auto">
          <a:xfrm>
            <a:off x="1379654" y="4298402"/>
            <a:ext cx="471234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5" name="Rectangle 54">
            <a:extLst>
              <a:ext uri="{FF2B5EF4-FFF2-40B4-BE49-F238E27FC236}">
                <a16:creationId xmlns:a16="http://schemas.microsoft.com/office/drawing/2014/main" id="{5258AA2A-0602-4A4E-91DD-0DE784A5AEA1}"/>
              </a:ext>
            </a:extLst>
          </p:cNvPr>
          <p:cNvSpPr/>
          <p:nvPr/>
        </p:nvSpPr>
        <p:spPr bwMode="auto">
          <a:xfrm>
            <a:off x="6100002" y="4298402"/>
            <a:ext cx="2944476"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Rectangle 55">
            <a:extLst>
              <a:ext uri="{FF2B5EF4-FFF2-40B4-BE49-F238E27FC236}">
                <a16:creationId xmlns:a16="http://schemas.microsoft.com/office/drawing/2014/main" id="{ABA0C0B8-8344-448B-98D1-0D2EF2F6E564}"/>
              </a:ext>
            </a:extLst>
          </p:cNvPr>
          <p:cNvSpPr/>
          <p:nvPr/>
        </p:nvSpPr>
        <p:spPr bwMode="auto">
          <a:xfrm>
            <a:off x="9044478" y="429840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7" name="TextBox 56">
            <a:extLst>
              <a:ext uri="{FF2B5EF4-FFF2-40B4-BE49-F238E27FC236}">
                <a16:creationId xmlns:a16="http://schemas.microsoft.com/office/drawing/2014/main" id="{AFDA3E41-92DC-4DAB-A03E-B9DBD46CE73C}"/>
              </a:ext>
            </a:extLst>
          </p:cNvPr>
          <p:cNvSpPr txBox="1"/>
          <p:nvPr/>
        </p:nvSpPr>
        <p:spPr>
          <a:xfrm>
            <a:off x="10838278"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58" name="TextBox 57">
            <a:extLst>
              <a:ext uri="{FF2B5EF4-FFF2-40B4-BE49-F238E27FC236}">
                <a16:creationId xmlns:a16="http://schemas.microsoft.com/office/drawing/2014/main" id="{3156518D-2FE6-4ABA-AF63-08C0E3ADF54F}"/>
              </a:ext>
            </a:extLst>
          </p:cNvPr>
          <p:cNvSpPr txBox="1"/>
          <p:nvPr/>
        </p:nvSpPr>
        <p:spPr>
          <a:xfrm>
            <a:off x="8946725"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59" name="TextBox 58">
            <a:extLst>
              <a:ext uri="{FF2B5EF4-FFF2-40B4-BE49-F238E27FC236}">
                <a16:creationId xmlns:a16="http://schemas.microsoft.com/office/drawing/2014/main" id="{BCC3B78E-2053-4FC8-A22E-1B554F614E2B}"/>
              </a:ext>
            </a:extLst>
          </p:cNvPr>
          <p:cNvSpPr txBox="1"/>
          <p:nvPr/>
        </p:nvSpPr>
        <p:spPr>
          <a:xfrm>
            <a:off x="8731572" y="394422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60" name="TextBox 59">
            <a:extLst>
              <a:ext uri="{FF2B5EF4-FFF2-40B4-BE49-F238E27FC236}">
                <a16:creationId xmlns:a16="http://schemas.microsoft.com/office/drawing/2014/main" id="{17BE93BF-91CC-4954-B48F-0A2E2A45B041}"/>
              </a:ext>
            </a:extLst>
          </p:cNvPr>
          <p:cNvSpPr txBox="1"/>
          <p:nvPr/>
        </p:nvSpPr>
        <p:spPr>
          <a:xfrm>
            <a:off x="5803313" y="3937507"/>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61" name="TextBox 60">
            <a:extLst>
              <a:ext uri="{FF2B5EF4-FFF2-40B4-BE49-F238E27FC236}">
                <a16:creationId xmlns:a16="http://schemas.microsoft.com/office/drawing/2014/main" id="{68EDF19D-9F8B-4E58-8ABD-E7CC22891306}"/>
              </a:ext>
            </a:extLst>
          </p:cNvPr>
          <p:cNvSpPr txBox="1"/>
          <p:nvPr/>
        </p:nvSpPr>
        <p:spPr>
          <a:xfrm>
            <a:off x="6012796"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62" name="TextBox 61">
            <a:extLst>
              <a:ext uri="{FF2B5EF4-FFF2-40B4-BE49-F238E27FC236}">
                <a16:creationId xmlns:a16="http://schemas.microsoft.com/office/drawing/2014/main" id="{2FE1CEA6-65AE-4AE5-946A-E2C8DF15D391}"/>
              </a:ext>
            </a:extLst>
          </p:cNvPr>
          <p:cNvSpPr txBox="1"/>
          <p:nvPr/>
        </p:nvSpPr>
        <p:spPr>
          <a:xfrm>
            <a:off x="1254148" y="396075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63" name="TextBox 62">
            <a:extLst>
              <a:ext uri="{FF2B5EF4-FFF2-40B4-BE49-F238E27FC236}">
                <a16:creationId xmlns:a16="http://schemas.microsoft.com/office/drawing/2014/main" id="{4FB11EAD-7E91-4828-9AAF-D886B6CAEB5E}"/>
              </a:ext>
            </a:extLst>
          </p:cNvPr>
          <p:cNvSpPr txBox="1"/>
          <p:nvPr/>
        </p:nvSpPr>
        <p:spPr>
          <a:xfrm>
            <a:off x="9378047" y="439227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64" name="TextBox 63">
            <a:extLst>
              <a:ext uri="{FF2B5EF4-FFF2-40B4-BE49-F238E27FC236}">
                <a16:creationId xmlns:a16="http://schemas.microsoft.com/office/drawing/2014/main" id="{13B831A5-F09B-4A50-8CB6-D37560F69A4D}"/>
              </a:ext>
            </a:extLst>
          </p:cNvPr>
          <p:cNvSpPr txBox="1"/>
          <p:nvPr/>
        </p:nvSpPr>
        <p:spPr>
          <a:xfrm>
            <a:off x="6672529" y="433444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65" name="TextBox 64">
            <a:extLst>
              <a:ext uri="{FF2B5EF4-FFF2-40B4-BE49-F238E27FC236}">
                <a16:creationId xmlns:a16="http://schemas.microsoft.com/office/drawing/2014/main" id="{8A8ED754-AC80-45FC-902F-FE66BA11B6FC}"/>
              </a:ext>
            </a:extLst>
          </p:cNvPr>
          <p:cNvSpPr txBox="1"/>
          <p:nvPr/>
        </p:nvSpPr>
        <p:spPr>
          <a:xfrm>
            <a:off x="2919548" y="435509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66" name="Content Placeholder 5">
            <a:extLst>
              <a:ext uri="{FF2B5EF4-FFF2-40B4-BE49-F238E27FC236}">
                <a16:creationId xmlns:a16="http://schemas.microsoft.com/office/drawing/2014/main" id="{D1FC9DE1-73D3-439E-82B2-7D604C62F03E}"/>
              </a:ext>
            </a:extLst>
          </p:cNvPr>
          <p:cNvSpPr txBox="1">
            <a:spLocks/>
          </p:cNvSpPr>
          <p:nvPr/>
        </p:nvSpPr>
        <p:spPr>
          <a:xfrm>
            <a:off x="823065" y="4753017"/>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4: Four-way set associative</a:t>
            </a:r>
          </a:p>
          <a:p>
            <a:endParaRPr lang="en-US" sz="2200" kern="0" dirty="0"/>
          </a:p>
          <a:p>
            <a:pPr marL="0" indent="0">
              <a:buNone/>
            </a:pPr>
            <a:endParaRPr lang="en-US" sz="2200" kern="0" dirty="0"/>
          </a:p>
        </p:txBody>
      </p:sp>
      <p:sp>
        <p:nvSpPr>
          <p:cNvPr id="67" name="Rectangle 66">
            <a:extLst>
              <a:ext uri="{FF2B5EF4-FFF2-40B4-BE49-F238E27FC236}">
                <a16:creationId xmlns:a16="http://schemas.microsoft.com/office/drawing/2014/main" id="{697A61A0-962B-413B-A7BD-F9DD8A0FAA05}"/>
              </a:ext>
            </a:extLst>
          </p:cNvPr>
          <p:cNvSpPr/>
          <p:nvPr/>
        </p:nvSpPr>
        <p:spPr bwMode="auto">
          <a:xfrm>
            <a:off x="1428893" y="5440707"/>
            <a:ext cx="502504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8" name="Rectangle 67">
            <a:extLst>
              <a:ext uri="{FF2B5EF4-FFF2-40B4-BE49-F238E27FC236}">
                <a16:creationId xmlns:a16="http://schemas.microsoft.com/office/drawing/2014/main" id="{F8328E39-6F95-4CE0-858D-AC7A3FF99496}"/>
              </a:ext>
            </a:extLst>
          </p:cNvPr>
          <p:cNvSpPr/>
          <p:nvPr/>
        </p:nvSpPr>
        <p:spPr bwMode="auto">
          <a:xfrm>
            <a:off x="6453941" y="5440707"/>
            <a:ext cx="263977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9" name="Rectangle 68">
            <a:extLst>
              <a:ext uri="{FF2B5EF4-FFF2-40B4-BE49-F238E27FC236}">
                <a16:creationId xmlns:a16="http://schemas.microsoft.com/office/drawing/2014/main" id="{6783D0C7-C7F3-4E88-8317-A5D659444494}"/>
              </a:ext>
            </a:extLst>
          </p:cNvPr>
          <p:cNvSpPr/>
          <p:nvPr/>
        </p:nvSpPr>
        <p:spPr bwMode="auto">
          <a:xfrm>
            <a:off x="9093717" y="5440707"/>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0" name="TextBox 69">
            <a:extLst>
              <a:ext uri="{FF2B5EF4-FFF2-40B4-BE49-F238E27FC236}">
                <a16:creationId xmlns:a16="http://schemas.microsoft.com/office/drawing/2014/main" id="{D9A192FA-BEE5-404C-8BCA-2F950F5793D9}"/>
              </a:ext>
            </a:extLst>
          </p:cNvPr>
          <p:cNvSpPr txBox="1"/>
          <p:nvPr/>
        </p:nvSpPr>
        <p:spPr>
          <a:xfrm>
            <a:off x="8780811" y="508652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71" name="TextBox 70">
            <a:extLst>
              <a:ext uri="{FF2B5EF4-FFF2-40B4-BE49-F238E27FC236}">
                <a16:creationId xmlns:a16="http://schemas.microsoft.com/office/drawing/2014/main" id="{36E34328-57EA-4A84-AA13-82D35A3F606C}"/>
              </a:ext>
            </a:extLst>
          </p:cNvPr>
          <p:cNvSpPr txBox="1"/>
          <p:nvPr/>
        </p:nvSpPr>
        <p:spPr>
          <a:xfrm>
            <a:off x="6167648" y="510700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72" name="TextBox 71">
            <a:extLst>
              <a:ext uri="{FF2B5EF4-FFF2-40B4-BE49-F238E27FC236}">
                <a16:creationId xmlns:a16="http://schemas.microsoft.com/office/drawing/2014/main" id="{0EA4BF7B-F3F7-4272-8016-977CAA9C424D}"/>
              </a:ext>
            </a:extLst>
          </p:cNvPr>
          <p:cNvSpPr txBox="1"/>
          <p:nvPr/>
        </p:nvSpPr>
        <p:spPr>
          <a:xfrm>
            <a:off x="1303387" y="510306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73" name="TextBox 72">
            <a:extLst>
              <a:ext uri="{FF2B5EF4-FFF2-40B4-BE49-F238E27FC236}">
                <a16:creationId xmlns:a16="http://schemas.microsoft.com/office/drawing/2014/main" id="{6EAC5E44-5162-4A8D-B901-CE3853CEAD21}"/>
              </a:ext>
            </a:extLst>
          </p:cNvPr>
          <p:cNvSpPr txBox="1"/>
          <p:nvPr/>
        </p:nvSpPr>
        <p:spPr>
          <a:xfrm>
            <a:off x="9427286" y="5534578"/>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74" name="TextBox 73">
            <a:extLst>
              <a:ext uri="{FF2B5EF4-FFF2-40B4-BE49-F238E27FC236}">
                <a16:creationId xmlns:a16="http://schemas.microsoft.com/office/drawing/2014/main" id="{06CF4AA2-00D4-4384-AD63-44251E1AC9A7}"/>
              </a:ext>
            </a:extLst>
          </p:cNvPr>
          <p:cNvSpPr txBox="1"/>
          <p:nvPr/>
        </p:nvSpPr>
        <p:spPr>
          <a:xfrm>
            <a:off x="6721768" y="5476745"/>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75" name="TextBox 74">
            <a:extLst>
              <a:ext uri="{FF2B5EF4-FFF2-40B4-BE49-F238E27FC236}">
                <a16:creationId xmlns:a16="http://schemas.microsoft.com/office/drawing/2014/main" id="{D88998F6-A178-40B0-A84A-521B343261D8}"/>
              </a:ext>
            </a:extLst>
          </p:cNvPr>
          <p:cNvSpPr txBox="1"/>
          <p:nvPr/>
        </p:nvSpPr>
        <p:spPr>
          <a:xfrm>
            <a:off x="2968787" y="5497395"/>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76" name="TextBox 75">
            <a:extLst>
              <a:ext uri="{FF2B5EF4-FFF2-40B4-BE49-F238E27FC236}">
                <a16:creationId xmlns:a16="http://schemas.microsoft.com/office/drawing/2014/main" id="{946CDB01-6F89-4EFF-8AC6-5EB96BD7D36C}"/>
              </a:ext>
            </a:extLst>
          </p:cNvPr>
          <p:cNvSpPr txBox="1"/>
          <p:nvPr/>
        </p:nvSpPr>
        <p:spPr>
          <a:xfrm>
            <a:off x="6371109" y="508244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77" name="TextBox 76">
            <a:extLst>
              <a:ext uri="{FF2B5EF4-FFF2-40B4-BE49-F238E27FC236}">
                <a16:creationId xmlns:a16="http://schemas.microsoft.com/office/drawing/2014/main" id="{99296B3F-ED3D-4AB3-B925-0FD4F1687485}"/>
              </a:ext>
            </a:extLst>
          </p:cNvPr>
          <p:cNvSpPr txBox="1"/>
          <p:nvPr/>
        </p:nvSpPr>
        <p:spPr>
          <a:xfrm>
            <a:off x="204715" y="2214022"/>
            <a:ext cx="800219" cy="369332"/>
          </a:xfrm>
          <a:prstGeom prst="rect">
            <a:avLst/>
          </a:prstGeom>
          <a:noFill/>
        </p:spPr>
        <p:txBody>
          <a:bodyPr wrap="none" rtlCol="0" anchor="ctr" anchorCtr="1">
            <a:spAutoFit/>
          </a:bodyPr>
          <a:lstStyle/>
          <a:p>
            <a:r>
              <a:rPr lang="en-US" dirty="0">
                <a:ea typeface="標楷體" pitchFamily="65" charset="-120"/>
                <a:cs typeface="Calibri" pitchFamily="34" charset="0"/>
              </a:rPr>
              <a:t>? sets</a:t>
            </a:r>
          </a:p>
        </p:txBody>
      </p:sp>
      <p:sp>
        <p:nvSpPr>
          <p:cNvPr id="78" name="TextBox 77">
            <a:extLst>
              <a:ext uri="{FF2B5EF4-FFF2-40B4-BE49-F238E27FC236}">
                <a16:creationId xmlns:a16="http://schemas.microsoft.com/office/drawing/2014/main" id="{5E5A514D-790E-4082-9A5F-76735D05D40B}"/>
              </a:ext>
            </a:extLst>
          </p:cNvPr>
          <p:cNvSpPr txBox="1"/>
          <p:nvPr/>
        </p:nvSpPr>
        <p:spPr>
          <a:xfrm>
            <a:off x="185665" y="3234913"/>
            <a:ext cx="684803" cy="369332"/>
          </a:xfrm>
          <a:prstGeom prst="rect">
            <a:avLst/>
          </a:prstGeom>
          <a:noFill/>
        </p:spPr>
        <p:txBody>
          <a:bodyPr wrap="none" rtlCol="0" anchor="ctr" anchorCtr="1">
            <a:spAutoFit/>
          </a:bodyPr>
          <a:lstStyle/>
          <a:p>
            <a:r>
              <a:rPr lang="en-US" dirty="0">
                <a:ea typeface="標楷體" pitchFamily="65" charset="-120"/>
                <a:cs typeface="Calibri" pitchFamily="34" charset="0"/>
              </a:rPr>
              <a:t>1 set</a:t>
            </a:r>
          </a:p>
        </p:txBody>
      </p:sp>
      <p:sp>
        <p:nvSpPr>
          <p:cNvPr id="79" name="TextBox 78">
            <a:extLst>
              <a:ext uri="{FF2B5EF4-FFF2-40B4-BE49-F238E27FC236}">
                <a16:creationId xmlns:a16="http://schemas.microsoft.com/office/drawing/2014/main" id="{AEAE561D-BC32-4352-8C60-831290C722F6}"/>
              </a:ext>
            </a:extLst>
          </p:cNvPr>
          <p:cNvSpPr txBox="1"/>
          <p:nvPr/>
        </p:nvSpPr>
        <p:spPr>
          <a:xfrm>
            <a:off x="114246" y="4332400"/>
            <a:ext cx="800219" cy="369332"/>
          </a:xfrm>
          <a:prstGeom prst="rect">
            <a:avLst/>
          </a:prstGeom>
          <a:noFill/>
        </p:spPr>
        <p:txBody>
          <a:bodyPr wrap="none" rtlCol="0" anchor="ctr" anchorCtr="1">
            <a:spAutoFit/>
          </a:bodyPr>
          <a:lstStyle/>
          <a:p>
            <a:r>
              <a:rPr lang="en-US" dirty="0">
                <a:ea typeface="標楷體" pitchFamily="65" charset="-120"/>
                <a:cs typeface="Calibri" pitchFamily="34" charset="0"/>
              </a:rPr>
              <a:t>? sets</a:t>
            </a:r>
          </a:p>
        </p:txBody>
      </p:sp>
      <p:sp>
        <p:nvSpPr>
          <p:cNvPr id="80" name="TextBox 79">
            <a:extLst>
              <a:ext uri="{FF2B5EF4-FFF2-40B4-BE49-F238E27FC236}">
                <a16:creationId xmlns:a16="http://schemas.microsoft.com/office/drawing/2014/main" id="{7071DC5A-389D-48D8-AD31-93A12B7BEA91}"/>
              </a:ext>
            </a:extLst>
          </p:cNvPr>
          <p:cNvSpPr txBox="1"/>
          <p:nvPr/>
        </p:nvSpPr>
        <p:spPr>
          <a:xfrm>
            <a:off x="263252" y="5448598"/>
            <a:ext cx="800219" cy="369332"/>
          </a:xfrm>
          <a:prstGeom prst="rect">
            <a:avLst/>
          </a:prstGeom>
          <a:noFill/>
        </p:spPr>
        <p:txBody>
          <a:bodyPr wrap="none" rtlCol="0" anchor="ctr" anchorCtr="1">
            <a:spAutoFit/>
          </a:bodyPr>
          <a:lstStyle/>
          <a:p>
            <a:r>
              <a:rPr lang="en-US" dirty="0">
                <a:ea typeface="標楷體" pitchFamily="65" charset="-120"/>
                <a:cs typeface="Calibri" pitchFamily="34" charset="0"/>
              </a:rPr>
              <a:t>? sets</a:t>
            </a:r>
          </a:p>
        </p:txBody>
      </p:sp>
      <p:sp>
        <p:nvSpPr>
          <p:cNvPr id="81" name="TextBox 80">
            <a:extLst>
              <a:ext uri="{FF2B5EF4-FFF2-40B4-BE49-F238E27FC236}">
                <a16:creationId xmlns:a16="http://schemas.microsoft.com/office/drawing/2014/main" id="{79ED3834-FF90-4250-8B3D-21E5C7F6D9E6}"/>
              </a:ext>
            </a:extLst>
          </p:cNvPr>
          <p:cNvSpPr txBox="1"/>
          <p:nvPr/>
        </p:nvSpPr>
        <p:spPr>
          <a:xfrm>
            <a:off x="8995997" y="509097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82" name="TextBox 81">
            <a:extLst>
              <a:ext uri="{FF2B5EF4-FFF2-40B4-BE49-F238E27FC236}">
                <a16:creationId xmlns:a16="http://schemas.microsoft.com/office/drawing/2014/main" id="{17E17A34-073E-4325-A37A-A3DD7EF73BD7}"/>
              </a:ext>
            </a:extLst>
          </p:cNvPr>
          <p:cNvSpPr txBox="1"/>
          <p:nvPr/>
        </p:nvSpPr>
        <p:spPr>
          <a:xfrm>
            <a:off x="10842901" y="2883025"/>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3" name="TextBox 82">
            <a:extLst>
              <a:ext uri="{FF2B5EF4-FFF2-40B4-BE49-F238E27FC236}">
                <a16:creationId xmlns:a16="http://schemas.microsoft.com/office/drawing/2014/main" id="{441B56B9-E1C8-4DAA-A0D5-BE23F136BE2D}"/>
              </a:ext>
            </a:extLst>
          </p:cNvPr>
          <p:cNvSpPr txBox="1"/>
          <p:nvPr/>
        </p:nvSpPr>
        <p:spPr>
          <a:xfrm>
            <a:off x="10922938" y="514085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4" name="TextBox 83">
            <a:extLst>
              <a:ext uri="{FF2B5EF4-FFF2-40B4-BE49-F238E27FC236}">
                <a16:creationId xmlns:a16="http://schemas.microsoft.com/office/drawing/2014/main" id="{473A3256-50E9-4CEE-B992-5947B6F19567}"/>
              </a:ext>
            </a:extLst>
          </p:cNvPr>
          <p:cNvSpPr txBox="1"/>
          <p:nvPr/>
        </p:nvSpPr>
        <p:spPr>
          <a:xfrm>
            <a:off x="8981639" y="286113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Tree>
    <p:extLst>
      <p:ext uri="{BB962C8B-B14F-4D97-AF65-F5344CB8AC3E}">
        <p14:creationId xmlns:p14="http://schemas.microsoft.com/office/powerpoint/2010/main" val="31884436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22F2-8EE6-4785-9A62-A7CF2628E5B4}"/>
              </a:ext>
            </a:extLst>
          </p:cNvPr>
          <p:cNvSpPr>
            <a:spLocks noGrp="1"/>
          </p:cNvSpPr>
          <p:nvPr>
            <p:ph type="title"/>
          </p:nvPr>
        </p:nvSpPr>
        <p:spPr>
          <a:xfrm>
            <a:off x="1049867" y="144466"/>
            <a:ext cx="10808150" cy="692151"/>
          </a:xfrm>
        </p:spPr>
        <p:txBody>
          <a:bodyPr/>
          <a:lstStyle/>
          <a:p>
            <a:r>
              <a:rPr lang="en-US" sz="4000" dirty="0"/>
              <a:t>Address Subdivision for Set Associative Caches (2)</a:t>
            </a:r>
          </a:p>
        </p:txBody>
      </p:sp>
      <p:sp>
        <p:nvSpPr>
          <p:cNvPr id="3" name="Slide Number Placeholder 2">
            <a:extLst>
              <a:ext uri="{FF2B5EF4-FFF2-40B4-BE49-F238E27FC236}">
                <a16:creationId xmlns:a16="http://schemas.microsoft.com/office/drawing/2014/main" id="{DF7AF588-49BA-4BE3-8063-328F7F7CD6F5}"/>
              </a:ext>
            </a:extLst>
          </p:cNvPr>
          <p:cNvSpPr>
            <a:spLocks noGrp="1"/>
          </p:cNvSpPr>
          <p:nvPr>
            <p:ph type="sldNum" sz="quarter" idx="10"/>
          </p:nvPr>
        </p:nvSpPr>
        <p:spPr/>
        <p:txBody>
          <a:bodyPr/>
          <a:lstStyle/>
          <a:p>
            <a:fld id="{D9B6BDF2-6896-4B98-8776-C18582F63BA5}" type="slidenum">
              <a:rPr lang="zh-TW" altLang="en-US" smtClean="0"/>
              <a:pPr/>
              <a:t>52</a:t>
            </a:fld>
            <a:endParaRPr lang="zh-TW" altLang="en-US"/>
          </a:p>
        </p:txBody>
      </p:sp>
      <p:sp>
        <p:nvSpPr>
          <p:cNvPr id="4" name="Rectangle 3">
            <a:extLst>
              <a:ext uri="{FF2B5EF4-FFF2-40B4-BE49-F238E27FC236}">
                <a16:creationId xmlns:a16="http://schemas.microsoft.com/office/drawing/2014/main" id="{A7B32AC6-2C43-4D70-B0F2-C08DC71CCFFF}"/>
              </a:ext>
            </a:extLst>
          </p:cNvPr>
          <p:cNvSpPr/>
          <p:nvPr/>
        </p:nvSpPr>
        <p:spPr bwMode="auto">
          <a:xfrm>
            <a:off x="1379654" y="2164172"/>
            <a:ext cx="442856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Rectangle 4">
            <a:extLst>
              <a:ext uri="{FF2B5EF4-FFF2-40B4-BE49-F238E27FC236}">
                <a16:creationId xmlns:a16="http://schemas.microsoft.com/office/drawing/2014/main" id="{2DBBF428-A1E6-470E-9F61-8C9886AB28B6}"/>
              </a:ext>
            </a:extLst>
          </p:cNvPr>
          <p:cNvSpPr/>
          <p:nvPr/>
        </p:nvSpPr>
        <p:spPr bwMode="auto">
          <a:xfrm>
            <a:off x="5808219" y="2164172"/>
            <a:ext cx="323625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Rectangle 5">
            <a:extLst>
              <a:ext uri="{FF2B5EF4-FFF2-40B4-BE49-F238E27FC236}">
                <a16:creationId xmlns:a16="http://schemas.microsoft.com/office/drawing/2014/main" id="{0BFBE788-4D1F-429C-B42A-5F54AF8C6ADA}"/>
              </a:ext>
            </a:extLst>
          </p:cNvPr>
          <p:cNvSpPr/>
          <p:nvPr/>
        </p:nvSpPr>
        <p:spPr bwMode="auto">
          <a:xfrm>
            <a:off x="9044478" y="216417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CB16C9E1-4EF4-4145-AF77-72BDB0344F35}"/>
              </a:ext>
            </a:extLst>
          </p:cNvPr>
          <p:cNvSpPr txBox="1"/>
          <p:nvPr/>
        </p:nvSpPr>
        <p:spPr>
          <a:xfrm>
            <a:off x="10838278"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 name="TextBox 7">
            <a:extLst>
              <a:ext uri="{FF2B5EF4-FFF2-40B4-BE49-F238E27FC236}">
                <a16:creationId xmlns:a16="http://schemas.microsoft.com/office/drawing/2014/main" id="{873424D3-BD5D-497C-B878-716380B3786B}"/>
              </a:ext>
            </a:extLst>
          </p:cNvPr>
          <p:cNvSpPr txBox="1"/>
          <p:nvPr/>
        </p:nvSpPr>
        <p:spPr>
          <a:xfrm>
            <a:off x="8946725"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9" name="TextBox 8">
            <a:extLst>
              <a:ext uri="{FF2B5EF4-FFF2-40B4-BE49-F238E27FC236}">
                <a16:creationId xmlns:a16="http://schemas.microsoft.com/office/drawing/2014/main" id="{0E26A2AA-A524-4A7C-A640-0A4380985678}"/>
              </a:ext>
            </a:extLst>
          </p:cNvPr>
          <p:cNvSpPr txBox="1"/>
          <p:nvPr/>
        </p:nvSpPr>
        <p:spPr>
          <a:xfrm>
            <a:off x="8731572" y="180999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7</a:t>
            </a:r>
          </a:p>
        </p:txBody>
      </p:sp>
      <p:sp>
        <p:nvSpPr>
          <p:cNvPr id="10" name="TextBox 9">
            <a:extLst>
              <a:ext uri="{FF2B5EF4-FFF2-40B4-BE49-F238E27FC236}">
                <a16:creationId xmlns:a16="http://schemas.microsoft.com/office/drawing/2014/main" id="{07FCD820-DA37-42F2-8CE6-BEEDFFAB8E69}"/>
              </a:ext>
            </a:extLst>
          </p:cNvPr>
          <p:cNvSpPr txBox="1"/>
          <p:nvPr/>
        </p:nvSpPr>
        <p:spPr>
          <a:xfrm>
            <a:off x="5728396" y="180999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15</a:t>
            </a:r>
          </a:p>
        </p:txBody>
      </p:sp>
      <p:sp>
        <p:nvSpPr>
          <p:cNvPr id="11" name="TextBox 10">
            <a:extLst>
              <a:ext uri="{FF2B5EF4-FFF2-40B4-BE49-F238E27FC236}">
                <a16:creationId xmlns:a16="http://schemas.microsoft.com/office/drawing/2014/main" id="{5F622DE5-2C65-4C05-8689-47DD3C084A43}"/>
              </a:ext>
            </a:extLst>
          </p:cNvPr>
          <p:cNvSpPr txBox="1"/>
          <p:nvPr/>
        </p:nvSpPr>
        <p:spPr>
          <a:xfrm>
            <a:off x="5443703"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16</a:t>
            </a:r>
          </a:p>
        </p:txBody>
      </p:sp>
      <p:sp>
        <p:nvSpPr>
          <p:cNvPr id="12" name="TextBox 11">
            <a:extLst>
              <a:ext uri="{FF2B5EF4-FFF2-40B4-BE49-F238E27FC236}">
                <a16:creationId xmlns:a16="http://schemas.microsoft.com/office/drawing/2014/main" id="{80634063-AA43-411B-BAFE-0A913892A17A}"/>
              </a:ext>
            </a:extLst>
          </p:cNvPr>
          <p:cNvSpPr txBox="1"/>
          <p:nvPr/>
        </p:nvSpPr>
        <p:spPr>
          <a:xfrm>
            <a:off x="1254148"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3" name="TextBox 12">
            <a:extLst>
              <a:ext uri="{FF2B5EF4-FFF2-40B4-BE49-F238E27FC236}">
                <a16:creationId xmlns:a16="http://schemas.microsoft.com/office/drawing/2014/main" id="{0284C7D5-7358-4B2D-932D-602DA3E21E33}"/>
              </a:ext>
            </a:extLst>
          </p:cNvPr>
          <p:cNvSpPr txBox="1"/>
          <p:nvPr/>
        </p:nvSpPr>
        <p:spPr>
          <a:xfrm>
            <a:off x="9378047" y="225804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14" name="TextBox 13">
            <a:extLst>
              <a:ext uri="{FF2B5EF4-FFF2-40B4-BE49-F238E27FC236}">
                <a16:creationId xmlns:a16="http://schemas.microsoft.com/office/drawing/2014/main" id="{60395B04-3514-4B27-9144-105A5561109B}"/>
              </a:ext>
            </a:extLst>
          </p:cNvPr>
          <p:cNvSpPr txBox="1"/>
          <p:nvPr/>
        </p:nvSpPr>
        <p:spPr>
          <a:xfrm>
            <a:off x="6672529" y="220021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15" name="TextBox 14">
            <a:extLst>
              <a:ext uri="{FF2B5EF4-FFF2-40B4-BE49-F238E27FC236}">
                <a16:creationId xmlns:a16="http://schemas.microsoft.com/office/drawing/2014/main" id="{595145BD-0E2A-4AC7-842C-962D429D2453}"/>
              </a:ext>
            </a:extLst>
          </p:cNvPr>
          <p:cNvSpPr txBox="1"/>
          <p:nvPr/>
        </p:nvSpPr>
        <p:spPr>
          <a:xfrm>
            <a:off x="2919548" y="222086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41" name="Content Placeholder 5">
            <a:extLst>
              <a:ext uri="{FF2B5EF4-FFF2-40B4-BE49-F238E27FC236}">
                <a16:creationId xmlns:a16="http://schemas.microsoft.com/office/drawing/2014/main" id="{44DC79D3-FD9E-4188-B3BA-D6F9607ED865}"/>
              </a:ext>
            </a:extLst>
          </p:cNvPr>
          <p:cNvSpPr txBox="1">
            <a:spLocks/>
          </p:cNvSpPr>
          <p:nvPr/>
        </p:nvSpPr>
        <p:spPr>
          <a:xfrm>
            <a:off x="629819" y="909501"/>
            <a:ext cx="10972800" cy="508478"/>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667" kern="0" dirty="0"/>
              <a:t>Assume a </a:t>
            </a:r>
            <a:r>
              <a:rPr lang="en-US" sz="2800" kern="0" dirty="0">
                <a:solidFill>
                  <a:srgbClr val="FF0000"/>
                </a:solidFill>
              </a:rPr>
              <a:t>64KB</a:t>
            </a:r>
            <a:r>
              <a:rPr lang="en-US" sz="2667" kern="0" dirty="0"/>
              <a:t> cache, line (block) size is </a:t>
            </a:r>
            <a:r>
              <a:rPr lang="en-US" sz="2667" kern="0" dirty="0">
                <a:solidFill>
                  <a:srgbClr val="FF0000"/>
                </a:solidFill>
              </a:rPr>
              <a:t>128 B</a:t>
            </a:r>
            <a:r>
              <a:rPr lang="en-US" sz="2667" kern="0" dirty="0"/>
              <a:t>.</a:t>
            </a:r>
          </a:p>
          <a:p>
            <a:r>
              <a:rPr lang="en-US" sz="2200" kern="0" dirty="0"/>
              <a:t>Case 1: direct mapped</a:t>
            </a:r>
          </a:p>
          <a:p>
            <a:pPr marL="0" indent="0">
              <a:buNone/>
            </a:pPr>
            <a:endParaRPr lang="en-US" sz="2200" kern="0" dirty="0"/>
          </a:p>
          <a:p>
            <a:pPr marL="0" indent="0">
              <a:buNone/>
            </a:pPr>
            <a:endParaRPr lang="en-US" sz="2200" kern="0" dirty="0"/>
          </a:p>
        </p:txBody>
      </p:sp>
      <p:sp>
        <p:nvSpPr>
          <p:cNvPr id="42" name="Content Placeholder 5">
            <a:extLst>
              <a:ext uri="{FF2B5EF4-FFF2-40B4-BE49-F238E27FC236}">
                <a16:creationId xmlns:a16="http://schemas.microsoft.com/office/drawing/2014/main" id="{91328DB2-4452-4489-9289-2620D97DA9F3}"/>
              </a:ext>
            </a:extLst>
          </p:cNvPr>
          <p:cNvSpPr txBox="1">
            <a:spLocks/>
          </p:cNvSpPr>
          <p:nvPr/>
        </p:nvSpPr>
        <p:spPr>
          <a:xfrm>
            <a:off x="683142" y="2597165"/>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2: Fully associative</a:t>
            </a:r>
          </a:p>
          <a:p>
            <a:endParaRPr lang="en-US" sz="2200" kern="0" dirty="0"/>
          </a:p>
          <a:p>
            <a:pPr marL="0" indent="0">
              <a:buNone/>
            </a:pPr>
            <a:endParaRPr lang="en-US" sz="2200" kern="0" dirty="0"/>
          </a:p>
        </p:txBody>
      </p:sp>
      <p:sp>
        <p:nvSpPr>
          <p:cNvPr id="43" name="Rectangle 42">
            <a:extLst>
              <a:ext uri="{FF2B5EF4-FFF2-40B4-BE49-F238E27FC236}">
                <a16:creationId xmlns:a16="http://schemas.microsoft.com/office/drawing/2014/main" id="{06D29048-10AA-42B5-B7E5-A0184EA19E78}"/>
              </a:ext>
            </a:extLst>
          </p:cNvPr>
          <p:cNvSpPr/>
          <p:nvPr/>
        </p:nvSpPr>
        <p:spPr bwMode="auto">
          <a:xfrm>
            <a:off x="1379654" y="3217961"/>
            <a:ext cx="7664824"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5" name="Rectangle 44">
            <a:extLst>
              <a:ext uri="{FF2B5EF4-FFF2-40B4-BE49-F238E27FC236}">
                <a16:creationId xmlns:a16="http://schemas.microsoft.com/office/drawing/2014/main" id="{5DCA60ED-8C15-460E-BDFF-78A6DC43B4CE}"/>
              </a:ext>
            </a:extLst>
          </p:cNvPr>
          <p:cNvSpPr/>
          <p:nvPr/>
        </p:nvSpPr>
        <p:spPr bwMode="auto">
          <a:xfrm>
            <a:off x="9044478" y="3217961"/>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6" name="TextBox 45">
            <a:extLst>
              <a:ext uri="{FF2B5EF4-FFF2-40B4-BE49-F238E27FC236}">
                <a16:creationId xmlns:a16="http://schemas.microsoft.com/office/drawing/2014/main" id="{3F8B2C32-3F90-40D2-8AC3-B09482976C7B}"/>
              </a:ext>
            </a:extLst>
          </p:cNvPr>
          <p:cNvSpPr txBox="1"/>
          <p:nvPr/>
        </p:nvSpPr>
        <p:spPr>
          <a:xfrm>
            <a:off x="8731572" y="286378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7</a:t>
            </a:r>
          </a:p>
        </p:txBody>
      </p:sp>
      <p:sp>
        <p:nvSpPr>
          <p:cNvPr id="49" name="TextBox 48">
            <a:extLst>
              <a:ext uri="{FF2B5EF4-FFF2-40B4-BE49-F238E27FC236}">
                <a16:creationId xmlns:a16="http://schemas.microsoft.com/office/drawing/2014/main" id="{093B010A-EBF9-412B-B14D-4270C9108693}"/>
              </a:ext>
            </a:extLst>
          </p:cNvPr>
          <p:cNvSpPr txBox="1"/>
          <p:nvPr/>
        </p:nvSpPr>
        <p:spPr>
          <a:xfrm>
            <a:off x="1254148" y="28803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50" name="TextBox 49">
            <a:extLst>
              <a:ext uri="{FF2B5EF4-FFF2-40B4-BE49-F238E27FC236}">
                <a16:creationId xmlns:a16="http://schemas.microsoft.com/office/drawing/2014/main" id="{B091B137-167A-4067-B2DF-B814354D2B07}"/>
              </a:ext>
            </a:extLst>
          </p:cNvPr>
          <p:cNvSpPr txBox="1"/>
          <p:nvPr/>
        </p:nvSpPr>
        <p:spPr>
          <a:xfrm>
            <a:off x="9378047" y="3311832"/>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52" name="TextBox 51">
            <a:extLst>
              <a:ext uri="{FF2B5EF4-FFF2-40B4-BE49-F238E27FC236}">
                <a16:creationId xmlns:a16="http://schemas.microsoft.com/office/drawing/2014/main" id="{871495E1-4AC9-4B4E-A249-E4579EF0D24C}"/>
              </a:ext>
            </a:extLst>
          </p:cNvPr>
          <p:cNvSpPr txBox="1"/>
          <p:nvPr/>
        </p:nvSpPr>
        <p:spPr>
          <a:xfrm>
            <a:off x="2919548" y="3274649"/>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53" name="Content Placeholder 5">
            <a:extLst>
              <a:ext uri="{FF2B5EF4-FFF2-40B4-BE49-F238E27FC236}">
                <a16:creationId xmlns:a16="http://schemas.microsoft.com/office/drawing/2014/main" id="{A748E733-5D87-4B39-ABB0-44AF7A4226F6}"/>
              </a:ext>
            </a:extLst>
          </p:cNvPr>
          <p:cNvSpPr txBox="1">
            <a:spLocks/>
          </p:cNvSpPr>
          <p:nvPr/>
        </p:nvSpPr>
        <p:spPr>
          <a:xfrm>
            <a:off x="767449" y="3665103"/>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3: Two-way set associative</a:t>
            </a:r>
          </a:p>
          <a:p>
            <a:endParaRPr lang="en-US" sz="2200" kern="0" dirty="0"/>
          </a:p>
          <a:p>
            <a:pPr marL="0" indent="0">
              <a:buNone/>
            </a:pPr>
            <a:endParaRPr lang="en-US" sz="2200" kern="0" dirty="0"/>
          </a:p>
        </p:txBody>
      </p:sp>
      <p:sp>
        <p:nvSpPr>
          <p:cNvPr id="54" name="Rectangle 53">
            <a:extLst>
              <a:ext uri="{FF2B5EF4-FFF2-40B4-BE49-F238E27FC236}">
                <a16:creationId xmlns:a16="http://schemas.microsoft.com/office/drawing/2014/main" id="{8A01465A-3507-4205-9AD0-C324977C1F97}"/>
              </a:ext>
            </a:extLst>
          </p:cNvPr>
          <p:cNvSpPr/>
          <p:nvPr/>
        </p:nvSpPr>
        <p:spPr bwMode="auto">
          <a:xfrm>
            <a:off x="1379654" y="4298402"/>
            <a:ext cx="471234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5" name="Rectangle 54">
            <a:extLst>
              <a:ext uri="{FF2B5EF4-FFF2-40B4-BE49-F238E27FC236}">
                <a16:creationId xmlns:a16="http://schemas.microsoft.com/office/drawing/2014/main" id="{5258AA2A-0602-4A4E-91DD-0DE784A5AEA1}"/>
              </a:ext>
            </a:extLst>
          </p:cNvPr>
          <p:cNvSpPr/>
          <p:nvPr/>
        </p:nvSpPr>
        <p:spPr bwMode="auto">
          <a:xfrm>
            <a:off x="6100002" y="4298402"/>
            <a:ext cx="2944476"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Rectangle 55">
            <a:extLst>
              <a:ext uri="{FF2B5EF4-FFF2-40B4-BE49-F238E27FC236}">
                <a16:creationId xmlns:a16="http://schemas.microsoft.com/office/drawing/2014/main" id="{ABA0C0B8-8344-448B-98D1-0D2EF2F6E564}"/>
              </a:ext>
            </a:extLst>
          </p:cNvPr>
          <p:cNvSpPr/>
          <p:nvPr/>
        </p:nvSpPr>
        <p:spPr bwMode="auto">
          <a:xfrm>
            <a:off x="9044478" y="429840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7" name="TextBox 56">
            <a:extLst>
              <a:ext uri="{FF2B5EF4-FFF2-40B4-BE49-F238E27FC236}">
                <a16:creationId xmlns:a16="http://schemas.microsoft.com/office/drawing/2014/main" id="{AFDA3E41-92DC-4DAB-A03E-B9DBD46CE73C}"/>
              </a:ext>
            </a:extLst>
          </p:cNvPr>
          <p:cNvSpPr txBox="1"/>
          <p:nvPr/>
        </p:nvSpPr>
        <p:spPr>
          <a:xfrm>
            <a:off x="10838278"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58" name="TextBox 57">
            <a:extLst>
              <a:ext uri="{FF2B5EF4-FFF2-40B4-BE49-F238E27FC236}">
                <a16:creationId xmlns:a16="http://schemas.microsoft.com/office/drawing/2014/main" id="{3156518D-2FE6-4ABA-AF63-08C0E3ADF54F}"/>
              </a:ext>
            </a:extLst>
          </p:cNvPr>
          <p:cNvSpPr txBox="1"/>
          <p:nvPr/>
        </p:nvSpPr>
        <p:spPr>
          <a:xfrm>
            <a:off x="8946725"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59" name="TextBox 58">
            <a:extLst>
              <a:ext uri="{FF2B5EF4-FFF2-40B4-BE49-F238E27FC236}">
                <a16:creationId xmlns:a16="http://schemas.microsoft.com/office/drawing/2014/main" id="{BCC3B78E-2053-4FC8-A22E-1B554F614E2B}"/>
              </a:ext>
            </a:extLst>
          </p:cNvPr>
          <p:cNvSpPr txBox="1"/>
          <p:nvPr/>
        </p:nvSpPr>
        <p:spPr>
          <a:xfrm>
            <a:off x="8731572" y="394422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7</a:t>
            </a:r>
          </a:p>
        </p:txBody>
      </p:sp>
      <p:sp>
        <p:nvSpPr>
          <p:cNvPr id="60" name="TextBox 59">
            <a:extLst>
              <a:ext uri="{FF2B5EF4-FFF2-40B4-BE49-F238E27FC236}">
                <a16:creationId xmlns:a16="http://schemas.microsoft.com/office/drawing/2014/main" id="{17BE93BF-91CC-4954-B48F-0A2E2A45B041}"/>
              </a:ext>
            </a:extLst>
          </p:cNvPr>
          <p:cNvSpPr txBox="1"/>
          <p:nvPr/>
        </p:nvSpPr>
        <p:spPr>
          <a:xfrm>
            <a:off x="5650853" y="391925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15</a:t>
            </a:r>
          </a:p>
        </p:txBody>
      </p:sp>
      <p:sp>
        <p:nvSpPr>
          <p:cNvPr id="61" name="TextBox 60">
            <a:extLst>
              <a:ext uri="{FF2B5EF4-FFF2-40B4-BE49-F238E27FC236}">
                <a16:creationId xmlns:a16="http://schemas.microsoft.com/office/drawing/2014/main" id="{68EDF19D-9F8B-4E58-8ABD-E7CC22891306}"/>
              </a:ext>
            </a:extLst>
          </p:cNvPr>
          <p:cNvSpPr txBox="1"/>
          <p:nvPr/>
        </p:nvSpPr>
        <p:spPr>
          <a:xfrm>
            <a:off x="6012796" y="392907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14</a:t>
            </a:r>
          </a:p>
        </p:txBody>
      </p:sp>
      <p:sp>
        <p:nvSpPr>
          <p:cNvPr id="62" name="TextBox 61">
            <a:extLst>
              <a:ext uri="{FF2B5EF4-FFF2-40B4-BE49-F238E27FC236}">
                <a16:creationId xmlns:a16="http://schemas.microsoft.com/office/drawing/2014/main" id="{2FE1CEA6-65AE-4AE5-946A-E2C8DF15D391}"/>
              </a:ext>
            </a:extLst>
          </p:cNvPr>
          <p:cNvSpPr txBox="1"/>
          <p:nvPr/>
        </p:nvSpPr>
        <p:spPr>
          <a:xfrm>
            <a:off x="1254148" y="396075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63" name="TextBox 62">
            <a:extLst>
              <a:ext uri="{FF2B5EF4-FFF2-40B4-BE49-F238E27FC236}">
                <a16:creationId xmlns:a16="http://schemas.microsoft.com/office/drawing/2014/main" id="{4FB11EAD-7E91-4828-9AAF-D886B6CAEB5E}"/>
              </a:ext>
            </a:extLst>
          </p:cNvPr>
          <p:cNvSpPr txBox="1"/>
          <p:nvPr/>
        </p:nvSpPr>
        <p:spPr>
          <a:xfrm>
            <a:off x="9378047" y="439227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64" name="TextBox 63">
            <a:extLst>
              <a:ext uri="{FF2B5EF4-FFF2-40B4-BE49-F238E27FC236}">
                <a16:creationId xmlns:a16="http://schemas.microsoft.com/office/drawing/2014/main" id="{13B831A5-F09B-4A50-8CB6-D37560F69A4D}"/>
              </a:ext>
            </a:extLst>
          </p:cNvPr>
          <p:cNvSpPr txBox="1"/>
          <p:nvPr/>
        </p:nvSpPr>
        <p:spPr>
          <a:xfrm>
            <a:off x="6672529" y="433444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65" name="TextBox 64">
            <a:extLst>
              <a:ext uri="{FF2B5EF4-FFF2-40B4-BE49-F238E27FC236}">
                <a16:creationId xmlns:a16="http://schemas.microsoft.com/office/drawing/2014/main" id="{8A8ED754-AC80-45FC-902F-FE66BA11B6FC}"/>
              </a:ext>
            </a:extLst>
          </p:cNvPr>
          <p:cNvSpPr txBox="1"/>
          <p:nvPr/>
        </p:nvSpPr>
        <p:spPr>
          <a:xfrm>
            <a:off x="2919548" y="435509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66" name="Content Placeholder 5">
            <a:extLst>
              <a:ext uri="{FF2B5EF4-FFF2-40B4-BE49-F238E27FC236}">
                <a16:creationId xmlns:a16="http://schemas.microsoft.com/office/drawing/2014/main" id="{D1FC9DE1-73D3-439E-82B2-7D604C62F03E}"/>
              </a:ext>
            </a:extLst>
          </p:cNvPr>
          <p:cNvSpPr txBox="1">
            <a:spLocks/>
          </p:cNvSpPr>
          <p:nvPr/>
        </p:nvSpPr>
        <p:spPr>
          <a:xfrm>
            <a:off x="823065" y="4753017"/>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4: Four-way set associative</a:t>
            </a:r>
          </a:p>
          <a:p>
            <a:endParaRPr lang="en-US" sz="2200" kern="0" dirty="0"/>
          </a:p>
          <a:p>
            <a:pPr marL="0" indent="0">
              <a:buNone/>
            </a:pPr>
            <a:endParaRPr lang="en-US" sz="2200" kern="0" dirty="0"/>
          </a:p>
        </p:txBody>
      </p:sp>
      <p:sp>
        <p:nvSpPr>
          <p:cNvPr id="67" name="Rectangle 66">
            <a:extLst>
              <a:ext uri="{FF2B5EF4-FFF2-40B4-BE49-F238E27FC236}">
                <a16:creationId xmlns:a16="http://schemas.microsoft.com/office/drawing/2014/main" id="{697A61A0-962B-413B-A7BD-F9DD8A0FAA05}"/>
              </a:ext>
            </a:extLst>
          </p:cNvPr>
          <p:cNvSpPr/>
          <p:nvPr/>
        </p:nvSpPr>
        <p:spPr bwMode="auto">
          <a:xfrm>
            <a:off x="1428893" y="5440707"/>
            <a:ext cx="502504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8" name="Rectangle 67">
            <a:extLst>
              <a:ext uri="{FF2B5EF4-FFF2-40B4-BE49-F238E27FC236}">
                <a16:creationId xmlns:a16="http://schemas.microsoft.com/office/drawing/2014/main" id="{F8328E39-6F95-4CE0-858D-AC7A3FF99496}"/>
              </a:ext>
            </a:extLst>
          </p:cNvPr>
          <p:cNvSpPr/>
          <p:nvPr/>
        </p:nvSpPr>
        <p:spPr bwMode="auto">
          <a:xfrm>
            <a:off x="6453941" y="5440707"/>
            <a:ext cx="263977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9" name="Rectangle 68">
            <a:extLst>
              <a:ext uri="{FF2B5EF4-FFF2-40B4-BE49-F238E27FC236}">
                <a16:creationId xmlns:a16="http://schemas.microsoft.com/office/drawing/2014/main" id="{6783D0C7-C7F3-4E88-8317-A5D659444494}"/>
              </a:ext>
            </a:extLst>
          </p:cNvPr>
          <p:cNvSpPr/>
          <p:nvPr/>
        </p:nvSpPr>
        <p:spPr bwMode="auto">
          <a:xfrm>
            <a:off x="9093717" y="5440707"/>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0" name="TextBox 69">
            <a:extLst>
              <a:ext uri="{FF2B5EF4-FFF2-40B4-BE49-F238E27FC236}">
                <a16:creationId xmlns:a16="http://schemas.microsoft.com/office/drawing/2014/main" id="{D9A192FA-BEE5-404C-8BCA-2F950F5793D9}"/>
              </a:ext>
            </a:extLst>
          </p:cNvPr>
          <p:cNvSpPr txBox="1"/>
          <p:nvPr/>
        </p:nvSpPr>
        <p:spPr>
          <a:xfrm>
            <a:off x="8780811" y="508652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7</a:t>
            </a:r>
          </a:p>
        </p:txBody>
      </p:sp>
      <p:sp>
        <p:nvSpPr>
          <p:cNvPr id="71" name="TextBox 70">
            <a:extLst>
              <a:ext uri="{FF2B5EF4-FFF2-40B4-BE49-F238E27FC236}">
                <a16:creationId xmlns:a16="http://schemas.microsoft.com/office/drawing/2014/main" id="{36E34328-57EA-4A84-AA13-82D35A3F606C}"/>
              </a:ext>
            </a:extLst>
          </p:cNvPr>
          <p:cNvSpPr txBox="1"/>
          <p:nvPr/>
        </p:nvSpPr>
        <p:spPr>
          <a:xfrm>
            <a:off x="6034587" y="511091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14</a:t>
            </a:r>
          </a:p>
        </p:txBody>
      </p:sp>
      <p:sp>
        <p:nvSpPr>
          <p:cNvPr id="72" name="TextBox 71">
            <a:extLst>
              <a:ext uri="{FF2B5EF4-FFF2-40B4-BE49-F238E27FC236}">
                <a16:creationId xmlns:a16="http://schemas.microsoft.com/office/drawing/2014/main" id="{0EA4BF7B-F3F7-4272-8016-977CAA9C424D}"/>
              </a:ext>
            </a:extLst>
          </p:cNvPr>
          <p:cNvSpPr txBox="1"/>
          <p:nvPr/>
        </p:nvSpPr>
        <p:spPr>
          <a:xfrm>
            <a:off x="1303387" y="510306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73" name="TextBox 72">
            <a:extLst>
              <a:ext uri="{FF2B5EF4-FFF2-40B4-BE49-F238E27FC236}">
                <a16:creationId xmlns:a16="http://schemas.microsoft.com/office/drawing/2014/main" id="{6EAC5E44-5162-4A8D-B901-CE3853CEAD21}"/>
              </a:ext>
            </a:extLst>
          </p:cNvPr>
          <p:cNvSpPr txBox="1"/>
          <p:nvPr/>
        </p:nvSpPr>
        <p:spPr>
          <a:xfrm>
            <a:off x="9427286" y="5534578"/>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74" name="TextBox 73">
            <a:extLst>
              <a:ext uri="{FF2B5EF4-FFF2-40B4-BE49-F238E27FC236}">
                <a16:creationId xmlns:a16="http://schemas.microsoft.com/office/drawing/2014/main" id="{06CF4AA2-00D4-4384-AD63-44251E1AC9A7}"/>
              </a:ext>
            </a:extLst>
          </p:cNvPr>
          <p:cNvSpPr txBox="1"/>
          <p:nvPr/>
        </p:nvSpPr>
        <p:spPr>
          <a:xfrm>
            <a:off x="6721768" y="5476745"/>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75" name="TextBox 74">
            <a:extLst>
              <a:ext uri="{FF2B5EF4-FFF2-40B4-BE49-F238E27FC236}">
                <a16:creationId xmlns:a16="http://schemas.microsoft.com/office/drawing/2014/main" id="{D88998F6-A178-40B0-A84A-521B343261D8}"/>
              </a:ext>
            </a:extLst>
          </p:cNvPr>
          <p:cNvSpPr txBox="1"/>
          <p:nvPr/>
        </p:nvSpPr>
        <p:spPr>
          <a:xfrm>
            <a:off x="2968787" y="5497395"/>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76" name="TextBox 75">
            <a:extLst>
              <a:ext uri="{FF2B5EF4-FFF2-40B4-BE49-F238E27FC236}">
                <a16:creationId xmlns:a16="http://schemas.microsoft.com/office/drawing/2014/main" id="{946CDB01-6F89-4EFF-8AC6-5EB96BD7D36C}"/>
              </a:ext>
            </a:extLst>
          </p:cNvPr>
          <p:cNvSpPr txBox="1"/>
          <p:nvPr/>
        </p:nvSpPr>
        <p:spPr>
          <a:xfrm>
            <a:off x="6371109" y="5082449"/>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13</a:t>
            </a:r>
          </a:p>
        </p:txBody>
      </p:sp>
      <p:sp>
        <p:nvSpPr>
          <p:cNvPr id="77" name="TextBox 76">
            <a:extLst>
              <a:ext uri="{FF2B5EF4-FFF2-40B4-BE49-F238E27FC236}">
                <a16:creationId xmlns:a16="http://schemas.microsoft.com/office/drawing/2014/main" id="{99296B3F-ED3D-4AB3-B925-0FD4F1687485}"/>
              </a:ext>
            </a:extLst>
          </p:cNvPr>
          <p:cNvSpPr txBox="1"/>
          <p:nvPr/>
        </p:nvSpPr>
        <p:spPr>
          <a:xfrm>
            <a:off x="204715" y="2214022"/>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512 sets</a:t>
            </a:r>
          </a:p>
        </p:txBody>
      </p:sp>
      <p:sp>
        <p:nvSpPr>
          <p:cNvPr id="78" name="TextBox 77">
            <a:extLst>
              <a:ext uri="{FF2B5EF4-FFF2-40B4-BE49-F238E27FC236}">
                <a16:creationId xmlns:a16="http://schemas.microsoft.com/office/drawing/2014/main" id="{5E5A514D-790E-4082-9A5F-76735D05D40B}"/>
              </a:ext>
            </a:extLst>
          </p:cNvPr>
          <p:cNvSpPr txBox="1"/>
          <p:nvPr/>
        </p:nvSpPr>
        <p:spPr>
          <a:xfrm>
            <a:off x="185665" y="3234913"/>
            <a:ext cx="684803" cy="369332"/>
          </a:xfrm>
          <a:prstGeom prst="rect">
            <a:avLst/>
          </a:prstGeom>
          <a:noFill/>
        </p:spPr>
        <p:txBody>
          <a:bodyPr wrap="none" rtlCol="0" anchor="ctr" anchorCtr="1">
            <a:spAutoFit/>
          </a:bodyPr>
          <a:lstStyle/>
          <a:p>
            <a:r>
              <a:rPr lang="en-US" dirty="0">
                <a:ea typeface="標楷體" pitchFamily="65" charset="-120"/>
                <a:cs typeface="Calibri" pitchFamily="34" charset="0"/>
              </a:rPr>
              <a:t>1 set</a:t>
            </a:r>
          </a:p>
        </p:txBody>
      </p:sp>
      <p:sp>
        <p:nvSpPr>
          <p:cNvPr id="79" name="TextBox 78">
            <a:extLst>
              <a:ext uri="{FF2B5EF4-FFF2-40B4-BE49-F238E27FC236}">
                <a16:creationId xmlns:a16="http://schemas.microsoft.com/office/drawing/2014/main" id="{AEAE561D-BC32-4352-8C60-831290C722F6}"/>
              </a:ext>
            </a:extLst>
          </p:cNvPr>
          <p:cNvSpPr txBox="1"/>
          <p:nvPr/>
        </p:nvSpPr>
        <p:spPr>
          <a:xfrm>
            <a:off x="114246" y="4332400"/>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256 sets</a:t>
            </a:r>
          </a:p>
        </p:txBody>
      </p:sp>
      <p:sp>
        <p:nvSpPr>
          <p:cNvPr id="80" name="TextBox 79">
            <a:extLst>
              <a:ext uri="{FF2B5EF4-FFF2-40B4-BE49-F238E27FC236}">
                <a16:creationId xmlns:a16="http://schemas.microsoft.com/office/drawing/2014/main" id="{7071DC5A-389D-48D8-AD31-93A12B7BEA91}"/>
              </a:ext>
            </a:extLst>
          </p:cNvPr>
          <p:cNvSpPr txBox="1"/>
          <p:nvPr/>
        </p:nvSpPr>
        <p:spPr>
          <a:xfrm>
            <a:off x="263252" y="5448598"/>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128 sets</a:t>
            </a:r>
          </a:p>
        </p:txBody>
      </p:sp>
      <p:sp>
        <p:nvSpPr>
          <p:cNvPr id="81" name="TextBox 80">
            <a:extLst>
              <a:ext uri="{FF2B5EF4-FFF2-40B4-BE49-F238E27FC236}">
                <a16:creationId xmlns:a16="http://schemas.microsoft.com/office/drawing/2014/main" id="{79ED3834-FF90-4250-8B3D-21E5C7F6D9E6}"/>
              </a:ext>
            </a:extLst>
          </p:cNvPr>
          <p:cNvSpPr txBox="1"/>
          <p:nvPr/>
        </p:nvSpPr>
        <p:spPr>
          <a:xfrm>
            <a:off x="8995997" y="509097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82" name="TextBox 81">
            <a:extLst>
              <a:ext uri="{FF2B5EF4-FFF2-40B4-BE49-F238E27FC236}">
                <a16:creationId xmlns:a16="http://schemas.microsoft.com/office/drawing/2014/main" id="{17E17A34-073E-4325-A37A-A3DD7EF73BD7}"/>
              </a:ext>
            </a:extLst>
          </p:cNvPr>
          <p:cNvSpPr txBox="1"/>
          <p:nvPr/>
        </p:nvSpPr>
        <p:spPr>
          <a:xfrm>
            <a:off x="10842901" y="2883025"/>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3" name="TextBox 82">
            <a:extLst>
              <a:ext uri="{FF2B5EF4-FFF2-40B4-BE49-F238E27FC236}">
                <a16:creationId xmlns:a16="http://schemas.microsoft.com/office/drawing/2014/main" id="{441B56B9-E1C8-4DAA-A0D5-BE23F136BE2D}"/>
              </a:ext>
            </a:extLst>
          </p:cNvPr>
          <p:cNvSpPr txBox="1"/>
          <p:nvPr/>
        </p:nvSpPr>
        <p:spPr>
          <a:xfrm>
            <a:off x="10922938" y="514085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4" name="TextBox 83">
            <a:extLst>
              <a:ext uri="{FF2B5EF4-FFF2-40B4-BE49-F238E27FC236}">
                <a16:creationId xmlns:a16="http://schemas.microsoft.com/office/drawing/2014/main" id="{473A3256-50E9-4CEE-B992-5947B6F19567}"/>
              </a:ext>
            </a:extLst>
          </p:cNvPr>
          <p:cNvSpPr txBox="1"/>
          <p:nvPr/>
        </p:nvSpPr>
        <p:spPr>
          <a:xfrm>
            <a:off x="8981639" y="286113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Tree>
    <p:extLst>
      <p:ext uri="{BB962C8B-B14F-4D97-AF65-F5344CB8AC3E}">
        <p14:creationId xmlns:p14="http://schemas.microsoft.com/office/powerpoint/2010/main" val="5908934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Exercise 1 </a:t>
            </a:r>
          </a:p>
        </p:txBody>
      </p:sp>
      <p:sp>
        <p:nvSpPr>
          <p:cNvPr id="6" name="Content Placeholder 5"/>
          <p:cNvSpPr>
            <a:spLocks noGrp="1"/>
          </p:cNvSpPr>
          <p:nvPr>
            <p:ph idx="1"/>
          </p:nvPr>
        </p:nvSpPr>
        <p:spPr>
          <a:xfrm>
            <a:off x="609600" y="1125537"/>
            <a:ext cx="10972800" cy="1133984"/>
          </a:xfrm>
        </p:spPr>
        <p:txBody>
          <a:bodyPr/>
          <a:lstStyle/>
          <a:p>
            <a:r>
              <a:rPr lang="en-US" sz="2667" dirty="0"/>
              <a:t>We have a 16KB </a:t>
            </a:r>
            <a:r>
              <a:rPr lang="en-US" sz="2667" dirty="0">
                <a:solidFill>
                  <a:srgbClr val="FF0000"/>
                </a:solidFill>
              </a:rPr>
              <a:t>direct mapped </a:t>
            </a:r>
            <a:r>
              <a:rPr lang="en-US" sz="2667" dirty="0"/>
              <a:t>cache, the line (block) size is 64B, indicate how each part of the address bits are used in reading the cache.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
        <p:nvSpPr>
          <p:cNvPr id="2" name="TextBox 1"/>
          <p:cNvSpPr txBox="1"/>
          <p:nvPr/>
        </p:nvSpPr>
        <p:spPr>
          <a:xfrm>
            <a:off x="1225430" y="2025246"/>
            <a:ext cx="8590888" cy="1077026"/>
          </a:xfrm>
          <a:prstGeom prst="rect">
            <a:avLst/>
          </a:prstGeom>
          <a:noFill/>
        </p:spPr>
        <p:txBody>
          <a:bodyPr wrap="squar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Basic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33" dirty="0">
                <a:solidFill>
                  <a:srgbClr val="C00000"/>
                </a:solidFill>
                <a:latin typeface="Arial"/>
                <a:ea typeface="標楷體" pitchFamily="65" charset="-120"/>
                <a:cs typeface="Calibri" panose="020F07020304040A0204" pitchFamily="34" charset="0"/>
              </a:rPr>
              <a:t>The cache is direct mapped.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33" dirty="0">
                <a:solidFill>
                  <a:srgbClr val="C00000"/>
                </a:solidFill>
                <a:latin typeface="Arial"/>
                <a:ea typeface="標楷體" pitchFamily="65" charset="-120"/>
                <a:cs typeface="Calibri" panose="020F07020304040A0204" pitchFamily="34" charset="0"/>
              </a:rPr>
              <a:t>It has 16KB/64B = 256 sets</a:t>
            </a:r>
          </a:p>
        </p:txBody>
      </p:sp>
      <p:sp>
        <p:nvSpPr>
          <p:cNvPr id="3" name="Rectangle 2">
            <a:extLst>
              <a:ext uri="{FF2B5EF4-FFF2-40B4-BE49-F238E27FC236}">
                <a16:creationId xmlns:a16="http://schemas.microsoft.com/office/drawing/2014/main" id="{20381246-554F-4491-81AD-AC5B55FF00E3}"/>
              </a:ext>
            </a:extLst>
          </p:cNvPr>
          <p:cNvSpPr/>
          <p:nvPr/>
        </p:nvSpPr>
        <p:spPr bwMode="auto">
          <a:xfrm>
            <a:off x="1275165" y="3563738"/>
            <a:ext cx="4428565"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Rectangle 6">
            <a:extLst>
              <a:ext uri="{FF2B5EF4-FFF2-40B4-BE49-F238E27FC236}">
                <a16:creationId xmlns:a16="http://schemas.microsoft.com/office/drawing/2014/main" id="{DFD953D4-E94C-4931-95CF-4F6090C132C6}"/>
              </a:ext>
            </a:extLst>
          </p:cNvPr>
          <p:cNvSpPr/>
          <p:nvPr/>
        </p:nvSpPr>
        <p:spPr bwMode="auto">
          <a:xfrm>
            <a:off x="5703730" y="3563738"/>
            <a:ext cx="3236259"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Rectangle 7">
            <a:extLst>
              <a:ext uri="{FF2B5EF4-FFF2-40B4-BE49-F238E27FC236}">
                <a16:creationId xmlns:a16="http://schemas.microsoft.com/office/drawing/2014/main" id="{B3A374D1-035B-4296-AF11-39F3D1CB376A}"/>
              </a:ext>
            </a:extLst>
          </p:cNvPr>
          <p:cNvSpPr/>
          <p:nvPr/>
        </p:nvSpPr>
        <p:spPr bwMode="auto">
          <a:xfrm>
            <a:off x="8939989" y="3563738"/>
            <a:ext cx="2043953"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TextBox 8">
            <a:extLst>
              <a:ext uri="{FF2B5EF4-FFF2-40B4-BE49-F238E27FC236}">
                <a16:creationId xmlns:a16="http://schemas.microsoft.com/office/drawing/2014/main" id="{12BD47B8-A6B1-4F8F-9147-2DB408856C8A}"/>
              </a:ext>
            </a:extLst>
          </p:cNvPr>
          <p:cNvSpPr txBox="1"/>
          <p:nvPr/>
        </p:nvSpPr>
        <p:spPr>
          <a:xfrm>
            <a:off x="10764736"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10" name="TextBox 9">
            <a:extLst>
              <a:ext uri="{FF2B5EF4-FFF2-40B4-BE49-F238E27FC236}">
                <a16:creationId xmlns:a16="http://schemas.microsoft.com/office/drawing/2014/main" id="{F27E07D4-54E5-4417-A2EB-1637E4230B68}"/>
              </a:ext>
            </a:extLst>
          </p:cNvPr>
          <p:cNvSpPr txBox="1"/>
          <p:nvPr/>
        </p:nvSpPr>
        <p:spPr>
          <a:xfrm>
            <a:off x="8873183"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11" name="TextBox 10">
            <a:extLst>
              <a:ext uri="{FF2B5EF4-FFF2-40B4-BE49-F238E27FC236}">
                <a16:creationId xmlns:a16="http://schemas.microsoft.com/office/drawing/2014/main" id="{64D7F0AF-9C66-444C-B430-357C40771FAE}"/>
              </a:ext>
            </a:extLst>
          </p:cNvPr>
          <p:cNvSpPr txBox="1"/>
          <p:nvPr/>
        </p:nvSpPr>
        <p:spPr>
          <a:xfrm>
            <a:off x="8658030" y="319933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12" name="TextBox 11">
            <a:extLst>
              <a:ext uri="{FF2B5EF4-FFF2-40B4-BE49-F238E27FC236}">
                <a16:creationId xmlns:a16="http://schemas.microsoft.com/office/drawing/2014/main" id="{33709545-3856-433F-85A8-815E9D55C183}"/>
              </a:ext>
            </a:extLst>
          </p:cNvPr>
          <p:cNvSpPr txBox="1"/>
          <p:nvPr/>
        </p:nvSpPr>
        <p:spPr>
          <a:xfrm>
            <a:off x="5654854" y="319933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13</a:t>
            </a:r>
          </a:p>
        </p:txBody>
      </p:sp>
      <p:sp>
        <p:nvSpPr>
          <p:cNvPr id="13" name="TextBox 12">
            <a:extLst>
              <a:ext uri="{FF2B5EF4-FFF2-40B4-BE49-F238E27FC236}">
                <a16:creationId xmlns:a16="http://schemas.microsoft.com/office/drawing/2014/main" id="{0B9F1391-C51F-4043-A4FD-DF4FAB0132C8}"/>
              </a:ext>
            </a:extLst>
          </p:cNvPr>
          <p:cNvSpPr txBox="1"/>
          <p:nvPr/>
        </p:nvSpPr>
        <p:spPr>
          <a:xfrm>
            <a:off x="5370161" y="321586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14</a:t>
            </a:r>
          </a:p>
        </p:txBody>
      </p:sp>
      <p:sp>
        <p:nvSpPr>
          <p:cNvPr id="14" name="TextBox 13">
            <a:extLst>
              <a:ext uri="{FF2B5EF4-FFF2-40B4-BE49-F238E27FC236}">
                <a16:creationId xmlns:a16="http://schemas.microsoft.com/office/drawing/2014/main" id="{1E4D02C6-98EE-4645-93E1-C2C115525345}"/>
              </a:ext>
            </a:extLst>
          </p:cNvPr>
          <p:cNvSpPr txBox="1"/>
          <p:nvPr/>
        </p:nvSpPr>
        <p:spPr>
          <a:xfrm>
            <a:off x="1180606" y="321586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5" name="TextBox 14">
            <a:extLst>
              <a:ext uri="{FF2B5EF4-FFF2-40B4-BE49-F238E27FC236}">
                <a16:creationId xmlns:a16="http://schemas.microsoft.com/office/drawing/2014/main" id="{372DD699-E1DB-411B-978D-3755B1ADD0C7}"/>
              </a:ext>
            </a:extLst>
          </p:cNvPr>
          <p:cNvSpPr txBox="1"/>
          <p:nvPr/>
        </p:nvSpPr>
        <p:spPr>
          <a:xfrm>
            <a:off x="9273558" y="3642220"/>
            <a:ext cx="1388713"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Byte offset</a:t>
            </a:r>
          </a:p>
        </p:txBody>
      </p:sp>
      <p:sp>
        <p:nvSpPr>
          <p:cNvPr id="16" name="TextBox 15">
            <a:extLst>
              <a:ext uri="{FF2B5EF4-FFF2-40B4-BE49-F238E27FC236}">
                <a16:creationId xmlns:a16="http://schemas.microsoft.com/office/drawing/2014/main" id="{541BB684-C78E-4498-801A-A4CD0A09CEAE}"/>
              </a:ext>
            </a:extLst>
          </p:cNvPr>
          <p:cNvSpPr txBox="1"/>
          <p:nvPr/>
        </p:nvSpPr>
        <p:spPr>
          <a:xfrm>
            <a:off x="6575181" y="3605037"/>
            <a:ext cx="1653017"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Set selection</a:t>
            </a:r>
          </a:p>
        </p:txBody>
      </p:sp>
      <p:sp>
        <p:nvSpPr>
          <p:cNvPr id="17" name="TextBox 16">
            <a:extLst>
              <a:ext uri="{FF2B5EF4-FFF2-40B4-BE49-F238E27FC236}">
                <a16:creationId xmlns:a16="http://schemas.microsoft.com/office/drawing/2014/main" id="{D0731672-41F2-4930-95F8-D81A20C84DBA}"/>
              </a:ext>
            </a:extLst>
          </p:cNvPr>
          <p:cNvSpPr txBox="1"/>
          <p:nvPr/>
        </p:nvSpPr>
        <p:spPr>
          <a:xfrm>
            <a:off x="2815059" y="3574260"/>
            <a:ext cx="681149"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itchFamily="34" charset="0"/>
              </a:rPr>
              <a:t>Tag</a:t>
            </a:r>
          </a:p>
        </p:txBody>
      </p:sp>
      <p:graphicFrame>
        <p:nvGraphicFramePr>
          <p:cNvPr id="18" name="Table 18">
            <a:extLst>
              <a:ext uri="{FF2B5EF4-FFF2-40B4-BE49-F238E27FC236}">
                <a16:creationId xmlns:a16="http://schemas.microsoft.com/office/drawing/2014/main" id="{7469C0E1-2094-41E0-8E7A-DCEB9054E8D5}"/>
              </a:ext>
            </a:extLst>
          </p:cNvPr>
          <p:cNvGraphicFramePr>
            <a:graphicFrameLocks noGrp="1"/>
          </p:cNvGraphicFramePr>
          <p:nvPr>
            <p:extLst>
              <p:ext uri="{D42A27DB-BD31-4B8C-83A1-F6EECF244321}">
                <p14:modId xmlns:p14="http://schemas.microsoft.com/office/powerpoint/2010/main" val="737256810"/>
              </p:ext>
            </p:extLst>
          </p:nvPr>
        </p:nvGraphicFramePr>
        <p:xfrm>
          <a:off x="2636737" y="4208806"/>
          <a:ext cx="8127999" cy="1854200"/>
        </p:xfrm>
        <a:graphic>
          <a:graphicData uri="http://schemas.openxmlformats.org/drawingml/2006/table">
            <a:tbl>
              <a:tblPr firstRow="1" bandRow="1">
                <a:tableStyleId>{5C22544A-7EE6-4342-B048-85BDC9FD1C3A}</a:tableStyleId>
              </a:tblPr>
              <a:tblGrid>
                <a:gridCol w="850534">
                  <a:extLst>
                    <a:ext uri="{9D8B030D-6E8A-4147-A177-3AD203B41FA5}">
                      <a16:colId xmlns:a16="http://schemas.microsoft.com/office/drawing/2014/main" val="103262277"/>
                    </a:ext>
                  </a:extLst>
                </a:gridCol>
                <a:gridCol w="3433482">
                  <a:extLst>
                    <a:ext uri="{9D8B030D-6E8A-4147-A177-3AD203B41FA5}">
                      <a16:colId xmlns:a16="http://schemas.microsoft.com/office/drawing/2014/main" val="876655191"/>
                    </a:ext>
                  </a:extLst>
                </a:gridCol>
                <a:gridCol w="3843983">
                  <a:extLst>
                    <a:ext uri="{9D8B030D-6E8A-4147-A177-3AD203B41FA5}">
                      <a16:colId xmlns:a16="http://schemas.microsoft.com/office/drawing/2014/main" val="974945960"/>
                    </a:ext>
                  </a:extLst>
                </a:gridCol>
              </a:tblGrid>
              <a:tr h="370840">
                <a:tc>
                  <a:txBody>
                    <a:bodyPr/>
                    <a:lstStyle/>
                    <a:p>
                      <a:r>
                        <a:rPr lang="en-US" dirty="0"/>
                        <a:t>Valid</a:t>
                      </a:r>
                    </a:p>
                  </a:txBody>
                  <a:tcPr/>
                </a:tc>
                <a:tc>
                  <a:txBody>
                    <a:bodyPr/>
                    <a:lstStyle/>
                    <a:p>
                      <a:pPr algn="ctr"/>
                      <a:r>
                        <a:rPr lang="en-US" dirty="0"/>
                        <a:t>Tag</a:t>
                      </a:r>
                    </a:p>
                  </a:txBody>
                  <a:tcPr/>
                </a:tc>
                <a:tc>
                  <a:txBody>
                    <a:bodyPr/>
                    <a:lstStyle/>
                    <a:p>
                      <a:pPr algn="ctr"/>
                      <a:r>
                        <a:rPr lang="en-US" dirty="0"/>
                        <a:t>Data</a:t>
                      </a:r>
                    </a:p>
                  </a:txBody>
                  <a:tcPr/>
                </a:tc>
                <a:extLst>
                  <a:ext uri="{0D108BD9-81ED-4DB2-BD59-A6C34878D82A}">
                    <a16:rowId xmlns:a16="http://schemas.microsoft.com/office/drawing/2014/main" val="3986688538"/>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43119190"/>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4502663"/>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56245067"/>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218838749"/>
                  </a:ext>
                </a:extLst>
              </a:tr>
            </a:tbl>
          </a:graphicData>
        </a:graphic>
      </p:graphicFrame>
      <p:sp>
        <p:nvSpPr>
          <p:cNvPr id="19" name="TextBox 18">
            <a:extLst>
              <a:ext uri="{FF2B5EF4-FFF2-40B4-BE49-F238E27FC236}">
                <a16:creationId xmlns:a16="http://schemas.microsoft.com/office/drawing/2014/main" id="{FCA07E43-F26E-453A-8822-486B3DD6CCEB}"/>
              </a:ext>
            </a:extLst>
          </p:cNvPr>
          <p:cNvSpPr txBox="1"/>
          <p:nvPr/>
        </p:nvSpPr>
        <p:spPr>
          <a:xfrm>
            <a:off x="1913462" y="4577283"/>
            <a:ext cx="723275" cy="369332"/>
          </a:xfrm>
          <a:prstGeom prst="rect">
            <a:avLst/>
          </a:prstGeom>
          <a:noFill/>
        </p:spPr>
        <p:txBody>
          <a:bodyPr wrap="none" rtlCol="0" anchor="ctr" anchorCtr="1">
            <a:spAutoFit/>
          </a:bodyPr>
          <a:lstStyle/>
          <a:p>
            <a:r>
              <a:rPr lang="en-US" dirty="0">
                <a:ea typeface="標楷體" pitchFamily="65" charset="-120"/>
                <a:cs typeface="Calibri" pitchFamily="34" charset="0"/>
              </a:rPr>
              <a:t>Set 0</a:t>
            </a:r>
          </a:p>
        </p:txBody>
      </p:sp>
      <p:sp>
        <p:nvSpPr>
          <p:cNvPr id="20" name="TextBox 19">
            <a:extLst>
              <a:ext uri="{FF2B5EF4-FFF2-40B4-BE49-F238E27FC236}">
                <a16:creationId xmlns:a16="http://schemas.microsoft.com/office/drawing/2014/main" id="{DB273941-FAB4-4EE9-A312-9E2069FFC440}"/>
              </a:ext>
            </a:extLst>
          </p:cNvPr>
          <p:cNvSpPr txBox="1"/>
          <p:nvPr/>
        </p:nvSpPr>
        <p:spPr>
          <a:xfrm>
            <a:off x="1913461" y="4945760"/>
            <a:ext cx="723275" cy="369332"/>
          </a:xfrm>
          <a:prstGeom prst="rect">
            <a:avLst/>
          </a:prstGeom>
          <a:noFill/>
        </p:spPr>
        <p:txBody>
          <a:bodyPr wrap="none" rtlCol="0" anchor="ctr" anchorCtr="1">
            <a:spAutoFit/>
          </a:bodyPr>
          <a:lstStyle/>
          <a:p>
            <a:r>
              <a:rPr lang="en-US" dirty="0">
                <a:ea typeface="標楷體" pitchFamily="65" charset="-120"/>
                <a:cs typeface="Calibri" pitchFamily="34" charset="0"/>
              </a:rPr>
              <a:t>Set 1</a:t>
            </a:r>
          </a:p>
        </p:txBody>
      </p:sp>
      <p:sp>
        <p:nvSpPr>
          <p:cNvPr id="21" name="TextBox 20">
            <a:extLst>
              <a:ext uri="{FF2B5EF4-FFF2-40B4-BE49-F238E27FC236}">
                <a16:creationId xmlns:a16="http://schemas.microsoft.com/office/drawing/2014/main" id="{97AB900A-8258-4653-89FC-58310E8BCADD}"/>
              </a:ext>
            </a:extLst>
          </p:cNvPr>
          <p:cNvSpPr txBox="1"/>
          <p:nvPr/>
        </p:nvSpPr>
        <p:spPr>
          <a:xfrm>
            <a:off x="1913461" y="5334712"/>
            <a:ext cx="710451"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22" name="TextBox 21">
            <a:extLst>
              <a:ext uri="{FF2B5EF4-FFF2-40B4-BE49-F238E27FC236}">
                <a16:creationId xmlns:a16="http://schemas.microsoft.com/office/drawing/2014/main" id="{7205E90C-B92D-423C-88BD-ABC30306E76E}"/>
              </a:ext>
            </a:extLst>
          </p:cNvPr>
          <p:cNvSpPr txBox="1"/>
          <p:nvPr/>
        </p:nvSpPr>
        <p:spPr>
          <a:xfrm>
            <a:off x="1656981" y="5732463"/>
            <a:ext cx="979755" cy="369332"/>
          </a:xfrm>
          <a:prstGeom prst="rect">
            <a:avLst/>
          </a:prstGeom>
          <a:noFill/>
        </p:spPr>
        <p:txBody>
          <a:bodyPr wrap="none" rtlCol="0" anchor="ctr" anchorCtr="1">
            <a:spAutoFit/>
          </a:bodyPr>
          <a:lstStyle/>
          <a:p>
            <a:r>
              <a:rPr lang="en-US" dirty="0">
                <a:ea typeface="標楷體" pitchFamily="65" charset="-120"/>
                <a:cs typeface="Calibri" pitchFamily="34" charset="0"/>
              </a:rPr>
              <a:t>Set 255</a:t>
            </a:r>
          </a:p>
        </p:txBody>
      </p:sp>
      <p:cxnSp>
        <p:nvCxnSpPr>
          <p:cNvPr id="24" name="Straight Arrow Connector 23">
            <a:extLst>
              <a:ext uri="{FF2B5EF4-FFF2-40B4-BE49-F238E27FC236}">
                <a16:creationId xmlns:a16="http://schemas.microsoft.com/office/drawing/2014/main" id="{6442755D-065E-4E79-AFCE-6B617F792787}"/>
              </a:ext>
            </a:extLst>
          </p:cNvPr>
          <p:cNvCxnSpPr/>
          <p:nvPr/>
        </p:nvCxnSpPr>
        <p:spPr bwMode="auto">
          <a:xfrm>
            <a:off x="3612776" y="3945956"/>
            <a:ext cx="797859" cy="1184470"/>
          </a:xfrm>
          <a:prstGeom prst="straightConnector1">
            <a:avLst/>
          </a:prstGeom>
          <a:noFill/>
          <a:ln w="76200" cap="flat" cmpd="sng" algn="ctr">
            <a:solidFill>
              <a:srgbClr val="FF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990E3BF9-A52A-4FCE-B12F-D30555D4CD0F}"/>
              </a:ext>
            </a:extLst>
          </p:cNvPr>
          <p:cNvCxnSpPr>
            <a:stCxn id="16" idx="2"/>
          </p:cNvCxnSpPr>
          <p:nvPr/>
        </p:nvCxnSpPr>
        <p:spPr bwMode="auto">
          <a:xfrm flipH="1">
            <a:off x="2315066" y="4005147"/>
            <a:ext cx="5086624" cy="1485019"/>
          </a:xfrm>
          <a:prstGeom prst="straightConnector1">
            <a:avLst/>
          </a:prstGeom>
          <a:no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7921737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Exercise 2 </a:t>
            </a:r>
          </a:p>
        </p:txBody>
      </p:sp>
      <p:sp>
        <p:nvSpPr>
          <p:cNvPr id="6" name="Content Placeholder 5"/>
          <p:cNvSpPr>
            <a:spLocks noGrp="1"/>
          </p:cNvSpPr>
          <p:nvPr>
            <p:ph idx="1"/>
          </p:nvPr>
        </p:nvSpPr>
        <p:spPr>
          <a:xfrm>
            <a:off x="609600" y="1125537"/>
            <a:ext cx="10972800" cy="1133984"/>
          </a:xfrm>
        </p:spPr>
        <p:txBody>
          <a:bodyPr/>
          <a:lstStyle/>
          <a:p>
            <a:r>
              <a:rPr lang="en-US" sz="2667" dirty="0">
                <a:sym typeface="+mn-ea"/>
              </a:rPr>
              <a:t>How many total bits are required for a direct-mapped cache with 16 KB of data and 16-word blocks?</a:t>
            </a:r>
            <a:endParaRPr lang="en-US" sz="2667"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
        <p:nvSpPr>
          <p:cNvPr id="2" name="TextBox 1"/>
          <p:cNvSpPr txBox="1"/>
          <p:nvPr/>
        </p:nvSpPr>
        <p:spPr>
          <a:xfrm>
            <a:off x="950260" y="2208530"/>
            <a:ext cx="8590888" cy="2389950"/>
          </a:xfrm>
          <a:prstGeom prst="rect">
            <a:avLst/>
          </a:prstGeom>
          <a:noFill/>
        </p:spPr>
        <p:txBody>
          <a:bodyPr wrap="squar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33" dirty="0">
                <a:solidFill>
                  <a:srgbClr val="C00000"/>
                </a:solidFill>
                <a:latin typeface="Arial"/>
                <a:ea typeface="標楷體" pitchFamily="65" charset="-120"/>
                <a:cs typeface="Calibri" panose="020F07020304040A0204" pitchFamily="34" charset="0"/>
              </a:rPr>
              <a:t>A</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block size of 16 words means the line size is 64B, so 16K/64 = 256. There are </a:t>
            </a:r>
            <a:r>
              <a:rPr lang="en-US" sz="2133" dirty="0">
                <a:solidFill>
                  <a:srgbClr val="C00000"/>
                </a:solidFill>
                <a:latin typeface="Arial"/>
                <a:ea typeface="標楷體" pitchFamily="65" charset="-120"/>
                <a:cs typeface="Calibri" panose="020F07020304040A0204" pitchFamily="34" charset="0"/>
              </a:rPr>
              <a:t>256</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blocks: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For each block</a:t>
            </a:r>
          </a:p>
          <a:p>
            <a:pPr marL="380990" marR="0" lvl="0" indent="-38099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Data part: </a:t>
            </a:r>
            <a:r>
              <a:rPr lang="en-US" sz="2133" dirty="0">
                <a:solidFill>
                  <a:srgbClr val="C00000"/>
                </a:solidFill>
                <a:latin typeface="Arial"/>
                <a:ea typeface="標楷體" pitchFamily="65" charset="-120"/>
                <a:cs typeface="Calibri" panose="020F07020304040A0204" pitchFamily="34" charset="0"/>
              </a:rPr>
              <a:t>64x8</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bits (i.e. 64B)</a:t>
            </a:r>
          </a:p>
          <a:p>
            <a:pPr marL="380990" marR="0" lvl="0" indent="-38099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Tag part: 32-8-6 = 18 bits</a:t>
            </a:r>
          </a:p>
          <a:p>
            <a:pPr marL="380990" marR="0" lvl="0" indent="-38099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Valid bit: 1 bit</a:t>
            </a:r>
          </a:p>
          <a:p>
            <a:pPr marL="380990" marR="0" lvl="0" indent="-38099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Total: 2</a:t>
            </a:r>
            <a:r>
              <a:rPr lang="en-US" sz="2133" dirty="0">
                <a:solidFill>
                  <a:srgbClr val="C00000"/>
                </a:solidFill>
                <a:latin typeface="Arial"/>
                <a:ea typeface="標楷體" pitchFamily="65" charset="-120"/>
                <a:cs typeface="Calibri" panose="020F07020304040A0204" pitchFamily="34" charset="0"/>
              </a:rPr>
              <a:t>56</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 (</a:t>
            </a:r>
            <a:r>
              <a:rPr lang="en-US" sz="2133" dirty="0">
                <a:solidFill>
                  <a:srgbClr val="C00000"/>
                </a:solidFill>
                <a:latin typeface="Arial"/>
                <a:ea typeface="標楷體" pitchFamily="65" charset="-120"/>
                <a:cs typeface="Calibri" panose="020F07020304040A0204" pitchFamily="34" charset="0"/>
              </a:rPr>
              <a:t>64x8</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+ 18 + 1) = 136 </a:t>
            </a:r>
            <a:r>
              <a:rPr kumimoji="0" lang="en-US" sz="2133" b="0" i="0" u="none" strike="noStrike" kern="1200" cap="none" spc="0" normalizeH="0" baseline="0" noProof="0" dirty="0" err="1">
                <a:ln>
                  <a:noFill/>
                </a:ln>
                <a:solidFill>
                  <a:srgbClr val="C00000"/>
                </a:solidFill>
                <a:effectLst/>
                <a:uLnTx/>
                <a:uFillTx/>
                <a:latin typeface="Arial"/>
                <a:ea typeface="標楷體" pitchFamily="65" charset="-120"/>
                <a:cs typeface="Calibri" panose="020F07020304040A0204" pitchFamily="34" charset="0"/>
              </a:rPr>
              <a:t>Kb</a:t>
            </a:r>
            <a:endPar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endParaRPr>
          </a:p>
        </p:txBody>
      </p:sp>
      <p:sp>
        <p:nvSpPr>
          <p:cNvPr id="7" name="TextBox 6">
            <a:extLst>
              <a:ext uri="{FF2B5EF4-FFF2-40B4-BE49-F238E27FC236}">
                <a16:creationId xmlns:a16="http://schemas.microsoft.com/office/drawing/2014/main" id="{60F6D2E7-8671-4C58-8B2B-E2F52F788A30}"/>
              </a:ext>
            </a:extLst>
          </p:cNvPr>
          <p:cNvSpPr txBox="1"/>
          <p:nvPr/>
        </p:nvSpPr>
        <p:spPr>
          <a:xfrm>
            <a:off x="950260" y="5446203"/>
            <a:ext cx="340658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Tag</a:t>
            </a:r>
          </a:p>
        </p:txBody>
      </p:sp>
      <p:sp>
        <p:nvSpPr>
          <p:cNvPr id="8" name="TextBox 7">
            <a:extLst>
              <a:ext uri="{FF2B5EF4-FFF2-40B4-BE49-F238E27FC236}">
                <a16:creationId xmlns:a16="http://schemas.microsoft.com/office/drawing/2014/main" id="{DD7676E5-0E13-4972-9568-5AAF17C5CD57}"/>
              </a:ext>
            </a:extLst>
          </p:cNvPr>
          <p:cNvSpPr txBox="1"/>
          <p:nvPr/>
        </p:nvSpPr>
        <p:spPr>
          <a:xfrm>
            <a:off x="4356848" y="5446203"/>
            <a:ext cx="2214282"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Set</a:t>
            </a:r>
          </a:p>
        </p:txBody>
      </p:sp>
      <p:sp>
        <p:nvSpPr>
          <p:cNvPr id="9" name="TextBox 8">
            <a:extLst>
              <a:ext uri="{FF2B5EF4-FFF2-40B4-BE49-F238E27FC236}">
                <a16:creationId xmlns:a16="http://schemas.microsoft.com/office/drawing/2014/main" id="{EDB6C604-C239-46E6-BD76-45186F0CA7CA}"/>
              </a:ext>
            </a:extLst>
          </p:cNvPr>
          <p:cNvSpPr txBox="1"/>
          <p:nvPr/>
        </p:nvSpPr>
        <p:spPr>
          <a:xfrm>
            <a:off x="6571130" y="5446203"/>
            <a:ext cx="1461246" cy="369332"/>
          </a:xfrm>
          <a:prstGeom prst="rect">
            <a:avLst/>
          </a:prstGeom>
          <a:solidFill>
            <a:srgbClr val="00B0F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a:t>
            </a:r>
            <a:r>
              <a:rPr lang="en-US" dirty="0" err="1">
                <a:ea typeface="標楷體" pitchFamily="65" charset="-120"/>
                <a:cs typeface="Calibri" pitchFamily="34" charset="0"/>
              </a:rPr>
              <a:t>offet</a:t>
            </a:r>
            <a:endParaRPr lang="en-US" dirty="0">
              <a:ea typeface="標楷體" pitchFamily="65" charset="-120"/>
              <a:cs typeface="Calibri" pitchFamily="34" charset="0"/>
            </a:endParaRPr>
          </a:p>
        </p:txBody>
      </p:sp>
      <p:graphicFrame>
        <p:nvGraphicFramePr>
          <p:cNvPr id="11" name="Table 11">
            <a:extLst>
              <a:ext uri="{FF2B5EF4-FFF2-40B4-BE49-F238E27FC236}">
                <a16:creationId xmlns:a16="http://schemas.microsoft.com/office/drawing/2014/main" id="{279529AA-3671-44ED-9CD3-08F725FA003A}"/>
              </a:ext>
            </a:extLst>
          </p:cNvPr>
          <p:cNvGraphicFramePr>
            <a:graphicFrameLocks noGrp="1"/>
          </p:cNvGraphicFramePr>
          <p:nvPr>
            <p:extLst>
              <p:ext uri="{D42A27DB-BD31-4B8C-83A1-F6EECF244321}">
                <p14:modId xmlns:p14="http://schemas.microsoft.com/office/powerpoint/2010/main" val="543896784"/>
              </p:ext>
            </p:extLst>
          </p:nvPr>
        </p:nvGraphicFramePr>
        <p:xfrm>
          <a:off x="7850094" y="2866617"/>
          <a:ext cx="3974353" cy="2225040"/>
        </p:xfrm>
        <a:graphic>
          <a:graphicData uri="http://schemas.openxmlformats.org/drawingml/2006/table">
            <a:tbl>
              <a:tblPr firstRow="1" bandRow="1">
                <a:tableStyleId>{5C22544A-7EE6-4342-B048-85BDC9FD1C3A}</a:tableStyleId>
              </a:tblPr>
              <a:tblGrid>
                <a:gridCol w="3974353">
                  <a:extLst>
                    <a:ext uri="{9D8B030D-6E8A-4147-A177-3AD203B41FA5}">
                      <a16:colId xmlns:a16="http://schemas.microsoft.com/office/drawing/2014/main" val="2524356951"/>
                    </a:ext>
                  </a:extLst>
                </a:gridCol>
              </a:tblGrid>
              <a:tr h="370840">
                <a:tc>
                  <a:txBody>
                    <a:bodyPr/>
                    <a:lstStyle/>
                    <a:p>
                      <a:endParaRPr lang="en-US"/>
                    </a:p>
                  </a:txBody>
                  <a:tcPr/>
                </a:tc>
                <a:extLst>
                  <a:ext uri="{0D108BD9-81ED-4DB2-BD59-A6C34878D82A}">
                    <a16:rowId xmlns:a16="http://schemas.microsoft.com/office/drawing/2014/main" val="871633837"/>
                  </a:ext>
                </a:extLst>
              </a:tr>
              <a:tr h="370840">
                <a:tc>
                  <a:txBody>
                    <a:bodyPr/>
                    <a:lstStyle/>
                    <a:p>
                      <a:endParaRPr lang="en-US"/>
                    </a:p>
                  </a:txBody>
                  <a:tcPr/>
                </a:tc>
                <a:extLst>
                  <a:ext uri="{0D108BD9-81ED-4DB2-BD59-A6C34878D82A}">
                    <a16:rowId xmlns:a16="http://schemas.microsoft.com/office/drawing/2014/main" val="249714964"/>
                  </a:ext>
                </a:extLst>
              </a:tr>
              <a:tr h="1112520">
                <a:tc>
                  <a:txBody>
                    <a:bodyPr/>
                    <a:lstStyle/>
                    <a:p>
                      <a:endParaRPr lang="en-US" dirty="0"/>
                    </a:p>
                  </a:txBody>
                  <a:tcPr/>
                </a:tc>
                <a:extLst>
                  <a:ext uri="{0D108BD9-81ED-4DB2-BD59-A6C34878D82A}">
                    <a16:rowId xmlns:a16="http://schemas.microsoft.com/office/drawing/2014/main" val="52069090"/>
                  </a:ext>
                </a:extLst>
              </a:tr>
              <a:tr h="370840">
                <a:tc>
                  <a:txBody>
                    <a:bodyPr/>
                    <a:lstStyle/>
                    <a:p>
                      <a:endParaRPr lang="en-US" dirty="0"/>
                    </a:p>
                  </a:txBody>
                  <a:tcPr/>
                </a:tc>
                <a:extLst>
                  <a:ext uri="{0D108BD9-81ED-4DB2-BD59-A6C34878D82A}">
                    <a16:rowId xmlns:a16="http://schemas.microsoft.com/office/drawing/2014/main" val="1624253689"/>
                  </a:ext>
                </a:extLst>
              </a:tr>
            </a:tbl>
          </a:graphicData>
        </a:graphic>
      </p:graphicFrame>
      <p:sp>
        <p:nvSpPr>
          <p:cNvPr id="12" name="Left Brace 11">
            <a:extLst>
              <a:ext uri="{FF2B5EF4-FFF2-40B4-BE49-F238E27FC236}">
                <a16:creationId xmlns:a16="http://schemas.microsoft.com/office/drawing/2014/main" id="{18DA6046-5AD7-403D-832D-D95D75445BB7}"/>
              </a:ext>
            </a:extLst>
          </p:cNvPr>
          <p:cNvSpPr/>
          <p:nvPr/>
        </p:nvSpPr>
        <p:spPr bwMode="auto">
          <a:xfrm>
            <a:off x="7279341" y="3065928"/>
            <a:ext cx="570753" cy="1864659"/>
          </a:xfrm>
          <a:prstGeom prst="leftBrac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0" name="Straight Arrow Connector 9">
            <a:extLst>
              <a:ext uri="{FF2B5EF4-FFF2-40B4-BE49-F238E27FC236}">
                <a16:creationId xmlns:a16="http://schemas.microsoft.com/office/drawing/2014/main" id="{38F47F50-9E67-44D9-86B7-EE178DEB3A9F}"/>
              </a:ext>
            </a:extLst>
          </p:cNvPr>
          <p:cNvCxnSpPr/>
          <p:nvPr/>
        </p:nvCxnSpPr>
        <p:spPr bwMode="auto">
          <a:xfrm>
            <a:off x="3365770" y="3816147"/>
            <a:ext cx="3589507" cy="1630056"/>
          </a:xfrm>
          <a:prstGeom prst="straightConnector1">
            <a:avLst/>
          </a:prstGeom>
          <a:noFill/>
          <a:ln w="15875" cap="flat" cmpd="sng" algn="ctr">
            <a:solidFill>
              <a:srgbClr val="FF000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F49B9F8E-297B-450F-8E43-488698A70BD4}"/>
              </a:ext>
            </a:extLst>
          </p:cNvPr>
          <p:cNvCxnSpPr>
            <a:endCxn id="8" idx="0"/>
          </p:cNvCxnSpPr>
          <p:nvPr/>
        </p:nvCxnSpPr>
        <p:spPr bwMode="auto">
          <a:xfrm>
            <a:off x="3083668" y="3852153"/>
            <a:ext cx="2380321" cy="1594050"/>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6143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Exercise 3: </a:t>
            </a:r>
            <a:r>
              <a:rPr lang="en-US" sz="4400" dirty="0"/>
              <a:t>A Case for Direct Mapped Cache</a:t>
            </a:r>
          </a:p>
        </p:txBody>
      </p:sp>
      <p:sp>
        <p:nvSpPr>
          <p:cNvPr id="6" name="Content Placeholder 5"/>
          <p:cNvSpPr>
            <a:spLocks noGrp="1"/>
          </p:cNvSpPr>
          <p:nvPr>
            <p:ph idx="1"/>
          </p:nvPr>
        </p:nvSpPr>
        <p:spPr>
          <a:xfrm>
            <a:off x="609600" y="1125537"/>
            <a:ext cx="10972800" cy="891522"/>
          </a:xfrm>
        </p:spPr>
        <p:txBody>
          <a:bodyPr/>
          <a:lstStyle/>
          <a:p>
            <a:r>
              <a:rPr lang="en-US" sz="2667" dirty="0">
                <a:sym typeface="+mn-ea"/>
              </a:rPr>
              <a:t>Assuming 32b addresses, how many </a:t>
            </a:r>
            <a:r>
              <a:rPr lang="en-US" sz="2667" dirty="0">
                <a:solidFill>
                  <a:srgbClr val="FF0000"/>
                </a:solidFill>
                <a:sym typeface="+mn-ea"/>
              </a:rPr>
              <a:t>a) tag bits </a:t>
            </a:r>
            <a:r>
              <a:rPr lang="en-US" sz="2667" dirty="0">
                <a:sym typeface="+mn-ea"/>
              </a:rPr>
              <a:t>and </a:t>
            </a:r>
            <a:r>
              <a:rPr lang="en-US" sz="2667" dirty="0">
                <a:solidFill>
                  <a:srgbClr val="FF0000"/>
                </a:solidFill>
                <a:sym typeface="+mn-ea"/>
              </a:rPr>
              <a:t>b) number of sets </a:t>
            </a:r>
            <a:r>
              <a:rPr lang="en-US" sz="2667" dirty="0">
                <a:sym typeface="+mn-ea"/>
              </a:rPr>
              <a:t>are used for the following direct-mapped caches?</a:t>
            </a:r>
            <a:endParaRPr lang="en-US" sz="2667"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graphicFrame>
        <p:nvGraphicFramePr>
          <p:cNvPr id="3" name="Table 6">
            <a:extLst>
              <a:ext uri="{FF2B5EF4-FFF2-40B4-BE49-F238E27FC236}">
                <a16:creationId xmlns:a16="http://schemas.microsoft.com/office/drawing/2014/main" id="{69C7D9F2-395D-4D6D-A04C-980A36D428F5}"/>
              </a:ext>
            </a:extLst>
          </p:cNvPr>
          <p:cNvGraphicFramePr>
            <a:graphicFrameLocks noGrp="1"/>
          </p:cNvGraphicFramePr>
          <p:nvPr>
            <p:extLst>
              <p:ext uri="{D42A27DB-BD31-4B8C-83A1-F6EECF244321}">
                <p14:modId xmlns:p14="http://schemas.microsoft.com/office/powerpoint/2010/main" val="3756264743"/>
              </p:ext>
            </p:extLst>
          </p:nvPr>
        </p:nvGraphicFramePr>
        <p:xfrm>
          <a:off x="2032000" y="2305979"/>
          <a:ext cx="8128000" cy="29667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996903104"/>
                    </a:ext>
                  </a:extLst>
                </a:gridCol>
                <a:gridCol w="2032000">
                  <a:extLst>
                    <a:ext uri="{9D8B030D-6E8A-4147-A177-3AD203B41FA5}">
                      <a16:colId xmlns:a16="http://schemas.microsoft.com/office/drawing/2014/main" val="2999391952"/>
                    </a:ext>
                  </a:extLst>
                </a:gridCol>
                <a:gridCol w="2032000">
                  <a:extLst>
                    <a:ext uri="{9D8B030D-6E8A-4147-A177-3AD203B41FA5}">
                      <a16:colId xmlns:a16="http://schemas.microsoft.com/office/drawing/2014/main" val="3574551415"/>
                    </a:ext>
                  </a:extLst>
                </a:gridCol>
                <a:gridCol w="2032000">
                  <a:extLst>
                    <a:ext uri="{9D8B030D-6E8A-4147-A177-3AD203B41FA5}">
                      <a16:colId xmlns:a16="http://schemas.microsoft.com/office/drawing/2014/main" val="662844590"/>
                    </a:ext>
                  </a:extLst>
                </a:gridCol>
              </a:tblGrid>
              <a:tr h="370840">
                <a:tc>
                  <a:txBody>
                    <a:bodyPr/>
                    <a:lstStyle/>
                    <a:p>
                      <a:r>
                        <a:rPr lang="en-US" dirty="0"/>
                        <a:t>Cache Size</a:t>
                      </a:r>
                    </a:p>
                  </a:txBody>
                  <a:tcPr/>
                </a:tc>
                <a:tc>
                  <a:txBody>
                    <a:bodyPr/>
                    <a:lstStyle/>
                    <a:p>
                      <a:r>
                        <a:rPr lang="en-US" dirty="0"/>
                        <a:t>Block (Line) size</a:t>
                      </a:r>
                    </a:p>
                  </a:txBody>
                  <a:tcPr/>
                </a:tc>
                <a:tc>
                  <a:txBody>
                    <a:bodyPr/>
                    <a:lstStyle/>
                    <a:p>
                      <a:r>
                        <a:rPr lang="en-US" dirty="0"/>
                        <a:t>Tag bits</a:t>
                      </a:r>
                    </a:p>
                  </a:txBody>
                  <a:tcPr/>
                </a:tc>
                <a:tc>
                  <a:txBody>
                    <a:bodyPr/>
                    <a:lstStyle/>
                    <a:p>
                      <a:r>
                        <a:rPr lang="en-US" dirty="0"/>
                        <a:t>Number of Sets</a:t>
                      </a:r>
                    </a:p>
                  </a:txBody>
                  <a:tcPr/>
                </a:tc>
                <a:extLst>
                  <a:ext uri="{0D108BD9-81ED-4DB2-BD59-A6C34878D82A}">
                    <a16:rowId xmlns:a16="http://schemas.microsoft.com/office/drawing/2014/main" val="2175511484"/>
                  </a:ext>
                </a:extLst>
              </a:tr>
              <a:tr h="370840">
                <a:tc>
                  <a:txBody>
                    <a:bodyPr/>
                    <a:lstStyle/>
                    <a:p>
                      <a:r>
                        <a:rPr lang="en-US" dirty="0"/>
                        <a:t>16KB</a:t>
                      </a:r>
                    </a:p>
                  </a:txBody>
                  <a:tcPr/>
                </a:tc>
                <a:tc>
                  <a:txBody>
                    <a:bodyPr/>
                    <a:lstStyle/>
                    <a:p>
                      <a:r>
                        <a:rPr lang="en-US" dirty="0"/>
                        <a:t>64B</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578031739"/>
                  </a:ext>
                </a:extLst>
              </a:tr>
              <a:tr h="370840">
                <a:tc>
                  <a:txBody>
                    <a:bodyPr/>
                    <a:lstStyle/>
                    <a:p>
                      <a:r>
                        <a:rPr lang="en-US" dirty="0"/>
                        <a:t>32KB</a:t>
                      </a:r>
                    </a:p>
                  </a:txBody>
                  <a:tcPr/>
                </a:tc>
                <a:tc>
                  <a:txBody>
                    <a:bodyPr/>
                    <a:lstStyle/>
                    <a:p>
                      <a:r>
                        <a:rPr lang="en-US" dirty="0"/>
                        <a:t>64B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01671369"/>
                  </a:ext>
                </a:extLst>
              </a:tr>
              <a:tr h="370840">
                <a:tc>
                  <a:txBody>
                    <a:bodyPr/>
                    <a:lstStyle/>
                    <a:p>
                      <a:r>
                        <a:rPr lang="en-US" dirty="0"/>
                        <a:t>32KB</a:t>
                      </a:r>
                    </a:p>
                  </a:txBody>
                  <a:tcPr/>
                </a:tc>
                <a:tc>
                  <a:txBody>
                    <a:bodyPr/>
                    <a:lstStyle/>
                    <a:p>
                      <a:r>
                        <a:rPr lang="en-US" dirty="0"/>
                        <a:t>32B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85833678"/>
                  </a:ext>
                </a:extLst>
              </a:tr>
              <a:tr h="370840">
                <a:tc>
                  <a:txBody>
                    <a:bodyPr/>
                    <a:lstStyle/>
                    <a:p>
                      <a:r>
                        <a:rPr lang="en-US" dirty="0"/>
                        <a:t>1MB</a:t>
                      </a:r>
                    </a:p>
                  </a:txBody>
                  <a:tcPr/>
                </a:tc>
                <a:tc>
                  <a:txBody>
                    <a:bodyPr/>
                    <a:lstStyle/>
                    <a:p>
                      <a:r>
                        <a:rPr lang="en-US" dirty="0"/>
                        <a:t>64B</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122121435"/>
                  </a:ext>
                </a:extLst>
              </a:tr>
              <a:tr h="370840">
                <a:tc>
                  <a:txBody>
                    <a:bodyPr/>
                    <a:lstStyle/>
                    <a:p>
                      <a:r>
                        <a:rPr lang="en-US" dirty="0"/>
                        <a:t>1MB</a:t>
                      </a:r>
                    </a:p>
                  </a:txBody>
                  <a:tcPr/>
                </a:tc>
                <a:tc>
                  <a:txBody>
                    <a:bodyPr/>
                    <a:lstStyle/>
                    <a:p>
                      <a:r>
                        <a:rPr lang="en-US" dirty="0"/>
                        <a:t>32B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87062590"/>
                  </a:ext>
                </a:extLst>
              </a:tr>
              <a:tr h="370840">
                <a:tc>
                  <a:txBody>
                    <a:bodyPr/>
                    <a:lstStyle/>
                    <a:p>
                      <a:r>
                        <a:rPr lang="en-US" dirty="0"/>
                        <a:t>4MB</a:t>
                      </a:r>
                    </a:p>
                  </a:txBody>
                  <a:tcPr/>
                </a:tc>
                <a:tc>
                  <a:txBody>
                    <a:bodyPr/>
                    <a:lstStyle/>
                    <a:p>
                      <a:r>
                        <a:rPr lang="en-US" dirty="0"/>
                        <a:t>64B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38588765"/>
                  </a:ext>
                </a:extLst>
              </a:tr>
              <a:tr h="370840">
                <a:tc>
                  <a:txBody>
                    <a:bodyPr/>
                    <a:lstStyle/>
                    <a:p>
                      <a:r>
                        <a:rPr lang="en-US" dirty="0"/>
                        <a:t>8MB</a:t>
                      </a:r>
                    </a:p>
                  </a:txBody>
                  <a:tcPr/>
                </a:tc>
                <a:tc>
                  <a:txBody>
                    <a:bodyPr/>
                    <a:lstStyle/>
                    <a:p>
                      <a:r>
                        <a:rPr lang="en-US" dirty="0"/>
                        <a:t>64B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60470640"/>
                  </a:ext>
                </a:extLst>
              </a:tr>
            </a:tbl>
          </a:graphicData>
        </a:graphic>
      </p:graphicFrame>
      <p:sp>
        <p:nvSpPr>
          <p:cNvPr id="7" name="TextBox 6">
            <a:extLst>
              <a:ext uri="{FF2B5EF4-FFF2-40B4-BE49-F238E27FC236}">
                <a16:creationId xmlns:a16="http://schemas.microsoft.com/office/drawing/2014/main" id="{F917A10F-0286-453F-9A9D-C94B0EF44C50}"/>
              </a:ext>
            </a:extLst>
          </p:cNvPr>
          <p:cNvSpPr txBox="1"/>
          <p:nvPr/>
        </p:nvSpPr>
        <p:spPr>
          <a:xfrm>
            <a:off x="8659906" y="2628736"/>
            <a:ext cx="699230"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256</a:t>
            </a:r>
          </a:p>
        </p:txBody>
      </p:sp>
      <p:sp>
        <p:nvSpPr>
          <p:cNvPr id="8" name="TextBox 7">
            <a:extLst>
              <a:ext uri="{FF2B5EF4-FFF2-40B4-BE49-F238E27FC236}">
                <a16:creationId xmlns:a16="http://schemas.microsoft.com/office/drawing/2014/main" id="{1A5FFC0C-CBAD-4FCB-B7B4-3335C05CBB90}"/>
              </a:ext>
            </a:extLst>
          </p:cNvPr>
          <p:cNvSpPr txBox="1"/>
          <p:nvPr/>
        </p:nvSpPr>
        <p:spPr>
          <a:xfrm>
            <a:off x="6499412" y="2628735"/>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18</a:t>
            </a:r>
          </a:p>
        </p:txBody>
      </p:sp>
      <p:sp>
        <p:nvSpPr>
          <p:cNvPr id="9" name="TextBox 8">
            <a:extLst>
              <a:ext uri="{FF2B5EF4-FFF2-40B4-BE49-F238E27FC236}">
                <a16:creationId xmlns:a16="http://schemas.microsoft.com/office/drawing/2014/main" id="{EC93BF52-FBD6-4954-BA18-51DAD990D11C}"/>
              </a:ext>
            </a:extLst>
          </p:cNvPr>
          <p:cNvSpPr txBox="1"/>
          <p:nvPr/>
        </p:nvSpPr>
        <p:spPr>
          <a:xfrm>
            <a:off x="8647953" y="2989237"/>
            <a:ext cx="699230"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512</a:t>
            </a:r>
          </a:p>
        </p:txBody>
      </p:sp>
      <p:sp>
        <p:nvSpPr>
          <p:cNvPr id="10" name="TextBox 9">
            <a:extLst>
              <a:ext uri="{FF2B5EF4-FFF2-40B4-BE49-F238E27FC236}">
                <a16:creationId xmlns:a16="http://schemas.microsoft.com/office/drawing/2014/main" id="{6A87BAFB-8ED2-47D9-9E69-005014B82A71}"/>
              </a:ext>
            </a:extLst>
          </p:cNvPr>
          <p:cNvSpPr txBox="1"/>
          <p:nvPr/>
        </p:nvSpPr>
        <p:spPr>
          <a:xfrm>
            <a:off x="6499412" y="2989237"/>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17</a:t>
            </a:r>
          </a:p>
        </p:txBody>
      </p:sp>
      <p:sp>
        <p:nvSpPr>
          <p:cNvPr id="11" name="TextBox 10">
            <a:extLst>
              <a:ext uri="{FF2B5EF4-FFF2-40B4-BE49-F238E27FC236}">
                <a16:creationId xmlns:a16="http://schemas.microsoft.com/office/drawing/2014/main" id="{705EEE06-71BC-4971-929D-647ECF4AEADC}"/>
              </a:ext>
            </a:extLst>
          </p:cNvPr>
          <p:cNvSpPr txBox="1"/>
          <p:nvPr/>
        </p:nvSpPr>
        <p:spPr>
          <a:xfrm>
            <a:off x="8488385" y="3412264"/>
            <a:ext cx="870751"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1024</a:t>
            </a:r>
          </a:p>
        </p:txBody>
      </p:sp>
      <p:sp>
        <p:nvSpPr>
          <p:cNvPr id="12" name="TextBox 11">
            <a:extLst>
              <a:ext uri="{FF2B5EF4-FFF2-40B4-BE49-F238E27FC236}">
                <a16:creationId xmlns:a16="http://schemas.microsoft.com/office/drawing/2014/main" id="{44ADB8C5-8B75-4C62-BF58-780744A15786}"/>
              </a:ext>
            </a:extLst>
          </p:cNvPr>
          <p:cNvSpPr txBox="1"/>
          <p:nvPr/>
        </p:nvSpPr>
        <p:spPr>
          <a:xfrm>
            <a:off x="6499412" y="3379320"/>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17</a:t>
            </a:r>
          </a:p>
        </p:txBody>
      </p:sp>
      <p:sp>
        <p:nvSpPr>
          <p:cNvPr id="13" name="TextBox 12">
            <a:extLst>
              <a:ext uri="{FF2B5EF4-FFF2-40B4-BE49-F238E27FC236}">
                <a16:creationId xmlns:a16="http://schemas.microsoft.com/office/drawing/2014/main" id="{454F33A5-E4EC-4352-AC2E-B0DED4D0DFCF}"/>
              </a:ext>
            </a:extLst>
          </p:cNvPr>
          <p:cNvSpPr txBox="1"/>
          <p:nvPr/>
        </p:nvSpPr>
        <p:spPr>
          <a:xfrm>
            <a:off x="8647953" y="3772765"/>
            <a:ext cx="732893"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16K</a:t>
            </a:r>
          </a:p>
        </p:txBody>
      </p:sp>
      <p:sp>
        <p:nvSpPr>
          <p:cNvPr id="14" name="TextBox 13">
            <a:extLst>
              <a:ext uri="{FF2B5EF4-FFF2-40B4-BE49-F238E27FC236}">
                <a16:creationId xmlns:a16="http://schemas.microsoft.com/office/drawing/2014/main" id="{2D458136-49A9-4E00-A2C7-72CE69FFF97A}"/>
              </a:ext>
            </a:extLst>
          </p:cNvPr>
          <p:cNvSpPr txBox="1"/>
          <p:nvPr/>
        </p:nvSpPr>
        <p:spPr>
          <a:xfrm>
            <a:off x="6499412" y="3772765"/>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12</a:t>
            </a:r>
          </a:p>
        </p:txBody>
      </p:sp>
      <p:sp>
        <p:nvSpPr>
          <p:cNvPr id="15" name="TextBox 14">
            <a:extLst>
              <a:ext uri="{FF2B5EF4-FFF2-40B4-BE49-F238E27FC236}">
                <a16:creationId xmlns:a16="http://schemas.microsoft.com/office/drawing/2014/main" id="{0067F624-750D-4A87-A2EB-7A0A0C38BF25}"/>
              </a:ext>
            </a:extLst>
          </p:cNvPr>
          <p:cNvSpPr txBox="1"/>
          <p:nvPr/>
        </p:nvSpPr>
        <p:spPr>
          <a:xfrm>
            <a:off x="8665865" y="4146203"/>
            <a:ext cx="732893"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32K</a:t>
            </a:r>
          </a:p>
        </p:txBody>
      </p:sp>
      <p:sp>
        <p:nvSpPr>
          <p:cNvPr id="16" name="TextBox 15">
            <a:extLst>
              <a:ext uri="{FF2B5EF4-FFF2-40B4-BE49-F238E27FC236}">
                <a16:creationId xmlns:a16="http://schemas.microsoft.com/office/drawing/2014/main" id="{468AC888-6BE9-4E59-BF3C-469F9EF25687}"/>
              </a:ext>
            </a:extLst>
          </p:cNvPr>
          <p:cNvSpPr txBox="1"/>
          <p:nvPr/>
        </p:nvSpPr>
        <p:spPr>
          <a:xfrm>
            <a:off x="6499411" y="4162848"/>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12</a:t>
            </a:r>
          </a:p>
        </p:txBody>
      </p:sp>
      <p:sp>
        <p:nvSpPr>
          <p:cNvPr id="17" name="TextBox 16">
            <a:extLst>
              <a:ext uri="{FF2B5EF4-FFF2-40B4-BE49-F238E27FC236}">
                <a16:creationId xmlns:a16="http://schemas.microsoft.com/office/drawing/2014/main" id="{20842022-C5F9-4B10-89AD-08B699813463}"/>
              </a:ext>
            </a:extLst>
          </p:cNvPr>
          <p:cNvSpPr txBox="1"/>
          <p:nvPr/>
        </p:nvSpPr>
        <p:spPr>
          <a:xfrm>
            <a:off x="8653923" y="4522732"/>
            <a:ext cx="732893"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64K</a:t>
            </a:r>
          </a:p>
        </p:txBody>
      </p:sp>
      <p:sp>
        <p:nvSpPr>
          <p:cNvPr id="18" name="TextBox 17">
            <a:extLst>
              <a:ext uri="{FF2B5EF4-FFF2-40B4-BE49-F238E27FC236}">
                <a16:creationId xmlns:a16="http://schemas.microsoft.com/office/drawing/2014/main" id="{DE08477D-B775-40DB-A332-3403BEC1FB1B}"/>
              </a:ext>
            </a:extLst>
          </p:cNvPr>
          <p:cNvSpPr txBox="1"/>
          <p:nvPr/>
        </p:nvSpPr>
        <p:spPr>
          <a:xfrm>
            <a:off x="6487469" y="4486940"/>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10</a:t>
            </a:r>
          </a:p>
        </p:txBody>
      </p:sp>
      <p:sp>
        <p:nvSpPr>
          <p:cNvPr id="19" name="TextBox 18">
            <a:extLst>
              <a:ext uri="{FF2B5EF4-FFF2-40B4-BE49-F238E27FC236}">
                <a16:creationId xmlns:a16="http://schemas.microsoft.com/office/drawing/2014/main" id="{1AE18A3A-6F89-418F-9580-C4645159D084}"/>
              </a:ext>
            </a:extLst>
          </p:cNvPr>
          <p:cNvSpPr txBox="1"/>
          <p:nvPr/>
        </p:nvSpPr>
        <p:spPr>
          <a:xfrm>
            <a:off x="8674068" y="4899261"/>
            <a:ext cx="904415"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256K</a:t>
            </a:r>
          </a:p>
        </p:txBody>
      </p:sp>
      <p:sp>
        <p:nvSpPr>
          <p:cNvPr id="20" name="TextBox 19">
            <a:extLst>
              <a:ext uri="{FF2B5EF4-FFF2-40B4-BE49-F238E27FC236}">
                <a16:creationId xmlns:a16="http://schemas.microsoft.com/office/drawing/2014/main" id="{427193C5-F413-4F92-ADD0-C88199298BF7}"/>
              </a:ext>
            </a:extLst>
          </p:cNvPr>
          <p:cNvSpPr txBox="1"/>
          <p:nvPr/>
        </p:nvSpPr>
        <p:spPr>
          <a:xfrm>
            <a:off x="6664961" y="4880434"/>
            <a:ext cx="356188"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8</a:t>
            </a:r>
          </a:p>
        </p:txBody>
      </p:sp>
    </p:spTree>
    <p:extLst>
      <p:ext uri="{BB962C8B-B14F-4D97-AF65-F5344CB8AC3E}">
        <p14:creationId xmlns:p14="http://schemas.microsoft.com/office/powerpoint/2010/main" val="61459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idx="4294967295"/>
          </p:nvPr>
        </p:nvSpPr>
        <p:spPr>
          <a:xfrm>
            <a:off x="1268362" y="173039"/>
            <a:ext cx="9037689" cy="643039"/>
          </a:xfrm>
        </p:spPr>
        <p:txBody>
          <a:bodyPr/>
          <a:lstStyle/>
          <a:p>
            <a:r>
              <a:rPr lang="en-AU" altLang="zh-TW" sz="4267" dirty="0">
                <a:solidFill>
                  <a:srgbClr val="002060"/>
                </a:solidFill>
                <a:ea typeface="新細明體" panose="02020500000000000000" pitchFamily="18" charset="-120"/>
              </a:rPr>
              <a:t>Fast Review</a:t>
            </a:r>
          </a:p>
        </p:txBody>
      </p:sp>
      <p:sp>
        <p:nvSpPr>
          <p:cNvPr id="224259" name="Rectangle 3"/>
          <p:cNvSpPr>
            <a:spLocks noGrp="1" noChangeArrowheads="1"/>
          </p:cNvSpPr>
          <p:nvPr>
            <p:ph type="body" idx="4294967295"/>
          </p:nvPr>
        </p:nvSpPr>
        <p:spPr>
          <a:xfrm>
            <a:off x="989022" y="1192036"/>
            <a:ext cx="9317029" cy="4440279"/>
          </a:xfrm>
        </p:spPr>
        <p:txBody>
          <a:bodyPr/>
          <a:lstStyle/>
          <a:p>
            <a:r>
              <a:rPr lang="en-AU" altLang="zh-TW" sz="3200" dirty="0">
                <a:ea typeface="新細明體" panose="02020500000000000000" pitchFamily="18" charset="-120"/>
              </a:rPr>
              <a:t>Basic Information about a cache</a:t>
            </a:r>
          </a:p>
          <a:p>
            <a:pPr lvl="1"/>
            <a:r>
              <a:rPr lang="en-AU" altLang="zh-TW" sz="2800" dirty="0">
                <a:ea typeface="新細明體" panose="02020500000000000000" pitchFamily="18" charset="-120"/>
              </a:rPr>
              <a:t>Cache size</a:t>
            </a:r>
          </a:p>
          <a:p>
            <a:pPr lvl="1"/>
            <a:r>
              <a:rPr lang="en-AU" altLang="zh-TW" sz="2800" dirty="0">
                <a:ea typeface="新細明體" panose="02020500000000000000" pitchFamily="18" charset="-120"/>
              </a:rPr>
              <a:t>Line size </a:t>
            </a:r>
          </a:p>
          <a:p>
            <a:pPr lvl="1"/>
            <a:r>
              <a:rPr lang="en-AU" altLang="zh-TW" sz="2800" dirty="0">
                <a:ea typeface="新細明體" panose="02020500000000000000" pitchFamily="18" charset="-120"/>
              </a:rPr>
              <a:t>Number of Sets</a:t>
            </a:r>
          </a:p>
          <a:p>
            <a:pPr lvl="2"/>
            <a:r>
              <a:rPr lang="en-AU" altLang="zh-TW" dirty="0">
                <a:ea typeface="新細明體" panose="02020500000000000000" pitchFamily="18" charset="-120"/>
              </a:rPr>
              <a:t>Direct mapped</a:t>
            </a:r>
          </a:p>
          <a:p>
            <a:pPr lvl="2"/>
            <a:r>
              <a:rPr lang="en-AU" altLang="zh-TW" dirty="0">
                <a:ea typeface="新細明體" panose="02020500000000000000" pitchFamily="18" charset="-120"/>
              </a:rPr>
              <a:t>Full associative</a:t>
            </a:r>
          </a:p>
          <a:p>
            <a:pPr lvl="2"/>
            <a:r>
              <a:rPr lang="en-AU" altLang="zh-TW" dirty="0">
                <a:ea typeface="新細明體" panose="02020500000000000000" pitchFamily="18" charset="-120"/>
              </a:rPr>
              <a:t>Set associative</a:t>
            </a:r>
          </a:p>
          <a:p>
            <a:pPr lvl="1"/>
            <a:r>
              <a:rPr lang="en-AU" altLang="zh-TW" sz="2800" dirty="0">
                <a:ea typeface="新細明體" panose="02020500000000000000" pitchFamily="18" charset="-120"/>
              </a:rPr>
              <a:t>Tag bits</a:t>
            </a:r>
          </a:p>
          <a:p>
            <a:pPr lvl="1"/>
            <a:r>
              <a:rPr lang="en-AU" altLang="zh-TW" sz="2800" dirty="0">
                <a:ea typeface="新細明體" panose="02020500000000000000" pitchFamily="18" charset="-120"/>
              </a:rPr>
              <a:t>Valid bit</a:t>
            </a:r>
          </a:p>
          <a:p>
            <a:pPr lvl="1"/>
            <a:endParaRPr lang="en-AU" altLang="zh-TW" sz="2267"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56</a:t>
            </a:fld>
            <a:endParaRPr lang="zh-TW" altLang="en-US"/>
          </a:p>
        </p:txBody>
      </p:sp>
    </p:spTree>
    <p:extLst>
      <p:ext uri="{BB962C8B-B14F-4D97-AF65-F5344CB8AC3E}">
        <p14:creationId xmlns:p14="http://schemas.microsoft.com/office/powerpoint/2010/main" val="8691148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idx="4294967295"/>
          </p:nvPr>
        </p:nvSpPr>
        <p:spPr>
          <a:xfrm>
            <a:off x="1268362" y="173039"/>
            <a:ext cx="10684455" cy="643039"/>
          </a:xfrm>
        </p:spPr>
        <p:txBody>
          <a:bodyPr/>
          <a:lstStyle/>
          <a:p>
            <a:r>
              <a:rPr lang="en-AU" altLang="zh-TW" sz="4267" dirty="0">
                <a:solidFill>
                  <a:srgbClr val="002060"/>
                </a:solidFill>
                <a:ea typeface="新細明體" panose="02020500000000000000" pitchFamily="18" charset="-120"/>
              </a:rPr>
              <a:t>Practical Example </a:t>
            </a:r>
            <a:r>
              <a:rPr lang="en-US" altLang="zh-CN" sz="4267" dirty="0">
                <a:solidFill>
                  <a:srgbClr val="002060"/>
                </a:solidFill>
                <a:ea typeface="新細明體" panose="02020500000000000000" pitchFamily="18" charset="-120"/>
              </a:rPr>
              <a:t>-</a:t>
            </a:r>
            <a:r>
              <a:rPr lang="en-AU" altLang="zh-TW" sz="4267" dirty="0">
                <a:solidFill>
                  <a:srgbClr val="002060"/>
                </a:solidFill>
                <a:ea typeface="新細明體" panose="02020500000000000000" pitchFamily="18" charset="-120"/>
              </a:rPr>
              <a:t> </a:t>
            </a:r>
            <a:r>
              <a:rPr lang="en-AU" altLang="zh-TW" sz="4267" dirty="0" err="1">
                <a:solidFill>
                  <a:srgbClr val="002060"/>
                </a:solidFill>
                <a:ea typeface="新細明體" panose="02020500000000000000" pitchFamily="18" charset="-120"/>
              </a:rPr>
              <a:t>Intrinsity</a:t>
            </a:r>
            <a:r>
              <a:rPr lang="en-AU" altLang="zh-TW" sz="4267" dirty="0">
                <a:solidFill>
                  <a:srgbClr val="002060"/>
                </a:solidFill>
                <a:ea typeface="新細明體" panose="02020500000000000000" pitchFamily="18" charset="-120"/>
              </a:rPr>
              <a:t> </a:t>
            </a:r>
            <a:r>
              <a:rPr lang="en-AU" altLang="zh-TW" sz="4267" dirty="0" err="1">
                <a:solidFill>
                  <a:srgbClr val="002060"/>
                </a:solidFill>
                <a:ea typeface="新細明體" panose="02020500000000000000" pitchFamily="18" charset="-120"/>
              </a:rPr>
              <a:t>FastMATH</a:t>
            </a:r>
            <a:r>
              <a:rPr lang="en-AU" altLang="zh-TW" sz="4267" dirty="0">
                <a:solidFill>
                  <a:srgbClr val="002060"/>
                </a:solidFill>
                <a:ea typeface="新細明體" panose="02020500000000000000" pitchFamily="18" charset="-120"/>
              </a:rPr>
              <a:t> (1)</a:t>
            </a:r>
          </a:p>
        </p:txBody>
      </p:sp>
      <p:sp>
        <p:nvSpPr>
          <p:cNvPr id="224259" name="Rectangle 3"/>
          <p:cNvSpPr>
            <a:spLocks noGrp="1" noChangeArrowheads="1"/>
          </p:cNvSpPr>
          <p:nvPr>
            <p:ph type="body" idx="4294967295"/>
          </p:nvPr>
        </p:nvSpPr>
        <p:spPr>
          <a:xfrm>
            <a:off x="1365748" y="1237027"/>
            <a:ext cx="9317029" cy="2745737"/>
          </a:xfrm>
        </p:spPr>
        <p:txBody>
          <a:bodyPr/>
          <a:lstStyle/>
          <a:p>
            <a:r>
              <a:rPr lang="en-AU" altLang="zh-TW" sz="2667" dirty="0">
                <a:ea typeface="新細明體" panose="02020500000000000000" pitchFamily="18" charset="-120"/>
              </a:rPr>
              <a:t>Embedded MIPS processor (like a co-processor, but highly integrated with MIPS core.</a:t>
            </a:r>
          </a:p>
          <a:p>
            <a:pPr lvl="1"/>
            <a:r>
              <a:rPr lang="en-AU" altLang="zh-TW" sz="2400" dirty="0">
                <a:ea typeface="新細明體" panose="02020500000000000000" pitchFamily="18" charset="-120"/>
              </a:rPr>
              <a:t>12-stage pipeline</a:t>
            </a:r>
          </a:p>
          <a:p>
            <a:pPr lvl="1"/>
            <a:r>
              <a:rPr lang="en-AU" altLang="zh-TW" sz="2400" dirty="0">
                <a:ea typeface="新細明體" panose="02020500000000000000" pitchFamily="18" charset="-120"/>
              </a:rPr>
              <a:t>Instruction and data access on each cycle</a:t>
            </a:r>
          </a:p>
          <a:p>
            <a:r>
              <a:rPr lang="en-AU" altLang="zh-TW" sz="2667" dirty="0">
                <a:ea typeface="新細明體" panose="02020500000000000000" pitchFamily="18" charset="-120"/>
              </a:rPr>
              <a:t>Split cache: Separate I-cache and D-cache</a:t>
            </a:r>
          </a:p>
          <a:p>
            <a:pPr lvl="1"/>
            <a:r>
              <a:rPr lang="en-AU" altLang="zh-TW" sz="2400" dirty="0">
                <a:ea typeface="新細明體" panose="02020500000000000000" pitchFamily="18" charset="-120"/>
              </a:rPr>
              <a:t>Each cache: </a:t>
            </a:r>
            <a:r>
              <a:rPr lang="en-AU" altLang="zh-TW" sz="2400" dirty="0">
                <a:solidFill>
                  <a:srgbClr val="FF0000"/>
                </a:solidFill>
                <a:ea typeface="新細明體" panose="02020500000000000000" pitchFamily="18" charset="-120"/>
              </a:rPr>
              <a:t>16KB: 256 blocks </a:t>
            </a:r>
            <a:r>
              <a:rPr lang="en-US" altLang="zh-TW" sz="2400" dirty="0">
                <a:solidFill>
                  <a:srgbClr val="FF0000"/>
                </a:solidFill>
                <a:cs typeface="Arial" panose="020B0604020202090204" pitchFamily="34" charset="0"/>
              </a:rPr>
              <a:t>×</a:t>
            </a:r>
            <a:r>
              <a:rPr lang="en-AU" altLang="zh-TW" sz="2400" dirty="0">
                <a:solidFill>
                  <a:srgbClr val="FF0000"/>
                </a:solidFill>
                <a:ea typeface="新細明體" panose="02020500000000000000" pitchFamily="18" charset="-120"/>
              </a:rPr>
              <a:t> 64B/block</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57</a:t>
            </a:fld>
            <a:endParaRPr lang="zh-TW"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idx="4294967295"/>
          </p:nvPr>
        </p:nvSpPr>
        <p:spPr>
          <a:xfrm>
            <a:off x="1268362" y="173039"/>
            <a:ext cx="9037689" cy="643039"/>
          </a:xfrm>
        </p:spPr>
        <p:txBody>
          <a:bodyPr/>
          <a:lstStyle/>
          <a:p>
            <a:r>
              <a:rPr lang="en-AU" altLang="zh-TW" sz="4267" dirty="0">
                <a:solidFill>
                  <a:srgbClr val="002060"/>
                </a:solidFill>
                <a:ea typeface="新細明體" panose="02020500000000000000" pitchFamily="18" charset="-120"/>
              </a:rPr>
              <a:t>Example: </a:t>
            </a:r>
            <a:r>
              <a:rPr lang="en-AU" altLang="zh-TW" sz="4267" dirty="0" err="1">
                <a:solidFill>
                  <a:srgbClr val="002060"/>
                </a:solidFill>
                <a:ea typeface="新細明體" panose="02020500000000000000" pitchFamily="18" charset="-120"/>
              </a:rPr>
              <a:t>Intrinsity</a:t>
            </a:r>
            <a:r>
              <a:rPr lang="en-AU" altLang="zh-TW" sz="4267" dirty="0">
                <a:solidFill>
                  <a:srgbClr val="002060"/>
                </a:solidFill>
                <a:ea typeface="新細明體" panose="02020500000000000000" pitchFamily="18" charset="-120"/>
              </a:rPr>
              <a:t> </a:t>
            </a:r>
            <a:r>
              <a:rPr lang="en-AU" altLang="zh-TW" sz="4267" dirty="0" err="1">
                <a:solidFill>
                  <a:srgbClr val="002060"/>
                </a:solidFill>
                <a:ea typeface="新細明體" panose="02020500000000000000" pitchFamily="18" charset="-120"/>
              </a:rPr>
              <a:t>FastMATH</a:t>
            </a:r>
            <a:r>
              <a:rPr lang="en-AU" altLang="zh-TW" sz="4267" dirty="0">
                <a:solidFill>
                  <a:srgbClr val="002060"/>
                </a:solidFill>
                <a:ea typeface="新細明體" panose="02020500000000000000" pitchFamily="18" charset="-120"/>
              </a:rPr>
              <a:t> Caches </a:t>
            </a:r>
          </a:p>
        </p:txBody>
      </p:sp>
      <p:sp>
        <p:nvSpPr>
          <p:cNvPr id="224259" name="Rectangle 3"/>
          <p:cNvSpPr>
            <a:spLocks noGrp="1" noChangeArrowheads="1"/>
          </p:cNvSpPr>
          <p:nvPr>
            <p:ph type="body" idx="4294967295"/>
          </p:nvPr>
        </p:nvSpPr>
        <p:spPr>
          <a:xfrm>
            <a:off x="989022" y="1192036"/>
            <a:ext cx="9317029" cy="4440279"/>
          </a:xfrm>
        </p:spPr>
        <p:txBody>
          <a:bodyPr/>
          <a:lstStyle/>
          <a:p>
            <a:pPr lvl="1"/>
            <a:r>
              <a:rPr lang="en-AU" altLang="zh-TW" sz="2800" dirty="0">
                <a:ea typeface="新細明體" panose="02020500000000000000" pitchFamily="18" charset="-120"/>
              </a:rPr>
              <a:t>Cache size: </a:t>
            </a:r>
          </a:p>
          <a:p>
            <a:pPr lvl="1"/>
            <a:r>
              <a:rPr lang="en-AU" altLang="zh-TW" sz="2800" dirty="0">
                <a:ea typeface="新細明體" panose="02020500000000000000" pitchFamily="18" charset="-120"/>
              </a:rPr>
              <a:t>Line size: </a:t>
            </a:r>
          </a:p>
          <a:p>
            <a:pPr lvl="1"/>
            <a:r>
              <a:rPr lang="en-AU" altLang="zh-TW" sz="2800" dirty="0">
                <a:ea typeface="新細明體" panose="02020500000000000000" pitchFamily="18" charset="-120"/>
              </a:rPr>
              <a:t>Number of Sets</a:t>
            </a:r>
          </a:p>
          <a:p>
            <a:pPr lvl="2"/>
            <a:r>
              <a:rPr lang="en-AU" altLang="zh-TW" dirty="0">
                <a:ea typeface="新細明體" panose="02020500000000000000" pitchFamily="18" charset="-120"/>
              </a:rPr>
              <a:t>Direct mapped:  </a:t>
            </a:r>
          </a:p>
          <a:p>
            <a:pPr lvl="2"/>
            <a:r>
              <a:rPr lang="en-AU" altLang="zh-TW" i="1" dirty="0">
                <a:ea typeface="新細明體" panose="02020500000000000000" pitchFamily="18" charset="-120"/>
              </a:rPr>
              <a:t>If Fully associative</a:t>
            </a:r>
            <a:r>
              <a:rPr lang="en-AU" altLang="zh-TW" dirty="0">
                <a:ea typeface="新細明體" panose="02020500000000000000" pitchFamily="18" charset="-120"/>
              </a:rPr>
              <a:t>: </a:t>
            </a:r>
          </a:p>
          <a:p>
            <a:pPr lvl="2"/>
            <a:r>
              <a:rPr lang="en-AU" altLang="zh-TW" dirty="0">
                <a:ea typeface="新細明體" panose="02020500000000000000" pitchFamily="18" charset="-120"/>
              </a:rPr>
              <a:t>Set associative</a:t>
            </a:r>
          </a:p>
          <a:p>
            <a:pPr lvl="1"/>
            <a:r>
              <a:rPr lang="en-AU" altLang="zh-TW" sz="2800" dirty="0">
                <a:ea typeface="新細明體" panose="02020500000000000000" pitchFamily="18" charset="-120"/>
              </a:rPr>
              <a:t>Tag bits: </a:t>
            </a:r>
          </a:p>
          <a:p>
            <a:pPr lvl="1"/>
            <a:r>
              <a:rPr lang="en-AU" altLang="zh-TW" sz="2800" dirty="0">
                <a:ea typeface="新細明體" panose="02020500000000000000" pitchFamily="18" charset="-120"/>
              </a:rPr>
              <a:t>Valid bit: </a:t>
            </a:r>
          </a:p>
          <a:p>
            <a:pPr lvl="1"/>
            <a:endParaRPr lang="en-AU" altLang="zh-TW" sz="2267"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58</a:t>
            </a:fld>
            <a:endParaRPr lang="zh-TW" altLang="en-US"/>
          </a:p>
        </p:txBody>
      </p:sp>
      <p:sp>
        <p:nvSpPr>
          <p:cNvPr id="2" name="TextBox 1">
            <a:extLst>
              <a:ext uri="{FF2B5EF4-FFF2-40B4-BE49-F238E27FC236}">
                <a16:creationId xmlns:a16="http://schemas.microsoft.com/office/drawing/2014/main" id="{07CEC489-313A-4826-B3D0-1D39B61B0BBB}"/>
              </a:ext>
            </a:extLst>
          </p:cNvPr>
          <p:cNvSpPr txBox="1"/>
          <p:nvPr/>
        </p:nvSpPr>
        <p:spPr>
          <a:xfrm>
            <a:off x="3657600" y="1225685"/>
            <a:ext cx="938077"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16KB</a:t>
            </a:r>
          </a:p>
        </p:txBody>
      </p:sp>
      <p:sp>
        <p:nvSpPr>
          <p:cNvPr id="3" name="TextBox 2">
            <a:extLst>
              <a:ext uri="{FF2B5EF4-FFF2-40B4-BE49-F238E27FC236}">
                <a16:creationId xmlns:a16="http://schemas.microsoft.com/office/drawing/2014/main" id="{7511F65F-9442-4B43-81C6-B069F934BBCE}"/>
              </a:ext>
            </a:extLst>
          </p:cNvPr>
          <p:cNvSpPr txBox="1"/>
          <p:nvPr/>
        </p:nvSpPr>
        <p:spPr>
          <a:xfrm>
            <a:off x="3657600" y="1832475"/>
            <a:ext cx="817853"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64B </a:t>
            </a:r>
          </a:p>
        </p:txBody>
      </p:sp>
      <p:sp>
        <p:nvSpPr>
          <p:cNvPr id="4" name="TextBox 3">
            <a:extLst>
              <a:ext uri="{FF2B5EF4-FFF2-40B4-BE49-F238E27FC236}">
                <a16:creationId xmlns:a16="http://schemas.microsoft.com/office/drawing/2014/main" id="{E1E1034D-7214-47E1-B7F4-F6831B46BC4C}"/>
              </a:ext>
            </a:extLst>
          </p:cNvPr>
          <p:cNvSpPr txBox="1"/>
          <p:nvPr/>
        </p:nvSpPr>
        <p:spPr>
          <a:xfrm>
            <a:off x="4389120" y="2703746"/>
            <a:ext cx="699230"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256</a:t>
            </a:r>
          </a:p>
        </p:txBody>
      </p:sp>
      <p:sp>
        <p:nvSpPr>
          <p:cNvPr id="8" name="TextBox 7">
            <a:extLst>
              <a:ext uri="{FF2B5EF4-FFF2-40B4-BE49-F238E27FC236}">
                <a16:creationId xmlns:a16="http://schemas.microsoft.com/office/drawing/2014/main" id="{315889F2-6A97-4DED-8592-0696B7E82BAF}"/>
              </a:ext>
            </a:extLst>
          </p:cNvPr>
          <p:cNvSpPr txBox="1"/>
          <p:nvPr/>
        </p:nvSpPr>
        <p:spPr>
          <a:xfrm>
            <a:off x="5016476" y="3200910"/>
            <a:ext cx="356188"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1</a:t>
            </a:r>
          </a:p>
        </p:txBody>
      </p:sp>
      <p:sp>
        <p:nvSpPr>
          <p:cNvPr id="9" name="TextBox 8">
            <a:extLst>
              <a:ext uri="{FF2B5EF4-FFF2-40B4-BE49-F238E27FC236}">
                <a16:creationId xmlns:a16="http://schemas.microsoft.com/office/drawing/2014/main" id="{24BCAB7F-E41A-4BC8-8CC6-F03F96B446A4}"/>
              </a:ext>
            </a:extLst>
          </p:cNvPr>
          <p:cNvSpPr txBox="1"/>
          <p:nvPr/>
        </p:nvSpPr>
        <p:spPr>
          <a:xfrm>
            <a:off x="4389120" y="4071419"/>
            <a:ext cx="2303836" cy="523220"/>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32 – 6 – 8 = </a:t>
            </a:r>
            <a:r>
              <a:rPr lang="en-US" sz="2800" b="1" dirty="0">
                <a:ea typeface="標楷體" pitchFamily="65" charset="-120"/>
                <a:cs typeface="Calibri" pitchFamily="34" charset="0"/>
              </a:rPr>
              <a:t>18</a:t>
            </a:r>
          </a:p>
        </p:txBody>
      </p:sp>
      <p:sp>
        <p:nvSpPr>
          <p:cNvPr id="10" name="TextBox 9">
            <a:extLst>
              <a:ext uri="{FF2B5EF4-FFF2-40B4-BE49-F238E27FC236}">
                <a16:creationId xmlns:a16="http://schemas.microsoft.com/office/drawing/2014/main" id="{83940215-2724-469E-B316-4B5DD93550C8}"/>
              </a:ext>
            </a:extLst>
          </p:cNvPr>
          <p:cNvSpPr txBox="1"/>
          <p:nvPr/>
        </p:nvSpPr>
        <p:spPr>
          <a:xfrm>
            <a:off x="3301412" y="4626384"/>
            <a:ext cx="356188"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1</a:t>
            </a:r>
          </a:p>
        </p:txBody>
      </p:sp>
      <p:sp>
        <p:nvSpPr>
          <p:cNvPr id="6" name="TextBox 5">
            <a:extLst>
              <a:ext uri="{FF2B5EF4-FFF2-40B4-BE49-F238E27FC236}">
                <a16:creationId xmlns:a16="http://schemas.microsoft.com/office/drawing/2014/main" id="{F1BC5CA8-D69E-484B-881B-EFB7D7D90C70}"/>
              </a:ext>
            </a:extLst>
          </p:cNvPr>
          <p:cNvSpPr txBox="1"/>
          <p:nvPr/>
        </p:nvSpPr>
        <p:spPr>
          <a:xfrm>
            <a:off x="6965921" y="5262983"/>
            <a:ext cx="4826962" cy="369332"/>
          </a:xfrm>
          <a:prstGeom prst="rect">
            <a:avLst/>
          </a:prstGeom>
          <a:solidFill>
            <a:srgbClr val="FFFF00"/>
          </a:solidFill>
        </p:spPr>
        <p:txBody>
          <a:bodyPr wrap="none" rtlCol="0" anchor="ctr" anchorCtr="1">
            <a:spAutoFit/>
          </a:bodyPr>
          <a:lstStyle/>
          <a:p>
            <a:r>
              <a:rPr lang="en-US" b="1" dirty="0">
                <a:ea typeface="標楷體" pitchFamily="65" charset="-120"/>
                <a:cs typeface="Calibri" pitchFamily="34" charset="0"/>
              </a:rPr>
              <a:t>Question</a:t>
            </a:r>
            <a:r>
              <a:rPr lang="en-US" dirty="0">
                <a:ea typeface="標楷體" pitchFamily="65" charset="-120"/>
                <a:cs typeface="Calibri" pitchFamily="34" charset="0"/>
              </a:rPr>
              <a:t>: How to reduce the cost of the tag?</a:t>
            </a:r>
          </a:p>
        </p:txBody>
      </p:sp>
      <p:sp>
        <p:nvSpPr>
          <p:cNvPr id="12" name="TextBox 11">
            <a:extLst>
              <a:ext uri="{FF2B5EF4-FFF2-40B4-BE49-F238E27FC236}">
                <a16:creationId xmlns:a16="http://schemas.microsoft.com/office/drawing/2014/main" id="{67124130-39A1-4190-9D6E-7EF59E81B337}"/>
              </a:ext>
            </a:extLst>
          </p:cNvPr>
          <p:cNvSpPr txBox="1"/>
          <p:nvPr/>
        </p:nvSpPr>
        <p:spPr>
          <a:xfrm>
            <a:off x="1959392" y="5696726"/>
            <a:ext cx="5929828" cy="369332"/>
          </a:xfrm>
          <a:prstGeom prst="rect">
            <a:avLst/>
          </a:prstGeom>
          <a:solidFill>
            <a:srgbClr val="FFFF00"/>
          </a:solidFill>
        </p:spPr>
        <p:txBody>
          <a:bodyPr wrap="none" rtlCol="0" anchor="ctr" anchorCtr="1">
            <a:spAutoFit/>
          </a:bodyPr>
          <a:lstStyle/>
          <a:p>
            <a:r>
              <a:rPr lang="en-US" b="1" dirty="0">
                <a:ea typeface="標楷體" pitchFamily="65" charset="-120"/>
                <a:cs typeface="Calibri" pitchFamily="34" charset="0"/>
              </a:rPr>
              <a:t>Answer</a:t>
            </a:r>
            <a:r>
              <a:rPr lang="en-US" dirty="0">
                <a:ea typeface="標楷體" pitchFamily="65" charset="-120"/>
                <a:cs typeface="Calibri" pitchFamily="34" charset="0"/>
              </a:rPr>
              <a:t>: Increase the line size and the </a:t>
            </a:r>
            <a:r>
              <a:rPr lang="en-US" dirty="0">
                <a:solidFill>
                  <a:prstClr val="black"/>
                </a:solidFill>
                <a:ea typeface="標楷體" pitchFamily="65" charset="-120"/>
                <a:cs typeface="Calibri" pitchFamily="34" charset="0"/>
              </a:rPr>
              <a:t>number of sets</a:t>
            </a:r>
            <a:endParaRPr lang="en-US" dirty="0">
              <a:ea typeface="標楷體" pitchFamily="65" charset="-120"/>
              <a:cs typeface="Calibri" pitchFamily="34" charset="0"/>
            </a:endParaRPr>
          </a:p>
        </p:txBody>
      </p:sp>
      <p:cxnSp>
        <p:nvCxnSpPr>
          <p:cNvPr id="11" name="Straight Arrow Connector 10">
            <a:extLst>
              <a:ext uri="{FF2B5EF4-FFF2-40B4-BE49-F238E27FC236}">
                <a16:creationId xmlns:a16="http://schemas.microsoft.com/office/drawing/2014/main" id="{170F37E6-4C3F-43EB-8B2F-395ECFCE2FF0}"/>
              </a:ext>
            </a:extLst>
          </p:cNvPr>
          <p:cNvCxnSpPr/>
          <p:nvPr/>
        </p:nvCxnSpPr>
        <p:spPr bwMode="auto">
          <a:xfrm flipV="1">
            <a:off x="4745308" y="4566733"/>
            <a:ext cx="449262" cy="1327072"/>
          </a:xfrm>
          <a:prstGeom prst="straightConnector1">
            <a:avLst/>
          </a:prstGeom>
          <a:noFill/>
          <a:ln w="15875"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0901C998-F045-4399-A69E-319DFDDD724B}"/>
              </a:ext>
            </a:extLst>
          </p:cNvPr>
          <p:cNvCxnSpPr>
            <a:cxnSpLocks/>
          </p:cNvCxnSpPr>
          <p:nvPr/>
        </p:nvCxnSpPr>
        <p:spPr bwMode="auto">
          <a:xfrm flipH="1" flipV="1">
            <a:off x="5765669" y="4485481"/>
            <a:ext cx="1010817" cy="1312204"/>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32705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P spid="9" grpId="0" animBg="1"/>
      <p:bldP spid="10" grpId="0" animBg="1"/>
      <p:bldP spid="6" grpId="0" animBg="1"/>
      <p:bldP spid="1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idx="4294967295"/>
          </p:nvPr>
        </p:nvSpPr>
        <p:spPr>
          <a:xfrm>
            <a:off x="1406015" y="180975"/>
            <a:ext cx="8900037" cy="625271"/>
          </a:xfrm>
        </p:spPr>
        <p:txBody>
          <a:bodyPr/>
          <a:lstStyle/>
          <a:p>
            <a:r>
              <a:rPr lang="en-AU" altLang="zh-TW" sz="4267" dirty="0">
                <a:solidFill>
                  <a:srgbClr val="002060"/>
                </a:solidFill>
                <a:ea typeface="新細明體" panose="02020500000000000000" pitchFamily="18" charset="-120"/>
              </a:rPr>
              <a:t>Example - </a:t>
            </a:r>
            <a:r>
              <a:rPr lang="en-AU" altLang="zh-TW" sz="4267" dirty="0" err="1">
                <a:solidFill>
                  <a:srgbClr val="002060"/>
                </a:solidFill>
                <a:ea typeface="新細明體" panose="02020500000000000000" pitchFamily="18" charset="-120"/>
              </a:rPr>
              <a:t>Intrinsity</a:t>
            </a:r>
            <a:r>
              <a:rPr lang="en-AU" altLang="zh-TW" sz="4267" dirty="0">
                <a:solidFill>
                  <a:srgbClr val="002060"/>
                </a:solidFill>
                <a:ea typeface="新細明體" panose="02020500000000000000" pitchFamily="18" charset="-120"/>
              </a:rPr>
              <a:t> </a:t>
            </a:r>
            <a:r>
              <a:rPr lang="en-AU" altLang="zh-TW" sz="4267" dirty="0" err="1">
                <a:solidFill>
                  <a:srgbClr val="002060"/>
                </a:solidFill>
                <a:ea typeface="新細明體" panose="02020500000000000000" pitchFamily="18" charset="-120"/>
              </a:rPr>
              <a:t>FastMATH</a:t>
            </a:r>
            <a:r>
              <a:rPr lang="en-AU" altLang="zh-TW" sz="4267" dirty="0">
                <a:solidFill>
                  <a:srgbClr val="002060"/>
                </a:solidFill>
                <a:ea typeface="新細明體" panose="02020500000000000000" pitchFamily="18" charset="-120"/>
              </a:rPr>
              <a:t> (2)</a:t>
            </a:r>
          </a:p>
        </p:txBody>
      </p:sp>
      <p:pic>
        <p:nvPicPr>
          <p:cNvPr id="226307" name="Picture 3" descr="f05-09-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9953" y="1196977"/>
            <a:ext cx="8279160" cy="4840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09" name="Rectangle 5"/>
          <p:cNvSpPr>
            <a:spLocks noChangeArrowheads="1"/>
          </p:cNvSpPr>
          <p:nvPr/>
        </p:nvSpPr>
        <p:spPr bwMode="auto">
          <a:xfrm>
            <a:off x="865240" y="1164203"/>
            <a:ext cx="3401960" cy="632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1" eaLnBrk="0" hangingPunct="0">
              <a:lnSpc>
                <a:spcPct val="90000"/>
              </a:lnSpc>
              <a:spcBef>
                <a:spcPct val="15000"/>
              </a:spcBef>
              <a:buClr>
                <a:srgbClr val="FF9900"/>
              </a:buClr>
              <a:buSzPct val="75000"/>
            </a:pPr>
            <a:r>
              <a:rPr lang="en-AU" altLang="zh-TW" b="1" dirty="0">
                <a:solidFill>
                  <a:srgbClr val="002060"/>
                </a:solidFill>
              </a:rPr>
              <a:t>Cache: 16KB</a:t>
            </a:r>
          </a:p>
          <a:p>
            <a:pPr marL="0" lvl="1" eaLnBrk="0" hangingPunct="0">
              <a:lnSpc>
                <a:spcPct val="90000"/>
              </a:lnSpc>
              <a:spcBef>
                <a:spcPct val="15000"/>
              </a:spcBef>
              <a:buClr>
                <a:srgbClr val="FF9900"/>
              </a:buClr>
              <a:buSzPct val="75000"/>
            </a:pPr>
            <a:r>
              <a:rPr lang="en-AU" altLang="zh-TW" b="1" dirty="0">
                <a:solidFill>
                  <a:srgbClr val="002060"/>
                </a:solidFill>
              </a:rPr>
              <a:t>256 blocks </a:t>
            </a:r>
            <a:r>
              <a:rPr lang="en-US" altLang="zh-TW" b="1" dirty="0">
                <a:solidFill>
                  <a:srgbClr val="002060"/>
                </a:solidFill>
              </a:rPr>
              <a:t>×</a:t>
            </a:r>
            <a:r>
              <a:rPr lang="en-AU" altLang="zh-TW" b="1" dirty="0">
                <a:solidFill>
                  <a:srgbClr val="002060"/>
                </a:solidFill>
              </a:rPr>
              <a:t> 16 words/block</a:t>
            </a:r>
          </a:p>
        </p:txBody>
      </p:sp>
      <p:sp>
        <p:nvSpPr>
          <p:cNvPr id="8"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59</a:t>
            </a:fld>
            <a:endParaRPr lang="zh-TW"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288026" y="173039"/>
            <a:ext cx="9018025" cy="652871"/>
          </a:xfrm>
        </p:spPr>
        <p:txBody>
          <a:bodyPr/>
          <a:lstStyle/>
          <a:p>
            <a:r>
              <a:rPr lang="en-US" altLang="zh-TW" dirty="0"/>
              <a:t>Block Size Considerations</a:t>
            </a:r>
            <a:endParaRPr lang="en-AU" altLang="zh-TW" dirty="0">
              <a:ea typeface="新細明體" panose="02020500000000000000" pitchFamily="18" charset="-120"/>
            </a:endParaRPr>
          </a:p>
        </p:txBody>
      </p:sp>
      <p:sp>
        <p:nvSpPr>
          <p:cNvPr id="35843" name="Rectangle 3"/>
          <p:cNvSpPr>
            <a:spLocks noGrp="1" noChangeArrowheads="1"/>
          </p:cNvSpPr>
          <p:nvPr>
            <p:ph type="body" idx="1"/>
          </p:nvPr>
        </p:nvSpPr>
        <p:spPr>
          <a:xfrm>
            <a:off x="302577" y="997090"/>
            <a:ext cx="11650240" cy="5209400"/>
          </a:xfrm>
        </p:spPr>
        <p:txBody>
          <a:bodyPr/>
          <a:lstStyle/>
          <a:p>
            <a:r>
              <a:rPr lang="en-US" altLang="zh-TW" sz="2667" dirty="0"/>
              <a:t>Larger blocks should reduce miss rate</a:t>
            </a:r>
          </a:p>
          <a:p>
            <a:pPr lvl="1"/>
            <a:r>
              <a:rPr lang="en-US" altLang="zh-TW" sz="2400" dirty="0"/>
              <a:t>Higher </a:t>
            </a:r>
            <a:r>
              <a:rPr lang="en-US" altLang="zh-TW" sz="2400" b="1" i="1" dirty="0">
                <a:solidFill>
                  <a:srgbClr val="FF0000"/>
                </a:solidFill>
              </a:rPr>
              <a:t>spatial locality</a:t>
            </a:r>
          </a:p>
          <a:p>
            <a:pPr lvl="1"/>
            <a:r>
              <a:rPr lang="en-US" altLang="zh-TW" sz="2400" dirty="0"/>
              <a:t>Also reduce tag cost</a:t>
            </a:r>
          </a:p>
          <a:p>
            <a:r>
              <a:rPr lang="en-US" altLang="zh-TW" sz="2667" dirty="0"/>
              <a:t>But in a fixed-sized cache</a:t>
            </a:r>
          </a:p>
          <a:p>
            <a:pPr lvl="1"/>
            <a:r>
              <a:rPr lang="en-US" altLang="zh-TW" sz="2400" dirty="0"/>
              <a:t>Larger blocks </a:t>
            </a:r>
            <a:r>
              <a:rPr lang="en-US" altLang="zh-TW" sz="2400" dirty="0">
                <a:sym typeface="Symbol" pitchFamily="18" charset="2"/>
              </a:rPr>
              <a:t> fewer blocks</a:t>
            </a:r>
          </a:p>
          <a:p>
            <a:pPr lvl="2"/>
            <a:r>
              <a:rPr lang="en-US" altLang="zh-TW" sz="2133" dirty="0">
                <a:sym typeface="Symbol" pitchFamily="18" charset="2"/>
              </a:rPr>
              <a:t>More competition  increased the miss rate</a:t>
            </a:r>
          </a:p>
          <a:p>
            <a:pPr lvl="2"/>
            <a:r>
              <a:rPr lang="en-US" altLang="zh-TW" sz="2133" dirty="0">
                <a:sym typeface="Symbol" pitchFamily="18" charset="2"/>
              </a:rPr>
              <a:t>Lower </a:t>
            </a:r>
            <a:r>
              <a:rPr lang="en-US" altLang="zh-TW" sz="2133" b="1" i="1" dirty="0">
                <a:solidFill>
                  <a:srgbClr val="FF0000"/>
                </a:solidFill>
                <a:sym typeface="Symbol" pitchFamily="18" charset="2"/>
              </a:rPr>
              <a:t>temporal locality</a:t>
            </a:r>
          </a:p>
          <a:p>
            <a:r>
              <a:rPr lang="en-US" altLang="zh-TW" sz="2667" dirty="0">
                <a:sym typeface="Symbol" pitchFamily="18" charset="2"/>
              </a:rPr>
              <a:t>Larger miss penalty</a:t>
            </a:r>
          </a:p>
          <a:p>
            <a:pPr lvl="1"/>
            <a:r>
              <a:rPr lang="en-US" altLang="zh-TW" sz="2200" dirty="0">
                <a:sym typeface="Symbol" pitchFamily="18" charset="2"/>
              </a:rPr>
              <a:t>Larger blocks  pollution</a:t>
            </a:r>
          </a:p>
          <a:p>
            <a:pPr lvl="1"/>
            <a:r>
              <a:rPr lang="en-US" altLang="zh-TW" sz="2200" dirty="0">
                <a:sym typeface="Symbol" pitchFamily="18" charset="2"/>
              </a:rPr>
              <a:t>Transfer overhead (multiple bus cycles)</a:t>
            </a:r>
          </a:p>
          <a:p>
            <a:pPr lvl="1"/>
            <a:r>
              <a:rPr lang="en-US" altLang="zh-TW" sz="2200" dirty="0">
                <a:sym typeface="Symbol" pitchFamily="18" charset="2"/>
              </a:rPr>
              <a:t>Can override the benefit of reduced miss rate</a:t>
            </a:r>
          </a:p>
          <a:p>
            <a:pPr lvl="1"/>
            <a:r>
              <a:rPr lang="en-US" altLang="zh-TW" sz="2200" dirty="0">
                <a:sym typeface="Symbol" pitchFamily="18" charset="2"/>
              </a:rPr>
              <a:t>Early restart and critical-word-first can help to reduce transfer latency.</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60</a:t>
            </a:fld>
            <a:endParaRPr lang="zh-TW" altLang="en-US"/>
          </a:p>
        </p:txBody>
      </p:sp>
      <p:pic>
        <p:nvPicPr>
          <p:cNvPr id="36866" name="Picture 6" descr="07~Figure_7"/>
          <p:cNvPicPr>
            <a:picLocks noChangeAspect="1" noChangeArrowheads="1"/>
          </p:cNvPicPr>
          <p:nvPr/>
        </p:nvPicPr>
        <p:blipFill rotWithShape="1">
          <a:blip r:embed="rId3"/>
          <a:srcRect l="4172" t="-262" r="17934" b="61474"/>
          <a:stretch>
            <a:fillRect/>
          </a:stretch>
        </p:blipFill>
        <p:spPr bwMode="auto">
          <a:xfrm>
            <a:off x="6313593" y="1926167"/>
            <a:ext cx="5875867" cy="2843107"/>
          </a:xfrm>
          <a:prstGeom prst="rect">
            <a:avLst/>
          </a:prstGeom>
          <a:noFill/>
          <a:ln w="9525">
            <a:noFill/>
            <a:miter lim="800000"/>
            <a:headEnd/>
            <a:tailEnd/>
          </a:ln>
        </p:spPr>
      </p:pic>
      <p:sp>
        <p:nvSpPr>
          <p:cNvPr id="3" name="TextBox 2">
            <a:extLst>
              <a:ext uri="{FF2B5EF4-FFF2-40B4-BE49-F238E27FC236}">
                <a16:creationId xmlns:a16="http://schemas.microsoft.com/office/drawing/2014/main" id="{2D8CE729-A66A-4FC8-AE5B-938D84E642FD}"/>
              </a:ext>
            </a:extLst>
          </p:cNvPr>
          <p:cNvSpPr txBox="1"/>
          <p:nvPr/>
        </p:nvSpPr>
        <p:spPr>
          <a:xfrm>
            <a:off x="8175710" y="1187184"/>
            <a:ext cx="1608133" cy="646331"/>
          </a:xfrm>
          <a:prstGeom prst="rect">
            <a:avLst/>
          </a:prstGeom>
          <a:solidFill>
            <a:schemeClr val="tx2">
              <a:lumMod val="40000"/>
              <a:lumOff val="60000"/>
            </a:schemeClr>
          </a:solidFill>
        </p:spPr>
        <p:txBody>
          <a:bodyPr wrap="none" rtlCol="0" anchor="ctr" anchorCtr="1">
            <a:spAutoFit/>
          </a:bodyPr>
          <a:lstStyle/>
          <a:p>
            <a:r>
              <a:rPr lang="en-US" dirty="0">
                <a:ea typeface="標楷體" pitchFamily="65" charset="-120"/>
                <a:cs typeface="Calibri" pitchFamily="34" charset="0"/>
              </a:rPr>
              <a:t>Small caches</a:t>
            </a:r>
          </a:p>
          <a:p>
            <a:r>
              <a:rPr lang="en-US" dirty="0">
                <a:ea typeface="標楷體" pitchFamily="65" charset="-120"/>
                <a:cs typeface="Calibri" pitchFamily="34" charset="0"/>
              </a:rPr>
              <a:t>Need balance</a:t>
            </a:r>
          </a:p>
        </p:txBody>
      </p:sp>
      <p:cxnSp>
        <p:nvCxnSpPr>
          <p:cNvPr id="6" name="Straight Arrow Connector 5">
            <a:extLst>
              <a:ext uri="{FF2B5EF4-FFF2-40B4-BE49-F238E27FC236}">
                <a16:creationId xmlns:a16="http://schemas.microsoft.com/office/drawing/2014/main" id="{49C28D6D-20A5-4D9C-B0D7-1A092E70A09B}"/>
              </a:ext>
            </a:extLst>
          </p:cNvPr>
          <p:cNvCxnSpPr>
            <a:cxnSpLocks/>
          </p:cNvCxnSpPr>
          <p:nvPr/>
        </p:nvCxnSpPr>
        <p:spPr bwMode="auto">
          <a:xfrm>
            <a:off x="9108017" y="1833515"/>
            <a:ext cx="0" cy="635365"/>
          </a:xfrm>
          <a:prstGeom prst="straightConnector1">
            <a:avLst/>
          </a:prstGeom>
          <a:noFill/>
          <a:ln w="38100" cap="flat" cmpd="sng" algn="ctr">
            <a:solidFill>
              <a:srgbClr val="FF0000"/>
            </a:solidFill>
            <a:prstDash val="solid"/>
            <a:round/>
            <a:headEnd type="none" w="med" len="med"/>
            <a:tailEnd type="triangle"/>
          </a:ln>
          <a:effectLst/>
        </p:spPr>
      </p:cxnSp>
      <p:sp>
        <p:nvSpPr>
          <p:cNvPr id="9" name="TextBox 8">
            <a:extLst>
              <a:ext uri="{FF2B5EF4-FFF2-40B4-BE49-F238E27FC236}">
                <a16:creationId xmlns:a16="http://schemas.microsoft.com/office/drawing/2014/main" id="{06738BF9-8720-4F6A-8F83-79B9650A7AD4}"/>
              </a:ext>
            </a:extLst>
          </p:cNvPr>
          <p:cNvSpPr txBox="1"/>
          <p:nvPr/>
        </p:nvSpPr>
        <p:spPr>
          <a:xfrm>
            <a:off x="9857372" y="4940454"/>
            <a:ext cx="1723549" cy="646331"/>
          </a:xfrm>
          <a:prstGeom prst="rect">
            <a:avLst/>
          </a:prstGeom>
          <a:solidFill>
            <a:schemeClr val="tx2">
              <a:lumMod val="40000"/>
              <a:lumOff val="60000"/>
            </a:schemeClr>
          </a:solidFill>
        </p:spPr>
        <p:txBody>
          <a:bodyPr wrap="none" rtlCol="0" anchor="ctr" anchorCtr="1">
            <a:spAutoFit/>
          </a:bodyPr>
          <a:lstStyle/>
          <a:p>
            <a:r>
              <a:rPr lang="en-US" dirty="0">
                <a:ea typeface="標楷體" pitchFamily="65" charset="-120"/>
                <a:cs typeface="Calibri" pitchFamily="34" charset="0"/>
              </a:rPr>
              <a:t>Large caches</a:t>
            </a:r>
          </a:p>
          <a:p>
            <a:r>
              <a:rPr lang="en-US" dirty="0">
                <a:ea typeface="標楷體" pitchFamily="65" charset="-120"/>
                <a:cs typeface="Calibri" pitchFamily="34" charset="0"/>
              </a:rPr>
              <a:t>like larger lines</a:t>
            </a:r>
          </a:p>
        </p:txBody>
      </p:sp>
      <p:cxnSp>
        <p:nvCxnSpPr>
          <p:cNvPr id="10" name="Straight Arrow Connector 9">
            <a:extLst>
              <a:ext uri="{FF2B5EF4-FFF2-40B4-BE49-F238E27FC236}">
                <a16:creationId xmlns:a16="http://schemas.microsoft.com/office/drawing/2014/main" id="{BD86911F-A6F0-48D1-BE0B-02DAD56E835A}"/>
              </a:ext>
            </a:extLst>
          </p:cNvPr>
          <p:cNvCxnSpPr>
            <a:cxnSpLocks/>
          </p:cNvCxnSpPr>
          <p:nvPr/>
        </p:nvCxnSpPr>
        <p:spPr bwMode="auto">
          <a:xfrm>
            <a:off x="10836298" y="4133909"/>
            <a:ext cx="0" cy="905019"/>
          </a:xfrm>
          <a:prstGeom prst="straightConnector1">
            <a:avLst/>
          </a:prstGeom>
          <a:noFill/>
          <a:ln w="38100" cap="flat" cmpd="sng" algn="ctr">
            <a:solidFill>
              <a:srgbClr val="FF0000"/>
            </a:solidFill>
            <a:prstDash val="solid"/>
            <a:round/>
            <a:headEnd type="triangl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Cache Hit and Miss</a:t>
            </a:r>
            <a:endParaRPr lang="zh-TW" altLang="en-US" dirty="0"/>
          </a:p>
        </p:txBody>
      </p:sp>
      <p:sp>
        <p:nvSpPr>
          <p:cNvPr id="3" name="內容版面配置區 2"/>
          <p:cNvSpPr>
            <a:spLocks noGrp="1"/>
          </p:cNvSpPr>
          <p:nvPr>
            <p:ph idx="1"/>
          </p:nvPr>
        </p:nvSpPr>
        <p:spPr>
          <a:xfrm>
            <a:off x="1396179" y="1125538"/>
            <a:ext cx="10186220" cy="4973705"/>
          </a:xfrm>
        </p:spPr>
        <p:txBody>
          <a:bodyPr/>
          <a:lstStyle/>
          <a:p>
            <a:r>
              <a:rPr lang="en-US" altLang="zh-TW" dirty="0"/>
              <a:t>Cache read</a:t>
            </a:r>
          </a:p>
          <a:p>
            <a:pPr lvl="1"/>
            <a:r>
              <a:rPr lang="en-US" altLang="zh-TW" sz="2400" dirty="0"/>
              <a:t>Read hit</a:t>
            </a:r>
          </a:p>
          <a:p>
            <a:pPr lvl="1"/>
            <a:r>
              <a:rPr lang="en-US" altLang="zh-TW" sz="2400" dirty="0"/>
              <a:t>Read miss</a:t>
            </a:r>
          </a:p>
          <a:p>
            <a:r>
              <a:rPr lang="en-US" altLang="zh-TW" dirty="0"/>
              <a:t>Cache write</a:t>
            </a:r>
          </a:p>
          <a:p>
            <a:pPr lvl="1"/>
            <a:r>
              <a:rPr lang="en-US" altLang="zh-TW" sz="2400" dirty="0"/>
              <a:t>Write hit</a:t>
            </a:r>
          </a:p>
          <a:p>
            <a:pPr lvl="2"/>
            <a:r>
              <a:rPr lang="en-US" altLang="zh-TW" sz="2400" dirty="0">
                <a:solidFill>
                  <a:srgbClr val="FF0000"/>
                </a:solidFill>
              </a:rPr>
              <a:t>Write-through</a:t>
            </a:r>
          </a:p>
          <a:p>
            <a:pPr lvl="2"/>
            <a:r>
              <a:rPr lang="en-US" altLang="zh-TW" sz="2400" dirty="0">
                <a:solidFill>
                  <a:srgbClr val="FF0000"/>
                </a:solidFill>
              </a:rPr>
              <a:t>Write-back</a:t>
            </a:r>
          </a:p>
          <a:p>
            <a:pPr lvl="1"/>
            <a:r>
              <a:rPr lang="en-US" altLang="zh-TW" sz="2400" dirty="0"/>
              <a:t>Write miss </a:t>
            </a:r>
          </a:p>
          <a:p>
            <a:pPr lvl="2"/>
            <a:r>
              <a:rPr lang="en-US" altLang="zh-TW" sz="2400" dirty="0">
                <a:solidFill>
                  <a:srgbClr val="FF0000"/>
                </a:solidFill>
              </a:rPr>
              <a:t>Write allocate</a:t>
            </a:r>
          </a:p>
          <a:p>
            <a:pPr lvl="2"/>
            <a:r>
              <a:rPr lang="en-US" altLang="zh-TW" sz="2400" dirty="0">
                <a:solidFill>
                  <a:srgbClr val="FF0000"/>
                </a:solidFill>
              </a:rPr>
              <a:t>No-write allocate</a:t>
            </a:r>
            <a:endParaRPr lang="zh-TW" altLang="en-US" sz="2400" dirty="0">
              <a:solidFill>
                <a:srgbClr val="FF0000"/>
              </a:solidFill>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61</a:t>
            </a:fld>
            <a:endParaRPr lang="zh-TW" altLang="en-US"/>
          </a:p>
        </p:txBody>
      </p:sp>
      <p:sp>
        <p:nvSpPr>
          <p:cNvPr id="4" name="TextBox 3">
            <a:extLst>
              <a:ext uri="{FF2B5EF4-FFF2-40B4-BE49-F238E27FC236}">
                <a16:creationId xmlns:a16="http://schemas.microsoft.com/office/drawing/2014/main" id="{9376F12F-0F93-47D4-9B3F-34397D8C5CCC}"/>
              </a:ext>
            </a:extLst>
          </p:cNvPr>
          <p:cNvSpPr txBox="1"/>
          <p:nvPr/>
        </p:nvSpPr>
        <p:spPr>
          <a:xfrm>
            <a:off x="5057471" y="1060597"/>
            <a:ext cx="6607899" cy="3570208"/>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Question: How do we know when to use </a:t>
            </a:r>
          </a:p>
          <a:p>
            <a:r>
              <a:rPr lang="en-US" sz="2400" dirty="0">
                <a:ea typeface="標楷體" pitchFamily="65" charset="-120"/>
                <a:cs typeface="Calibri" pitchFamily="34" charset="0"/>
              </a:rPr>
              <a:t>write-allocate? when to use no-write-allocate?</a:t>
            </a:r>
          </a:p>
          <a:p>
            <a:endParaRPr lang="en-US" sz="2400" dirty="0">
              <a:ea typeface="標楷體" pitchFamily="65" charset="-120"/>
              <a:cs typeface="Calibri" pitchFamily="34" charset="0"/>
            </a:endParaRPr>
          </a:p>
          <a:p>
            <a:r>
              <a:rPr lang="en-US" sz="2200" dirty="0">
                <a:ea typeface="標楷體" pitchFamily="65" charset="-120"/>
                <a:cs typeface="Calibri" pitchFamily="34" charset="0"/>
              </a:rPr>
              <a:t>For example:</a:t>
            </a:r>
          </a:p>
          <a:p>
            <a:r>
              <a:rPr lang="en-US" sz="2200" dirty="0">
                <a:ea typeface="標楷體" pitchFamily="65" charset="-120"/>
                <a:cs typeface="Calibri" pitchFamily="34" charset="0"/>
              </a:rPr>
              <a:t>In </a:t>
            </a:r>
            <a:r>
              <a:rPr lang="en-US" sz="2200" dirty="0" err="1">
                <a:ea typeface="標楷體" pitchFamily="65" charset="-120"/>
                <a:cs typeface="Calibri" pitchFamily="34" charset="0"/>
              </a:rPr>
              <a:t>strcpy</a:t>
            </a:r>
            <a:r>
              <a:rPr lang="en-US" sz="2200" dirty="0">
                <a:ea typeface="標楷體" pitchFamily="65" charset="-120"/>
                <a:cs typeface="Calibri" pitchFamily="34" charset="0"/>
              </a:rPr>
              <a:t>(), </a:t>
            </a:r>
            <a:r>
              <a:rPr lang="en-US" sz="2200" dirty="0" err="1">
                <a:ea typeface="標楷體" pitchFamily="65" charset="-120"/>
                <a:cs typeface="Calibri" pitchFamily="34" charset="0"/>
              </a:rPr>
              <a:t>memset</a:t>
            </a:r>
            <a:r>
              <a:rPr lang="en-US" sz="2200" dirty="0">
                <a:ea typeface="標楷體" pitchFamily="65" charset="-120"/>
                <a:cs typeface="Calibri" pitchFamily="34" charset="0"/>
              </a:rPr>
              <a:t>(), </a:t>
            </a:r>
            <a:r>
              <a:rPr lang="en-US" sz="2200" dirty="0" err="1">
                <a:ea typeface="標楷體" pitchFamily="65" charset="-120"/>
                <a:cs typeface="Calibri" pitchFamily="34" charset="0"/>
              </a:rPr>
              <a:t>memcpy</a:t>
            </a:r>
            <a:r>
              <a:rPr lang="en-US" sz="2200" dirty="0">
                <a:ea typeface="標楷體" pitchFamily="65" charset="-120"/>
                <a:cs typeface="Calibri" pitchFamily="34" charset="0"/>
              </a:rPr>
              <a:t>(), </a:t>
            </a:r>
          </a:p>
          <a:p>
            <a:r>
              <a:rPr lang="en-US" sz="2200" dirty="0">
                <a:ea typeface="標楷體" pitchFamily="65" charset="-120"/>
                <a:cs typeface="Calibri" pitchFamily="34" charset="0"/>
              </a:rPr>
              <a:t>	initialization of arrays, …	</a:t>
            </a:r>
            <a:r>
              <a:rPr lang="en-US" sz="2200" b="1" dirty="0">
                <a:ea typeface="標楷體" pitchFamily="65" charset="-120"/>
                <a:cs typeface="Calibri" pitchFamily="34" charset="0"/>
              </a:rPr>
              <a:t>no-allocate</a:t>
            </a:r>
          </a:p>
          <a:p>
            <a:endParaRPr lang="en-US" sz="2200" dirty="0">
              <a:ea typeface="標楷體" pitchFamily="65" charset="-120"/>
              <a:cs typeface="Calibri" pitchFamily="34" charset="0"/>
            </a:endParaRPr>
          </a:p>
          <a:p>
            <a:r>
              <a:rPr lang="en-US" sz="2200" dirty="0">
                <a:ea typeface="標楷體" pitchFamily="65" charset="-120"/>
                <a:cs typeface="Calibri" pitchFamily="34" charset="0"/>
              </a:rPr>
              <a:t>In local variable updates</a:t>
            </a:r>
          </a:p>
          <a:p>
            <a:r>
              <a:rPr lang="en-US" sz="2200" dirty="0">
                <a:ea typeface="標楷體" pitchFamily="65" charset="-120"/>
                <a:cs typeface="Calibri" pitchFamily="34" charset="0"/>
              </a:rPr>
              <a:t>In array element updates		</a:t>
            </a:r>
            <a:r>
              <a:rPr lang="en-US" sz="2200" b="1" dirty="0">
                <a:ea typeface="標楷體" pitchFamily="65" charset="-120"/>
                <a:cs typeface="Calibri" pitchFamily="34" charset="0"/>
              </a:rPr>
              <a:t>write-allocate</a:t>
            </a:r>
          </a:p>
          <a:p>
            <a:r>
              <a:rPr lang="en-US" sz="2200" dirty="0">
                <a:ea typeface="標楷體" pitchFamily="65" charset="-120"/>
                <a:cs typeface="Calibri" pitchFamily="34" charset="0"/>
              </a:rPr>
              <a:t>….</a:t>
            </a:r>
          </a:p>
        </p:txBody>
      </p:sp>
      <p:sp>
        <p:nvSpPr>
          <p:cNvPr id="6" name="TextBox 5">
            <a:extLst>
              <a:ext uri="{FF2B5EF4-FFF2-40B4-BE49-F238E27FC236}">
                <a16:creationId xmlns:a16="http://schemas.microsoft.com/office/drawing/2014/main" id="{D64AF8DF-3350-4A6F-A063-18CD16749747}"/>
              </a:ext>
            </a:extLst>
          </p:cNvPr>
          <p:cNvSpPr txBox="1"/>
          <p:nvPr/>
        </p:nvSpPr>
        <p:spPr>
          <a:xfrm>
            <a:off x="5057471" y="5133996"/>
            <a:ext cx="6524928" cy="769441"/>
          </a:xfrm>
          <a:prstGeom prst="rect">
            <a:avLst/>
          </a:prstGeom>
          <a:solidFill>
            <a:srgbClr val="FFFF00"/>
          </a:solidFill>
          <a:ln>
            <a:solidFill>
              <a:srgbClr val="FF0000"/>
            </a:solidFill>
          </a:ln>
        </p:spPr>
        <p:txBody>
          <a:bodyPr wrap="square" rtlCol="0" anchor="ctr" anchorCtr="1">
            <a:spAutoFit/>
          </a:bodyPr>
          <a:lstStyle/>
          <a:p>
            <a:r>
              <a:rPr lang="en-US" sz="2200" dirty="0">
                <a:ea typeface="標楷體" pitchFamily="65" charset="-120"/>
                <a:cs typeface="Calibri" pitchFamily="34" charset="0"/>
              </a:rPr>
              <a:t>Most caches today are using write-back and </a:t>
            </a:r>
          </a:p>
          <a:p>
            <a:r>
              <a:rPr lang="en-US" sz="2200" dirty="0">
                <a:ea typeface="標楷體" pitchFamily="65" charset="-120"/>
                <a:cs typeface="Calibri" pitchFamily="34" charset="0"/>
              </a:rPr>
              <a:t>write-allocation policy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9201" y="173039"/>
            <a:ext cx="9886949" cy="652871"/>
          </a:xfrm>
        </p:spPr>
        <p:txBody>
          <a:bodyPr/>
          <a:lstStyle/>
          <a:p>
            <a:r>
              <a:rPr lang="en-US" altLang="zh-TW" dirty="0">
                <a:ea typeface="新細明體" panose="02020500000000000000" pitchFamily="18" charset="-120"/>
              </a:rPr>
              <a:t>Write Allocate vs Write-no-allocate</a:t>
            </a:r>
            <a:endParaRPr lang="en-AU" altLang="zh-TW" dirty="0">
              <a:ea typeface="新細明體" panose="02020500000000000000" pitchFamily="18" charset="-120"/>
            </a:endParaRPr>
          </a:p>
        </p:txBody>
      </p:sp>
      <p:sp>
        <p:nvSpPr>
          <p:cNvPr id="37891" name="Rectangle 3"/>
          <p:cNvSpPr>
            <a:spLocks noGrp="1" noChangeArrowheads="1"/>
          </p:cNvSpPr>
          <p:nvPr>
            <p:ph type="body" idx="1"/>
          </p:nvPr>
        </p:nvSpPr>
        <p:spPr>
          <a:xfrm>
            <a:off x="371475" y="1133219"/>
            <a:ext cx="11201399" cy="5239006"/>
          </a:xfrm>
        </p:spPr>
        <p:txBody>
          <a:bodyPr/>
          <a:lstStyle/>
          <a:p>
            <a:pPr>
              <a:buFont typeface="Wingdings" panose="05000000000000000000" pitchFamily="2" charset="2"/>
              <a:buNone/>
            </a:pPr>
            <a:r>
              <a:rPr lang="en-AU" altLang="zh-TW" sz="3200" dirty="0">
                <a:ea typeface="新細明體" panose="02020500000000000000" pitchFamily="18" charset="-120"/>
              </a:rPr>
              <a:t>On a write miss:</a:t>
            </a:r>
          </a:p>
          <a:p>
            <a:pPr>
              <a:buFont typeface="Wingdings" panose="05000000000000000000" pitchFamily="2" charset="2"/>
              <a:buNone/>
            </a:pPr>
            <a:r>
              <a:rPr lang="en-AU" altLang="zh-TW" sz="2800" dirty="0">
                <a:ea typeface="新細明體" panose="02020500000000000000" pitchFamily="18" charset="-120"/>
              </a:rPr>
              <a:t>	Write-Allocate:</a:t>
            </a:r>
          </a:p>
          <a:p>
            <a:pPr>
              <a:buFont typeface="Wingdings" panose="05000000000000000000" pitchFamily="2" charset="2"/>
              <a:buNone/>
            </a:pPr>
            <a:r>
              <a:rPr lang="en-AU" altLang="zh-TW" sz="2800" dirty="0">
                <a:ea typeface="新細明體" panose="02020500000000000000" pitchFamily="18" charset="-120"/>
              </a:rPr>
              <a:t>		</a:t>
            </a:r>
            <a:r>
              <a:rPr lang="en-AU" altLang="zh-TW" sz="2400" dirty="0">
                <a:ea typeface="新細明體" panose="02020500000000000000" pitchFamily="18" charset="-120"/>
              </a:rPr>
              <a:t>Also called fetch-on-write</a:t>
            </a:r>
          </a:p>
          <a:p>
            <a:pPr>
              <a:buFont typeface="Wingdings" panose="05000000000000000000" pitchFamily="2" charset="2"/>
              <a:buNone/>
            </a:pPr>
            <a:r>
              <a:rPr lang="en-AU" altLang="zh-TW" sz="2400" dirty="0">
                <a:ea typeface="新細明體" panose="02020500000000000000" pitchFamily="18" charset="-120"/>
              </a:rPr>
              <a:t>		</a:t>
            </a:r>
            <a:r>
              <a:rPr lang="en-US" altLang="zh-TW" sz="2400" dirty="0">
                <a:ea typeface="新細明體" panose="02020500000000000000" pitchFamily="18" charset="-120"/>
              </a:rPr>
              <a:t>The system first loads the missing data block from main memory into the cache, then writes the new data to the cache line. Often work with copy-back caches. The initial cost is high, and the reuse is fast.</a:t>
            </a:r>
          </a:p>
          <a:p>
            <a:pPr>
              <a:buFont typeface="Wingdings" panose="05000000000000000000" pitchFamily="2" charset="2"/>
              <a:buNone/>
            </a:pPr>
            <a:r>
              <a:rPr lang="en-US" altLang="zh-TW" sz="2800" dirty="0">
                <a:ea typeface="新細明體" panose="02020500000000000000" pitchFamily="18" charset="-120"/>
              </a:rPr>
              <a:t>	Write-</a:t>
            </a:r>
            <a:r>
              <a:rPr lang="en-US" altLang="zh-TW" sz="2800" dirty="0" err="1">
                <a:ea typeface="新細明體" panose="02020500000000000000" pitchFamily="18" charset="-120"/>
              </a:rPr>
              <a:t>NoAllocate</a:t>
            </a:r>
            <a:r>
              <a:rPr lang="en-US" altLang="zh-TW" sz="2800" dirty="0">
                <a:ea typeface="新細明體" panose="02020500000000000000" pitchFamily="18" charset="-120"/>
              </a:rPr>
              <a:t>:</a:t>
            </a:r>
          </a:p>
          <a:p>
            <a:pPr>
              <a:buFont typeface="Wingdings" panose="05000000000000000000" pitchFamily="2" charset="2"/>
              <a:buNone/>
            </a:pPr>
            <a:r>
              <a:rPr lang="en-US" altLang="zh-TW" sz="2800" dirty="0">
                <a:ea typeface="新細明體" panose="02020500000000000000" pitchFamily="18" charset="-120"/>
              </a:rPr>
              <a:t>		</a:t>
            </a:r>
            <a:r>
              <a:rPr lang="en-US" altLang="zh-TW" sz="2400" dirty="0">
                <a:ea typeface="新細明體" panose="02020500000000000000" pitchFamily="18" charset="-120"/>
              </a:rPr>
              <a:t>The system </a:t>
            </a:r>
            <a:r>
              <a:rPr lang="en-US" altLang="zh-TW" sz="2400" i="1" dirty="0">
                <a:solidFill>
                  <a:srgbClr val="FF0000"/>
                </a:solidFill>
                <a:ea typeface="新細明體" panose="02020500000000000000" pitchFamily="18" charset="-120"/>
              </a:rPr>
              <a:t>bypasses the cache </a:t>
            </a:r>
            <a:r>
              <a:rPr lang="en-US" altLang="zh-TW" sz="2400" dirty="0">
                <a:ea typeface="新細明體" panose="02020500000000000000" pitchFamily="18" charset="-120"/>
              </a:rPr>
              <a:t>and writes directly to main memory, without loading the block into the cache. The write may be sent to a write buffer waiting for a write-combining opportunity, rather than writing to memory directly. Often work with write-through cache. Initial action is fast, but the reuse is slow. Best case: writing logs.</a:t>
            </a:r>
            <a:endParaRPr lang="en-AU" altLang="zh-TW" sz="24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62</a:t>
            </a:fld>
            <a:endParaRPr lang="zh-TW"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9201" y="173039"/>
            <a:ext cx="9086851" cy="652871"/>
          </a:xfrm>
        </p:spPr>
        <p:txBody>
          <a:bodyPr/>
          <a:lstStyle/>
          <a:p>
            <a:r>
              <a:rPr lang="en-US" altLang="zh-TW" dirty="0"/>
              <a:t>Cache Read</a:t>
            </a:r>
            <a:endParaRPr lang="en-AU" altLang="zh-TW" dirty="0">
              <a:ea typeface="新細明體" panose="02020500000000000000" pitchFamily="18" charset="-120"/>
            </a:endParaRPr>
          </a:p>
        </p:txBody>
      </p:sp>
      <p:sp>
        <p:nvSpPr>
          <p:cNvPr id="37891" name="Rectangle 3"/>
          <p:cNvSpPr>
            <a:spLocks noGrp="1" noChangeArrowheads="1"/>
          </p:cNvSpPr>
          <p:nvPr>
            <p:ph type="body" idx="1"/>
          </p:nvPr>
        </p:nvSpPr>
        <p:spPr>
          <a:xfrm>
            <a:off x="1297859" y="1066544"/>
            <a:ext cx="10284541" cy="5042025"/>
          </a:xfrm>
        </p:spPr>
        <p:txBody>
          <a:bodyPr/>
          <a:lstStyle/>
          <a:p>
            <a:pPr>
              <a:buFont typeface="Wingdings" panose="05000000000000000000" pitchFamily="2" charset="2"/>
              <a:buNone/>
            </a:pPr>
            <a:r>
              <a:rPr lang="en-US" altLang="zh-TW" sz="2667" dirty="0"/>
              <a:t>Read Hit</a:t>
            </a:r>
          </a:p>
          <a:p>
            <a:r>
              <a:rPr lang="en-US" altLang="zh-TW" sz="2667" dirty="0"/>
              <a:t>On a cache hit, CPU proceeds normally</a:t>
            </a:r>
          </a:p>
          <a:p>
            <a:pPr marL="0" indent="0">
              <a:buNone/>
            </a:pPr>
            <a:endParaRPr lang="en-US" altLang="zh-TW" sz="2667" dirty="0"/>
          </a:p>
          <a:p>
            <a:pPr marL="0" indent="0">
              <a:buNone/>
            </a:pPr>
            <a:r>
              <a:rPr lang="en-US" altLang="zh-TW" sz="2667" dirty="0"/>
              <a:t>Read Miss</a:t>
            </a:r>
          </a:p>
          <a:p>
            <a:r>
              <a:rPr lang="en-US" altLang="zh-TW" sz="2667" dirty="0"/>
              <a:t>On a cache miss</a:t>
            </a:r>
          </a:p>
          <a:p>
            <a:pPr lvl="1"/>
            <a:r>
              <a:rPr lang="en-US" altLang="zh-TW" sz="2400" dirty="0">
                <a:solidFill>
                  <a:srgbClr val="FF0000"/>
                </a:solidFill>
              </a:rPr>
              <a:t>Stall the CPU pipeline (for </a:t>
            </a:r>
            <a:r>
              <a:rPr lang="en-US" altLang="zh-TW" sz="2400" i="1" dirty="0">
                <a:solidFill>
                  <a:srgbClr val="FF0000"/>
                </a:solidFill>
              </a:rPr>
              <a:t>blocking or lockup cache</a:t>
            </a:r>
            <a:r>
              <a:rPr lang="en-US" altLang="zh-TW" sz="2400" dirty="0">
                <a:solidFill>
                  <a:srgbClr val="FF0000"/>
                </a:solidFill>
              </a:rPr>
              <a:t>)</a:t>
            </a:r>
          </a:p>
          <a:p>
            <a:pPr lvl="1"/>
            <a:r>
              <a:rPr lang="en-US" altLang="zh-TW" sz="2400" dirty="0"/>
              <a:t>Fetch block from next level of hierarchy</a:t>
            </a:r>
          </a:p>
          <a:p>
            <a:pPr lvl="1"/>
            <a:r>
              <a:rPr lang="en-US" altLang="zh-TW" sz="2400" dirty="0"/>
              <a:t>Instruction cache miss</a:t>
            </a:r>
          </a:p>
          <a:p>
            <a:pPr lvl="2"/>
            <a:r>
              <a:rPr lang="en-US" altLang="zh-TW" sz="2133" dirty="0"/>
              <a:t>Restart instruction fetch</a:t>
            </a:r>
          </a:p>
          <a:p>
            <a:pPr lvl="1"/>
            <a:r>
              <a:rPr lang="en-US" altLang="zh-TW" sz="2400" dirty="0"/>
              <a:t>Data cache miss</a:t>
            </a:r>
          </a:p>
          <a:p>
            <a:pPr lvl="2"/>
            <a:r>
              <a:rPr lang="en-US" altLang="zh-TW" sz="2133" dirty="0"/>
              <a:t>Complete data access</a:t>
            </a:r>
            <a:endParaRPr lang="en-AU" altLang="zh-TW" sz="2133"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63</a:t>
            </a:fld>
            <a:endParaRPr lang="zh-TW" altLang="en-US"/>
          </a:p>
        </p:txBody>
      </p:sp>
    </p:spTree>
    <p:extLst>
      <p:ext uri="{BB962C8B-B14F-4D97-AF65-F5344CB8AC3E}">
        <p14:creationId xmlns:p14="http://schemas.microsoft.com/office/powerpoint/2010/main" val="12498661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9201" y="173039"/>
            <a:ext cx="9086851" cy="652871"/>
          </a:xfrm>
        </p:spPr>
        <p:txBody>
          <a:bodyPr/>
          <a:lstStyle/>
          <a:p>
            <a:r>
              <a:rPr lang="en-AU" altLang="zh-TW" dirty="0">
                <a:ea typeface="新細明體" panose="02020500000000000000" pitchFamily="18" charset="-120"/>
              </a:rPr>
              <a:t>Non-Blocking Cache</a:t>
            </a:r>
          </a:p>
        </p:txBody>
      </p:sp>
      <p:sp>
        <p:nvSpPr>
          <p:cNvPr id="37891" name="Rectangle 3"/>
          <p:cNvSpPr>
            <a:spLocks noGrp="1" noChangeArrowheads="1"/>
          </p:cNvSpPr>
          <p:nvPr>
            <p:ph type="body" idx="1"/>
          </p:nvPr>
        </p:nvSpPr>
        <p:spPr>
          <a:xfrm>
            <a:off x="1297859" y="1066544"/>
            <a:ext cx="10284541" cy="5042025"/>
          </a:xfrm>
        </p:spPr>
        <p:txBody>
          <a:bodyPr/>
          <a:lstStyle/>
          <a:p>
            <a:pPr>
              <a:buFont typeface="Wingdings" panose="05000000000000000000" pitchFamily="2" charset="2"/>
              <a:buChar char="§"/>
            </a:pPr>
            <a:r>
              <a:rPr lang="en-US" altLang="zh-TW" sz="2800" dirty="0"/>
              <a:t>On a blocking cache</a:t>
            </a:r>
          </a:p>
          <a:p>
            <a:pPr lvl="1">
              <a:buFont typeface="Wingdings" panose="05000000000000000000" pitchFamily="2" charset="2"/>
              <a:buChar char="Ø"/>
            </a:pPr>
            <a:r>
              <a:rPr lang="en-US" altLang="zh-TW" sz="2400" dirty="0">
                <a:solidFill>
                  <a:srgbClr val="FF0000"/>
                </a:solidFill>
              </a:rPr>
              <a:t>A cache miss stalls the CPU pipeline.</a:t>
            </a:r>
          </a:p>
          <a:p>
            <a:pPr lvl="1">
              <a:buFont typeface="Wingdings" panose="05000000000000000000" pitchFamily="2" charset="2"/>
              <a:buChar char="Ø"/>
            </a:pPr>
            <a:r>
              <a:rPr lang="en-US" altLang="zh-TW" sz="2400" dirty="0"/>
              <a:t>Called</a:t>
            </a:r>
            <a:r>
              <a:rPr lang="en-US" altLang="zh-TW" sz="2400" dirty="0">
                <a:solidFill>
                  <a:srgbClr val="FF0000"/>
                </a:solidFill>
              </a:rPr>
              <a:t> </a:t>
            </a:r>
            <a:r>
              <a:rPr lang="en-US" altLang="zh-TW" sz="2400" b="1" dirty="0">
                <a:solidFill>
                  <a:srgbClr val="FF0000"/>
                </a:solidFill>
              </a:rPr>
              <a:t>Stall-on-Miss</a:t>
            </a:r>
          </a:p>
          <a:p>
            <a:pPr>
              <a:buFont typeface="Wingdings" panose="05000000000000000000" pitchFamily="2" charset="2"/>
              <a:buChar char="§"/>
            </a:pPr>
            <a:r>
              <a:rPr lang="en-US" altLang="zh-TW" sz="2800" dirty="0"/>
              <a:t>Non-blocking cache</a:t>
            </a:r>
          </a:p>
          <a:p>
            <a:pPr lvl="1">
              <a:buFont typeface="Wingdings" panose="05000000000000000000" pitchFamily="2" charset="2"/>
              <a:buChar char="Ø"/>
            </a:pPr>
            <a:r>
              <a:rPr lang="en-US" altLang="zh-TW" sz="2267" dirty="0"/>
              <a:t>On a cache miss, the CPU doesn't stall the pipeline; it can continue working on other instructions while the data is being fetched. A stall occurs only when the fetched data is required.</a:t>
            </a:r>
          </a:p>
          <a:p>
            <a:pPr lvl="1">
              <a:buFont typeface="Wingdings" panose="05000000000000000000" pitchFamily="2" charset="2"/>
              <a:buChar char="Ø"/>
            </a:pPr>
            <a:r>
              <a:rPr lang="en-US" altLang="zh-TW" sz="2267" dirty="0"/>
              <a:t>Use the </a:t>
            </a:r>
            <a:r>
              <a:rPr lang="en-US" altLang="zh-TW" sz="2267" dirty="0">
                <a:solidFill>
                  <a:srgbClr val="FF0000"/>
                </a:solidFill>
              </a:rPr>
              <a:t>Miss Status Holding Register </a:t>
            </a:r>
            <a:r>
              <a:rPr lang="en-US" altLang="zh-TW" sz="2267" dirty="0"/>
              <a:t>(</a:t>
            </a:r>
            <a:r>
              <a:rPr lang="en-US" altLang="zh-TW" sz="2267" b="1" dirty="0">
                <a:solidFill>
                  <a:srgbClr val="FF0000"/>
                </a:solidFill>
              </a:rPr>
              <a:t>MSHR</a:t>
            </a:r>
            <a:r>
              <a:rPr lang="en-US" altLang="zh-TW" sz="2267" dirty="0"/>
              <a:t>) to track outstanding misses</a:t>
            </a:r>
          </a:p>
          <a:p>
            <a:pPr lvl="1">
              <a:buFont typeface="Wingdings" panose="05000000000000000000" pitchFamily="2" charset="2"/>
              <a:buChar char="Ø"/>
            </a:pPr>
            <a:r>
              <a:rPr lang="en-US" altLang="zh-TW" sz="2267" dirty="0"/>
              <a:t>Called </a:t>
            </a:r>
            <a:r>
              <a:rPr lang="en-US" altLang="zh-TW" sz="2267" b="1" dirty="0">
                <a:solidFill>
                  <a:srgbClr val="FF0000"/>
                </a:solidFill>
              </a:rPr>
              <a:t>Stall-on-Use</a:t>
            </a:r>
          </a:p>
          <a:p>
            <a:pPr lvl="2">
              <a:buFont typeface="Wingdings" panose="05000000000000000000" pitchFamily="2" charset="2"/>
              <a:buChar char="Ø"/>
            </a:pPr>
            <a:r>
              <a:rPr lang="en-US" altLang="zh-TW" sz="2400" b="1" dirty="0">
                <a:solidFill>
                  <a:srgbClr val="FF0000"/>
                </a:solidFill>
              </a:rPr>
              <a:t>Two standard models: Hit-under-miss and Miss-under-miss</a:t>
            </a:r>
          </a:p>
          <a:p>
            <a:pPr lvl="1">
              <a:buFont typeface="Wingdings" panose="05000000000000000000" pitchFamily="2" charset="2"/>
              <a:buChar char="Ø"/>
            </a:pPr>
            <a:r>
              <a:rPr lang="en-US" altLang="zh-TW" sz="2267" dirty="0"/>
              <a:t>Non-block caches (also called lockup-free caches) support </a:t>
            </a:r>
            <a:r>
              <a:rPr lang="en-US" altLang="zh-TW" sz="2267" b="1" dirty="0">
                <a:solidFill>
                  <a:srgbClr val="FF0000"/>
                </a:solidFill>
              </a:rPr>
              <a:t>MLP (Memory Level Parallelism) </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64</a:t>
            </a:fld>
            <a:endParaRPr lang="zh-TW" altLang="en-US"/>
          </a:p>
        </p:txBody>
      </p:sp>
    </p:spTree>
    <p:extLst>
      <p:ext uri="{BB962C8B-B14F-4D97-AF65-F5344CB8AC3E}">
        <p14:creationId xmlns:p14="http://schemas.microsoft.com/office/powerpoint/2010/main" val="23724722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9201" y="173039"/>
            <a:ext cx="9086851" cy="652871"/>
          </a:xfrm>
        </p:spPr>
        <p:txBody>
          <a:bodyPr/>
          <a:lstStyle/>
          <a:p>
            <a:r>
              <a:rPr lang="en-AU" altLang="zh-TW" dirty="0">
                <a:ea typeface="新細明體" panose="02020500000000000000" pitchFamily="18" charset="-120"/>
              </a:rPr>
              <a:t>Non-Blocking Cache</a:t>
            </a:r>
          </a:p>
        </p:txBody>
      </p:sp>
      <p:sp>
        <p:nvSpPr>
          <p:cNvPr id="37891" name="Rectangle 3"/>
          <p:cNvSpPr>
            <a:spLocks noGrp="1" noChangeArrowheads="1"/>
          </p:cNvSpPr>
          <p:nvPr>
            <p:ph type="body" idx="1"/>
          </p:nvPr>
        </p:nvSpPr>
        <p:spPr>
          <a:xfrm>
            <a:off x="1297859" y="1066544"/>
            <a:ext cx="10284541" cy="5042025"/>
          </a:xfrm>
        </p:spPr>
        <p:txBody>
          <a:bodyPr/>
          <a:lstStyle/>
          <a:p>
            <a:pPr>
              <a:buFont typeface="Wingdings" panose="05000000000000000000" pitchFamily="2" charset="2"/>
              <a:buChar char="§"/>
            </a:pPr>
            <a:r>
              <a:rPr lang="en-US" altLang="zh-TW" sz="2800" dirty="0"/>
              <a:t>On a blocking cache</a:t>
            </a:r>
          </a:p>
          <a:p>
            <a:pPr lvl="1">
              <a:buFont typeface="Wingdings" panose="05000000000000000000" pitchFamily="2" charset="2"/>
              <a:buChar char="Ø"/>
            </a:pPr>
            <a:r>
              <a:rPr lang="en-US" altLang="zh-TW" sz="2400" dirty="0">
                <a:solidFill>
                  <a:srgbClr val="FF0000"/>
                </a:solidFill>
              </a:rPr>
              <a:t>A cache miss stalls the CPU pipeline.</a:t>
            </a:r>
          </a:p>
          <a:p>
            <a:pPr lvl="1">
              <a:buFont typeface="Wingdings" panose="05000000000000000000" pitchFamily="2" charset="2"/>
              <a:buChar char="Ø"/>
            </a:pPr>
            <a:r>
              <a:rPr lang="en-US" altLang="zh-TW" sz="2400" dirty="0"/>
              <a:t>Called</a:t>
            </a:r>
            <a:r>
              <a:rPr lang="en-US" altLang="zh-TW" sz="2400" dirty="0">
                <a:solidFill>
                  <a:srgbClr val="FF0000"/>
                </a:solidFill>
              </a:rPr>
              <a:t> </a:t>
            </a:r>
            <a:r>
              <a:rPr lang="en-US" altLang="zh-TW" sz="2400" b="1" dirty="0">
                <a:solidFill>
                  <a:srgbClr val="FF0000"/>
                </a:solidFill>
              </a:rPr>
              <a:t>Stall-on-Miss</a:t>
            </a:r>
          </a:p>
          <a:p>
            <a:pPr>
              <a:buFont typeface="Wingdings" panose="05000000000000000000" pitchFamily="2" charset="2"/>
              <a:buChar char="§"/>
            </a:pPr>
            <a:r>
              <a:rPr lang="en-US" altLang="zh-TW" sz="2800" dirty="0"/>
              <a:t>Non-blocking cache</a:t>
            </a:r>
          </a:p>
          <a:p>
            <a:pPr lvl="1">
              <a:buFont typeface="Wingdings" panose="05000000000000000000" pitchFamily="2" charset="2"/>
              <a:buChar char="Ø"/>
            </a:pPr>
            <a:r>
              <a:rPr lang="en-US" altLang="zh-TW" sz="2267" dirty="0"/>
              <a:t>On a cache miss, the CPU doesn't stall the pipeline; it can continue working on other instructions while the data is being fetched. A stall occurs only when the fetched data is required.</a:t>
            </a:r>
          </a:p>
          <a:p>
            <a:pPr lvl="1">
              <a:buFont typeface="Wingdings" panose="05000000000000000000" pitchFamily="2" charset="2"/>
              <a:buChar char="Ø"/>
            </a:pPr>
            <a:r>
              <a:rPr lang="en-US" altLang="zh-TW" sz="2267" dirty="0"/>
              <a:t>Use the Miss Status Holding Register (MSHR) to track outstanding misses</a:t>
            </a:r>
          </a:p>
          <a:p>
            <a:pPr lvl="1">
              <a:buFont typeface="Wingdings" panose="05000000000000000000" pitchFamily="2" charset="2"/>
              <a:buChar char="Ø"/>
            </a:pPr>
            <a:r>
              <a:rPr lang="en-US" altLang="zh-TW" sz="2267" dirty="0"/>
              <a:t>Called </a:t>
            </a:r>
            <a:r>
              <a:rPr lang="en-US" altLang="zh-TW" sz="2267" b="1" dirty="0">
                <a:solidFill>
                  <a:srgbClr val="FF0000"/>
                </a:solidFill>
              </a:rPr>
              <a:t>Stall-on-Use</a:t>
            </a:r>
          </a:p>
          <a:p>
            <a:pPr lvl="2">
              <a:buFont typeface="Wingdings" panose="05000000000000000000" pitchFamily="2" charset="2"/>
              <a:buChar char="Ø"/>
            </a:pPr>
            <a:r>
              <a:rPr lang="en-US" altLang="zh-TW" sz="2400" b="1" dirty="0">
                <a:solidFill>
                  <a:srgbClr val="FF0000"/>
                </a:solidFill>
              </a:rPr>
              <a:t>Two standard models: Hit-under-miss and Miss-under-miss</a:t>
            </a:r>
          </a:p>
          <a:p>
            <a:pPr lvl="1">
              <a:buFont typeface="Wingdings" panose="05000000000000000000" pitchFamily="2" charset="2"/>
              <a:buChar char="Ø"/>
            </a:pPr>
            <a:r>
              <a:rPr lang="en-US" altLang="zh-TW" sz="2267" dirty="0"/>
              <a:t>Non-block caches (also called lockup-free caches) support </a:t>
            </a:r>
            <a:r>
              <a:rPr lang="en-US" altLang="zh-TW" sz="2267" b="1" dirty="0">
                <a:solidFill>
                  <a:srgbClr val="FF0000"/>
                </a:solidFill>
              </a:rPr>
              <a:t>MLP (Memory Level Parallelism) </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65</a:t>
            </a:fld>
            <a:endParaRPr lang="zh-TW" altLang="en-US"/>
          </a:p>
        </p:txBody>
      </p:sp>
      <p:pic>
        <p:nvPicPr>
          <p:cNvPr id="3" name="Picture 2">
            <a:extLst>
              <a:ext uri="{FF2B5EF4-FFF2-40B4-BE49-F238E27FC236}">
                <a16:creationId xmlns:a16="http://schemas.microsoft.com/office/drawing/2014/main" id="{DF280F5D-C75E-4851-8DF1-F5A5EDD6B2D7}"/>
              </a:ext>
            </a:extLst>
          </p:cNvPr>
          <p:cNvPicPr>
            <a:picLocks noChangeAspect="1"/>
          </p:cNvPicPr>
          <p:nvPr/>
        </p:nvPicPr>
        <p:blipFill>
          <a:blip r:embed="rId3"/>
          <a:stretch>
            <a:fillRect/>
          </a:stretch>
        </p:blipFill>
        <p:spPr>
          <a:xfrm>
            <a:off x="7405411" y="371475"/>
            <a:ext cx="3953427" cy="2581635"/>
          </a:xfrm>
          <a:prstGeom prst="rect">
            <a:avLst/>
          </a:prstGeom>
        </p:spPr>
      </p:pic>
    </p:spTree>
    <p:extLst>
      <p:ext uri="{BB962C8B-B14F-4D97-AF65-F5344CB8AC3E}">
        <p14:creationId xmlns:p14="http://schemas.microsoft.com/office/powerpoint/2010/main" val="6956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9201" y="173039"/>
            <a:ext cx="9086851" cy="652871"/>
          </a:xfrm>
        </p:spPr>
        <p:txBody>
          <a:bodyPr/>
          <a:lstStyle/>
          <a:p>
            <a:r>
              <a:rPr lang="en-US" altLang="zh-TW" sz="4400" dirty="0"/>
              <a:t> Instruction Cache Miss Handling</a:t>
            </a:r>
            <a:endParaRPr lang="en-AU" altLang="zh-TW" sz="4400" dirty="0">
              <a:ea typeface="新細明體" panose="02020500000000000000" pitchFamily="18" charset="-120"/>
            </a:endParaRPr>
          </a:p>
        </p:txBody>
      </p:sp>
      <p:sp>
        <p:nvSpPr>
          <p:cNvPr id="37891" name="Rectangle 3"/>
          <p:cNvSpPr>
            <a:spLocks noGrp="1" noChangeArrowheads="1"/>
          </p:cNvSpPr>
          <p:nvPr>
            <p:ph type="body" idx="1"/>
          </p:nvPr>
        </p:nvSpPr>
        <p:spPr>
          <a:xfrm>
            <a:off x="326309" y="1066544"/>
            <a:ext cx="10284541" cy="5042025"/>
          </a:xfrm>
        </p:spPr>
        <p:txBody>
          <a:bodyPr/>
          <a:lstStyle/>
          <a:p>
            <a:r>
              <a:rPr lang="en-US" altLang="zh-TW" sz="2667" dirty="0"/>
              <a:t>On instruction cache miss</a:t>
            </a:r>
          </a:p>
          <a:p>
            <a:pPr lvl="1"/>
            <a:r>
              <a:rPr lang="en-US" sz="2400" dirty="0"/>
              <a:t>Send the original PC value (current PC – 4) to the memory.</a:t>
            </a:r>
          </a:p>
          <a:p>
            <a:pPr lvl="1"/>
            <a:r>
              <a:rPr lang="en-US" altLang="zh-TW" sz="2400" dirty="0">
                <a:ea typeface="新細明體" panose="02020500000000000000" pitchFamily="18" charset="-120"/>
              </a:rPr>
              <a:t>Instruct main memory to perform a read and wait for the memory to complete its access.</a:t>
            </a:r>
          </a:p>
          <a:p>
            <a:pPr lvl="1"/>
            <a:r>
              <a:rPr lang="en-US" altLang="zh-TW" sz="2400" dirty="0">
                <a:ea typeface="新細明體" panose="02020500000000000000" pitchFamily="18" charset="-120"/>
              </a:rPr>
              <a:t>Write the cache entry, putting the data from memory in the data portion of the entry, writing the upper bits of the address into the tag field, and turning the valid bit on.</a:t>
            </a:r>
          </a:p>
          <a:p>
            <a:pPr lvl="1"/>
            <a:r>
              <a:rPr lang="en-US" altLang="zh-TW" sz="2400" dirty="0">
                <a:ea typeface="新細明體" panose="02020500000000000000" pitchFamily="18" charset="-120"/>
              </a:rPr>
              <a:t>Restart the instruction execution at the first step, which will re-fetch the instruction, this time finding it in the cache.</a:t>
            </a:r>
          </a:p>
          <a:p>
            <a:r>
              <a:rPr lang="en-US" altLang="zh-TW" sz="2933" dirty="0">
                <a:solidFill>
                  <a:srgbClr val="FF0000"/>
                </a:solidFill>
                <a:ea typeface="新細明體" panose="02020500000000000000" pitchFamily="18" charset="-120"/>
              </a:rPr>
              <a:t>Instruction cache prefetching </a:t>
            </a:r>
            <a:r>
              <a:rPr lang="en-US" altLang="zh-TW" sz="2933" dirty="0">
                <a:ea typeface="新細明體" panose="02020500000000000000" pitchFamily="18" charset="-120"/>
              </a:rPr>
              <a:t>is a commonly used optimization to reduce instruction cache misses.</a:t>
            </a:r>
            <a:endParaRPr lang="en-AU" altLang="zh-TW" sz="2933"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66</a:t>
            </a:fld>
            <a:endParaRPr lang="zh-TW" altLang="en-US"/>
          </a:p>
        </p:txBody>
      </p:sp>
      <p:sp>
        <p:nvSpPr>
          <p:cNvPr id="2" name="TextBox 1">
            <a:extLst>
              <a:ext uri="{FF2B5EF4-FFF2-40B4-BE49-F238E27FC236}">
                <a16:creationId xmlns:a16="http://schemas.microsoft.com/office/drawing/2014/main" id="{AF981107-A991-40E8-9766-CF34E1BEA598}"/>
              </a:ext>
            </a:extLst>
          </p:cNvPr>
          <p:cNvSpPr txBox="1"/>
          <p:nvPr/>
        </p:nvSpPr>
        <p:spPr>
          <a:xfrm>
            <a:off x="7787311" y="5347102"/>
            <a:ext cx="3326552"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Question: Can you prefetch for</a:t>
            </a:r>
          </a:p>
          <a:p>
            <a:r>
              <a:rPr lang="en-US" dirty="0">
                <a:ea typeface="標楷體" pitchFamily="65" charset="-120"/>
                <a:cs typeface="Calibri" pitchFamily="34" charset="0"/>
              </a:rPr>
              <a:t>instruction cache in software?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9201" y="173039"/>
            <a:ext cx="9086851" cy="652871"/>
          </a:xfrm>
        </p:spPr>
        <p:txBody>
          <a:bodyPr/>
          <a:lstStyle/>
          <a:p>
            <a:r>
              <a:rPr lang="en-US" altLang="zh-TW" sz="4400" dirty="0"/>
              <a:t> Instruction Cache Miss Handling</a:t>
            </a:r>
            <a:endParaRPr lang="en-AU" altLang="zh-TW" sz="4400" dirty="0">
              <a:ea typeface="新細明體" panose="02020500000000000000" pitchFamily="18" charset="-120"/>
            </a:endParaRPr>
          </a:p>
        </p:txBody>
      </p:sp>
      <p:sp>
        <p:nvSpPr>
          <p:cNvPr id="37891" name="Rectangle 3"/>
          <p:cNvSpPr>
            <a:spLocks noGrp="1" noChangeArrowheads="1"/>
          </p:cNvSpPr>
          <p:nvPr>
            <p:ph type="body" idx="1"/>
          </p:nvPr>
        </p:nvSpPr>
        <p:spPr>
          <a:xfrm>
            <a:off x="326309" y="1066544"/>
            <a:ext cx="10284541" cy="5042025"/>
          </a:xfrm>
        </p:spPr>
        <p:txBody>
          <a:bodyPr/>
          <a:lstStyle/>
          <a:p>
            <a:r>
              <a:rPr lang="en-US" altLang="zh-TW" sz="2667" dirty="0"/>
              <a:t>On instruction cache miss</a:t>
            </a:r>
          </a:p>
          <a:p>
            <a:pPr lvl="1"/>
            <a:r>
              <a:rPr lang="en-US" sz="2400" dirty="0"/>
              <a:t>Send the original PC value (current PC – 4) to the memory.</a:t>
            </a:r>
          </a:p>
          <a:p>
            <a:pPr lvl="1"/>
            <a:r>
              <a:rPr lang="en-US" altLang="zh-TW" sz="2400" dirty="0">
                <a:ea typeface="新細明體" panose="02020500000000000000" pitchFamily="18" charset="-120"/>
              </a:rPr>
              <a:t>Instruct main memory to perform a read and wait for the memory to complete its access.</a:t>
            </a:r>
          </a:p>
          <a:p>
            <a:pPr lvl="1"/>
            <a:r>
              <a:rPr lang="en-US" altLang="zh-TW" sz="2400" dirty="0">
                <a:ea typeface="新細明體" panose="02020500000000000000" pitchFamily="18" charset="-120"/>
              </a:rPr>
              <a:t>Write the cache entry, putting the data from memory in the data portion of the entry, writing the upper bits of the address into the tag field, and turning the valid bit on.</a:t>
            </a:r>
          </a:p>
          <a:p>
            <a:pPr lvl="1"/>
            <a:r>
              <a:rPr lang="en-US" altLang="zh-TW" sz="2400" dirty="0">
                <a:ea typeface="新細明體" panose="02020500000000000000" pitchFamily="18" charset="-120"/>
              </a:rPr>
              <a:t>Restart the instruction execution at the first step, which will re-fetch the instruction, this time finding it in the cache.</a:t>
            </a:r>
          </a:p>
          <a:p>
            <a:r>
              <a:rPr lang="en-US" altLang="zh-TW" sz="2933" dirty="0">
                <a:solidFill>
                  <a:srgbClr val="FF0000"/>
                </a:solidFill>
                <a:ea typeface="新細明體" panose="02020500000000000000" pitchFamily="18" charset="-120"/>
              </a:rPr>
              <a:t>Instruction cache prefetching </a:t>
            </a:r>
            <a:r>
              <a:rPr lang="en-US" altLang="zh-TW" sz="2933" dirty="0">
                <a:ea typeface="新細明體" panose="02020500000000000000" pitchFamily="18" charset="-120"/>
              </a:rPr>
              <a:t>is a commonly used optimization to reduce instruction cache misses.</a:t>
            </a:r>
            <a:endParaRPr lang="en-AU" altLang="zh-TW" sz="2933"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67</a:t>
            </a:fld>
            <a:endParaRPr lang="zh-TW" altLang="en-US"/>
          </a:p>
        </p:txBody>
      </p:sp>
      <p:sp>
        <p:nvSpPr>
          <p:cNvPr id="2" name="TextBox 1">
            <a:extLst>
              <a:ext uri="{FF2B5EF4-FFF2-40B4-BE49-F238E27FC236}">
                <a16:creationId xmlns:a16="http://schemas.microsoft.com/office/drawing/2014/main" id="{AF981107-A991-40E8-9766-CF34E1BEA598}"/>
              </a:ext>
            </a:extLst>
          </p:cNvPr>
          <p:cNvSpPr txBox="1"/>
          <p:nvPr/>
        </p:nvSpPr>
        <p:spPr>
          <a:xfrm>
            <a:off x="9707293" y="262883"/>
            <a:ext cx="2341831" cy="3970318"/>
          </a:xfrm>
          <a:prstGeom prst="rect">
            <a:avLst/>
          </a:prstGeom>
          <a:solidFill>
            <a:srgbClr val="FFFF00"/>
          </a:solidFill>
        </p:spPr>
        <p:txBody>
          <a:bodyPr wrap="square" rtlCol="0" anchor="ctr" anchorCtr="1">
            <a:spAutoFit/>
          </a:bodyPr>
          <a:lstStyle/>
          <a:p>
            <a:r>
              <a:rPr lang="en-US" dirty="0">
                <a:ea typeface="標楷體" pitchFamily="65" charset="-120"/>
                <a:cs typeface="Calibri" pitchFamily="34" charset="0"/>
              </a:rPr>
              <a:t>Main() {</a:t>
            </a:r>
          </a:p>
          <a:p>
            <a:r>
              <a:rPr lang="en-US" dirty="0">
                <a:ea typeface="標楷體" pitchFamily="65" charset="-120"/>
                <a:cs typeface="Calibri" pitchFamily="34" charset="0"/>
              </a:rPr>
              <a:t>.....</a:t>
            </a:r>
          </a:p>
          <a:p>
            <a:r>
              <a:rPr lang="en-US" dirty="0">
                <a:ea typeface="標楷體" pitchFamily="65" charset="-120"/>
                <a:cs typeface="Calibri" pitchFamily="34" charset="0"/>
              </a:rPr>
              <a:t>for() {</a:t>
            </a:r>
          </a:p>
          <a:p>
            <a:r>
              <a:rPr lang="en-US" dirty="0">
                <a:ea typeface="標楷體" pitchFamily="65" charset="-120"/>
                <a:cs typeface="Calibri" pitchFamily="34" charset="0"/>
              </a:rPr>
              <a:t>…..</a:t>
            </a:r>
          </a:p>
          <a:p>
            <a:r>
              <a:rPr lang="en-US" dirty="0">
                <a:ea typeface="標楷體" pitchFamily="65" charset="-120"/>
                <a:cs typeface="Calibri" pitchFamily="34" charset="0"/>
              </a:rPr>
              <a:t>….</a:t>
            </a:r>
          </a:p>
          <a:p>
            <a:r>
              <a:rPr lang="en-US" dirty="0">
                <a:ea typeface="標楷體" pitchFamily="65" charset="-120"/>
                <a:cs typeface="Calibri" pitchFamily="34" charset="0"/>
              </a:rPr>
              <a:t>…</a:t>
            </a:r>
          </a:p>
          <a:p>
            <a:r>
              <a:rPr lang="en-US" dirty="0">
                <a:ea typeface="標楷體" pitchFamily="65" charset="-120"/>
                <a:cs typeface="Calibri" pitchFamily="34" charset="0"/>
              </a:rPr>
              <a:t>If () {f1();.. f2();}</a:t>
            </a:r>
          </a:p>
          <a:p>
            <a:r>
              <a:rPr lang="en-US" dirty="0">
                <a:solidFill>
                  <a:srgbClr val="FF0000"/>
                </a:solidFill>
                <a:ea typeface="標楷體" pitchFamily="65" charset="-120"/>
                <a:cs typeface="Calibri" pitchFamily="34" charset="0"/>
              </a:rPr>
              <a:t>prefetch (&amp;f3())</a:t>
            </a:r>
          </a:p>
          <a:p>
            <a:r>
              <a:rPr lang="en-US" dirty="0">
                <a:solidFill>
                  <a:srgbClr val="FF0000"/>
                </a:solidFill>
                <a:ea typeface="標楷體" pitchFamily="65" charset="-120"/>
                <a:cs typeface="Calibri" pitchFamily="34" charset="0"/>
              </a:rPr>
              <a:t>…</a:t>
            </a:r>
          </a:p>
          <a:p>
            <a:r>
              <a:rPr lang="en-US" dirty="0">
                <a:ea typeface="標楷體" pitchFamily="65" charset="-120"/>
                <a:cs typeface="Calibri" pitchFamily="34" charset="0"/>
              </a:rPr>
              <a:t>…</a:t>
            </a:r>
          </a:p>
          <a:p>
            <a:r>
              <a:rPr lang="en-US" dirty="0">
                <a:ea typeface="標楷體" pitchFamily="65" charset="-120"/>
                <a:cs typeface="Calibri" pitchFamily="34" charset="0"/>
              </a:rPr>
              <a:t>…</a:t>
            </a:r>
          </a:p>
          <a:p>
            <a:r>
              <a:rPr lang="en-US" dirty="0">
                <a:ea typeface="標楷體" pitchFamily="65" charset="-120"/>
                <a:cs typeface="Calibri" pitchFamily="34" charset="0"/>
              </a:rPr>
              <a:t>f3(); // I$ miss</a:t>
            </a:r>
          </a:p>
          <a:p>
            <a:r>
              <a:rPr lang="en-US" dirty="0">
                <a:ea typeface="標楷體" pitchFamily="65" charset="-120"/>
                <a:cs typeface="Calibri" pitchFamily="34" charset="0"/>
              </a:rPr>
              <a:t>…</a:t>
            </a:r>
          </a:p>
          <a:p>
            <a:r>
              <a:rPr lang="en-US" dirty="0">
                <a:ea typeface="標楷體" pitchFamily="65" charset="-120"/>
                <a:cs typeface="Calibri" pitchFamily="34" charset="0"/>
              </a:rPr>
              <a:t>}</a:t>
            </a:r>
          </a:p>
        </p:txBody>
      </p:sp>
    </p:spTree>
    <p:extLst>
      <p:ext uri="{BB962C8B-B14F-4D97-AF65-F5344CB8AC3E}">
        <p14:creationId xmlns:p14="http://schemas.microsoft.com/office/powerpoint/2010/main" val="387704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97860" y="173039"/>
            <a:ext cx="9008192" cy="633207"/>
          </a:xfrm>
        </p:spPr>
        <p:txBody>
          <a:bodyPr/>
          <a:lstStyle/>
          <a:p>
            <a:r>
              <a:rPr lang="en-US" altLang="zh-TW" dirty="0"/>
              <a:t>Write Hit - Write-Through Policy</a:t>
            </a:r>
            <a:endParaRPr lang="en-AU" altLang="zh-TW" dirty="0">
              <a:ea typeface="新細明體" panose="02020500000000000000" pitchFamily="18" charset="-120"/>
            </a:endParaRPr>
          </a:p>
        </p:txBody>
      </p:sp>
      <p:sp>
        <p:nvSpPr>
          <p:cNvPr id="37891" name="Rectangle 3"/>
          <p:cNvSpPr>
            <a:spLocks noGrp="1" noChangeArrowheads="1"/>
          </p:cNvSpPr>
          <p:nvPr>
            <p:ph type="body" idx="1"/>
          </p:nvPr>
        </p:nvSpPr>
        <p:spPr>
          <a:xfrm>
            <a:off x="1297860" y="1125537"/>
            <a:ext cx="9874811" cy="4895851"/>
          </a:xfrm>
        </p:spPr>
        <p:txBody>
          <a:bodyPr/>
          <a:lstStyle/>
          <a:p>
            <a:pPr>
              <a:lnSpc>
                <a:spcPct val="80000"/>
              </a:lnSpc>
            </a:pPr>
            <a:r>
              <a:rPr lang="en-US" altLang="zh-TW" sz="2667" dirty="0">
                <a:solidFill>
                  <a:srgbClr val="FF0000"/>
                </a:solidFill>
              </a:rPr>
              <a:t>Write through: </a:t>
            </a:r>
            <a:r>
              <a:rPr lang="en-US" altLang="zh-TW" sz="2667" dirty="0"/>
              <a:t>Also update data in memory</a:t>
            </a:r>
          </a:p>
          <a:p>
            <a:pPr lvl="1"/>
            <a:r>
              <a:rPr lang="en-US" altLang="zh-CN" sz="2400" dirty="0"/>
              <a:t>Advantage: Ensure fast retrieval while making sure the data is in the backing store and is not lost in case the cache is disrupted</a:t>
            </a:r>
          </a:p>
          <a:p>
            <a:pPr lvl="1"/>
            <a:r>
              <a:rPr lang="en-US" altLang="zh-CN" sz="2400" dirty="0"/>
              <a:t>Disadvantage</a:t>
            </a:r>
            <a:r>
              <a:rPr lang="en-US" altLang="zh-CN" sz="2400" b="1" dirty="0"/>
              <a:t>:</a:t>
            </a:r>
            <a:r>
              <a:rPr lang="en-US" altLang="zh-CN" sz="2400" dirty="0"/>
              <a:t> Writing data will experience latency as you have to write to two places every time</a:t>
            </a:r>
          </a:p>
          <a:p>
            <a:pPr lvl="2"/>
            <a:r>
              <a:rPr lang="en-US" altLang="zh-TW" sz="2133" dirty="0"/>
              <a:t>Increase the traffic to memory</a:t>
            </a:r>
          </a:p>
          <a:p>
            <a:pPr lvl="2"/>
            <a:r>
              <a:rPr lang="en-US" altLang="zh-TW" sz="2133" dirty="0"/>
              <a:t>Writes become longer</a:t>
            </a:r>
          </a:p>
          <a:p>
            <a:pPr lvl="3"/>
            <a:r>
              <a:rPr lang="en-US" altLang="zh-TW" sz="1867" dirty="0"/>
              <a:t>If base CPI = 1, 10% of instructions are stores, write to memory takes 100 cycles, </a:t>
            </a:r>
            <a:r>
              <a:rPr lang="en-US" altLang="zh-TW" sz="1867" dirty="0" err="1"/>
              <a:t>e.q</a:t>
            </a:r>
            <a:r>
              <a:rPr lang="en-US" altLang="zh-TW" sz="1867" dirty="0"/>
              <a:t>., </a:t>
            </a:r>
            <a:r>
              <a:rPr lang="en-US" altLang="zh-TW" sz="1600" dirty="0"/>
              <a:t>Effective CPI = 1 + 0.1×100 = 11</a:t>
            </a:r>
          </a:p>
          <a:p>
            <a:pPr>
              <a:lnSpc>
                <a:spcPct val="80000"/>
              </a:lnSpc>
            </a:pPr>
            <a:r>
              <a:rPr lang="en-US" altLang="zh-TW" sz="2667" dirty="0"/>
              <a:t>Solution: </a:t>
            </a:r>
            <a:r>
              <a:rPr lang="en-US" altLang="zh-TW" sz="2667" dirty="0">
                <a:solidFill>
                  <a:srgbClr val="FF0000"/>
                </a:solidFill>
              </a:rPr>
              <a:t>Write buffer</a:t>
            </a:r>
          </a:p>
          <a:p>
            <a:pPr lvl="1">
              <a:lnSpc>
                <a:spcPct val="80000"/>
              </a:lnSpc>
            </a:pPr>
            <a:r>
              <a:rPr lang="en-US" altLang="zh-TW" sz="2400" dirty="0"/>
              <a:t>Hold data waiting to be written to memory</a:t>
            </a:r>
          </a:p>
          <a:p>
            <a:pPr lvl="1">
              <a:lnSpc>
                <a:spcPct val="80000"/>
              </a:lnSpc>
            </a:pPr>
            <a:r>
              <a:rPr lang="en-US" altLang="zh-TW" sz="2400" dirty="0"/>
              <a:t>CPU continues immediately</a:t>
            </a:r>
          </a:p>
          <a:p>
            <a:pPr lvl="2">
              <a:lnSpc>
                <a:spcPct val="80000"/>
              </a:lnSpc>
            </a:pPr>
            <a:r>
              <a:rPr lang="en-US" altLang="zh-TW" sz="2133" dirty="0"/>
              <a:t>Only stalls on write if write buffer is already full</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68</a:t>
            </a:fld>
            <a:endParaRPr lang="zh-TW"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xfrm>
            <a:off x="876300" y="1056715"/>
            <a:ext cx="10553699" cy="3269480"/>
          </a:xfrm>
        </p:spPr>
        <p:txBody>
          <a:bodyPr/>
          <a:lstStyle/>
          <a:p>
            <a:pPr>
              <a:spcBef>
                <a:spcPts val="0"/>
              </a:spcBef>
            </a:pPr>
            <a:r>
              <a:rPr lang="en-US" altLang="zh-TW" sz="2667" dirty="0"/>
              <a:t>Use a write buffer (WB)</a:t>
            </a:r>
          </a:p>
          <a:p>
            <a:pPr lvl="1">
              <a:spcBef>
                <a:spcPts val="0"/>
              </a:spcBef>
            </a:pPr>
            <a:r>
              <a:rPr lang="en-US" altLang="zh-TW" sz="2400" dirty="0"/>
              <a:t>Processor: Writes data into cache and WB</a:t>
            </a:r>
          </a:p>
          <a:p>
            <a:pPr lvl="1">
              <a:spcBef>
                <a:spcPts val="0"/>
              </a:spcBef>
            </a:pPr>
            <a:r>
              <a:rPr lang="en-US" altLang="zh-TW" sz="2400" dirty="0"/>
              <a:t>Memory controller: Write WB data to memory</a:t>
            </a:r>
          </a:p>
          <a:p>
            <a:pPr>
              <a:spcBef>
                <a:spcPts val="0"/>
              </a:spcBef>
            </a:pPr>
            <a:r>
              <a:rPr lang="en-US" altLang="zh-TW" sz="2667" dirty="0"/>
              <a:t>Write buffer is just a FIFO</a:t>
            </a:r>
          </a:p>
          <a:p>
            <a:pPr lvl="1">
              <a:spcBef>
                <a:spcPts val="0"/>
              </a:spcBef>
            </a:pPr>
            <a:r>
              <a:rPr lang="en-US" altLang="zh-TW" sz="2400" dirty="0"/>
              <a:t>Typical number of entries: 4</a:t>
            </a:r>
          </a:p>
          <a:p>
            <a:pPr>
              <a:spcBef>
                <a:spcPts val="0"/>
              </a:spcBef>
            </a:pPr>
            <a:r>
              <a:rPr lang="en-US" altLang="zh-TW" sz="2667" dirty="0"/>
              <a:t>Memory system designer’s nightmare</a:t>
            </a:r>
          </a:p>
          <a:p>
            <a:pPr lvl="1">
              <a:spcBef>
                <a:spcPts val="0"/>
              </a:spcBef>
            </a:pPr>
            <a:r>
              <a:rPr lang="en-US" altLang="zh-TW" sz="2400" dirty="0"/>
              <a:t>Store frequency &gt;  1 / DRAM write cycle</a:t>
            </a:r>
          </a:p>
          <a:p>
            <a:pPr lvl="1">
              <a:spcBef>
                <a:spcPts val="0"/>
              </a:spcBef>
            </a:pPr>
            <a:r>
              <a:rPr lang="en-US" altLang="zh-TW" sz="2400" dirty="0"/>
              <a:t>Write buffer saturation =&gt; CPU stalled</a:t>
            </a:r>
          </a:p>
          <a:p>
            <a:pPr lvl="1">
              <a:spcBef>
                <a:spcPts val="0"/>
              </a:spcBef>
            </a:pPr>
            <a:r>
              <a:rPr lang="en-US" altLang="zh-TW" sz="2400" dirty="0"/>
              <a:t>Write buffer allows write-coalescing/combining to reduce traffic to memory</a:t>
            </a:r>
          </a:p>
        </p:txBody>
      </p:sp>
      <p:sp>
        <p:nvSpPr>
          <p:cNvPr id="39952" name="Rectangle 16"/>
          <p:cNvSpPr>
            <a:spLocks noGrp="1" noChangeArrowheads="1"/>
          </p:cNvSpPr>
          <p:nvPr>
            <p:ph type="title"/>
          </p:nvPr>
        </p:nvSpPr>
        <p:spPr>
          <a:xfrm>
            <a:off x="1278193" y="173040"/>
            <a:ext cx="10432027" cy="672536"/>
          </a:xfrm>
        </p:spPr>
        <p:txBody>
          <a:bodyPr/>
          <a:lstStyle/>
          <a:p>
            <a:r>
              <a:rPr lang="en-US" altLang="zh-TW" sz="4000" dirty="0"/>
              <a:t>Avoid Waiting for Memory in Write Through</a:t>
            </a:r>
          </a:p>
        </p:txBody>
      </p:sp>
      <p:sp>
        <p:nvSpPr>
          <p:cNvPr id="18"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69</a:t>
            </a:fld>
            <a:endParaRPr lang="zh-TW" altLang="en-US"/>
          </a:p>
        </p:txBody>
      </p:sp>
      <p:grpSp>
        <p:nvGrpSpPr>
          <p:cNvPr id="4" name="组合 3"/>
          <p:cNvGrpSpPr/>
          <p:nvPr/>
        </p:nvGrpSpPr>
        <p:grpSpPr>
          <a:xfrm>
            <a:off x="1622996" y="4723152"/>
            <a:ext cx="8907421" cy="1404519"/>
            <a:chOff x="361403" y="3391826"/>
            <a:chExt cx="6680566" cy="1053389"/>
          </a:xfrm>
        </p:grpSpPr>
        <p:grpSp>
          <p:nvGrpSpPr>
            <p:cNvPr id="2" name="组合 1"/>
            <p:cNvGrpSpPr/>
            <p:nvPr/>
          </p:nvGrpSpPr>
          <p:grpSpPr>
            <a:xfrm>
              <a:off x="361403" y="3391826"/>
              <a:ext cx="6680566" cy="1053389"/>
              <a:chOff x="1463906" y="1120379"/>
              <a:chExt cx="6680566" cy="1053389"/>
            </a:xfrm>
          </p:grpSpPr>
          <p:sp>
            <p:nvSpPr>
              <p:cNvPr id="39939" name="Rectangle 3"/>
              <p:cNvSpPr>
                <a:spLocks noChangeArrowheads="1"/>
              </p:cNvSpPr>
              <p:nvPr/>
            </p:nvSpPr>
            <p:spPr bwMode="auto">
              <a:xfrm>
                <a:off x="1463906" y="1120379"/>
                <a:ext cx="1031081" cy="723900"/>
              </a:xfrm>
              <a:prstGeom prst="rect">
                <a:avLst/>
              </a:prstGeom>
              <a:noFill/>
              <a:ln w="25400">
                <a:solidFill>
                  <a:schemeClr val="tx1"/>
                </a:solidFill>
                <a:miter lim="800000"/>
              </a:ln>
            </p:spPr>
            <p:txBody>
              <a:bodyPr wrap="none" anchor="ctr"/>
              <a:lstStyle/>
              <a:p>
                <a:pPr algn="ctr"/>
                <a:r>
                  <a:rPr kumimoji="1" lang="en-US" altLang="zh-TW" sz="2000" b="1" dirty="0">
                    <a:latin typeface="Century Gothic" pitchFamily="34" charset="0"/>
                  </a:rPr>
                  <a:t>Processor</a:t>
                </a:r>
              </a:p>
            </p:txBody>
          </p:sp>
          <p:sp>
            <p:nvSpPr>
              <p:cNvPr id="39940" name="Rectangle 4"/>
              <p:cNvSpPr>
                <a:spLocks noChangeArrowheads="1"/>
              </p:cNvSpPr>
              <p:nvPr/>
            </p:nvSpPr>
            <p:spPr bwMode="auto">
              <a:xfrm>
                <a:off x="4396979" y="1120379"/>
                <a:ext cx="721519" cy="438150"/>
              </a:xfrm>
              <a:prstGeom prst="rect">
                <a:avLst/>
              </a:prstGeom>
              <a:noFill/>
              <a:ln w="25400">
                <a:solidFill>
                  <a:schemeClr val="tx1"/>
                </a:solidFill>
                <a:miter lim="800000"/>
              </a:ln>
            </p:spPr>
            <p:txBody>
              <a:bodyPr wrap="none" anchor="ctr"/>
              <a:lstStyle/>
              <a:p>
                <a:pPr algn="ctr"/>
                <a:r>
                  <a:rPr kumimoji="1" lang="en-US" altLang="zh-TW" sz="2000" b="1" dirty="0">
                    <a:latin typeface="Century Gothic" pitchFamily="34" charset="0"/>
                  </a:rPr>
                  <a:t>Cache</a:t>
                </a:r>
              </a:p>
            </p:txBody>
          </p:sp>
          <p:sp>
            <p:nvSpPr>
              <p:cNvPr id="39941" name="Rectangle 5"/>
              <p:cNvSpPr>
                <a:spLocks noChangeArrowheads="1"/>
              </p:cNvSpPr>
              <p:nvPr/>
            </p:nvSpPr>
            <p:spPr bwMode="auto">
              <a:xfrm>
                <a:off x="4396979" y="1634729"/>
                <a:ext cx="721519" cy="209550"/>
              </a:xfrm>
              <a:prstGeom prst="rect">
                <a:avLst/>
              </a:prstGeom>
              <a:noFill/>
              <a:ln w="25400">
                <a:solidFill>
                  <a:schemeClr val="tx1"/>
                </a:solidFill>
                <a:miter lim="800000"/>
              </a:ln>
            </p:spPr>
            <p:txBody>
              <a:bodyPr wrap="none" anchor="ctr"/>
              <a:lstStyle/>
              <a:p>
                <a:endParaRPr lang="zh-TW" altLang="en-US"/>
              </a:p>
            </p:txBody>
          </p:sp>
          <p:sp>
            <p:nvSpPr>
              <p:cNvPr id="39942" name="Line 6"/>
              <p:cNvSpPr>
                <a:spLocks noChangeShapeType="1"/>
              </p:cNvSpPr>
              <p:nvPr/>
            </p:nvSpPr>
            <p:spPr bwMode="auto">
              <a:xfrm>
                <a:off x="4572000" y="1625204"/>
                <a:ext cx="0" cy="228600"/>
              </a:xfrm>
              <a:prstGeom prst="line">
                <a:avLst/>
              </a:prstGeom>
              <a:noFill/>
              <a:ln w="25400">
                <a:solidFill>
                  <a:schemeClr val="tx1"/>
                </a:solidFill>
                <a:round/>
                <a:headEnd type="none" w="sm" len="sm"/>
                <a:tailEnd type="none" w="sm" len="sm"/>
              </a:ln>
            </p:spPr>
            <p:txBody>
              <a:bodyPr wrap="none" anchor="ctr"/>
              <a:lstStyle/>
              <a:p>
                <a:endParaRPr lang="zh-TW" altLang="en-US"/>
              </a:p>
            </p:txBody>
          </p:sp>
          <p:sp>
            <p:nvSpPr>
              <p:cNvPr id="39943" name="Line 7"/>
              <p:cNvSpPr>
                <a:spLocks noChangeShapeType="1"/>
              </p:cNvSpPr>
              <p:nvPr/>
            </p:nvSpPr>
            <p:spPr bwMode="auto">
              <a:xfrm>
                <a:off x="4757738" y="1625204"/>
                <a:ext cx="0" cy="228600"/>
              </a:xfrm>
              <a:prstGeom prst="line">
                <a:avLst/>
              </a:prstGeom>
              <a:noFill/>
              <a:ln w="25400">
                <a:solidFill>
                  <a:schemeClr val="tx1"/>
                </a:solidFill>
                <a:round/>
                <a:headEnd type="none" w="sm" len="sm"/>
                <a:tailEnd type="none" w="sm" len="sm"/>
              </a:ln>
            </p:spPr>
            <p:txBody>
              <a:bodyPr wrap="none" anchor="ctr"/>
              <a:lstStyle/>
              <a:p>
                <a:endParaRPr lang="zh-TW" altLang="en-US"/>
              </a:p>
            </p:txBody>
          </p:sp>
          <p:sp>
            <p:nvSpPr>
              <p:cNvPr id="39944" name="Line 8"/>
              <p:cNvSpPr>
                <a:spLocks noChangeShapeType="1"/>
              </p:cNvSpPr>
              <p:nvPr/>
            </p:nvSpPr>
            <p:spPr bwMode="auto">
              <a:xfrm>
                <a:off x="4943475" y="1625204"/>
                <a:ext cx="0" cy="228600"/>
              </a:xfrm>
              <a:prstGeom prst="line">
                <a:avLst/>
              </a:prstGeom>
              <a:noFill/>
              <a:ln w="25400">
                <a:solidFill>
                  <a:schemeClr val="tx1"/>
                </a:solidFill>
                <a:round/>
                <a:headEnd type="none" w="sm" len="sm"/>
                <a:tailEnd type="none" w="sm" len="sm"/>
              </a:ln>
            </p:spPr>
            <p:txBody>
              <a:bodyPr wrap="none" anchor="ctr"/>
              <a:lstStyle/>
              <a:p>
                <a:endParaRPr lang="zh-TW" altLang="en-US"/>
              </a:p>
            </p:txBody>
          </p:sp>
          <p:sp>
            <p:nvSpPr>
              <p:cNvPr id="39945" name="Line 9"/>
              <p:cNvSpPr>
                <a:spLocks noChangeShapeType="1"/>
              </p:cNvSpPr>
              <p:nvPr/>
            </p:nvSpPr>
            <p:spPr bwMode="auto">
              <a:xfrm>
                <a:off x="4014788" y="1739504"/>
                <a:ext cx="371475" cy="0"/>
              </a:xfrm>
              <a:prstGeom prst="line">
                <a:avLst/>
              </a:prstGeom>
              <a:noFill/>
              <a:ln w="25400">
                <a:solidFill>
                  <a:schemeClr val="tx1"/>
                </a:solidFill>
                <a:round/>
                <a:headEnd type="none" w="sm" len="sm"/>
                <a:tailEnd type="stealth" w="med" len="lg"/>
              </a:ln>
            </p:spPr>
            <p:txBody>
              <a:bodyPr wrap="none" anchor="ctr"/>
              <a:lstStyle/>
              <a:p>
                <a:endParaRPr lang="zh-TW" altLang="en-US"/>
              </a:p>
            </p:txBody>
          </p:sp>
          <p:sp>
            <p:nvSpPr>
              <p:cNvPr id="39946" name="Line 10"/>
              <p:cNvSpPr>
                <a:spLocks noChangeShapeType="1"/>
              </p:cNvSpPr>
              <p:nvPr/>
            </p:nvSpPr>
            <p:spPr bwMode="auto">
              <a:xfrm>
                <a:off x="2505701" y="1339449"/>
                <a:ext cx="1880562" cy="3"/>
              </a:xfrm>
              <a:prstGeom prst="line">
                <a:avLst/>
              </a:prstGeom>
              <a:noFill/>
              <a:ln w="25400">
                <a:solidFill>
                  <a:schemeClr val="tx1"/>
                </a:solidFill>
                <a:round/>
                <a:headEnd type="stealth" w="med" len="lg"/>
                <a:tailEnd type="stealth" w="med" len="lg"/>
              </a:ln>
            </p:spPr>
            <p:txBody>
              <a:bodyPr wrap="none" anchor="ctr"/>
              <a:lstStyle/>
              <a:p>
                <a:endParaRPr lang="zh-TW" altLang="en-US"/>
              </a:p>
            </p:txBody>
          </p:sp>
          <p:sp>
            <p:nvSpPr>
              <p:cNvPr id="39947" name="Rectangle 11"/>
              <p:cNvSpPr>
                <a:spLocks noChangeArrowheads="1"/>
              </p:cNvSpPr>
              <p:nvPr/>
            </p:nvSpPr>
            <p:spPr bwMode="auto">
              <a:xfrm>
                <a:off x="4169436" y="1873203"/>
                <a:ext cx="1173398" cy="300565"/>
              </a:xfrm>
              <a:prstGeom prst="rect">
                <a:avLst/>
              </a:prstGeom>
              <a:noFill/>
              <a:ln w="9525">
                <a:noFill/>
                <a:miter lim="800000"/>
              </a:ln>
            </p:spPr>
            <p:txBody>
              <a:bodyPr wrap="none" lIns="92075" tIns="46039" rIns="92075" bIns="46039">
                <a:spAutoFit/>
              </a:bodyPr>
              <a:lstStyle/>
              <a:p>
                <a:r>
                  <a:rPr kumimoji="1" lang="en-US" altLang="zh-TW" sz="2000" b="1">
                    <a:latin typeface="Century Gothic" pitchFamily="34" charset="0"/>
                  </a:rPr>
                  <a:t>Write Buffer</a:t>
                </a:r>
                <a:endParaRPr kumimoji="1" lang="en-US" altLang="zh-TW" sz="1600" b="1">
                  <a:latin typeface="Arial" panose="020B0604020202090204" pitchFamily="34" charset="0"/>
                </a:endParaRPr>
              </a:p>
            </p:txBody>
          </p:sp>
          <p:sp>
            <p:nvSpPr>
              <p:cNvPr id="39948" name="Rectangle 12"/>
              <p:cNvSpPr>
                <a:spLocks noChangeArrowheads="1"/>
              </p:cNvSpPr>
              <p:nvPr/>
            </p:nvSpPr>
            <p:spPr bwMode="auto">
              <a:xfrm>
                <a:off x="7299128" y="1120379"/>
                <a:ext cx="845344" cy="723900"/>
              </a:xfrm>
              <a:prstGeom prst="rect">
                <a:avLst/>
              </a:prstGeom>
              <a:noFill/>
              <a:ln w="25400">
                <a:solidFill>
                  <a:schemeClr val="tx1"/>
                </a:solidFill>
                <a:miter lim="800000"/>
              </a:ln>
            </p:spPr>
            <p:txBody>
              <a:bodyPr wrap="none" anchor="ctr"/>
              <a:lstStyle/>
              <a:p>
                <a:pPr algn="ctr"/>
                <a:r>
                  <a:rPr kumimoji="1" lang="en-US" altLang="zh-TW" sz="2000" b="1">
                    <a:latin typeface="Century Gothic" pitchFamily="34" charset="0"/>
                  </a:rPr>
                  <a:t>DRAM</a:t>
                </a:r>
              </a:p>
            </p:txBody>
          </p:sp>
          <p:sp>
            <p:nvSpPr>
              <p:cNvPr id="39949" name="Line 13"/>
              <p:cNvSpPr>
                <a:spLocks noChangeShapeType="1"/>
              </p:cNvSpPr>
              <p:nvPr/>
            </p:nvSpPr>
            <p:spPr bwMode="auto">
              <a:xfrm flipV="1">
                <a:off x="5118497" y="1791006"/>
                <a:ext cx="2180631" cy="2"/>
              </a:xfrm>
              <a:prstGeom prst="line">
                <a:avLst/>
              </a:prstGeom>
              <a:noFill/>
              <a:ln w="25400">
                <a:solidFill>
                  <a:schemeClr val="tx1"/>
                </a:solidFill>
                <a:round/>
                <a:headEnd type="none" w="sm" len="sm"/>
                <a:tailEnd type="stealth" w="med" len="lg"/>
              </a:ln>
            </p:spPr>
            <p:txBody>
              <a:bodyPr wrap="none" anchor="ctr"/>
              <a:lstStyle/>
              <a:p>
                <a:endParaRPr lang="zh-TW" altLang="en-US"/>
              </a:p>
            </p:txBody>
          </p:sp>
          <p:sp>
            <p:nvSpPr>
              <p:cNvPr id="39950" name="Line 14"/>
              <p:cNvSpPr>
                <a:spLocks noChangeShapeType="1"/>
              </p:cNvSpPr>
              <p:nvPr/>
            </p:nvSpPr>
            <p:spPr bwMode="auto">
              <a:xfrm flipV="1">
                <a:off x="5129212" y="1339450"/>
                <a:ext cx="2169916" cy="3"/>
              </a:xfrm>
              <a:prstGeom prst="line">
                <a:avLst/>
              </a:prstGeom>
              <a:noFill/>
              <a:ln w="25400">
                <a:solidFill>
                  <a:schemeClr val="tx1"/>
                </a:solidFill>
                <a:round/>
                <a:headEnd type="stealth" w="med" len="lg"/>
                <a:tailEnd type="none" w="sm" len="sm"/>
              </a:ln>
            </p:spPr>
            <p:txBody>
              <a:bodyPr wrap="none" anchor="ctr"/>
              <a:lstStyle/>
              <a:p>
                <a:endParaRPr lang="zh-TW" altLang="en-US"/>
              </a:p>
            </p:txBody>
          </p:sp>
          <p:sp>
            <p:nvSpPr>
              <p:cNvPr id="39951" name="Line 15"/>
              <p:cNvSpPr>
                <a:spLocks noChangeShapeType="1"/>
              </p:cNvSpPr>
              <p:nvPr/>
            </p:nvSpPr>
            <p:spPr bwMode="auto">
              <a:xfrm>
                <a:off x="4014788" y="1339454"/>
                <a:ext cx="0" cy="400050"/>
              </a:xfrm>
              <a:prstGeom prst="line">
                <a:avLst/>
              </a:prstGeom>
              <a:noFill/>
              <a:ln w="25400">
                <a:solidFill>
                  <a:schemeClr val="tx1"/>
                </a:solidFill>
                <a:round/>
                <a:headEnd type="none" w="sm" len="sm"/>
                <a:tailEnd type="none" w="sm" len="sm"/>
              </a:ln>
            </p:spPr>
            <p:txBody>
              <a:bodyPr wrap="none" anchor="ctr"/>
              <a:lstStyle/>
              <a:p>
                <a:endParaRPr lang="zh-TW" altLang="en-US"/>
              </a:p>
            </p:txBody>
          </p:sp>
        </p:grpSp>
        <p:sp>
          <p:nvSpPr>
            <p:cNvPr id="3" name="矩形 2"/>
            <p:cNvSpPr/>
            <p:nvPr/>
          </p:nvSpPr>
          <p:spPr>
            <a:xfrm>
              <a:off x="4275207" y="3804645"/>
              <a:ext cx="1701428" cy="284742"/>
            </a:xfrm>
            <a:prstGeom prst="rect">
              <a:avLst/>
            </a:prstGeom>
          </p:spPr>
          <p:txBody>
            <a:bodyPr wrap="none">
              <a:spAutoFit/>
            </a:bodyPr>
            <a:lstStyle/>
            <a:p>
              <a:r>
                <a:rPr lang="en-US" altLang="zh-TW" sz="1867" b="1" dirty="0"/>
                <a:t>Memory controller</a:t>
              </a:r>
              <a:endParaRPr lang="zh-CN" altLang="en-US" sz="1867" b="1" dirty="0"/>
            </a:p>
          </p:txBody>
        </p:sp>
      </p:grpSp>
      <p:sp>
        <p:nvSpPr>
          <p:cNvPr id="5" name="TextBox 4">
            <a:extLst>
              <a:ext uri="{FF2B5EF4-FFF2-40B4-BE49-F238E27FC236}">
                <a16:creationId xmlns:a16="http://schemas.microsoft.com/office/drawing/2014/main" id="{AE01ECEF-FE6C-4577-B7FE-7FB5F11F5438}"/>
              </a:ext>
            </a:extLst>
          </p:cNvPr>
          <p:cNvSpPr txBox="1"/>
          <p:nvPr/>
        </p:nvSpPr>
        <p:spPr>
          <a:xfrm>
            <a:off x="8698230" y="3038770"/>
            <a:ext cx="3100208"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Yet another reason to go for </a:t>
            </a:r>
          </a:p>
          <a:p>
            <a:r>
              <a:rPr lang="en-US" dirty="0">
                <a:ea typeface="標楷體" pitchFamily="65" charset="-120"/>
                <a:cs typeface="Calibri" pitchFamily="34" charset="0"/>
              </a:rPr>
              <a:t>write-back cache</a:t>
            </a:r>
          </a:p>
        </p:txBody>
      </p:sp>
      <p:cxnSp>
        <p:nvCxnSpPr>
          <p:cNvPr id="7" name="Straight Arrow Connector 6">
            <a:extLst>
              <a:ext uri="{FF2B5EF4-FFF2-40B4-BE49-F238E27FC236}">
                <a16:creationId xmlns:a16="http://schemas.microsoft.com/office/drawing/2014/main" id="{750B3379-544A-422E-9571-3CD8AC6983AF}"/>
              </a:ext>
            </a:extLst>
          </p:cNvPr>
          <p:cNvCxnSpPr/>
          <p:nvPr/>
        </p:nvCxnSpPr>
        <p:spPr bwMode="auto">
          <a:xfrm flipH="1">
            <a:off x="7120890" y="3361936"/>
            <a:ext cx="1543050" cy="0"/>
          </a:xfrm>
          <a:prstGeom prst="straightConnector1">
            <a:avLst/>
          </a:prstGeom>
          <a:noFill/>
          <a:ln w="38100"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238865" y="173039"/>
            <a:ext cx="9067187" cy="623375"/>
          </a:xfrm>
        </p:spPr>
        <p:txBody>
          <a:bodyPr/>
          <a:lstStyle/>
          <a:p>
            <a:r>
              <a:rPr lang="en-US" altLang="zh-TW" dirty="0"/>
              <a:t>Write Hit - Write-Back Policy</a:t>
            </a:r>
            <a:endParaRPr lang="en-AU" altLang="zh-TW" dirty="0">
              <a:ea typeface="新細明體" panose="02020500000000000000" pitchFamily="18" charset="-120"/>
            </a:endParaRPr>
          </a:p>
        </p:txBody>
      </p:sp>
      <p:sp>
        <p:nvSpPr>
          <p:cNvPr id="40963" name="Rectangle 3"/>
          <p:cNvSpPr>
            <a:spLocks noGrp="1" noChangeArrowheads="1"/>
          </p:cNvSpPr>
          <p:nvPr>
            <p:ph type="body" idx="1"/>
          </p:nvPr>
        </p:nvSpPr>
        <p:spPr>
          <a:xfrm>
            <a:off x="321013" y="1036923"/>
            <a:ext cx="11631803" cy="5334693"/>
          </a:xfrm>
        </p:spPr>
        <p:txBody>
          <a:bodyPr/>
          <a:lstStyle/>
          <a:p>
            <a:pPr>
              <a:spcBef>
                <a:spcPts val="0"/>
              </a:spcBef>
            </a:pPr>
            <a:r>
              <a:rPr lang="en-US" altLang="zh-TW" sz="2667" dirty="0"/>
              <a:t>Just update the block in cache</a:t>
            </a:r>
          </a:p>
          <a:p>
            <a:pPr lvl="1"/>
            <a:r>
              <a:rPr lang="en-US" altLang="zh-TW" sz="2400" dirty="0"/>
              <a:t>Keep track of whether each block is </a:t>
            </a:r>
            <a:r>
              <a:rPr lang="en-US" altLang="zh-TW" sz="2400" dirty="0">
                <a:solidFill>
                  <a:srgbClr val="C00000"/>
                </a:solidFill>
              </a:rPr>
              <a:t>dirty</a:t>
            </a:r>
            <a:r>
              <a:rPr lang="en-US" altLang="zh-TW" sz="2400" dirty="0"/>
              <a:t>, one dirty bit is required</a:t>
            </a:r>
          </a:p>
          <a:p>
            <a:r>
              <a:rPr lang="en-US" altLang="zh-TW" sz="2667" dirty="0"/>
              <a:t>When a dirty block is replaced</a:t>
            </a:r>
          </a:p>
          <a:p>
            <a:pPr lvl="1"/>
            <a:r>
              <a:rPr lang="en-US" altLang="zh-TW" sz="2400" dirty="0"/>
              <a:t>Write it back to memory</a:t>
            </a:r>
          </a:p>
          <a:p>
            <a:pPr lvl="1"/>
            <a:r>
              <a:rPr lang="en-US" altLang="zh-TW" sz="2400" dirty="0"/>
              <a:t>Can use a write buffer to allow a replacing block to be read first</a:t>
            </a:r>
          </a:p>
          <a:p>
            <a:r>
              <a:rPr lang="en-US" altLang="zh-TW" sz="2667" dirty="0">
                <a:ea typeface="新細明體" panose="02020500000000000000" pitchFamily="18" charset="-120"/>
              </a:rPr>
              <a:t>Data in cache and memory is inconsistent (</a:t>
            </a:r>
            <a:r>
              <a:rPr lang="en-US" altLang="zh-TW" sz="2000" dirty="0">
                <a:ea typeface="新細明體" panose="02020500000000000000" pitchFamily="18" charset="-120"/>
              </a:rPr>
              <a:t>what if the other processor wants to read the shared data)</a:t>
            </a:r>
          </a:p>
          <a:p>
            <a:r>
              <a:rPr lang="en-US" altLang="zh-CN" sz="2667" dirty="0"/>
              <a:t>Advantage: Low latency and high throughput for write-intensive applications. </a:t>
            </a:r>
            <a:r>
              <a:rPr lang="en-US" altLang="zh-CN" sz="2667" dirty="0">
                <a:solidFill>
                  <a:srgbClr val="FF0000"/>
                </a:solidFill>
              </a:rPr>
              <a:t>Much lower memory traffic (</a:t>
            </a:r>
            <a:r>
              <a:rPr lang="en-US" altLang="zh-CN" sz="2200" i="1" dirty="0">
                <a:solidFill>
                  <a:srgbClr val="FF0000"/>
                </a:solidFill>
              </a:rPr>
              <a:t>Significant for multi-processor systems</a:t>
            </a:r>
            <a:r>
              <a:rPr lang="en-US" altLang="zh-CN" sz="2667" dirty="0">
                <a:solidFill>
                  <a:srgbClr val="FF0000"/>
                </a:solidFill>
              </a:rPr>
              <a:t>).</a:t>
            </a:r>
          </a:p>
          <a:p>
            <a:r>
              <a:rPr lang="en-US" altLang="zh-CN" sz="2667" dirty="0"/>
              <a:t>Disadvantage: There is a</a:t>
            </a:r>
            <a:r>
              <a:rPr lang="zh-CN" altLang="en-US" sz="2667" dirty="0"/>
              <a:t> </a:t>
            </a:r>
            <a:r>
              <a:rPr lang="en-US" altLang="zh-CN" sz="2667" dirty="0"/>
              <a:t>data availability risk because the cache could fail (and so suffer from data loss) before the data is persisted to the backing store (</a:t>
            </a:r>
            <a:r>
              <a:rPr lang="en-US" altLang="zh-CN" sz="2200" i="1" dirty="0">
                <a:solidFill>
                  <a:srgbClr val="FF0000"/>
                </a:solidFill>
              </a:rPr>
              <a:t>This is why caches are often enhanced with ECC for protection against errors</a:t>
            </a:r>
            <a:r>
              <a:rPr lang="en-US" altLang="zh-CN" sz="2400" dirty="0">
                <a:solidFill>
                  <a:srgbClr val="FF0000"/>
                </a:solidFill>
              </a:rPr>
              <a:t>)</a:t>
            </a:r>
            <a:endParaRPr lang="en-AU" altLang="zh-TW" sz="2400" dirty="0">
              <a:solidFill>
                <a:srgbClr val="FF0000"/>
              </a:solidFill>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70</a:t>
            </a:fld>
            <a:endParaRPr lang="zh-TW"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238865" y="173039"/>
            <a:ext cx="9067187" cy="623375"/>
          </a:xfrm>
        </p:spPr>
        <p:txBody>
          <a:bodyPr/>
          <a:lstStyle/>
          <a:p>
            <a:r>
              <a:rPr lang="en-US" altLang="zh-TW" dirty="0"/>
              <a:t>Write Hit - Write-Back Policy</a:t>
            </a:r>
            <a:endParaRPr lang="en-AU" altLang="zh-TW" dirty="0">
              <a:ea typeface="新細明體" panose="02020500000000000000" pitchFamily="18" charset="-120"/>
            </a:endParaRPr>
          </a:p>
        </p:txBody>
      </p:sp>
      <p:sp>
        <p:nvSpPr>
          <p:cNvPr id="40963" name="Rectangle 3"/>
          <p:cNvSpPr>
            <a:spLocks noGrp="1" noChangeArrowheads="1"/>
          </p:cNvSpPr>
          <p:nvPr>
            <p:ph type="body" idx="1"/>
          </p:nvPr>
        </p:nvSpPr>
        <p:spPr>
          <a:xfrm>
            <a:off x="321013" y="1036923"/>
            <a:ext cx="11631803" cy="5334693"/>
          </a:xfrm>
        </p:spPr>
        <p:txBody>
          <a:bodyPr/>
          <a:lstStyle/>
          <a:p>
            <a:pPr>
              <a:spcBef>
                <a:spcPts val="0"/>
              </a:spcBef>
            </a:pPr>
            <a:r>
              <a:rPr lang="en-US" altLang="zh-TW" sz="2667" dirty="0"/>
              <a:t>Just update the block in cache</a:t>
            </a:r>
          </a:p>
          <a:p>
            <a:pPr lvl="1"/>
            <a:r>
              <a:rPr lang="en-US" altLang="zh-TW" sz="2400" dirty="0"/>
              <a:t>Keep track of whether each block is </a:t>
            </a:r>
            <a:r>
              <a:rPr lang="en-US" altLang="zh-TW" sz="2400" dirty="0">
                <a:solidFill>
                  <a:srgbClr val="C00000"/>
                </a:solidFill>
              </a:rPr>
              <a:t>dirty</a:t>
            </a:r>
            <a:r>
              <a:rPr lang="en-US" altLang="zh-TW" sz="2400" dirty="0"/>
              <a:t>, one dirty bit is required</a:t>
            </a:r>
          </a:p>
          <a:p>
            <a:r>
              <a:rPr lang="en-US" altLang="zh-TW" sz="2667" dirty="0"/>
              <a:t>When a dirty block is replaced</a:t>
            </a:r>
          </a:p>
          <a:p>
            <a:pPr lvl="1"/>
            <a:r>
              <a:rPr lang="en-US" altLang="zh-TW" sz="2400" dirty="0"/>
              <a:t>Write it back to memory</a:t>
            </a:r>
          </a:p>
          <a:p>
            <a:pPr lvl="1"/>
            <a:r>
              <a:rPr lang="en-US" altLang="zh-TW" sz="2400" dirty="0"/>
              <a:t>Can use a write buffer to allow a replacing block to be read first</a:t>
            </a:r>
          </a:p>
          <a:p>
            <a:r>
              <a:rPr lang="en-US" altLang="zh-TW" sz="2667" dirty="0">
                <a:ea typeface="新細明體" panose="02020500000000000000" pitchFamily="18" charset="-120"/>
              </a:rPr>
              <a:t>Data in cache and memory is inconsistent (</a:t>
            </a:r>
            <a:r>
              <a:rPr lang="en-US" altLang="zh-TW" sz="2000" dirty="0">
                <a:ea typeface="新細明體" panose="02020500000000000000" pitchFamily="18" charset="-120"/>
              </a:rPr>
              <a:t>what if the other processor wants to read the shared data)</a:t>
            </a:r>
          </a:p>
          <a:p>
            <a:r>
              <a:rPr lang="en-US" altLang="zh-CN" sz="2667" dirty="0"/>
              <a:t>Advantage: Low latency and high throughput for write-intensive applications. </a:t>
            </a:r>
            <a:r>
              <a:rPr lang="en-US" altLang="zh-CN" sz="2667" dirty="0">
                <a:solidFill>
                  <a:srgbClr val="FF0000"/>
                </a:solidFill>
              </a:rPr>
              <a:t>Much lower memory traffic (</a:t>
            </a:r>
            <a:r>
              <a:rPr lang="en-US" altLang="zh-CN" sz="2200" i="1" dirty="0">
                <a:solidFill>
                  <a:srgbClr val="FF0000"/>
                </a:solidFill>
              </a:rPr>
              <a:t>Particularly important for multi-processor systems</a:t>
            </a:r>
            <a:r>
              <a:rPr lang="en-US" altLang="zh-CN" sz="2667" dirty="0">
                <a:solidFill>
                  <a:srgbClr val="FF0000"/>
                </a:solidFill>
              </a:rPr>
              <a:t>).</a:t>
            </a:r>
          </a:p>
          <a:p>
            <a:r>
              <a:rPr lang="en-US" altLang="zh-CN" sz="2667" dirty="0"/>
              <a:t>Disadvantage: There is a</a:t>
            </a:r>
            <a:r>
              <a:rPr lang="zh-CN" altLang="en-US" sz="2667" dirty="0"/>
              <a:t> </a:t>
            </a:r>
            <a:r>
              <a:rPr lang="en-US" altLang="zh-CN" sz="2667" dirty="0"/>
              <a:t>data availability risk because the cache could fail (and so suffer from data loss) before the data is persisted to the backing store (</a:t>
            </a:r>
            <a:r>
              <a:rPr lang="en-US" altLang="zh-CN" sz="2200" i="1" dirty="0">
                <a:solidFill>
                  <a:srgbClr val="FF0000"/>
                </a:solidFill>
              </a:rPr>
              <a:t>This is why caches are often enhanced with ECC for protection against errors</a:t>
            </a:r>
            <a:r>
              <a:rPr lang="en-US" altLang="zh-CN" sz="2400" dirty="0">
                <a:solidFill>
                  <a:srgbClr val="FF0000"/>
                </a:solidFill>
              </a:rPr>
              <a:t>)</a:t>
            </a:r>
            <a:endParaRPr lang="en-AU" altLang="zh-TW" sz="2400" dirty="0">
              <a:solidFill>
                <a:srgbClr val="FF0000"/>
              </a:solidFill>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71</a:t>
            </a:fld>
            <a:endParaRPr lang="zh-TW" altLang="en-US"/>
          </a:p>
        </p:txBody>
      </p:sp>
      <p:sp>
        <p:nvSpPr>
          <p:cNvPr id="6" name="TextBox 5">
            <a:extLst>
              <a:ext uri="{FF2B5EF4-FFF2-40B4-BE49-F238E27FC236}">
                <a16:creationId xmlns:a16="http://schemas.microsoft.com/office/drawing/2014/main" id="{AA8301B8-B07D-492D-ABCE-6B7D96E34A32}"/>
              </a:ext>
            </a:extLst>
          </p:cNvPr>
          <p:cNvSpPr txBox="1"/>
          <p:nvPr/>
        </p:nvSpPr>
        <p:spPr>
          <a:xfrm>
            <a:off x="3010410" y="2627053"/>
            <a:ext cx="7720383" cy="2677656"/>
          </a:xfrm>
          <a:prstGeom prst="rect">
            <a:avLst/>
          </a:prstGeom>
          <a:solidFill>
            <a:srgbClr val="FFFF00"/>
          </a:solidFill>
        </p:spPr>
        <p:txBody>
          <a:bodyPr wrap="none" rtlCol="0" anchor="ctr" anchorCtr="1">
            <a:spAutoFit/>
          </a:bodyPr>
          <a:lstStyle/>
          <a:p>
            <a:r>
              <a:rPr lang="en-US" sz="2800" dirty="0">
                <a:ea typeface="標楷體" pitchFamily="65" charset="-120"/>
                <a:cs typeface="Calibri" pitchFamily="34" charset="0"/>
              </a:rPr>
              <a:t>What is the total bits required for a data cache?</a:t>
            </a:r>
          </a:p>
          <a:p>
            <a:r>
              <a:rPr lang="en-US" sz="2800" dirty="0">
                <a:ea typeface="標楷體" pitchFamily="65" charset="-120"/>
                <a:cs typeface="Calibri" pitchFamily="34" charset="0"/>
              </a:rPr>
              <a:t>	data bits per line</a:t>
            </a:r>
          </a:p>
          <a:p>
            <a:r>
              <a:rPr lang="en-US" sz="2800" dirty="0">
                <a:ea typeface="標楷體" pitchFamily="65" charset="-120"/>
                <a:cs typeface="Calibri" pitchFamily="34" charset="0"/>
              </a:rPr>
              <a:t>	tag per line</a:t>
            </a:r>
          </a:p>
          <a:p>
            <a:r>
              <a:rPr lang="en-US" sz="2800" dirty="0">
                <a:ea typeface="標楷體" pitchFamily="65" charset="-120"/>
                <a:cs typeface="Calibri" pitchFamily="34" charset="0"/>
              </a:rPr>
              <a:t>	one valid bit</a:t>
            </a:r>
          </a:p>
          <a:p>
            <a:r>
              <a:rPr lang="en-US" sz="2800" dirty="0">
                <a:ea typeface="標楷體" pitchFamily="65" charset="-120"/>
                <a:cs typeface="Calibri" pitchFamily="34" charset="0"/>
              </a:rPr>
              <a:t>	one dirty bit</a:t>
            </a:r>
          </a:p>
          <a:p>
            <a:r>
              <a:rPr lang="en-US" sz="2800" dirty="0">
                <a:ea typeface="標楷體" pitchFamily="65" charset="-120"/>
                <a:cs typeface="Calibri" pitchFamily="34" charset="0"/>
              </a:rPr>
              <a:t>	ECC bits (usually 8/64)</a:t>
            </a:r>
          </a:p>
        </p:txBody>
      </p:sp>
    </p:spTree>
    <p:extLst>
      <p:ext uri="{BB962C8B-B14F-4D97-AF65-F5344CB8AC3E}">
        <p14:creationId xmlns:p14="http://schemas.microsoft.com/office/powerpoint/2010/main" val="268463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396181" y="173040"/>
            <a:ext cx="8909871" cy="682368"/>
          </a:xfrm>
        </p:spPr>
        <p:txBody>
          <a:bodyPr/>
          <a:lstStyle/>
          <a:p>
            <a:r>
              <a:rPr lang="en-US" altLang="zh-TW" dirty="0"/>
              <a:t>Write Miss - Write Allocation</a:t>
            </a:r>
            <a:endParaRPr lang="en-AU" altLang="zh-TW" dirty="0">
              <a:ea typeface="新細明體" panose="02020500000000000000" pitchFamily="18" charset="-120"/>
            </a:endParaRPr>
          </a:p>
        </p:txBody>
      </p:sp>
      <p:sp>
        <p:nvSpPr>
          <p:cNvPr id="41987" name="Rectangle 3"/>
          <p:cNvSpPr>
            <a:spLocks noGrp="1" noChangeArrowheads="1"/>
          </p:cNvSpPr>
          <p:nvPr>
            <p:ph type="body" idx="1"/>
          </p:nvPr>
        </p:nvSpPr>
        <p:spPr>
          <a:xfrm>
            <a:off x="1396181" y="1085563"/>
            <a:ext cx="10136252" cy="4638961"/>
          </a:xfrm>
        </p:spPr>
        <p:txBody>
          <a:bodyPr/>
          <a:lstStyle/>
          <a:p>
            <a:r>
              <a:rPr lang="en-US" altLang="zh-TW" sz="2667" dirty="0"/>
              <a:t>What should happen on a write miss?</a:t>
            </a:r>
          </a:p>
          <a:p>
            <a:r>
              <a:rPr lang="en-US" altLang="zh-TW" sz="2667" dirty="0"/>
              <a:t>For write-through cache</a:t>
            </a:r>
          </a:p>
          <a:p>
            <a:pPr lvl="1"/>
            <a:r>
              <a:rPr lang="en-US" altLang="zh-CN" sz="2400" dirty="0">
                <a:solidFill>
                  <a:srgbClr val="C00000"/>
                </a:solidFill>
              </a:rPr>
              <a:t>Write allocate</a:t>
            </a:r>
            <a:r>
              <a:rPr lang="en-US" altLang="zh-TW" sz="2400" dirty="0"/>
              <a:t>: </a:t>
            </a:r>
            <a:r>
              <a:rPr lang="en-US" altLang="zh-CN" sz="2400" dirty="0"/>
              <a:t>Allocate a block in the cache. </a:t>
            </a:r>
            <a:r>
              <a:rPr lang="en-US" altLang="zh-TW" sz="2400" dirty="0"/>
              <a:t>The block is fetched from memory, and then the appropriate portion of the block is overwritten</a:t>
            </a:r>
          </a:p>
          <a:p>
            <a:pPr lvl="1"/>
            <a:r>
              <a:rPr lang="en-US" altLang="zh-TW" sz="2400" dirty="0">
                <a:solidFill>
                  <a:srgbClr val="C00000"/>
                </a:solidFill>
              </a:rPr>
              <a:t>No write allocate</a:t>
            </a:r>
            <a:r>
              <a:rPr lang="en-US" altLang="zh-TW" sz="2400" dirty="0"/>
              <a:t>: only update the portion of the block in memory, but not put it in the cache</a:t>
            </a:r>
          </a:p>
          <a:p>
            <a:pPr lvl="2"/>
            <a:r>
              <a:rPr lang="en-US" altLang="zh-TW" sz="2133" dirty="0"/>
              <a:t>Since programs often write a whole block before reading it (e.g., initialization)</a:t>
            </a:r>
          </a:p>
          <a:p>
            <a:pPr lvl="2"/>
            <a:r>
              <a:rPr lang="en-US" altLang="zh-TW" sz="2133" dirty="0"/>
              <a:t>Can combine with a write buffer to coalesce multiple writes.</a:t>
            </a:r>
          </a:p>
          <a:p>
            <a:r>
              <a:rPr lang="en-US" altLang="zh-TW" sz="2667" dirty="0"/>
              <a:t>For write-back cache</a:t>
            </a:r>
          </a:p>
          <a:p>
            <a:pPr lvl="1"/>
            <a:r>
              <a:rPr lang="en-US" altLang="zh-TW" sz="2400" dirty="0"/>
              <a:t>Usually fetch the block, use write allocate</a:t>
            </a:r>
            <a:endParaRPr lang="en-AU" altLang="zh-TW" sz="24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72</a:t>
            </a:fld>
            <a:endParaRPr lang="zh-TW"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396181" y="173040"/>
            <a:ext cx="8909871" cy="682368"/>
          </a:xfrm>
        </p:spPr>
        <p:txBody>
          <a:bodyPr/>
          <a:lstStyle/>
          <a:p>
            <a:r>
              <a:rPr lang="en-AU" altLang="zh-TW" dirty="0">
                <a:ea typeface="新細明體" panose="02020500000000000000" pitchFamily="18" charset="-120"/>
              </a:rPr>
              <a:t>Store Buffer and Write-buffer</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73</a:t>
            </a:fld>
            <a:endParaRPr lang="zh-TW" altLang="en-US"/>
          </a:p>
        </p:txBody>
      </p:sp>
      <p:sp>
        <p:nvSpPr>
          <p:cNvPr id="23" name="Rectangle 3">
            <a:extLst>
              <a:ext uri="{FF2B5EF4-FFF2-40B4-BE49-F238E27FC236}">
                <a16:creationId xmlns:a16="http://schemas.microsoft.com/office/drawing/2014/main" id="{A95E58A9-CFBA-4E06-9617-1A9EED703091}"/>
              </a:ext>
            </a:extLst>
          </p:cNvPr>
          <p:cNvSpPr txBox="1">
            <a:spLocks noChangeArrowheads="1"/>
          </p:cNvSpPr>
          <p:nvPr/>
        </p:nvSpPr>
        <p:spPr bwMode="auto">
          <a:xfrm>
            <a:off x="609600" y="969351"/>
            <a:ext cx="11343217" cy="40651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TW" sz="2667" kern="0" dirty="0"/>
              <a:t>Store buffer:</a:t>
            </a:r>
          </a:p>
          <a:p>
            <a:pPr lvl="1"/>
            <a:r>
              <a:rPr lang="en-US" altLang="zh-TW" sz="2200" kern="0" dirty="0"/>
              <a:t>In between the processor and the data cache, allow a retired store instruction to commit immediately so the pipeline can continue smoothly</a:t>
            </a:r>
          </a:p>
          <a:p>
            <a:pPr lvl="1"/>
            <a:r>
              <a:rPr lang="en-US" altLang="zh-TW" sz="2200" kern="0" dirty="0"/>
              <a:t>Can support store-load bypassing. If store x, followed by load x, the store buffer can bypass the data to the load.</a:t>
            </a:r>
          </a:p>
          <a:p>
            <a:pPr lvl="1"/>
            <a:r>
              <a:rPr lang="en-US" altLang="zh-TW" sz="2200" kern="0" dirty="0"/>
              <a:t>Can support write-combining or write-coalescing.</a:t>
            </a:r>
          </a:p>
          <a:p>
            <a:r>
              <a:rPr lang="en-US" altLang="zh-TW" sz="2667" kern="0" dirty="0"/>
              <a:t>Write buffer: </a:t>
            </a:r>
            <a:endParaRPr lang="en-AU" altLang="zh-TW" sz="2400" kern="0" dirty="0">
              <a:ea typeface="新細明體" panose="02020500000000000000" pitchFamily="18" charset="-120"/>
            </a:endParaRPr>
          </a:p>
          <a:p>
            <a:pPr lvl="1"/>
            <a:r>
              <a:rPr lang="en-AU" altLang="zh-TW" sz="2200" kern="0" dirty="0">
                <a:ea typeface="新細明體" panose="02020500000000000000" pitchFamily="18" charset="-120"/>
              </a:rPr>
              <a:t>In between the data cache and the next lower-level memory. </a:t>
            </a:r>
            <a:r>
              <a:rPr lang="en-US" sz="2200" b="0" i="0" dirty="0">
                <a:solidFill>
                  <a:srgbClr val="111827"/>
                </a:solidFill>
                <a:effectLst/>
                <a:latin typeface="ui-sans-serif"/>
              </a:rPr>
              <a:t>Hides write latency: The processor can continue executing without waiting for slower memory writes to complete.</a:t>
            </a:r>
          </a:p>
          <a:p>
            <a:pPr lvl="1"/>
            <a:r>
              <a:rPr lang="en-US" sz="2200" b="0" i="0" dirty="0">
                <a:solidFill>
                  <a:srgbClr val="111827"/>
                </a:solidFill>
                <a:effectLst/>
                <a:latin typeface="ui-sans-serif"/>
              </a:rPr>
              <a:t>Dirty cache lines can be written to memory asynchronously, reducing stall time.</a:t>
            </a:r>
          </a:p>
          <a:p>
            <a:pPr lvl="1"/>
            <a:r>
              <a:rPr lang="en-US" sz="2200" b="0" i="0" dirty="0">
                <a:solidFill>
                  <a:srgbClr val="111827"/>
                </a:solidFill>
                <a:effectLst/>
                <a:latin typeface="ui-sans-serif"/>
              </a:rPr>
              <a:t>Improves overall memory throughput: Reads can proceed while writes sit in the buffer</a:t>
            </a:r>
            <a:endParaRPr lang="en-US" altLang="zh-TW" sz="2200" kern="0" dirty="0"/>
          </a:p>
        </p:txBody>
      </p:sp>
      <p:sp>
        <p:nvSpPr>
          <p:cNvPr id="4" name="TextBox 3">
            <a:extLst>
              <a:ext uri="{FF2B5EF4-FFF2-40B4-BE49-F238E27FC236}">
                <a16:creationId xmlns:a16="http://schemas.microsoft.com/office/drawing/2014/main" id="{4C8987E8-E74C-41C7-A0C6-B82F1E46EEA6}"/>
              </a:ext>
            </a:extLst>
          </p:cNvPr>
          <p:cNvSpPr txBox="1"/>
          <p:nvPr/>
        </p:nvSpPr>
        <p:spPr>
          <a:xfrm>
            <a:off x="1862906" y="5406635"/>
            <a:ext cx="1571264"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Processor</a:t>
            </a:r>
          </a:p>
        </p:txBody>
      </p:sp>
      <p:cxnSp>
        <p:nvCxnSpPr>
          <p:cNvPr id="24" name="Straight Connector 23">
            <a:extLst>
              <a:ext uri="{FF2B5EF4-FFF2-40B4-BE49-F238E27FC236}">
                <a16:creationId xmlns:a16="http://schemas.microsoft.com/office/drawing/2014/main" id="{D29B5EBF-BA51-44ED-9A27-109A14EC1E7C}"/>
              </a:ext>
            </a:extLst>
          </p:cNvPr>
          <p:cNvCxnSpPr>
            <a:cxnSpLocks/>
          </p:cNvCxnSpPr>
          <p:nvPr/>
        </p:nvCxnSpPr>
        <p:spPr bwMode="auto">
          <a:xfrm>
            <a:off x="3514725" y="5637467"/>
            <a:ext cx="952500" cy="0"/>
          </a:xfrm>
          <a:prstGeom prst="line">
            <a:avLst/>
          </a:prstGeom>
          <a:noFill/>
          <a:ln w="28575" cap="flat" cmpd="sng" algn="ctr">
            <a:solidFill>
              <a:srgbClr val="FF0000"/>
            </a:solidFill>
            <a:prstDash val="solid"/>
            <a:round/>
            <a:headEnd type="triangle" w="med" len="med"/>
            <a:tailEnd type="triangle" w="med" len="med"/>
          </a:ln>
          <a:effectLst/>
        </p:spPr>
      </p:cxnSp>
      <p:sp>
        <p:nvSpPr>
          <p:cNvPr id="26" name="Rectangle 25">
            <a:extLst>
              <a:ext uri="{FF2B5EF4-FFF2-40B4-BE49-F238E27FC236}">
                <a16:creationId xmlns:a16="http://schemas.microsoft.com/office/drawing/2014/main" id="{055C62D3-21A4-42FC-B192-0C2E93875A53}"/>
              </a:ext>
            </a:extLst>
          </p:cNvPr>
          <p:cNvSpPr/>
          <p:nvPr/>
        </p:nvSpPr>
        <p:spPr bwMode="auto">
          <a:xfrm>
            <a:off x="4467225" y="5406635"/>
            <a:ext cx="914400" cy="464726"/>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7" name="TextBox 26">
            <a:extLst>
              <a:ext uri="{FF2B5EF4-FFF2-40B4-BE49-F238E27FC236}">
                <a16:creationId xmlns:a16="http://schemas.microsoft.com/office/drawing/2014/main" id="{A77EA173-BBF5-441C-91E2-63A15440BC40}"/>
              </a:ext>
            </a:extLst>
          </p:cNvPr>
          <p:cNvSpPr txBox="1"/>
          <p:nvPr/>
        </p:nvSpPr>
        <p:spPr>
          <a:xfrm>
            <a:off x="4467225" y="5314301"/>
            <a:ext cx="800219" cy="646331"/>
          </a:xfrm>
          <a:prstGeom prst="rect">
            <a:avLst/>
          </a:prstGeom>
          <a:noFill/>
        </p:spPr>
        <p:txBody>
          <a:bodyPr wrap="none" rtlCol="0" anchor="ctr" anchorCtr="1">
            <a:spAutoFit/>
          </a:bodyPr>
          <a:lstStyle/>
          <a:p>
            <a:r>
              <a:rPr lang="en-US" dirty="0">
                <a:ea typeface="標楷體" pitchFamily="65" charset="-120"/>
                <a:cs typeface="Calibri" pitchFamily="34" charset="0"/>
              </a:rPr>
              <a:t>Store </a:t>
            </a:r>
          </a:p>
          <a:p>
            <a:r>
              <a:rPr lang="en-US" dirty="0">
                <a:ea typeface="標楷體" pitchFamily="65" charset="-120"/>
                <a:cs typeface="Calibri" pitchFamily="34" charset="0"/>
              </a:rPr>
              <a:t>buffer</a:t>
            </a:r>
          </a:p>
        </p:txBody>
      </p:sp>
      <p:cxnSp>
        <p:nvCxnSpPr>
          <p:cNvPr id="31" name="Straight Connector 30">
            <a:extLst>
              <a:ext uri="{FF2B5EF4-FFF2-40B4-BE49-F238E27FC236}">
                <a16:creationId xmlns:a16="http://schemas.microsoft.com/office/drawing/2014/main" id="{19866D0C-4E03-47D9-BE8D-7DEB3987C7B9}"/>
              </a:ext>
            </a:extLst>
          </p:cNvPr>
          <p:cNvCxnSpPr>
            <a:cxnSpLocks/>
          </p:cNvCxnSpPr>
          <p:nvPr/>
        </p:nvCxnSpPr>
        <p:spPr bwMode="auto">
          <a:xfrm>
            <a:off x="5381625" y="5637467"/>
            <a:ext cx="295275" cy="0"/>
          </a:xfrm>
          <a:prstGeom prst="line">
            <a:avLst/>
          </a:prstGeom>
          <a:noFill/>
          <a:ln w="28575" cap="flat" cmpd="sng" algn="ctr">
            <a:solidFill>
              <a:srgbClr val="FF0000"/>
            </a:solidFill>
            <a:prstDash val="solid"/>
            <a:round/>
            <a:headEnd type="none" w="med" len="med"/>
            <a:tailEnd type="triangle" w="med" len="med"/>
          </a:ln>
          <a:effectLst/>
        </p:spPr>
      </p:cxnSp>
      <p:sp>
        <p:nvSpPr>
          <p:cNvPr id="34" name="TextBox 33">
            <a:extLst>
              <a:ext uri="{FF2B5EF4-FFF2-40B4-BE49-F238E27FC236}">
                <a16:creationId xmlns:a16="http://schemas.microsoft.com/office/drawing/2014/main" id="{7998F1AE-83F1-4FCB-A8BA-832CD6D4FEAB}"/>
              </a:ext>
            </a:extLst>
          </p:cNvPr>
          <p:cNvSpPr txBox="1"/>
          <p:nvPr/>
        </p:nvSpPr>
        <p:spPr>
          <a:xfrm>
            <a:off x="5676900" y="5259219"/>
            <a:ext cx="1075936" cy="830997"/>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Data</a:t>
            </a:r>
          </a:p>
          <a:p>
            <a:r>
              <a:rPr lang="en-US" sz="2400" dirty="0">
                <a:ea typeface="標楷體" pitchFamily="65" charset="-120"/>
                <a:cs typeface="Calibri" pitchFamily="34" charset="0"/>
              </a:rPr>
              <a:t>Cache</a:t>
            </a:r>
          </a:p>
        </p:txBody>
      </p:sp>
      <p:sp>
        <p:nvSpPr>
          <p:cNvPr id="35" name="Rectangle 34">
            <a:extLst>
              <a:ext uri="{FF2B5EF4-FFF2-40B4-BE49-F238E27FC236}">
                <a16:creationId xmlns:a16="http://schemas.microsoft.com/office/drawing/2014/main" id="{8AA266F2-8E39-4550-99B6-8620E9E2A45D}"/>
              </a:ext>
            </a:extLst>
          </p:cNvPr>
          <p:cNvSpPr/>
          <p:nvPr/>
        </p:nvSpPr>
        <p:spPr bwMode="auto">
          <a:xfrm>
            <a:off x="7048111" y="5413296"/>
            <a:ext cx="914400" cy="464726"/>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6" name="TextBox 35">
            <a:extLst>
              <a:ext uri="{FF2B5EF4-FFF2-40B4-BE49-F238E27FC236}">
                <a16:creationId xmlns:a16="http://schemas.microsoft.com/office/drawing/2014/main" id="{717DE4B8-69D2-452D-A0BC-7FEDE814EDCD}"/>
              </a:ext>
            </a:extLst>
          </p:cNvPr>
          <p:cNvSpPr txBox="1"/>
          <p:nvPr/>
        </p:nvSpPr>
        <p:spPr>
          <a:xfrm>
            <a:off x="7162292" y="5314301"/>
            <a:ext cx="800219" cy="646331"/>
          </a:xfrm>
          <a:prstGeom prst="rect">
            <a:avLst/>
          </a:prstGeom>
          <a:noFill/>
        </p:spPr>
        <p:txBody>
          <a:bodyPr wrap="none" rtlCol="0" anchor="ctr" anchorCtr="1">
            <a:spAutoFit/>
          </a:bodyPr>
          <a:lstStyle/>
          <a:p>
            <a:r>
              <a:rPr lang="en-US" dirty="0">
                <a:ea typeface="標楷體" pitchFamily="65" charset="-120"/>
                <a:cs typeface="Calibri" pitchFamily="34" charset="0"/>
              </a:rPr>
              <a:t>Write </a:t>
            </a:r>
          </a:p>
          <a:p>
            <a:r>
              <a:rPr lang="en-US" dirty="0">
                <a:ea typeface="標楷體" pitchFamily="65" charset="-120"/>
                <a:cs typeface="Calibri" pitchFamily="34" charset="0"/>
              </a:rPr>
              <a:t>buffer</a:t>
            </a:r>
          </a:p>
        </p:txBody>
      </p:sp>
      <p:cxnSp>
        <p:nvCxnSpPr>
          <p:cNvPr id="37" name="Straight Connector 36">
            <a:extLst>
              <a:ext uri="{FF2B5EF4-FFF2-40B4-BE49-F238E27FC236}">
                <a16:creationId xmlns:a16="http://schemas.microsoft.com/office/drawing/2014/main" id="{B2002375-39DA-4994-8408-FF604BC86B38}"/>
              </a:ext>
            </a:extLst>
          </p:cNvPr>
          <p:cNvCxnSpPr>
            <a:cxnSpLocks/>
          </p:cNvCxnSpPr>
          <p:nvPr/>
        </p:nvCxnSpPr>
        <p:spPr bwMode="auto">
          <a:xfrm>
            <a:off x="6752836" y="5645659"/>
            <a:ext cx="295275" cy="0"/>
          </a:xfrm>
          <a:prstGeom prst="line">
            <a:avLst/>
          </a:prstGeom>
          <a:noFill/>
          <a:ln w="28575" cap="flat" cmpd="sng" algn="ctr">
            <a:solidFill>
              <a:srgbClr val="FF0000"/>
            </a:solidFill>
            <a:prstDash val="solid"/>
            <a:round/>
            <a:headEnd type="none" w="med" len="med"/>
            <a:tailEnd type="triangle" w="med" len="med"/>
          </a:ln>
          <a:effectLst/>
        </p:spPr>
      </p:cxnSp>
      <p:sp>
        <p:nvSpPr>
          <p:cNvPr id="38" name="TextBox 37">
            <a:extLst>
              <a:ext uri="{FF2B5EF4-FFF2-40B4-BE49-F238E27FC236}">
                <a16:creationId xmlns:a16="http://schemas.microsoft.com/office/drawing/2014/main" id="{1ED926D4-74E9-4FE4-B095-3EFF47F5556D}"/>
              </a:ext>
            </a:extLst>
          </p:cNvPr>
          <p:cNvSpPr txBox="1"/>
          <p:nvPr/>
        </p:nvSpPr>
        <p:spPr>
          <a:xfrm>
            <a:off x="8915011" y="5406633"/>
            <a:ext cx="1091966"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DRAM</a:t>
            </a:r>
          </a:p>
        </p:txBody>
      </p:sp>
      <p:cxnSp>
        <p:nvCxnSpPr>
          <p:cNvPr id="39" name="Straight Connector 38">
            <a:extLst>
              <a:ext uri="{FF2B5EF4-FFF2-40B4-BE49-F238E27FC236}">
                <a16:creationId xmlns:a16="http://schemas.microsoft.com/office/drawing/2014/main" id="{5A97FD82-D0CE-4FCB-8763-CC35137E4525}"/>
              </a:ext>
            </a:extLst>
          </p:cNvPr>
          <p:cNvCxnSpPr>
            <a:cxnSpLocks/>
          </p:cNvCxnSpPr>
          <p:nvPr/>
        </p:nvCxnSpPr>
        <p:spPr bwMode="auto">
          <a:xfrm>
            <a:off x="7962511" y="5674717"/>
            <a:ext cx="952500" cy="0"/>
          </a:xfrm>
          <a:prstGeom prst="line">
            <a:avLst/>
          </a:prstGeom>
          <a:noFill/>
          <a:ln w="28575" cap="flat" cmpd="sng" algn="ctr">
            <a:solidFill>
              <a:srgbClr val="FF0000"/>
            </a:solidFill>
            <a:prstDash val="solid"/>
            <a:round/>
            <a:headEnd type="none" w="med" len="med"/>
            <a:tailEnd type="triangle" w="med" len="med"/>
          </a:ln>
          <a:effectLst/>
        </p:spPr>
      </p:cxnSp>
    </p:spTree>
    <p:extLst>
      <p:ext uri="{BB962C8B-B14F-4D97-AF65-F5344CB8AC3E}">
        <p14:creationId xmlns:p14="http://schemas.microsoft.com/office/powerpoint/2010/main" val="37643741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209369" y="173039"/>
            <a:ext cx="9096683" cy="623375"/>
          </a:xfrm>
        </p:spPr>
        <p:txBody>
          <a:bodyPr/>
          <a:lstStyle/>
          <a:p>
            <a:r>
              <a:rPr lang="en-AU" altLang="zh-TW" dirty="0">
                <a:ea typeface="新細明體" panose="02020500000000000000" pitchFamily="18" charset="-120"/>
              </a:rPr>
              <a:t>Example - </a:t>
            </a:r>
            <a:r>
              <a:rPr lang="en-AU" altLang="zh-TW" dirty="0" err="1">
                <a:ea typeface="新細明體" panose="02020500000000000000" pitchFamily="18" charset="-120"/>
              </a:rPr>
              <a:t>Intrinsity</a:t>
            </a:r>
            <a:r>
              <a:rPr lang="en-AU" altLang="zh-TW" dirty="0">
                <a:ea typeface="新細明體" panose="02020500000000000000" pitchFamily="18" charset="-120"/>
              </a:rPr>
              <a:t> </a:t>
            </a:r>
            <a:r>
              <a:rPr lang="en-AU" altLang="zh-TW" dirty="0" err="1">
                <a:ea typeface="新細明體" panose="02020500000000000000" pitchFamily="18" charset="-120"/>
              </a:rPr>
              <a:t>FastMATH</a:t>
            </a:r>
            <a:endParaRPr lang="en-AU" altLang="zh-TW" dirty="0">
              <a:ea typeface="新細明體" panose="02020500000000000000" pitchFamily="18" charset="-120"/>
            </a:endParaRPr>
          </a:p>
        </p:txBody>
      </p:sp>
      <p:sp>
        <p:nvSpPr>
          <p:cNvPr id="43011" name="Rectangle 3"/>
          <p:cNvSpPr>
            <a:spLocks noGrp="1" noChangeArrowheads="1"/>
          </p:cNvSpPr>
          <p:nvPr>
            <p:ph type="body" idx="1"/>
          </p:nvPr>
        </p:nvSpPr>
        <p:spPr>
          <a:xfrm>
            <a:off x="1160206" y="1125537"/>
            <a:ext cx="10422193" cy="4895851"/>
          </a:xfrm>
        </p:spPr>
        <p:txBody>
          <a:bodyPr/>
          <a:lstStyle/>
          <a:p>
            <a:r>
              <a:rPr lang="en-AU" altLang="zh-TW" sz="2667" dirty="0">
                <a:ea typeface="新細明體" panose="02020500000000000000" pitchFamily="18" charset="-120"/>
              </a:rPr>
              <a:t>Embedded MIPS processor</a:t>
            </a:r>
          </a:p>
          <a:p>
            <a:pPr lvl="1"/>
            <a:r>
              <a:rPr lang="en-AU" altLang="zh-TW" sz="2400" dirty="0">
                <a:ea typeface="新細明體" panose="02020500000000000000" pitchFamily="18" charset="-120"/>
              </a:rPr>
              <a:t>12-stage pipeline</a:t>
            </a:r>
          </a:p>
          <a:p>
            <a:pPr lvl="1"/>
            <a:r>
              <a:rPr lang="en-AU" altLang="zh-TW" sz="2400" dirty="0">
                <a:ea typeface="新細明體" panose="02020500000000000000" pitchFamily="18" charset="-120"/>
              </a:rPr>
              <a:t>Instruction and data access on each cycle</a:t>
            </a:r>
          </a:p>
          <a:p>
            <a:r>
              <a:rPr lang="en-AU" altLang="zh-TW" sz="2667" dirty="0">
                <a:ea typeface="新細明體" panose="02020500000000000000" pitchFamily="18" charset="-120"/>
              </a:rPr>
              <a:t>Split cache: Separate I-cache and D-cache</a:t>
            </a:r>
          </a:p>
          <a:p>
            <a:pPr lvl="1"/>
            <a:r>
              <a:rPr lang="en-AU" altLang="zh-TW" sz="2400" dirty="0">
                <a:ea typeface="新細明體" panose="02020500000000000000" pitchFamily="18" charset="-120"/>
              </a:rPr>
              <a:t>Each 16KB: 256 blocks </a:t>
            </a:r>
            <a:r>
              <a:rPr lang="en-US" altLang="zh-TW" sz="2400" dirty="0">
                <a:cs typeface="Arial" panose="020B0604020202090204" pitchFamily="34" charset="0"/>
              </a:rPr>
              <a:t>×</a:t>
            </a:r>
            <a:r>
              <a:rPr lang="en-AU" altLang="zh-TW" sz="2400" dirty="0">
                <a:ea typeface="新細明體" panose="02020500000000000000" pitchFamily="18" charset="-120"/>
              </a:rPr>
              <a:t> 16 words/block</a:t>
            </a:r>
          </a:p>
          <a:p>
            <a:pPr lvl="1"/>
            <a:r>
              <a:rPr lang="en-AU" altLang="zh-TW" sz="2400" dirty="0">
                <a:ea typeface="新細明體" panose="02020500000000000000" pitchFamily="18" charset="-120"/>
              </a:rPr>
              <a:t>D-cache: Write-through or write-back</a:t>
            </a:r>
          </a:p>
          <a:p>
            <a:r>
              <a:rPr lang="en-AU" altLang="zh-TW" sz="2667" dirty="0">
                <a:ea typeface="新細明體" panose="02020500000000000000" pitchFamily="18" charset="-120"/>
              </a:rPr>
              <a:t>SPEC2000 miss rates</a:t>
            </a:r>
          </a:p>
          <a:p>
            <a:pPr lvl="1"/>
            <a:r>
              <a:rPr lang="en-AU" altLang="zh-TW" sz="2400" dirty="0">
                <a:ea typeface="新細明體" panose="02020500000000000000" pitchFamily="18" charset="-120"/>
              </a:rPr>
              <a:t>I-cache: 0.4%</a:t>
            </a:r>
          </a:p>
          <a:p>
            <a:pPr lvl="1"/>
            <a:r>
              <a:rPr lang="en-AU" altLang="zh-TW" sz="2400" dirty="0">
                <a:ea typeface="新細明體" panose="02020500000000000000" pitchFamily="18" charset="-120"/>
              </a:rPr>
              <a:t>D-cache: 11.4%</a:t>
            </a:r>
          </a:p>
          <a:p>
            <a:pPr lvl="1"/>
            <a:r>
              <a:rPr lang="en-AU" altLang="zh-TW" sz="2400" dirty="0">
                <a:ea typeface="新細明體" panose="02020500000000000000" pitchFamily="18" charset="-120"/>
              </a:rPr>
              <a:t>Weighted average: 3.2%</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74</a:t>
            </a:fld>
            <a:endParaRPr lang="zh-TW" altLang="en-US"/>
          </a:p>
        </p:txBody>
      </p:sp>
      <p:sp>
        <p:nvSpPr>
          <p:cNvPr id="6" name="TextBox 5">
            <a:extLst>
              <a:ext uri="{FF2B5EF4-FFF2-40B4-BE49-F238E27FC236}">
                <a16:creationId xmlns:a16="http://schemas.microsoft.com/office/drawing/2014/main" id="{DD68A86C-F963-4A32-9933-EDEC97E07582}"/>
              </a:ext>
            </a:extLst>
          </p:cNvPr>
          <p:cNvSpPr txBox="1"/>
          <p:nvPr/>
        </p:nvSpPr>
        <p:spPr>
          <a:xfrm>
            <a:off x="6147912" y="3805397"/>
            <a:ext cx="5920210" cy="2215991"/>
          </a:xfrm>
          <a:prstGeom prst="rect">
            <a:avLst/>
          </a:prstGeom>
          <a:solidFill>
            <a:srgbClr val="FFFF00"/>
          </a:solidFill>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SPEC2000</a:t>
            </a:r>
            <a:r>
              <a:rPr kumimoji="0" lang="en-US" sz="2400" b="0" i="0" u="none" strike="noStrike" kern="1200" cap="none" spc="0" normalizeH="0" noProof="0" dirty="0">
                <a:ln>
                  <a:noFill/>
                </a:ln>
                <a:solidFill>
                  <a:prstClr val="black"/>
                </a:solidFill>
                <a:effectLst/>
                <a:uLnTx/>
                <a:uFillTx/>
                <a:latin typeface="Arial"/>
                <a:ea typeface="標楷體" pitchFamily="65" charset="-120"/>
                <a:cs typeface="Calibri" pitchFamily="34" charset="0"/>
              </a:rPr>
              <a:t> benchmarks are desktop apps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aseline="0" dirty="0">
                <a:solidFill>
                  <a:prstClr val="black"/>
                </a:solidFill>
                <a:latin typeface="Arial"/>
                <a:ea typeface="標楷體" pitchFamily="65" charset="-120"/>
                <a:cs typeface="Calibri" pitchFamily="34" charset="0"/>
              </a:rPr>
              <a:t>Instruction locality is higher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baseline="0" dirty="0">
              <a:solidFill>
                <a:prstClr val="black"/>
              </a:solidFill>
              <a:latin typeface="Arial"/>
              <a:ea typeface="標楷體" pitchFamily="65" charset="-120"/>
              <a:cs typeface="Calibr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noProof="0" dirty="0">
                <a:ln>
                  <a:noFill/>
                </a:ln>
                <a:solidFill>
                  <a:prstClr val="black"/>
                </a:solidFill>
                <a:effectLst/>
                <a:uLnTx/>
                <a:uFillTx/>
                <a:latin typeface="Arial"/>
                <a:ea typeface="標楷體" pitchFamily="65" charset="-120"/>
                <a:cs typeface="Calibri" pitchFamily="34" charset="0"/>
              </a:rPr>
              <a:t>DBMS apps, Virtual machines, Interpreters,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noProof="0" dirty="0">
                <a:solidFill>
                  <a:prstClr val="black"/>
                </a:solidFill>
                <a:latin typeface="Arial"/>
                <a:ea typeface="標楷體" pitchFamily="65" charset="-120"/>
                <a:cs typeface="Calibri" pitchFamily="34" charset="0"/>
              </a:rPr>
              <a:t>JIT compilers, and object-oriented programs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prstClr val="black"/>
                </a:solidFill>
                <a:latin typeface="Arial"/>
                <a:ea typeface="標楷體" pitchFamily="65" charset="-120"/>
                <a:cs typeface="Calibri" pitchFamily="34" charset="0"/>
              </a:rPr>
              <a:t>t</a:t>
            </a:r>
            <a:r>
              <a:rPr kumimoji="0" lang="en-US" sz="2200" b="0" i="0" u="none" strike="noStrike" kern="1200" cap="none" spc="0" normalizeH="0" baseline="0" dirty="0">
                <a:ln>
                  <a:noFill/>
                </a:ln>
                <a:solidFill>
                  <a:prstClr val="black"/>
                </a:solidFill>
                <a:effectLst/>
                <a:uLnTx/>
                <a:uFillTx/>
                <a:latin typeface="Arial"/>
                <a:ea typeface="標楷體" pitchFamily="65" charset="-120"/>
                <a:cs typeface="Calibri" pitchFamily="34" charset="0"/>
              </a:rPr>
              <a:t>end</a:t>
            </a:r>
            <a:r>
              <a:rPr kumimoji="0" lang="en-US" sz="2200" b="0" i="0" u="none" strike="noStrike" kern="1200" cap="none" spc="0" normalizeH="0" dirty="0">
                <a:ln>
                  <a:noFill/>
                </a:ln>
                <a:solidFill>
                  <a:prstClr val="black"/>
                </a:solidFill>
                <a:effectLst/>
                <a:uLnTx/>
                <a:uFillTx/>
                <a:latin typeface="Arial"/>
                <a:ea typeface="標楷體" pitchFamily="65" charset="-120"/>
                <a:cs typeface="Calibri" pitchFamily="34" charset="0"/>
              </a:rPr>
              <a:t> to have more I-cache misses</a:t>
            </a:r>
            <a:endParaRPr kumimoji="0" lang="en-US" sz="22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endParaRPr>
          </a:p>
        </p:txBody>
      </p:sp>
      <p:cxnSp>
        <p:nvCxnSpPr>
          <p:cNvPr id="3" name="Straight Arrow Connector 2">
            <a:extLst>
              <a:ext uri="{FF2B5EF4-FFF2-40B4-BE49-F238E27FC236}">
                <a16:creationId xmlns:a16="http://schemas.microsoft.com/office/drawing/2014/main" id="{752CCAC6-4393-49F7-9226-24391A3362E6}"/>
              </a:ext>
            </a:extLst>
          </p:cNvPr>
          <p:cNvCxnSpPr>
            <a:cxnSpLocks/>
          </p:cNvCxnSpPr>
          <p:nvPr/>
        </p:nvCxnSpPr>
        <p:spPr bwMode="auto">
          <a:xfrm flipH="1">
            <a:off x="4024160" y="4694318"/>
            <a:ext cx="2185512" cy="1507"/>
          </a:xfrm>
          <a:prstGeom prst="straightConnector1">
            <a:avLst/>
          </a:prstGeom>
          <a:noFill/>
          <a:ln w="15875"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267013" y="173040"/>
            <a:ext cx="9039039" cy="627808"/>
          </a:xfrm>
        </p:spPr>
        <p:txBody>
          <a:bodyPr/>
          <a:lstStyle/>
          <a:p>
            <a:r>
              <a:rPr lang="en-US" altLang="zh-TW" dirty="0"/>
              <a:t>Outline</a:t>
            </a:r>
          </a:p>
        </p:txBody>
      </p:sp>
      <p:sp>
        <p:nvSpPr>
          <p:cNvPr id="7171" name="Rectangle 3"/>
          <p:cNvSpPr>
            <a:spLocks noGrp="1" noChangeArrowheads="1"/>
          </p:cNvSpPr>
          <p:nvPr>
            <p:ph type="body" idx="1"/>
          </p:nvPr>
        </p:nvSpPr>
        <p:spPr>
          <a:xfrm>
            <a:off x="1885951" y="1109664"/>
            <a:ext cx="8675688" cy="4938525"/>
          </a:xfrm>
        </p:spPr>
        <p:txBody>
          <a:bodyPr/>
          <a:lstStyle/>
          <a:p>
            <a:r>
              <a:rPr lang="en-US" altLang="zh-TW" sz="2667" dirty="0"/>
              <a:t>Memory hierarchy</a:t>
            </a:r>
          </a:p>
          <a:p>
            <a:r>
              <a:rPr lang="en-US" altLang="zh-TW" sz="2667" dirty="0"/>
              <a:t>The basics of caches</a:t>
            </a:r>
          </a:p>
          <a:p>
            <a:pPr lvl="1"/>
            <a:r>
              <a:rPr lang="en-US" altLang="zh-TW" sz="2400" dirty="0"/>
              <a:t>Direct-mapped cache</a:t>
            </a:r>
          </a:p>
          <a:p>
            <a:pPr lvl="1"/>
            <a:r>
              <a:rPr lang="en-US" altLang="zh-TW" sz="2400" dirty="0"/>
              <a:t>Address sub-division</a:t>
            </a:r>
          </a:p>
          <a:p>
            <a:pPr lvl="1"/>
            <a:r>
              <a:rPr lang="en-US" altLang="zh-TW" sz="2400" dirty="0"/>
              <a:t>Cache hit and miss</a:t>
            </a:r>
          </a:p>
          <a:p>
            <a:pPr lvl="1"/>
            <a:r>
              <a:rPr lang="en-US" altLang="zh-TW" sz="2400" dirty="0">
                <a:solidFill>
                  <a:srgbClr val="FF0000"/>
                </a:solidFill>
              </a:rPr>
              <a:t>Memory support</a:t>
            </a:r>
          </a:p>
          <a:p>
            <a:r>
              <a:rPr lang="en-US" altLang="zh-TW" sz="2667" dirty="0"/>
              <a:t>Measuring cache performance</a:t>
            </a:r>
          </a:p>
          <a:p>
            <a:r>
              <a:rPr lang="en-US" altLang="zh-TW" sz="2667" dirty="0"/>
              <a:t>Improving cache performance</a:t>
            </a:r>
          </a:p>
          <a:p>
            <a:pPr lvl="1"/>
            <a:r>
              <a:rPr lang="en-US" altLang="zh-TW" sz="2400" dirty="0"/>
              <a:t>Set associative cache</a:t>
            </a:r>
          </a:p>
          <a:p>
            <a:pPr lvl="1"/>
            <a:r>
              <a:rPr lang="en-US" altLang="zh-TW" sz="2400" dirty="0"/>
              <a:t>Multiple level cache</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75</a:t>
            </a:fld>
            <a:endParaRPr lang="zh-TW"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387475" y="312739"/>
            <a:ext cx="2713039" cy="477837"/>
          </a:xfrm>
          <a:prstGeom prst="rect">
            <a:avLst/>
          </a:prstGeom>
          <a:noFill/>
          <a:ln w="12700">
            <a:noFill/>
            <a:miter lim="800000"/>
          </a:ln>
        </p:spPr>
        <p:txBody>
          <a:bodyPr wrap="none" anchor="ctr"/>
          <a:lstStyle/>
          <a:p>
            <a:endParaRPr lang="zh-TW" altLang="en-US"/>
          </a:p>
        </p:txBody>
      </p:sp>
      <p:sp>
        <p:nvSpPr>
          <p:cNvPr id="45060" name="Rectangle 4"/>
          <p:cNvSpPr>
            <a:spLocks noGrp="1" noChangeArrowheads="1"/>
          </p:cNvSpPr>
          <p:nvPr>
            <p:ph type="title"/>
          </p:nvPr>
        </p:nvSpPr>
        <p:spPr>
          <a:xfrm>
            <a:off x="1209369" y="173039"/>
            <a:ext cx="9096683" cy="633207"/>
          </a:xfrm>
        </p:spPr>
        <p:txBody>
          <a:bodyPr/>
          <a:lstStyle/>
          <a:p>
            <a:r>
              <a:rPr lang="en-US" altLang="zh-TW" dirty="0"/>
              <a:t>Memory Design to Support Cache</a:t>
            </a:r>
          </a:p>
        </p:txBody>
      </p:sp>
      <p:sp>
        <p:nvSpPr>
          <p:cNvPr id="45061" name="Rectangle 5"/>
          <p:cNvSpPr>
            <a:spLocks noGrp="1" noChangeArrowheads="1"/>
          </p:cNvSpPr>
          <p:nvPr>
            <p:ph type="body" idx="1"/>
          </p:nvPr>
        </p:nvSpPr>
        <p:spPr>
          <a:xfrm>
            <a:off x="1219200" y="1076376"/>
            <a:ext cx="9547123" cy="545947"/>
          </a:xfrm>
        </p:spPr>
        <p:txBody>
          <a:bodyPr/>
          <a:lstStyle/>
          <a:p>
            <a:r>
              <a:rPr lang="en-US" altLang="zh-TW" sz="2667" dirty="0"/>
              <a:t>How to increase memory bandwidth to reduce miss penalty?</a:t>
            </a:r>
            <a:br>
              <a:rPr lang="en-US" altLang="zh-TW" sz="2667" dirty="0"/>
            </a:br>
            <a:br>
              <a:rPr lang="en-US" altLang="zh-TW" sz="2667" dirty="0"/>
            </a:br>
            <a:br>
              <a:rPr lang="en-US" altLang="zh-TW" sz="2667" dirty="0"/>
            </a:br>
            <a:endParaRPr lang="en-US" altLang="zh-TW" sz="2667" dirty="0"/>
          </a:p>
        </p:txBody>
      </p:sp>
      <p:sp>
        <p:nvSpPr>
          <p:cNvPr id="8"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76</a:t>
            </a:fld>
            <a:endParaRPr lang="zh-TW" altLang="en-US"/>
          </a:p>
        </p:txBody>
      </p:sp>
      <p:grpSp>
        <p:nvGrpSpPr>
          <p:cNvPr id="45274" name="组合 45273"/>
          <p:cNvGrpSpPr/>
          <p:nvPr/>
        </p:nvGrpSpPr>
        <p:grpSpPr>
          <a:xfrm>
            <a:off x="139909" y="1848183"/>
            <a:ext cx="3023243" cy="4154720"/>
            <a:chOff x="-21908" y="1282700"/>
            <a:chExt cx="2267432" cy="3116040"/>
          </a:xfrm>
        </p:grpSpPr>
        <p:sp>
          <p:nvSpPr>
            <p:cNvPr id="45069" name="Freeform 5"/>
            <p:cNvSpPr/>
            <p:nvPr/>
          </p:nvSpPr>
          <p:spPr bwMode="auto">
            <a:xfrm>
              <a:off x="811764" y="1282700"/>
              <a:ext cx="619125" cy="229973"/>
            </a:xfrm>
            <a:custGeom>
              <a:avLst/>
              <a:gdLst>
                <a:gd name="T0" fmla="*/ 387 w 390"/>
                <a:gd name="T1" fmla="*/ 142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87" y="142"/>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3" name="Freeform 9"/>
            <p:cNvSpPr/>
            <p:nvPr/>
          </p:nvSpPr>
          <p:spPr bwMode="auto">
            <a:xfrm>
              <a:off x="732389" y="1525449"/>
              <a:ext cx="776288" cy="94225"/>
            </a:xfrm>
            <a:custGeom>
              <a:avLst/>
              <a:gdLst>
                <a:gd name="T0" fmla="*/ 0 w 489"/>
                <a:gd name="T1" fmla="*/ 59 h 59"/>
                <a:gd name="T2" fmla="*/ 245 w 489"/>
                <a:gd name="T3" fmla="*/ 0 h 59"/>
                <a:gd name="T4" fmla="*/ 489 w 489"/>
                <a:gd name="T5" fmla="*/ 59 h 59"/>
              </a:gdLst>
              <a:ahLst/>
              <a:cxnLst>
                <a:cxn ang="0">
                  <a:pos x="T0" y="T1"/>
                </a:cxn>
                <a:cxn ang="0">
                  <a:pos x="T2" y="T3"/>
                </a:cxn>
                <a:cxn ang="0">
                  <a:pos x="T4" y="T5"/>
                </a:cxn>
              </a:cxnLst>
              <a:rect l="0" t="0" r="r" b="b"/>
              <a:pathLst>
                <a:path w="489" h="59">
                  <a:moveTo>
                    <a:pt x="0" y="59"/>
                  </a:moveTo>
                  <a:lnTo>
                    <a:pt x="245"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4" name="Freeform 10"/>
            <p:cNvSpPr/>
            <p:nvPr/>
          </p:nvSpPr>
          <p:spPr bwMode="auto">
            <a:xfrm>
              <a:off x="732389" y="1658003"/>
              <a:ext cx="776288" cy="97420"/>
            </a:xfrm>
            <a:custGeom>
              <a:avLst/>
              <a:gdLst>
                <a:gd name="T0" fmla="*/ 0 w 489"/>
                <a:gd name="T1" fmla="*/ 0 h 61"/>
                <a:gd name="T2" fmla="*/ 245 w 489"/>
                <a:gd name="T3" fmla="*/ 61 h 61"/>
                <a:gd name="T4" fmla="*/ 489 w 489"/>
                <a:gd name="T5" fmla="*/ 1 h 61"/>
              </a:gdLst>
              <a:ahLst/>
              <a:cxnLst>
                <a:cxn ang="0">
                  <a:pos x="T0" y="T1"/>
                </a:cxn>
                <a:cxn ang="0">
                  <a:pos x="T2" y="T3"/>
                </a:cxn>
                <a:cxn ang="0">
                  <a:pos x="T4" y="T5"/>
                </a:cxn>
              </a:cxnLst>
              <a:rect l="0" t="0" r="r" b="b"/>
              <a:pathLst>
                <a:path w="489" h="61">
                  <a:moveTo>
                    <a:pt x="0" y="0"/>
                  </a:moveTo>
                  <a:lnTo>
                    <a:pt x="245" y="61"/>
                  </a:lnTo>
                  <a:lnTo>
                    <a:pt x="489" y="1"/>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5" name="Line 11"/>
            <p:cNvSpPr>
              <a:spLocks noChangeShapeType="1"/>
            </p:cNvSpPr>
            <p:nvPr/>
          </p:nvSpPr>
          <p:spPr bwMode="auto">
            <a:xfrm>
              <a:off x="807002" y="1602107"/>
              <a:ext cx="4763" cy="7665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76" name="Line 12"/>
            <p:cNvSpPr>
              <a:spLocks noChangeShapeType="1"/>
            </p:cNvSpPr>
            <p:nvPr/>
          </p:nvSpPr>
          <p:spPr bwMode="auto">
            <a:xfrm flipV="1">
              <a:off x="1426127" y="1602107"/>
              <a:ext cx="4763" cy="7665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77" name="Freeform 13"/>
            <p:cNvSpPr/>
            <p:nvPr/>
          </p:nvSpPr>
          <p:spPr bwMode="auto">
            <a:xfrm>
              <a:off x="811764" y="1768198"/>
              <a:ext cx="619125" cy="461543"/>
            </a:xfrm>
            <a:custGeom>
              <a:avLst/>
              <a:gdLst>
                <a:gd name="T0" fmla="*/ 387 w 390"/>
                <a:gd name="T1" fmla="*/ 289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87" y="289"/>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dirty="0"/>
            </a:p>
          </p:txBody>
        </p:sp>
        <p:sp>
          <p:nvSpPr>
            <p:cNvPr id="45083" name="Freeform 19"/>
            <p:cNvSpPr/>
            <p:nvPr/>
          </p:nvSpPr>
          <p:spPr bwMode="auto">
            <a:xfrm>
              <a:off x="732389" y="2242517"/>
              <a:ext cx="776288" cy="94225"/>
            </a:xfrm>
            <a:custGeom>
              <a:avLst/>
              <a:gdLst>
                <a:gd name="T0" fmla="*/ 0 w 489"/>
                <a:gd name="T1" fmla="*/ 59 h 59"/>
                <a:gd name="T2" fmla="*/ 245 w 489"/>
                <a:gd name="T3" fmla="*/ 0 h 59"/>
                <a:gd name="T4" fmla="*/ 489 w 489"/>
                <a:gd name="T5" fmla="*/ 59 h 59"/>
              </a:gdLst>
              <a:ahLst/>
              <a:cxnLst>
                <a:cxn ang="0">
                  <a:pos x="T0" y="T1"/>
                </a:cxn>
                <a:cxn ang="0">
                  <a:pos x="T2" y="T3"/>
                </a:cxn>
                <a:cxn ang="0">
                  <a:pos x="T4" y="T5"/>
                </a:cxn>
              </a:cxnLst>
              <a:rect l="0" t="0" r="r" b="b"/>
              <a:pathLst>
                <a:path w="489" h="59">
                  <a:moveTo>
                    <a:pt x="0" y="59"/>
                  </a:moveTo>
                  <a:lnTo>
                    <a:pt x="245"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84" name="Freeform 20"/>
            <p:cNvSpPr/>
            <p:nvPr/>
          </p:nvSpPr>
          <p:spPr bwMode="auto">
            <a:xfrm>
              <a:off x="732389" y="2605043"/>
              <a:ext cx="776288" cy="97420"/>
            </a:xfrm>
            <a:custGeom>
              <a:avLst/>
              <a:gdLst>
                <a:gd name="T0" fmla="*/ 0 w 489"/>
                <a:gd name="T1" fmla="*/ 0 h 61"/>
                <a:gd name="T2" fmla="*/ 245 w 489"/>
                <a:gd name="T3" fmla="*/ 61 h 61"/>
                <a:gd name="T4" fmla="*/ 489 w 489"/>
                <a:gd name="T5" fmla="*/ 2 h 61"/>
              </a:gdLst>
              <a:ahLst/>
              <a:cxnLst>
                <a:cxn ang="0">
                  <a:pos x="T0" y="T1"/>
                </a:cxn>
                <a:cxn ang="0">
                  <a:pos x="T2" y="T3"/>
                </a:cxn>
                <a:cxn ang="0">
                  <a:pos x="T4" y="T5"/>
                </a:cxn>
              </a:cxnLst>
              <a:rect l="0" t="0" r="r" b="b"/>
              <a:pathLst>
                <a:path w="489" h="61">
                  <a:moveTo>
                    <a:pt x="0" y="0"/>
                  </a:moveTo>
                  <a:lnTo>
                    <a:pt x="245" y="61"/>
                  </a:lnTo>
                  <a:lnTo>
                    <a:pt x="48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85" name="Line 21"/>
            <p:cNvSpPr>
              <a:spLocks noChangeShapeType="1"/>
            </p:cNvSpPr>
            <p:nvPr/>
          </p:nvSpPr>
          <p:spPr bwMode="auto">
            <a:xfrm>
              <a:off x="807002" y="2319175"/>
              <a:ext cx="4763" cy="30663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86" name="Line 22"/>
            <p:cNvSpPr>
              <a:spLocks noChangeShapeType="1"/>
            </p:cNvSpPr>
            <p:nvPr/>
          </p:nvSpPr>
          <p:spPr bwMode="auto">
            <a:xfrm flipV="1">
              <a:off x="1426127" y="2319175"/>
              <a:ext cx="4763" cy="30663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90" name="Freeform 26"/>
            <p:cNvSpPr/>
            <p:nvPr/>
          </p:nvSpPr>
          <p:spPr bwMode="auto">
            <a:xfrm>
              <a:off x="811764" y="2715239"/>
              <a:ext cx="619125" cy="1384628"/>
            </a:xfrm>
            <a:custGeom>
              <a:avLst/>
              <a:gdLst>
                <a:gd name="T0" fmla="*/ 387 w 390"/>
                <a:gd name="T1" fmla="*/ 867 h 867"/>
                <a:gd name="T2" fmla="*/ 390 w 390"/>
                <a:gd name="T3" fmla="*/ 0 h 867"/>
                <a:gd name="T4" fmla="*/ 0 w 390"/>
                <a:gd name="T5" fmla="*/ 0 h 867"/>
                <a:gd name="T6" fmla="*/ 0 w 390"/>
                <a:gd name="T7" fmla="*/ 867 h 867"/>
                <a:gd name="T8" fmla="*/ 390 w 390"/>
                <a:gd name="T9" fmla="*/ 867 h 867"/>
                <a:gd name="T10" fmla="*/ 390 w 390"/>
                <a:gd name="T11" fmla="*/ 867 h 867"/>
                <a:gd name="T12" fmla="*/ 387 w 390"/>
                <a:gd name="T13" fmla="*/ 867 h 867"/>
              </a:gdLst>
              <a:ahLst/>
              <a:cxnLst>
                <a:cxn ang="0">
                  <a:pos x="T0" y="T1"/>
                </a:cxn>
                <a:cxn ang="0">
                  <a:pos x="T2" y="T3"/>
                </a:cxn>
                <a:cxn ang="0">
                  <a:pos x="T4" y="T5"/>
                </a:cxn>
                <a:cxn ang="0">
                  <a:pos x="T6" y="T7"/>
                </a:cxn>
                <a:cxn ang="0">
                  <a:pos x="T8" y="T9"/>
                </a:cxn>
                <a:cxn ang="0">
                  <a:pos x="T10" y="T11"/>
                </a:cxn>
                <a:cxn ang="0">
                  <a:pos x="T12" y="T13"/>
                </a:cxn>
              </a:cxnLst>
              <a:rect l="0" t="0" r="r" b="b"/>
              <a:pathLst>
                <a:path w="390" h="867">
                  <a:moveTo>
                    <a:pt x="387" y="867"/>
                  </a:moveTo>
                  <a:lnTo>
                    <a:pt x="390" y="0"/>
                  </a:lnTo>
                  <a:lnTo>
                    <a:pt x="0" y="0"/>
                  </a:lnTo>
                  <a:lnTo>
                    <a:pt x="0" y="867"/>
                  </a:lnTo>
                  <a:lnTo>
                    <a:pt x="390" y="867"/>
                  </a:lnTo>
                  <a:lnTo>
                    <a:pt x="390" y="867"/>
                  </a:lnTo>
                  <a:lnTo>
                    <a:pt x="387" y="86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45091" name="Freeform 27"/>
            <p:cNvSpPr/>
            <p:nvPr/>
          </p:nvSpPr>
          <p:spPr bwMode="auto">
            <a:xfrm>
              <a:off x="811764" y="2715239"/>
              <a:ext cx="619125" cy="1384628"/>
            </a:xfrm>
            <a:custGeom>
              <a:avLst/>
              <a:gdLst>
                <a:gd name="T0" fmla="*/ 387 w 390"/>
                <a:gd name="T1" fmla="*/ 867 h 867"/>
                <a:gd name="T2" fmla="*/ 390 w 390"/>
                <a:gd name="T3" fmla="*/ 0 h 867"/>
                <a:gd name="T4" fmla="*/ 0 w 390"/>
                <a:gd name="T5" fmla="*/ 0 h 867"/>
                <a:gd name="T6" fmla="*/ 0 w 390"/>
                <a:gd name="T7" fmla="*/ 867 h 867"/>
                <a:gd name="T8" fmla="*/ 390 w 390"/>
                <a:gd name="T9" fmla="*/ 867 h 867"/>
                <a:gd name="T10" fmla="*/ 390 w 390"/>
                <a:gd name="T11" fmla="*/ 867 h 867"/>
              </a:gdLst>
              <a:ahLst/>
              <a:cxnLst>
                <a:cxn ang="0">
                  <a:pos x="T0" y="T1"/>
                </a:cxn>
                <a:cxn ang="0">
                  <a:pos x="T2" y="T3"/>
                </a:cxn>
                <a:cxn ang="0">
                  <a:pos x="T4" y="T5"/>
                </a:cxn>
                <a:cxn ang="0">
                  <a:pos x="T6" y="T7"/>
                </a:cxn>
                <a:cxn ang="0">
                  <a:pos x="T8" y="T9"/>
                </a:cxn>
                <a:cxn ang="0">
                  <a:pos x="T10" y="T11"/>
                </a:cxn>
              </a:cxnLst>
              <a:rect l="0" t="0" r="r" b="b"/>
              <a:pathLst>
                <a:path w="390" h="867">
                  <a:moveTo>
                    <a:pt x="387" y="867"/>
                  </a:moveTo>
                  <a:lnTo>
                    <a:pt x="390" y="0"/>
                  </a:lnTo>
                  <a:lnTo>
                    <a:pt x="0" y="0"/>
                  </a:lnTo>
                  <a:lnTo>
                    <a:pt x="0" y="867"/>
                  </a:lnTo>
                  <a:lnTo>
                    <a:pt x="390" y="867"/>
                  </a:lnTo>
                  <a:lnTo>
                    <a:pt x="390" y="867"/>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73" name="文本框 45272"/>
            <p:cNvSpPr txBox="1"/>
            <p:nvPr/>
          </p:nvSpPr>
          <p:spPr>
            <a:xfrm>
              <a:off x="-21908" y="4175649"/>
              <a:ext cx="226743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One-word</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wide</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84" name="文本框 283"/>
            <p:cNvSpPr txBox="1"/>
            <p:nvPr/>
          </p:nvSpPr>
          <p:spPr>
            <a:xfrm>
              <a:off x="846929" y="1294026"/>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85" name="文本框 284"/>
            <p:cNvSpPr txBox="1"/>
            <p:nvPr/>
          </p:nvSpPr>
          <p:spPr>
            <a:xfrm>
              <a:off x="819587" y="1885717"/>
              <a:ext cx="555585"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86" name="文本框 285"/>
            <p:cNvSpPr txBox="1"/>
            <p:nvPr/>
          </p:nvSpPr>
          <p:spPr>
            <a:xfrm>
              <a:off x="863372" y="2367232"/>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87" name="文本框 286"/>
            <p:cNvSpPr txBox="1"/>
            <p:nvPr/>
          </p:nvSpPr>
          <p:spPr>
            <a:xfrm>
              <a:off x="783354" y="3257923"/>
              <a:ext cx="673219"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endParaRPr lang="zh-CN" altLang="en-US" sz="1333" dirty="0">
                <a:ea typeface="標楷體" pitchFamily="65" charset="-120"/>
                <a:cs typeface="Calibri" panose="020F07020304040A0204" pitchFamily="34" charset="0"/>
              </a:endParaRPr>
            </a:p>
          </p:txBody>
        </p:sp>
      </p:grpSp>
      <p:grpSp>
        <p:nvGrpSpPr>
          <p:cNvPr id="45275" name="组合 45274"/>
          <p:cNvGrpSpPr/>
          <p:nvPr/>
        </p:nvGrpSpPr>
        <p:grpSpPr>
          <a:xfrm>
            <a:off x="4026389" y="1848109"/>
            <a:ext cx="3095012" cy="4159001"/>
            <a:chOff x="2506763" y="1289049"/>
            <a:chExt cx="2822575" cy="3119251"/>
          </a:xfrm>
        </p:grpSpPr>
        <p:sp>
          <p:nvSpPr>
            <p:cNvPr id="45137" name="Freeform 73"/>
            <p:cNvSpPr/>
            <p:nvPr/>
          </p:nvSpPr>
          <p:spPr bwMode="auto">
            <a:xfrm>
              <a:off x="3608488" y="1289049"/>
              <a:ext cx="619125" cy="336840"/>
            </a:xfrm>
            <a:custGeom>
              <a:avLst/>
              <a:gdLst>
                <a:gd name="T0" fmla="*/ 390 w 390"/>
                <a:gd name="T1" fmla="*/ 144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90" y="144"/>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1" name="Freeform 77"/>
            <p:cNvSpPr/>
            <p:nvPr/>
          </p:nvSpPr>
          <p:spPr bwMode="auto">
            <a:xfrm>
              <a:off x="3530700" y="1644602"/>
              <a:ext cx="774700" cy="142690"/>
            </a:xfrm>
            <a:custGeom>
              <a:avLst/>
              <a:gdLst>
                <a:gd name="T0" fmla="*/ 0 w 488"/>
                <a:gd name="T1" fmla="*/ 59 h 61"/>
                <a:gd name="T2" fmla="*/ 244 w 488"/>
                <a:gd name="T3" fmla="*/ 0 h 61"/>
                <a:gd name="T4" fmla="*/ 488 w 488"/>
                <a:gd name="T5" fmla="*/ 61 h 61"/>
              </a:gdLst>
              <a:ahLst/>
              <a:cxnLst>
                <a:cxn ang="0">
                  <a:pos x="T0" y="T1"/>
                </a:cxn>
                <a:cxn ang="0">
                  <a:pos x="T2" y="T3"/>
                </a:cxn>
                <a:cxn ang="0">
                  <a:pos x="T4" y="T5"/>
                </a:cxn>
              </a:cxnLst>
              <a:rect l="0" t="0" r="r" b="b"/>
              <a:pathLst>
                <a:path w="488" h="61">
                  <a:moveTo>
                    <a:pt x="0" y="59"/>
                  </a:moveTo>
                  <a:lnTo>
                    <a:pt x="244" y="0"/>
                  </a:lnTo>
                  <a:lnTo>
                    <a:pt x="488" y="61"/>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2" name="Freeform 78"/>
            <p:cNvSpPr/>
            <p:nvPr/>
          </p:nvSpPr>
          <p:spPr bwMode="auto">
            <a:xfrm>
              <a:off x="3530700" y="1841092"/>
              <a:ext cx="774700" cy="140350"/>
            </a:xfrm>
            <a:custGeom>
              <a:avLst/>
              <a:gdLst>
                <a:gd name="T0" fmla="*/ 0 w 488"/>
                <a:gd name="T1" fmla="*/ 0 h 60"/>
                <a:gd name="T2" fmla="*/ 244 w 488"/>
                <a:gd name="T3" fmla="*/ 60 h 60"/>
                <a:gd name="T4" fmla="*/ 488 w 488"/>
                <a:gd name="T5" fmla="*/ 0 h 60"/>
              </a:gdLst>
              <a:ahLst/>
              <a:cxnLst>
                <a:cxn ang="0">
                  <a:pos x="T0" y="T1"/>
                </a:cxn>
                <a:cxn ang="0">
                  <a:pos x="T2" y="T3"/>
                </a:cxn>
                <a:cxn ang="0">
                  <a:pos x="T4" y="T5"/>
                </a:cxn>
              </a:cxnLst>
              <a:rect l="0" t="0" r="r" b="b"/>
              <a:pathLst>
                <a:path w="488" h="60">
                  <a:moveTo>
                    <a:pt x="0" y="0"/>
                  </a:moveTo>
                  <a:lnTo>
                    <a:pt x="244" y="60"/>
                  </a:lnTo>
                  <a:lnTo>
                    <a:pt x="488"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3" name="Line 79"/>
            <p:cNvSpPr>
              <a:spLocks noChangeShapeType="1"/>
            </p:cNvSpPr>
            <p:nvPr/>
          </p:nvSpPr>
          <p:spPr bwMode="auto">
            <a:xfrm>
              <a:off x="3608488" y="1756882"/>
              <a:ext cx="0" cy="11228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144" name="Line 80"/>
            <p:cNvSpPr>
              <a:spLocks noChangeShapeType="1"/>
            </p:cNvSpPr>
            <p:nvPr/>
          </p:nvSpPr>
          <p:spPr bwMode="auto">
            <a:xfrm flipV="1">
              <a:off x="4227613" y="1756882"/>
              <a:ext cx="0" cy="11228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145" name="Freeform 81"/>
            <p:cNvSpPr/>
            <p:nvPr/>
          </p:nvSpPr>
          <p:spPr bwMode="auto">
            <a:xfrm>
              <a:off x="2679800" y="2000155"/>
              <a:ext cx="2476500" cy="224560"/>
            </a:xfrm>
            <a:custGeom>
              <a:avLst/>
              <a:gdLst>
                <a:gd name="T0" fmla="*/ 975 w 1560"/>
                <a:gd name="T1" fmla="*/ 0 h 96"/>
                <a:gd name="T2" fmla="*/ 585 w 1560"/>
                <a:gd name="T3" fmla="*/ 0 h 96"/>
                <a:gd name="T4" fmla="*/ 0 w 1560"/>
                <a:gd name="T5" fmla="*/ 96 h 96"/>
                <a:gd name="T6" fmla="*/ 1560 w 1560"/>
                <a:gd name="T7" fmla="*/ 96 h 96"/>
                <a:gd name="T8" fmla="*/ 975 w 1560"/>
                <a:gd name="T9" fmla="*/ 0 h 96"/>
                <a:gd name="T10" fmla="*/ 975 w 1560"/>
                <a:gd name="T11" fmla="*/ 0 h 96"/>
              </a:gdLst>
              <a:ahLst/>
              <a:cxnLst>
                <a:cxn ang="0">
                  <a:pos x="T0" y="T1"/>
                </a:cxn>
                <a:cxn ang="0">
                  <a:pos x="T2" y="T3"/>
                </a:cxn>
                <a:cxn ang="0">
                  <a:pos x="T4" y="T5"/>
                </a:cxn>
                <a:cxn ang="0">
                  <a:pos x="T6" y="T7"/>
                </a:cxn>
                <a:cxn ang="0">
                  <a:pos x="T8" y="T9"/>
                </a:cxn>
                <a:cxn ang="0">
                  <a:pos x="T10" y="T11"/>
                </a:cxn>
              </a:cxnLst>
              <a:rect l="0" t="0" r="r" b="b"/>
              <a:pathLst>
                <a:path w="1560" h="96">
                  <a:moveTo>
                    <a:pt x="975" y="0"/>
                  </a:moveTo>
                  <a:lnTo>
                    <a:pt x="585" y="0"/>
                  </a:lnTo>
                  <a:lnTo>
                    <a:pt x="0" y="96"/>
                  </a:lnTo>
                  <a:lnTo>
                    <a:pt x="1560" y="96"/>
                  </a:lnTo>
                  <a:lnTo>
                    <a:pt x="975" y="0"/>
                  </a:lnTo>
                  <a:lnTo>
                    <a:pt x="975"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6" name="Freeform 82"/>
            <p:cNvSpPr/>
            <p:nvPr/>
          </p:nvSpPr>
          <p:spPr bwMode="auto">
            <a:xfrm>
              <a:off x="2506763" y="2697227"/>
              <a:ext cx="2822575" cy="140350"/>
            </a:xfrm>
            <a:custGeom>
              <a:avLst/>
              <a:gdLst>
                <a:gd name="T0" fmla="*/ 0 w 1778"/>
                <a:gd name="T1" fmla="*/ 58 h 60"/>
                <a:gd name="T2" fmla="*/ 889 w 1778"/>
                <a:gd name="T3" fmla="*/ 0 h 60"/>
                <a:gd name="T4" fmla="*/ 1778 w 1778"/>
                <a:gd name="T5" fmla="*/ 60 h 60"/>
              </a:gdLst>
              <a:ahLst/>
              <a:cxnLst>
                <a:cxn ang="0">
                  <a:pos x="T0" y="T1"/>
                </a:cxn>
                <a:cxn ang="0">
                  <a:pos x="T2" y="T3"/>
                </a:cxn>
                <a:cxn ang="0">
                  <a:pos x="T4" y="T5"/>
                </a:cxn>
              </a:cxnLst>
              <a:rect l="0" t="0" r="r" b="b"/>
              <a:pathLst>
                <a:path w="1778" h="60">
                  <a:moveTo>
                    <a:pt x="0" y="58"/>
                  </a:moveTo>
                  <a:lnTo>
                    <a:pt x="889" y="0"/>
                  </a:lnTo>
                  <a:lnTo>
                    <a:pt x="1778" y="6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7" name="Freeform 83"/>
            <p:cNvSpPr/>
            <p:nvPr/>
          </p:nvSpPr>
          <p:spPr bwMode="auto">
            <a:xfrm>
              <a:off x="2506763" y="3230557"/>
              <a:ext cx="2822575" cy="142690"/>
            </a:xfrm>
            <a:custGeom>
              <a:avLst/>
              <a:gdLst>
                <a:gd name="T0" fmla="*/ 0 w 1778"/>
                <a:gd name="T1" fmla="*/ 0 h 61"/>
                <a:gd name="T2" fmla="*/ 889 w 1778"/>
                <a:gd name="T3" fmla="*/ 61 h 61"/>
                <a:gd name="T4" fmla="*/ 1778 w 1778"/>
                <a:gd name="T5" fmla="*/ 0 h 61"/>
              </a:gdLst>
              <a:ahLst/>
              <a:cxnLst>
                <a:cxn ang="0">
                  <a:pos x="T0" y="T1"/>
                </a:cxn>
                <a:cxn ang="0">
                  <a:pos x="T2" y="T3"/>
                </a:cxn>
                <a:cxn ang="0">
                  <a:pos x="T4" y="T5"/>
                </a:cxn>
              </a:cxnLst>
              <a:rect l="0" t="0" r="r" b="b"/>
              <a:pathLst>
                <a:path w="1778" h="61">
                  <a:moveTo>
                    <a:pt x="0" y="0"/>
                  </a:moveTo>
                  <a:lnTo>
                    <a:pt x="889" y="61"/>
                  </a:lnTo>
                  <a:lnTo>
                    <a:pt x="1778"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8" name="Line 84"/>
            <p:cNvSpPr>
              <a:spLocks noChangeShapeType="1"/>
            </p:cNvSpPr>
            <p:nvPr/>
          </p:nvSpPr>
          <p:spPr bwMode="auto">
            <a:xfrm>
              <a:off x="2679800" y="2818864"/>
              <a:ext cx="0" cy="432746"/>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149" name="Line 85"/>
            <p:cNvSpPr>
              <a:spLocks noChangeShapeType="1"/>
            </p:cNvSpPr>
            <p:nvPr/>
          </p:nvSpPr>
          <p:spPr bwMode="auto">
            <a:xfrm flipV="1">
              <a:off x="5156300" y="2818864"/>
              <a:ext cx="0" cy="42572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153" name="Freeform 89"/>
            <p:cNvSpPr/>
            <p:nvPr/>
          </p:nvSpPr>
          <p:spPr bwMode="auto">
            <a:xfrm>
              <a:off x="2679800" y="3391960"/>
              <a:ext cx="2476500" cy="676020"/>
            </a:xfrm>
            <a:custGeom>
              <a:avLst/>
              <a:gdLst>
                <a:gd name="T0" fmla="*/ 1560 w 1560"/>
                <a:gd name="T1" fmla="*/ 287 h 289"/>
                <a:gd name="T2" fmla="*/ 1560 w 1560"/>
                <a:gd name="T3" fmla="*/ 0 h 289"/>
                <a:gd name="T4" fmla="*/ 0 w 1560"/>
                <a:gd name="T5" fmla="*/ 0 h 289"/>
                <a:gd name="T6" fmla="*/ 0 w 1560"/>
                <a:gd name="T7" fmla="*/ 289 h 289"/>
                <a:gd name="T8" fmla="*/ 1560 w 1560"/>
                <a:gd name="T9" fmla="*/ 289 h 289"/>
                <a:gd name="T10" fmla="*/ 1560 w 1560"/>
                <a:gd name="T11" fmla="*/ 289 h 289"/>
                <a:gd name="T12" fmla="*/ 1560 w 156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1560" h="289">
                  <a:moveTo>
                    <a:pt x="1560" y="287"/>
                  </a:moveTo>
                  <a:lnTo>
                    <a:pt x="1560" y="0"/>
                  </a:lnTo>
                  <a:lnTo>
                    <a:pt x="0" y="0"/>
                  </a:lnTo>
                  <a:lnTo>
                    <a:pt x="0" y="289"/>
                  </a:lnTo>
                  <a:lnTo>
                    <a:pt x="1560" y="289"/>
                  </a:lnTo>
                  <a:lnTo>
                    <a:pt x="1560" y="289"/>
                  </a:lnTo>
                  <a:lnTo>
                    <a:pt x="156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45154" name="Freeform 90"/>
            <p:cNvSpPr/>
            <p:nvPr/>
          </p:nvSpPr>
          <p:spPr bwMode="auto">
            <a:xfrm>
              <a:off x="2679800" y="3391960"/>
              <a:ext cx="2476500" cy="676020"/>
            </a:xfrm>
            <a:custGeom>
              <a:avLst/>
              <a:gdLst>
                <a:gd name="T0" fmla="*/ 1560 w 1560"/>
                <a:gd name="T1" fmla="*/ 287 h 289"/>
                <a:gd name="T2" fmla="*/ 1560 w 1560"/>
                <a:gd name="T3" fmla="*/ 0 h 289"/>
                <a:gd name="T4" fmla="*/ 0 w 1560"/>
                <a:gd name="T5" fmla="*/ 0 h 289"/>
                <a:gd name="T6" fmla="*/ 0 w 1560"/>
                <a:gd name="T7" fmla="*/ 289 h 289"/>
                <a:gd name="T8" fmla="*/ 1560 w 1560"/>
                <a:gd name="T9" fmla="*/ 289 h 289"/>
                <a:gd name="T10" fmla="*/ 1560 w 1560"/>
                <a:gd name="T11" fmla="*/ 289 h 289"/>
              </a:gdLst>
              <a:ahLst/>
              <a:cxnLst>
                <a:cxn ang="0">
                  <a:pos x="T0" y="T1"/>
                </a:cxn>
                <a:cxn ang="0">
                  <a:pos x="T2" y="T3"/>
                </a:cxn>
                <a:cxn ang="0">
                  <a:pos x="T4" y="T5"/>
                </a:cxn>
                <a:cxn ang="0">
                  <a:pos x="T6" y="T7"/>
                </a:cxn>
                <a:cxn ang="0">
                  <a:pos x="T8" y="T9"/>
                </a:cxn>
                <a:cxn ang="0">
                  <a:pos x="T10" y="T11"/>
                </a:cxn>
              </a:cxnLst>
              <a:rect l="0" t="0" r="r" b="b"/>
              <a:pathLst>
                <a:path w="1560" h="289">
                  <a:moveTo>
                    <a:pt x="1560" y="287"/>
                  </a:moveTo>
                  <a:lnTo>
                    <a:pt x="1560" y="0"/>
                  </a:lnTo>
                  <a:lnTo>
                    <a:pt x="0" y="0"/>
                  </a:lnTo>
                  <a:lnTo>
                    <a:pt x="0" y="289"/>
                  </a:lnTo>
                  <a:lnTo>
                    <a:pt x="1560" y="289"/>
                  </a:lnTo>
                  <a:lnTo>
                    <a:pt x="156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99" name="Freeform 135"/>
            <p:cNvSpPr/>
            <p:nvPr/>
          </p:nvSpPr>
          <p:spPr bwMode="auto">
            <a:xfrm>
              <a:off x="2679800" y="2451615"/>
              <a:ext cx="2476500" cy="224560"/>
            </a:xfrm>
            <a:custGeom>
              <a:avLst/>
              <a:gdLst>
                <a:gd name="T0" fmla="*/ 1560 w 1560"/>
                <a:gd name="T1" fmla="*/ 96 h 96"/>
                <a:gd name="T2" fmla="*/ 1560 w 1560"/>
                <a:gd name="T3" fmla="*/ 0 h 96"/>
                <a:gd name="T4" fmla="*/ 0 w 1560"/>
                <a:gd name="T5" fmla="*/ 0 h 96"/>
                <a:gd name="T6" fmla="*/ 0 w 1560"/>
                <a:gd name="T7" fmla="*/ 96 h 96"/>
                <a:gd name="T8" fmla="*/ 1560 w 1560"/>
                <a:gd name="T9" fmla="*/ 96 h 96"/>
                <a:gd name="T10" fmla="*/ 1560 w 1560"/>
                <a:gd name="T11" fmla="*/ 96 h 96"/>
              </a:gdLst>
              <a:ahLst/>
              <a:cxnLst>
                <a:cxn ang="0">
                  <a:pos x="T0" y="T1"/>
                </a:cxn>
                <a:cxn ang="0">
                  <a:pos x="T2" y="T3"/>
                </a:cxn>
                <a:cxn ang="0">
                  <a:pos x="T4" y="T5"/>
                </a:cxn>
                <a:cxn ang="0">
                  <a:pos x="T6" y="T7"/>
                </a:cxn>
                <a:cxn ang="0">
                  <a:pos x="T8" y="T9"/>
                </a:cxn>
                <a:cxn ang="0">
                  <a:pos x="T10" y="T11"/>
                </a:cxn>
              </a:cxnLst>
              <a:rect l="0" t="0" r="r" b="b"/>
              <a:pathLst>
                <a:path w="1560" h="96">
                  <a:moveTo>
                    <a:pt x="1560" y="96"/>
                  </a:moveTo>
                  <a:lnTo>
                    <a:pt x="1560" y="0"/>
                  </a:lnTo>
                  <a:lnTo>
                    <a:pt x="0" y="0"/>
                  </a:lnTo>
                  <a:lnTo>
                    <a:pt x="0" y="96"/>
                  </a:lnTo>
                  <a:lnTo>
                    <a:pt x="1560" y="96"/>
                  </a:lnTo>
                  <a:lnTo>
                    <a:pt x="1560" y="96"/>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05" name="Freeform 141"/>
            <p:cNvSpPr/>
            <p:nvPr/>
          </p:nvSpPr>
          <p:spPr bwMode="auto">
            <a:xfrm>
              <a:off x="2679800" y="2248107"/>
              <a:ext cx="565150" cy="44445"/>
            </a:xfrm>
            <a:custGeom>
              <a:avLst/>
              <a:gdLst>
                <a:gd name="T0" fmla="*/ 0 w 356"/>
                <a:gd name="T1" fmla="*/ 19 h 19"/>
                <a:gd name="T2" fmla="*/ 179 w 356"/>
                <a:gd name="T3" fmla="*/ 0 h 19"/>
                <a:gd name="T4" fmla="*/ 356 w 356"/>
                <a:gd name="T5" fmla="*/ 19 h 19"/>
              </a:gdLst>
              <a:ahLst/>
              <a:cxnLst>
                <a:cxn ang="0">
                  <a:pos x="T0" y="T1"/>
                </a:cxn>
                <a:cxn ang="0">
                  <a:pos x="T2" y="T3"/>
                </a:cxn>
                <a:cxn ang="0">
                  <a:pos x="T4" y="T5"/>
                </a:cxn>
              </a:cxnLst>
              <a:rect l="0" t="0" r="r" b="b"/>
              <a:pathLst>
                <a:path w="356" h="19">
                  <a:moveTo>
                    <a:pt x="0" y="19"/>
                  </a:moveTo>
                  <a:lnTo>
                    <a:pt x="179" y="0"/>
                  </a:lnTo>
                  <a:lnTo>
                    <a:pt x="356" y="1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06" name="Freeform 142"/>
            <p:cNvSpPr/>
            <p:nvPr/>
          </p:nvSpPr>
          <p:spPr bwMode="auto">
            <a:xfrm>
              <a:off x="2679800" y="2383779"/>
              <a:ext cx="565150" cy="49123"/>
            </a:xfrm>
            <a:custGeom>
              <a:avLst/>
              <a:gdLst>
                <a:gd name="T0" fmla="*/ 0 w 356"/>
                <a:gd name="T1" fmla="*/ 0 h 21"/>
                <a:gd name="T2" fmla="*/ 179 w 356"/>
                <a:gd name="T3" fmla="*/ 21 h 21"/>
                <a:gd name="T4" fmla="*/ 356 w 356"/>
                <a:gd name="T5" fmla="*/ 2 h 21"/>
              </a:gdLst>
              <a:ahLst/>
              <a:cxnLst>
                <a:cxn ang="0">
                  <a:pos x="T0" y="T1"/>
                </a:cxn>
                <a:cxn ang="0">
                  <a:pos x="T2" y="T3"/>
                </a:cxn>
                <a:cxn ang="0">
                  <a:pos x="T4" y="T5"/>
                </a:cxn>
              </a:cxnLst>
              <a:rect l="0" t="0" r="r" b="b"/>
              <a:pathLst>
                <a:path w="356" h="21">
                  <a:moveTo>
                    <a:pt x="0" y="0"/>
                  </a:moveTo>
                  <a:lnTo>
                    <a:pt x="179" y="21"/>
                  </a:lnTo>
                  <a:lnTo>
                    <a:pt x="356"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07" name="Line 143"/>
            <p:cNvSpPr>
              <a:spLocks noChangeShapeType="1"/>
            </p:cNvSpPr>
            <p:nvPr/>
          </p:nvSpPr>
          <p:spPr bwMode="auto">
            <a:xfrm>
              <a:off x="2733775" y="2283195"/>
              <a:ext cx="3175" cy="107602"/>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08" name="Line 144"/>
            <p:cNvSpPr>
              <a:spLocks noChangeShapeType="1"/>
            </p:cNvSpPr>
            <p:nvPr/>
          </p:nvSpPr>
          <p:spPr bwMode="auto">
            <a:xfrm flipV="1">
              <a:off x="3187800" y="2287874"/>
              <a:ext cx="3175" cy="102923"/>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09" name="Freeform 145"/>
            <p:cNvSpPr/>
            <p:nvPr/>
          </p:nvSpPr>
          <p:spPr bwMode="auto">
            <a:xfrm>
              <a:off x="4586388" y="2248107"/>
              <a:ext cx="569913" cy="44445"/>
            </a:xfrm>
            <a:custGeom>
              <a:avLst/>
              <a:gdLst>
                <a:gd name="T0" fmla="*/ 0 w 359"/>
                <a:gd name="T1" fmla="*/ 19 h 19"/>
                <a:gd name="T2" fmla="*/ 180 w 359"/>
                <a:gd name="T3" fmla="*/ 0 h 19"/>
                <a:gd name="T4" fmla="*/ 359 w 359"/>
                <a:gd name="T5" fmla="*/ 19 h 19"/>
              </a:gdLst>
              <a:ahLst/>
              <a:cxnLst>
                <a:cxn ang="0">
                  <a:pos x="T0" y="T1"/>
                </a:cxn>
                <a:cxn ang="0">
                  <a:pos x="T2" y="T3"/>
                </a:cxn>
                <a:cxn ang="0">
                  <a:pos x="T4" y="T5"/>
                </a:cxn>
              </a:cxnLst>
              <a:rect l="0" t="0" r="r" b="b"/>
              <a:pathLst>
                <a:path w="359" h="19">
                  <a:moveTo>
                    <a:pt x="0" y="19"/>
                  </a:moveTo>
                  <a:lnTo>
                    <a:pt x="180" y="0"/>
                  </a:lnTo>
                  <a:lnTo>
                    <a:pt x="359" y="1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0" name="Freeform 146"/>
            <p:cNvSpPr/>
            <p:nvPr/>
          </p:nvSpPr>
          <p:spPr bwMode="auto">
            <a:xfrm>
              <a:off x="4586388" y="2383779"/>
              <a:ext cx="569913" cy="49123"/>
            </a:xfrm>
            <a:custGeom>
              <a:avLst/>
              <a:gdLst>
                <a:gd name="T0" fmla="*/ 0 w 359"/>
                <a:gd name="T1" fmla="*/ 0 h 21"/>
                <a:gd name="T2" fmla="*/ 180 w 359"/>
                <a:gd name="T3" fmla="*/ 21 h 21"/>
                <a:gd name="T4" fmla="*/ 359 w 359"/>
                <a:gd name="T5" fmla="*/ 2 h 21"/>
              </a:gdLst>
              <a:ahLst/>
              <a:cxnLst>
                <a:cxn ang="0">
                  <a:pos x="T0" y="T1"/>
                </a:cxn>
                <a:cxn ang="0">
                  <a:pos x="T2" y="T3"/>
                </a:cxn>
                <a:cxn ang="0">
                  <a:pos x="T4" y="T5"/>
                </a:cxn>
              </a:cxnLst>
              <a:rect l="0" t="0" r="r" b="b"/>
              <a:pathLst>
                <a:path w="359" h="21">
                  <a:moveTo>
                    <a:pt x="0" y="0"/>
                  </a:moveTo>
                  <a:lnTo>
                    <a:pt x="180" y="21"/>
                  </a:lnTo>
                  <a:lnTo>
                    <a:pt x="35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1" name="Line 147"/>
            <p:cNvSpPr>
              <a:spLocks noChangeShapeType="1"/>
            </p:cNvSpPr>
            <p:nvPr/>
          </p:nvSpPr>
          <p:spPr bwMode="auto">
            <a:xfrm>
              <a:off x="4645125" y="2283195"/>
              <a:ext cx="0" cy="107602"/>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12" name="Line 148"/>
            <p:cNvSpPr>
              <a:spLocks noChangeShapeType="1"/>
            </p:cNvSpPr>
            <p:nvPr/>
          </p:nvSpPr>
          <p:spPr bwMode="auto">
            <a:xfrm flipV="1">
              <a:off x="5099150" y="2287874"/>
              <a:ext cx="0" cy="102923"/>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13" name="Freeform 149"/>
            <p:cNvSpPr/>
            <p:nvPr/>
          </p:nvSpPr>
          <p:spPr bwMode="auto">
            <a:xfrm>
              <a:off x="3314800" y="2248107"/>
              <a:ext cx="569913" cy="44445"/>
            </a:xfrm>
            <a:custGeom>
              <a:avLst/>
              <a:gdLst>
                <a:gd name="T0" fmla="*/ 0 w 359"/>
                <a:gd name="T1" fmla="*/ 19 h 19"/>
                <a:gd name="T2" fmla="*/ 180 w 359"/>
                <a:gd name="T3" fmla="*/ 0 h 19"/>
                <a:gd name="T4" fmla="*/ 359 w 359"/>
                <a:gd name="T5" fmla="*/ 19 h 19"/>
              </a:gdLst>
              <a:ahLst/>
              <a:cxnLst>
                <a:cxn ang="0">
                  <a:pos x="T0" y="T1"/>
                </a:cxn>
                <a:cxn ang="0">
                  <a:pos x="T2" y="T3"/>
                </a:cxn>
                <a:cxn ang="0">
                  <a:pos x="T4" y="T5"/>
                </a:cxn>
              </a:cxnLst>
              <a:rect l="0" t="0" r="r" b="b"/>
              <a:pathLst>
                <a:path w="359" h="19">
                  <a:moveTo>
                    <a:pt x="0" y="19"/>
                  </a:moveTo>
                  <a:lnTo>
                    <a:pt x="180" y="0"/>
                  </a:lnTo>
                  <a:lnTo>
                    <a:pt x="359" y="1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4" name="Freeform 150"/>
            <p:cNvSpPr/>
            <p:nvPr/>
          </p:nvSpPr>
          <p:spPr bwMode="auto">
            <a:xfrm>
              <a:off x="3314800" y="2383779"/>
              <a:ext cx="569913" cy="49123"/>
            </a:xfrm>
            <a:custGeom>
              <a:avLst/>
              <a:gdLst>
                <a:gd name="T0" fmla="*/ 0 w 359"/>
                <a:gd name="T1" fmla="*/ 0 h 21"/>
                <a:gd name="T2" fmla="*/ 180 w 359"/>
                <a:gd name="T3" fmla="*/ 21 h 21"/>
                <a:gd name="T4" fmla="*/ 359 w 359"/>
                <a:gd name="T5" fmla="*/ 2 h 21"/>
              </a:gdLst>
              <a:ahLst/>
              <a:cxnLst>
                <a:cxn ang="0">
                  <a:pos x="T0" y="T1"/>
                </a:cxn>
                <a:cxn ang="0">
                  <a:pos x="T2" y="T3"/>
                </a:cxn>
                <a:cxn ang="0">
                  <a:pos x="T4" y="T5"/>
                </a:cxn>
              </a:cxnLst>
              <a:rect l="0" t="0" r="r" b="b"/>
              <a:pathLst>
                <a:path w="359" h="21">
                  <a:moveTo>
                    <a:pt x="0" y="0"/>
                  </a:moveTo>
                  <a:lnTo>
                    <a:pt x="180" y="21"/>
                  </a:lnTo>
                  <a:lnTo>
                    <a:pt x="35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5" name="Line 151"/>
            <p:cNvSpPr>
              <a:spLocks noChangeShapeType="1"/>
            </p:cNvSpPr>
            <p:nvPr/>
          </p:nvSpPr>
          <p:spPr bwMode="auto">
            <a:xfrm>
              <a:off x="3368775" y="2283195"/>
              <a:ext cx="4763" cy="107602"/>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16" name="Line 152"/>
            <p:cNvSpPr>
              <a:spLocks noChangeShapeType="1"/>
            </p:cNvSpPr>
            <p:nvPr/>
          </p:nvSpPr>
          <p:spPr bwMode="auto">
            <a:xfrm flipV="1">
              <a:off x="3822800" y="2287874"/>
              <a:ext cx="4763" cy="102923"/>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17" name="Freeform 153"/>
            <p:cNvSpPr/>
            <p:nvPr/>
          </p:nvSpPr>
          <p:spPr bwMode="auto">
            <a:xfrm>
              <a:off x="3951388" y="2248107"/>
              <a:ext cx="569913" cy="44445"/>
            </a:xfrm>
            <a:custGeom>
              <a:avLst/>
              <a:gdLst>
                <a:gd name="T0" fmla="*/ 0 w 359"/>
                <a:gd name="T1" fmla="*/ 19 h 19"/>
                <a:gd name="T2" fmla="*/ 179 w 359"/>
                <a:gd name="T3" fmla="*/ 0 h 19"/>
                <a:gd name="T4" fmla="*/ 359 w 359"/>
                <a:gd name="T5" fmla="*/ 19 h 19"/>
              </a:gdLst>
              <a:ahLst/>
              <a:cxnLst>
                <a:cxn ang="0">
                  <a:pos x="T0" y="T1"/>
                </a:cxn>
                <a:cxn ang="0">
                  <a:pos x="T2" y="T3"/>
                </a:cxn>
                <a:cxn ang="0">
                  <a:pos x="T4" y="T5"/>
                </a:cxn>
              </a:cxnLst>
              <a:rect l="0" t="0" r="r" b="b"/>
              <a:pathLst>
                <a:path w="359" h="19">
                  <a:moveTo>
                    <a:pt x="0" y="19"/>
                  </a:moveTo>
                  <a:lnTo>
                    <a:pt x="179" y="0"/>
                  </a:lnTo>
                  <a:lnTo>
                    <a:pt x="359" y="1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8" name="Freeform 154"/>
            <p:cNvSpPr/>
            <p:nvPr/>
          </p:nvSpPr>
          <p:spPr bwMode="auto">
            <a:xfrm>
              <a:off x="3951388" y="2383779"/>
              <a:ext cx="569913" cy="49123"/>
            </a:xfrm>
            <a:custGeom>
              <a:avLst/>
              <a:gdLst>
                <a:gd name="T0" fmla="*/ 0 w 359"/>
                <a:gd name="T1" fmla="*/ 0 h 21"/>
                <a:gd name="T2" fmla="*/ 179 w 359"/>
                <a:gd name="T3" fmla="*/ 21 h 21"/>
                <a:gd name="T4" fmla="*/ 359 w 359"/>
                <a:gd name="T5" fmla="*/ 2 h 21"/>
              </a:gdLst>
              <a:ahLst/>
              <a:cxnLst>
                <a:cxn ang="0">
                  <a:pos x="T0" y="T1"/>
                </a:cxn>
                <a:cxn ang="0">
                  <a:pos x="T2" y="T3"/>
                </a:cxn>
                <a:cxn ang="0">
                  <a:pos x="T4" y="T5"/>
                </a:cxn>
              </a:cxnLst>
              <a:rect l="0" t="0" r="r" b="b"/>
              <a:pathLst>
                <a:path w="359" h="21">
                  <a:moveTo>
                    <a:pt x="0" y="0"/>
                  </a:moveTo>
                  <a:lnTo>
                    <a:pt x="179" y="21"/>
                  </a:lnTo>
                  <a:lnTo>
                    <a:pt x="35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9" name="Line 155"/>
            <p:cNvSpPr>
              <a:spLocks noChangeShapeType="1"/>
            </p:cNvSpPr>
            <p:nvPr/>
          </p:nvSpPr>
          <p:spPr bwMode="auto">
            <a:xfrm>
              <a:off x="4008538" y="2283195"/>
              <a:ext cx="0" cy="107602"/>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0" name="Line 156"/>
            <p:cNvSpPr>
              <a:spLocks noChangeShapeType="1"/>
            </p:cNvSpPr>
            <p:nvPr/>
          </p:nvSpPr>
          <p:spPr bwMode="auto">
            <a:xfrm flipV="1">
              <a:off x="4462563" y="2287874"/>
              <a:ext cx="0" cy="102923"/>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82" name="文本框 281"/>
            <p:cNvSpPr txBox="1"/>
            <p:nvPr/>
          </p:nvSpPr>
          <p:spPr>
            <a:xfrm>
              <a:off x="2814490" y="4185209"/>
              <a:ext cx="2273796"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Wide</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88" name="文本框 287"/>
            <p:cNvSpPr txBox="1"/>
            <p:nvPr/>
          </p:nvSpPr>
          <p:spPr>
            <a:xfrm>
              <a:off x="3653866" y="1356023"/>
              <a:ext cx="573746"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89" name="文本框 288"/>
            <p:cNvSpPr txBox="1"/>
            <p:nvPr/>
          </p:nvSpPr>
          <p:spPr>
            <a:xfrm>
              <a:off x="3257650" y="2006433"/>
              <a:ext cx="134827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Multiplexer</a:t>
              </a:r>
              <a:endParaRPr lang="zh-CN" altLang="en-US" sz="1333" dirty="0">
                <a:ea typeface="標楷體" pitchFamily="65" charset="-120"/>
                <a:cs typeface="Calibri" panose="020F07020304040A0204" pitchFamily="34" charset="0"/>
              </a:endParaRPr>
            </a:p>
          </p:txBody>
        </p:sp>
        <p:sp>
          <p:nvSpPr>
            <p:cNvPr id="290" name="文本框 289"/>
            <p:cNvSpPr txBox="1"/>
            <p:nvPr/>
          </p:nvSpPr>
          <p:spPr>
            <a:xfrm>
              <a:off x="3617913" y="2460932"/>
              <a:ext cx="687474"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91" name="文本框 290"/>
            <p:cNvSpPr txBox="1"/>
            <p:nvPr/>
          </p:nvSpPr>
          <p:spPr>
            <a:xfrm>
              <a:off x="3628016" y="2906148"/>
              <a:ext cx="677370"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92" name="文本框 291"/>
            <p:cNvSpPr txBox="1"/>
            <p:nvPr/>
          </p:nvSpPr>
          <p:spPr>
            <a:xfrm>
              <a:off x="3530700" y="3677413"/>
              <a:ext cx="1055688"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endParaRPr lang="zh-CN" altLang="en-US" sz="1333" dirty="0">
                <a:ea typeface="標楷體" pitchFamily="65" charset="-120"/>
                <a:cs typeface="Calibri" panose="020F07020304040A0204" pitchFamily="34" charset="0"/>
              </a:endParaRPr>
            </a:p>
          </p:txBody>
        </p:sp>
      </p:grpSp>
      <p:grpSp>
        <p:nvGrpSpPr>
          <p:cNvPr id="45276" name="组合 45275"/>
          <p:cNvGrpSpPr/>
          <p:nvPr/>
        </p:nvGrpSpPr>
        <p:grpSpPr>
          <a:xfrm>
            <a:off x="8161320" y="1850174"/>
            <a:ext cx="3532369" cy="4156937"/>
            <a:chOff x="5926119" y="1282700"/>
            <a:chExt cx="2649277" cy="3117703"/>
          </a:xfrm>
        </p:grpSpPr>
        <p:sp>
          <p:nvSpPr>
            <p:cNvPr id="45221" name="Freeform 157"/>
            <p:cNvSpPr/>
            <p:nvPr/>
          </p:nvSpPr>
          <p:spPr bwMode="auto">
            <a:xfrm>
              <a:off x="6939063" y="1282700"/>
              <a:ext cx="619125" cy="337542"/>
            </a:xfrm>
            <a:custGeom>
              <a:avLst/>
              <a:gdLst>
                <a:gd name="T0" fmla="*/ 390 w 390"/>
                <a:gd name="T1" fmla="*/ 144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90" y="144"/>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5" name="Freeform 161"/>
            <p:cNvSpPr/>
            <p:nvPr/>
          </p:nvSpPr>
          <p:spPr bwMode="auto">
            <a:xfrm>
              <a:off x="6861275" y="1638994"/>
              <a:ext cx="776288" cy="140642"/>
            </a:xfrm>
            <a:custGeom>
              <a:avLst/>
              <a:gdLst>
                <a:gd name="T0" fmla="*/ 0 w 489"/>
                <a:gd name="T1" fmla="*/ 60 h 60"/>
                <a:gd name="T2" fmla="*/ 244 w 489"/>
                <a:gd name="T3" fmla="*/ 0 h 60"/>
                <a:gd name="T4" fmla="*/ 489 w 489"/>
                <a:gd name="T5" fmla="*/ 60 h 60"/>
              </a:gdLst>
              <a:ahLst/>
              <a:cxnLst>
                <a:cxn ang="0">
                  <a:pos x="T0" y="T1"/>
                </a:cxn>
                <a:cxn ang="0">
                  <a:pos x="T2" y="T3"/>
                </a:cxn>
                <a:cxn ang="0">
                  <a:pos x="T4" y="T5"/>
                </a:cxn>
              </a:cxnLst>
              <a:rect l="0" t="0" r="r" b="b"/>
              <a:pathLst>
                <a:path w="489" h="60">
                  <a:moveTo>
                    <a:pt x="0" y="60"/>
                  </a:moveTo>
                  <a:lnTo>
                    <a:pt x="244" y="0"/>
                  </a:lnTo>
                  <a:lnTo>
                    <a:pt x="489" y="6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6" name="Freeform 162"/>
            <p:cNvSpPr/>
            <p:nvPr/>
          </p:nvSpPr>
          <p:spPr bwMode="auto">
            <a:xfrm>
              <a:off x="6861275" y="1838238"/>
              <a:ext cx="776288" cy="138299"/>
            </a:xfrm>
            <a:custGeom>
              <a:avLst/>
              <a:gdLst>
                <a:gd name="T0" fmla="*/ 0 w 489"/>
                <a:gd name="T1" fmla="*/ 0 h 59"/>
                <a:gd name="T2" fmla="*/ 244 w 489"/>
                <a:gd name="T3" fmla="*/ 59 h 59"/>
                <a:gd name="T4" fmla="*/ 489 w 489"/>
                <a:gd name="T5" fmla="*/ 0 h 59"/>
              </a:gdLst>
              <a:ahLst/>
              <a:cxnLst>
                <a:cxn ang="0">
                  <a:pos x="T0" y="T1"/>
                </a:cxn>
                <a:cxn ang="0">
                  <a:pos x="T2" y="T3"/>
                </a:cxn>
                <a:cxn ang="0">
                  <a:pos x="T4" y="T5"/>
                </a:cxn>
              </a:cxnLst>
              <a:rect l="0" t="0" r="r" b="b"/>
              <a:pathLst>
                <a:path w="489" h="59">
                  <a:moveTo>
                    <a:pt x="0" y="0"/>
                  </a:moveTo>
                  <a:lnTo>
                    <a:pt x="244" y="59"/>
                  </a:lnTo>
                  <a:lnTo>
                    <a:pt x="489"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7" name="Line 163"/>
            <p:cNvSpPr>
              <a:spLocks noChangeShapeType="1"/>
            </p:cNvSpPr>
            <p:nvPr/>
          </p:nvSpPr>
          <p:spPr bwMode="auto">
            <a:xfrm>
              <a:off x="6939063" y="1751508"/>
              <a:ext cx="0" cy="11251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8" name="Line 164"/>
            <p:cNvSpPr>
              <a:spLocks noChangeShapeType="1"/>
            </p:cNvSpPr>
            <p:nvPr/>
          </p:nvSpPr>
          <p:spPr bwMode="auto">
            <a:xfrm flipV="1">
              <a:off x="7558188" y="1751508"/>
              <a:ext cx="0" cy="11251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9" name="Freeform 165"/>
            <p:cNvSpPr/>
            <p:nvPr/>
          </p:nvSpPr>
          <p:spPr bwMode="auto">
            <a:xfrm>
              <a:off x="6939063" y="1995288"/>
              <a:ext cx="619125" cy="677428"/>
            </a:xfrm>
            <a:custGeom>
              <a:avLst/>
              <a:gdLst>
                <a:gd name="T0" fmla="*/ 390 w 390"/>
                <a:gd name="T1" fmla="*/ 289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9"/>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5" name="Freeform 171"/>
            <p:cNvSpPr/>
            <p:nvPr/>
          </p:nvSpPr>
          <p:spPr bwMode="auto">
            <a:xfrm>
              <a:off x="6861275" y="2696157"/>
              <a:ext cx="776288" cy="138299"/>
            </a:xfrm>
            <a:custGeom>
              <a:avLst/>
              <a:gdLst>
                <a:gd name="T0" fmla="*/ 0 w 489"/>
                <a:gd name="T1" fmla="*/ 57 h 59"/>
                <a:gd name="T2" fmla="*/ 244 w 489"/>
                <a:gd name="T3" fmla="*/ 0 h 59"/>
                <a:gd name="T4" fmla="*/ 489 w 489"/>
                <a:gd name="T5" fmla="*/ 59 h 59"/>
              </a:gdLst>
              <a:ahLst/>
              <a:cxnLst>
                <a:cxn ang="0">
                  <a:pos x="T0" y="T1"/>
                </a:cxn>
                <a:cxn ang="0">
                  <a:pos x="T2" y="T3"/>
                </a:cxn>
                <a:cxn ang="0">
                  <a:pos x="T4" y="T5"/>
                </a:cxn>
              </a:cxnLst>
              <a:rect l="0" t="0" r="r" b="b"/>
              <a:pathLst>
                <a:path w="489" h="59">
                  <a:moveTo>
                    <a:pt x="0" y="57"/>
                  </a:moveTo>
                  <a:lnTo>
                    <a:pt x="244"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6" name="Freeform 172"/>
            <p:cNvSpPr/>
            <p:nvPr/>
          </p:nvSpPr>
          <p:spPr bwMode="auto">
            <a:xfrm>
              <a:off x="6861275" y="3228253"/>
              <a:ext cx="776288" cy="145330"/>
            </a:xfrm>
            <a:custGeom>
              <a:avLst/>
              <a:gdLst>
                <a:gd name="T0" fmla="*/ 0 w 489"/>
                <a:gd name="T1" fmla="*/ 0 h 62"/>
                <a:gd name="T2" fmla="*/ 244 w 489"/>
                <a:gd name="T3" fmla="*/ 62 h 62"/>
                <a:gd name="T4" fmla="*/ 489 w 489"/>
                <a:gd name="T5" fmla="*/ 0 h 62"/>
              </a:gdLst>
              <a:ahLst/>
              <a:cxnLst>
                <a:cxn ang="0">
                  <a:pos x="T0" y="T1"/>
                </a:cxn>
                <a:cxn ang="0">
                  <a:pos x="T2" y="T3"/>
                </a:cxn>
                <a:cxn ang="0">
                  <a:pos x="T4" y="T5"/>
                </a:cxn>
              </a:cxnLst>
              <a:rect l="0" t="0" r="r" b="b"/>
              <a:pathLst>
                <a:path w="489" h="62">
                  <a:moveTo>
                    <a:pt x="0" y="0"/>
                  </a:moveTo>
                  <a:lnTo>
                    <a:pt x="244" y="62"/>
                  </a:lnTo>
                  <a:lnTo>
                    <a:pt x="489"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7" name="Line 173"/>
            <p:cNvSpPr>
              <a:spLocks noChangeShapeType="1"/>
            </p:cNvSpPr>
            <p:nvPr/>
          </p:nvSpPr>
          <p:spPr bwMode="auto">
            <a:xfrm>
              <a:off x="6939063" y="2803983"/>
              <a:ext cx="0" cy="45474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38" name="Line 174"/>
            <p:cNvSpPr>
              <a:spLocks noChangeShapeType="1"/>
            </p:cNvSpPr>
            <p:nvPr/>
          </p:nvSpPr>
          <p:spPr bwMode="auto">
            <a:xfrm flipV="1">
              <a:off x="7558188" y="2808671"/>
              <a:ext cx="0" cy="44536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42" name="Freeform 178"/>
            <p:cNvSpPr/>
            <p:nvPr/>
          </p:nvSpPr>
          <p:spPr bwMode="auto">
            <a:xfrm>
              <a:off x="66056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5243" name="Freeform 179"/>
            <p:cNvSpPr/>
            <p:nvPr/>
          </p:nvSpPr>
          <p:spPr bwMode="auto">
            <a:xfrm>
              <a:off x="66056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50" name="Rectangle 186"/>
            <p:cNvSpPr>
              <a:spLocks noChangeArrowheads="1"/>
            </p:cNvSpPr>
            <p:nvPr/>
          </p:nvSpPr>
          <p:spPr bwMode="auto">
            <a:xfrm>
              <a:off x="7170838" y="3547043"/>
              <a:ext cx="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defTabSz="1219170"/>
              <a:endParaRPr lang="zh-CN" altLang="zh-CN" sz="2400"/>
            </a:p>
          </p:txBody>
        </p:sp>
        <p:sp>
          <p:nvSpPr>
            <p:cNvPr id="45257" name="Freeform 193"/>
            <p:cNvSpPr/>
            <p:nvPr/>
          </p:nvSpPr>
          <p:spPr bwMode="auto">
            <a:xfrm>
              <a:off x="72740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5258" name="Freeform 194"/>
            <p:cNvSpPr/>
            <p:nvPr/>
          </p:nvSpPr>
          <p:spPr bwMode="auto">
            <a:xfrm>
              <a:off x="72740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65" name="Rectangle 201"/>
            <p:cNvSpPr>
              <a:spLocks noChangeArrowheads="1"/>
            </p:cNvSpPr>
            <p:nvPr/>
          </p:nvSpPr>
          <p:spPr bwMode="auto">
            <a:xfrm>
              <a:off x="7843938" y="3547043"/>
              <a:ext cx="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defTabSz="1219170"/>
              <a:endParaRPr lang="zh-CN" altLang="zh-CN" sz="2400"/>
            </a:p>
          </p:txBody>
        </p:sp>
        <p:sp>
          <p:nvSpPr>
            <p:cNvPr id="9" name="Freeform 209"/>
            <p:cNvSpPr/>
            <p:nvPr/>
          </p:nvSpPr>
          <p:spPr bwMode="auto">
            <a:xfrm>
              <a:off x="79471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 name="Freeform 210"/>
            <p:cNvSpPr/>
            <p:nvPr/>
          </p:nvSpPr>
          <p:spPr bwMode="auto">
            <a:xfrm>
              <a:off x="79471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24" name="Freeform 224"/>
            <p:cNvSpPr/>
            <p:nvPr/>
          </p:nvSpPr>
          <p:spPr bwMode="auto">
            <a:xfrm>
              <a:off x="59325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25" name="Freeform 225"/>
            <p:cNvSpPr/>
            <p:nvPr/>
          </p:nvSpPr>
          <p:spPr bwMode="auto">
            <a:xfrm>
              <a:off x="59325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283" name="文本框 282"/>
            <p:cNvSpPr txBox="1"/>
            <p:nvPr/>
          </p:nvSpPr>
          <p:spPr>
            <a:xfrm>
              <a:off x="6044564" y="4177312"/>
              <a:ext cx="221212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Interleaved</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93" name="文本框 292"/>
            <p:cNvSpPr txBox="1"/>
            <p:nvPr/>
          </p:nvSpPr>
          <p:spPr>
            <a:xfrm>
              <a:off x="6992320" y="1341345"/>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94" name="文本框 293"/>
            <p:cNvSpPr txBox="1"/>
            <p:nvPr/>
          </p:nvSpPr>
          <p:spPr>
            <a:xfrm>
              <a:off x="6965270" y="2211872"/>
              <a:ext cx="555585"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95" name="文本框 294"/>
            <p:cNvSpPr txBox="1"/>
            <p:nvPr/>
          </p:nvSpPr>
          <p:spPr>
            <a:xfrm>
              <a:off x="7010318" y="2933054"/>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96" name="文本框 295"/>
            <p:cNvSpPr txBox="1"/>
            <p:nvPr/>
          </p:nvSpPr>
          <p:spPr>
            <a:xfrm>
              <a:off x="5926119" y="3540242"/>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0</a:t>
              </a:r>
              <a:endParaRPr lang="zh-CN" altLang="en-US" sz="1333" dirty="0">
                <a:ea typeface="標楷體" pitchFamily="65" charset="-120"/>
                <a:cs typeface="Calibri" panose="020F07020304040A0204" pitchFamily="34" charset="0"/>
              </a:endParaRPr>
            </a:p>
          </p:txBody>
        </p:sp>
        <p:sp>
          <p:nvSpPr>
            <p:cNvPr id="297" name="文本框 296"/>
            <p:cNvSpPr txBox="1"/>
            <p:nvPr/>
          </p:nvSpPr>
          <p:spPr>
            <a:xfrm>
              <a:off x="6586520" y="3558115"/>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1</a:t>
              </a:r>
              <a:endParaRPr lang="zh-CN" altLang="en-US" sz="1333" dirty="0">
                <a:ea typeface="標楷體" pitchFamily="65" charset="-120"/>
                <a:cs typeface="Calibri" panose="020F07020304040A0204" pitchFamily="34" charset="0"/>
              </a:endParaRPr>
            </a:p>
          </p:txBody>
        </p:sp>
        <p:sp>
          <p:nvSpPr>
            <p:cNvPr id="298" name="文本框 297"/>
            <p:cNvSpPr txBox="1"/>
            <p:nvPr/>
          </p:nvSpPr>
          <p:spPr>
            <a:xfrm>
              <a:off x="7246921" y="3565666"/>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2</a:t>
              </a:r>
              <a:endParaRPr lang="zh-CN" altLang="en-US" sz="1333" dirty="0">
                <a:ea typeface="標楷體" pitchFamily="65" charset="-120"/>
                <a:cs typeface="Calibri" panose="020F07020304040A0204" pitchFamily="34" charset="0"/>
              </a:endParaRPr>
            </a:p>
          </p:txBody>
        </p:sp>
        <p:sp>
          <p:nvSpPr>
            <p:cNvPr id="299" name="文本框 298"/>
            <p:cNvSpPr txBox="1"/>
            <p:nvPr/>
          </p:nvSpPr>
          <p:spPr>
            <a:xfrm>
              <a:off x="7922814" y="3587827"/>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3</a:t>
              </a:r>
              <a:endParaRPr lang="zh-CN" altLang="en-US" sz="1333" dirty="0">
                <a:ea typeface="標楷體" pitchFamily="65" charset="-120"/>
                <a:cs typeface="Calibri" panose="020F07020304040A0204" pitchFamily="34" charset="0"/>
              </a:endParaRPr>
            </a:p>
          </p:txBody>
        </p:sp>
      </p:grpSp>
      <p:sp>
        <p:nvSpPr>
          <p:cNvPr id="45277" name="箭头: 右 45276"/>
          <p:cNvSpPr/>
          <p:nvPr/>
        </p:nvSpPr>
        <p:spPr bwMode="auto">
          <a:xfrm>
            <a:off x="2543609" y="3638989"/>
            <a:ext cx="949100" cy="215203"/>
          </a:xfrm>
          <a:prstGeom prst="rightArrow">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90204" pitchFamily="34" charset="0"/>
              <a:ea typeface="新細明體" panose="02020500000000000000" pitchFamily="18" charset="-120"/>
            </a:endParaRPr>
          </a:p>
        </p:txBody>
      </p:sp>
      <p:sp>
        <p:nvSpPr>
          <p:cNvPr id="304" name="箭头: 右 303"/>
          <p:cNvSpPr/>
          <p:nvPr/>
        </p:nvSpPr>
        <p:spPr bwMode="auto">
          <a:xfrm>
            <a:off x="7587767" y="3640196"/>
            <a:ext cx="949100" cy="215203"/>
          </a:xfrm>
          <a:prstGeom prst="rightArrow">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90204" pitchFamily="34" charset="0"/>
              <a:ea typeface="新細明體" panose="02020500000000000000" pitchFamily="18" charset="-120"/>
            </a:endParaRPr>
          </a:p>
        </p:txBody>
      </p:sp>
      <p:sp>
        <p:nvSpPr>
          <p:cNvPr id="91" name="TextBox 90">
            <a:extLst>
              <a:ext uri="{FF2B5EF4-FFF2-40B4-BE49-F238E27FC236}">
                <a16:creationId xmlns:a16="http://schemas.microsoft.com/office/drawing/2014/main" id="{3159DFBC-68A6-4932-A613-1D3DD18028E7}"/>
              </a:ext>
            </a:extLst>
          </p:cNvPr>
          <p:cNvSpPr txBox="1"/>
          <p:nvPr/>
        </p:nvSpPr>
        <p:spPr>
          <a:xfrm>
            <a:off x="661342" y="4845926"/>
            <a:ext cx="2240311" cy="1015663"/>
          </a:xfrm>
          <a:prstGeom prst="rect">
            <a:avLst/>
          </a:prstGeom>
          <a:solidFill>
            <a:srgbClr val="FFFF00"/>
          </a:solidFill>
        </p:spPr>
        <p:txBody>
          <a:bodyPr wrap="square" rtlCol="0" anchor="ctr" anchorCtr="1">
            <a:spAutoFit/>
          </a:bodyPr>
          <a:lstStyle/>
          <a:p>
            <a:r>
              <a:rPr lang="en-US" sz="2000" dirty="0">
                <a:ea typeface="標楷體" pitchFamily="65" charset="-120"/>
                <a:cs typeface="Calibri" pitchFamily="34" charset="0"/>
              </a:rPr>
              <a:t>Assume a cache line 64B, and bus is 32b wide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387475" y="312739"/>
            <a:ext cx="2713039" cy="477837"/>
          </a:xfrm>
          <a:prstGeom prst="rect">
            <a:avLst/>
          </a:prstGeom>
          <a:noFill/>
          <a:ln w="12700">
            <a:noFill/>
            <a:miter lim="800000"/>
          </a:ln>
        </p:spPr>
        <p:txBody>
          <a:bodyPr wrap="none" anchor="ctr"/>
          <a:lstStyle/>
          <a:p>
            <a:endParaRPr lang="zh-TW" altLang="en-US"/>
          </a:p>
        </p:txBody>
      </p:sp>
      <p:sp>
        <p:nvSpPr>
          <p:cNvPr id="45060" name="Rectangle 4"/>
          <p:cNvSpPr>
            <a:spLocks noGrp="1" noChangeArrowheads="1"/>
          </p:cNvSpPr>
          <p:nvPr>
            <p:ph type="title"/>
          </p:nvPr>
        </p:nvSpPr>
        <p:spPr>
          <a:xfrm>
            <a:off x="1209369" y="173039"/>
            <a:ext cx="9096683" cy="633207"/>
          </a:xfrm>
        </p:spPr>
        <p:txBody>
          <a:bodyPr/>
          <a:lstStyle/>
          <a:p>
            <a:r>
              <a:rPr lang="en-US" altLang="zh-TW" dirty="0"/>
              <a:t>Issues with a Wider Bus</a:t>
            </a:r>
          </a:p>
        </p:txBody>
      </p:sp>
      <p:sp>
        <p:nvSpPr>
          <p:cNvPr id="45061" name="Rectangle 5"/>
          <p:cNvSpPr>
            <a:spLocks noGrp="1" noChangeArrowheads="1"/>
          </p:cNvSpPr>
          <p:nvPr>
            <p:ph type="body" idx="1"/>
          </p:nvPr>
        </p:nvSpPr>
        <p:spPr>
          <a:xfrm>
            <a:off x="1219200" y="1076376"/>
            <a:ext cx="9547123" cy="545947"/>
          </a:xfrm>
        </p:spPr>
        <p:txBody>
          <a:bodyPr/>
          <a:lstStyle/>
          <a:p>
            <a:r>
              <a:rPr lang="en-US" altLang="zh-TW" sz="2667" dirty="0"/>
              <a:t>How to increase memory bandwidth to reduce miss penalty?</a:t>
            </a:r>
            <a:br>
              <a:rPr lang="en-US" altLang="zh-TW" sz="2667" dirty="0"/>
            </a:br>
            <a:br>
              <a:rPr lang="en-US" altLang="zh-TW" sz="2667" dirty="0"/>
            </a:br>
            <a:br>
              <a:rPr lang="en-US" altLang="zh-TW" sz="2667" dirty="0"/>
            </a:br>
            <a:endParaRPr lang="en-US" altLang="zh-TW" sz="2667" dirty="0"/>
          </a:p>
        </p:txBody>
      </p:sp>
      <p:sp>
        <p:nvSpPr>
          <p:cNvPr id="8"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77</a:t>
            </a:fld>
            <a:endParaRPr lang="zh-TW" altLang="en-US"/>
          </a:p>
        </p:txBody>
      </p:sp>
      <p:grpSp>
        <p:nvGrpSpPr>
          <p:cNvPr id="45274" name="组合 45273"/>
          <p:cNvGrpSpPr/>
          <p:nvPr/>
        </p:nvGrpSpPr>
        <p:grpSpPr>
          <a:xfrm>
            <a:off x="139909" y="1848183"/>
            <a:ext cx="3023243" cy="4154720"/>
            <a:chOff x="-21908" y="1282700"/>
            <a:chExt cx="2267432" cy="3116040"/>
          </a:xfrm>
        </p:grpSpPr>
        <p:sp>
          <p:nvSpPr>
            <p:cNvPr id="45069" name="Freeform 5"/>
            <p:cNvSpPr/>
            <p:nvPr/>
          </p:nvSpPr>
          <p:spPr bwMode="auto">
            <a:xfrm>
              <a:off x="811764" y="1282700"/>
              <a:ext cx="619125" cy="229973"/>
            </a:xfrm>
            <a:custGeom>
              <a:avLst/>
              <a:gdLst>
                <a:gd name="T0" fmla="*/ 387 w 390"/>
                <a:gd name="T1" fmla="*/ 142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87" y="142"/>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3" name="Freeform 9"/>
            <p:cNvSpPr/>
            <p:nvPr/>
          </p:nvSpPr>
          <p:spPr bwMode="auto">
            <a:xfrm>
              <a:off x="732389" y="1525449"/>
              <a:ext cx="776288" cy="94225"/>
            </a:xfrm>
            <a:custGeom>
              <a:avLst/>
              <a:gdLst>
                <a:gd name="T0" fmla="*/ 0 w 489"/>
                <a:gd name="T1" fmla="*/ 59 h 59"/>
                <a:gd name="T2" fmla="*/ 245 w 489"/>
                <a:gd name="T3" fmla="*/ 0 h 59"/>
                <a:gd name="T4" fmla="*/ 489 w 489"/>
                <a:gd name="T5" fmla="*/ 59 h 59"/>
              </a:gdLst>
              <a:ahLst/>
              <a:cxnLst>
                <a:cxn ang="0">
                  <a:pos x="T0" y="T1"/>
                </a:cxn>
                <a:cxn ang="0">
                  <a:pos x="T2" y="T3"/>
                </a:cxn>
                <a:cxn ang="0">
                  <a:pos x="T4" y="T5"/>
                </a:cxn>
              </a:cxnLst>
              <a:rect l="0" t="0" r="r" b="b"/>
              <a:pathLst>
                <a:path w="489" h="59">
                  <a:moveTo>
                    <a:pt x="0" y="59"/>
                  </a:moveTo>
                  <a:lnTo>
                    <a:pt x="245"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4" name="Freeform 10"/>
            <p:cNvSpPr/>
            <p:nvPr/>
          </p:nvSpPr>
          <p:spPr bwMode="auto">
            <a:xfrm>
              <a:off x="732389" y="1658003"/>
              <a:ext cx="776288" cy="97420"/>
            </a:xfrm>
            <a:custGeom>
              <a:avLst/>
              <a:gdLst>
                <a:gd name="T0" fmla="*/ 0 w 489"/>
                <a:gd name="T1" fmla="*/ 0 h 61"/>
                <a:gd name="T2" fmla="*/ 245 w 489"/>
                <a:gd name="T3" fmla="*/ 61 h 61"/>
                <a:gd name="T4" fmla="*/ 489 w 489"/>
                <a:gd name="T5" fmla="*/ 1 h 61"/>
              </a:gdLst>
              <a:ahLst/>
              <a:cxnLst>
                <a:cxn ang="0">
                  <a:pos x="T0" y="T1"/>
                </a:cxn>
                <a:cxn ang="0">
                  <a:pos x="T2" y="T3"/>
                </a:cxn>
                <a:cxn ang="0">
                  <a:pos x="T4" y="T5"/>
                </a:cxn>
              </a:cxnLst>
              <a:rect l="0" t="0" r="r" b="b"/>
              <a:pathLst>
                <a:path w="489" h="61">
                  <a:moveTo>
                    <a:pt x="0" y="0"/>
                  </a:moveTo>
                  <a:lnTo>
                    <a:pt x="245" y="61"/>
                  </a:lnTo>
                  <a:lnTo>
                    <a:pt x="489" y="1"/>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5" name="Line 11"/>
            <p:cNvSpPr>
              <a:spLocks noChangeShapeType="1"/>
            </p:cNvSpPr>
            <p:nvPr/>
          </p:nvSpPr>
          <p:spPr bwMode="auto">
            <a:xfrm>
              <a:off x="807002" y="1602107"/>
              <a:ext cx="4763" cy="7665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76" name="Line 12"/>
            <p:cNvSpPr>
              <a:spLocks noChangeShapeType="1"/>
            </p:cNvSpPr>
            <p:nvPr/>
          </p:nvSpPr>
          <p:spPr bwMode="auto">
            <a:xfrm flipV="1">
              <a:off x="1426127" y="1602107"/>
              <a:ext cx="4763" cy="7665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77" name="Freeform 13"/>
            <p:cNvSpPr/>
            <p:nvPr/>
          </p:nvSpPr>
          <p:spPr bwMode="auto">
            <a:xfrm>
              <a:off x="811764" y="1768198"/>
              <a:ext cx="619125" cy="461543"/>
            </a:xfrm>
            <a:custGeom>
              <a:avLst/>
              <a:gdLst>
                <a:gd name="T0" fmla="*/ 387 w 390"/>
                <a:gd name="T1" fmla="*/ 289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87" y="289"/>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dirty="0"/>
            </a:p>
          </p:txBody>
        </p:sp>
        <p:sp>
          <p:nvSpPr>
            <p:cNvPr id="45083" name="Freeform 19"/>
            <p:cNvSpPr/>
            <p:nvPr/>
          </p:nvSpPr>
          <p:spPr bwMode="auto">
            <a:xfrm>
              <a:off x="732389" y="2242517"/>
              <a:ext cx="776288" cy="94225"/>
            </a:xfrm>
            <a:custGeom>
              <a:avLst/>
              <a:gdLst>
                <a:gd name="T0" fmla="*/ 0 w 489"/>
                <a:gd name="T1" fmla="*/ 59 h 59"/>
                <a:gd name="T2" fmla="*/ 245 w 489"/>
                <a:gd name="T3" fmla="*/ 0 h 59"/>
                <a:gd name="T4" fmla="*/ 489 w 489"/>
                <a:gd name="T5" fmla="*/ 59 h 59"/>
              </a:gdLst>
              <a:ahLst/>
              <a:cxnLst>
                <a:cxn ang="0">
                  <a:pos x="T0" y="T1"/>
                </a:cxn>
                <a:cxn ang="0">
                  <a:pos x="T2" y="T3"/>
                </a:cxn>
                <a:cxn ang="0">
                  <a:pos x="T4" y="T5"/>
                </a:cxn>
              </a:cxnLst>
              <a:rect l="0" t="0" r="r" b="b"/>
              <a:pathLst>
                <a:path w="489" h="59">
                  <a:moveTo>
                    <a:pt x="0" y="59"/>
                  </a:moveTo>
                  <a:lnTo>
                    <a:pt x="245"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84" name="Freeform 20"/>
            <p:cNvSpPr/>
            <p:nvPr/>
          </p:nvSpPr>
          <p:spPr bwMode="auto">
            <a:xfrm>
              <a:off x="732389" y="2605043"/>
              <a:ext cx="776288" cy="97420"/>
            </a:xfrm>
            <a:custGeom>
              <a:avLst/>
              <a:gdLst>
                <a:gd name="T0" fmla="*/ 0 w 489"/>
                <a:gd name="T1" fmla="*/ 0 h 61"/>
                <a:gd name="T2" fmla="*/ 245 w 489"/>
                <a:gd name="T3" fmla="*/ 61 h 61"/>
                <a:gd name="T4" fmla="*/ 489 w 489"/>
                <a:gd name="T5" fmla="*/ 2 h 61"/>
              </a:gdLst>
              <a:ahLst/>
              <a:cxnLst>
                <a:cxn ang="0">
                  <a:pos x="T0" y="T1"/>
                </a:cxn>
                <a:cxn ang="0">
                  <a:pos x="T2" y="T3"/>
                </a:cxn>
                <a:cxn ang="0">
                  <a:pos x="T4" y="T5"/>
                </a:cxn>
              </a:cxnLst>
              <a:rect l="0" t="0" r="r" b="b"/>
              <a:pathLst>
                <a:path w="489" h="61">
                  <a:moveTo>
                    <a:pt x="0" y="0"/>
                  </a:moveTo>
                  <a:lnTo>
                    <a:pt x="245" y="61"/>
                  </a:lnTo>
                  <a:lnTo>
                    <a:pt x="48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85" name="Line 21"/>
            <p:cNvSpPr>
              <a:spLocks noChangeShapeType="1"/>
            </p:cNvSpPr>
            <p:nvPr/>
          </p:nvSpPr>
          <p:spPr bwMode="auto">
            <a:xfrm>
              <a:off x="807002" y="2319175"/>
              <a:ext cx="4763" cy="30663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86" name="Line 22"/>
            <p:cNvSpPr>
              <a:spLocks noChangeShapeType="1"/>
            </p:cNvSpPr>
            <p:nvPr/>
          </p:nvSpPr>
          <p:spPr bwMode="auto">
            <a:xfrm flipV="1">
              <a:off x="1426127" y="2319175"/>
              <a:ext cx="4763" cy="30663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90" name="Freeform 26"/>
            <p:cNvSpPr/>
            <p:nvPr/>
          </p:nvSpPr>
          <p:spPr bwMode="auto">
            <a:xfrm>
              <a:off x="811764" y="2715239"/>
              <a:ext cx="619125" cy="1384628"/>
            </a:xfrm>
            <a:custGeom>
              <a:avLst/>
              <a:gdLst>
                <a:gd name="T0" fmla="*/ 387 w 390"/>
                <a:gd name="T1" fmla="*/ 867 h 867"/>
                <a:gd name="T2" fmla="*/ 390 w 390"/>
                <a:gd name="T3" fmla="*/ 0 h 867"/>
                <a:gd name="T4" fmla="*/ 0 w 390"/>
                <a:gd name="T5" fmla="*/ 0 h 867"/>
                <a:gd name="T6" fmla="*/ 0 w 390"/>
                <a:gd name="T7" fmla="*/ 867 h 867"/>
                <a:gd name="T8" fmla="*/ 390 w 390"/>
                <a:gd name="T9" fmla="*/ 867 h 867"/>
                <a:gd name="T10" fmla="*/ 390 w 390"/>
                <a:gd name="T11" fmla="*/ 867 h 867"/>
                <a:gd name="T12" fmla="*/ 387 w 390"/>
                <a:gd name="T13" fmla="*/ 867 h 867"/>
              </a:gdLst>
              <a:ahLst/>
              <a:cxnLst>
                <a:cxn ang="0">
                  <a:pos x="T0" y="T1"/>
                </a:cxn>
                <a:cxn ang="0">
                  <a:pos x="T2" y="T3"/>
                </a:cxn>
                <a:cxn ang="0">
                  <a:pos x="T4" y="T5"/>
                </a:cxn>
                <a:cxn ang="0">
                  <a:pos x="T6" y="T7"/>
                </a:cxn>
                <a:cxn ang="0">
                  <a:pos x="T8" y="T9"/>
                </a:cxn>
                <a:cxn ang="0">
                  <a:pos x="T10" y="T11"/>
                </a:cxn>
                <a:cxn ang="0">
                  <a:pos x="T12" y="T13"/>
                </a:cxn>
              </a:cxnLst>
              <a:rect l="0" t="0" r="r" b="b"/>
              <a:pathLst>
                <a:path w="390" h="867">
                  <a:moveTo>
                    <a:pt x="387" y="867"/>
                  </a:moveTo>
                  <a:lnTo>
                    <a:pt x="390" y="0"/>
                  </a:lnTo>
                  <a:lnTo>
                    <a:pt x="0" y="0"/>
                  </a:lnTo>
                  <a:lnTo>
                    <a:pt x="0" y="867"/>
                  </a:lnTo>
                  <a:lnTo>
                    <a:pt x="390" y="867"/>
                  </a:lnTo>
                  <a:lnTo>
                    <a:pt x="390" y="867"/>
                  </a:lnTo>
                  <a:lnTo>
                    <a:pt x="387" y="86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45091" name="Freeform 27"/>
            <p:cNvSpPr/>
            <p:nvPr/>
          </p:nvSpPr>
          <p:spPr bwMode="auto">
            <a:xfrm>
              <a:off x="811764" y="2715239"/>
              <a:ext cx="619125" cy="1384628"/>
            </a:xfrm>
            <a:custGeom>
              <a:avLst/>
              <a:gdLst>
                <a:gd name="T0" fmla="*/ 387 w 390"/>
                <a:gd name="T1" fmla="*/ 867 h 867"/>
                <a:gd name="T2" fmla="*/ 390 w 390"/>
                <a:gd name="T3" fmla="*/ 0 h 867"/>
                <a:gd name="T4" fmla="*/ 0 w 390"/>
                <a:gd name="T5" fmla="*/ 0 h 867"/>
                <a:gd name="T6" fmla="*/ 0 w 390"/>
                <a:gd name="T7" fmla="*/ 867 h 867"/>
                <a:gd name="T8" fmla="*/ 390 w 390"/>
                <a:gd name="T9" fmla="*/ 867 h 867"/>
                <a:gd name="T10" fmla="*/ 390 w 390"/>
                <a:gd name="T11" fmla="*/ 867 h 867"/>
              </a:gdLst>
              <a:ahLst/>
              <a:cxnLst>
                <a:cxn ang="0">
                  <a:pos x="T0" y="T1"/>
                </a:cxn>
                <a:cxn ang="0">
                  <a:pos x="T2" y="T3"/>
                </a:cxn>
                <a:cxn ang="0">
                  <a:pos x="T4" y="T5"/>
                </a:cxn>
                <a:cxn ang="0">
                  <a:pos x="T6" y="T7"/>
                </a:cxn>
                <a:cxn ang="0">
                  <a:pos x="T8" y="T9"/>
                </a:cxn>
                <a:cxn ang="0">
                  <a:pos x="T10" y="T11"/>
                </a:cxn>
              </a:cxnLst>
              <a:rect l="0" t="0" r="r" b="b"/>
              <a:pathLst>
                <a:path w="390" h="867">
                  <a:moveTo>
                    <a:pt x="387" y="867"/>
                  </a:moveTo>
                  <a:lnTo>
                    <a:pt x="390" y="0"/>
                  </a:lnTo>
                  <a:lnTo>
                    <a:pt x="0" y="0"/>
                  </a:lnTo>
                  <a:lnTo>
                    <a:pt x="0" y="867"/>
                  </a:lnTo>
                  <a:lnTo>
                    <a:pt x="390" y="867"/>
                  </a:lnTo>
                  <a:lnTo>
                    <a:pt x="390" y="867"/>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73" name="文本框 45272"/>
            <p:cNvSpPr txBox="1"/>
            <p:nvPr/>
          </p:nvSpPr>
          <p:spPr>
            <a:xfrm>
              <a:off x="-21908" y="4175649"/>
              <a:ext cx="226743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One-word</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wide</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84" name="文本框 283"/>
            <p:cNvSpPr txBox="1"/>
            <p:nvPr/>
          </p:nvSpPr>
          <p:spPr>
            <a:xfrm>
              <a:off x="846929" y="1294026"/>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85" name="文本框 284"/>
            <p:cNvSpPr txBox="1"/>
            <p:nvPr/>
          </p:nvSpPr>
          <p:spPr>
            <a:xfrm>
              <a:off x="819587" y="1885717"/>
              <a:ext cx="555585"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86" name="文本框 285"/>
            <p:cNvSpPr txBox="1"/>
            <p:nvPr/>
          </p:nvSpPr>
          <p:spPr>
            <a:xfrm>
              <a:off x="863372" y="2367232"/>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87" name="文本框 286"/>
            <p:cNvSpPr txBox="1"/>
            <p:nvPr/>
          </p:nvSpPr>
          <p:spPr>
            <a:xfrm>
              <a:off x="783354" y="3257923"/>
              <a:ext cx="673219"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endParaRPr lang="zh-CN" altLang="en-US" sz="1333" dirty="0">
                <a:ea typeface="標楷體" pitchFamily="65" charset="-120"/>
                <a:cs typeface="Calibri" panose="020F07020304040A0204" pitchFamily="34" charset="0"/>
              </a:endParaRPr>
            </a:p>
          </p:txBody>
        </p:sp>
      </p:grpSp>
      <p:grpSp>
        <p:nvGrpSpPr>
          <p:cNvPr id="45276" name="组合 45275"/>
          <p:cNvGrpSpPr/>
          <p:nvPr/>
        </p:nvGrpSpPr>
        <p:grpSpPr>
          <a:xfrm>
            <a:off x="8161320" y="1850174"/>
            <a:ext cx="3532369" cy="4156937"/>
            <a:chOff x="5926119" y="1282700"/>
            <a:chExt cx="2649277" cy="3117703"/>
          </a:xfrm>
        </p:grpSpPr>
        <p:sp>
          <p:nvSpPr>
            <p:cNvPr id="45221" name="Freeform 157"/>
            <p:cNvSpPr/>
            <p:nvPr/>
          </p:nvSpPr>
          <p:spPr bwMode="auto">
            <a:xfrm>
              <a:off x="6939063" y="1282700"/>
              <a:ext cx="619125" cy="337542"/>
            </a:xfrm>
            <a:custGeom>
              <a:avLst/>
              <a:gdLst>
                <a:gd name="T0" fmla="*/ 390 w 390"/>
                <a:gd name="T1" fmla="*/ 144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90" y="144"/>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5" name="Freeform 161"/>
            <p:cNvSpPr/>
            <p:nvPr/>
          </p:nvSpPr>
          <p:spPr bwMode="auto">
            <a:xfrm>
              <a:off x="6861275" y="1638994"/>
              <a:ext cx="776288" cy="140642"/>
            </a:xfrm>
            <a:custGeom>
              <a:avLst/>
              <a:gdLst>
                <a:gd name="T0" fmla="*/ 0 w 489"/>
                <a:gd name="T1" fmla="*/ 60 h 60"/>
                <a:gd name="T2" fmla="*/ 244 w 489"/>
                <a:gd name="T3" fmla="*/ 0 h 60"/>
                <a:gd name="T4" fmla="*/ 489 w 489"/>
                <a:gd name="T5" fmla="*/ 60 h 60"/>
              </a:gdLst>
              <a:ahLst/>
              <a:cxnLst>
                <a:cxn ang="0">
                  <a:pos x="T0" y="T1"/>
                </a:cxn>
                <a:cxn ang="0">
                  <a:pos x="T2" y="T3"/>
                </a:cxn>
                <a:cxn ang="0">
                  <a:pos x="T4" y="T5"/>
                </a:cxn>
              </a:cxnLst>
              <a:rect l="0" t="0" r="r" b="b"/>
              <a:pathLst>
                <a:path w="489" h="60">
                  <a:moveTo>
                    <a:pt x="0" y="60"/>
                  </a:moveTo>
                  <a:lnTo>
                    <a:pt x="244" y="0"/>
                  </a:lnTo>
                  <a:lnTo>
                    <a:pt x="489" y="6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6" name="Freeform 162"/>
            <p:cNvSpPr/>
            <p:nvPr/>
          </p:nvSpPr>
          <p:spPr bwMode="auto">
            <a:xfrm>
              <a:off x="6861275" y="1838238"/>
              <a:ext cx="776288" cy="138299"/>
            </a:xfrm>
            <a:custGeom>
              <a:avLst/>
              <a:gdLst>
                <a:gd name="T0" fmla="*/ 0 w 489"/>
                <a:gd name="T1" fmla="*/ 0 h 59"/>
                <a:gd name="T2" fmla="*/ 244 w 489"/>
                <a:gd name="T3" fmla="*/ 59 h 59"/>
                <a:gd name="T4" fmla="*/ 489 w 489"/>
                <a:gd name="T5" fmla="*/ 0 h 59"/>
              </a:gdLst>
              <a:ahLst/>
              <a:cxnLst>
                <a:cxn ang="0">
                  <a:pos x="T0" y="T1"/>
                </a:cxn>
                <a:cxn ang="0">
                  <a:pos x="T2" y="T3"/>
                </a:cxn>
                <a:cxn ang="0">
                  <a:pos x="T4" y="T5"/>
                </a:cxn>
              </a:cxnLst>
              <a:rect l="0" t="0" r="r" b="b"/>
              <a:pathLst>
                <a:path w="489" h="59">
                  <a:moveTo>
                    <a:pt x="0" y="0"/>
                  </a:moveTo>
                  <a:lnTo>
                    <a:pt x="244" y="59"/>
                  </a:lnTo>
                  <a:lnTo>
                    <a:pt x="489"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7" name="Line 163"/>
            <p:cNvSpPr>
              <a:spLocks noChangeShapeType="1"/>
            </p:cNvSpPr>
            <p:nvPr/>
          </p:nvSpPr>
          <p:spPr bwMode="auto">
            <a:xfrm>
              <a:off x="6939063" y="1751508"/>
              <a:ext cx="0" cy="11251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8" name="Line 164"/>
            <p:cNvSpPr>
              <a:spLocks noChangeShapeType="1"/>
            </p:cNvSpPr>
            <p:nvPr/>
          </p:nvSpPr>
          <p:spPr bwMode="auto">
            <a:xfrm flipV="1">
              <a:off x="7558188" y="1751508"/>
              <a:ext cx="0" cy="11251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9" name="Freeform 165"/>
            <p:cNvSpPr/>
            <p:nvPr/>
          </p:nvSpPr>
          <p:spPr bwMode="auto">
            <a:xfrm>
              <a:off x="6939063" y="1995288"/>
              <a:ext cx="619125" cy="677428"/>
            </a:xfrm>
            <a:custGeom>
              <a:avLst/>
              <a:gdLst>
                <a:gd name="T0" fmla="*/ 390 w 390"/>
                <a:gd name="T1" fmla="*/ 289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9"/>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5" name="Freeform 171"/>
            <p:cNvSpPr/>
            <p:nvPr/>
          </p:nvSpPr>
          <p:spPr bwMode="auto">
            <a:xfrm>
              <a:off x="6861275" y="2696157"/>
              <a:ext cx="776288" cy="138299"/>
            </a:xfrm>
            <a:custGeom>
              <a:avLst/>
              <a:gdLst>
                <a:gd name="T0" fmla="*/ 0 w 489"/>
                <a:gd name="T1" fmla="*/ 57 h 59"/>
                <a:gd name="T2" fmla="*/ 244 w 489"/>
                <a:gd name="T3" fmla="*/ 0 h 59"/>
                <a:gd name="T4" fmla="*/ 489 w 489"/>
                <a:gd name="T5" fmla="*/ 59 h 59"/>
              </a:gdLst>
              <a:ahLst/>
              <a:cxnLst>
                <a:cxn ang="0">
                  <a:pos x="T0" y="T1"/>
                </a:cxn>
                <a:cxn ang="0">
                  <a:pos x="T2" y="T3"/>
                </a:cxn>
                <a:cxn ang="0">
                  <a:pos x="T4" y="T5"/>
                </a:cxn>
              </a:cxnLst>
              <a:rect l="0" t="0" r="r" b="b"/>
              <a:pathLst>
                <a:path w="489" h="59">
                  <a:moveTo>
                    <a:pt x="0" y="57"/>
                  </a:moveTo>
                  <a:lnTo>
                    <a:pt x="244"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6" name="Freeform 172"/>
            <p:cNvSpPr/>
            <p:nvPr/>
          </p:nvSpPr>
          <p:spPr bwMode="auto">
            <a:xfrm>
              <a:off x="6861275" y="3228253"/>
              <a:ext cx="776288" cy="145330"/>
            </a:xfrm>
            <a:custGeom>
              <a:avLst/>
              <a:gdLst>
                <a:gd name="T0" fmla="*/ 0 w 489"/>
                <a:gd name="T1" fmla="*/ 0 h 62"/>
                <a:gd name="T2" fmla="*/ 244 w 489"/>
                <a:gd name="T3" fmla="*/ 62 h 62"/>
                <a:gd name="T4" fmla="*/ 489 w 489"/>
                <a:gd name="T5" fmla="*/ 0 h 62"/>
              </a:gdLst>
              <a:ahLst/>
              <a:cxnLst>
                <a:cxn ang="0">
                  <a:pos x="T0" y="T1"/>
                </a:cxn>
                <a:cxn ang="0">
                  <a:pos x="T2" y="T3"/>
                </a:cxn>
                <a:cxn ang="0">
                  <a:pos x="T4" y="T5"/>
                </a:cxn>
              </a:cxnLst>
              <a:rect l="0" t="0" r="r" b="b"/>
              <a:pathLst>
                <a:path w="489" h="62">
                  <a:moveTo>
                    <a:pt x="0" y="0"/>
                  </a:moveTo>
                  <a:lnTo>
                    <a:pt x="244" y="62"/>
                  </a:lnTo>
                  <a:lnTo>
                    <a:pt x="489"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7" name="Line 173"/>
            <p:cNvSpPr>
              <a:spLocks noChangeShapeType="1"/>
            </p:cNvSpPr>
            <p:nvPr/>
          </p:nvSpPr>
          <p:spPr bwMode="auto">
            <a:xfrm>
              <a:off x="6939063" y="2803983"/>
              <a:ext cx="0" cy="45474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38" name="Line 174"/>
            <p:cNvSpPr>
              <a:spLocks noChangeShapeType="1"/>
            </p:cNvSpPr>
            <p:nvPr/>
          </p:nvSpPr>
          <p:spPr bwMode="auto">
            <a:xfrm flipV="1">
              <a:off x="7558188" y="2808671"/>
              <a:ext cx="0" cy="44536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42" name="Freeform 178"/>
            <p:cNvSpPr/>
            <p:nvPr/>
          </p:nvSpPr>
          <p:spPr bwMode="auto">
            <a:xfrm>
              <a:off x="66056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5243" name="Freeform 179"/>
            <p:cNvSpPr/>
            <p:nvPr/>
          </p:nvSpPr>
          <p:spPr bwMode="auto">
            <a:xfrm>
              <a:off x="66056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50" name="Rectangle 186"/>
            <p:cNvSpPr>
              <a:spLocks noChangeArrowheads="1"/>
            </p:cNvSpPr>
            <p:nvPr/>
          </p:nvSpPr>
          <p:spPr bwMode="auto">
            <a:xfrm>
              <a:off x="7170838" y="3547043"/>
              <a:ext cx="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defTabSz="1219170"/>
              <a:endParaRPr lang="zh-CN" altLang="zh-CN" sz="2400"/>
            </a:p>
          </p:txBody>
        </p:sp>
        <p:sp>
          <p:nvSpPr>
            <p:cNvPr id="45257" name="Freeform 193"/>
            <p:cNvSpPr/>
            <p:nvPr/>
          </p:nvSpPr>
          <p:spPr bwMode="auto">
            <a:xfrm>
              <a:off x="72740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5258" name="Freeform 194"/>
            <p:cNvSpPr/>
            <p:nvPr/>
          </p:nvSpPr>
          <p:spPr bwMode="auto">
            <a:xfrm>
              <a:off x="72740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65" name="Rectangle 201"/>
            <p:cNvSpPr>
              <a:spLocks noChangeArrowheads="1"/>
            </p:cNvSpPr>
            <p:nvPr/>
          </p:nvSpPr>
          <p:spPr bwMode="auto">
            <a:xfrm>
              <a:off x="7843938" y="3547043"/>
              <a:ext cx="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defTabSz="1219170"/>
              <a:endParaRPr lang="zh-CN" altLang="zh-CN" sz="2400"/>
            </a:p>
          </p:txBody>
        </p:sp>
        <p:sp>
          <p:nvSpPr>
            <p:cNvPr id="9" name="Freeform 209"/>
            <p:cNvSpPr/>
            <p:nvPr/>
          </p:nvSpPr>
          <p:spPr bwMode="auto">
            <a:xfrm>
              <a:off x="79471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 name="Freeform 210"/>
            <p:cNvSpPr/>
            <p:nvPr/>
          </p:nvSpPr>
          <p:spPr bwMode="auto">
            <a:xfrm>
              <a:off x="79471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24" name="Freeform 224"/>
            <p:cNvSpPr/>
            <p:nvPr/>
          </p:nvSpPr>
          <p:spPr bwMode="auto">
            <a:xfrm>
              <a:off x="59325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25" name="Freeform 225"/>
            <p:cNvSpPr/>
            <p:nvPr/>
          </p:nvSpPr>
          <p:spPr bwMode="auto">
            <a:xfrm>
              <a:off x="59325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283" name="文本框 282"/>
            <p:cNvSpPr txBox="1"/>
            <p:nvPr/>
          </p:nvSpPr>
          <p:spPr>
            <a:xfrm>
              <a:off x="6044564" y="4177312"/>
              <a:ext cx="221212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Interleaved</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93" name="文本框 292"/>
            <p:cNvSpPr txBox="1"/>
            <p:nvPr/>
          </p:nvSpPr>
          <p:spPr>
            <a:xfrm>
              <a:off x="6992320" y="1341345"/>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94" name="文本框 293"/>
            <p:cNvSpPr txBox="1"/>
            <p:nvPr/>
          </p:nvSpPr>
          <p:spPr>
            <a:xfrm>
              <a:off x="6965270" y="2211872"/>
              <a:ext cx="555585"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95" name="文本框 294"/>
            <p:cNvSpPr txBox="1"/>
            <p:nvPr/>
          </p:nvSpPr>
          <p:spPr>
            <a:xfrm>
              <a:off x="7010318" y="2933054"/>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96" name="文本框 295"/>
            <p:cNvSpPr txBox="1"/>
            <p:nvPr/>
          </p:nvSpPr>
          <p:spPr>
            <a:xfrm>
              <a:off x="5926119" y="3540242"/>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0</a:t>
              </a:r>
              <a:endParaRPr lang="zh-CN" altLang="en-US" sz="1333" dirty="0">
                <a:ea typeface="標楷體" pitchFamily="65" charset="-120"/>
                <a:cs typeface="Calibri" panose="020F07020304040A0204" pitchFamily="34" charset="0"/>
              </a:endParaRPr>
            </a:p>
          </p:txBody>
        </p:sp>
        <p:sp>
          <p:nvSpPr>
            <p:cNvPr id="297" name="文本框 296"/>
            <p:cNvSpPr txBox="1"/>
            <p:nvPr/>
          </p:nvSpPr>
          <p:spPr>
            <a:xfrm>
              <a:off x="6586520" y="3558115"/>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1</a:t>
              </a:r>
              <a:endParaRPr lang="zh-CN" altLang="en-US" sz="1333" dirty="0">
                <a:ea typeface="標楷體" pitchFamily="65" charset="-120"/>
                <a:cs typeface="Calibri" panose="020F07020304040A0204" pitchFamily="34" charset="0"/>
              </a:endParaRPr>
            </a:p>
          </p:txBody>
        </p:sp>
        <p:sp>
          <p:nvSpPr>
            <p:cNvPr id="298" name="文本框 297"/>
            <p:cNvSpPr txBox="1"/>
            <p:nvPr/>
          </p:nvSpPr>
          <p:spPr>
            <a:xfrm>
              <a:off x="7246921" y="3565666"/>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2</a:t>
              </a:r>
              <a:endParaRPr lang="zh-CN" altLang="en-US" sz="1333" dirty="0">
                <a:ea typeface="標楷體" pitchFamily="65" charset="-120"/>
                <a:cs typeface="Calibri" panose="020F07020304040A0204" pitchFamily="34" charset="0"/>
              </a:endParaRPr>
            </a:p>
          </p:txBody>
        </p:sp>
        <p:sp>
          <p:nvSpPr>
            <p:cNvPr id="299" name="文本框 298"/>
            <p:cNvSpPr txBox="1"/>
            <p:nvPr/>
          </p:nvSpPr>
          <p:spPr>
            <a:xfrm>
              <a:off x="7922814" y="3587827"/>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3</a:t>
              </a:r>
              <a:endParaRPr lang="zh-CN" altLang="en-US" sz="1333" dirty="0">
                <a:ea typeface="標楷體" pitchFamily="65" charset="-120"/>
                <a:cs typeface="Calibri" panose="020F07020304040A0204" pitchFamily="34" charset="0"/>
              </a:endParaRPr>
            </a:p>
          </p:txBody>
        </p:sp>
      </p:grpSp>
      <p:sp>
        <p:nvSpPr>
          <p:cNvPr id="45277" name="箭头: 右 45276"/>
          <p:cNvSpPr/>
          <p:nvPr/>
        </p:nvSpPr>
        <p:spPr bwMode="auto">
          <a:xfrm>
            <a:off x="2543609" y="3638989"/>
            <a:ext cx="949100" cy="215203"/>
          </a:xfrm>
          <a:prstGeom prst="rightArrow">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90204" pitchFamily="34" charset="0"/>
              <a:ea typeface="新細明體" panose="02020500000000000000" pitchFamily="18" charset="-120"/>
            </a:endParaRPr>
          </a:p>
        </p:txBody>
      </p:sp>
      <p:sp>
        <p:nvSpPr>
          <p:cNvPr id="304" name="箭头: 右 303"/>
          <p:cNvSpPr/>
          <p:nvPr/>
        </p:nvSpPr>
        <p:spPr bwMode="auto">
          <a:xfrm>
            <a:off x="7587767" y="3640196"/>
            <a:ext cx="949100" cy="215203"/>
          </a:xfrm>
          <a:prstGeom prst="rightArrow">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90204" pitchFamily="34" charset="0"/>
              <a:ea typeface="新細明體" panose="02020500000000000000" pitchFamily="18" charset="-120"/>
            </a:endParaRPr>
          </a:p>
        </p:txBody>
      </p:sp>
      <p:sp>
        <p:nvSpPr>
          <p:cNvPr id="2" name="Rectangle 1">
            <a:extLst>
              <a:ext uri="{FF2B5EF4-FFF2-40B4-BE49-F238E27FC236}">
                <a16:creationId xmlns:a16="http://schemas.microsoft.com/office/drawing/2014/main" id="{15E179DB-B678-4C7A-A3CF-6AD22B2F2BB0}"/>
              </a:ext>
            </a:extLst>
          </p:cNvPr>
          <p:cNvSpPr/>
          <p:nvPr/>
        </p:nvSpPr>
        <p:spPr bwMode="auto">
          <a:xfrm>
            <a:off x="4542984" y="1715557"/>
            <a:ext cx="1739413" cy="171344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4F76142D-8475-4C42-AAD1-82E8E641E78D}"/>
              </a:ext>
            </a:extLst>
          </p:cNvPr>
          <p:cNvSpPr txBox="1"/>
          <p:nvPr/>
        </p:nvSpPr>
        <p:spPr>
          <a:xfrm>
            <a:off x="5085731" y="1890225"/>
            <a:ext cx="671979" cy="369332"/>
          </a:xfrm>
          <a:prstGeom prst="rect">
            <a:avLst/>
          </a:prstGeom>
          <a:noFill/>
        </p:spPr>
        <p:txBody>
          <a:bodyPr wrap="none" rtlCol="0" anchor="ctr" anchorCtr="1">
            <a:spAutoFit/>
          </a:bodyPr>
          <a:lstStyle/>
          <a:p>
            <a:r>
              <a:rPr lang="en-US" dirty="0">
                <a:ea typeface="標楷體" pitchFamily="65" charset="-120"/>
                <a:cs typeface="Calibri" pitchFamily="34" charset="0"/>
              </a:rPr>
              <a:t>CPU</a:t>
            </a:r>
          </a:p>
        </p:txBody>
      </p:sp>
      <p:sp>
        <p:nvSpPr>
          <p:cNvPr id="4" name="TextBox 3">
            <a:extLst>
              <a:ext uri="{FF2B5EF4-FFF2-40B4-BE49-F238E27FC236}">
                <a16:creationId xmlns:a16="http://schemas.microsoft.com/office/drawing/2014/main" id="{7285AE29-52B1-4746-BFCA-79225DBDC6B8}"/>
              </a:ext>
            </a:extLst>
          </p:cNvPr>
          <p:cNvSpPr txBox="1"/>
          <p:nvPr/>
        </p:nvSpPr>
        <p:spPr>
          <a:xfrm>
            <a:off x="5226184" y="2349229"/>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94" name="TextBox 93">
            <a:extLst>
              <a:ext uri="{FF2B5EF4-FFF2-40B4-BE49-F238E27FC236}">
                <a16:creationId xmlns:a16="http://schemas.microsoft.com/office/drawing/2014/main" id="{AEA13F78-D14F-45B9-9162-9B71805C06C3}"/>
              </a:ext>
            </a:extLst>
          </p:cNvPr>
          <p:cNvSpPr txBox="1"/>
          <p:nvPr/>
        </p:nvSpPr>
        <p:spPr>
          <a:xfrm>
            <a:off x="5226184" y="268309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95" name="TextBox 94">
            <a:extLst>
              <a:ext uri="{FF2B5EF4-FFF2-40B4-BE49-F238E27FC236}">
                <a16:creationId xmlns:a16="http://schemas.microsoft.com/office/drawing/2014/main" id="{9F15F464-8250-4232-8EE6-EEB7D5A4D7BF}"/>
              </a:ext>
            </a:extLst>
          </p:cNvPr>
          <p:cNvSpPr txBox="1"/>
          <p:nvPr/>
        </p:nvSpPr>
        <p:spPr>
          <a:xfrm>
            <a:off x="5226184" y="3006089"/>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L3</a:t>
            </a:r>
          </a:p>
        </p:txBody>
      </p:sp>
      <p:sp>
        <p:nvSpPr>
          <p:cNvPr id="5" name="TextBox 4">
            <a:extLst>
              <a:ext uri="{FF2B5EF4-FFF2-40B4-BE49-F238E27FC236}">
                <a16:creationId xmlns:a16="http://schemas.microsoft.com/office/drawing/2014/main" id="{2EE0959E-1639-41AD-89A3-AF8F2A974EC5}"/>
              </a:ext>
            </a:extLst>
          </p:cNvPr>
          <p:cNvSpPr txBox="1"/>
          <p:nvPr/>
        </p:nvSpPr>
        <p:spPr>
          <a:xfrm>
            <a:off x="4145098" y="4722571"/>
            <a:ext cx="3014661" cy="923330"/>
          </a:xfrm>
          <a:prstGeom prst="rect">
            <a:avLst/>
          </a:prstGeom>
          <a:solidFill>
            <a:schemeClr val="accent6">
              <a:lumMod val="20000"/>
              <a:lumOff val="80000"/>
            </a:schemeClr>
          </a:solidFill>
        </p:spPr>
        <p:txBody>
          <a:bodyPr wrap="square" rtlCol="0" anchor="ctr" anchorCtr="1">
            <a:spAutoFit/>
          </a:bodyPr>
          <a:lstStyle/>
          <a:p>
            <a:endParaRPr lang="en-US" dirty="0">
              <a:ea typeface="標楷體" pitchFamily="65" charset="-120"/>
              <a:cs typeface="Calibri" pitchFamily="34" charset="0"/>
            </a:endParaRPr>
          </a:p>
          <a:p>
            <a:r>
              <a:rPr lang="en-US" dirty="0">
                <a:ea typeface="標楷體" pitchFamily="65" charset="-120"/>
                <a:cs typeface="Calibri" pitchFamily="34" charset="0"/>
              </a:rPr>
              <a:t>Memory</a:t>
            </a:r>
          </a:p>
          <a:p>
            <a:endParaRPr lang="en-US" dirty="0">
              <a:ea typeface="標楷體" pitchFamily="65" charset="-120"/>
              <a:cs typeface="Calibri" pitchFamily="34" charset="0"/>
            </a:endParaRPr>
          </a:p>
        </p:txBody>
      </p:sp>
      <p:cxnSp>
        <p:nvCxnSpPr>
          <p:cNvPr id="12" name="Straight Connector 11">
            <a:extLst>
              <a:ext uri="{FF2B5EF4-FFF2-40B4-BE49-F238E27FC236}">
                <a16:creationId xmlns:a16="http://schemas.microsoft.com/office/drawing/2014/main" id="{1393539F-89B8-440C-8D90-C2E4FBE8986B}"/>
              </a:ext>
            </a:extLst>
          </p:cNvPr>
          <p:cNvCxnSpPr>
            <a:cxnSpLocks/>
            <a:endCxn id="2" idx="2"/>
          </p:cNvCxnSpPr>
          <p:nvPr/>
        </p:nvCxnSpPr>
        <p:spPr bwMode="auto">
          <a:xfrm flipV="1">
            <a:off x="4269197" y="3429001"/>
            <a:ext cx="1143494" cy="420105"/>
          </a:xfrm>
          <a:prstGeom prst="line">
            <a:avLst/>
          </a:prstGeom>
          <a:noFill/>
          <a:ln w="15875" cap="flat" cmpd="sng" algn="ctr">
            <a:solidFill>
              <a:schemeClr val="tx1"/>
            </a:solidFill>
            <a:prstDash val="solid"/>
            <a:round/>
            <a:headEnd type="none" w="med" len="med"/>
            <a:tailEnd type="none" w="med" len="med"/>
          </a:ln>
          <a:effectLst/>
        </p:spPr>
      </p:cxnSp>
      <p:cxnSp>
        <p:nvCxnSpPr>
          <p:cNvPr id="101" name="Straight Connector 100">
            <a:extLst>
              <a:ext uri="{FF2B5EF4-FFF2-40B4-BE49-F238E27FC236}">
                <a16:creationId xmlns:a16="http://schemas.microsoft.com/office/drawing/2014/main" id="{712323A7-B072-4873-B11D-93F429CC7664}"/>
              </a:ext>
            </a:extLst>
          </p:cNvPr>
          <p:cNvCxnSpPr>
            <a:cxnSpLocks/>
          </p:cNvCxnSpPr>
          <p:nvPr/>
        </p:nvCxnSpPr>
        <p:spPr bwMode="auto">
          <a:xfrm>
            <a:off x="5394920" y="3442953"/>
            <a:ext cx="1217802" cy="362627"/>
          </a:xfrm>
          <a:prstGeom prst="line">
            <a:avLst/>
          </a:prstGeom>
          <a:noFill/>
          <a:ln w="15875" cap="flat" cmpd="sng" algn="ctr">
            <a:solidFill>
              <a:schemeClr val="tx1"/>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D6D383E9-3FB6-4BFD-8D3D-90DC284E979A}"/>
              </a:ext>
            </a:extLst>
          </p:cNvPr>
          <p:cNvCxnSpPr>
            <a:cxnSpLocks/>
          </p:cNvCxnSpPr>
          <p:nvPr/>
        </p:nvCxnSpPr>
        <p:spPr bwMode="auto">
          <a:xfrm>
            <a:off x="4465704" y="3803670"/>
            <a:ext cx="0" cy="544431"/>
          </a:xfrm>
          <a:prstGeom prst="line">
            <a:avLst/>
          </a:prstGeom>
          <a:noFill/>
          <a:ln w="15875" cap="flat" cmpd="sng" algn="ctr">
            <a:solidFill>
              <a:schemeClr val="tx1"/>
            </a:solidFill>
            <a:prstDash val="solid"/>
            <a:round/>
            <a:headEnd type="none" w="med" len="med"/>
            <a:tailEnd type="none" w="med" len="med"/>
          </a:ln>
          <a:effectLst/>
        </p:spPr>
      </p:cxnSp>
      <p:cxnSp>
        <p:nvCxnSpPr>
          <p:cNvPr id="107" name="Straight Connector 106">
            <a:extLst>
              <a:ext uri="{FF2B5EF4-FFF2-40B4-BE49-F238E27FC236}">
                <a16:creationId xmlns:a16="http://schemas.microsoft.com/office/drawing/2014/main" id="{49822148-4043-4031-BB2E-779854398B7E}"/>
              </a:ext>
            </a:extLst>
          </p:cNvPr>
          <p:cNvCxnSpPr>
            <a:cxnSpLocks/>
          </p:cNvCxnSpPr>
          <p:nvPr/>
        </p:nvCxnSpPr>
        <p:spPr bwMode="auto">
          <a:xfrm>
            <a:off x="6423919" y="3771548"/>
            <a:ext cx="0" cy="555494"/>
          </a:xfrm>
          <a:prstGeom prst="line">
            <a:avLst/>
          </a:prstGeom>
          <a:noFill/>
          <a:ln w="15875" cap="flat" cmpd="sng" algn="ctr">
            <a:solidFill>
              <a:schemeClr val="tx1"/>
            </a:solidFill>
            <a:prstDash val="solid"/>
            <a:round/>
            <a:headEnd type="none" w="med" len="med"/>
            <a:tailEnd type="none" w="med" len="med"/>
          </a:ln>
          <a:effectLst/>
        </p:spPr>
      </p:cxnSp>
      <p:cxnSp>
        <p:nvCxnSpPr>
          <p:cNvPr id="108" name="Straight Connector 107">
            <a:extLst>
              <a:ext uri="{FF2B5EF4-FFF2-40B4-BE49-F238E27FC236}">
                <a16:creationId xmlns:a16="http://schemas.microsoft.com/office/drawing/2014/main" id="{2860B71B-0311-4FD9-927D-468E1C79FC60}"/>
              </a:ext>
            </a:extLst>
          </p:cNvPr>
          <p:cNvCxnSpPr>
            <a:cxnSpLocks/>
          </p:cNvCxnSpPr>
          <p:nvPr/>
        </p:nvCxnSpPr>
        <p:spPr bwMode="auto">
          <a:xfrm flipV="1">
            <a:off x="5481310" y="4219187"/>
            <a:ext cx="1143494" cy="420105"/>
          </a:xfrm>
          <a:prstGeom prst="line">
            <a:avLst/>
          </a:prstGeom>
          <a:noFill/>
          <a:ln w="15875" cap="flat" cmpd="sng" algn="ctr">
            <a:solidFill>
              <a:schemeClr val="tx1"/>
            </a:solidFill>
            <a:prstDash val="solid"/>
            <a:round/>
            <a:headEnd type="none" w="med" len="med"/>
            <a:tailEnd type="none" w="med" len="med"/>
          </a:ln>
          <a:effectLst/>
        </p:spPr>
      </p:cxnSp>
      <p:cxnSp>
        <p:nvCxnSpPr>
          <p:cNvPr id="109" name="Straight Connector 108">
            <a:extLst>
              <a:ext uri="{FF2B5EF4-FFF2-40B4-BE49-F238E27FC236}">
                <a16:creationId xmlns:a16="http://schemas.microsoft.com/office/drawing/2014/main" id="{05CE9850-C5CE-4E93-BD2F-18D4FA7EDCD1}"/>
              </a:ext>
            </a:extLst>
          </p:cNvPr>
          <p:cNvCxnSpPr>
            <a:cxnSpLocks/>
          </p:cNvCxnSpPr>
          <p:nvPr/>
        </p:nvCxnSpPr>
        <p:spPr bwMode="auto">
          <a:xfrm>
            <a:off x="4258295" y="4270868"/>
            <a:ext cx="1217802" cy="362627"/>
          </a:xfrm>
          <a:prstGeom prst="line">
            <a:avLst/>
          </a:prstGeom>
          <a:noFill/>
          <a:ln w="15875" cap="flat" cmpd="sng" algn="ctr">
            <a:solidFill>
              <a:schemeClr val="tx1"/>
            </a:solidFill>
            <a:prstDash val="solid"/>
            <a:round/>
            <a:headEnd type="none" w="med" len="med"/>
            <a:tailEnd type="none" w="med" len="med"/>
          </a:ln>
          <a:effectLst/>
        </p:spPr>
      </p:cxnSp>
      <p:sp>
        <p:nvSpPr>
          <p:cNvPr id="22" name="Callout: Line 21">
            <a:extLst>
              <a:ext uri="{FF2B5EF4-FFF2-40B4-BE49-F238E27FC236}">
                <a16:creationId xmlns:a16="http://schemas.microsoft.com/office/drawing/2014/main" id="{EE8DE6D5-ACA6-4FAC-A573-D19BA3BBC5A8}"/>
              </a:ext>
            </a:extLst>
          </p:cNvPr>
          <p:cNvSpPr/>
          <p:nvPr/>
        </p:nvSpPr>
        <p:spPr bwMode="auto">
          <a:xfrm>
            <a:off x="7000874" y="2590891"/>
            <a:ext cx="1685538" cy="509353"/>
          </a:xfrm>
          <a:prstGeom prst="borderCallout1">
            <a:avLst>
              <a:gd name="adj1" fmla="val 18750"/>
              <a:gd name="adj2" fmla="val -8333"/>
              <a:gd name="adj3" fmla="val 159342"/>
              <a:gd name="adj4" fmla="val -98990"/>
            </a:avLst>
          </a:prstGeom>
          <a:solidFill>
            <a:srgbClr val="FFFF00"/>
          </a:solid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000" i="0" u="none" strike="noStrike" cap="none" normalizeH="0" baseline="0" dirty="0">
                <a:ln>
                  <a:noFill/>
                </a:ln>
                <a:solidFill>
                  <a:schemeClr val="tx1"/>
                </a:solidFill>
                <a:effectLst/>
                <a:latin typeface="Arial" pitchFamily="34" charset="0"/>
                <a:ea typeface="新細明體" pitchFamily="18" charset="-120"/>
              </a:rPr>
              <a:t>Pin limitation</a:t>
            </a:r>
          </a:p>
        </p:txBody>
      </p:sp>
      <p:sp>
        <p:nvSpPr>
          <p:cNvPr id="23" name="TextBox 22">
            <a:extLst>
              <a:ext uri="{FF2B5EF4-FFF2-40B4-BE49-F238E27FC236}">
                <a16:creationId xmlns:a16="http://schemas.microsoft.com/office/drawing/2014/main" id="{2166FDA2-6AAE-4F2B-8DA8-29C21584BAB9}"/>
              </a:ext>
            </a:extLst>
          </p:cNvPr>
          <p:cNvSpPr txBox="1"/>
          <p:nvPr/>
        </p:nvSpPr>
        <p:spPr>
          <a:xfrm>
            <a:off x="2537616" y="4544157"/>
            <a:ext cx="3288080" cy="400110"/>
          </a:xfrm>
          <a:prstGeom prst="rect">
            <a:avLst/>
          </a:prstGeom>
          <a:solidFill>
            <a:srgbClr val="FFFF00"/>
          </a:solidFill>
        </p:spPr>
        <p:txBody>
          <a:bodyPr wrap="none" rtlCol="0" anchor="ctr" anchorCtr="1">
            <a:spAutoFit/>
          </a:bodyPr>
          <a:lstStyle/>
          <a:p>
            <a:r>
              <a:rPr lang="en-US" sz="2000" b="1" dirty="0">
                <a:ea typeface="標楷體" pitchFamily="65" charset="-120"/>
                <a:cs typeface="Calibri" pitchFamily="34" charset="0"/>
              </a:rPr>
              <a:t>Signal integrity challenge</a:t>
            </a:r>
          </a:p>
        </p:txBody>
      </p:sp>
      <p:sp>
        <p:nvSpPr>
          <p:cNvPr id="116" name="TextBox 115">
            <a:extLst>
              <a:ext uri="{FF2B5EF4-FFF2-40B4-BE49-F238E27FC236}">
                <a16:creationId xmlns:a16="http://schemas.microsoft.com/office/drawing/2014/main" id="{BEF5E004-BF3B-4830-8C6F-B23303B5B94C}"/>
              </a:ext>
            </a:extLst>
          </p:cNvPr>
          <p:cNvSpPr txBox="1"/>
          <p:nvPr/>
        </p:nvSpPr>
        <p:spPr>
          <a:xfrm>
            <a:off x="3673024" y="5427911"/>
            <a:ext cx="4956806" cy="400110"/>
          </a:xfrm>
          <a:prstGeom prst="rect">
            <a:avLst/>
          </a:prstGeom>
          <a:solidFill>
            <a:srgbClr val="FFFF00"/>
          </a:solidFill>
        </p:spPr>
        <p:txBody>
          <a:bodyPr wrap="none" rtlCol="0" anchor="ctr" anchorCtr="1">
            <a:spAutoFit/>
          </a:bodyPr>
          <a:lstStyle/>
          <a:p>
            <a:r>
              <a:rPr lang="en-US" sz="2000" dirty="0">
                <a:ea typeface="標楷體" pitchFamily="65" charset="-120"/>
                <a:cs typeface="Calibri" pitchFamily="34" charset="0"/>
              </a:rPr>
              <a:t>Manufacturing cost and design complexity</a:t>
            </a:r>
          </a:p>
        </p:txBody>
      </p:sp>
    </p:spTree>
    <p:extLst>
      <p:ext uri="{BB962C8B-B14F-4D97-AF65-F5344CB8AC3E}">
        <p14:creationId xmlns:p14="http://schemas.microsoft.com/office/powerpoint/2010/main" val="214659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11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1248698" y="196646"/>
            <a:ext cx="9057353" cy="599769"/>
          </a:xfrm>
        </p:spPr>
        <p:txBody>
          <a:bodyPr/>
          <a:lstStyle/>
          <a:p>
            <a:r>
              <a:rPr lang="en-US" altLang="zh-TW" dirty="0"/>
              <a:t>Measuring Cache Performance</a:t>
            </a:r>
            <a:endParaRPr lang="en-AU" altLang="zh-TW" dirty="0">
              <a:ea typeface="新細明體" panose="02020500000000000000" pitchFamily="18" charset="-120"/>
            </a:endParaRPr>
          </a:p>
        </p:txBody>
      </p:sp>
      <p:sp>
        <p:nvSpPr>
          <p:cNvPr id="2052" name="Rectangle 3"/>
          <p:cNvSpPr>
            <a:spLocks noGrp="1" noChangeArrowheads="1"/>
          </p:cNvSpPr>
          <p:nvPr>
            <p:ph type="body" idx="1"/>
          </p:nvPr>
        </p:nvSpPr>
        <p:spPr>
          <a:xfrm>
            <a:off x="1366685" y="1149245"/>
            <a:ext cx="8939367" cy="2643139"/>
          </a:xfrm>
        </p:spPr>
        <p:txBody>
          <a:bodyPr/>
          <a:lstStyle/>
          <a:p>
            <a:pPr>
              <a:lnSpc>
                <a:spcPct val="80000"/>
              </a:lnSpc>
            </a:pPr>
            <a:r>
              <a:rPr lang="en-US" altLang="zh-TW" sz="2667" dirty="0"/>
              <a:t>Components of CPU time</a:t>
            </a:r>
            <a:endParaRPr lang="en-US" altLang="zh-TW" dirty="0"/>
          </a:p>
          <a:p>
            <a:pPr lvl="1">
              <a:lnSpc>
                <a:spcPct val="80000"/>
              </a:lnSpc>
            </a:pPr>
            <a:r>
              <a:rPr lang="en-US" altLang="zh-TW" dirty="0"/>
              <a:t>Program execution cycles</a:t>
            </a:r>
          </a:p>
          <a:p>
            <a:pPr lvl="2">
              <a:lnSpc>
                <a:spcPct val="80000"/>
              </a:lnSpc>
            </a:pPr>
            <a:r>
              <a:rPr lang="en-US" altLang="zh-TW" dirty="0"/>
              <a:t>Includes cache hit time</a:t>
            </a:r>
          </a:p>
          <a:p>
            <a:pPr lvl="1">
              <a:lnSpc>
                <a:spcPct val="80000"/>
              </a:lnSpc>
            </a:pPr>
            <a:r>
              <a:rPr lang="en-US" altLang="zh-TW" dirty="0"/>
              <a:t>Memory stall cycles</a:t>
            </a:r>
          </a:p>
          <a:p>
            <a:pPr lvl="2">
              <a:lnSpc>
                <a:spcPct val="80000"/>
              </a:lnSpc>
            </a:pPr>
            <a:r>
              <a:rPr lang="en-US" altLang="zh-TW" dirty="0"/>
              <a:t>Mainly from cache misses</a:t>
            </a:r>
          </a:p>
          <a:p>
            <a:pPr>
              <a:lnSpc>
                <a:spcPct val="80000"/>
              </a:lnSpc>
              <a:spcBef>
                <a:spcPts val="1600"/>
              </a:spcBef>
            </a:pPr>
            <a:r>
              <a:rPr lang="en-US" altLang="zh-TW" sz="2667" dirty="0"/>
              <a:t>With simplified assumptions (equal penalty for read/write)</a:t>
            </a:r>
            <a:endParaRPr lang="zh-CN" altLang="en-US" sz="2667" dirty="0">
              <a:ea typeface="新細明體" panose="02020500000000000000" pitchFamily="18" charset="-120"/>
            </a:endParaRPr>
          </a:p>
        </p:txBody>
      </p:sp>
      <mc:AlternateContent xmlns:mc="http://schemas.openxmlformats.org/markup-compatibility/2006" xmlns:a14="http://schemas.microsoft.com/office/drawing/2010/main">
        <mc:Choice Requires="a14">
          <p:sp>
            <p:nvSpPr>
              <p:cNvPr id="2050" name="Object 5"/>
              <p:cNvSpPr txBox="1"/>
              <p:nvPr/>
            </p:nvSpPr>
            <p:spPr bwMode="auto">
              <a:xfrm>
                <a:off x="2462306" y="3792384"/>
                <a:ext cx="8653929" cy="224304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400" i="1">
                          <a:solidFill>
                            <a:srgbClr val="000000"/>
                          </a:solidFill>
                          <a:latin typeface="Cambria Math" panose="02040503050406030204" pitchFamily="18" charset="0"/>
                        </a:rPr>
                        <m:t>Memory</m:t>
                      </m:r>
                      <m:r>
                        <m:rPr>
                          <m:aln/>
                        </m:rP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stall</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cycles</m:t>
                      </m:r>
                    </m:oMath>
                    <m:oMath xmlns:m="http://schemas.openxmlformats.org/officeDocument/2006/math">
                      <m:r>
                        <m:rPr>
                          <m:aln/>
                        </m:rP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m:rPr>
                              <m:sty m:val="p"/>
                            </m:rPr>
                            <a:rPr lang="zh-CN" altLang="en-US" sz="2400" i="1">
                              <a:solidFill>
                                <a:srgbClr val="000000"/>
                              </a:solidFill>
                              <a:latin typeface="Cambria Math" panose="02040503050406030204" pitchFamily="18" charset="0"/>
                            </a:rPr>
                            <m:t>Memory</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accesses</m:t>
                          </m:r>
                        </m:num>
                        <m:den>
                          <m:r>
                            <m:rPr>
                              <m:sty m:val="p"/>
                            </m:rPr>
                            <a:rPr lang="zh-CN" altLang="en-US" sz="2400" i="1">
                              <a:solidFill>
                                <a:srgbClr val="000000"/>
                              </a:solidFill>
                              <a:latin typeface="Cambria Math" panose="02040503050406030204" pitchFamily="18" charset="0"/>
                            </a:rPr>
                            <m:t>Program</m:t>
                          </m:r>
                        </m:den>
                      </m:f>
                      <m:r>
                        <a:rPr lang="zh-CN" altLang="en-US" sz="2400" i="1">
                          <a:solidFill>
                            <a:srgbClr val="000000"/>
                          </a:solidFill>
                          <a:latin typeface="Cambria Math" panose="02040503050406030204" pitchFamily="18" charset="0"/>
                        </a:rPr>
                        <m:t>×</m:t>
                      </m:r>
                      <m:r>
                        <m:rPr>
                          <m:sty m:val="p"/>
                        </m:rPr>
                        <a:rPr lang="zh-CN" altLang="en-US" sz="2400" i="1">
                          <a:solidFill>
                            <a:srgbClr val="000000"/>
                          </a:solidFill>
                          <a:latin typeface="Cambria Math" panose="02040503050406030204" pitchFamily="18" charset="0"/>
                        </a:rPr>
                        <m:t>Miss</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rate</m:t>
                      </m:r>
                      <m:r>
                        <a:rPr lang="zh-CN" altLang="en-US" sz="2400" i="1">
                          <a:solidFill>
                            <a:srgbClr val="000000"/>
                          </a:solidFill>
                          <a:latin typeface="Cambria Math" panose="02040503050406030204" pitchFamily="18" charset="0"/>
                        </a:rPr>
                        <m:t>×</m:t>
                      </m:r>
                      <m:r>
                        <m:rPr>
                          <m:sty m:val="p"/>
                        </m:rPr>
                        <a:rPr lang="zh-CN" altLang="en-US" sz="2400" i="1">
                          <a:solidFill>
                            <a:srgbClr val="000000"/>
                          </a:solidFill>
                          <a:latin typeface="Cambria Math" panose="02040503050406030204" pitchFamily="18" charset="0"/>
                        </a:rPr>
                        <m:t>Miss</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penalty</m:t>
                      </m:r>
                    </m:oMath>
                    <m:oMath xmlns:m="http://schemas.openxmlformats.org/officeDocument/2006/math">
                      <m:r>
                        <m:rPr>
                          <m:aln/>
                        </m:rP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m:rPr>
                              <m:sty m:val="p"/>
                            </m:rPr>
                            <a:rPr lang="zh-CN" altLang="en-US" sz="2400" i="1">
                              <a:solidFill>
                                <a:srgbClr val="000000"/>
                              </a:solidFill>
                              <a:latin typeface="Cambria Math" panose="02040503050406030204" pitchFamily="18" charset="0"/>
                            </a:rPr>
                            <m:t>Instructions</m:t>
                          </m:r>
                        </m:num>
                        <m:den>
                          <m:r>
                            <m:rPr>
                              <m:sty m:val="p"/>
                            </m:rPr>
                            <a:rPr lang="zh-CN" altLang="en-US" sz="2400" i="1">
                              <a:solidFill>
                                <a:srgbClr val="000000"/>
                              </a:solidFill>
                              <a:latin typeface="Cambria Math" panose="02040503050406030204" pitchFamily="18" charset="0"/>
                            </a:rPr>
                            <m:t>Program</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m:rPr>
                              <m:sty m:val="p"/>
                            </m:rPr>
                            <a:rPr lang="zh-CN" altLang="en-US" sz="2400" i="1">
                              <a:solidFill>
                                <a:srgbClr val="000000"/>
                              </a:solidFill>
                              <a:latin typeface="Cambria Math" panose="02040503050406030204" pitchFamily="18" charset="0"/>
                            </a:rPr>
                            <m:t>Misses</m:t>
                          </m:r>
                        </m:num>
                        <m:den>
                          <m:r>
                            <m:rPr>
                              <m:sty m:val="p"/>
                            </m:rPr>
                            <a:rPr lang="zh-CN" altLang="en-US" sz="2400" i="1">
                              <a:solidFill>
                                <a:srgbClr val="000000"/>
                              </a:solidFill>
                              <a:latin typeface="Cambria Math" panose="02040503050406030204" pitchFamily="18" charset="0"/>
                            </a:rPr>
                            <m:t>Instruction</m:t>
                          </m:r>
                        </m:den>
                      </m:f>
                      <m:r>
                        <a:rPr lang="zh-CN" altLang="en-US" sz="2400" i="1">
                          <a:solidFill>
                            <a:srgbClr val="000000"/>
                          </a:solidFill>
                          <a:latin typeface="Cambria Math" panose="02040503050406030204" pitchFamily="18" charset="0"/>
                        </a:rPr>
                        <m:t>×</m:t>
                      </m:r>
                      <m:r>
                        <m:rPr>
                          <m:sty m:val="p"/>
                        </m:rPr>
                        <a:rPr lang="zh-CN" altLang="en-US" sz="2400" i="1">
                          <a:solidFill>
                            <a:srgbClr val="000000"/>
                          </a:solidFill>
                          <a:latin typeface="Cambria Math" panose="02040503050406030204" pitchFamily="18" charset="0"/>
                        </a:rPr>
                        <m:t>Miss</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penalty</m:t>
                      </m:r>
                    </m:oMath>
                  </m:oMathPara>
                </a14:m>
                <a:endParaRPr lang="zh-CN" altLang="en-US" sz="2400" dirty="0"/>
              </a:p>
            </p:txBody>
          </p:sp>
        </mc:Choice>
        <mc:Fallback xmlns="">
          <p:sp>
            <p:nvSpPr>
              <p:cNvPr id="2050" name="Object 5"/>
              <p:cNvSpPr txBox="1">
                <a:spLocks noRot="1" noChangeAspect="1" noMove="1" noResize="1" noEditPoints="1" noAdjustHandles="1" noChangeArrowheads="1" noChangeShapeType="1" noTextEdit="1"/>
              </p:cNvSpPr>
              <p:nvPr/>
            </p:nvSpPr>
            <p:spPr bwMode="auto">
              <a:xfrm>
                <a:off x="2462306" y="3792384"/>
                <a:ext cx="8653929" cy="2243045"/>
              </a:xfrm>
              <a:prstGeom prst="rect">
                <a:avLst/>
              </a:prstGeom>
              <a:blipFill>
                <a:blip r:embed="rId3"/>
                <a:stretch>
                  <a:fillRect l="-563"/>
                </a:stretch>
              </a:blipFill>
            </p:spPr>
            <p:txBody>
              <a:bodyPr/>
              <a:lstStyle/>
              <a:p>
                <a:r>
                  <a:rPr lang="en-US">
                    <a:noFill/>
                  </a:rPr>
                  <a:t> </a:t>
                </a:r>
              </a:p>
            </p:txBody>
          </p:sp>
        </mc:Fallback>
      </mc:AlternateContent>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78</a:t>
            </a:fld>
            <a:endParaRPr lang="zh-TW" altLang="en-US"/>
          </a:p>
        </p:txBody>
      </p:sp>
      <mc:AlternateContent xmlns:mc="http://schemas.openxmlformats.org/markup-compatibility/2006" xmlns:a14="http://schemas.microsoft.com/office/drawing/2010/main">
        <mc:Choice Requires="a14">
          <p:sp>
            <p:nvSpPr>
              <p:cNvPr id="2" name="TextBox 1"/>
              <p:cNvSpPr txBox="1"/>
              <p:nvPr/>
            </p:nvSpPr>
            <p:spPr>
              <a:xfrm>
                <a:off x="6570569" y="1510651"/>
                <a:ext cx="5544371" cy="1191801"/>
              </a:xfrm>
              <a:prstGeom prst="rect">
                <a:avLst/>
              </a:prstGeom>
              <a:noFill/>
            </p:spPr>
            <p:txBody>
              <a:bodyPr wrap="square" rtlCol="0" anchor="ctr" anchorCtr="1">
                <a:spAutoFit/>
              </a:bodyPr>
              <a:lstStyle/>
              <a:p>
                <a:r>
                  <a:rPr lang="en-US" altLang="zh-CN" sz="2400" dirty="0">
                    <a:solidFill>
                      <a:srgbClr val="000000"/>
                    </a:solidFill>
                  </a:rPr>
                  <a:t>CPU time = </a:t>
                </a:r>
                <a14:m>
                  <m:oMath xmlns:m="http://schemas.openxmlformats.org/officeDocument/2006/math">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𝑃𝑟𝑜𝑔𝑟𝑎𝑚</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𝑒𝑥𝑒𝑐𝑢𝑡𝑖𝑜𝑛</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𝑐𝑦𝑐𝑙𝑒𝑠</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𝑚𝑒𝑚𝑜𝑟𝑦</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𝑠𝑡𝑎𝑙𝑙</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𝑐𝑦𝑐𝑙𝑒𝑠</m:t>
                        </m:r>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𝑐𝑙𝑜𝑐𝑘</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𝑐𝑦𝑐𝑙𝑒</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𝑡𝑖𝑚𝑒</m:t>
                    </m:r>
                  </m:oMath>
                </a14:m>
                <a:endParaRPr lang="en-US" sz="2400" i="1" dirty="0">
                  <a:solidFill>
                    <a:srgbClr val="000000"/>
                  </a:solidFill>
                  <a:latin typeface="Cambria Math" panose="020405030504060302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570569" y="1510651"/>
                <a:ext cx="5544371" cy="1191801"/>
              </a:xfrm>
              <a:prstGeom prst="rect">
                <a:avLst/>
              </a:prstGeom>
              <a:blipFill>
                <a:blip r:embed="rId4"/>
                <a:stretch>
                  <a:fillRect l="-8471" t="-18974" r="-110" b="-76923"/>
                </a:stretch>
              </a:blipFill>
            </p:spPr>
            <p:txBody>
              <a:bodyPr/>
              <a:lstStyle/>
              <a:p>
                <a:r>
                  <a:rPr lang="en-US">
                    <a:noFill/>
                  </a:rPr>
                  <a:t> </a:t>
                </a:r>
              </a:p>
            </p:txBody>
          </p:sp>
        </mc:Fallback>
      </mc:AlternateContent>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288026" y="173040"/>
            <a:ext cx="9018025" cy="603709"/>
          </a:xfrm>
        </p:spPr>
        <p:txBody>
          <a:bodyPr/>
          <a:lstStyle/>
          <a:p>
            <a:r>
              <a:rPr lang="en-US" altLang="zh-TW" dirty="0"/>
              <a:t>Cache Performance Exercise</a:t>
            </a:r>
          </a:p>
        </p:txBody>
      </p:sp>
      <p:sp>
        <p:nvSpPr>
          <p:cNvPr id="51203" name="Rectangle 3"/>
          <p:cNvSpPr>
            <a:spLocks noGrp="1" noChangeArrowheads="1"/>
          </p:cNvSpPr>
          <p:nvPr>
            <p:ph type="body" idx="1"/>
          </p:nvPr>
        </p:nvSpPr>
        <p:spPr>
          <a:xfrm>
            <a:off x="1347019" y="1125537"/>
            <a:ext cx="10235380" cy="4895851"/>
          </a:xfrm>
        </p:spPr>
        <p:txBody>
          <a:bodyPr/>
          <a:lstStyle/>
          <a:p>
            <a:pPr>
              <a:lnSpc>
                <a:spcPct val="80000"/>
              </a:lnSpc>
            </a:pPr>
            <a:r>
              <a:rPr lang="en-US" altLang="zh-TW" sz="2667" dirty="0"/>
              <a:t>Given</a:t>
            </a:r>
          </a:p>
          <a:p>
            <a:pPr lvl="1">
              <a:lnSpc>
                <a:spcPct val="80000"/>
              </a:lnSpc>
            </a:pPr>
            <a:r>
              <a:rPr lang="en-US" altLang="zh-TW" sz="2400" dirty="0"/>
              <a:t>I-cache miss rate = 2%</a:t>
            </a:r>
          </a:p>
          <a:p>
            <a:pPr lvl="1">
              <a:lnSpc>
                <a:spcPct val="80000"/>
              </a:lnSpc>
            </a:pPr>
            <a:r>
              <a:rPr lang="en-US" altLang="zh-TW" sz="2400" dirty="0"/>
              <a:t>D-cache miss rate = 4%</a:t>
            </a:r>
          </a:p>
          <a:p>
            <a:pPr lvl="1">
              <a:lnSpc>
                <a:spcPct val="80000"/>
              </a:lnSpc>
            </a:pPr>
            <a:r>
              <a:rPr lang="en-US" altLang="zh-TW" sz="2400" dirty="0"/>
              <a:t>Miss penalty = 100 cycles</a:t>
            </a:r>
          </a:p>
          <a:p>
            <a:pPr lvl="1">
              <a:lnSpc>
                <a:spcPct val="80000"/>
              </a:lnSpc>
            </a:pPr>
            <a:r>
              <a:rPr lang="en-US" altLang="zh-TW" sz="2400" dirty="0"/>
              <a:t>Base CPI (ideal cache) = 2</a:t>
            </a:r>
          </a:p>
          <a:p>
            <a:pPr lvl="1">
              <a:lnSpc>
                <a:spcPct val="80000"/>
              </a:lnSpc>
            </a:pPr>
            <a:r>
              <a:rPr lang="en-US" altLang="zh-TW" sz="2400" dirty="0"/>
              <a:t>Load &amp; stores are 36% of instructions</a:t>
            </a:r>
          </a:p>
          <a:p>
            <a:pPr lvl="1">
              <a:lnSpc>
                <a:spcPct val="80000"/>
              </a:lnSpc>
            </a:pPr>
            <a:r>
              <a:rPr lang="en-US" altLang="zh-TW" sz="2400" dirty="0"/>
              <a:t>Compute the actual CPI and how many times faster if with perfect cache?</a:t>
            </a:r>
          </a:p>
          <a:p>
            <a:pPr>
              <a:lnSpc>
                <a:spcPct val="80000"/>
              </a:lnSpc>
            </a:pPr>
            <a:endParaRPr lang="en-AU" altLang="zh-TW" sz="24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79</a:t>
            </a:fld>
            <a:endParaRPr lang="zh-TW"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288026" y="173040"/>
            <a:ext cx="9018025" cy="603709"/>
          </a:xfrm>
        </p:spPr>
        <p:txBody>
          <a:bodyPr/>
          <a:lstStyle/>
          <a:p>
            <a:r>
              <a:rPr lang="en-US" altLang="zh-TW" dirty="0"/>
              <a:t>Cache Performance Exercise</a:t>
            </a:r>
          </a:p>
        </p:txBody>
      </p:sp>
      <p:sp>
        <p:nvSpPr>
          <p:cNvPr id="51203" name="Rectangle 3"/>
          <p:cNvSpPr>
            <a:spLocks noGrp="1" noChangeArrowheads="1"/>
          </p:cNvSpPr>
          <p:nvPr>
            <p:ph type="body" idx="1"/>
          </p:nvPr>
        </p:nvSpPr>
        <p:spPr>
          <a:xfrm>
            <a:off x="1347019" y="1125537"/>
            <a:ext cx="10235380" cy="4895851"/>
          </a:xfrm>
        </p:spPr>
        <p:txBody>
          <a:bodyPr/>
          <a:lstStyle/>
          <a:p>
            <a:pPr>
              <a:lnSpc>
                <a:spcPct val="80000"/>
              </a:lnSpc>
            </a:pPr>
            <a:r>
              <a:rPr lang="en-US" altLang="zh-TW" sz="2667" dirty="0"/>
              <a:t>Given</a:t>
            </a:r>
          </a:p>
          <a:p>
            <a:pPr lvl="1">
              <a:lnSpc>
                <a:spcPct val="80000"/>
              </a:lnSpc>
            </a:pPr>
            <a:r>
              <a:rPr lang="en-US" altLang="zh-TW" sz="2400" dirty="0"/>
              <a:t>I-cache miss rate = 2%</a:t>
            </a:r>
          </a:p>
          <a:p>
            <a:pPr lvl="1">
              <a:lnSpc>
                <a:spcPct val="80000"/>
              </a:lnSpc>
            </a:pPr>
            <a:r>
              <a:rPr lang="en-US" altLang="zh-TW" sz="2400" dirty="0"/>
              <a:t>D-cache miss rate = 4%</a:t>
            </a:r>
          </a:p>
          <a:p>
            <a:pPr lvl="1">
              <a:lnSpc>
                <a:spcPct val="80000"/>
              </a:lnSpc>
            </a:pPr>
            <a:r>
              <a:rPr lang="en-US" altLang="zh-TW" sz="2400" dirty="0"/>
              <a:t>Miss penalty = 100 cycles</a:t>
            </a:r>
          </a:p>
          <a:p>
            <a:pPr lvl="1">
              <a:lnSpc>
                <a:spcPct val="80000"/>
              </a:lnSpc>
            </a:pPr>
            <a:r>
              <a:rPr lang="en-US" altLang="zh-TW" sz="2400" dirty="0"/>
              <a:t>Base CPI (ideal cache) = 2</a:t>
            </a:r>
          </a:p>
          <a:p>
            <a:pPr lvl="1">
              <a:lnSpc>
                <a:spcPct val="80000"/>
              </a:lnSpc>
            </a:pPr>
            <a:r>
              <a:rPr lang="en-US" altLang="zh-TW" sz="2400" dirty="0"/>
              <a:t>Load &amp; stores are 36% of instructions</a:t>
            </a:r>
          </a:p>
          <a:p>
            <a:pPr lvl="1">
              <a:lnSpc>
                <a:spcPct val="80000"/>
              </a:lnSpc>
            </a:pPr>
            <a:r>
              <a:rPr lang="en-US" altLang="zh-TW" sz="2400" dirty="0"/>
              <a:t>Compute the actual CPI and how many times faster if with perfect cache?</a:t>
            </a:r>
          </a:p>
          <a:p>
            <a:pPr>
              <a:lnSpc>
                <a:spcPct val="80000"/>
              </a:lnSpc>
            </a:pPr>
            <a:r>
              <a:rPr lang="en-US" altLang="zh-TW" sz="2667" dirty="0"/>
              <a:t>Miss cycles per instruction</a:t>
            </a:r>
          </a:p>
          <a:p>
            <a:pPr lvl="1">
              <a:lnSpc>
                <a:spcPct val="80000"/>
              </a:lnSpc>
            </a:pPr>
            <a:r>
              <a:rPr lang="en-US" altLang="zh-TW" sz="2400" dirty="0">
                <a:solidFill>
                  <a:srgbClr val="C00000"/>
                </a:solidFill>
              </a:rPr>
              <a:t>I-cache: 0.02 × 100 = 2</a:t>
            </a:r>
          </a:p>
          <a:p>
            <a:pPr lvl="1">
              <a:lnSpc>
                <a:spcPct val="80000"/>
              </a:lnSpc>
            </a:pPr>
            <a:r>
              <a:rPr lang="en-US" altLang="zh-TW" sz="2400" dirty="0">
                <a:solidFill>
                  <a:srgbClr val="C00000"/>
                </a:solidFill>
              </a:rPr>
              <a:t>D-cache: 0.36 × 0.04 × 100 = 1.44</a:t>
            </a:r>
            <a:endParaRPr lang="en-US" altLang="zh-TW" sz="2400" dirty="0"/>
          </a:p>
          <a:p>
            <a:pPr>
              <a:lnSpc>
                <a:spcPct val="80000"/>
              </a:lnSpc>
            </a:pPr>
            <a:r>
              <a:rPr lang="en-US" altLang="zh-TW" sz="2667" dirty="0"/>
              <a:t>Actual CPI = 2 + 2 + 1.44 = 5.44</a:t>
            </a:r>
          </a:p>
          <a:p>
            <a:pPr lvl="1">
              <a:lnSpc>
                <a:spcPct val="80000"/>
              </a:lnSpc>
            </a:pPr>
            <a:r>
              <a:rPr lang="en-US" altLang="zh-TW" sz="2400" dirty="0">
                <a:solidFill>
                  <a:srgbClr val="C00000"/>
                </a:solidFill>
              </a:rPr>
              <a:t> 5.44/2 =2.72 times faster</a:t>
            </a:r>
            <a:endParaRPr lang="en-US" altLang="zh-TW" sz="2400" dirty="0">
              <a:solidFill>
                <a:srgbClr val="C00000"/>
              </a:solidFill>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80</a:t>
            </a:fld>
            <a:endParaRPr lang="zh-TW" altLang="en-US"/>
          </a:p>
        </p:txBody>
      </p:sp>
      <p:sp>
        <p:nvSpPr>
          <p:cNvPr id="2" name="TextBox 1">
            <a:extLst>
              <a:ext uri="{FF2B5EF4-FFF2-40B4-BE49-F238E27FC236}">
                <a16:creationId xmlns:a16="http://schemas.microsoft.com/office/drawing/2014/main" id="{DC5B5EA0-2DED-40BB-9886-CF9D72176BF9}"/>
              </a:ext>
            </a:extLst>
          </p:cNvPr>
          <p:cNvSpPr txBox="1"/>
          <p:nvPr/>
        </p:nvSpPr>
        <p:spPr>
          <a:xfrm>
            <a:off x="7113031" y="1279989"/>
            <a:ext cx="4839786" cy="1477328"/>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Typical CPI of a pipelined processor with</a:t>
            </a:r>
          </a:p>
          <a:p>
            <a:r>
              <a:rPr lang="en-US" dirty="0">
                <a:ea typeface="標楷體" pitchFamily="65" charset="-120"/>
                <a:cs typeface="Calibri" pitchFamily="34" charset="0"/>
              </a:rPr>
              <a:t>perfect caches may be 1.1 – 1.5.</a:t>
            </a:r>
          </a:p>
          <a:p>
            <a:endParaRPr lang="en-US" dirty="0">
              <a:ea typeface="標楷體" pitchFamily="65" charset="-120"/>
              <a:cs typeface="Calibri" pitchFamily="34" charset="0"/>
            </a:endParaRPr>
          </a:p>
          <a:p>
            <a:r>
              <a:rPr lang="en-US" dirty="0">
                <a:ea typeface="標楷體" pitchFamily="65" charset="-120"/>
                <a:cs typeface="Calibri" pitchFamily="34" charset="0"/>
              </a:rPr>
              <a:t>If you see a benchmark reporting a CPI of 10,</a:t>
            </a:r>
          </a:p>
          <a:p>
            <a:r>
              <a:rPr lang="en-US" dirty="0">
                <a:ea typeface="標楷體" pitchFamily="65" charset="-120"/>
                <a:cs typeface="Calibri" pitchFamily="34" charset="0"/>
              </a:rPr>
              <a:t>What would be the performance bottleneck?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278194" y="173039"/>
            <a:ext cx="9027857" cy="652871"/>
          </a:xfrm>
        </p:spPr>
        <p:txBody>
          <a:bodyPr/>
          <a:lstStyle/>
          <a:p>
            <a:r>
              <a:rPr lang="en-AU" altLang="zh-TW" dirty="0">
                <a:ea typeface="新細明體" panose="02020500000000000000" pitchFamily="18" charset="-120"/>
              </a:rPr>
              <a:t>Average </a:t>
            </a:r>
            <a:r>
              <a:rPr lang="en-US" altLang="en-AU" dirty="0">
                <a:ea typeface="新細明體" panose="02020500000000000000" pitchFamily="18" charset="-120"/>
              </a:rPr>
              <a:t>Memory</a:t>
            </a:r>
            <a:r>
              <a:rPr lang="en-AU" altLang="zh-TW" dirty="0">
                <a:ea typeface="新細明體" panose="02020500000000000000" pitchFamily="18" charset="-120"/>
              </a:rPr>
              <a:t> Access Time</a:t>
            </a:r>
          </a:p>
        </p:txBody>
      </p:sp>
      <p:sp>
        <p:nvSpPr>
          <p:cNvPr id="52227" name="Rectangle 3"/>
          <p:cNvSpPr>
            <a:spLocks noGrp="1" noChangeArrowheads="1"/>
          </p:cNvSpPr>
          <p:nvPr>
            <p:ph type="body" idx="1"/>
          </p:nvPr>
        </p:nvSpPr>
        <p:spPr>
          <a:xfrm>
            <a:off x="388621" y="987636"/>
            <a:ext cx="11564196" cy="5536992"/>
          </a:xfrm>
        </p:spPr>
        <p:txBody>
          <a:bodyPr/>
          <a:lstStyle/>
          <a:p>
            <a:r>
              <a:rPr lang="en-AU" altLang="zh-TW" sz="3200" dirty="0">
                <a:ea typeface="新細明體" panose="02020500000000000000" pitchFamily="18" charset="-120"/>
              </a:rPr>
              <a:t>Hit time is also important for performance (</a:t>
            </a:r>
            <a:r>
              <a:rPr lang="en-AU" altLang="zh-TW" sz="2800" dirty="0">
                <a:ea typeface="新細明體" panose="02020500000000000000" pitchFamily="18" charset="-120"/>
              </a:rPr>
              <a:t>hit may take &gt; 1 cycle</a:t>
            </a:r>
            <a:r>
              <a:rPr lang="en-AU" altLang="zh-TW" sz="3200" dirty="0">
                <a:ea typeface="新細明體" panose="02020500000000000000" pitchFamily="18" charset="-120"/>
              </a:rPr>
              <a:t>)</a:t>
            </a:r>
          </a:p>
          <a:p>
            <a:r>
              <a:rPr lang="en-AU" altLang="zh-TW" sz="3200" dirty="0">
                <a:ea typeface="新細明體" panose="02020500000000000000" pitchFamily="18" charset="-120"/>
              </a:rPr>
              <a:t>Average memory access time (AMAT)</a:t>
            </a:r>
          </a:p>
          <a:p>
            <a:pPr lvl="1"/>
            <a:r>
              <a:rPr lang="en-AU" altLang="zh-TW" sz="2800" dirty="0">
                <a:solidFill>
                  <a:srgbClr val="C00000"/>
                </a:solidFill>
                <a:ea typeface="新細明體" panose="02020500000000000000" pitchFamily="18" charset="-120"/>
              </a:rPr>
              <a:t>Data Cache AMAT = Hit time + Miss rate </a:t>
            </a:r>
            <a:r>
              <a:rPr lang="en-US" altLang="zh-TW" sz="2800" dirty="0">
                <a:solidFill>
                  <a:srgbClr val="C00000"/>
                </a:solidFill>
                <a:cs typeface="Arial" panose="020B0604020202090204" pitchFamily="34" charset="0"/>
              </a:rPr>
              <a:t>× Miss penalty</a:t>
            </a:r>
          </a:p>
          <a:p>
            <a:pPr lvl="1"/>
            <a:r>
              <a:rPr lang="en-US" altLang="zh-TW" sz="2800" dirty="0">
                <a:solidFill>
                  <a:srgbClr val="C00000"/>
                </a:solidFill>
                <a:cs typeface="Arial" panose="020B0604020202090204" pitchFamily="34" charset="0"/>
              </a:rPr>
              <a:t>Overall AMAT = %instr x (Instruction cache AMAT) + %data x (Data Cache AMAT) </a:t>
            </a:r>
            <a:endParaRPr lang="en-US" altLang="zh-TW" sz="2800" dirty="0">
              <a:cs typeface="Arial" panose="020B0604020202090204" pitchFamily="34" charset="0"/>
            </a:endParaRPr>
          </a:p>
          <a:p>
            <a:r>
              <a:rPr lang="en-US" altLang="zh-TW" sz="3200" dirty="0">
                <a:cs typeface="Arial" panose="020B0604020202090204" pitchFamily="34" charset="0"/>
              </a:rPr>
              <a:t>Example</a:t>
            </a:r>
          </a:p>
          <a:p>
            <a:pPr lvl="1"/>
            <a:r>
              <a:rPr lang="en-US" altLang="zh-TW" sz="2800" dirty="0">
                <a:cs typeface="Arial" panose="020B0604020202090204" pitchFamily="34" charset="0"/>
              </a:rPr>
              <a:t>CPU with 1ns clock, hit time = 1 cycle, miss penalty = 20 cycles, cache miss rate = 5%</a:t>
            </a:r>
          </a:p>
          <a:p>
            <a:pPr lvl="1"/>
            <a:r>
              <a:rPr lang="en-US" altLang="zh-TW" sz="2800" dirty="0">
                <a:cs typeface="Arial" panose="020B0604020202090204" pitchFamily="34" charset="0"/>
              </a:rPr>
              <a:t>AMAT = 1 + 0.05 × 20 = 2ns</a:t>
            </a:r>
          </a:p>
          <a:p>
            <a:pPr lvl="2"/>
            <a:r>
              <a:rPr lang="en-US" altLang="zh-TW" sz="2400" dirty="0">
                <a:cs typeface="Arial" panose="020B0604020202090204" pitchFamily="34" charset="0"/>
              </a:rPr>
              <a:t>2 cycles per instruction</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81</a:t>
            </a:fld>
            <a:endParaRPr lang="zh-TW" altLang="en-US"/>
          </a:p>
        </p:txBody>
      </p:sp>
      <p:graphicFrame>
        <p:nvGraphicFramePr>
          <p:cNvPr id="2" name="Table 2">
            <a:extLst>
              <a:ext uri="{FF2B5EF4-FFF2-40B4-BE49-F238E27FC236}">
                <a16:creationId xmlns:a16="http://schemas.microsoft.com/office/drawing/2014/main" id="{A57D55CF-D282-4BF8-85D1-ADD3B4330CE4}"/>
              </a:ext>
            </a:extLst>
          </p:cNvPr>
          <p:cNvGraphicFramePr>
            <a:graphicFrameLocks noGrp="1"/>
          </p:cNvGraphicFramePr>
          <p:nvPr>
            <p:extLst>
              <p:ext uri="{D42A27DB-BD31-4B8C-83A1-F6EECF244321}">
                <p14:modId xmlns:p14="http://schemas.microsoft.com/office/powerpoint/2010/main" val="2238588430"/>
              </p:ext>
            </p:extLst>
          </p:nvPr>
        </p:nvGraphicFramePr>
        <p:xfrm>
          <a:off x="6556442" y="4708006"/>
          <a:ext cx="4536818" cy="1483360"/>
        </p:xfrm>
        <a:graphic>
          <a:graphicData uri="http://schemas.openxmlformats.org/drawingml/2006/table">
            <a:tbl>
              <a:tblPr firstRow="1" bandRow="1">
                <a:tableStyleId>{5C22544A-7EE6-4342-B048-85BDC9FD1C3A}</a:tableStyleId>
              </a:tblPr>
              <a:tblGrid>
                <a:gridCol w="2268409">
                  <a:extLst>
                    <a:ext uri="{9D8B030D-6E8A-4147-A177-3AD203B41FA5}">
                      <a16:colId xmlns:a16="http://schemas.microsoft.com/office/drawing/2014/main" val="3392832541"/>
                    </a:ext>
                  </a:extLst>
                </a:gridCol>
                <a:gridCol w="2268409">
                  <a:extLst>
                    <a:ext uri="{9D8B030D-6E8A-4147-A177-3AD203B41FA5}">
                      <a16:colId xmlns:a16="http://schemas.microsoft.com/office/drawing/2014/main" val="2804758492"/>
                    </a:ext>
                  </a:extLst>
                </a:gridCol>
              </a:tblGrid>
              <a:tr h="370840">
                <a:tc gridSpan="2">
                  <a:txBody>
                    <a:bodyPr/>
                    <a:lstStyle/>
                    <a:p>
                      <a:pPr algn="ctr"/>
                      <a:r>
                        <a:rPr lang="en-US" dirty="0"/>
                        <a:t>Typical L1D hit latency </a:t>
                      </a:r>
                    </a:p>
                  </a:txBody>
                  <a:tcPr/>
                </a:tc>
                <a:tc hMerge="1">
                  <a:txBody>
                    <a:bodyPr/>
                    <a:lstStyle/>
                    <a:p>
                      <a:endParaRPr lang="en-US" dirty="0"/>
                    </a:p>
                  </a:txBody>
                  <a:tcPr/>
                </a:tc>
                <a:extLst>
                  <a:ext uri="{0D108BD9-81ED-4DB2-BD59-A6C34878D82A}">
                    <a16:rowId xmlns:a16="http://schemas.microsoft.com/office/drawing/2014/main" val="2230401504"/>
                  </a:ext>
                </a:extLst>
              </a:tr>
              <a:tr h="370840">
                <a:tc>
                  <a:txBody>
                    <a:bodyPr/>
                    <a:lstStyle/>
                    <a:p>
                      <a:r>
                        <a:rPr lang="en-US" sz="1600" dirty="0"/>
                        <a:t>Intel Skylake/Ice lake</a:t>
                      </a:r>
                    </a:p>
                  </a:txBody>
                  <a:tcPr/>
                </a:tc>
                <a:tc>
                  <a:txBody>
                    <a:bodyPr/>
                    <a:lstStyle/>
                    <a:p>
                      <a:pPr algn="ctr"/>
                      <a:r>
                        <a:rPr lang="en-US" dirty="0"/>
                        <a:t>4-5 cycles</a:t>
                      </a:r>
                    </a:p>
                  </a:txBody>
                  <a:tcPr/>
                </a:tc>
                <a:extLst>
                  <a:ext uri="{0D108BD9-81ED-4DB2-BD59-A6C34878D82A}">
                    <a16:rowId xmlns:a16="http://schemas.microsoft.com/office/drawing/2014/main" val="218704127"/>
                  </a:ext>
                </a:extLst>
              </a:tr>
              <a:tr h="370840">
                <a:tc>
                  <a:txBody>
                    <a:bodyPr/>
                    <a:lstStyle/>
                    <a:p>
                      <a:r>
                        <a:rPr lang="en-US" dirty="0"/>
                        <a:t>AMD Zen</a:t>
                      </a:r>
                    </a:p>
                  </a:txBody>
                  <a:tcPr/>
                </a:tc>
                <a:tc>
                  <a:txBody>
                    <a:bodyPr/>
                    <a:lstStyle/>
                    <a:p>
                      <a:pPr algn="ctr"/>
                      <a:r>
                        <a:rPr lang="en-US" dirty="0"/>
                        <a:t>4-5 cycles</a:t>
                      </a:r>
                    </a:p>
                  </a:txBody>
                  <a:tcPr/>
                </a:tc>
                <a:extLst>
                  <a:ext uri="{0D108BD9-81ED-4DB2-BD59-A6C34878D82A}">
                    <a16:rowId xmlns:a16="http://schemas.microsoft.com/office/drawing/2014/main" val="2909161424"/>
                  </a:ext>
                </a:extLst>
              </a:tr>
              <a:tr h="370840">
                <a:tc>
                  <a:txBody>
                    <a:bodyPr/>
                    <a:lstStyle/>
                    <a:p>
                      <a:r>
                        <a:rPr lang="en-US" dirty="0"/>
                        <a:t>ARM</a:t>
                      </a:r>
                    </a:p>
                  </a:txBody>
                  <a:tcPr/>
                </a:tc>
                <a:tc>
                  <a:txBody>
                    <a:bodyPr/>
                    <a:lstStyle/>
                    <a:p>
                      <a:pPr algn="ctr"/>
                      <a:r>
                        <a:rPr lang="en-US" dirty="0"/>
                        <a:t>3-4 cycles</a:t>
                      </a:r>
                    </a:p>
                  </a:txBody>
                  <a:tcPr/>
                </a:tc>
                <a:extLst>
                  <a:ext uri="{0D108BD9-81ED-4DB2-BD59-A6C34878D82A}">
                    <a16:rowId xmlns:a16="http://schemas.microsoft.com/office/drawing/2014/main" val="164024085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278194" y="173039"/>
            <a:ext cx="10380406" cy="652871"/>
          </a:xfrm>
        </p:spPr>
        <p:txBody>
          <a:bodyPr/>
          <a:lstStyle/>
          <a:p>
            <a:r>
              <a:rPr lang="en-AU" altLang="zh-TW" dirty="0">
                <a:ea typeface="新細明體" panose="02020500000000000000" pitchFamily="18" charset="-120"/>
              </a:rPr>
              <a:t>Average </a:t>
            </a:r>
            <a:r>
              <a:rPr lang="en-US" altLang="en-AU" dirty="0">
                <a:ea typeface="新細明體" panose="02020500000000000000" pitchFamily="18" charset="-120"/>
              </a:rPr>
              <a:t>Memory</a:t>
            </a:r>
            <a:r>
              <a:rPr lang="en-AU" altLang="zh-TW" dirty="0">
                <a:ea typeface="新細明體" panose="02020500000000000000" pitchFamily="18" charset="-120"/>
              </a:rPr>
              <a:t> Access Time (AMAT)</a:t>
            </a:r>
          </a:p>
        </p:txBody>
      </p:sp>
      <p:sp>
        <p:nvSpPr>
          <p:cNvPr id="52227" name="Rectangle 3"/>
          <p:cNvSpPr>
            <a:spLocks noGrp="1" noChangeArrowheads="1"/>
          </p:cNvSpPr>
          <p:nvPr>
            <p:ph type="body" idx="1"/>
          </p:nvPr>
        </p:nvSpPr>
        <p:spPr>
          <a:xfrm>
            <a:off x="171450" y="987636"/>
            <a:ext cx="11781367" cy="5536992"/>
          </a:xfrm>
        </p:spPr>
        <p:txBody>
          <a:bodyPr/>
          <a:lstStyle/>
          <a:p>
            <a:r>
              <a:rPr lang="en-AU" altLang="zh-TW" sz="3200" dirty="0">
                <a:ea typeface="新細明體" panose="02020500000000000000" pitchFamily="18" charset="-120"/>
              </a:rPr>
              <a:t>Hit time is also important for performance</a:t>
            </a:r>
          </a:p>
          <a:p>
            <a:r>
              <a:rPr lang="en-AU" altLang="zh-TW" sz="3200" dirty="0">
                <a:ea typeface="新細明體" panose="02020500000000000000" pitchFamily="18" charset="-120"/>
              </a:rPr>
              <a:t>Average memory access time (</a:t>
            </a:r>
            <a:r>
              <a:rPr lang="en-AU" altLang="zh-TW" sz="3200" b="1" dirty="0">
                <a:ea typeface="新細明體" panose="02020500000000000000" pitchFamily="18" charset="-120"/>
              </a:rPr>
              <a:t>AMAT</a:t>
            </a:r>
            <a:r>
              <a:rPr lang="en-AU" altLang="zh-TW" sz="3200" dirty="0">
                <a:ea typeface="新細明體" panose="02020500000000000000" pitchFamily="18" charset="-120"/>
              </a:rPr>
              <a:t>)</a:t>
            </a:r>
          </a:p>
          <a:p>
            <a:pPr lvl="1"/>
            <a:r>
              <a:rPr lang="en-AU" altLang="zh-TW" sz="2800" dirty="0">
                <a:solidFill>
                  <a:srgbClr val="C00000"/>
                </a:solidFill>
                <a:ea typeface="新細明體" panose="02020500000000000000" pitchFamily="18" charset="-120"/>
              </a:rPr>
              <a:t>Data Cache AMAT = Hit time + Miss rate </a:t>
            </a:r>
            <a:r>
              <a:rPr lang="en-US" altLang="zh-TW" sz="2800" dirty="0">
                <a:solidFill>
                  <a:srgbClr val="C00000"/>
                </a:solidFill>
                <a:cs typeface="Arial" panose="020B0604020202090204" pitchFamily="34" charset="0"/>
              </a:rPr>
              <a:t>× Miss penalty</a:t>
            </a:r>
          </a:p>
          <a:p>
            <a:pPr lvl="1"/>
            <a:r>
              <a:rPr lang="en-US" altLang="zh-TW" sz="2800" dirty="0">
                <a:solidFill>
                  <a:srgbClr val="C00000"/>
                </a:solidFill>
                <a:cs typeface="Arial" panose="020B0604020202090204" pitchFamily="34" charset="0"/>
              </a:rPr>
              <a:t>Overall AMAT = %instr x (Instruction cache AMAT) + %data x (Data Cache AMAT) </a:t>
            </a:r>
          </a:p>
          <a:p>
            <a:pPr lvl="1"/>
            <a:r>
              <a:rPr lang="en-US" altLang="zh-TW" sz="2800" dirty="0">
                <a:cs typeface="Arial" panose="020B0604020202090204" pitchFamily="34" charset="0"/>
              </a:rPr>
              <a:t>%</a:t>
            </a:r>
            <a:r>
              <a:rPr lang="en-US" altLang="zh-TW" sz="2800" dirty="0" err="1">
                <a:cs typeface="Arial" panose="020B0604020202090204" pitchFamily="34" charset="0"/>
              </a:rPr>
              <a:t>instr</a:t>
            </a:r>
            <a:r>
              <a:rPr lang="en-US" altLang="zh-TW" sz="2800" dirty="0">
                <a:cs typeface="Arial" panose="020B0604020202090204" pitchFamily="34" charset="0"/>
              </a:rPr>
              <a:t> refers to the percentage of instruction accesses in relation to the total memory accesses, while %data represents the percentage of data accesses compared to the total memory accesses.</a:t>
            </a:r>
          </a:p>
          <a:p>
            <a:pPr lvl="1"/>
            <a:r>
              <a:rPr lang="en-US" altLang="zh-TW" sz="2800" dirty="0">
                <a:solidFill>
                  <a:srgbClr val="FF0000"/>
                </a:solidFill>
                <a:cs typeface="Arial" panose="020B0604020202090204" pitchFamily="34" charset="0"/>
              </a:rPr>
              <a:t>Usually, %</a:t>
            </a:r>
            <a:r>
              <a:rPr lang="en-US" altLang="zh-TW" sz="2800" dirty="0" err="1">
                <a:solidFill>
                  <a:srgbClr val="FF0000"/>
                </a:solidFill>
                <a:cs typeface="Arial" panose="020B0604020202090204" pitchFamily="34" charset="0"/>
              </a:rPr>
              <a:t>instr</a:t>
            </a:r>
            <a:r>
              <a:rPr lang="en-US" altLang="zh-TW" sz="2800" dirty="0">
                <a:solidFill>
                  <a:srgbClr val="FF0000"/>
                </a:solidFill>
                <a:cs typeface="Arial" panose="020B0604020202090204" pitchFamily="34" charset="0"/>
              </a:rPr>
              <a:t> is higher than %data. </a:t>
            </a:r>
          </a:p>
          <a:p>
            <a:pPr lvl="1"/>
            <a:r>
              <a:rPr lang="en-US" altLang="zh-TW" sz="2800" dirty="0">
                <a:solidFill>
                  <a:srgbClr val="FF0000"/>
                </a:solidFill>
                <a:cs typeface="Arial" panose="020B0604020202090204" pitchFamily="34" charset="0"/>
              </a:rPr>
              <a:t>With SIMD/Vector loads/stores, %data could be higher than </a:t>
            </a:r>
            <a:r>
              <a:rPr kumimoji="1" lang="en-US" altLang="zh-TW" sz="2800" b="0" i="0" u="none" strike="noStrike" kern="0" cap="none" spc="0" normalizeH="0" baseline="0" noProof="0" dirty="0">
                <a:ln>
                  <a:noFill/>
                </a:ln>
                <a:solidFill>
                  <a:srgbClr val="FF0000"/>
                </a:solidFill>
                <a:effectLst/>
                <a:uLnTx/>
                <a:uFillTx/>
                <a:latin typeface="Calibri" pitchFamily="34" charset="0"/>
                <a:ea typeface="標楷體" pitchFamily="65" charset="-120"/>
                <a:cs typeface="Arial" panose="020B0604020202090204" pitchFamily="34" charset="0"/>
              </a:rPr>
              <a:t>%</a:t>
            </a:r>
            <a:r>
              <a:rPr kumimoji="1" lang="en-US" altLang="zh-TW" sz="2800" b="0" i="0" u="none" strike="noStrike" kern="0" cap="none" spc="0" normalizeH="0" baseline="0" noProof="0" dirty="0" err="1">
                <a:ln>
                  <a:noFill/>
                </a:ln>
                <a:solidFill>
                  <a:srgbClr val="FF0000"/>
                </a:solidFill>
                <a:effectLst/>
                <a:uLnTx/>
                <a:uFillTx/>
                <a:latin typeface="Calibri" pitchFamily="34" charset="0"/>
                <a:ea typeface="標楷體" pitchFamily="65" charset="-120"/>
                <a:cs typeface="Arial" panose="020B0604020202090204" pitchFamily="34" charset="0"/>
              </a:rPr>
              <a:t>instr</a:t>
            </a:r>
            <a:r>
              <a:rPr kumimoji="1" lang="en-US" altLang="zh-TW" sz="2800" b="0" i="0" u="none" strike="noStrike" kern="0" cap="none" spc="0" normalizeH="0" baseline="0" noProof="0" dirty="0">
                <a:ln>
                  <a:noFill/>
                </a:ln>
                <a:solidFill>
                  <a:srgbClr val="FF0000"/>
                </a:solidFill>
                <a:effectLst/>
                <a:uLnTx/>
                <a:uFillTx/>
                <a:latin typeface="Calibri" pitchFamily="34" charset="0"/>
                <a:ea typeface="標楷體" pitchFamily="65" charset="-120"/>
                <a:cs typeface="Arial" panose="020B0604020202090204" pitchFamily="34" charset="0"/>
              </a:rPr>
              <a:t> </a:t>
            </a:r>
            <a:endParaRPr lang="en-US" altLang="zh-TW" sz="2800" dirty="0">
              <a:solidFill>
                <a:srgbClr val="FF0000"/>
              </a:solidFill>
              <a:cs typeface="Arial" panose="020B0604020202090204" pitchFamily="34" charset="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82</a:t>
            </a:fld>
            <a:endParaRPr lang="zh-TW" altLang="en-US"/>
          </a:p>
        </p:txBody>
      </p:sp>
    </p:spTree>
    <p:extLst>
      <p:ext uri="{BB962C8B-B14F-4D97-AF65-F5344CB8AC3E}">
        <p14:creationId xmlns:p14="http://schemas.microsoft.com/office/powerpoint/2010/main" val="22481499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19201" y="173040"/>
            <a:ext cx="9086851" cy="603709"/>
          </a:xfrm>
        </p:spPr>
        <p:txBody>
          <a:bodyPr/>
          <a:lstStyle/>
          <a:p>
            <a:r>
              <a:rPr lang="en-US" altLang="zh-TW" dirty="0"/>
              <a:t>Improving Cache Performance</a:t>
            </a:r>
          </a:p>
        </p:txBody>
      </p:sp>
      <p:sp>
        <p:nvSpPr>
          <p:cNvPr id="544771" name="Rectangle 3"/>
          <p:cNvSpPr>
            <a:spLocks noGrp="1" noChangeArrowheads="1"/>
          </p:cNvSpPr>
          <p:nvPr>
            <p:ph type="body" idx="1"/>
          </p:nvPr>
        </p:nvSpPr>
        <p:spPr>
          <a:xfrm>
            <a:off x="1278194" y="1125538"/>
            <a:ext cx="8672053" cy="1942127"/>
          </a:xfrm>
        </p:spPr>
        <p:txBody>
          <a:bodyPr/>
          <a:lstStyle/>
          <a:p>
            <a:r>
              <a:rPr lang="en-US" altLang="zh-TW" dirty="0"/>
              <a:t>Reduce the cache hit time </a:t>
            </a:r>
          </a:p>
          <a:p>
            <a:r>
              <a:rPr lang="en-US" altLang="zh-TW" dirty="0"/>
              <a:t>Decrease the cache miss ratio</a:t>
            </a:r>
          </a:p>
          <a:p>
            <a:r>
              <a:rPr lang="en-US" altLang="zh-TW" dirty="0"/>
              <a:t>Decrease the cache miss penalty</a:t>
            </a:r>
          </a:p>
          <a:p>
            <a:endParaRPr lang="en-US" altLang="zh-TW"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83</a:t>
            </a:fld>
            <a:endParaRPr lang="zh-TW" altLang="en-US"/>
          </a:p>
        </p:txBody>
      </p:sp>
      <p:sp>
        <p:nvSpPr>
          <p:cNvPr id="6" name="Text Box 4">
            <a:extLst>
              <a:ext uri="{FF2B5EF4-FFF2-40B4-BE49-F238E27FC236}">
                <a16:creationId xmlns:a16="http://schemas.microsoft.com/office/drawing/2014/main" id="{3BAFD7D8-C2CC-4E27-81CA-445F5E074535}"/>
              </a:ext>
            </a:extLst>
          </p:cNvPr>
          <p:cNvSpPr txBox="1">
            <a:spLocks noChangeArrowheads="1"/>
          </p:cNvSpPr>
          <p:nvPr/>
        </p:nvSpPr>
        <p:spPr bwMode="auto">
          <a:xfrm>
            <a:off x="2239253" y="3718928"/>
            <a:ext cx="786144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16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16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9pPr>
          </a:lstStyle>
          <a:p>
            <a:pPr>
              <a:spcBef>
                <a:spcPct val="0"/>
              </a:spcBef>
              <a:buClrTx/>
              <a:buSzTx/>
              <a:buFontTx/>
              <a:buNone/>
            </a:pPr>
            <a:r>
              <a:rPr lang="en-US" altLang="zh-TW" sz="3200" b="1" dirty="0">
                <a:solidFill>
                  <a:srgbClr val="CC3300"/>
                </a:solidFill>
                <a:latin typeface="Arial" panose="020B0604020202020204" pitchFamily="34" charset="0"/>
                <a:cs typeface="Times New Roman" panose="02020603050405020304" pitchFamily="18" charset="0"/>
              </a:rPr>
              <a:t>Average memory access time = </a:t>
            </a:r>
          </a:p>
          <a:p>
            <a:pPr>
              <a:spcBef>
                <a:spcPct val="0"/>
              </a:spcBef>
              <a:buClrTx/>
              <a:buSzTx/>
              <a:buFontTx/>
              <a:buNone/>
            </a:pPr>
            <a:r>
              <a:rPr lang="en-US" altLang="zh-TW" sz="3200" b="1" dirty="0">
                <a:solidFill>
                  <a:srgbClr val="CC3300"/>
                </a:solidFill>
                <a:latin typeface="Arial" panose="020B0604020202020204" pitchFamily="34" charset="0"/>
                <a:cs typeface="Times New Roman" panose="02020603050405020304" pitchFamily="18" charset="0"/>
              </a:rPr>
              <a:t>	</a:t>
            </a:r>
            <a:r>
              <a:rPr lang="en-US" altLang="zh-TW" sz="3200" b="1" dirty="0">
                <a:solidFill>
                  <a:srgbClr val="00B050"/>
                </a:solidFill>
                <a:latin typeface="Arial" panose="020B0604020202020204" pitchFamily="34" charset="0"/>
                <a:cs typeface="Times New Roman" panose="02020603050405020304" pitchFamily="18" charset="0"/>
              </a:rPr>
              <a:t>hit time </a:t>
            </a:r>
            <a:r>
              <a:rPr lang="en-US" altLang="zh-TW" sz="3200" b="1" dirty="0">
                <a:solidFill>
                  <a:srgbClr val="CC3300"/>
                </a:solidFill>
                <a:latin typeface="Arial" panose="020B0604020202020204" pitchFamily="34" charset="0"/>
                <a:cs typeface="Times New Roman" panose="02020603050405020304" pitchFamily="18" charset="0"/>
              </a:rPr>
              <a:t>+ </a:t>
            </a:r>
            <a:r>
              <a:rPr lang="en-US" altLang="zh-TW" sz="3200" b="1" dirty="0">
                <a:solidFill>
                  <a:srgbClr val="00B050"/>
                </a:solidFill>
                <a:latin typeface="Arial" panose="020B0604020202020204" pitchFamily="34" charset="0"/>
                <a:cs typeface="Times New Roman" panose="02020603050405020304" pitchFamily="18" charset="0"/>
              </a:rPr>
              <a:t>miss-rate</a:t>
            </a:r>
            <a:r>
              <a:rPr lang="en-US" altLang="zh-TW" sz="3200" b="1" dirty="0">
                <a:solidFill>
                  <a:srgbClr val="CC3300"/>
                </a:solidFill>
                <a:latin typeface="Arial" panose="020B0604020202020204" pitchFamily="34" charset="0"/>
                <a:cs typeface="Times New Roman" panose="02020603050405020304" pitchFamily="18" charset="0"/>
              </a:rPr>
              <a:t> X </a:t>
            </a:r>
            <a:r>
              <a:rPr lang="en-US" altLang="zh-TW" sz="3200" b="1" dirty="0">
                <a:solidFill>
                  <a:srgbClr val="00B050"/>
                </a:solidFill>
                <a:latin typeface="Arial" panose="020B0604020202020204" pitchFamily="34" charset="0"/>
                <a:cs typeface="Times New Roman" panose="02020603050405020304" pitchFamily="18" charset="0"/>
              </a:rPr>
              <a:t>miss-penalty</a:t>
            </a:r>
          </a:p>
        </p:txBody>
      </p:sp>
      <p:sp>
        <p:nvSpPr>
          <p:cNvPr id="7" name="TextBox 6">
            <a:extLst>
              <a:ext uri="{FF2B5EF4-FFF2-40B4-BE49-F238E27FC236}">
                <a16:creationId xmlns:a16="http://schemas.microsoft.com/office/drawing/2014/main" id="{E084CAE5-B3DF-405F-8BFB-AFDC3E9F800B}"/>
              </a:ext>
            </a:extLst>
          </p:cNvPr>
          <p:cNvSpPr txBox="1"/>
          <p:nvPr/>
        </p:nvSpPr>
        <p:spPr>
          <a:xfrm>
            <a:off x="1330190" y="4985745"/>
            <a:ext cx="9471160" cy="923330"/>
          </a:xfrm>
          <a:prstGeom prst="rect">
            <a:avLst/>
          </a:prstGeom>
          <a:solidFill>
            <a:srgbClr val="FFFF00"/>
          </a:solidFill>
        </p:spPr>
        <p:txBody>
          <a:bodyPr wrap="square" rtlCol="0" anchor="ctr" anchorCtr="1">
            <a:spAutoFit/>
          </a:bodyPr>
          <a:lstStyle/>
          <a:p>
            <a:r>
              <a:rPr lang="en-US" dirty="0">
                <a:ea typeface="標楷體" pitchFamily="65" charset="-120"/>
                <a:cs typeface="Calibri" pitchFamily="34" charset="0"/>
              </a:rPr>
              <a:t>If cache accesses can be overlapped, such as the split I/D cache or the non-blocking cache, then the AMAT formula is no longer accurate. Other cases: cache prefetching</a:t>
            </a:r>
          </a:p>
          <a:p>
            <a:r>
              <a:rPr lang="en-US" dirty="0">
                <a:ea typeface="標楷體" pitchFamily="65" charset="-120"/>
                <a:cs typeface="Calibri" pitchFamily="34" charset="0"/>
              </a:rPr>
              <a:t>and OOO (Out-Of-Order) processors, AMAT is also not applicable.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19201" y="173040"/>
            <a:ext cx="9086851" cy="603709"/>
          </a:xfrm>
        </p:spPr>
        <p:txBody>
          <a:bodyPr/>
          <a:lstStyle/>
          <a:p>
            <a:r>
              <a:rPr lang="en-US" altLang="zh-TW" dirty="0"/>
              <a:t>Low Hit Latency</a:t>
            </a:r>
          </a:p>
        </p:txBody>
      </p:sp>
      <p:sp>
        <p:nvSpPr>
          <p:cNvPr id="544771" name="Rectangle 3"/>
          <p:cNvSpPr>
            <a:spLocks noGrp="1" noChangeArrowheads="1"/>
          </p:cNvSpPr>
          <p:nvPr>
            <p:ph type="body" idx="1"/>
          </p:nvPr>
        </p:nvSpPr>
        <p:spPr>
          <a:xfrm>
            <a:off x="1278194" y="1125538"/>
            <a:ext cx="9227678" cy="4749968"/>
          </a:xfrm>
        </p:spPr>
        <p:txBody>
          <a:bodyPr/>
          <a:lstStyle/>
          <a:p>
            <a:r>
              <a:rPr lang="en-US" altLang="zh-TW" sz="3200" dirty="0"/>
              <a:t>Small and Simple</a:t>
            </a:r>
          </a:p>
          <a:p>
            <a:pPr marL="0" indent="0">
              <a:buNone/>
            </a:pPr>
            <a:r>
              <a:rPr lang="en-US" altLang="zh-TW" sz="3200" dirty="0"/>
              <a:t>	small is fast</a:t>
            </a:r>
          </a:p>
          <a:p>
            <a:r>
              <a:rPr lang="en-US" altLang="zh-TW" sz="3200" dirty="0"/>
              <a:t>Direct-map or low associativity</a:t>
            </a:r>
          </a:p>
          <a:p>
            <a:r>
              <a:rPr lang="en-US" altLang="zh-TW" sz="3200" dirty="0"/>
              <a:t>Prediction (predict which way to compare first)</a:t>
            </a:r>
          </a:p>
          <a:p>
            <a:r>
              <a:rPr lang="en-US" altLang="zh-TW" sz="3200" dirty="0"/>
              <a:t>Virtual address cache or virtual index and physical tagged cache</a:t>
            </a:r>
          </a:p>
          <a:p>
            <a:pPr marL="0" indent="0">
              <a:buNone/>
            </a:pPr>
            <a:r>
              <a:rPr lang="en-US" altLang="zh-TW" sz="3200" dirty="0"/>
              <a:t>	avoid or overlap with address translation delay</a:t>
            </a:r>
          </a:p>
          <a:p>
            <a:r>
              <a:rPr lang="en-US" altLang="zh-TW" sz="3200" dirty="0"/>
              <a:t>Cache layout closer to CPU to minimize signal delay.</a:t>
            </a:r>
          </a:p>
          <a:p>
            <a:endParaRPr lang="en-US" altLang="zh-TW"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84</a:t>
            </a:fld>
            <a:endParaRPr lang="zh-TW" altLang="en-US"/>
          </a:p>
        </p:txBody>
      </p:sp>
    </p:spTree>
    <p:extLst>
      <p:ext uri="{BB962C8B-B14F-4D97-AF65-F5344CB8AC3E}">
        <p14:creationId xmlns:p14="http://schemas.microsoft.com/office/powerpoint/2010/main" val="41471021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Associative Caches</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1566153" y="978682"/>
            <a:ext cx="10025974" cy="5068784"/>
          </a:xfrm>
        </p:spPr>
        <p:txBody>
          <a:bodyPr/>
          <a:lstStyle/>
          <a:p>
            <a:r>
              <a:rPr lang="en-US" altLang="zh-TW" sz="3200" dirty="0"/>
              <a:t>Fully associative</a:t>
            </a:r>
          </a:p>
          <a:p>
            <a:pPr lvl="1"/>
            <a:r>
              <a:rPr lang="en-US" altLang="zh-TW" sz="2800" dirty="0"/>
              <a:t>Allow a given block to go in any cache entry</a:t>
            </a:r>
          </a:p>
          <a:p>
            <a:pPr lvl="1"/>
            <a:r>
              <a:rPr lang="en-US" altLang="zh-TW" sz="2800" dirty="0"/>
              <a:t>Requires all entries to be searched at once</a:t>
            </a:r>
          </a:p>
          <a:p>
            <a:pPr lvl="1"/>
            <a:r>
              <a:rPr lang="en-US" altLang="zh-TW" sz="2800" dirty="0"/>
              <a:t>Comparator per entry (expensive and slow)</a:t>
            </a:r>
          </a:p>
          <a:p>
            <a:r>
              <a:rPr lang="en-US" altLang="zh-TW" sz="3200" i="1" dirty="0"/>
              <a:t>n</a:t>
            </a:r>
            <a:r>
              <a:rPr lang="en-US" altLang="zh-TW" sz="3200" dirty="0"/>
              <a:t>-way set associative</a:t>
            </a:r>
          </a:p>
          <a:p>
            <a:pPr lvl="1"/>
            <a:r>
              <a:rPr lang="en-US" altLang="zh-TW" sz="2800" dirty="0"/>
              <a:t>Each set contains </a:t>
            </a:r>
            <a:r>
              <a:rPr lang="en-US" altLang="zh-TW" sz="2800" i="1" dirty="0"/>
              <a:t>n</a:t>
            </a:r>
            <a:r>
              <a:rPr lang="en-US" altLang="zh-TW" sz="2800" dirty="0"/>
              <a:t> entries</a:t>
            </a:r>
            <a:endParaRPr lang="en-AU" altLang="zh-TW" sz="2800" dirty="0">
              <a:ea typeface="新細明體" panose="02020500000000000000" pitchFamily="18" charset="-120"/>
            </a:endParaRPr>
          </a:p>
          <a:p>
            <a:pPr lvl="1"/>
            <a:r>
              <a:rPr lang="en-US" altLang="zh-TW" sz="2800" dirty="0"/>
              <a:t>Block number determines which set</a:t>
            </a:r>
          </a:p>
          <a:p>
            <a:pPr lvl="2"/>
            <a:r>
              <a:rPr lang="en-US" altLang="zh-TW" sz="2800" dirty="0">
                <a:solidFill>
                  <a:srgbClr val="C00000"/>
                </a:solidFill>
              </a:rPr>
              <a:t>(Block number) modulo (#Sets in cache)</a:t>
            </a:r>
          </a:p>
          <a:p>
            <a:pPr lvl="1"/>
            <a:r>
              <a:rPr lang="en-US" altLang="zh-TW" sz="2800" dirty="0"/>
              <a:t>Search all entries in a given set at once</a:t>
            </a:r>
          </a:p>
          <a:p>
            <a:pPr lvl="1"/>
            <a:r>
              <a:rPr lang="en-US" altLang="zh-TW" sz="2800" i="1" dirty="0"/>
              <a:t>n</a:t>
            </a:r>
            <a:r>
              <a:rPr lang="en-US" altLang="zh-TW" sz="2800" dirty="0"/>
              <a:t> comparators (less expensive and fast)</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85</a:t>
            </a:fld>
            <a:endParaRPr lang="zh-TW" altLang="en-US"/>
          </a:p>
        </p:txBody>
      </p:sp>
      <p:sp>
        <p:nvSpPr>
          <p:cNvPr id="2" name="Rectangle 1">
            <a:extLst>
              <a:ext uri="{FF2B5EF4-FFF2-40B4-BE49-F238E27FC236}">
                <a16:creationId xmlns:a16="http://schemas.microsoft.com/office/drawing/2014/main" id="{A6F66766-8D25-49D7-A82F-FA5620B94F0F}"/>
              </a:ext>
            </a:extLst>
          </p:cNvPr>
          <p:cNvSpPr/>
          <p:nvPr/>
        </p:nvSpPr>
        <p:spPr bwMode="auto">
          <a:xfrm>
            <a:off x="7188740" y="3190672"/>
            <a:ext cx="3044758" cy="54474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Rectangle 5">
            <a:extLst>
              <a:ext uri="{FF2B5EF4-FFF2-40B4-BE49-F238E27FC236}">
                <a16:creationId xmlns:a16="http://schemas.microsoft.com/office/drawing/2014/main" id="{6FC0204A-15A8-451D-AB95-907A32D716FA}"/>
              </a:ext>
            </a:extLst>
          </p:cNvPr>
          <p:cNvSpPr/>
          <p:nvPr/>
        </p:nvSpPr>
        <p:spPr bwMode="auto">
          <a:xfrm>
            <a:off x="10233497" y="3190671"/>
            <a:ext cx="1322354" cy="54474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D485EDA4-4CCC-4CC6-B809-AE24FFC64FA4}"/>
              </a:ext>
            </a:extLst>
          </p:cNvPr>
          <p:cNvSpPr txBox="1"/>
          <p:nvPr/>
        </p:nvSpPr>
        <p:spPr>
          <a:xfrm>
            <a:off x="10277541" y="3278379"/>
            <a:ext cx="1270541" cy="369332"/>
          </a:xfrm>
          <a:prstGeom prst="rect">
            <a:avLst/>
          </a:prstGeom>
          <a:noFill/>
        </p:spPr>
        <p:txBody>
          <a:bodyPr wrap="none" rtlCol="0" anchor="ctr" anchorCtr="1">
            <a:spAutoFit/>
          </a:bodyPr>
          <a:lstStyle/>
          <a:p>
            <a:r>
              <a:rPr lang="en-US" dirty="0">
                <a:ea typeface="標楷體" pitchFamily="65" charset="-120"/>
                <a:cs typeface="Calibri" pitchFamily="34" charset="0"/>
              </a:rPr>
              <a:t>Byte offset</a:t>
            </a:r>
          </a:p>
        </p:txBody>
      </p:sp>
      <p:sp>
        <p:nvSpPr>
          <p:cNvPr id="8" name="TextBox 7">
            <a:extLst>
              <a:ext uri="{FF2B5EF4-FFF2-40B4-BE49-F238E27FC236}">
                <a16:creationId xmlns:a16="http://schemas.microsoft.com/office/drawing/2014/main" id="{97092657-4AAF-4679-936D-E91A1C0D9D68}"/>
              </a:ext>
            </a:extLst>
          </p:cNvPr>
          <p:cNvSpPr txBox="1"/>
          <p:nvPr/>
        </p:nvSpPr>
        <p:spPr>
          <a:xfrm>
            <a:off x="7355787" y="3278379"/>
            <a:ext cx="2877711" cy="369332"/>
          </a:xfrm>
          <a:prstGeom prst="rect">
            <a:avLst/>
          </a:prstGeom>
          <a:noFill/>
        </p:spPr>
        <p:txBody>
          <a:bodyPr wrap="none" rtlCol="0" anchor="ctr" anchorCtr="1">
            <a:spAutoFit/>
          </a:bodyPr>
          <a:lstStyle/>
          <a:p>
            <a:r>
              <a:rPr lang="en-US" dirty="0">
                <a:ea typeface="標楷體" pitchFamily="65" charset="-120"/>
                <a:cs typeface="Calibri" pitchFamily="34" charset="0"/>
              </a:rPr>
              <a:t>Cache block (line) number</a:t>
            </a:r>
          </a:p>
        </p:txBody>
      </p:sp>
      <p:cxnSp>
        <p:nvCxnSpPr>
          <p:cNvPr id="7" name="Straight Arrow Connector 6">
            <a:extLst>
              <a:ext uri="{FF2B5EF4-FFF2-40B4-BE49-F238E27FC236}">
                <a16:creationId xmlns:a16="http://schemas.microsoft.com/office/drawing/2014/main" id="{1D33563C-1320-4C5C-ADEB-413CE0118D38}"/>
              </a:ext>
            </a:extLst>
          </p:cNvPr>
          <p:cNvCxnSpPr/>
          <p:nvPr/>
        </p:nvCxnSpPr>
        <p:spPr bwMode="auto">
          <a:xfrm flipH="1">
            <a:off x="7188740" y="3920247"/>
            <a:ext cx="1721796" cy="0"/>
          </a:xfrm>
          <a:prstGeom prst="straightConnector1">
            <a:avLst/>
          </a:prstGeom>
          <a:noFill/>
          <a:ln w="15875" cap="flat" cmpd="sng" algn="ctr">
            <a:solidFill>
              <a:srgbClr val="FF0000"/>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E35F95F4-428D-4668-8658-43F8B6D816F5}"/>
              </a:ext>
            </a:extLst>
          </p:cNvPr>
          <p:cNvCxnSpPr/>
          <p:nvPr/>
        </p:nvCxnSpPr>
        <p:spPr bwMode="auto">
          <a:xfrm>
            <a:off x="9776298" y="3949430"/>
            <a:ext cx="1771784" cy="0"/>
          </a:xfrm>
          <a:prstGeom prst="straightConnector1">
            <a:avLst/>
          </a:prstGeom>
          <a:noFill/>
          <a:ln w="15875" cap="flat" cmpd="sng" algn="ctr">
            <a:solidFill>
              <a:srgbClr val="FF0000"/>
            </a:solidFill>
            <a:prstDash val="solid"/>
            <a:round/>
            <a:headEnd type="none" w="med" len="med"/>
            <a:tailEnd type="triangle"/>
          </a:ln>
          <a:effectLst/>
        </p:spPr>
      </p:cxnSp>
      <p:sp>
        <p:nvSpPr>
          <p:cNvPr id="11" name="TextBox 10">
            <a:extLst>
              <a:ext uri="{FF2B5EF4-FFF2-40B4-BE49-F238E27FC236}">
                <a16:creationId xmlns:a16="http://schemas.microsoft.com/office/drawing/2014/main" id="{B0E5FBD5-FEF2-480F-AE3C-8C6676523CF8}"/>
              </a:ext>
            </a:extLst>
          </p:cNvPr>
          <p:cNvSpPr txBox="1"/>
          <p:nvPr/>
        </p:nvSpPr>
        <p:spPr>
          <a:xfrm>
            <a:off x="8794642" y="3735418"/>
            <a:ext cx="1031051" cy="369332"/>
          </a:xfrm>
          <a:prstGeom prst="rect">
            <a:avLst/>
          </a:prstGeom>
          <a:noFill/>
        </p:spPr>
        <p:txBody>
          <a:bodyPr wrap="none" rtlCol="0" anchor="ctr" anchorCtr="1">
            <a:spAutoFit/>
          </a:bodyPr>
          <a:lstStyle/>
          <a:p>
            <a:r>
              <a:rPr lang="en-US" dirty="0">
                <a:ea typeface="標楷體" pitchFamily="65" charset="-120"/>
                <a:cs typeface="Calibri" pitchFamily="34" charset="0"/>
              </a:rPr>
              <a:t>Address</a:t>
            </a:r>
          </a:p>
        </p:txBody>
      </p:sp>
      <p:sp>
        <p:nvSpPr>
          <p:cNvPr id="12" name="Rectangle 11">
            <a:extLst>
              <a:ext uri="{FF2B5EF4-FFF2-40B4-BE49-F238E27FC236}">
                <a16:creationId xmlns:a16="http://schemas.microsoft.com/office/drawing/2014/main" id="{F215CE01-4997-451A-8647-9B45070F17F7}"/>
              </a:ext>
            </a:extLst>
          </p:cNvPr>
          <p:cNvSpPr/>
          <p:nvPr/>
        </p:nvSpPr>
        <p:spPr bwMode="auto">
          <a:xfrm>
            <a:off x="9108017" y="3190669"/>
            <a:ext cx="1125480" cy="204602"/>
          </a:xfrm>
          <a:prstGeom prst="rect">
            <a:avLst/>
          </a:prstGeom>
          <a:solidFill>
            <a:srgbClr val="92D05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rgbClr val="92D050"/>
              </a:solidFill>
              <a:effectLst/>
              <a:latin typeface="Arial" pitchFamily="34" charset="0"/>
              <a:ea typeface="新細明體" pitchFamily="18" charset="-120"/>
            </a:endParaRPr>
          </a:p>
        </p:txBody>
      </p:sp>
      <p:sp>
        <p:nvSpPr>
          <p:cNvPr id="13" name="TextBox 12">
            <a:extLst>
              <a:ext uri="{FF2B5EF4-FFF2-40B4-BE49-F238E27FC236}">
                <a16:creationId xmlns:a16="http://schemas.microsoft.com/office/drawing/2014/main" id="{A9A99C14-92C6-4C8C-9D34-1E2B34CE4AAA}"/>
              </a:ext>
            </a:extLst>
          </p:cNvPr>
          <p:cNvSpPr txBox="1"/>
          <p:nvPr/>
        </p:nvSpPr>
        <p:spPr>
          <a:xfrm>
            <a:off x="8982107" y="2855132"/>
            <a:ext cx="1377300" cy="369332"/>
          </a:xfrm>
          <a:prstGeom prst="rect">
            <a:avLst/>
          </a:prstGeom>
          <a:noFill/>
        </p:spPr>
        <p:txBody>
          <a:bodyPr wrap="none" rtlCol="0" anchor="ctr" anchorCtr="1">
            <a:spAutoFit/>
          </a:bodyPr>
          <a:lstStyle/>
          <a:p>
            <a:r>
              <a:rPr lang="en-US" dirty="0">
                <a:ea typeface="標楷體" pitchFamily="65" charset="-120"/>
                <a:cs typeface="Calibri" pitchFamily="34" charset="0"/>
              </a:rPr>
              <a:t>Set number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Pop Quiz</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685800" y="978682"/>
            <a:ext cx="11178540" cy="5068784"/>
          </a:xfrm>
        </p:spPr>
        <p:txBody>
          <a:bodyPr/>
          <a:lstStyle/>
          <a:p>
            <a:pPr marL="0" indent="0">
              <a:buNone/>
            </a:pPr>
            <a:r>
              <a:rPr lang="en-US" altLang="zh-TW" sz="3200" dirty="0"/>
              <a:t>Which of the following statements are true? </a:t>
            </a:r>
          </a:p>
          <a:p>
            <a:pPr marL="514350" indent="-514350">
              <a:buFont typeface="+mj-lt"/>
              <a:buAutoNum type="arabicPeriod"/>
            </a:pPr>
            <a:r>
              <a:rPr lang="en-US" altLang="zh-TW" sz="3200" dirty="0"/>
              <a:t>A fully associative cache is a 1-way cache</a:t>
            </a:r>
          </a:p>
          <a:p>
            <a:pPr marL="514350" indent="-514350">
              <a:buFont typeface="+mj-lt"/>
              <a:buAutoNum type="arabicPeriod"/>
            </a:pPr>
            <a:r>
              <a:rPr lang="en-US" altLang="zh-TW" sz="3200" dirty="0"/>
              <a:t>A Direct-mapped cache is a 1-set cache</a:t>
            </a:r>
          </a:p>
          <a:p>
            <a:pPr marL="514350" indent="-514350">
              <a:buFont typeface="+mj-lt"/>
              <a:buAutoNum type="arabicPeriod"/>
            </a:pPr>
            <a:r>
              <a:rPr lang="en-US" altLang="zh-TW" sz="3200" dirty="0"/>
              <a:t>A 2-way set associative cache has more sets than a 4-way one.</a:t>
            </a:r>
          </a:p>
          <a:p>
            <a:pPr marL="514350" indent="-514350">
              <a:buFont typeface="+mj-lt"/>
              <a:buAutoNum type="arabicPeriod"/>
            </a:pPr>
            <a:r>
              <a:rPr lang="en-US" altLang="zh-TW" sz="3200" dirty="0"/>
              <a:t>A direct mapped cache has the least tag overhead </a:t>
            </a:r>
          </a:p>
          <a:p>
            <a:pPr marL="514350" indent="-514350">
              <a:buFont typeface="+mj-lt"/>
              <a:buAutoNum type="arabicPeriod"/>
            </a:pPr>
            <a:r>
              <a:rPr lang="en-US" altLang="zh-TW" sz="3200" dirty="0"/>
              <a:t>A fully associative cache has more cache lines than a direct mapped cache.</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86</a:t>
            </a:fld>
            <a:endParaRPr lang="zh-TW" altLang="en-US"/>
          </a:p>
        </p:txBody>
      </p:sp>
      <p:sp>
        <p:nvSpPr>
          <p:cNvPr id="4" name="TextBox 3">
            <a:extLst>
              <a:ext uri="{FF2B5EF4-FFF2-40B4-BE49-F238E27FC236}">
                <a16:creationId xmlns:a16="http://schemas.microsoft.com/office/drawing/2014/main" id="{B7D5931C-5688-439C-84C0-9012D1977311}"/>
              </a:ext>
            </a:extLst>
          </p:cNvPr>
          <p:cNvSpPr txBox="1"/>
          <p:nvPr/>
        </p:nvSpPr>
        <p:spPr>
          <a:xfrm>
            <a:off x="9505952" y="5127498"/>
            <a:ext cx="684803"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3,4</a:t>
            </a:r>
          </a:p>
        </p:txBody>
      </p:sp>
    </p:spTree>
    <p:extLst>
      <p:ext uri="{BB962C8B-B14F-4D97-AF65-F5344CB8AC3E}">
        <p14:creationId xmlns:p14="http://schemas.microsoft.com/office/powerpoint/2010/main" val="3549292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Pop Quiz on set associative caches</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685800" y="978682"/>
            <a:ext cx="11178540" cy="5068784"/>
          </a:xfrm>
        </p:spPr>
        <p:txBody>
          <a:bodyPr/>
          <a:lstStyle/>
          <a:p>
            <a:pPr marL="0" indent="0">
              <a:buNone/>
            </a:pPr>
            <a:r>
              <a:rPr lang="en-US" altLang="zh-TW" sz="3200" dirty="0"/>
              <a:t>Which of the following statements are true? </a:t>
            </a:r>
          </a:p>
          <a:p>
            <a:pPr marL="514350" indent="-514350">
              <a:buFont typeface="+mj-lt"/>
              <a:buAutoNum type="arabicPeriod"/>
            </a:pPr>
            <a:r>
              <a:rPr lang="en-US" altLang="zh-TW" sz="3200" dirty="0"/>
              <a:t>A fully associative cache is a 1-way cache</a:t>
            </a:r>
          </a:p>
          <a:p>
            <a:pPr marL="514350" indent="-514350">
              <a:buFont typeface="+mj-lt"/>
              <a:buAutoNum type="arabicPeriod"/>
            </a:pPr>
            <a:r>
              <a:rPr lang="en-US" altLang="zh-TW" sz="3200" dirty="0"/>
              <a:t>A Direct-mapped cache is a 1-set cache</a:t>
            </a:r>
          </a:p>
          <a:p>
            <a:pPr marL="514350" indent="-514350">
              <a:buFont typeface="+mj-lt"/>
              <a:buAutoNum type="arabicPeriod"/>
            </a:pPr>
            <a:r>
              <a:rPr lang="en-US" altLang="zh-TW" sz="3200" dirty="0"/>
              <a:t>A 2-way set associative cache has more sets than a 4-way one.</a:t>
            </a:r>
          </a:p>
          <a:p>
            <a:pPr marL="514350" indent="-514350">
              <a:buFont typeface="+mj-lt"/>
              <a:buAutoNum type="arabicPeriod"/>
            </a:pPr>
            <a:r>
              <a:rPr lang="en-US" altLang="zh-TW" sz="3200" dirty="0"/>
              <a:t>A direct mapped cache has the least tag overhead </a:t>
            </a:r>
          </a:p>
          <a:p>
            <a:pPr marL="514350" indent="-514350">
              <a:buFont typeface="+mj-lt"/>
              <a:buAutoNum type="arabicPeriod"/>
            </a:pPr>
            <a:r>
              <a:rPr lang="en-US" altLang="zh-TW" sz="3200" dirty="0"/>
              <a:t>A fully associative cache has more cache lines than a direct mapped cache.</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87</a:t>
            </a:fld>
            <a:endParaRPr lang="zh-TW" altLang="en-US"/>
          </a:p>
        </p:txBody>
      </p:sp>
      <p:cxnSp>
        <p:nvCxnSpPr>
          <p:cNvPr id="3" name="Straight Connector 2">
            <a:extLst>
              <a:ext uri="{FF2B5EF4-FFF2-40B4-BE49-F238E27FC236}">
                <a16:creationId xmlns:a16="http://schemas.microsoft.com/office/drawing/2014/main" id="{A4F05C8A-73CE-40D4-954C-1D25579E9946}"/>
              </a:ext>
            </a:extLst>
          </p:cNvPr>
          <p:cNvCxnSpPr/>
          <p:nvPr/>
        </p:nvCxnSpPr>
        <p:spPr bwMode="auto">
          <a:xfrm flipH="1">
            <a:off x="5692140" y="1531620"/>
            <a:ext cx="2571750" cy="662940"/>
          </a:xfrm>
          <a:prstGeom prst="line">
            <a:avLst/>
          </a:prstGeom>
          <a:noFill/>
          <a:ln w="57150" cap="flat" cmpd="sng" algn="ctr">
            <a:solidFill>
              <a:srgbClr val="FF0000"/>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4738F5F4-4398-46FC-AF69-DE446A6C34C3}"/>
              </a:ext>
            </a:extLst>
          </p:cNvPr>
          <p:cNvCxnSpPr/>
          <p:nvPr/>
        </p:nvCxnSpPr>
        <p:spPr bwMode="auto">
          <a:xfrm>
            <a:off x="5760720" y="1508760"/>
            <a:ext cx="2468880" cy="777240"/>
          </a:xfrm>
          <a:prstGeom prst="line">
            <a:avLst/>
          </a:prstGeom>
          <a:noFill/>
          <a:ln w="57150" cap="flat" cmpd="sng" algn="ctr">
            <a:solidFill>
              <a:srgbClr val="FF0000"/>
            </a:solidFill>
            <a:prstDash val="solid"/>
            <a:round/>
            <a:headEnd type="none" w="med" len="med"/>
            <a:tailEnd type="none" w="med" len="med"/>
          </a:ln>
          <a:effectLst/>
        </p:spPr>
      </p:cxnSp>
      <p:sp>
        <p:nvSpPr>
          <p:cNvPr id="8" name="TextBox 7">
            <a:extLst>
              <a:ext uri="{FF2B5EF4-FFF2-40B4-BE49-F238E27FC236}">
                <a16:creationId xmlns:a16="http://schemas.microsoft.com/office/drawing/2014/main" id="{420552C8-E3CB-4F89-A833-514F63FA9347}"/>
              </a:ext>
            </a:extLst>
          </p:cNvPr>
          <p:cNvSpPr txBox="1"/>
          <p:nvPr/>
        </p:nvSpPr>
        <p:spPr>
          <a:xfrm>
            <a:off x="8460638" y="1497330"/>
            <a:ext cx="3172663" cy="646331"/>
          </a:xfrm>
          <a:prstGeom prst="rect">
            <a:avLst/>
          </a:prstGeom>
          <a:noFill/>
        </p:spPr>
        <p:txBody>
          <a:bodyPr wrap="none" rtlCol="0" anchor="ctr" anchorCtr="1">
            <a:spAutoFit/>
          </a:bodyPr>
          <a:lstStyle/>
          <a:p>
            <a:r>
              <a:rPr lang="en-US" dirty="0">
                <a:ea typeface="標楷體" pitchFamily="65" charset="-120"/>
                <a:cs typeface="Calibri" pitchFamily="34" charset="0"/>
              </a:rPr>
              <a:t>N-way cache, </a:t>
            </a:r>
          </a:p>
          <a:p>
            <a:r>
              <a:rPr lang="en-US" dirty="0">
                <a:ea typeface="標楷體" pitchFamily="65" charset="-120"/>
                <a:cs typeface="Calibri" pitchFamily="34" charset="0"/>
              </a:rPr>
              <a:t>N is the number of cache line</a:t>
            </a:r>
          </a:p>
        </p:txBody>
      </p:sp>
      <p:cxnSp>
        <p:nvCxnSpPr>
          <p:cNvPr id="11" name="Straight Connector 10">
            <a:extLst>
              <a:ext uri="{FF2B5EF4-FFF2-40B4-BE49-F238E27FC236}">
                <a16:creationId xmlns:a16="http://schemas.microsoft.com/office/drawing/2014/main" id="{3EFC4194-EFD3-4CCB-B8BF-9E64B586321D}"/>
              </a:ext>
            </a:extLst>
          </p:cNvPr>
          <p:cNvCxnSpPr/>
          <p:nvPr/>
        </p:nvCxnSpPr>
        <p:spPr bwMode="auto">
          <a:xfrm flipH="1">
            <a:off x="5596043" y="2217420"/>
            <a:ext cx="2571750" cy="662940"/>
          </a:xfrm>
          <a:prstGeom prst="line">
            <a:avLst/>
          </a:prstGeom>
          <a:noFill/>
          <a:ln w="57150" cap="flat" cmpd="sng" algn="ctr">
            <a:solidFill>
              <a:srgbClr val="FF0000"/>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A2F4A8A0-018E-4B1A-92C1-C8D219EF0EE1}"/>
              </a:ext>
            </a:extLst>
          </p:cNvPr>
          <p:cNvCxnSpPr/>
          <p:nvPr/>
        </p:nvCxnSpPr>
        <p:spPr bwMode="auto">
          <a:xfrm>
            <a:off x="5698913" y="2194560"/>
            <a:ext cx="2468880" cy="777240"/>
          </a:xfrm>
          <a:prstGeom prst="line">
            <a:avLst/>
          </a:prstGeom>
          <a:noFill/>
          <a:ln w="57150" cap="flat" cmpd="sng" algn="ctr">
            <a:solidFill>
              <a:srgbClr val="FF0000"/>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C86AA1F9-29DE-4498-B0EF-BA6F2AA682B0}"/>
              </a:ext>
            </a:extLst>
          </p:cNvPr>
          <p:cNvSpPr txBox="1"/>
          <p:nvPr/>
        </p:nvSpPr>
        <p:spPr>
          <a:xfrm>
            <a:off x="8498315" y="2217420"/>
            <a:ext cx="1608133" cy="646331"/>
          </a:xfrm>
          <a:prstGeom prst="rect">
            <a:avLst/>
          </a:prstGeom>
          <a:noFill/>
        </p:spPr>
        <p:txBody>
          <a:bodyPr wrap="none" rtlCol="0" anchor="ctr" anchorCtr="1">
            <a:spAutoFit/>
          </a:bodyPr>
          <a:lstStyle/>
          <a:p>
            <a:r>
              <a:rPr lang="en-US" dirty="0">
                <a:ea typeface="標楷體" pitchFamily="65" charset="-120"/>
                <a:cs typeface="Calibri" pitchFamily="34" charset="0"/>
              </a:rPr>
              <a:t>1-way cache, </a:t>
            </a:r>
          </a:p>
          <a:p>
            <a:r>
              <a:rPr lang="en-US" dirty="0">
                <a:ea typeface="標楷體" pitchFamily="65" charset="-120"/>
                <a:cs typeface="Calibri" pitchFamily="34" charset="0"/>
              </a:rPr>
              <a:t>It has N sets</a:t>
            </a:r>
          </a:p>
        </p:txBody>
      </p:sp>
      <p:sp>
        <p:nvSpPr>
          <p:cNvPr id="14" name="TextBox 13">
            <a:extLst>
              <a:ext uri="{FF2B5EF4-FFF2-40B4-BE49-F238E27FC236}">
                <a16:creationId xmlns:a16="http://schemas.microsoft.com/office/drawing/2014/main" id="{B63F7520-977E-4963-A197-D30C120F985A}"/>
              </a:ext>
            </a:extLst>
          </p:cNvPr>
          <p:cNvSpPr txBox="1"/>
          <p:nvPr/>
        </p:nvSpPr>
        <p:spPr>
          <a:xfrm>
            <a:off x="9532298" y="3332836"/>
            <a:ext cx="2659702"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One tag per cache line</a:t>
            </a:r>
          </a:p>
          <a:p>
            <a:r>
              <a:rPr lang="en-US" dirty="0">
                <a:ea typeface="標楷體" pitchFamily="65" charset="-120"/>
                <a:cs typeface="Calibri" pitchFamily="34" charset="0"/>
              </a:rPr>
              <a:t>Least number of tag bits</a:t>
            </a:r>
          </a:p>
        </p:txBody>
      </p:sp>
      <p:cxnSp>
        <p:nvCxnSpPr>
          <p:cNvPr id="15" name="Straight Connector 14">
            <a:extLst>
              <a:ext uri="{FF2B5EF4-FFF2-40B4-BE49-F238E27FC236}">
                <a16:creationId xmlns:a16="http://schemas.microsoft.com/office/drawing/2014/main" id="{95F4C673-285D-445B-9F0F-96EC011865A7}"/>
              </a:ext>
            </a:extLst>
          </p:cNvPr>
          <p:cNvCxnSpPr>
            <a:cxnSpLocks/>
          </p:cNvCxnSpPr>
          <p:nvPr/>
        </p:nvCxnSpPr>
        <p:spPr bwMode="auto">
          <a:xfrm flipH="1">
            <a:off x="6000750" y="4011949"/>
            <a:ext cx="881169" cy="480041"/>
          </a:xfrm>
          <a:prstGeom prst="line">
            <a:avLst/>
          </a:prstGeom>
          <a:noFill/>
          <a:ln w="57150" cap="flat" cmpd="sng" algn="ctr">
            <a:solidFill>
              <a:srgbClr val="FF0000"/>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509F2129-EDB7-425E-A820-400293BE84AB}"/>
              </a:ext>
            </a:extLst>
          </p:cNvPr>
          <p:cNvCxnSpPr>
            <a:cxnSpLocks/>
          </p:cNvCxnSpPr>
          <p:nvPr/>
        </p:nvCxnSpPr>
        <p:spPr bwMode="auto">
          <a:xfrm>
            <a:off x="6000750" y="4011949"/>
            <a:ext cx="881168" cy="480041"/>
          </a:xfrm>
          <a:prstGeom prst="line">
            <a:avLst/>
          </a:prstGeom>
          <a:noFill/>
          <a:ln w="57150" cap="flat" cmpd="sng" algn="ctr">
            <a:solidFill>
              <a:srgbClr val="FF0000"/>
            </a:solidFill>
            <a:prstDash val="solid"/>
            <a:round/>
            <a:headEnd type="none" w="med" len="med"/>
            <a:tailEnd type="none" w="med" len="med"/>
          </a:ln>
          <a:effectLst/>
        </p:spPr>
      </p:cxnSp>
      <p:sp>
        <p:nvSpPr>
          <p:cNvPr id="24" name="TextBox 23">
            <a:extLst>
              <a:ext uri="{FF2B5EF4-FFF2-40B4-BE49-F238E27FC236}">
                <a16:creationId xmlns:a16="http://schemas.microsoft.com/office/drawing/2014/main" id="{9C716B89-DF7D-4CCD-BA79-DE421FA28C06}"/>
              </a:ext>
            </a:extLst>
          </p:cNvPr>
          <p:cNvSpPr txBox="1"/>
          <p:nvPr/>
        </p:nvSpPr>
        <p:spPr>
          <a:xfrm>
            <a:off x="9532298" y="4594828"/>
            <a:ext cx="1633781" cy="369332"/>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Same number</a:t>
            </a:r>
          </a:p>
        </p:txBody>
      </p:sp>
      <p:sp>
        <p:nvSpPr>
          <p:cNvPr id="25" name="TextBox 24">
            <a:extLst>
              <a:ext uri="{FF2B5EF4-FFF2-40B4-BE49-F238E27FC236}">
                <a16:creationId xmlns:a16="http://schemas.microsoft.com/office/drawing/2014/main" id="{B4B4AB36-1A75-41B4-B530-776AC3557B29}"/>
              </a:ext>
            </a:extLst>
          </p:cNvPr>
          <p:cNvSpPr txBox="1"/>
          <p:nvPr/>
        </p:nvSpPr>
        <p:spPr>
          <a:xfrm>
            <a:off x="7916471" y="5055596"/>
            <a:ext cx="3249608" cy="923330"/>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Number of cache lines is</a:t>
            </a:r>
          </a:p>
          <a:p>
            <a:r>
              <a:rPr lang="en-US" dirty="0">
                <a:ea typeface="標楷體" pitchFamily="65" charset="-120"/>
                <a:cs typeface="Calibri" pitchFamily="34" charset="0"/>
              </a:rPr>
              <a:t>determined by the cache size </a:t>
            </a:r>
          </a:p>
          <a:p>
            <a:r>
              <a:rPr lang="en-US" dirty="0">
                <a:ea typeface="標楷體" pitchFamily="65" charset="-120"/>
                <a:cs typeface="Calibri" pitchFamily="34" charset="0"/>
              </a:rPr>
              <a:t>and the line size</a:t>
            </a:r>
          </a:p>
        </p:txBody>
      </p:sp>
    </p:spTree>
    <p:extLst>
      <p:ext uri="{BB962C8B-B14F-4D97-AF65-F5344CB8AC3E}">
        <p14:creationId xmlns:p14="http://schemas.microsoft.com/office/powerpoint/2010/main" val="380099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4" grpId="0" animBg="1"/>
      <p:bldP spid="24" grpId="0" animBg="1"/>
      <p:bldP spid="2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258530" y="173040"/>
            <a:ext cx="9047521" cy="682368"/>
          </a:xfrm>
        </p:spPr>
        <p:txBody>
          <a:bodyPr/>
          <a:lstStyle/>
          <a:p>
            <a:r>
              <a:rPr lang="en-US" altLang="zh-TW" dirty="0"/>
              <a:t>Associativity Example (1)</a:t>
            </a:r>
            <a:endParaRPr lang="en-AU" altLang="zh-TW" dirty="0">
              <a:ea typeface="新細明體" panose="02020500000000000000" pitchFamily="18" charset="-120"/>
            </a:endParaRPr>
          </a:p>
        </p:txBody>
      </p:sp>
      <p:sp>
        <p:nvSpPr>
          <p:cNvPr id="59395" name="Rectangle 3"/>
          <p:cNvSpPr>
            <a:spLocks noGrp="1" noChangeArrowheads="1"/>
          </p:cNvSpPr>
          <p:nvPr>
            <p:ph type="body" idx="1"/>
          </p:nvPr>
        </p:nvSpPr>
        <p:spPr>
          <a:xfrm>
            <a:off x="1278194" y="1064752"/>
            <a:ext cx="9879431" cy="2081571"/>
          </a:xfrm>
        </p:spPr>
        <p:txBody>
          <a:bodyPr/>
          <a:lstStyle/>
          <a:p>
            <a:pPr>
              <a:spcBef>
                <a:spcPts val="0"/>
              </a:spcBef>
            </a:pPr>
            <a:r>
              <a:rPr lang="en-US" altLang="zh-TW" sz="2667" dirty="0"/>
              <a:t>Compare </a:t>
            </a:r>
            <a:r>
              <a:rPr lang="en-US" altLang="zh-TW" sz="2667" dirty="0">
                <a:solidFill>
                  <a:srgbClr val="FF0000"/>
                </a:solidFill>
              </a:rPr>
              <a:t>4-block caches</a:t>
            </a:r>
          </a:p>
          <a:p>
            <a:pPr lvl="1">
              <a:spcBef>
                <a:spcPts val="0"/>
              </a:spcBef>
            </a:pPr>
            <a:r>
              <a:rPr lang="en-US" altLang="zh-TW" sz="2400" dirty="0"/>
              <a:t>Direct mapped (</a:t>
            </a:r>
            <a:r>
              <a:rPr lang="en-US" altLang="zh-TW" sz="2400" dirty="0">
                <a:solidFill>
                  <a:srgbClr val="FF0000"/>
                </a:solidFill>
              </a:rPr>
              <a:t>1-way</a:t>
            </a:r>
            <a:r>
              <a:rPr lang="en-US" altLang="zh-TW" sz="2400" dirty="0"/>
              <a:t>), </a:t>
            </a:r>
            <a:r>
              <a:rPr lang="en-US" altLang="zh-TW" sz="2400" dirty="0">
                <a:solidFill>
                  <a:srgbClr val="FF0000"/>
                </a:solidFill>
              </a:rPr>
              <a:t>2-way</a:t>
            </a:r>
            <a:r>
              <a:rPr lang="en-US" altLang="zh-TW" sz="2400" dirty="0"/>
              <a:t> set associative, fully associative (</a:t>
            </a:r>
            <a:r>
              <a:rPr lang="en-US" altLang="zh-TW" sz="2400" dirty="0">
                <a:solidFill>
                  <a:srgbClr val="FF0000"/>
                </a:solidFill>
              </a:rPr>
              <a:t>4-way</a:t>
            </a:r>
            <a:r>
              <a:rPr lang="en-US" altLang="zh-TW" sz="2400" dirty="0"/>
              <a:t>)</a:t>
            </a:r>
          </a:p>
          <a:p>
            <a:pPr lvl="1">
              <a:spcBef>
                <a:spcPts val="0"/>
              </a:spcBef>
            </a:pPr>
            <a:r>
              <a:rPr lang="en-US" altLang="zh-TW" sz="2400" dirty="0"/>
              <a:t>Assume block access sequence: 0, 8, 0, 6, 8</a:t>
            </a:r>
          </a:p>
          <a:p>
            <a:pPr>
              <a:spcBef>
                <a:spcPts val="0"/>
              </a:spcBef>
            </a:pPr>
            <a:endParaRPr lang="en-US" altLang="zh-TW" sz="2667" dirty="0"/>
          </a:p>
          <a:p>
            <a:pPr>
              <a:spcBef>
                <a:spcPts val="0"/>
              </a:spcBef>
            </a:pPr>
            <a:r>
              <a:rPr lang="en-US" altLang="zh-TW" sz="2667" dirty="0"/>
              <a:t>Direct mapped</a:t>
            </a:r>
          </a:p>
        </p:txBody>
      </p:sp>
      <p:graphicFrame>
        <p:nvGraphicFramePr>
          <p:cNvPr id="717889" name="Group 65"/>
          <p:cNvGraphicFramePr>
            <a:graphicFrameLocks noGrp="1"/>
          </p:cNvGraphicFramePr>
          <p:nvPr>
            <p:extLst>
              <p:ext uri="{D42A27DB-BD31-4B8C-83A1-F6EECF244321}">
                <p14:modId xmlns:p14="http://schemas.microsoft.com/office/powerpoint/2010/main" val="3704839166"/>
              </p:ext>
            </p:extLst>
          </p:nvPr>
        </p:nvGraphicFramePr>
        <p:xfrm>
          <a:off x="2320926" y="3220885"/>
          <a:ext cx="8067676" cy="2486026"/>
        </p:xfrm>
        <a:graphic>
          <a:graphicData uri="http://schemas.openxmlformats.org/drawingml/2006/table">
            <a:tbl>
              <a:tblPr/>
              <a:tblGrid>
                <a:gridCol w="1150939">
                  <a:extLst>
                    <a:ext uri="{9D8B030D-6E8A-4147-A177-3AD203B41FA5}">
                      <a16:colId xmlns:a16="http://schemas.microsoft.com/office/drawing/2014/main" val="20000"/>
                    </a:ext>
                  </a:extLst>
                </a:gridCol>
                <a:gridCol w="1155700">
                  <a:extLst>
                    <a:ext uri="{9D8B030D-6E8A-4147-A177-3AD203B41FA5}">
                      <a16:colId xmlns:a16="http://schemas.microsoft.com/office/drawing/2014/main" val="20001"/>
                    </a:ext>
                  </a:extLst>
                </a:gridCol>
                <a:gridCol w="1150937">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gridCol w="1152525">
                  <a:extLst>
                    <a:ext uri="{9D8B030D-6E8A-4147-A177-3AD203B41FA5}">
                      <a16:colId xmlns:a16="http://schemas.microsoft.com/office/drawing/2014/main" val="20004"/>
                    </a:ext>
                  </a:extLst>
                </a:gridCol>
                <a:gridCol w="1154113">
                  <a:extLst>
                    <a:ext uri="{9D8B030D-6E8A-4147-A177-3AD203B41FA5}">
                      <a16:colId xmlns:a16="http://schemas.microsoft.com/office/drawing/2014/main" val="20005"/>
                    </a:ext>
                  </a:extLst>
                </a:gridCol>
                <a:gridCol w="1150937">
                  <a:extLst>
                    <a:ext uri="{9D8B030D-6E8A-4147-A177-3AD203B41FA5}">
                      <a16:colId xmlns:a16="http://schemas.microsoft.com/office/drawing/2014/main" val="20006"/>
                    </a:ext>
                  </a:extLst>
                </a:gridCol>
              </a:tblGrid>
              <a:tr h="355600">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Block address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Cache index</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Hit/miss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Cache content after access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54013">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1</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2</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3</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56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 (00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err="1">
                          <a:ln>
                            <a:noFill/>
                          </a:ln>
                          <a:solidFill>
                            <a:schemeClr val="folHlink"/>
                          </a:solidFill>
                          <a:effectLst/>
                          <a:latin typeface="Century Gothic" pitchFamily="34" charset="0"/>
                          <a:ea typeface="標楷體" pitchFamily="65" charset="-120"/>
                        </a:rPr>
                        <a:t>Mem</a:t>
                      </a:r>
                      <a:r>
                        <a:rPr kumimoji="0" lang="en-US" altLang="zh-TW" sz="1900" b="1" i="0" u="none" strike="noStrike" cap="none" normalizeH="0" baseline="0" dirty="0">
                          <a:ln>
                            <a:noFill/>
                          </a:ln>
                          <a:solidFill>
                            <a:schemeClr val="folHlink"/>
                          </a:solidFill>
                          <a:effectLst/>
                          <a:latin typeface="Century Gothic" pitchFamily="34" charset="0"/>
                          <a:ea typeface="標楷體" pitchFamily="65" charset="-120"/>
                        </a:rPr>
                        <a:t>[0]</a:t>
                      </a:r>
                      <a:endParaRPr kumimoji="0" lang="en-AU" altLang="zh-TW" sz="1900" b="1" i="0" u="none" strike="noStrike" cap="none" normalizeH="0" baseline="0" dirty="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56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8 (10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err="1">
                          <a:ln>
                            <a:noFill/>
                          </a:ln>
                          <a:solidFill>
                            <a:srgbClr val="FF0000"/>
                          </a:solidFill>
                          <a:effectLst/>
                          <a:latin typeface="Century Gothic" pitchFamily="34" charset="0"/>
                          <a:ea typeface="標楷體" pitchFamily="65" charset="-120"/>
                        </a:rPr>
                        <a:t>Mem</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[8]</a:t>
                      </a:r>
                      <a:endParaRPr kumimoji="0" lang="en-AU" altLang="zh-TW" sz="1900" b="1" i="0" u="none" strike="noStrike" cap="none" normalizeH="0" baseline="0" dirty="0">
                        <a:ln>
                          <a:noFill/>
                        </a:ln>
                        <a:solidFill>
                          <a:srgbClr val="FF0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56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 (00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FF0000"/>
                          </a:solidFill>
                          <a:effectLst/>
                          <a:latin typeface="Century Gothic" pitchFamily="34" charset="0"/>
                          <a:ea typeface="標楷體" pitchFamily="65" charset="-120"/>
                        </a:rPr>
                        <a:t>Mem[0]</a:t>
                      </a:r>
                      <a:endParaRPr kumimoji="0" lang="en-AU" altLang="zh-TW" sz="1900" b="1" i="0" u="none" strike="noStrike" cap="none" normalizeH="0" baseline="0">
                        <a:ln>
                          <a:noFill/>
                        </a:ln>
                        <a:solidFill>
                          <a:srgbClr val="FF0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401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6 (01</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10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2</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56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8 (10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Mem[8]</a:t>
                      </a:r>
                      <a:endParaRPr kumimoji="0" lang="en-AU" altLang="zh-TW" sz="1900" b="1" i="0" u="none" strike="noStrike" cap="none" normalizeH="0" baseline="0" dirty="0">
                        <a:ln>
                          <a:noFill/>
                        </a:ln>
                        <a:solidFill>
                          <a:srgbClr val="FF0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accent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59456" name="Group 69"/>
          <p:cNvGrpSpPr/>
          <p:nvPr/>
        </p:nvGrpSpPr>
        <p:grpSpPr bwMode="auto">
          <a:xfrm>
            <a:off x="1336675" y="3971774"/>
            <a:ext cx="749300" cy="1485900"/>
            <a:chOff x="122" y="2601"/>
            <a:chExt cx="472" cy="936"/>
          </a:xfrm>
        </p:grpSpPr>
        <p:sp>
          <p:nvSpPr>
            <p:cNvPr id="59458" name="Line 67"/>
            <p:cNvSpPr>
              <a:spLocks noChangeShapeType="1"/>
            </p:cNvSpPr>
            <p:nvPr/>
          </p:nvSpPr>
          <p:spPr bwMode="auto">
            <a:xfrm>
              <a:off x="594" y="2601"/>
              <a:ext cx="0" cy="936"/>
            </a:xfrm>
            <a:prstGeom prst="line">
              <a:avLst/>
            </a:prstGeom>
            <a:noFill/>
            <a:ln w="57150">
              <a:solidFill>
                <a:schemeClr val="tx1"/>
              </a:solidFill>
              <a:round/>
              <a:tailEnd type="triangle" w="med" len="med"/>
            </a:ln>
          </p:spPr>
          <p:txBody>
            <a:bodyPr/>
            <a:lstStyle/>
            <a:p>
              <a:endParaRPr lang="zh-TW" altLang="en-US"/>
            </a:p>
          </p:txBody>
        </p:sp>
        <p:sp>
          <p:nvSpPr>
            <p:cNvPr id="59459" name="Text Box 68"/>
            <p:cNvSpPr txBox="1">
              <a:spLocks noChangeArrowheads="1"/>
            </p:cNvSpPr>
            <p:nvPr/>
          </p:nvSpPr>
          <p:spPr bwMode="auto">
            <a:xfrm>
              <a:off x="122" y="2846"/>
              <a:ext cx="415" cy="233"/>
            </a:xfrm>
            <a:prstGeom prst="rect">
              <a:avLst/>
            </a:prstGeom>
            <a:noFill/>
            <a:ln w="12700">
              <a:noFill/>
              <a:miter lim="800000"/>
            </a:ln>
          </p:spPr>
          <p:txBody>
            <a:bodyPr wrap="none">
              <a:spAutoFit/>
            </a:bodyPr>
            <a:lstStyle/>
            <a:p>
              <a:r>
                <a:rPr lang="en-US" altLang="zh-TW" b="1"/>
                <a:t>time</a:t>
              </a:r>
            </a:p>
          </p:txBody>
        </p:sp>
      </p:grpSp>
      <p:sp>
        <p:nvSpPr>
          <p:cNvPr id="9"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88</a:t>
            </a:fld>
            <a:endParaRPr lang="zh-TW" altLang="en-US"/>
          </a:p>
        </p:txBody>
      </p:sp>
      <p:sp>
        <p:nvSpPr>
          <p:cNvPr id="2" name="TextBox 1">
            <a:extLst>
              <a:ext uri="{FF2B5EF4-FFF2-40B4-BE49-F238E27FC236}">
                <a16:creationId xmlns:a16="http://schemas.microsoft.com/office/drawing/2014/main" id="{53BC2257-C803-4234-B616-1DF9506728EC}"/>
              </a:ext>
            </a:extLst>
          </p:cNvPr>
          <p:cNvSpPr txBox="1"/>
          <p:nvPr/>
        </p:nvSpPr>
        <p:spPr>
          <a:xfrm>
            <a:off x="8570068" y="1959274"/>
            <a:ext cx="1954381"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Compulsory miss</a:t>
            </a:r>
          </a:p>
        </p:txBody>
      </p:sp>
      <p:cxnSp>
        <p:nvCxnSpPr>
          <p:cNvPr id="4" name="Straight Arrow Connector 3">
            <a:extLst>
              <a:ext uri="{FF2B5EF4-FFF2-40B4-BE49-F238E27FC236}">
                <a16:creationId xmlns:a16="http://schemas.microsoft.com/office/drawing/2014/main" id="{112C3564-9D31-4F9C-A281-B649F8545565}"/>
              </a:ext>
            </a:extLst>
          </p:cNvPr>
          <p:cNvCxnSpPr>
            <a:cxnSpLocks/>
          </p:cNvCxnSpPr>
          <p:nvPr/>
        </p:nvCxnSpPr>
        <p:spPr bwMode="auto">
          <a:xfrm flipH="1">
            <a:off x="6354764" y="2143940"/>
            <a:ext cx="2215304" cy="1820100"/>
          </a:xfrm>
          <a:prstGeom prst="straightConnector1">
            <a:avLst/>
          </a:prstGeom>
          <a:noFill/>
          <a:ln w="15875" cap="flat" cmpd="sng" algn="ctr">
            <a:solidFill>
              <a:srgbClr val="FF0000"/>
            </a:solidFill>
            <a:prstDash val="solid"/>
            <a:round/>
            <a:headEnd type="none" w="med" len="med"/>
            <a:tailEnd type="triangle"/>
          </a:ln>
          <a:effectLst/>
        </p:spPr>
      </p:cxnSp>
      <p:cxnSp>
        <p:nvCxnSpPr>
          <p:cNvPr id="7" name="Straight Arrow Connector 6">
            <a:extLst>
              <a:ext uri="{FF2B5EF4-FFF2-40B4-BE49-F238E27FC236}">
                <a16:creationId xmlns:a16="http://schemas.microsoft.com/office/drawing/2014/main" id="{1B9506C8-C774-4E42-8FF6-AA8B6D34BDE4}"/>
              </a:ext>
            </a:extLst>
          </p:cNvPr>
          <p:cNvCxnSpPr>
            <a:stCxn id="2" idx="2"/>
          </p:cNvCxnSpPr>
          <p:nvPr/>
        </p:nvCxnSpPr>
        <p:spPr bwMode="auto">
          <a:xfrm flipH="1">
            <a:off x="8677072" y="2328606"/>
            <a:ext cx="870187" cy="2768688"/>
          </a:xfrm>
          <a:prstGeom prst="straightConnector1">
            <a:avLst/>
          </a:prstGeom>
          <a:noFill/>
          <a:ln w="15875" cap="flat" cmpd="sng" algn="ctr">
            <a:solidFill>
              <a:srgbClr val="FF0000"/>
            </a:solidFill>
            <a:prstDash val="solid"/>
            <a:round/>
            <a:headEnd type="none" w="med" len="med"/>
            <a:tailEnd type="triangle"/>
          </a:ln>
          <a:effectLst/>
        </p:spPr>
      </p:cxnSp>
      <p:sp>
        <p:nvSpPr>
          <p:cNvPr id="15" name="TextBox 14">
            <a:extLst>
              <a:ext uri="{FF2B5EF4-FFF2-40B4-BE49-F238E27FC236}">
                <a16:creationId xmlns:a16="http://schemas.microsoft.com/office/drawing/2014/main" id="{F66EEB99-C258-4B1A-AF09-F4F8B2387337}"/>
              </a:ext>
            </a:extLst>
          </p:cNvPr>
          <p:cNvSpPr txBox="1"/>
          <p:nvPr/>
        </p:nvSpPr>
        <p:spPr>
          <a:xfrm>
            <a:off x="9819748" y="2627361"/>
            <a:ext cx="1492716"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Conflict miss</a:t>
            </a:r>
          </a:p>
        </p:txBody>
      </p:sp>
      <p:cxnSp>
        <p:nvCxnSpPr>
          <p:cNvPr id="16" name="Straight Arrow Connector 15">
            <a:extLst>
              <a:ext uri="{FF2B5EF4-FFF2-40B4-BE49-F238E27FC236}">
                <a16:creationId xmlns:a16="http://schemas.microsoft.com/office/drawing/2014/main" id="{BE6A6B19-BA02-46B2-9770-BDF55BBDFAC1}"/>
              </a:ext>
            </a:extLst>
          </p:cNvPr>
          <p:cNvCxnSpPr>
            <a:cxnSpLocks/>
          </p:cNvCxnSpPr>
          <p:nvPr/>
        </p:nvCxnSpPr>
        <p:spPr bwMode="auto">
          <a:xfrm flipH="1">
            <a:off x="6789420" y="2816829"/>
            <a:ext cx="3030328" cy="1675224"/>
          </a:xfrm>
          <a:prstGeom prst="straightConnector1">
            <a:avLst/>
          </a:prstGeom>
          <a:noFill/>
          <a:ln w="15875" cap="flat" cmpd="sng" algn="ctr">
            <a:solidFill>
              <a:srgbClr val="FF0000"/>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AC415C13-62D8-405E-98FD-C6ECC9505254}"/>
              </a:ext>
            </a:extLst>
          </p:cNvPr>
          <p:cNvCxnSpPr>
            <a:cxnSpLocks/>
          </p:cNvCxnSpPr>
          <p:nvPr/>
        </p:nvCxnSpPr>
        <p:spPr bwMode="auto">
          <a:xfrm flipH="1">
            <a:off x="6789420" y="2964311"/>
            <a:ext cx="3011401" cy="1766289"/>
          </a:xfrm>
          <a:prstGeom prst="straightConnector1">
            <a:avLst/>
          </a:prstGeom>
          <a:noFill/>
          <a:ln w="15875" cap="flat" cmpd="sng" algn="ctr">
            <a:solidFill>
              <a:srgbClr val="FF0000"/>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C0BCA0DE-C15F-439A-91A9-699D08FD7FC6}"/>
              </a:ext>
            </a:extLst>
          </p:cNvPr>
          <p:cNvCxnSpPr>
            <a:cxnSpLocks/>
          </p:cNvCxnSpPr>
          <p:nvPr/>
        </p:nvCxnSpPr>
        <p:spPr bwMode="auto">
          <a:xfrm flipH="1">
            <a:off x="6789420" y="3009843"/>
            <a:ext cx="3137468" cy="2447831"/>
          </a:xfrm>
          <a:prstGeom prst="straightConnector1">
            <a:avLst/>
          </a:prstGeom>
          <a:noFill/>
          <a:ln w="15875"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9990" name="Group 118"/>
          <p:cNvGraphicFramePr>
            <a:graphicFrameLocks noGrp="1"/>
          </p:cNvGraphicFramePr>
          <p:nvPr>
            <p:extLst>
              <p:ext uri="{D42A27DB-BD31-4B8C-83A1-F6EECF244321}">
                <p14:modId xmlns:p14="http://schemas.microsoft.com/office/powerpoint/2010/main" val="3591217120"/>
              </p:ext>
            </p:extLst>
          </p:nvPr>
        </p:nvGraphicFramePr>
        <p:xfrm>
          <a:off x="2568102" y="1576756"/>
          <a:ext cx="7823976" cy="1824228"/>
        </p:xfrm>
        <a:graphic>
          <a:graphicData uri="http://schemas.openxmlformats.org/drawingml/2006/table">
            <a:tbl>
              <a:tblPr/>
              <a:tblGrid>
                <a:gridCol w="1115527">
                  <a:extLst>
                    <a:ext uri="{9D8B030D-6E8A-4147-A177-3AD203B41FA5}">
                      <a16:colId xmlns:a16="http://schemas.microsoft.com/office/drawing/2014/main" val="20000"/>
                    </a:ext>
                  </a:extLst>
                </a:gridCol>
                <a:gridCol w="1121641">
                  <a:extLst>
                    <a:ext uri="{9D8B030D-6E8A-4147-A177-3AD203B41FA5}">
                      <a16:colId xmlns:a16="http://schemas.microsoft.com/office/drawing/2014/main" val="20001"/>
                    </a:ext>
                  </a:extLst>
                </a:gridCol>
                <a:gridCol w="1115527">
                  <a:extLst>
                    <a:ext uri="{9D8B030D-6E8A-4147-A177-3AD203B41FA5}">
                      <a16:colId xmlns:a16="http://schemas.microsoft.com/office/drawing/2014/main" val="20002"/>
                    </a:ext>
                  </a:extLst>
                </a:gridCol>
                <a:gridCol w="1118585">
                  <a:extLst>
                    <a:ext uri="{9D8B030D-6E8A-4147-A177-3AD203B41FA5}">
                      <a16:colId xmlns:a16="http://schemas.microsoft.com/office/drawing/2014/main" val="20003"/>
                    </a:ext>
                  </a:extLst>
                </a:gridCol>
                <a:gridCol w="1117056">
                  <a:extLst>
                    <a:ext uri="{9D8B030D-6E8A-4147-A177-3AD203B41FA5}">
                      <a16:colId xmlns:a16="http://schemas.microsoft.com/office/drawing/2014/main" val="20004"/>
                    </a:ext>
                  </a:extLst>
                </a:gridCol>
                <a:gridCol w="1120113">
                  <a:extLst>
                    <a:ext uri="{9D8B030D-6E8A-4147-A177-3AD203B41FA5}">
                      <a16:colId xmlns:a16="http://schemas.microsoft.com/office/drawing/2014/main" val="20005"/>
                    </a:ext>
                  </a:extLst>
                </a:gridCol>
                <a:gridCol w="1115527">
                  <a:extLst>
                    <a:ext uri="{9D8B030D-6E8A-4147-A177-3AD203B41FA5}">
                      <a16:colId xmlns:a16="http://schemas.microsoft.com/office/drawing/2014/main" val="20006"/>
                    </a:ext>
                  </a:extLst>
                </a:gridCol>
              </a:tblGrid>
              <a:tr h="256032">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Block address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Cache index</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Hit/miss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Cache content after access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56032">
                <a:tc vMerge="1">
                  <a:txBody>
                    <a:bodyPr/>
                    <a:lstStyle/>
                    <a:p>
                      <a:endParaRPr lang="zh-CN"/>
                    </a:p>
                  </a:txBody>
                  <a:tcPr/>
                </a:tc>
                <a:tc vMerge="1">
                  <a:txBody>
                    <a:bodyPr/>
                    <a:lstStyle/>
                    <a:p>
                      <a:endParaRPr lang="zh-CN"/>
                    </a:p>
                  </a:txBody>
                  <a:tcPr/>
                </a:tc>
                <a:tc vMerge="1">
                  <a:txBody>
                    <a:bodyPr/>
                    <a:lstStyle/>
                    <a:p>
                      <a:endParaRPr lang="zh-CN"/>
                    </a:p>
                  </a:txBody>
                  <a:tcPr/>
                </a:tc>
                <a:tc grid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Set 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Set 1</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1"/>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 (000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8 (100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Mem[8]</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 (000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hit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008000"/>
                          </a:solidFill>
                          <a:effectLst/>
                          <a:latin typeface="Century Gothic" pitchFamily="34" charset="0"/>
                          <a:ea typeface="標楷體" pitchFamily="65" charset="-120"/>
                        </a:rPr>
                        <a:t>Mem[0]</a:t>
                      </a:r>
                      <a:endParaRPr kumimoji="0" lang="en-AU" altLang="zh-TW" sz="1900" b="1" i="0" u="none" strike="noStrike" cap="none" normalizeH="0" baseline="0">
                        <a:ln>
                          <a:noFill/>
                        </a:ln>
                        <a:solidFill>
                          <a:srgbClr val="008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Mem[8]</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6 (011</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accent1"/>
                          </a:solidFill>
                          <a:effectLst/>
                          <a:latin typeface="Century Gothic" pitchFamily="34" charset="0"/>
                          <a:ea typeface="標楷體" pitchFamily="65" charset="-120"/>
                        </a:rPr>
                        <a:t>Mem[6]</a:t>
                      </a:r>
                      <a:endParaRPr kumimoji="0" lang="en-AU" altLang="zh-TW" sz="1900" b="1" i="0" u="none" strike="noStrike" cap="none" normalizeH="0" baseline="0" dirty="0">
                        <a:ln>
                          <a:noFill/>
                        </a:ln>
                        <a:solidFill>
                          <a:schemeClr val="accent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8 (100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FF0000"/>
                          </a:solidFill>
                          <a:effectLst/>
                          <a:latin typeface="Century Gothic" pitchFamily="34" charset="0"/>
                          <a:ea typeface="標楷體" pitchFamily="65" charset="-120"/>
                        </a:rPr>
                        <a:t>Mem[8]</a:t>
                      </a:r>
                      <a:endParaRPr kumimoji="0" lang="en-AU" altLang="zh-TW" sz="1900" b="1" i="0" u="none" strike="noStrike" cap="none" normalizeH="0" baseline="0">
                        <a:ln>
                          <a:noFill/>
                        </a:ln>
                        <a:solidFill>
                          <a:srgbClr val="FF0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0478" name="Rectangle 62"/>
          <p:cNvSpPr>
            <a:spLocks noChangeArrowheads="1"/>
          </p:cNvSpPr>
          <p:nvPr/>
        </p:nvSpPr>
        <p:spPr bwMode="auto">
          <a:xfrm>
            <a:off x="1268360" y="3582043"/>
            <a:ext cx="7972624" cy="508176"/>
          </a:xfrm>
          <a:prstGeom prst="rect">
            <a:avLst/>
          </a:prstGeom>
          <a:noFill/>
          <a:ln w="9525">
            <a:noFill/>
            <a:miter lim="800000"/>
          </a:ln>
        </p:spPr>
        <p:txBody>
          <a:bodyPr/>
          <a:lstStyle/>
          <a:p>
            <a:pPr marL="457189" indent="-457189">
              <a:lnSpc>
                <a:spcPct val="90000"/>
              </a:lnSpc>
              <a:spcBef>
                <a:spcPct val="15000"/>
              </a:spcBef>
              <a:buClr>
                <a:srgbClr val="8064A2"/>
              </a:buClr>
              <a:buSzPct val="75000"/>
              <a:buFont typeface="Wingdings" panose="05000000000000000000" pitchFamily="2" charset="2"/>
              <a:buChar char="l"/>
            </a:pPr>
            <a:r>
              <a:rPr lang="en-US" altLang="zh-TW" sz="2400" dirty="0">
                <a:latin typeface="Calibri" panose="020F07020304040A0204" pitchFamily="34" charset="0"/>
                <a:ea typeface="標楷體" pitchFamily="65" charset="-120"/>
                <a:cs typeface="Calibri" panose="020F07020304040A0204" pitchFamily="34" charset="0"/>
              </a:rPr>
              <a:t>Fully associative </a:t>
            </a:r>
            <a:r>
              <a:rPr lang="en-US" altLang="zh-TW" sz="2400" dirty="0">
                <a:latin typeface="Calibri" panose="020F07020304040A0204" pitchFamily="34" charset="0"/>
                <a:cs typeface="Calibri" panose="020F07020304040A0204" pitchFamily="34" charset="0"/>
              </a:rPr>
              <a:t>(0, 8, 0, 6, 8)</a:t>
            </a:r>
            <a:endParaRPr lang="en-US" altLang="zh-TW" sz="2400" dirty="0">
              <a:latin typeface="Calibri" panose="020F07020304040A0204" pitchFamily="34" charset="0"/>
              <a:ea typeface="標楷體" pitchFamily="65" charset="-120"/>
              <a:cs typeface="Calibri" panose="020F07020304040A0204" pitchFamily="34" charset="0"/>
            </a:endParaRPr>
          </a:p>
        </p:txBody>
      </p:sp>
      <p:graphicFrame>
        <p:nvGraphicFramePr>
          <p:cNvPr id="719991" name="Group 119"/>
          <p:cNvGraphicFramePr>
            <a:graphicFrameLocks noGrp="1"/>
          </p:cNvGraphicFramePr>
          <p:nvPr>
            <p:extLst>
              <p:ext uri="{D42A27DB-BD31-4B8C-83A1-F6EECF244321}">
                <p14:modId xmlns:p14="http://schemas.microsoft.com/office/powerpoint/2010/main" val="1682109254"/>
              </p:ext>
            </p:extLst>
          </p:nvPr>
        </p:nvGraphicFramePr>
        <p:xfrm>
          <a:off x="2578550" y="3941645"/>
          <a:ext cx="7823976" cy="1898492"/>
        </p:xfrm>
        <a:graphic>
          <a:graphicData uri="http://schemas.openxmlformats.org/drawingml/2006/table">
            <a:tbl>
              <a:tblPr/>
              <a:tblGrid>
                <a:gridCol w="1116197">
                  <a:extLst>
                    <a:ext uri="{9D8B030D-6E8A-4147-A177-3AD203B41FA5}">
                      <a16:colId xmlns:a16="http://schemas.microsoft.com/office/drawing/2014/main" val="20000"/>
                    </a:ext>
                  </a:extLst>
                </a:gridCol>
                <a:gridCol w="1120740">
                  <a:extLst>
                    <a:ext uri="{9D8B030D-6E8A-4147-A177-3AD203B41FA5}">
                      <a16:colId xmlns:a16="http://schemas.microsoft.com/office/drawing/2014/main" val="20001"/>
                    </a:ext>
                  </a:extLst>
                </a:gridCol>
                <a:gridCol w="1116196">
                  <a:extLst>
                    <a:ext uri="{9D8B030D-6E8A-4147-A177-3AD203B41FA5}">
                      <a16:colId xmlns:a16="http://schemas.microsoft.com/office/drawing/2014/main" val="20002"/>
                    </a:ext>
                  </a:extLst>
                </a:gridCol>
                <a:gridCol w="1117710">
                  <a:extLst>
                    <a:ext uri="{9D8B030D-6E8A-4147-A177-3AD203B41FA5}">
                      <a16:colId xmlns:a16="http://schemas.microsoft.com/office/drawing/2014/main" val="20003"/>
                    </a:ext>
                  </a:extLst>
                </a:gridCol>
                <a:gridCol w="1117710">
                  <a:extLst>
                    <a:ext uri="{9D8B030D-6E8A-4147-A177-3AD203B41FA5}">
                      <a16:colId xmlns:a16="http://schemas.microsoft.com/office/drawing/2014/main" val="20004"/>
                    </a:ext>
                  </a:extLst>
                </a:gridCol>
                <a:gridCol w="1119227">
                  <a:extLst>
                    <a:ext uri="{9D8B030D-6E8A-4147-A177-3AD203B41FA5}">
                      <a16:colId xmlns:a16="http://schemas.microsoft.com/office/drawing/2014/main" val="20005"/>
                    </a:ext>
                  </a:extLst>
                </a:gridCol>
                <a:gridCol w="1116196">
                  <a:extLst>
                    <a:ext uri="{9D8B030D-6E8A-4147-A177-3AD203B41FA5}">
                      <a16:colId xmlns:a16="http://schemas.microsoft.com/office/drawing/2014/main" val="20006"/>
                    </a:ext>
                  </a:extLst>
                </a:gridCol>
              </a:tblGrid>
              <a:tr h="52644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Block address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Hit/miss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Cache content after access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7496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358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8</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Mem[8]</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96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hit</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008000"/>
                          </a:solidFill>
                          <a:effectLst/>
                          <a:latin typeface="Century Gothic" pitchFamily="34" charset="0"/>
                          <a:ea typeface="標楷體" pitchFamily="65" charset="-120"/>
                        </a:rPr>
                        <a:t>Mem[0]</a:t>
                      </a:r>
                      <a:endParaRPr kumimoji="0" lang="en-AU" altLang="zh-TW" sz="1900" b="1" i="0" u="none" strike="noStrike" cap="none" normalizeH="0" baseline="0">
                        <a:ln>
                          <a:noFill/>
                        </a:ln>
                        <a:solidFill>
                          <a:srgbClr val="008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M[em8]</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358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6</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Mem[8]</a:t>
                      </a:r>
                      <a:endParaRPr kumimoji="0" lang="en-AU" altLang="zh-TW" sz="1900" b="1" i="0" u="none" strike="noStrike" cap="none" normalizeH="0" baseline="0">
                        <a:ln>
                          <a:noFill/>
                        </a:ln>
                        <a:solidFill>
                          <a:schemeClr va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96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8</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hit</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008000"/>
                          </a:solidFill>
                          <a:effectLst/>
                          <a:latin typeface="Century Gothic" pitchFamily="34" charset="0"/>
                          <a:ea typeface="標楷體" pitchFamily="65" charset="-120"/>
                        </a:rPr>
                        <a:t>Mem[8]</a:t>
                      </a:r>
                      <a:endParaRPr kumimoji="0" lang="en-AU" altLang="zh-TW" sz="1900" b="1" i="0" u="none" strike="noStrike" cap="none" normalizeH="0" baseline="0">
                        <a:ln>
                          <a:noFill/>
                        </a:ln>
                        <a:solidFill>
                          <a:srgbClr val="008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60535" name="Group 123"/>
          <p:cNvGrpSpPr/>
          <p:nvPr/>
        </p:nvGrpSpPr>
        <p:grpSpPr bwMode="auto">
          <a:xfrm>
            <a:off x="1639529" y="1860346"/>
            <a:ext cx="749300" cy="1485900"/>
            <a:chOff x="122" y="2601"/>
            <a:chExt cx="472" cy="936"/>
          </a:xfrm>
        </p:grpSpPr>
        <p:sp>
          <p:nvSpPr>
            <p:cNvPr id="60537" name="Line 124"/>
            <p:cNvSpPr>
              <a:spLocks noChangeShapeType="1"/>
            </p:cNvSpPr>
            <p:nvPr/>
          </p:nvSpPr>
          <p:spPr bwMode="auto">
            <a:xfrm>
              <a:off x="594" y="2601"/>
              <a:ext cx="0" cy="936"/>
            </a:xfrm>
            <a:prstGeom prst="line">
              <a:avLst/>
            </a:prstGeom>
            <a:noFill/>
            <a:ln w="57150">
              <a:solidFill>
                <a:schemeClr val="tx1"/>
              </a:solidFill>
              <a:round/>
              <a:tailEnd type="triangle" w="med" len="med"/>
            </a:ln>
          </p:spPr>
          <p:txBody>
            <a:bodyPr/>
            <a:lstStyle/>
            <a:p>
              <a:endParaRPr lang="zh-TW" altLang="en-US"/>
            </a:p>
          </p:txBody>
        </p:sp>
        <p:sp>
          <p:nvSpPr>
            <p:cNvPr id="60538" name="Text Box 125"/>
            <p:cNvSpPr txBox="1">
              <a:spLocks noChangeArrowheads="1"/>
            </p:cNvSpPr>
            <p:nvPr/>
          </p:nvSpPr>
          <p:spPr bwMode="auto">
            <a:xfrm>
              <a:off x="122" y="2846"/>
              <a:ext cx="415" cy="233"/>
            </a:xfrm>
            <a:prstGeom prst="rect">
              <a:avLst/>
            </a:prstGeom>
            <a:noFill/>
            <a:ln w="12700">
              <a:noFill/>
              <a:miter lim="800000"/>
            </a:ln>
          </p:spPr>
          <p:txBody>
            <a:bodyPr wrap="none">
              <a:spAutoFit/>
            </a:bodyPr>
            <a:lstStyle/>
            <a:p>
              <a:r>
                <a:rPr lang="en-US" altLang="zh-TW" b="1" dirty="0"/>
                <a:t>time</a:t>
              </a:r>
            </a:p>
          </p:txBody>
        </p:sp>
      </p:grpSp>
      <p:sp>
        <p:nvSpPr>
          <p:cNvPr id="60418" name="Rectangle 2"/>
          <p:cNvSpPr>
            <a:spLocks noGrp="1" noChangeArrowheads="1"/>
          </p:cNvSpPr>
          <p:nvPr>
            <p:ph type="title"/>
          </p:nvPr>
        </p:nvSpPr>
        <p:spPr>
          <a:xfrm>
            <a:off x="1219201" y="173039"/>
            <a:ext cx="9086851" cy="652871"/>
          </a:xfrm>
        </p:spPr>
        <p:txBody>
          <a:bodyPr/>
          <a:lstStyle/>
          <a:p>
            <a:r>
              <a:rPr lang="en-US" altLang="zh-TW" dirty="0"/>
              <a:t>Associativity Example (2)</a:t>
            </a:r>
            <a:endParaRPr lang="en-AU" altLang="zh-TW" dirty="0">
              <a:ea typeface="新細明體" panose="02020500000000000000" pitchFamily="18" charset="-120"/>
            </a:endParaRPr>
          </a:p>
        </p:txBody>
      </p:sp>
      <p:sp>
        <p:nvSpPr>
          <p:cNvPr id="60419" name="Rectangle 3"/>
          <p:cNvSpPr>
            <a:spLocks noGrp="1" noChangeArrowheads="1"/>
          </p:cNvSpPr>
          <p:nvPr>
            <p:ph type="body" idx="1"/>
          </p:nvPr>
        </p:nvSpPr>
        <p:spPr>
          <a:xfrm>
            <a:off x="1276350" y="1064754"/>
            <a:ext cx="8420100" cy="508176"/>
          </a:xfrm>
        </p:spPr>
        <p:txBody>
          <a:bodyPr/>
          <a:lstStyle/>
          <a:p>
            <a:pPr>
              <a:spcBef>
                <a:spcPts val="0"/>
              </a:spcBef>
            </a:pPr>
            <a:r>
              <a:rPr lang="en-US" altLang="zh-TW" sz="2400" dirty="0"/>
              <a:t>2-way set associative (0, 8, 0, 6, 8)</a:t>
            </a:r>
          </a:p>
        </p:txBody>
      </p:sp>
      <p:grpSp>
        <p:nvGrpSpPr>
          <p:cNvPr id="60534" name="Group 120"/>
          <p:cNvGrpSpPr/>
          <p:nvPr/>
        </p:nvGrpSpPr>
        <p:grpSpPr bwMode="auto">
          <a:xfrm>
            <a:off x="1601377" y="4460774"/>
            <a:ext cx="749300" cy="1485900"/>
            <a:chOff x="122" y="2601"/>
            <a:chExt cx="472" cy="936"/>
          </a:xfrm>
        </p:grpSpPr>
        <p:sp>
          <p:nvSpPr>
            <p:cNvPr id="60539" name="Line 121"/>
            <p:cNvSpPr>
              <a:spLocks noChangeShapeType="1"/>
            </p:cNvSpPr>
            <p:nvPr/>
          </p:nvSpPr>
          <p:spPr bwMode="auto">
            <a:xfrm>
              <a:off x="594" y="2601"/>
              <a:ext cx="0" cy="936"/>
            </a:xfrm>
            <a:prstGeom prst="line">
              <a:avLst/>
            </a:prstGeom>
            <a:noFill/>
            <a:ln w="57150">
              <a:solidFill>
                <a:schemeClr val="tx1"/>
              </a:solidFill>
              <a:round/>
              <a:tailEnd type="triangle" w="med" len="med"/>
            </a:ln>
          </p:spPr>
          <p:txBody>
            <a:bodyPr/>
            <a:lstStyle/>
            <a:p>
              <a:endParaRPr lang="zh-TW" altLang="en-US"/>
            </a:p>
          </p:txBody>
        </p:sp>
        <p:sp>
          <p:nvSpPr>
            <p:cNvPr id="60540" name="Text Box 122"/>
            <p:cNvSpPr txBox="1">
              <a:spLocks noChangeArrowheads="1"/>
            </p:cNvSpPr>
            <p:nvPr/>
          </p:nvSpPr>
          <p:spPr bwMode="auto">
            <a:xfrm>
              <a:off x="122" y="2846"/>
              <a:ext cx="415" cy="233"/>
            </a:xfrm>
            <a:prstGeom prst="rect">
              <a:avLst/>
            </a:prstGeom>
            <a:noFill/>
            <a:ln w="12700">
              <a:noFill/>
              <a:miter lim="800000"/>
            </a:ln>
          </p:spPr>
          <p:txBody>
            <a:bodyPr wrap="none">
              <a:spAutoFit/>
            </a:bodyPr>
            <a:lstStyle/>
            <a:p>
              <a:r>
                <a:rPr lang="en-US" altLang="zh-TW" b="1" dirty="0"/>
                <a:t>time</a:t>
              </a:r>
            </a:p>
          </p:txBody>
        </p:sp>
      </p:grpSp>
      <p:sp>
        <p:nvSpPr>
          <p:cNvPr id="14"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89</a:t>
            </a:fld>
            <a:endParaRPr lang="zh-TW"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219201" y="173040"/>
            <a:ext cx="9086851" cy="613541"/>
          </a:xfrm>
        </p:spPr>
        <p:txBody>
          <a:bodyPr/>
          <a:lstStyle/>
          <a:p>
            <a:r>
              <a:rPr lang="en-AU" altLang="zh-TW" dirty="0">
                <a:ea typeface="新細明體" panose="02020500000000000000" pitchFamily="18" charset="-120"/>
              </a:rPr>
              <a:t>Conflicts in set-associative caches</a:t>
            </a:r>
          </a:p>
        </p:txBody>
      </p:sp>
      <p:sp>
        <p:nvSpPr>
          <p:cNvPr id="61443" name="Rectangle 3"/>
          <p:cNvSpPr>
            <a:spLocks noGrp="1" noChangeArrowheads="1"/>
          </p:cNvSpPr>
          <p:nvPr>
            <p:ph type="body" idx="1"/>
          </p:nvPr>
        </p:nvSpPr>
        <p:spPr>
          <a:xfrm>
            <a:off x="437745" y="1125538"/>
            <a:ext cx="11515072" cy="4448411"/>
          </a:xfrm>
        </p:spPr>
        <p:txBody>
          <a:bodyPr/>
          <a:lstStyle/>
          <a:p>
            <a:pPr>
              <a:spcBef>
                <a:spcPts val="0"/>
              </a:spcBef>
            </a:pPr>
            <a:r>
              <a:rPr lang="en-US" altLang="zh-TW" dirty="0"/>
              <a:t>In the above example, the cache has only 4 blocks.</a:t>
            </a:r>
          </a:p>
          <a:p>
            <a:pPr>
              <a:spcBef>
                <a:spcPts val="0"/>
              </a:spcBef>
            </a:pPr>
            <a:r>
              <a:rPr lang="en-US" altLang="zh-TW" dirty="0">
                <a:ea typeface="新細明體" panose="02020500000000000000" pitchFamily="18" charset="-120"/>
              </a:rPr>
              <a:t>For a direct-mapped cache, the following sequence of </a:t>
            </a:r>
            <a:r>
              <a:rPr lang="en-US" altLang="zh-TW" dirty="0">
                <a:solidFill>
                  <a:srgbClr val="FF0000"/>
                </a:solidFill>
                <a:ea typeface="新細明體" panose="02020500000000000000" pitchFamily="18" charset="-120"/>
              </a:rPr>
              <a:t>block addresses </a:t>
            </a:r>
            <a:r>
              <a:rPr lang="en-US" altLang="zh-TW" dirty="0">
                <a:ea typeface="新細明體" panose="02020500000000000000" pitchFamily="18" charset="-120"/>
              </a:rPr>
              <a:t>will run into intensive conflict misses.</a:t>
            </a:r>
          </a:p>
          <a:p>
            <a:pPr lvl="1">
              <a:spcBef>
                <a:spcPts val="0"/>
              </a:spcBef>
            </a:pPr>
            <a:r>
              <a:rPr lang="en-US" altLang="zh-TW" dirty="0">
                <a:ea typeface="新細明體" panose="02020500000000000000" pitchFamily="18" charset="-120"/>
              </a:rPr>
              <a:t>0, 4, 8, 12, 16, 20… or  1,5,9,13,17,21…  or 2,6,10, 14, 18….</a:t>
            </a:r>
          </a:p>
          <a:p>
            <a:pPr lvl="1">
              <a:spcBef>
                <a:spcPts val="0"/>
              </a:spcBef>
            </a:pPr>
            <a:r>
              <a:rPr lang="en-US" altLang="zh-TW" dirty="0">
                <a:ea typeface="新細明體" panose="02020500000000000000" pitchFamily="18" charset="-120"/>
              </a:rPr>
              <a:t>As long as the </a:t>
            </a:r>
            <a:r>
              <a:rPr lang="en-US" altLang="zh-TW" dirty="0">
                <a:solidFill>
                  <a:srgbClr val="FF0000"/>
                </a:solidFill>
                <a:ea typeface="新細明體" panose="02020500000000000000" pitchFamily="18" charset="-120"/>
              </a:rPr>
              <a:t>distance is a multiple of the cache size </a:t>
            </a:r>
            <a:endParaRPr lang="en-US" altLang="zh-TW" dirty="0">
              <a:ea typeface="新細明體" panose="02020500000000000000" pitchFamily="18" charset="-120"/>
            </a:endParaRPr>
          </a:p>
          <a:p>
            <a:pPr>
              <a:spcBef>
                <a:spcPts val="0"/>
              </a:spcBef>
            </a:pPr>
            <a:r>
              <a:rPr lang="en-US" altLang="zh-TW" dirty="0">
                <a:ea typeface="新細明體" panose="02020500000000000000" pitchFamily="18" charset="-120"/>
              </a:rPr>
              <a:t>For set-associative caches, each set can accommodate more lines so that misses would reduce.</a:t>
            </a:r>
            <a:endParaRPr lang="en-AU" altLang="zh-TW"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90</a:t>
            </a:fld>
            <a:endParaRPr lang="zh-TW" altLang="en-US"/>
          </a:p>
        </p:txBody>
      </p:sp>
    </p:spTree>
    <p:extLst>
      <p:ext uri="{BB962C8B-B14F-4D97-AF65-F5344CB8AC3E}">
        <p14:creationId xmlns:p14="http://schemas.microsoft.com/office/powerpoint/2010/main" val="23872169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Pop Quiz</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685800" y="978682"/>
            <a:ext cx="11178540" cy="5068784"/>
          </a:xfrm>
        </p:spPr>
        <p:txBody>
          <a:bodyPr/>
          <a:lstStyle/>
          <a:p>
            <a:pPr marL="0" indent="0">
              <a:buNone/>
            </a:pPr>
            <a:r>
              <a:rPr lang="en-US" altLang="zh-TW" sz="3200" dirty="0"/>
              <a:t>My application experiences intensive conflict misses. After reviewing the computer configuration, I discovered that the L1 cache is direct-mapped. Which of the following may reduce the cache misses in my application?</a:t>
            </a:r>
          </a:p>
          <a:p>
            <a:pPr marL="514350" indent="-514350">
              <a:buFont typeface="+mj-lt"/>
              <a:buAutoNum type="arabicPeriod"/>
            </a:pPr>
            <a:r>
              <a:rPr lang="en-US" altLang="zh-TW" sz="3200" dirty="0"/>
              <a:t>Get a larger L1 cache </a:t>
            </a:r>
          </a:p>
          <a:p>
            <a:pPr marL="514350" indent="-514350">
              <a:buFont typeface="+mj-lt"/>
              <a:buAutoNum type="arabicPeriod"/>
            </a:pPr>
            <a:r>
              <a:rPr lang="en-US" altLang="zh-TW" sz="3200" dirty="0"/>
              <a:t>Get a higher associative L1 cache</a:t>
            </a:r>
          </a:p>
          <a:p>
            <a:pPr marL="514350" indent="-514350">
              <a:buFont typeface="+mj-lt"/>
              <a:buAutoNum type="arabicPeriod"/>
            </a:pPr>
            <a:r>
              <a:rPr lang="en-US" altLang="zh-TW" sz="3200" dirty="0"/>
              <a:t>Get a larger line size</a:t>
            </a:r>
          </a:p>
          <a:p>
            <a:pPr marL="514350" indent="-514350">
              <a:buFont typeface="+mj-lt"/>
              <a:buAutoNum type="arabicPeriod"/>
            </a:pPr>
            <a:r>
              <a:rPr lang="en-US" altLang="zh-TW" sz="3200" dirty="0"/>
              <a:t>Get a larger tag size</a:t>
            </a:r>
          </a:p>
          <a:p>
            <a:pPr marL="514350" indent="-514350">
              <a:buFont typeface="+mj-lt"/>
              <a:buAutoNum type="arabicPeriod"/>
            </a:pPr>
            <a:r>
              <a:rPr lang="en-US" altLang="zh-TW" sz="3200" dirty="0"/>
              <a:t>Redesign the algorithm of the application</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91</a:t>
            </a:fld>
            <a:endParaRPr lang="zh-TW" altLang="en-US"/>
          </a:p>
        </p:txBody>
      </p:sp>
      <p:sp>
        <p:nvSpPr>
          <p:cNvPr id="4" name="TextBox 3">
            <a:extLst>
              <a:ext uri="{FF2B5EF4-FFF2-40B4-BE49-F238E27FC236}">
                <a16:creationId xmlns:a16="http://schemas.microsoft.com/office/drawing/2014/main" id="{B7D5931C-5688-439C-84C0-9012D1977311}"/>
              </a:ext>
            </a:extLst>
          </p:cNvPr>
          <p:cNvSpPr txBox="1"/>
          <p:nvPr/>
        </p:nvSpPr>
        <p:spPr>
          <a:xfrm>
            <a:off x="9505952" y="5127498"/>
            <a:ext cx="984565"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1,2,5</a:t>
            </a:r>
          </a:p>
        </p:txBody>
      </p:sp>
    </p:spTree>
    <p:extLst>
      <p:ext uri="{BB962C8B-B14F-4D97-AF65-F5344CB8AC3E}">
        <p14:creationId xmlns:p14="http://schemas.microsoft.com/office/powerpoint/2010/main" val="184228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Pop Quiz</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685800" y="978682"/>
            <a:ext cx="11178540" cy="5068784"/>
          </a:xfrm>
        </p:spPr>
        <p:txBody>
          <a:bodyPr/>
          <a:lstStyle/>
          <a:p>
            <a:pPr marL="0" indent="0">
              <a:buNone/>
            </a:pPr>
            <a:r>
              <a:rPr lang="en-US" altLang="zh-TW" sz="3200" dirty="0"/>
              <a:t>Assume the L1 cache is 4KB, and the line size is 64B</a:t>
            </a:r>
          </a:p>
          <a:p>
            <a:pPr marL="0" indent="0">
              <a:buNone/>
            </a:pPr>
            <a:r>
              <a:rPr lang="en-US" altLang="zh-TW" sz="3200" dirty="0"/>
              <a:t>Array A and B are defined as double </a:t>
            </a:r>
            <a:r>
              <a:rPr lang="en-US" altLang="zh-TW" sz="3200" dirty="0">
                <a:solidFill>
                  <a:srgbClr val="FF0000"/>
                </a:solidFill>
              </a:rPr>
              <a:t>int A[4096], B[4096];</a:t>
            </a:r>
          </a:p>
          <a:p>
            <a:pPr marL="0" indent="0">
              <a:buNone/>
            </a:pPr>
            <a:r>
              <a:rPr lang="en-US" altLang="zh-TW" sz="3200" dirty="0"/>
              <a:t>Which loops will encounter frequent conflict misses if the cache is direct-mapped?</a:t>
            </a:r>
          </a:p>
          <a:p>
            <a:pPr marL="514350" indent="-514350">
              <a:buAutoNum type="arabicParenR"/>
            </a:pPr>
            <a:r>
              <a:rPr lang="en-US" altLang="zh-TW" sz="3200" dirty="0"/>
              <a:t>for (</a:t>
            </a:r>
            <a:r>
              <a:rPr lang="en-US" altLang="zh-TW" sz="3200" dirty="0" err="1"/>
              <a:t>i</a:t>
            </a:r>
            <a:r>
              <a:rPr lang="en-US" altLang="zh-TW" sz="3200" dirty="0"/>
              <a:t>=0; </a:t>
            </a:r>
            <a:r>
              <a:rPr lang="en-US" altLang="zh-TW" sz="3200" dirty="0" err="1"/>
              <a:t>i</a:t>
            </a:r>
            <a:r>
              <a:rPr lang="en-US" altLang="zh-TW" sz="3200" dirty="0"/>
              <a:t>&lt;n; </a:t>
            </a:r>
            <a:r>
              <a:rPr lang="en-US" altLang="zh-TW" sz="3200" dirty="0" err="1"/>
              <a:t>i</a:t>
            </a:r>
            <a:r>
              <a:rPr lang="en-US" altLang="zh-TW" sz="3200" dirty="0"/>
              <a:t>++) A[</a:t>
            </a:r>
            <a:r>
              <a:rPr lang="en-US" altLang="zh-TW" sz="3200" dirty="0" err="1"/>
              <a:t>i</a:t>
            </a:r>
            <a:r>
              <a:rPr lang="en-US" altLang="zh-TW" sz="3200" dirty="0"/>
              <a:t>]=B[</a:t>
            </a:r>
            <a:r>
              <a:rPr lang="en-US" altLang="zh-TW" sz="3200" dirty="0" err="1"/>
              <a:t>i</a:t>
            </a:r>
            <a:r>
              <a:rPr lang="en-US" altLang="zh-TW" sz="3200" dirty="0"/>
              <a:t>];</a:t>
            </a:r>
          </a:p>
          <a:p>
            <a:pPr marL="514350" indent="-514350">
              <a:buAutoNum type="arabicParenR"/>
            </a:pPr>
            <a:r>
              <a:rPr lang="nn-NO" altLang="zh-TW" sz="3200" dirty="0"/>
              <a:t>for (i=0; i&lt;n; i++) A[i]=A[i-1]+A[i+1];</a:t>
            </a:r>
          </a:p>
          <a:p>
            <a:pPr marL="514350" indent="-514350">
              <a:buAutoNum type="arabicParenR"/>
            </a:pPr>
            <a:r>
              <a:rPr lang="nn-NO" altLang="zh-TW" sz="3200" dirty="0"/>
              <a:t>for (i=0;i&lt;n;i++) A[i] = 0;</a:t>
            </a:r>
          </a:p>
          <a:p>
            <a:pPr marL="514350" indent="-514350">
              <a:buAutoNum type="arabicParenR"/>
            </a:pP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for (j=0; j&lt;m; </a:t>
            </a:r>
            <a:r>
              <a:rPr kumimoji="1" lang="en-US" altLang="zh-TW" sz="32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j++</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t>
            </a:r>
          </a:p>
          <a:p>
            <a:pPr marL="0" indent="0">
              <a:buNone/>
            </a:pPr>
            <a:r>
              <a:rPr lang="en-US" altLang="zh-TW" sz="3200" dirty="0">
                <a:solidFill>
                  <a:prstClr val="black"/>
                </a:solidFill>
              </a:rPr>
              <a:t>         for </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t>
            </a:r>
            <a:r>
              <a:rPr kumimoji="1" lang="en-US" altLang="zh-TW" sz="32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i</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a:t>
            </a:r>
            <a:r>
              <a:rPr kumimoji="1" lang="en-US" altLang="zh-TW" sz="32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i</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&lt;</a:t>
            </a:r>
            <a:r>
              <a:rPr lang="en-US" altLang="zh-TW" sz="3200" dirty="0">
                <a:solidFill>
                  <a:prstClr val="black"/>
                </a:solidFill>
              </a:rPr>
              <a:t>2048</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lang="en-US" altLang="zh-TW" sz="3200" dirty="0" err="1">
                <a:solidFill>
                  <a:prstClr val="black"/>
                </a:solidFill>
              </a:rPr>
              <a:t>i</a:t>
            </a:r>
            <a:r>
              <a:rPr lang="en-US" altLang="zh-TW" sz="3200" dirty="0">
                <a:solidFill>
                  <a:prstClr val="black"/>
                </a:solidFill>
              </a:rPr>
              <a:t>++</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a:t>
            </a:r>
            <a:r>
              <a:rPr kumimoji="1" lang="en-US" altLang="zh-TW" sz="32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i</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 A[i+1024]*100;</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92</a:t>
            </a:fld>
            <a:endParaRPr lang="zh-TW" altLang="en-US"/>
          </a:p>
        </p:txBody>
      </p:sp>
      <p:sp>
        <p:nvSpPr>
          <p:cNvPr id="4" name="TextBox 3">
            <a:extLst>
              <a:ext uri="{FF2B5EF4-FFF2-40B4-BE49-F238E27FC236}">
                <a16:creationId xmlns:a16="http://schemas.microsoft.com/office/drawing/2014/main" id="{B7D5931C-5688-439C-84C0-9012D1977311}"/>
              </a:ext>
            </a:extLst>
          </p:cNvPr>
          <p:cNvSpPr txBox="1"/>
          <p:nvPr/>
        </p:nvSpPr>
        <p:spPr>
          <a:xfrm>
            <a:off x="10740392" y="5501217"/>
            <a:ext cx="684803"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1,4</a:t>
            </a:r>
          </a:p>
        </p:txBody>
      </p:sp>
    </p:spTree>
    <p:extLst>
      <p:ext uri="{BB962C8B-B14F-4D97-AF65-F5344CB8AC3E}">
        <p14:creationId xmlns:p14="http://schemas.microsoft.com/office/powerpoint/2010/main" val="303522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AU" altLang="zh-TW" sz="3733" dirty="0">
                <a:ea typeface="新細明體" panose="02020500000000000000" pitchFamily="18" charset="-120"/>
              </a:rPr>
              <a:t>Classifying Cache Misses (3 C’s or 4 C’s) </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93</a:t>
            </a:fld>
            <a:endParaRPr lang="zh-TW" altLang="en-US" dirty="0"/>
          </a:p>
        </p:txBody>
      </p:sp>
      <p:graphicFrame>
        <p:nvGraphicFramePr>
          <p:cNvPr id="4" name="Table 4">
            <a:extLst>
              <a:ext uri="{FF2B5EF4-FFF2-40B4-BE49-F238E27FC236}">
                <a16:creationId xmlns:a16="http://schemas.microsoft.com/office/drawing/2014/main" id="{8E8F2DDA-1ACD-4F1A-AEFB-27B65BADCBCC}"/>
              </a:ext>
            </a:extLst>
          </p:cNvPr>
          <p:cNvGraphicFramePr>
            <a:graphicFrameLocks noGrp="1"/>
          </p:cNvGraphicFramePr>
          <p:nvPr>
            <p:extLst>
              <p:ext uri="{D42A27DB-BD31-4B8C-83A1-F6EECF244321}">
                <p14:modId xmlns:p14="http://schemas.microsoft.com/office/powerpoint/2010/main" val="3857383343"/>
              </p:ext>
            </p:extLst>
          </p:nvPr>
        </p:nvGraphicFramePr>
        <p:xfrm>
          <a:off x="243191" y="1177047"/>
          <a:ext cx="11507822" cy="4610910"/>
        </p:xfrm>
        <a:graphic>
          <a:graphicData uri="http://schemas.openxmlformats.org/drawingml/2006/table">
            <a:tbl>
              <a:tblPr>
                <a:tableStyleId>{5C22544A-7EE6-4342-B048-85BDC9FD1C3A}</a:tableStyleId>
              </a:tblPr>
              <a:tblGrid>
                <a:gridCol w="5753911">
                  <a:extLst>
                    <a:ext uri="{9D8B030D-6E8A-4147-A177-3AD203B41FA5}">
                      <a16:colId xmlns:a16="http://schemas.microsoft.com/office/drawing/2014/main" val="4238414852"/>
                    </a:ext>
                  </a:extLst>
                </a:gridCol>
                <a:gridCol w="5753911">
                  <a:extLst>
                    <a:ext uri="{9D8B030D-6E8A-4147-A177-3AD203B41FA5}">
                      <a16:colId xmlns:a16="http://schemas.microsoft.com/office/drawing/2014/main" val="2120858801"/>
                    </a:ext>
                  </a:extLst>
                </a:gridCol>
              </a:tblGrid>
              <a:tr h="2305455">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0747474"/>
                  </a:ext>
                </a:extLst>
              </a:tr>
              <a:tr h="2305455">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064427"/>
                  </a:ext>
                </a:extLst>
              </a:tr>
            </a:tbl>
          </a:graphicData>
        </a:graphic>
      </p:graphicFrame>
      <p:graphicFrame>
        <p:nvGraphicFramePr>
          <p:cNvPr id="5" name="Table 6">
            <a:extLst>
              <a:ext uri="{FF2B5EF4-FFF2-40B4-BE49-F238E27FC236}">
                <a16:creationId xmlns:a16="http://schemas.microsoft.com/office/drawing/2014/main" id="{5C01365B-B4B2-433D-BB49-DB39701BDE15}"/>
              </a:ext>
            </a:extLst>
          </p:cNvPr>
          <p:cNvGraphicFramePr>
            <a:graphicFrameLocks noGrp="1"/>
          </p:cNvGraphicFramePr>
          <p:nvPr>
            <p:extLst>
              <p:ext uri="{D42A27DB-BD31-4B8C-83A1-F6EECF244321}">
                <p14:modId xmlns:p14="http://schemas.microsoft.com/office/powerpoint/2010/main" val="3128980396"/>
              </p:ext>
            </p:extLst>
          </p:nvPr>
        </p:nvGraphicFramePr>
        <p:xfrm>
          <a:off x="553396" y="3058160"/>
          <a:ext cx="5283200" cy="370840"/>
        </p:xfrm>
        <a:graphic>
          <a:graphicData uri="http://schemas.openxmlformats.org/drawingml/2006/table">
            <a:tbl>
              <a:tblPr firstRow="1" bandRow="1">
                <a:tableStyleId>{5C22544A-7EE6-4342-B048-85BDC9FD1C3A}</a:tableStyleId>
              </a:tblPr>
              <a:tblGrid>
                <a:gridCol w="660400">
                  <a:extLst>
                    <a:ext uri="{9D8B030D-6E8A-4147-A177-3AD203B41FA5}">
                      <a16:colId xmlns:a16="http://schemas.microsoft.com/office/drawing/2014/main" val="1429389609"/>
                    </a:ext>
                  </a:extLst>
                </a:gridCol>
                <a:gridCol w="660400">
                  <a:extLst>
                    <a:ext uri="{9D8B030D-6E8A-4147-A177-3AD203B41FA5}">
                      <a16:colId xmlns:a16="http://schemas.microsoft.com/office/drawing/2014/main" val="2759294254"/>
                    </a:ext>
                  </a:extLst>
                </a:gridCol>
                <a:gridCol w="660400">
                  <a:extLst>
                    <a:ext uri="{9D8B030D-6E8A-4147-A177-3AD203B41FA5}">
                      <a16:colId xmlns:a16="http://schemas.microsoft.com/office/drawing/2014/main" val="928477152"/>
                    </a:ext>
                  </a:extLst>
                </a:gridCol>
                <a:gridCol w="660400">
                  <a:extLst>
                    <a:ext uri="{9D8B030D-6E8A-4147-A177-3AD203B41FA5}">
                      <a16:colId xmlns:a16="http://schemas.microsoft.com/office/drawing/2014/main" val="1190983843"/>
                    </a:ext>
                  </a:extLst>
                </a:gridCol>
                <a:gridCol w="660400">
                  <a:extLst>
                    <a:ext uri="{9D8B030D-6E8A-4147-A177-3AD203B41FA5}">
                      <a16:colId xmlns:a16="http://schemas.microsoft.com/office/drawing/2014/main" val="1086628086"/>
                    </a:ext>
                  </a:extLst>
                </a:gridCol>
                <a:gridCol w="660400">
                  <a:extLst>
                    <a:ext uri="{9D8B030D-6E8A-4147-A177-3AD203B41FA5}">
                      <a16:colId xmlns:a16="http://schemas.microsoft.com/office/drawing/2014/main" val="3709348734"/>
                    </a:ext>
                  </a:extLst>
                </a:gridCol>
                <a:gridCol w="660400">
                  <a:extLst>
                    <a:ext uri="{9D8B030D-6E8A-4147-A177-3AD203B41FA5}">
                      <a16:colId xmlns:a16="http://schemas.microsoft.com/office/drawing/2014/main" val="2464989513"/>
                    </a:ext>
                  </a:extLst>
                </a:gridCol>
                <a:gridCol w="660400">
                  <a:extLst>
                    <a:ext uri="{9D8B030D-6E8A-4147-A177-3AD203B41FA5}">
                      <a16:colId xmlns:a16="http://schemas.microsoft.com/office/drawing/2014/main" val="1788428284"/>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extLst>
                  <a:ext uri="{0D108BD9-81ED-4DB2-BD59-A6C34878D82A}">
                    <a16:rowId xmlns:a16="http://schemas.microsoft.com/office/drawing/2014/main" val="228704803"/>
                  </a:ext>
                </a:extLst>
              </a:tr>
            </a:tbl>
          </a:graphicData>
        </a:graphic>
      </p:graphicFrame>
      <p:sp>
        <p:nvSpPr>
          <p:cNvPr id="7" name="TextBox 6">
            <a:extLst>
              <a:ext uri="{FF2B5EF4-FFF2-40B4-BE49-F238E27FC236}">
                <a16:creationId xmlns:a16="http://schemas.microsoft.com/office/drawing/2014/main" id="{8E7AE844-6AC4-4686-99C6-EEF83E3F197E}"/>
              </a:ext>
            </a:extLst>
          </p:cNvPr>
          <p:cNvSpPr txBox="1"/>
          <p:nvPr/>
        </p:nvSpPr>
        <p:spPr>
          <a:xfrm>
            <a:off x="476880" y="1135597"/>
            <a:ext cx="5436232" cy="1384995"/>
          </a:xfrm>
          <a:prstGeom prst="rect">
            <a:avLst/>
          </a:prstGeom>
          <a:noFill/>
        </p:spPr>
        <p:txBody>
          <a:bodyPr wrap="none" rtlCol="0" anchor="ctr" anchorCtr="1">
            <a:spAutoFit/>
          </a:bodyPr>
          <a:lstStyle/>
          <a:p>
            <a:r>
              <a:rPr lang="en-US" sz="2400" dirty="0">
                <a:ea typeface="標楷體" pitchFamily="65" charset="-120"/>
                <a:cs typeface="Calibri" pitchFamily="34" charset="0"/>
              </a:rPr>
              <a:t>Compulsory (or Cold) Miss</a:t>
            </a:r>
          </a:p>
          <a:p>
            <a:r>
              <a:rPr lang="en-US" b="0" i="0" dirty="0">
                <a:solidFill>
                  <a:srgbClr val="00B050"/>
                </a:solidFill>
                <a:effectLst/>
                <a:latin typeface="Google Sans"/>
              </a:rPr>
              <a:t>when a piece of data is requested for the very first time </a:t>
            </a:r>
          </a:p>
          <a:p>
            <a:r>
              <a:rPr lang="en-US" b="0" i="0" dirty="0">
                <a:solidFill>
                  <a:srgbClr val="00B050"/>
                </a:solidFill>
                <a:effectLst/>
                <a:latin typeface="Google Sans"/>
              </a:rPr>
              <a:t>and needs to be brought into the cache</a:t>
            </a:r>
          </a:p>
          <a:p>
            <a:r>
              <a:rPr lang="en-US" sz="2400" dirty="0">
                <a:solidFill>
                  <a:srgbClr val="00B050"/>
                </a:solidFill>
                <a:latin typeface="Google Sans"/>
                <a:ea typeface="標楷體" pitchFamily="65" charset="-120"/>
                <a:cs typeface="Calibri" pitchFamily="34" charset="0"/>
              </a:rPr>
              <a:t>	</a:t>
            </a:r>
            <a:r>
              <a:rPr lang="en-US" sz="2400" dirty="0">
                <a:solidFill>
                  <a:srgbClr val="FF0000"/>
                </a:solidFill>
                <a:latin typeface="Google Sans"/>
                <a:ea typeface="標楷體" pitchFamily="65" charset="-120"/>
                <a:cs typeface="Calibri" pitchFamily="34" charset="0"/>
              </a:rPr>
              <a:t>1,4,3,5,7</a:t>
            </a:r>
            <a:endParaRPr lang="en-US" sz="2400" dirty="0">
              <a:solidFill>
                <a:srgbClr val="FF0000"/>
              </a:solidFill>
              <a:ea typeface="標楷體" pitchFamily="65" charset="-120"/>
              <a:cs typeface="Calibri" pitchFamily="34" charset="0"/>
            </a:endParaRPr>
          </a:p>
        </p:txBody>
      </p:sp>
      <p:cxnSp>
        <p:nvCxnSpPr>
          <p:cNvPr id="9" name="Straight Arrow Connector 8">
            <a:extLst>
              <a:ext uri="{FF2B5EF4-FFF2-40B4-BE49-F238E27FC236}">
                <a16:creationId xmlns:a16="http://schemas.microsoft.com/office/drawing/2014/main" id="{1342253F-178E-4BF9-A1E6-32B4939C9143}"/>
              </a:ext>
            </a:extLst>
          </p:cNvPr>
          <p:cNvCxnSpPr/>
          <p:nvPr/>
        </p:nvCxnSpPr>
        <p:spPr bwMode="auto">
          <a:xfrm flipH="1">
            <a:off x="1468877" y="2480553"/>
            <a:ext cx="116732" cy="624285"/>
          </a:xfrm>
          <a:prstGeom prst="straightConnector1">
            <a:avLst/>
          </a:prstGeom>
          <a:noFill/>
          <a:ln w="15875"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280B2EC1-0C47-4823-8CF0-60F994DDAC34}"/>
              </a:ext>
            </a:extLst>
          </p:cNvPr>
          <p:cNvCxnSpPr/>
          <p:nvPr/>
        </p:nvCxnSpPr>
        <p:spPr bwMode="auto">
          <a:xfrm>
            <a:off x="1828800" y="2477234"/>
            <a:ext cx="1556426" cy="580926"/>
          </a:xfrm>
          <a:prstGeom prst="straightConnector1">
            <a:avLst/>
          </a:prstGeom>
          <a:noFill/>
          <a:ln w="15875" cap="flat" cmpd="sng" algn="ctr">
            <a:solidFill>
              <a:srgbClr val="FF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BE477118-8948-417F-B01A-E5F5B6DE71D9}"/>
              </a:ext>
            </a:extLst>
          </p:cNvPr>
          <p:cNvCxnSpPr/>
          <p:nvPr/>
        </p:nvCxnSpPr>
        <p:spPr bwMode="auto">
          <a:xfrm>
            <a:off x="2062264" y="2480553"/>
            <a:ext cx="515342" cy="577607"/>
          </a:xfrm>
          <a:prstGeom prst="straightConnector1">
            <a:avLst/>
          </a:prstGeom>
          <a:noFill/>
          <a:ln w="15875"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300F6A3B-B57F-4F32-A65E-807504802521}"/>
              </a:ext>
            </a:extLst>
          </p:cNvPr>
          <p:cNvCxnSpPr/>
          <p:nvPr/>
        </p:nvCxnSpPr>
        <p:spPr bwMode="auto">
          <a:xfrm>
            <a:off x="2286000" y="2417209"/>
            <a:ext cx="1960888" cy="640951"/>
          </a:xfrm>
          <a:prstGeom prst="straightConnector1">
            <a:avLst/>
          </a:prstGeom>
          <a:noFill/>
          <a:ln w="15875"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8B0DD0BE-5005-43CE-B5FB-8EAF6DC7942B}"/>
              </a:ext>
            </a:extLst>
          </p:cNvPr>
          <p:cNvCxnSpPr/>
          <p:nvPr/>
        </p:nvCxnSpPr>
        <p:spPr bwMode="auto">
          <a:xfrm>
            <a:off x="2577606" y="2373549"/>
            <a:ext cx="2869467" cy="684611"/>
          </a:xfrm>
          <a:prstGeom prst="straightConnector1">
            <a:avLst/>
          </a:prstGeom>
          <a:noFill/>
          <a:ln w="15875" cap="flat" cmpd="sng" algn="ctr">
            <a:solidFill>
              <a:srgbClr val="FF0000"/>
            </a:solidFill>
            <a:prstDash val="solid"/>
            <a:round/>
            <a:headEnd type="none" w="med" len="med"/>
            <a:tailEnd type="triangle"/>
          </a:ln>
          <a:effectLst/>
        </p:spPr>
      </p:cxnSp>
      <p:sp>
        <p:nvSpPr>
          <p:cNvPr id="20" name="TextBox 19">
            <a:extLst>
              <a:ext uri="{FF2B5EF4-FFF2-40B4-BE49-F238E27FC236}">
                <a16:creationId xmlns:a16="http://schemas.microsoft.com/office/drawing/2014/main" id="{6F3AB386-8FEA-42A6-88E7-F3996084D108}"/>
              </a:ext>
            </a:extLst>
          </p:cNvPr>
          <p:cNvSpPr txBox="1"/>
          <p:nvPr/>
        </p:nvSpPr>
        <p:spPr>
          <a:xfrm>
            <a:off x="6096000" y="1135598"/>
            <a:ext cx="5480996" cy="1661993"/>
          </a:xfrm>
          <a:prstGeom prst="rect">
            <a:avLst/>
          </a:prstGeom>
          <a:noFill/>
        </p:spPr>
        <p:txBody>
          <a:bodyPr wrap="squar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ea typeface="標楷體" pitchFamily="65" charset="-120"/>
                <a:cs typeface="Calibri" pitchFamily="34" charset="0"/>
              </a:rPr>
              <a:t>Conflict </a:t>
            </a: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(or Collision) </a:t>
            </a:r>
            <a:r>
              <a:rPr lang="en-US" sz="2400" dirty="0">
                <a:ea typeface="標楷體" pitchFamily="65" charset="-120"/>
                <a:cs typeface="Calibri" pitchFamily="34" charset="0"/>
              </a:rPr>
              <a:t>Miss </a:t>
            </a:r>
          </a:p>
          <a:p>
            <a:r>
              <a:rPr lang="en-US" dirty="0">
                <a:solidFill>
                  <a:srgbClr val="00B050"/>
                </a:solidFill>
                <a:latin typeface="Google Sans"/>
                <a:ea typeface="標楷體" pitchFamily="65" charset="-120"/>
                <a:cs typeface="Calibri" pitchFamily="34" charset="0"/>
              </a:rPr>
              <a:t>Multiple references are mapping to the same set, and </a:t>
            </a:r>
          </a:p>
          <a:p>
            <a:r>
              <a:rPr lang="en-US" dirty="0">
                <a:solidFill>
                  <a:srgbClr val="00B050"/>
                </a:solidFill>
                <a:latin typeface="Google Sans"/>
                <a:ea typeface="標楷體" pitchFamily="65" charset="-120"/>
                <a:cs typeface="Calibri" pitchFamily="34" charset="0"/>
              </a:rPr>
              <a:t>The set is not large enough to hold them. “Collision” </a:t>
            </a:r>
          </a:p>
          <a:p>
            <a:r>
              <a:rPr lang="en-US" dirty="0">
                <a:solidFill>
                  <a:srgbClr val="00B050"/>
                </a:solidFill>
                <a:latin typeface="Google Sans"/>
                <a:ea typeface="標楷體" pitchFamily="65" charset="-120"/>
                <a:cs typeface="Calibri" pitchFamily="34" charset="0"/>
              </a:rPr>
              <a:t>caused misses.</a:t>
            </a:r>
            <a:endParaRPr lang="en-US" sz="2400" dirty="0">
              <a:solidFill>
                <a:srgbClr val="00B050"/>
              </a:solidFill>
              <a:latin typeface="Google Sans"/>
              <a:ea typeface="標楷體" pitchFamily="65" charset="-120"/>
              <a:cs typeface="Calibri" pitchFamily="34" charset="0"/>
            </a:endParaRPr>
          </a:p>
          <a:p>
            <a:r>
              <a:rPr lang="en-US" sz="2400" dirty="0">
                <a:solidFill>
                  <a:srgbClr val="00B050"/>
                </a:solidFill>
                <a:latin typeface="Google Sans"/>
                <a:ea typeface="標楷體" pitchFamily="65" charset="-120"/>
                <a:cs typeface="Calibri" pitchFamily="34" charset="0"/>
              </a:rPr>
              <a:t>		</a:t>
            </a:r>
            <a:r>
              <a:rPr lang="en-US" sz="2400" dirty="0">
                <a:solidFill>
                  <a:srgbClr val="FF0000"/>
                </a:solidFill>
                <a:latin typeface="Google Sans"/>
                <a:ea typeface="標楷體" pitchFamily="65" charset="-120"/>
                <a:cs typeface="Calibri" pitchFamily="34" charset="0"/>
              </a:rPr>
              <a:t>3,4,8,11,12,19, 4</a:t>
            </a:r>
            <a:endParaRPr lang="en-US" sz="2400" dirty="0">
              <a:solidFill>
                <a:srgbClr val="FF0000"/>
              </a:solidFill>
              <a:ea typeface="標楷體" pitchFamily="65" charset="-120"/>
              <a:cs typeface="Calibri" pitchFamily="34" charset="0"/>
            </a:endParaRPr>
          </a:p>
        </p:txBody>
      </p:sp>
      <p:graphicFrame>
        <p:nvGraphicFramePr>
          <p:cNvPr id="21" name="Table 6">
            <a:extLst>
              <a:ext uri="{FF2B5EF4-FFF2-40B4-BE49-F238E27FC236}">
                <a16:creationId xmlns:a16="http://schemas.microsoft.com/office/drawing/2014/main" id="{4A39D387-C7C2-44DF-9379-9A7D62BC39B3}"/>
              </a:ext>
            </a:extLst>
          </p:cNvPr>
          <p:cNvGraphicFramePr>
            <a:graphicFrameLocks noGrp="1"/>
          </p:cNvGraphicFramePr>
          <p:nvPr>
            <p:extLst>
              <p:ext uri="{D42A27DB-BD31-4B8C-83A1-F6EECF244321}">
                <p14:modId xmlns:p14="http://schemas.microsoft.com/office/powerpoint/2010/main" val="24063738"/>
              </p:ext>
            </p:extLst>
          </p:nvPr>
        </p:nvGraphicFramePr>
        <p:xfrm>
          <a:off x="6293796" y="3021180"/>
          <a:ext cx="5283200" cy="370840"/>
        </p:xfrm>
        <a:graphic>
          <a:graphicData uri="http://schemas.openxmlformats.org/drawingml/2006/table">
            <a:tbl>
              <a:tblPr firstRow="1" bandRow="1">
                <a:tableStyleId>{5C22544A-7EE6-4342-B048-85BDC9FD1C3A}</a:tableStyleId>
              </a:tblPr>
              <a:tblGrid>
                <a:gridCol w="660400">
                  <a:extLst>
                    <a:ext uri="{9D8B030D-6E8A-4147-A177-3AD203B41FA5}">
                      <a16:colId xmlns:a16="http://schemas.microsoft.com/office/drawing/2014/main" val="1429389609"/>
                    </a:ext>
                  </a:extLst>
                </a:gridCol>
                <a:gridCol w="660400">
                  <a:extLst>
                    <a:ext uri="{9D8B030D-6E8A-4147-A177-3AD203B41FA5}">
                      <a16:colId xmlns:a16="http://schemas.microsoft.com/office/drawing/2014/main" val="2759294254"/>
                    </a:ext>
                  </a:extLst>
                </a:gridCol>
                <a:gridCol w="660400">
                  <a:extLst>
                    <a:ext uri="{9D8B030D-6E8A-4147-A177-3AD203B41FA5}">
                      <a16:colId xmlns:a16="http://schemas.microsoft.com/office/drawing/2014/main" val="928477152"/>
                    </a:ext>
                  </a:extLst>
                </a:gridCol>
                <a:gridCol w="660400">
                  <a:extLst>
                    <a:ext uri="{9D8B030D-6E8A-4147-A177-3AD203B41FA5}">
                      <a16:colId xmlns:a16="http://schemas.microsoft.com/office/drawing/2014/main" val="1190983843"/>
                    </a:ext>
                  </a:extLst>
                </a:gridCol>
                <a:gridCol w="660400">
                  <a:extLst>
                    <a:ext uri="{9D8B030D-6E8A-4147-A177-3AD203B41FA5}">
                      <a16:colId xmlns:a16="http://schemas.microsoft.com/office/drawing/2014/main" val="1086628086"/>
                    </a:ext>
                  </a:extLst>
                </a:gridCol>
                <a:gridCol w="660400">
                  <a:extLst>
                    <a:ext uri="{9D8B030D-6E8A-4147-A177-3AD203B41FA5}">
                      <a16:colId xmlns:a16="http://schemas.microsoft.com/office/drawing/2014/main" val="3709348734"/>
                    </a:ext>
                  </a:extLst>
                </a:gridCol>
                <a:gridCol w="660400">
                  <a:extLst>
                    <a:ext uri="{9D8B030D-6E8A-4147-A177-3AD203B41FA5}">
                      <a16:colId xmlns:a16="http://schemas.microsoft.com/office/drawing/2014/main" val="2464989513"/>
                    </a:ext>
                  </a:extLst>
                </a:gridCol>
                <a:gridCol w="660400">
                  <a:extLst>
                    <a:ext uri="{9D8B030D-6E8A-4147-A177-3AD203B41FA5}">
                      <a16:colId xmlns:a16="http://schemas.microsoft.com/office/drawing/2014/main" val="1788428284"/>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extLst>
                  <a:ext uri="{0D108BD9-81ED-4DB2-BD59-A6C34878D82A}">
                    <a16:rowId xmlns:a16="http://schemas.microsoft.com/office/drawing/2014/main" val="228704803"/>
                  </a:ext>
                </a:extLst>
              </a:tr>
            </a:tbl>
          </a:graphicData>
        </a:graphic>
      </p:graphicFrame>
      <p:cxnSp>
        <p:nvCxnSpPr>
          <p:cNvPr id="22" name="Straight Arrow Connector 21">
            <a:extLst>
              <a:ext uri="{FF2B5EF4-FFF2-40B4-BE49-F238E27FC236}">
                <a16:creationId xmlns:a16="http://schemas.microsoft.com/office/drawing/2014/main" id="{06A7AAA7-90B6-4432-AE85-06E145B13BB2}"/>
              </a:ext>
            </a:extLst>
          </p:cNvPr>
          <p:cNvCxnSpPr>
            <a:cxnSpLocks/>
          </p:cNvCxnSpPr>
          <p:nvPr/>
        </p:nvCxnSpPr>
        <p:spPr bwMode="auto">
          <a:xfrm>
            <a:off x="8239125" y="2715854"/>
            <a:ext cx="194756" cy="305326"/>
          </a:xfrm>
          <a:prstGeom prst="straightConnector1">
            <a:avLst/>
          </a:prstGeom>
          <a:noFill/>
          <a:ln w="15875" cap="flat" cmpd="sng" algn="ctr">
            <a:solidFill>
              <a:srgbClr val="FF0000"/>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CFAD3081-CA6E-4DE7-9594-91FD0EB1963F}"/>
              </a:ext>
            </a:extLst>
          </p:cNvPr>
          <p:cNvCxnSpPr>
            <a:cxnSpLocks/>
          </p:cNvCxnSpPr>
          <p:nvPr/>
        </p:nvCxnSpPr>
        <p:spPr bwMode="auto">
          <a:xfrm>
            <a:off x="8433881" y="2656491"/>
            <a:ext cx="674136" cy="364689"/>
          </a:xfrm>
          <a:prstGeom prst="straightConnector1">
            <a:avLst/>
          </a:prstGeom>
          <a:noFill/>
          <a:ln w="15875" cap="flat" cmpd="sng" algn="ctr">
            <a:solidFill>
              <a:srgbClr val="FF0000"/>
            </a:solidFill>
            <a:prstDash val="solid"/>
            <a:round/>
            <a:headEnd type="none" w="med" len="med"/>
            <a:tailEnd type="triangle"/>
          </a:ln>
          <a:effectLst/>
        </p:spPr>
      </p:cxnSp>
      <p:cxnSp>
        <p:nvCxnSpPr>
          <p:cNvPr id="25" name="Straight Connector 24">
            <a:extLst>
              <a:ext uri="{FF2B5EF4-FFF2-40B4-BE49-F238E27FC236}">
                <a16:creationId xmlns:a16="http://schemas.microsoft.com/office/drawing/2014/main" id="{615EFE54-E8BF-46BF-86E7-87B6D4294697}"/>
              </a:ext>
            </a:extLst>
          </p:cNvPr>
          <p:cNvCxnSpPr>
            <a:cxnSpLocks/>
          </p:cNvCxnSpPr>
          <p:nvPr/>
        </p:nvCxnSpPr>
        <p:spPr bwMode="auto">
          <a:xfrm flipH="1">
            <a:off x="6744929" y="2689707"/>
            <a:ext cx="1893233" cy="397906"/>
          </a:xfrm>
          <a:prstGeom prst="line">
            <a:avLst/>
          </a:prstGeom>
          <a:noFill/>
          <a:ln w="15875" cap="flat" cmpd="sng" algn="ctr">
            <a:solidFill>
              <a:srgbClr val="FF0000"/>
            </a:solidFill>
            <a:prstDash val="solid"/>
            <a:round/>
            <a:headEnd type="none" w="med" len="med"/>
            <a:tailEnd type="none" w="med" len="med"/>
          </a:ln>
          <a:effectLst/>
        </p:spPr>
      </p:cxnSp>
      <p:cxnSp>
        <p:nvCxnSpPr>
          <p:cNvPr id="29" name="Straight Arrow Connector 28">
            <a:extLst>
              <a:ext uri="{FF2B5EF4-FFF2-40B4-BE49-F238E27FC236}">
                <a16:creationId xmlns:a16="http://schemas.microsoft.com/office/drawing/2014/main" id="{2B77F676-E540-45A1-B068-D3677534D15E}"/>
              </a:ext>
            </a:extLst>
          </p:cNvPr>
          <p:cNvCxnSpPr/>
          <p:nvPr/>
        </p:nvCxnSpPr>
        <p:spPr bwMode="auto">
          <a:xfrm flipH="1">
            <a:off x="8521430" y="2656491"/>
            <a:ext cx="413966" cy="401669"/>
          </a:xfrm>
          <a:prstGeom prst="straightConnector1">
            <a:avLst/>
          </a:prstGeom>
          <a:noFill/>
          <a:ln w="15875" cap="flat" cmpd="sng" algn="ctr">
            <a:solidFill>
              <a:srgbClr val="FF0000"/>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1646056A-414F-470F-BB6F-FA6BECAE2CD4}"/>
              </a:ext>
            </a:extLst>
          </p:cNvPr>
          <p:cNvCxnSpPr/>
          <p:nvPr/>
        </p:nvCxnSpPr>
        <p:spPr bwMode="auto">
          <a:xfrm flipH="1">
            <a:off x="9280604" y="2689707"/>
            <a:ext cx="6485" cy="331473"/>
          </a:xfrm>
          <a:prstGeom prst="straightConnector1">
            <a:avLst/>
          </a:prstGeom>
          <a:noFill/>
          <a:ln w="15875" cap="flat" cmpd="sng" algn="ctr">
            <a:solidFill>
              <a:srgbClr val="FF0000"/>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085A4D38-152E-4D7F-A47D-6BA82F548D3C}"/>
              </a:ext>
            </a:extLst>
          </p:cNvPr>
          <p:cNvCxnSpPr/>
          <p:nvPr/>
        </p:nvCxnSpPr>
        <p:spPr bwMode="auto">
          <a:xfrm flipH="1">
            <a:off x="8650924" y="2689707"/>
            <a:ext cx="1014204" cy="368453"/>
          </a:xfrm>
          <a:prstGeom prst="straightConnector1">
            <a:avLst/>
          </a:prstGeom>
          <a:noFill/>
          <a:ln w="15875" cap="flat" cmpd="sng" algn="ctr">
            <a:solidFill>
              <a:srgbClr val="FF0000"/>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909632E9-B1F7-425B-9E53-FB235A6DFE57}"/>
              </a:ext>
            </a:extLst>
          </p:cNvPr>
          <p:cNvCxnSpPr/>
          <p:nvPr/>
        </p:nvCxnSpPr>
        <p:spPr bwMode="auto">
          <a:xfrm flipH="1">
            <a:off x="9349081" y="2686401"/>
            <a:ext cx="709319" cy="354109"/>
          </a:xfrm>
          <a:prstGeom prst="straightConnector1">
            <a:avLst/>
          </a:prstGeom>
          <a:noFill/>
          <a:ln w="15875" cap="flat" cmpd="sng" algn="ctr">
            <a:solidFill>
              <a:srgbClr val="FF0000"/>
            </a:solidFill>
            <a:prstDash val="solid"/>
            <a:round/>
            <a:headEnd type="none" w="med" len="med"/>
            <a:tailEnd type="triangle"/>
          </a:ln>
          <a:effectLst/>
        </p:spPr>
      </p:cxnSp>
      <p:sp>
        <p:nvSpPr>
          <p:cNvPr id="38" name="TextBox 37">
            <a:extLst>
              <a:ext uri="{FF2B5EF4-FFF2-40B4-BE49-F238E27FC236}">
                <a16:creationId xmlns:a16="http://schemas.microsoft.com/office/drawing/2014/main" id="{FD77866B-C1A4-41CA-B33B-89E50AC0EAFD}"/>
              </a:ext>
            </a:extLst>
          </p:cNvPr>
          <p:cNvSpPr txBox="1"/>
          <p:nvPr/>
        </p:nvSpPr>
        <p:spPr>
          <a:xfrm>
            <a:off x="400364" y="3390170"/>
            <a:ext cx="5447325" cy="1569660"/>
          </a:xfrm>
          <a:prstGeom prst="rect">
            <a:avLst/>
          </a:prstGeom>
          <a:noFill/>
        </p:spPr>
        <p:txBody>
          <a:bodyPr wrap="none" rtlCol="0" anchor="ctr" anchorCtr="1">
            <a:spAutoFit/>
          </a:bodyPr>
          <a:lstStyle/>
          <a:p>
            <a:r>
              <a:rPr lang="en-US" sz="2400" dirty="0">
                <a:ea typeface="標楷體" pitchFamily="65" charset="-120"/>
                <a:cs typeface="Calibri" pitchFamily="34" charset="0"/>
              </a:rPr>
              <a:t>Capacity Miss</a:t>
            </a:r>
          </a:p>
          <a:p>
            <a:r>
              <a:rPr lang="en-US" sz="2400" dirty="0">
                <a:solidFill>
                  <a:srgbClr val="00B050"/>
                </a:solidFill>
                <a:latin typeface="Google Sans"/>
                <a:ea typeface="標楷體" pitchFamily="65" charset="-120"/>
                <a:cs typeface="Calibri" pitchFamily="34" charset="0"/>
              </a:rPr>
              <a:t>Cache is not large enough to hold needed</a:t>
            </a:r>
          </a:p>
          <a:p>
            <a:r>
              <a:rPr lang="en-US" sz="2400" dirty="0">
                <a:solidFill>
                  <a:srgbClr val="00B050"/>
                </a:solidFill>
                <a:latin typeface="Google Sans"/>
                <a:ea typeface="標楷體" pitchFamily="65" charset="-120"/>
                <a:cs typeface="Calibri" pitchFamily="34" charset="0"/>
              </a:rPr>
              <a:t>Blocks</a:t>
            </a:r>
          </a:p>
          <a:p>
            <a:r>
              <a:rPr lang="en-US" sz="2400" dirty="0">
                <a:solidFill>
                  <a:srgbClr val="00B050"/>
                </a:solidFill>
                <a:latin typeface="Google Sans"/>
                <a:ea typeface="標楷體" pitchFamily="65" charset="-120"/>
                <a:cs typeface="Calibri" pitchFamily="34" charset="0"/>
              </a:rPr>
              <a:t>	</a:t>
            </a:r>
            <a:r>
              <a:rPr lang="en-US" sz="2400" dirty="0">
                <a:solidFill>
                  <a:srgbClr val="FF0000"/>
                </a:solidFill>
                <a:latin typeface="Google Sans"/>
                <a:ea typeface="標楷體" pitchFamily="65" charset="-120"/>
                <a:cs typeface="Calibri" pitchFamily="34" charset="0"/>
              </a:rPr>
              <a:t>1,2,3,4,5,6,7,8,9,1,2,3,4,5,6,7,8,9</a:t>
            </a:r>
            <a:endParaRPr lang="en-US" sz="2400" dirty="0">
              <a:solidFill>
                <a:srgbClr val="FF0000"/>
              </a:solidFill>
              <a:ea typeface="標楷體" pitchFamily="65" charset="-120"/>
              <a:cs typeface="Calibri" pitchFamily="34" charset="0"/>
            </a:endParaRPr>
          </a:p>
        </p:txBody>
      </p:sp>
      <p:graphicFrame>
        <p:nvGraphicFramePr>
          <p:cNvPr id="39" name="Table 6">
            <a:extLst>
              <a:ext uri="{FF2B5EF4-FFF2-40B4-BE49-F238E27FC236}">
                <a16:creationId xmlns:a16="http://schemas.microsoft.com/office/drawing/2014/main" id="{504D1F20-8EC6-4CE2-AE8F-8CA93E9093C9}"/>
              </a:ext>
            </a:extLst>
          </p:cNvPr>
          <p:cNvGraphicFramePr>
            <a:graphicFrameLocks noGrp="1"/>
          </p:cNvGraphicFramePr>
          <p:nvPr>
            <p:extLst>
              <p:ext uri="{D42A27DB-BD31-4B8C-83A1-F6EECF244321}">
                <p14:modId xmlns:p14="http://schemas.microsoft.com/office/powerpoint/2010/main" val="4166843202"/>
              </p:ext>
            </p:extLst>
          </p:nvPr>
        </p:nvGraphicFramePr>
        <p:xfrm>
          <a:off x="485750" y="5059742"/>
          <a:ext cx="5283200" cy="370840"/>
        </p:xfrm>
        <a:graphic>
          <a:graphicData uri="http://schemas.openxmlformats.org/drawingml/2006/table">
            <a:tbl>
              <a:tblPr firstRow="1" bandRow="1">
                <a:tableStyleId>{5C22544A-7EE6-4342-B048-85BDC9FD1C3A}</a:tableStyleId>
              </a:tblPr>
              <a:tblGrid>
                <a:gridCol w="660400">
                  <a:extLst>
                    <a:ext uri="{9D8B030D-6E8A-4147-A177-3AD203B41FA5}">
                      <a16:colId xmlns:a16="http://schemas.microsoft.com/office/drawing/2014/main" val="1429389609"/>
                    </a:ext>
                  </a:extLst>
                </a:gridCol>
                <a:gridCol w="660400">
                  <a:extLst>
                    <a:ext uri="{9D8B030D-6E8A-4147-A177-3AD203B41FA5}">
                      <a16:colId xmlns:a16="http://schemas.microsoft.com/office/drawing/2014/main" val="2759294254"/>
                    </a:ext>
                  </a:extLst>
                </a:gridCol>
                <a:gridCol w="660400">
                  <a:extLst>
                    <a:ext uri="{9D8B030D-6E8A-4147-A177-3AD203B41FA5}">
                      <a16:colId xmlns:a16="http://schemas.microsoft.com/office/drawing/2014/main" val="928477152"/>
                    </a:ext>
                  </a:extLst>
                </a:gridCol>
                <a:gridCol w="660400">
                  <a:extLst>
                    <a:ext uri="{9D8B030D-6E8A-4147-A177-3AD203B41FA5}">
                      <a16:colId xmlns:a16="http://schemas.microsoft.com/office/drawing/2014/main" val="1190983843"/>
                    </a:ext>
                  </a:extLst>
                </a:gridCol>
                <a:gridCol w="660400">
                  <a:extLst>
                    <a:ext uri="{9D8B030D-6E8A-4147-A177-3AD203B41FA5}">
                      <a16:colId xmlns:a16="http://schemas.microsoft.com/office/drawing/2014/main" val="1086628086"/>
                    </a:ext>
                  </a:extLst>
                </a:gridCol>
                <a:gridCol w="660400">
                  <a:extLst>
                    <a:ext uri="{9D8B030D-6E8A-4147-A177-3AD203B41FA5}">
                      <a16:colId xmlns:a16="http://schemas.microsoft.com/office/drawing/2014/main" val="3709348734"/>
                    </a:ext>
                  </a:extLst>
                </a:gridCol>
                <a:gridCol w="660400">
                  <a:extLst>
                    <a:ext uri="{9D8B030D-6E8A-4147-A177-3AD203B41FA5}">
                      <a16:colId xmlns:a16="http://schemas.microsoft.com/office/drawing/2014/main" val="2464989513"/>
                    </a:ext>
                  </a:extLst>
                </a:gridCol>
                <a:gridCol w="660400">
                  <a:extLst>
                    <a:ext uri="{9D8B030D-6E8A-4147-A177-3AD203B41FA5}">
                      <a16:colId xmlns:a16="http://schemas.microsoft.com/office/drawing/2014/main" val="1788428284"/>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extLst>
                  <a:ext uri="{0D108BD9-81ED-4DB2-BD59-A6C34878D82A}">
                    <a16:rowId xmlns:a16="http://schemas.microsoft.com/office/drawing/2014/main" val="228704803"/>
                  </a:ext>
                </a:extLst>
              </a:tr>
            </a:tbl>
          </a:graphicData>
        </a:graphic>
      </p:graphicFrame>
      <p:sp>
        <p:nvSpPr>
          <p:cNvPr id="40" name="TextBox 39">
            <a:extLst>
              <a:ext uri="{FF2B5EF4-FFF2-40B4-BE49-F238E27FC236}">
                <a16:creationId xmlns:a16="http://schemas.microsoft.com/office/drawing/2014/main" id="{D375905F-5378-4A68-B3E7-E1F910DD07B8}"/>
              </a:ext>
            </a:extLst>
          </p:cNvPr>
          <p:cNvSpPr txBox="1"/>
          <p:nvPr/>
        </p:nvSpPr>
        <p:spPr>
          <a:xfrm>
            <a:off x="6208410" y="3532396"/>
            <a:ext cx="5157494" cy="1384995"/>
          </a:xfrm>
          <a:prstGeom prst="rect">
            <a:avLst/>
          </a:prstGeom>
          <a:noFill/>
        </p:spPr>
        <p:txBody>
          <a:bodyPr wrap="square" rtlCol="0" anchor="ctr" anchorCtr="1">
            <a:spAutoFit/>
          </a:bodyPr>
          <a:lstStyle/>
          <a:p>
            <a:r>
              <a:rPr lang="en-US" sz="2400" dirty="0">
                <a:ea typeface="標楷體" pitchFamily="65" charset="-120"/>
                <a:cs typeface="Calibri" pitchFamily="34" charset="0"/>
              </a:rPr>
              <a:t>Coherency Miss</a:t>
            </a:r>
          </a:p>
          <a:p>
            <a:pPr algn="l"/>
            <a:r>
              <a:rPr lang="en-US" sz="2000" b="0" i="0" u="none" strike="noStrike" baseline="0" dirty="0">
                <a:solidFill>
                  <a:srgbClr val="00B050"/>
                </a:solidFill>
                <a:latin typeface="TimesNewRomanPSMT"/>
              </a:rPr>
              <a:t>Occurs when invalidation requests are issued by other processors in a multiprocessor system to maintain coherence of cached data</a:t>
            </a:r>
            <a:endParaRPr lang="en-US" sz="2000" dirty="0">
              <a:solidFill>
                <a:srgbClr val="00B050"/>
              </a:solidFill>
              <a:ea typeface="標楷體" pitchFamily="65" charset="-120"/>
              <a:cs typeface="Calibri" pitchFamily="34" charset="0"/>
            </a:endParaRPr>
          </a:p>
        </p:txBody>
      </p:sp>
    </p:spTree>
    <p:extLst>
      <p:ext uri="{BB962C8B-B14F-4D97-AF65-F5344CB8AC3E}">
        <p14:creationId xmlns:p14="http://schemas.microsoft.com/office/powerpoint/2010/main" val="1741065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AU" altLang="zh-TW" sz="4400" dirty="0">
                <a:ea typeface="新細明體" panose="02020500000000000000" pitchFamily="18" charset="-120"/>
              </a:rPr>
              <a:t>Victim Cache</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94</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a:xfrm>
            <a:off x="609600" y="1148469"/>
            <a:ext cx="6754238" cy="4872919"/>
          </a:xfrm>
        </p:spPr>
        <p:txBody>
          <a:bodyPr/>
          <a:lstStyle/>
          <a:p>
            <a:r>
              <a:rPr lang="en-US" sz="2800" dirty="0"/>
              <a:t>A small fully-associative back up cache, called </a:t>
            </a:r>
            <a:r>
              <a:rPr lang="en-US" sz="2800" i="1" dirty="0">
                <a:solidFill>
                  <a:srgbClr val="FF0000"/>
                </a:solidFill>
              </a:rPr>
              <a:t>victim cache</a:t>
            </a:r>
            <a:r>
              <a:rPr lang="en-US" sz="2800" dirty="0"/>
              <a:t>, could be added to a direct-mapped L1 cache to hold recently evicted cache lines. </a:t>
            </a:r>
          </a:p>
          <a:p>
            <a:r>
              <a:rPr lang="en-US" sz="2800" dirty="0"/>
              <a:t>To defend for cases where some repeated access patterns incur multiple power-of-two addresses and cause intensive conflict misses.</a:t>
            </a:r>
          </a:p>
          <a:p>
            <a:r>
              <a:rPr lang="en-US" sz="2800" dirty="0"/>
              <a:t>The victim cache is small, usually 4-8 lines, so can be accessed quickly.</a:t>
            </a:r>
          </a:p>
        </p:txBody>
      </p:sp>
      <p:pic>
        <p:nvPicPr>
          <p:cNvPr id="5" name="Picture 4">
            <a:extLst>
              <a:ext uri="{FF2B5EF4-FFF2-40B4-BE49-F238E27FC236}">
                <a16:creationId xmlns:a16="http://schemas.microsoft.com/office/drawing/2014/main" id="{54CCC59A-D0F3-43E8-9DFD-E7EBFA91D77E}"/>
              </a:ext>
            </a:extLst>
          </p:cNvPr>
          <p:cNvPicPr>
            <a:picLocks noChangeAspect="1"/>
          </p:cNvPicPr>
          <p:nvPr/>
        </p:nvPicPr>
        <p:blipFill>
          <a:blip r:embed="rId3"/>
          <a:stretch>
            <a:fillRect/>
          </a:stretch>
        </p:blipFill>
        <p:spPr>
          <a:xfrm>
            <a:off x="7186297" y="1139347"/>
            <a:ext cx="4839375" cy="2667372"/>
          </a:xfrm>
          <a:prstGeom prst="rect">
            <a:avLst/>
          </a:prstGeom>
        </p:spPr>
      </p:pic>
      <p:sp>
        <p:nvSpPr>
          <p:cNvPr id="4" name="TextBox 3">
            <a:extLst>
              <a:ext uri="{FF2B5EF4-FFF2-40B4-BE49-F238E27FC236}">
                <a16:creationId xmlns:a16="http://schemas.microsoft.com/office/drawing/2014/main" id="{8B6AF3BB-BFEA-49C7-B63D-CA1B241BA50A}"/>
              </a:ext>
            </a:extLst>
          </p:cNvPr>
          <p:cNvSpPr txBox="1"/>
          <p:nvPr/>
        </p:nvSpPr>
        <p:spPr>
          <a:xfrm>
            <a:off x="7363838" y="4272737"/>
            <a:ext cx="4788555" cy="1477328"/>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Consider a sequence:</a:t>
            </a:r>
          </a:p>
          <a:p>
            <a:r>
              <a:rPr lang="en-US" dirty="0">
                <a:ea typeface="標楷體" pitchFamily="65" charset="-120"/>
                <a:cs typeface="Calibri" pitchFamily="34" charset="0"/>
              </a:rPr>
              <a:t>0, 4, 8, 2, 3, 12, 4, 8, 0, 12, 4, 0, 5,6,……</a:t>
            </a:r>
          </a:p>
          <a:p>
            <a:r>
              <a:rPr lang="en-US" dirty="0">
                <a:ea typeface="標楷體" pitchFamily="65" charset="-120"/>
                <a:cs typeface="Calibri" pitchFamily="34" charset="0"/>
              </a:rPr>
              <a:t>0, 4, 8, 12 may be mapped to the same set,</a:t>
            </a:r>
          </a:p>
          <a:p>
            <a:r>
              <a:rPr lang="en-US" dirty="0">
                <a:ea typeface="標楷體" pitchFamily="65" charset="-120"/>
                <a:cs typeface="Calibri" pitchFamily="34" charset="0"/>
              </a:rPr>
              <a:t>so the hit rate is low, but all of them could be </a:t>
            </a:r>
          </a:p>
          <a:p>
            <a:r>
              <a:rPr lang="en-US" dirty="0">
                <a:ea typeface="標楷體" pitchFamily="65" charset="-120"/>
                <a:cs typeface="Calibri" pitchFamily="34" charset="0"/>
              </a:rPr>
              <a:t>sitting in the victim cache.</a:t>
            </a:r>
          </a:p>
        </p:txBody>
      </p:sp>
    </p:spTree>
    <p:extLst>
      <p:ext uri="{BB962C8B-B14F-4D97-AF65-F5344CB8AC3E}">
        <p14:creationId xmlns:p14="http://schemas.microsoft.com/office/powerpoint/2010/main" val="28151487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AU" altLang="zh-TW" sz="4400" dirty="0">
                <a:ea typeface="新細明體" panose="02020500000000000000" pitchFamily="18" charset="-120"/>
              </a:rPr>
              <a:t>Victim Cache</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95</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a:xfrm>
            <a:off x="166328" y="1126169"/>
            <a:ext cx="7059038" cy="4872919"/>
          </a:xfrm>
        </p:spPr>
        <p:txBody>
          <a:bodyPr/>
          <a:lstStyle/>
          <a:p>
            <a:r>
              <a:rPr lang="en-US" sz="2800" dirty="0"/>
              <a:t>A small fully-associative back up cache, called </a:t>
            </a:r>
            <a:r>
              <a:rPr lang="en-US" sz="2800" i="1" dirty="0">
                <a:solidFill>
                  <a:srgbClr val="FF0000"/>
                </a:solidFill>
              </a:rPr>
              <a:t>victim cache</a:t>
            </a:r>
            <a:r>
              <a:rPr lang="en-US" sz="2800" dirty="0"/>
              <a:t>, could be added to a direct-mapped L1 cache to hold recently evicted cache lines. </a:t>
            </a:r>
          </a:p>
          <a:p>
            <a:r>
              <a:rPr lang="en-US" sz="2800" dirty="0"/>
              <a:t>To defend for cases where some repeated access patterns incur multiple power-of-two addresses and cause intensive conflict misses. Note that such conflict misses are often occur within a small number of sets</a:t>
            </a:r>
          </a:p>
          <a:p>
            <a:r>
              <a:rPr lang="en-US" sz="2800" dirty="0"/>
              <a:t>The victim cache is small, usually 4-8 lines, so can be accessed quickly.</a:t>
            </a:r>
          </a:p>
        </p:txBody>
      </p:sp>
      <p:pic>
        <p:nvPicPr>
          <p:cNvPr id="5" name="Picture 4">
            <a:extLst>
              <a:ext uri="{FF2B5EF4-FFF2-40B4-BE49-F238E27FC236}">
                <a16:creationId xmlns:a16="http://schemas.microsoft.com/office/drawing/2014/main" id="{54CCC59A-D0F3-43E8-9DFD-E7EBFA91D77E}"/>
              </a:ext>
            </a:extLst>
          </p:cNvPr>
          <p:cNvPicPr>
            <a:picLocks noChangeAspect="1"/>
          </p:cNvPicPr>
          <p:nvPr/>
        </p:nvPicPr>
        <p:blipFill>
          <a:blip r:embed="rId3"/>
          <a:stretch>
            <a:fillRect/>
          </a:stretch>
        </p:blipFill>
        <p:spPr>
          <a:xfrm>
            <a:off x="7186297" y="1139347"/>
            <a:ext cx="4839375" cy="2667372"/>
          </a:xfrm>
          <a:prstGeom prst="rect">
            <a:avLst/>
          </a:prstGeom>
        </p:spPr>
      </p:pic>
      <p:sp>
        <p:nvSpPr>
          <p:cNvPr id="4" name="TextBox 3">
            <a:extLst>
              <a:ext uri="{FF2B5EF4-FFF2-40B4-BE49-F238E27FC236}">
                <a16:creationId xmlns:a16="http://schemas.microsoft.com/office/drawing/2014/main" id="{8B6AF3BB-BFEA-49C7-B63D-CA1B241BA50A}"/>
              </a:ext>
            </a:extLst>
          </p:cNvPr>
          <p:cNvSpPr txBox="1"/>
          <p:nvPr/>
        </p:nvSpPr>
        <p:spPr>
          <a:xfrm>
            <a:off x="7363838" y="4100492"/>
            <a:ext cx="4275529"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Combining the advantages of a direct </a:t>
            </a:r>
          </a:p>
          <a:p>
            <a:r>
              <a:rPr lang="en-US" dirty="0">
                <a:ea typeface="標楷體" pitchFamily="65" charset="-120"/>
                <a:cs typeface="Calibri" pitchFamily="34" charset="0"/>
              </a:rPr>
              <a:t>mapped cache and the benefit of a fully </a:t>
            </a:r>
          </a:p>
          <a:p>
            <a:r>
              <a:rPr lang="en-US" dirty="0">
                <a:ea typeface="標楷體" pitchFamily="65" charset="-120"/>
                <a:cs typeface="Calibri" pitchFamily="34" charset="0"/>
              </a:rPr>
              <a:t>associative cache.</a:t>
            </a:r>
          </a:p>
        </p:txBody>
      </p:sp>
    </p:spTree>
    <p:extLst>
      <p:ext uri="{BB962C8B-B14F-4D97-AF65-F5344CB8AC3E}">
        <p14:creationId xmlns:p14="http://schemas.microsoft.com/office/powerpoint/2010/main" val="15778536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219201" y="173040"/>
            <a:ext cx="9086851" cy="613541"/>
          </a:xfrm>
        </p:spPr>
        <p:txBody>
          <a:bodyPr/>
          <a:lstStyle/>
          <a:p>
            <a:r>
              <a:rPr lang="en-US" altLang="zh-TW" dirty="0"/>
              <a:t>Associativity and Miss Rates</a:t>
            </a:r>
            <a:endParaRPr lang="en-AU" altLang="zh-TW" dirty="0">
              <a:ea typeface="新細明體" panose="02020500000000000000" pitchFamily="18" charset="-120"/>
            </a:endParaRPr>
          </a:p>
        </p:txBody>
      </p:sp>
      <p:sp>
        <p:nvSpPr>
          <p:cNvPr id="61443" name="Rectangle 3"/>
          <p:cNvSpPr>
            <a:spLocks noGrp="1" noChangeArrowheads="1"/>
          </p:cNvSpPr>
          <p:nvPr>
            <p:ph type="body" idx="1"/>
          </p:nvPr>
        </p:nvSpPr>
        <p:spPr>
          <a:xfrm>
            <a:off x="437745" y="1125538"/>
            <a:ext cx="11144655" cy="4448411"/>
          </a:xfrm>
        </p:spPr>
        <p:txBody>
          <a:bodyPr/>
          <a:lstStyle/>
          <a:p>
            <a:pPr>
              <a:spcBef>
                <a:spcPts val="0"/>
              </a:spcBef>
            </a:pPr>
            <a:r>
              <a:rPr lang="en-US" altLang="zh-TW" dirty="0"/>
              <a:t>In general, increased associativity decreases miss rate</a:t>
            </a:r>
          </a:p>
          <a:p>
            <a:pPr lvl="1">
              <a:spcBef>
                <a:spcPts val="0"/>
              </a:spcBef>
            </a:pPr>
            <a:r>
              <a:rPr lang="en-US" altLang="zh-TW" dirty="0"/>
              <a:t>But with diminishing returns</a:t>
            </a:r>
          </a:p>
          <a:p>
            <a:pPr>
              <a:spcBef>
                <a:spcPts val="0"/>
              </a:spcBef>
            </a:pPr>
            <a:r>
              <a:rPr lang="en-US" altLang="zh-TW" dirty="0"/>
              <a:t>Simulation of a system with 64KB</a:t>
            </a:r>
            <a:br>
              <a:rPr lang="en-US" altLang="zh-TW" dirty="0"/>
            </a:br>
            <a:r>
              <a:rPr lang="en-US" altLang="zh-TW" dirty="0"/>
              <a:t>D-cache, 16-word blocks, SPEC2000</a:t>
            </a:r>
          </a:p>
          <a:p>
            <a:pPr lvl="1">
              <a:spcBef>
                <a:spcPts val="0"/>
              </a:spcBef>
            </a:pPr>
            <a:r>
              <a:rPr lang="en-US" altLang="zh-TW" dirty="0"/>
              <a:t>1-way: 10.3%</a:t>
            </a:r>
          </a:p>
          <a:p>
            <a:pPr lvl="1">
              <a:spcBef>
                <a:spcPts val="0"/>
              </a:spcBef>
            </a:pPr>
            <a:r>
              <a:rPr lang="en-US" altLang="zh-TW" dirty="0"/>
              <a:t>2-way: 8.6%</a:t>
            </a:r>
          </a:p>
          <a:p>
            <a:pPr lvl="1">
              <a:spcBef>
                <a:spcPts val="0"/>
              </a:spcBef>
            </a:pPr>
            <a:r>
              <a:rPr lang="en-US" altLang="zh-TW" dirty="0"/>
              <a:t>4-way: 8.3%</a:t>
            </a:r>
          </a:p>
          <a:p>
            <a:pPr lvl="1">
              <a:spcBef>
                <a:spcPts val="0"/>
              </a:spcBef>
            </a:pPr>
            <a:r>
              <a:rPr lang="en-US" altLang="zh-TW" dirty="0"/>
              <a:t>8-way: 8.1%</a:t>
            </a:r>
            <a:endParaRPr lang="en-AU" altLang="zh-TW"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96</a:t>
            </a:fld>
            <a:endParaRPr lang="zh-TW"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219201" y="173040"/>
            <a:ext cx="9086851" cy="613541"/>
          </a:xfrm>
        </p:spPr>
        <p:txBody>
          <a:bodyPr/>
          <a:lstStyle/>
          <a:p>
            <a:r>
              <a:rPr lang="en-US" altLang="zh-TW" dirty="0"/>
              <a:t>Cache Sizes and Associativity</a:t>
            </a:r>
            <a:endParaRPr lang="en-AU" altLang="zh-TW"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97</a:t>
            </a:fld>
            <a:endParaRPr lang="zh-TW" altLang="en-US"/>
          </a:p>
        </p:txBody>
      </p:sp>
      <p:pic>
        <p:nvPicPr>
          <p:cNvPr id="8" name="Picture 7">
            <a:extLst>
              <a:ext uri="{FF2B5EF4-FFF2-40B4-BE49-F238E27FC236}">
                <a16:creationId xmlns:a16="http://schemas.microsoft.com/office/drawing/2014/main" id="{9ECD3C28-7F4C-4F5A-9313-50F03CCFD7E5}"/>
              </a:ext>
            </a:extLst>
          </p:cNvPr>
          <p:cNvPicPr>
            <a:picLocks noChangeAspect="1"/>
          </p:cNvPicPr>
          <p:nvPr/>
        </p:nvPicPr>
        <p:blipFill>
          <a:blip r:embed="rId3"/>
          <a:stretch>
            <a:fillRect/>
          </a:stretch>
        </p:blipFill>
        <p:spPr>
          <a:xfrm>
            <a:off x="1219201" y="1011677"/>
            <a:ext cx="9360194" cy="5223754"/>
          </a:xfrm>
          <a:prstGeom prst="rect">
            <a:avLst/>
          </a:prstGeom>
        </p:spPr>
      </p:pic>
    </p:spTree>
    <p:extLst>
      <p:ext uri="{BB962C8B-B14F-4D97-AF65-F5344CB8AC3E}">
        <p14:creationId xmlns:p14="http://schemas.microsoft.com/office/powerpoint/2010/main" val="303911011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026"/>
          <p:cNvPicPr>
            <a:picLocks noChangeArrowheads="1"/>
          </p:cNvPicPr>
          <p:nvPr/>
        </p:nvPicPr>
        <p:blipFill>
          <a:blip r:embed="rId2"/>
          <a:srcRect/>
          <a:stretch>
            <a:fillRect/>
          </a:stretch>
        </p:blipFill>
        <p:spPr bwMode="auto">
          <a:xfrm>
            <a:off x="806245" y="1651821"/>
            <a:ext cx="10412361" cy="4463844"/>
          </a:xfrm>
          <a:prstGeom prst="rect">
            <a:avLst/>
          </a:prstGeom>
          <a:noFill/>
          <a:ln w="12700">
            <a:noFill/>
            <a:miter lim="800000"/>
            <a:headEnd/>
            <a:tailEnd/>
          </a:ln>
        </p:spPr>
      </p:pic>
      <p:sp>
        <p:nvSpPr>
          <p:cNvPr id="62467" name="Rectangle 1027"/>
          <p:cNvSpPr>
            <a:spLocks noGrp="1" noChangeArrowheads="1"/>
          </p:cNvSpPr>
          <p:nvPr>
            <p:ph type="title"/>
          </p:nvPr>
        </p:nvSpPr>
        <p:spPr>
          <a:xfrm>
            <a:off x="1327355" y="152401"/>
            <a:ext cx="9143796" cy="634180"/>
          </a:xfrm>
        </p:spPr>
        <p:txBody>
          <a:bodyPr/>
          <a:lstStyle/>
          <a:p>
            <a:r>
              <a:rPr lang="en-US" altLang="zh-TW" dirty="0"/>
              <a:t>A 4-Way Set-Associative Cache</a:t>
            </a:r>
          </a:p>
        </p:txBody>
      </p:sp>
      <p:sp>
        <p:nvSpPr>
          <p:cNvPr id="62468" name="Rectangle 1028"/>
          <p:cNvSpPr>
            <a:spLocks noGrp="1" noChangeArrowheads="1"/>
          </p:cNvSpPr>
          <p:nvPr>
            <p:ph type="body" idx="1"/>
          </p:nvPr>
        </p:nvSpPr>
        <p:spPr>
          <a:xfrm>
            <a:off x="1323668" y="1036280"/>
            <a:ext cx="9481985" cy="497552"/>
          </a:xfrm>
        </p:spPr>
        <p:txBody>
          <a:bodyPr/>
          <a:lstStyle/>
          <a:p>
            <a:pPr marL="286166" indent="-286166"/>
            <a:r>
              <a:rPr lang="en-US" altLang="zh-TW" sz="2667" dirty="0"/>
              <a:t>Increasing associativity shrinks index, expands tag</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98</a:t>
            </a:fld>
            <a:endParaRPr lang="zh-TW"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8988528" cy="652871"/>
          </a:xfrm>
        </p:spPr>
        <p:txBody>
          <a:bodyPr/>
          <a:lstStyle/>
          <a:p>
            <a:r>
              <a:rPr lang="en-US" altLang="zh-TW" dirty="0"/>
              <a:t>Conflict Misses</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99</a:t>
            </a:fld>
            <a:endParaRPr lang="zh-TW" altLang="en-US"/>
          </a:p>
        </p:txBody>
      </p:sp>
      <p:sp>
        <p:nvSpPr>
          <p:cNvPr id="3" name="Content Placeholder 2">
            <a:extLst>
              <a:ext uri="{FF2B5EF4-FFF2-40B4-BE49-F238E27FC236}">
                <a16:creationId xmlns:a16="http://schemas.microsoft.com/office/drawing/2014/main" id="{C35A3E12-73A7-4EC6-A6C6-F1186812C00F}"/>
              </a:ext>
            </a:extLst>
          </p:cNvPr>
          <p:cNvSpPr>
            <a:spLocks noGrp="1"/>
          </p:cNvSpPr>
          <p:nvPr>
            <p:ph idx="1"/>
          </p:nvPr>
        </p:nvSpPr>
        <p:spPr/>
        <p:txBody>
          <a:bodyPr/>
          <a:lstStyle/>
          <a:p>
            <a:r>
              <a:rPr lang="en-US" sz="2800" dirty="0"/>
              <a:t>Conflict misses occur when multiple lines are mapped to the same set</a:t>
            </a:r>
          </a:p>
          <a:p>
            <a:pPr lvl="1"/>
            <a:r>
              <a:rPr lang="en-US" sz="2267" dirty="0"/>
              <a:t>Their </a:t>
            </a:r>
            <a:r>
              <a:rPr lang="en-US" sz="2267" dirty="0">
                <a:solidFill>
                  <a:srgbClr val="FF0000"/>
                </a:solidFill>
              </a:rPr>
              <a:t>set select bits </a:t>
            </a:r>
            <a:r>
              <a:rPr lang="en-US" sz="2267" dirty="0"/>
              <a:t>are identical !!</a:t>
            </a:r>
          </a:p>
          <a:p>
            <a:pPr lvl="1"/>
            <a:r>
              <a:rPr lang="en-US" sz="2267" dirty="0"/>
              <a:t>When the address distance between two lines is multiple of the cache size, the set selection bit will be identical.</a:t>
            </a:r>
          </a:p>
          <a:p>
            <a:pPr lvl="1"/>
            <a:r>
              <a:rPr lang="en-US" sz="2267" dirty="0"/>
              <a:t>Example: 4KB direct mapped cache, with 64B cache line. There are 64 sets</a:t>
            </a:r>
          </a:p>
          <a:p>
            <a:pPr lvl="1"/>
            <a:endParaRPr lang="en-US" sz="2267" dirty="0"/>
          </a:p>
          <a:p>
            <a:pPr lvl="1"/>
            <a:endParaRPr lang="en-US" sz="2267" dirty="0"/>
          </a:p>
          <a:p>
            <a:pPr lvl="1"/>
            <a:endParaRPr lang="en-US" sz="2267" dirty="0"/>
          </a:p>
          <a:p>
            <a:pPr lvl="1"/>
            <a:r>
              <a:rPr lang="en-US" sz="2267" dirty="0"/>
              <a:t>If the distance to another line address is </a:t>
            </a:r>
            <a:r>
              <a:rPr lang="en-US" sz="2800" dirty="0">
                <a:solidFill>
                  <a:srgbClr val="FF0000"/>
                </a:solidFill>
              </a:rPr>
              <a:t>+4096 </a:t>
            </a:r>
          </a:p>
        </p:txBody>
      </p:sp>
      <p:sp>
        <p:nvSpPr>
          <p:cNvPr id="7" name="Rectangle 6">
            <a:extLst>
              <a:ext uri="{FF2B5EF4-FFF2-40B4-BE49-F238E27FC236}">
                <a16:creationId xmlns:a16="http://schemas.microsoft.com/office/drawing/2014/main" id="{DCDF30D2-3192-4ADE-A013-5B88358A2599}"/>
              </a:ext>
            </a:extLst>
          </p:cNvPr>
          <p:cNvSpPr/>
          <p:nvPr/>
        </p:nvSpPr>
        <p:spPr bwMode="auto">
          <a:xfrm>
            <a:off x="1275165" y="3563738"/>
            <a:ext cx="4428565"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Rectangle 7">
            <a:extLst>
              <a:ext uri="{FF2B5EF4-FFF2-40B4-BE49-F238E27FC236}">
                <a16:creationId xmlns:a16="http://schemas.microsoft.com/office/drawing/2014/main" id="{38172B81-F799-468C-939E-D3B27925ED15}"/>
              </a:ext>
            </a:extLst>
          </p:cNvPr>
          <p:cNvSpPr/>
          <p:nvPr/>
        </p:nvSpPr>
        <p:spPr bwMode="auto">
          <a:xfrm>
            <a:off x="5703730" y="3563738"/>
            <a:ext cx="3236259"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Rectangle 8">
            <a:extLst>
              <a:ext uri="{FF2B5EF4-FFF2-40B4-BE49-F238E27FC236}">
                <a16:creationId xmlns:a16="http://schemas.microsoft.com/office/drawing/2014/main" id="{10FBAC7F-D020-454B-A800-8FDD7446BAFD}"/>
              </a:ext>
            </a:extLst>
          </p:cNvPr>
          <p:cNvSpPr/>
          <p:nvPr/>
        </p:nvSpPr>
        <p:spPr bwMode="auto">
          <a:xfrm>
            <a:off x="8939989" y="3563738"/>
            <a:ext cx="2043953"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TextBox 9">
            <a:extLst>
              <a:ext uri="{FF2B5EF4-FFF2-40B4-BE49-F238E27FC236}">
                <a16:creationId xmlns:a16="http://schemas.microsoft.com/office/drawing/2014/main" id="{F6F6202F-90A1-4CAF-9E3B-AADB88F1D7D7}"/>
              </a:ext>
            </a:extLst>
          </p:cNvPr>
          <p:cNvSpPr txBox="1"/>
          <p:nvPr/>
        </p:nvSpPr>
        <p:spPr>
          <a:xfrm>
            <a:off x="10764736"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11" name="TextBox 10">
            <a:extLst>
              <a:ext uri="{FF2B5EF4-FFF2-40B4-BE49-F238E27FC236}">
                <a16:creationId xmlns:a16="http://schemas.microsoft.com/office/drawing/2014/main" id="{8159E7A6-E15C-4891-A381-05D8C12CCADF}"/>
              </a:ext>
            </a:extLst>
          </p:cNvPr>
          <p:cNvSpPr txBox="1"/>
          <p:nvPr/>
        </p:nvSpPr>
        <p:spPr>
          <a:xfrm>
            <a:off x="8873183"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12" name="TextBox 11">
            <a:extLst>
              <a:ext uri="{FF2B5EF4-FFF2-40B4-BE49-F238E27FC236}">
                <a16:creationId xmlns:a16="http://schemas.microsoft.com/office/drawing/2014/main" id="{B5B2B540-ED16-4EDB-83EB-A117F4DCADB0}"/>
              </a:ext>
            </a:extLst>
          </p:cNvPr>
          <p:cNvSpPr txBox="1"/>
          <p:nvPr/>
        </p:nvSpPr>
        <p:spPr>
          <a:xfrm>
            <a:off x="8658030" y="319933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13" name="TextBox 12">
            <a:extLst>
              <a:ext uri="{FF2B5EF4-FFF2-40B4-BE49-F238E27FC236}">
                <a16:creationId xmlns:a16="http://schemas.microsoft.com/office/drawing/2014/main" id="{FB307109-47F8-4626-9908-54994CE4F82C}"/>
              </a:ext>
            </a:extLst>
          </p:cNvPr>
          <p:cNvSpPr txBox="1"/>
          <p:nvPr/>
        </p:nvSpPr>
        <p:spPr>
          <a:xfrm>
            <a:off x="5672783" y="3218099"/>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14" name="TextBox 13">
            <a:extLst>
              <a:ext uri="{FF2B5EF4-FFF2-40B4-BE49-F238E27FC236}">
                <a16:creationId xmlns:a16="http://schemas.microsoft.com/office/drawing/2014/main" id="{D70E7649-21E3-4DEF-AFDA-FFB05D513DDE}"/>
              </a:ext>
            </a:extLst>
          </p:cNvPr>
          <p:cNvSpPr txBox="1"/>
          <p:nvPr/>
        </p:nvSpPr>
        <p:spPr>
          <a:xfrm>
            <a:off x="5267948" y="3229186"/>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15" name="TextBox 14">
            <a:extLst>
              <a:ext uri="{FF2B5EF4-FFF2-40B4-BE49-F238E27FC236}">
                <a16:creationId xmlns:a16="http://schemas.microsoft.com/office/drawing/2014/main" id="{35D1498D-92A8-4D6E-BDB8-5C0E9F076BD6}"/>
              </a:ext>
            </a:extLst>
          </p:cNvPr>
          <p:cNvSpPr txBox="1"/>
          <p:nvPr/>
        </p:nvSpPr>
        <p:spPr>
          <a:xfrm>
            <a:off x="1180606" y="321586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6" name="TextBox 15">
            <a:extLst>
              <a:ext uri="{FF2B5EF4-FFF2-40B4-BE49-F238E27FC236}">
                <a16:creationId xmlns:a16="http://schemas.microsoft.com/office/drawing/2014/main" id="{B47F3A04-6E17-4F01-8889-3B393A347184}"/>
              </a:ext>
            </a:extLst>
          </p:cNvPr>
          <p:cNvSpPr txBox="1"/>
          <p:nvPr/>
        </p:nvSpPr>
        <p:spPr>
          <a:xfrm>
            <a:off x="9273558" y="3642220"/>
            <a:ext cx="1388713"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Byte offset</a:t>
            </a:r>
          </a:p>
        </p:txBody>
      </p:sp>
      <p:sp>
        <p:nvSpPr>
          <p:cNvPr id="17" name="TextBox 16">
            <a:extLst>
              <a:ext uri="{FF2B5EF4-FFF2-40B4-BE49-F238E27FC236}">
                <a16:creationId xmlns:a16="http://schemas.microsoft.com/office/drawing/2014/main" id="{A0F36331-310D-4F14-A744-93C077C9535E}"/>
              </a:ext>
            </a:extLst>
          </p:cNvPr>
          <p:cNvSpPr txBox="1"/>
          <p:nvPr/>
        </p:nvSpPr>
        <p:spPr>
          <a:xfrm>
            <a:off x="6575181" y="3605037"/>
            <a:ext cx="1653017"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Set selection</a:t>
            </a:r>
          </a:p>
        </p:txBody>
      </p:sp>
      <p:sp>
        <p:nvSpPr>
          <p:cNvPr id="18" name="TextBox 17">
            <a:extLst>
              <a:ext uri="{FF2B5EF4-FFF2-40B4-BE49-F238E27FC236}">
                <a16:creationId xmlns:a16="http://schemas.microsoft.com/office/drawing/2014/main" id="{C6CFA9BE-5A05-40CB-BA58-7FA3B9933624}"/>
              </a:ext>
            </a:extLst>
          </p:cNvPr>
          <p:cNvSpPr txBox="1"/>
          <p:nvPr/>
        </p:nvSpPr>
        <p:spPr>
          <a:xfrm>
            <a:off x="2815059" y="3574260"/>
            <a:ext cx="681149"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itchFamily="34" charset="0"/>
              </a:rPr>
              <a:t>Tag</a:t>
            </a:r>
          </a:p>
        </p:txBody>
      </p:sp>
      <p:sp>
        <p:nvSpPr>
          <p:cNvPr id="37" name="Rectangle 36">
            <a:extLst>
              <a:ext uri="{FF2B5EF4-FFF2-40B4-BE49-F238E27FC236}">
                <a16:creationId xmlns:a16="http://schemas.microsoft.com/office/drawing/2014/main" id="{63A68B1E-9CA7-492B-A22E-15B1666184C3}"/>
              </a:ext>
            </a:extLst>
          </p:cNvPr>
          <p:cNvSpPr/>
          <p:nvPr/>
        </p:nvSpPr>
        <p:spPr bwMode="auto">
          <a:xfrm>
            <a:off x="1259691" y="5272071"/>
            <a:ext cx="4428565"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8" name="Rectangle 37">
            <a:extLst>
              <a:ext uri="{FF2B5EF4-FFF2-40B4-BE49-F238E27FC236}">
                <a16:creationId xmlns:a16="http://schemas.microsoft.com/office/drawing/2014/main" id="{81E2D600-BCCF-405A-A602-154A436BC13F}"/>
              </a:ext>
            </a:extLst>
          </p:cNvPr>
          <p:cNvSpPr/>
          <p:nvPr/>
        </p:nvSpPr>
        <p:spPr bwMode="auto">
          <a:xfrm>
            <a:off x="5688256" y="5272071"/>
            <a:ext cx="3236259"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9" name="Rectangle 38">
            <a:extLst>
              <a:ext uri="{FF2B5EF4-FFF2-40B4-BE49-F238E27FC236}">
                <a16:creationId xmlns:a16="http://schemas.microsoft.com/office/drawing/2014/main" id="{922646ED-C292-40AE-9622-6FD226177018}"/>
              </a:ext>
            </a:extLst>
          </p:cNvPr>
          <p:cNvSpPr/>
          <p:nvPr/>
        </p:nvSpPr>
        <p:spPr bwMode="auto">
          <a:xfrm>
            <a:off x="8924515" y="5272071"/>
            <a:ext cx="2043953"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0" name="TextBox 39">
            <a:extLst>
              <a:ext uri="{FF2B5EF4-FFF2-40B4-BE49-F238E27FC236}">
                <a16:creationId xmlns:a16="http://schemas.microsoft.com/office/drawing/2014/main" id="{B984E7FC-6143-4118-9AFD-E08515E21F5B}"/>
              </a:ext>
            </a:extLst>
          </p:cNvPr>
          <p:cNvSpPr txBox="1"/>
          <p:nvPr/>
        </p:nvSpPr>
        <p:spPr>
          <a:xfrm>
            <a:off x="10749262" y="489251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41" name="TextBox 40">
            <a:extLst>
              <a:ext uri="{FF2B5EF4-FFF2-40B4-BE49-F238E27FC236}">
                <a16:creationId xmlns:a16="http://schemas.microsoft.com/office/drawing/2014/main" id="{076CE884-4565-45A6-B507-8AF1C3674C8D}"/>
              </a:ext>
            </a:extLst>
          </p:cNvPr>
          <p:cNvSpPr txBox="1"/>
          <p:nvPr/>
        </p:nvSpPr>
        <p:spPr>
          <a:xfrm>
            <a:off x="8857709" y="489251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42" name="TextBox 41">
            <a:extLst>
              <a:ext uri="{FF2B5EF4-FFF2-40B4-BE49-F238E27FC236}">
                <a16:creationId xmlns:a16="http://schemas.microsoft.com/office/drawing/2014/main" id="{6C113846-0CF7-4B57-A0DD-1B854E502599}"/>
              </a:ext>
            </a:extLst>
          </p:cNvPr>
          <p:cNvSpPr txBox="1"/>
          <p:nvPr/>
        </p:nvSpPr>
        <p:spPr>
          <a:xfrm>
            <a:off x="8642556" y="490766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43" name="TextBox 42">
            <a:extLst>
              <a:ext uri="{FF2B5EF4-FFF2-40B4-BE49-F238E27FC236}">
                <a16:creationId xmlns:a16="http://schemas.microsoft.com/office/drawing/2014/main" id="{D021A69E-3E99-4E6F-A318-5A3E68DD909B}"/>
              </a:ext>
            </a:extLst>
          </p:cNvPr>
          <p:cNvSpPr txBox="1"/>
          <p:nvPr/>
        </p:nvSpPr>
        <p:spPr>
          <a:xfrm>
            <a:off x="5657309" y="4926432"/>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44" name="TextBox 43">
            <a:extLst>
              <a:ext uri="{FF2B5EF4-FFF2-40B4-BE49-F238E27FC236}">
                <a16:creationId xmlns:a16="http://schemas.microsoft.com/office/drawing/2014/main" id="{1DB4910A-8682-4EFF-9683-33C46D037594}"/>
              </a:ext>
            </a:extLst>
          </p:cNvPr>
          <p:cNvSpPr txBox="1"/>
          <p:nvPr/>
        </p:nvSpPr>
        <p:spPr>
          <a:xfrm>
            <a:off x="5262584" y="4937592"/>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45" name="TextBox 44">
            <a:extLst>
              <a:ext uri="{FF2B5EF4-FFF2-40B4-BE49-F238E27FC236}">
                <a16:creationId xmlns:a16="http://schemas.microsoft.com/office/drawing/2014/main" id="{CDC7CD73-3C1D-40F3-9ECE-162A851D0F60}"/>
              </a:ext>
            </a:extLst>
          </p:cNvPr>
          <p:cNvSpPr txBox="1"/>
          <p:nvPr/>
        </p:nvSpPr>
        <p:spPr>
          <a:xfrm>
            <a:off x="1165132" y="492420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46" name="TextBox 45">
            <a:extLst>
              <a:ext uri="{FF2B5EF4-FFF2-40B4-BE49-F238E27FC236}">
                <a16:creationId xmlns:a16="http://schemas.microsoft.com/office/drawing/2014/main" id="{D00A9980-9F48-4815-9BEB-CE31716EFA9E}"/>
              </a:ext>
            </a:extLst>
          </p:cNvPr>
          <p:cNvSpPr txBox="1"/>
          <p:nvPr/>
        </p:nvSpPr>
        <p:spPr>
          <a:xfrm>
            <a:off x="9258084" y="5350553"/>
            <a:ext cx="1388713"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Byte offset</a:t>
            </a:r>
          </a:p>
        </p:txBody>
      </p:sp>
      <p:sp>
        <p:nvSpPr>
          <p:cNvPr id="47" name="TextBox 46">
            <a:extLst>
              <a:ext uri="{FF2B5EF4-FFF2-40B4-BE49-F238E27FC236}">
                <a16:creationId xmlns:a16="http://schemas.microsoft.com/office/drawing/2014/main" id="{827D6A1F-1B4F-43D8-925B-5F44D89FEDE4}"/>
              </a:ext>
            </a:extLst>
          </p:cNvPr>
          <p:cNvSpPr txBox="1"/>
          <p:nvPr/>
        </p:nvSpPr>
        <p:spPr>
          <a:xfrm>
            <a:off x="6559707" y="5313370"/>
            <a:ext cx="1653017"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Set selection</a:t>
            </a:r>
          </a:p>
        </p:txBody>
      </p:sp>
      <p:sp>
        <p:nvSpPr>
          <p:cNvPr id="48" name="TextBox 47">
            <a:extLst>
              <a:ext uri="{FF2B5EF4-FFF2-40B4-BE49-F238E27FC236}">
                <a16:creationId xmlns:a16="http://schemas.microsoft.com/office/drawing/2014/main" id="{86F3DA11-5940-4669-A9C1-6D35F41C4D23}"/>
              </a:ext>
            </a:extLst>
          </p:cNvPr>
          <p:cNvSpPr txBox="1"/>
          <p:nvPr/>
        </p:nvSpPr>
        <p:spPr>
          <a:xfrm>
            <a:off x="2799585" y="5282593"/>
            <a:ext cx="681149"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itchFamily="34" charset="0"/>
              </a:rPr>
              <a:t>Tag</a:t>
            </a:r>
          </a:p>
        </p:txBody>
      </p:sp>
      <p:sp>
        <p:nvSpPr>
          <p:cNvPr id="4" name="TextBox 3">
            <a:extLst>
              <a:ext uri="{FF2B5EF4-FFF2-40B4-BE49-F238E27FC236}">
                <a16:creationId xmlns:a16="http://schemas.microsoft.com/office/drawing/2014/main" id="{8B86F117-3DB9-42EF-A988-41D1421928F5}"/>
              </a:ext>
            </a:extLst>
          </p:cNvPr>
          <p:cNvSpPr txBox="1"/>
          <p:nvPr/>
        </p:nvSpPr>
        <p:spPr>
          <a:xfrm>
            <a:off x="5240462" y="3573462"/>
            <a:ext cx="385042" cy="523220"/>
          </a:xfrm>
          <a:prstGeom prst="rect">
            <a:avLst/>
          </a:prstGeom>
          <a:noFill/>
        </p:spPr>
        <p:txBody>
          <a:bodyPr wrap="none" rtlCol="0" anchor="ctr" anchorCtr="1">
            <a:spAutoFit/>
          </a:bodyPr>
          <a:lstStyle/>
          <a:p>
            <a:r>
              <a:rPr lang="en-US" sz="2800" b="1" dirty="0">
                <a:solidFill>
                  <a:srgbClr val="FF0000"/>
                </a:solidFill>
                <a:ea typeface="標楷體" pitchFamily="65" charset="-120"/>
                <a:cs typeface="Calibri" pitchFamily="34" charset="0"/>
              </a:rPr>
              <a:t>0</a:t>
            </a:r>
          </a:p>
        </p:txBody>
      </p:sp>
      <p:sp>
        <p:nvSpPr>
          <p:cNvPr id="50" name="TextBox 49">
            <a:extLst>
              <a:ext uri="{FF2B5EF4-FFF2-40B4-BE49-F238E27FC236}">
                <a16:creationId xmlns:a16="http://schemas.microsoft.com/office/drawing/2014/main" id="{56F2A338-F0B1-4F00-BE44-C7C5018CAE6B}"/>
              </a:ext>
            </a:extLst>
          </p:cNvPr>
          <p:cNvSpPr txBox="1"/>
          <p:nvPr/>
        </p:nvSpPr>
        <p:spPr>
          <a:xfrm>
            <a:off x="5267265" y="5272071"/>
            <a:ext cx="385042" cy="523220"/>
          </a:xfrm>
          <a:prstGeom prst="rect">
            <a:avLst/>
          </a:prstGeom>
          <a:noFill/>
        </p:spPr>
        <p:txBody>
          <a:bodyPr wrap="none" rtlCol="0" anchor="ctr" anchorCtr="1">
            <a:spAutoFit/>
          </a:bodyPr>
          <a:lstStyle/>
          <a:p>
            <a:r>
              <a:rPr lang="en-US" sz="2800" b="1" dirty="0">
                <a:solidFill>
                  <a:srgbClr val="FF0000"/>
                </a:solidFill>
                <a:ea typeface="標楷體" pitchFamily="65" charset="-120"/>
                <a:cs typeface="Calibri" pitchFamily="34" charset="0"/>
              </a:rPr>
              <a:t>1</a:t>
            </a:r>
          </a:p>
        </p:txBody>
      </p:sp>
      <p:sp>
        <p:nvSpPr>
          <p:cNvPr id="6" name="Arrow: Up-Down 5">
            <a:extLst>
              <a:ext uri="{FF2B5EF4-FFF2-40B4-BE49-F238E27FC236}">
                <a16:creationId xmlns:a16="http://schemas.microsoft.com/office/drawing/2014/main" id="{062CC4D1-12E1-4143-9EF1-8F27E967B09D}"/>
              </a:ext>
            </a:extLst>
          </p:cNvPr>
          <p:cNvSpPr/>
          <p:nvPr/>
        </p:nvSpPr>
        <p:spPr bwMode="auto">
          <a:xfrm>
            <a:off x="7279859" y="4151689"/>
            <a:ext cx="484632" cy="1141032"/>
          </a:xfrm>
          <a:prstGeom prst="up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9" name="TextBox 48">
            <a:extLst>
              <a:ext uri="{FF2B5EF4-FFF2-40B4-BE49-F238E27FC236}">
                <a16:creationId xmlns:a16="http://schemas.microsoft.com/office/drawing/2014/main" id="{9FB67054-3460-49ED-8498-E058F7AF29C1}"/>
              </a:ext>
            </a:extLst>
          </p:cNvPr>
          <p:cNvSpPr txBox="1"/>
          <p:nvPr/>
        </p:nvSpPr>
        <p:spPr>
          <a:xfrm>
            <a:off x="7697220" y="4383361"/>
            <a:ext cx="1332416" cy="461665"/>
          </a:xfrm>
          <a:prstGeom prst="rect">
            <a:avLst/>
          </a:prstGeom>
          <a:noFill/>
        </p:spPr>
        <p:txBody>
          <a:bodyPr wrap="none" rtlCol="0" anchor="ctr" anchorCtr="1">
            <a:spAutoFit/>
          </a:bodyPr>
          <a:lstStyle/>
          <a:p>
            <a:r>
              <a:rPr lang="en-US" sz="2400" dirty="0">
                <a:ea typeface="標楷體" pitchFamily="65" charset="-120"/>
                <a:cs typeface="Calibri" pitchFamily="34" charset="0"/>
              </a:rPr>
              <a:t>Identical</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8988528" cy="652871"/>
          </a:xfrm>
        </p:spPr>
        <p:txBody>
          <a:bodyPr/>
          <a:lstStyle/>
          <a:p>
            <a:r>
              <a:rPr lang="en-US" altLang="zh-TW" dirty="0"/>
              <a:t>Common Cases for Conflict Misses </a:t>
            </a:r>
          </a:p>
        </p:txBody>
      </p:sp>
      <p:sp>
        <p:nvSpPr>
          <p:cNvPr id="63491" name="Rectangle 3"/>
          <p:cNvSpPr>
            <a:spLocks noGrp="1" noChangeArrowheads="1"/>
          </p:cNvSpPr>
          <p:nvPr>
            <p:ph type="body" idx="1"/>
          </p:nvPr>
        </p:nvSpPr>
        <p:spPr>
          <a:xfrm>
            <a:off x="651753" y="1125537"/>
            <a:ext cx="10930646" cy="4895851"/>
          </a:xfrm>
        </p:spPr>
        <p:txBody>
          <a:bodyPr/>
          <a:lstStyle/>
          <a:p>
            <a:pPr>
              <a:lnSpc>
                <a:spcPct val="80000"/>
              </a:lnSpc>
            </a:pPr>
            <a:r>
              <a:rPr lang="en-US" altLang="zh-TW" sz="2400" dirty="0"/>
              <a:t>Assuming direct-mapped caches, cache size 4KB, line size 64B.</a:t>
            </a:r>
          </a:p>
          <a:p>
            <a:pPr>
              <a:lnSpc>
                <a:spcPct val="80000"/>
              </a:lnSpc>
            </a:pPr>
            <a:r>
              <a:rPr lang="en-US" altLang="zh-TW" sz="2400" dirty="0"/>
              <a:t>Scenario 1</a:t>
            </a:r>
          </a:p>
          <a:p>
            <a:pPr marL="457176" lvl="1" indent="0">
              <a:lnSpc>
                <a:spcPct val="80000"/>
              </a:lnSpc>
              <a:buNone/>
            </a:pPr>
            <a:r>
              <a:rPr lang="en-US" altLang="zh-TW" sz="2400" dirty="0"/>
              <a:t>I-cache:</a:t>
            </a:r>
          </a:p>
          <a:p>
            <a:pPr marL="457176" lvl="1" indent="0">
              <a:lnSpc>
                <a:spcPct val="80000"/>
              </a:lnSpc>
              <a:buNone/>
            </a:pPr>
            <a:r>
              <a:rPr lang="en-US" altLang="zh-TW" sz="2400" dirty="0"/>
              <a:t>     Procedure A calls Procedure B, the distance between A and B is a multiple of 4K</a:t>
            </a:r>
          </a:p>
          <a:p>
            <a:pPr marL="514345" indent="-457200">
              <a:lnSpc>
                <a:spcPct val="80000"/>
              </a:lnSpc>
              <a:buSzPct val="162000"/>
              <a:buFont typeface="Arial" panose="020B0604020202020204" pitchFamily="34" charset="0"/>
              <a:buChar char="•"/>
            </a:pPr>
            <a:r>
              <a:rPr lang="en-US" altLang="zh-TW" sz="2400" dirty="0"/>
              <a:t>Scenario 2</a:t>
            </a:r>
          </a:p>
          <a:p>
            <a:pPr marL="57145" indent="0">
              <a:lnSpc>
                <a:spcPct val="80000"/>
              </a:lnSpc>
              <a:buSzPct val="162000"/>
              <a:buNone/>
            </a:pPr>
            <a:r>
              <a:rPr lang="en-US" altLang="zh-TW" sz="2400" dirty="0"/>
              <a:t>     D-cache</a:t>
            </a:r>
          </a:p>
          <a:p>
            <a:pPr marL="57145" indent="0">
              <a:lnSpc>
                <a:spcPct val="80000"/>
              </a:lnSpc>
              <a:buSzPct val="162000"/>
              <a:buNone/>
            </a:pPr>
            <a:r>
              <a:rPr lang="en-US" altLang="zh-TW" sz="2400" dirty="0"/>
              <a:t>	Float A[1024][1024];</a:t>
            </a:r>
          </a:p>
          <a:p>
            <a:pPr marL="57145" indent="0">
              <a:lnSpc>
                <a:spcPct val="80000"/>
              </a:lnSpc>
              <a:buSzPct val="162000"/>
              <a:buNone/>
            </a:pPr>
            <a:r>
              <a:rPr lang="en-US" altLang="zh-TW" sz="2400" dirty="0"/>
              <a:t>	loop on j</a:t>
            </a:r>
          </a:p>
          <a:p>
            <a:pPr marL="57145" indent="0">
              <a:lnSpc>
                <a:spcPct val="80000"/>
              </a:lnSpc>
              <a:buSzPct val="162000"/>
              <a:buNone/>
            </a:pPr>
            <a:r>
              <a:rPr lang="en-US" altLang="zh-TW" sz="2400" dirty="0"/>
              <a:t>		{B[</a:t>
            </a:r>
            <a:r>
              <a:rPr lang="en-US" altLang="zh-TW" sz="2400" dirty="0" err="1"/>
              <a:t>i</a:t>
            </a:r>
            <a:r>
              <a:rPr lang="en-US" altLang="zh-TW" sz="2400" dirty="0"/>
              <a:t>] =A[</a:t>
            </a:r>
            <a:r>
              <a:rPr lang="en-US" altLang="zh-TW" sz="2400" dirty="0" err="1"/>
              <a:t>i</a:t>
            </a:r>
            <a:r>
              <a:rPr lang="en-US" altLang="zh-TW" sz="2400" dirty="0"/>
              <a:t>][j] + A[i+1][j];}</a:t>
            </a:r>
          </a:p>
          <a:p>
            <a:pPr marL="514345" indent="-457200">
              <a:lnSpc>
                <a:spcPct val="80000"/>
              </a:lnSpc>
              <a:buSzPct val="162000"/>
              <a:buFont typeface="Arial" panose="020B0604020202020204" pitchFamily="34" charset="0"/>
              <a:buChar char="•"/>
            </a:pPr>
            <a:r>
              <a:rPr lang="en-US" altLang="zh-TW" sz="2400" dirty="0"/>
              <a:t>Scenario 3</a:t>
            </a:r>
          </a:p>
          <a:p>
            <a:pPr marL="57145" indent="0">
              <a:lnSpc>
                <a:spcPct val="80000"/>
              </a:lnSpc>
              <a:buSzPct val="162000"/>
              <a:buNone/>
            </a:pPr>
            <a:r>
              <a:rPr lang="en-US" altLang="zh-TW" sz="2400" dirty="0"/>
              <a:t>      D-cache</a:t>
            </a:r>
          </a:p>
          <a:p>
            <a:pPr marL="57145" indent="0">
              <a:lnSpc>
                <a:spcPct val="80000"/>
              </a:lnSpc>
              <a:buSzPct val="162000"/>
              <a:buNone/>
            </a:pPr>
            <a:r>
              <a:rPr lang="en-US" altLang="zh-TW" sz="2400" dirty="0"/>
              <a:t>	Double A[1024], B[1024], C[1024];</a:t>
            </a:r>
          </a:p>
          <a:p>
            <a:pPr marL="57145" indent="0">
              <a:lnSpc>
                <a:spcPct val="80000"/>
              </a:lnSpc>
              <a:buSzPct val="162000"/>
              <a:buNone/>
            </a:pPr>
            <a:r>
              <a:rPr lang="en-US" altLang="zh-TW" sz="2400" dirty="0"/>
              <a:t>	for(</a:t>
            </a:r>
            <a:r>
              <a:rPr lang="en-US" altLang="zh-TW" sz="2400" dirty="0" err="1"/>
              <a:t>i</a:t>
            </a:r>
            <a:r>
              <a:rPr lang="en-US" altLang="zh-TW" sz="2400" dirty="0"/>
              <a:t>)  {C[</a:t>
            </a:r>
            <a:r>
              <a:rPr lang="en-US" altLang="zh-TW" sz="2400" dirty="0" err="1"/>
              <a:t>i</a:t>
            </a:r>
            <a:r>
              <a:rPr lang="en-US" altLang="zh-TW" sz="2400" dirty="0"/>
              <a:t>] = A[</a:t>
            </a:r>
            <a:r>
              <a:rPr lang="en-US" altLang="zh-TW" sz="2400" dirty="0" err="1"/>
              <a:t>i</a:t>
            </a:r>
            <a:r>
              <a:rPr lang="en-US" altLang="zh-TW" sz="2400" dirty="0"/>
              <a:t>] + B[</a:t>
            </a:r>
            <a:r>
              <a:rPr lang="en-US" altLang="zh-TW" sz="2400" dirty="0" err="1"/>
              <a:t>i</a:t>
            </a:r>
            <a:r>
              <a:rPr lang="en-US" altLang="zh-TW" sz="2400" dirty="0"/>
              <a:t>];}</a:t>
            </a:r>
          </a:p>
          <a:p>
            <a:pPr marL="457176" lvl="1" indent="0">
              <a:lnSpc>
                <a:spcPct val="80000"/>
              </a:lnSpc>
              <a:buNone/>
            </a:pPr>
            <a:endParaRPr lang="en-US" altLang="zh-TW" sz="2134" dirty="0"/>
          </a:p>
          <a:p>
            <a:pPr>
              <a:lnSpc>
                <a:spcPct val="80000"/>
              </a:lnSpc>
            </a:pPr>
            <a:endParaRPr lang="en-US" altLang="zh-TW" sz="2667" dirty="0"/>
          </a:p>
          <a:p>
            <a:pPr>
              <a:lnSpc>
                <a:spcPct val="80000"/>
              </a:lnSpc>
            </a:pPr>
            <a:endParaRPr lang="en-US" altLang="zh-TW" sz="2667"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100</a:t>
            </a:fld>
            <a:endParaRPr lang="zh-TW" altLang="en-US"/>
          </a:p>
        </p:txBody>
      </p:sp>
    </p:spTree>
    <p:extLst>
      <p:ext uri="{BB962C8B-B14F-4D97-AF65-F5344CB8AC3E}">
        <p14:creationId xmlns:p14="http://schemas.microsoft.com/office/powerpoint/2010/main" val="28045605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8988528" cy="652871"/>
          </a:xfrm>
        </p:spPr>
        <p:txBody>
          <a:bodyPr/>
          <a:lstStyle/>
          <a:p>
            <a:r>
              <a:rPr lang="en-US" altLang="zh-TW" dirty="0"/>
              <a:t>Common Cases for Conflict Misses </a:t>
            </a:r>
          </a:p>
        </p:txBody>
      </p:sp>
      <p:sp>
        <p:nvSpPr>
          <p:cNvPr id="63491" name="Rectangle 3"/>
          <p:cNvSpPr>
            <a:spLocks noGrp="1" noChangeArrowheads="1"/>
          </p:cNvSpPr>
          <p:nvPr>
            <p:ph type="body" idx="1"/>
          </p:nvPr>
        </p:nvSpPr>
        <p:spPr>
          <a:xfrm>
            <a:off x="651753" y="1125537"/>
            <a:ext cx="10930646" cy="4895851"/>
          </a:xfrm>
        </p:spPr>
        <p:txBody>
          <a:bodyPr/>
          <a:lstStyle/>
          <a:p>
            <a:pPr>
              <a:lnSpc>
                <a:spcPct val="80000"/>
              </a:lnSpc>
            </a:pPr>
            <a:r>
              <a:rPr lang="en-US" altLang="zh-TW" sz="2400" dirty="0"/>
              <a:t>Assuming direct-mapped caches, cache size 4KB, line size 64B.</a:t>
            </a:r>
          </a:p>
          <a:p>
            <a:pPr>
              <a:lnSpc>
                <a:spcPct val="80000"/>
              </a:lnSpc>
            </a:pPr>
            <a:r>
              <a:rPr lang="en-US" altLang="zh-TW" sz="2400" dirty="0"/>
              <a:t>Scenario 1</a:t>
            </a:r>
          </a:p>
          <a:p>
            <a:pPr marL="457176" lvl="1" indent="0">
              <a:lnSpc>
                <a:spcPct val="80000"/>
              </a:lnSpc>
              <a:buNone/>
            </a:pPr>
            <a:r>
              <a:rPr lang="en-US" altLang="zh-TW" sz="2400" dirty="0" err="1"/>
              <a:t>Icache</a:t>
            </a:r>
            <a:r>
              <a:rPr lang="en-US" altLang="zh-TW" sz="2400" dirty="0"/>
              <a:t>:</a:t>
            </a:r>
          </a:p>
          <a:p>
            <a:pPr marL="457176" lvl="1" indent="0">
              <a:lnSpc>
                <a:spcPct val="80000"/>
              </a:lnSpc>
              <a:buNone/>
            </a:pPr>
            <a:r>
              <a:rPr lang="en-US" altLang="zh-TW" sz="2400" dirty="0"/>
              <a:t>     Procedure A calls Procedure B, the distance between A and B is multiple of 4K</a:t>
            </a:r>
          </a:p>
          <a:p>
            <a:pPr marL="514345" indent="-457200">
              <a:lnSpc>
                <a:spcPct val="80000"/>
              </a:lnSpc>
              <a:buSzPct val="162000"/>
              <a:buFont typeface="Arial" panose="020B0604020202020204" pitchFamily="34" charset="0"/>
              <a:buChar char="•"/>
            </a:pPr>
            <a:r>
              <a:rPr lang="en-US" altLang="zh-TW" sz="2400" dirty="0"/>
              <a:t>Scenario 2</a:t>
            </a:r>
          </a:p>
          <a:p>
            <a:pPr marL="57145" indent="0">
              <a:lnSpc>
                <a:spcPct val="80000"/>
              </a:lnSpc>
              <a:buSzPct val="162000"/>
              <a:buNone/>
            </a:pPr>
            <a:r>
              <a:rPr lang="en-US" altLang="zh-TW" sz="2400" dirty="0"/>
              <a:t>     </a:t>
            </a:r>
            <a:r>
              <a:rPr lang="en-US" altLang="zh-TW" sz="2400" dirty="0" err="1"/>
              <a:t>Dcache</a:t>
            </a:r>
            <a:endParaRPr lang="en-US" altLang="zh-TW" sz="2400" dirty="0"/>
          </a:p>
          <a:p>
            <a:pPr marL="57145" indent="0">
              <a:lnSpc>
                <a:spcPct val="80000"/>
              </a:lnSpc>
              <a:buSzPct val="162000"/>
              <a:buNone/>
            </a:pPr>
            <a:r>
              <a:rPr lang="en-US" altLang="zh-TW" sz="2400" dirty="0"/>
              <a:t>	Float A[1024][1024];</a:t>
            </a:r>
          </a:p>
          <a:p>
            <a:pPr marL="57145" indent="0">
              <a:lnSpc>
                <a:spcPct val="80000"/>
              </a:lnSpc>
              <a:buSzPct val="162000"/>
              <a:buNone/>
            </a:pPr>
            <a:r>
              <a:rPr lang="en-US" altLang="zh-TW" sz="2400" dirty="0"/>
              <a:t>	loop</a:t>
            </a:r>
          </a:p>
          <a:p>
            <a:pPr marL="57145" indent="0">
              <a:lnSpc>
                <a:spcPct val="80000"/>
              </a:lnSpc>
              <a:buSzPct val="162000"/>
              <a:buNone/>
            </a:pPr>
            <a:r>
              <a:rPr lang="en-US" altLang="zh-TW" sz="2400" dirty="0"/>
              <a:t>		{B[</a:t>
            </a:r>
            <a:r>
              <a:rPr lang="en-US" altLang="zh-TW" sz="2400" dirty="0" err="1"/>
              <a:t>i</a:t>
            </a:r>
            <a:r>
              <a:rPr lang="en-US" altLang="zh-TW" sz="2400" dirty="0"/>
              <a:t>] =A[</a:t>
            </a:r>
            <a:r>
              <a:rPr lang="en-US" altLang="zh-TW" sz="2400" dirty="0" err="1"/>
              <a:t>i</a:t>
            </a:r>
            <a:r>
              <a:rPr lang="en-US" altLang="zh-TW" sz="2400" dirty="0"/>
              <a:t>][j] + A[i+1][j];}</a:t>
            </a:r>
          </a:p>
          <a:p>
            <a:pPr marL="514345" indent="-457200">
              <a:lnSpc>
                <a:spcPct val="80000"/>
              </a:lnSpc>
              <a:buSzPct val="162000"/>
              <a:buFont typeface="Arial" panose="020B0604020202020204" pitchFamily="34" charset="0"/>
              <a:buChar char="•"/>
            </a:pPr>
            <a:r>
              <a:rPr lang="en-US" altLang="zh-TW" sz="2400" dirty="0"/>
              <a:t>Scenario 3</a:t>
            </a:r>
          </a:p>
          <a:p>
            <a:pPr marL="57145" indent="0">
              <a:lnSpc>
                <a:spcPct val="80000"/>
              </a:lnSpc>
              <a:buSzPct val="162000"/>
              <a:buNone/>
            </a:pPr>
            <a:r>
              <a:rPr lang="en-US" altLang="zh-TW" sz="2400" dirty="0"/>
              <a:t>      </a:t>
            </a:r>
            <a:r>
              <a:rPr lang="en-US" altLang="zh-TW" sz="2400" dirty="0" err="1"/>
              <a:t>Dcache</a:t>
            </a:r>
            <a:endParaRPr lang="en-US" altLang="zh-TW" sz="2400" dirty="0"/>
          </a:p>
          <a:p>
            <a:pPr marL="57145" indent="0">
              <a:lnSpc>
                <a:spcPct val="80000"/>
              </a:lnSpc>
              <a:buSzPct val="162000"/>
              <a:buNone/>
            </a:pPr>
            <a:r>
              <a:rPr lang="en-US" altLang="zh-TW" sz="2400" dirty="0"/>
              <a:t>	Double A[1024], B[1024], C[1024];</a:t>
            </a:r>
          </a:p>
          <a:p>
            <a:pPr marL="57145" indent="0">
              <a:lnSpc>
                <a:spcPct val="80000"/>
              </a:lnSpc>
              <a:buSzPct val="162000"/>
              <a:buNone/>
            </a:pPr>
            <a:r>
              <a:rPr lang="en-US" altLang="zh-TW" sz="2400" dirty="0"/>
              <a:t>	for(</a:t>
            </a:r>
            <a:r>
              <a:rPr lang="en-US" altLang="zh-TW" sz="2400" dirty="0" err="1"/>
              <a:t>i</a:t>
            </a:r>
            <a:r>
              <a:rPr lang="en-US" altLang="zh-TW" sz="2400" dirty="0"/>
              <a:t>)  {C[</a:t>
            </a:r>
            <a:r>
              <a:rPr lang="en-US" altLang="zh-TW" sz="2400" dirty="0" err="1"/>
              <a:t>i</a:t>
            </a:r>
            <a:r>
              <a:rPr lang="en-US" altLang="zh-TW" sz="2400" dirty="0"/>
              <a:t>] = A[</a:t>
            </a:r>
            <a:r>
              <a:rPr lang="en-US" altLang="zh-TW" sz="2400" dirty="0" err="1"/>
              <a:t>i</a:t>
            </a:r>
            <a:r>
              <a:rPr lang="en-US" altLang="zh-TW" sz="2400" dirty="0"/>
              <a:t>] + B[</a:t>
            </a:r>
            <a:r>
              <a:rPr lang="en-US" altLang="zh-TW" sz="2400" dirty="0" err="1"/>
              <a:t>i</a:t>
            </a:r>
            <a:r>
              <a:rPr lang="en-US" altLang="zh-TW" sz="2400" dirty="0"/>
              <a:t>];}</a:t>
            </a:r>
          </a:p>
          <a:p>
            <a:pPr marL="457176" lvl="1" indent="0">
              <a:lnSpc>
                <a:spcPct val="80000"/>
              </a:lnSpc>
              <a:buNone/>
            </a:pPr>
            <a:endParaRPr lang="en-US" altLang="zh-TW" sz="2134" dirty="0"/>
          </a:p>
          <a:p>
            <a:pPr>
              <a:lnSpc>
                <a:spcPct val="80000"/>
              </a:lnSpc>
            </a:pPr>
            <a:endParaRPr lang="en-US" altLang="zh-TW" sz="2667" dirty="0"/>
          </a:p>
          <a:p>
            <a:pPr>
              <a:lnSpc>
                <a:spcPct val="80000"/>
              </a:lnSpc>
            </a:pPr>
            <a:endParaRPr lang="en-US" altLang="zh-TW" sz="2667"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101</a:t>
            </a:fld>
            <a:endParaRPr lang="zh-TW" altLang="en-US"/>
          </a:p>
        </p:txBody>
      </p:sp>
      <p:sp>
        <p:nvSpPr>
          <p:cNvPr id="2" name="TextBox 1">
            <a:extLst>
              <a:ext uri="{FF2B5EF4-FFF2-40B4-BE49-F238E27FC236}">
                <a16:creationId xmlns:a16="http://schemas.microsoft.com/office/drawing/2014/main" id="{197ECD7B-26BC-4012-9CB9-EA8487AD12AC}"/>
              </a:ext>
            </a:extLst>
          </p:cNvPr>
          <p:cNvSpPr txBox="1"/>
          <p:nvPr/>
        </p:nvSpPr>
        <p:spPr>
          <a:xfrm>
            <a:off x="3044758" y="1743883"/>
            <a:ext cx="5542543"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Code Repositioning: Layout B next to A</a:t>
            </a:r>
          </a:p>
        </p:txBody>
      </p:sp>
      <p:sp>
        <p:nvSpPr>
          <p:cNvPr id="6" name="TextBox 5">
            <a:extLst>
              <a:ext uri="{FF2B5EF4-FFF2-40B4-BE49-F238E27FC236}">
                <a16:creationId xmlns:a16="http://schemas.microsoft.com/office/drawing/2014/main" id="{9E86BD01-ECCF-41CC-8F3C-8FB76C00FDC9}"/>
              </a:ext>
            </a:extLst>
          </p:cNvPr>
          <p:cNvSpPr txBox="1"/>
          <p:nvPr/>
        </p:nvSpPr>
        <p:spPr>
          <a:xfrm>
            <a:off x="4383932" y="3170163"/>
            <a:ext cx="2101857"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A[1024][1040]</a:t>
            </a:r>
          </a:p>
        </p:txBody>
      </p:sp>
      <p:sp>
        <p:nvSpPr>
          <p:cNvPr id="7" name="TextBox 6">
            <a:extLst>
              <a:ext uri="{FF2B5EF4-FFF2-40B4-BE49-F238E27FC236}">
                <a16:creationId xmlns:a16="http://schemas.microsoft.com/office/drawing/2014/main" id="{5261B77B-E84A-439E-9369-58042584BA42}"/>
              </a:ext>
            </a:extLst>
          </p:cNvPr>
          <p:cNvSpPr txBox="1"/>
          <p:nvPr/>
        </p:nvSpPr>
        <p:spPr>
          <a:xfrm>
            <a:off x="4383931" y="4595775"/>
            <a:ext cx="7213834"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A[1024], Dummy0[8], B[1024], Dummy1[8], C[1024]</a:t>
            </a:r>
          </a:p>
        </p:txBody>
      </p:sp>
      <p:sp>
        <p:nvSpPr>
          <p:cNvPr id="3" name="TextBox 2">
            <a:extLst>
              <a:ext uri="{FF2B5EF4-FFF2-40B4-BE49-F238E27FC236}">
                <a16:creationId xmlns:a16="http://schemas.microsoft.com/office/drawing/2014/main" id="{D7EF703C-53D7-4531-8550-A8B667502F4D}"/>
              </a:ext>
            </a:extLst>
          </p:cNvPr>
          <p:cNvSpPr txBox="1"/>
          <p:nvPr/>
        </p:nvSpPr>
        <p:spPr>
          <a:xfrm>
            <a:off x="4709953" y="5467868"/>
            <a:ext cx="6327438"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However, this may not always work, since the compiler may </a:t>
            </a:r>
          </a:p>
          <a:p>
            <a:r>
              <a:rPr lang="en-US" dirty="0">
                <a:ea typeface="標楷體" pitchFamily="65" charset="-120"/>
                <a:cs typeface="Calibri" pitchFamily="34" charset="0"/>
              </a:rPr>
              <a:t>remove dummy[] because they are not used.</a:t>
            </a:r>
          </a:p>
        </p:txBody>
      </p:sp>
    </p:spTree>
    <p:extLst>
      <p:ext uri="{BB962C8B-B14F-4D97-AF65-F5344CB8AC3E}">
        <p14:creationId xmlns:p14="http://schemas.microsoft.com/office/powerpoint/2010/main" val="381563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10093426" cy="652871"/>
          </a:xfrm>
        </p:spPr>
        <p:txBody>
          <a:bodyPr/>
          <a:lstStyle/>
          <a:p>
            <a:r>
              <a:rPr lang="en-US" altLang="zh-TW" dirty="0"/>
              <a:t>DM+VC or Two-way Associative Cache?</a:t>
            </a:r>
          </a:p>
        </p:txBody>
      </p:sp>
      <p:sp>
        <p:nvSpPr>
          <p:cNvPr id="63491" name="Rectangle 3"/>
          <p:cNvSpPr>
            <a:spLocks noGrp="1" noChangeArrowheads="1"/>
          </p:cNvSpPr>
          <p:nvPr>
            <p:ph type="body" idx="1"/>
          </p:nvPr>
        </p:nvSpPr>
        <p:spPr>
          <a:xfrm>
            <a:off x="1366683" y="1125537"/>
            <a:ext cx="10215716" cy="4895851"/>
          </a:xfrm>
        </p:spPr>
        <p:txBody>
          <a:bodyPr/>
          <a:lstStyle/>
          <a:p>
            <a:pPr>
              <a:lnSpc>
                <a:spcPct val="80000"/>
              </a:lnSpc>
            </a:pPr>
            <a:r>
              <a:rPr lang="en-US" altLang="zh-TW" sz="2400" dirty="0"/>
              <a:t>Both Direct-mapped cache enhanced with a Victim cache and a two-way set-associative cache can reduce conflict misses. Which one is better?</a:t>
            </a:r>
          </a:p>
          <a:p>
            <a:pPr>
              <a:lnSpc>
                <a:spcPct val="80000"/>
              </a:lnSpc>
            </a:pPr>
            <a:r>
              <a:rPr lang="en-US" altLang="zh-TW" sz="2400" dirty="0"/>
              <a:t>Victim cache</a:t>
            </a:r>
          </a:p>
          <a:p>
            <a:pPr lvl="1">
              <a:lnSpc>
                <a:spcPct val="80000"/>
              </a:lnSpc>
            </a:pPr>
            <a:r>
              <a:rPr lang="en-US" altLang="zh-TW" sz="1867" dirty="0"/>
              <a:t>Good at handling repetitive references to clustered conflict misses</a:t>
            </a:r>
          </a:p>
          <a:p>
            <a:pPr lvl="1">
              <a:lnSpc>
                <a:spcPct val="80000"/>
              </a:lnSpc>
            </a:pPr>
            <a:r>
              <a:rPr lang="en-US" altLang="zh-TW" sz="1867" dirty="0"/>
              <a:t>Higher temporal locality</a:t>
            </a:r>
          </a:p>
          <a:p>
            <a:pPr marL="457176" lvl="1" indent="0">
              <a:lnSpc>
                <a:spcPct val="80000"/>
              </a:lnSpc>
              <a:buNone/>
            </a:pPr>
            <a:r>
              <a:rPr lang="en-US" altLang="zh-TW" sz="1867" dirty="0"/>
              <a:t>For example: 4,8,12,16, 20, 24, 4,8,12,16,20, …..</a:t>
            </a:r>
          </a:p>
          <a:p>
            <a:pPr marL="342882" marR="0" lvl="0" indent="-342882" algn="l" defTabSz="914400" rtl="0" eaLnBrk="1" fontAlgn="base" latinLnBrk="0" hangingPunct="1">
              <a:lnSpc>
                <a:spcPct val="80000"/>
              </a:lnSpc>
              <a:spcBef>
                <a:spcPct val="20000"/>
              </a:spcBef>
              <a:spcAft>
                <a:spcPct val="0"/>
              </a:spcAft>
              <a:buClr>
                <a:srgbClr val="0000FF"/>
              </a:buClr>
              <a:buSzPct val="80000"/>
              <a:buFont typeface="Wingdings" pitchFamily="2" charset="2"/>
              <a:buChar char="l"/>
              <a:tabLst/>
              <a:defRPr/>
            </a:pPr>
            <a:r>
              <a:rPr lang="en-US" altLang="zh-TW" sz="2400" dirty="0">
                <a:solidFill>
                  <a:prstClr val="black"/>
                </a:solidFill>
              </a:rPr>
              <a:t>Two-way set-associative cache</a:t>
            </a:r>
            <a:endPar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endParaRPr>
          </a:p>
          <a:p>
            <a:pPr marL="742913" marR="0" lvl="1" indent="-285737" algn="l" defTabSz="914400" rtl="0" eaLnBrk="1" fontAlgn="base" latinLnBrk="0" hangingPunct="1">
              <a:lnSpc>
                <a:spcPct val="80000"/>
              </a:lnSpc>
              <a:spcBef>
                <a:spcPct val="20000"/>
              </a:spcBef>
              <a:spcAft>
                <a:spcPct val="0"/>
              </a:spcAft>
              <a:buClr>
                <a:srgbClr val="0000FF"/>
              </a:buClr>
              <a:buSzPct val="90000"/>
              <a:buFont typeface="Arial" charset="0"/>
              <a:buChar char="–"/>
              <a:tabLst/>
              <a:defRPr/>
            </a:pPr>
            <a:r>
              <a:rPr kumimoji="1" lang="en-US" altLang="zh-TW" sz="1867" b="0" i="0" u="none" strike="noStrike" kern="0" cap="none" spc="0" normalizeH="0" baseline="0" noProof="0" dirty="0">
                <a:ln>
                  <a:noFill/>
                </a:ln>
                <a:solidFill>
                  <a:prstClr val="black"/>
                </a:solidFill>
                <a:effectLst/>
                <a:uLnTx/>
                <a:uFillTx/>
                <a:latin typeface="Calibri" pitchFamily="34" charset="0"/>
                <a:ea typeface="標楷體" pitchFamily="65" charset="-120"/>
              </a:rPr>
              <a:t>Good at handling evenly distributed conflict misses from many sets.</a:t>
            </a:r>
          </a:p>
          <a:p>
            <a:pPr marL="742913" marR="0" lvl="1" indent="-285737" algn="l" defTabSz="914400" rtl="0" eaLnBrk="1" fontAlgn="base" latinLnBrk="0" hangingPunct="1">
              <a:lnSpc>
                <a:spcPct val="80000"/>
              </a:lnSpc>
              <a:spcBef>
                <a:spcPct val="20000"/>
              </a:spcBef>
              <a:spcAft>
                <a:spcPct val="0"/>
              </a:spcAft>
              <a:buClr>
                <a:srgbClr val="0000FF"/>
              </a:buClr>
              <a:buSzPct val="90000"/>
              <a:buFont typeface="Arial" charset="0"/>
              <a:buChar char="–"/>
              <a:tabLst/>
              <a:defRPr/>
            </a:pPr>
            <a:r>
              <a:rPr lang="en-US" altLang="zh-TW" sz="1867" dirty="0">
                <a:solidFill>
                  <a:prstClr val="black"/>
                </a:solidFill>
              </a:rPr>
              <a:t>Lower temporal locality</a:t>
            </a:r>
          </a:p>
          <a:p>
            <a:pPr marL="457176" marR="0" lvl="1" indent="0" algn="l" defTabSz="914400" rtl="0" eaLnBrk="1" fontAlgn="base" latinLnBrk="0" hangingPunct="1">
              <a:lnSpc>
                <a:spcPct val="80000"/>
              </a:lnSpc>
              <a:spcBef>
                <a:spcPct val="20000"/>
              </a:spcBef>
              <a:spcAft>
                <a:spcPct val="0"/>
              </a:spcAft>
              <a:buClr>
                <a:srgbClr val="0000FF"/>
              </a:buClr>
              <a:buSzPct val="90000"/>
              <a:buNone/>
              <a:tabLst/>
              <a:defRPr/>
            </a:pPr>
            <a:r>
              <a:rPr lang="en-US" altLang="zh-TW" sz="1867" dirty="0">
                <a:solidFill>
                  <a:prstClr val="black"/>
                </a:solidFill>
              </a:rPr>
              <a:t>For example: 4,8,4,7, 11,15, 8, 6, 10, 8, 6, 7, 8, 11, 10, 15…..</a:t>
            </a:r>
          </a:p>
          <a:p>
            <a:pPr marL="457176" marR="0" lvl="1" indent="0" algn="l" defTabSz="914400" rtl="0" eaLnBrk="1" fontAlgn="base" latinLnBrk="0" hangingPunct="1">
              <a:lnSpc>
                <a:spcPct val="80000"/>
              </a:lnSpc>
              <a:spcBef>
                <a:spcPct val="20000"/>
              </a:spcBef>
              <a:spcAft>
                <a:spcPct val="0"/>
              </a:spcAft>
              <a:buClr>
                <a:srgbClr val="0000FF"/>
              </a:buClr>
              <a:buSzPct val="90000"/>
              <a:buNone/>
              <a:tabLst/>
              <a:defRPr/>
            </a:pPr>
            <a:endParaRPr lang="en-US" altLang="zh-TW" sz="1867" dirty="0">
              <a:solidFill>
                <a:prstClr val="black"/>
              </a:solidFill>
            </a:endParaRPr>
          </a:p>
          <a:p>
            <a:pPr marL="0" indent="0" algn="l">
              <a:buNone/>
            </a:pPr>
            <a:r>
              <a:rPr lang="en-US" sz="2400" b="0" i="0" dirty="0">
                <a:solidFill>
                  <a:srgbClr val="424242"/>
                </a:solidFill>
                <a:effectLst/>
                <a:latin typeface="Segoe UI" panose="020B0502040204020203" pitchFamily="34" charset="0"/>
              </a:rPr>
              <a:t>In general-purpose systems (e.g., desktops, servers, laptops), </a:t>
            </a:r>
            <a:r>
              <a:rPr lang="en-US" sz="2400" b="1" i="0" dirty="0">
                <a:solidFill>
                  <a:srgbClr val="424242"/>
                </a:solidFill>
                <a:effectLst/>
                <a:latin typeface="Segoe UI" panose="020B0502040204020203" pitchFamily="34" charset="0"/>
              </a:rPr>
              <a:t>two-way set associative caches</a:t>
            </a:r>
            <a:r>
              <a:rPr lang="en-US" sz="2400" b="0" i="0" dirty="0">
                <a:solidFill>
                  <a:srgbClr val="424242"/>
                </a:solidFill>
                <a:effectLst/>
                <a:latin typeface="Segoe UI" panose="020B0502040204020203" pitchFamily="34" charset="0"/>
              </a:rPr>
              <a:t> are far more common. </a:t>
            </a:r>
            <a:r>
              <a:rPr lang="en-US" sz="2400" b="1" i="0" dirty="0">
                <a:solidFill>
                  <a:srgbClr val="424242"/>
                </a:solidFill>
                <a:effectLst/>
                <a:latin typeface="Segoe UI" panose="020B0502040204020203" pitchFamily="34" charset="0"/>
              </a:rPr>
              <a:t>Direct-mapped caches + victim cache</a:t>
            </a:r>
            <a:r>
              <a:rPr lang="en-US" sz="2400" b="0" i="0" dirty="0">
                <a:solidFill>
                  <a:srgbClr val="424242"/>
                </a:solidFill>
                <a:effectLst/>
                <a:latin typeface="Segoe UI" panose="020B0502040204020203" pitchFamily="34" charset="0"/>
              </a:rPr>
              <a:t> are more specialized and are typically found in embedded systems, older designs, or cost-driven applications.</a:t>
            </a:r>
          </a:p>
          <a:p>
            <a:pPr marL="457176" marR="0" lvl="1" indent="0" algn="l" defTabSz="914400" rtl="0" eaLnBrk="1" fontAlgn="base" latinLnBrk="0" hangingPunct="1">
              <a:lnSpc>
                <a:spcPct val="80000"/>
              </a:lnSpc>
              <a:spcBef>
                <a:spcPct val="20000"/>
              </a:spcBef>
              <a:spcAft>
                <a:spcPct val="0"/>
              </a:spcAft>
              <a:buClr>
                <a:srgbClr val="0000FF"/>
              </a:buClr>
              <a:buSzPct val="90000"/>
              <a:buNone/>
              <a:tabLst/>
              <a:defRPr/>
            </a:pPr>
            <a:endParaRPr lang="en-US" altLang="zh-TW" sz="2400"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102</a:t>
            </a:fld>
            <a:endParaRPr lang="zh-TW" altLang="en-US"/>
          </a:p>
        </p:txBody>
      </p:sp>
      <p:sp>
        <p:nvSpPr>
          <p:cNvPr id="2" name="TextBox 1">
            <a:extLst>
              <a:ext uri="{FF2B5EF4-FFF2-40B4-BE49-F238E27FC236}">
                <a16:creationId xmlns:a16="http://schemas.microsoft.com/office/drawing/2014/main" id="{B113BFB8-E3CF-4379-BFEF-666AFD516DA3}"/>
              </a:ext>
            </a:extLst>
          </p:cNvPr>
          <p:cNvSpPr txBox="1"/>
          <p:nvPr/>
        </p:nvSpPr>
        <p:spPr>
          <a:xfrm>
            <a:off x="8067675" y="2238287"/>
            <a:ext cx="4070345" cy="1200329"/>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Here, we assume the cache has </a:t>
            </a:r>
          </a:p>
          <a:p>
            <a:r>
              <a:rPr lang="en-US" dirty="0">
                <a:ea typeface="標楷體" pitchFamily="65" charset="-120"/>
                <a:cs typeface="Calibri" pitchFamily="34" charset="0"/>
              </a:rPr>
              <a:t>4 lines. 4, 8, 12 are cache line (block)</a:t>
            </a:r>
          </a:p>
          <a:p>
            <a:r>
              <a:rPr lang="en-US" dirty="0">
                <a:ea typeface="標楷體" pitchFamily="65" charset="-120"/>
                <a:cs typeface="Calibri" pitchFamily="34" charset="0"/>
              </a:rPr>
              <a:t>Address. Line 4 and line 8 map to the </a:t>
            </a:r>
          </a:p>
          <a:p>
            <a:r>
              <a:rPr lang="en-US" dirty="0">
                <a:ea typeface="標楷體" pitchFamily="65" charset="-120"/>
                <a:cs typeface="Calibri" pitchFamily="34" charset="0"/>
              </a:rPr>
              <a:t>same set.</a:t>
            </a:r>
          </a:p>
        </p:txBody>
      </p:sp>
      <p:sp>
        <p:nvSpPr>
          <p:cNvPr id="6" name="TextBox 5">
            <a:extLst>
              <a:ext uri="{FF2B5EF4-FFF2-40B4-BE49-F238E27FC236}">
                <a16:creationId xmlns:a16="http://schemas.microsoft.com/office/drawing/2014/main" id="{7F5FF67F-4204-4C9F-B685-E366B1A67274}"/>
              </a:ext>
            </a:extLst>
          </p:cNvPr>
          <p:cNvSpPr txBox="1"/>
          <p:nvPr/>
        </p:nvSpPr>
        <p:spPr>
          <a:xfrm>
            <a:off x="8003117" y="3924986"/>
            <a:ext cx="3783921"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Line 7, 11, 15 map to the same set.</a:t>
            </a:r>
          </a:p>
          <a:p>
            <a:r>
              <a:rPr lang="en-US" dirty="0">
                <a:ea typeface="標楷體" pitchFamily="65" charset="-120"/>
                <a:cs typeface="Calibri" pitchFamily="34" charset="0"/>
              </a:rPr>
              <a:t>Line 6, 10 map to the same set.</a:t>
            </a:r>
          </a:p>
        </p:txBody>
      </p:sp>
    </p:spTree>
    <p:extLst>
      <p:ext uri="{BB962C8B-B14F-4D97-AF65-F5344CB8AC3E}">
        <p14:creationId xmlns:p14="http://schemas.microsoft.com/office/powerpoint/2010/main" val="106798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ChangeArrowheads="1"/>
          </p:cNvSpPr>
          <p:nvPr>
            <p:ph type="title"/>
          </p:nvPr>
        </p:nvSpPr>
        <p:spPr>
          <a:xfrm>
            <a:off x="1248698" y="173040"/>
            <a:ext cx="9057353" cy="613541"/>
          </a:xfrm>
        </p:spPr>
        <p:txBody>
          <a:bodyPr/>
          <a:lstStyle/>
          <a:p>
            <a:r>
              <a:rPr lang="en-US" altLang="zh-TW" dirty="0"/>
              <a:t>Cache Block Replacement</a:t>
            </a:r>
          </a:p>
        </p:txBody>
      </p:sp>
      <p:sp>
        <p:nvSpPr>
          <p:cNvPr id="64515" name="Rectangle 1027"/>
          <p:cNvSpPr>
            <a:spLocks noGrp="1" noChangeArrowheads="1"/>
          </p:cNvSpPr>
          <p:nvPr>
            <p:ph type="body" idx="1"/>
          </p:nvPr>
        </p:nvSpPr>
        <p:spPr>
          <a:xfrm>
            <a:off x="381000" y="981074"/>
            <a:ext cx="11468099" cy="5057776"/>
          </a:xfrm>
        </p:spPr>
        <p:txBody>
          <a:bodyPr/>
          <a:lstStyle/>
          <a:p>
            <a:r>
              <a:rPr lang="en-US" altLang="zh-TW" sz="2667" dirty="0"/>
              <a:t>Direct mapped: No choice; each set has only one line</a:t>
            </a:r>
          </a:p>
          <a:p>
            <a:r>
              <a:rPr lang="en-US" altLang="zh-TW" sz="2667" dirty="0"/>
              <a:t>Set associative or fully associative</a:t>
            </a:r>
          </a:p>
          <a:p>
            <a:pPr lvl="1"/>
            <a:r>
              <a:rPr lang="en-US" altLang="zh-TW" sz="2400" dirty="0"/>
              <a:t>Random</a:t>
            </a:r>
          </a:p>
          <a:p>
            <a:pPr lvl="1"/>
            <a:r>
              <a:rPr lang="en-US" altLang="zh-TW" sz="2400" dirty="0"/>
              <a:t>LRU (Least Recently Used)</a:t>
            </a:r>
          </a:p>
          <a:p>
            <a:pPr lvl="2"/>
            <a:r>
              <a:rPr lang="en-US" altLang="zh-TW" sz="2133" dirty="0"/>
              <a:t>Hardware keeps track of the access history and replaces the block that has not been used for the longest time</a:t>
            </a:r>
          </a:p>
          <a:p>
            <a:pPr lvl="1"/>
            <a:r>
              <a:rPr lang="en-US" altLang="zh-TW" sz="2400" dirty="0"/>
              <a:t>An example of a pseudo LRU (for a two-way set associative) </a:t>
            </a:r>
          </a:p>
          <a:p>
            <a:pPr lvl="2"/>
            <a:r>
              <a:rPr lang="en-US" altLang="zh-TW" sz="2133" dirty="0"/>
              <a:t>Use a pointer to point at each block in turn</a:t>
            </a:r>
          </a:p>
          <a:p>
            <a:pPr lvl="2"/>
            <a:r>
              <a:rPr lang="en-US" altLang="zh-TW" sz="2133" dirty="0"/>
              <a:t>Whenever access to the block the pointer is pointing at, move the pointer to the next block</a:t>
            </a:r>
          </a:p>
          <a:p>
            <a:pPr lvl="2"/>
            <a:r>
              <a:rPr lang="en-US" altLang="zh-TW" sz="2133" dirty="0"/>
              <a:t>When need to replace, replace the block currently pointed at</a:t>
            </a:r>
          </a:p>
          <a:p>
            <a:pPr lvl="1"/>
            <a:r>
              <a:rPr lang="en-US" altLang="zh-TW" sz="2666" dirty="0"/>
              <a:t>FIFO (First-In First Out)</a:t>
            </a:r>
          </a:p>
          <a:p>
            <a:pPr lvl="2"/>
            <a:r>
              <a:rPr lang="en-US" altLang="zh-TW" sz="2133" dirty="0"/>
              <a:t>Replacing older data</a:t>
            </a:r>
          </a:p>
          <a:p>
            <a:pPr lvl="2"/>
            <a:endParaRPr lang="en-US" altLang="zh-TW" sz="2133" dirty="0"/>
          </a:p>
          <a:p>
            <a:endParaRPr lang="en-US" altLang="zh-TW" sz="2200" dirty="0"/>
          </a:p>
        </p:txBody>
      </p:sp>
      <p:sp>
        <p:nvSpPr>
          <p:cNvPr id="5" name="Slide Number Placeholder 5"/>
          <p:cNvSpPr>
            <a:spLocks noGrp="1"/>
          </p:cNvSpPr>
          <p:nvPr>
            <p:ph type="sldNum" sz="quarter" idx="10"/>
          </p:nvPr>
        </p:nvSpPr>
        <p:spPr>
          <a:xfrm>
            <a:off x="9108017" y="6534460"/>
            <a:ext cx="2844800" cy="339725"/>
          </a:xfrm>
        </p:spPr>
        <p:txBody>
          <a:bodyPr/>
          <a:lstStyle/>
          <a:p>
            <a:fld id="{D9B6BDF2-6896-4B98-8776-C18582F63BA5}" type="slidenum">
              <a:rPr lang="zh-TW" altLang="en-US" smtClean="0"/>
              <a:t>103</a:t>
            </a:fld>
            <a:endParaRPr lang="zh-TW" altLang="en-US"/>
          </a:p>
        </p:txBody>
      </p:sp>
      <p:sp>
        <p:nvSpPr>
          <p:cNvPr id="2" name="TextBox 1">
            <a:extLst>
              <a:ext uri="{FF2B5EF4-FFF2-40B4-BE49-F238E27FC236}">
                <a16:creationId xmlns:a16="http://schemas.microsoft.com/office/drawing/2014/main" id="{C0987250-7A33-4F91-8B62-B08226D8CBA1}"/>
              </a:ext>
            </a:extLst>
          </p:cNvPr>
          <p:cNvSpPr txBox="1"/>
          <p:nvPr/>
        </p:nvSpPr>
        <p:spPr>
          <a:xfrm>
            <a:off x="5170083" y="1923396"/>
            <a:ext cx="6399316" cy="830997"/>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True LRU needs to use a stack, but stack ops</a:t>
            </a:r>
          </a:p>
          <a:p>
            <a:r>
              <a:rPr lang="en-US" sz="2400" dirty="0">
                <a:ea typeface="標楷體" pitchFamily="65" charset="-120"/>
                <a:cs typeface="Calibri" pitchFamily="34" charset="0"/>
              </a:rPr>
              <a:t>are expensive</a:t>
            </a:r>
          </a:p>
        </p:txBody>
      </p:sp>
      <p:sp>
        <p:nvSpPr>
          <p:cNvPr id="6" name="TextBox 5">
            <a:extLst>
              <a:ext uri="{FF2B5EF4-FFF2-40B4-BE49-F238E27FC236}">
                <a16:creationId xmlns:a16="http://schemas.microsoft.com/office/drawing/2014/main" id="{405C0CD8-4EA8-41EF-BDBE-15A4FFA07D5F}"/>
              </a:ext>
            </a:extLst>
          </p:cNvPr>
          <p:cNvSpPr txBox="1"/>
          <p:nvPr/>
        </p:nvSpPr>
        <p:spPr>
          <a:xfrm>
            <a:off x="4382452" y="5115520"/>
            <a:ext cx="7570365" cy="923330"/>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Assume a set has 3 blocks. A calls B, B returns, A calls C, C calls D.</a:t>
            </a:r>
          </a:p>
          <a:p>
            <a:r>
              <a:rPr lang="en-US" dirty="0">
                <a:ea typeface="標楷體" pitchFamily="65" charset="-120"/>
                <a:cs typeface="Calibri" pitchFamily="34" charset="0"/>
              </a:rPr>
              <a:t>The cache set now has A, B, and C blocks. When D is referenced, which block should be replaced? LRU </a:t>
            </a:r>
            <a:r>
              <a:rPr lang="en-US" dirty="0">
                <a:ea typeface="標楷體" pitchFamily="65" charset="-120"/>
                <a:cs typeface="Calibri" pitchFamily="34" charset="0"/>
                <a:sym typeface="Wingdings" panose="05000000000000000000" pitchFamily="2" charset="2"/>
              </a:rPr>
              <a:t> B, FIFO  A</a:t>
            </a:r>
            <a:endParaRPr lang="en-US" dirty="0">
              <a:ea typeface="標楷體" pitchFamily="65" charset="-120"/>
              <a:cs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ChangeArrowheads="1"/>
          </p:cNvSpPr>
          <p:nvPr>
            <p:ph type="title"/>
          </p:nvPr>
        </p:nvSpPr>
        <p:spPr>
          <a:xfrm>
            <a:off x="1248698" y="173040"/>
            <a:ext cx="9057353" cy="613541"/>
          </a:xfrm>
        </p:spPr>
        <p:txBody>
          <a:bodyPr/>
          <a:lstStyle/>
          <a:p>
            <a:r>
              <a:rPr lang="en-US" altLang="zh-TW" dirty="0"/>
              <a:t>Cache Block Replacement</a:t>
            </a:r>
          </a:p>
        </p:txBody>
      </p:sp>
      <p:sp>
        <p:nvSpPr>
          <p:cNvPr id="64515" name="Rectangle 1027"/>
          <p:cNvSpPr>
            <a:spLocks noGrp="1" noChangeArrowheads="1"/>
          </p:cNvSpPr>
          <p:nvPr>
            <p:ph type="body" idx="1"/>
          </p:nvPr>
        </p:nvSpPr>
        <p:spPr>
          <a:xfrm>
            <a:off x="1288025" y="1125537"/>
            <a:ext cx="10028905" cy="4895851"/>
          </a:xfrm>
        </p:spPr>
        <p:txBody>
          <a:bodyPr/>
          <a:lstStyle/>
          <a:p>
            <a:r>
              <a:rPr lang="en-US" altLang="zh-TW" sz="2667" dirty="0"/>
              <a:t>General LRU Strategy Implementation:</a:t>
            </a:r>
          </a:p>
          <a:p>
            <a:pPr lvl="1"/>
            <a:r>
              <a:rPr lang="en-US" altLang="zh-TW" sz="2220" dirty="0"/>
              <a:t>e.g. for a 4-block/set cache, use a log_2(4) = 2 bit counter for each block</a:t>
            </a:r>
          </a:p>
          <a:p>
            <a:pPr lvl="1"/>
            <a:r>
              <a:rPr lang="en-US" altLang="zh-TW" sz="2220" dirty="0">
                <a:solidFill>
                  <a:srgbClr val="FF0000"/>
                </a:solidFill>
              </a:rPr>
              <a:t>Reset the counter to 0 whenever the block is accessed</a:t>
            </a:r>
          </a:p>
          <a:p>
            <a:pPr lvl="1"/>
            <a:r>
              <a:rPr lang="en-US" altLang="zh-TW" sz="2220" dirty="0"/>
              <a:t> Counters of other blocks in the same set should be incremented</a:t>
            </a:r>
          </a:p>
          <a:p>
            <a:pPr lvl="1"/>
            <a:r>
              <a:rPr lang="en-US" altLang="zh-TW" sz="2220" dirty="0"/>
              <a:t>On cache miss, replace/ uncache a block with a counter reaching 3</a:t>
            </a:r>
          </a:p>
          <a:p>
            <a:r>
              <a:rPr lang="en-US" altLang="zh-TW" sz="2753" dirty="0"/>
              <a:t>Optimal Replacement</a:t>
            </a:r>
          </a:p>
          <a:p>
            <a:pPr lvl="1"/>
            <a:r>
              <a:rPr lang="en-US" altLang="zh-TW" sz="2220" dirty="0" err="1"/>
              <a:t>Belady’s</a:t>
            </a:r>
            <a:r>
              <a:rPr lang="en-US" altLang="zh-TW" sz="2220" dirty="0"/>
              <a:t> algorithm</a:t>
            </a:r>
          </a:p>
          <a:p>
            <a:pPr lvl="2"/>
            <a:r>
              <a:rPr lang="en-US" altLang="zh-TW" sz="2000" dirty="0"/>
              <a:t>Replace the block that will be referenced in the farthest future</a:t>
            </a:r>
          </a:p>
          <a:p>
            <a:pPr marL="914354" lvl="2" indent="0">
              <a:buNone/>
            </a:pPr>
            <a:r>
              <a:rPr lang="en-US" altLang="zh-TW" sz="2000" dirty="0"/>
              <a:t>(or </a:t>
            </a:r>
            <a:r>
              <a:rPr lang="en-US" sz="2000" b="0" i="0" dirty="0">
                <a:solidFill>
                  <a:srgbClr val="424242"/>
                </a:solidFill>
                <a:effectLst/>
                <a:latin typeface="Segoe UI" panose="020B0502040204020203" pitchFamily="34" charset="0"/>
              </a:rPr>
              <a:t>Replace the item not needed for the longest time</a:t>
            </a:r>
            <a:r>
              <a:rPr lang="en-US" sz="2200" b="0" i="0" dirty="0">
                <a:solidFill>
                  <a:srgbClr val="424242"/>
                </a:solidFill>
                <a:effectLst/>
                <a:latin typeface="Segoe UI" panose="020B0502040204020203" pitchFamily="34" charset="0"/>
              </a:rPr>
              <a:t>)</a:t>
            </a:r>
            <a:endParaRPr lang="en-US" altLang="zh-TW" sz="2200" dirty="0"/>
          </a:p>
          <a:p>
            <a:pPr lvl="2"/>
            <a:r>
              <a:rPr lang="en-US" altLang="zh-TW" sz="2000" dirty="0"/>
              <a:t>This gives the optimal hit rate, but not the least memory traffic (because replacing a clean block is cheaper) </a:t>
            </a:r>
          </a:p>
          <a:p>
            <a:pPr lvl="1"/>
            <a:r>
              <a:rPr lang="en-US" altLang="zh-TW" sz="2200" dirty="0"/>
              <a:t>Not implementable because we do not know the future.</a:t>
            </a:r>
          </a:p>
          <a:p>
            <a:pPr marL="0" indent="0">
              <a:buNone/>
            </a:pPr>
            <a:endParaRPr lang="en-US" altLang="zh-TW" sz="2753" dirty="0"/>
          </a:p>
          <a:p>
            <a:endParaRPr lang="en-US" altLang="zh-TW" sz="2133" dirty="0"/>
          </a:p>
          <a:p>
            <a:endParaRPr lang="en-US" altLang="zh-TW" sz="2200" dirty="0"/>
          </a:p>
        </p:txBody>
      </p:sp>
      <p:sp>
        <p:nvSpPr>
          <p:cNvPr id="5" name="Slide Number Placeholder 5"/>
          <p:cNvSpPr>
            <a:spLocks noGrp="1"/>
          </p:cNvSpPr>
          <p:nvPr>
            <p:ph type="sldNum" sz="quarter" idx="10"/>
          </p:nvPr>
        </p:nvSpPr>
        <p:spPr>
          <a:xfrm>
            <a:off x="9108017" y="6534460"/>
            <a:ext cx="2844800" cy="339725"/>
          </a:xfrm>
        </p:spPr>
        <p:txBody>
          <a:bodyPr/>
          <a:lstStyle/>
          <a:p>
            <a:fld id="{D9B6BDF2-6896-4B98-8776-C18582F63BA5}" type="slidenum">
              <a:rPr lang="zh-TW" altLang="en-US" smtClean="0"/>
              <a:t>104</a:t>
            </a:fld>
            <a:endParaRPr lang="zh-TW"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258530" y="173039"/>
            <a:ext cx="9996372" cy="633207"/>
          </a:xfrm>
        </p:spPr>
        <p:txBody>
          <a:bodyPr/>
          <a:lstStyle/>
          <a:p>
            <a:r>
              <a:rPr lang="en-US" altLang="zh-TW" dirty="0"/>
              <a:t>A Case that DM is better than FA</a:t>
            </a:r>
          </a:p>
        </p:txBody>
      </p:sp>
      <p:sp>
        <p:nvSpPr>
          <p:cNvPr id="65539" name="Rectangle 3"/>
          <p:cNvSpPr>
            <a:spLocks noGrp="1" noChangeArrowheads="1"/>
          </p:cNvSpPr>
          <p:nvPr>
            <p:ph type="body" idx="1"/>
          </p:nvPr>
        </p:nvSpPr>
        <p:spPr>
          <a:xfrm>
            <a:off x="828675" y="1125538"/>
            <a:ext cx="10915650" cy="4989512"/>
          </a:xfrm>
        </p:spPr>
        <p:txBody>
          <a:bodyPr/>
          <a:lstStyle/>
          <a:p>
            <a:r>
              <a:rPr lang="en-US" altLang="zh-TW" sz="2800" dirty="0"/>
              <a:t>If a loop has 5 cache lines, line 0, line 1, line 2, line 3, line 4. </a:t>
            </a:r>
          </a:p>
          <a:p>
            <a:r>
              <a:rPr lang="en-US" altLang="zh-TW" sz="2800" dirty="0"/>
              <a:t>the cache is a Direct-Mapped (DM) with 4 blocks. So </a:t>
            </a:r>
            <a:r>
              <a:rPr lang="en-US" altLang="zh-TW" sz="2800" dirty="0">
                <a:solidFill>
                  <a:srgbClr val="FF0000"/>
                </a:solidFill>
              </a:rPr>
              <a:t>line 0</a:t>
            </a:r>
            <a:r>
              <a:rPr lang="en-US" altLang="zh-TW" sz="2800" dirty="0"/>
              <a:t> and </a:t>
            </a:r>
            <a:r>
              <a:rPr lang="en-US" altLang="zh-TW" sz="2800" dirty="0">
                <a:solidFill>
                  <a:srgbClr val="FF0000"/>
                </a:solidFill>
              </a:rPr>
              <a:t>line 4</a:t>
            </a:r>
            <a:r>
              <a:rPr lang="en-US" altLang="zh-TW" sz="2800" dirty="0"/>
              <a:t> will be mapped to the same set, and line 1,2,3 each map to a different set. The loop will have </a:t>
            </a:r>
            <a:r>
              <a:rPr lang="en-US" altLang="zh-TW" sz="2800" dirty="0">
                <a:solidFill>
                  <a:srgbClr val="FF0000"/>
                </a:solidFill>
              </a:rPr>
              <a:t>60% </a:t>
            </a:r>
            <a:r>
              <a:rPr lang="en-US" altLang="zh-TW" sz="2800" dirty="0"/>
              <a:t>of hit rate – line 1, line 2 and line 3 will hit, and line 0 and line 4 will conflict all the time.</a:t>
            </a:r>
          </a:p>
          <a:p>
            <a:r>
              <a:rPr lang="en-US" altLang="zh-TW" sz="2800" dirty="0"/>
              <a:t>If the cache is Fully Associative (FA), and the replacement algorithm is LRU, then the loop will have 0% of hit. All lines will be missed in the cache. 0,1,2,3,4 (line4 misses, will replace 0), 0 misses, will replace 1, 1 misses, will replace 2, 2 misses, will replace 3…</a:t>
            </a:r>
          </a:p>
          <a:p>
            <a:r>
              <a:rPr lang="en-US" altLang="zh-TW" sz="2800" dirty="0"/>
              <a:t>Why not consider using random replacement?</a:t>
            </a:r>
          </a:p>
          <a:p>
            <a:r>
              <a:rPr lang="en-US" altLang="zh-TW" sz="2800" dirty="0"/>
              <a:t>What could be a better combination? Some adaptive approach?</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105</a:t>
            </a:fld>
            <a:endParaRPr lang="zh-TW" altLang="en-US"/>
          </a:p>
        </p:txBody>
      </p:sp>
    </p:spTree>
    <p:extLst>
      <p:ext uri="{BB962C8B-B14F-4D97-AF65-F5344CB8AC3E}">
        <p14:creationId xmlns:p14="http://schemas.microsoft.com/office/powerpoint/2010/main" val="210426353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19201" y="173040"/>
            <a:ext cx="9086851" cy="603709"/>
          </a:xfrm>
        </p:spPr>
        <p:txBody>
          <a:bodyPr/>
          <a:lstStyle/>
          <a:p>
            <a:r>
              <a:rPr lang="en-US" altLang="zh-TW" dirty="0"/>
              <a:t>Improving Cache Performance</a:t>
            </a:r>
          </a:p>
        </p:txBody>
      </p:sp>
      <p:sp>
        <p:nvSpPr>
          <p:cNvPr id="544771" name="Rectangle 3"/>
          <p:cNvSpPr>
            <a:spLocks noGrp="1" noChangeArrowheads="1"/>
          </p:cNvSpPr>
          <p:nvPr>
            <p:ph type="body" idx="1"/>
          </p:nvPr>
        </p:nvSpPr>
        <p:spPr>
          <a:xfrm>
            <a:off x="1278194" y="1125538"/>
            <a:ext cx="8672053" cy="1942127"/>
          </a:xfrm>
        </p:spPr>
        <p:txBody>
          <a:bodyPr/>
          <a:lstStyle/>
          <a:p>
            <a:r>
              <a:rPr lang="en-US" altLang="zh-TW" dirty="0"/>
              <a:t>Reduce the cache hit time </a:t>
            </a:r>
          </a:p>
          <a:p>
            <a:r>
              <a:rPr lang="en-US" altLang="zh-TW" dirty="0"/>
              <a:t>Decrease the cache miss ratio</a:t>
            </a:r>
          </a:p>
          <a:p>
            <a:r>
              <a:rPr lang="en-US" altLang="zh-TW" dirty="0"/>
              <a:t>Decrease the cache miss penalty</a:t>
            </a:r>
          </a:p>
          <a:p>
            <a:endParaRPr lang="en-US" altLang="zh-TW"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106</a:t>
            </a:fld>
            <a:endParaRPr lang="zh-TW" altLang="en-US"/>
          </a:p>
        </p:txBody>
      </p:sp>
      <p:sp>
        <p:nvSpPr>
          <p:cNvPr id="6" name="Text Box 4">
            <a:extLst>
              <a:ext uri="{FF2B5EF4-FFF2-40B4-BE49-F238E27FC236}">
                <a16:creationId xmlns:a16="http://schemas.microsoft.com/office/drawing/2014/main" id="{3BAFD7D8-C2CC-4E27-81CA-445F5E074535}"/>
              </a:ext>
            </a:extLst>
          </p:cNvPr>
          <p:cNvSpPr txBox="1">
            <a:spLocks noChangeArrowheads="1"/>
          </p:cNvSpPr>
          <p:nvPr/>
        </p:nvSpPr>
        <p:spPr bwMode="auto">
          <a:xfrm>
            <a:off x="2239253" y="3718928"/>
            <a:ext cx="786144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16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16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9pPr>
          </a:lstStyle>
          <a:p>
            <a:pPr>
              <a:spcBef>
                <a:spcPct val="0"/>
              </a:spcBef>
              <a:buClrTx/>
              <a:buSzTx/>
              <a:buFontTx/>
              <a:buNone/>
            </a:pPr>
            <a:r>
              <a:rPr lang="en-US" altLang="zh-TW" sz="3200" b="1" dirty="0">
                <a:solidFill>
                  <a:srgbClr val="CC3300"/>
                </a:solidFill>
                <a:latin typeface="Arial" panose="020B0604020202020204" pitchFamily="34" charset="0"/>
                <a:cs typeface="Times New Roman" panose="02020603050405020304" pitchFamily="18" charset="0"/>
              </a:rPr>
              <a:t>Average memory access time = </a:t>
            </a:r>
          </a:p>
          <a:p>
            <a:pPr>
              <a:spcBef>
                <a:spcPct val="0"/>
              </a:spcBef>
              <a:buClrTx/>
              <a:buSzTx/>
              <a:buFontTx/>
              <a:buNone/>
            </a:pPr>
            <a:r>
              <a:rPr lang="en-US" altLang="zh-TW" sz="3200" b="1" dirty="0">
                <a:solidFill>
                  <a:srgbClr val="CC3300"/>
                </a:solidFill>
                <a:latin typeface="Arial" panose="020B0604020202020204" pitchFamily="34" charset="0"/>
                <a:cs typeface="Times New Roman" panose="02020603050405020304" pitchFamily="18" charset="0"/>
              </a:rPr>
              <a:t>	</a:t>
            </a:r>
            <a:r>
              <a:rPr lang="en-US" altLang="zh-TW" sz="3200" b="1" dirty="0">
                <a:solidFill>
                  <a:srgbClr val="00B050"/>
                </a:solidFill>
                <a:latin typeface="Arial" panose="020B0604020202020204" pitchFamily="34" charset="0"/>
                <a:cs typeface="Times New Roman" panose="02020603050405020304" pitchFamily="18" charset="0"/>
              </a:rPr>
              <a:t>hit time </a:t>
            </a:r>
            <a:r>
              <a:rPr lang="en-US" altLang="zh-TW" sz="3200" b="1" dirty="0">
                <a:solidFill>
                  <a:srgbClr val="CC3300"/>
                </a:solidFill>
                <a:latin typeface="Arial" panose="020B0604020202020204" pitchFamily="34" charset="0"/>
                <a:cs typeface="Times New Roman" panose="02020603050405020304" pitchFamily="18" charset="0"/>
              </a:rPr>
              <a:t>+ </a:t>
            </a:r>
            <a:r>
              <a:rPr lang="en-US" altLang="zh-TW" sz="3200" b="1" dirty="0">
                <a:solidFill>
                  <a:srgbClr val="00B050"/>
                </a:solidFill>
                <a:latin typeface="Arial" panose="020B0604020202020204" pitchFamily="34" charset="0"/>
                <a:cs typeface="Times New Roman" panose="02020603050405020304" pitchFamily="18" charset="0"/>
              </a:rPr>
              <a:t>miss-rate</a:t>
            </a:r>
            <a:r>
              <a:rPr lang="en-US" altLang="zh-TW" sz="3200" b="1" dirty="0">
                <a:solidFill>
                  <a:srgbClr val="CC3300"/>
                </a:solidFill>
                <a:latin typeface="Arial" panose="020B0604020202020204" pitchFamily="34" charset="0"/>
                <a:cs typeface="Times New Roman" panose="02020603050405020304" pitchFamily="18" charset="0"/>
              </a:rPr>
              <a:t> X </a:t>
            </a:r>
            <a:r>
              <a:rPr lang="en-US" altLang="zh-TW" sz="3200" b="1" dirty="0">
                <a:solidFill>
                  <a:srgbClr val="00B050"/>
                </a:solidFill>
                <a:latin typeface="Arial" panose="020B0604020202020204" pitchFamily="34" charset="0"/>
                <a:cs typeface="Times New Roman" panose="02020603050405020304" pitchFamily="18" charset="0"/>
              </a:rPr>
              <a:t>miss-penalty</a:t>
            </a:r>
          </a:p>
        </p:txBody>
      </p:sp>
      <p:sp>
        <p:nvSpPr>
          <p:cNvPr id="2" name="Oval 1">
            <a:extLst>
              <a:ext uri="{FF2B5EF4-FFF2-40B4-BE49-F238E27FC236}">
                <a16:creationId xmlns:a16="http://schemas.microsoft.com/office/drawing/2014/main" id="{0B4F7D06-B996-4756-B606-752637C5542E}"/>
              </a:ext>
            </a:extLst>
          </p:cNvPr>
          <p:cNvSpPr/>
          <p:nvPr/>
        </p:nvSpPr>
        <p:spPr bwMode="auto">
          <a:xfrm>
            <a:off x="7372350" y="4086225"/>
            <a:ext cx="2728350" cy="933450"/>
          </a:xfrm>
          <a:prstGeom prst="ellipse">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40539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219201" y="173039"/>
            <a:ext cx="9086851" cy="623375"/>
          </a:xfrm>
        </p:spPr>
        <p:txBody>
          <a:bodyPr/>
          <a:lstStyle/>
          <a:p>
            <a:r>
              <a:rPr lang="en-US" altLang="zh-TW" dirty="0"/>
              <a:t>Multilevel Caches</a:t>
            </a:r>
            <a:endParaRPr lang="en-AU" altLang="zh-TW" dirty="0">
              <a:ea typeface="新細明體" panose="02020500000000000000" pitchFamily="18" charset="-120"/>
            </a:endParaRPr>
          </a:p>
        </p:txBody>
      </p:sp>
      <p:sp>
        <p:nvSpPr>
          <p:cNvPr id="66563" name="Rectangle 3"/>
          <p:cNvSpPr>
            <a:spLocks noGrp="1" noChangeArrowheads="1"/>
          </p:cNvSpPr>
          <p:nvPr>
            <p:ph type="body" idx="1"/>
          </p:nvPr>
        </p:nvSpPr>
        <p:spPr>
          <a:xfrm>
            <a:off x="1258529" y="1125537"/>
            <a:ext cx="10323871" cy="4895851"/>
          </a:xfrm>
        </p:spPr>
        <p:txBody>
          <a:bodyPr/>
          <a:lstStyle/>
          <a:p>
            <a:r>
              <a:rPr lang="en-US" altLang="zh-TW" sz="2800" dirty="0"/>
              <a:t>Primary cache attached to the CPU</a:t>
            </a:r>
          </a:p>
          <a:p>
            <a:pPr lvl="1"/>
            <a:r>
              <a:rPr lang="en-US" altLang="zh-TW" sz="2600" dirty="0"/>
              <a:t>Small, but fast</a:t>
            </a:r>
          </a:p>
          <a:p>
            <a:r>
              <a:rPr lang="en-US" altLang="zh-TW" sz="2800" dirty="0"/>
              <a:t>Level-2 cache services misses from the primary cache</a:t>
            </a:r>
          </a:p>
          <a:p>
            <a:pPr lvl="1"/>
            <a:r>
              <a:rPr lang="en-US" altLang="zh-TW" sz="2600" dirty="0"/>
              <a:t>Larger, slower, but still faster than main memory</a:t>
            </a:r>
          </a:p>
          <a:p>
            <a:r>
              <a:rPr lang="en-US" altLang="zh-TW" sz="2800" dirty="0"/>
              <a:t>Main memory services L2 cache misses</a:t>
            </a:r>
          </a:p>
          <a:p>
            <a:r>
              <a:rPr lang="en-US" altLang="zh-TW" sz="2800" dirty="0"/>
              <a:t>High-end systems often include an L3 cache, L3 cache is usually shared by multiple cores on the same chip.</a:t>
            </a:r>
          </a:p>
          <a:p>
            <a:r>
              <a:rPr lang="en-US" altLang="en-AU" sz="2800" dirty="0">
                <a:solidFill>
                  <a:srgbClr val="C00000"/>
                </a:solidFill>
              </a:rPr>
              <a:t>Still need to keep consistency between different cache levels</a:t>
            </a:r>
          </a:p>
          <a:p>
            <a:endParaRPr lang="zh-CN" altLang="en-US" sz="2800" dirty="0">
              <a:solidFill>
                <a:srgbClr val="C00000"/>
              </a:solidFill>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107</a:t>
            </a:fld>
            <a:endParaRPr lang="zh-TW"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219201" y="173039"/>
            <a:ext cx="9086851" cy="623375"/>
          </a:xfrm>
        </p:spPr>
        <p:txBody>
          <a:bodyPr/>
          <a:lstStyle/>
          <a:p>
            <a:r>
              <a:rPr lang="en-US" altLang="zh-TW" dirty="0"/>
              <a:t>Multilevel Cache AMAT</a:t>
            </a:r>
            <a:endParaRPr lang="en-AU" altLang="zh-TW" dirty="0">
              <a:ea typeface="新細明體" panose="02020500000000000000" pitchFamily="18" charset="-120"/>
            </a:endParaRPr>
          </a:p>
        </p:txBody>
      </p:sp>
      <p:sp>
        <p:nvSpPr>
          <p:cNvPr id="66563" name="Rectangle 3"/>
          <p:cNvSpPr>
            <a:spLocks noGrp="1" noChangeArrowheads="1"/>
          </p:cNvSpPr>
          <p:nvPr>
            <p:ph type="body" idx="1"/>
          </p:nvPr>
        </p:nvSpPr>
        <p:spPr>
          <a:xfrm>
            <a:off x="282102" y="1125537"/>
            <a:ext cx="11670715" cy="4895851"/>
          </a:xfrm>
        </p:spPr>
        <p:txBody>
          <a:bodyPr/>
          <a:lstStyle/>
          <a:p>
            <a:r>
              <a:rPr lang="en-US" altLang="en-AU" sz="2800" dirty="0">
                <a:solidFill>
                  <a:srgbClr val="C00000"/>
                </a:solidFill>
              </a:rPr>
              <a:t>AMAT = L1 hit time + L1 miss rate * L1 miss penalty</a:t>
            </a:r>
          </a:p>
          <a:p>
            <a:r>
              <a:rPr lang="en-US" altLang="en-AU" sz="2800" dirty="0">
                <a:solidFill>
                  <a:srgbClr val="C00000"/>
                </a:solidFill>
              </a:rPr>
              <a:t>L1 miss penalty = L2 hit time + L2 miss rate * L2 miss penalty</a:t>
            </a:r>
          </a:p>
          <a:p>
            <a:r>
              <a:rPr lang="en-US" altLang="en-AU" sz="2800" dirty="0">
                <a:solidFill>
                  <a:srgbClr val="C00000"/>
                </a:solidFill>
              </a:rPr>
              <a:t>So in total: </a:t>
            </a:r>
          </a:p>
          <a:p>
            <a:pPr marL="457176" lvl="1" indent="0">
              <a:buNone/>
            </a:pPr>
            <a:r>
              <a:rPr lang="en-US" altLang="en-AU" sz="2800" dirty="0">
                <a:solidFill>
                  <a:srgbClr val="C00000"/>
                </a:solidFill>
              </a:rPr>
              <a:t>AMAT = </a:t>
            </a:r>
            <a:r>
              <a:rPr lang="en-US" altLang="en-AU" sz="2800" dirty="0">
                <a:solidFill>
                  <a:srgbClr val="C00000"/>
                </a:solidFill>
                <a:sym typeface="+mn-ea"/>
              </a:rPr>
              <a:t>L1 hit time + L1 miss rate * </a:t>
            </a:r>
            <a:r>
              <a:rPr lang="en-US" altLang="en-AU" sz="2800" dirty="0">
                <a:solidFill>
                  <a:srgbClr val="C00000"/>
                </a:solidFill>
              </a:rPr>
              <a:t>(L2 hit time + L2 miss rate * L2 miss penalty )</a:t>
            </a:r>
          </a:p>
          <a:p>
            <a:pPr marL="514345" indent="-457200">
              <a:buSzPct val="160000"/>
              <a:buFont typeface="Arial" panose="020B0604020202020204" pitchFamily="34" charset="0"/>
              <a:buChar char="•"/>
            </a:pPr>
            <a:r>
              <a:rPr lang="en-US" altLang="en-AU" sz="2800" dirty="0"/>
              <a:t>Beware the L2 miss rate here is a relative miss rate: the ratio of L1 misses that miss the L2.</a:t>
            </a:r>
          </a:p>
          <a:p>
            <a:r>
              <a:rPr lang="en-US" altLang="zh-CN" sz="2400" dirty="0"/>
              <a:t>Typical Hit Rates (Approximate):</a:t>
            </a:r>
          </a:p>
          <a:p>
            <a:pPr lvl="1"/>
            <a:r>
              <a:rPr lang="en-US" altLang="zh-CN" sz="2000" dirty="0"/>
              <a:t>L1 Cache: 80-95% </a:t>
            </a:r>
          </a:p>
          <a:p>
            <a:pPr lvl="1"/>
            <a:r>
              <a:rPr lang="en-US" altLang="zh-CN" sz="2000" dirty="0"/>
              <a:t>L2 Cache: 50-80% (L2 accesses are L1 misses)</a:t>
            </a:r>
          </a:p>
          <a:p>
            <a:pPr lvl="1"/>
            <a:r>
              <a:rPr lang="en-US" altLang="zh-CN" sz="2000" dirty="0"/>
              <a:t>L3 Cache: 20-40% (L3 accesses are L2 misses, the references to L3 are tough memory references)</a:t>
            </a:r>
            <a:endParaRPr lang="zh-CN" altLang="en-US" sz="2000" dirty="0">
              <a:solidFill>
                <a:srgbClr val="C00000"/>
              </a:solidFill>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108</a:t>
            </a:fld>
            <a:endParaRPr lang="zh-TW" altLang="en-US" dirty="0"/>
          </a:p>
        </p:txBody>
      </p:sp>
    </p:spTree>
    <p:extLst>
      <p:ext uri="{BB962C8B-B14F-4D97-AF65-F5344CB8AC3E}">
        <p14:creationId xmlns:p14="http://schemas.microsoft.com/office/powerpoint/2010/main" val="263977740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288026" y="173039"/>
            <a:ext cx="9018025" cy="662703"/>
          </a:xfrm>
        </p:spPr>
        <p:txBody>
          <a:bodyPr/>
          <a:lstStyle/>
          <a:p>
            <a:r>
              <a:rPr lang="en-US" altLang="zh-TW" dirty="0"/>
              <a:t>Multilevel Cache Example (1)</a:t>
            </a:r>
            <a:endParaRPr lang="en-AU" altLang="zh-TW" dirty="0">
              <a:ea typeface="新細明體" panose="02020500000000000000" pitchFamily="18" charset="-120"/>
            </a:endParaRPr>
          </a:p>
        </p:txBody>
      </p:sp>
      <p:sp>
        <p:nvSpPr>
          <p:cNvPr id="726019" name="Rectangle 3"/>
          <p:cNvSpPr>
            <a:spLocks noGrp="1" noChangeArrowheads="1"/>
          </p:cNvSpPr>
          <p:nvPr>
            <p:ph type="body" idx="1"/>
          </p:nvPr>
        </p:nvSpPr>
        <p:spPr>
          <a:xfrm>
            <a:off x="1288027" y="1125537"/>
            <a:ext cx="10294373" cy="4895851"/>
          </a:xfrm>
        </p:spPr>
        <p:txBody>
          <a:bodyPr/>
          <a:lstStyle/>
          <a:p>
            <a:r>
              <a:rPr lang="en-US" altLang="zh-TW" sz="2800" dirty="0"/>
              <a:t>Given</a:t>
            </a:r>
          </a:p>
          <a:p>
            <a:pPr lvl="1"/>
            <a:r>
              <a:rPr lang="en-US" altLang="zh-TW" sz="2600" dirty="0"/>
              <a:t>CPU base CPI = 1, clock rate = 4GHz</a:t>
            </a:r>
          </a:p>
          <a:p>
            <a:pPr lvl="1"/>
            <a:r>
              <a:rPr lang="en-US" altLang="zh-TW" sz="2600" dirty="0"/>
              <a:t>Miss rate/instruction = 2%</a:t>
            </a:r>
          </a:p>
          <a:p>
            <a:pPr lvl="1"/>
            <a:r>
              <a:rPr lang="en-US" altLang="zh-TW" sz="2600" dirty="0"/>
              <a:t>Main memory access time = 100ns</a:t>
            </a:r>
          </a:p>
          <a:p>
            <a:r>
              <a:rPr lang="en-US" altLang="zh-TW" sz="2800" dirty="0"/>
              <a:t>With just primary cache (L1)</a:t>
            </a:r>
          </a:p>
          <a:p>
            <a:pPr lvl="1"/>
            <a:r>
              <a:rPr lang="en-US" altLang="zh-TW" sz="2600" dirty="0"/>
              <a:t>Miss penalty = 100ns/0.25ns = 400 cycles</a:t>
            </a:r>
          </a:p>
          <a:p>
            <a:pPr lvl="1"/>
            <a:r>
              <a:rPr lang="en-US" altLang="zh-TW" sz="2600" dirty="0"/>
              <a:t>Effective CPI = 1 + 0.02 × 400 = 9</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109</a:t>
            </a:fld>
            <a:endParaRPr lang="zh-TW"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248698" y="173039"/>
            <a:ext cx="9057353" cy="633207"/>
          </a:xfrm>
        </p:spPr>
        <p:txBody>
          <a:bodyPr/>
          <a:lstStyle/>
          <a:p>
            <a:r>
              <a:rPr lang="en-US" altLang="zh-TW" dirty="0"/>
              <a:t>Multilevel Cache Example (2)</a:t>
            </a:r>
            <a:endParaRPr lang="en-AU" altLang="zh-TW" dirty="0">
              <a:ea typeface="新細明體" panose="02020500000000000000" pitchFamily="18" charset="-120"/>
            </a:endParaRPr>
          </a:p>
        </p:txBody>
      </p:sp>
      <p:sp>
        <p:nvSpPr>
          <p:cNvPr id="72707" name="Rectangle 3"/>
          <p:cNvSpPr>
            <a:spLocks noGrp="1" noChangeArrowheads="1"/>
          </p:cNvSpPr>
          <p:nvPr>
            <p:ph type="body" idx="1"/>
          </p:nvPr>
        </p:nvSpPr>
        <p:spPr>
          <a:xfrm>
            <a:off x="1335344" y="1064754"/>
            <a:ext cx="9163051" cy="4923092"/>
          </a:xfrm>
        </p:spPr>
        <p:txBody>
          <a:bodyPr/>
          <a:lstStyle/>
          <a:p>
            <a:r>
              <a:rPr lang="en-US" altLang="zh-TW" sz="2667" dirty="0"/>
              <a:t>Now add L2 cache</a:t>
            </a:r>
          </a:p>
          <a:p>
            <a:pPr lvl="1"/>
            <a:r>
              <a:rPr lang="en-US" altLang="zh-TW" sz="2400" dirty="0"/>
              <a:t>L1 miss rate to L2 = 2% </a:t>
            </a:r>
          </a:p>
          <a:p>
            <a:pPr lvl="1"/>
            <a:r>
              <a:rPr lang="en-US" altLang="zh-TW" sz="2400" dirty="0"/>
              <a:t>L2 access time = 5ns (to M: 100ns)</a:t>
            </a:r>
          </a:p>
          <a:p>
            <a:pPr lvl="1"/>
            <a:r>
              <a:rPr lang="en-US" altLang="zh-TW" sz="2400" dirty="0"/>
              <a:t>L2 miss rate to main memory = 50% </a:t>
            </a:r>
          </a:p>
          <a:p>
            <a:r>
              <a:rPr lang="en-US" altLang="zh-TW" sz="2667" dirty="0"/>
              <a:t>Primary miss with L2 hit (2%)</a:t>
            </a:r>
          </a:p>
          <a:p>
            <a:pPr lvl="1"/>
            <a:r>
              <a:rPr lang="en-US" altLang="zh-TW" sz="2400" dirty="0"/>
              <a:t>Penalty to access L2 = 5ns/0.25ns = 20 cycles</a:t>
            </a:r>
          </a:p>
          <a:p>
            <a:r>
              <a:rPr lang="en-US" altLang="zh-TW" sz="2667" dirty="0"/>
              <a:t>Primary miss with L2 miss (20%) // assuming 80% hit in L2</a:t>
            </a:r>
          </a:p>
          <a:p>
            <a:pPr lvl="1"/>
            <a:r>
              <a:rPr lang="en-US" altLang="zh-TW" sz="2400" dirty="0"/>
              <a:t>Penalty to access memory = 400 cycles</a:t>
            </a:r>
          </a:p>
          <a:p>
            <a:r>
              <a:rPr lang="en-US" altLang="zh-TW" sz="2667" dirty="0"/>
              <a:t>CPI = 1 + 0.02 × 20 + 0.02x0.2 × 400 = 1.4+1.6</a:t>
            </a:r>
          </a:p>
          <a:p>
            <a:r>
              <a:rPr lang="en-US" altLang="zh-TW" sz="2667" dirty="0"/>
              <a:t>Performance ratio = 9/3 = 3</a:t>
            </a:r>
            <a:endParaRPr lang="en-AU" altLang="zh-TW" sz="2667"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110</a:t>
            </a:fld>
            <a:endParaRPr lang="zh-TW" altLang="en-US" dirty="0"/>
          </a:p>
        </p:txBody>
      </p:sp>
      <p:sp>
        <p:nvSpPr>
          <p:cNvPr id="6" name="TextBox 5">
            <a:extLst>
              <a:ext uri="{FF2B5EF4-FFF2-40B4-BE49-F238E27FC236}">
                <a16:creationId xmlns:a16="http://schemas.microsoft.com/office/drawing/2014/main" id="{EA569B34-4570-4C83-82C6-15BB4EC4F4B9}"/>
              </a:ext>
            </a:extLst>
          </p:cNvPr>
          <p:cNvSpPr txBox="1"/>
          <p:nvPr/>
        </p:nvSpPr>
        <p:spPr>
          <a:xfrm>
            <a:off x="5381626" y="926254"/>
            <a:ext cx="6743699" cy="1107996"/>
          </a:xfrm>
          <a:prstGeom prst="rect">
            <a:avLst/>
          </a:prstGeom>
          <a:solidFill>
            <a:srgbClr val="FFFF00"/>
          </a:solidFill>
          <a:ln>
            <a:solidFill>
              <a:srgbClr val="FF0000"/>
            </a:solidFill>
          </a:ln>
        </p:spPr>
        <p:txBody>
          <a:bodyPr wrap="square" rtlCol="0" anchor="ctr" anchorCtr="1">
            <a:spAutoFit/>
          </a:bodyPr>
          <a:lstStyle/>
          <a:p>
            <a:r>
              <a:rPr lang="en-US" sz="2200" dirty="0">
                <a:ea typeface="標楷體" pitchFamily="65" charset="-120"/>
                <a:cs typeface="Calibri" pitchFamily="34" charset="0"/>
              </a:rPr>
              <a:t>Once again, AMAT is only an approximation,</a:t>
            </a:r>
          </a:p>
          <a:p>
            <a:r>
              <a:rPr lang="en-US" sz="2200" dirty="0">
                <a:ea typeface="標楷體" pitchFamily="65" charset="-120"/>
                <a:cs typeface="Calibri" pitchFamily="34" charset="0"/>
              </a:rPr>
              <a:t>It is not accurate when the cache miss penalty</a:t>
            </a:r>
          </a:p>
          <a:p>
            <a:r>
              <a:rPr lang="en-US" sz="2200" dirty="0">
                <a:ea typeface="標楷體" pitchFamily="65" charset="-120"/>
                <a:cs typeface="Calibri" pitchFamily="34" charset="0"/>
              </a:rPr>
              <a:t>can be overlapped with other instruction executions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US" altLang="zh-TW" sz="3733"/>
              <a:t>Multilevel Cache Considerations</a:t>
            </a:r>
            <a:endParaRPr lang="en-AU" altLang="zh-TW" sz="3733">
              <a:ea typeface="新細明體" panose="02020500000000000000" pitchFamily="18" charset="-120"/>
            </a:endParaRPr>
          </a:p>
        </p:txBody>
      </p:sp>
      <p:sp>
        <p:nvSpPr>
          <p:cNvPr id="69635" name="Rectangle 3"/>
          <p:cNvSpPr>
            <a:spLocks noGrp="1" noChangeArrowheads="1"/>
          </p:cNvSpPr>
          <p:nvPr>
            <p:ph type="body" idx="1"/>
          </p:nvPr>
        </p:nvSpPr>
        <p:spPr>
          <a:xfrm>
            <a:off x="1142321" y="1076900"/>
            <a:ext cx="10274709" cy="5032070"/>
          </a:xfrm>
        </p:spPr>
        <p:txBody>
          <a:bodyPr/>
          <a:lstStyle/>
          <a:p>
            <a:r>
              <a:rPr lang="en-US" altLang="zh-TW" sz="2400" dirty="0"/>
              <a:t>L1 cache</a:t>
            </a:r>
          </a:p>
          <a:p>
            <a:pPr lvl="1"/>
            <a:r>
              <a:rPr lang="en-US" altLang="zh-TW" sz="2000" dirty="0"/>
              <a:t>Focus on minimal hit time, must be fast</a:t>
            </a:r>
          </a:p>
          <a:p>
            <a:pPr lvl="1"/>
            <a:r>
              <a:rPr lang="en-US" altLang="zh-TW" sz="2000" dirty="0"/>
              <a:t>Spatial locality more important</a:t>
            </a:r>
          </a:p>
          <a:p>
            <a:pPr lvl="1"/>
            <a:r>
              <a:rPr lang="en-US" altLang="zh-TW" sz="2000" dirty="0"/>
              <a:t>Write-through to L2 is one option.</a:t>
            </a:r>
          </a:p>
          <a:p>
            <a:r>
              <a:rPr lang="en-US" altLang="zh-TW" sz="2400" dirty="0"/>
              <a:t>L2 cache</a:t>
            </a:r>
          </a:p>
          <a:p>
            <a:pPr lvl="1"/>
            <a:r>
              <a:rPr lang="en-US" altLang="zh-TW" sz="2000" dirty="0"/>
              <a:t>Focus on low miss rate to avoid going to main memory (reduce latency as well as both memory and bus traffic)</a:t>
            </a:r>
          </a:p>
          <a:p>
            <a:pPr lvl="1"/>
            <a:r>
              <a:rPr lang="en-US" altLang="zh-TW" sz="2000" dirty="0"/>
              <a:t>Hit time has less overall impact</a:t>
            </a:r>
          </a:p>
          <a:p>
            <a:pPr lvl="1"/>
            <a:r>
              <a:rPr lang="en-US" altLang="zh-TW" sz="2000" dirty="0"/>
              <a:t>Temporal locality more important</a:t>
            </a:r>
          </a:p>
          <a:p>
            <a:pPr lvl="1"/>
            <a:r>
              <a:rPr lang="en-US" altLang="zh-TW" sz="2000" dirty="0"/>
              <a:t>Write back is more common</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111</a:t>
            </a:fld>
            <a:endParaRPr lang="zh-TW"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954077" y="75894"/>
            <a:ext cx="10998740" cy="758825"/>
          </a:xfrm>
        </p:spPr>
        <p:txBody>
          <a:bodyPr/>
          <a:lstStyle/>
          <a:p>
            <a:r>
              <a:rPr lang="en-AU" altLang="zh-TW" dirty="0">
                <a:ea typeface="新細明體" panose="02020500000000000000" pitchFamily="18" charset="-120"/>
              </a:rPr>
              <a:t>Alternatives to Reduce Cache Miss Penalty</a:t>
            </a:r>
          </a:p>
        </p:txBody>
      </p:sp>
      <p:sp>
        <p:nvSpPr>
          <p:cNvPr id="70659" name="Rectangle 3"/>
          <p:cNvSpPr>
            <a:spLocks noGrp="1" noChangeArrowheads="1"/>
          </p:cNvSpPr>
          <p:nvPr>
            <p:ph type="body" idx="1"/>
          </p:nvPr>
        </p:nvSpPr>
        <p:spPr>
          <a:xfrm>
            <a:off x="583660" y="1125538"/>
            <a:ext cx="10998740" cy="4526232"/>
          </a:xfrm>
        </p:spPr>
        <p:txBody>
          <a:bodyPr/>
          <a:lstStyle/>
          <a:p>
            <a:r>
              <a:rPr lang="en-AU" altLang="zh-TW" sz="2800" dirty="0">
                <a:ea typeface="新細明體" panose="02020500000000000000" pitchFamily="18" charset="-120"/>
              </a:rPr>
              <a:t>Critical word first and early restart</a:t>
            </a:r>
          </a:p>
          <a:p>
            <a:pPr lvl="1"/>
            <a:r>
              <a:rPr lang="en-US" sz="2000" b="0" i="0" dirty="0">
                <a:solidFill>
                  <a:srgbClr val="424242"/>
                </a:solidFill>
                <a:effectLst/>
                <a:latin typeface="Segoe UI" panose="020B0502040204020203" pitchFamily="34" charset="0"/>
              </a:rPr>
              <a:t>Fetch the requested (critical word) from memory before the rest of the cache line, and resume execution immediately after receiving the critical word.</a:t>
            </a:r>
            <a:endParaRPr lang="en-AU" altLang="zh-TW" sz="2000" dirty="0">
              <a:ea typeface="新細明體" panose="02020500000000000000" pitchFamily="18" charset="-120"/>
            </a:endParaRPr>
          </a:p>
          <a:p>
            <a:r>
              <a:rPr lang="en-AU" altLang="zh-TW" sz="2800" dirty="0">
                <a:ea typeface="新細明體" panose="02020500000000000000" pitchFamily="18" charset="-120"/>
              </a:rPr>
              <a:t>Non-blocking caches</a:t>
            </a:r>
          </a:p>
          <a:p>
            <a:pPr lvl="1"/>
            <a:r>
              <a:rPr lang="en-AU" altLang="zh-TW" sz="2267" dirty="0">
                <a:ea typeface="新細明體" panose="02020500000000000000" pitchFamily="18" charset="-120"/>
              </a:rPr>
              <a:t>Allow multiple misses to overlap</a:t>
            </a:r>
          </a:p>
          <a:p>
            <a:r>
              <a:rPr lang="en-AU" altLang="zh-TW" sz="2800" dirty="0">
                <a:ea typeface="新細明體" panose="02020500000000000000" pitchFamily="18" charset="-120"/>
              </a:rPr>
              <a:t>Cache prefetching</a:t>
            </a:r>
          </a:p>
          <a:p>
            <a:pPr lvl="1"/>
            <a:r>
              <a:rPr lang="en-AU" altLang="zh-TW" sz="2267" dirty="0">
                <a:ea typeface="新細明體" panose="02020500000000000000" pitchFamily="18" charset="-120"/>
              </a:rPr>
              <a:t>Trigger the miss to occur earlier</a:t>
            </a:r>
          </a:p>
          <a:p>
            <a:r>
              <a:rPr lang="en-AU" altLang="zh-TW" sz="2800" dirty="0">
                <a:ea typeface="新細明體" panose="02020500000000000000" pitchFamily="18" charset="-120"/>
              </a:rPr>
              <a:t>Write buffer for copy-back cache</a:t>
            </a:r>
          </a:p>
          <a:p>
            <a:r>
              <a:rPr lang="en-AU" altLang="zh-TW" sz="2800" dirty="0">
                <a:ea typeface="新細明體" panose="02020500000000000000" pitchFamily="18" charset="-120"/>
              </a:rPr>
              <a:t>Cache-aware code scheduling</a:t>
            </a:r>
          </a:p>
          <a:p>
            <a:pPr lvl="1"/>
            <a:r>
              <a:rPr lang="en-AU" altLang="zh-TW" sz="2267" dirty="0">
                <a:ea typeface="新細明體" panose="02020500000000000000" pitchFamily="18" charset="-120"/>
              </a:rPr>
              <a:t>Attempt to hide the miss penalty </a:t>
            </a:r>
          </a:p>
          <a:p>
            <a:endParaRPr lang="en-AU" altLang="zh-TW" sz="24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112</a:t>
            </a:fld>
            <a:endParaRPr lang="zh-TW"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51651910-2E54-4EAD-9DBD-CD052CE4799A}"/>
              </a:ext>
            </a:extLst>
          </p:cNvPr>
          <p:cNvSpPr>
            <a:spLocks noGrp="1" noChangeArrowheads="1"/>
          </p:cNvSpPr>
          <p:nvPr>
            <p:ph type="title"/>
          </p:nvPr>
        </p:nvSpPr>
        <p:spPr/>
        <p:txBody>
          <a:bodyPr/>
          <a:lstStyle/>
          <a:p>
            <a:pPr eaLnBrk="1" hangingPunct="1"/>
            <a:r>
              <a:rPr lang="en-US" altLang="en-US" dirty="0"/>
              <a:t>Cache Coherence in Multiprocessors</a:t>
            </a:r>
          </a:p>
        </p:txBody>
      </p:sp>
      <p:sp>
        <p:nvSpPr>
          <p:cNvPr id="18434" name="Oval 4">
            <a:extLst>
              <a:ext uri="{FF2B5EF4-FFF2-40B4-BE49-F238E27FC236}">
                <a16:creationId xmlns:a16="http://schemas.microsoft.com/office/drawing/2014/main" id="{6821F725-3E17-4668-93AB-1AE192592246}"/>
              </a:ext>
            </a:extLst>
          </p:cNvPr>
          <p:cNvSpPr>
            <a:spLocks noChangeArrowheads="1"/>
          </p:cNvSpPr>
          <p:nvPr/>
        </p:nvSpPr>
        <p:spPr bwMode="auto">
          <a:xfrm>
            <a:off x="2706688" y="12192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sp>
        <p:nvSpPr>
          <p:cNvPr id="18435" name="Rectangle 5">
            <a:extLst>
              <a:ext uri="{FF2B5EF4-FFF2-40B4-BE49-F238E27FC236}">
                <a16:creationId xmlns:a16="http://schemas.microsoft.com/office/drawing/2014/main" id="{5E1F4148-F9D9-4E5C-AD64-C3D4FF3BA4A1}"/>
              </a:ext>
            </a:extLst>
          </p:cNvPr>
          <p:cNvSpPr>
            <a:spLocks noChangeArrowheads="1"/>
          </p:cNvSpPr>
          <p:nvPr/>
        </p:nvSpPr>
        <p:spPr bwMode="auto">
          <a:xfrm>
            <a:off x="4953000" y="4724400"/>
            <a:ext cx="2895600" cy="914400"/>
          </a:xfrm>
          <a:prstGeom prst="rect">
            <a:avLst/>
          </a:prstGeom>
          <a:solidFill>
            <a:schemeClr val="accent2"/>
          </a:solidFill>
          <a:ln w="17463">
            <a:solidFill>
              <a:srgbClr val="0000FF"/>
            </a:solidFill>
            <a:miter lim="800000"/>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Memory</a:t>
            </a:r>
          </a:p>
        </p:txBody>
      </p:sp>
      <p:cxnSp>
        <p:nvCxnSpPr>
          <p:cNvPr id="18436" name="AutoShape 6">
            <a:extLst>
              <a:ext uri="{FF2B5EF4-FFF2-40B4-BE49-F238E27FC236}">
                <a16:creationId xmlns:a16="http://schemas.microsoft.com/office/drawing/2014/main" id="{A54AA36B-EEFA-45C2-A4DE-64DFD9C87998}"/>
              </a:ext>
            </a:extLst>
          </p:cNvPr>
          <p:cNvCxnSpPr>
            <a:cxnSpLocks noChangeShapeType="1"/>
            <a:stCxn id="18434" idx="4"/>
          </p:cNvCxnSpPr>
          <p:nvPr/>
        </p:nvCxnSpPr>
        <p:spPr bwMode="auto">
          <a:xfrm flipH="1">
            <a:off x="3505200" y="22177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49512" name="Rectangle 8">
            <a:extLst>
              <a:ext uri="{FF2B5EF4-FFF2-40B4-BE49-F238E27FC236}">
                <a16:creationId xmlns:a16="http://schemas.microsoft.com/office/drawing/2014/main" id="{72791481-73CE-AB47-B12D-4678AC606051}"/>
              </a:ext>
            </a:extLst>
          </p:cNvPr>
          <p:cNvSpPr>
            <a:spLocks noChangeArrowheads="1"/>
          </p:cNvSpPr>
          <p:nvPr/>
        </p:nvSpPr>
        <p:spPr bwMode="auto">
          <a:xfrm>
            <a:off x="3124200" y="2743200"/>
            <a:ext cx="762000" cy="6096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18438" name="Line 9">
            <a:extLst>
              <a:ext uri="{FF2B5EF4-FFF2-40B4-BE49-F238E27FC236}">
                <a16:creationId xmlns:a16="http://schemas.microsoft.com/office/drawing/2014/main" id="{6DA3F8D1-BD7D-43E5-8F28-3DF4B5C32CF0}"/>
              </a:ext>
            </a:extLst>
          </p:cNvPr>
          <p:cNvSpPr>
            <a:spLocks noChangeShapeType="1"/>
          </p:cNvSpPr>
          <p:nvPr/>
        </p:nvSpPr>
        <p:spPr bwMode="auto">
          <a:xfrm>
            <a:off x="1981200" y="4114800"/>
            <a:ext cx="8153400" cy="0"/>
          </a:xfrm>
          <a:prstGeom prst="line">
            <a:avLst/>
          </a:prstGeom>
          <a:noFill/>
          <a:ln w="17463">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9" name="Line 10">
            <a:extLst>
              <a:ext uri="{FF2B5EF4-FFF2-40B4-BE49-F238E27FC236}">
                <a16:creationId xmlns:a16="http://schemas.microsoft.com/office/drawing/2014/main" id="{B616D4BE-B08E-43D2-B89F-070C0B7566AC}"/>
              </a:ext>
            </a:extLst>
          </p:cNvPr>
          <p:cNvSpPr>
            <a:spLocks noChangeShapeType="1"/>
          </p:cNvSpPr>
          <p:nvPr/>
        </p:nvSpPr>
        <p:spPr bwMode="auto">
          <a:xfrm>
            <a:off x="3505200" y="3352800"/>
            <a:ext cx="0" cy="762000"/>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0" name="Line 11">
            <a:extLst>
              <a:ext uri="{FF2B5EF4-FFF2-40B4-BE49-F238E27FC236}">
                <a16:creationId xmlns:a16="http://schemas.microsoft.com/office/drawing/2014/main" id="{498899A8-8F2B-4079-96E6-1702EBF2C282}"/>
              </a:ext>
            </a:extLst>
          </p:cNvPr>
          <p:cNvSpPr>
            <a:spLocks noChangeShapeType="1"/>
          </p:cNvSpPr>
          <p:nvPr/>
        </p:nvSpPr>
        <p:spPr bwMode="auto">
          <a:xfrm>
            <a:off x="6324600" y="4130676"/>
            <a:ext cx="0" cy="593725"/>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1" name="Oval 13">
            <a:extLst>
              <a:ext uri="{FF2B5EF4-FFF2-40B4-BE49-F238E27FC236}">
                <a16:creationId xmlns:a16="http://schemas.microsoft.com/office/drawing/2014/main" id="{A8E9A6B7-1297-493E-9529-715F6FF2758B}"/>
              </a:ext>
            </a:extLst>
          </p:cNvPr>
          <p:cNvSpPr>
            <a:spLocks noChangeArrowheads="1"/>
          </p:cNvSpPr>
          <p:nvPr/>
        </p:nvSpPr>
        <p:spPr bwMode="auto">
          <a:xfrm>
            <a:off x="4572000" y="12192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18442" name="AutoShape 14">
            <a:extLst>
              <a:ext uri="{FF2B5EF4-FFF2-40B4-BE49-F238E27FC236}">
                <a16:creationId xmlns:a16="http://schemas.microsoft.com/office/drawing/2014/main" id="{F794CB7F-1061-47F5-9F66-9AD184AD7B10}"/>
              </a:ext>
            </a:extLst>
          </p:cNvPr>
          <p:cNvCxnSpPr>
            <a:cxnSpLocks noChangeShapeType="1"/>
            <a:stCxn id="18441" idx="4"/>
          </p:cNvCxnSpPr>
          <p:nvPr/>
        </p:nvCxnSpPr>
        <p:spPr bwMode="auto">
          <a:xfrm flipH="1">
            <a:off x="5370514" y="22177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49519" name="Rectangle 15">
            <a:extLst>
              <a:ext uri="{FF2B5EF4-FFF2-40B4-BE49-F238E27FC236}">
                <a16:creationId xmlns:a16="http://schemas.microsoft.com/office/drawing/2014/main" id="{C0096DB5-2EEC-3B4A-AB92-BA49998E5FBD}"/>
              </a:ext>
            </a:extLst>
          </p:cNvPr>
          <p:cNvSpPr>
            <a:spLocks noChangeArrowheads="1"/>
          </p:cNvSpPr>
          <p:nvPr/>
        </p:nvSpPr>
        <p:spPr bwMode="auto">
          <a:xfrm>
            <a:off x="4989513" y="2743200"/>
            <a:ext cx="762000" cy="6096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18444" name="Line 16">
            <a:extLst>
              <a:ext uri="{FF2B5EF4-FFF2-40B4-BE49-F238E27FC236}">
                <a16:creationId xmlns:a16="http://schemas.microsoft.com/office/drawing/2014/main" id="{6F86EE1A-9A09-4AAB-B370-5F06770C2C4E}"/>
              </a:ext>
            </a:extLst>
          </p:cNvPr>
          <p:cNvSpPr>
            <a:spLocks noChangeShapeType="1"/>
          </p:cNvSpPr>
          <p:nvPr/>
        </p:nvSpPr>
        <p:spPr bwMode="auto">
          <a:xfrm>
            <a:off x="5370513" y="3352800"/>
            <a:ext cx="0" cy="762000"/>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5" name="Oval 17">
            <a:extLst>
              <a:ext uri="{FF2B5EF4-FFF2-40B4-BE49-F238E27FC236}">
                <a16:creationId xmlns:a16="http://schemas.microsoft.com/office/drawing/2014/main" id="{09ADD923-C0AF-4F41-BFE0-3EC46BBBFA42}"/>
              </a:ext>
            </a:extLst>
          </p:cNvPr>
          <p:cNvSpPr>
            <a:spLocks noChangeArrowheads="1"/>
          </p:cNvSpPr>
          <p:nvPr/>
        </p:nvSpPr>
        <p:spPr bwMode="auto">
          <a:xfrm>
            <a:off x="6400800" y="12192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18446" name="AutoShape 18">
            <a:extLst>
              <a:ext uri="{FF2B5EF4-FFF2-40B4-BE49-F238E27FC236}">
                <a16:creationId xmlns:a16="http://schemas.microsoft.com/office/drawing/2014/main" id="{B5290E00-A13D-4497-B128-F270538E762B}"/>
              </a:ext>
            </a:extLst>
          </p:cNvPr>
          <p:cNvCxnSpPr>
            <a:cxnSpLocks noChangeShapeType="1"/>
            <a:stCxn id="18445" idx="4"/>
          </p:cNvCxnSpPr>
          <p:nvPr/>
        </p:nvCxnSpPr>
        <p:spPr bwMode="auto">
          <a:xfrm flipH="1">
            <a:off x="7199314" y="22177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49523" name="Rectangle 19">
            <a:extLst>
              <a:ext uri="{FF2B5EF4-FFF2-40B4-BE49-F238E27FC236}">
                <a16:creationId xmlns:a16="http://schemas.microsoft.com/office/drawing/2014/main" id="{EBA23954-070F-EF44-A3EE-E7EB42F932F7}"/>
              </a:ext>
            </a:extLst>
          </p:cNvPr>
          <p:cNvSpPr>
            <a:spLocks noChangeArrowheads="1"/>
          </p:cNvSpPr>
          <p:nvPr/>
        </p:nvSpPr>
        <p:spPr bwMode="auto">
          <a:xfrm>
            <a:off x="6818313" y="2743200"/>
            <a:ext cx="762000" cy="6096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18448" name="Line 20">
            <a:extLst>
              <a:ext uri="{FF2B5EF4-FFF2-40B4-BE49-F238E27FC236}">
                <a16:creationId xmlns:a16="http://schemas.microsoft.com/office/drawing/2014/main" id="{DA746F7E-3799-4A38-9D36-B16ECDBE4E4F}"/>
              </a:ext>
            </a:extLst>
          </p:cNvPr>
          <p:cNvSpPr>
            <a:spLocks noChangeShapeType="1"/>
          </p:cNvSpPr>
          <p:nvPr/>
        </p:nvSpPr>
        <p:spPr bwMode="auto">
          <a:xfrm>
            <a:off x="7199313" y="3352800"/>
            <a:ext cx="0" cy="762000"/>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9" name="Oval 21">
            <a:extLst>
              <a:ext uri="{FF2B5EF4-FFF2-40B4-BE49-F238E27FC236}">
                <a16:creationId xmlns:a16="http://schemas.microsoft.com/office/drawing/2014/main" id="{A03A549F-1EA4-4A2F-9338-B825A27FD79C}"/>
              </a:ext>
            </a:extLst>
          </p:cNvPr>
          <p:cNvSpPr>
            <a:spLocks noChangeArrowheads="1"/>
          </p:cNvSpPr>
          <p:nvPr/>
        </p:nvSpPr>
        <p:spPr bwMode="auto">
          <a:xfrm>
            <a:off x="8229600" y="12192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18450" name="AutoShape 22">
            <a:extLst>
              <a:ext uri="{FF2B5EF4-FFF2-40B4-BE49-F238E27FC236}">
                <a16:creationId xmlns:a16="http://schemas.microsoft.com/office/drawing/2014/main" id="{90CAE8DF-D570-408A-A0B8-068C622644D7}"/>
              </a:ext>
            </a:extLst>
          </p:cNvPr>
          <p:cNvCxnSpPr>
            <a:cxnSpLocks noChangeShapeType="1"/>
            <a:stCxn id="18449" idx="4"/>
          </p:cNvCxnSpPr>
          <p:nvPr/>
        </p:nvCxnSpPr>
        <p:spPr bwMode="auto">
          <a:xfrm flipH="1">
            <a:off x="9028114" y="22177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49527" name="Rectangle 23">
            <a:extLst>
              <a:ext uri="{FF2B5EF4-FFF2-40B4-BE49-F238E27FC236}">
                <a16:creationId xmlns:a16="http://schemas.microsoft.com/office/drawing/2014/main" id="{0F40495D-3134-5348-9604-DD4998669130}"/>
              </a:ext>
            </a:extLst>
          </p:cNvPr>
          <p:cNvSpPr>
            <a:spLocks noChangeArrowheads="1"/>
          </p:cNvSpPr>
          <p:nvPr/>
        </p:nvSpPr>
        <p:spPr bwMode="auto">
          <a:xfrm>
            <a:off x="8647113" y="2743200"/>
            <a:ext cx="762000" cy="6096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18452" name="Line 24">
            <a:extLst>
              <a:ext uri="{FF2B5EF4-FFF2-40B4-BE49-F238E27FC236}">
                <a16:creationId xmlns:a16="http://schemas.microsoft.com/office/drawing/2014/main" id="{CC92B11D-119A-4F44-8E36-C50378577D30}"/>
              </a:ext>
            </a:extLst>
          </p:cNvPr>
          <p:cNvSpPr>
            <a:spLocks noChangeShapeType="1"/>
          </p:cNvSpPr>
          <p:nvPr/>
        </p:nvSpPr>
        <p:spPr bwMode="auto">
          <a:xfrm>
            <a:off x="9028113" y="3352800"/>
            <a:ext cx="0" cy="762000"/>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3" name="Slide Number Placeholder 1">
            <a:extLst>
              <a:ext uri="{FF2B5EF4-FFF2-40B4-BE49-F238E27FC236}">
                <a16:creationId xmlns:a16="http://schemas.microsoft.com/office/drawing/2014/main" id="{4F1EC22A-D707-40C6-8044-FB809C2AF0B9}"/>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113</a:t>
            </a:fld>
            <a:endParaRPr kumimoji="0" lang="en-US" altLang="en-US" sz="1400">
              <a:latin typeface="Arial" panose="020B0604020202020204" pitchFamily="34" charset="0"/>
            </a:endParaRPr>
          </a:p>
        </p:txBody>
      </p:sp>
      <p:sp>
        <p:nvSpPr>
          <p:cNvPr id="18454" name="Text Box 75">
            <a:extLst>
              <a:ext uri="{FF2B5EF4-FFF2-40B4-BE49-F238E27FC236}">
                <a16:creationId xmlns:a16="http://schemas.microsoft.com/office/drawing/2014/main" id="{1BE12D0C-7632-4EA3-855D-F46DA0792024}"/>
              </a:ext>
            </a:extLst>
          </p:cNvPr>
          <p:cNvSpPr txBox="1">
            <a:spLocks noChangeArrowheads="1"/>
          </p:cNvSpPr>
          <p:nvPr/>
        </p:nvSpPr>
        <p:spPr bwMode="auto">
          <a:xfrm>
            <a:off x="530158" y="4937682"/>
            <a:ext cx="4165600" cy="4619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b="1">
                <a:solidFill>
                  <a:srgbClr val="FF0000"/>
                </a:solidFill>
              </a:rPr>
              <a:t>With a write-back cache policy</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B709580D-A29B-42FC-9E51-0CA139C4A2ED}"/>
              </a:ext>
            </a:extLst>
          </p:cNvPr>
          <p:cNvSpPr>
            <a:spLocks noGrp="1" noChangeArrowheads="1"/>
          </p:cNvSpPr>
          <p:nvPr>
            <p:ph type="title"/>
          </p:nvPr>
        </p:nvSpPr>
        <p:spPr>
          <a:xfrm>
            <a:off x="1819903" y="136525"/>
            <a:ext cx="9558670" cy="573088"/>
          </a:xfrm>
        </p:spPr>
        <p:txBody>
          <a:bodyPr/>
          <a:lstStyle/>
          <a:p>
            <a:pPr eaLnBrk="1" hangingPunct="1"/>
            <a:endParaRPr lang="en-US" altLang="en-US" dirty="0"/>
          </a:p>
        </p:txBody>
      </p:sp>
      <p:sp>
        <p:nvSpPr>
          <p:cNvPr id="20482" name="Freeform 86">
            <a:extLst>
              <a:ext uri="{FF2B5EF4-FFF2-40B4-BE49-F238E27FC236}">
                <a16:creationId xmlns:a16="http://schemas.microsoft.com/office/drawing/2014/main" id="{9E70702B-EEDC-469F-9889-EEC7ED9B0188}"/>
              </a:ext>
            </a:extLst>
          </p:cNvPr>
          <p:cNvSpPr>
            <a:spLocks/>
          </p:cNvSpPr>
          <p:nvPr/>
        </p:nvSpPr>
        <p:spPr bwMode="auto">
          <a:xfrm>
            <a:off x="2139950" y="2743200"/>
            <a:ext cx="450850" cy="450850"/>
          </a:xfrm>
          <a:custGeom>
            <a:avLst/>
            <a:gdLst>
              <a:gd name="T0" fmla="*/ 2147483646 w 284"/>
              <a:gd name="T1" fmla="*/ 2147483646 h 284"/>
              <a:gd name="T2" fmla="*/ 2147483646 w 284"/>
              <a:gd name="T3" fmla="*/ 2147483646 h 284"/>
              <a:gd name="T4" fmla="*/ 2147483646 w 284"/>
              <a:gd name="T5" fmla="*/ 2147483646 h 284"/>
              <a:gd name="T6" fmla="*/ 2147483646 w 284"/>
              <a:gd name="T7" fmla="*/ 2147483646 h 284"/>
              <a:gd name="T8" fmla="*/ 2147483646 w 284"/>
              <a:gd name="T9" fmla="*/ 2147483646 h 284"/>
              <a:gd name="T10" fmla="*/ 2147483646 w 284"/>
              <a:gd name="T11" fmla="*/ 2147483646 h 284"/>
              <a:gd name="T12" fmla="*/ 2147483646 w 284"/>
              <a:gd name="T13" fmla="*/ 2147483646 h 284"/>
              <a:gd name="T14" fmla="*/ 2147483646 w 284"/>
              <a:gd name="T15" fmla="*/ 2147483646 h 284"/>
              <a:gd name="T16" fmla="*/ 2147483646 w 284"/>
              <a:gd name="T17" fmla="*/ 2147483646 h 284"/>
              <a:gd name="T18" fmla="*/ 2147483646 w 284"/>
              <a:gd name="T19" fmla="*/ 2147483646 h 284"/>
              <a:gd name="T20" fmla="*/ 2147483646 w 284"/>
              <a:gd name="T21" fmla="*/ 0 h 284"/>
              <a:gd name="T22" fmla="*/ 2147483646 w 284"/>
              <a:gd name="T23" fmla="*/ 2147483646 h 284"/>
              <a:gd name="T24" fmla="*/ 2147483646 w 284"/>
              <a:gd name="T25" fmla="*/ 2147483646 h 284"/>
              <a:gd name="T26" fmla="*/ 2147483646 w 284"/>
              <a:gd name="T27" fmla="*/ 2147483646 h 284"/>
              <a:gd name="T28" fmla="*/ 2147483646 w 284"/>
              <a:gd name="T29" fmla="*/ 2147483646 h 284"/>
              <a:gd name="T30" fmla="*/ 2147483646 w 284"/>
              <a:gd name="T31" fmla="*/ 2147483646 h 284"/>
              <a:gd name="T32" fmla="*/ 2147483646 w 284"/>
              <a:gd name="T33" fmla="*/ 2147483646 h 284"/>
              <a:gd name="T34" fmla="*/ 2147483646 w 284"/>
              <a:gd name="T35" fmla="*/ 2147483646 h 284"/>
              <a:gd name="T36" fmla="*/ 2147483646 w 284"/>
              <a:gd name="T37" fmla="*/ 2147483646 h 284"/>
              <a:gd name="T38" fmla="*/ 0 w 284"/>
              <a:gd name="T39" fmla="*/ 2147483646 h 284"/>
              <a:gd name="T40" fmla="*/ 0 w 284"/>
              <a:gd name="T41" fmla="*/ 2147483646 h 284"/>
              <a:gd name="T42" fmla="*/ 0 w 284"/>
              <a:gd name="T43" fmla="*/ 2147483646 h 284"/>
              <a:gd name="T44" fmla="*/ 2147483646 w 284"/>
              <a:gd name="T45" fmla="*/ 2147483646 h 284"/>
              <a:gd name="T46" fmla="*/ 2147483646 w 284"/>
              <a:gd name="T47" fmla="*/ 2147483646 h 284"/>
              <a:gd name="T48" fmla="*/ 2147483646 w 284"/>
              <a:gd name="T49" fmla="*/ 2147483646 h 284"/>
              <a:gd name="T50" fmla="*/ 2147483646 w 284"/>
              <a:gd name="T51" fmla="*/ 2147483646 h 284"/>
              <a:gd name="T52" fmla="*/ 2147483646 w 284"/>
              <a:gd name="T53" fmla="*/ 2147483646 h 284"/>
              <a:gd name="T54" fmla="*/ 2147483646 w 284"/>
              <a:gd name="T55" fmla="*/ 2147483646 h 284"/>
              <a:gd name="T56" fmla="*/ 2147483646 w 284"/>
              <a:gd name="T57" fmla="*/ 2147483646 h 284"/>
              <a:gd name="T58" fmla="*/ 2147483646 w 284"/>
              <a:gd name="T59" fmla="*/ 2147483646 h 284"/>
              <a:gd name="T60" fmla="*/ 2147483646 w 284"/>
              <a:gd name="T61" fmla="*/ 2147483646 h 284"/>
              <a:gd name="T62" fmla="*/ 2147483646 w 284"/>
              <a:gd name="T63" fmla="*/ 2147483646 h 284"/>
              <a:gd name="T64" fmla="*/ 2147483646 w 284"/>
              <a:gd name="T65" fmla="*/ 2147483646 h 284"/>
              <a:gd name="T66" fmla="*/ 2147483646 w 284"/>
              <a:gd name="T67" fmla="*/ 2147483646 h 284"/>
              <a:gd name="T68" fmla="*/ 2147483646 w 284"/>
              <a:gd name="T69" fmla="*/ 2147483646 h 284"/>
              <a:gd name="T70" fmla="*/ 2147483646 w 284"/>
              <a:gd name="T71" fmla="*/ 2147483646 h 284"/>
              <a:gd name="T72" fmla="*/ 2147483646 w 284"/>
              <a:gd name="T73" fmla="*/ 2147483646 h 284"/>
              <a:gd name="T74" fmla="*/ 2147483646 w 284"/>
              <a:gd name="T75" fmla="*/ 2147483646 h 284"/>
              <a:gd name="T76" fmla="*/ 2147483646 w 284"/>
              <a:gd name="T77" fmla="*/ 2147483646 h 284"/>
              <a:gd name="T78" fmla="*/ 2147483646 w 284"/>
              <a:gd name="T79" fmla="*/ 2147483646 h 284"/>
              <a:gd name="T80" fmla="*/ 2147483646 w 284"/>
              <a:gd name="T81" fmla="*/ 2147483646 h 284"/>
              <a:gd name="T82" fmla="*/ 2147483646 w 284"/>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4"/>
              <a:gd name="T127" fmla="*/ 0 h 284"/>
              <a:gd name="T128" fmla="*/ 284 w 284"/>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4" h="284">
                <a:moveTo>
                  <a:pt x="280" y="140"/>
                </a:moveTo>
                <a:lnTo>
                  <a:pt x="280" y="121"/>
                </a:lnTo>
                <a:lnTo>
                  <a:pt x="276" y="98"/>
                </a:lnTo>
                <a:lnTo>
                  <a:pt x="269" y="80"/>
                </a:lnTo>
                <a:lnTo>
                  <a:pt x="257" y="61"/>
                </a:lnTo>
                <a:lnTo>
                  <a:pt x="242" y="42"/>
                </a:lnTo>
                <a:lnTo>
                  <a:pt x="223" y="27"/>
                </a:lnTo>
                <a:lnTo>
                  <a:pt x="208" y="15"/>
                </a:lnTo>
                <a:lnTo>
                  <a:pt x="185" y="8"/>
                </a:lnTo>
                <a:lnTo>
                  <a:pt x="163" y="4"/>
                </a:lnTo>
                <a:lnTo>
                  <a:pt x="140" y="0"/>
                </a:lnTo>
                <a:lnTo>
                  <a:pt x="117" y="4"/>
                </a:lnTo>
                <a:lnTo>
                  <a:pt x="95" y="8"/>
                </a:lnTo>
                <a:lnTo>
                  <a:pt x="76" y="15"/>
                </a:lnTo>
                <a:lnTo>
                  <a:pt x="57" y="27"/>
                </a:lnTo>
                <a:lnTo>
                  <a:pt x="42" y="42"/>
                </a:lnTo>
                <a:lnTo>
                  <a:pt x="27" y="61"/>
                </a:lnTo>
                <a:lnTo>
                  <a:pt x="15" y="80"/>
                </a:lnTo>
                <a:lnTo>
                  <a:pt x="8" y="98"/>
                </a:lnTo>
                <a:lnTo>
                  <a:pt x="0" y="121"/>
                </a:lnTo>
                <a:lnTo>
                  <a:pt x="0" y="144"/>
                </a:lnTo>
                <a:lnTo>
                  <a:pt x="0" y="166"/>
                </a:lnTo>
                <a:lnTo>
                  <a:pt x="8" y="189"/>
                </a:lnTo>
                <a:lnTo>
                  <a:pt x="15" y="208"/>
                </a:lnTo>
                <a:lnTo>
                  <a:pt x="27" y="227"/>
                </a:lnTo>
                <a:lnTo>
                  <a:pt x="42" y="242"/>
                </a:lnTo>
                <a:lnTo>
                  <a:pt x="57" y="257"/>
                </a:lnTo>
                <a:lnTo>
                  <a:pt x="76" y="268"/>
                </a:lnTo>
                <a:lnTo>
                  <a:pt x="95" y="276"/>
                </a:lnTo>
                <a:lnTo>
                  <a:pt x="117" y="284"/>
                </a:lnTo>
                <a:lnTo>
                  <a:pt x="140" y="284"/>
                </a:lnTo>
                <a:lnTo>
                  <a:pt x="163" y="284"/>
                </a:lnTo>
                <a:lnTo>
                  <a:pt x="185" y="276"/>
                </a:lnTo>
                <a:lnTo>
                  <a:pt x="208" y="268"/>
                </a:lnTo>
                <a:lnTo>
                  <a:pt x="223" y="257"/>
                </a:lnTo>
                <a:lnTo>
                  <a:pt x="242" y="242"/>
                </a:lnTo>
                <a:lnTo>
                  <a:pt x="257" y="227"/>
                </a:lnTo>
                <a:lnTo>
                  <a:pt x="269" y="208"/>
                </a:lnTo>
                <a:lnTo>
                  <a:pt x="276" y="189"/>
                </a:lnTo>
                <a:lnTo>
                  <a:pt x="280" y="166"/>
                </a:lnTo>
                <a:lnTo>
                  <a:pt x="284"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83" name="Rectangle 87">
            <a:extLst>
              <a:ext uri="{FF2B5EF4-FFF2-40B4-BE49-F238E27FC236}">
                <a16:creationId xmlns:a16="http://schemas.microsoft.com/office/drawing/2014/main" id="{BDC77FC9-0577-4683-A894-F98477C7ABA5}"/>
              </a:ext>
            </a:extLst>
          </p:cNvPr>
          <p:cNvSpPr>
            <a:spLocks noChangeArrowheads="1"/>
          </p:cNvSpPr>
          <p:nvPr/>
        </p:nvSpPr>
        <p:spPr bwMode="auto">
          <a:xfrm>
            <a:off x="2308226" y="2846388"/>
            <a:ext cx="1047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1</a:t>
            </a:r>
            <a:endParaRPr lang="en-US" altLang="en-US" sz="2000" b="1">
              <a:solidFill>
                <a:srgbClr val="000000"/>
              </a:solidFill>
            </a:endParaRPr>
          </a:p>
        </p:txBody>
      </p:sp>
      <p:sp>
        <p:nvSpPr>
          <p:cNvPr id="20484" name="Freeform 91">
            <a:extLst>
              <a:ext uri="{FF2B5EF4-FFF2-40B4-BE49-F238E27FC236}">
                <a16:creationId xmlns:a16="http://schemas.microsoft.com/office/drawing/2014/main" id="{CB946D17-8ABE-4051-9F20-91096DE6C43D}"/>
              </a:ext>
            </a:extLst>
          </p:cNvPr>
          <p:cNvSpPr>
            <a:spLocks/>
          </p:cNvSpPr>
          <p:nvPr/>
        </p:nvSpPr>
        <p:spPr bwMode="auto">
          <a:xfrm>
            <a:off x="9685338" y="2514601"/>
            <a:ext cx="449262" cy="449263"/>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0 h 283"/>
              <a:gd name="T20" fmla="*/ 2147483646 w 283"/>
              <a:gd name="T21" fmla="*/ 0 h 283"/>
              <a:gd name="T22" fmla="*/ 2147483646 w 283"/>
              <a:gd name="T23" fmla="*/ 0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2147483646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83" y="140"/>
                </a:moveTo>
                <a:lnTo>
                  <a:pt x="279" y="117"/>
                </a:lnTo>
                <a:lnTo>
                  <a:pt x="275" y="94"/>
                </a:lnTo>
                <a:lnTo>
                  <a:pt x="268" y="75"/>
                </a:lnTo>
                <a:lnTo>
                  <a:pt x="256" y="56"/>
                </a:lnTo>
                <a:lnTo>
                  <a:pt x="241" y="41"/>
                </a:lnTo>
                <a:lnTo>
                  <a:pt x="222" y="26"/>
                </a:lnTo>
                <a:lnTo>
                  <a:pt x="207" y="15"/>
                </a:lnTo>
                <a:lnTo>
                  <a:pt x="185" y="7"/>
                </a:lnTo>
                <a:lnTo>
                  <a:pt x="162" y="0"/>
                </a:lnTo>
                <a:lnTo>
                  <a:pt x="139" y="0"/>
                </a:lnTo>
                <a:lnTo>
                  <a:pt x="117" y="0"/>
                </a:lnTo>
                <a:lnTo>
                  <a:pt x="94" y="7"/>
                </a:lnTo>
                <a:lnTo>
                  <a:pt x="75" y="15"/>
                </a:lnTo>
                <a:lnTo>
                  <a:pt x="56" y="26"/>
                </a:lnTo>
                <a:lnTo>
                  <a:pt x="41" y="41"/>
                </a:lnTo>
                <a:lnTo>
                  <a:pt x="26" y="56"/>
                </a:lnTo>
                <a:lnTo>
                  <a:pt x="15" y="75"/>
                </a:lnTo>
                <a:lnTo>
                  <a:pt x="7" y="94"/>
                </a:lnTo>
                <a:lnTo>
                  <a:pt x="0" y="117"/>
                </a:lnTo>
                <a:lnTo>
                  <a:pt x="0" y="140"/>
                </a:lnTo>
                <a:lnTo>
                  <a:pt x="0" y="162"/>
                </a:lnTo>
                <a:lnTo>
                  <a:pt x="7" y="185"/>
                </a:lnTo>
                <a:lnTo>
                  <a:pt x="15" y="204"/>
                </a:lnTo>
                <a:lnTo>
                  <a:pt x="26" y="223"/>
                </a:lnTo>
                <a:lnTo>
                  <a:pt x="41" y="242"/>
                </a:lnTo>
                <a:lnTo>
                  <a:pt x="56" y="253"/>
                </a:lnTo>
                <a:lnTo>
                  <a:pt x="75" y="268"/>
                </a:lnTo>
                <a:lnTo>
                  <a:pt x="94" y="276"/>
                </a:lnTo>
                <a:lnTo>
                  <a:pt x="117" y="279"/>
                </a:lnTo>
                <a:lnTo>
                  <a:pt x="139" y="283"/>
                </a:lnTo>
                <a:lnTo>
                  <a:pt x="162" y="279"/>
                </a:lnTo>
                <a:lnTo>
                  <a:pt x="185" y="276"/>
                </a:lnTo>
                <a:lnTo>
                  <a:pt x="207" y="268"/>
                </a:lnTo>
                <a:lnTo>
                  <a:pt x="222" y="253"/>
                </a:lnTo>
                <a:lnTo>
                  <a:pt x="241" y="242"/>
                </a:lnTo>
                <a:lnTo>
                  <a:pt x="256" y="223"/>
                </a:lnTo>
                <a:lnTo>
                  <a:pt x="268" y="204"/>
                </a:lnTo>
                <a:lnTo>
                  <a:pt x="275" y="185"/>
                </a:lnTo>
                <a:lnTo>
                  <a:pt x="279" y="162"/>
                </a:lnTo>
                <a:lnTo>
                  <a:pt x="283" y="14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85" name="Rectangle 92">
            <a:extLst>
              <a:ext uri="{FF2B5EF4-FFF2-40B4-BE49-F238E27FC236}">
                <a16:creationId xmlns:a16="http://schemas.microsoft.com/office/drawing/2014/main" id="{F1CB266D-0904-476D-929F-F2949FCA5A9E}"/>
              </a:ext>
            </a:extLst>
          </p:cNvPr>
          <p:cNvSpPr>
            <a:spLocks noChangeArrowheads="1"/>
          </p:cNvSpPr>
          <p:nvPr/>
        </p:nvSpPr>
        <p:spPr bwMode="auto">
          <a:xfrm>
            <a:off x="9840914" y="2628901"/>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2</a:t>
            </a:r>
            <a:endParaRPr lang="en-US" altLang="en-US" sz="2000" b="1">
              <a:solidFill>
                <a:srgbClr val="000000"/>
              </a:solidFill>
            </a:endParaRPr>
          </a:p>
        </p:txBody>
      </p:sp>
      <p:sp>
        <p:nvSpPr>
          <p:cNvPr id="54" name="Rectangle 8">
            <a:extLst>
              <a:ext uri="{FF2B5EF4-FFF2-40B4-BE49-F238E27FC236}">
                <a16:creationId xmlns:a16="http://schemas.microsoft.com/office/drawing/2014/main" id="{419B6E5E-C793-5949-9309-79C1D7E95319}"/>
              </a:ext>
            </a:extLst>
          </p:cNvPr>
          <p:cNvSpPr>
            <a:spLocks noChangeArrowheads="1"/>
          </p:cNvSpPr>
          <p:nvPr/>
        </p:nvSpPr>
        <p:spPr bwMode="auto">
          <a:xfrm>
            <a:off x="28956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71" name="Rectangle 8">
            <a:extLst>
              <a:ext uri="{FF2B5EF4-FFF2-40B4-BE49-F238E27FC236}">
                <a16:creationId xmlns:a16="http://schemas.microsoft.com/office/drawing/2014/main" id="{1B1425B7-FDA9-2649-AFFE-1B1855115963}"/>
              </a:ext>
            </a:extLst>
          </p:cNvPr>
          <p:cNvSpPr>
            <a:spLocks noChangeArrowheads="1"/>
          </p:cNvSpPr>
          <p:nvPr/>
        </p:nvSpPr>
        <p:spPr bwMode="auto">
          <a:xfrm>
            <a:off x="835025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20488" name="Rectangle 5">
            <a:extLst>
              <a:ext uri="{FF2B5EF4-FFF2-40B4-BE49-F238E27FC236}">
                <a16:creationId xmlns:a16="http://schemas.microsoft.com/office/drawing/2014/main" id="{983496C6-F955-4840-B14A-5E3BFDCEEEC9}"/>
              </a:ext>
            </a:extLst>
          </p:cNvPr>
          <p:cNvSpPr>
            <a:spLocks noChangeArrowheads="1"/>
          </p:cNvSpPr>
          <p:nvPr/>
        </p:nvSpPr>
        <p:spPr bwMode="auto">
          <a:xfrm>
            <a:off x="4953000" y="4800600"/>
            <a:ext cx="2895600" cy="1066800"/>
          </a:xfrm>
          <a:prstGeom prst="rect">
            <a:avLst/>
          </a:prstGeom>
          <a:solidFill>
            <a:schemeClr val="accent2"/>
          </a:solidFill>
          <a:ln w="17463">
            <a:solidFill>
              <a:srgbClr val="0000FF"/>
            </a:solidFill>
            <a:miter lim="800000"/>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Memory</a:t>
            </a:r>
          </a:p>
        </p:txBody>
      </p:sp>
      <p:sp>
        <p:nvSpPr>
          <p:cNvPr id="20489" name="Line 6">
            <a:extLst>
              <a:ext uri="{FF2B5EF4-FFF2-40B4-BE49-F238E27FC236}">
                <a16:creationId xmlns:a16="http://schemas.microsoft.com/office/drawing/2014/main" id="{982D4D33-8212-4859-9BEB-9ED0A74DDAC1}"/>
              </a:ext>
            </a:extLst>
          </p:cNvPr>
          <p:cNvSpPr>
            <a:spLocks noChangeShapeType="1"/>
          </p:cNvSpPr>
          <p:nvPr/>
        </p:nvSpPr>
        <p:spPr bwMode="auto">
          <a:xfrm>
            <a:off x="2508251" y="4194175"/>
            <a:ext cx="7197725" cy="1588"/>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0" name="Freeform 14">
            <a:extLst>
              <a:ext uri="{FF2B5EF4-FFF2-40B4-BE49-F238E27FC236}">
                <a16:creationId xmlns:a16="http://schemas.microsoft.com/office/drawing/2014/main" id="{07BAE8AA-C94B-4A96-A853-602A190ABB06}"/>
              </a:ext>
            </a:extLst>
          </p:cNvPr>
          <p:cNvSpPr>
            <a:spLocks/>
          </p:cNvSpPr>
          <p:nvPr/>
        </p:nvSpPr>
        <p:spPr bwMode="auto">
          <a:xfrm>
            <a:off x="2735263" y="1724026"/>
            <a:ext cx="900112" cy="898525"/>
          </a:xfrm>
          <a:custGeom>
            <a:avLst/>
            <a:gdLst>
              <a:gd name="T0" fmla="*/ 2147483646 w 567"/>
              <a:gd name="T1" fmla="*/ 2147483646 h 566"/>
              <a:gd name="T2" fmla="*/ 2147483646 w 567"/>
              <a:gd name="T3" fmla="*/ 2147483646 h 566"/>
              <a:gd name="T4" fmla="*/ 2147483646 w 567"/>
              <a:gd name="T5" fmla="*/ 2147483646 h 566"/>
              <a:gd name="T6" fmla="*/ 2147483646 w 567"/>
              <a:gd name="T7" fmla="*/ 2147483646 h 566"/>
              <a:gd name="T8" fmla="*/ 2147483646 w 567"/>
              <a:gd name="T9" fmla="*/ 2147483646 h 566"/>
              <a:gd name="T10" fmla="*/ 2147483646 w 567"/>
              <a:gd name="T11" fmla="*/ 2147483646 h 566"/>
              <a:gd name="T12" fmla="*/ 2147483646 w 567"/>
              <a:gd name="T13" fmla="*/ 2147483646 h 566"/>
              <a:gd name="T14" fmla="*/ 2147483646 w 567"/>
              <a:gd name="T15" fmla="*/ 2147483646 h 566"/>
              <a:gd name="T16" fmla="*/ 2147483646 w 567"/>
              <a:gd name="T17" fmla="*/ 2147483646 h 566"/>
              <a:gd name="T18" fmla="*/ 2147483646 w 567"/>
              <a:gd name="T19" fmla="*/ 2147483646 h 566"/>
              <a:gd name="T20" fmla="*/ 2147483646 w 567"/>
              <a:gd name="T21" fmla="*/ 2147483646 h 566"/>
              <a:gd name="T22" fmla="*/ 2147483646 w 567"/>
              <a:gd name="T23" fmla="*/ 2147483646 h 566"/>
              <a:gd name="T24" fmla="*/ 2147483646 w 567"/>
              <a:gd name="T25" fmla="*/ 2147483646 h 566"/>
              <a:gd name="T26" fmla="*/ 2147483646 w 567"/>
              <a:gd name="T27" fmla="*/ 2147483646 h 566"/>
              <a:gd name="T28" fmla="*/ 2147483646 w 567"/>
              <a:gd name="T29" fmla="*/ 2147483646 h 566"/>
              <a:gd name="T30" fmla="*/ 2147483646 w 567"/>
              <a:gd name="T31" fmla="*/ 2147483646 h 566"/>
              <a:gd name="T32" fmla="*/ 2147483646 w 567"/>
              <a:gd name="T33" fmla="*/ 2147483646 h 566"/>
              <a:gd name="T34" fmla="*/ 2147483646 w 567"/>
              <a:gd name="T35" fmla="*/ 2147483646 h 566"/>
              <a:gd name="T36" fmla="*/ 2147483646 w 567"/>
              <a:gd name="T37" fmla="*/ 2147483646 h 566"/>
              <a:gd name="T38" fmla="*/ 2147483646 w 567"/>
              <a:gd name="T39" fmla="*/ 2147483646 h 566"/>
              <a:gd name="T40" fmla="*/ 0 w 567"/>
              <a:gd name="T41" fmla="*/ 2147483646 h 566"/>
              <a:gd name="T42" fmla="*/ 2147483646 w 567"/>
              <a:gd name="T43" fmla="*/ 2147483646 h 566"/>
              <a:gd name="T44" fmla="*/ 2147483646 w 567"/>
              <a:gd name="T45" fmla="*/ 2147483646 h 566"/>
              <a:gd name="T46" fmla="*/ 2147483646 w 567"/>
              <a:gd name="T47" fmla="*/ 2147483646 h 566"/>
              <a:gd name="T48" fmla="*/ 2147483646 w 567"/>
              <a:gd name="T49" fmla="*/ 2147483646 h 566"/>
              <a:gd name="T50" fmla="*/ 2147483646 w 567"/>
              <a:gd name="T51" fmla="*/ 2147483646 h 566"/>
              <a:gd name="T52" fmla="*/ 2147483646 w 567"/>
              <a:gd name="T53" fmla="*/ 2147483646 h 566"/>
              <a:gd name="T54" fmla="*/ 2147483646 w 567"/>
              <a:gd name="T55" fmla="*/ 2147483646 h 566"/>
              <a:gd name="T56" fmla="*/ 2147483646 w 567"/>
              <a:gd name="T57" fmla="*/ 2147483646 h 566"/>
              <a:gd name="T58" fmla="*/ 2147483646 w 567"/>
              <a:gd name="T59" fmla="*/ 2147483646 h 566"/>
              <a:gd name="T60" fmla="*/ 2147483646 w 567"/>
              <a:gd name="T61" fmla="*/ 0 h 566"/>
              <a:gd name="T62" fmla="*/ 2147483646 w 567"/>
              <a:gd name="T63" fmla="*/ 2147483646 h 566"/>
              <a:gd name="T64" fmla="*/ 2147483646 w 567"/>
              <a:gd name="T65" fmla="*/ 2147483646 h 566"/>
              <a:gd name="T66" fmla="*/ 2147483646 w 567"/>
              <a:gd name="T67" fmla="*/ 2147483646 h 566"/>
              <a:gd name="T68" fmla="*/ 2147483646 w 567"/>
              <a:gd name="T69" fmla="*/ 2147483646 h 566"/>
              <a:gd name="T70" fmla="*/ 2147483646 w 567"/>
              <a:gd name="T71" fmla="*/ 2147483646 h 566"/>
              <a:gd name="T72" fmla="*/ 2147483646 w 567"/>
              <a:gd name="T73" fmla="*/ 2147483646 h 566"/>
              <a:gd name="T74" fmla="*/ 2147483646 w 567"/>
              <a:gd name="T75" fmla="*/ 2147483646 h 566"/>
              <a:gd name="T76" fmla="*/ 2147483646 w 567"/>
              <a:gd name="T77" fmla="*/ 2147483646 h 566"/>
              <a:gd name="T78" fmla="*/ 2147483646 w 567"/>
              <a:gd name="T79" fmla="*/ 2147483646 h 566"/>
              <a:gd name="T80" fmla="*/ 2147483646 w 567"/>
              <a:gd name="T81" fmla="*/ 2147483646 h 566"/>
              <a:gd name="T82" fmla="*/ 2147483646 w 567"/>
              <a:gd name="T83" fmla="*/ 2147483646 h 56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7"/>
              <a:gd name="T127" fmla="*/ 0 h 566"/>
              <a:gd name="T128" fmla="*/ 567 w 567"/>
              <a:gd name="T129" fmla="*/ 566 h 56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7" h="566">
                <a:moveTo>
                  <a:pt x="563" y="279"/>
                </a:moveTo>
                <a:lnTo>
                  <a:pt x="563" y="328"/>
                </a:lnTo>
                <a:lnTo>
                  <a:pt x="552" y="370"/>
                </a:lnTo>
                <a:lnTo>
                  <a:pt x="533" y="411"/>
                </a:lnTo>
                <a:lnTo>
                  <a:pt x="510" y="449"/>
                </a:lnTo>
                <a:lnTo>
                  <a:pt x="484" y="483"/>
                </a:lnTo>
                <a:lnTo>
                  <a:pt x="450" y="510"/>
                </a:lnTo>
                <a:lnTo>
                  <a:pt x="412" y="532"/>
                </a:lnTo>
                <a:lnTo>
                  <a:pt x="374" y="551"/>
                </a:lnTo>
                <a:lnTo>
                  <a:pt x="329" y="563"/>
                </a:lnTo>
                <a:lnTo>
                  <a:pt x="284" y="566"/>
                </a:lnTo>
                <a:lnTo>
                  <a:pt x="238" y="563"/>
                </a:lnTo>
                <a:lnTo>
                  <a:pt x="193" y="551"/>
                </a:lnTo>
                <a:lnTo>
                  <a:pt x="151" y="532"/>
                </a:lnTo>
                <a:lnTo>
                  <a:pt x="117" y="510"/>
                </a:lnTo>
                <a:lnTo>
                  <a:pt x="83" y="483"/>
                </a:lnTo>
                <a:lnTo>
                  <a:pt x="53" y="449"/>
                </a:lnTo>
                <a:lnTo>
                  <a:pt x="31" y="411"/>
                </a:lnTo>
                <a:lnTo>
                  <a:pt x="15" y="370"/>
                </a:lnTo>
                <a:lnTo>
                  <a:pt x="4" y="328"/>
                </a:lnTo>
                <a:lnTo>
                  <a:pt x="0" y="283"/>
                </a:lnTo>
                <a:lnTo>
                  <a:pt x="4" y="238"/>
                </a:lnTo>
                <a:lnTo>
                  <a:pt x="15" y="192"/>
                </a:lnTo>
                <a:lnTo>
                  <a:pt x="31" y="151"/>
                </a:lnTo>
                <a:lnTo>
                  <a:pt x="53" y="113"/>
                </a:lnTo>
                <a:lnTo>
                  <a:pt x="83" y="83"/>
                </a:lnTo>
                <a:lnTo>
                  <a:pt x="117" y="53"/>
                </a:lnTo>
                <a:lnTo>
                  <a:pt x="151" y="30"/>
                </a:lnTo>
                <a:lnTo>
                  <a:pt x="193" y="15"/>
                </a:lnTo>
                <a:lnTo>
                  <a:pt x="238" y="4"/>
                </a:lnTo>
                <a:lnTo>
                  <a:pt x="284" y="0"/>
                </a:lnTo>
                <a:lnTo>
                  <a:pt x="329" y="4"/>
                </a:lnTo>
                <a:lnTo>
                  <a:pt x="374" y="15"/>
                </a:lnTo>
                <a:lnTo>
                  <a:pt x="412" y="30"/>
                </a:lnTo>
                <a:lnTo>
                  <a:pt x="450" y="53"/>
                </a:lnTo>
                <a:lnTo>
                  <a:pt x="484" y="83"/>
                </a:lnTo>
                <a:lnTo>
                  <a:pt x="510" y="113"/>
                </a:lnTo>
                <a:lnTo>
                  <a:pt x="533" y="151"/>
                </a:lnTo>
                <a:lnTo>
                  <a:pt x="552" y="192"/>
                </a:lnTo>
                <a:lnTo>
                  <a:pt x="563" y="238"/>
                </a:lnTo>
                <a:lnTo>
                  <a:pt x="567" y="283"/>
                </a:lnTo>
                <a:lnTo>
                  <a:pt x="563" y="2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493" name="Rectangle 74">
            <a:extLst>
              <a:ext uri="{FF2B5EF4-FFF2-40B4-BE49-F238E27FC236}">
                <a16:creationId xmlns:a16="http://schemas.microsoft.com/office/drawing/2014/main" id="{15FB66F5-A91C-4449-9F4E-D8012EEC579C}"/>
              </a:ext>
            </a:extLst>
          </p:cNvPr>
          <p:cNvSpPr>
            <a:spLocks noChangeArrowheads="1"/>
          </p:cNvSpPr>
          <p:nvPr/>
        </p:nvSpPr>
        <p:spPr bwMode="auto">
          <a:xfrm>
            <a:off x="6324600" y="50292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3333CC"/>
              </a:solidFill>
            </a:endParaRPr>
          </a:p>
        </p:txBody>
      </p:sp>
      <p:sp>
        <p:nvSpPr>
          <p:cNvPr id="20494" name="Rectangle 75">
            <a:extLst>
              <a:ext uri="{FF2B5EF4-FFF2-40B4-BE49-F238E27FC236}">
                <a16:creationId xmlns:a16="http://schemas.microsoft.com/office/drawing/2014/main" id="{4DF1F594-1565-42FC-BC73-4419D69BCC35}"/>
              </a:ext>
            </a:extLst>
          </p:cNvPr>
          <p:cNvSpPr>
            <a:spLocks noChangeArrowheads="1"/>
          </p:cNvSpPr>
          <p:nvPr/>
        </p:nvSpPr>
        <p:spPr bwMode="auto">
          <a:xfrm>
            <a:off x="6438900" y="5029201"/>
            <a:ext cx="1603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3333CC"/>
              </a:solidFill>
            </a:endParaRPr>
          </a:p>
        </p:txBody>
      </p:sp>
      <p:sp>
        <p:nvSpPr>
          <p:cNvPr id="20495" name="Freeform 83">
            <a:extLst>
              <a:ext uri="{FF2B5EF4-FFF2-40B4-BE49-F238E27FC236}">
                <a16:creationId xmlns:a16="http://schemas.microsoft.com/office/drawing/2014/main" id="{EF376B2E-E819-453A-98F2-18D0776760A3}"/>
              </a:ext>
            </a:extLst>
          </p:cNvPr>
          <p:cNvSpPr>
            <a:spLocks/>
          </p:cNvSpPr>
          <p:nvPr/>
        </p:nvSpPr>
        <p:spPr bwMode="auto">
          <a:xfrm>
            <a:off x="2879725" y="3582989"/>
            <a:ext cx="107950" cy="192087"/>
          </a:xfrm>
          <a:custGeom>
            <a:avLst/>
            <a:gdLst>
              <a:gd name="T0" fmla="*/ 2147483646 w 68"/>
              <a:gd name="T1" fmla="*/ 2147483646 h 121"/>
              <a:gd name="T2" fmla="*/ 0 w 68"/>
              <a:gd name="T3" fmla="*/ 2147483646 h 121"/>
              <a:gd name="T4" fmla="*/ 2147483646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0" y="117"/>
                </a:moveTo>
                <a:lnTo>
                  <a:pt x="0" y="121"/>
                </a:lnTo>
                <a:lnTo>
                  <a:pt x="26" y="0"/>
                </a:lnTo>
                <a:lnTo>
                  <a:pt x="68" y="117"/>
                </a:lnTo>
                <a:lnTo>
                  <a:pt x="34" y="117"/>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6" name="Freeform 84">
            <a:extLst>
              <a:ext uri="{FF2B5EF4-FFF2-40B4-BE49-F238E27FC236}">
                <a16:creationId xmlns:a16="http://schemas.microsoft.com/office/drawing/2014/main" id="{98F5E14D-8982-425E-A447-C47BC8EA8039}"/>
              </a:ext>
            </a:extLst>
          </p:cNvPr>
          <p:cNvSpPr>
            <a:spLocks/>
          </p:cNvSpPr>
          <p:nvPr/>
        </p:nvSpPr>
        <p:spPr bwMode="auto">
          <a:xfrm>
            <a:off x="2879725" y="3582989"/>
            <a:ext cx="107950" cy="192087"/>
          </a:xfrm>
          <a:custGeom>
            <a:avLst/>
            <a:gdLst>
              <a:gd name="T0" fmla="*/ 2147483646 w 68"/>
              <a:gd name="T1" fmla="*/ 2147483646 h 121"/>
              <a:gd name="T2" fmla="*/ 0 w 68"/>
              <a:gd name="T3" fmla="*/ 2147483646 h 121"/>
              <a:gd name="T4" fmla="*/ 2147483646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0" y="117"/>
                </a:moveTo>
                <a:lnTo>
                  <a:pt x="0" y="121"/>
                </a:lnTo>
                <a:lnTo>
                  <a:pt x="26" y="0"/>
                </a:lnTo>
                <a:lnTo>
                  <a:pt x="68" y="117"/>
                </a:lnTo>
                <a:lnTo>
                  <a:pt x="30"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497" name="Freeform 85">
            <a:extLst>
              <a:ext uri="{FF2B5EF4-FFF2-40B4-BE49-F238E27FC236}">
                <a16:creationId xmlns:a16="http://schemas.microsoft.com/office/drawing/2014/main" id="{EE557550-6B99-45DB-AEF1-3F287207EE6B}"/>
              </a:ext>
            </a:extLst>
          </p:cNvPr>
          <p:cNvSpPr>
            <a:spLocks/>
          </p:cNvSpPr>
          <p:nvPr/>
        </p:nvSpPr>
        <p:spPr bwMode="auto">
          <a:xfrm>
            <a:off x="2927350" y="3775075"/>
            <a:ext cx="2101850" cy="1373188"/>
          </a:xfrm>
          <a:custGeom>
            <a:avLst/>
            <a:gdLst>
              <a:gd name="T0" fmla="*/ 0 w 454"/>
              <a:gd name="T1" fmla="*/ 0 h 865"/>
              <a:gd name="T2" fmla="*/ 2147483646 w 454"/>
              <a:gd name="T3" fmla="*/ 2147483646 h 865"/>
              <a:gd name="T4" fmla="*/ 2147483646 w 454"/>
              <a:gd name="T5" fmla="*/ 2147483646 h 865"/>
              <a:gd name="T6" fmla="*/ 2147483646 w 454"/>
              <a:gd name="T7" fmla="*/ 2147483646 h 865"/>
              <a:gd name="T8" fmla="*/ 2147483646 w 454"/>
              <a:gd name="T9" fmla="*/ 2147483646 h 865"/>
              <a:gd name="T10" fmla="*/ 2147483646 w 454"/>
              <a:gd name="T11" fmla="*/ 2147483646 h 865"/>
              <a:gd name="T12" fmla="*/ 2147483646 w 454"/>
              <a:gd name="T13" fmla="*/ 2147483646 h 865"/>
              <a:gd name="T14" fmla="*/ 2147483646 w 454"/>
              <a:gd name="T15" fmla="*/ 2147483646 h 865"/>
              <a:gd name="T16" fmla="*/ 2147483646 w 454"/>
              <a:gd name="T17" fmla="*/ 2147483646 h 865"/>
              <a:gd name="T18" fmla="*/ 2147483646 w 454"/>
              <a:gd name="T19" fmla="*/ 2147483646 h 865"/>
              <a:gd name="T20" fmla="*/ 2147483646 w 454"/>
              <a:gd name="T21" fmla="*/ 2147483646 h 8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4"/>
              <a:gd name="T34" fmla="*/ 0 h 865"/>
              <a:gd name="T35" fmla="*/ 454 w 454"/>
              <a:gd name="T36" fmla="*/ 865 h 8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4" h="865">
                <a:moveTo>
                  <a:pt x="0" y="0"/>
                </a:moveTo>
                <a:lnTo>
                  <a:pt x="15" y="102"/>
                </a:lnTo>
                <a:lnTo>
                  <a:pt x="30" y="204"/>
                </a:lnTo>
                <a:lnTo>
                  <a:pt x="53" y="302"/>
                </a:lnTo>
                <a:lnTo>
                  <a:pt x="83" y="396"/>
                </a:lnTo>
                <a:lnTo>
                  <a:pt x="125" y="491"/>
                </a:lnTo>
                <a:lnTo>
                  <a:pt x="170" y="577"/>
                </a:lnTo>
                <a:lnTo>
                  <a:pt x="227" y="661"/>
                </a:lnTo>
                <a:lnTo>
                  <a:pt x="291" y="736"/>
                </a:lnTo>
                <a:lnTo>
                  <a:pt x="371" y="804"/>
                </a:lnTo>
                <a:lnTo>
                  <a:pt x="454" y="865"/>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8" name="Freeform 90">
            <a:extLst>
              <a:ext uri="{FF2B5EF4-FFF2-40B4-BE49-F238E27FC236}">
                <a16:creationId xmlns:a16="http://schemas.microsoft.com/office/drawing/2014/main" id="{4ADFB0FA-D53A-4D13-B124-96B85C25B247}"/>
              </a:ext>
            </a:extLst>
          </p:cNvPr>
          <p:cNvSpPr>
            <a:spLocks/>
          </p:cNvSpPr>
          <p:nvPr/>
        </p:nvSpPr>
        <p:spPr bwMode="auto">
          <a:xfrm>
            <a:off x="7848600" y="3886200"/>
            <a:ext cx="1600200" cy="1143000"/>
          </a:xfrm>
          <a:custGeom>
            <a:avLst/>
            <a:gdLst>
              <a:gd name="T0" fmla="*/ 0 w 2543"/>
              <a:gd name="T1" fmla="*/ 2147483646 h 974"/>
              <a:gd name="T2" fmla="*/ 2147483646 w 2543"/>
              <a:gd name="T3" fmla="*/ 2147483646 h 974"/>
              <a:gd name="T4" fmla="*/ 2147483646 w 2543"/>
              <a:gd name="T5" fmla="*/ 2147483646 h 974"/>
              <a:gd name="T6" fmla="*/ 2147483646 w 2543"/>
              <a:gd name="T7" fmla="*/ 2147483646 h 974"/>
              <a:gd name="T8" fmla="*/ 2147483646 w 2543"/>
              <a:gd name="T9" fmla="*/ 2147483646 h 974"/>
              <a:gd name="T10" fmla="*/ 2147483646 w 2543"/>
              <a:gd name="T11" fmla="*/ 2147483646 h 974"/>
              <a:gd name="T12" fmla="*/ 2147483646 w 2543"/>
              <a:gd name="T13" fmla="*/ 2147483646 h 974"/>
              <a:gd name="T14" fmla="*/ 2147483646 w 2543"/>
              <a:gd name="T15" fmla="*/ 2147483646 h 974"/>
              <a:gd name="T16" fmla="*/ 2147483646 w 2543"/>
              <a:gd name="T17" fmla="*/ 2147483646 h 974"/>
              <a:gd name="T18" fmla="*/ 2147483646 w 2543"/>
              <a:gd name="T19" fmla="*/ 2147483646 h 974"/>
              <a:gd name="T20" fmla="*/ 2147483646 w 2543"/>
              <a:gd name="T21" fmla="*/ 2147483646 h 974"/>
              <a:gd name="T22" fmla="*/ 2147483646 w 2543"/>
              <a:gd name="T23" fmla="*/ 2147483646 h 974"/>
              <a:gd name="T24" fmla="*/ 2147483646 w 2543"/>
              <a:gd name="T25" fmla="*/ 2147483646 h 974"/>
              <a:gd name="T26" fmla="*/ 2147483646 w 2543"/>
              <a:gd name="T27" fmla="*/ 2147483646 h 974"/>
              <a:gd name="T28" fmla="*/ 2147483646 w 2543"/>
              <a:gd name="T29" fmla="*/ 2147483646 h 974"/>
              <a:gd name="T30" fmla="*/ 2147483646 w 2543"/>
              <a:gd name="T31" fmla="*/ 2147483646 h 974"/>
              <a:gd name="T32" fmla="*/ 2147483646 w 2543"/>
              <a:gd name="T33" fmla="*/ 2147483646 h 974"/>
              <a:gd name="T34" fmla="*/ 2147483646 w 2543"/>
              <a:gd name="T35" fmla="*/ 2147483646 h 974"/>
              <a:gd name="T36" fmla="*/ 2147483646 w 2543"/>
              <a:gd name="T37" fmla="*/ 2147483646 h 974"/>
              <a:gd name="T38" fmla="*/ 2147483646 w 2543"/>
              <a:gd name="T39" fmla="*/ 2147483646 h 974"/>
              <a:gd name="T40" fmla="*/ 2147483646 w 2543"/>
              <a:gd name="T41" fmla="*/ 0 h 9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43"/>
              <a:gd name="T64" fmla="*/ 0 h 974"/>
              <a:gd name="T65" fmla="*/ 2543 w 2543"/>
              <a:gd name="T66" fmla="*/ 974 h 9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43" h="974">
                <a:moveTo>
                  <a:pt x="0" y="974"/>
                </a:moveTo>
                <a:lnTo>
                  <a:pt x="200" y="940"/>
                </a:lnTo>
                <a:lnTo>
                  <a:pt x="400" y="918"/>
                </a:lnTo>
                <a:lnTo>
                  <a:pt x="604" y="895"/>
                </a:lnTo>
                <a:lnTo>
                  <a:pt x="812" y="876"/>
                </a:lnTo>
                <a:lnTo>
                  <a:pt x="1016" y="853"/>
                </a:lnTo>
                <a:lnTo>
                  <a:pt x="1220" y="823"/>
                </a:lnTo>
                <a:lnTo>
                  <a:pt x="1420" y="778"/>
                </a:lnTo>
                <a:lnTo>
                  <a:pt x="1609" y="717"/>
                </a:lnTo>
                <a:lnTo>
                  <a:pt x="1794" y="638"/>
                </a:lnTo>
                <a:lnTo>
                  <a:pt x="1968" y="532"/>
                </a:lnTo>
                <a:lnTo>
                  <a:pt x="2033" y="483"/>
                </a:lnTo>
                <a:lnTo>
                  <a:pt x="2093" y="434"/>
                </a:lnTo>
                <a:lnTo>
                  <a:pt x="2150" y="381"/>
                </a:lnTo>
                <a:lnTo>
                  <a:pt x="2206" y="328"/>
                </a:lnTo>
                <a:lnTo>
                  <a:pt x="2263" y="272"/>
                </a:lnTo>
                <a:lnTo>
                  <a:pt x="2320" y="215"/>
                </a:lnTo>
                <a:lnTo>
                  <a:pt x="2373" y="162"/>
                </a:lnTo>
                <a:lnTo>
                  <a:pt x="2429" y="105"/>
                </a:lnTo>
                <a:lnTo>
                  <a:pt x="2486" y="53"/>
                </a:lnTo>
                <a:lnTo>
                  <a:pt x="254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69" name="Freeform 93">
            <a:extLst>
              <a:ext uri="{FF2B5EF4-FFF2-40B4-BE49-F238E27FC236}">
                <a16:creationId xmlns:a16="http://schemas.microsoft.com/office/drawing/2014/main" id="{52A2CD69-F2F7-B640-B7D7-B50B0821618A}"/>
              </a:ext>
            </a:extLst>
          </p:cNvPr>
          <p:cNvSpPr>
            <a:spLocks/>
          </p:cNvSpPr>
          <p:nvPr/>
        </p:nvSpPr>
        <p:spPr bwMode="auto">
          <a:xfrm>
            <a:off x="8534400" y="3490914"/>
            <a:ext cx="173038" cy="166687"/>
          </a:xfrm>
          <a:custGeom>
            <a:avLst/>
            <a:gdLst/>
            <a:ahLst/>
            <a:cxnLst>
              <a:cxn ang="0">
                <a:pos x="19" y="79"/>
              </a:cxn>
              <a:cxn ang="0">
                <a:pos x="0" y="52"/>
              </a:cxn>
              <a:cxn ang="0">
                <a:pos x="109" y="0"/>
              </a:cxn>
              <a:cxn ang="0">
                <a:pos x="45" y="105"/>
              </a:cxn>
              <a:cxn ang="0">
                <a:pos x="19" y="79"/>
              </a:cxn>
            </a:cxnLst>
            <a:rect l="0" t="0" r="r" b="b"/>
            <a:pathLst>
              <a:path w="109" h="105">
                <a:moveTo>
                  <a:pt x="19" y="79"/>
                </a:moveTo>
                <a:lnTo>
                  <a:pt x="0" y="52"/>
                </a:lnTo>
                <a:lnTo>
                  <a:pt x="109" y="0"/>
                </a:lnTo>
                <a:lnTo>
                  <a:pt x="45" y="105"/>
                </a:lnTo>
                <a:lnTo>
                  <a:pt x="19" y="79"/>
                </a:lnTo>
                <a:close/>
              </a:path>
            </a:pathLst>
          </a:custGeom>
          <a:solidFill>
            <a:schemeClr val="accent1">
              <a:lumMod val="20000"/>
              <a:lumOff val="80000"/>
            </a:schemeClr>
          </a:solidFill>
          <a:ln w="9525">
            <a:noFill/>
            <a:round/>
            <a:headEnd/>
            <a:tailEnd/>
          </a:ln>
        </p:spPr>
        <p:txBody>
          <a:bodyPr/>
          <a:lstStyle/>
          <a:p>
            <a:pPr>
              <a:spcBef>
                <a:spcPct val="20000"/>
              </a:spcBef>
              <a:defRPr/>
            </a:pPr>
            <a:endParaRPr lang="en-US" b="1">
              <a:solidFill>
                <a:srgbClr val="000000"/>
              </a:solidFill>
              <a:latin typeface="Calibri"/>
              <a:ea typeface="ＭＳ Ｐゴシック" charset="-128"/>
              <a:cs typeface="Calibri"/>
            </a:endParaRPr>
          </a:p>
        </p:txBody>
      </p:sp>
      <p:sp>
        <p:nvSpPr>
          <p:cNvPr id="20500" name="Oval 4">
            <a:extLst>
              <a:ext uri="{FF2B5EF4-FFF2-40B4-BE49-F238E27FC236}">
                <a16:creationId xmlns:a16="http://schemas.microsoft.com/office/drawing/2014/main" id="{D29C9575-D0D9-456D-B82F-4252047969F5}"/>
              </a:ext>
            </a:extLst>
          </p:cNvPr>
          <p:cNvSpPr>
            <a:spLocks noChangeArrowheads="1"/>
          </p:cNvSpPr>
          <p:nvPr/>
        </p:nvSpPr>
        <p:spPr bwMode="auto">
          <a:xfrm>
            <a:off x="2706688"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0501" name="AutoShape 6">
            <a:extLst>
              <a:ext uri="{FF2B5EF4-FFF2-40B4-BE49-F238E27FC236}">
                <a16:creationId xmlns:a16="http://schemas.microsoft.com/office/drawing/2014/main" id="{C5FBF9F8-C8D0-45B6-884B-D544C0A85F71}"/>
              </a:ext>
            </a:extLst>
          </p:cNvPr>
          <p:cNvCxnSpPr>
            <a:cxnSpLocks noChangeShapeType="1"/>
            <a:stCxn id="20500" idx="4"/>
          </p:cNvCxnSpPr>
          <p:nvPr/>
        </p:nvCxnSpPr>
        <p:spPr bwMode="auto">
          <a:xfrm flipH="1">
            <a:off x="35052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0502" name="Line 11">
            <a:extLst>
              <a:ext uri="{FF2B5EF4-FFF2-40B4-BE49-F238E27FC236}">
                <a16:creationId xmlns:a16="http://schemas.microsoft.com/office/drawing/2014/main" id="{115479D3-4066-4094-9D04-35FAE3770CE9}"/>
              </a:ext>
            </a:extLst>
          </p:cNvPr>
          <p:cNvSpPr>
            <a:spLocks noChangeShapeType="1"/>
          </p:cNvSpPr>
          <p:nvPr/>
        </p:nvSpPr>
        <p:spPr bwMode="auto">
          <a:xfrm>
            <a:off x="6324600" y="4206876"/>
            <a:ext cx="0" cy="593725"/>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3" name="Oval 13">
            <a:extLst>
              <a:ext uri="{FF2B5EF4-FFF2-40B4-BE49-F238E27FC236}">
                <a16:creationId xmlns:a16="http://schemas.microsoft.com/office/drawing/2014/main" id="{686952AB-3828-4CF3-8380-CDF681B603B8}"/>
              </a:ext>
            </a:extLst>
          </p:cNvPr>
          <p:cNvSpPr>
            <a:spLocks noChangeArrowheads="1"/>
          </p:cNvSpPr>
          <p:nvPr/>
        </p:nvSpPr>
        <p:spPr bwMode="auto">
          <a:xfrm>
            <a:off x="45720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0504" name="AutoShape 14">
            <a:extLst>
              <a:ext uri="{FF2B5EF4-FFF2-40B4-BE49-F238E27FC236}">
                <a16:creationId xmlns:a16="http://schemas.microsoft.com/office/drawing/2014/main" id="{F813E919-777D-465B-A955-F0C27ED000BE}"/>
              </a:ext>
            </a:extLst>
          </p:cNvPr>
          <p:cNvCxnSpPr>
            <a:cxnSpLocks noChangeShapeType="1"/>
            <a:stCxn id="20503" idx="4"/>
          </p:cNvCxnSpPr>
          <p:nvPr/>
        </p:nvCxnSpPr>
        <p:spPr bwMode="auto">
          <a:xfrm flipH="1">
            <a:off x="53705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0505" name="Oval 17">
            <a:extLst>
              <a:ext uri="{FF2B5EF4-FFF2-40B4-BE49-F238E27FC236}">
                <a16:creationId xmlns:a16="http://schemas.microsoft.com/office/drawing/2014/main" id="{EEC37529-BC83-4908-A2B9-BD8B9F39508E}"/>
              </a:ext>
            </a:extLst>
          </p:cNvPr>
          <p:cNvSpPr>
            <a:spLocks noChangeArrowheads="1"/>
          </p:cNvSpPr>
          <p:nvPr/>
        </p:nvSpPr>
        <p:spPr bwMode="auto">
          <a:xfrm>
            <a:off x="64008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0506" name="AutoShape 18">
            <a:extLst>
              <a:ext uri="{FF2B5EF4-FFF2-40B4-BE49-F238E27FC236}">
                <a16:creationId xmlns:a16="http://schemas.microsoft.com/office/drawing/2014/main" id="{109CD43B-1359-429C-AE60-A9A4370123BF}"/>
              </a:ext>
            </a:extLst>
          </p:cNvPr>
          <p:cNvCxnSpPr>
            <a:cxnSpLocks noChangeShapeType="1"/>
            <a:stCxn id="20505" idx="4"/>
          </p:cNvCxnSpPr>
          <p:nvPr/>
        </p:nvCxnSpPr>
        <p:spPr bwMode="auto">
          <a:xfrm flipH="1">
            <a:off x="71993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0507" name="Oval 21">
            <a:extLst>
              <a:ext uri="{FF2B5EF4-FFF2-40B4-BE49-F238E27FC236}">
                <a16:creationId xmlns:a16="http://schemas.microsoft.com/office/drawing/2014/main" id="{B2E43CCA-49C5-4294-AA3C-53506C3E3354}"/>
              </a:ext>
            </a:extLst>
          </p:cNvPr>
          <p:cNvSpPr>
            <a:spLocks noChangeArrowheads="1"/>
          </p:cNvSpPr>
          <p:nvPr/>
        </p:nvSpPr>
        <p:spPr bwMode="auto">
          <a:xfrm>
            <a:off x="8228013" y="1301751"/>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0508" name="AutoShape 22">
            <a:extLst>
              <a:ext uri="{FF2B5EF4-FFF2-40B4-BE49-F238E27FC236}">
                <a16:creationId xmlns:a16="http://schemas.microsoft.com/office/drawing/2014/main" id="{BAFFF192-4763-4627-8BEC-A9A68CB206D1}"/>
              </a:ext>
            </a:extLst>
          </p:cNvPr>
          <p:cNvCxnSpPr>
            <a:cxnSpLocks noChangeShapeType="1"/>
          </p:cNvCxnSpPr>
          <p:nvPr/>
        </p:nvCxnSpPr>
        <p:spPr bwMode="auto">
          <a:xfrm flipH="1">
            <a:off x="89916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69" name="Rectangle 8">
            <a:extLst>
              <a:ext uri="{FF2B5EF4-FFF2-40B4-BE49-F238E27FC236}">
                <a16:creationId xmlns:a16="http://schemas.microsoft.com/office/drawing/2014/main" id="{F69AB474-5C23-5F4E-9F71-1C19AD2EA21A}"/>
              </a:ext>
            </a:extLst>
          </p:cNvPr>
          <p:cNvSpPr>
            <a:spLocks noChangeArrowheads="1"/>
          </p:cNvSpPr>
          <p:nvPr/>
        </p:nvSpPr>
        <p:spPr bwMode="auto">
          <a:xfrm>
            <a:off x="47244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70" name="Rectangle 8">
            <a:extLst>
              <a:ext uri="{FF2B5EF4-FFF2-40B4-BE49-F238E27FC236}">
                <a16:creationId xmlns:a16="http://schemas.microsoft.com/office/drawing/2014/main" id="{00307D1E-4977-144E-938F-34BD6BF7E063}"/>
              </a:ext>
            </a:extLst>
          </p:cNvPr>
          <p:cNvSpPr>
            <a:spLocks noChangeArrowheads="1"/>
          </p:cNvSpPr>
          <p:nvPr/>
        </p:nvSpPr>
        <p:spPr bwMode="auto">
          <a:xfrm>
            <a:off x="65532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20511" name="Rectangle 74">
            <a:extLst>
              <a:ext uri="{FF2B5EF4-FFF2-40B4-BE49-F238E27FC236}">
                <a16:creationId xmlns:a16="http://schemas.microsoft.com/office/drawing/2014/main" id="{A949FF3C-3467-4E01-BF5F-233C9216F5DD}"/>
              </a:ext>
            </a:extLst>
          </p:cNvPr>
          <p:cNvSpPr>
            <a:spLocks noChangeArrowheads="1"/>
          </p:cNvSpPr>
          <p:nvPr/>
        </p:nvSpPr>
        <p:spPr bwMode="auto">
          <a:xfrm>
            <a:off x="29924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0512" name="Rectangle 75">
            <a:extLst>
              <a:ext uri="{FF2B5EF4-FFF2-40B4-BE49-F238E27FC236}">
                <a16:creationId xmlns:a16="http://schemas.microsoft.com/office/drawing/2014/main" id="{9529E59F-9550-47EA-9B5F-3CB10F064278}"/>
              </a:ext>
            </a:extLst>
          </p:cNvPr>
          <p:cNvSpPr>
            <a:spLocks noChangeArrowheads="1"/>
          </p:cNvSpPr>
          <p:nvPr/>
        </p:nvSpPr>
        <p:spPr bwMode="auto">
          <a:xfrm>
            <a:off x="31067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76" name="Rectangle 74">
            <a:extLst>
              <a:ext uri="{FF2B5EF4-FFF2-40B4-BE49-F238E27FC236}">
                <a16:creationId xmlns:a16="http://schemas.microsoft.com/office/drawing/2014/main" id="{6517A28C-3A01-3C41-86C6-7F707E0C07E7}"/>
              </a:ext>
            </a:extLst>
          </p:cNvPr>
          <p:cNvSpPr>
            <a:spLocks noChangeArrowheads="1"/>
          </p:cNvSpPr>
          <p:nvPr/>
        </p:nvSpPr>
        <p:spPr bwMode="auto">
          <a:xfrm>
            <a:off x="9317038" y="3352801"/>
            <a:ext cx="110608" cy="246221"/>
          </a:xfrm>
          <a:prstGeom prst="rect">
            <a:avLst/>
          </a:prstGeom>
          <a:solidFill>
            <a:schemeClr val="accent1">
              <a:lumMod val="20000"/>
              <a:lumOff val="80000"/>
            </a:schemeClr>
          </a:solidFill>
          <a:ln w="9525">
            <a:noFill/>
            <a:miter lim="800000"/>
            <a:headEnd/>
            <a:tailEnd/>
          </a:ln>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77" name="Rectangle 75">
            <a:extLst>
              <a:ext uri="{FF2B5EF4-FFF2-40B4-BE49-F238E27FC236}">
                <a16:creationId xmlns:a16="http://schemas.microsoft.com/office/drawing/2014/main" id="{AB8E6164-12B8-5046-A015-B8C6CD909C84}"/>
              </a:ext>
            </a:extLst>
          </p:cNvPr>
          <p:cNvSpPr>
            <a:spLocks noChangeArrowheads="1"/>
          </p:cNvSpPr>
          <p:nvPr/>
        </p:nvSpPr>
        <p:spPr bwMode="auto">
          <a:xfrm>
            <a:off x="9431339" y="3352801"/>
            <a:ext cx="160337" cy="246063"/>
          </a:xfrm>
          <a:prstGeom prst="rect">
            <a:avLst/>
          </a:prstGeom>
          <a:solidFill>
            <a:schemeClr val="accent1">
              <a:lumMod val="20000"/>
              <a:lumOff val="80000"/>
            </a:schemeClr>
          </a:solidFill>
          <a:ln w="9525">
            <a:noFill/>
            <a:miter lim="800000"/>
            <a:headEnd/>
            <a:tailEnd/>
          </a:ln>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cxnSp>
        <p:nvCxnSpPr>
          <p:cNvPr id="20515" name="Straight Arrow Connector 81">
            <a:extLst>
              <a:ext uri="{FF2B5EF4-FFF2-40B4-BE49-F238E27FC236}">
                <a16:creationId xmlns:a16="http://schemas.microsoft.com/office/drawing/2014/main" id="{7236C6B4-91B5-4F06-8756-185EC6E7C7CE}"/>
              </a:ext>
            </a:extLst>
          </p:cNvPr>
          <p:cNvCxnSpPr>
            <a:cxnSpLocks noChangeShapeType="1"/>
            <a:stCxn id="54" idx="2"/>
          </p:cNvCxnSpPr>
          <p:nvPr/>
        </p:nvCxnSpPr>
        <p:spPr bwMode="auto">
          <a:xfrm rot="5400000">
            <a:off x="32575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0516" name="Straight Arrow Connector 86">
            <a:extLst>
              <a:ext uri="{FF2B5EF4-FFF2-40B4-BE49-F238E27FC236}">
                <a16:creationId xmlns:a16="http://schemas.microsoft.com/office/drawing/2014/main" id="{7CB382CB-506C-4392-9D96-39A0511D18F8}"/>
              </a:ext>
            </a:extLst>
          </p:cNvPr>
          <p:cNvCxnSpPr>
            <a:cxnSpLocks noChangeShapeType="1"/>
            <a:stCxn id="69" idx="2"/>
          </p:cNvCxnSpPr>
          <p:nvPr/>
        </p:nvCxnSpPr>
        <p:spPr bwMode="auto">
          <a:xfrm rot="5400000">
            <a:off x="50863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0517" name="Straight Arrow Connector 90">
            <a:extLst>
              <a:ext uri="{FF2B5EF4-FFF2-40B4-BE49-F238E27FC236}">
                <a16:creationId xmlns:a16="http://schemas.microsoft.com/office/drawing/2014/main" id="{F6C0C9FE-3053-4AF1-9AA2-90C74E5FAFB2}"/>
              </a:ext>
            </a:extLst>
          </p:cNvPr>
          <p:cNvCxnSpPr>
            <a:cxnSpLocks noChangeShapeType="1"/>
            <a:stCxn id="70" idx="2"/>
          </p:cNvCxnSpPr>
          <p:nvPr/>
        </p:nvCxnSpPr>
        <p:spPr bwMode="auto">
          <a:xfrm flipH="1">
            <a:off x="7199314" y="3657600"/>
            <a:ext cx="1586" cy="549276"/>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0518" name="Straight Arrow Connector 93">
            <a:extLst>
              <a:ext uri="{FF2B5EF4-FFF2-40B4-BE49-F238E27FC236}">
                <a16:creationId xmlns:a16="http://schemas.microsoft.com/office/drawing/2014/main" id="{D7A87426-C8A3-48B6-A92C-813563879922}"/>
              </a:ext>
            </a:extLst>
          </p:cNvPr>
          <p:cNvCxnSpPr>
            <a:cxnSpLocks noChangeShapeType="1"/>
            <a:stCxn id="71" idx="2"/>
          </p:cNvCxnSpPr>
          <p:nvPr/>
        </p:nvCxnSpPr>
        <p:spPr bwMode="auto">
          <a:xfrm rot="5400000">
            <a:off x="8728075" y="3921125"/>
            <a:ext cx="533400" cy="635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0519" name="Straight Arrow Connector 2">
            <a:extLst>
              <a:ext uri="{FF2B5EF4-FFF2-40B4-BE49-F238E27FC236}">
                <a16:creationId xmlns:a16="http://schemas.microsoft.com/office/drawing/2014/main" id="{F83E98F5-590D-4109-950D-C42EEC52F58E}"/>
              </a:ext>
            </a:extLst>
          </p:cNvPr>
          <p:cNvCxnSpPr>
            <a:cxnSpLocks noChangeShapeType="1"/>
          </p:cNvCxnSpPr>
          <p:nvPr/>
        </p:nvCxnSpPr>
        <p:spPr bwMode="auto">
          <a:xfrm>
            <a:off x="8534400" y="3657600"/>
            <a:ext cx="914400" cy="914400"/>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7463">
                <a:solidFill>
                  <a:srgbClr val="000000"/>
                </a:solidFill>
                <a:round/>
                <a:headEnd/>
                <a:tailEnd type="arrow" w="med" len="med"/>
              </a14:hiddenLine>
            </a:ext>
          </a:extLst>
        </p:spPr>
      </p:cxnSp>
      <p:sp>
        <p:nvSpPr>
          <p:cNvPr id="20520" name="Freeform 84">
            <a:extLst>
              <a:ext uri="{FF2B5EF4-FFF2-40B4-BE49-F238E27FC236}">
                <a16:creationId xmlns:a16="http://schemas.microsoft.com/office/drawing/2014/main" id="{1CE049BB-B892-4062-A8AC-7BD3B68F3619}"/>
              </a:ext>
            </a:extLst>
          </p:cNvPr>
          <p:cNvSpPr>
            <a:spLocks/>
          </p:cNvSpPr>
          <p:nvPr/>
        </p:nvSpPr>
        <p:spPr bwMode="auto">
          <a:xfrm>
            <a:off x="9372600" y="3657600"/>
            <a:ext cx="152400" cy="228600"/>
          </a:xfrm>
          <a:custGeom>
            <a:avLst/>
            <a:gdLst>
              <a:gd name="T0" fmla="*/ 2147483646 w 68"/>
              <a:gd name="T1" fmla="*/ 2147483646 h 121"/>
              <a:gd name="T2" fmla="*/ 0 w 68"/>
              <a:gd name="T3" fmla="*/ 2147483646 h 121"/>
              <a:gd name="T4" fmla="*/ 2147483646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0" y="117"/>
                </a:moveTo>
                <a:lnTo>
                  <a:pt x="0" y="121"/>
                </a:lnTo>
                <a:lnTo>
                  <a:pt x="26" y="0"/>
                </a:lnTo>
                <a:lnTo>
                  <a:pt x="68" y="117"/>
                </a:lnTo>
                <a:lnTo>
                  <a:pt x="30"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21" name="Slide Number Placeholder 4">
            <a:extLst>
              <a:ext uri="{FF2B5EF4-FFF2-40B4-BE49-F238E27FC236}">
                <a16:creationId xmlns:a16="http://schemas.microsoft.com/office/drawing/2014/main" id="{D0673BC0-417F-4CEB-85D5-9A9CF2BFEA16}"/>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114</a:t>
            </a:fld>
            <a:endParaRPr kumimoji="0" lang="en-US" altLang="en-US" sz="1400">
              <a:latin typeface="Arial" panose="020B0604020202020204" pitchFamily="34" charset="0"/>
            </a:endParaRPr>
          </a:p>
        </p:txBody>
      </p:sp>
      <p:sp>
        <p:nvSpPr>
          <p:cNvPr id="20522" name="Text Box 75">
            <a:extLst>
              <a:ext uri="{FF2B5EF4-FFF2-40B4-BE49-F238E27FC236}">
                <a16:creationId xmlns:a16="http://schemas.microsoft.com/office/drawing/2014/main" id="{A63AA33E-486C-4DC1-A3C8-4A83CAA42C80}"/>
              </a:ext>
            </a:extLst>
          </p:cNvPr>
          <p:cNvSpPr txBox="1">
            <a:spLocks noChangeArrowheads="1"/>
          </p:cNvSpPr>
          <p:nvPr/>
        </p:nvSpPr>
        <p:spPr bwMode="auto">
          <a:xfrm>
            <a:off x="558800" y="5346700"/>
            <a:ext cx="4165600" cy="4619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b="1">
                <a:solidFill>
                  <a:srgbClr val="FF0000"/>
                </a:solidFill>
              </a:rPr>
              <a:t>With a write-back cache policy</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Oval 13">
            <a:extLst>
              <a:ext uri="{FF2B5EF4-FFF2-40B4-BE49-F238E27FC236}">
                <a16:creationId xmlns:a16="http://schemas.microsoft.com/office/drawing/2014/main" id="{4A32F7DD-DACF-4724-83E2-5A3FDC2C238F}"/>
              </a:ext>
            </a:extLst>
          </p:cNvPr>
          <p:cNvSpPr>
            <a:spLocks noChangeArrowheads="1"/>
          </p:cNvSpPr>
          <p:nvPr/>
        </p:nvSpPr>
        <p:spPr bwMode="auto">
          <a:xfrm>
            <a:off x="45720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sp>
        <p:nvSpPr>
          <p:cNvPr id="72" name="Rectangle 8">
            <a:extLst>
              <a:ext uri="{FF2B5EF4-FFF2-40B4-BE49-F238E27FC236}">
                <a16:creationId xmlns:a16="http://schemas.microsoft.com/office/drawing/2014/main" id="{26D501B9-C927-5940-9758-EA4BB8E5499A}"/>
              </a:ext>
            </a:extLst>
          </p:cNvPr>
          <p:cNvSpPr>
            <a:spLocks noChangeArrowheads="1"/>
          </p:cNvSpPr>
          <p:nvPr/>
        </p:nvSpPr>
        <p:spPr bwMode="auto">
          <a:xfrm>
            <a:off x="28956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73" name="Rectangle 8">
            <a:extLst>
              <a:ext uri="{FF2B5EF4-FFF2-40B4-BE49-F238E27FC236}">
                <a16:creationId xmlns:a16="http://schemas.microsoft.com/office/drawing/2014/main" id="{DF08BC12-4AA5-4140-99EF-BE654F69FE6F}"/>
              </a:ext>
            </a:extLst>
          </p:cNvPr>
          <p:cNvSpPr>
            <a:spLocks noChangeArrowheads="1"/>
          </p:cNvSpPr>
          <p:nvPr/>
        </p:nvSpPr>
        <p:spPr bwMode="auto">
          <a:xfrm>
            <a:off x="835025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22532" name="Rectangle 5">
            <a:extLst>
              <a:ext uri="{FF2B5EF4-FFF2-40B4-BE49-F238E27FC236}">
                <a16:creationId xmlns:a16="http://schemas.microsoft.com/office/drawing/2014/main" id="{C5FEEBA3-BAF9-4B6B-9355-CDF18406B022}"/>
              </a:ext>
            </a:extLst>
          </p:cNvPr>
          <p:cNvSpPr>
            <a:spLocks noChangeArrowheads="1"/>
          </p:cNvSpPr>
          <p:nvPr/>
        </p:nvSpPr>
        <p:spPr bwMode="auto">
          <a:xfrm>
            <a:off x="4953000" y="4800600"/>
            <a:ext cx="2895600" cy="1066800"/>
          </a:xfrm>
          <a:prstGeom prst="rect">
            <a:avLst/>
          </a:prstGeom>
          <a:solidFill>
            <a:schemeClr val="accent2"/>
          </a:solidFill>
          <a:ln w="17463">
            <a:solidFill>
              <a:srgbClr val="0000FF"/>
            </a:solidFill>
            <a:miter lim="800000"/>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Memory</a:t>
            </a:r>
          </a:p>
        </p:txBody>
      </p:sp>
      <p:sp>
        <p:nvSpPr>
          <p:cNvPr id="22533" name="Line 6">
            <a:extLst>
              <a:ext uri="{FF2B5EF4-FFF2-40B4-BE49-F238E27FC236}">
                <a16:creationId xmlns:a16="http://schemas.microsoft.com/office/drawing/2014/main" id="{F688DB30-FF1A-441D-BCE3-97ECBA68E9C8}"/>
              </a:ext>
            </a:extLst>
          </p:cNvPr>
          <p:cNvSpPr>
            <a:spLocks noChangeShapeType="1"/>
          </p:cNvSpPr>
          <p:nvPr/>
        </p:nvSpPr>
        <p:spPr bwMode="auto">
          <a:xfrm>
            <a:off x="2508251" y="4194175"/>
            <a:ext cx="7197725" cy="1588"/>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4" name="Rectangle 38">
            <a:extLst>
              <a:ext uri="{FF2B5EF4-FFF2-40B4-BE49-F238E27FC236}">
                <a16:creationId xmlns:a16="http://schemas.microsoft.com/office/drawing/2014/main" id="{234F6270-2B2D-46E3-9920-BE63A9D67FCC}"/>
              </a:ext>
            </a:extLst>
          </p:cNvPr>
          <p:cNvSpPr>
            <a:spLocks noChangeArrowheads="1"/>
          </p:cNvSpPr>
          <p:nvPr/>
        </p:nvSpPr>
        <p:spPr bwMode="auto">
          <a:xfrm>
            <a:off x="8890000" y="2054226"/>
            <a:ext cx="109538" cy="2460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P</a:t>
            </a:r>
            <a:endParaRPr lang="en-US" altLang="en-US" sz="2000" b="1">
              <a:solidFill>
                <a:srgbClr val="3333CC"/>
              </a:solidFill>
            </a:endParaRPr>
          </a:p>
        </p:txBody>
      </p:sp>
      <p:sp>
        <p:nvSpPr>
          <p:cNvPr id="22535" name="Rectangle 39">
            <a:extLst>
              <a:ext uri="{FF2B5EF4-FFF2-40B4-BE49-F238E27FC236}">
                <a16:creationId xmlns:a16="http://schemas.microsoft.com/office/drawing/2014/main" id="{9A31EBC6-F1B9-48E6-A8A4-A11D7F60F972}"/>
              </a:ext>
            </a:extLst>
          </p:cNvPr>
          <p:cNvSpPr>
            <a:spLocks noChangeArrowheads="1"/>
          </p:cNvSpPr>
          <p:nvPr/>
        </p:nvSpPr>
        <p:spPr bwMode="auto">
          <a:xfrm>
            <a:off x="8985250" y="2138364"/>
            <a:ext cx="84138" cy="20002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300" b="1">
                <a:solidFill>
                  <a:srgbClr val="000000"/>
                </a:solidFill>
              </a:rPr>
              <a:t>3</a:t>
            </a:r>
            <a:endParaRPr lang="en-US" altLang="en-US" sz="2000" b="1">
              <a:solidFill>
                <a:srgbClr val="3333CC"/>
              </a:solidFill>
            </a:endParaRPr>
          </a:p>
        </p:txBody>
      </p:sp>
      <p:sp>
        <p:nvSpPr>
          <p:cNvPr id="22536" name="Rectangle 74">
            <a:extLst>
              <a:ext uri="{FF2B5EF4-FFF2-40B4-BE49-F238E27FC236}">
                <a16:creationId xmlns:a16="http://schemas.microsoft.com/office/drawing/2014/main" id="{FB6907ED-03E1-41EE-AFEF-C16F239902EE}"/>
              </a:ext>
            </a:extLst>
          </p:cNvPr>
          <p:cNvSpPr>
            <a:spLocks noChangeArrowheads="1"/>
          </p:cNvSpPr>
          <p:nvPr/>
        </p:nvSpPr>
        <p:spPr bwMode="auto">
          <a:xfrm>
            <a:off x="6324600" y="50292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3333CC"/>
              </a:solidFill>
            </a:endParaRPr>
          </a:p>
        </p:txBody>
      </p:sp>
      <p:sp>
        <p:nvSpPr>
          <p:cNvPr id="22537" name="Rectangle 75">
            <a:extLst>
              <a:ext uri="{FF2B5EF4-FFF2-40B4-BE49-F238E27FC236}">
                <a16:creationId xmlns:a16="http://schemas.microsoft.com/office/drawing/2014/main" id="{D80E3172-EF02-4753-BDB2-80FE32C834C1}"/>
              </a:ext>
            </a:extLst>
          </p:cNvPr>
          <p:cNvSpPr>
            <a:spLocks noChangeArrowheads="1"/>
          </p:cNvSpPr>
          <p:nvPr/>
        </p:nvSpPr>
        <p:spPr bwMode="auto">
          <a:xfrm>
            <a:off x="6438900" y="5029201"/>
            <a:ext cx="1603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3333CC"/>
              </a:solidFill>
            </a:endParaRPr>
          </a:p>
        </p:txBody>
      </p:sp>
      <p:sp>
        <p:nvSpPr>
          <p:cNvPr id="22538" name="Oval 4">
            <a:extLst>
              <a:ext uri="{FF2B5EF4-FFF2-40B4-BE49-F238E27FC236}">
                <a16:creationId xmlns:a16="http://schemas.microsoft.com/office/drawing/2014/main" id="{F5FD36EE-6C94-4CAA-9DF2-6EC3DA14E6C1}"/>
              </a:ext>
            </a:extLst>
          </p:cNvPr>
          <p:cNvSpPr>
            <a:spLocks noChangeArrowheads="1"/>
          </p:cNvSpPr>
          <p:nvPr/>
        </p:nvSpPr>
        <p:spPr bwMode="auto">
          <a:xfrm>
            <a:off x="2706688"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2539" name="AutoShape 6">
            <a:extLst>
              <a:ext uri="{FF2B5EF4-FFF2-40B4-BE49-F238E27FC236}">
                <a16:creationId xmlns:a16="http://schemas.microsoft.com/office/drawing/2014/main" id="{C1B1219A-C878-45AD-9AD3-976B34B5C591}"/>
              </a:ext>
            </a:extLst>
          </p:cNvPr>
          <p:cNvCxnSpPr>
            <a:cxnSpLocks noChangeShapeType="1"/>
            <a:stCxn id="22538" idx="4"/>
          </p:cNvCxnSpPr>
          <p:nvPr/>
        </p:nvCxnSpPr>
        <p:spPr bwMode="auto">
          <a:xfrm flipH="1">
            <a:off x="35052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2540" name="Line 11">
            <a:extLst>
              <a:ext uri="{FF2B5EF4-FFF2-40B4-BE49-F238E27FC236}">
                <a16:creationId xmlns:a16="http://schemas.microsoft.com/office/drawing/2014/main" id="{CA355A4F-B65E-44D5-AE8F-9E594539B2E2}"/>
              </a:ext>
            </a:extLst>
          </p:cNvPr>
          <p:cNvSpPr>
            <a:spLocks noChangeShapeType="1"/>
          </p:cNvSpPr>
          <p:nvPr/>
        </p:nvSpPr>
        <p:spPr bwMode="auto">
          <a:xfrm>
            <a:off x="6324600" y="4206876"/>
            <a:ext cx="0" cy="593725"/>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22541" name="AutoShape 14">
            <a:extLst>
              <a:ext uri="{FF2B5EF4-FFF2-40B4-BE49-F238E27FC236}">
                <a16:creationId xmlns:a16="http://schemas.microsoft.com/office/drawing/2014/main" id="{406DD0C7-5ECE-47A0-86D0-1A461D260222}"/>
              </a:ext>
            </a:extLst>
          </p:cNvPr>
          <p:cNvCxnSpPr>
            <a:cxnSpLocks noChangeShapeType="1"/>
            <a:stCxn id="22529" idx="4"/>
          </p:cNvCxnSpPr>
          <p:nvPr/>
        </p:nvCxnSpPr>
        <p:spPr bwMode="auto">
          <a:xfrm flipH="1">
            <a:off x="53705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2542" name="Oval 17">
            <a:extLst>
              <a:ext uri="{FF2B5EF4-FFF2-40B4-BE49-F238E27FC236}">
                <a16:creationId xmlns:a16="http://schemas.microsoft.com/office/drawing/2014/main" id="{49D07C91-22EB-441B-966A-AA8D31598606}"/>
              </a:ext>
            </a:extLst>
          </p:cNvPr>
          <p:cNvSpPr>
            <a:spLocks noChangeArrowheads="1"/>
          </p:cNvSpPr>
          <p:nvPr/>
        </p:nvSpPr>
        <p:spPr bwMode="auto">
          <a:xfrm>
            <a:off x="64008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2543" name="AutoShape 18">
            <a:extLst>
              <a:ext uri="{FF2B5EF4-FFF2-40B4-BE49-F238E27FC236}">
                <a16:creationId xmlns:a16="http://schemas.microsoft.com/office/drawing/2014/main" id="{52DF1E90-DE90-4032-A6F4-0B8FB167C450}"/>
              </a:ext>
            </a:extLst>
          </p:cNvPr>
          <p:cNvCxnSpPr>
            <a:cxnSpLocks noChangeShapeType="1"/>
            <a:stCxn id="22542" idx="4"/>
          </p:cNvCxnSpPr>
          <p:nvPr/>
        </p:nvCxnSpPr>
        <p:spPr bwMode="auto">
          <a:xfrm flipH="1">
            <a:off x="71993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2544" name="Oval 21">
            <a:extLst>
              <a:ext uri="{FF2B5EF4-FFF2-40B4-BE49-F238E27FC236}">
                <a16:creationId xmlns:a16="http://schemas.microsoft.com/office/drawing/2014/main" id="{28525FEB-2CEE-44E8-ADE5-F1E41526DD40}"/>
              </a:ext>
            </a:extLst>
          </p:cNvPr>
          <p:cNvSpPr>
            <a:spLocks noChangeArrowheads="1"/>
          </p:cNvSpPr>
          <p:nvPr/>
        </p:nvSpPr>
        <p:spPr bwMode="auto">
          <a:xfrm>
            <a:off x="82296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2545" name="AutoShape 22">
            <a:extLst>
              <a:ext uri="{FF2B5EF4-FFF2-40B4-BE49-F238E27FC236}">
                <a16:creationId xmlns:a16="http://schemas.microsoft.com/office/drawing/2014/main" id="{85C706A0-3036-4533-8942-131A2E0C7E9F}"/>
              </a:ext>
            </a:extLst>
          </p:cNvPr>
          <p:cNvCxnSpPr>
            <a:cxnSpLocks noChangeShapeType="1"/>
          </p:cNvCxnSpPr>
          <p:nvPr/>
        </p:nvCxnSpPr>
        <p:spPr bwMode="auto">
          <a:xfrm flipH="1">
            <a:off x="89916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95" name="Rectangle 8">
            <a:extLst>
              <a:ext uri="{FF2B5EF4-FFF2-40B4-BE49-F238E27FC236}">
                <a16:creationId xmlns:a16="http://schemas.microsoft.com/office/drawing/2014/main" id="{9D8936BE-091C-1C44-BB4A-DC961997685A}"/>
              </a:ext>
            </a:extLst>
          </p:cNvPr>
          <p:cNvSpPr>
            <a:spLocks noChangeArrowheads="1"/>
          </p:cNvSpPr>
          <p:nvPr/>
        </p:nvSpPr>
        <p:spPr bwMode="auto">
          <a:xfrm>
            <a:off x="47244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96" name="Rectangle 8">
            <a:extLst>
              <a:ext uri="{FF2B5EF4-FFF2-40B4-BE49-F238E27FC236}">
                <a16:creationId xmlns:a16="http://schemas.microsoft.com/office/drawing/2014/main" id="{0690445D-47CC-6347-9DAA-148F5D5D89C0}"/>
              </a:ext>
            </a:extLst>
          </p:cNvPr>
          <p:cNvSpPr>
            <a:spLocks noChangeArrowheads="1"/>
          </p:cNvSpPr>
          <p:nvPr/>
        </p:nvSpPr>
        <p:spPr bwMode="auto">
          <a:xfrm>
            <a:off x="65532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22548" name="Rectangle 74">
            <a:extLst>
              <a:ext uri="{FF2B5EF4-FFF2-40B4-BE49-F238E27FC236}">
                <a16:creationId xmlns:a16="http://schemas.microsoft.com/office/drawing/2014/main" id="{E546D800-B1E5-4F3C-A0D4-80A55AAE67CD}"/>
              </a:ext>
            </a:extLst>
          </p:cNvPr>
          <p:cNvSpPr>
            <a:spLocks noChangeArrowheads="1"/>
          </p:cNvSpPr>
          <p:nvPr/>
        </p:nvSpPr>
        <p:spPr bwMode="auto">
          <a:xfrm>
            <a:off x="29924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49" name="Rectangle 75">
            <a:extLst>
              <a:ext uri="{FF2B5EF4-FFF2-40B4-BE49-F238E27FC236}">
                <a16:creationId xmlns:a16="http://schemas.microsoft.com/office/drawing/2014/main" id="{7BCEEAE2-B5A2-4EAB-8FB7-E441E252FAAE}"/>
              </a:ext>
            </a:extLst>
          </p:cNvPr>
          <p:cNvSpPr>
            <a:spLocks noChangeArrowheads="1"/>
          </p:cNvSpPr>
          <p:nvPr/>
        </p:nvSpPr>
        <p:spPr bwMode="auto">
          <a:xfrm>
            <a:off x="31067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22550" name="Rectangle 74">
            <a:extLst>
              <a:ext uri="{FF2B5EF4-FFF2-40B4-BE49-F238E27FC236}">
                <a16:creationId xmlns:a16="http://schemas.microsoft.com/office/drawing/2014/main" id="{E79885D1-8797-4950-BED3-C003C5EF6D66}"/>
              </a:ext>
            </a:extLst>
          </p:cNvPr>
          <p:cNvSpPr>
            <a:spLocks noChangeArrowheads="1"/>
          </p:cNvSpPr>
          <p:nvPr/>
        </p:nvSpPr>
        <p:spPr bwMode="auto">
          <a:xfrm>
            <a:off x="93170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51" name="Rectangle 75">
            <a:extLst>
              <a:ext uri="{FF2B5EF4-FFF2-40B4-BE49-F238E27FC236}">
                <a16:creationId xmlns:a16="http://schemas.microsoft.com/office/drawing/2014/main" id="{E99FA6C7-5A5F-4468-B7DA-D29E24C18602}"/>
              </a:ext>
            </a:extLst>
          </p:cNvPr>
          <p:cNvSpPr>
            <a:spLocks noChangeArrowheads="1"/>
          </p:cNvSpPr>
          <p:nvPr/>
        </p:nvSpPr>
        <p:spPr bwMode="auto">
          <a:xfrm>
            <a:off x="94313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:7</a:t>
            </a:r>
            <a:endParaRPr lang="en-US" altLang="en-US" sz="2000" b="1">
              <a:solidFill>
                <a:srgbClr val="000000"/>
              </a:solidFill>
            </a:endParaRPr>
          </a:p>
        </p:txBody>
      </p:sp>
      <p:cxnSp>
        <p:nvCxnSpPr>
          <p:cNvPr id="22552" name="Straight Arrow Connector 67">
            <a:extLst>
              <a:ext uri="{FF2B5EF4-FFF2-40B4-BE49-F238E27FC236}">
                <a16:creationId xmlns:a16="http://schemas.microsoft.com/office/drawing/2014/main" id="{EA13F742-1A67-4B44-A9C0-27213FDA5AFA}"/>
              </a:ext>
            </a:extLst>
          </p:cNvPr>
          <p:cNvCxnSpPr>
            <a:cxnSpLocks noChangeShapeType="1"/>
            <a:stCxn id="72" idx="2"/>
          </p:cNvCxnSpPr>
          <p:nvPr/>
        </p:nvCxnSpPr>
        <p:spPr bwMode="auto">
          <a:xfrm rot="5400000">
            <a:off x="32575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2553" name="Straight Arrow Connector 68">
            <a:extLst>
              <a:ext uri="{FF2B5EF4-FFF2-40B4-BE49-F238E27FC236}">
                <a16:creationId xmlns:a16="http://schemas.microsoft.com/office/drawing/2014/main" id="{32896B38-BA1E-4AA5-96CC-08BBE908E28F}"/>
              </a:ext>
            </a:extLst>
          </p:cNvPr>
          <p:cNvCxnSpPr>
            <a:cxnSpLocks noChangeShapeType="1"/>
            <a:stCxn id="95" idx="2"/>
          </p:cNvCxnSpPr>
          <p:nvPr/>
        </p:nvCxnSpPr>
        <p:spPr bwMode="auto">
          <a:xfrm rot="5400000">
            <a:off x="50863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2554" name="Straight Arrow Connector 69">
            <a:extLst>
              <a:ext uri="{FF2B5EF4-FFF2-40B4-BE49-F238E27FC236}">
                <a16:creationId xmlns:a16="http://schemas.microsoft.com/office/drawing/2014/main" id="{0F4B7653-D387-4A17-A022-72342900A62E}"/>
              </a:ext>
            </a:extLst>
          </p:cNvPr>
          <p:cNvCxnSpPr>
            <a:cxnSpLocks noChangeShapeType="1"/>
            <a:stCxn id="96" idx="2"/>
          </p:cNvCxnSpPr>
          <p:nvPr/>
        </p:nvCxnSpPr>
        <p:spPr bwMode="auto">
          <a:xfrm rot="16200000" flipH="1">
            <a:off x="69532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2555" name="Straight Arrow Connector 70">
            <a:extLst>
              <a:ext uri="{FF2B5EF4-FFF2-40B4-BE49-F238E27FC236}">
                <a16:creationId xmlns:a16="http://schemas.microsoft.com/office/drawing/2014/main" id="{3D643E48-163B-4890-B195-2BC082D0FD8F}"/>
              </a:ext>
            </a:extLst>
          </p:cNvPr>
          <p:cNvCxnSpPr>
            <a:cxnSpLocks noChangeShapeType="1"/>
            <a:stCxn id="73" idx="2"/>
          </p:cNvCxnSpPr>
          <p:nvPr/>
        </p:nvCxnSpPr>
        <p:spPr bwMode="auto">
          <a:xfrm rot="5400000">
            <a:off x="8728075" y="3921125"/>
            <a:ext cx="533400" cy="635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sp>
        <p:nvSpPr>
          <p:cNvPr id="22556" name="Rectangle 2">
            <a:extLst>
              <a:ext uri="{FF2B5EF4-FFF2-40B4-BE49-F238E27FC236}">
                <a16:creationId xmlns:a16="http://schemas.microsoft.com/office/drawing/2014/main" id="{8ACB5E23-8E76-403D-8166-8189DB27C578}"/>
              </a:ext>
            </a:extLst>
          </p:cNvPr>
          <p:cNvSpPr>
            <a:spLocks noGrp="1" noChangeArrowheads="1"/>
          </p:cNvSpPr>
          <p:nvPr>
            <p:ph type="title"/>
          </p:nvPr>
        </p:nvSpPr>
        <p:spPr>
          <a:xfrm>
            <a:off x="1719207" y="205048"/>
            <a:ext cx="9599724" cy="573088"/>
          </a:xfrm>
        </p:spPr>
        <p:txBody>
          <a:bodyPr/>
          <a:lstStyle/>
          <a:p>
            <a:pPr eaLnBrk="1" hangingPunct="1"/>
            <a:r>
              <a:rPr lang="en-US" altLang="en-US" dirty="0"/>
              <a:t>Potential Problem (Data Coherence)</a:t>
            </a:r>
          </a:p>
        </p:txBody>
      </p:sp>
      <p:sp>
        <p:nvSpPr>
          <p:cNvPr id="22557" name="Freeform 41">
            <a:extLst>
              <a:ext uri="{FF2B5EF4-FFF2-40B4-BE49-F238E27FC236}">
                <a16:creationId xmlns:a16="http://schemas.microsoft.com/office/drawing/2014/main" id="{6084DE4F-938A-4562-9C8E-A637ED4EF9F6}"/>
              </a:ext>
            </a:extLst>
          </p:cNvPr>
          <p:cNvSpPr>
            <a:spLocks/>
          </p:cNvSpPr>
          <p:nvPr/>
        </p:nvSpPr>
        <p:spPr bwMode="auto">
          <a:xfrm>
            <a:off x="9183689" y="3151189"/>
            <a:ext cx="173037" cy="161925"/>
          </a:xfrm>
          <a:custGeom>
            <a:avLst/>
            <a:gdLst>
              <a:gd name="T0" fmla="*/ 2147483646 w 109"/>
              <a:gd name="T1" fmla="*/ 2147483646 h 102"/>
              <a:gd name="T2" fmla="*/ 2147483646 w 109"/>
              <a:gd name="T3" fmla="*/ 2147483646 h 102"/>
              <a:gd name="T4" fmla="*/ 0 w 109"/>
              <a:gd name="T5" fmla="*/ 2147483646 h 102"/>
              <a:gd name="T6" fmla="*/ 2147483646 w 109"/>
              <a:gd name="T7" fmla="*/ 0 h 102"/>
              <a:gd name="T8" fmla="*/ 2147483646 w 109"/>
              <a:gd name="T9" fmla="*/ 2147483646 h 102"/>
              <a:gd name="T10" fmla="*/ 0 60000 65536"/>
              <a:gd name="T11" fmla="*/ 0 60000 65536"/>
              <a:gd name="T12" fmla="*/ 0 60000 65536"/>
              <a:gd name="T13" fmla="*/ 0 60000 65536"/>
              <a:gd name="T14" fmla="*/ 0 60000 65536"/>
              <a:gd name="T15" fmla="*/ 0 w 109"/>
              <a:gd name="T16" fmla="*/ 0 h 102"/>
              <a:gd name="T17" fmla="*/ 109 w 109"/>
              <a:gd name="T18" fmla="*/ 102 h 102"/>
            </a:gdLst>
            <a:ahLst/>
            <a:cxnLst>
              <a:cxn ang="T10">
                <a:pos x="T0" y="T1"/>
              </a:cxn>
              <a:cxn ang="T11">
                <a:pos x="T2" y="T3"/>
              </a:cxn>
              <a:cxn ang="T12">
                <a:pos x="T4" y="T5"/>
              </a:cxn>
              <a:cxn ang="T13">
                <a:pos x="T6" y="T7"/>
              </a:cxn>
              <a:cxn ang="T14">
                <a:pos x="T8" y="T9"/>
              </a:cxn>
            </a:cxnLst>
            <a:rect l="T15" t="T16" r="T17" b="T18"/>
            <a:pathLst>
              <a:path w="109" h="102">
                <a:moveTo>
                  <a:pt x="83" y="22"/>
                </a:moveTo>
                <a:lnTo>
                  <a:pt x="109" y="49"/>
                </a:lnTo>
                <a:lnTo>
                  <a:pt x="0" y="102"/>
                </a:lnTo>
                <a:lnTo>
                  <a:pt x="64" y="0"/>
                </a:lnTo>
                <a:lnTo>
                  <a:pt x="87" y="2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58" name="Freeform 42">
            <a:extLst>
              <a:ext uri="{FF2B5EF4-FFF2-40B4-BE49-F238E27FC236}">
                <a16:creationId xmlns:a16="http://schemas.microsoft.com/office/drawing/2014/main" id="{CF2B6648-1795-450B-B869-D89BC178E058}"/>
              </a:ext>
            </a:extLst>
          </p:cNvPr>
          <p:cNvSpPr>
            <a:spLocks/>
          </p:cNvSpPr>
          <p:nvPr/>
        </p:nvSpPr>
        <p:spPr bwMode="auto">
          <a:xfrm>
            <a:off x="9183689" y="3151189"/>
            <a:ext cx="173037" cy="161925"/>
          </a:xfrm>
          <a:custGeom>
            <a:avLst/>
            <a:gdLst>
              <a:gd name="T0" fmla="*/ 2147483646 w 109"/>
              <a:gd name="T1" fmla="*/ 2147483646 h 102"/>
              <a:gd name="T2" fmla="*/ 2147483646 w 109"/>
              <a:gd name="T3" fmla="*/ 2147483646 h 102"/>
              <a:gd name="T4" fmla="*/ 0 w 109"/>
              <a:gd name="T5" fmla="*/ 2147483646 h 102"/>
              <a:gd name="T6" fmla="*/ 2147483646 w 109"/>
              <a:gd name="T7" fmla="*/ 0 h 102"/>
              <a:gd name="T8" fmla="*/ 2147483646 w 109"/>
              <a:gd name="T9" fmla="*/ 2147483646 h 102"/>
              <a:gd name="T10" fmla="*/ 0 60000 65536"/>
              <a:gd name="T11" fmla="*/ 0 60000 65536"/>
              <a:gd name="T12" fmla="*/ 0 60000 65536"/>
              <a:gd name="T13" fmla="*/ 0 60000 65536"/>
              <a:gd name="T14" fmla="*/ 0 60000 65536"/>
              <a:gd name="T15" fmla="*/ 0 w 109"/>
              <a:gd name="T16" fmla="*/ 0 h 102"/>
              <a:gd name="T17" fmla="*/ 109 w 109"/>
              <a:gd name="T18" fmla="*/ 102 h 102"/>
            </a:gdLst>
            <a:ahLst/>
            <a:cxnLst>
              <a:cxn ang="T10">
                <a:pos x="T0" y="T1"/>
              </a:cxn>
              <a:cxn ang="T11">
                <a:pos x="T2" y="T3"/>
              </a:cxn>
              <a:cxn ang="T12">
                <a:pos x="T4" y="T5"/>
              </a:cxn>
              <a:cxn ang="T13">
                <a:pos x="T6" y="T7"/>
              </a:cxn>
              <a:cxn ang="T14">
                <a:pos x="T8" y="T9"/>
              </a:cxn>
            </a:cxnLst>
            <a:rect l="T15" t="T16" r="T17" b="T18"/>
            <a:pathLst>
              <a:path w="109" h="102">
                <a:moveTo>
                  <a:pt x="83" y="22"/>
                </a:moveTo>
                <a:lnTo>
                  <a:pt x="109" y="49"/>
                </a:lnTo>
                <a:lnTo>
                  <a:pt x="0" y="102"/>
                </a:lnTo>
                <a:lnTo>
                  <a:pt x="64" y="0"/>
                </a:lnTo>
                <a:lnTo>
                  <a:pt x="83"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9" name="Freeform 43">
            <a:extLst>
              <a:ext uri="{FF2B5EF4-FFF2-40B4-BE49-F238E27FC236}">
                <a16:creationId xmlns:a16="http://schemas.microsoft.com/office/drawing/2014/main" id="{51E22CD1-80CE-4B31-8EAF-F53AA36A6048}"/>
              </a:ext>
            </a:extLst>
          </p:cNvPr>
          <p:cNvSpPr>
            <a:spLocks/>
          </p:cNvSpPr>
          <p:nvPr/>
        </p:nvSpPr>
        <p:spPr bwMode="auto">
          <a:xfrm>
            <a:off x="9183688" y="2293939"/>
            <a:ext cx="239712" cy="892175"/>
          </a:xfrm>
          <a:custGeom>
            <a:avLst/>
            <a:gdLst>
              <a:gd name="T0" fmla="*/ 0 w 151"/>
              <a:gd name="T1" fmla="*/ 0 h 562"/>
              <a:gd name="T2" fmla="*/ 2147483646 w 151"/>
              <a:gd name="T3" fmla="*/ 2147483646 h 562"/>
              <a:gd name="T4" fmla="*/ 2147483646 w 151"/>
              <a:gd name="T5" fmla="*/ 2147483646 h 562"/>
              <a:gd name="T6" fmla="*/ 2147483646 w 151"/>
              <a:gd name="T7" fmla="*/ 2147483646 h 562"/>
              <a:gd name="T8" fmla="*/ 2147483646 w 151"/>
              <a:gd name="T9" fmla="*/ 2147483646 h 562"/>
              <a:gd name="T10" fmla="*/ 2147483646 w 151"/>
              <a:gd name="T11" fmla="*/ 2147483646 h 562"/>
              <a:gd name="T12" fmla="*/ 2147483646 w 151"/>
              <a:gd name="T13" fmla="*/ 2147483646 h 562"/>
              <a:gd name="T14" fmla="*/ 2147483646 w 151"/>
              <a:gd name="T15" fmla="*/ 2147483646 h 562"/>
              <a:gd name="T16" fmla="*/ 2147483646 w 151"/>
              <a:gd name="T17" fmla="*/ 2147483646 h 562"/>
              <a:gd name="T18" fmla="*/ 2147483646 w 151"/>
              <a:gd name="T19" fmla="*/ 2147483646 h 562"/>
              <a:gd name="T20" fmla="*/ 2147483646 w 151"/>
              <a:gd name="T21" fmla="*/ 2147483646 h 5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562"/>
              <a:gd name="T35" fmla="*/ 151 w 151"/>
              <a:gd name="T36" fmla="*/ 562 h 5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562">
                <a:moveTo>
                  <a:pt x="0" y="0"/>
                </a:moveTo>
                <a:lnTo>
                  <a:pt x="30" y="49"/>
                </a:lnTo>
                <a:lnTo>
                  <a:pt x="60" y="105"/>
                </a:lnTo>
                <a:lnTo>
                  <a:pt x="91" y="166"/>
                </a:lnTo>
                <a:lnTo>
                  <a:pt x="113" y="226"/>
                </a:lnTo>
                <a:lnTo>
                  <a:pt x="136" y="290"/>
                </a:lnTo>
                <a:lnTo>
                  <a:pt x="147" y="351"/>
                </a:lnTo>
                <a:lnTo>
                  <a:pt x="151" y="411"/>
                </a:lnTo>
                <a:lnTo>
                  <a:pt x="143" y="468"/>
                </a:lnTo>
                <a:lnTo>
                  <a:pt x="125" y="517"/>
                </a:lnTo>
                <a:lnTo>
                  <a:pt x="91" y="56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0" name="Freeform 44">
            <a:extLst>
              <a:ext uri="{FF2B5EF4-FFF2-40B4-BE49-F238E27FC236}">
                <a16:creationId xmlns:a16="http://schemas.microsoft.com/office/drawing/2014/main" id="{1B076FE8-F9FF-454C-8959-368DA7720853}"/>
              </a:ext>
            </a:extLst>
          </p:cNvPr>
          <p:cNvSpPr>
            <a:spLocks/>
          </p:cNvSpPr>
          <p:nvPr/>
        </p:nvSpPr>
        <p:spPr bwMode="auto">
          <a:xfrm>
            <a:off x="3484564" y="2382839"/>
            <a:ext cx="149225" cy="185737"/>
          </a:xfrm>
          <a:custGeom>
            <a:avLst/>
            <a:gdLst>
              <a:gd name="T0" fmla="*/ 2147483646 w 94"/>
              <a:gd name="T1" fmla="*/ 2147483646 h 117"/>
              <a:gd name="T2" fmla="*/ 2147483646 w 94"/>
              <a:gd name="T3" fmla="*/ 2147483646 h 117"/>
              <a:gd name="T4" fmla="*/ 0 w 94"/>
              <a:gd name="T5" fmla="*/ 0 h 117"/>
              <a:gd name="T6" fmla="*/ 2147483646 w 94"/>
              <a:gd name="T7" fmla="*/ 2147483646 h 117"/>
              <a:gd name="T8" fmla="*/ 2147483646 w 94"/>
              <a:gd name="T9" fmla="*/ 2147483646 h 117"/>
              <a:gd name="T10" fmla="*/ 0 60000 65536"/>
              <a:gd name="T11" fmla="*/ 0 60000 65536"/>
              <a:gd name="T12" fmla="*/ 0 60000 65536"/>
              <a:gd name="T13" fmla="*/ 0 60000 65536"/>
              <a:gd name="T14" fmla="*/ 0 60000 65536"/>
              <a:gd name="T15" fmla="*/ 0 w 94"/>
              <a:gd name="T16" fmla="*/ 0 h 117"/>
              <a:gd name="T17" fmla="*/ 94 w 94"/>
              <a:gd name="T18" fmla="*/ 117 h 117"/>
            </a:gdLst>
            <a:ahLst/>
            <a:cxnLst>
              <a:cxn ang="T10">
                <a:pos x="T0" y="T1"/>
              </a:cxn>
              <a:cxn ang="T11">
                <a:pos x="T2" y="T3"/>
              </a:cxn>
              <a:cxn ang="T12">
                <a:pos x="T4" y="T5"/>
              </a:cxn>
              <a:cxn ang="T13">
                <a:pos x="T6" y="T7"/>
              </a:cxn>
              <a:cxn ang="T14">
                <a:pos x="T8" y="T9"/>
              </a:cxn>
            </a:cxnLst>
            <a:rect l="T15" t="T16" r="T17" b="T18"/>
            <a:pathLst>
              <a:path w="94" h="117">
                <a:moveTo>
                  <a:pt x="68" y="95"/>
                </a:moveTo>
                <a:lnTo>
                  <a:pt x="41" y="117"/>
                </a:lnTo>
                <a:lnTo>
                  <a:pt x="0" y="0"/>
                </a:lnTo>
                <a:lnTo>
                  <a:pt x="94" y="76"/>
                </a:lnTo>
                <a:lnTo>
                  <a:pt x="68" y="95"/>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1" name="Freeform 45">
            <a:extLst>
              <a:ext uri="{FF2B5EF4-FFF2-40B4-BE49-F238E27FC236}">
                <a16:creationId xmlns:a16="http://schemas.microsoft.com/office/drawing/2014/main" id="{16F439B1-4E82-44B5-93AD-05D701D7C1D0}"/>
              </a:ext>
            </a:extLst>
          </p:cNvPr>
          <p:cNvSpPr>
            <a:spLocks/>
          </p:cNvSpPr>
          <p:nvPr/>
        </p:nvSpPr>
        <p:spPr bwMode="auto">
          <a:xfrm>
            <a:off x="3484564" y="2382839"/>
            <a:ext cx="149225" cy="185737"/>
          </a:xfrm>
          <a:custGeom>
            <a:avLst/>
            <a:gdLst>
              <a:gd name="T0" fmla="*/ 2147483646 w 94"/>
              <a:gd name="T1" fmla="*/ 2147483646 h 117"/>
              <a:gd name="T2" fmla="*/ 2147483646 w 94"/>
              <a:gd name="T3" fmla="*/ 2147483646 h 117"/>
              <a:gd name="T4" fmla="*/ 0 w 94"/>
              <a:gd name="T5" fmla="*/ 0 h 117"/>
              <a:gd name="T6" fmla="*/ 2147483646 w 94"/>
              <a:gd name="T7" fmla="*/ 2147483646 h 117"/>
              <a:gd name="T8" fmla="*/ 2147483646 w 94"/>
              <a:gd name="T9" fmla="*/ 2147483646 h 117"/>
              <a:gd name="T10" fmla="*/ 0 60000 65536"/>
              <a:gd name="T11" fmla="*/ 0 60000 65536"/>
              <a:gd name="T12" fmla="*/ 0 60000 65536"/>
              <a:gd name="T13" fmla="*/ 0 60000 65536"/>
              <a:gd name="T14" fmla="*/ 0 60000 65536"/>
              <a:gd name="T15" fmla="*/ 0 w 94"/>
              <a:gd name="T16" fmla="*/ 0 h 117"/>
              <a:gd name="T17" fmla="*/ 94 w 94"/>
              <a:gd name="T18" fmla="*/ 117 h 117"/>
            </a:gdLst>
            <a:ahLst/>
            <a:cxnLst>
              <a:cxn ang="T10">
                <a:pos x="T0" y="T1"/>
              </a:cxn>
              <a:cxn ang="T11">
                <a:pos x="T2" y="T3"/>
              </a:cxn>
              <a:cxn ang="T12">
                <a:pos x="T4" y="T5"/>
              </a:cxn>
              <a:cxn ang="T13">
                <a:pos x="T6" y="T7"/>
              </a:cxn>
              <a:cxn ang="T14">
                <a:pos x="T8" y="T9"/>
              </a:cxn>
            </a:cxnLst>
            <a:rect l="T15" t="T16" r="T17" b="T18"/>
            <a:pathLst>
              <a:path w="94" h="117">
                <a:moveTo>
                  <a:pt x="68" y="95"/>
                </a:moveTo>
                <a:lnTo>
                  <a:pt x="41" y="117"/>
                </a:lnTo>
                <a:lnTo>
                  <a:pt x="0" y="0"/>
                </a:lnTo>
                <a:lnTo>
                  <a:pt x="94" y="76"/>
                </a:lnTo>
                <a:lnTo>
                  <a:pt x="68"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2" name="Freeform 46">
            <a:extLst>
              <a:ext uri="{FF2B5EF4-FFF2-40B4-BE49-F238E27FC236}">
                <a16:creationId xmlns:a16="http://schemas.microsoft.com/office/drawing/2014/main" id="{7B482248-D297-4861-B971-F3A346EBB3BF}"/>
              </a:ext>
            </a:extLst>
          </p:cNvPr>
          <p:cNvSpPr>
            <a:spLocks/>
          </p:cNvSpPr>
          <p:nvPr/>
        </p:nvSpPr>
        <p:spPr bwMode="auto">
          <a:xfrm>
            <a:off x="3581400" y="2559051"/>
            <a:ext cx="84138" cy="804863"/>
          </a:xfrm>
          <a:custGeom>
            <a:avLst/>
            <a:gdLst>
              <a:gd name="T0" fmla="*/ 2147483646 w 53"/>
              <a:gd name="T1" fmla="*/ 2147483646 h 507"/>
              <a:gd name="T2" fmla="*/ 2147483646 w 53"/>
              <a:gd name="T3" fmla="*/ 2147483646 h 507"/>
              <a:gd name="T4" fmla="*/ 2147483646 w 53"/>
              <a:gd name="T5" fmla="*/ 2147483646 h 507"/>
              <a:gd name="T6" fmla="*/ 2147483646 w 53"/>
              <a:gd name="T7" fmla="*/ 2147483646 h 507"/>
              <a:gd name="T8" fmla="*/ 2147483646 w 53"/>
              <a:gd name="T9" fmla="*/ 2147483646 h 507"/>
              <a:gd name="T10" fmla="*/ 2147483646 w 53"/>
              <a:gd name="T11" fmla="*/ 2147483646 h 507"/>
              <a:gd name="T12" fmla="*/ 2147483646 w 53"/>
              <a:gd name="T13" fmla="*/ 2147483646 h 507"/>
              <a:gd name="T14" fmla="*/ 2147483646 w 53"/>
              <a:gd name="T15" fmla="*/ 2147483646 h 507"/>
              <a:gd name="T16" fmla="*/ 2147483646 w 53"/>
              <a:gd name="T17" fmla="*/ 2147483646 h 507"/>
              <a:gd name="T18" fmla="*/ 2147483646 w 53"/>
              <a:gd name="T19" fmla="*/ 2147483646 h 507"/>
              <a:gd name="T20" fmla="*/ 0 w 53"/>
              <a:gd name="T21" fmla="*/ 0 h 50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
              <a:gd name="T34" fmla="*/ 0 h 507"/>
              <a:gd name="T35" fmla="*/ 53 w 53"/>
              <a:gd name="T36" fmla="*/ 507 h 50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 h="507">
                <a:moveTo>
                  <a:pt x="19" y="507"/>
                </a:moveTo>
                <a:lnTo>
                  <a:pt x="27" y="461"/>
                </a:lnTo>
                <a:lnTo>
                  <a:pt x="34" y="408"/>
                </a:lnTo>
                <a:lnTo>
                  <a:pt x="38" y="356"/>
                </a:lnTo>
                <a:lnTo>
                  <a:pt x="46" y="303"/>
                </a:lnTo>
                <a:lnTo>
                  <a:pt x="50" y="246"/>
                </a:lnTo>
                <a:lnTo>
                  <a:pt x="53" y="193"/>
                </a:lnTo>
                <a:lnTo>
                  <a:pt x="50" y="140"/>
                </a:lnTo>
                <a:lnTo>
                  <a:pt x="38" y="91"/>
                </a:lnTo>
                <a:lnTo>
                  <a:pt x="23" y="46"/>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3" name="Freeform 49">
            <a:extLst>
              <a:ext uri="{FF2B5EF4-FFF2-40B4-BE49-F238E27FC236}">
                <a16:creationId xmlns:a16="http://schemas.microsoft.com/office/drawing/2014/main" id="{97D327E1-584A-4CDB-AFCF-16C5F95A472A}"/>
              </a:ext>
            </a:extLst>
          </p:cNvPr>
          <p:cNvSpPr>
            <a:spLocks/>
          </p:cNvSpPr>
          <p:nvPr/>
        </p:nvSpPr>
        <p:spPr bwMode="auto">
          <a:xfrm>
            <a:off x="9537701" y="2808288"/>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2147483646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0 w 283"/>
              <a:gd name="T39" fmla="*/ 2147483646 h 284"/>
              <a:gd name="T40" fmla="*/ 0 w 283"/>
              <a:gd name="T41" fmla="*/ 2147483646 h 284"/>
              <a:gd name="T42" fmla="*/ 0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0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79" y="140"/>
                </a:moveTo>
                <a:lnTo>
                  <a:pt x="279" y="167"/>
                </a:lnTo>
                <a:lnTo>
                  <a:pt x="276" y="189"/>
                </a:lnTo>
                <a:lnTo>
                  <a:pt x="268" y="208"/>
                </a:lnTo>
                <a:lnTo>
                  <a:pt x="257" y="227"/>
                </a:lnTo>
                <a:lnTo>
                  <a:pt x="242" y="242"/>
                </a:lnTo>
                <a:lnTo>
                  <a:pt x="223" y="257"/>
                </a:lnTo>
                <a:lnTo>
                  <a:pt x="208" y="269"/>
                </a:lnTo>
                <a:lnTo>
                  <a:pt x="185" y="276"/>
                </a:lnTo>
                <a:lnTo>
                  <a:pt x="162" y="284"/>
                </a:lnTo>
                <a:lnTo>
                  <a:pt x="140" y="284"/>
                </a:lnTo>
                <a:lnTo>
                  <a:pt x="117" y="284"/>
                </a:lnTo>
                <a:lnTo>
                  <a:pt x="94" y="276"/>
                </a:lnTo>
                <a:lnTo>
                  <a:pt x="75" y="269"/>
                </a:lnTo>
                <a:lnTo>
                  <a:pt x="56" y="257"/>
                </a:lnTo>
                <a:lnTo>
                  <a:pt x="41" y="242"/>
                </a:lnTo>
                <a:lnTo>
                  <a:pt x="26" y="227"/>
                </a:lnTo>
                <a:lnTo>
                  <a:pt x="15" y="208"/>
                </a:lnTo>
                <a:lnTo>
                  <a:pt x="7" y="189"/>
                </a:lnTo>
                <a:lnTo>
                  <a:pt x="0" y="167"/>
                </a:lnTo>
                <a:lnTo>
                  <a:pt x="0" y="144"/>
                </a:lnTo>
                <a:lnTo>
                  <a:pt x="0" y="121"/>
                </a:lnTo>
                <a:lnTo>
                  <a:pt x="7" y="99"/>
                </a:lnTo>
                <a:lnTo>
                  <a:pt x="15" y="80"/>
                </a:lnTo>
                <a:lnTo>
                  <a:pt x="26" y="61"/>
                </a:lnTo>
                <a:lnTo>
                  <a:pt x="41" y="42"/>
                </a:lnTo>
                <a:lnTo>
                  <a:pt x="56" y="27"/>
                </a:lnTo>
                <a:lnTo>
                  <a:pt x="75" y="16"/>
                </a:lnTo>
                <a:lnTo>
                  <a:pt x="94" y="8"/>
                </a:lnTo>
                <a:lnTo>
                  <a:pt x="117" y="4"/>
                </a:lnTo>
                <a:lnTo>
                  <a:pt x="140" y="0"/>
                </a:lnTo>
                <a:lnTo>
                  <a:pt x="162" y="4"/>
                </a:lnTo>
                <a:lnTo>
                  <a:pt x="185" y="8"/>
                </a:lnTo>
                <a:lnTo>
                  <a:pt x="208" y="16"/>
                </a:lnTo>
                <a:lnTo>
                  <a:pt x="223" y="27"/>
                </a:lnTo>
                <a:lnTo>
                  <a:pt x="242" y="42"/>
                </a:lnTo>
                <a:lnTo>
                  <a:pt x="257" y="61"/>
                </a:lnTo>
                <a:lnTo>
                  <a:pt x="268" y="80"/>
                </a:lnTo>
                <a:lnTo>
                  <a:pt x="276" y="99"/>
                </a:lnTo>
                <a:lnTo>
                  <a:pt x="279" y="121"/>
                </a:lnTo>
                <a:lnTo>
                  <a:pt x="283" y="144"/>
                </a:lnTo>
                <a:lnTo>
                  <a:pt x="279"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4" name="Freeform 50">
            <a:extLst>
              <a:ext uri="{FF2B5EF4-FFF2-40B4-BE49-F238E27FC236}">
                <a16:creationId xmlns:a16="http://schemas.microsoft.com/office/drawing/2014/main" id="{00D6B55D-BFB6-4417-9B9F-09B9E2AB3776}"/>
              </a:ext>
            </a:extLst>
          </p:cNvPr>
          <p:cNvSpPr>
            <a:spLocks/>
          </p:cNvSpPr>
          <p:nvPr/>
        </p:nvSpPr>
        <p:spPr bwMode="auto">
          <a:xfrm>
            <a:off x="9537701" y="2808288"/>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0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0 w 283"/>
              <a:gd name="T39" fmla="*/ 2147483646 h 284"/>
              <a:gd name="T40" fmla="*/ 0 w 283"/>
              <a:gd name="T41" fmla="*/ 2147483646 h 284"/>
              <a:gd name="T42" fmla="*/ 0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2147483646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79" y="140"/>
                </a:moveTo>
                <a:lnTo>
                  <a:pt x="279" y="121"/>
                </a:lnTo>
                <a:lnTo>
                  <a:pt x="276" y="99"/>
                </a:lnTo>
                <a:lnTo>
                  <a:pt x="268" y="80"/>
                </a:lnTo>
                <a:lnTo>
                  <a:pt x="257" y="61"/>
                </a:lnTo>
                <a:lnTo>
                  <a:pt x="242" y="42"/>
                </a:lnTo>
                <a:lnTo>
                  <a:pt x="223" y="27"/>
                </a:lnTo>
                <a:lnTo>
                  <a:pt x="208" y="16"/>
                </a:lnTo>
                <a:lnTo>
                  <a:pt x="185" y="8"/>
                </a:lnTo>
                <a:lnTo>
                  <a:pt x="162" y="4"/>
                </a:lnTo>
                <a:lnTo>
                  <a:pt x="140" y="0"/>
                </a:lnTo>
                <a:lnTo>
                  <a:pt x="117" y="4"/>
                </a:lnTo>
                <a:lnTo>
                  <a:pt x="94" y="8"/>
                </a:lnTo>
                <a:lnTo>
                  <a:pt x="75" y="16"/>
                </a:lnTo>
                <a:lnTo>
                  <a:pt x="56" y="27"/>
                </a:lnTo>
                <a:lnTo>
                  <a:pt x="41" y="42"/>
                </a:lnTo>
                <a:lnTo>
                  <a:pt x="26" y="61"/>
                </a:lnTo>
                <a:lnTo>
                  <a:pt x="15" y="80"/>
                </a:lnTo>
                <a:lnTo>
                  <a:pt x="7" y="99"/>
                </a:lnTo>
                <a:lnTo>
                  <a:pt x="0" y="121"/>
                </a:lnTo>
                <a:lnTo>
                  <a:pt x="0" y="144"/>
                </a:lnTo>
                <a:lnTo>
                  <a:pt x="0" y="167"/>
                </a:lnTo>
                <a:lnTo>
                  <a:pt x="7" y="189"/>
                </a:lnTo>
                <a:lnTo>
                  <a:pt x="15" y="208"/>
                </a:lnTo>
                <a:lnTo>
                  <a:pt x="26" y="227"/>
                </a:lnTo>
                <a:lnTo>
                  <a:pt x="41" y="242"/>
                </a:lnTo>
                <a:lnTo>
                  <a:pt x="56" y="257"/>
                </a:lnTo>
                <a:lnTo>
                  <a:pt x="75" y="269"/>
                </a:lnTo>
                <a:lnTo>
                  <a:pt x="94" y="276"/>
                </a:lnTo>
                <a:lnTo>
                  <a:pt x="117" y="284"/>
                </a:lnTo>
                <a:lnTo>
                  <a:pt x="140" y="284"/>
                </a:lnTo>
                <a:lnTo>
                  <a:pt x="162" y="284"/>
                </a:lnTo>
                <a:lnTo>
                  <a:pt x="185" y="276"/>
                </a:lnTo>
                <a:lnTo>
                  <a:pt x="208" y="269"/>
                </a:lnTo>
                <a:lnTo>
                  <a:pt x="223" y="257"/>
                </a:lnTo>
                <a:lnTo>
                  <a:pt x="242" y="242"/>
                </a:lnTo>
                <a:lnTo>
                  <a:pt x="257" y="227"/>
                </a:lnTo>
                <a:lnTo>
                  <a:pt x="268" y="208"/>
                </a:lnTo>
                <a:lnTo>
                  <a:pt x="276" y="189"/>
                </a:lnTo>
                <a:lnTo>
                  <a:pt x="279" y="167"/>
                </a:lnTo>
                <a:lnTo>
                  <a:pt x="283"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5" name="Freeform 51">
            <a:extLst>
              <a:ext uri="{FF2B5EF4-FFF2-40B4-BE49-F238E27FC236}">
                <a16:creationId xmlns:a16="http://schemas.microsoft.com/office/drawing/2014/main" id="{785EECD0-3670-491F-8AF1-79596680EA20}"/>
              </a:ext>
            </a:extLst>
          </p:cNvPr>
          <p:cNvSpPr>
            <a:spLocks/>
          </p:cNvSpPr>
          <p:nvPr/>
        </p:nvSpPr>
        <p:spPr bwMode="auto">
          <a:xfrm>
            <a:off x="3724276" y="2827338"/>
            <a:ext cx="449263" cy="449262"/>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2147483646 h 283"/>
              <a:gd name="T22" fmla="*/ 2147483646 w 283"/>
              <a:gd name="T23" fmla="*/ 2147483646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0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79" y="140"/>
                </a:moveTo>
                <a:lnTo>
                  <a:pt x="279" y="166"/>
                </a:lnTo>
                <a:lnTo>
                  <a:pt x="276" y="189"/>
                </a:lnTo>
                <a:lnTo>
                  <a:pt x="268" y="208"/>
                </a:lnTo>
                <a:lnTo>
                  <a:pt x="257" y="226"/>
                </a:lnTo>
                <a:lnTo>
                  <a:pt x="242" y="242"/>
                </a:lnTo>
                <a:lnTo>
                  <a:pt x="223" y="257"/>
                </a:lnTo>
                <a:lnTo>
                  <a:pt x="208" y="268"/>
                </a:lnTo>
                <a:lnTo>
                  <a:pt x="185" y="276"/>
                </a:lnTo>
                <a:lnTo>
                  <a:pt x="162" y="283"/>
                </a:lnTo>
                <a:lnTo>
                  <a:pt x="140" y="283"/>
                </a:lnTo>
                <a:lnTo>
                  <a:pt x="117" y="283"/>
                </a:lnTo>
                <a:lnTo>
                  <a:pt x="94" y="276"/>
                </a:lnTo>
                <a:lnTo>
                  <a:pt x="75" y="268"/>
                </a:lnTo>
                <a:lnTo>
                  <a:pt x="56" y="257"/>
                </a:lnTo>
                <a:lnTo>
                  <a:pt x="41" y="242"/>
                </a:lnTo>
                <a:lnTo>
                  <a:pt x="26" y="226"/>
                </a:lnTo>
                <a:lnTo>
                  <a:pt x="15" y="208"/>
                </a:lnTo>
                <a:lnTo>
                  <a:pt x="7" y="189"/>
                </a:lnTo>
                <a:lnTo>
                  <a:pt x="0" y="166"/>
                </a:lnTo>
                <a:lnTo>
                  <a:pt x="0" y="143"/>
                </a:lnTo>
                <a:lnTo>
                  <a:pt x="0" y="121"/>
                </a:lnTo>
                <a:lnTo>
                  <a:pt x="7" y="98"/>
                </a:lnTo>
                <a:lnTo>
                  <a:pt x="15" y="79"/>
                </a:lnTo>
                <a:lnTo>
                  <a:pt x="26" y="60"/>
                </a:lnTo>
                <a:lnTo>
                  <a:pt x="41" y="41"/>
                </a:lnTo>
                <a:lnTo>
                  <a:pt x="56" y="26"/>
                </a:lnTo>
                <a:lnTo>
                  <a:pt x="75" y="15"/>
                </a:lnTo>
                <a:lnTo>
                  <a:pt x="94" y="7"/>
                </a:lnTo>
                <a:lnTo>
                  <a:pt x="117" y="4"/>
                </a:lnTo>
                <a:lnTo>
                  <a:pt x="140" y="0"/>
                </a:lnTo>
                <a:lnTo>
                  <a:pt x="162" y="4"/>
                </a:lnTo>
                <a:lnTo>
                  <a:pt x="185" y="7"/>
                </a:lnTo>
                <a:lnTo>
                  <a:pt x="208" y="15"/>
                </a:lnTo>
                <a:lnTo>
                  <a:pt x="223" y="26"/>
                </a:lnTo>
                <a:lnTo>
                  <a:pt x="242" y="41"/>
                </a:lnTo>
                <a:lnTo>
                  <a:pt x="257" y="60"/>
                </a:lnTo>
                <a:lnTo>
                  <a:pt x="268" y="79"/>
                </a:lnTo>
                <a:lnTo>
                  <a:pt x="276" y="98"/>
                </a:lnTo>
                <a:lnTo>
                  <a:pt x="279" y="121"/>
                </a:lnTo>
                <a:lnTo>
                  <a:pt x="283" y="143"/>
                </a:lnTo>
                <a:lnTo>
                  <a:pt x="279"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6" name="Freeform 52">
            <a:extLst>
              <a:ext uri="{FF2B5EF4-FFF2-40B4-BE49-F238E27FC236}">
                <a16:creationId xmlns:a16="http://schemas.microsoft.com/office/drawing/2014/main" id="{93266992-AEA1-4301-BAB2-374FEEC82D10}"/>
              </a:ext>
            </a:extLst>
          </p:cNvPr>
          <p:cNvSpPr>
            <a:spLocks/>
          </p:cNvSpPr>
          <p:nvPr/>
        </p:nvSpPr>
        <p:spPr bwMode="auto">
          <a:xfrm>
            <a:off x="3724276" y="2827338"/>
            <a:ext cx="449263" cy="449262"/>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0 h 283"/>
              <a:gd name="T22" fmla="*/ 2147483646 w 283"/>
              <a:gd name="T23" fmla="*/ 2147483646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2147483646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79" y="140"/>
                </a:moveTo>
                <a:lnTo>
                  <a:pt x="279" y="121"/>
                </a:lnTo>
                <a:lnTo>
                  <a:pt x="276" y="98"/>
                </a:lnTo>
                <a:lnTo>
                  <a:pt x="268" y="79"/>
                </a:lnTo>
                <a:lnTo>
                  <a:pt x="257" y="60"/>
                </a:lnTo>
                <a:lnTo>
                  <a:pt x="242" y="41"/>
                </a:lnTo>
                <a:lnTo>
                  <a:pt x="223" y="26"/>
                </a:lnTo>
                <a:lnTo>
                  <a:pt x="208" y="15"/>
                </a:lnTo>
                <a:lnTo>
                  <a:pt x="185" y="7"/>
                </a:lnTo>
                <a:lnTo>
                  <a:pt x="162" y="4"/>
                </a:lnTo>
                <a:lnTo>
                  <a:pt x="140" y="0"/>
                </a:lnTo>
                <a:lnTo>
                  <a:pt x="117" y="4"/>
                </a:lnTo>
                <a:lnTo>
                  <a:pt x="94" y="7"/>
                </a:lnTo>
                <a:lnTo>
                  <a:pt x="75" y="15"/>
                </a:lnTo>
                <a:lnTo>
                  <a:pt x="56" y="26"/>
                </a:lnTo>
                <a:lnTo>
                  <a:pt x="41" y="41"/>
                </a:lnTo>
                <a:lnTo>
                  <a:pt x="26" y="60"/>
                </a:lnTo>
                <a:lnTo>
                  <a:pt x="15" y="79"/>
                </a:lnTo>
                <a:lnTo>
                  <a:pt x="7" y="98"/>
                </a:lnTo>
                <a:lnTo>
                  <a:pt x="0" y="121"/>
                </a:lnTo>
                <a:lnTo>
                  <a:pt x="0" y="143"/>
                </a:lnTo>
                <a:lnTo>
                  <a:pt x="0" y="166"/>
                </a:lnTo>
                <a:lnTo>
                  <a:pt x="7" y="189"/>
                </a:lnTo>
                <a:lnTo>
                  <a:pt x="15" y="208"/>
                </a:lnTo>
                <a:lnTo>
                  <a:pt x="26" y="226"/>
                </a:lnTo>
                <a:lnTo>
                  <a:pt x="41" y="242"/>
                </a:lnTo>
                <a:lnTo>
                  <a:pt x="56" y="257"/>
                </a:lnTo>
                <a:lnTo>
                  <a:pt x="75" y="268"/>
                </a:lnTo>
                <a:lnTo>
                  <a:pt x="94" y="276"/>
                </a:lnTo>
                <a:lnTo>
                  <a:pt x="117" y="283"/>
                </a:lnTo>
                <a:lnTo>
                  <a:pt x="140" y="283"/>
                </a:lnTo>
                <a:lnTo>
                  <a:pt x="162" y="283"/>
                </a:lnTo>
                <a:lnTo>
                  <a:pt x="185" y="276"/>
                </a:lnTo>
                <a:lnTo>
                  <a:pt x="208" y="268"/>
                </a:lnTo>
                <a:lnTo>
                  <a:pt x="223" y="257"/>
                </a:lnTo>
                <a:lnTo>
                  <a:pt x="242" y="242"/>
                </a:lnTo>
                <a:lnTo>
                  <a:pt x="257" y="226"/>
                </a:lnTo>
                <a:lnTo>
                  <a:pt x="268" y="208"/>
                </a:lnTo>
                <a:lnTo>
                  <a:pt x="276" y="189"/>
                </a:lnTo>
                <a:lnTo>
                  <a:pt x="279" y="166"/>
                </a:lnTo>
                <a:lnTo>
                  <a:pt x="283" y="143"/>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7" name="Freeform 53">
            <a:extLst>
              <a:ext uri="{FF2B5EF4-FFF2-40B4-BE49-F238E27FC236}">
                <a16:creationId xmlns:a16="http://schemas.microsoft.com/office/drawing/2014/main" id="{2F71AC97-7241-46FA-82EF-BEF21F8EF145}"/>
              </a:ext>
            </a:extLst>
          </p:cNvPr>
          <p:cNvSpPr>
            <a:spLocks/>
          </p:cNvSpPr>
          <p:nvPr/>
        </p:nvSpPr>
        <p:spPr bwMode="auto">
          <a:xfrm>
            <a:off x="6165851" y="2570163"/>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2147483646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2147483646 w 283"/>
              <a:gd name="T39" fmla="*/ 2147483646 h 284"/>
              <a:gd name="T40" fmla="*/ 0 w 283"/>
              <a:gd name="T41" fmla="*/ 2147483646 h 284"/>
              <a:gd name="T42" fmla="*/ 2147483646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0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83" y="140"/>
                </a:moveTo>
                <a:lnTo>
                  <a:pt x="283" y="167"/>
                </a:lnTo>
                <a:lnTo>
                  <a:pt x="276" y="189"/>
                </a:lnTo>
                <a:lnTo>
                  <a:pt x="268" y="208"/>
                </a:lnTo>
                <a:lnTo>
                  <a:pt x="257" y="227"/>
                </a:lnTo>
                <a:lnTo>
                  <a:pt x="242" y="242"/>
                </a:lnTo>
                <a:lnTo>
                  <a:pt x="227" y="257"/>
                </a:lnTo>
                <a:lnTo>
                  <a:pt x="208" y="269"/>
                </a:lnTo>
                <a:lnTo>
                  <a:pt x="189" y="276"/>
                </a:lnTo>
                <a:lnTo>
                  <a:pt x="166" y="284"/>
                </a:lnTo>
                <a:lnTo>
                  <a:pt x="144" y="284"/>
                </a:lnTo>
                <a:lnTo>
                  <a:pt x="121" y="284"/>
                </a:lnTo>
                <a:lnTo>
                  <a:pt x="98" y="276"/>
                </a:lnTo>
                <a:lnTo>
                  <a:pt x="79" y="269"/>
                </a:lnTo>
                <a:lnTo>
                  <a:pt x="60" y="257"/>
                </a:lnTo>
                <a:lnTo>
                  <a:pt x="42" y="242"/>
                </a:lnTo>
                <a:lnTo>
                  <a:pt x="30" y="227"/>
                </a:lnTo>
                <a:lnTo>
                  <a:pt x="19" y="208"/>
                </a:lnTo>
                <a:lnTo>
                  <a:pt x="8" y="189"/>
                </a:lnTo>
                <a:lnTo>
                  <a:pt x="4" y="167"/>
                </a:lnTo>
                <a:lnTo>
                  <a:pt x="0" y="144"/>
                </a:lnTo>
                <a:lnTo>
                  <a:pt x="4" y="121"/>
                </a:lnTo>
                <a:lnTo>
                  <a:pt x="8" y="99"/>
                </a:lnTo>
                <a:lnTo>
                  <a:pt x="19" y="80"/>
                </a:lnTo>
                <a:lnTo>
                  <a:pt x="30" y="61"/>
                </a:lnTo>
                <a:lnTo>
                  <a:pt x="42" y="42"/>
                </a:lnTo>
                <a:lnTo>
                  <a:pt x="60" y="27"/>
                </a:lnTo>
                <a:lnTo>
                  <a:pt x="79" y="16"/>
                </a:lnTo>
                <a:lnTo>
                  <a:pt x="98" y="8"/>
                </a:lnTo>
                <a:lnTo>
                  <a:pt x="121" y="4"/>
                </a:lnTo>
                <a:lnTo>
                  <a:pt x="144" y="0"/>
                </a:lnTo>
                <a:lnTo>
                  <a:pt x="166" y="4"/>
                </a:lnTo>
                <a:lnTo>
                  <a:pt x="189" y="8"/>
                </a:lnTo>
                <a:lnTo>
                  <a:pt x="208" y="16"/>
                </a:lnTo>
                <a:lnTo>
                  <a:pt x="227" y="27"/>
                </a:lnTo>
                <a:lnTo>
                  <a:pt x="242" y="42"/>
                </a:lnTo>
                <a:lnTo>
                  <a:pt x="257" y="61"/>
                </a:lnTo>
                <a:lnTo>
                  <a:pt x="268" y="80"/>
                </a:lnTo>
                <a:lnTo>
                  <a:pt x="276" y="99"/>
                </a:lnTo>
                <a:lnTo>
                  <a:pt x="283" y="121"/>
                </a:lnTo>
                <a:lnTo>
                  <a:pt x="283" y="144"/>
                </a:lnTo>
                <a:lnTo>
                  <a:pt x="283"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8" name="Freeform 54">
            <a:extLst>
              <a:ext uri="{FF2B5EF4-FFF2-40B4-BE49-F238E27FC236}">
                <a16:creationId xmlns:a16="http://schemas.microsoft.com/office/drawing/2014/main" id="{263EADE1-17B4-4E4E-9293-9E2B86CC5064}"/>
              </a:ext>
            </a:extLst>
          </p:cNvPr>
          <p:cNvSpPr>
            <a:spLocks/>
          </p:cNvSpPr>
          <p:nvPr/>
        </p:nvSpPr>
        <p:spPr bwMode="auto">
          <a:xfrm>
            <a:off x="6165851" y="2570163"/>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0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2147483646 w 283"/>
              <a:gd name="T39" fmla="*/ 2147483646 h 284"/>
              <a:gd name="T40" fmla="*/ 0 w 283"/>
              <a:gd name="T41" fmla="*/ 2147483646 h 284"/>
              <a:gd name="T42" fmla="*/ 2147483646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2147483646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83" y="140"/>
                </a:moveTo>
                <a:lnTo>
                  <a:pt x="283" y="121"/>
                </a:lnTo>
                <a:lnTo>
                  <a:pt x="276" y="99"/>
                </a:lnTo>
                <a:lnTo>
                  <a:pt x="268" y="80"/>
                </a:lnTo>
                <a:lnTo>
                  <a:pt x="257" y="61"/>
                </a:lnTo>
                <a:lnTo>
                  <a:pt x="242" y="42"/>
                </a:lnTo>
                <a:lnTo>
                  <a:pt x="227" y="27"/>
                </a:lnTo>
                <a:lnTo>
                  <a:pt x="208" y="16"/>
                </a:lnTo>
                <a:lnTo>
                  <a:pt x="189" y="8"/>
                </a:lnTo>
                <a:lnTo>
                  <a:pt x="166" y="4"/>
                </a:lnTo>
                <a:lnTo>
                  <a:pt x="144" y="0"/>
                </a:lnTo>
                <a:lnTo>
                  <a:pt x="121" y="4"/>
                </a:lnTo>
                <a:lnTo>
                  <a:pt x="98" y="8"/>
                </a:lnTo>
                <a:lnTo>
                  <a:pt x="79" y="16"/>
                </a:lnTo>
                <a:lnTo>
                  <a:pt x="60" y="27"/>
                </a:lnTo>
                <a:lnTo>
                  <a:pt x="42" y="42"/>
                </a:lnTo>
                <a:lnTo>
                  <a:pt x="30" y="61"/>
                </a:lnTo>
                <a:lnTo>
                  <a:pt x="19" y="80"/>
                </a:lnTo>
                <a:lnTo>
                  <a:pt x="8" y="99"/>
                </a:lnTo>
                <a:lnTo>
                  <a:pt x="4" y="121"/>
                </a:lnTo>
                <a:lnTo>
                  <a:pt x="0" y="144"/>
                </a:lnTo>
                <a:lnTo>
                  <a:pt x="4" y="167"/>
                </a:lnTo>
                <a:lnTo>
                  <a:pt x="8" y="189"/>
                </a:lnTo>
                <a:lnTo>
                  <a:pt x="19" y="208"/>
                </a:lnTo>
                <a:lnTo>
                  <a:pt x="30" y="227"/>
                </a:lnTo>
                <a:lnTo>
                  <a:pt x="42" y="242"/>
                </a:lnTo>
                <a:lnTo>
                  <a:pt x="60" y="257"/>
                </a:lnTo>
                <a:lnTo>
                  <a:pt x="79" y="269"/>
                </a:lnTo>
                <a:lnTo>
                  <a:pt x="98" y="276"/>
                </a:lnTo>
                <a:lnTo>
                  <a:pt x="121" y="284"/>
                </a:lnTo>
                <a:lnTo>
                  <a:pt x="144" y="284"/>
                </a:lnTo>
                <a:lnTo>
                  <a:pt x="166" y="284"/>
                </a:lnTo>
                <a:lnTo>
                  <a:pt x="189" y="276"/>
                </a:lnTo>
                <a:lnTo>
                  <a:pt x="208" y="269"/>
                </a:lnTo>
                <a:lnTo>
                  <a:pt x="227" y="257"/>
                </a:lnTo>
                <a:lnTo>
                  <a:pt x="242" y="242"/>
                </a:lnTo>
                <a:lnTo>
                  <a:pt x="257" y="227"/>
                </a:lnTo>
                <a:lnTo>
                  <a:pt x="268" y="208"/>
                </a:lnTo>
                <a:lnTo>
                  <a:pt x="276" y="189"/>
                </a:lnTo>
                <a:lnTo>
                  <a:pt x="283" y="167"/>
                </a:lnTo>
                <a:lnTo>
                  <a:pt x="283"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9" name="Rectangle 57">
            <a:extLst>
              <a:ext uri="{FF2B5EF4-FFF2-40B4-BE49-F238E27FC236}">
                <a16:creationId xmlns:a16="http://schemas.microsoft.com/office/drawing/2014/main" id="{82057B7B-8389-4056-9D9D-3BB31084336C}"/>
              </a:ext>
            </a:extLst>
          </p:cNvPr>
          <p:cNvSpPr>
            <a:spLocks noChangeArrowheads="1"/>
          </p:cNvSpPr>
          <p:nvPr/>
        </p:nvSpPr>
        <p:spPr bwMode="auto">
          <a:xfrm>
            <a:off x="9693276" y="2917826"/>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3</a:t>
            </a:r>
            <a:endParaRPr lang="en-US" altLang="en-US" sz="2000" b="1">
              <a:solidFill>
                <a:srgbClr val="000000"/>
              </a:solidFill>
            </a:endParaRPr>
          </a:p>
        </p:txBody>
      </p:sp>
      <p:sp>
        <p:nvSpPr>
          <p:cNvPr id="22570" name="Rectangle 58">
            <a:extLst>
              <a:ext uri="{FF2B5EF4-FFF2-40B4-BE49-F238E27FC236}">
                <a16:creationId xmlns:a16="http://schemas.microsoft.com/office/drawing/2014/main" id="{95E06A71-D0E5-446C-8B4B-E515921BA7A3}"/>
              </a:ext>
            </a:extLst>
          </p:cNvPr>
          <p:cNvSpPr>
            <a:spLocks noChangeArrowheads="1"/>
          </p:cNvSpPr>
          <p:nvPr/>
        </p:nvSpPr>
        <p:spPr bwMode="auto">
          <a:xfrm>
            <a:off x="3873501" y="2952751"/>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4</a:t>
            </a:r>
            <a:endParaRPr lang="en-US" altLang="en-US" sz="2000" b="1">
              <a:solidFill>
                <a:srgbClr val="000000"/>
              </a:solidFill>
            </a:endParaRPr>
          </a:p>
        </p:txBody>
      </p:sp>
      <p:sp>
        <p:nvSpPr>
          <p:cNvPr id="22571" name="Rectangle 59">
            <a:extLst>
              <a:ext uri="{FF2B5EF4-FFF2-40B4-BE49-F238E27FC236}">
                <a16:creationId xmlns:a16="http://schemas.microsoft.com/office/drawing/2014/main" id="{4E247809-E770-4443-97F5-27D88ADD7C7F}"/>
              </a:ext>
            </a:extLst>
          </p:cNvPr>
          <p:cNvSpPr>
            <a:spLocks noChangeArrowheads="1"/>
          </p:cNvSpPr>
          <p:nvPr/>
        </p:nvSpPr>
        <p:spPr bwMode="auto">
          <a:xfrm>
            <a:off x="6321426" y="2697163"/>
            <a:ext cx="1047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22572" name="Freeform 60">
            <a:extLst>
              <a:ext uri="{FF2B5EF4-FFF2-40B4-BE49-F238E27FC236}">
                <a16:creationId xmlns:a16="http://schemas.microsoft.com/office/drawing/2014/main" id="{866D269E-BA11-4F0A-A802-042B9919ABDB}"/>
              </a:ext>
            </a:extLst>
          </p:cNvPr>
          <p:cNvSpPr>
            <a:spLocks/>
          </p:cNvSpPr>
          <p:nvPr/>
        </p:nvSpPr>
        <p:spPr bwMode="auto">
          <a:xfrm>
            <a:off x="5943600" y="2133600"/>
            <a:ext cx="107950" cy="192088"/>
          </a:xfrm>
          <a:custGeom>
            <a:avLst/>
            <a:gdLst>
              <a:gd name="T0" fmla="*/ 2147483646 w 68"/>
              <a:gd name="T1" fmla="*/ 2147483646 h 121"/>
              <a:gd name="T2" fmla="*/ 2147483646 w 68"/>
              <a:gd name="T3" fmla="*/ 2147483646 h 121"/>
              <a:gd name="T4" fmla="*/ 0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4" y="109"/>
                </a:moveTo>
                <a:lnTo>
                  <a:pt x="4" y="121"/>
                </a:lnTo>
                <a:lnTo>
                  <a:pt x="0" y="0"/>
                </a:lnTo>
                <a:lnTo>
                  <a:pt x="68" y="98"/>
                </a:lnTo>
                <a:lnTo>
                  <a:pt x="38" y="109"/>
                </a:lnTo>
              </a:path>
            </a:pathLst>
          </a:custGeom>
          <a:solidFill>
            <a:srgbClr val="F2F2F2"/>
          </a:solidFill>
          <a:ln w="12700">
            <a:solidFill>
              <a:srgbClr val="000000"/>
            </a:solidFill>
            <a:round/>
            <a:headEnd/>
            <a:tailEnd/>
          </a:ln>
        </p:spPr>
        <p:txBody>
          <a:bodyPr/>
          <a:lstStyle/>
          <a:p>
            <a:endParaRPr lang="en-US"/>
          </a:p>
        </p:txBody>
      </p:sp>
      <p:sp>
        <p:nvSpPr>
          <p:cNvPr id="22573" name="Freeform 61">
            <a:extLst>
              <a:ext uri="{FF2B5EF4-FFF2-40B4-BE49-F238E27FC236}">
                <a16:creationId xmlns:a16="http://schemas.microsoft.com/office/drawing/2014/main" id="{D61EFB84-5BC8-4630-829B-FB62AE10BE15}"/>
              </a:ext>
            </a:extLst>
          </p:cNvPr>
          <p:cNvSpPr>
            <a:spLocks/>
          </p:cNvSpPr>
          <p:nvPr/>
        </p:nvSpPr>
        <p:spPr bwMode="auto">
          <a:xfrm>
            <a:off x="5943600" y="2133600"/>
            <a:ext cx="107950" cy="192088"/>
          </a:xfrm>
          <a:custGeom>
            <a:avLst/>
            <a:gdLst>
              <a:gd name="T0" fmla="*/ 2147483646 w 68"/>
              <a:gd name="T1" fmla="*/ 2147483646 h 121"/>
              <a:gd name="T2" fmla="*/ 2147483646 w 68"/>
              <a:gd name="T3" fmla="*/ 2147483646 h 121"/>
              <a:gd name="T4" fmla="*/ 0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4" y="109"/>
                </a:moveTo>
                <a:lnTo>
                  <a:pt x="4" y="121"/>
                </a:lnTo>
                <a:lnTo>
                  <a:pt x="0" y="0"/>
                </a:lnTo>
                <a:lnTo>
                  <a:pt x="68" y="98"/>
                </a:lnTo>
                <a:lnTo>
                  <a:pt x="34" y="109"/>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74" name="Freeform 62">
            <a:extLst>
              <a:ext uri="{FF2B5EF4-FFF2-40B4-BE49-F238E27FC236}">
                <a16:creationId xmlns:a16="http://schemas.microsoft.com/office/drawing/2014/main" id="{5F68C157-151D-4915-8407-EF381927495A}"/>
              </a:ext>
            </a:extLst>
          </p:cNvPr>
          <p:cNvSpPr>
            <a:spLocks/>
          </p:cNvSpPr>
          <p:nvPr/>
        </p:nvSpPr>
        <p:spPr bwMode="auto">
          <a:xfrm>
            <a:off x="6003926" y="2312988"/>
            <a:ext cx="168275" cy="2487612"/>
          </a:xfrm>
          <a:custGeom>
            <a:avLst/>
            <a:gdLst>
              <a:gd name="T0" fmla="*/ 2147483646 w 64"/>
              <a:gd name="T1" fmla="*/ 2147483646 h 937"/>
              <a:gd name="T2" fmla="*/ 2147483646 w 64"/>
              <a:gd name="T3" fmla="*/ 2147483646 h 937"/>
              <a:gd name="T4" fmla="*/ 2147483646 w 64"/>
              <a:gd name="T5" fmla="*/ 2147483646 h 937"/>
              <a:gd name="T6" fmla="*/ 2147483646 w 64"/>
              <a:gd name="T7" fmla="*/ 2147483646 h 937"/>
              <a:gd name="T8" fmla="*/ 2147483646 w 64"/>
              <a:gd name="T9" fmla="*/ 2147483646 h 937"/>
              <a:gd name="T10" fmla="*/ 2147483646 w 64"/>
              <a:gd name="T11" fmla="*/ 2147483646 h 937"/>
              <a:gd name="T12" fmla="*/ 2147483646 w 64"/>
              <a:gd name="T13" fmla="*/ 2147483646 h 937"/>
              <a:gd name="T14" fmla="*/ 2147483646 w 64"/>
              <a:gd name="T15" fmla="*/ 2147483646 h 937"/>
              <a:gd name="T16" fmla="*/ 2147483646 w 64"/>
              <a:gd name="T17" fmla="*/ 2147483646 h 937"/>
              <a:gd name="T18" fmla="*/ 2147483646 w 64"/>
              <a:gd name="T19" fmla="*/ 2147483646 h 937"/>
              <a:gd name="T20" fmla="*/ 0 w 64"/>
              <a:gd name="T21" fmla="*/ 0 h 9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
              <a:gd name="T34" fmla="*/ 0 h 937"/>
              <a:gd name="T35" fmla="*/ 64 w 64"/>
              <a:gd name="T36" fmla="*/ 937 h 9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 h="937">
                <a:moveTo>
                  <a:pt x="45" y="937"/>
                </a:moveTo>
                <a:lnTo>
                  <a:pt x="53" y="846"/>
                </a:lnTo>
                <a:lnTo>
                  <a:pt x="57" y="752"/>
                </a:lnTo>
                <a:lnTo>
                  <a:pt x="60" y="657"/>
                </a:lnTo>
                <a:lnTo>
                  <a:pt x="64" y="563"/>
                </a:lnTo>
                <a:lnTo>
                  <a:pt x="64" y="465"/>
                </a:lnTo>
                <a:lnTo>
                  <a:pt x="60" y="370"/>
                </a:lnTo>
                <a:lnTo>
                  <a:pt x="53" y="276"/>
                </a:lnTo>
                <a:lnTo>
                  <a:pt x="42" y="181"/>
                </a:lnTo>
                <a:lnTo>
                  <a:pt x="23" y="91"/>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5" name="Rectangle 63">
            <a:extLst>
              <a:ext uri="{FF2B5EF4-FFF2-40B4-BE49-F238E27FC236}">
                <a16:creationId xmlns:a16="http://schemas.microsoft.com/office/drawing/2014/main" id="{865BF35C-966F-483A-8855-C3167EACD6B0}"/>
              </a:ext>
            </a:extLst>
          </p:cNvPr>
          <p:cNvSpPr>
            <a:spLocks noChangeArrowheads="1"/>
          </p:cNvSpPr>
          <p:nvPr/>
        </p:nvSpPr>
        <p:spPr bwMode="auto">
          <a:xfrm>
            <a:off x="6196013" y="2282826"/>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76" name="Rectangle 64">
            <a:extLst>
              <a:ext uri="{FF2B5EF4-FFF2-40B4-BE49-F238E27FC236}">
                <a16:creationId xmlns:a16="http://schemas.microsoft.com/office/drawing/2014/main" id="{2A907BC2-52AA-43A7-B271-DE5F58962444}"/>
              </a:ext>
            </a:extLst>
          </p:cNvPr>
          <p:cNvSpPr>
            <a:spLocks noChangeArrowheads="1"/>
          </p:cNvSpPr>
          <p:nvPr/>
        </p:nvSpPr>
        <p:spPr bwMode="auto">
          <a:xfrm>
            <a:off x="6303963" y="2282826"/>
            <a:ext cx="29051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a:t>
            </a:r>
            <a:endParaRPr lang="en-US" altLang="en-US" sz="2000" b="1">
              <a:solidFill>
                <a:srgbClr val="000000"/>
              </a:solidFill>
            </a:endParaRPr>
          </a:p>
        </p:txBody>
      </p:sp>
      <p:sp>
        <p:nvSpPr>
          <p:cNvPr id="22577" name="Rectangle 65">
            <a:extLst>
              <a:ext uri="{FF2B5EF4-FFF2-40B4-BE49-F238E27FC236}">
                <a16:creationId xmlns:a16="http://schemas.microsoft.com/office/drawing/2014/main" id="{1EECA9B5-19E6-47E5-9730-A1CB4E630A9A}"/>
              </a:ext>
            </a:extLst>
          </p:cNvPr>
          <p:cNvSpPr>
            <a:spLocks noChangeArrowheads="1"/>
          </p:cNvSpPr>
          <p:nvPr/>
        </p:nvSpPr>
        <p:spPr bwMode="auto">
          <a:xfrm>
            <a:off x="3808413" y="2486026"/>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78" name="Rectangle 66">
            <a:extLst>
              <a:ext uri="{FF2B5EF4-FFF2-40B4-BE49-F238E27FC236}">
                <a16:creationId xmlns:a16="http://schemas.microsoft.com/office/drawing/2014/main" id="{1CC9EF31-03FD-4F1E-9E31-71C02270C018}"/>
              </a:ext>
            </a:extLst>
          </p:cNvPr>
          <p:cNvSpPr>
            <a:spLocks noChangeArrowheads="1"/>
          </p:cNvSpPr>
          <p:nvPr/>
        </p:nvSpPr>
        <p:spPr bwMode="auto">
          <a:xfrm>
            <a:off x="3921126" y="2486026"/>
            <a:ext cx="29051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a:t>
            </a:r>
            <a:endParaRPr lang="en-US" altLang="en-US" sz="2000" b="1">
              <a:solidFill>
                <a:srgbClr val="000000"/>
              </a:solidFill>
            </a:endParaRPr>
          </a:p>
        </p:txBody>
      </p:sp>
      <p:sp>
        <p:nvSpPr>
          <p:cNvPr id="22579" name="Rectangle 73">
            <a:extLst>
              <a:ext uri="{FF2B5EF4-FFF2-40B4-BE49-F238E27FC236}">
                <a16:creationId xmlns:a16="http://schemas.microsoft.com/office/drawing/2014/main" id="{C458E661-84AA-4FFD-957F-E0C3427CF6FC}"/>
              </a:ext>
            </a:extLst>
          </p:cNvPr>
          <p:cNvSpPr>
            <a:spLocks noChangeArrowheads="1"/>
          </p:cNvSpPr>
          <p:nvPr/>
        </p:nvSpPr>
        <p:spPr bwMode="auto">
          <a:xfrm>
            <a:off x="9471025" y="25400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80" name="Rectangle 74">
            <a:extLst>
              <a:ext uri="{FF2B5EF4-FFF2-40B4-BE49-F238E27FC236}">
                <a16:creationId xmlns:a16="http://schemas.microsoft.com/office/drawing/2014/main" id="{F5146BE3-92BE-4E38-A2EF-078566A8B71C}"/>
              </a:ext>
            </a:extLst>
          </p:cNvPr>
          <p:cNvSpPr>
            <a:spLocks noChangeArrowheads="1"/>
          </p:cNvSpPr>
          <p:nvPr/>
        </p:nvSpPr>
        <p:spPr bwMode="auto">
          <a:xfrm>
            <a:off x="9578975" y="2540001"/>
            <a:ext cx="2984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7</a:t>
            </a:r>
            <a:endParaRPr lang="en-US" altLang="en-US" sz="2000" b="1">
              <a:solidFill>
                <a:srgbClr val="000000"/>
              </a:solidFill>
            </a:endParaRPr>
          </a:p>
        </p:txBody>
      </p:sp>
      <p:sp>
        <p:nvSpPr>
          <p:cNvPr id="22581" name="Text Box 75">
            <a:extLst>
              <a:ext uri="{FF2B5EF4-FFF2-40B4-BE49-F238E27FC236}">
                <a16:creationId xmlns:a16="http://schemas.microsoft.com/office/drawing/2014/main" id="{19826A56-1CC3-4385-8596-8AEB8C37D73C}"/>
              </a:ext>
            </a:extLst>
          </p:cNvPr>
          <p:cNvSpPr txBox="1">
            <a:spLocks noChangeArrowheads="1"/>
          </p:cNvSpPr>
          <p:nvPr/>
        </p:nvSpPr>
        <p:spPr bwMode="auto">
          <a:xfrm>
            <a:off x="558800" y="5027580"/>
            <a:ext cx="4165600" cy="4619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b="1">
                <a:solidFill>
                  <a:srgbClr val="FF0000"/>
                </a:solidFill>
              </a:rPr>
              <a:t>With a write-back cache policy</a:t>
            </a:r>
          </a:p>
        </p:txBody>
      </p:sp>
      <p:sp>
        <p:nvSpPr>
          <p:cNvPr id="22582" name="Slide Number Placeholder 1">
            <a:extLst>
              <a:ext uri="{FF2B5EF4-FFF2-40B4-BE49-F238E27FC236}">
                <a16:creationId xmlns:a16="http://schemas.microsoft.com/office/drawing/2014/main" id="{A7243C0F-71FE-4D1F-80D2-6DDA0B998CDD}"/>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115</a:t>
            </a:fld>
            <a:endParaRPr kumimoji="0" lang="en-US" altLang="en-US" sz="1400">
              <a:latin typeface="Arial" panose="020B0604020202020204" pitchFamily="3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4351F05B-3912-43AD-98C1-7BED5C3A4935}"/>
              </a:ext>
            </a:extLst>
          </p:cNvPr>
          <p:cNvSpPr>
            <a:spLocks noGrp="1" noChangeArrowheads="1"/>
          </p:cNvSpPr>
          <p:nvPr>
            <p:ph type="title"/>
          </p:nvPr>
        </p:nvSpPr>
        <p:spPr>
          <a:xfrm>
            <a:off x="1981199" y="228600"/>
            <a:ext cx="9618921" cy="573088"/>
          </a:xfrm>
        </p:spPr>
        <p:txBody>
          <a:bodyPr/>
          <a:lstStyle/>
          <a:p>
            <a:pPr eaLnBrk="1" hangingPunct="1"/>
            <a:r>
              <a:rPr lang="en-US" altLang="en-US" dirty="0"/>
              <a:t>Incoherent Data</a:t>
            </a:r>
          </a:p>
        </p:txBody>
      </p:sp>
      <p:sp>
        <p:nvSpPr>
          <p:cNvPr id="24578" name="Text Box 65">
            <a:extLst>
              <a:ext uri="{FF2B5EF4-FFF2-40B4-BE49-F238E27FC236}">
                <a16:creationId xmlns:a16="http://schemas.microsoft.com/office/drawing/2014/main" id="{10397BFD-CA3C-494A-BB75-A6A0745B30EA}"/>
              </a:ext>
            </a:extLst>
          </p:cNvPr>
          <p:cNvSpPr txBox="1">
            <a:spLocks noChangeArrowheads="1"/>
          </p:cNvSpPr>
          <p:nvPr/>
        </p:nvSpPr>
        <p:spPr bwMode="auto">
          <a:xfrm>
            <a:off x="539447" y="5045076"/>
            <a:ext cx="3217099" cy="40011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2000" b="1" dirty="0">
                <a:solidFill>
                  <a:srgbClr val="FF0000"/>
                </a:solidFill>
              </a:rPr>
              <a:t>Write through </a:t>
            </a:r>
            <a:r>
              <a:rPr lang="en-US" altLang="en-US" sz="2000" b="1" dirty="0" err="1">
                <a:solidFill>
                  <a:srgbClr val="FF0000"/>
                </a:solidFill>
              </a:rPr>
              <a:t>doesn</a:t>
            </a:r>
            <a:r>
              <a:rPr lang="ja-JP" altLang="en-US" sz="2000" b="1" dirty="0">
                <a:solidFill>
                  <a:srgbClr val="FF0000"/>
                </a:solidFill>
              </a:rPr>
              <a:t>’</a:t>
            </a:r>
            <a:r>
              <a:rPr lang="en-US" altLang="ja-JP" sz="2000" b="1" dirty="0">
                <a:solidFill>
                  <a:srgbClr val="FF0000"/>
                </a:solidFill>
              </a:rPr>
              <a:t>t help!</a:t>
            </a:r>
            <a:endParaRPr lang="en-US" altLang="en-US" sz="2000" b="1" dirty="0">
              <a:solidFill>
                <a:srgbClr val="FF0000"/>
              </a:solidFill>
            </a:endParaRPr>
          </a:p>
        </p:txBody>
      </p:sp>
      <p:sp>
        <p:nvSpPr>
          <p:cNvPr id="24579" name="Oval 13">
            <a:extLst>
              <a:ext uri="{FF2B5EF4-FFF2-40B4-BE49-F238E27FC236}">
                <a16:creationId xmlns:a16="http://schemas.microsoft.com/office/drawing/2014/main" id="{069A785F-D1C2-4DC9-81D6-C16457CE55DC}"/>
              </a:ext>
            </a:extLst>
          </p:cNvPr>
          <p:cNvSpPr>
            <a:spLocks noChangeArrowheads="1"/>
          </p:cNvSpPr>
          <p:nvPr/>
        </p:nvSpPr>
        <p:spPr bwMode="auto">
          <a:xfrm>
            <a:off x="45720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sp>
        <p:nvSpPr>
          <p:cNvPr id="68" name="Rectangle 8">
            <a:extLst>
              <a:ext uri="{FF2B5EF4-FFF2-40B4-BE49-F238E27FC236}">
                <a16:creationId xmlns:a16="http://schemas.microsoft.com/office/drawing/2014/main" id="{49865157-8A0C-0C41-B3AB-E3C06C3C301B}"/>
              </a:ext>
            </a:extLst>
          </p:cNvPr>
          <p:cNvSpPr>
            <a:spLocks noChangeArrowheads="1"/>
          </p:cNvSpPr>
          <p:nvPr/>
        </p:nvSpPr>
        <p:spPr bwMode="auto">
          <a:xfrm>
            <a:off x="28956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69" name="Rectangle 8">
            <a:extLst>
              <a:ext uri="{FF2B5EF4-FFF2-40B4-BE49-F238E27FC236}">
                <a16:creationId xmlns:a16="http://schemas.microsoft.com/office/drawing/2014/main" id="{9779A3EB-AF69-A349-B744-17B5306A11ED}"/>
              </a:ext>
            </a:extLst>
          </p:cNvPr>
          <p:cNvSpPr>
            <a:spLocks noChangeArrowheads="1"/>
          </p:cNvSpPr>
          <p:nvPr/>
        </p:nvSpPr>
        <p:spPr bwMode="auto">
          <a:xfrm>
            <a:off x="835025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24582" name="Rectangle 5">
            <a:extLst>
              <a:ext uri="{FF2B5EF4-FFF2-40B4-BE49-F238E27FC236}">
                <a16:creationId xmlns:a16="http://schemas.microsoft.com/office/drawing/2014/main" id="{2904790A-45F5-4B51-B69D-50FC35D5ACEB}"/>
              </a:ext>
            </a:extLst>
          </p:cNvPr>
          <p:cNvSpPr>
            <a:spLocks noChangeArrowheads="1"/>
          </p:cNvSpPr>
          <p:nvPr/>
        </p:nvSpPr>
        <p:spPr bwMode="auto">
          <a:xfrm>
            <a:off x="4953000" y="4800600"/>
            <a:ext cx="2895600" cy="1066800"/>
          </a:xfrm>
          <a:prstGeom prst="rect">
            <a:avLst/>
          </a:prstGeom>
          <a:solidFill>
            <a:schemeClr val="accent2"/>
          </a:solidFill>
          <a:ln w="17463">
            <a:solidFill>
              <a:srgbClr val="0000FF"/>
            </a:solidFill>
            <a:miter lim="800000"/>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Memory</a:t>
            </a:r>
          </a:p>
        </p:txBody>
      </p:sp>
      <p:sp>
        <p:nvSpPr>
          <p:cNvPr id="24583" name="Line 6">
            <a:extLst>
              <a:ext uri="{FF2B5EF4-FFF2-40B4-BE49-F238E27FC236}">
                <a16:creationId xmlns:a16="http://schemas.microsoft.com/office/drawing/2014/main" id="{91789640-3328-4E88-8830-4334BDFF94DE}"/>
              </a:ext>
            </a:extLst>
          </p:cNvPr>
          <p:cNvSpPr>
            <a:spLocks noChangeShapeType="1"/>
          </p:cNvSpPr>
          <p:nvPr/>
        </p:nvSpPr>
        <p:spPr bwMode="auto">
          <a:xfrm>
            <a:off x="2508251" y="4194175"/>
            <a:ext cx="7197725" cy="1588"/>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4" name="Rectangle 38">
            <a:extLst>
              <a:ext uri="{FF2B5EF4-FFF2-40B4-BE49-F238E27FC236}">
                <a16:creationId xmlns:a16="http://schemas.microsoft.com/office/drawing/2014/main" id="{A6C2EED1-7518-48CD-BF11-2C60635F5BFB}"/>
              </a:ext>
            </a:extLst>
          </p:cNvPr>
          <p:cNvSpPr>
            <a:spLocks noChangeArrowheads="1"/>
          </p:cNvSpPr>
          <p:nvPr/>
        </p:nvSpPr>
        <p:spPr bwMode="auto">
          <a:xfrm>
            <a:off x="8890000" y="2054226"/>
            <a:ext cx="109538" cy="2460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P</a:t>
            </a:r>
            <a:endParaRPr lang="en-US" altLang="en-US" sz="2000" b="1">
              <a:solidFill>
                <a:srgbClr val="3333CC"/>
              </a:solidFill>
            </a:endParaRPr>
          </a:p>
        </p:txBody>
      </p:sp>
      <p:sp>
        <p:nvSpPr>
          <p:cNvPr id="24585" name="Rectangle 39">
            <a:extLst>
              <a:ext uri="{FF2B5EF4-FFF2-40B4-BE49-F238E27FC236}">
                <a16:creationId xmlns:a16="http://schemas.microsoft.com/office/drawing/2014/main" id="{88F515A7-E9CA-4033-B050-93AC666B6801}"/>
              </a:ext>
            </a:extLst>
          </p:cNvPr>
          <p:cNvSpPr>
            <a:spLocks noChangeArrowheads="1"/>
          </p:cNvSpPr>
          <p:nvPr/>
        </p:nvSpPr>
        <p:spPr bwMode="auto">
          <a:xfrm>
            <a:off x="8985250" y="2138364"/>
            <a:ext cx="84138" cy="20002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300" b="1">
                <a:solidFill>
                  <a:srgbClr val="000000"/>
                </a:solidFill>
              </a:rPr>
              <a:t>3</a:t>
            </a:r>
            <a:endParaRPr lang="en-US" altLang="en-US" sz="2000" b="1">
              <a:solidFill>
                <a:srgbClr val="3333CC"/>
              </a:solidFill>
            </a:endParaRPr>
          </a:p>
        </p:txBody>
      </p:sp>
      <p:sp>
        <p:nvSpPr>
          <p:cNvPr id="24586" name="Rectangle 74">
            <a:extLst>
              <a:ext uri="{FF2B5EF4-FFF2-40B4-BE49-F238E27FC236}">
                <a16:creationId xmlns:a16="http://schemas.microsoft.com/office/drawing/2014/main" id="{5C52B0B6-95B8-4416-BD9F-017AC8A3AD2C}"/>
              </a:ext>
            </a:extLst>
          </p:cNvPr>
          <p:cNvSpPr>
            <a:spLocks noChangeArrowheads="1"/>
          </p:cNvSpPr>
          <p:nvPr/>
        </p:nvSpPr>
        <p:spPr bwMode="auto">
          <a:xfrm>
            <a:off x="6324600" y="50292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3333CC"/>
              </a:solidFill>
            </a:endParaRPr>
          </a:p>
        </p:txBody>
      </p:sp>
      <p:sp>
        <p:nvSpPr>
          <p:cNvPr id="24587" name="Rectangle 75">
            <a:extLst>
              <a:ext uri="{FF2B5EF4-FFF2-40B4-BE49-F238E27FC236}">
                <a16:creationId xmlns:a16="http://schemas.microsoft.com/office/drawing/2014/main" id="{5ED1BCE7-8ECE-40F1-AEFD-3BEA7C0703E8}"/>
              </a:ext>
            </a:extLst>
          </p:cNvPr>
          <p:cNvSpPr>
            <a:spLocks noChangeArrowheads="1"/>
          </p:cNvSpPr>
          <p:nvPr/>
        </p:nvSpPr>
        <p:spPr bwMode="auto">
          <a:xfrm>
            <a:off x="6438900" y="5029201"/>
            <a:ext cx="1603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:7</a:t>
            </a:r>
            <a:endParaRPr lang="en-US" altLang="en-US" sz="2000" b="1">
              <a:solidFill>
                <a:srgbClr val="3333CC"/>
              </a:solidFill>
            </a:endParaRPr>
          </a:p>
        </p:txBody>
      </p:sp>
      <p:sp>
        <p:nvSpPr>
          <p:cNvPr id="24588" name="Oval 4">
            <a:extLst>
              <a:ext uri="{FF2B5EF4-FFF2-40B4-BE49-F238E27FC236}">
                <a16:creationId xmlns:a16="http://schemas.microsoft.com/office/drawing/2014/main" id="{53A8C793-DC0F-4757-8D8B-9666B18D1D49}"/>
              </a:ext>
            </a:extLst>
          </p:cNvPr>
          <p:cNvSpPr>
            <a:spLocks noChangeArrowheads="1"/>
          </p:cNvSpPr>
          <p:nvPr/>
        </p:nvSpPr>
        <p:spPr bwMode="auto">
          <a:xfrm>
            <a:off x="2706688"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4589" name="AutoShape 6">
            <a:extLst>
              <a:ext uri="{FF2B5EF4-FFF2-40B4-BE49-F238E27FC236}">
                <a16:creationId xmlns:a16="http://schemas.microsoft.com/office/drawing/2014/main" id="{0BDD0896-2236-47F3-8FD1-F23A98D171FC}"/>
              </a:ext>
            </a:extLst>
          </p:cNvPr>
          <p:cNvCxnSpPr>
            <a:cxnSpLocks noChangeShapeType="1"/>
            <a:stCxn id="24588" idx="4"/>
          </p:cNvCxnSpPr>
          <p:nvPr/>
        </p:nvCxnSpPr>
        <p:spPr bwMode="auto">
          <a:xfrm flipH="1">
            <a:off x="35052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4590" name="Line 11">
            <a:extLst>
              <a:ext uri="{FF2B5EF4-FFF2-40B4-BE49-F238E27FC236}">
                <a16:creationId xmlns:a16="http://schemas.microsoft.com/office/drawing/2014/main" id="{7D264E94-C10F-4A75-9CE4-F61BD197585F}"/>
              </a:ext>
            </a:extLst>
          </p:cNvPr>
          <p:cNvSpPr>
            <a:spLocks noChangeShapeType="1"/>
          </p:cNvSpPr>
          <p:nvPr/>
        </p:nvSpPr>
        <p:spPr bwMode="auto">
          <a:xfrm>
            <a:off x="6324600" y="4206876"/>
            <a:ext cx="0" cy="593725"/>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24591" name="AutoShape 14">
            <a:extLst>
              <a:ext uri="{FF2B5EF4-FFF2-40B4-BE49-F238E27FC236}">
                <a16:creationId xmlns:a16="http://schemas.microsoft.com/office/drawing/2014/main" id="{4047E199-E8A4-434E-9CB7-02D61E63067E}"/>
              </a:ext>
            </a:extLst>
          </p:cNvPr>
          <p:cNvCxnSpPr>
            <a:cxnSpLocks noChangeShapeType="1"/>
            <a:stCxn id="24579" idx="4"/>
          </p:cNvCxnSpPr>
          <p:nvPr/>
        </p:nvCxnSpPr>
        <p:spPr bwMode="auto">
          <a:xfrm flipH="1">
            <a:off x="53705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4592" name="Oval 17">
            <a:extLst>
              <a:ext uri="{FF2B5EF4-FFF2-40B4-BE49-F238E27FC236}">
                <a16:creationId xmlns:a16="http://schemas.microsoft.com/office/drawing/2014/main" id="{5125CBFF-AAB4-4405-9454-560B902C83D2}"/>
              </a:ext>
            </a:extLst>
          </p:cNvPr>
          <p:cNvSpPr>
            <a:spLocks noChangeArrowheads="1"/>
          </p:cNvSpPr>
          <p:nvPr/>
        </p:nvSpPr>
        <p:spPr bwMode="auto">
          <a:xfrm>
            <a:off x="64008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4593" name="AutoShape 18">
            <a:extLst>
              <a:ext uri="{FF2B5EF4-FFF2-40B4-BE49-F238E27FC236}">
                <a16:creationId xmlns:a16="http://schemas.microsoft.com/office/drawing/2014/main" id="{3F00B3A0-C301-464D-B4AE-F4A7E0565679}"/>
              </a:ext>
            </a:extLst>
          </p:cNvPr>
          <p:cNvCxnSpPr>
            <a:cxnSpLocks noChangeShapeType="1"/>
            <a:stCxn id="24592" idx="4"/>
          </p:cNvCxnSpPr>
          <p:nvPr/>
        </p:nvCxnSpPr>
        <p:spPr bwMode="auto">
          <a:xfrm flipH="1">
            <a:off x="71993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4594" name="Oval 21">
            <a:extLst>
              <a:ext uri="{FF2B5EF4-FFF2-40B4-BE49-F238E27FC236}">
                <a16:creationId xmlns:a16="http://schemas.microsoft.com/office/drawing/2014/main" id="{AF387182-13FC-4D78-A273-5A4D8D5943AF}"/>
              </a:ext>
            </a:extLst>
          </p:cNvPr>
          <p:cNvSpPr>
            <a:spLocks noChangeArrowheads="1"/>
          </p:cNvSpPr>
          <p:nvPr/>
        </p:nvSpPr>
        <p:spPr bwMode="auto">
          <a:xfrm>
            <a:off x="82296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4595" name="AutoShape 22">
            <a:extLst>
              <a:ext uri="{FF2B5EF4-FFF2-40B4-BE49-F238E27FC236}">
                <a16:creationId xmlns:a16="http://schemas.microsoft.com/office/drawing/2014/main" id="{98F68808-D76A-45C2-B4C8-8927F85076C7}"/>
              </a:ext>
            </a:extLst>
          </p:cNvPr>
          <p:cNvCxnSpPr>
            <a:cxnSpLocks noChangeShapeType="1"/>
          </p:cNvCxnSpPr>
          <p:nvPr/>
        </p:nvCxnSpPr>
        <p:spPr bwMode="auto">
          <a:xfrm flipH="1">
            <a:off x="89916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84" name="Rectangle 8">
            <a:extLst>
              <a:ext uri="{FF2B5EF4-FFF2-40B4-BE49-F238E27FC236}">
                <a16:creationId xmlns:a16="http://schemas.microsoft.com/office/drawing/2014/main" id="{EE9135CD-B353-2F43-97D2-D85268768627}"/>
              </a:ext>
            </a:extLst>
          </p:cNvPr>
          <p:cNvSpPr>
            <a:spLocks noChangeArrowheads="1"/>
          </p:cNvSpPr>
          <p:nvPr/>
        </p:nvSpPr>
        <p:spPr bwMode="auto">
          <a:xfrm>
            <a:off x="47244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85" name="Rectangle 8">
            <a:extLst>
              <a:ext uri="{FF2B5EF4-FFF2-40B4-BE49-F238E27FC236}">
                <a16:creationId xmlns:a16="http://schemas.microsoft.com/office/drawing/2014/main" id="{F88C06F5-EA22-D14C-B94B-69B73DD0923B}"/>
              </a:ext>
            </a:extLst>
          </p:cNvPr>
          <p:cNvSpPr>
            <a:spLocks noChangeArrowheads="1"/>
          </p:cNvSpPr>
          <p:nvPr/>
        </p:nvSpPr>
        <p:spPr bwMode="auto">
          <a:xfrm>
            <a:off x="65532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24598" name="Rectangle 74">
            <a:extLst>
              <a:ext uri="{FF2B5EF4-FFF2-40B4-BE49-F238E27FC236}">
                <a16:creationId xmlns:a16="http://schemas.microsoft.com/office/drawing/2014/main" id="{EB91CDD5-B517-48E0-B6A2-853AB438435E}"/>
              </a:ext>
            </a:extLst>
          </p:cNvPr>
          <p:cNvSpPr>
            <a:spLocks noChangeArrowheads="1"/>
          </p:cNvSpPr>
          <p:nvPr/>
        </p:nvSpPr>
        <p:spPr bwMode="auto">
          <a:xfrm>
            <a:off x="29924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4599" name="Rectangle 75">
            <a:extLst>
              <a:ext uri="{FF2B5EF4-FFF2-40B4-BE49-F238E27FC236}">
                <a16:creationId xmlns:a16="http://schemas.microsoft.com/office/drawing/2014/main" id="{BA42E792-9D8C-41B7-8DA2-D8A0D9324FFF}"/>
              </a:ext>
            </a:extLst>
          </p:cNvPr>
          <p:cNvSpPr>
            <a:spLocks noChangeArrowheads="1"/>
          </p:cNvSpPr>
          <p:nvPr/>
        </p:nvSpPr>
        <p:spPr bwMode="auto">
          <a:xfrm>
            <a:off x="31067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24600" name="Rectangle 74">
            <a:extLst>
              <a:ext uri="{FF2B5EF4-FFF2-40B4-BE49-F238E27FC236}">
                <a16:creationId xmlns:a16="http://schemas.microsoft.com/office/drawing/2014/main" id="{CAB31277-01B4-4BF8-9C18-75379AF801BC}"/>
              </a:ext>
            </a:extLst>
          </p:cNvPr>
          <p:cNvSpPr>
            <a:spLocks noChangeArrowheads="1"/>
          </p:cNvSpPr>
          <p:nvPr/>
        </p:nvSpPr>
        <p:spPr bwMode="auto">
          <a:xfrm>
            <a:off x="93170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4601" name="Rectangle 75">
            <a:extLst>
              <a:ext uri="{FF2B5EF4-FFF2-40B4-BE49-F238E27FC236}">
                <a16:creationId xmlns:a16="http://schemas.microsoft.com/office/drawing/2014/main" id="{3C7FC235-4A98-4215-9730-D4272EF4E657}"/>
              </a:ext>
            </a:extLst>
          </p:cNvPr>
          <p:cNvSpPr>
            <a:spLocks noChangeArrowheads="1"/>
          </p:cNvSpPr>
          <p:nvPr/>
        </p:nvSpPr>
        <p:spPr bwMode="auto">
          <a:xfrm>
            <a:off x="94313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:7</a:t>
            </a:r>
            <a:endParaRPr lang="en-US" altLang="en-US" sz="2000" b="1">
              <a:solidFill>
                <a:srgbClr val="000000"/>
              </a:solidFill>
            </a:endParaRPr>
          </a:p>
        </p:txBody>
      </p:sp>
      <p:cxnSp>
        <p:nvCxnSpPr>
          <p:cNvPr id="24602" name="Straight Arrow Connector 89">
            <a:extLst>
              <a:ext uri="{FF2B5EF4-FFF2-40B4-BE49-F238E27FC236}">
                <a16:creationId xmlns:a16="http://schemas.microsoft.com/office/drawing/2014/main" id="{DE58C409-E792-42C8-8D45-6A21A0DE02D8}"/>
              </a:ext>
            </a:extLst>
          </p:cNvPr>
          <p:cNvCxnSpPr>
            <a:cxnSpLocks noChangeShapeType="1"/>
            <a:stCxn id="68" idx="2"/>
          </p:cNvCxnSpPr>
          <p:nvPr/>
        </p:nvCxnSpPr>
        <p:spPr bwMode="auto">
          <a:xfrm rot="5400000">
            <a:off x="32575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4603" name="Straight Arrow Connector 90">
            <a:extLst>
              <a:ext uri="{FF2B5EF4-FFF2-40B4-BE49-F238E27FC236}">
                <a16:creationId xmlns:a16="http://schemas.microsoft.com/office/drawing/2014/main" id="{A8540932-42A5-45A2-B7A5-B466FA462D2E}"/>
              </a:ext>
            </a:extLst>
          </p:cNvPr>
          <p:cNvCxnSpPr>
            <a:cxnSpLocks noChangeShapeType="1"/>
            <a:stCxn id="84" idx="2"/>
          </p:cNvCxnSpPr>
          <p:nvPr/>
        </p:nvCxnSpPr>
        <p:spPr bwMode="auto">
          <a:xfrm rot="5400000">
            <a:off x="50863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4604" name="Straight Arrow Connector 91">
            <a:extLst>
              <a:ext uri="{FF2B5EF4-FFF2-40B4-BE49-F238E27FC236}">
                <a16:creationId xmlns:a16="http://schemas.microsoft.com/office/drawing/2014/main" id="{42B1A768-51C4-4FC2-B26B-5D67DCA42E2D}"/>
              </a:ext>
            </a:extLst>
          </p:cNvPr>
          <p:cNvCxnSpPr>
            <a:cxnSpLocks noChangeShapeType="1"/>
            <a:stCxn id="85" idx="2"/>
          </p:cNvCxnSpPr>
          <p:nvPr/>
        </p:nvCxnSpPr>
        <p:spPr bwMode="auto">
          <a:xfrm rot="16200000" flipH="1">
            <a:off x="69532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4605" name="Straight Arrow Connector 92">
            <a:extLst>
              <a:ext uri="{FF2B5EF4-FFF2-40B4-BE49-F238E27FC236}">
                <a16:creationId xmlns:a16="http://schemas.microsoft.com/office/drawing/2014/main" id="{EF45EEBF-6794-4C94-9FFF-1F79F6FA2CEF}"/>
              </a:ext>
            </a:extLst>
          </p:cNvPr>
          <p:cNvCxnSpPr>
            <a:cxnSpLocks noChangeShapeType="1"/>
            <a:stCxn id="69" idx="2"/>
          </p:cNvCxnSpPr>
          <p:nvPr/>
        </p:nvCxnSpPr>
        <p:spPr bwMode="auto">
          <a:xfrm rot="5400000">
            <a:off x="8728075" y="3921125"/>
            <a:ext cx="533400" cy="635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sp>
        <p:nvSpPr>
          <p:cNvPr id="24606" name="Freeform 41">
            <a:extLst>
              <a:ext uri="{FF2B5EF4-FFF2-40B4-BE49-F238E27FC236}">
                <a16:creationId xmlns:a16="http://schemas.microsoft.com/office/drawing/2014/main" id="{1A95DC44-15E0-4C71-9827-020B84A10F5D}"/>
              </a:ext>
            </a:extLst>
          </p:cNvPr>
          <p:cNvSpPr>
            <a:spLocks/>
          </p:cNvSpPr>
          <p:nvPr/>
        </p:nvSpPr>
        <p:spPr bwMode="auto">
          <a:xfrm>
            <a:off x="9183689" y="3151189"/>
            <a:ext cx="173037" cy="161925"/>
          </a:xfrm>
          <a:custGeom>
            <a:avLst/>
            <a:gdLst>
              <a:gd name="T0" fmla="*/ 2147483646 w 109"/>
              <a:gd name="T1" fmla="*/ 2147483646 h 102"/>
              <a:gd name="T2" fmla="*/ 2147483646 w 109"/>
              <a:gd name="T3" fmla="*/ 2147483646 h 102"/>
              <a:gd name="T4" fmla="*/ 0 w 109"/>
              <a:gd name="T5" fmla="*/ 2147483646 h 102"/>
              <a:gd name="T6" fmla="*/ 2147483646 w 109"/>
              <a:gd name="T7" fmla="*/ 0 h 102"/>
              <a:gd name="T8" fmla="*/ 2147483646 w 109"/>
              <a:gd name="T9" fmla="*/ 2147483646 h 102"/>
              <a:gd name="T10" fmla="*/ 0 60000 65536"/>
              <a:gd name="T11" fmla="*/ 0 60000 65536"/>
              <a:gd name="T12" fmla="*/ 0 60000 65536"/>
              <a:gd name="T13" fmla="*/ 0 60000 65536"/>
              <a:gd name="T14" fmla="*/ 0 60000 65536"/>
              <a:gd name="T15" fmla="*/ 0 w 109"/>
              <a:gd name="T16" fmla="*/ 0 h 102"/>
              <a:gd name="T17" fmla="*/ 109 w 109"/>
              <a:gd name="T18" fmla="*/ 102 h 102"/>
            </a:gdLst>
            <a:ahLst/>
            <a:cxnLst>
              <a:cxn ang="T10">
                <a:pos x="T0" y="T1"/>
              </a:cxn>
              <a:cxn ang="T11">
                <a:pos x="T2" y="T3"/>
              </a:cxn>
              <a:cxn ang="T12">
                <a:pos x="T4" y="T5"/>
              </a:cxn>
              <a:cxn ang="T13">
                <a:pos x="T6" y="T7"/>
              </a:cxn>
              <a:cxn ang="T14">
                <a:pos x="T8" y="T9"/>
              </a:cxn>
            </a:cxnLst>
            <a:rect l="T15" t="T16" r="T17" b="T18"/>
            <a:pathLst>
              <a:path w="109" h="102">
                <a:moveTo>
                  <a:pt x="83" y="22"/>
                </a:moveTo>
                <a:lnTo>
                  <a:pt x="109" y="49"/>
                </a:lnTo>
                <a:lnTo>
                  <a:pt x="0" y="102"/>
                </a:lnTo>
                <a:lnTo>
                  <a:pt x="64" y="0"/>
                </a:lnTo>
                <a:lnTo>
                  <a:pt x="87" y="2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07" name="Freeform 42">
            <a:extLst>
              <a:ext uri="{FF2B5EF4-FFF2-40B4-BE49-F238E27FC236}">
                <a16:creationId xmlns:a16="http://schemas.microsoft.com/office/drawing/2014/main" id="{E497FDC5-2653-4552-B9F1-8CB4B576EBEC}"/>
              </a:ext>
            </a:extLst>
          </p:cNvPr>
          <p:cNvSpPr>
            <a:spLocks/>
          </p:cNvSpPr>
          <p:nvPr/>
        </p:nvSpPr>
        <p:spPr bwMode="auto">
          <a:xfrm>
            <a:off x="9183689" y="3151189"/>
            <a:ext cx="173037" cy="161925"/>
          </a:xfrm>
          <a:custGeom>
            <a:avLst/>
            <a:gdLst>
              <a:gd name="T0" fmla="*/ 2147483646 w 109"/>
              <a:gd name="T1" fmla="*/ 2147483646 h 102"/>
              <a:gd name="T2" fmla="*/ 2147483646 w 109"/>
              <a:gd name="T3" fmla="*/ 2147483646 h 102"/>
              <a:gd name="T4" fmla="*/ 0 w 109"/>
              <a:gd name="T5" fmla="*/ 2147483646 h 102"/>
              <a:gd name="T6" fmla="*/ 2147483646 w 109"/>
              <a:gd name="T7" fmla="*/ 0 h 102"/>
              <a:gd name="T8" fmla="*/ 2147483646 w 109"/>
              <a:gd name="T9" fmla="*/ 2147483646 h 102"/>
              <a:gd name="T10" fmla="*/ 0 60000 65536"/>
              <a:gd name="T11" fmla="*/ 0 60000 65536"/>
              <a:gd name="T12" fmla="*/ 0 60000 65536"/>
              <a:gd name="T13" fmla="*/ 0 60000 65536"/>
              <a:gd name="T14" fmla="*/ 0 60000 65536"/>
              <a:gd name="T15" fmla="*/ 0 w 109"/>
              <a:gd name="T16" fmla="*/ 0 h 102"/>
              <a:gd name="T17" fmla="*/ 109 w 109"/>
              <a:gd name="T18" fmla="*/ 102 h 102"/>
            </a:gdLst>
            <a:ahLst/>
            <a:cxnLst>
              <a:cxn ang="T10">
                <a:pos x="T0" y="T1"/>
              </a:cxn>
              <a:cxn ang="T11">
                <a:pos x="T2" y="T3"/>
              </a:cxn>
              <a:cxn ang="T12">
                <a:pos x="T4" y="T5"/>
              </a:cxn>
              <a:cxn ang="T13">
                <a:pos x="T6" y="T7"/>
              </a:cxn>
              <a:cxn ang="T14">
                <a:pos x="T8" y="T9"/>
              </a:cxn>
            </a:cxnLst>
            <a:rect l="T15" t="T16" r="T17" b="T18"/>
            <a:pathLst>
              <a:path w="109" h="102">
                <a:moveTo>
                  <a:pt x="83" y="22"/>
                </a:moveTo>
                <a:lnTo>
                  <a:pt x="109" y="49"/>
                </a:lnTo>
                <a:lnTo>
                  <a:pt x="0" y="102"/>
                </a:lnTo>
                <a:lnTo>
                  <a:pt x="64" y="0"/>
                </a:lnTo>
                <a:lnTo>
                  <a:pt x="83"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8" name="Freeform 43">
            <a:extLst>
              <a:ext uri="{FF2B5EF4-FFF2-40B4-BE49-F238E27FC236}">
                <a16:creationId xmlns:a16="http://schemas.microsoft.com/office/drawing/2014/main" id="{70247519-02D7-4ED0-A988-39B18EE22F5A}"/>
              </a:ext>
            </a:extLst>
          </p:cNvPr>
          <p:cNvSpPr>
            <a:spLocks/>
          </p:cNvSpPr>
          <p:nvPr/>
        </p:nvSpPr>
        <p:spPr bwMode="auto">
          <a:xfrm>
            <a:off x="9183688" y="2293939"/>
            <a:ext cx="239712" cy="892175"/>
          </a:xfrm>
          <a:custGeom>
            <a:avLst/>
            <a:gdLst>
              <a:gd name="T0" fmla="*/ 0 w 151"/>
              <a:gd name="T1" fmla="*/ 0 h 562"/>
              <a:gd name="T2" fmla="*/ 2147483646 w 151"/>
              <a:gd name="T3" fmla="*/ 2147483646 h 562"/>
              <a:gd name="T4" fmla="*/ 2147483646 w 151"/>
              <a:gd name="T5" fmla="*/ 2147483646 h 562"/>
              <a:gd name="T6" fmla="*/ 2147483646 w 151"/>
              <a:gd name="T7" fmla="*/ 2147483646 h 562"/>
              <a:gd name="T8" fmla="*/ 2147483646 w 151"/>
              <a:gd name="T9" fmla="*/ 2147483646 h 562"/>
              <a:gd name="T10" fmla="*/ 2147483646 w 151"/>
              <a:gd name="T11" fmla="*/ 2147483646 h 562"/>
              <a:gd name="T12" fmla="*/ 2147483646 w 151"/>
              <a:gd name="T13" fmla="*/ 2147483646 h 562"/>
              <a:gd name="T14" fmla="*/ 2147483646 w 151"/>
              <a:gd name="T15" fmla="*/ 2147483646 h 562"/>
              <a:gd name="T16" fmla="*/ 2147483646 w 151"/>
              <a:gd name="T17" fmla="*/ 2147483646 h 562"/>
              <a:gd name="T18" fmla="*/ 2147483646 w 151"/>
              <a:gd name="T19" fmla="*/ 2147483646 h 562"/>
              <a:gd name="T20" fmla="*/ 2147483646 w 151"/>
              <a:gd name="T21" fmla="*/ 2147483646 h 5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562"/>
              <a:gd name="T35" fmla="*/ 151 w 151"/>
              <a:gd name="T36" fmla="*/ 562 h 5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562">
                <a:moveTo>
                  <a:pt x="0" y="0"/>
                </a:moveTo>
                <a:lnTo>
                  <a:pt x="30" y="49"/>
                </a:lnTo>
                <a:lnTo>
                  <a:pt x="60" y="105"/>
                </a:lnTo>
                <a:lnTo>
                  <a:pt x="91" y="166"/>
                </a:lnTo>
                <a:lnTo>
                  <a:pt x="113" y="226"/>
                </a:lnTo>
                <a:lnTo>
                  <a:pt x="136" y="290"/>
                </a:lnTo>
                <a:lnTo>
                  <a:pt x="147" y="351"/>
                </a:lnTo>
                <a:lnTo>
                  <a:pt x="151" y="411"/>
                </a:lnTo>
                <a:lnTo>
                  <a:pt x="143" y="468"/>
                </a:lnTo>
                <a:lnTo>
                  <a:pt x="125" y="517"/>
                </a:lnTo>
                <a:lnTo>
                  <a:pt x="91" y="56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09" name="Freeform 44">
            <a:extLst>
              <a:ext uri="{FF2B5EF4-FFF2-40B4-BE49-F238E27FC236}">
                <a16:creationId xmlns:a16="http://schemas.microsoft.com/office/drawing/2014/main" id="{33A9C33F-DBA1-4672-AC2F-DA736599DAE3}"/>
              </a:ext>
            </a:extLst>
          </p:cNvPr>
          <p:cNvSpPr>
            <a:spLocks/>
          </p:cNvSpPr>
          <p:nvPr/>
        </p:nvSpPr>
        <p:spPr bwMode="auto">
          <a:xfrm>
            <a:off x="3484564" y="2382839"/>
            <a:ext cx="149225" cy="185737"/>
          </a:xfrm>
          <a:custGeom>
            <a:avLst/>
            <a:gdLst>
              <a:gd name="T0" fmla="*/ 2147483646 w 94"/>
              <a:gd name="T1" fmla="*/ 2147483646 h 117"/>
              <a:gd name="T2" fmla="*/ 2147483646 w 94"/>
              <a:gd name="T3" fmla="*/ 2147483646 h 117"/>
              <a:gd name="T4" fmla="*/ 0 w 94"/>
              <a:gd name="T5" fmla="*/ 0 h 117"/>
              <a:gd name="T6" fmla="*/ 2147483646 w 94"/>
              <a:gd name="T7" fmla="*/ 2147483646 h 117"/>
              <a:gd name="T8" fmla="*/ 2147483646 w 94"/>
              <a:gd name="T9" fmla="*/ 2147483646 h 117"/>
              <a:gd name="T10" fmla="*/ 0 60000 65536"/>
              <a:gd name="T11" fmla="*/ 0 60000 65536"/>
              <a:gd name="T12" fmla="*/ 0 60000 65536"/>
              <a:gd name="T13" fmla="*/ 0 60000 65536"/>
              <a:gd name="T14" fmla="*/ 0 60000 65536"/>
              <a:gd name="T15" fmla="*/ 0 w 94"/>
              <a:gd name="T16" fmla="*/ 0 h 117"/>
              <a:gd name="T17" fmla="*/ 94 w 94"/>
              <a:gd name="T18" fmla="*/ 117 h 117"/>
            </a:gdLst>
            <a:ahLst/>
            <a:cxnLst>
              <a:cxn ang="T10">
                <a:pos x="T0" y="T1"/>
              </a:cxn>
              <a:cxn ang="T11">
                <a:pos x="T2" y="T3"/>
              </a:cxn>
              <a:cxn ang="T12">
                <a:pos x="T4" y="T5"/>
              </a:cxn>
              <a:cxn ang="T13">
                <a:pos x="T6" y="T7"/>
              </a:cxn>
              <a:cxn ang="T14">
                <a:pos x="T8" y="T9"/>
              </a:cxn>
            </a:cxnLst>
            <a:rect l="T15" t="T16" r="T17" b="T18"/>
            <a:pathLst>
              <a:path w="94" h="117">
                <a:moveTo>
                  <a:pt x="68" y="95"/>
                </a:moveTo>
                <a:lnTo>
                  <a:pt x="41" y="117"/>
                </a:lnTo>
                <a:lnTo>
                  <a:pt x="0" y="0"/>
                </a:lnTo>
                <a:lnTo>
                  <a:pt x="94" y="76"/>
                </a:lnTo>
                <a:lnTo>
                  <a:pt x="68" y="95"/>
                </a:lnTo>
              </a:path>
            </a:pathLst>
          </a:custGeom>
          <a:solidFill>
            <a:srgbClr val="F2F2F2"/>
          </a:solidFill>
          <a:ln w="12700">
            <a:solidFill>
              <a:srgbClr val="000000"/>
            </a:solidFill>
            <a:round/>
            <a:headEnd/>
            <a:tailEnd/>
          </a:ln>
        </p:spPr>
        <p:txBody>
          <a:bodyPr/>
          <a:lstStyle/>
          <a:p>
            <a:endParaRPr lang="en-US"/>
          </a:p>
        </p:txBody>
      </p:sp>
      <p:sp>
        <p:nvSpPr>
          <p:cNvPr id="24610" name="Freeform 45">
            <a:extLst>
              <a:ext uri="{FF2B5EF4-FFF2-40B4-BE49-F238E27FC236}">
                <a16:creationId xmlns:a16="http://schemas.microsoft.com/office/drawing/2014/main" id="{BE231A01-61C7-4561-A70C-7AAD1F2EDF05}"/>
              </a:ext>
            </a:extLst>
          </p:cNvPr>
          <p:cNvSpPr>
            <a:spLocks/>
          </p:cNvSpPr>
          <p:nvPr/>
        </p:nvSpPr>
        <p:spPr bwMode="auto">
          <a:xfrm>
            <a:off x="3484564" y="2382839"/>
            <a:ext cx="149225" cy="185737"/>
          </a:xfrm>
          <a:custGeom>
            <a:avLst/>
            <a:gdLst>
              <a:gd name="T0" fmla="*/ 2147483646 w 94"/>
              <a:gd name="T1" fmla="*/ 2147483646 h 117"/>
              <a:gd name="T2" fmla="*/ 2147483646 w 94"/>
              <a:gd name="T3" fmla="*/ 2147483646 h 117"/>
              <a:gd name="T4" fmla="*/ 0 w 94"/>
              <a:gd name="T5" fmla="*/ 0 h 117"/>
              <a:gd name="T6" fmla="*/ 2147483646 w 94"/>
              <a:gd name="T7" fmla="*/ 2147483646 h 117"/>
              <a:gd name="T8" fmla="*/ 2147483646 w 94"/>
              <a:gd name="T9" fmla="*/ 2147483646 h 117"/>
              <a:gd name="T10" fmla="*/ 0 60000 65536"/>
              <a:gd name="T11" fmla="*/ 0 60000 65536"/>
              <a:gd name="T12" fmla="*/ 0 60000 65536"/>
              <a:gd name="T13" fmla="*/ 0 60000 65536"/>
              <a:gd name="T14" fmla="*/ 0 60000 65536"/>
              <a:gd name="T15" fmla="*/ 0 w 94"/>
              <a:gd name="T16" fmla="*/ 0 h 117"/>
              <a:gd name="T17" fmla="*/ 94 w 94"/>
              <a:gd name="T18" fmla="*/ 117 h 117"/>
            </a:gdLst>
            <a:ahLst/>
            <a:cxnLst>
              <a:cxn ang="T10">
                <a:pos x="T0" y="T1"/>
              </a:cxn>
              <a:cxn ang="T11">
                <a:pos x="T2" y="T3"/>
              </a:cxn>
              <a:cxn ang="T12">
                <a:pos x="T4" y="T5"/>
              </a:cxn>
              <a:cxn ang="T13">
                <a:pos x="T6" y="T7"/>
              </a:cxn>
              <a:cxn ang="T14">
                <a:pos x="T8" y="T9"/>
              </a:cxn>
            </a:cxnLst>
            <a:rect l="T15" t="T16" r="T17" b="T18"/>
            <a:pathLst>
              <a:path w="94" h="117">
                <a:moveTo>
                  <a:pt x="68" y="95"/>
                </a:moveTo>
                <a:lnTo>
                  <a:pt x="41" y="117"/>
                </a:lnTo>
                <a:lnTo>
                  <a:pt x="0" y="0"/>
                </a:lnTo>
                <a:lnTo>
                  <a:pt x="94" y="76"/>
                </a:lnTo>
                <a:lnTo>
                  <a:pt x="68" y="95"/>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1" name="Freeform 46">
            <a:extLst>
              <a:ext uri="{FF2B5EF4-FFF2-40B4-BE49-F238E27FC236}">
                <a16:creationId xmlns:a16="http://schemas.microsoft.com/office/drawing/2014/main" id="{17A83C71-291D-4A29-8B13-E1049A528B00}"/>
              </a:ext>
            </a:extLst>
          </p:cNvPr>
          <p:cNvSpPr>
            <a:spLocks/>
          </p:cNvSpPr>
          <p:nvPr/>
        </p:nvSpPr>
        <p:spPr bwMode="auto">
          <a:xfrm>
            <a:off x="3581400" y="2559051"/>
            <a:ext cx="84138" cy="804863"/>
          </a:xfrm>
          <a:custGeom>
            <a:avLst/>
            <a:gdLst>
              <a:gd name="T0" fmla="*/ 2147483646 w 53"/>
              <a:gd name="T1" fmla="*/ 2147483646 h 507"/>
              <a:gd name="T2" fmla="*/ 2147483646 w 53"/>
              <a:gd name="T3" fmla="*/ 2147483646 h 507"/>
              <a:gd name="T4" fmla="*/ 2147483646 w 53"/>
              <a:gd name="T5" fmla="*/ 2147483646 h 507"/>
              <a:gd name="T6" fmla="*/ 2147483646 w 53"/>
              <a:gd name="T7" fmla="*/ 2147483646 h 507"/>
              <a:gd name="T8" fmla="*/ 2147483646 w 53"/>
              <a:gd name="T9" fmla="*/ 2147483646 h 507"/>
              <a:gd name="T10" fmla="*/ 2147483646 w 53"/>
              <a:gd name="T11" fmla="*/ 2147483646 h 507"/>
              <a:gd name="T12" fmla="*/ 2147483646 w 53"/>
              <a:gd name="T13" fmla="*/ 2147483646 h 507"/>
              <a:gd name="T14" fmla="*/ 2147483646 w 53"/>
              <a:gd name="T15" fmla="*/ 2147483646 h 507"/>
              <a:gd name="T16" fmla="*/ 2147483646 w 53"/>
              <a:gd name="T17" fmla="*/ 2147483646 h 507"/>
              <a:gd name="T18" fmla="*/ 2147483646 w 53"/>
              <a:gd name="T19" fmla="*/ 2147483646 h 507"/>
              <a:gd name="T20" fmla="*/ 0 w 53"/>
              <a:gd name="T21" fmla="*/ 0 h 50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
              <a:gd name="T34" fmla="*/ 0 h 507"/>
              <a:gd name="T35" fmla="*/ 53 w 53"/>
              <a:gd name="T36" fmla="*/ 507 h 50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 h="507">
                <a:moveTo>
                  <a:pt x="19" y="507"/>
                </a:moveTo>
                <a:lnTo>
                  <a:pt x="27" y="461"/>
                </a:lnTo>
                <a:lnTo>
                  <a:pt x="34" y="408"/>
                </a:lnTo>
                <a:lnTo>
                  <a:pt x="38" y="356"/>
                </a:lnTo>
                <a:lnTo>
                  <a:pt x="46" y="303"/>
                </a:lnTo>
                <a:lnTo>
                  <a:pt x="50" y="246"/>
                </a:lnTo>
                <a:lnTo>
                  <a:pt x="53" y="193"/>
                </a:lnTo>
                <a:lnTo>
                  <a:pt x="50" y="140"/>
                </a:lnTo>
                <a:lnTo>
                  <a:pt x="38" y="91"/>
                </a:lnTo>
                <a:lnTo>
                  <a:pt x="23" y="46"/>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12" name="Freeform 49">
            <a:extLst>
              <a:ext uri="{FF2B5EF4-FFF2-40B4-BE49-F238E27FC236}">
                <a16:creationId xmlns:a16="http://schemas.microsoft.com/office/drawing/2014/main" id="{F3AB3A24-832E-453E-A5D4-1F619A8A0893}"/>
              </a:ext>
            </a:extLst>
          </p:cNvPr>
          <p:cNvSpPr>
            <a:spLocks/>
          </p:cNvSpPr>
          <p:nvPr/>
        </p:nvSpPr>
        <p:spPr bwMode="auto">
          <a:xfrm>
            <a:off x="9537701" y="2808288"/>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2147483646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0 w 283"/>
              <a:gd name="T39" fmla="*/ 2147483646 h 284"/>
              <a:gd name="T40" fmla="*/ 0 w 283"/>
              <a:gd name="T41" fmla="*/ 2147483646 h 284"/>
              <a:gd name="T42" fmla="*/ 0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0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79" y="140"/>
                </a:moveTo>
                <a:lnTo>
                  <a:pt x="279" y="167"/>
                </a:lnTo>
                <a:lnTo>
                  <a:pt x="276" y="189"/>
                </a:lnTo>
                <a:lnTo>
                  <a:pt x="268" y="208"/>
                </a:lnTo>
                <a:lnTo>
                  <a:pt x="257" y="227"/>
                </a:lnTo>
                <a:lnTo>
                  <a:pt x="242" y="242"/>
                </a:lnTo>
                <a:lnTo>
                  <a:pt x="223" y="257"/>
                </a:lnTo>
                <a:lnTo>
                  <a:pt x="208" y="269"/>
                </a:lnTo>
                <a:lnTo>
                  <a:pt x="185" y="276"/>
                </a:lnTo>
                <a:lnTo>
                  <a:pt x="162" y="284"/>
                </a:lnTo>
                <a:lnTo>
                  <a:pt x="140" y="284"/>
                </a:lnTo>
                <a:lnTo>
                  <a:pt x="117" y="284"/>
                </a:lnTo>
                <a:lnTo>
                  <a:pt x="94" y="276"/>
                </a:lnTo>
                <a:lnTo>
                  <a:pt x="75" y="269"/>
                </a:lnTo>
                <a:lnTo>
                  <a:pt x="56" y="257"/>
                </a:lnTo>
                <a:lnTo>
                  <a:pt x="41" y="242"/>
                </a:lnTo>
                <a:lnTo>
                  <a:pt x="26" y="227"/>
                </a:lnTo>
                <a:lnTo>
                  <a:pt x="15" y="208"/>
                </a:lnTo>
                <a:lnTo>
                  <a:pt x="7" y="189"/>
                </a:lnTo>
                <a:lnTo>
                  <a:pt x="0" y="167"/>
                </a:lnTo>
                <a:lnTo>
                  <a:pt x="0" y="144"/>
                </a:lnTo>
                <a:lnTo>
                  <a:pt x="0" y="121"/>
                </a:lnTo>
                <a:lnTo>
                  <a:pt x="7" y="99"/>
                </a:lnTo>
                <a:lnTo>
                  <a:pt x="15" y="80"/>
                </a:lnTo>
                <a:lnTo>
                  <a:pt x="26" y="61"/>
                </a:lnTo>
                <a:lnTo>
                  <a:pt x="41" y="42"/>
                </a:lnTo>
                <a:lnTo>
                  <a:pt x="56" y="27"/>
                </a:lnTo>
                <a:lnTo>
                  <a:pt x="75" y="16"/>
                </a:lnTo>
                <a:lnTo>
                  <a:pt x="94" y="8"/>
                </a:lnTo>
                <a:lnTo>
                  <a:pt x="117" y="4"/>
                </a:lnTo>
                <a:lnTo>
                  <a:pt x="140" y="0"/>
                </a:lnTo>
                <a:lnTo>
                  <a:pt x="162" y="4"/>
                </a:lnTo>
                <a:lnTo>
                  <a:pt x="185" y="8"/>
                </a:lnTo>
                <a:lnTo>
                  <a:pt x="208" y="16"/>
                </a:lnTo>
                <a:lnTo>
                  <a:pt x="223" y="27"/>
                </a:lnTo>
                <a:lnTo>
                  <a:pt x="242" y="42"/>
                </a:lnTo>
                <a:lnTo>
                  <a:pt x="257" y="61"/>
                </a:lnTo>
                <a:lnTo>
                  <a:pt x="268" y="80"/>
                </a:lnTo>
                <a:lnTo>
                  <a:pt x="276" y="99"/>
                </a:lnTo>
                <a:lnTo>
                  <a:pt x="279" y="121"/>
                </a:lnTo>
                <a:lnTo>
                  <a:pt x="283" y="144"/>
                </a:lnTo>
                <a:lnTo>
                  <a:pt x="279"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3" name="Freeform 50">
            <a:extLst>
              <a:ext uri="{FF2B5EF4-FFF2-40B4-BE49-F238E27FC236}">
                <a16:creationId xmlns:a16="http://schemas.microsoft.com/office/drawing/2014/main" id="{6843A3B0-C5DF-4999-B42A-04286E807151}"/>
              </a:ext>
            </a:extLst>
          </p:cNvPr>
          <p:cNvSpPr>
            <a:spLocks/>
          </p:cNvSpPr>
          <p:nvPr/>
        </p:nvSpPr>
        <p:spPr bwMode="auto">
          <a:xfrm>
            <a:off x="9537701" y="2808288"/>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0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0 w 283"/>
              <a:gd name="T39" fmla="*/ 2147483646 h 284"/>
              <a:gd name="T40" fmla="*/ 0 w 283"/>
              <a:gd name="T41" fmla="*/ 2147483646 h 284"/>
              <a:gd name="T42" fmla="*/ 0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2147483646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79" y="140"/>
                </a:moveTo>
                <a:lnTo>
                  <a:pt x="279" y="121"/>
                </a:lnTo>
                <a:lnTo>
                  <a:pt x="276" y="99"/>
                </a:lnTo>
                <a:lnTo>
                  <a:pt x="268" y="80"/>
                </a:lnTo>
                <a:lnTo>
                  <a:pt x="257" y="61"/>
                </a:lnTo>
                <a:lnTo>
                  <a:pt x="242" y="42"/>
                </a:lnTo>
                <a:lnTo>
                  <a:pt x="223" y="27"/>
                </a:lnTo>
                <a:lnTo>
                  <a:pt x="208" y="16"/>
                </a:lnTo>
                <a:lnTo>
                  <a:pt x="185" y="8"/>
                </a:lnTo>
                <a:lnTo>
                  <a:pt x="162" y="4"/>
                </a:lnTo>
                <a:lnTo>
                  <a:pt x="140" y="0"/>
                </a:lnTo>
                <a:lnTo>
                  <a:pt x="117" y="4"/>
                </a:lnTo>
                <a:lnTo>
                  <a:pt x="94" y="8"/>
                </a:lnTo>
                <a:lnTo>
                  <a:pt x="75" y="16"/>
                </a:lnTo>
                <a:lnTo>
                  <a:pt x="56" y="27"/>
                </a:lnTo>
                <a:lnTo>
                  <a:pt x="41" y="42"/>
                </a:lnTo>
                <a:lnTo>
                  <a:pt x="26" y="61"/>
                </a:lnTo>
                <a:lnTo>
                  <a:pt x="15" y="80"/>
                </a:lnTo>
                <a:lnTo>
                  <a:pt x="7" y="99"/>
                </a:lnTo>
                <a:lnTo>
                  <a:pt x="0" y="121"/>
                </a:lnTo>
                <a:lnTo>
                  <a:pt x="0" y="144"/>
                </a:lnTo>
                <a:lnTo>
                  <a:pt x="0" y="167"/>
                </a:lnTo>
                <a:lnTo>
                  <a:pt x="7" y="189"/>
                </a:lnTo>
                <a:lnTo>
                  <a:pt x="15" y="208"/>
                </a:lnTo>
                <a:lnTo>
                  <a:pt x="26" y="227"/>
                </a:lnTo>
                <a:lnTo>
                  <a:pt x="41" y="242"/>
                </a:lnTo>
                <a:lnTo>
                  <a:pt x="56" y="257"/>
                </a:lnTo>
                <a:lnTo>
                  <a:pt x="75" y="269"/>
                </a:lnTo>
                <a:lnTo>
                  <a:pt x="94" y="276"/>
                </a:lnTo>
                <a:lnTo>
                  <a:pt x="117" y="284"/>
                </a:lnTo>
                <a:lnTo>
                  <a:pt x="140" y="284"/>
                </a:lnTo>
                <a:lnTo>
                  <a:pt x="162" y="284"/>
                </a:lnTo>
                <a:lnTo>
                  <a:pt x="185" y="276"/>
                </a:lnTo>
                <a:lnTo>
                  <a:pt x="208" y="269"/>
                </a:lnTo>
                <a:lnTo>
                  <a:pt x="223" y="257"/>
                </a:lnTo>
                <a:lnTo>
                  <a:pt x="242" y="242"/>
                </a:lnTo>
                <a:lnTo>
                  <a:pt x="257" y="227"/>
                </a:lnTo>
                <a:lnTo>
                  <a:pt x="268" y="208"/>
                </a:lnTo>
                <a:lnTo>
                  <a:pt x="276" y="189"/>
                </a:lnTo>
                <a:lnTo>
                  <a:pt x="279" y="167"/>
                </a:lnTo>
                <a:lnTo>
                  <a:pt x="283"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14" name="Freeform 51">
            <a:extLst>
              <a:ext uri="{FF2B5EF4-FFF2-40B4-BE49-F238E27FC236}">
                <a16:creationId xmlns:a16="http://schemas.microsoft.com/office/drawing/2014/main" id="{98388051-DAFF-44BE-A238-9013FA91430F}"/>
              </a:ext>
            </a:extLst>
          </p:cNvPr>
          <p:cNvSpPr>
            <a:spLocks/>
          </p:cNvSpPr>
          <p:nvPr/>
        </p:nvSpPr>
        <p:spPr bwMode="auto">
          <a:xfrm>
            <a:off x="3724276" y="2827338"/>
            <a:ext cx="449263" cy="449262"/>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2147483646 h 283"/>
              <a:gd name="T22" fmla="*/ 2147483646 w 283"/>
              <a:gd name="T23" fmla="*/ 2147483646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0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79" y="140"/>
                </a:moveTo>
                <a:lnTo>
                  <a:pt x="279" y="166"/>
                </a:lnTo>
                <a:lnTo>
                  <a:pt x="276" y="189"/>
                </a:lnTo>
                <a:lnTo>
                  <a:pt x="268" y="208"/>
                </a:lnTo>
                <a:lnTo>
                  <a:pt x="257" y="226"/>
                </a:lnTo>
                <a:lnTo>
                  <a:pt x="242" y="242"/>
                </a:lnTo>
                <a:lnTo>
                  <a:pt x="223" y="257"/>
                </a:lnTo>
                <a:lnTo>
                  <a:pt x="208" y="268"/>
                </a:lnTo>
                <a:lnTo>
                  <a:pt x="185" y="276"/>
                </a:lnTo>
                <a:lnTo>
                  <a:pt x="162" y="283"/>
                </a:lnTo>
                <a:lnTo>
                  <a:pt x="140" y="283"/>
                </a:lnTo>
                <a:lnTo>
                  <a:pt x="117" y="283"/>
                </a:lnTo>
                <a:lnTo>
                  <a:pt x="94" y="276"/>
                </a:lnTo>
                <a:lnTo>
                  <a:pt x="75" y="268"/>
                </a:lnTo>
                <a:lnTo>
                  <a:pt x="56" y="257"/>
                </a:lnTo>
                <a:lnTo>
                  <a:pt x="41" y="242"/>
                </a:lnTo>
                <a:lnTo>
                  <a:pt x="26" y="226"/>
                </a:lnTo>
                <a:lnTo>
                  <a:pt x="15" y="208"/>
                </a:lnTo>
                <a:lnTo>
                  <a:pt x="7" y="189"/>
                </a:lnTo>
                <a:lnTo>
                  <a:pt x="0" y="166"/>
                </a:lnTo>
                <a:lnTo>
                  <a:pt x="0" y="143"/>
                </a:lnTo>
                <a:lnTo>
                  <a:pt x="0" y="121"/>
                </a:lnTo>
                <a:lnTo>
                  <a:pt x="7" y="98"/>
                </a:lnTo>
                <a:lnTo>
                  <a:pt x="15" y="79"/>
                </a:lnTo>
                <a:lnTo>
                  <a:pt x="26" y="60"/>
                </a:lnTo>
                <a:lnTo>
                  <a:pt x="41" y="41"/>
                </a:lnTo>
                <a:lnTo>
                  <a:pt x="56" y="26"/>
                </a:lnTo>
                <a:lnTo>
                  <a:pt x="75" y="15"/>
                </a:lnTo>
                <a:lnTo>
                  <a:pt x="94" y="7"/>
                </a:lnTo>
                <a:lnTo>
                  <a:pt x="117" y="4"/>
                </a:lnTo>
                <a:lnTo>
                  <a:pt x="140" y="0"/>
                </a:lnTo>
                <a:lnTo>
                  <a:pt x="162" y="4"/>
                </a:lnTo>
                <a:lnTo>
                  <a:pt x="185" y="7"/>
                </a:lnTo>
                <a:lnTo>
                  <a:pt x="208" y="15"/>
                </a:lnTo>
                <a:lnTo>
                  <a:pt x="223" y="26"/>
                </a:lnTo>
                <a:lnTo>
                  <a:pt x="242" y="41"/>
                </a:lnTo>
                <a:lnTo>
                  <a:pt x="257" y="60"/>
                </a:lnTo>
                <a:lnTo>
                  <a:pt x="268" y="79"/>
                </a:lnTo>
                <a:lnTo>
                  <a:pt x="276" y="98"/>
                </a:lnTo>
                <a:lnTo>
                  <a:pt x="279" y="121"/>
                </a:lnTo>
                <a:lnTo>
                  <a:pt x="283" y="143"/>
                </a:lnTo>
                <a:lnTo>
                  <a:pt x="279"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5" name="Freeform 52">
            <a:extLst>
              <a:ext uri="{FF2B5EF4-FFF2-40B4-BE49-F238E27FC236}">
                <a16:creationId xmlns:a16="http://schemas.microsoft.com/office/drawing/2014/main" id="{FC4FC046-543D-4A13-A046-85F6CE76B7FB}"/>
              </a:ext>
            </a:extLst>
          </p:cNvPr>
          <p:cNvSpPr>
            <a:spLocks/>
          </p:cNvSpPr>
          <p:nvPr/>
        </p:nvSpPr>
        <p:spPr bwMode="auto">
          <a:xfrm>
            <a:off x="3724276" y="2827338"/>
            <a:ext cx="449263" cy="449262"/>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0 h 283"/>
              <a:gd name="T22" fmla="*/ 2147483646 w 283"/>
              <a:gd name="T23" fmla="*/ 2147483646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2147483646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79" y="140"/>
                </a:moveTo>
                <a:lnTo>
                  <a:pt x="279" y="121"/>
                </a:lnTo>
                <a:lnTo>
                  <a:pt x="276" y="98"/>
                </a:lnTo>
                <a:lnTo>
                  <a:pt x="268" y="79"/>
                </a:lnTo>
                <a:lnTo>
                  <a:pt x="257" y="60"/>
                </a:lnTo>
                <a:lnTo>
                  <a:pt x="242" y="41"/>
                </a:lnTo>
                <a:lnTo>
                  <a:pt x="223" y="26"/>
                </a:lnTo>
                <a:lnTo>
                  <a:pt x="208" y="15"/>
                </a:lnTo>
                <a:lnTo>
                  <a:pt x="185" y="7"/>
                </a:lnTo>
                <a:lnTo>
                  <a:pt x="162" y="4"/>
                </a:lnTo>
                <a:lnTo>
                  <a:pt x="140" y="0"/>
                </a:lnTo>
                <a:lnTo>
                  <a:pt x="117" y="4"/>
                </a:lnTo>
                <a:lnTo>
                  <a:pt x="94" y="7"/>
                </a:lnTo>
                <a:lnTo>
                  <a:pt x="75" y="15"/>
                </a:lnTo>
                <a:lnTo>
                  <a:pt x="56" y="26"/>
                </a:lnTo>
                <a:lnTo>
                  <a:pt x="41" y="41"/>
                </a:lnTo>
                <a:lnTo>
                  <a:pt x="26" y="60"/>
                </a:lnTo>
                <a:lnTo>
                  <a:pt x="15" y="79"/>
                </a:lnTo>
                <a:lnTo>
                  <a:pt x="7" y="98"/>
                </a:lnTo>
                <a:lnTo>
                  <a:pt x="0" y="121"/>
                </a:lnTo>
                <a:lnTo>
                  <a:pt x="0" y="143"/>
                </a:lnTo>
                <a:lnTo>
                  <a:pt x="0" y="166"/>
                </a:lnTo>
                <a:lnTo>
                  <a:pt x="7" y="189"/>
                </a:lnTo>
                <a:lnTo>
                  <a:pt x="15" y="208"/>
                </a:lnTo>
                <a:lnTo>
                  <a:pt x="26" y="226"/>
                </a:lnTo>
                <a:lnTo>
                  <a:pt x="41" y="242"/>
                </a:lnTo>
                <a:lnTo>
                  <a:pt x="56" y="257"/>
                </a:lnTo>
                <a:lnTo>
                  <a:pt x="75" y="268"/>
                </a:lnTo>
                <a:lnTo>
                  <a:pt x="94" y="276"/>
                </a:lnTo>
                <a:lnTo>
                  <a:pt x="117" y="283"/>
                </a:lnTo>
                <a:lnTo>
                  <a:pt x="140" y="283"/>
                </a:lnTo>
                <a:lnTo>
                  <a:pt x="162" y="283"/>
                </a:lnTo>
                <a:lnTo>
                  <a:pt x="185" y="276"/>
                </a:lnTo>
                <a:lnTo>
                  <a:pt x="208" y="268"/>
                </a:lnTo>
                <a:lnTo>
                  <a:pt x="223" y="257"/>
                </a:lnTo>
                <a:lnTo>
                  <a:pt x="242" y="242"/>
                </a:lnTo>
                <a:lnTo>
                  <a:pt x="257" y="226"/>
                </a:lnTo>
                <a:lnTo>
                  <a:pt x="268" y="208"/>
                </a:lnTo>
                <a:lnTo>
                  <a:pt x="276" y="189"/>
                </a:lnTo>
                <a:lnTo>
                  <a:pt x="279" y="166"/>
                </a:lnTo>
                <a:lnTo>
                  <a:pt x="283" y="143"/>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16" name="Freeform 53">
            <a:extLst>
              <a:ext uri="{FF2B5EF4-FFF2-40B4-BE49-F238E27FC236}">
                <a16:creationId xmlns:a16="http://schemas.microsoft.com/office/drawing/2014/main" id="{008C40DF-F0D4-4454-B3DF-37889EBAB1D2}"/>
              </a:ext>
            </a:extLst>
          </p:cNvPr>
          <p:cNvSpPr>
            <a:spLocks/>
          </p:cNvSpPr>
          <p:nvPr/>
        </p:nvSpPr>
        <p:spPr bwMode="auto">
          <a:xfrm>
            <a:off x="6165851" y="2570163"/>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2147483646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2147483646 w 283"/>
              <a:gd name="T39" fmla="*/ 2147483646 h 284"/>
              <a:gd name="T40" fmla="*/ 0 w 283"/>
              <a:gd name="T41" fmla="*/ 2147483646 h 284"/>
              <a:gd name="T42" fmla="*/ 2147483646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0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83" y="140"/>
                </a:moveTo>
                <a:lnTo>
                  <a:pt x="283" y="167"/>
                </a:lnTo>
                <a:lnTo>
                  <a:pt x="276" y="189"/>
                </a:lnTo>
                <a:lnTo>
                  <a:pt x="268" y="208"/>
                </a:lnTo>
                <a:lnTo>
                  <a:pt x="257" y="227"/>
                </a:lnTo>
                <a:lnTo>
                  <a:pt x="242" y="242"/>
                </a:lnTo>
                <a:lnTo>
                  <a:pt x="227" y="257"/>
                </a:lnTo>
                <a:lnTo>
                  <a:pt x="208" y="269"/>
                </a:lnTo>
                <a:lnTo>
                  <a:pt x="189" y="276"/>
                </a:lnTo>
                <a:lnTo>
                  <a:pt x="166" y="284"/>
                </a:lnTo>
                <a:lnTo>
                  <a:pt x="144" y="284"/>
                </a:lnTo>
                <a:lnTo>
                  <a:pt x="121" y="284"/>
                </a:lnTo>
                <a:lnTo>
                  <a:pt x="98" y="276"/>
                </a:lnTo>
                <a:lnTo>
                  <a:pt x="79" y="269"/>
                </a:lnTo>
                <a:lnTo>
                  <a:pt x="60" y="257"/>
                </a:lnTo>
                <a:lnTo>
                  <a:pt x="42" y="242"/>
                </a:lnTo>
                <a:lnTo>
                  <a:pt x="30" y="227"/>
                </a:lnTo>
                <a:lnTo>
                  <a:pt x="19" y="208"/>
                </a:lnTo>
                <a:lnTo>
                  <a:pt x="8" y="189"/>
                </a:lnTo>
                <a:lnTo>
                  <a:pt x="4" y="167"/>
                </a:lnTo>
                <a:lnTo>
                  <a:pt x="0" y="144"/>
                </a:lnTo>
                <a:lnTo>
                  <a:pt x="4" y="121"/>
                </a:lnTo>
                <a:lnTo>
                  <a:pt x="8" y="99"/>
                </a:lnTo>
                <a:lnTo>
                  <a:pt x="19" y="80"/>
                </a:lnTo>
                <a:lnTo>
                  <a:pt x="30" y="61"/>
                </a:lnTo>
                <a:lnTo>
                  <a:pt x="42" y="42"/>
                </a:lnTo>
                <a:lnTo>
                  <a:pt x="60" y="27"/>
                </a:lnTo>
                <a:lnTo>
                  <a:pt x="79" y="16"/>
                </a:lnTo>
                <a:lnTo>
                  <a:pt x="98" y="8"/>
                </a:lnTo>
                <a:lnTo>
                  <a:pt x="121" y="4"/>
                </a:lnTo>
                <a:lnTo>
                  <a:pt x="144" y="0"/>
                </a:lnTo>
                <a:lnTo>
                  <a:pt x="166" y="4"/>
                </a:lnTo>
                <a:lnTo>
                  <a:pt x="189" y="8"/>
                </a:lnTo>
                <a:lnTo>
                  <a:pt x="208" y="16"/>
                </a:lnTo>
                <a:lnTo>
                  <a:pt x="227" y="27"/>
                </a:lnTo>
                <a:lnTo>
                  <a:pt x="242" y="42"/>
                </a:lnTo>
                <a:lnTo>
                  <a:pt x="257" y="61"/>
                </a:lnTo>
                <a:lnTo>
                  <a:pt x="268" y="80"/>
                </a:lnTo>
                <a:lnTo>
                  <a:pt x="276" y="99"/>
                </a:lnTo>
                <a:lnTo>
                  <a:pt x="283" y="121"/>
                </a:lnTo>
                <a:lnTo>
                  <a:pt x="283" y="144"/>
                </a:lnTo>
                <a:lnTo>
                  <a:pt x="283"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7" name="Freeform 54">
            <a:extLst>
              <a:ext uri="{FF2B5EF4-FFF2-40B4-BE49-F238E27FC236}">
                <a16:creationId xmlns:a16="http://schemas.microsoft.com/office/drawing/2014/main" id="{F9A9BBCB-A046-4D58-B259-857EA181B07C}"/>
              </a:ext>
            </a:extLst>
          </p:cNvPr>
          <p:cNvSpPr>
            <a:spLocks/>
          </p:cNvSpPr>
          <p:nvPr/>
        </p:nvSpPr>
        <p:spPr bwMode="auto">
          <a:xfrm>
            <a:off x="6165851" y="2570163"/>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0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2147483646 w 283"/>
              <a:gd name="T39" fmla="*/ 2147483646 h 284"/>
              <a:gd name="T40" fmla="*/ 0 w 283"/>
              <a:gd name="T41" fmla="*/ 2147483646 h 284"/>
              <a:gd name="T42" fmla="*/ 2147483646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2147483646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83" y="140"/>
                </a:moveTo>
                <a:lnTo>
                  <a:pt x="283" y="121"/>
                </a:lnTo>
                <a:lnTo>
                  <a:pt x="276" y="99"/>
                </a:lnTo>
                <a:lnTo>
                  <a:pt x="268" y="80"/>
                </a:lnTo>
                <a:lnTo>
                  <a:pt x="257" y="61"/>
                </a:lnTo>
                <a:lnTo>
                  <a:pt x="242" y="42"/>
                </a:lnTo>
                <a:lnTo>
                  <a:pt x="227" y="27"/>
                </a:lnTo>
                <a:lnTo>
                  <a:pt x="208" y="16"/>
                </a:lnTo>
                <a:lnTo>
                  <a:pt x="189" y="8"/>
                </a:lnTo>
                <a:lnTo>
                  <a:pt x="166" y="4"/>
                </a:lnTo>
                <a:lnTo>
                  <a:pt x="144" y="0"/>
                </a:lnTo>
                <a:lnTo>
                  <a:pt x="121" y="4"/>
                </a:lnTo>
                <a:lnTo>
                  <a:pt x="98" y="8"/>
                </a:lnTo>
                <a:lnTo>
                  <a:pt x="79" y="16"/>
                </a:lnTo>
                <a:lnTo>
                  <a:pt x="60" y="27"/>
                </a:lnTo>
                <a:lnTo>
                  <a:pt x="42" y="42"/>
                </a:lnTo>
                <a:lnTo>
                  <a:pt x="30" y="61"/>
                </a:lnTo>
                <a:lnTo>
                  <a:pt x="19" y="80"/>
                </a:lnTo>
                <a:lnTo>
                  <a:pt x="8" y="99"/>
                </a:lnTo>
                <a:lnTo>
                  <a:pt x="4" y="121"/>
                </a:lnTo>
                <a:lnTo>
                  <a:pt x="0" y="144"/>
                </a:lnTo>
                <a:lnTo>
                  <a:pt x="4" y="167"/>
                </a:lnTo>
                <a:lnTo>
                  <a:pt x="8" y="189"/>
                </a:lnTo>
                <a:lnTo>
                  <a:pt x="19" y="208"/>
                </a:lnTo>
                <a:lnTo>
                  <a:pt x="30" y="227"/>
                </a:lnTo>
                <a:lnTo>
                  <a:pt x="42" y="242"/>
                </a:lnTo>
                <a:lnTo>
                  <a:pt x="60" y="257"/>
                </a:lnTo>
                <a:lnTo>
                  <a:pt x="79" y="269"/>
                </a:lnTo>
                <a:lnTo>
                  <a:pt x="98" y="276"/>
                </a:lnTo>
                <a:lnTo>
                  <a:pt x="121" y="284"/>
                </a:lnTo>
                <a:lnTo>
                  <a:pt x="144" y="284"/>
                </a:lnTo>
                <a:lnTo>
                  <a:pt x="166" y="284"/>
                </a:lnTo>
                <a:lnTo>
                  <a:pt x="189" y="276"/>
                </a:lnTo>
                <a:lnTo>
                  <a:pt x="208" y="269"/>
                </a:lnTo>
                <a:lnTo>
                  <a:pt x="227" y="257"/>
                </a:lnTo>
                <a:lnTo>
                  <a:pt x="242" y="242"/>
                </a:lnTo>
                <a:lnTo>
                  <a:pt x="257" y="227"/>
                </a:lnTo>
                <a:lnTo>
                  <a:pt x="268" y="208"/>
                </a:lnTo>
                <a:lnTo>
                  <a:pt x="276" y="189"/>
                </a:lnTo>
                <a:lnTo>
                  <a:pt x="283" y="167"/>
                </a:lnTo>
                <a:lnTo>
                  <a:pt x="283"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18" name="Rectangle 57">
            <a:extLst>
              <a:ext uri="{FF2B5EF4-FFF2-40B4-BE49-F238E27FC236}">
                <a16:creationId xmlns:a16="http://schemas.microsoft.com/office/drawing/2014/main" id="{0C6F76D2-05CE-4834-9697-D72D5F5F511B}"/>
              </a:ext>
            </a:extLst>
          </p:cNvPr>
          <p:cNvSpPr>
            <a:spLocks noChangeArrowheads="1"/>
          </p:cNvSpPr>
          <p:nvPr/>
        </p:nvSpPr>
        <p:spPr bwMode="auto">
          <a:xfrm>
            <a:off x="9693276" y="2917826"/>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3</a:t>
            </a:r>
            <a:endParaRPr lang="en-US" altLang="en-US" sz="2000" b="1">
              <a:solidFill>
                <a:srgbClr val="000000"/>
              </a:solidFill>
            </a:endParaRPr>
          </a:p>
        </p:txBody>
      </p:sp>
      <p:sp>
        <p:nvSpPr>
          <p:cNvPr id="24619" name="Rectangle 58">
            <a:extLst>
              <a:ext uri="{FF2B5EF4-FFF2-40B4-BE49-F238E27FC236}">
                <a16:creationId xmlns:a16="http://schemas.microsoft.com/office/drawing/2014/main" id="{802397E6-92D2-40B9-9CE7-CFCF863DE20A}"/>
              </a:ext>
            </a:extLst>
          </p:cNvPr>
          <p:cNvSpPr>
            <a:spLocks noChangeArrowheads="1"/>
          </p:cNvSpPr>
          <p:nvPr/>
        </p:nvSpPr>
        <p:spPr bwMode="auto">
          <a:xfrm>
            <a:off x="3873501" y="2952751"/>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4</a:t>
            </a:r>
            <a:endParaRPr lang="en-US" altLang="en-US" sz="2000" b="1">
              <a:solidFill>
                <a:srgbClr val="000000"/>
              </a:solidFill>
            </a:endParaRPr>
          </a:p>
        </p:txBody>
      </p:sp>
      <p:sp>
        <p:nvSpPr>
          <p:cNvPr id="24620" name="Rectangle 59">
            <a:extLst>
              <a:ext uri="{FF2B5EF4-FFF2-40B4-BE49-F238E27FC236}">
                <a16:creationId xmlns:a16="http://schemas.microsoft.com/office/drawing/2014/main" id="{32929EA3-E8D3-4D5D-BDB9-BD3B5BAC0FEC}"/>
              </a:ext>
            </a:extLst>
          </p:cNvPr>
          <p:cNvSpPr>
            <a:spLocks noChangeArrowheads="1"/>
          </p:cNvSpPr>
          <p:nvPr/>
        </p:nvSpPr>
        <p:spPr bwMode="auto">
          <a:xfrm>
            <a:off x="6321426" y="2697163"/>
            <a:ext cx="1047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24621" name="Freeform 60">
            <a:extLst>
              <a:ext uri="{FF2B5EF4-FFF2-40B4-BE49-F238E27FC236}">
                <a16:creationId xmlns:a16="http://schemas.microsoft.com/office/drawing/2014/main" id="{9A473E24-D9FB-4A1A-B295-CB937C770B20}"/>
              </a:ext>
            </a:extLst>
          </p:cNvPr>
          <p:cNvSpPr>
            <a:spLocks/>
          </p:cNvSpPr>
          <p:nvPr/>
        </p:nvSpPr>
        <p:spPr bwMode="auto">
          <a:xfrm>
            <a:off x="5943600" y="2133600"/>
            <a:ext cx="107950" cy="192088"/>
          </a:xfrm>
          <a:custGeom>
            <a:avLst/>
            <a:gdLst>
              <a:gd name="T0" fmla="*/ 2147483646 w 68"/>
              <a:gd name="T1" fmla="*/ 2147483646 h 121"/>
              <a:gd name="T2" fmla="*/ 2147483646 w 68"/>
              <a:gd name="T3" fmla="*/ 2147483646 h 121"/>
              <a:gd name="T4" fmla="*/ 0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4" y="109"/>
                </a:moveTo>
                <a:lnTo>
                  <a:pt x="4" y="121"/>
                </a:lnTo>
                <a:lnTo>
                  <a:pt x="0" y="0"/>
                </a:lnTo>
                <a:lnTo>
                  <a:pt x="68" y="98"/>
                </a:lnTo>
                <a:lnTo>
                  <a:pt x="38" y="109"/>
                </a:lnTo>
              </a:path>
            </a:pathLst>
          </a:custGeom>
          <a:solidFill>
            <a:srgbClr val="F2F2F2"/>
          </a:solidFill>
          <a:ln w="12700">
            <a:solidFill>
              <a:srgbClr val="000000"/>
            </a:solidFill>
            <a:round/>
            <a:headEnd/>
            <a:tailEnd/>
          </a:ln>
        </p:spPr>
        <p:txBody>
          <a:bodyPr/>
          <a:lstStyle/>
          <a:p>
            <a:endParaRPr lang="en-US"/>
          </a:p>
        </p:txBody>
      </p:sp>
      <p:sp>
        <p:nvSpPr>
          <p:cNvPr id="24622" name="Freeform 61">
            <a:extLst>
              <a:ext uri="{FF2B5EF4-FFF2-40B4-BE49-F238E27FC236}">
                <a16:creationId xmlns:a16="http://schemas.microsoft.com/office/drawing/2014/main" id="{88FE299F-31DD-4976-91C6-7D6294628767}"/>
              </a:ext>
            </a:extLst>
          </p:cNvPr>
          <p:cNvSpPr>
            <a:spLocks/>
          </p:cNvSpPr>
          <p:nvPr/>
        </p:nvSpPr>
        <p:spPr bwMode="auto">
          <a:xfrm>
            <a:off x="5943600" y="2133600"/>
            <a:ext cx="107950" cy="192088"/>
          </a:xfrm>
          <a:custGeom>
            <a:avLst/>
            <a:gdLst>
              <a:gd name="T0" fmla="*/ 2147483646 w 68"/>
              <a:gd name="T1" fmla="*/ 2147483646 h 121"/>
              <a:gd name="T2" fmla="*/ 2147483646 w 68"/>
              <a:gd name="T3" fmla="*/ 2147483646 h 121"/>
              <a:gd name="T4" fmla="*/ 0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4" y="109"/>
                </a:moveTo>
                <a:lnTo>
                  <a:pt x="4" y="121"/>
                </a:lnTo>
                <a:lnTo>
                  <a:pt x="0" y="0"/>
                </a:lnTo>
                <a:lnTo>
                  <a:pt x="68" y="98"/>
                </a:lnTo>
                <a:lnTo>
                  <a:pt x="34" y="109"/>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3" name="Freeform 62">
            <a:extLst>
              <a:ext uri="{FF2B5EF4-FFF2-40B4-BE49-F238E27FC236}">
                <a16:creationId xmlns:a16="http://schemas.microsoft.com/office/drawing/2014/main" id="{36BBA848-1D6C-42D1-8916-25494FDC4F80}"/>
              </a:ext>
            </a:extLst>
          </p:cNvPr>
          <p:cNvSpPr>
            <a:spLocks/>
          </p:cNvSpPr>
          <p:nvPr/>
        </p:nvSpPr>
        <p:spPr bwMode="auto">
          <a:xfrm>
            <a:off x="6003926" y="2312988"/>
            <a:ext cx="168275" cy="2487612"/>
          </a:xfrm>
          <a:custGeom>
            <a:avLst/>
            <a:gdLst>
              <a:gd name="T0" fmla="*/ 2147483646 w 64"/>
              <a:gd name="T1" fmla="*/ 2147483646 h 937"/>
              <a:gd name="T2" fmla="*/ 2147483646 w 64"/>
              <a:gd name="T3" fmla="*/ 2147483646 h 937"/>
              <a:gd name="T4" fmla="*/ 2147483646 w 64"/>
              <a:gd name="T5" fmla="*/ 2147483646 h 937"/>
              <a:gd name="T6" fmla="*/ 2147483646 w 64"/>
              <a:gd name="T7" fmla="*/ 2147483646 h 937"/>
              <a:gd name="T8" fmla="*/ 2147483646 w 64"/>
              <a:gd name="T9" fmla="*/ 2147483646 h 937"/>
              <a:gd name="T10" fmla="*/ 2147483646 w 64"/>
              <a:gd name="T11" fmla="*/ 2147483646 h 937"/>
              <a:gd name="T12" fmla="*/ 2147483646 w 64"/>
              <a:gd name="T13" fmla="*/ 2147483646 h 937"/>
              <a:gd name="T14" fmla="*/ 2147483646 w 64"/>
              <a:gd name="T15" fmla="*/ 2147483646 h 937"/>
              <a:gd name="T16" fmla="*/ 2147483646 w 64"/>
              <a:gd name="T17" fmla="*/ 2147483646 h 937"/>
              <a:gd name="T18" fmla="*/ 2147483646 w 64"/>
              <a:gd name="T19" fmla="*/ 2147483646 h 937"/>
              <a:gd name="T20" fmla="*/ 0 w 64"/>
              <a:gd name="T21" fmla="*/ 0 h 9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
              <a:gd name="T34" fmla="*/ 0 h 937"/>
              <a:gd name="T35" fmla="*/ 64 w 64"/>
              <a:gd name="T36" fmla="*/ 937 h 9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 h="937">
                <a:moveTo>
                  <a:pt x="45" y="937"/>
                </a:moveTo>
                <a:lnTo>
                  <a:pt x="53" y="846"/>
                </a:lnTo>
                <a:lnTo>
                  <a:pt x="57" y="752"/>
                </a:lnTo>
                <a:lnTo>
                  <a:pt x="60" y="657"/>
                </a:lnTo>
                <a:lnTo>
                  <a:pt x="64" y="563"/>
                </a:lnTo>
                <a:lnTo>
                  <a:pt x="64" y="465"/>
                </a:lnTo>
                <a:lnTo>
                  <a:pt x="60" y="370"/>
                </a:lnTo>
                <a:lnTo>
                  <a:pt x="53" y="276"/>
                </a:lnTo>
                <a:lnTo>
                  <a:pt x="42" y="181"/>
                </a:lnTo>
                <a:lnTo>
                  <a:pt x="23" y="91"/>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24" name="Rectangle 63">
            <a:extLst>
              <a:ext uri="{FF2B5EF4-FFF2-40B4-BE49-F238E27FC236}">
                <a16:creationId xmlns:a16="http://schemas.microsoft.com/office/drawing/2014/main" id="{450D9512-C174-4CD0-897D-2422CE39983D}"/>
              </a:ext>
            </a:extLst>
          </p:cNvPr>
          <p:cNvSpPr>
            <a:spLocks noChangeArrowheads="1"/>
          </p:cNvSpPr>
          <p:nvPr/>
        </p:nvSpPr>
        <p:spPr bwMode="auto">
          <a:xfrm>
            <a:off x="6196013" y="2282826"/>
            <a:ext cx="110608" cy="246221"/>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3333CC"/>
              </a:solidFill>
            </a:endParaRPr>
          </a:p>
        </p:txBody>
      </p:sp>
      <p:sp>
        <p:nvSpPr>
          <p:cNvPr id="24625" name="Rectangle 64">
            <a:extLst>
              <a:ext uri="{FF2B5EF4-FFF2-40B4-BE49-F238E27FC236}">
                <a16:creationId xmlns:a16="http://schemas.microsoft.com/office/drawing/2014/main" id="{201585E9-9C8D-413B-BDEF-1EC190FA6B2A}"/>
              </a:ext>
            </a:extLst>
          </p:cNvPr>
          <p:cNvSpPr>
            <a:spLocks noChangeArrowheads="1"/>
          </p:cNvSpPr>
          <p:nvPr/>
        </p:nvSpPr>
        <p:spPr bwMode="auto">
          <a:xfrm>
            <a:off x="6303963" y="2282826"/>
            <a:ext cx="290512" cy="2460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a:t>
            </a:r>
            <a:endParaRPr lang="en-US" altLang="en-US" sz="2000" b="1">
              <a:solidFill>
                <a:srgbClr val="3333CC"/>
              </a:solidFill>
            </a:endParaRPr>
          </a:p>
        </p:txBody>
      </p:sp>
      <p:sp>
        <p:nvSpPr>
          <p:cNvPr id="24626" name="Rectangle 65">
            <a:extLst>
              <a:ext uri="{FF2B5EF4-FFF2-40B4-BE49-F238E27FC236}">
                <a16:creationId xmlns:a16="http://schemas.microsoft.com/office/drawing/2014/main" id="{C7A9B6A9-A4B6-443E-BF2F-4EFDB3FEE44B}"/>
              </a:ext>
            </a:extLst>
          </p:cNvPr>
          <p:cNvSpPr>
            <a:spLocks noChangeArrowheads="1"/>
          </p:cNvSpPr>
          <p:nvPr/>
        </p:nvSpPr>
        <p:spPr bwMode="auto">
          <a:xfrm>
            <a:off x="3808413" y="2486026"/>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4627" name="Rectangle 66">
            <a:extLst>
              <a:ext uri="{FF2B5EF4-FFF2-40B4-BE49-F238E27FC236}">
                <a16:creationId xmlns:a16="http://schemas.microsoft.com/office/drawing/2014/main" id="{4BFA8D71-978E-462C-BED7-711BBE4DFEE5}"/>
              </a:ext>
            </a:extLst>
          </p:cNvPr>
          <p:cNvSpPr>
            <a:spLocks noChangeArrowheads="1"/>
          </p:cNvSpPr>
          <p:nvPr/>
        </p:nvSpPr>
        <p:spPr bwMode="auto">
          <a:xfrm>
            <a:off x="3921126" y="2486026"/>
            <a:ext cx="29051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a:t>
            </a:r>
            <a:endParaRPr lang="en-US" altLang="en-US" sz="2000" b="1">
              <a:solidFill>
                <a:srgbClr val="000000"/>
              </a:solidFill>
            </a:endParaRPr>
          </a:p>
        </p:txBody>
      </p:sp>
      <p:sp>
        <p:nvSpPr>
          <p:cNvPr id="24628" name="Rectangle 73">
            <a:extLst>
              <a:ext uri="{FF2B5EF4-FFF2-40B4-BE49-F238E27FC236}">
                <a16:creationId xmlns:a16="http://schemas.microsoft.com/office/drawing/2014/main" id="{39C08316-4FC2-42FB-B634-E9522FA6B400}"/>
              </a:ext>
            </a:extLst>
          </p:cNvPr>
          <p:cNvSpPr>
            <a:spLocks noChangeArrowheads="1"/>
          </p:cNvSpPr>
          <p:nvPr/>
        </p:nvSpPr>
        <p:spPr bwMode="auto">
          <a:xfrm>
            <a:off x="9471025" y="25400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4629" name="Rectangle 74">
            <a:extLst>
              <a:ext uri="{FF2B5EF4-FFF2-40B4-BE49-F238E27FC236}">
                <a16:creationId xmlns:a16="http://schemas.microsoft.com/office/drawing/2014/main" id="{5E7A1764-C882-40BD-9B1C-612166D545BE}"/>
              </a:ext>
            </a:extLst>
          </p:cNvPr>
          <p:cNvSpPr>
            <a:spLocks noChangeArrowheads="1"/>
          </p:cNvSpPr>
          <p:nvPr/>
        </p:nvSpPr>
        <p:spPr bwMode="auto">
          <a:xfrm>
            <a:off x="9578975" y="2540001"/>
            <a:ext cx="2984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7</a:t>
            </a:r>
            <a:endParaRPr lang="en-US" altLang="en-US" sz="2000" b="1">
              <a:solidFill>
                <a:srgbClr val="000000"/>
              </a:solidFill>
            </a:endParaRPr>
          </a:p>
        </p:txBody>
      </p:sp>
      <p:cxnSp>
        <p:nvCxnSpPr>
          <p:cNvPr id="24630" name="Curved Connector 118">
            <a:extLst>
              <a:ext uri="{FF2B5EF4-FFF2-40B4-BE49-F238E27FC236}">
                <a16:creationId xmlns:a16="http://schemas.microsoft.com/office/drawing/2014/main" id="{E9244EF5-FA6E-43A0-8EF3-8D7D1BA0FA23}"/>
              </a:ext>
            </a:extLst>
          </p:cNvPr>
          <p:cNvCxnSpPr>
            <a:cxnSpLocks noChangeShapeType="1"/>
          </p:cNvCxnSpPr>
          <p:nvPr/>
        </p:nvCxnSpPr>
        <p:spPr bwMode="auto">
          <a:xfrm rot="10800000" flipV="1">
            <a:off x="7467600" y="3657600"/>
            <a:ext cx="1752600" cy="1676400"/>
          </a:xfrm>
          <a:prstGeom prst="curvedConnector3">
            <a:avLst>
              <a:gd name="adj1" fmla="val 50000"/>
            </a:avLst>
          </a:prstGeom>
          <a:noFill/>
          <a:ln w="17463">
            <a:solidFill>
              <a:schemeClr val="tx1"/>
            </a:solidFill>
            <a:round/>
            <a:headEnd/>
            <a:tailEnd type="arrow" w="med" len="med"/>
          </a:ln>
          <a:extLst>
            <a:ext uri="{909E8E84-426E-40DD-AFC4-6F175D3DCCD1}">
              <a14:hiddenFill xmlns:a14="http://schemas.microsoft.com/office/drawing/2010/main">
                <a:noFill/>
              </a14:hiddenFill>
            </a:ext>
          </a:extLst>
        </p:spPr>
      </p:cxnSp>
      <p:sp>
        <p:nvSpPr>
          <p:cNvPr id="24631" name="Slide Number Placeholder 1">
            <a:extLst>
              <a:ext uri="{FF2B5EF4-FFF2-40B4-BE49-F238E27FC236}">
                <a16:creationId xmlns:a16="http://schemas.microsoft.com/office/drawing/2014/main" id="{5AAFC459-0A90-4479-BB66-423BDB2CA543}"/>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116</a:t>
            </a:fld>
            <a:endParaRPr kumimoji="0" lang="en-US" altLang="en-US" sz="1400">
              <a:latin typeface="Arial" panose="020B0604020202020204" pitchFamily="3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C69EC056-2DFF-41EA-84C1-C98E3E6C6A02}"/>
              </a:ext>
            </a:extLst>
          </p:cNvPr>
          <p:cNvSpPr>
            <a:spLocks noGrp="1" noChangeArrowheads="1"/>
          </p:cNvSpPr>
          <p:nvPr>
            <p:ph type="title"/>
          </p:nvPr>
        </p:nvSpPr>
        <p:spPr>
          <a:xfrm>
            <a:off x="1623622" y="7088"/>
            <a:ext cx="8944756" cy="789960"/>
          </a:xfrm>
          <a:noFill/>
        </p:spPr>
        <p:txBody>
          <a:bodyPr vert="horz" wrap="none" lIns="63500" tIns="25400" rIns="63500" bIns="25400" numCol="1" anchor="t" anchorCtr="0" compatLnSpc="1">
            <a:prstTxWarp prst="textNoShape">
              <a:avLst/>
            </a:prstTxWarp>
            <a:spAutoFit/>
          </a:bodyPr>
          <a:lstStyle/>
          <a:p>
            <a:pPr eaLnBrk="1" hangingPunct="1"/>
            <a:r>
              <a:rPr lang="en-US" altLang="en-US" dirty="0">
                <a:solidFill>
                  <a:srgbClr val="00B0F0"/>
                </a:solidFill>
              </a:rPr>
              <a:t>Snoopy</a:t>
            </a:r>
            <a:r>
              <a:rPr lang="en-US" altLang="en-US" dirty="0"/>
              <a:t> Cache Coherence Schemes</a:t>
            </a:r>
          </a:p>
        </p:txBody>
      </p:sp>
      <p:sp>
        <p:nvSpPr>
          <p:cNvPr id="50178" name="Rectangle 3">
            <a:extLst>
              <a:ext uri="{FF2B5EF4-FFF2-40B4-BE49-F238E27FC236}">
                <a16:creationId xmlns:a16="http://schemas.microsoft.com/office/drawing/2014/main" id="{829C56BB-86F2-4CA2-B93E-9E3A576C4606}"/>
              </a:ext>
            </a:extLst>
          </p:cNvPr>
          <p:cNvSpPr>
            <a:spLocks noGrp="1" noChangeArrowheads="1"/>
          </p:cNvSpPr>
          <p:nvPr>
            <p:ph idx="1"/>
          </p:nvPr>
        </p:nvSpPr>
        <p:spPr>
          <a:xfrm>
            <a:off x="322328" y="965053"/>
            <a:ext cx="11057861" cy="5085551"/>
          </a:xfrm>
        </p:spPr>
        <p:txBody>
          <a:bodyPr vert="horz" wrap="square" lIns="90488" tIns="44450" rIns="90488" bIns="44450" numCol="1" anchor="t" anchorCtr="0" compatLnSpc="1">
            <a:prstTxWarp prst="textNoShape">
              <a:avLst/>
            </a:prstTxWarp>
          </a:bodyPr>
          <a:lstStyle/>
          <a:p>
            <a:pPr eaLnBrk="1" hangingPunct="1"/>
            <a:r>
              <a:rPr lang="en-US" altLang="en-US" sz="3200" dirty="0"/>
              <a:t>Basic Idea:</a:t>
            </a:r>
          </a:p>
          <a:p>
            <a:pPr lvl="1" eaLnBrk="1" hangingPunct="1"/>
            <a:r>
              <a:rPr lang="en-US" altLang="en-US" sz="2400" dirty="0">
                <a:cs typeface="Calibri" panose="020F0502020204030204" pitchFamily="34" charset="0"/>
              </a:rPr>
              <a:t>All coherence-related activities are </a:t>
            </a:r>
            <a:r>
              <a:rPr lang="en-US" altLang="en-US" sz="2400" dirty="0">
                <a:solidFill>
                  <a:srgbClr val="000000"/>
                </a:solidFill>
                <a:cs typeface="Calibri" panose="020F0502020204030204" pitchFamily="34" charset="0"/>
              </a:rPr>
              <a:t>broadcast to all processors</a:t>
            </a:r>
          </a:p>
          <a:p>
            <a:pPr lvl="2" eaLnBrk="1" hangingPunct="1"/>
            <a:r>
              <a:rPr lang="en-US" altLang="en-US" sz="2000" dirty="0"/>
              <a:t>e.g., on a </a:t>
            </a:r>
            <a:r>
              <a:rPr lang="en-US" altLang="en-US" sz="2000" b="1" dirty="0"/>
              <a:t>global bus</a:t>
            </a:r>
          </a:p>
          <a:p>
            <a:pPr lvl="1" eaLnBrk="1" hangingPunct="1"/>
            <a:r>
              <a:rPr lang="en-US" altLang="en-US" sz="2400" dirty="0">
                <a:cs typeface="Calibri" panose="020F0502020204030204" pitchFamily="34" charset="0"/>
              </a:rPr>
              <a:t>Each processor (i.e. cache controller) monitors (aka</a:t>
            </a:r>
            <a:r>
              <a:rPr lang="ja-JP" altLang="en-US" sz="2400" dirty="0">
                <a:cs typeface="Calibri" panose="020F0502020204030204" pitchFamily="34" charset="0"/>
              </a:rPr>
              <a:t>“</a:t>
            </a:r>
            <a:r>
              <a:rPr lang="en-US" altLang="ja-JP" sz="2400" dirty="0">
                <a:cs typeface="Calibri" panose="020F0502020204030204" pitchFamily="34" charset="0"/>
              </a:rPr>
              <a:t>snoops”) these actions and reacts to those relevant to current contents of its cache</a:t>
            </a:r>
          </a:p>
          <a:p>
            <a:pPr lvl="2" eaLnBrk="1" hangingPunct="1"/>
            <a:r>
              <a:rPr lang="en-US" altLang="en-US" sz="2000" dirty="0"/>
              <a:t>Examples: </a:t>
            </a:r>
          </a:p>
          <a:p>
            <a:pPr lvl="3" eaLnBrk="1" hangingPunct="1"/>
            <a:r>
              <a:rPr lang="en-US" altLang="en-US" dirty="0">
                <a:cs typeface="Calibri" panose="020F0502020204030204" pitchFamily="34" charset="0"/>
              </a:rPr>
              <a:t>If one processor wishes to write to a cache line, it needs to</a:t>
            </a:r>
            <a:r>
              <a:rPr lang="ja-JP" altLang="en-US" dirty="0">
                <a:cs typeface="Calibri" panose="020F0502020204030204" pitchFamily="34" charset="0"/>
              </a:rPr>
              <a:t>“</a:t>
            </a:r>
            <a:r>
              <a:rPr lang="en-US" altLang="ja-JP" dirty="0">
                <a:cs typeface="Calibri" panose="020F0502020204030204" pitchFamily="34" charset="0"/>
              </a:rPr>
              <a:t>invalidate</a:t>
            </a:r>
            <a:r>
              <a:rPr lang="ja-JP" altLang="en-US" dirty="0">
                <a:cs typeface="Calibri" panose="020F0502020204030204" pitchFamily="34" charset="0"/>
              </a:rPr>
              <a:t>”</a:t>
            </a:r>
            <a:r>
              <a:rPr lang="en-US" altLang="ja-JP" dirty="0">
                <a:cs typeface="Calibri" panose="020F0502020204030204" pitchFamily="34" charset="0"/>
              </a:rPr>
              <a:t> all copies in other caches</a:t>
            </a:r>
          </a:p>
          <a:p>
            <a:pPr lvl="3" eaLnBrk="1" hangingPunct="1"/>
            <a:r>
              <a:rPr lang="en-US" altLang="en-US" dirty="0">
                <a:cs typeface="Calibri" panose="020F0502020204030204" pitchFamily="34" charset="0"/>
              </a:rPr>
              <a:t>If another processor wishes to read a line for which </a:t>
            </a:r>
            <a:r>
              <a:rPr lang="en-US" altLang="en-US" dirty="0"/>
              <a:t>this cache</a:t>
            </a:r>
            <a:r>
              <a:rPr lang="en-US" altLang="en-US" dirty="0">
                <a:cs typeface="Calibri" panose="020F0502020204030204" pitchFamily="34" charset="0"/>
              </a:rPr>
              <a:t> has a dirty copy, it needs to supply and share the copy</a:t>
            </a:r>
            <a:endParaRPr lang="en-US" altLang="en-US" dirty="0"/>
          </a:p>
          <a:p>
            <a:pPr eaLnBrk="1" hangingPunct="1"/>
            <a:r>
              <a:rPr lang="en-US" altLang="en-US" sz="2000" dirty="0"/>
              <a:t>Example machines: </a:t>
            </a:r>
          </a:p>
          <a:p>
            <a:pPr lvl="1" eaLnBrk="1" hangingPunct="1"/>
            <a:r>
              <a:rPr lang="en-US" altLang="en-US" sz="2000" dirty="0">
                <a:cs typeface="Calibri" panose="020F0502020204030204" pitchFamily="34" charset="0"/>
              </a:rPr>
              <a:t>SGI Challenge, SUN Enterprise, multiprocessor PCs, etc.</a:t>
            </a:r>
          </a:p>
        </p:txBody>
      </p:sp>
      <p:sp>
        <p:nvSpPr>
          <p:cNvPr id="41987" name="Slide Number Placeholder 1">
            <a:extLst>
              <a:ext uri="{FF2B5EF4-FFF2-40B4-BE49-F238E27FC236}">
                <a16:creationId xmlns:a16="http://schemas.microsoft.com/office/drawing/2014/main" id="{F7B919ED-E765-4268-BAF0-1FD76FC1282A}"/>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117</a:t>
            </a:fld>
            <a:endParaRPr kumimoji="0" lang="en-US" altLang="en-US" sz="1400">
              <a:latin typeface="Arial" panose="020B0604020202020204" pitchFamily="34" charset="0"/>
            </a:endParaRPr>
          </a:p>
        </p:txBody>
      </p:sp>
      <p:pic>
        <p:nvPicPr>
          <p:cNvPr id="3" name="Picture 2">
            <a:extLst>
              <a:ext uri="{FF2B5EF4-FFF2-40B4-BE49-F238E27FC236}">
                <a16:creationId xmlns:a16="http://schemas.microsoft.com/office/drawing/2014/main" id="{8DFDE0D2-E2CC-4DE2-B2FC-9BDEE4F2C459}"/>
              </a:ext>
            </a:extLst>
          </p:cNvPr>
          <p:cNvPicPr>
            <a:picLocks noChangeAspect="1"/>
          </p:cNvPicPr>
          <p:nvPr/>
        </p:nvPicPr>
        <p:blipFill>
          <a:blip r:embed="rId3"/>
          <a:stretch>
            <a:fillRect/>
          </a:stretch>
        </p:blipFill>
        <p:spPr>
          <a:xfrm>
            <a:off x="10568378" y="175093"/>
            <a:ext cx="1623622" cy="20882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178">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0178">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0178">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0178">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0178">
                                            <p:txEl>
                                              <p:pRg st="6" end="6"/>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50178">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17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644C65B9-1553-49EB-8E39-665F89CBC2B6}"/>
              </a:ext>
            </a:extLst>
          </p:cNvPr>
          <p:cNvSpPr>
            <a:spLocks noGrp="1" noChangeArrowheads="1"/>
          </p:cNvSpPr>
          <p:nvPr>
            <p:ph type="title"/>
          </p:nvPr>
        </p:nvSpPr>
        <p:spPr>
          <a:xfrm>
            <a:off x="1020726" y="304800"/>
            <a:ext cx="10717618" cy="573088"/>
          </a:xfrm>
        </p:spPr>
        <p:txBody>
          <a:bodyPr/>
          <a:lstStyle/>
          <a:p>
            <a:pPr eaLnBrk="1" hangingPunct="1"/>
            <a:r>
              <a:rPr lang="en-US" altLang="en-US" dirty="0"/>
              <a:t>Implementing a </a:t>
            </a:r>
            <a:r>
              <a:rPr lang="en-US" altLang="en-US" dirty="0">
                <a:solidFill>
                  <a:srgbClr val="00B0F0"/>
                </a:solidFill>
              </a:rPr>
              <a:t>Snoopy</a:t>
            </a:r>
            <a:r>
              <a:rPr lang="en-US" altLang="en-US" dirty="0"/>
              <a:t> Protocol</a:t>
            </a:r>
          </a:p>
        </p:txBody>
      </p:sp>
      <p:sp>
        <p:nvSpPr>
          <p:cNvPr id="52226" name="Rectangle 3">
            <a:extLst>
              <a:ext uri="{FF2B5EF4-FFF2-40B4-BE49-F238E27FC236}">
                <a16:creationId xmlns:a16="http://schemas.microsoft.com/office/drawing/2014/main" id="{68FB8D89-9C9D-4EFD-A526-28ABC086596C}"/>
              </a:ext>
            </a:extLst>
          </p:cNvPr>
          <p:cNvSpPr>
            <a:spLocks noGrp="1" noChangeArrowheads="1"/>
          </p:cNvSpPr>
          <p:nvPr>
            <p:ph idx="1"/>
          </p:nvPr>
        </p:nvSpPr>
        <p:spPr>
          <a:xfrm>
            <a:off x="274674" y="987425"/>
            <a:ext cx="11642651" cy="5257800"/>
          </a:xfrm>
        </p:spPr>
        <p:txBody>
          <a:bodyPr/>
          <a:lstStyle/>
          <a:p>
            <a:pPr eaLnBrk="1" hangingPunct="1"/>
            <a:r>
              <a:rPr lang="en-US" altLang="en-US" sz="3200" b="0" dirty="0"/>
              <a:t>Cache controller receives inputs from both sides:</a:t>
            </a:r>
            <a:r>
              <a:rPr lang="en-US" altLang="en-US" b="0" dirty="0"/>
              <a:t> </a:t>
            </a:r>
          </a:p>
          <a:p>
            <a:pPr lvl="1">
              <a:spcBef>
                <a:spcPts val="600"/>
              </a:spcBef>
            </a:pPr>
            <a:r>
              <a:rPr lang="en-US" altLang="en-US" sz="2800" b="0" dirty="0">
                <a:cs typeface="Calibri" panose="020F0502020204030204" pitchFamily="34" charset="0"/>
              </a:rPr>
              <a:t>Requests from processor,</a:t>
            </a:r>
          </a:p>
          <a:p>
            <a:pPr lvl="1">
              <a:spcBef>
                <a:spcPts val="600"/>
              </a:spcBef>
            </a:pPr>
            <a:r>
              <a:rPr lang="en-US" altLang="en-US" sz="2800" b="0" dirty="0">
                <a:cs typeface="Calibri" panose="020F0502020204030204" pitchFamily="34" charset="0"/>
              </a:rPr>
              <a:t>Bus requests/responses from snooper in cache controller</a:t>
            </a:r>
          </a:p>
          <a:p>
            <a:pPr eaLnBrk="1" hangingPunct="1"/>
            <a:r>
              <a:rPr lang="en-US" altLang="en-US" sz="3200" b="0" dirty="0"/>
              <a:t>In either case, takes zero or more actions</a:t>
            </a:r>
          </a:p>
          <a:p>
            <a:pPr lvl="1">
              <a:spcBef>
                <a:spcPts val="600"/>
              </a:spcBef>
            </a:pPr>
            <a:r>
              <a:rPr lang="en-US" altLang="en-US" sz="2800" b="0" dirty="0">
                <a:cs typeface="Calibri" panose="020F0502020204030204" pitchFamily="34" charset="0"/>
              </a:rPr>
              <a:t>Updates state, responds with data, generates new bus transactions</a:t>
            </a:r>
          </a:p>
          <a:p>
            <a:pPr eaLnBrk="1" hangingPunct="1"/>
            <a:r>
              <a:rPr lang="en-US" altLang="en-US" sz="3200" b="0" dirty="0"/>
              <a:t>Protocol is a </a:t>
            </a:r>
            <a:r>
              <a:rPr lang="en-US" altLang="en-US" sz="3200" dirty="0"/>
              <a:t>distributed algorithm</a:t>
            </a:r>
            <a:r>
              <a:rPr lang="en-US" altLang="en-US" sz="3200" b="0" dirty="0"/>
              <a:t>: cooperating state machines</a:t>
            </a:r>
          </a:p>
          <a:p>
            <a:pPr lvl="1">
              <a:spcBef>
                <a:spcPts val="600"/>
              </a:spcBef>
            </a:pPr>
            <a:r>
              <a:rPr lang="en-US" altLang="en-US" sz="2800" b="0" dirty="0">
                <a:cs typeface="Calibri" panose="020F0502020204030204" pitchFamily="34" charset="0"/>
              </a:rPr>
              <a:t>Set of states, state transition diagram, actions </a:t>
            </a:r>
          </a:p>
          <a:p>
            <a:pPr eaLnBrk="1" hangingPunct="1"/>
            <a:r>
              <a:rPr lang="en-US" altLang="en-US" sz="3200" b="0" dirty="0"/>
              <a:t>Granularity of coherence is a </a:t>
            </a:r>
            <a:r>
              <a:rPr lang="en-US" altLang="en-US" sz="3200" dirty="0"/>
              <a:t>cache block</a:t>
            </a:r>
          </a:p>
          <a:p>
            <a:pPr lvl="1">
              <a:spcBef>
                <a:spcPts val="600"/>
              </a:spcBef>
            </a:pPr>
            <a:r>
              <a:rPr lang="en-US" altLang="en-US" sz="2800" b="0" dirty="0">
                <a:cs typeface="Calibri" panose="020F0502020204030204" pitchFamily="34" charset="0"/>
              </a:rPr>
              <a:t>Similar to allocation in cache and transfer to/from cache</a:t>
            </a:r>
          </a:p>
        </p:txBody>
      </p:sp>
      <p:sp>
        <p:nvSpPr>
          <p:cNvPr id="44035" name="Slide Number Placeholder 1">
            <a:extLst>
              <a:ext uri="{FF2B5EF4-FFF2-40B4-BE49-F238E27FC236}">
                <a16:creationId xmlns:a16="http://schemas.microsoft.com/office/drawing/2014/main" id="{CF0CE16A-4CB9-44C3-BCAD-5D1B5248B2DD}"/>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118</a:t>
            </a:fld>
            <a:endParaRPr kumimoji="0" lang="en-US" altLang="en-US" sz="1400">
              <a:latin typeface="Arial" panose="020B0604020202020204" pitchFamily="34" charset="0"/>
            </a:endParaRPr>
          </a:p>
        </p:txBody>
      </p:sp>
      <p:sp>
        <p:nvSpPr>
          <p:cNvPr id="2" name="TextBox 1">
            <a:extLst>
              <a:ext uri="{FF2B5EF4-FFF2-40B4-BE49-F238E27FC236}">
                <a16:creationId xmlns:a16="http://schemas.microsoft.com/office/drawing/2014/main" id="{04394D4D-23A6-46BC-B684-79814F792422}"/>
              </a:ext>
            </a:extLst>
          </p:cNvPr>
          <p:cNvSpPr txBox="1"/>
          <p:nvPr/>
        </p:nvSpPr>
        <p:spPr>
          <a:xfrm>
            <a:off x="9780502" y="185173"/>
            <a:ext cx="2270173" cy="2677656"/>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MESI protocol</a:t>
            </a:r>
          </a:p>
          <a:p>
            <a:r>
              <a:rPr lang="en-US" sz="2400" dirty="0">
                <a:ea typeface="標楷體" pitchFamily="65" charset="-120"/>
                <a:cs typeface="Calibri" pitchFamily="34" charset="0"/>
              </a:rPr>
              <a:t>four states:</a:t>
            </a:r>
          </a:p>
          <a:p>
            <a:endParaRPr lang="en-US" sz="2400" dirty="0">
              <a:ea typeface="標楷體" pitchFamily="65" charset="-120"/>
              <a:cs typeface="Calibri" pitchFamily="34" charset="0"/>
            </a:endParaRPr>
          </a:p>
          <a:p>
            <a:r>
              <a:rPr lang="en-US" sz="2400" dirty="0">
                <a:ea typeface="標楷體" pitchFamily="65" charset="-120"/>
                <a:cs typeface="Calibri" pitchFamily="34" charset="0"/>
              </a:rPr>
              <a:t>M: Modify state</a:t>
            </a:r>
          </a:p>
          <a:p>
            <a:r>
              <a:rPr lang="en-US" sz="2400" dirty="0">
                <a:ea typeface="標楷體" pitchFamily="65" charset="-120"/>
                <a:cs typeface="Calibri" pitchFamily="34" charset="0"/>
              </a:rPr>
              <a:t>E: Exclusive</a:t>
            </a:r>
          </a:p>
          <a:p>
            <a:r>
              <a:rPr lang="en-US" sz="2400" dirty="0">
                <a:ea typeface="標楷體" pitchFamily="65" charset="-120"/>
                <a:cs typeface="Calibri" pitchFamily="34" charset="0"/>
              </a:rPr>
              <a:t>S: shared</a:t>
            </a:r>
          </a:p>
          <a:p>
            <a:r>
              <a:rPr lang="en-US" sz="2400" dirty="0">
                <a:ea typeface="標楷體" pitchFamily="65" charset="-120"/>
                <a:cs typeface="Calibri" pitchFamily="34" charset="0"/>
              </a:rPr>
              <a:t>I: invalid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644C65B9-1553-49EB-8E39-665F89CBC2B6}"/>
              </a:ext>
            </a:extLst>
          </p:cNvPr>
          <p:cNvSpPr>
            <a:spLocks noGrp="1" noChangeArrowheads="1"/>
          </p:cNvSpPr>
          <p:nvPr>
            <p:ph type="title"/>
          </p:nvPr>
        </p:nvSpPr>
        <p:spPr>
          <a:xfrm>
            <a:off x="1020726" y="304800"/>
            <a:ext cx="10717618" cy="573088"/>
          </a:xfrm>
        </p:spPr>
        <p:txBody>
          <a:bodyPr/>
          <a:lstStyle/>
          <a:p>
            <a:pPr eaLnBrk="1" hangingPunct="1"/>
            <a:r>
              <a:rPr lang="en-US" altLang="en-US" dirty="0"/>
              <a:t>Directory Based Cache Coherency</a:t>
            </a:r>
          </a:p>
        </p:txBody>
      </p:sp>
      <p:sp>
        <p:nvSpPr>
          <p:cNvPr id="52226" name="Rectangle 3">
            <a:extLst>
              <a:ext uri="{FF2B5EF4-FFF2-40B4-BE49-F238E27FC236}">
                <a16:creationId xmlns:a16="http://schemas.microsoft.com/office/drawing/2014/main" id="{68FB8D89-9C9D-4EFD-A526-28ABC086596C}"/>
              </a:ext>
            </a:extLst>
          </p:cNvPr>
          <p:cNvSpPr>
            <a:spLocks noGrp="1" noChangeArrowheads="1"/>
          </p:cNvSpPr>
          <p:nvPr>
            <p:ph idx="1"/>
          </p:nvPr>
        </p:nvSpPr>
        <p:spPr>
          <a:xfrm>
            <a:off x="274674" y="987425"/>
            <a:ext cx="11642651" cy="5257800"/>
          </a:xfrm>
        </p:spPr>
        <p:txBody>
          <a:bodyPr/>
          <a:lstStyle/>
          <a:p>
            <a:pPr eaLnBrk="1" hangingPunct="1"/>
            <a:r>
              <a:rPr lang="en-US" altLang="en-US" sz="2800" b="0" dirty="0">
                <a:cs typeface="Calibri" panose="020F0502020204030204" pitchFamily="34" charset="0"/>
              </a:rPr>
              <a:t>Snoopy cache protocol is not scalable</a:t>
            </a:r>
          </a:p>
          <a:p>
            <a:pPr lvl="1"/>
            <a:r>
              <a:rPr lang="en-US" altLang="en-US" sz="2267" dirty="0">
                <a:cs typeface="Calibri" panose="020F0502020204030204" pitchFamily="34" charset="0"/>
              </a:rPr>
              <a:t>Because they rely on a global bus</a:t>
            </a:r>
          </a:p>
          <a:p>
            <a:r>
              <a:rPr lang="en-US" altLang="en-US" sz="2800" b="0" dirty="0">
                <a:cs typeface="Calibri" panose="020F0502020204030204" pitchFamily="34" charset="0"/>
              </a:rPr>
              <a:t>For a larger system with hundreds or thousands of processors</a:t>
            </a:r>
          </a:p>
          <a:p>
            <a:pPr lvl="1"/>
            <a:r>
              <a:rPr lang="en-US" altLang="en-US" sz="2267" dirty="0">
                <a:cs typeface="Calibri" panose="020F0502020204030204" pitchFamily="34" charset="0"/>
              </a:rPr>
              <a:t> A centralized or distributed directory keeps track of which processors have copies of a particular cache line. When a processor wants to access a cache line, it consults the directory to determine the line's state and the location of other copies.</a:t>
            </a:r>
          </a:p>
          <a:p>
            <a:r>
              <a:rPr lang="en-US" altLang="en-US" sz="2800" b="0" dirty="0">
                <a:cs typeface="Calibri" panose="020F0502020204030204" pitchFamily="34" charset="0"/>
              </a:rPr>
              <a:t>Advantages:</a:t>
            </a:r>
          </a:p>
          <a:p>
            <a:pPr lvl="1"/>
            <a:r>
              <a:rPr lang="en-US" altLang="en-US" sz="2267" dirty="0">
                <a:cs typeface="Calibri" panose="020F0502020204030204" pitchFamily="34" charset="0"/>
              </a:rPr>
              <a:t>Scalability: More scalable than snoopy protocols for large systems.</a:t>
            </a:r>
          </a:p>
          <a:p>
            <a:pPr lvl="1"/>
            <a:r>
              <a:rPr lang="en-US" altLang="en-US" sz="2267" dirty="0">
                <a:cs typeface="Calibri" panose="020F0502020204030204" pitchFamily="34" charset="0"/>
              </a:rPr>
              <a:t>Reduced traffic: Avoids broadcasts, leading to lower network contention.   </a:t>
            </a:r>
          </a:p>
          <a:p>
            <a:pPr lvl="1"/>
            <a:r>
              <a:rPr lang="en-US" altLang="en-US" sz="2267" dirty="0">
                <a:cs typeface="Calibri" panose="020F0502020204030204" pitchFamily="34" charset="0"/>
              </a:rPr>
              <a:t>Flexibility: Can be adapted to different system architectures and memory organizations.</a:t>
            </a:r>
          </a:p>
          <a:p>
            <a:r>
              <a:rPr lang="en-US" altLang="en-US" sz="2800" b="0" dirty="0">
                <a:cs typeface="Calibri" panose="020F0502020204030204" pitchFamily="34" charset="0"/>
              </a:rPr>
              <a:t>Disadvantages:</a:t>
            </a:r>
          </a:p>
          <a:p>
            <a:pPr lvl="1"/>
            <a:r>
              <a:rPr lang="en-US" altLang="en-US" sz="2267" dirty="0">
                <a:cs typeface="Calibri" panose="020F0502020204030204" pitchFamily="34" charset="0"/>
              </a:rPr>
              <a:t>Complexity, potential longer latency, directory overhead (more memory bits)</a:t>
            </a:r>
            <a:endParaRPr lang="en-US" altLang="en-US" sz="2267" b="0" dirty="0">
              <a:cs typeface="Calibri" panose="020F0502020204030204" pitchFamily="34" charset="0"/>
            </a:endParaRPr>
          </a:p>
        </p:txBody>
      </p:sp>
      <p:sp>
        <p:nvSpPr>
          <p:cNvPr id="44035" name="Slide Number Placeholder 1">
            <a:extLst>
              <a:ext uri="{FF2B5EF4-FFF2-40B4-BE49-F238E27FC236}">
                <a16:creationId xmlns:a16="http://schemas.microsoft.com/office/drawing/2014/main" id="{CF0CE16A-4CB9-44C3-BCAD-5D1B5248B2DD}"/>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119</a:t>
            </a:fld>
            <a:endParaRPr kumimoji="0" lang="en-US" altLang="en-US" sz="1400">
              <a:latin typeface="Arial" panose="020B0604020202020204" pitchFamily="34" charset="0"/>
            </a:endParaRPr>
          </a:p>
        </p:txBody>
      </p:sp>
    </p:spTree>
    <p:extLst>
      <p:ext uri="{BB962C8B-B14F-4D97-AF65-F5344CB8AC3E}">
        <p14:creationId xmlns:p14="http://schemas.microsoft.com/office/powerpoint/2010/main" val="440566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2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22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22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22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AU" altLang="zh-TW" sz="3733" dirty="0">
                <a:ea typeface="新細明體" panose="02020500000000000000" pitchFamily="18" charset="-120"/>
              </a:rPr>
              <a:t>Exclusive/Inclusive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120</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p:txBody>
          <a:bodyPr/>
          <a:lstStyle/>
          <a:p>
            <a:r>
              <a:rPr lang="en-US" sz="3200" dirty="0"/>
              <a:t>Inclusive caches (assuming L1/L2)</a:t>
            </a:r>
          </a:p>
          <a:p>
            <a:pPr marL="0" indent="0">
              <a:buNone/>
            </a:pPr>
            <a:r>
              <a:rPr lang="en-US" sz="3200" dirty="0"/>
              <a:t>	</a:t>
            </a: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Every line in L1 must be presented in L2</a:t>
            </a:r>
            <a:endParaRPr lang="en-US" sz="3200" dirty="0"/>
          </a:p>
          <a:p>
            <a:r>
              <a:rPr lang="en-US" sz="3200" dirty="0"/>
              <a:t>Exclusive caches </a:t>
            </a:r>
          </a:p>
          <a:p>
            <a:pPr marL="457176" lvl="1" indent="0">
              <a:buNone/>
            </a:pPr>
            <a:r>
              <a:rPr lang="en-US" sz="2667" dirty="0"/>
              <a:t>	If a line, </a:t>
            </a:r>
            <a:r>
              <a:rPr lang="en-US" sz="2667" i="1" dirty="0"/>
              <a:t>A</a:t>
            </a:r>
            <a:r>
              <a:rPr lang="en-US" sz="2667" dirty="0"/>
              <a:t>, is in L1, it must </a:t>
            </a:r>
            <a:r>
              <a:rPr lang="en-US" sz="2667" dirty="0">
                <a:solidFill>
                  <a:srgbClr val="FF0000"/>
                </a:solidFill>
              </a:rPr>
              <a:t>NOT</a:t>
            </a:r>
            <a:r>
              <a:rPr lang="en-US" sz="2667" dirty="0"/>
              <a:t> be presented in L2 (L1/L2 exclusive)</a:t>
            </a:r>
          </a:p>
          <a:p>
            <a:pPr marL="0" indent="0">
              <a:buNone/>
            </a:pPr>
            <a:r>
              <a:rPr lang="en-US" sz="2800" dirty="0"/>
              <a:t>	</a:t>
            </a:r>
          </a:p>
          <a:p>
            <a:pPr marL="0" indent="0">
              <a:buNone/>
            </a:pPr>
            <a:endParaRPr lang="en-US" sz="2800" dirty="0"/>
          </a:p>
        </p:txBody>
      </p:sp>
    </p:spTree>
    <p:extLst>
      <p:ext uri="{BB962C8B-B14F-4D97-AF65-F5344CB8AC3E}">
        <p14:creationId xmlns:p14="http://schemas.microsoft.com/office/powerpoint/2010/main" val="165575297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10173522" cy="654305"/>
          </a:xfrm>
        </p:spPr>
        <p:txBody>
          <a:bodyPr/>
          <a:lstStyle/>
          <a:p>
            <a:r>
              <a:rPr lang="en-AU" altLang="zh-TW" sz="3733" dirty="0">
                <a:ea typeface="新細明體" panose="02020500000000000000" pitchFamily="18" charset="-120"/>
              </a:rPr>
              <a:t>Advantages of Exclusive/Inclusive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121</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a:xfrm>
            <a:off x="-1" y="981074"/>
            <a:ext cx="11867745" cy="4895851"/>
          </a:xfrm>
        </p:spPr>
        <p:txBody>
          <a:bodyPr/>
          <a:lstStyle/>
          <a:p>
            <a:r>
              <a:rPr lang="en-US" sz="3200" dirty="0"/>
              <a:t>Inclusive caches (assuming L1/L2)</a:t>
            </a:r>
          </a:p>
          <a:p>
            <a:pPr marL="0" indent="0">
              <a:buNone/>
            </a:pPr>
            <a:r>
              <a:rPr lang="en-US" sz="2800" dirty="0"/>
              <a:t>    </a:t>
            </a:r>
            <a:r>
              <a:rPr lang="en-US" sz="2400" dirty="0"/>
              <a:t>In a multiprocessor architecture with private L1 caches, when a processor issues a write request to its L1 cache, it must invalidate the corresponding cache lines in the L1 caches of other processors. With an inclusive L2 cache, the invalidation check can be performed in the L2 cache, which usually has more cycles available to manage coherence traffic effectively.</a:t>
            </a:r>
          </a:p>
          <a:p>
            <a:pPr>
              <a:buSzPct val="180000"/>
              <a:buFont typeface="Arial" panose="020B0604020202020204" pitchFamily="34" charset="0"/>
              <a:buChar char="•"/>
            </a:pPr>
            <a:r>
              <a:rPr lang="en-US" sz="3200" dirty="0"/>
              <a:t>Exclusive caches </a:t>
            </a:r>
          </a:p>
          <a:p>
            <a:pPr marL="0" indent="0">
              <a:buSzPct val="180000"/>
              <a:buNone/>
            </a:pP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rPr>
              <a:t>    </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rPr>
              <a:t>Inclusion property will cause duplications of lines. L1 lines must be duplicated in L2. So if L1 is 16KB, and L2 is 64KB, then 25% of cache space in L2 is wasted.</a:t>
            </a:r>
            <a:endParaRPr lang="en-US" sz="2400" dirty="0"/>
          </a:p>
          <a:p>
            <a:r>
              <a:rPr lang="en-US" sz="3200" dirty="0"/>
              <a:t>More modern processors are using inclusive caches than exclusive caches.</a:t>
            </a:r>
          </a:p>
          <a:p>
            <a:pPr marL="457176" lvl="1" indent="0">
              <a:buNone/>
            </a:pPr>
            <a:r>
              <a:rPr lang="en-US" sz="2667" dirty="0"/>
              <a:t>	</a:t>
            </a:r>
            <a:endParaRPr lang="en-US" sz="3333" dirty="0"/>
          </a:p>
          <a:p>
            <a:pPr marL="457176" lvl="1" indent="0">
              <a:buNone/>
            </a:pPr>
            <a:r>
              <a:rPr lang="en-US" sz="2667" dirty="0"/>
              <a:t>	</a:t>
            </a:r>
          </a:p>
          <a:p>
            <a:pPr marL="0" indent="0">
              <a:buNone/>
            </a:pPr>
            <a:r>
              <a:rPr lang="en-US" sz="2800" dirty="0"/>
              <a:t>	</a:t>
            </a:r>
          </a:p>
          <a:p>
            <a:pPr marL="0" indent="0">
              <a:buNone/>
            </a:pPr>
            <a:endParaRPr lang="en-US" sz="2800" dirty="0"/>
          </a:p>
        </p:txBody>
      </p:sp>
    </p:spTree>
    <p:extLst>
      <p:ext uri="{BB962C8B-B14F-4D97-AF65-F5344CB8AC3E}">
        <p14:creationId xmlns:p14="http://schemas.microsoft.com/office/powerpoint/2010/main" val="148511787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10173522" cy="654305"/>
          </a:xfrm>
        </p:spPr>
        <p:txBody>
          <a:bodyPr/>
          <a:lstStyle/>
          <a:p>
            <a:r>
              <a:rPr lang="en-AU" altLang="zh-TW" sz="3733" dirty="0">
                <a:ea typeface="新細明體" panose="02020500000000000000" pitchFamily="18" charset="-120"/>
              </a:rPr>
              <a:t>Special Operations of Exclusive/Inclusive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122</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a:xfrm>
            <a:off x="350196" y="1125537"/>
            <a:ext cx="11517549" cy="4895851"/>
          </a:xfrm>
        </p:spPr>
        <p:txBody>
          <a:bodyPr/>
          <a:lstStyle/>
          <a:p>
            <a:r>
              <a:rPr lang="en-US" sz="3200" dirty="0"/>
              <a:t>Inclusive caches (assuming L1/L2)</a:t>
            </a:r>
          </a:p>
          <a:p>
            <a:pPr lvl="1">
              <a:buFont typeface="Wingdings" panose="05000000000000000000" pitchFamily="2" charset="2"/>
              <a:buChar char="Ø"/>
            </a:pPr>
            <a:r>
              <a:rPr lang="en-US" sz="2667" dirty="0"/>
              <a:t> If L2 evicts a line, it must invalidate the respective line in L1.	</a:t>
            </a:r>
            <a:endParaRPr lang="en-US" sz="2267" dirty="0"/>
          </a:p>
          <a:p>
            <a:r>
              <a:rPr lang="en-US" sz="3200" dirty="0"/>
              <a:t>Exclusive caches</a:t>
            </a:r>
          </a:p>
          <a:p>
            <a:pPr marL="742913" marR="0" lvl="1" indent="-285737" algn="l" defTabSz="914400" rtl="0" eaLnBrk="1" fontAlgn="base" latinLnBrk="0" hangingPunct="1">
              <a:lnSpc>
                <a:spcPct val="100000"/>
              </a:lnSpc>
              <a:spcBef>
                <a:spcPct val="20000"/>
              </a:spcBef>
              <a:spcAft>
                <a:spcPct val="0"/>
              </a:spcAft>
              <a:buClr>
                <a:srgbClr val="0000FF"/>
              </a:buClr>
              <a:buSzPct val="90000"/>
              <a:buFont typeface="Wingdings" panose="05000000000000000000" pitchFamily="2" charset="2"/>
              <a:buChar char="Ø"/>
              <a:tabLst/>
              <a:defRPr/>
            </a:pP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rPr>
              <a:t>If L1 evicts a line, this line moves to L2</a:t>
            </a:r>
          </a:p>
          <a:p>
            <a:pPr marL="742913" marR="0" lvl="1" indent="-285737" algn="l" defTabSz="914400" rtl="0" eaLnBrk="1" fontAlgn="base" latinLnBrk="0" hangingPunct="1">
              <a:lnSpc>
                <a:spcPct val="100000"/>
              </a:lnSpc>
              <a:spcBef>
                <a:spcPct val="20000"/>
              </a:spcBef>
              <a:spcAft>
                <a:spcPct val="0"/>
              </a:spcAft>
              <a:buClr>
                <a:srgbClr val="0000FF"/>
              </a:buClr>
              <a:buSzPct val="90000"/>
              <a:buFont typeface="Wingdings" panose="05000000000000000000" pitchFamily="2" charset="2"/>
              <a:buChar char="Ø"/>
              <a:tabLst/>
              <a:defRPr/>
            </a:pP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rPr>
              <a:t>If both L1 and L2 misses, the new line moves from the main memory, and placed in L1 only.</a:t>
            </a:r>
          </a:p>
          <a:p>
            <a:pPr marL="742913" marR="0" lvl="1" indent="-285737" algn="l" defTabSz="914400" rtl="0" eaLnBrk="1" fontAlgn="base" latinLnBrk="0" hangingPunct="1">
              <a:lnSpc>
                <a:spcPct val="100000"/>
              </a:lnSpc>
              <a:spcBef>
                <a:spcPct val="20000"/>
              </a:spcBef>
              <a:spcAft>
                <a:spcPct val="0"/>
              </a:spcAft>
              <a:buClr>
                <a:srgbClr val="0000FF"/>
              </a:buClr>
              <a:buSzPct val="90000"/>
              <a:buFont typeface="Wingdings" panose="05000000000000000000" pitchFamily="2" charset="2"/>
              <a:buChar char="Ø"/>
              <a:tabLst/>
              <a:defRPr/>
            </a:pP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rPr>
              <a:t>If L1 miss, but hit in L2, the L2 line </a:t>
            </a:r>
            <a:r>
              <a:rPr kumimoji="1" lang="en-US" sz="2667" b="0" i="1" u="none" strike="noStrike" kern="0" cap="none" spc="0" normalizeH="0" baseline="0" noProof="0" dirty="0">
                <a:ln>
                  <a:noFill/>
                </a:ln>
                <a:solidFill>
                  <a:srgbClr val="FF0000"/>
                </a:solidFill>
                <a:effectLst/>
                <a:uLnTx/>
                <a:uFillTx/>
                <a:latin typeface="Calibri" pitchFamily="34" charset="0"/>
                <a:ea typeface="標楷體" pitchFamily="65" charset="-120"/>
              </a:rPr>
              <a:t>migrates</a:t>
            </a: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rPr>
              <a:t> to L1 </a:t>
            </a:r>
            <a:endParaRPr lang="en-US" sz="3200" dirty="0"/>
          </a:p>
          <a:p>
            <a:r>
              <a:rPr lang="en-US" sz="3200" dirty="0"/>
              <a:t>Inclusive caches allow lower level caches to have larger line sizes.</a:t>
            </a:r>
          </a:p>
          <a:p>
            <a:pPr marL="0" indent="0">
              <a:buNone/>
            </a:pPr>
            <a:r>
              <a:rPr lang="en-US" sz="3200" dirty="0"/>
              <a:t>Exclusive caches usually have the same cache line size</a:t>
            </a:r>
          </a:p>
          <a:p>
            <a:pPr>
              <a:buFont typeface="Arial" panose="020B0604020202020204" pitchFamily="34" charset="0"/>
              <a:buChar char="•"/>
            </a:pPr>
            <a:endParaRPr lang="en-US" sz="3200" dirty="0"/>
          </a:p>
          <a:p>
            <a:pPr marL="457176" marR="0" lvl="1" indent="0" algn="l" defTabSz="914400" rtl="0" eaLnBrk="1" fontAlgn="base" latinLnBrk="0" hangingPunct="1">
              <a:lnSpc>
                <a:spcPct val="100000"/>
              </a:lnSpc>
              <a:spcBef>
                <a:spcPct val="20000"/>
              </a:spcBef>
              <a:spcAft>
                <a:spcPct val="0"/>
              </a:spcAft>
              <a:buClr>
                <a:srgbClr val="0000FF"/>
              </a:buClr>
              <a:buSzPct val="90000"/>
              <a:buFont typeface="Arial" charset="0"/>
              <a:buNone/>
              <a:tabLst/>
              <a:defRPr/>
            </a:pPr>
            <a:r>
              <a:rPr lang="en-US" sz="3200" dirty="0"/>
              <a:t>	</a:t>
            </a:r>
          </a:p>
          <a:p>
            <a:pPr marL="457176" lvl="1" indent="0">
              <a:buNone/>
            </a:pPr>
            <a:r>
              <a:rPr lang="en-US" sz="2667" dirty="0"/>
              <a:t>	</a:t>
            </a:r>
            <a:endParaRPr lang="en-US" sz="3333" dirty="0"/>
          </a:p>
          <a:p>
            <a:pPr marL="457176" lvl="1" indent="0">
              <a:buNone/>
            </a:pPr>
            <a:r>
              <a:rPr lang="en-US" sz="2667" dirty="0"/>
              <a:t>	</a:t>
            </a:r>
          </a:p>
          <a:p>
            <a:pPr marL="0" indent="0">
              <a:buNone/>
            </a:pPr>
            <a:r>
              <a:rPr lang="en-US" sz="2800" dirty="0"/>
              <a:t>	</a:t>
            </a:r>
          </a:p>
          <a:p>
            <a:pPr marL="0" indent="0">
              <a:buNone/>
            </a:pPr>
            <a:endParaRPr lang="en-US" sz="2800" dirty="0"/>
          </a:p>
        </p:txBody>
      </p:sp>
    </p:spTree>
    <p:extLst>
      <p:ext uri="{BB962C8B-B14F-4D97-AF65-F5344CB8AC3E}">
        <p14:creationId xmlns:p14="http://schemas.microsoft.com/office/powerpoint/2010/main" val="296229323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10173522" cy="654305"/>
          </a:xfrm>
        </p:spPr>
        <p:txBody>
          <a:bodyPr/>
          <a:lstStyle/>
          <a:p>
            <a:r>
              <a:rPr lang="en-AU" altLang="zh-TW" sz="3733" dirty="0">
                <a:ea typeface="新細明體" panose="02020500000000000000" pitchFamily="18" charset="-120"/>
              </a:rPr>
              <a:t>Operations of Inclusive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123</a:t>
            </a:fld>
            <a:endParaRPr lang="zh-TW" altLang="en-US" dirty="0"/>
          </a:p>
        </p:txBody>
      </p:sp>
      <p:sp>
        <p:nvSpPr>
          <p:cNvPr id="2" name="Rectangle 1">
            <a:extLst>
              <a:ext uri="{FF2B5EF4-FFF2-40B4-BE49-F238E27FC236}">
                <a16:creationId xmlns:a16="http://schemas.microsoft.com/office/drawing/2014/main" id="{74CF26A7-8A1D-4542-974D-13F9D2816E29}"/>
              </a:ext>
            </a:extLst>
          </p:cNvPr>
          <p:cNvSpPr/>
          <p:nvPr/>
        </p:nvSpPr>
        <p:spPr bwMode="auto">
          <a:xfrm>
            <a:off x="1507788" y="1702340"/>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Rectangle 6">
            <a:extLst>
              <a:ext uri="{FF2B5EF4-FFF2-40B4-BE49-F238E27FC236}">
                <a16:creationId xmlns:a16="http://schemas.microsoft.com/office/drawing/2014/main" id="{9AF546D6-1EED-40AE-8168-9C4A70D8D96A}"/>
              </a:ext>
            </a:extLst>
          </p:cNvPr>
          <p:cNvSpPr/>
          <p:nvPr/>
        </p:nvSpPr>
        <p:spPr bwMode="auto">
          <a:xfrm>
            <a:off x="1507788" y="2149813"/>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Rectangle 8">
            <a:extLst>
              <a:ext uri="{FF2B5EF4-FFF2-40B4-BE49-F238E27FC236}">
                <a16:creationId xmlns:a16="http://schemas.microsoft.com/office/drawing/2014/main" id="{E23793B5-3EFA-4AC7-BA45-E575FE5D7274}"/>
              </a:ext>
            </a:extLst>
          </p:cNvPr>
          <p:cNvSpPr/>
          <p:nvPr/>
        </p:nvSpPr>
        <p:spPr bwMode="auto">
          <a:xfrm>
            <a:off x="1507788" y="2981527"/>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Rectangle 9">
            <a:extLst>
              <a:ext uri="{FF2B5EF4-FFF2-40B4-BE49-F238E27FC236}">
                <a16:creationId xmlns:a16="http://schemas.microsoft.com/office/drawing/2014/main" id="{78EA78BC-B6C8-41BB-87F8-D1B0B01D22DE}"/>
              </a:ext>
            </a:extLst>
          </p:cNvPr>
          <p:cNvSpPr/>
          <p:nvPr/>
        </p:nvSpPr>
        <p:spPr bwMode="auto">
          <a:xfrm>
            <a:off x="1507788" y="3429000"/>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Rectangle 10">
            <a:extLst>
              <a:ext uri="{FF2B5EF4-FFF2-40B4-BE49-F238E27FC236}">
                <a16:creationId xmlns:a16="http://schemas.microsoft.com/office/drawing/2014/main" id="{7088D262-2CB6-4306-8336-06D288005E24}"/>
              </a:ext>
            </a:extLst>
          </p:cNvPr>
          <p:cNvSpPr/>
          <p:nvPr/>
        </p:nvSpPr>
        <p:spPr bwMode="auto">
          <a:xfrm>
            <a:off x="1507788" y="3876473"/>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2" name="Rectangle 11">
            <a:extLst>
              <a:ext uri="{FF2B5EF4-FFF2-40B4-BE49-F238E27FC236}">
                <a16:creationId xmlns:a16="http://schemas.microsoft.com/office/drawing/2014/main" id="{94E1BD28-053B-4C5E-813E-DC3329AEA5CF}"/>
              </a:ext>
            </a:extLst>
          </p:cNvPr>
          <p:cNvSpPr/>
          <p:nvPr/>
        </p:nvSpPr>
        <p:spPr bwMode="auto">
          <a:xfrm>
            <a:off x="1507788" y="4323946"/>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3" name="Rectangle 12">
            <a:extLst>
              <a:ext uri="{FF2B5EF4-FFF2-40B4-BE49-F238E27FC236}">
                <a16:creationId xmlns:a16="http://schemas.microsoft.com/office/drawing/2014/main" id="{E49F9E46-BF81-42B5-9E33-30EAF8D3A261}"/>
              </a:ext>
            </a:extLst>
          </p:cNvPr>
          <p:cNvSpPr/>
          <p:nvPr/>
        </p:nvSpPr>
        <p:spPr bwMode="auto">
          <a:xfrm>
            <a:off x="3518171"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14" name="Rectangle 13">
            <a:extLst>
              <a:ext uri="{FF2B5EF4-FFF2-40B4-BE49-F238E27FC236}">
                <a16:creationId xmlns:a16="http://schemas.microsoft.com/office/drawing/2014/main" id="{5FD55D49-89C6-4DB8-A6F6-2F530D972B99}"/>
              </a:ext>
            </a:extLst>
          </p:cNvPr>
          <p:cNvSpPr/>
          <p:nvPr/>
        </p:nvSpPr>
        <p:spPr bwMode="auto">
          <a:xfrm>
            <a:off x="3518171"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 name="Rectangle 14">
            <a:extLst>
              <a:ext uri="{FF2B5EF4-FFF2-40B4-BE49-F238E27FC236}">
                <a16:creationId xmlns:a16="http://schemas.microsoft.com/office/drawing/2014/main" id="{283A2810-8AF1-44E3-9B1B-B41182DE7802}"/>
              </a:ext>
            </a:extLst>
          </p:cNvPr>
          <p:cNvSpPr/>
          <p:nvPr/>
        </p:nvSpPr>
        <p:spPr bwMode="auto">
          <a:xfrm>
            <a:off x="3518171"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16" name="Rectangle 15">
            <a:extLst>
              <a:ext uri="{FF2B5EF4-FFF2-40B4-BE49-F238E27FC236}">
                <a16:creationId xmlns:a16="http://schemas.microsoft.com/office/drawing/2014/main" id="{199A42B2-14F7-4A54-A9AE-639BFF4A38F7}"/>
              </a:ext>
            </a:extLst>
          </p:cNvPr>
          <p:cNvSpPr/>
          <p:nvPr/>
        </p:nvSpPr>
        <p:spPr bwMode="auto">
          <a:xfrm>
            <a:off x="3518171"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7" name="Rectangle 16">
            <a:extLst>
              <a:ext uri="{FF2B5EF4-FFF2-40B4-BE49-F238E27FC236}">
                <a16:creationId xmlns:a16="http://schemas.microsoft.com/office/drawing/2014/main" id="{EDDBC552-6EDC-4DE9-BB15-246150A2880A}"/>
              </a:ext>
            </a:extLst>
          </p:cNvPr>
          <p:cNvSpPr/>
          <p:nvPr/>
        </p:nvSpPr>
        <p:spPr bwMode="auto">
          <a:xfrm>
            <a:off x="3518171"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8" name="Rectangle 17">
            <a:extLst>
              <a:ext uri="{FF2B5EF4-FFF2-40B4-BE49-F238E27FC236}">
                <a16:creationId xmlns:a16="http://schemas.microsoft.com/office/drawing/2014/main" id="{3333790A-6247-4649-B34D-FA4420D0F2E5}"/>
              </a:ext>
            </a:extLst>
          </p:cNvPr>
          <p:cNvSpPr/>
          <p:nvPr/>
        </p:nvSpPr>
        <p:spPr bwMode="auto">
          <a:xfrm>
            <a:off x="3518171"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9" name="Rectangle 18">
            <a:extLst>
              <a:ext uri="{FF2B5EF4-FFF2-40B4-BE49-F238E27FC236}">
                <a16:creationId xmlns:a16="http://schemas.microsoft.com/office/drawing/2014/main" id="{B1818A8C-2633-49DD-8B68-F38BCD0E8DB0}"/>
              </a:ext>
            </a:extLst>
          </p:cNvPr>
          <p:cNvSpPr/>
          <p:nvPr/>
        </p:nvSpPr>
        <p:spPr bwMode="auto">
          <a:xfrm>
            <a:off x="5528555"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0" name="Rectangle 19">
            <a:extLst>
              <a:ext uri="{FF2B5EF4-FFF2-40B4-BE49-F238E27FC236}">
                <a16:creationId xmlns:a16="http://schemas.microsoft.com/office/drawing/2014/main" id="{72CECB0C-0053-4201-8EE2-9D1B2D1900F6}"/>
              </a:ext>
            </a:extLst>
          </p:cNvPr>
          <p:cNvSpPr/>
          <p:nvPr/>
        </p:nvSpPr>
        <p:spPr bwMode="auto">
          <a:xfrm>
            <a:off x="5528555"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1" name="Rectangle 20">
            <a:extLst>
              <a:ext uri="{FF2B5EF4-FFF2-40B4-BE49-F238E27FC236}">
                <a16:creationId xmlns:a16="http://schemas.microsoft.com/office/drawing/2014/main" id="{637FA2F6-35A0-4508-BA1C-6CB508D8EAF8}"/>
              </a:ext>
            </a:extLst>
          </p:cNvPr>
          <p:cNvSpPr/>
          <p:nvPr/>
        </p:nvSpPr>
        <p:spPr bwMode="auto">
          <a:xfrm>
            <a:off x="5528555"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2" name="Rectangle 21">
            <a:extLst>
              <a:ext uri="{FF2B5EF4-FFF2-40B4-BE49-F238E27FC236}">
                <a16:creationId xmlns:a16="http://schemas.microsoft.com/office/drawing/2014/main" id="{52D999CB-77BD-4DBE-BBBD-E63C9EC4B368}"/>
              </a:ext>
            </a:extLst>
          </p:cNvPr>
          <p:cNvSpPr/>
          <p:nvPr/>
        </p:nvSpPr>
        <p:spPr bwMode="auto">
          <a:xfrm>
            <a:off x="5528555"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3" name="Rectangle 22">
            <a:extLst>
              <a:ext uri="{FF2B5EF4-FFF2-40B4-BE49-F238E27FC236}">
                <a16:creationId xmlns:a16="http://schemas.microsoft.com/office/drawing/2014/main" id="{60700BA3-56B6-4A6E-83D0-5DEDE8F6DEC8}"/>
              </a:ext>
            </a:extLst>
          </p:cNvPr>
          <p:cNvSpPr/>
          <p:nvPr/>
        </p:nvSpPr>
        <p:spPr bwMode="auto">
          <a:xfrm>
            <a:off x="5528555"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Rectangle 23">
            <a:extLst>
              <a:ext uri="{FF2B5EF4-FFF2-40B4-BE49-F238E27FC236}">
                <a16:creationId xmlns:a16="http://schemas.microsoft.com/office/drawing/2014/main" id="{DCCBC75E-8246-4B3C-939D-94B919120098}"/>
              </a:ext>
            </a:extLst>
          </p:cNvPr>
          <p:cNvSpPr/>
          <p:nvPr/>
        </p:nvSpPr>
        <p:spPr bwMode="auto">
          <a:xfrm>
            <a:off x="5528555"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5" name="Rectangle 24">
            <a:extLst>
              <a:ext uri="{FF2B5EF4-FFF2-40B4-BE49-F238E27FC236}">
                <a16:creationId xmlns:a16="http://schemas.microsoft.com/office/drawing/2014/main" id="{CC06B468-8B50-463E-A2FD-17F7BE11FFAE}"/>
              </a:ext>
            </a:extLst>
          </p:cNvPr>
          <p:cNvSpPr/>
          <p:nvPr/>
        </p:nvSpPr>
        <p:spPr bwMode="auto">
          <a:xfrm>
            <a:off x="7399507"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6" name="Rectangle 25">
            <a:extLst>
              <a:ext uri="{FF2B5EF4-FFF2-40B4-BE49-F238E27FC236}">
                <a16:creationId xmlns:a16="http://schemas.microsoft.com/office/drawing/2014/main" id="{EB3767C9-6AC2-449E-95F1-530CF78FFD2E}"/>
              </a:ext>
            </a:extLst>
          </p:cNvPr>
          <p:cNvSpPr/>
          <p:nvPr/>
        </p:nvSpPr>
        <p:spPr bwMode="auto">
          <a:xfrm>
            <a:off x="7399507"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7" name="Rectangle 26">
            <a:extLst>
              <a:ext uri="{FF2B5EF4-FFF2-40B4-BE49-F238E27FC236}">
                <a16:creationId xmlns:a16="http://schemas.microsoft.com/office/drawing/2014/main" id="{12A6D9E7-1318-418C-BF45-A67316056BE0}"/>
              </a:ext>
            </a:extLst>
          </p:cNvPr>
          <p:cNvSpPr/>
          <p:nvPr/>
        </p:nvSpPr>
        <p:spPr bwMode="auto">
          <a:xfrm>
            <a:off x="7399507"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8" name="Rectangle 27">
            <a:extLst>
              <a:ext uri="{FF2B5EF4-FFF2-40B4-BE49-F238E27FC236}">
                <a16:creationId xmlns:a16="http://schemas.microsoft.com/office/drawing/2014/main" id="{0223693C-6ACC-4110-9CD2-589E75471B75}"/>
              </a:ext>
            </a:extLst>
          </p:cNvPr>
          <p:cNvSpPr/>
          <p:nvPr/>
        </p:nvSpPr>
        <p:spPr bwMode="auto">
          <a:xfrm>
            <a:off x="7399507"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9" name="Rectangle 28">
            <a:extLst>
              <a:ext uri="{FF2B5EF4-FFF2-40B4-BE49-F238E27FC236}">
                <a16:creationId xmlns:a16="http://schemas.microsoft.com/office/drawing/2014/main" id="{49FE069A-0736-4FF0-BB6C-C520B2CECB55}"/>
              </a:ext>
            </a:extLst>
          </p:cNvPr>
          <p:cNvSpPr/>
          <p:nvPr/>
        </p:nvSpPr>
        <p:spPr bwMode="auto">
          <a:xfrm>
            <a:off x="7399507"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0" name="Rectangle 29">
            <a:extLst>
              <a:ext uri="{FF2B5EF4-FFF2-40B4-BE49-F238E27FC236}">
                <a16:creationId xmlns:a16="http://schemas.microsoft.com/office/drawing/2014/main" id="{DE7F7858-2B60-4A34-B5D2-90ADE05EA246}"/>
              </a:ext>
            </a:extLst>
          </p:cNvPr>
          <p:cNvSpPr/>
          <p:nvPr/>
        </p:nvSpPr>
        <p:spPr bwMode="auto">
          <a:xfrm>
            <a:off x="7399507"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1" name="Rectangle 30">
            <a:extLst>
              <a:ext uri="{FF2B5EF4-FFF2-40B4-BE49-F238E27FC236}">
                <a16:creationId xmlns:a16="http://schemas.microsoft.com/office/drawing/2014/main" id="{6193DC00-7BB3-46F7-B76D-1853D582AA41}"/>
              </a:ext>
            </a:extLst>
          </p:cNvPr>
          <p:cNvSpPr/>
          <p:nvPr/>
        </p:nvSpPr>
        <p:spPr bwMode="auto">
          <a:xfrm>
            <a:off x="9383950"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2" name="Rectangle 31">
            <a:extLst>
              <a:ext uri="{FF2B5EF4-FFF2-40B4-BE49-F238E27FC236}">
                <a16:creationId xmlns:a16="http://schemas.microsoft.com/office/drawing/2014/main" id="{D477CB81-D803-49C8-AAA5-3DE8C85CAF26}"/>
              </a:ext>
            </a:extLst>
          </p:cNvPr>
          <p:cNvSpPr/>
          <p:nvPr/>
        </p:nvSpPr>
        <p:spPr bwMode="auto">
          <a:xfrm>
            <a:off x="9383950"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3" name="Rectangle 32">
            <a:extLst>
              <a:ext uri="{FF2B5EF4-FFF2-40B4-BE49-F238E27FC236}">
                <a16:creationId xmlns:a16="http://schemas.microsoft.com/office/drawing/2014/main" id="{CCC113E2-E15F-4204-A9B4-FE7B8A86141A}"/>
              </a:ext>
            </a:extLst>
          </p:cNvPr>
          <p:cNvSpPr/>
          <p:nvPr/>
        </p:nvSpPr>
        <p:spPr bwMode="auto">
          <a:xfrm>
            <a:off x="9383950"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34" name="Rectangle 33">
            <a:extLst>
              <a:ext uri="{FF2B5EF4-FFF2-40B4-BE49-F238E27FC236}">
                <a16:creationId xmlns:a16="http://schemas.microsoft.com/office/drawing/2014/main" id="{CB34E347-0317-42B1-9947-AA017E89F742}"/>
              </a:ext>
            </a:extLst>
          </p:cNvPr>
          <p:cNvSpPr/>
          <p:nvPr/>
        </p:nvSpPr>
        <p:spPr bwMode="auto">
          <a:xfrm>
            <a:off x="9383950"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5" name="Rectangle 34">
            <a:extLst>
              <a:ext uri="{FF2B5EF4-FFF2-40B4-BE49-F238E27FC236}">
                <a16:creationId xmlns:a16="http://schemas.microsoft.com/office/drawing/2014/main" id="{A878A47F-A91F-4A72-8943-CB158CB3E858}"/>
              </a:ext>
            </a:extLst>
          </p:cNvPr>
          <p:cNvSpPr/>
          <p:nvPr/>
        </p:nvSpPr>
        <p:spPr bwMode="auto">
          <a:xfrm>
            <a:off x="9383950"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6" name="Rectangle 35">
            <a:extLst>
              <a:ext uri="{FF2B5EF4-FFF2-40B4-BE49-F238E27FC236}">
                <a16:creationId xmlns:a16="http://schemas.microsoft.com/office/drawing/2014/main" id="{F9A941E7-E8B3-40F8-B03C-F013964D1421}"/>
              </a:ext>
            </a:extLst>
          </p:cNvPr>
          <p:cNvSpPr/>
          <p:nvPr/>
        </p:nvSpPr>
        <p:spPr bwMode="auto">
          <a:xfrm>
            <a:off x="9383950"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TextBox 7">
            <a:extLst>
              <a:ext uri="{FF2B5EF4-FFF2-40B4-BE49-F238E27FC236}">
                <a16:creationId xmlns:a16="http://schemas.microsoft.com/office/drawing/2014/main" id="{689FC512-5AD5-4B1F-8C9F-79D9920584AA}"/>
              </a:ext>
            </a:extLst>
          </p:cNvPr>
          <p:cNvSpPr txBox="1"/>
          <p:nvPr/>
        </p:nvSpPr>
        <p:spPr>
          <a:xfrm>
            <a:off x="1016450" y="1952621"/>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38" name="TextBox 37">
            <a:extLst>
              <a:ext uri="{FF2B5EF4-FFF2-40B4-BE49-F238E27FC236}">
                <a16:creationId xmlns:a16="http://schemas.microsoft.com/office/drawing/2014/main" id="{98E4A92F-3FFD-4DE7-AA26-04FBF05148C7}"/>
              </a:ext>
            </a:extLst>
          </p:cNvPr>
          <p:cNvSpPr txBox="1"/>
          <p:nvPr/>
        </p:nvSpPr>
        <p:spPr>
          <a:xfrm>
            <a:off x="3077025" y="20042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39" name="TextBox 38">
            <a:extLst>
              <a:ext uri="{FF2B5EF4-FFF2-40B4-BE49-F238E27FC236}">
                <a16:creationId xmlns:a16="http://schemas.microsoft.com/office/drawing/2014/main" id="{756C0C23-32E8-4E42-8609-600C8AD354D0}"/>
              </a:ext>
            </a:extLst>
          </p:cNvPr>
          <p:cNvSpPr txBox="1"/>
          <p:nvPr/>
        </p:nvSpPr>
        <p:spPr>
          <a:xfrm>
            <a:off x="5168550" y="20042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0" name="TextBox 39">
            <a:extLst>
              <a:ext uri="{FF2B5EF4-FFF2-40B4-BE49-F238E27FC236}">
                <a16:creationId xmlns:a16="http://schemas.microsoft.com/office/drawing/2014/main" id="{8FFF64DA-5AF7-43E0-8069-385D169F44A8}"/>
              </a:ext>
            </a:extLst>
          </p:cNvPr>
          <p:cNvSpPr txBox="1"/>
          <p:nvPr/>
        </p:nvSpPr>
        <p:spPr>
          <a:xfrm>
            <a:off x="7060571" y="202087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1" name="TextBox 40">
            <a:extLst>
              <a:ext uri="{FF2B5EF4-FFF2-40B4-BE49-F238E27FC236}">
                <a16:creationId xmlns:a16="http://schemas.microsoft.com/office/drawing/2014/main" id="{6E5AF672-B243-4E39-B9C4-47C254305599}"/>
              </a:ext>
            </a:extLst>
          </p:cNvPr>
          <p:cNvSpPr txBox="1"/>
          <p:nvPr/>
        </p:nvSpPr>
        <p:spPr>
          <a:xfrm>
            <a:off x="8961392" y="202087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2" name="TextBox 41">
            <a:extLst>
              <a:ext uri="{FF2B5EF4-FFF2-40B4-BE49-F238E27FC236}">
                <a16:creationId xmlns:a16="http://schemas.microsoft.com/office/drawing/2014/main" id="{7F427F55-92A4-4E56-B785-955944E0DF27}"/>
              </a:ext>
            </a:extLst>
          </p:cNvPr>
          <p:cNvSpPr txBox="1"/>
          <p:nvPr/>
        </p:nvSpPr>
        <p:spPr>
          <a:xfrm>
            <a:off x="1016450" y="369180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3" name="TextBox 42">
            <a:extLst>
              <a:ext uri="{FF2B5EF4-FFF2-40B4-BE49-F238E27FC236}">
                <a16:creationId xmlns:a16="http://schemas.microsoft.com/office/drawing/2014/main" id="{0BAD7E73-84CE-4DED-9B5A-586E2BAFE7F7}"/>
              </a:ext>
            </a:extLst>
          </p:cNvPr>
          <p:cNvSpPr txBox="1"/>
          <p:nvPr/>
        </p:nvSpPr>
        <p:spPr>
          <a:xfrm>
            <a:off x="3077025" y="371142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4" name="TextBox 43">
            <a:extLst>
              <a:ext uri="{FF2B5EF4-FFF2-40B4-BE49-F238E27FC236}">
                <a16:creationId xmlns:a16="http://schemas.microsoft.com/office/drawing/2014/main" id="{F8FA3CAF-971D-48C9-83F2-369D0A97DD45}"/>
              </a:ext>
            </a:extLst>
          </p:cNvPr>
          <p:cNvSpPr txBox="1"/>
          <p:nvPr/>
        </p:nvSpPr>
        <p:spPr>
          <a:xfrm>
            <a:off x="5166997" y="3740605"/>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5" name="TextBox 44">
            <a:extLst>
              <a:ext uri="{FF2B5EF4-FFF2-40B4-BE49-F238E27FC236}">
                <a16:creationId xmlns:a16="http://schemas.microsoft.com/office/drawing/2014/main" id="{8F5928D9-D81D-4BC7-B29B-027A7F083D71}"/>
              </a:ext>
            </a:extLst>
          </p:cNvPr>
          <p:cNvSpPr txBox="1"/>
          <p:nvPr/>
        </p:nvSpPr>
        <p:spPr>
          <a:xfrm>
            <a:off x="7071852" y="3740605"/>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6" name="TextBox 45">
            <a:extLst>
              <a:ext uri="{FF2B5EF4-FFF2-40B4-BE49-F238E27FC236}">
                <a16:creationId xmlns:a16="http://schemas.microsoft.com/office/drawing/2014/main" id="{A46A3086-878E-413B-86D4-FEDBEB05793B}"/>
              </a:ext>
            </a:extLst>
          </p:cNvPr>
          <p:cNvSpPr txBox="1"/>
          <p:nvPr/>
        </p:nvSpPr>
        <p:spPr>
          <a:xfrm>
            <a:off x="9049886" y="375647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37" name="TextBox 36">
            <a:extLst>
              <a:ext uri="{FF2B5EF4-FFF2-40B4-BE49-F238E27FC236}">
                <a16:creationId xmlns:a16="http://schemas.microsoft.com/office/drawing/2014/main" id="{28310F65-4BFC-4065-86A5-2AEF0E48E87A}"/>
              </a:ext>
            </a:extLst>
          </p:cNvPr>
          <p:cNvSpPr txBox="1"/>
          <p:nvPr/>
        </p:nvSpPr>
        <p:spPr>
          <a:xfrm>
            <a:off x="818734" y="4970994"/>
            <a:ext cx="2146742" cy="369332"/>
          </a:xfrm>
          <a:prstGeom prst="rect">
            <a:avLst/>
          </a:prstGeom>
          <a:noFill/>
        </p:spPr>
        <p:txBody>
          <a:bodyPr wrap="none" rtlCol="0" anchor="ctr" anchorCtr="1">
            <a:spAutoFit/>
          </a:bodyPr>
          <a:lstStyle/>
          <a:p>
            <a:r>
              <a:rPr lang="en-US" dirty="0">
                <a:ea typeface="標楷體" pitchFamily="65" charset="-120"/>
                <a:cs typeface="Calibri" pitchFamily="34" charset="0"/>
              </a:rPr>
              <a:t>Case 1: Initial state</a:t>
            </a:r>
          </a:p>
        </p:txBody>
      </p:sp>
      <p:sp>
        <p:nvSpPr>
          <p:cNvPr id="48" name="TextBox 47">
            <a:extLst>
              <a:ext uri="{FF2B5EF4-FFF2-40B4-BE49-F238E27FC236}">
                <a16:creationId xmlns:a16="http://schemas.microsoft.com/office/drawing/2014/main" id="{A73D57E8-994C-4C0A-9220-FF749B96A627}"/>
              </a:ext>
            </a:extLst>
          </p:cNvPr>
          <p:cNvSpPr txBox="1"/>
          <p:nvPr/>
        </p:nvSpPr>
        <p:spPr>
          <a:xfrm>
            <a:off x="3020255" y="4997537"/>
            <a:ext cx="2300630" cy="369332"/>
          </a:xfrm>
          <a:prstGeom prst="rect">
            <a:avLst/>
          </a:prstGeom>
          <a:noFill/>
        </p:spPr>
        <p:txBody>
          <a:bodyPr wrap="none" rtlCol="0" anchor="ctr" anchorCtr="1">
            <a:spAutoFit/>
          </a:bodyPr>
          <a:lstStyle/>
          <a:p>
            <a:r>
              <a:rPr lang="en-US" dirty="0">
                <a:ea typeface="標楷體" pitchFamily="65" charset="-120"/>
                <a:cs typeface="Calibri" pitchFamily="34" charset="0"/>
              </a:rPr>
              <a:t>Case 2: X miss in L1</a:t>
            </a:r>
          </a:p>
        </p:txBody>
      </p:sp>
      <p:sp>
        <p:nvSpPr>
          <p:cNvPr id="49" name="TextBox 48">
            <a:extLst>
              <a:ext uri="{FF2B5EF4-FFF2-40B4-BE49-F238E27FC236}">
                <a16:creationId xmlns:a16="http://schemas.microsoft.com/office/drawing/2014/main" id="{FF3F6A12-3696-44AE-B94A-6EACFFBB8610}"/>
              </a:ext>
            </a:extLst>
          </p:cNvPr>
          <p:cNvSpPr txBox="1"/>
          <p:nvPr/>
        </p:nvSpPr>
        <p:spPr>
          <a:xfrm>
            <a:off x="4945685" y="5445010"/>
            <a:ext cx="2292294" cy="369332"/>
          </a:xfrm>
          <a:prstGeom prst="rect">
            <a:avLst/>
          </a:prstGeom>
          <a:noFill/>
        </p:spPr>
        <p:txBody>
          <a:bodyPr wrap="none" rtlCol="0" anchor="ctr" anchorCtr="1">
            <a:spAutoFit/>
          </a:bodyPr>
          <a:lstStyle/>
          <a:p>
            <a:r>
              <a:rPr lang="en-US" dirty="0">
                <a:ea typeface="標楷體" pitchFamily="65" charset="-120"/>
                <a:cs typeface="Calibri" pitchFamily="34" charset="0"/>
              </a:rPr>
              <a:t>Case 3: Y miss in L1</a:t>
            </a:r>
          </a:p>
        </p:txBody>
      </p:sp>
      <p:sp>
        <p:nvSpPr>
          <p:cNvPr id="50" name="TextBox 49">
            <a:extLst>
              <a:ext uri="{FF2B5EF4-FFF2-40B4-BE49-F238E27FC236}">
                <a16:creationId xmlns:a16="http://schemas.microsoft.com/office/drawing/2014/main" id="{C3CDE96A-36FC-43F3-88FA-32C5F7C31AD5}"/>
              </a:ext>
            </a:extLst>
          </p:cNvPr>
          <p:cNvSpPr txBox="1"/>
          <p:nvPr/>
        </p:nvSpPr>
        <p:spPr>
          <a:xfrm>
            <a:off x="6442955" y="4960849"/>
            <a:ext cx="3048077" cy="369332"/>
          </a:xfrm>
          <a:prstGeom prst="rect">
            <a:avLst/>
          </a:prstGeom>
          <a:noFill/>
        </p:spPr>
        <p:txBody>
          <a:bodyPr wrap="square" rtlCol="0" anchor="ctr" anchorCtr="1">
            <a:spAutoFit/>
          </a:bodyPr>
          <a:lstStyle/>
          <a:p>
            <a:r>
              <a:rPr lang="en-US" dirty="0">
                <a:ea typeface="標楷體" pitchFamily="65" charset="-120"/>
                <a:cs typeface="Calibri" pitchFamily="34" charset="0"/>
              </a:rPr>
              <a:t>Case 4: X evicted from L1</a:t>
            </a:r>
          </a:p>
        </p:txBody>
      </p:sp>
      <p:sp>
        <p:nvSpPr>
          <p:cNvPr id="51" name="TextBox 50">
            <a:extLst>
              <a:ext uri="{FF2B5EF4-FFF2-40B4-BE49-F238E27FC236}">
                <a16:creationId xmlns:a16="http://schemas.microsoft.com/office/drawing/2014/main" id="{6A30BD9D-3102-4EBF-9749-0FE295B68A83}"/>
              </a:ext>
            </a:extLst>
          </p:cNvPr>
          <p:cNvSpPr txBox="1"/>
          <p:nvPr/>
        </p:nvSpPr>
        <p:spPr>
          <a:xfrm>
            <a:off x="8695003" y="5408322"/>
            <a:ext cx="2830903" cy="369332"/>
          </a:xfrm>
          <a:prstGeom prst="rect">
            <a:avLst/>
          </a:prstGeom>
          <a:noFill/>
        </p:spPr>
        <p:txBody>
          <a:bodyPr wrap="none" rtlCol="0" anchor="ctr" anchorCtr="1">
            <a:spAutoFit/>
          </a:bodyPr>
          <a:lstStyle/>
          <a:p>
            <a:r>
              <a:rPr lang="en-US" dirty="0">
                <a:ea typeface="標楷體" pitchFamily="65" charset="-120"/>
                <a:cs typeface="Calibri" pitchFamily="34" charset="0"/>
              </a:rPr>
              <a:t>Case 5: Y evicted from L2</a:t>
            </a:r>
          </a:p>
        </p:txBody>
      </p:sp>
      <p:sp>
        <p:nvSpPr>
          <p:cNvPr id="52" name="Arrow: Curved Down 51">
            <a:extLst>
              <a:ext uri="{FF2B5EF4-FFF2-40B4-BE49-F238E27FC236}">
                <a16:creationId xmlns:a16="http://schemas.microsoft.com/office/drawing/2014/main" id="{EF7D3BA1-27F1-4695-AD28-B6B62C81429E}"/>
              </a:ext>
            </a:extLst>
          </p:cNvPr>
          <p:cNvSpPr/>
          <p:nvPr/>
        </p:nvSpPr>
        <p:spPr bwMode="auto">
          <a:xfrm rot="16426703">
            <a:off x="8425677" y="2614268"/>
            <a:ext cx="1207951" cy="667621"/>
          </a:xfrm>
          <a:prstGeom prst="curved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3" name="TextBox 52">
            <a:extLst>
              <a:ext uri="{FF2B5EF4-FFF2-40B4-BE49-F238E27FC236}">
                <a16:creationId xmlns:a16="http://schemas.microsoft.com/office/drawing/2014/main" id="{B9FEF3D1-4466-402A-9BB1-C2F308CC8874}"/>
              </a:ext>
            </a:extLst>
          </p:cNvPr>
          <p:cNvSpPr txBox="1"/>
          <p:nvPr/>
        </p:nvSpPr>
        <p:spPr>
          <a:xfrm>
            <a:off x="8775733" y="2646084"/>
            <a:ext cx="1877437" cy="369332"/>
          </a:xfrm>
          <a:prstGeom prst="rect">
            <a:avLst/>
          </a:prstGeom>
          <a:noFill/>
        </p:spPr>
        <p:txBody>
          <a:bodyPr wrap="none" rtlCol="0" anchor="ctr" anchorCtr="1">
            <a:spAutoFit/>
          </a:bodyPr>
          <a:lstStyle/>
          <a:p>
            <a:r>
              <a:rPr lang="en-US" dirty="0">
                <a:ea typeface="標楷體" pitchFamily="65" charset="-120"/>
                <a:cs typeface="Calibri" pitchFamily="34" charset="0"/>
              </a:rPr>
              <a:t>Back-invalidated</a:t>
            </a:r>
          </a:p>
        </p:txBody>
      </p:sp>
      <p:sp>
        <p:nvSpPr>
          <p:cNvPr id="54" name="Arrow: Up 53">
            <a:extLst>
              <a:ext uri="{FF2B5EF4-FFF2-40B4-BE49-F238E27FC236}">
                <a16:creationId xmlns:a16="http://schemas.microsoft.com/office/drawing/2014/main" id="{89F73EE5-A041-4F09-8DC6-DEA146A4385B}"/>
              </a:ext>
            </a:extLst>
          </p:cNvPr>
          <p:cNvSpPr/>
          <p:nvPr/>
        </p:nvSpPr>
        <p:spPr bwMode="auto">
          <a:xfrm>
            <a:off x="4474723" y="1860463"/>
            <a:ext cx="262473" cy="2614260"/>
          </a:xfrm>
          <a:prstGeom prst="up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Arrow: Up 55">
            <a:extLst>
              <a:ext uri="{FF2B5EF4-FFF2-40B4-BE49-F238E27FC236}">
                <a16:creationId xmlns:a16="http://schemas.microsoft.com/office/drawing/2014/main" id="{7ED7DDE9-2984-4DDF-9A88-A009CA0EF3AF}"/>
              </a:ext>
            </a:extLst>
          </p:cNvPr>
          <p:cNvSpPr/>
          <p:nvPr/>
        </p:nvSpPr>
        <p:spPr bwMode="auto">
          <a:xfrm>
            <a:off x="6466519" y="1907861"/>
            <a:ext cx="262473" cy="2614260"/>
          </a:xfrm>
          <a:prstGeom prst="up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3769790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10173522" cy="654305"/>
          </a:xfrm>
        </p:spPr>
        <p:txBody>
          <a:bodyPr/>
          <a:lstStyle/>
          <a:p>
            <a:r>
              <a:rPr lang="en-AU" altLang="zh-TW" sz="3733" dirty="0">
                <a:ea typeface="新細明體" panose="02020500000000000000" pitchFamily="18" charset="-120"/>
              </a:rPr>
              <a:t>Operations of Exclusive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124</a:t>
            </a:fld>
            <a:endParaRPr lang="zh-TW" altLang="en-US" dirty="0"/>
          </a:p>
        </p:txBody>
      </p:sp>
      <p:sp>
        <p:nvSpPr>
          <p:cNvPr id="2" name="Rectangle 1">
            <a:extLst>
              <a:ext uri="{FF2B5EF4-FFF2-40B4-BE49-F238E27FC236}">
                <a16:creationId xmlns:a16="http://schemas.microsoft.com/office/drawing/2014/main" id="{74CF26A7-8A1D-4542-974D-13F9D2816E29}"/>
              </a:ext>
            </a:extLst>
          </p:cNvPr>
          <p:cNvSpPr/>
          <p:nvPr/>
        </p:nvSpPr>
        <p:spPr bwMode="auto">
          <a:xfrm>
            <a:off x="1507788" y="1702340"/>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Rectangle 6">
            <a:extLst>
              <a:ext uri="{FF2B5EF4-FFF2-40B4-BE49-F238E27FC236}">
                <a16:creationId xmlns:a16="http://schemas.microsoft.com/office/drawing/2014/main" id="{9AF546D6-1EED-40AE-8168-9C4A70D8D96A}"/>
              </a:ext>
            </a:extLst>
          </p:cNvPr>
          <p:cNvSpPr/>
          <p:nvPr/>
        </p:nvSpPr>
        <p:spPr bwMode="auto">
          <a:xfrm>
            <a:off x="1507788" y="2149813"/>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Rectangle 8">
            <a:extLst>
              <a:ext uri="{FF2B5EF4-FFF2-40B4-BE49-F238E27FC236}">
                <a16:creationId xmlns:a16="http://schemas.microsoft.com/office/drawing/2014/main" id="{E23793B5-3EFA-4AC7-BA45-E575FE5D7274}"/>
              </a:ext>
            </a:extLst>
          </p:cNvPr>
          <p:cNvSpPr/>
          <p:nvPr/>
        </p:nvSpPr>
        <p:spPr bwMode="auto">
          <a:xfrm>
            <a:off x="1507788" y="2981527"/>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Rectangle 9">
            <a:extLst>
              <a:ext uri="{FF2B5EF4-FFF2-40B4-BE49-F238E27FC236}">
                <a16:creationId xmlns:a16="http://schemas.microsoft.com/office/drawing/2014/main" id="{78EA78BC-B6C8-41BB-87F8-D1B0B01D22DE}"/>
              </a:ext>
            </a:extLst>
          </p:cNvPr>
          <p:cNvSpPr/>
          <p:nvPr/>
        </p:nvSpPr>
        <p:spPr bwMode="auto">
          <a:xfrm>
            <a:off x="1507788" y="3429000"/>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Rectangle 10">
            <a:extLst>
              <a:ext uri="{FF2B5EF4-FFF2-40B4-BE49-F238E27FC236}">
                <a16:creationId xmlns:a16="http://schemas.microsoft.com/office/drawing/2014/main" id="{7088D262-2CB6-4306-8336-06D288005E24}"/>
              </a:ext>
            </a:extLst>
          </p:cNvPr>
          <p:cNvSpPr/>
          <p:nvPr/>
        </p:nvSpPr>
        <p:spPr bwMode="auto">
          <a:xfrm>
            <a:off x="1507788" y="3876473"/>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2" name="Rectangle 11">
            <a:extLst>
              <a:ext uri="{FF2B5EF4-FFF2-40B4-BE49-F238E27FC236}">
                <a16:creationId xmlns:a16="http://schemas.microsoft.com/office/drawing/2014/main" id="{94E1BD28-053B-4C5E-813E-DC3329AEA5CF}"/>
              </a:ext>
            </a:extLst>
          </p:cNvPr>
          <p:cNvSpPr/>
          <p:nvPr/>
        </p:nvSpPr>
        <p:spPr bwMode="auto">
          <a:xfrm>
            <a:off x="1507788" y="4323946"/>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3" name="Rectangle 12">
            <a:extLst>
              <a:ext uri="{FF2B5EF4-FFF2-40B4-BE49-F238E27FC236}">
                <a16:creationId xmlns:a16="http://schemas.microsoft.com/office/drawing/2014/main" id="{E49F9E46-BF81-42B5-9E33-30EAF8D3A261}"/>
              </a:ext>
            </a:extLst>
          </p:cNvPr>
          <p:cNvSpPr/>
          <p:nvPr/>
        </p:nvSpPr>
        <p:spPr bwMode="auto">
          <a:xfrm>
            <a:off x="3518171"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14" name="Rectangle 13">
            <a:extLst>
              <a:ext uri="{FF2B5EF4-FFF2-40B4-BE49-F238E27FC236}">
                <a16:creationId xmlns:a16="http://schemas.microsoft.com/office/drawing/2014/main" id="{5FD55D49-89C6-4DB8-A6F6-2F530D972B99}"/>
              </a:ext>
            </a:extLst>
          </p:cNvPr>
          <p:cNvSpPr/>
          <p:nvPr/>
        </p:nvSpPr>
        <p:spPr bwMode="auto">
          <a:xfrm>
            <a:off x="3518171"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 name="Rectangle 14">
            <a:extLst>
              <a:ext uri="{FF2B5EF4-FFF2-40B4-BE49-F238E27FC236}">
                <a16:creationId xmlns:a16="http://schemas.microsoft.com/office/drawing/2014/main" id="{283A2810-8AF1-44E3-9B1B-B41182DE7802}"/>
              </a:ext>
            </a:extLst>
          </p:cNvPr>
          <p:cNvSpPr/>
          <p:nvPr/>
        </p:nvSpPr>
        <p:spPr bwMode="auto">
          <a:xfrm>
            <a:off x="3518171"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16" name="Rectangle 15">
            <a:extLst>
              <a:ext uri="{FF2B5EF4-FFF2-40B4-BE49-F238E27FC236}">
                <a16:creationId xmlns:a16="http://schemas.microsoft.com/office/drawing/2014/main" id="{199A42B2-14F7-4A54-A9AE-639BFF4A38F7}"/>
              </a:ext>
            </a:extLst>
          </p:cNvPr>
          <p:cNvSpPr/>
          <p:nvPr/>
        </p:nvSpPr>
        <p:spPr bwMode="auto">
          <a:xfrm>
            <a:off x="3518171"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7" name="Rectangle 16">
            <a:extLst>
              <a:ext uri="{FF2B5EF4-FFF2-40B4-BE49-F238E27FC236}">
                <a16:creationId xmlns:a16="http://schemas.microsoft.com/office/drawing/2014/main" id="{EDDBC552-6EDC-4DE9-BB15-246150A2880A}"/>
              </a:ext>
            </a:extLst>
          </p:cNvPr>
          <p:cNvSpPr/>
          <p:nvPr/>
        </p:nvSpPr>
        <p:spPr bwMode="auto">
          <a:xfrm>
            <a:off x="3518171"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8" name="Rectangle 17">
            <a:extLst>
              <a:ext uri="{FF2B5EF4-FFF2-40B4-BE49-F238E27FC236}">
                <a16:creationId xmlns:a16="http://schemas.microsoft.com/office/drawing/2014/main" id="{3333790A-6247-4649-B34D-FA4420D0F2E5}"/>
              </a:ext>
            </a:extLst>
          </p:cNvPr>
          <p:cNvSpPr/>
          <p:nvPr/>
        </p:nvSpPr>
        <p:spPr bwMode="auto">
          <a:xfrm>
            <a:off x="3518171"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9" name="Rectangle 18">
            <a:extLst>
              <a:ext uri="{FF2B5EF4-FFF2-40B4-BE49-F238E27FC236}">
                <a16:creationId xmlns:a16="http://schemas.microsoft.com/office/drawing/2014/main" id="{B1818A8C-2633-49DD-8B68-F38BCD0E8DB0}"/>
              </a:ext>
            </a:extLst>
          </p:cNvPr>
          <p:cNvSpPr/>
          <p:nvPr/>
        </p:nvSpPr>
        <p:spPr bwMode="auto">
          <a:xfrm>
            <a:off x="5949441"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0" name="Rectangle 19">
            <a:extLst>
              <a:ext uri="{FF2B5EF4-FFF2-40B4-BE49-F238E27FC236}">
                <a16:creationId xmlns:a16="http://schemas.microsoft.com/office/drawing/2014/main" id="{72CECB0C-0053-4201-8EE2-9D1B2D1900F6}"/>
              </a:ext>
            </a:extLst>
          </p:cNvPr>
          <p:cNvSpPr/>
          <p:nvPr/>
        </p:nvSpPr>
        <p:spPr bwMode="auto">
          <a:xfrm>
            <a:off x="5949441"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1" name="Rectangle 20">
            <a:extLst>
              <a:ext uri="{FF2B5EF4-FFF2-40B4-BE49-F238E27FC236}">
                <a16:creationId xmlns:a16="http://schemas.microsoft.com/office/drawing/2014/main" id="{637FA2F6-35A0-4508-BA1C-6CB508D8EAF8}"/>
              </a:ext>
            </a:extLst>
          </p:cNvPr>
          <p:cNvSpPr/>
          <p:nvPr/>
        </p:nvSpPr>
        <p:spPr bwMode="auto">
          <a:xfrm>
            <a:off x="5949441"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2" name="Rectangle 21">
            <a:extLst>
              <a:ext uri="{FF2B5EF4-FFF2-40B4-BE49-F238E27FC236}">
                <a16:creationId xmlns:a16="http://schemas.microsoft.com/office/drawing/2014/main" id="{52D999CB-77BD-4DBE-BBBD-E63C9EC4B368}"/>
              </a:ext>
            </a:extLst>
          </p:cNvPr>
          <p:cNvSpPr/>
          <p:nvPr/>
        </p:nvSpPr>
        <p:spPr bwMode="auto">
          <a:xfrm>
            <a:off x="5949441"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3" name="Rectangle 22">
            <a:extLst>
              <a:ext uri="{FF2B5EF4-FFF2-40B4-BE49-F238E27FC236}">
                <a16:creationId xmlns:a16="http://schemas.microsoft.com/office/drawing/2014/main" id="{60700BA3-56B6-4A6E-83D0-5DEDE8F6DEC8}"/>
              </a:ext>
            </a:extLst>
          </p:cNvPr>
          <p:cNvSpPr/>
          <p:nvPr/>
        </p:nvSpPr>
        <p:spPr bwMode="auto">
          <a:xfrm>
            <a:off x="5949441"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Rectangle 23">
            <a:extLst>
              <a:ext uri="{FF2B5EF4-FFF2-40B4-BE49-F238E27FC236}">
                <a16:creationId xmlns:a16="http://schemas.microsoft.com/office/drawing/2014/main" id="{DCCBC75E-8246-4B3C-939D-94B919120098}"/>
              </a:ext>
            </a:extLst>
          </p:cNvPr>
          <p:cNvSpPr/>
          <p:nvPr/>
        </p:nvSpPr>
        <p:spPr bwMode="auto">
          <a:xfrm>
            <a:off x="5949441"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5" name="Rectangle 24">
            <a:extLst>
              <a:ext uri="{FF2B5EF4-FFF2-40B4-BE49-F238E27FC236}">
                <a16:creationId xmlns:a16="http://schemas.microsoft.com/office/drawing/2014/main" id="{CC06B468-8B50-463E-A2FD-17F7BE11FFAE}"/>
              </a:ext>
            </a:extLst>
          </p:cNvPr>
          <p:cNvSpPr/>
          <p:nvPr/>
        </p:nvSpPr>
        <p:spPr bwMode="auto">
          <a:xfrm>
            <a:off x="8458315"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6" name="Rectangle 25">
            <a:extLst>
              <a:ext uri="{FF2B5EF4-FFF2-40B4-BE49-F238E27FC236}">
                <a16:creationId xmlns:a16="http://schemas.microsoft.com/office/drawing/2014/main" id="{EB3767C9-6AC2-449E-95F1-530CF78FFD2E}"/>
              </a:ext>
            </a:extLst>
          </p:cNvPr>
          <p:cNvSpPr/>
          <p:nvPr/>
        </p:nvSpPr>
        <p:spPr bwMode="auto">
          <a:xfrm>
            <a:off x="8458315"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7" name="Rectangle 26">
            <a:extLst>
              <a:ext uri="{FF2B5EF4-FFF2-40B4-BE49-F238E27FC236}">
                <a16:creationId xmlns:a16="http://schemas.microsoft.com/office/drawing/2014/main" id="{12A6D9E7-1318-418C-BF45-A67316056BE0}"/>
              </a:ext>
            </a:extLst>
          </p:cNvPr>
          <p:cNvSpPr/>
          <p:nvPr/>
        </p:nvSpPr>
        <p:spPr bwMode="auto">
          <a:xfrm>
            <a:off x="8458315"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8" name="Rectangle 27">
            <a:extLst>
              <a:ext uri="{FF2B5EF4-FFF2-40B4-BE49-F238E27FC236}">
                <a16:creationId xmlns:a16="http://schemas.microsoft.com/office/drawing/2014/main" id="{0223693C-6ACC-4110-9CD2-589E75471B75}"/>
              </a:ext>
            </a:extLst>
          </p:cNvPr>
          <p:cNvSpPr/>
          <p:nvPr/>
        </p:nvSpPr>
        <p:spPr bwMode="auto">
          <a:xfrm>
            <a:off x="8458315"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9" name="Rectangle 28">
            <a:extLst>
              <a:ext uri="{FF2B5EF4-FFF2-40B4-BE49-F238E27FC236}">
                <a16:creationId xmlns:a16="http://schemas.microsoft.com/office/drawing/2014/main" id="{49FE069A-0736-4FF0-BB6C-C520B2CECB55}"/>
              </a:ext>
            </a:extLst>
          </p:cNvPr>
          <p:cNvSpPr/>
          <p:nvPr/>
        </p:nvSpPr>
        <p:spPr bwMode="auto">
          <a:xfrm>
            <a:off x="8458315"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0" name="Rectangle 29">
            <a:extLst>
              <a:ext uri="{FF2B5EF4-FFF2-40B4-BE49-F238E27FC236}">
                <a16:creationId xmlns:a16="http://schemas.microsoft.com/office/drawing/2014/main" id="{DE7F7858-2B60-4A34-B5D2-90ADE05EA246}"/>
              </a:ext>
            </a:extLst>
          </p:cNvPr>
          <p:cNvSpPr/>
          <p:nvPr/>
        </p:nvSpPr>
        <p:spPr bwMode="auto">
          <a:xfrm>
            <a:off x="8458315"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TextBox 7">
            <a:extLst>
              <a:ext uri="{FF2B5EF4-FFF2-40B4-BE49-F238E27FC236}">
                <a16:creationId xmlns:a16="http://schemas.microsoft.com/office/drawing/2014/main" id="{689FC512-5AD5-4B1F-8C9F-79D9920584AA}"/>
              </a:ext>
            </a:extLst>
          </p:cNvPr>
          <p:cNvSpPr txBox="1"/>
          <p:nvPr/>
        </p:nvSpPr>
        <p:spPr>
          <a:xfrm>
            <a:off x="1016450" y="1952621"/>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38" name="TextBox 37">
            <a:extLst>
              <a:ext uri="{FF2B5EF4-FFF2-40B4-BE49-F238E27FC236}">
                <a16:creationId xmlns:a16="http://schemas.microsoft.com/office/drawing/2014/main" id="{98E4A92F-3FFD-4DE7-AA26-04FBF05148C7}"/>
              </a:ext>
            </a:extLst>
          </p:cNvPr>
          <p:cNvSpPr txBox="1"/>
          <p:nvPr/>
        </p:nvSpPr>
        <p:spPr>
          <a:xfrm>
            <a:off x="3077025" y="20042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39" name="TextBox 38">
            <a:extLst>
              <a:ext uri="{FF2B5EF4-FFF2-40B4-BE49-F238E27FC236}">
                <a16:creationId xmlns:a16="http://schemas.microsoft.com/office/drawing/2014/main" id="{756C0C23-32E8-4E42-8609-600C8AD354D0}"/>
              </a:ext>
            </a:extLst>
          </p:cNvPr>
          <p:cNvSpPr txBox="1"/>
          <p:nvPr/>
        </p:nvSpPr>
        <p:spPr>
          <a:xfrm>
            <a:off x="5589436" y="20042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0" name="TextBox 39">
            <a:extLst>
              <a:ext uri="{FF2B5EF4-FFF2-40B4-BE49-F238E27FC236}">
                <a16:creationId xmlns:a16="http://schemas.microsoft.com/office/drawing/2014/main" id="{8FFF64DA-5AF7-43E0-8069-385D169F44A8}"/>
              </a:ext>
            </a:extLst>
          </p:cNvPr>
          <p:cNvSpPr txBox="1"/>
          <p:nvPr/>
        </p:nvSpPr>
        <p:spPr>
          <a:xfrm>
            <a:off x="8119379" y="202087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2" name="TextBox 41">
            <a:extLst>
              <a:ext uri="{FF2B5EF4-FFF2-40B4-BE49-F238E27FC236}">
                <a16:creationId xmlns:a16="http://schemas.microsoft.com/office/drawing/2014/main" id="{7F427F55-92A4-4E56-B785-955944E0DF27}"/>
              </a:ext>
            </a:extLst>
          </p:cNvPr>
          <p:cNvSpPr txBox="1"/>
          <p:nvPr/>
        </p:nvSpPr>
        <p:spPr>
          <a:xfrm>
            <a:off x="1016450" y="369180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3" name="TextBox 42">
            <a:extLst>
              <a:ext uri="{FF2B5EF4-FFF2-40B4-BE49-F238E27FC236}">
                <a16:creationId xmlns:a16="http://schemas.microsoft.com/office/drawing/2014/main" id="{0BAD7E73-84CE-4DED-9B5A-586E2BAFE7F7}"/>
              </a:ext>
            </a:extLst>
          </p:cNvPr>
          <p:cNvSpPr txBox="1"/>
          <p:nvPr/>
        </p:nvSpPr>
        <p:spPr>
          <a:xfrm>
            <a:off x="3077025" y="371142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4" name="TextBox 43">
            <a:extLst>
              <a:ext uri="{FF2B5EF4-FFF2-40B4-BE49-F238E27FC236}">
                <a16:creationId xmlns:a16="http://schemas.microsoft.com/office/drawing/2014/main" id="{F8FA3CAF-971D-48C9-83F2-369D0A97DD45}"/>
              </a:ext>
            </a:extLst>
          </p:cNvPr>
          <p:cNvSpPr txBox="1"/>
          <p:nvPr/>
        </p:nvSpPr>
        <p:spPr>
          <a:xfrm>
            <a:off x="5587883" y="3740605"/>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5" name="TextBox 44">
            <a:extLst>
              <a:ext uri="{FF2B5EF4-FFF2-40B4-BE49-F238E27FC236}">
                <a16:creationId xmlns:a16="http://schemas.microsoft.com/office/drawing/2014/main" id="{8F5928D9-D81D-4BC7-B29B-027A7F083D71}"/>
              </a:ext>
            </a:extLst>
          </p:cNvPr>
          <p:cNvSpPr txBox="1"/>
          <p:nvPr/>
        </p:nvSpPr>
        <p:spPr>
          <a:xfrm>
            <a:off x="8130660" y="3740605"/>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37" name="TextBox 36">
            <a:extLst>
              <a:ext uri="{FF2B5EF4-FFF2-40B4-BE49-F238E27FC236}">
                <a16:creationId xmlns:a16="http://schemas.microsoft.com/office/drawing/2014/main" id="{28310F65-4BFC-4065-86A5-2AEF0E48E87A}"/>
              </a:ext>
            </a:extLst>
          </p:cNvPr>
          <p:cNvSpPr txBox="1"/>
          <p:nvPr/>
        </p:nvSpPr>
        <p:spPr>
          <a:xfrm>
            <a:off x="818734" y="4970994"/>
            <a:ext cx="2146742" cy="369332"/>
          </a:xfrm>
          <a:prstGeom prst="rect">
            <a:avLst/>
          </a:prstGeom>
          <a:noFill/>
        </p:spPr>
        <p:txBody>
          <a:bodyPr wrap="none" rtlCol="0" anchor="ctr" anchorCtr="1">
            <a:spAutoFit/>
          </a:bodyPr>
          <a:lstStyle/>
          <a:p>
            <a:r>
              <a:rPr lang="en-US" dirty="0">
                <a:ea typeface="標楷體" pitchFamily="65" charset="-120"/>
                <a:cs typeface="Calibri" pitchFamily="34" charset="0"/>
              </a:rPr>
              <a:t>Case 1: Initial state</a:t>
            </a:r>
          </a:p>
        </p:txBody>
      </p:sp>
      <p:sp>
        <p:nvSpPr>
          <p:cNvPr id="48" name="TextBox 47">
            <a:extLst>
              <a:ext uri="{FF2B5EF4-FFF2-40B4-BE49-F238E27FC236}">
                <a16:creationId xmlns:a16="http://schemas.microsoft.com/office/drawing/2014/main" id="{A73D57E8-994C-4C0A-9220-FF749B96A627}"/>
              </a:ext>
            </a:extLst>
          </p:cNvPr>
          <p:cNvSpPr txBox="1"/>
          <p:nvPr/>
        </p:nvSpPr>
        <p:spPr>
          <a:xfrm>
            <a:off x="2965476" y="4891012"/>
            <a:ext cx="2364750" cy="923330"/>
          </a:xfrm>
          <a:prstGeom prst="rect">
            <a:avLst/>
          </a:prstGeom>
          <a:noFill/>
        </p:spPr>
        <p:txBody>
          <a:bodyPr wrap="none" rtlCol="0" anchor="ctr" anchorCtr="1">
            <a:spAutoFit/>
          </a:bodyPr>
          <a:lstStyle/>
          <a:p>
            <a:r>
              <a:rPr lang="en-US" dirty="0">
                <a:ea typeface="標楷體" pitchFamily="65" charset="-120"/>
                <a:cs typeface="Calibri" pitchFamily="34" charset="0"/>
              </a:rPr>
              <a:t>Case 2: X miss in L1,</a:t>
            </a:r>
          </a:p>
          <a:p>
            <a:r>
              <a:rPr lang="en-US" dirty="0">
                <a:ea typeface="標楷體" pitchFamily="65" charset="-120"/>
                <a:cs typeface="Calibri" pitchFamily="34" charset="0"/>
              </a:rPr>
              <a:t>moved from memory</a:t>
            </a:r>
          </a:p>
          <a:p>
            <a:r>
              <a:rPr lang="en-US" dirty="0">
                <a:ea typeface="標楷體" pitchFamily="65" charset="-120"/>
                <a:cs typeface="Calibri" pitchFamily="34" charset="0"/>
              </a:rPr>
              <a:t>to L1 directly</a:t>
            </a:r>
          </a:p>
        </p:txBody>
      </p:sp>
      <p:sp>
        <p:nvSpPr>
          <p:cNvPr id="49" name="TextBox 48">
            <a:extLst>
              <a:ext uri="{FF2B5EF4-FFF2-40B4-BE49-F238E27FC236}">
                <a16:creationId xmlns:a16="http://schemas.microsoft.com/office/drawing/2014/main" id="{FF3F6A12-3696-44AE-B94A-6EACFFBB8610}"/>
              </a:ext>
            </a:extLst>
          </p:cNvPr>
          <p:cNvSpPr txBox="1"/>
          <p:nvPr/>
        </p:nvSpPr>
        <p:spPr>
          <a:xfrm>
            <a:off x="5260494" y="5014932"/>
            <a:ext cx="2292294" cy="369332"/>
          </a:xfrm>
          <a:prstGeom prst="rect">
            <a:avLst/>
          </a:prstGeom>
          <a:noFill/>
        </p:spPr>
        <p:txBody>
          <a:bodyPr wrap="none" rtlCol="0" anchor="ctr" anchorCtr="1">
            <a:spAutoFit/>
          </a:bodyPr>
          <a:lstStyle/>
          <a:p>
            <a:r>
              <a:rPr lang="en-US" dirty="0">
                <a:ea typeface="標楷體" pitchFamily="65" charset="-120"/>
                <a:cs typeface="Calibri" pitchFamily="34" charset="0"/>
              </a:rPr>
              <a:t>Case 3: Y miss in L1</a:t>
            </a:r>
          </a:p>
        </p:txBody>
      </p:sp>
      <p:sp>
        <p:nvSpPr>
          <p:cNvPr id="50" name="TextBox 49">
            <a:extLst>
              <a:ext uri="{FF2B5EF4-FFF2-40B4-BE49-F238E27FC236}">
                <a16:creationId xmlns:a16="http://schemas.microsoft.com/office/drawing/2014/main" id="{C3CDE96A-36FC-43F3-88FA-32C5F7C31AD5}"/>
              </a:ext>
            </a:extLst>
          </p:cNvPr>
          <p:cNvSpPr txBox="1"/>
          <p:nvPr/>
        </p:nvSpPr>
        <p:spPr>
          <a:xfrm>
            <a:off x="7501717" y="4858781"/>
            <a:ext cx="3048077" cy="646331"/>
          </a:xfrm>
          <a:prstGeom prst="rect">
            <a:avLst/>
          </a:prstGeom>
          <a:noFill/>
        </p:spPr>
        <p:txBody>
          <a:bodyPr wrap="square" rtlCol="0" anchor="ctr" anchorCtr="1">
            <a:spAutoFit/>
          </a:bodyPr>
          <a:lstStyle/>
          <a:p>
            <a:r>
              <a:rPr lang="en-US" dirty="0">
                <a:ea typeface="標楷體" pitchFamily="65" charset="-120"/>
                <a:cs typeface="Calibri" pitchFamily="34" charset="0"/>
              </a:rPr>
              <a:t>Case 4: X evicted from L1,</a:t>
            </a:r>
          </a:p>
          <a:p>
            <a:r>
              <a:rPr lang="en-US" dirty="0">
                <a:ea typeface="標楷體" pitchFamily="65" charset="-120"/>
                <a:cs typeface="Calibri" pitchFamily="34" charset="0"/>
              </a:rPr>
              <a:t>must be placed in L2.</a:t>
            </a:r>
          </a:p>
        </p:txBody>
      </p:sp>
      <p:sp>
        <p:nvSpPr>
          <p:cNvPr id="52" name="Arrow: Curved Down 51">
            <a:extLst>
              <a:ext uri="{FF2B5EF4-FFF2-40B4-BE49-F238E27FC236}">
                <a16:creationId xmlns:a16="http://schemas.microsoft.com/office/drawing/2014/main" id="{EF7D3BA1-27F1-4695-AD28-B6B62C81429E}"/>
              </a:ext>
            </a:extLst>
          </p:cNvPr>
          <p:cNvSpPr/>
          <p:nvPr/>
        </p:nvSpPr>
        <p:spPr bwMode="auto">
          <a:xfrm rot="5400000">
            <a:off x="9016852" y="2221451"/>
            <a:ext cx="1389596" cy="667621"/>
          </a:xfrm>
          <a:prstGeom prst="curved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4" name="Arrow: Up 53">
            <a:extLst>
              <a:ext uri="{FF2B5EF4-FFF2-40B4-BE49-F238E27FC236}">
                <a16:creationId xmlns:a16="http://schemas.microsoft.com/office/drawing/2014/main" id="{89F73EE5-A041-4F09-8DC6-DEA146A4385B}"/>
              </a:ext>
            </a:extLst>
          </p:cNvPr>
          <p:cNvSpPr/>
          <p:nvPr/>
        </p:nvSpPr>
        <p:spPr bwMode="auto">
          <a:xfrm>
            <a:off x="4474723" y="1860463"/>
            <a:ext cx="262473" cy="1028652"/>
          </a:xfrm>
          <a:prstGeom prst="up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Arrow: Up 55">
            <a:extLst>
              <a:ext uri="{FF2B5EF4-FFF2-40B4-BE49-F238E27FC236}">
                <a16:creationId xmlns:a16="http://schemas.microsoft.com/office/drawing/2014/main" id="{7ED7DDE9-2984-4DDF-9A88-A009CA0EF3AF}"/>
              </a:ext>
            </a:extLst>
          </p:cNvPr>
          <p:cNvSpPr/>
          <p:nvPr/>
        </p:nvSpPr>
        <p:spPr bwMode="auto">
          <a:xfrm>
            <a:off x="6887405" y="2233683"/>
            <a:ext cx="262473" cy="655431"/>
          </a:xfrm>
          <a:prstGeom prst="up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5989699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229033" y="75894"/>
            <a:ext cx="9627226" cy="758825"/>
          </a:xfrm>
        </p:spPr>
        <p:txBody>
          <a:bodyPr/>
          <a:lstStyle/>
          <a:p>
            <a:r>
              <a:rPr lang="en-US" altLang="zh-TW" dirty="0"/>
              <a:t>Interactions with Advanced CPUs</a:t>
            </a:r>
            <a:endParaRPr lang="en-AU" altLang="zh-TW" dirty="0">
              <a:ea typeface="新細明體" panose="02020500000000000000" pitchFamily="18" charset="-120"/>
            </a:endParaRPr>
          </a:p>
        </p:txBody>
      </p:sp>
      <p:sp>
        <p:nvSpPr>
          <p:cNvPr id="70659" name="Rectangle 3"/>
          <p:cNvSpPr>
            <a:spLocks noGrp="1" noChangeArrowheads="1"/>
          </p:cNvSpPr>
          <p:nvPr>
            <p:ph type="body" idx="1"/>
          </p:nvPr>
        </p:nvSpPr>
        <p:spPr>
          <a:xfrm>
            <a:off x="583660" y="1125538"/>
            <a:ext cx="10998740" cy="4526232"/>
          </a:xfrm>
        </p:spPr>
        <p:txBody>
          <a:bodyPr/>
          <a:lstStyle/>
          <a:p>
            <a:r>
              <a:rPr lang="en-US" altLang="zh-TW" sz="2667" dirty="0"/>
              <a:t>Out-of-order (OOO) CPUs can execute instructions during a cache miss</a:t>
            </a:r>
          </a:p>
          <a:p>
            <a:pPr lvl="1"/>
            <a:r>
              <a:rPr lang="en-US" altLang="zh-TW" sz="2666" dirty="0"/>
              <a:t>Independent instructions continue</a:t>
            </a:r>
          </a:p>
          <a:p>
            <a:pPr lvl="1"/>
            <a:r>
              <a:rPr lang="en-US" altLang="zh-TW" sz="2666" dirty="0"/>
              <a:t>With non-blocking caches, OOO can trigger multiple cache misses to overlap</a:t>
            </a:r>
          </a:p>
          <a:p>
            <a:r>
              <a:rPr lang="en-US" altLang="zh-TW" sz="2667" dirty="0"/>
              <a:t> The effect of a cache miss depends on the program data flow</a:t>
            </a:r>
          </a:p>
          <a:p>
            <a:pPr lvl="1"/>
            <a:r>
              <a:rPr lang="en-US" altLang="zh-TW" sz="2400" dirty="0"/>
              <a:t>Much harder to analyze</a:t>
            </a:r>
          </a:p>
          <a:p>
            <a:pPr lvl="1"/>
            <a:r>
              <a:rPr lang="en-US" altLang="zh-TW" sz="2400" dirty="0"/>
              <a:t>Use system simulations – this is why you need to know how to write $-simulator</a:t>
            </a:r>
          </a:p>
          <a:p>
            <a:pPr lvl="1"/>
            <a:r>
              <a:rPr lang="en-US" altLang="zh-TW" sz="2400" dirty="0">
                <a:ea typeface="新細明體" panose="02020500000000000000" pitchFamily="18" charset="-120"/>
              </a:rPr>
              <a:t>Collect cache miss profiles</a:t>
            </a:r>
          </a:p>
          <a:p>
            <a:pPr lvl="1"/>
            <a:r>
              <a:rPr lang="en-US" altLang="zh-TW" sz="2400" dirty="0">
                <a:ea typeface="新細明體" panose="02020500000000000000" pitchFamily="18" charset="-120"/>
              </a:rPr>
              <a:t>Cache misses are likely to be correlated – imagine an AI-based cache prefetcher! Is it possible to use ML to detect such correlations?</a:t>
            </a:r>
            <a:endParaRPr lang="en-AU" altLang="zh-TW" sz="24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125</a:t>
            </a:fld>
            <a:endParaRPr lang="zh-TW" altLang="en-US" dirty="0"/>
          </a:p>
        </p:txBody>
      </p:sp>
    </p:spTree>
    <p:extLst>
      <p:ext uri="{BB962C8B-B14F-4D97-AF65-F5344CB8AC3E}">
        <p14:creationId xmlns:p14="http://schemas.microsoft.com/office/powerpoint/2010/main" val="176649760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type="title"/>
          </p:nvPr>
        </p:nvSpPr>
        <p:spPr>
          <a:xfrm>
            <a:off x="1258530" y="173039"/>
            <a:ext cx="9047521" cy="643039"/>
          </a:xfrm>
        </p:spPr>
        <p:txBody>
          <a:bodyPr/>
          <a:lstStyle/>
          <a:p>
            <a:r>
              <a:rPr lang="en-US" altLang="zh-TW" dirty="0"/>
              <a:t>Interactions with Software</a:t>
            </a:r>
            <a:endParaRPr lang="en-AU" altLang="zh-TW" dirty="0">
              <a:ea typeface="新細明體" panose="02020500000000000000" pitchFamily="18" charset="-120"/>
            </a:endParaRPr>
          </a:p>
        </p:txBody>
      </p:sp>
      <p:sp>
        <p:nvSpPr>
          <p:cNvPr id="71683" name="Rectangle 4"/>
          <p:cNvSpPr>
            <a:spLocks noGrp="1" noChangeArrowheads="1"/>
          </p:cNvSpPr>
          <p:nvPr>
            <p:ph type="body" idx="1"/>
          </p:nvPr>
        </p:nvSpPr>
        <p:spPr>
          <a:xfrm>
            <a:off x="537497" y="1135702"/>
            <a:ext cx="11057873" cy="2005445"/>
          </a:xfrm>
        </p:spPr>
        <p:txBody>
          <a:bodyPr/>
          <a:lstStyle/>
          <a:p>
            <a:r>
              <a:rPr lang="en-AU" altLang="zh-TW" sz="2400" dirty="0">
                <a:ea typeface="新細明體" panose="02020500000000000000" pitchFamily="18" charset="-120"/>
              </a:rPr>
              <a:t>Figure </a:t>
            </a:r>
            <a:r>
              <a:rPr lang="en-AU" altLang="zh-TW" sz="2400" b="1" dirty="0">
                <a:ea typeface="新細明體" panose="02020500000000000000" pitchFamily="18" charset="-120"/>
              </a:rPr>
              <a:t>a</a:t>
            </a:r>
            <a:r>
              <a:rPr lang="en-AU" altLang="zh-TW" sz="2400" dirty="0">
                <a:ea typeface="新細明體" panose="02020500000000000000" pitchFamily="18" charset="-120"/>
              </a:rPr>
              <a:t> shows that when the size of data is large, Radix sort needs fewer operations than the quicksort!</a:t>
            </a:r>
          </a:p>
          <a:p>
            <a:r>
              <a:rPr lang="en-AU" altLang="zh-TW" sz="2400" dirty="0">
                <a:ea typeface="新細明體" panose="02020500000000000000" pitchFamily="18" charset="-120"/>
              </a:rPr>
              <a:t>Figure </a:t>
            </a:r>
            <a:r>
              <a:rPr lang="en-AU" altLang="zh-TW" sz="2400" b="1" dirty="0">
                <a:ea typeface="新細明體" panose="02020500000000000000" pitchFamily="18" charset="-120"/>
              </a:rPr>
              <a:t>b</a:t>
            </a:r>
            <a:r>
              <a:rPr lang="en-AU" altLang="zh-TW" sz="2400" dirty="0">
                <a:ea typeface="新細明體" panose="02020500000000000000" pitchFamily="18" charset="-120"/>
              </a:rPr>
              <a:t> shows when the size of data is large, the runtime of Radix sort is not faster!</a:t>
            </a:r>
          </a:p>
          <a:p>
            <a:r>
              <a:rPr lang="en-AU" altLang="zh-TW" sz="2400" dirty="0">
                <a:ea typeface="新細明體" panose="02020500000000000000" pitchFamily="18" charset="-120"/>
              </a:rPr>
              <a:t>Figure </a:t>
            </a:r>
            <a:r>
              <a:rPr lang="en-AU" altLang="zh-TW" sz="2400" b="1" dirty="0">
                <a:ea typeface="新細明體" panose="02020500000000000000" pitchFamily="18" charset="-120"/>
              </a:rPr>
              <a:t>c</a:t>
            </a:r>
            <a:r>
              <a:rPr lang="en-AU" altLang="zh-TW" sz="2400" dirty="0">
                <a:ea typeface="新細明體" panose="02020500000000000000" pitchFamily="18" charset="-120"/>
              </a:rPr>
              <a:t> shows, when the size of data is large, Radix sort would suffer from more cache misses.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126</a:t>
            </a:fld>
            <a:endParaRPr lang="zh-TW" altLang="en-US" dirty="0"/>
          </a:p>
        </p:txBody>
      </p:sp>
      <p:grpSp>
        <p:nvGrpSpPr>
          <p:cNvPr id="2" name="组合 1"/>
          <p:cNvGrpSpPr/>
          <p:nvPr/>
        </p:nvGrpSpPr>
        <p:grpSpPr>
          <a:xfrm>
            <a:off x="537497" y="3084187"/>
            <a:ext cx="11162889" cy="2770520"/>
            <a:chOff x="322007" y="2791617"/>
            <a:chExt cx="7062983" cy="1284157"/>
          </a:xfrm>
        </p:grpSpPr>
        <p:pic>
          <p:nvPicPr>
            <p:cNvPr id="71684" name="Picture 2" descr="f05-18-P374493"/>
            <p:cNvPicPr>
              <a:picLocks noChangeAspect="1" noChangeArrowheads="1"/>
            </p:cNvPicPr>
            <p:nvPr/>
          </p:nvPicPr>
          <p:blipFill rotWithShape="1">
            <a:blip r:embed="rId3"/>
            <a:srcRect t="66317"/>
            <a:stretch>
              <a:fillRect/>
            </a:stretch>
          </p:blipFill>
          <p:spPr bwMode="auto">
            <a:xfrm>
              <a:off x="5228303" y="2818019"/>
              <a:ext cx="2156687" cy="1223768"/>
            </a:xfrm>
            <a:prstGeom prst="rect">
              <a:avLst/>
            </a:prstGeom>
            <a:solidFill>
              <a:srgbClr val="FFFFFF"/>
            </a:solidFill>
            <a:ln w="9525">
              <a:noFill/>
              <a:miter lim="800000"/>
              <a:headEnd/>
              <a:tailEnd/>
            </a:ln>
          </p:spPr>
        </p:pic>
        <p:pic>
          <p:nvPicPr>
            <p:cNvPr id="7" name="Picture 2" descr="f05-18-P374493"/>
            <p:cNvPicPr>
              <a:picLocks noChangeAspect="1" noChangeArrowheads="1"/>
            </p:cNvPicPr>
            <p:nvPr/>
          </p:nvPicPr>
          <p:blipFill rotWithShape="1">
            <a:blip r:embed="rId3"/>
            <a:srcRect b="66091"/>
            <a:stretch>
              <a:fillRect/>
            </a:stretch>
          </p:blipFill>
          <p:spPr bwMode="auto">
            <a:xfrm>
              <a:off x="322007" y="2843819"/>
              <a:ext cx="2156687" cy="1231955"/>
            </a:xfrm>
            <a:prstGeom prst="rect">
              <a:avLst/>
            </a:prstGeom>
            <a:solidFill>
              <a:srgbClr val="FFFFFF"/>
            </a:solidFill>
            <a:ln w="9525">
              <a:noFill/>
              <a:miter lim="800000"/>
              <a:headEnd/>
              <a:tailEnd/>
            </a:ln>
          </p:spPr>
        </p:pic>
        <p:pic>
          <p:nvPicPr>
            <p:cNvPr id="8" name="Picture 2" descr="f05-18-P374493"/>
            <p:cNvPicPr>
              <a:picLocks noChangeAspect="1" noChangeArrowheads="1"/>
            </p:cNvPicPr>
            <p:nvPr/>
          </p:nvPicPr>
          <p:blipFill rotWithShape="1">
            <a:blip r:embed="rId3"/>
            <a:srcRect t="32150" b="33751"/>
            <a:stretch>
              <a:fillRect/>
            </a:stretch>
          </p:blipFill>
          <p:spPr bwMode="auto">
            <a:xfrm>
              <a:off x="2789902" y="2791617"/>
              <a:ext cx="2175096" cy="1249439"/>
            </a:xfrm>
            <a:prstGeom prst="rect">
              <a:avLst/>
            </a:prstGeom>
            <a:solidFill>
              <a:srgbClr val="FFFFFF"/>
            </a:solidFill>
            <a:ln w="9525">
              <a:noFill/>
              <a:miter lim="800000"/>
              <a:headEnd/>
              <a:tailEnd/>
            </a:ln>
          </p:spPr>
        </p:pic>
      </p:grpSp>
      <p:sp>
        <p:nvSpPr>
          <p:cNvPr id="3" name="TextBox 2">
            <a:extLst>
              <a:ext uri="{FF2B5EF4-FFF2-40B4-BE49-F238E27FC236}">
                <a16:creationId xmlns:a16="http://schemas.microsoft.com/office/drawing/2014/main" id="{1B02DD9C-51AA-4B83-B5D4-F241D2535967}"/>
              </a:ext>
            </a:extLst>
          </p:cNvPr>
          <p:cNvSpPr txBox="1"/>
          <p:nvPr/>
        </p:nvSpPr>
        <p:spPr>
          <a:xfrm>
            <a:off x="2286000" y="5667534"/>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a</a:t>
            </a:r>
          </a:p>
        </p:txBody>
      </p:sp>
      <p:sp>
        <p:nvSpPr>
          <p:cNvPr id="10" name="TextBox 9">
            <a:extLst>
              <a:ext uri="{FF2B5EF4-FFF2-40B4-BE49-F238E27FC236}">
                <a16:creationId xmlns:a16="http://schemas.microsoft.com/office/drawing/2014/main" id="{C8DE50BF-5746-4538-B68D-27A5FECD5AA4}"/>
              </a:ext>
            </a:extLst>
          </p:cNvPr>
          <p:cNvSpPr txBox="1"/>
          <p:nvPr/>
        </p:nvSpPr>
        <p:spPr>
          <a:xfrm>
            <a:off x="6186454" y="5667533"/>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b</a:t>
            </a:r>
          </a:p>
        </p:txBody>
      </p:sp>
      <p:sp>
        <p:nvSpPr>
          <p:cNvPr id="11" name="TextBox 10">
            <a:extLst>
              <a:ext uri="{FF2B5EF4-FFF2-40B4-BE49-F238E27FC236}">
                <a16:creationId xmlns:a16="http://schemas.microsoft.com/office/drawing/2014/main" id="{96E71EFB-49E3-41EA-92FF-EF5AD887E718}"/>
              </a:ext>
            </a:extLst>
          </p:cNvPr>
          <p:cNvSpPr txBox="1"/>
          <p:nvPr/>
        </p:nvSpPr>
        <p:spPr>
          <a:xfrm>
            <a:off x="10118829" y="5691339"/>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c</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type="title"/>
          </p:nvPr>
        </p:nvSpPr>
        <p:spPr>
          <a:xfrm>
            <a:off x="1258530" y="173039"/>
            <a:ext cx="9047521" cy="643039"/>
          </a:xfrm>
        </p:spPr>
        <p:txBody>
          <a:bodyPr/>
          <a:lstStyle/>
          <a:p>
            <a:r>
              <a:rPr lang="en-US" altLang="zh-TW" dirty="0"/>
              <a:t>Interactions with Software</a:t>
            </a:r>
            <a:endParaRPr lang="en-AU" altLang="zh-TW" dirty="0">
              <a:ea typeface="新細明體" panose="02020500000000000000" pitchFamily="18" charset="-120"/>
            </a:endParaRPr>
          </a:p>
        </p:txBody>
      </p:sp>
      <p:sp>
        <p:nvSpPr>
          <p:cNvPr id="71683" name="Rectangle 4"/>
          <p:cNvSpPr>
            <a:spLocks noGrp="1" noChangeArrowheads="1"/>
          </p:cNvSpPr>
          <p:nvPr>
            <p:ph type="body" idx="1"/>
          </p:nvPr>
        </p:nvSpPr>
        <p:spPr>
          <a:xfrm>
            <a:off x="537497" y="1135702"/>
            <a:ext cx="11057873" cy="2005445"/>
          </a:xfrm>
        </p:spPr>
        <p:txBody>
          <a:bodyPr/>
          <a:lstStyle/>
          <a:p>
            <a:r>
              <a:rPr lang="en-AU" altLang="zh-TW" sz="2400" dirty="0">
                <a:ea typeface="新細明體" panose="02020500000000000000" pitchFamily="18" charset="-120"/>
              </a:rPr>
              <a:t>Figure a shows that when the size of data is large, Radix sort needs fewer operations than the quicksort!</a:t>
            </a:r>
          </a:p>
          <a:p>
            <a:r>
              <a:rPr lang="en-AU" altLang="zh-TW" sz="2400" dirty="0">
                <a:ea typeface="新細明體" panose="02020500000000000000" pitchFamily="18" charset="-120"/>
              </a:rPr>
              <a:t>Figure b shows when the size of data is large, the runtime of Radix sort is not faster!</a:t>
            </a:r>
          </a:p>
          <a:p>
            <a:r>
              <a:rPr lang="en-AU" altLang="zh-TW" sz="2400" dirty="0">
                <a:ea typeface="新細明體" panose="02020500000000000000" pitchFamily="18" charset="-120"/>
              </a:rPr>
              <a:t>Figure c shows, when the size of data is large, Radix sort would suffer from more cache misses.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127</a:t>
            </a:fld>
            <a:endParaRPr lang="zh-TW" altLang="en-US" dirty="0"/>
          </a:p>
        </p:txBody>
      </p:sp>
      <p:grpSp>
        <p:nvGrpSpPr>
          <p:cNvPr id="2" name="组合 1"/>
          <p:cNvGrpSpPr/>
          <p:nvPr/>
        </p:nvGrpSpPr>
        <p:grpSpPr>
          <a:xfrm>
            <a:off x="537497" y="3084187"/>
            <a:ext cx="11162889" cy="2770520"/>
            <a:chOff x="322007" y="2791617"/>
            <a:chExt cx="7062983" cy="1284157"/>
          </a:xfrm>
        </p:grpSpPr>
        <p:pic>
          <p:nvPicPr>
            <p:cNvPr id="71684" name="Picture 2" descr="f05-18-P374493"/>
            <p:cNvPicPr>
              <a:picLocks noChangeAspect="1" noChangeArrowheads="1"/>
            </p:cNvPicPr>
            <p:nvPr/>
          </p:nvPicPr>
          <p:blipFill rotWithShape="1">
            <a:blip r:embed="rId3"/>
            <a:srcRect t="66317"/>
            <a:stretch>
              <a:fillRect/>
            </a:stretch>
          </p:blipFill>
          <p:spPr bwMode="auto">
            <a:xfrm>
              <a:off x="5228303" y="2818019"/>
              <a:ext cx="2156687" cy="1223768"/>
            </a:xfrm>
            <a:prstGeom prst="rect">
              <a:avLst/>
            </a:prstGeom>
            <a:solidFill>
              <a:srgbClr val="FFFFFF"/>
            </a:solidFill>
            <a:ln w="9525">
              <a:noFill/>
              <a:miter lim="800000"/>
              <a:headEnd/>
              <a:tailEnd/>
            </a:ln>
          </p:spPr>
        </p:pic>
        <p:pic>
          <p:nvPicPr>
            <p:cNvPr id="7" name="Picture 2" descr="f05-18-P374493"/>
            <p:cNvPicPr>
              <a:picLocks noChangeAspect="1" noChangeArrowheads="1"/>
            </p:cNvPicPr>
            <p:nvPr/>
          </p:nvPicPr>
          <p:blipFill rotWithShape="1">
            <a:blip r:embed="rId3"/>
            <a:srcRect b="66091"/>
            <a:stretch>
              <a:fillRect/>
            </a:stretch>
          </p:blipFill>
          <p:spPr bwMode="auto">
            <a:xfrm>
              <a:off x="322007" y="2843819"/>
              <a:ext cx="2156687" cy="1231955"/>
            </a:xfrm>
            <a:prstGeom prst="rect">
              <a:avLst/>
            </a:prstGeom>
            <a:solidFill>
              <a:srgbClr val="FFFFFF"/>
            </a:solidFill>
            <a:ln w="9525">
              <a:noFill/>
              <a:miter lim="800000"/>
              <a:headEnd/>
              <a:tailEnd/>
            </a:ln>
          </p:spPr>
        </p:pic>
        <p:pic>
          <p:nvPicPr>
            <p:cNvPr id="8" name="Picture 2" descr="f05-18-P374493"/>
            <p:cNvPicPr>
              <a:picLocks noChangeAspect="1" noChangeArrowheads="1"/>
            </p:cNvPicPr>
            <p:nvPr/>
          </p:nvPicPr>
          <p:blipFill rotWithShape="1">
            <a:blip r:embed="rId3"/>
            <a:srcRect t="32150" b="33751"/>
            <a:stretch>
              <a:fillRect/>
            </a:stretch>
          </p:blipFill>
          <p:spPr bwMode="auto">
            <a:xfrm>
              <a:off x="2789902" y="2791617"/>
              <a:ext cx="2175096" cy="1249439"/>
            </a:xfrm>
            <a:prstGeom prst="rect">
              <a:avLst/>
            </a:prstGeom>
            <a:solidFill>
              <a:srgbClr val="FFFFFF"/>
            </a:solidFill>
            <a:ln w="9525">
              <a:noFill/>
              <a:miter lim="800000"/>
              <a:headEnd/>
              <a:tailEnd/>
            </a:ln>
          </p:spPr>
        </p:pic>
      </p:grpSp>
      <p:sp>
        <p:nvSpPr>
          <p:cNvPr id="9" name="TextBox 8">
            <a:extLst>
              <a:ext uri="{FF2B5EF4-FFF2-40B4-BE49-F238E27FC236}">
                <a16:creationId xmlns:a16="http://schemas.microsoft.com/office/drawing/2014/main" id="{ECDABC3B-49ED-45AE-B3EA-87FB9D3DF0B0}"/>
              </a:ext>
            </a:extLst>
          </p:cNvPr>
          <p:cNvSpPr txBox="1"/>
          <p:nvPr/>
        </p:nvSpPr>
        <p:spPr>
          <a:xfrm>
            <a:off x="8521776" y="2875996"/>
            <a:ext cx="3281668" cy="584775"/>
          </a:xfrm>
          <a:prstGeom prst="rect">
            <a:avLst/>
          </a:prstGeom>
          <a:solidFill>
            <a:srgbClr val="FFFF00"/>
          </a:solidFill>
          <a:ln>
            <a:solidFill>
              <a:srgbClr val="FF0000"/>
            </a:solidFill>
          </a:ln>
        </p:spPr>
        <p:txBody>
          <a:bodyPr wrap="none" rtlCol="0" anchor="ctr" anchorCtr="1">
            <a:spAutoFit/>
          </a:bodyPr>
          <a:lstStyle/>
          <a:p>
            <a:r>
              <a:rPr lang="en-US" sz="3200" dirty="0">
                <a:ea typeface="標楷體" pitchFamily="65" charset="-120"/>
                <a:cs typeface="Calibri" pitchFamily="34" charset="0"/>
              </a:rPr>
              <a:t>Locality matters!!</a:t>
            </a:r>
          </a:p>
        </p:txBody>
      </p:sp>
      <p:sp>
        <p:nvSpPr>
          <p:cNvPr id="10" name="TextBox 9">
            <a:extLst>
              <a:ext uri="{FF2B5EF4-FFF2-40B4-BE49-F238E27FC236}">
                <a16:creationId xmlns:a16="http://schemas.microsoft.com/office/drawing/2014/main" id="{EDBB5AD1-057F-448A-93EE-1C657F55BA27}"/>
              </a:ext>
            </a:extLst>
          </p:cNvPr>
          <p:cNvSpPr txBox="1"/>
          <p:nvPr/>
        </p:nvSpPr>
        <p:spPr>
          <a:xfrm>
            <a:off x="2286000" y="5667534"/>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a</a:t>
            </a:r>
          </a:p>
        </p:txBody>
      </p:sp>
      <p:sp>
        <p:nvSpPr>
          <p:cNvPr id="11" name="TextBox 10">
            <a:extLst>
              <a:ext uri="{FF2B5EF4-FFF2-40B4-BE49-F238E27FC236}">
                <a16:creationId xmlns:a16="http://schemas.microsoft.com/office/drawing/2014/main" id="{67D71F1B-DBE7-4DBC-A83C-51BA73011967}"/>
              </a:ext>
            </a:extLst>
          </p:cNvPr>
          <p:cNvSpPr txBox="1"/>
          <p:nvPr/>
        </p:nvSpPr>
        <p:spPr>
          <a:xfrm>
            <a:off x="6186454" y="5667533"/>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b</a:t>
            </a:r>
          </a:p>
        </p:txBody>
      </p:sp>
      <p:sp>
        <p:nvSpPr>
          <p:cNvPr id="12" name="TextBox 11">
            <a:extLst>
              <a:ext uri="{FF2B5EF4-FFF2-40B4-BE49-F238E27FC236}">
                <a16:creationId xmlns:a16="http://schemas.microsoft.com/office/drawing/2014/main" id="{6901987F-2999-4DF3-BB52-E557DAE615EB}"/>
              </a:ext>
            </a:extLst>
          </p:cNvPr>
          <p:cNvSpPr txBox="1"/>
          <p:nvPr/>
        </p:nvSpPr>
        <p:spPr>
          <a:xfrm>
            <a:off x="10118829" y="5691339"/>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c</a:t>
            </a:r>
          </a:p>
        </p:txBody>
      </p:sp>
    </p:spTree>
    <p:extLst>
      <p:ext uri="{BB962C8B-B14F-4D97-AF65-F5344CB8AC3E}">
        <p14:creationId xmlns:p14="http://schemas.microsoft.com/office/powerpoint/2010/main" val="10662675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type="title"/>
          </p:nvPr>
        </p:nvSpPr>
        <p:spPr>
          <a:xfrm>
            <a:off x="1258530" y="173039"/>
            <a:ext cx="9047521" cy="643039"/>
          </a:xfrm>
        </p:spPr>
        <p:txBody>
          <a:bodyPr/>
          <a:lstStyle/>
          <a:p>
            <a:r>
              <a:rPr lang="en-AU" altLang="zh-TW" dirty="0">
                <a:ea typeface="新細明體" panose="02020500000000000000" pitchFamily="18" charset="-120"/>
              </a:rPr>
              <a:t>Application of Caches</a:t>
            </a:r>
          </a:p>
        </p:txBody>
      </p:sp>
      <p:sp>
        <p:nvSpPr>
          <p:cNvPr id="71683" name="Rectangle 4"/>
          <p:cNvSpPr>
            <a:spLocks noGrp="1" noChangeArrowheads="1"/>
          </p:cNvSpPr>
          <p:nvPr>
            <p:ph type="body" idx="1"/>
          </p:nvPr>
        </p:nvSpPr>
        <p:spPr>
          <a:xfrm>
            <a:off x="176720" y="1259701"/>
            <a:ext cx="11838560" cy="1383761"/>
          </a:xfrm>
        </p:spPr>
        <p:txBody>
          <a:bodyPr/>
          <a:lstStyle/>
          <a:p>
            <a:pPr marR="0" lvl="0" algn="l" defTabSz="914400" rtl="0" eaLnBrk="1" fontAlgn="base" latinLnBrk="0" hangingPunct="1">
              <a:lnSpc>
                <a:spcPct val="100000"/>
              </a:lnSpc>
              <a:spcBef>
                <a:spcPct val="20000"/>
              </a:spcBef>
              <a:spcAft>
                <a:spcPct val="0"/>
              </a:spcAft>
              <a:buClr>
                <a:srgbClr val="0000FF"/>
              </a:buClr>
              <a:buSzPct val="80000"/>
              <a:buFont typeface="Wingdings" panose="05000000000000000000" pitchFamily="2" charset="2"/>
              <a:buChar char="§"/>
              <a:tabLst/>
              <a:defRPr/>
            </a:pPr>
            <a:r>
              <a:rPr kumimoji="1" lang="en-US" sz="2200" b="0" i="0" u="none" strike="noStrike" kern="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Akamai </a:t>
            </a:r>
            <a:r>
              <a:rPr kumimoji="1" lang="en-US" sz="2200"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is a global content delivery network (CDN) provider that delivers content quickly and reliably to users. Due to rapid growth, they encountered a scale-up problem in late 90’s that the network traffic jam caused serious performance impact for customers. How did they solve that problem? </a:t>
            </a:r>
            <a:endParaRPr kumimoji="1" lang="en-US" altLang="zh-TW" sz="2200" b="0" i="0" u="none" strike="noStrike" kern="0" cap="none" spc="0" normalizeH="0" baseline="0" noProof="0" dirty="0">
              <a:ln>
                <a:noFill/>
              </a:ln>
              <a:solidFill>
                <a:srgbClr val="1F497D"/>
              </a:solidFill>
              <a:effectLst/>
              <a:uLnTx/>
              <a:uFillTx/>
              <a:latin typeface="Arial" panose="020B0604020202020204" pitchFamily="34" charset="0"/>
              <a:ea typeface="新細明體" panose="02020500000000000000" pitchFamily="18" charset="-120"/>
              <a:cs typeface="Arial" panose="020B0604020202020204" pitchFamily="34" charset="0"/>
            </a:endParaRPr>
          </a:p>
          <a:p>
            <a:endParaRPr lang="en-AU" altLang="zh-TW" sz="2400" dirty="0">
              <a:ea typeface="新細明體" panose="02020500000000000000" pitchFamily="18" charset="-120"/>
            </a:endParaRP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128</a:t>
            </a:fld>
            <a:endParaRPr lang="zh-TW" altLang="en-US" dirty="0"/>
          </a:p>
        </p:txBody>
      </p:sp>
      <p:sp>
        <p:nvSpPr>
          <p:cNvPr id="9" name="Rectangle 4">
            <a:extLst>
              <a:ext uri="{FF2B5EF4-FFF2-40B4-BE49-F238E27FC236}">
                <a16:creationId xmlns:a16="http://schemas.microsoft.com/office/drawing/2014/main" id="{CC9581F7-DBDB-4C86-BADC-8F0F696D15B5}"/>
              </a:ext>
            </a:extLst>
          </p:cNvPr>
          <p:cNvSpPr txBox="1">
            <a:spLocks noChangeArrowheads="1"/>
          </p:cNvSpPr>
          <p:nvPr/>
        </p:nvSpPr>
        <p:spPr bwMode="auto">
          <a:xfrm>
            <a:off x="114257" y="2912217"/>
            <a:ext cx="11838560" cy="24769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AU" altLang="zh-TW" sz="2200" kern="0" dirty="0">
                <a:solidFill>
                  <a:srgbClr val="FF0000"/>
                </a:solidFill>
                <a:latin typeface="Arial" panose="020B0604020202020204" pitchFamily="34" charset="0"/>
                <a:ea typeface="新細明體" panose="02020500000000000000" pitchFamily="18" charset="-120"/>
                <a:cs typeface="Arial" panose="020B0604020202020204" pitchFamily="34" charset="0"/>
              </a:rPr>
              <a:t>GPU</a:t>
            </a:r>
            <a:r>
              <a:rPr lang="en-AU"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 tend to have a very large register file. For example, Nvidia 4090 has 144SMs, each SM has 4 SP (Streaming Processor), each SP has 16K registers. The16K registers are shared by multiple warps, each warp is a group of 32 threads. So if 8 warps to interleave, then 16K/32/8 = 64, </a:t>
            </a:r>
            <a:r>
              <a:rPr lang="en-US"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meaning each thread can have only 64 registers</a:t>
            </a:r>
            <a:r>
              <a:rPr lang="en-AU"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 If you want </a:t>
            </a:r>
            <a:r>
              <a:rPr lang="en-US"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more warps to interleave and more threads per warp, </a:t>
            </a:r>
            <a:r>
              <a:rPr lang="en-AU"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you need to have even more registers. With such a large register file, the register access time will increase. </a:t>
            </a:r>
            <a:r>
              <a:rPr lang="en-US"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What should you do if the access time is increased to 10 clock cycles</a:t>
            </a:r>
            <a:r>
              <a:rPr lang="en-AU"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a:t>
            </a:r>
          </a:p>
        </p:txBody>
      </p:sp>
      <p:sp>
        <p:nvSpPr>
          <p:cNvPr id="2" name="TextBox 1">
            <a:extLst>
              <a:ext uri="{FF2B5EF4-FFF2-40B4-BE49-F238E27FC236}">
                <a16:creationId xmlns:a16="http://schemas.microsoft.com/office/drawing/2014/main" id="{AF096FC0-79C5-4C9A-9046-9718E374029A}"/>
              </a:ext>
            </a:extLst>
          </p:cNvPr>
          <p:cNvSpPr txBox="1"/>
          <p:nvPr/>
        </p:nvSpPr>
        <p:spPr>
          <a:xfrm>
            <a:off x="3754876" y="2327442"/>
            <a:ext cx="7444667" cy="584775"/>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Cache:</a:t>
            </a:r>
            <a:r>
              <a:rPr lang="en-US" sz="3200" dirty="0">
                <a:solidFill>
                  <a:srgbClr val="FF0000"/>
                </a:solidFill>
                <a:ea typeface="標楷體" pitchFamily="65" charset="-120"/>
                <a:cs typeface="Calibri" pitchFamily="34" charset="0"/>
              </a:rPr>
              <a:t> </a:t>
            </a:r>
            <a:r>
              <a:rPr lang="en-US" sz="2400" dirty="0">
                <a:solidFill>
                  <a:srgbClr val="FF0000"/>
                </a:solidFill>
                <a:ea typeface="標楷體" pitchFamily="65" charset="-120"/>
                <a:cs typeface="Calibri" pitchFamily="34" charset="0"/>
              </a:rPr>
              <a:t>contents are cached at distribution stations </a:t>
            </a:r>
            <a:r>
              <a:rPr lang="en-US" sz="2400" dirty="0">
                <a:ea typeface="標楷體" pitchFamily="65" charset="-120"/>
                <a:cs typeface="Calibri" pitchFamily="34" charset="0"/>
              </a:rPr>
              <a:t> </a:t>
            </a:r>
          </a:p>
        </p:txBody>
      </p:sp>
      <p:sp>
        <p:nvSpPr>
          <p:cNvPr id="7" name="TextBox 6">
            <a:extLst>
              <a:ext uri="{FF2B5EF4-FFF2-40B4-BE49-F238E27FC236}">
                <a16:creationId xmlns:a16="http://schemas.microsoft.com/office/drawing/2014/main" id="{F3427EBE-CDA8-4516-8497-E6849B6253A0}"/>
              </a:ext>
            </a:extLst>
          </p:cNvPr>
          <p:cNvSpPr txBox="1"/>
          <p:nvPr/>
        </p:nvSpPr>
        <p:spPr>
          <a:xfrm>
            <a:off x="3858638" y="5152022"/>
            <a:ext cx="7600157" cy="892552"/>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Cache:</a:t>
            </a:r>
            <a:r>
              <a:rPr lang="en-US" sz="3200" dirty="0">
                <a:solidFill>
                  <a:srgbClr val="FF0000"/>
                </a:solidFill>
                <a:ea typeface="標楷體" pitchFamily="65" charset="-120"/>
                <a:cs typeface="Calibri" pitchFamily="34" charset="0"/>
              </a:rPr>
              <a:t> </a:t>
            </a:r>
            <a:r>
              <a:rPr lang="en-US" sz="2400" dirty="0">
                <a:solidFill>
                  <a:srgbClr val="FF0000"/>
                </a:solidFill>
                <a:ea typeface="標楷體" pitchFamily="65" charset="-120"/>
                <a:cs typeface="Calibri" pitchFamily="34" charset="0"/>
              </a:rPr>
              <a:t>Use a cache to speed up register accesses!</a:t>
            </a:r>
          </a:p>
          <a:p>
            <a:r>
              <a:rPr lang="en-US" sz="2000" dirty="0">
                <a:solidFill>
                  <a:srgbClr val="FF0000"/>
                </a:solidFill>
                <a:ea typeface="標楷體" pitchFamily="65" charset="-120"/>
                <a:cs typeface="Calibri" pitchFamily="34" charset="0"/>
              </a:rPr>
              <a:t>The register number is the address of </a:t>
            </a:r>
            <a:r>
              <a:rPr lang="en-US" sz="2000">
                <a:solidFill>
                  <a:srgbClr val="FF0000"/>
                </a:solidFill>
                <a:ea typeface="標楷體" pitchFamily="65" charset="-120"/>
                <a:cs typeface="Calibri" pitchFamily="34" charset="0"/>
              </a:rPr>
              <a:t>the each cache reference </a:t>
            </a:r>
            <a:r>
              <a:rPr lang="en-US" sz="2000">
                <a:ea typeface="標楷體" pitchFamily="65" charset="-120"/>
                <a:cs typeface="Calibri" pitchFamily="34" charset="0"/>
              </a:rPr>
              <a:t> </a:t>
            </a:r>
            <a:endParaRPr lang="en-US" sz="2000" dirty="0">
              <a:ea typeface="標楷體" pitchFamily="65" charset="-120"/>
              <a:cs typeface="Calibri" pitchFamily="34" charset="0"/>
            </a:endParaRPr>
          </a:p>
        </p:txBody>
      </p:sp>
    </p:spTree>
    <p:extLst>
      <p:ext uri="{BB962C8B-B14F-4D97-AF65-F5344CB8AC3E}">
        <p14:creationId xmlns:p14="http://schemas.microsoft.com/office/powerpoint/2010/main" val="214006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P spid="9" grpId="0" build="p"/>
      <p:bldP spid="2" grpId="0"/>
      <p:bldP spid="7" grpId="0"/>
    </p:bldLst>
  </p:timing>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53405</TotalTime>
  <Words>12942</Words>
  <Application>Microsoft Office PowerPoint</Application>
  <PresentationFormat>Widescreen</PresentationFormat>
  <Paragraphs>2541</Paragraphs>
  <Slides>128</Slides>
  <Notes>89</Notes>
  <HiddenSlides>0</HiddenSlides>
  <MMClips>0</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128</vt:i4>
      </vt:variant>
    </vt:vector>
  </HeadingPairs>
  <TitlesOfParts>
    <vt:vector size="148" baseType="lpstr">
      <vt:lpstr>標楷體</vt:lpstr>
      <vt:lpstr>Geneva</vt:lpstr>
      <vt:lpstr>Google Sans</vt:lpstr>
      <vt:lpstr>MS Sans Serif</vt:lpstr>
      <vt:lpstr>新細明體</vt:lpstr>
      <vt:lpstr>TimesNewRomanPSMT</vt:lpstr>
      <vt:lpstr>ui-sans-serif</vt:lpstr>
      <vt:lpstr>华文楷体</vt:lpstr>
      <vt:lpstr>Arial</vt:lpstr>
      <vt:lpstr>Calibri</vt:lpstr>
      <vt:lpstr>Calibri Light</vt:lpstr>
      <vt:lpstr>Cambria Math</vt:lpstr>
      <vt:lpstr>Century Gothic</vt:lpstr>
      <vt:lpstr>Courier New</vt:lpstr>
      <vt:lpstr>Segoe UI</vt:lpstr>
      <vt:lpstr>Symbol</vt:lpstr>
      <vt:lpstr>Times New Roman</vt:lpstr>
      <vt:lpstr>Wingdings</vt:lpstr>
      <vt:lpstr>NTHU UniCloud</vt:lpstr>
      <vt:lpstr>自訂設計</vt:lpstr>
      <vt:lpstr>CSC3060 – Computer Systems  Chapter 6: The Memory Hierarchy</vt:lpstr>
      <vt:lpstr>Memory Hierarchy</vt:lpstr>
      <vt:lpstr>PC Memory/Storage Size and Latency</vt:lpstr>
      <vt:lpstr>PC Memory/Storage Size and Latency</vt:lpstr>
      <vt:lpstr>6.1  Random Access Memory (RAM)</vt:lpstr>
      <vt:lpstr>RAM Technologies</vt:lpstr>
      <vt:lpstr>SRAM vs DRAM Summary</vt:lpstr>
      <vt:lpstr>Conventional DRAM Organization</vt:lpstr>
      <vt:lpstr>Reading DRAM Supercell (2,1)</vt:lpstr>
      <vt:lpstr>Reading DRAM Supercell (2,1)</vt:lpstr>
      <vt:lpstr>Conventional DRAM Organization</vt:lpstr>
      <vt:lpstr>Memory Modules</vt:lpstr>
      <vt:lpstr>Enhanced DRAMs, NV, and Disks</vt:lpstr>
      <vt:lpstr>Comparisons of Speed and Cost</vt:lpstr>
      <vt:lpstr>Accessing Main Memory</vt:lpstr>
      <vt:lpstr>Memory Read Transaction (1)</vt:lpstr>
      <vt:lpstr>Memory Read Transaction (2)</vt:lpstr>
      <vt:lpstr>Memory Read Transaction (3)</vt:lpstr>
      <vt:lpstr>Memory Write Transaction (1)</vt:lpstr>
      <vt:lpstr>Memory Write Transaction (2)</vt:lpstr>
      <vt:lpstr>Memory Write Transaction (3)</vt:lpstr>
      <vt:lpstr>The CPU-Memory Gap</vt:lpstr>
      <vt:lpstr>Processor/Memory Latency Gap</vt:lpstr>
      <vt:lpstr>Impact from the Power Wall </vt:lpstr>
      <vt:lpstr>Clock Frequency Stays Flat, But …</vt:lpstr>
      <vt:lpstr>Memory Wall</vt:lpstr>
      <vt:lpstr>Memory Wall</vt:lpstr>
      <vt:lpstr>6.1.4 Storage Technology Trends</vt:lpstr>
      <vt:lpstr>6.2 Locality</vt:lpstr>
      <vt:lpstr>6.3 Memory Hierarchy</vt:lpstr>
      <vt:lpstr>Levels of Memory Hierarchy </vt:lpstr>
      <vt:lpstr>Adding Vector Registers </vt:lpstr>
      <vt:lpstr>Why Memory Hierarchy Works</vt:lpstr>
      <vt:lpstr>How Is the Memory Hierarchy Managed</vt:lpstr>
      <vt:lpstr>Summary of Memory Hierarchy (1)</vt:lpstr>
      <vt:lpstr>Summary of Memory Hierarchy (2)</vt:lpstr>
      <vt:lpstr>6.4 Cache Memories</vt:lpstr>
      <vt:lpstr>Four Questions for Cache Design</vt:lpstr>
      <vt:lpstr>Two Simple Caches</vt:lpstr>
      <vt:lpstr>Which one is better?</vt:lpstr>
      <vt:lpstr>Tags and Valid Bits - Block Finding </vt:lpstr>
      <vt:lpstr>Cache Example (1)</vt:lpstr>
      <vt:lpstr>Cache Example (2) </vt:lpstr>
      <vt:lpstr>Cache Example (3) </vt:lpstr>
      <vt:lpstr>Cache Example (4) </vt:lpstr>
      <vt:lpstr>Cache Example (5) </vt:lpstr>
      <vt:lpstr>Cache Example (6) </vt:lpstr>
      <vt:lpstr>Set Associative Caches</vt:lpstr>
      <vt:lpstr>Associativity Structures</vt:lpstr>
      <vt:lpstr>Address Subdivision for Set Associative Caches (1)</vt:lpstr>
      <vt:lpstr>Address Subdivision for Set Associative Caches (2)</vt:lpstr>
      <vt:lpstr>Address Subdivision for Set Associative Caches (2)</vt:lpstr>
      <vt:lpstr>Exercise 1 </vt:lpstr>
      <vt:lpstr>Exercise 2 </vt:lpstr>
      <vt:lpstr>Exercise 3: A Case for Direct Mapped Cache</vt:lpstr>
      <vt:lpstr>Fast Review</vt:lpstr>
      <vt:lpstr>Practical Example - Intrinsity FastMATH (1)</vt:lpstr>
      <vt:lpstr>Example: Intrinsity FastMATH Caches </vt:lpstr>
      <vt:lpstr>Example - Intrinsity FastMATH (2)</vt:lpstr>
      <vt:lpstr>Block Size Considerations</vt:lpstr>
      <vt:lpstr>Cache Hit and Miss</vt:lpstr>
      <vt:lpstr>Write Allocate vs Write-no-allocate</vt:lpstr>
      <vt:lpstr>Cache Read</vt:lpstr>
      <vt:lpstr>Non-Blocking Cache</vt:lpstr>
      <vt:lpstr>Non-Blocking Cache</vt:lpstr>
      <vt:lpstr> Instruction Cache Miss Handling</vt:lpstr>
      <vt:lpstr> Instruction Cache Miss Handling</vt:lpstr>
      <vt:lpstr>Write Hit - Write-Through Policy</vt:lpstr>
      <vt:lpstr>Avoid Waiting for Memory in Write Through</vt:lpstr>
      <vt:lpstr>Write Hit - Write-Back Policy</vt:lpstr>
      <vt:lpstr>Write Hit - Write-Back Policy</vt:lpstr>
      <vt:lpstr>Write Miss - Write Allocation</vt:lpstr>
      <vt:lpstr>Store Buffer and Write-buffer</vt:lpstr>
      <vt:lpstr>Example - Intrinsity FastMATH</vt:lpstr>
      <vt:lpstr>Outline</vt:lpstr>
      <vt:lpstr>Memory Design to Support Cache</vt:lpstr>
      <vt:lpstr>Issues with a Wider Bus</vt:lpstr>
      <vt:lpstr>Measuring Cache Performance</vt:lpstr>
      <vt:lpstr>Cache Performance Exercise</vt:lpstr>
      <vt:lpstr>Cache Performance Exercise</vt:lpstr>
      <vt:lpstr>Average Memory Access Time</vt:lpstr>
      <vt:lpstr>Average Memory Access Time (AMAT)</vt:lpstr>
      <vt:lpstr>Improving Cache Performance</vt:lpstr>
      <vt:lpstr>Low Hit Latency</vt:lpstr>
      <vt:lpstr>Associative Caches</vt:lpstr>
      <vt:lpstr>Pop Quiz</vt:lpstr>
      <vt:lpstr>Pop Quiz on set associative caches</vt:lpstr>
      <vt:lpstr>Associativity Example (1)</vt:lpstr>
      <vt:lpstr>Associativity Example (2)</vt:lpstr>
      <vt:lpstr>Conflicts in set-associative caches</vt:lpstr>
      <vt:lpstr>Pop Quiz</vt:lpstr>
      <vt:lpstr>Pop Quiz</vt:lpstr>
      <vt:lpstr>Classifying Cache Misses (3 C’s or 4 C’s) </vt:lpstr>
      <vt:lpstr>Victim Cache</vt:lpstr>
      <vt:lpstr>Victim Cache</vt:lpstr>
      <vt:lpstr>Associativity and Miss Rates</vt:lpstr>
      <vt:lpstr>Cache Sizes and Associativity</vt:lpstr>
      <vt:lpstr>A 4-Way Set-Associative Cache</vt:lpstr>
      <vt:lpstr>Conflict Misses</vt:lpstr>
      <vt:lpstr>Common Cases for Conflict Misses </vt:lpstr>
      <vt:lpstr>Common Cases for Conflict Misses </vt:lpstr>
      <vt:lpstr>DM+VC or Two-way Associative Cache?</vt:lpstr>
      <vt:lpstr>Cache Block Replacement</vt:lpstr>
      <vt:lpstr>Cache Block Replacement</vt:lpstr>
      <vt:lpstr>A Case that DM is better than FA</vt:lpstr>
      <vt:lpstr>Improving Cache Performance</vt:lpstr>
      <vt:lpstr>Multilevel Caches</vt:lpstr>
      <vt:lpstr>Multilevel Cache AMAT</vt:lpstr>
      <vt:lpstr>Multilevel Cache Example (1)</vt:lpstr>
      <vt:lpstr>Multilevel Cache Example (2)</vt:lpstr>
      <vt:lpstr>Multilevel Cache Considerations</vt:lpstr>
      <vt:lpstr>Alternatives to Reduce Cache Miss Penalty</vt:lpstr>
      <vt:lpstr>Cache Coherence in Multiprocessors</vt:lpstr>
      <vt:lpstr>PowerPoint Presentation</vt:lpstr>
      <vt:lpstr>Potential Problem (Data Coherence)</vt:lpstr>
      <vt:lpstr>Incoherent Data</vt:lpstr>
      <vt:lpstr>Snoopy Cache Coherence Schemes</vt:lpstr>
      <vt:lpstr>Implementing a Snoopy Protocol</vt:lpstr>
      <vt:lpstr>Directory Based Cache Coherency</vt:lpstr>
      <vt:lpstr>Exclusive/Inclusive Caches</vt:lpstr>
      <vt:lpstr>Advantages of Exclusive/Inclusive Caches</vt:lpstr>
      <vt:lpstr>Special Operations of Exclusive/Inclusive Caches</vt:lpstr>
      <vt:lpstr>Operations of Inclusive Caches</vt:lpstr>
      <vt:lpstr>Operations of Exclusive Caches</vt:lpstr>
      <vt:lpstr>Interactions with Advanced CPUs</vt:lpstr>
      <vt:lpstr>Interactions with Software</vt:lpstr>
      <vt:lpstr>Interactions with Software</vt:lpstr>
      <vt:lpstr>Application of Caches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HSU Wei-Chung (SDS)</cp:lastModifiedBy>
  <cp:revision>452</cp:revision>
  <dcterms:created xsi:type="dcterms:W3CDTF">2020-07-15T11:13:39Z</dcterms:created>
  <dcterms:modified xsi:type="dcterms:W3CDTF">2026-03-31T02:09:46Z</dcterms:modified>
</cp:coreProperties>
</file>