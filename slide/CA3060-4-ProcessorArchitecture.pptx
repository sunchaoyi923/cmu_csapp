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60" r:id="rId2"/>
  </p:sldMasterIdLst>
  <p:notesMasterIdLst>
    <p:notesMasterId r:id="rId56"/>
  </p:notesMasterIdLst>
  <p:handoutMasterIdLst>
    <p:handoutMasterId r:id="rId57"/>
  </p:handoutMasterIdLst>
  <p:sldIdLst>
    <p:sldId id="256" r:id="rId3"/>
    <p:sldId id="647" r:id="rId4"/>
    <p:sldId id="673" r:id="rId5"/>
    <p:sldId id="503" r:id="rId6"/>
    <p:sldId id="675" r:id="rId7"/>
    <p:sldId id="438" r:id="rId8"/>
    <p:sldId id="352" r:id="rId9"/>
    <p:sldId id="648" r:id="rId10"/>
    <p:sldId id="646" r:id="rId11"/>
    <p:sldId id="636" r:id="rId12"/>
    <p:sldId id="638" r:id="rId13"/>
    <p:sldId id="650" r:id="rId14"/>
    <p:sldId id="659" r:id="rId15"/>
    <p:sldId id="356" r:id="rId16"/>
    <p:sldId id="671" r:id="rId17"/>
    <p:sldId id="669" r:id="rId18"/>
    <p:sldId id="670" r:id="rId19"/>
    <p:sldId id="357" r:id="rId20"/>
    <p:sldId id="672" r:id="rId21"/>
    <p:sldId id="674" r:id="rId22"/>
    <p:sldId id="683" r:id="rId23"/>
    <p:sldId id="358" r:id="rId24"/>
    <p:sldId id="359" r:id="rId25"/>
    <p:sldId id="360" r:id="rId26"/>
    <p:sldId id="676" r:id="rId27"/>
    <p:sldId id="677" r:id="rId28"/>
    <p:sldId id="679" r:id="rId29"/>
    <p:sldId id="681" r:id="rId30"/>
    <p:sldId id="682" r:id="rId31"/>
    <p:sldId id="289" r:id="rId32"/>
    <p:sldId id="290" r:id="rId33"/>
    <p:sldId id="291" r:id="rId34"/>
    <p:sldId id="292" r:id="rId35"/>
    <p:sldId id="653" r:id="rId36"/>
    <p:sldId id="293" r:id="rId37"/>
    <p:sldId id="294" r:id="rId38"/>
    <p:sldId id="295" r:id="rId39"/>
    <p:sldId id="296" r:id="rId40"/>
    <p:sldId id="297" r:id="rId41"/>
    <p:sldId id="298" r:id="rId42"/>
    <p:sldId id="440" r:id="rId43"/>
    <p:sldId id="441" r:id="rId44"/>
    <p:sldId id="654" r:id="rId45"/>
    <p:sldId id="340" r:id="rId46"/>
    <p:sldId id="341" r:id="rId47"/>
    <p:sldId id="365" r:id="rId48"/>
    <p:sldId id="640" r:id="rId49"/>
    <p:sldId id="305" r:id="rId50"/>
    <p:sldId id="643" r:id="rId51"/>
    <p:sldId id="644" r:id="rId52"/>
    <p:sldId id="641" r:id="rId53"/>
    <p:sldId id="645" r:id="rId54"/>
    <p:sldId id="642" r:id="rId55"/>
  </p:sldIdLst>
  <p:sldSz cx="12192000" cy="6858000"/>
  <p:notesSz cx="6805613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6" autoAdjust="0"/>
    <p:restoredTop sz="80784" autoAdjust="0"/>
  </p:normalViewPr>
  <p:slideViewPr>
    <p:cSldViewPr snapToGrid="0">
      <p:cViewPr>
        <p:scale>
          <a:sx n="58" d="100"/>
          <a:sy n="58" d="100"/>
        </p:scale>
        <p:origin x="-24" y="800"/>
      </p:cViewPr>
      <p:guideLst/>
    </p:cSldViewPr>
  </p:slideViewPr>
  <p:notesTextViewPr>
    <p:cViewPr>
      <p:scale>
        <a:sx n="1" d="1"/>
        <a:sy n="1" d="1"/>
      </p:scale>
      <p:origin x="0" y="-1304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3006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oyi Sun (SDS,124090550)" userId="7336b744-5857-42bc-9fde-1c1347a32774" providerId="ADAL" clId="{3A35FEB6-D186-4DFE-8550-C935A8639321}"/>
    <pc:docChg chg="modSld sldOrd">
      <pc:chgData name="Chaoyi Sun (SDS,124090550)" userId="7336b744-5857-42bc-9fde-1c1347a32774" providerId="ADAL" clId="{3A35FEB6-D186-4DFE-8550-C935A8639321}" dt="2026-03-10T05:20:34.523" v="1"/>
      <pc:docMkLst>
        <pc:docMk/>
      </pc:docMkLst>
      <pc:sldChg chg="ord">
        <pc:chgData name="Chaoyi Sun (SDS,124090550)" userId="7336b744-5857-42bc-9fde-1c1347a32774" providerId="ADAL" clId="{3A35FEB6-D186-4DFE-8550-C935A8639321}" dt="2026-03-10T05:20:34.523" v="1"/>
        <pc:sldMkLst>
          <pc:docMk/>
          <pc:sldMk cId="1310436475" sldId="68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815C594-135F-4D15-8E4B-45F1BE861E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B0960-189E-46E1-8D29-6FB05B6F72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43A5A2-ABA0-4772-A51C-C5F6F247E980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C1DB78-23CB-4BEF-89B3-77D711E9DA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9CDE08-0A77-4F04-A3CE-DB3F76D614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243270-4340-4F2C-881F-076058FFD6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56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1F4A7B-8284-4E61-88F9-84C6CA6E31E8}" type="datetimeFigureOut">
              <a:rPr lang="zh-TW" altLang="en-US" smtClean="0"/>
              <a:t>2026/3/10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1063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D5518-E2B7-47D3-A483-775D3998244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7007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08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08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9912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798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TW"/>
              <a:t>clock time</a:t>
            </a:r>
            <a:r>
              <a:rPr lang="zh-CN" altLang="en-US"/>
              <a:t>： </a:t>
            </a:r>
            <a:r>
              <a:rPr lang="en-US" altLang="zh-CN"/>
              <a:t>the time to complete a task</a:t>
            </a:r>
          </a:p>
        </p:txBody>
      </p:sp>
    </p:spTree>
    <p:extLst>
      <p:ext uri="{BB962C8B-B14F-4D97-AF65-F5344CB8AC3E}">
        <p14:creationId xmlns:p14="http://schemas.microsoft.com/office/powerpoint/2010/main" val="1991694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49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TW" altLang="en-US"/>
              <a:t>The datapath elements in the MIPS implementation consist of two different types of logic elements</a:t>
            </a:r>
            <a:r>
              <a:rPr lang="en-US" altLang="zh-TW"/>
              <a:t>: elements that operate on data values and elements that contain state.</a:t>
            </a:r>
          </a:p>
          <a:p>
            <a:endParaRPr lang="en-US" altLang="zh-TW"/>
          </a:p>
          <a:p>
            <a:r>
              <a:rPr lang="en-US" altLang="zh-TW"/>
              <a:t>Recall the previous figure, The instruction and data memories, as well as the registers, are all examples of state elements.</a:t>
            </a:r>
          </a:p>
          <a:p>
            <a:endParaRPr lang="en-US" altLang="zh-TW"/>
          </a:p>
          <a:p>
            <a:r>
              <a:rPr lang="en-US" altLang="zh-TW"/>
              <a:t>Logic components that contain state are also called sequential element, because their outputs depend on both their inputs and the contents of the internal state.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49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TW" dirty="0" err="1"/>
              <a:t>SystemVerilog</a:t>
            </a:r>
            <a:r>
              <a:rPr lang="en-US" altLang="zh-TW" dirty="0"/>
              <a:t> is a superset of Verilog, Chisel is used by </a:t>
            </a:r>
            <a:r>
              <a:rPr lang="en-US" altLang="zh-TW" dirty="0" err="1"/>
              <a:t>SiFive</a:t>
            </a:r>
            <a:r>
              <a:rPr lang="en-US" altLang="zh-TW" dirty="0"/>
              <a:t> for RISC-V</a:t>
            </a:r>
          </a:p>
          <a:p>
            <a:r>
              <a:rPr lang="en-US" altLang="zh-TW" dirty="0"/>
              <a:t>Recall the previous figure, The instruction and data memories, as well as the registers, are all examples of state elements.</a:t>
            </a:r>
          </a:p>
          <a:p>
            <a:endParaRPr lang="en-US" altLang="zh-TW" dirty="0"/>
          </a:p>
          <a:p>
            <a:r>
              <a:rPr lang="en-US" altLang="zh-TW" dirty="0"/>
              <a:t>Logic components that contain state are also called sequential element, because their outputs depend on both their inputs and the contents of the internal state.</a:t>
            </a:r>
          </a:p>
        </p:txBody>
      </p:sp>
    </p:spTree>
    <p:extLst>
      <p:ext uri="{BB962C8B-B14F-4D97-AF65-F5344CB8AC3E}">
        <p14:creationId xmlns:p14="http://schemas.microsoft.com/office/powerpoint/2010/main" val="2258549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49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TW" altLang="en-US"/>
              <a:t>The datapath elements in the MIPS implementation consist of two different types of logic elements</a:t>
            </a:r>
            <a:r>
              <a:rPr lang="en-US" altLang="zh-TW"/>
              <a:t>: elements that operate on data values and elements that contain state.</a:t>
            </a:r>
          </a:p>
          <a:p>
            <a:endParaRPr lang="en-US" altLang="zh-TW"/>
          </a:p>
          <a:p>
            <a:r>
              <a:rPr lang="en-US" altLang="zh-TW"/>
              <a:t>Recall the previous figure, The instruction and data memories, as well as the registers, are all examples of state elements.</a:t>
            </a:r>
          </a:p>
          <a:p>
            <a:endParaRPr lang="en-US" altLang="zh-TW"/>
          </a:p>
          <a:p>
            <a:r>
              <a:rPr lang="en-US" altLang="zh-TW"/>
              <a:t>Logic components that contain state are also called sequential element, because their outputs depend on both their inputs and the contents of the internal state.</a:t>
            </a:r>
          </a:p>
        </p:txBody>
      </p:sp>
    </p:spTree>
    <p:extLst>
      <p:ext uri="{BB962C8B-B14F-4D97-AF65-F5344CB8AC3E}">
        <p14:creationId xmlns:p14="http://schemas.microsoft.com/office/powerpoint/2010/main" val="17319559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40736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07648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60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02613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dirty="0"/>
              <a:t>Sequential</a:t>
            </a:r>
            <a:r>
              <a:rPr lang="zh-CN" altLang="en-US" dirty="0"/>
              <a:t> </a:t>
            </a:r>
            <a:r>
              <a:rPr lang="en-US" altLang="zh-CN" dirty="0"/>
              <a:t>element: state element + logic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229327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CN" dirty="0"/>
              <a:t>Sequential</a:t>
            </a:r>
            <a:r>
              <a:rPr lang="zh-CN" altLang="en-US" dirty="0"/>
              <a:t> </a:t>
            </a:r>
            <a:r>
              <a:rPr lang="en-US" altLang="zh-CN" dirty="0"/>
              <a:t>element: state element + logic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80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zh-TW" dirty="0"/>
              <a:t>This one includes a “write” control</a:t>
            </a:r>
            <a:endParaRPr lang="zh-TW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90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zh-TW" dirty="0"/>
              <a:t>在这个抽象图里面我</a:t>
            </a:r>
            <a:r>
              <a:rPr lang="en-US" altLang="zh-CN" dirty="0"/>
              <a:t> simplified 2 places</a:t>
            </a:r>
            <a:r>
              <a:rPr lang="zh-CN" altLang="en-US" dirty="0"/>
              <a:t>，一个是多路输入</a:t>
            </a:r>
          </a:p>
        </p:txBody>
      </p:sp>
    </p:spTree>
    <p:extLst>
      <p:ext uri="{BB962C8B-B14F-4D97-AF65-F5344CB8AC3E}">
        <p14:creationId xmlns:p14="http://schemas.microsoft.com/office/powerpoint/2010/main" val="23940711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zh-TW" dirty="0"/>
              <a:t>在这个抽象图里面我</a:t>
            </a:r>
            <a:r>
              <a:rPr lang="en-US" altLang="zh-CN" dirty="0"/>
              <a:t> simplified 2 places</a:t>
            </a:r>
            <a:r>
              <a:rPr lang="zh-CN" altLang="en-US" dirty="0"/>
              <a:t>，一个是多路输入</a:t>
            </a:r>
          </a:p>
        </p:txBody>
      </p:sp>
    </p:spTree>
    <p:extLst>
      <p:ext uri="{BB962C8B-B14F-4D97-AF65-F5344CB8AC3E}">
        <p14:creationId xmlns:p14="http://schemas.microsoft.com/office/powerpoint/2010/main" val="10096981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zh-TW" dirty="0"/>
              <a:t>在这个抽象图里面我</a:t>
            </a:r>
            <a:r>
              <a:rPr lang="en-US" altLang="zh-CN" dirty="0"/>
              <a:t> simplified 2 places</a:t>
            </a:r>
            <a:r>
              <a:rPr lang="zh-CN" altLang="en-US" dirty="0"/>
              <a:t>，一个是多路输入</a:t>
            </a:r>
          </a:p>
        </p:txBody>
      </p:sp>
    </p:spTree>
    <p:extLst>
      <p:ext uri="{BB962C8B-B14F-4D97-AF65-F5344CB8AC3E}">
        <p14:creationId xmlns:p14="http://schemas.microsoft.com/office/powerpoint/2010/main" val="1751141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zh-TW" dirty="0"/>
              <a:t>在这个抽象图里面我</a:t>
            </a:r>
            <a:r>
              <a:rPr lang="en-US" altLang="zh-CN" dirty="0"/>
              <a:t> simplified 2 places</a:t>
            </a:r>
            <a:r>
              <a:rPr lang="zh-CN" altLang="en-US" dirty="0"/>
              <a:t>，一个是多路输入</a:t>
            </a:r>
          </a:p>
        </p:txBody>
      </p:sp>
    </p:spTree>
    <p:extLst>
      <p:ext uri="{BB962C8B-B14F-4D97-AF65-F5344CB8AC3E}">
        <p14:creationId xmlns:p14="http://schemas.microsoft.com/office/powerpoint/2010/main" val="41190153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819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CN" altLang="zh-TW" dirty="0"/>
              <a:t>在这个抽象图里面我</a:t>
            </a:r>
            <a:r>
              <a:rPr lang="en-US" altLang="zh-CN" dirty="0"/>
              <a:t> simplified 2 places</a:t>
            </a:r>
            <a:r>
              <a:rPr lang="zh-CN" altLang="en-US" dirty="0"/>
              <a:t>，一个是多路输入</a:t>
            </a:r>
          </a:p>
        </p:txBody>
      </p:sp>
    </p:spTree>
    <p:extLst>
      <p:ext uri="{BB962C8B-B14F-4D97-AF65-F5344CB8AC3E}">
        <p14:creationId xmlns:p14="http://schemas.microsoft.com/office/powerpoint/2010/main" val="25347871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050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90115" name="Rectangle 205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One of the most important thing you need to know before you start designing a processor is how the instructions look like.</a:t>
            </a:r>
          </a:p>
          <a:p>
            <a:r>
              <a:rPr lang="en-US" altLang="zh-TW" dirty="0"/>
              <a:t>Or in more technical term, you need to know the instruction format. One good thing about the RV instruction set is that it is very simple.</a:t>
            </a:r>
          </a:p>
          <a:p>
            <a:r>
              <a:rPr lang="en-US" altLang="zh-TW" dirty="0"/>
              <a:t>First of all, all RV instructions are 32 bits long.</a:t>
            </a:r>
          </a:p>
          <a:p>
            <a:r>
              <a:rPr lang="en-US" altLang="zh-TW" dirty="0"/>
              <a:t>The different fields of the R-type instructions are:</a:t>
            </a:r>
          </a:p>
          <a:p>
            <a:r>
              <a:rPr lang="en-US" altLang="zh-TW" dirty="0"/>
              <a:t>(a) OP specifies the operation of the instruction.</a:t>
            </a:r>
          </a:p>
          <a:p>
            <a:r>
              <a:rPr lang="en-US" altLang="zh-TW" dirty="0"/>
              <a:t>(b) Rs1, Rs2, and Rd are the source and destination register specifiers.</a:t>
            </a:r>
          </a:p>
          <a:p>
            <a:r>
              <a:rPr lang="en-US" altLang="zh-TW" dirty="0"/>
              <a:t>(c) </a:t>
            </a:r>
            <a:r>
              <a:rPr lang="en-US" altLang="zh-TW" dirty="0" err="1"/>
              <a:t>Shamt</a:t>
            </a:r>
            <a:r>
              <a:rPr lang="en-US" altLang="zh-TW" dirty="0"/>
              <a:t> specifies the amount you need to shift for the shift instructions.</a:t>
            </a:r>
          </a:p>
          <a:p>
            <a:r>
              <a:rPr lang="en-US" altLang="zh-TW" dirty="0"/>
              <a:t>(d) </a:t>
            </a:r>
            <a:r>
              <a:rPr lang="en-US" altLang="zh-TW" dirty="0" err="1"/>
              <a:t>Funct</a:t>
            </a:r>
            <a:r>
              <a:rPr lang="en-US" altLang="zh-TW" dirty="0"/>
              <a:t> selects the variant of the operation specified</a:t>
            </a:r>
          </a:p>
          <a:p>
            <a:endParaRPr lang="en-US" altLang="zh-TW" dirty="0"/>
          </a:p>
        </p:txBody>
      </p:sp>
      <p:sp>
        <p:nvSpPr>
          <p:cNvPr id="9113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In today lecture, I will show you how to implement the following subset of RV32I instructions: add, subtract, and/or immediate, load, store, branch, and the jump instruction.</a:t>
            </a:r>
          </a:p>
          <a:p>
            <a:r>
              <a:rPr lang="en-US" altLang="zh-TW" dirty="0"/>
              <a:t>The Add and Subtract instructions use the R format.  The Op together with the </a:t>
            </a:r>
            <a:r>
              <a:rPr lang="en-US" altLang="zh-TW" dirty="0" err="1"/>
              <a:t>Func</a:t>
            </a:r>
            <a:r>
              <a:rPr lang="en-US" altLang="zh-TW" dirty="0"/>
              <a:t> fields specified all the different kinds of add and subtract instructions.</a:t>
            </a:r>
          </a:p>
          <a:p>
            <a:r>
              <a:rPr lang="en-US" altLang="zh-TW" dirty="0"/>
              <a:t>Rs1 and Rs2 specifies the source registers.  And the Rd field specifies the destination register.</a:t>
            </a:r>
          </a:p>
          <a:p>
            <a:r>
              <a:rPr lang="en-US" altLang="zh-TW" dirty="0"/>
              <a:t>The Or immediate instruction uses the I format.  It only uses one source register, Rs1.  The other operand comes from the immediate field. The Rd field is used to specified the destination register. (Note that </a:t>
            </a:r>
            <a:r>
              <a:rPr lang="en-US" altLang="zh-TW" dirty="0" err="1"/>
              <a:t>dest</a:t>
            </a:r>
            <a:r>
              <a:rPr lang="en-US" altLang="zh-TW" dirty="0"/>
              <a:t> is the Rt field!</a:t>
            </a:r>
          </a:p>
          <a:p>
            <a:r>
              <a:rPr lang="en-US" altLang="zh-TW" dirty="0"/>
              <a:t>The difference is that the load instruction will load the data from memory into Rd while the store instruction will store the data in Rs2 into the memory.</a:t>
            </a:r>
          </a:p>
          <a:p>
            <a:r>
              <a:rPr lang="en-US" altLang="zh-TW" dirty="0"/>
              <a:t>The branch on equal instruction also uses the I format.  Here Rs and Rt are used to specified the registers we need to compare.</a:t>
            </a:r>
          </a:p>
          <a:p>
            <a:r>
              <a:rPr lang="en-US" altLang="zh-TW" dirty="0"/>
              <a:t>If these two registers are equal, we will branch to a location offset by the immediate field.</a:t>
            </a:r>
          </a:p>
          <a:p>
            <a:r>
              <a:rPr lang="en-US" altLang="zh-TW" dirty="0"/>
              <a:t>Finally, the jump instruction uses the J format and always causes the program to jump to a memory location specified in the address field. </a:t>
            </a:r>
          </a:p>
          <a:p>
            <a:r>
              <a:rPr lang="en-US" altLang="zh-TW" dirty="0"/>
              <a:t>I know I went over this rather quickly and you may have missed something.  But don worry, this is just an overview.  You will keep seeing these (point to the format) all day today.</a:t>
            </a:r>
          </a:p>
          <a:p>
            <a:endParaRPr lang="en-US" altLang="zh-TW" dirty="0"/>
          </a:p>
          <a:p>
            <a:r>
              <a:rPr lang="en-US" altLang="zh-TW" dirty="0"/>
              <a:t>+3 = 13 min. (X:53)</a:t>
            </a:r>
          </a:p>
        </p:txBody>
      </p:sp>
      <p:sp>
        <p:nvSpPr>
          <p:cNvPr id="92163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87613" y="482600"/>
            <a:ext cx="4875212" cy="2743200"/>
          </a:xfrm>
          <a:noFill/>
          <a:ln cap="flat">
            <a:solidFill>
              <a:schemeClr val="tx1"/>
            </a:solidFill>
          </a:ln>
        </p:spPr>
      </p:sp>
      <p:sp>
        <p:nvSpPr>
          <p:cNvPr id="931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CN" altLang="zh-TW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050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90115" name="Rectangle 205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3088917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87613" y="482600"/>
            <a:ext cx="4875212" cy="2743200"/>
          </a:xfrm>
          <a:noFill/>
          <a:ln cap="flat">
            <a:solidFill>
              <a:schemeClr val="tx1"/>
            </a:solidFill>
          </a:ln>
        </p:spPr>
      </p:sp>
      <p:sp>
        <p:nvSpPr>
          <p:cNvPr id="942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Based on the Register Transfer Language examples we have so far, we know we will need the following combinational logic elements.</a:t>
            </a:r>
          </a:p>
          <a:p>
            <a:r>
              <a:rPr lang="en-US" altLang="zh-TW" dirty="0"/>
              <a:t>We will need an adder to update the program counter. We may end up with three adders!!</a:t>
            </a:r>
          </a:p>
          <a:p>
            <a:r>
              <a:rPr lang="en-US" altLang="zh-TW" dirty="0"/>
              <a:t>A MUX to select the results.</a:t>
            </a:r>
          </a:p>
          <a:p>
            <a:r>
              <a:rPr lang="en-US" altLang="zh-TW" dirty="0"/>
              <a:t>And finally, an ALU to do various arithmetic and logic operation.</a:t>
            </a:r>
          </a:p>
          <a:p>
            <a:endParaRPr lang="en-US" altLang="zh-TW" dirty="0"/>
          </a:p>
          <a:p>
            <a:r>
              <a:rPr lang="en-US" altLang="zh-TW" dirty="0"/>
              <a:t>+1 = 30 min. (Y:10)</a:t>
            </a:r>
          </a:p>
        </p:txBody>
      </p:sp>
      <p:sp>
        <p:nvSpPr>
          <p:cNvPr id="95235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As far as storage elements are concerned, we will need a N-bit register that is similar to the D flip-flop I showed you in class. </a:t>
            </a:r>
            <a:r>
              <a:rPr lang="zh-CN" altLang="en-US" dirty="0"/>
              <a:t>（</a:t>
            </a:r>
            <a:r>
              <a:rPr lang="en-US" altLang="zh-CN" dirty="0"/>
              <a:t>D</a:t>
            </a:r>
            <a:r>
              <a:rPr lang="zh-CN" altLang="en-US" dirty="0"/>
              <a:t>触发器）</a:t>
            </a:r>
            <a:endParaRPr lang="en-US" altLang="zh-TW" dirty="0"/>
          </a:p>
          <a:p>
            <a:r>
              <a:rPr lang="en-US" altLang="zh-TW" dirty="0"/>
              <a:t>The significant difference here is that the register will have a Write Enable input.</a:t>
            </a:r>
          </a:p>
          <a:p>
            <a:r>
              <a:rPr lang="en-US" altLang="zh-TW" dirty="0"/>
              <a:t>That is the content of the register will NOT  be updated if Write Enable is not asserted (0).</a:t>
            </a:r>
          </a:p>
          <a:p>
            <a:r>
              <a:rPr lang="en-US" altLang="zh-TW" dirty="0"/>
              <a:t>The content is updated at the clock tick ONLY if the Write Enable signal is asserted (1).</a:t>
            </a:r>
          </a:p>
          <a:p>
            <a:endParaRPr lang="en-US" altLang="zh-TW" dirty="0"/>
          </a:p>
          <a:p>
            <a:r>
              <a:rPr lang="en-US" altLang="zh-TW" dirty="0"/>
              <a:t>+1 = 31 min. (Y:11)</a:t>
            </a:r>
          </a:p>
        </p:txBody>
      </p:sp>
      <p:sp>
        <p:nvSpPr>
          <p:cNvPr id="9625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en-US" altLang="zh-TW" dirty="0"/>
          </a:p>
          <a:p>
            <a:r>
              <a:rPr lang="en-US" altLang="zh-TW" dirty="0"/>
              <a:t>register File: </a:t>
            </a:r>
            <a:r>
              <a:rPr lang="zh-CN" altLang="en-US" dirty="0"/>
              <a:t>寄存器堆，包含</a:t>
            </a:r>
            <a:r>
              <a:rPr lang="en-US" altLang="zh-CN" dirty="0"/>
              <a:t>32</a:t>
            </a:r>
            <a:r>
              <a:rPr lang="zh-CN" altLang="en-US" dirty="0"/>
              <a:t>个通用寄存器。 </a:t>
            </a:r>
            <a:r>
              <a:rPr lang="en-US" altLang="zh-CN" dirty="0" err="1"/>
              <a:t>BusA</a:t>
            </a:r>
            <a:r>
              <a:rPr lang="zh-CN" altLang="en-US" dirty="0"/>
              <a:t>和</a:t>
            </a:r>
            <a:r>
              <a:rPr lang="en-US" altLang="zh-CN" dirty="0" err="1"/>
              <a:t>BusB</a:t>
            </a:r>
            <a:r>
              <a:rPr lang="zh-CN" altLang="en-US" dirty="0"/>
              <a:t>是读两个寄存器的值，</a:t>
            </a:r>
            <a:r>
              <a:rPr lang="en-US" altLang="zh-CN" dirty="0" err="1"/>
              <a:t>busW</a:t>
            </a:r>
            <a:r>
              <a:rPr lang="zh-CN" altLang="en-US" dirty="0"/>
              <a:t>是写，</a:t>
            </a:r>
            <a:r>
              <a:rPr lang="en-US" altLang="zh-CN" dirty="0"/>
              <a:t>RA</a:t>
            </a:r>
            <a:r>
              <a:rPr lang="zh-CN" altLang="en-US" dirty="0"/>
              <a:t>、</a:t>
            </a:r>
            <a:r>
              <a:rPr lang="en-US" altLang="zh-CN" dirty="0"/>
              <a:t>Rb</a:t>
            </a:r>
            <a:r>
              <a:rPr lang="zh-CN" altLang="en-US" dirty="0"/>
              <a:t>、</a:t>
            </a:r>
            <a:r>
              <a:rPr lang="en-US" altLang="zh-CN" dirty="0"/>
              <a:t>RW</a:t>
            </a:r>
            <a:r>
              <a:rPr lang="zh-CN" altLang="en-US" dirty="0"/>
              <a:t>是寄存器的编号</a:t>
            </a:r>
          </a:p>
          <a:p>
            <a:r>
              <a:rPr lang="en-US" altLang="zh-TW" dirty="0"/>
              <a:t>We will also need a register file that consists of 32 32-bit registers with two output busses (</a:t>
            </a:r>
            <a:r>
              <a:rPr lang="en-US" altLang="zh-TW" dirty="0" err="1"/>
              <a:t>busA</a:t>
            </a:r>
            <a:r>
              <a:rPr lang="en-US" altLang="zh-TW" dirty="0"/>
              <a:t> and </a:t>
            </a:r>
            <a:r>
              <a:rPr lang="en-US" altLang="zh-TW" dirty="0" err="1"/>
              <a:t>busB</a:t>
            </a:r>
            <a:r>
              <a:rPr lang="en-US" altLang="zh-TW" dirty="0"/>
              <a:t>) and one input bus.</a:t>
            </a:r>
          </a:p>
          <a:p>
            <a:r>
              <a:rPr lang="en-US" altLang="zh-TW" dirty="0"/>
              <a:t>The register specifiers Ra and Rb select the registers to put on </a:t>
            </a:r>
            <a:r>
              <a:rPr lang="en-US" altLang="zh-TW" dirty="0" err="1"/>
              <a:t>busA</a:t>
            </a:r>
            <a:r>
              <a:rPr lang="en-US" altLang="zh-TW" dirty="0"/>
              <a:t> and </a:t>
            </a:r>
            <a:r>
              <a:rPr lang="en-US" altLang="zh-TW" dirty="0" err="1"/>
              <a:t>busB</a:t>
            </a:r>
            <a:r>
              <a:rPr lang="en-US" altLang="zh-TW" dirty="0"/>
              <a:t>  respectively.</a:t>
            </a:r>
          </a:p>
          <a:p>
            <a:r>
              <a:rPr lang="en-US" altLang="zh-TW" dirty="0"/>
              <a:t>When Write Enable is 1, the register specifier </a:t>
            </a:r>
            <a:r>
              <a:rPr lang="en-US" altLang="zh-TW" dirty="0" err="1"/>
              <a:t>Rw</a:t>
            </a:r>
            <a:r>
              <a:rPr lang="en-US" altLang="zh-TW" dirty="0"/>
              <a:t> selects the register to be written via </a:t>
            </a:r>
            <a:r>
              <a:rPr lang="en-US" altLang="zh-TW" dirty="0" err="1"/>
              <a:t>busW</a:t>
            </a:r>
            <a:r>
              <a:rPr lang="en-US" altLang="zh-TW" dirty="0"/>
              <a:t>.</a:t>
            </a:r>
          </a:p>
          <a:p>
            <a:r>
              <a:rPr lang="en-US" altLang="zh-TW" dirty="0"/>
              <a:t>In our simplified version of the register file, the write operation will occurs at the clock tick.</a:t>
            </a:r>
          </a:p>
          <a:p>
            <a:r>
              <a:rPr lang="en-US" altLang="zh-TW" dirty="0"/>
              <a:t>Keep in mind that the clock input is a factor ONLY during the write operation.</a:t>
            </a:r>
          </a:p>
          <a:p>
            <a:r>
              <a:rPr lang="en-US" altLang="zh-TW" dirty="0"/>
              <a:t>During read operation, the register file behaves as a combinational logic block.</a:t>
            </a:r>
          </a:p>
          <a:p>
            <a:r>
              <a:rPr lang="en-US" altLang="zh-TW" dirty="0"/>
              <a:t>That is if you put a valid value on Ra, then bus A will become valid after the register file access time.</a:t>
            </a:r>
          </a:p>
          <a:p>
            <a:r>
              <a:rPr lang="en-US" altLang="zh-TW" dirty="0"/>
              <a:t>Similarly if you put a valid value on Rb, bus B will become valid after the register file access time.   In both cases (Ra and Rb), the clock input is not a factor.</a:t>
            </a:r>
          </a:p>
          <a:p>
            <a:r>
              <a:rPr lang="en-US" altLang="zh-TW" dirty="0"/>
              <a:t>Intel can issue 4-6 instruction per clock cycle. This does not mean the registers should support 12 read ports. Because 4-6 are a mix of int/</a:t>
            </a:r>
            <a:r>
              <a:rPr lang="en-US" altLang="zh-TW" dirty="0" err="1"/>
              <a:t>fp</a:t>
            </a:r>
            <a:r>
              <a:rPr lang="en-US" altLang="zh-TW" dirty="0"/>
              <a:t> instructions.</a:t>
            </a:r>
          </a:p>
          <a:p>
            <a:r>
              <a:rPr lang="en-US" altLang="zh-TW" dirty="0"/>
              <a:t>Today’s high-end processors usually support 10-12 read ports.</a:t>
            </a:r>
          </a:p>
        </p:txBody>
      </p:sp>
      <p:sp>
        <p:nvSpPr>
          <p:cNvPr id="97283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The last storage element you will need for the </a:t>
            </a:r>
            <a:r>
              <a:rPr lang="en-US" altLang="zh-TW" dirty="0" err="1"/>
              <a:t>datapath</a:t>
            </a:r>
            <a:r>
              <a:rPr lang="en-US" altLang="zh-TW" dirty="0"/>
              <a:t> is the idealized memory to store your data and instructions.</a:t>
            </a:r>
          </a:p>
          <a:p>
            <a:r>
              <a:rPr lang="en-US" altLang="zh-TW" dirty="0"/>
              <a:t>This idealized memory block has just one input bus (</a:t>
            </a:r>
            <a:r>
              <a:rPr lang="en-US" altLang="zh-TW" dirty="0" err="1"/>
              <a:t>DataIn</a:t>
            </a:r>
            <a:r>
              <a:rPr lang="en-US" altLang="zh-TW" dirty="0"/>
              <a:t>) and one output bus (</a:t>
            </a:r>
            <a:r>
              <a:rPr lang="en-US" altLang="zh-TW" dirty="0" err="1"/>
              <a:t>DataOut</a:t>
            </a:r>
            <a:r>
              <a:rPr lang="en-US" altLang="zh-TW" dirty="0"/>
              <a:t>).</a:t>
            </a:r>
          </a:p>
          <a:p>
            <a:r>
              <a:rPr lang="en-US" altLang="zh-TW" dirty="0"/>
              <a:t>When Write Enable is 0, the address selects the memory word to put on the Data Out bus.</a:t>
            </a:r>
          </a:p>
          <a:p>
            <a:r>
              <a:rPr lang="en-US" altLang="zh-TW" dirty="0"/>
              <a:t>When Write Enable is 1, the address selects the memory word to be written via the </a:t>
            </a:r>
            <a:r>
              <a:rPr lang="en-US" altLang="zh-TW" dirty="0" err="1"/>
              <a:t>DataIn</a:t>
            </a:r>
            <a:r>
              <a:rPr lang="en-US" altLang="zh-TW" dirty="0"/>
              <a:t> bus at the next clock tick.</a:t>
            </a:r>
          </a:p>
          <a:p>
            <a:r>
              <a:rPr lang="en-US" altLang="zh-TW" dirty="0"/>
              <a:t>Once again, the clock input is a factor ONLY during the write operation.</a:t>
            </a:r>
          </a:p>
          <a:p>
            <a:r>
              <a:rPr lang="en-US" altLang="zh-TW" dirty="0"/>
              <a:t>During read operation, it behaves as a combinational logic block.</a:t>
            </a:r>
          </a:p>
          <a:p>
            <a:r>
              <a:rPr lang="en-US" altLang="zh-TW" dirty="0"/>
              <a:t>That is if you put a valid value on the address lines, the output bus </a:t>
            </a:r>
            <a:r>
              <a:rPr lang="en-US" altLang="zh-TW" dirty="0" err="1"/>
              <a:t>DataOut</a:t>
            </a:r>
            <a:r>
              <a:rPr lang="en-US" altLang="zh-TW" dirty="0"/>
              <a:t> will become valid after the access time of the memory</a:t>
            </a:r>
          </a:p>
        </p:txBody>
      </p:sp>
      <p:sp>
        <p:nvSpPr>
          <p:cNvPr id="98307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en-US" altLang="zh-TW" dirty="0"/>
          </a:p>
        </p:txBody>
      </p:sp>
      <p:sp>
        <p:nvSpPr>
          <p:cNvPr id="993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How does the branch on equal instruction work?</a:t>
            </a:r>
          </a:p>
          <a:p>
            <a:r>
              <a:rPr lang="en-US" altLang="zh-TW" dirty="0"/>
              <a:t>Well it calculates the branch condition by subtracting the register selected by the Rs2 field from the register selected by the Rs1 field.</a:t>
            </a:r>
          </a:p>
          <a:p>
            <a:r>
              <a:rPr lang="en-US" altLang="zh-TW" dirty="0"/>
              <a:t>If the result of the subtraction is zero, then these two registers are equal and we take a branch.  Otherwise, we keep going down the sequential path (PC &lt;- PC +4).</a:t>
            </a:r>
          </a:p>
          <a:p>
            <a:endParaRPr lang="en-US" altLang="zh-TW" dirty="0"/>
          </a:p>
          <a:p>
            <a:r>
              <a:rPr lang="en-US" altLang="zh-TW" dirty="0"/>
              <a:t>+1 = 65 min. (Y:45)</a:t>
            </a:r>
          </a:p>
        </p:txBody>
      </p:sp>
      <p:sp>
        <p:nvSpPr>
          <p:cNvPr id="103427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The </a:t>
            </a:r>
            <a:r>
              <a:rPr lang="en-US" altLang="zh-TW" dirty="0" err="1"/>
              <a:t>datapath</a:t>
            </a:r>
            <a:r>
              <a:rPr lang="en-US" altLang="zh-TW" dirty="0"/>
              <a:t> for calculating the branch condition is rather simple.</a:t>
            </a:r>
          </a:p>
          <a:p>
            <a:r>
              <a:rPr lang="en-US" altLang="zh-TW" dirty="0"/>
              <a:t>All we have to do is feed the Rs and Rt fields of the instruction into the Ra and Rb inputs of the register file.</a:t>
            </a:r>
          </a:p>
          <a:p>
            <a:r>
              <a:rPr lang="en-US" altLang="zh-TW" dirty="0"/>
              <a:t>For the branch, usually a subtraction is performed, but what if the subtraction overflowed?</a:t>
            </a:r>
          </a:p>
          <a:p>
            <a:r>
              <a:rPr lang="en-US" altLang="zh-TW" dirty="0"/>
              <a:t>Bus A will then contain the value from the register selected by Rs.</a:t>
            </a:r>
          </a:p>
          <a:p>
            <a:r>
              <a:rPr lang="en-US" altLang="zh-TW" dirty="0"/>
              <a:t>And bus B will contain the value from the register selected by Rt.</a:t>
            </a:r>
          </a:p>
          <a:p>
            <a:r>
              <a:rPr lang="en-US" altLang="zh-TW" dirty="0"/>
              <a:t>The next thing to do is to ask the ALU to perform a subtract operation and feed the output Zero to the next address logic.</a:t>
            </a:r>
          </a:p>
          <a:p>
            <a:r>
              <a:rPr lang="en-US" altLang="zh-TW" dirty="0"/>
              <a:t>How does the next address logic block look like?</a:t>
            </a:r>
          </a:p>
          <a:p>
            <a:r>
              <a:rPr lang="en-US" altLang="zh-TW" dirty="0"/>
              <a:t>Well, before I show you that, let take a look at the binary </a:t>
            </a:r>
            <a:r>
              <a:rPr lang="en-US" altLang="zh-TW" dirty="0" err="1"/>
              <a:t>arithmetics</a:t>
            </a:r>
            <a:r>
              <a:rPr lang="en-US" altLang="zh-TW" dirty="0"/>
              <a:t> behind the program counter (PC).</a:t>
            </a:r>
          </a:p>
          <a:p>
            <a:endParaRPr lang="en-US" altLang="zh-TW" dirty="0"/>
          </a:p>
          <a:p>
            <a:r>
              <a:rPr lang="en-US" altLang="zh-TW" dirty="0"/>
              <a:t>+2 = 67 min. (Y:47)</a:t>
            </a:r>
          </a:p>
        </p:txBody>
      </p:sp>
      <p:sp>
        <p:nvSpPr>
          <p:cNvPr id="10445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87613" y="482600"/>
            <a:ext cx="4875212" cy="2743200"/>
          </a:xfrm>
          <a:noFill/>
          <a:ln cap="flat">
            <a:solidFill>
              <a:schemeClr val="tx1"/>
            </a:solidFill>
          </a:ln>
        </p:spPr>
      </p:sp>
      <p:sp>
        <p:nvSpPr>
          <p:cNvPr id="942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2922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And here is the </a:t>
            </a:r>
            <a:r>
              <a:rPr lang="en-US" altLang="zh-TW" dirty="0" err="1"/>
              <a:t>datapath</a:t>
            </a:r>
            <a:r>
              <a:rPr lang="en-US" altLang="zh-TW" dirty="0"/>
              <a:t> that can do the trick.</a:t>
            </a:r>
          </a:p>
          <a:p>
            <a:r>
              <a:rPr lang="en-US" altLang="zh-TW" dirty="0"/>
              <a:t>First of all, we connect the register file Ra, Rb, and </a:t>
            </a:r>
            <a:r>
              <a:rPr lang="en-US" altLang="zh-TW" dirty="0" err="1"/>
              <a:t>Rw</a:t>
            </a:r>
            <a:r>
              <a:rPr lang="en-US" altLang="zh-TW" dirty="0"/>
              <a:t> input to the Rd, Rs1, and Rs2 fields of the instruction bus (points to the format diagram).</a:t>
            </a:r>
          </a:p>
          <a:p>
            <a:r>
              <a:rPr lang="en-US" altLang="zh-TW" dirty="0"/>
              <a:t>Then we need to connect  </a:t>
            </a:r>
            <a:r>
              <a:rPr lang="en-US" altLang="zh-TW" dirty="0" err="1"/>
              <a:t>busA</a:t>
            </a:r>
            <a:r>
              <a:rPr lang="en-US" altLang="zh-TW" dirty="0"/>
              <a:t> and </a:t>
            </a:r>
            <a:r>
              <a:rPr lang="en-US" altLang="zh-TW" dirty="0" err="1"/>
              <a:t>busB</a:t>
            </a:r>
            <a:r>
              <a:rPr lang="en-US" altLang="zh-TW" dirty="0"/>
              <a:t> of the register file to the ALU.</a:t>
            </a:r>
          </a:p>
          <a:p>
            <a:r>
              <a:rPr lang="en-US" altLang="zh-TW" dirty="0"/>
              <a:t>Finally, we need to connect the output of the ALU to the input bus of the register file.</a:t>
            </a:r>
          </a:p>
          <a:p>
            <a:r>
              <a:rPr lang="en-US" altLang="zh-TW" dirty="0"/>
              <a:t>Conceptually, this is how it works.</a:t>
            </a:r>
          </a:p>
          <a:p>
            <a:r>
              <a:rPr lang="en-US" altLang="zh-TW" dirty="0"/>
              <a:t>The instruction bus coming out of the Instruction memory will set the Rs1 and Rs2 to the register specifiers Rs1 and Rs2.</a:t>
            </a:r>
          </a:p>
          <a:p>
            <a:r>
              <a:rPr lang="en-US" altLang="zh-TW" dirty="0"/>
              <a:t>This causes the register file to put the value of register Rs1 onto </a:t>
            </a:r>
            <a:r>
              <a:rPr lang="en-US" altLang="zh-TW" dirty="0" err="1"/>
              <a:t>busA</a:t>
            </a:r>
            <a:r>
              <a:rPr lang="en-US" altLang="zh-TW" dirty="0"/>
              <a:t> and the value of register Rs2 onto </a:t>
            </a:r>
            <a:r>
              <a:rPr lang="en-US" altLang="zh-TW" dirty="0" err="1"/>
              <a:t>busB</a:t>
            </a:r>
            <a:r>
              <a:rPr lang="en-US" altLang="zh-TW" dirty="0"/>
              <a:t>, respectively.</a:t>
            </a:r>
          </a:p>
          <a:p>
            <a:r>
              <a:rPr lang="en-US" altLang="zh-TW" dirty="0"/>
              <a:t>By setting the </a:t>
            </a:r>
            <a:r>
              <a:rPr lang="en-US" altLang="zh-TW" dirty="0" err="1"/>
              <a:t>ALUctr</a:t>
            </a:r>
            <a:r>
              <a:rPr lang="en-US" altLang="zh-TW" dirty="0"/>
              <a:t> appropriately, the ALU will perform either the Add and Subtract for us.</a:t>
            </a:r>
          </a:p>
          <a:p>
            <a:r>
              <a:rPr lang="en-US" altLang="zh-TW" dirty="0"/>
              <a:t>The result is then fed back to the register file where the register specifier </a:t>
            </a:r>
            <a:r>
              <a:rPr lang="en-US" altLang="zh-TW" dirty="0" err="1"/>
              <a:t>Rw</a:t>
            </a:r>
            <a:r>
              <a:rPr lang="en-US" altLang="zh-TW" dirty="0"/>
              <a:t> should already be set to the instruction bus Rd field.</a:t>
            </a:r>
          </a:p>
          <a:p>
            <a:r>
              <a:rPr lang="en-US" altLang="zh-TW" dirty="0"/>
              <a:t>Since the control, which we will design in our next lecture, should have already set the </a:t>
            </a:r>
            <a:r>
              <a:rPr lang="en-US" altLang="zh-TW" dirty="0" err="1"/>
              <a:t>RegWr</a:t>
            </a:r>
            <a:r>
              <a:rPr lang="en-US" altLang="zh-TW" dirty="0"/>
              <a:t> signal to 1, the result will be written back to the register file at the next clock tick (points to the </a:t>
            </a:r>
            <a:r>
              <a:rPr lang="en-US" altLang="zh-TW" dirty="0" err="1"/>
              <a:t>Clk</a:t>
            </a:r>
            <a:r>
              <a:rPr lang="en-US" altLang="zh-TW" dirty="0"/>
              <a:t> input).</a:t>
            </a:r>
          </a:p>
          <a:p>
            <a:endParaRPr lang="en-US" altLang="zh-TW" dirty="0"/>
          </a:p>
          <a:p>
            <a:r>
              <a:rPr lang="en-US" altLang="zh-TW" dirty="0"/>
              <a:t>+3 = 42 min. (Y:22)</a:t>
            </a:r>
          </a:p>
        </p:txBody>
      </p:sp>
      <p:sp>
        <p:nvSpPr>
          <p:cNvPr id="100355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r>
              <a:rPr lang="en-US" altLang="zh-TW" dirty="0"/>
              <a:t>Once again we cannot use the instruction Rd field for the Register File </a:t>
            </a:r>
            <a:r>
              <a:rPr lang="en-US" altLang="zh-TW" dirty="0" err="1"/>
              <a:t>Rw</a:t>
            </a:r>
            <a:r>
              <a:rPr lang="en-US" altLang="zh-TW" dirty="0"/>
              <a:t> input because load is a I-type instruction and there is no such thing as the Rd field in the I format.</a:t>
            </a:r>
          </a:p>
          <a:p>
            <a:r>
              <a:rPr lang="en-US" altLang="zh-TW" dirty="0"/>
              <a:t>So instead of Rd, the Rt field is used to specify the destination register through this two to  one multiplexor.</a:t>
            </a:r>
          </a:p>
          <a:p>
            <a:r>
              <a:rPr lang="en-US" altLang="zh-TW" dirty="0"/>
              <a:t>The first operand of the ALU comes from </a:t>
            </a:r>
            <a:r>
              <a:rPr lang="en-US" altLang="zh-TW" dirty="0" err="1"/>
              <a:t>busA</a:t>
            </a:r>
            <a:r>
              <a:rPr lang="en-US" altLang="zh-TW" dirty="0"/>
              <a:t> of the register file which contains the value of Register Rs (points to the Ra input of the register file).</a:t>
            </a:r>
          </a:p>
          <a:p>
            <a:r>
              <a:rPr lang="en-US" altLang="zh-TW" dirty="0"/>
              <a:t>The second operand, on the other hand, comes from the immediate field of the instruction.</a:t>
            </a:r>
          </a:p>
          <a:p>
            <a:r>
              <a:rPr lang="en-US" altLang="zh-TW" dirty="0"/>
              <a:t>Instead of using the Zero Extender I used in </a:t>
            </a:r>
            <a:r>
              <a:rPr lang="en-US" altLang="zh-TW" dirty="0" err="1"/>
              <a:t>datapath</a:t>
            </a:r>
            <a:r>
              <a:rPr lang="en-US" altLang="zh-TW" dirty="0"/>
              <a:t> for the or immediate </a:t>
            </a:r>
            <a:r>
              <a:rPr lang="en-US" altLang="zh-TW" dirty="0" err="1"/>
              <a:t>datapath</a:t>
            </a:r>
            <a:r>
              <a:rPr lang="en-US" altLang="zh-TW" dirty="0"/>
              <a:t>, I have to use a more general purpose Extender that can do both Sign Extend and Zero Extend.</a:t>
            </a:r>
          </a:p>
          <a:p>
            <a:r>
              <a:rPr lang="en-US" altLang="zh-TW" dirty="0"/>
              <a:t>The ALU then adds these two operands together to form the memory address.</a:t>
            </a:r>
          </a:p>
          <a:p>
            <a:r>
              <a:rPr lang="en-US" altLang="zh-TW" dirty="0"/>
              <a:t>Consequently, the output of the ALU has to go to two places:</a:t>
            </a:r>
          </a:p>
          <a:p>
            <a:r>
              <a:rPr lang="en-US" altLang="zh-TW" dirty="0"/>
              <a:t>(a) First the address input of the data memory.</a:t>
            </a:r>
          </a:p>
          <a:p>
            <a:r>
              <a:rPr lang="en-US" altLang="zh-TW" dirty="0"/>
              <a:t>(b) And secondly, also to the input of this two-to-one multiplexer.</a:t>
            </a:r>
          </a:p>
          <a:p>
            <a:r>
              <a:rPr lang="en-US" altLang="zh-TW" dirty="0"/>
              <a:t>The other input of this multiplexer comes from the output of the data memory so we can place the output of the data memory onto the register file input bus for the load instruction.</a:t>
            </a:r>
          </a:p>
          <a:p>
            <a:r>
              <a:rPr lang="en-US" altLang="zh-TW" dirty="0"/>
              <a:t>For Add, Subtract, and the Or immediate instructions, the output of the ALU will be selected to be placed on the input bus of the register file.</a:t>
            </a:r>
          </a:p>
          <a:p>
            <a:r>
              <a:rPr lang="en-US" altLang="zh-TW" dirty="0"/>
              <a:t>In either case, the control signal </a:t>
            </a:r>
            <a:r>
              <a:rPr lang="en-US" altLang="zh-TW" dirty="0" err="1"/>
              <a:t>RegWr</a:t>
            </a:r>
            <a:r>
              <a:rPr lang="en-US" altLang="zh-TW" dirty="0"/>
              <a:t> should be asserted so the register file will be written at the end of the cycle.</a:t>
            </a:r>
          </a:p>
          <a:p>
            <a:endParaRPr lang="en-US" altLang="zh-TW" dirty="0"/>
          </a:p>
          <a:p>
            <a:r>
              <a:rPr lang="en-US" altLang="zh-TW" dirty="0"/>
              <a:t>+3 = 60 min. (Y:40)</a:t>
            </a:r>
          </a:p>
        </p:txBody>
      </p:sp>
      <p:sp>
        <p:nvSpPr>
          <p:cNvPr id="101379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74913" y="476250"/>
            <a:ext cx="4900612" cy="2757488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2688" y="554038"/>
            <a:ext cx="4926012" cy="2771775"/>
          </a:xfrm>
        </p:spPr>
      </p:sp>
      <p:sp>
        <p:nvSpPr>
          <p:cNvPr id="1024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10710" y="3508104"/>
            <a:ext cx="7208909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zh-TW" altLang="en-US"/>
              <a:t>To create a datapath with only a single register fi le and a single ALU, we must</a:t>
            </a:r>
          </a:p>
          <a:p>
            <a:r>
              <a:rPr lang="zh-TW" altLang="en-US"/>
              <a:t>support two diff erent sources for the second ALU input, as well as two diff erent</a:t>
            </a:r>
          </a:p>
          <a:p>
            <a:r>
              <a:rPr lang="zh-TW" altLang="en-US"/>
              <a:t>sources for the data stored into the register fi le. Th us, one multiplexor is placed</a:t>
            </a:r>
          </a:p>
          <a:p>
            <a:r>
              <a:rPr lang="zh-TW" altLang="en-US"/>
              <a:t>at the ALU input and another at the data input to the register fi le.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1D5518-E2B7-47D3-A483-775D39982443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09897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40426" y="3508104"/>
            <a:ext cx="8470783" cy="3323466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/>
          <a:p>
            <a:endParaRPr lang="zh-TW" altLang="en-US"/>
          </a:p>
        </p:txBody>
      </p:sp>
      <p:sp>
        <p:nvSpPr>
          <p:cNvPr id="10957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451100" y="461963"/>
            <a:ext cx="4940300" cy="2779712"/>
          </a:xfrm>
          <a:noFill/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667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24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2133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839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267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3733"/>
            </a:lvl1pPr>
            <a:lvl2pPr marL="457177" indent="0">
              <a:buNone/>
              <a:defRPr sz="1801"/>
            </a:lvl2pPr>
            <a:lvl3pPr marL="914354" indent="0">
              <a:buNone/>
              <a:defRPr sz="1600"/>
            </a:lvl3pPr>
            <a:lvl4pPr marL="1371531" indent="0">
              <a:buNone/>
              <a:defRPr sz="1401"/>
            </a:lvl4pPr>
            <a:lvl5pPr marL="1828709" indent="0">
              <a:buNone/>
              <a:defRPr sz="1401"/>
            </a:lvl5pPr>
            <a:lvl6pPr marL="2285886" indent="0">
              <a:buNone/>
              <a:defRPr sz="1401"/>
            </a:lvl6pPr>
            <a:lvl7pPr marL="2743063" indent="0">
              <a:buNone/>
              <a:defRPr sz="1401"/>
            </a:lvl7pPr>
            <a:lvl8pPr marL="3200240" indent="0">
              <a:buNone/>
              <a:defRPr sz="1401"/>
            </a:lvl8pPr>
            <a:lvl9pPr marL="3657417" indent="0">
              <a:buNone/>
              <a:defRPr sz="14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60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125536"/>
            <a:ext cx="5384800" cy="4227699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498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2" y="1268773"/>
            <a:ext cx="5386917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2" y="1908535"/>
            <a:ext cx="5386917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73" y="1268773"/>
            <a:ext cx="5389033" cy="639763"/>
          </a:xfrm>
        </p:spPr>
        <p:txBody>
          <a:bodyPr anchor="b"/>
          <a:lstStyle>
            <a:lvl1pPr marL="0" indent="0">
              <a:buNone/>
              <a:defRPr sz="2667" b="1"/>
            </a:lvl1pPr>
            <a:lvl2pPr marL="457177" indent="0">
              <a:buNone/>
              <a:defRPr sz="2000" b="1"/>
            </a:lvl2pPr>
            <a:lvl3pPr marL="914354" indent="0">
              <a:buNone/>
              <a:defRPr sz="1801" b="1"/>
            </a:lvl3pPr>
            <a:lvl4pPr marL="1371531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3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7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73" y="1908535"/>
            <a:ext cx="5389033" cy="3951288"/>
          </a:xfrm>
        </p:spPr>
        <p:txBody>
          <a:bodyPr/>
          <a:lstStyle>
            <a:lvl1pPr>
              <a:defRPr sz="2667"/>
            </a:lvl1pPr>
            <a:lvl2pPr>
              <a:defRPr sz="2133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24421" y="144466"/>
            <a:ext cx="10943167" cy="692151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794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0701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3319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6" y="273049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4" y="273056"/>
            <a:ext cx="68156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6" y="1435104"/>
            <a:ext cx="4011084" cy="46910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048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77" indent="0">
              <a:buNone/>
              <a:defRPr sz="2800"/>
            </a:lvl2pPr>
            <a:lvl3pPr marL="914354" indent="0">
              <a:buNone/>
              <a:defRPr sz="2400"/>
            </a:lvl3pPr>
            <a:lvl4pPr marL="1371531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3" indent="0">
              <a:buNone/>
              <a:defRPr sz="2000"/>
            </a:lvl7pPr>
            <a:lvl8pPr marL="3200240" indent="0">
              <a:buNone/>
              <a:defRPr sz="2000"/>
            </a:lvl8pPr>
            <a:lvl9pPr marL="3657417" indent="0">
              <a:buNone/>
              <a:defRPr sz="20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41"/>
            <a:ext cx="7315200" cy="804863"/>
          </a:xfrm>
        </p:spPr>
        <p:txBody>
          <a:bodyPr/>
          <a:lstStyle>
            <a:lvl1pPr marL="0" indent="0">
              <a:buNone/>
              <a:defRPr sz="1401"/>
            </a:lvl1pPr>
            <a:lvl2pPr marL="457177" indent="0">
              <a:buNone/>
              <a:defRPr sz="1200"/>
            </a:lvl2pPr>
            <a:lvl3pPr marL="914354" indent="0">
              <a:buNone/>
              <a:defRPr sz="1001"/>
            </a:lvl3pPr>
            <a:lvl4pPr marL="1371531" indent="0">
              <a:buNone/>
              <a:defRPr sz="900"/>
            </a:lvl4pPr>
            <a:lvl5pPr marL="1828709" indent="0">
              <a:buNone/>
              <a:defRPr sz="900"/>
            </a:lvl5pPr>
            <a:lvl6pPr marL="2285886" indent="0">
              <a:buNone/>
              <a:defRPr sz="900"/>
            </a:lvl6pPr>
            <a:lvl7pPr marL="2743063" indent="0">
              <a:buNone/>
              <a:defRPr sz="900"/>
            </a:lvl7pPr>
            <a:lvl8pPr marL="3200240" indent="0">
              <a:buNone/>
              <a:defRPr sz="900"/>
            </a:lvl8pPr>
            <a:lvl9pPr marL="3657417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256574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67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043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09600" y="73028"/>
            <a:ext cx="10972800" cy="1700213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8601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09600" y="1125542"/>
            <a:ext cx="10972800" cy="647700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92217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32"/>
            <a:ext cx="10363200" cy="1470025"/>
          </a:xfrm>
        </p:spPr>
        <p:txBody>
          <a:bodyPr/>
          <a:lstStyle>
            <a:lvl1pPr algn="ctr">
              <a:defRPr sz="5333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177" indent="0" algn="ctr">
              <a:buNone/>
              <a:defRPr/>
            </a:lvl2pPr>
            <a:lvl3pPr marL="914354" indent="0" algn="ctr">
              <a:buNone/>
              <a:defRPr/>
            </a:lvl3pPr>
            <a:lvl4pPr marL="1371531" indent="0" algn="ctr">
              <a:buNone/>
              <a:defRPr/>
            </a:lvl4pPr>
            <a:lvl5pPr marL="1828709" indent="0" algn="ctr">
              <a:buNone/>
              <a:defRPr/>
            </a:lvl5pPr>
            <a:lvl6pPr marL="2285886" indent="0" algn="ctr">
              <a:buNone/>
              <a:defRPr/>
            </a:lvl6pPr>
            <a:lvl7pPr marL="2743063" indent="0" algn="ctr">
              <a:buNone/>
              <a:defRPr/>
            </a:lvl7pPr>
            <a:lvl8pPr marL="3200240" indent="0" algn="ctr">
              <a:buNone/>
              <a:defRPr/>
            </a:lvl8pPr>
            <a:lvl9pPr marL="3657417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947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865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3935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34368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637830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55558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8438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88628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8537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79622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8278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6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1049867" y="144466"/>
            <a:ext cx="10517721" cy="692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125537"/>
            <a:ext cx="10972800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3" y="6357940"/>
            <a:ext cx="5111751" cy="19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792808" y="6581777"/>
            <a:ext cx="357482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12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908055"/>
            <a:ext cx="12192000" cy="144463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6165849"/>
            <a:ext cx="12192000" cy="719139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80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108017" y="6524628"/>
            <a:ext cx="28448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14" name="圖片 13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80" y="124614"/>
            <a:ext cx="916587" cy="672311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80" y="6239920"/>
            <a:ext cx="817930" cy="569415"/>
          </a:xfrm>
          <a:prstGeom prst="rect">
            <a:avLst/>
          </a:prstGeom>
        </p:spPr>
      </p:pic>
      <p:sp>
        <p:nvSpPr>
          <p:cNvPr id="13" name="矩形 14">
            <a:extLst>
              <a:ext uri="{FF2B5EF4-FFF2-40B4-BE49-F238E27FC236}">
                <a16:creationId xmlns:a16="http://schemas.microsoft.com/office/drawing/2014/main" id="{BAD5182A-352B-430B-A0C2-1F5E59A66513}"/>
              </a:ext>
            </a:extLst>
          </p:cNvPr>
          <p:cNvSpPr/>
          <p:nvPr userDrawn="1"/>
        </p:nvSpPr>
        <p:spPr>
          <a:xfrm>
            <a:off x="829837" y="6347770"/>
            <a:ext cx="267212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</a:t>
            </a:r>
            <a:r>
              <a:rPr kumimoji="0" lang="zh-CN" altLang="zh-TW" sz="1200" b="0" i="0" u="none" strike="noStrike" kern="1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学</a:t>
            </a:r>
            <a:r>
              <a:rPr lang="zh-CN" altLang="zh-TW" sz="1200" kern="1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院</a:t>
            </a:r>
            <a:endParaRPr lang="zh-TW" altLang="zh-TW" sz="1200" kern="1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CUHK</a:t>
            </a: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DengXian"/>
                <a:cs typeface="Times New Roman" panose="02020603050405020304" pitchFamily="18" charset="0"/>
              </a:rPr>
              <a:t>-SZ Sc</a:t>
            </a: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hool of Data Science</a:t>
            </a:r>
            <a:endParaRPr lang="zh-TW" altLang="zh-TW" sz="1000" kern="100" dirty="0">
              <a:solidFill>
                <a:schemeClr val="bg1"/>
              </a:solidFill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231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8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457177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914354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371531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828709" algn="l" rtl="0" eaLnBrk="1" fontAlgn="base" hangingPunct="1">
        <a:spcBef>
          <a:spcPct val="0"/>
        </a:spcBef>
        <a:spcAft>
          <a:spcPct val="0"/>
        </a:spcAft>
        <a:defRPr kumimoji="1" sz="300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342882" indent="-342882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3733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742913" indent="-285737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32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1142943" indent="-228589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121" indent="-228589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298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476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652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829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007" indent="-228589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1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11D65F-25B7-47C5-85DC-B1A2A3BE76D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6871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E74415-30E6-4BE5-9E20-77352570E8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6BDF2-6896-4B98-8776-C18582F63BA5}" type="slidenum">
              <a:rPr lang="zh-TW" altLang="en-US" smtClean="0"/>
              <a:pPr/>
              <a:t>1</a:t>
            </a:fld>
            <a:endParaRPr lang="zh-TW" alt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CCF4834-0539-4513-8D25-641B75117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8968" y="1021404"/>
            <a:ext cx="8160657" cy="3163722"/>
          </a:xfrm>
        </p:spPr>
        <p:txBody>
          <a:bodyPr/>
          <a:lstStyle/>
          <a:p>
            <a:pPr algn="ctr"/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CSC3060 – Computer Architecture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Chapter 4 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Processor Architecture &amp;</a:t>
            </a:r>
            <a:b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TW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Logic Designs</a:t>
            </a:r>
            <a:endParaRPr lang="zh-TW" altLang="en-US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7EF043F-0047-4EC5-B297-23522E9815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659" y="4670902"/>
            <a:ext cx="7908692" cy="1367949"/>
          </a:xfrm>
        </p:spPr>
        <p:txBody>
          <a:bodyPr/>
          <a:lstStyle/>
          <a:p>
            <a:r>
              <a:rPr lang="en-US" altLang="zh-TW" sz="2400" dirty="0"/>
              <a:t>Prof. Wei Chung Hsu</a:t>
            </a:r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Data 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769360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Processors and Logic Designs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476249" y="1125537"/>
            <a:ext cx="11476567" cy="4895851"/>
          </a:xfrm>
        </p:spPr>
        <p:txBody>
          <a:bodyPr/>
          <a:lstStyle/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So far, we have covered data representation and machine languages such as ISA and instruction encoding.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This chapter will discuss the processor and basic logic designs for various microarchitectures.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Computer architectures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ISA family: Intel x86, IBM 360, ARM, RISC-V, … 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Processor Microarchitectures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Different implementations of the same ISA: Single cycle, Multi-cycle, Pipelined, Superscalar, Out-Of-Order, Speculative Execution, Cache Hierarchies, and Various Predictions. 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Different implementations support various performance and cost </a:t>
            </a:r>
          </a:p>
          <a:p>
            <a:endParaRPr lang="en-US" altLang="zh-CN" sz="2800" dirty="0"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838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Processors and Logic Designs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476249" y="1125537"/>
            <a:ext cx="11476567" cy="4895851"/>
          </a:xfrm>
        </p:spPr>
        <p:txBody>
          <a:bodyPr/>
          <a:lstStyle/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So far, we have covered data representation and machine languages such as ISA and instruction encoding.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This chapter will discuss the processor and basic logic designs for various microarchitectures.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Computer architectures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ISA family: Intel x86, IBM 360, ARM, RISC-V, … </a:t>
            </a:r>
          </a:p>
          <a:p>
            <a:r>
              <a:rPr lang="en-US" altLang="zh-CN" sz="2800" dirty="0">
                <a:cs typeface="Courier New" panose="02070309020205020404" pitchFamily="49" charset="0"/>
                <a:sym typeface="+mn-ea"/>
              </a:rPr>
              <a:t>Processor Microarchitectures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Different implementations of the same ISA: Single cycle, Multi-cycle, Pipelined, Superscalar, Out-Of-Order, Speculative Execution, Cache Hierarchies, and Various Predictions. </a:t>
            </a:r>
          </a:p>
          <a:p>
            <a:pPr lvl="1"/>
            <a:r>
              <a:rPr lang="en-US" altLang="zh-CN" sz="2267" dirty="0">
                <a:cs typeface="Courier New" panose="02070309020205020404" pitchFamily="49" charset="0"/>
                <a:sym typeface="+mn-ea"/>
              </a:rPr>
              <a:t>Different implementations support various performance and cost </a:t>
            </a:r>
          </a:p>
          <a:p>
            <a:endParaRPr lang="en-US" altLang="zh-CN" sz="2800" dirty="0"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</a:t>
            </a:fld>
            <a:endParaRPr lang="zh-TW" altLang="en-US">
              <a:solidFill>
                <a:prstClr val="white"/>
              </a:solidFill>
            </a:endParaRPr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892E54A4-F22B-4D58-A561-C542B672C2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5702095"/>
              </p:ext>
            </p:extLst>
          </p:nvPr>
        </p:nvGraphicFramePr>
        <p:xfrm>
          <a:off x="239184" y="4318677"/>
          <a:ext cx="11828992" cy="18295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8141">
                  <a:extLst>
                    <a:ext uri="{9D8B030D-6E8A-4147-A177-3AD203B41FA5}">
                      <a16:colId xmlns:a16="http://schemas.microsoft.com/office/drawing/2014/main" val="525858475"/>
                    </a:ext>
                  </a:extLst>
                </a:gridCol>
                <a:gridCol w="942975">
                  <a:extLst>
                    <a:ext uri="{9D8B030D-6E8A-4147-A177-3AD203B41FA5}">
                      <a16:colId xmlns:a16="http://schemas.microsoft.com/office/drawing/2014/main" val="3140680"/>
                    </a:ext>
                  </a:extLst>
                </a:gridCol>
                <a:gridCol w="1276350">
                  <a:extLst>
                    <a:ext uri="{9D8B030D-6E8A-4147-A177-3AD203B41FA5}">
                      <a16:colId xmlns:a16="http://schemas.microsoft.com/office/drawing/2014/main" val="3661674411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3855911251"/>
                    </a:ext>
                  </a:extLst>
                </a:gridCol>
                <a:gridCol w="1228725">
                  <a:extLst>
                    <a:ext uri="{9D8B030D-6E8A-4147-A177-3AD203B41FA5}">
                      <a16:colId xmlns:a16="http://schemas.microsoft.com/office/drawing/2014/main" val="478109439"/>
                    </a:ext>
                  </a:extLst>
                </a:gridCol>
                <a:gridCol w="1457325">
                  <a:extLst>
                    <a:ext uri="{9D8B030D-6E8A-4147-A177-3AD203B41FA5}">
                      <a16:colId xmlns:a16="http://schemas.microsoft.com/office/drawing/2014/main" val="1590831725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1995433648"/>
                    </a:ext>
                  </a:extLst>
                </a:gridCol>
                <a:gridCol w="1628775">
                  <a:extLst>
                    <a:ext uri="{9D8B030D-6E8A-4147-A177-3AD203B41FA5}">
                      <a16:colId xmlns:a16="http://schemas.microsoft.com/office/drawing/2014/main" val="3798108715"/>
                    </a:ext>
                  </a:extLst>
                </a:gridCol>
                <a:gridCol w="1704976">
                  <a:extLst>
                    <a:ext uri="{9D8B030D-6E8A-4147-A177-3AD203B41FA5}">
                      <a16:colId xmlns:a16="http://schemas.microsoft.com/office/drawing/2014/main" val="3767233141"/>
                    </a:ext>
                  </a:extLst>
                </a:gridCol>
              </a:tblGrid>
              <a:tr h="787930">
                <a:tc>
                  <a:txBody>
                    <a:bodyPr/>
                    <a:lstStyle/>
                    <a:p>
                      <a:r>
                        <a:rPr lang="en-US" dirty="0"/>
                        <a:t>Intel x86</a:t>
                      </a:r>
                    </a:p>
                    <a:p>
                      <a:r>
                        <a:rPr lang="en-US" dirty="0"/>
                        <a:t>u-arch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Multi-</a:t>
                      </a:r>
                    </a:p>
                    <a:p>
                      <a:r>
                        <a:rPr lang="en-US" dirty="0"/>
                        <a:t>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Pipelined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Super-</a:t>
                      </a:r>
                    </a:p>
                    <a:p>
                      <a:r>
                        <a:rPr lang="en-US" dirty="0"/>
                        <a:t>scalar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Out-of-Order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OOO 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SMT</a:t>
                      </a:r>
                    </a:p>
                    <a:p>
                      <a:r>
                        <a:rPr lang="en-US" dirty="0"/>
                        <a:t>Hyper-threading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SIMD/AVX</a:t>
                      </a:r>
                    </a:p>
                    <a:p>
                      <a:r>
                        <a:rPr lang="en-US" dirty="0"/>
                        <a:t>Vector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Hetero-</a:t>
                      </a:r>
                    </a:p>
                    <a:p>
                      <a:r>
                        <a:rPr lang="en-US" dirty="0" err="1"/>
                        <a:t>geneous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415381"/>
                  </a:ext>
                </a:extLst>
              </a:tr>
              <a:tr h="787930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r>
                        <a:rPr lang="en-US" dirty="0"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8086</a:t>
                      </a:r>
                    </a:p>
                    <a:p>
                      <a:r>
                        <a:rPr lang="en-US" dirty="0"/>
                        <a:t>80286</a:t>
                      </a:r>
                    </a:p>
                    <a:p>
                      <a:r>
                        <a:rPr lang="en-US" dirty="0"/>
                        <a:t>80386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Pentium</a:t>
                      </a:r>
                    </a:p>
                    <a:p>
                      <a:r>
                        <a:rPr lang="en-US" dirty="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Pentium-</a:t>
                      </a:r>
                    </a:p>
                    <a:p>
                      <a:r>
                        <a:rPr lang="en-US" dirty="0"/>
                        <a:t>pro</a:t>
                      </a:r>
                    </a:p>
                    <a:p>
                      <a:r>
                        <a:rPr lang="en-US" dirty="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P6,</a:t>
                      </a:r>
                    </a:p>
                    <a:p>
                      <a:r>
                        <a:rPr lang="en-US" dirty="0"/>
                        <a:t>Pentium II</a:t>
                      </a:r>
                    </a:p>
                    <a:p>
                      <a:r>
                        <a:rPr lang="en-US" dirty="0"/>
                        <a:t>Core,Core2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Nehalem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Sandy bridge</a:t>
                      </a:r>
                    </a:p>
                    <a:p>
                      <a:r>
                        <a:rPr lang="en-US" dirty="0"/>
                        <a:t>Rocket lake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Alder lake</a:t>
                      </a:r>
                    </a:p>
                    <a:p>
                      <a:r>
                        <a:rPr lang="en-US" dirty="0"/>
                        <a:t>Raptor lake</a:t>
                      </a:r>
                    </a:p>
                    <a:p>
                      <a:r>
                        <a:rPr lang="en-US" dirty="0" err="1"/>
                        <a:t>P-core+E-core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6814938"/>
                  </a:ext>
                </a:extLst>
              </a:tr>
            </a:tbl>
          </a:graphicData>
        </a:graphic>
      </p:graphicFrame>
      <p:sp>
        <p:nvSpPr>
          <p:cNvPr id="2" name="Arrow: Right 1">
            <a:extLst>
              <a:ext uri="{FF2B5EF4-FFF2-40B4-BE49-F238E27FC236}">
                <a16:creationId xmlns:a16="http://schemas.microsoft.com/office/drawing/2014/main" id="{0793E5ED-A79F-4FDC-8D35-F3D6D1470E88}"/>
              </a:ext>
            </a:extLst>
          </p:cNvPr>
          <p:cNvSpPr/>
          <p:nvPr/>
        </p:nvSpPr>
        <p:spPr bwMode="auto">
          <a:xfrm>
            <a:off x="6373640" y="6089678"/>
            <a:ext cx="832918" cy="623856"/>
          </a:xfrm>
          <a:prstGeom prst="rightArrow">
            <a:avLst/>
          </a:prstGeom>
          <a:solidFill>
            <a:srgbClr val="FFC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64bit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E0F060A-6630-4886-AC0A-27EEE7753F37}"/>
              </a:ext>
            </a:extLst>
          </p:cNvPr>
          <p:cNvSpPr/>
          <p:nvPr/>
        </p:nvSpPr>
        <p:spPr bwMode="auto">
          <a:xfrm>
            <a:off x="8415150" y="6049325"/>
            <a:ext cx="832918" cy="623856"/>
          </a:xfrm>
          <a:prstGeom prst="rightArrow">
            <a:avLst/>
          </a:prstGeom>
          <a:solidFill>
            <a:srgbClr val="FFC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b="1" dirty="0">
                <a:latin typeface="Arial" pitchFamily="34" charset="0"/>
                <a:ea typeface="新細明體" pitchFamily="18" charset="-120"/>
              </a:rPr>
              <a:t>AVX</a:t>
            </a:r>
            <a:endParaRPr kumimoji="1" 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0869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Computer Organization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694" y="1095423"/>
            <a:ext cx="6546529" cy="49475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The Processor: Datapath &amp; Control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523874" y="981074"/>
            <a:ext cx="11325225" cy="4895851"/>
          </a:xfrm>
        </p:spPr>
        <p:txBody>
          <a:bodyPr/>
          <a:lstStyle/>
          <a:p>
            <a:r>
              <a:rPr lang="en-US" altLang="zh-TW" sz="3200" dirty="0">
                <a:cs typeface="Calibri" panose="020F0702030404030204" pitchFamily="34" charset="0"/>
                <a:sym typeface="+mn-ea"/>
              </a:rPr>
              <a:t>Data Path</a:t>
            </a:r>
          </a:p>
          <a:p>
            <a:pPr lvl="1" indent="-228589">
              <a:buClrTx/>
              <a:buSzTx/>
              <a:buFontTx/>
              <a:buChar char="•"/>
              <a:defRPr/>
            </a:pPr>
            <a:r>
              <a:rPr lang="en-US" sz="2800" dirty="0"/>
              <a:t>Handles the actual processing of data (arithmetic operations, data movement, etc.), e.g., </a:t>
            </a:r>
            <a:r>
              <a:rPr kumimoji="1" lang="en-US" altLang="zh-TW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標楷體" pitchFamily="65" charset="-120"/>
                <a:cs typeface="Calibri" pitchFamily="34" charset="0"/>
                <a:sym typeface="+mn-ea"/>
              </a:rPr>
              <a:t>ALU, Register, Memory interface, Buses</a:t>
            </a:r>
            <a:endParaRPr kumimoji="1" lang="en-US" altLang="zh-TW" sz="2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 pitchFamily="34" charset="0"/>
              <a:ea typeface="標楷體" pitchFamily="65" charset="-120"/>
              <a:cs typeface="Calibri" pitchFamily="34" charset="0"/>
              <a:sym typeface="+mn-ea"/>
            </a:endParaRPr>
          </a:p>
          <a:p>
            <a:pPr lvl="1" indent="-228589">
              <a:buClrTx/>
              <a:buSzTx/>
              <a:buFontTx/>
              <a:buChar char="•"/>
              <a:defRPr/>
            </a:pPr>
            <a:r>
              <a:rPr lang="en-US" altLang="zh-TW" sz="2800" dirty="0">
                <a:cs typeface="Calibri" panose="020F0702030404030204" pitchFamily="34" charset="0"/>
                <a:sym typeface="+mn-ea"/>
              </a:rPr>
              <a:t>Manages </a:t>
            </a:r>
            <a:r>
              <a:rPr lang="en-US" altLang="zh-TW" sz="2800" dirty="0">
                <a:solidFill>
                  <a:srgbClr val="FF0000"/>
                </a:solidFill>
                <a:cs typeface="Calibri" panose="020F0702030404030204" pitchFamily="34" charset="0"/>
                <a:sym typeface="+mn-ea"/>
              </a:rPr>
              <a:t>Data</a:t>
            </a:r>
            <a:r>
              <a:rPr lang="en-US" altLang="zh-TW" sz="2800" dirty="0">
                <a:cs typeface="Calibri" panose="020F0702030404030204" pitchFamily="34" charset="0"/>
                <a:sym typeface="+mn-ea"/>
              </a:rPr>
              <a:t> Flow</a:t>
            </a:r>
          </a:p>
          <a:p>
            <a:pPr lvl="1" indent="-228589">
              <a:buClrTx/>
              <a:buSzTx/>
              <a:buFontTx/>
              <a:buChar char="•"/>
              <a:defRPr/>
            </a:pPr>
            <a:r>
              <a:rPr lang="en-US" altLang="zh-TW" sz="2800" dirty="0">
                <a:cs typeface="Calibri" panose="020F0702030404030204" pitchFamily="34" charset="0"/>
                <a:sym typeface="+mn-ea"/>
              </a:rPr>
              <a:t>The “Brawn”</a:t>
            </a:r>
          </a:p>
          <a:p>
            <a:pPr lvl="0"/>
            <a:r>
              <a:rPr lang="en-US" altLang="zh-CN" sz="3200" dirty="0">
                <a:cs typeface="Courier New" panose="02070309020205020404" pitchFamily="49" charset="0"/>
                <a:sym typeface="+mn-ea"/>
              </a:rPr>
              <a:t>Control</a:t>
            </a:r>
          </a:p>
          <a:p>
            <a:pPr lvl="1" indent="-228589">
              <a:buClrTx/>
              <a:buSzTx/>
              <a:buFontTx/>
              <a:buChar char="•"/>
              <a:defRPr/>
            </a:pPr>
            <a:r>
              <a:rPr lang="en-US" sz="2800" dirty="0"/>
              <a:t>Handles the flow of instructions and signals within the processor, such as </a:t>
            </a:r>
            <a:r>
              <a:rPr kumimoji="1" lang="en-US" sz="2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標楷體" pitchFamily="65" charset="-120"/>
                <a:cs typeface="Calibri" pitchFamily="34" charset="0"/>
              </a:rPr>
              <a:t>PC, Instruction fetch, and Control signal generation</a:t>
            </a:r>
            <a:endParaRPr lang="en-US" sz="2800" dirty="0"/>
          </a:p>
          <a:p>
            <a:pPr lvl="1">
              <a:buClrTx/>
              <a:buSzPct val="110000"/>
              <a:buFont typeface="Arial" panose="020B0604020202020204" pitchFamily="34" charset="0"/>
              <a:buChar char="•"/>
            </a:pPr>
            <a:r>
              <a:rPr lang="en-US" sz="2800" dirty="0"/>
              <a:t>Manages </a:t>
            </a:r>
            <a:r>
              <a:rPr lang="en-US" sz="2800" dirty="0">
                <a:solidFill>
                  <a:srgbClr val="FF0000"/>
                </a:solidFill>
              </a:rPr>
              <a:t>Instruction</a:t>
            </a:r>
            <a:r>
              <a:rPr lang="en-US" sz="2800" dirty="0"/>
              <a:t> flow</a:t>
            </a:r>
          </a:p>
          <a:p>
            <a:pPr lvl="1">
              <a:buClrTx/>
              <a:buSzPct val="110000"/>
              <a:buFont typeface="Arial" panose="020B0604020202020204" pitchFamily="34" charset="0"/>
              <a:buChar char="•"/>
            </a:pPr>
            <a:r>
              <a:rPr lang="en-US" sz="2800" dirty="0"/>
              <a:t>The “Brain”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6189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RV32I Data Path and Control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3200" dirty="0"/>
              <a:t>We focus on the implementation of a subset of the RV32I core:</a:t>
            </a:r>
          </a:p>
          <a:p>
            <a:pPr lvl="1"/>
            <a:r>
              <a:rPr lang="en-US" altLang="zh-TW" sz="2400" dirty="0">
                <a:cs typeface="Calibri" panose="020F0702030404030204" pitchFamily="34" charset="0"/>
                <a:sym typeface="+mn-ea"/>
              </a:rPr>
              <a:t>Memory reference instructions: </a:t>
            </a:r>
            <a:r>
              <a:rPr lang="en-US" altLang="zh-TW" sz="2400" dirty="0" err="1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lw</a:t>
            </a:r>
            <a:r>
              <a:rPr lang="en-US" altLang="zh-TW" sz="2400" dirty="0">
                <a:cs typeface="Calibri" panose="020F0702030404030204" pitchFamily="34" charset="0"/>
                <a:sym typeface="+mn-ea"/>
              </a:rPr>
              <a:t>, </a:t>
            </a:r>
            <a:r>
              <a:rPr lang="en-US" altLang="zh-TW" sz="2400" dirty="0" err="1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sw</a:t>
            </a:r>
            <a:endParaRPr lang="en-US" altLang="zh-TW" sz="2400" dirty="0">
              <a:cs typeface="Calibri" panose="020F0702030404030204" pitchFamily="34" charset="0"/>
            </a:endParaRPr>
          </a:p>
          <a:p>
            <a:pPr lvl="1"/>
            <a:r>
              <a:rPr lang="en-US" altLang="zh-TW" sz="2400" dirty="0">
                <a:cs typeface="Calibri" panose="020F0702030404030204" pitchFamily="34" charset="0"/>
                <a:sym typeface="+mn-ea"/>
              </a:rPr>
              <a:t>Arithmetic/logical instructions: </a:t>
            </a:r>
            <a:r>
              <a:rPr lang="en-US" altLang="zh-TW" sz="2400" dirty="0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add</a:t>
            </a:r>
            <a:r>
              <a:rPr lang="en-US" altLang="zh-TW" sz="2400" dirty="0">
                <a:cs typeface="Calibri" panose="020F0702030404030204" pitchFamily="34" charset="0"/>
                <a:sym typeface="+mn-ea"/>
              </a:rPr>
              <a:t>, </a:t>
            </a:r>
            <a:r>
              <a:rPr lang="en-US" altLang="zh-TW" sz="2400" dirty="0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sub</a:t>
            </a:r>
            <a:r>
              <a:rPr lang="en-US" altLang="zh-TW" sz="2400" dirty="0">
                <a:cs typeface="Calibri" panose="020F0702030404030204" pitchFamily="34" charset="0"/>
                <a:sym typeface="+mn-ea"/>
              </a:rPr>
              <a:t>, </a:t>
            </a:r>
            <a:r>
              <a:rPr lang="en-US" altLang="zh-TW" sz="2400" dirty="0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and</a:t>
            </a:r>
            <a:r>
              <a:rPr lang="en-US" altLang="zh-TW" sz="2400" dirty="0">
                <a:cs typeface="Calibri" panose="020F0702030404030204" pitchFamily="34" charset="0"/>
                <a:sym typeface="+mn-ea"/>
              </a:rPr>
              <a:t>, </a:t>
            </a:r>
            <a:r>
              <a:rPr lang="en-US" altLang="zh-TW" sz="2400" dirty="0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or</a:t>
            </a:r>
            <a:endParaRPr lang="en-US" altLang="zh-TW" sz="2400" dirty="0">
              <a:cs typeface="Calibri" panose="020F0702030404030204" pitchFamily="34" charset="0"/>
            </a:endParaRPr>
          </a:p>
          <a:p>
            <a:pPr lvl="1"/>
            <a:r>
              <a:rPr lang="en-US" altLang="zh-TW" sz="2400" dirty="0">
                <a:cs typeface="Calibri" panose="020F0702030404030204" pitchFamily="34" charset="0"/>
                <a:sym typeface="+mn-ea"/>
              </a:rPr>
              <a:t>Control flow instructions: </a:t>
            </a:r>
            <a:r>
              <a:rPr lang="en-US" altLang="zh-TW" sz="2400" dirty="0" err="1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beq</a:t>
            </a:r>
            <a:r>
              <a:rPr lang="en-US" altLang="zh-TW" sz="2400" dirty="0">
                <a:cs typeface="Calibri" panose="020F0702030404030204" pitchFamily="34" charset="0"/>
                <a:sym typeface="+mn-ea"/>
              </a:rPr>
              <a:t>, </a:t>
            </a:r>
            <a:r>
              <a:rPr lang="en-US" altLang="zh-TW" sz="2400" dirty="0" err="1">
                <a:solidFill>
                  <a:schemeClr val="accent1"/>
                </a:solidFill>
                <a:cs typeface="Calibri" panose="020F0702030404030204" pitchFamily="34" charset="0"/>
                <a:sym typeface="+mn-ea"/>
              </a:rPr>
              <a:t>jal</a:t>
            </a:r>
            <a:endParaRPr lang="en-US" altLang="zh-TW" sz="2400" dirty="0">
              <a:solidFill>
                <a:schemeClr val="accent1"/>
              </a:solidFill>
              <a:cs typeface="Calibri" panose="020F0702030404030204" pitchFamily="34" charset="0"/>
              <a:sym typeface="+mn-ea"/>
            </a:endParaRPr>
          </a:p>
          <a:p>
            <a:r>
              <a:rPr lang="en-US" altLang="zh-TW" sz="3200" dirty="0">
                <a:cs typeface="Calibri" panose="020F0702030404030204" pitchFamily="34" charset="0"/>
                <a:sym typeface="+mn-ea"/>
              </a:rPr>
              <a:t>A subset, but sufficient to illustrate the key principles in creating a data path and designing the control.</a:t>
            </a:r>
            <a:endParaRPr lang="en-US" altLang="zh-TW" sz="3200" dirty="0">
              <a:cs typeface="Calibri" panose="020F0702030404030204" pitchFamily="34" charset="0"/>
            </a:endParaRPr>
          </a:p>
          <a:p>
            <a:pPr lvl="0"/>
            <a:endParaRPr lang="en-US" altLang="zh-CN" sz="2400" dirty="0"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6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70427" y="1125537"/>
            <a:ext cx="10311973" cy="4765555"/>
          </a:xfrm>
        </p:spPr>
        <p:txBody>
          <a:bodyPr/>
          <a:lstStyle/>
          <a:p>
            <a:r>
              <a:rPr lang="en-US" altLang="zh-CN" sz="2667" dirty="0">
                <a:cs typeface="Courier New" panose="02070309020205020404" pitchFamily="49" charset="0"/>
              </a:rPr>
              <a:t>Use the program counter (PC) to supply the instruction address and </a:t>
            </a:r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fetch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 from memory </a:t>
            </a:r>
          </a:p>
          <a:p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Decode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 (and read registers)</a:t>
            </a:r>
          </a:p>
          <a:p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Execute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Use ALU to calculate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Arithmetic result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Memory address for load/store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Branch target address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Access data memory for load/store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PC  target address or PC + 4</a:t>
            </a:r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219201" y="235644"/>
            <a:ext cx="9086851" cy="543005"/>
          </a:xfrm>
        </p:spPr>
        <p:txBody>
          <a:bodyPr/>
          <a:lstStyle/>
          <a:p>
            <a:r>
              <a:rPr lang="en-US" altLang="zh-TW" dirty="0"/>
              <a:t>Instruction Execution Cycle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7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6" name="Group 32"/>
          <p:cNvGrpSpPr/>
          <p:nvPr/>
        </p:nvGrpSpPr>
        <p:grpSpPr>
          <a:xfrm>
            <a:off x="7852134" y="3167257"/>
            <a:ext cx="3467973" cy="2171244"/>
            <a:chOff x="5911650" y="2785163"/>
            <a:chExt cx="2439000" cy="1452343"/>
          </a:xfrm>
        </p:grpSpPr>
        <p:sp>
          <p:nvSpPr>
            <p:cNvPr id="7" name="Oval 5"/>
            <p:cNvSpPr/>
            <p:nvPr/>
          </p:nvSpPr>
          <p:spPr>
            <a:xfrm>
              <a:off x="6554803" y="2785163"/>
              <a:ext cx="1152000" cy="648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36000" rtlCol="0" anchor="ctr" anchorCtr="1"/>
            <a:lstStyle/>
            <a:p>
              <a:pPr algn="ctr" defTabSz="1219170"/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Fetch</a:t>
              </a:r>
              <a:b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</a:br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PC=PC+4</a:t>
              </a:r>
            </a:p>
          </p:txBody>
        </p:sp>
        <p:sp>
          <p:nvSpPr>
            <p:cNvPr id="8" name="Oval 6"/>
            <p:cNvSpPr/>
            <p:nvPr/>
          </p:nvSpPr>
          <p:spPr>
            <a:xfrm>
              <a:off x="7486650" y="3799156"/>
              <a:ext cx="864000" cy="432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 defTabSz="1219170"/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Decode</a:t>
              </a:r>
            </a:p>
          </p:txBody>
        </p:sp>
        <p:sp>
          <p:nvSpPr>
            <p:cNvPr id="9" name="Oval 7"/>
            <p:cNvSpPr/>
            <p:nvPr/>
          </p:nvSpPr>
          <p:spPr>
            <a:xfrm>
              <a:off x="5911650" y="3799156"/>
              <a:ext cx="864000" cy="432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 defTabSz="1219170"/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Execute</a:t>
              </a:r>
            </a:p>
          </p:txBody>
        </p:sp>
        <p:cxnSp>
          <p:nvCxnSpPr>
            <p:cNvPr id="10" name="Straight Arrow Connector 9"/>
            <p:cNvCxnSpPr>
              <a:stCxn id="7" idx="6"/>
              <a:endCxn id="8" idx="0"/>
            </p:cNvCxnSpPr>
            <p:nvPr/>
          </p:nvCxnSpPr>
          <p:spPr>
            <a:xfrm>
              <a:off x="7706803" y="3109163"/>
              <a:ext cx="211847" cy="689993"/>
            </a:xfrm>
            <a:prstGeom prst="curvedConnector2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9"/>
            <p:cNvCxnSpPr>
              <a:stCxn id="8" idx="4"/>
              <a:endCxn id="9" idx="4"/>
            </p:cNvCxnSpPr>
            <p:nvPr/>
          </p:nvCxnSpPr>
          <p:spPr>
            <a:xfrm rot="5400000">
              <a:off x="7131150" y="3443656"/>
              <a:ext cx="12700" cy="1575000"/>
            </a:xfrm>
            <a:prstGeom prst="curvedConnector3">
              <a:avLst>
                <a:gd name="adj1" fmla="val 1800000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9"/>
            <p:cNvCxnSpPr>
              <a:stCxn id="9" idx="0"/>
              <a:endCxn id="7" idx="2"/>
            </p:cNvCxnSpPr>
            <p:nvPr/>
          </p:nvCxnSpPr>
          <p:spPr>
            <a:xfrm rot="5400000" flipH="1" flipV="1">
              <a:off x="6104230" y="3348584"/>
              <a:ext cx="689993" cy="211153"/>
            </a:xfrm>
            <a:prstGeom prst="curvedConnector2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DC247E5-121F-42AB-9DE3-D1D41ED9BF99}"/>
              </a:ext>
            </a:extLst>
          </p:cNvPr>
          <p:cNvSpPr txBox="1"/>
          <p:nvPr/>
        </p:nvSpPr>
        <p:spPr>
          <a:xfrm>
            <a:off x="7852134" y="2205214"/>
            <a:ext cx="3334567" cy="89255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Cycle:</a:t>
            </a:r>
          </a:p>
          <a:p>
            <a:r>
              <a:rPr lang="en-US" sz="2400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Fetch-Decode-Execute</a:t>
            </a: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70427" y="1125537"/>
            <a:ext cx="10311973" cy="4765555"/>
          </a:xfrm>
        </p:spPr>
        <p:txBody>
          <a:bodyPr/>
          <a:lstStyle/>
          <a:p>
            <a:r>
              <a:rPr lang="en-US" altLang="zh-CN" sz="2667" dirty="0">
                <a:cs typeface="Courier New" panose="02070309020205020404" pitchFamily="49" charset="0"/>
              </a:rPr>
              <a:t>Use the program counter (PC) to supply the instruction address and </a:t>
            </a:r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fetch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 from memory </a:t>
            </a:r>
          </a:p>
          <a:p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Decode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 (and read registers)</a:t>
            </a:r>
          </a:p>
          <a:p>
            <a:r>
              <a:rPr lang="en-US" altLang="zh-CN" sz="2667" dirty="0">
                <a:solidFill>
                  <a:srgbClr val="FF0000"/>
                </a:solidFill>
                <a:cs typeface="Courier New" panose="02070309020205020404" pitchFamily="49" charset="0"/>
              </a:rPr>
              <a:t>Execute</a:t>
            </a:r>
            <a:r>
              <a:rPr lang="en-US" altLang="zh-CN" sz="2667" dirty="0">
                <a:solidFill>
                  <a:schemeClr val="accent1"/>
                </a:solidFill>
                <a:cs typeface="Courier New" panose="02070309020205020404" pitchFamily="49" charset="0"/>
              </a:rPr>
              <a:t> </a:t>
            </a:r>
            <a:r>
              <a:rPr lang="en-US" altLang="zh-CN" sz="2667" dirty="0">
                <a:cs typeface="Courier New" panose="02070309020205020404" pitchFamily="49" charset="0"/>
              </a:rPr>
              <a:t>the instruction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Use ALU to calculate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Arithmetic result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Memory address for load/store</a:t>
            </a:r>
          </a:p>
          <a:p>
            <a:pPr lvl="2"/>
            <a:r>
              <a:rPr lang="en-US" altLang="zh-TW" sz="2133" dirty="0">
                <a:sym typeface="Symbol" panose="05050102010706020507" pitchFamily="18" charset="2"/>
              </a:rPr>
              <a:t>Branch target address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Access data memory for load/store</a:t>
            </a:r>
          </a:p>
          <a:p>
            <a:pPr lvl="1"/>
            <a:r>
              <a:rPr lang="en-US" altLang="zh-TW" sz="2400" dirty="0">
                <a:sym typeface="Symbol" panose="05050102010706020507" pitchFamily="18" charset="2"/>
              </a:rPr>
              <a:t>PC  target address or PC + 4</a:t>
            </a:r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219201" y="235644"/>
            <a:ext cx="9086851" cy="543005"/>
          </a:xfrm>
        </p:spPr>
        <p:txBody>
          <a:bodyPr/>
          <a:lstStyle/>
          <a:p>
            <a:r>
              <a:rPr lang="en-US" altLang="zh-TW" dirty="0"/>
              <a:t>Instruction Execution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8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6" name="Group 32"/>
          <p:cNvGrpSpPr/>
          <p:nvPr/>
        </p:nvGrpSpPr>
        <p:grpSpPr>
          <a:xfrm>
            <a:off x="8466386" y="3167257"/>
            <a:ext cx="2853719" cy="2171244"/>
            <a:chOff x="6343650" y="2785163"/>
            <a:chExt cx="2007000" cy="1452343"/>
          </a:xfrm>
        </p:grpSpPr>
        <p:sp>
          <p:nvSpPr>
            <p:cNvPr id="7" name="Oval 5"/>
            <p:cNvSpPr/>
            <p:nvPr/>
          </p:nvSpPr>
          <p:spPr>
            <a:xfrm>
              <a:off x="6554803" y="2785163"/>
              <a:ext cx="1152000" cy="648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36000" rtlCol="0" anchor="ctr" anchorCtr="1"/>
            <a:lstStyle/>
            <a:p>
              <a:pPr algn="ctr" defTabSz="1219170"/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Fetch</a:t>
              </a:r>
              <a:b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</a:br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PC=PC+4</a:t>
              </a:r>
            </a:p>
          </p:txBody>
        </p:sp>
        <p:sp>
          <p:nvSpPr>
            <p:cNvPr id="8" name="Oval 6"/>
            <p:cNvSpPr/>
            <p:nvPr/>
          </p:nvSpPr>
          <p:spPr>
            <a:xfrm>
              <a:off x="7486650" y="3799156"/>
              <a:ext cx="864000" cy="432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 defTabSz="1219170"/>
              <a:r>
                <a:rPr lang="en-US" sz="1600" dirty="0">
                  <a:solidFill>
                    <a:prstClr val="black"/>
                  </a:solidFill>
                  <a:latin typeface="Arial"/>
                  <a:ea typeface="新細明體"/>
                </a:rPr>
                <a:t>Decode</a:t>
              </a:r>
            </a:p>
          </p:txBody>
        </p:sp>
        <p:cxnSp>
          <p:nvCxnSpPr>
            <p:cNvPr id="10" name="Straight Arrow Connector 9"/>
            <p:cNvCxnSpPr>
              <a:stCxn id="7" idx="6"/>
              <a:endCxn id="8" idx="0"/>
            </p:cNvCxnSpPr>
            <p:nvPr/>
          </p:nvCxnSpPr>
          <p:spPr>
            <a:xfrm>
              <a:off x="7706803" y="3109163"/>
              <a:ext cx="211847" cy="689993"/>
            </a:xfrm>
            <a:prstGeom prst="curvedConnector2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9"/>
            <p:cNvCxnSpPr>
              <a:cxnSpLocks/>
              <a:stCxn id="8" idx="4"/>
            </p:cNvCxnSpPr>
            <p:nvPr/>
          </p:nvCxnSpPr>
          <p:spPr>
            <a:xfrm rot="5400000">
              <a:off x="7131150" y="3443656"/>
              <a:ext cx="12700" cy="1575000"/>
            </a:xfrm>
            <a:prstGeom prst="curvedConnector3">
              <a:avLst>
                <a:gd name="adj1" fmla="val 1800000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9"/>
            <p:cNvCxnSpPr>
              <a:cxnSpLocks/>
              <a:endCxn id="7" idx="2"/>
            </p:cNvCxnSpPr>
            <p:nvPr/>
          </p:nvCxnSpPr>
          <p:spPr>
            <a:xfrm rot="5400000" flipH="1" flipV="1">
              <a:off x="6104230" y="3348584"/>
              <a:ext cx="689993" cy="211153"/>
            </a:xfrm>
            <a:prstGeom prst="curvedConnector2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DC247E5-121F-42AB-9DE3-D1D41ED9BF99}"/>
              </a:ext>
            </a:extLst>
          </p:cNvPr>
          <p:cNvSpPr txBox="1"/>
          <p:nvPr/>
        </p:nvSpPr>
        <p:spPr>
          <a:xfrm>
            <a:off x="7852134" y="2205214"/>
            <a:ext cx="3334567" cy="89255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Cycle:</a:t>
            </a:r>
          </a:p>
          <a:p>
            <a:r>
              <a:rPr lang="en-US" sz="2400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Fetch-Decode-Execute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414743-3E85-436B-8421-E0642C4F9892}"/>
              </a:ext>
            </a:extLst>
          </p:cNvPr>
          <p:cNvSpPr txBox="1"/>
          <p:nvPr/>
        </p:nvSpPr>
        <p:spPr>
          <a:xfrm>
            <a:off x="7298259" y="4816677"/>
            <a:ext cx="723275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Ld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/St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E958C8-952E-4041-959D-84D3FB0A1306}"/>
              </a:ext>
            </a:extLst>
          </p:cNvPr>
          <p:cNvSpPr txBox="1"/>
          <p:nvPr/>
        </p:nvSpPr>
        <p:spPr>
          <a:xfrm>
            <a:off x="8036242" y="4821422"/>
            <a:ext cx="915635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Branch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9020B9-A389-4FDA-AE5F-6C611917EA02}"/>
              </a:ext>
            </a:extLst>
          </p:cNvPr>
          <p:cNvSpPr txBox="1"/>
          <p:nvPr/>
        </p:nvSpPr>
        <p:spPr>
          <a:xfrm>
            <a:off x="8966585" y="4827890"/>
            <a:ext cx="633507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ALU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A8FEDBF-18A0-4A26-9173-E4FDEA60D5C5}"/>
              </a:ext>
            </a:extLst>
          </p:cNvPr>
          <p:cNvSpPr/>
          <p:nvPr/>
        </p:nvSpPr>
        <p:spPr bwMode="auto">
          <a:xfrm>
            <a:off x="7049640" y="4620393"/>
            <a:ext cx="2796205" cy="708614"/>
          </a:xfrm>
          <a:prstGeom prst="ellipse">
            <a:avLst/>
          </a:prstGeom>
          <a:noFill/>
          <a:ln w="158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64554469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Single Cycle vs. Multi-Cycles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94553" y="1125537"/>
            <a:ext cx="11892672" cy="4895851"/>
          </a:xfrm>
        </p:spPr>
        <p:txBody>
          <a:bodyPr/>
          <a:lstStyle/>
          <a:p>
            <a:pPr marL="0" lvl="0" indent="0">
              <a:buNone/>
            </a:pPr>
            <a:r>
              <a:rPr lang="en-AU" altLang="zh-CN" sz="3200" b="1" dirty="0">
                <a:solidFill>
                  <a:srgbClr val="00B05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Single cycle</a:t>
            </a:r>
            <a:r>
              <a:rPr lang="en-AU" altLang="zh-CN" sz="2800" b="1" dirty="0">
                <a:solidFill>
                  <a:srgbClr val="00B05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: </a:t>
            </a:r>
            <a:r>
              <a:rPr lang="en-US" altLang="zh-CN" sz="2800" b="1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Each instruction is executed in a single clock cycle, which means that all operations—fetching, decoding, executing, accessing memory, and writing back—happen within that one cycle. This requirement requires a longer clock cycle to accommodate the slowest instruction, often resulting in a lower clock frequency. </a:t>
            </a:r>
            <a:r>
              <a:rPr lang="en-US" altLang="zh-CN" sz="2800" b="1" i="1" dirty="0">
                <a:solidFill>
                  <a:srgbClr val="FF000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The complexity of a given instruction can influence the cycle time</a:t>
            </a:r>
            <a:r>
              <a:rPr lang="en-US" sz="2800" b="1" i="1" dirty="0">
                <a:solidFill>
                  <a:srgbClr val="FF0000"/>
                </a:solidFill>
              </a:rPr>
              <a:t>.	</a:t>
            </a:r>
            <a:r>
              <a:rPr lang="en-US" sz="2800" b="1" dirty="0"/>
              <a:t>		</a:t>
            </a:r>
            <a:r>
              <a:rPr lang="en-US" sz="2400" b="1" dirty="0"/>
              <a:t>(</a:t>
            </a:r>
            <a:r>
              <a:rPr lang="en-US" sz="2400" b="1" i="1" dirty="0">
                <a:solidFill>
                  <a:srgbClr val="00B050"/>
                </a:solidFill>
              </a:rPr>
              <a:t>This leads to the revolution of RISC architecture</a:t>
            </a:r>
            <a:r>
              <a:rPr lang="en-US" sz="2400" b="1" dirty="0"/>
              <a:t>)</a:t>
            </a:r>
          </a:p>
          <a:p>
            <a:pPr marL="0" lvl="0" indent="0">
              <a:buNone/>
            </a:pPr>
            <a:endParaRPr lang="en-US" sz="2400" b="1" dirty="0"/>
          </a:p>
          <a:p>
            <a:pPr marL="0" lvl="0" indent="0">
              <a:buNone/>
            </a:pPr>
            <a:r>
              <a:rPr lang="en-AU" altLang="zh-CN" sz="3200" b="1" dirty="0">
                <a:solidFill>
                  <a:srgbClr val="FF000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Multi-cycle</a:t>
            </a:r>
            <a:r>
              <a:rPr lang="en-AU" altLang="zh-CN" sz="3200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: </a:t>
            </a:r>
            <a:r>
              <a:rPr lang="en-US" sz="2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Instructions are broken down into multiple steps, each taking one clock cycle. </a:t>
            </a:r>
            <a:r>
              <a:rPr lang="en-US" sz="2800" b="1" dirty="0">
                <a:solidFill>
                  <a:prstClr val="black">
                    <a:lumMod val="95000"/>
                    <a:lumOff val="5000"/>
                  </a:prstClr>
                </a:solidFill>
              </a:rPr>
              <a:t>This allows for a shorter clock cycle, higher clock frequency, and more efficient use of hardware resources. </a:t>
            </a:r>
            <a:endParaRPr lang="en-AU" altLang="zh-CN" sz="2800" b="1" dirty="0">
              <a:solidFill>
                <a:schemeClr val="tx1">
                  <a:lumMod val="95000"/>
                  <a:lumOff val="5000"/>
                </a:schemeClr>
              </a:solidFill>
              <a:ea typeface="新細明體" panose="02020500000000000000" pitchFamily="18" charset="-120"/>
              <a:cs typeface="Courier New" panose="02070309020205020404" pitchFamily="49" charset="0"/>
              <a:sym typeface="+mn-ea"/>
            </a:endParaRPr>
          </a:p>
          <a:p>
            <a:pPr marL="0" lvl="0" indent="0">
              <a:buNone/>
            </a:pPr>
            <a:endParaRPr lang="en-AU" altLang="zh-CN" sz="3200" dirty="0">
              <a:ea typeface="新細明體" panose="02020500000000000000" pitchFamily="18" charset="-120"/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9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01B806-C1ED-4EDF-934F-C799CBFB5E69}"/>
              </a:ext>
            </a:extLst>
          </p:cNvPr>
          <p:cNvSpPr txBox="1"/>
          <p:nvPr/>
        </p:nvSpPr>
        <p:spPr>
          <a:xfrm>
            <a:off x="2993300" y="3734688"/>
            <a:ext cx="7041223" cy="646331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By the way, before RISC, cycle time was about </a:t>
            </a:r>
            <a:r>
              <a:rPr lang="en-US" i="1" dirty="0">
                <a:ea typeface="標楷體" pitchFamily="65" charset="-120"/>
                <a:cs typeface="Calibri" pitchFamily="34" charset="0"/>
              </a:rPr>
              <a:t>1us in the late 70’s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After RISC</a:t>
            </a:r>
            <a:r>
              <a:rPr lang="en-US" i="1" dirty="0">
                <a:ea typeface="標楷體" pitchFamily="65" charset="-120"/>
                <a:cs typeface="Calibri" pitchFamily="34" charset="0"/>
              </a:rPr>
              <a:t>, MIPS(1985) cycle time was 40 ns, SPARC(1987), 28ns </a:t>
            </a:r>
          </a:p>
        </p:txBody>
      </p:sp>
    </p:spTree>
    <p:extLst>
      <p:ext uri="{BB962C8B-B14F-4D97-AF65-F5344CB8AC3E}">
        <p14:creationId xmlns:p14="http://schemas.microsoft.com/office/powerpoint/2010/main" val="4153946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932548" y="179553"/>
            <a:ext cx="10779554" cy="543005"/>
          </a:xfrm>
        </p:spPr>
        <p:txBody>
          <a:bodyPr/>
          <a:lstStyle/>
          <a:p>
            <a:r>
              <a:rPr lang="en-AU" altLang="zh-TW" sz="4000" dirty="0">
                <a:ea typeface="新細明體" panose="02020500000000000000" pitchFamily="18" charset="-120"/>
              </a:rPr>
              <a:t>CPU Time = </a:t>
            </a:r>
            <a:r>
              <a:rPr lang="en-AU" altLang="zh-TW" sz="4000" dirty="0">
                <a:solidFill>
                  <a:srgbClr val="FF0000"/>
                </a:solidFill>
                <a:ea typeface="新細明體" panose="02020500000000000000" pitchFamily="18" charset="-120"/>
              </a:rPr>
              <a:t>Inst count </a:t>
            </a:r>
            <a:r>
              <a:rPr lang="en-AU" altLang="zh-TW" sz="4000" b="0" dirty="0">
                <a:solidFill>
                  <a:schemeClr val="tx1"/>
                </a:solidFill>
                <a:ea typeface="新細明體" panose="02020500000000000000" pitchFamily="18" charset="-120"/>
              </a:rPr>
              <a:t>X</a:t>
            </a:r>
            <a:r>
              <a:rPr lang="en-AU" altLang="zh-TW" sz="4000" dirty="0">
                <a:ea typeface="新細明體" panose="02020500000000000000" pitchFamily="18" charset="-120"/>
              </a:rPr>
              <a:t> CPI </a:t>
            </a:r>
            <a:r>
              <a:rPr lang="en-AU" altLang="zh-TW" sz="4000" b="0" dirty="0">
                <a:solidFill>
                  <a:schemeClr val="tx1"/>
                </a:solidFill>
                <a:ea typeface="新細明體" panose="02020500000000000000" pitchFamily="18" charset="-120"/>
              </a:rPr>
              <a:t>X</a:t>
            </a:r>
            <a:r>
              <a:rPr lang="en-AU" altLang="zh-TW" sz="4000" dirty="0">
                <a:ea typeface="新細明體" panose="02020500000000000000" pitchFamily="18" charset="-120"/>
              </a:rPr>
              <a:t> </a:t>
            </a:r>
            <a:r>
              <a:rPr lang="en-AU" altLang="zh-TW" sz="4000" dirty="0">
                <a:solidFill>
                  <a:srgbClr val="00B050"/>
                </a:solidFill>
                <a:ea typeface="新細明體" panose="02020500000000000000" pitchFamily="18" charset="-120"/>
              </a:rPr>
              <a:t>Clock cycle time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10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45852A-5078-4795-B0E5-A2F7244B02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20587"/>
            <a:ext cx="12192000" cy="524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426345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CISC vs RISC Examples 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94553" y="1125537"/>
            <a:ext cx="11758264" cy="4895851"/>
          </a:xfrm>
        </p:spPr>
        <p:txBody>
          <a:bodyPr/>
          <a:lstStyle/>
          <a:p>
            <a:pPr marL="0" lvl="0" indent="0">
              <a:buNone/>
            </a:pP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CPU Time =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Inst count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 CPI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</a:rPr>
              <a:t>Clock cycle time</a:t>
            </a:r>
          </a:p>
          <a:p>
            <a:pPr marL="0" lvl="0" indent="0">
              <a:buNone/>
            </a:pPr>
            <a:endParaRPr lang="en-AU" altLang="zh-CN" sz="4000" b="1" dirty="0">
              <a:solidFill>
                <a:srgbClr val="00B050"/>
              </a:solidFill>
              <a:ea typeface="新細明體" panose="02020500000000000000" pitchFamily="18" charset="-120"/>
              <a:cs typeface="Courier New" panose="02070309020205020404" pitchFamily="49" charset="0"/>
              <a:sym typeface="+mn-ea"/>
            </a:endParaRPr>
          </a:p>
          <a:p>
            <a:pPr marL="0" lvl="0" indent="0">
              <a:buNone/>
            </a:pPr>
            <a:r>
              <a:rPr lang="en-AU" altLang="zh-CN" sz="3200" b="1" dirty="0">
                <a:solidFill>
                  <a:srgbClr val="00B05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CISC machines: </a:t>
            </a:r>
            <a:r>
              <a:rPr lang="en-AU" altLang="zh-CN" sz="3200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Lower instruction count, higher CPI, longer cycle time</a:t>
            </a:r>
          </a:p>
          <a:p>
            <a:pPr marL="0" lvl="0" indent="0">
              <a:buNone/>
            </a:pPr>
            <a:r>
              <a:rPr lang="en-AU" altLang="zh-CN" sz="3200" dirty="0">
                <a:solidFill>
                  <a:srgbClr val="FF0000"/>
                </a:solidFill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RISC machines</a:t>
            </a:r>
            <a:r>
              <a:rPr lang="en-AU" altLang="zh-CN" sz="3200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: higher instruction count, lower CPI, shorter cycle time</a:t>
            </a:r>
          </a:p>
          <a:p>
            <a:pPr marL="0" lvl="0" indent="0">
              <a:buNone/>
            </a:pPr>
            <a:endParaRPr lang="en-AU" altLang="zh-CN" sz="3200" dirty="0">
              <a:ea typeface="新細明體" panose="02020500000000000000" pitchFamily="18" charset="-120"/>
              <a:cs typeface="Courier New" panose="02070309020205020404" pitchFamily="49" charset="0"/>
              <a:sym typeface="+mn-ea"/>
            </a:endParaRPr>
          </a:p>
          <a:p>
            <a:pPr marL="0" lvl="0" indent="0">
              <a:buNone/>
            </a:pPr>
            <a:r>
              <a:rPr lang="en-AU" altLang="zh-CN" sz="3200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How about modern x86 processors? Their cycle times are pretty short.</a:t>
            </a:r>
          </a:p>
          <a:p>
            <a:pPr marL="0" lvl="0" indent="0">
              <a:buNone/>
            </a:pPr>
            <a:r>
              <a:rPr lang="en-AU" altLang="zh-CN" sz="2800" dirty="0"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  <a:t>Modern x86 processors take x86 instructions in, translate in hardware into micro-operations for execution (and cached). Those micro-operations are RISC.</a:t>
            </a:r>
            <a:endParaRPr lang="en-US" altLang="zh-CN" sz="2800" dirty="0">
              <a:cs typeface="Courier New" panose="02070309020205020404" pitchFamily="49" charset="0"/>
              <a:sym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11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78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1348948" y="-175618"/>
            <a:ext cx="10603869" cy="1864908"/>
          </a:xfrm>
        </p:spPr>
        <p:txBody>
          <a:bodyPr/>
          <a:lstStyle/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tabLst/>
              <a:defRPr/>
            </a:pP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CPU Time =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Inst count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 CPI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Clock cycle time</a:t>
            </a:r>
            <a:b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</a:b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94553" y="1125537"/>
            <a:ext cx="11758264" cy="4895851"/>
          </a:xfrm>
        </p:spPr>
        <p:txBody>
          <a:bodyPr/>
          <a:lstStyle/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	Assuming we have 4 instructions to execute, </a:t>
            </a:r>
            <a:r>
              <a:rPr kumimoji="1" lang="en-AU" altLang="zh-TW" sz="3200" b="1" i="0" u="none" strike="noStrike" kern="0" cap="none" spc="0" normalizeH="0" baseline="0" dirty="0" err="1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w,x,y</a:t>
            </a: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, and z,:</a:t>
            </a:r>
          </a:p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Single cycle: CPI = 1, long cycle time</a:t>
            </a:r>
          </a:p>
          <a:p>
            <a:pPr marL="0" lvl="0" indent="0">
              <a:buNone/>
            </a:pPr>
            <a:endParaRPr kumimoji="1" lang="en-AU" altLang="zh-TW" sz="3200" b="1" i="0" u="none" strike="noStrike" kern="0" cap="none" spc="0" normalizeH="0" baseline="0" dirty="0">
              <a:ln>
                <a:noFill/>
              </a:ln>
              <a:effectLst/>
              <a:uLnTx/>
              <a:uFillTx/>
              <a:ea typeface="新細明體" panose="02020500000000000000" pitchFamily="18" charset="-120"/>
            </a:endParaRPr>
          </a:p>
          <a:p>
            <a:pPr marL="0" lvl="0" indent="0">
              <a:buNone/>
            </a:pPr>
            <a:r>
              <a:rPr lang="en-AU" altLang="zh-TW" sz="3200" b="1" noProof="0" dirty="0">
                <a:ea typeface="新細明體" panose="02020500000000000000" pitchFamily="18" charset="-120"/>
              </a:rPr>
              <a:t>	Multi-cycle: CPI = m, short cycle time</a:t>
            </a:r>
          </a:p>
          <a:p>
            <a:pPr marL="0" lvl="0" indent="0">
              <a:buNone/>
            </a:pPr>
            <a:endParaRPr lang="en-AU" altLang="zh-TW" sz="3200" b="1" noProof="0" dirty="0">
              <a:ea typeface="新細明體" panose="02020500000000000000" pitchFamily="18" charset="-120"/>
            </a:endParaRPr>
          </a:p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	Pipelining:</a:t>
            </a:r>
            <a:r>
              <a:rPr kumimoji="1" lang="en-AU" altLang="zh-TW" sz="3200" b="1" i="0" u="none" strike="noStrike" kern="0" cap="none" spc="0" normalizeH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 CPI = ~1, short cycle time </a:t>
            </a:r>
            <a:endParaRPr kumimoji="1" lang="en-AU" altLang="zh-TW" sz="3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ea typeface="新細明體" panose="02020500000000000000" pitchFamily="18" charset="-12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12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B40349-EE74-4750-8D21-31C3F9CBCD9C}"/>
              </a:ext>
            </a:extLst>
          </p:cNvPr>
          <p:cNvSpPr txBox="1"/>
          <p:nvPr/>
        </p:nvSpPr>
        <p:spPr>
          <a:xfrm>
            <a:off x="8599250" y="2315343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401CBC-4AE9-43ED-AC8C-747931A9BB37}"/>
              </a:ext>
            </a:extLst>
          </p:cNvPr>
          <p:cNvSpPr txBox="1"/>
          <p:nvPr/>
        </p:nvSpPr>
        <p:spPr>
          <a:xfrm>
            <a:off x="6293794" y="2315343"/>
            <a:ext cx="2305456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B9C702-ABCB-4A86-9EAB-DB4AF70910E2}"/>
              </a:ext>
            </a:extLst>
          </p:cNvPr>
          <p:cNvSpPr txBox="1"/>
          <p:nvPr/>
        </p:nvSpPr>
        <p:spPr>
          <a:xfrm>
            <a:off x="3988338" y="2315343"/>
            <a:ext cx="2305456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DC50DD-0D4D-4A73-8A9A-F0FDCCA21B3D}"/>
              </a:ext>
            </a:extLst>
          </p:cNvPr>
          <p:cNvSpPr txBox="1"/>
          <p:nvPr/>
        </p:nvSpPr>
        <p:spPr>
          <a:xfrm>
            <a:off x="1682882" y="2315343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552B82-794E-4C74-B5CD-167AA17ED652}"/>
              </a:ext>
            </a:extLst>
          </p:cNvPr>
          <p:cNvSpPr txBox="1"/>
          <p:nvPr/>
        </p:nvSpPr>
        <p:spPr>
          <a:xfrm>
            <a:off x="8599250" y="3544060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 (4 cycles)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45C70D-0C85-4466-9845-F7CC320642D3}"/>
              </a:ext>
            </a:extLst>
          </p:cNvPr>
          <p:cNvSpPr txBox="1"/>
          <p:nvPr/>
        </p:nvSpPr>
        <p:spPr>
          <a:xfrm>
            <a:off x="5671225" y="3557358"/>
            <a:ext cx="1555187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 (3cycle)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A8DB08-EF07-4F02-A635-384D882A7730}"/>
              </a:ext>
            </a:extLst>
          </p:cNvPr>
          <p:cNvSpPr txBox="1"/>
          <p:nvPr/>
        </p:nvSpPr>
        <p:spPr>
          <a:xfrm>
            <a:off x="3354802" y="3554166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 (4 cycle)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FC6AA0-ED57-4618-B173-7921DEBA55D6}"/>
              </a:ext>
            </a:extLst>
          </p:cNvPr>
          <p:cNvSpPr txBox="1"/>
          <p:nvPr/>
        </p:nvSpPr>
        <p:spPr>
          <a:xfrm>
            <a:off x="7237379" y="3554166"/>
            <a:ext cx="1361871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 (2 cycle)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FF8466-C90E-425C-828C-1710254917E1}"/>
              </a:ext>
            </a:extLst>
          </p:cNvPr>
          <p:cNvSpPr txBox="1"/>
          <p:nvPr/>
        </p:nvSpPr>
        <p:spPr>
          <a:xfrm>
            <a:off x="6448818" y="4588111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 (4 cycles)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075B8D-5102-478B-9828-A54BA9331BF7}"/>
              </a:ext>
            </a:extLst>
          </p:cNvPr>
          <p:cNvSpPr txBox="1"/>
          <p:nvPr/>
        </p:nvSpPr>
        <p:spPr>
          <a:xfrm>
            <a:off x="6115454" y="4970203"/>
            <a:ext cx="2305456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 (2 cycle)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EFC5A5-0174-415C-B644-DB957A1CF3A1}"/>
              </a:ext>
            </a:extLst>
          </p:cNvPr>
          <p:cNvSpPr txBox="1"/>
          <p:nvPr/>
        </p:nvSpPr>
        <p:spPr>
          <a:xfrm>
            <a:off x="5709517" y="5346087"/>
            <a:ext cx="2305455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 (3cycle)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19495-6C61-417A-8DEE-6310126D97B6}"/>
              </a:ext>
            </a:extLst>
          </p:cNvPr>
          <p:cNvSpPr txBox="1"/>
          <p:nvPr/>
        </p:nvSpPr>
        <p:spPr>
          <a:xfrm>
            <a:off x="5296090" y="5732463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 (4 cycle)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5AC090-4DAA-43A8-93CE-1A3541660C03}"/>
              </a:ext>
            </a:extLst>
          </p:cNvPr>
          <p:cNvSpPr txBox="1"/>
          <p:nvPr/>
        </p:nvSpPr>
        <p:spPr>
          <a:xfrm>
            <a:off x="2514990" y="5153919"/>
            <a:ext cx="187743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Fully overlapped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BAA916-3650-4574-BB2E-49072A83EBA1}"/>
              </a:ext>
            </a:extLst>
          </p:cNvPr>
          <p:cNvCxnSpPr/>
          <p:nvPr/>
        </p:nvCxnSpPr>
        <p:spPr bwMode="auto">
          <a:xfrm>
            <a:off x="8420910" y="4588111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2969537-DAE4-4898-AD6B-E9E5C689BE1E}"/>
              </a:ext>
            </a:extLst>
          </p:cNvPr>
          <p:cNvCxnSpPr/>
          <p:nvPr/>
        </p:nvCxnSpPr>
        <p:spPr bwMode="auto">
          <a:xfrm>
            <a:off x="8034832" y="4970203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A387693-A161-40C6-A5C9-B7F15483F64A}"/>
              </a:ext>
            </a:extLst>
          </p:cNvPr>
          <p:cNvCxnSpPr/>
          <p:nvPr/>
        </p:nvCxnSpPr>
        <p:spPr bwMode="auto">
          <a:xfrm>
            <a:off x="7601546" y="5332205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FF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40A0145-D0A2-42C6-A96B-DD04A93D5684}"/>
              </a:ext>
            </a:extLst>
          </p:cNvPr>
          <p:cNvCxnSpPr/>
          <p:nvPr/>
        </p:nvCxnSpPr>
        <p:spPr bwMode="auto">
          <a:xfrm>
            <a:off x="7226412" y="5732463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595DE4A-EAE6-4538-BC4C-65A5B0B592A5}"/>
              </a:ext>
            </a:extLst>
          </p:cNvPr>
          <p:cNvCxnSpPr/>
          <p:nvPr/>
        </p:nvCxnSpPr>
        <p:spPr bwMode="auto">
          <a:xfrm>
            <a:off x="9751978" y="3554166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A5FCDE-ABE1-4113-B8A5-7053D4467AC0}"/>
              </a:ext>
            </a:extLst>
          </p:cNvPr>
          <p:cNvCxnSpPr/>
          <p:nvPr/>
        </p:nvCxnSpPr>
        <p:spPr bwMode="auto">
          <a:xfrm>
            <a:off x="9201960" y="3531300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E24DBCA-7E78-429A-95EB-5EF8E2BCADDD}"/>
              </a:ext>
            </a:extLst>
          </p:cNvPr>
          <p:cNvCxnSpPr/>
          <p:nvPr/>
        </p:nvCxnSpPr>
        <p:spPr bwMode="auto">
          <a:xfrm>
            <a:off x="10364010" y="3531300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DAA9FE7-5B1B-49EE-AE8E-770DF395FDD9}"/>
              </a:ext>
            </a:extLst>
          </p:cNvPr>
          <p:cNvCxnSpPr/>
          <p:nvPr/>
        </p:nvCxnSpPr>
        <p:spPr bwMode="auto">
          <a:xfrm>
            <a:off x="7918314" y="3531300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C20207A-36D2-40E1-8777-2C5DA2C25BB8}"/>
              </a:ext>
            </a:extLst>
          </p:cNvPr>
          <p:cNvCxnSpPr/>
          <p:nvPr/>
        </p:nvCxnSpPr>
        <p:spPr bwMode="auto">
          <a:xfrm>
            <a:off x="4527390" y="3573462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EB7D7DF-D5E2-41F7-AA3E-FA4891CF54D7}"/>
              </a:ext>
            </a:extLst>
          </p:cNvPr>
          <p:cNvCxnSpPr/>
          <p:nvPr/>
        </p:nvCxnSpPr>
        <p:spPr bwMode="auto">
          <a:xfrm>
            <a:off x="5141066" y="3554166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B2FE3CC-409F-4087-8E62-D300756C2C12}"/>
              </a:ext>
            </a:extLst>
          </p:cNvPr>
          <p:cNvCxnSpPr/>
          <p:nvPr/>
        </p:nvCxnSpPr>
        <p:spPr bwMode="auto">
          <a:xfrm>
            <a:off x="3915585" y="3573462"/>
            <a:ext cx="0" cy="382092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647049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1348948" y="-175618"/>
            <a:ext cx="10603869" cy="1864908"/>
          </a:xfrm>
        </p:spPr>
        <p:txBody>
          <a:bodyPr/>
          <a:lstStyle/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tabLst/>
              <a:defRPr/>
            </a:pP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CPU Time =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Inst count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 CPI </a:t>
            </a:r>
            <a:r>
              <a:rPr kumimoji="1" lang="en-AU" altLang="zh-TW" sz="4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X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Clock cycle time</a:t>
            </a:r>
            <a:br>
              <a:rPr kumimoji="1" lang="en-AU" altLang="zh-TW" sz="4000" b="1" i="0" u="none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Courier New" panose="02070309020205020404" pitchFamily="49" charset="0"/>
                <a:sym typeface="+mn-ea"/>
              </a:rPr>
            </a:br>
            <a:endParaRPr lang="en-US" altLang="zh-CN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194553" y="1125537"/>
            <a:ext cx="11758264" cy="4895851"/>
          </a:xfrm>
        </p:spPr>
        <p:txBody>
          <a:bodyPr/>
          <a:lstStyle/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	Assuming we have 4 instructions to execute, </a:t>
            </a:r>
            <a:r>
              <a:rPr kumimoji="1" lang="en-AU" altLang="zh-TW" sz="3200" b="1" i="0" u="none" strike="noStrike" kern="0" cap="none" spc="0" normalizeH="0" baseline="0" dirty="0" err="1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w,x,y</a:t>
            </a: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, and z,:</a:t>
            </a:r>
          </a:p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Single cycle: CPI = 1, long cycle time</a:t>
            </a:r>
          </a:p>
          <a:p>
            <a:pPr marL="0" lvl="0" indent="0">
              <a:buNone/>
            </a:pPr>
            <a:endParaRPr kumimoji="1" lang="en-AU" altLang="zh-TW" sz="3200" b="1" i="0" u="none" strike="noStrike" kern="0" cap="none" spc="0" normalizeH="0" baseline="0" dirty="0">
              <a:ln>
                <a:noFill/>
              </a:ln>
              <a:effectLst/>
              <a:uLnTx/>
              <a:uFillTx/>
              <a:ea typeface="新細明體" panose="02020500000000000000" pitchFamily="18" charset="-120"/>
            </a:endParaRPr>
          </a:p>
          <a:p>
            <a:pPr marL="0" lvl="0" indent="0">
              <a:buNone/>
            </a:pPr>
            <a:r>
              <a:rPr lang="en-AU" altLang="zh-TW" sz="3200" b="1" noProof="0" dirty="0">
                <a:ea typeface="新細明體" panose="02020500000000000000" pitchFamily="18" charset="-120"/>
              </a:rPr>
              <a:t>	Multi-cycle: CPI = m, short cycle time</a:t>
            </a:r>
          </a:p>
          <a:p>
            <a:pPr marL="0" lvl="0" indent="0">
              <a:buNone/>
            </a:pPr>
            <a:endParaRPr lang="en-AU" altLang="zh-TW" sz="3200" b="1" noProof="0" dirty="0">
              <a:ea typeface="新細明體" panose="02020500000000000000" pitchFamily="18" charset="-120"/>
            </a:endParaRPr>
          </a:p>
          <a:p>
            <a:pPr marL="0" lvl="0" indent="0">
              <a:buNone/>
            </a:pPr>
            <a:r>
              <a:rPr kumimoji="1" lang="en-AU" altLang="zh-TW" sz="3200" b="1" i="0" u="none" strike="noStrike" kern="0" cap="none" spc="0" normalizeH="0" baseline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	Pipelining:</a:t>
            </a:r>
            <a:r>
              <a:rPr kumimoji="1" lang="en-AU" altLang="zh-TW" sz="3200" b="1" i="0" u="none" strike="noStrike" kern="0" cap="none" spc="0" normalizeH="0" dirty="0">
                <a:ln>
                  <a:noFill/>
                </a:ln>
                <a:effectLst/>
                <a:uLnTx/>
                <a:uFillTx/>
                <a:ea typeface="新細明體" panose="02020500000000000000" pitchFamily="18" charset="-120"/>
              </a:rPr>
              <a:t> CPI = ~1, short cycle time </a:t>
            </a:r>
            <a:endParaRPr kumimoji="1" lang="en-AU" altLang="zh-TW" sz="3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ea typeface="新細明體" panose="02020500000000000000" pitchFamily="18" charset="-12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13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B40349-EE74-4750-8D21-31C3F9CBCD9C}"/>
              </a:ext>
            </a:extLst>
          </p:cNvPr>
          <p:cNvSpPr txBox="1"/>
          <p:nvPr/>
        </p:nvSpPr>
        <p:spPr>
          <a:xfrm>
            <a:off x="8599250" y="2315343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401CBC-4AE9-43ED-AC8C-747931A9BB37}"/>
              </a:ext>
            </a:extLst>
          </p:cNvPr>
          <p:cNvSpPr txBox="1"/>
          <p:nvPr/>
        </p:nvSpPr>
        <p:spPr>
          <a:xfrm>
            <a:off x="6293794" y="2315343"/>
            <a:ext cx="2305456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B9C702-ABCB-4A86-9EAB-DB4AF70910E2}"/>
              </a:ext>
            </a:extLst>
          </p:cNvPr>
          <p:cNvSpPr txBox="1"/>
          <p:nvPr/>
        </p:nvSpPr>
        <p:spPr>
          <a:xfrm>
            <a:off x="3988338" y="2315343"/>
            <a:ext cx="2305456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DC50DD-0D4D-4A73-8A9A-F0FDCCA21B3D}"/>
              </a:ext>
            </a:extLst>
          </p:cNvPr>
          <p:cNvSpPr txBox="1"/>
          <p:nvPr/>
        </p:nvSpPr>
        <p:spPr>
          <a:xfrm>
            <a:off x="1682882" y="2315343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552B82-794E-4C74-B5CD-167AA17ED652}"/>
              </a:ext>
            </a:extLst>
          </p:cNvPr>
          <p:cNvSpPr txBox="1"/>
          <p:nvPr/>
        </p:nvSpPr>
        <p:spPr>
          <a:xfrm>
            <a:off x="8599250" y="3544060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 (4 cycles)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45C70D-0C85-4466-9845-F7CC320642D3}"/>
              </a:ext>
            </a:extLst>
          </p:cNvPr>
          <p:cNvSpPr txBox="1"/>
          <p:nvPr/>
        </p:nvSpPr>
        <p:spPr>
          <a:xfrm>
            <a:off x="5671225" y="3557358"/>
            <a:ext cx="1555187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 (3cycle)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A8DB08-EF07-4F02-A635-384D882A7730}"/>
              </a:ext>
            </a:extLst>
          </p:cNvPr>
          <p:cNvSpPr txBox="1"/>
          <p:nvPr/>
        </p:nvSpPr>
        <p:spPr>
          <a:xfrm>
            <a:off x="3354802" y="3573462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 (4 cycle)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FC6AA0-ED57-4618-B173-7921DEBA55D6}"/>
              </a:ext>
            </a:extLst>
          </p:cNvPr>
          <p:cNvSpPr txBox="1"/>
          <p:nvPr/>
        </p:nvSpPr>
        <p:spPr>
          <a:xfrm>
            <a:off x="7237379" y="3554166"/>
            <a:ext cx="1361871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 (2 cycle)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FF8466-C90E-425C-828C-1710254917E1}"/>
              </a:ext>
            </a:extLst>
          </p:cNvPr>
          <p:cNvSpPr txBox="1"/>
          <p:nvPr/>
        </p:nvSpPr>
        <p:spPr>
          <a:xfrm>
            <a:off x="6448818" y="4588111"/>
            <a:ext cx="2305456" cy="369332"/>
          </a:xfrm>
          <a:prstGeom prst="rect">
            <a:avLst/>
          </a:prstGeom>
          <a:solidFill>
            <a:srgbClr val="00B05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 (4 cycles)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075B8D-5102-478B-9828-A54BA9331BF7}"/>
              </a:ext>
            </a:extLst>
          </p:cNvPr>
          <p:cNvSpPr txBox="1"/>
          <p:nvPr/>
        </p:nvSpPr>
        <p:spPr>
          <a:xfrm>
            <a:off x="6115454" y="4970203"/>
            <a:ext cx="2305456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X (2 cycle)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EFC5A5-0174-415C-B644-DB957A1CF3A1}"/>
              </a:ext>
            </a:extLst>
          </p:cNvPr>
          <p:cNvSpPr txBox="1"/>
          <p:nvPr/>
        </p:nvSpPr>
        <p:spPr>
          <a:xfrm>
            <a:off x="5709517" y="5346087"/>
            <a:ext cx="2305455" cy="369332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Y (3cycle)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19495-6C61-417A-8DEE-6310126D97B6}"/>
              </a:ext>
            </a:extLst>
          </p:cNvPr>
          <p:cNvSpPr txBox="1"/>
          <p:nvPr/>
        </p:nvSpPr>
        <p:spPr>
          <a:xfrm>
            <a:off x="5296090" y="5732463"/>
            <a:ext cx="2305456" cy="36933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Z (4 cycle)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5AC090-4DAA-43A8-93CE-1A3541660C03}"/>
              </a:ext>
            </a:extLst>
          </p:cNvPr>
          <p:cNvSpPr txBox="1"/>
          <p:nvPr/>
        </p:nvSpPr>
        <p:spPr>
          <a:xfrm>
            <a:off x="2514990" y="5153919"/>
            <a:ext cx="187743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Fully overlapped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F7490B-1ACA-4EC6-802F-A4046183F03E}"/>
              </a:ext>
            </a:extLst>
          </p:cNvPr>
          <p:cNvSpPr txBox="1"/>
          <p:nvPr/>
        </p:nvSpPr>
        <p:spPr>
          <a:xfrm>
            <a:off x="491032" y="1211828"/>
            <a:ext cx="6157418" cy="461665"/>
          </a:xfrm>
          <a:prstGeom prst="rect">
            <a:avLst/>
          </a:prstGeom>
          <a:solidFill>
            <a:srgbClr val="FFC000"/>
          </a:solidFill>
          <a:ln>
            <a:solidFill>
              <a:schemeClr val="accent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sz="2400" dirty="0">
                <a:ea typeface="標楷體" pitchFamily="65" charset="-120"/>
                <a:cs typeface="Calibri" pitchFamily="34" charset="0"/>
              </a:rPr>
              <a:t>Assume 1 long cycle = 4 short cycles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20D4EB-B596-46AF-A886-7E282FB254A0}"/>
              </a:ext>
            </a:extLst>
          </p:cNvPr>
          <p:cNvSpPr txBox="1"/>
          <p:nvPr/>
        </p:nvSpPr>
        <p:spPr>
          <a:xfrm>
            <a:off x="9894037" y="2691177"/>
            <a:ext cx="1893467" cy="400110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16 short cycles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552BDE-1C4E-44E0-A0F5-1D14325BC714}"/>
              </a:ext>
            </a:extLst>
          </p:cNvPr>
          <p:cNvSpPr txBox="1"/>
          <p:nvPr/>
        </p:nvSpPr>
        <p:spPr>
          <a:xfrm>
            <a:off x="9894036" y="3913392"/>
            <a:ext cx="1893467" cy="400110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13 short cycles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707A2A-A450-410B-AABA-3030D2C30733}"/>
              </a:ext>
            </a:extLst>
          </p:cNvPr>
          <p:cNvSpPr txBox="1"/>
          <p:nvPr/>
        </p:nvSpPr>
        <p:spPr>
          <a:xfrm>
            <a:off x="9907391" y="5123141"/>
            <a:ext cx="1750800" cy="400110"/>
          </a:xfrm>
          <a:prstGeom prst="rect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sz="2000" dirty="0">
                <a:ea typeface="標楷體" pitchFamily="65" charset="-120"/>
                <a:cs typeface="Calibri" pitchFamily="34" charset="0"/>
              </a:rPr>
              <a:t>7 short cycles</a:t>
            </a:r>
          </a:p>
        </p:txBody>
      </p:sp>
    </p:spTree>
    <p:extLst>
      <p:ext uri="{BB962C8B-B14F-4D97-AF65-F5344CB8AC3E}">
        <p14:creationId xmlns:p14="http://schemas.microsoft.com/office/powerpoint/2010/main" val="72965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1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1249937" y="58739"/>
            <a:ext cx="9056115" cy="901700"/>
          </a:xfrm>
        </p:spPr>
        <p:txBody>
          <a:bodyPr/>
          <a:lstStyle/>
          <a:p>
            <a:r>
              <a:rPr lang="en-US" altLang="zh-TW" dirty="0"/>
              <a:t>4.2  Logic Design Basics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3315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228600" y="939803"/>
            <a:ext cx="11734800" cy="5204573"/>
          </a:xfrm>
        </p:spPr>
        <p:txBody>
          <a:bodyPr/>
          <a:lstStyle/>
          <a:p>
            <a:r>
              <a:rPr lang="en-US" altLang="zh-TW" sz="2400" dirty="0">
                <a:solidFill>
                  <a:srgbClr val="FF0000"/>
                </a:solidFill>
              </a:rPr>
              <a:t>IF you have no background in logic designs, please read Appendix A in the reference book</a:t>
            </a:r>
          </a:p>
          <a:p>
            <a:r>
              <a:rPr lang="en-US" altLang="zh-TW" sz="3000" dirty="0"/>
              <a:t>Information encoded in binary</a:t>
            </a:r>
          </a:p>
          <a:p>
            <a:pPr lvl="1"/>
            <a:r>
              <a:rPr lang="en-US" altLang="zh-TW" sz="2400" dirty="0"/>
              <a:t>Low voltage = 0, High voltage = 1</a:t>
            </a:r>
          </a:p>
          <a:p>
            <a:pPr lvl="1"/>
            <a:r>
              <a:rPr lang="en-US" altLang="zh-TW" sz="2400" dirty="0"/>
              <a:t>One wire per bit, Multi-bit data encoded on multi-wire buses</a:t>
            </a:r>
          </a:p>
          <a:p>
            <a:r>
              <a:rPr lang="en-US" altLang="zh-TW" sz="3000" dirty="0"/>
              <a:t>Three major components:</a:t>
            </a:r>
          </a:p>
          <a:p>
            <a:pPr lvl="1"/>
            <a:r>
              <a:rPr lang="en-US" altLang="zh-TW" sz="2400" dirty="0"/>
              <a:t>Combinational element</a:t>
            </a:r>
          </a:p>
          <a:p>
            <a:pPr lvl="2"/>
            <a:r>
              <a:rPr lang="en-US" altLang="zh-TW" sz="2200" dirty="0"/>
              <a:t>Operate on data</a:t>
            </a:r>
          </a:p>
          <a:p>
            <a:pPr lvl="2"/>
            <a:r>
              <a:rPr lang="en-US" altLang="zh-TW" sz="2200" dirty="0"/>
              <a:t>Output is a function of input</a:t>
            </a:r>
          </a:p>
          <a:p>
            <a:pPr lvl="1"/>
            <a:r>
              <a:rPr lang="en-US" altLang="zh-TW" sz="2400" dirty="0"/>
              <a:t>State (sequential) elements</a:t>
            </a:r>
          </a:p>
          <a:p>
            <a:pPr lvl="2"/>
            <a:r>
              <a:rPr lang="en-US" altLang="zh-TW" sz="2200" dirty="0"/>
              <a:t>Store information</a:t>
            </a:r>
          </a:p>
          <a:p>
            <a:pPr lvl="1"/>
            <a:r>
              <a:rPr lang="en-US" altLang="zh-TW" sz="2400" dirty="0"/>
              <a:t>Clock signals</a:t>
            </a:r>
          </a:p>
          <a:p>
            <a:pPr lvl="2"/>
            <a:r>
              <a:rPr lang="en-US" altLang="zh-TW" sz="1867" dirty="0"/>
              <a:t>Regulate the updating of the memory elements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14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1249937" y="58739"/>
            <a:ext cx="9056115" cy="901700"/>
          </a:xfrm>
        </p:spPr>
        <p:txBody>
          <a:bodyPr/>
          <a:lstStyle/>
          <a:p>
            <a:r>
              <a:rPr lang="en-US" altLang="zh-TW" dirty="0"/>
              <a:t>4.2  Logic Design Past and Now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3315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228600" y="1133475"/>
            <a:ext cx="11734800" cy="5010901"/>
          </a:xfrm>
        </p:spPr>
        <p:txBody>
          <a:bodyPr/>
          <a:lstStyle/>
          <a:p>
            <a:pPr algn="l"/>
            <a:r>
              <a:rPr lang="en-US" sz="2400" b="0" i="0" u="none" strike="noStrike" baseline="0" dirty="0">
                <a:latin typeface="TimesTen-Roman"/>
              </a:rPr>
              <a:t>At one time, hardware designers created circuit designs by drawing schematic diagrams of logic circuits (with paper and pencil) or writing Boolean expressions.</a:t>
            </a:r>
          </a:p>
          <a:p>
            <a:pPr algn="l"/>
            <a:r>
              <a:rPr lang="en-US" sz="2400" b="0" i="0" u="none" strike="noStrike" baseline="0" dirty="0">
                <a:latin typeface="TimesTen-Roman"/>
              </a:rPr>
              <a:t>Nowadays, most designs are expressed in a </a:t>
            </a:r>
            <a:r>
              <a:rPr lang="en-US" sz="2400" b="0" i="1" u="none" strike="noStrike" baseline="0" dirty="0">
                <a:solidFill>
                  <a:srgbClr val="FF0000"/>
                </a:solidFill>
                <a:latin typeface="TimesTen-Italic"/>
              </a:rPr>
              <a:t>hardware description language </a:t>
            </a:r>
            <a:r>
              <a:rPr lang="en-US" sz="2400" b="0" i="0" u="none" strike="noStrike" baseline="0" dirty="0">
                <a:latin typeface="TimesTen-Roman"/>
              </a:rPr>
              <a:t>(HDL), a textual notation that looks similar to a programming language, but is used to describe hardware structures rather than program behaviors.</a:t>
            </a:r>
          </a:p>
          <a:p>
            <a:pPr algn="l"/>
            <a:r>
              <a:rPr lang="en-US" sz="2400" b="0" i="0" u="none" strike="noStrike" baseline="0" dirty="0">
                <a:latin typeface="TimesTen-Roman"/>
              </a:rPr>
              <a:t>The most commonly used HDLs are Verilog, </a:t>
            </a:r>
            <a:r>
              <a:rPr lang="en-US" sz="2400" b="0" i="0" u="none" strike="noStrike" baseline="0" dirty="0" err="1">
                <a:latin typeface="TimesTen-Roman"/>
              </a:rPr>
              <a:t>SystemVerilog</a:t>
            </a:r>
            <a:r>
              <a:rPr lang="en-US" sz="2400" b="0" i="0" u="none" strike="noStrike" baseline="0" dirty="0">
                <a:latin typeface="TimesTen-Roman"/>
              </a:rPr>
              <a:t>, VHDL, and Chisel.</a:t>
            </a:r>
          </a:p>
          <a:p>
            <a:pPr algn="l"/>
            <a:endParaRPr lang="en-US" altLang="zh-TW" sz="2400" dirty="0">
              <a:latin typeface="TimesTen-Roman"/>
            </a:endParaRPr>
          </a:p>
          <a:p>
            <a:pPr algn="l"/>
            <a:endParaRPr lang="en-US" altLang="zh-TW" sz="2400" dirty="0">
              <a:latin typeface="TimesTen-Roman"/>
            </a:endParaRPr>
          </a:p>
          <a:p>
            <a:pPr algn="l"/>
            <a:endParaRPr lang="en-US" altLang="zh-TW" sz="2400" dirty="0">
              <a:latin typeface="TimesTen-Roman"/>
            </a:endParaRPr>
          </a:p>
          <a:p>
            <a:pPr algn="l"/>
            <a:endParaRPr lang="en-US" altLang="zh-TW" sz="2400" dirty="0">
              <a:latin typeface="TimesTen-Roman"/>
            </a:endParaRPr>
          </a:p>
          <a:p>
            <a:pPr algn="l"/>
            <a:endParaRPr lang="en-US" altLang="zh-TW" sz="2400" dirty="0">
              <a:latin typeface="TimesTen-Roman"/>
            </a:endParaRPr>
          </a:p>
          <a:p>
            <a:pPr algn="l"/>
            <a:r>
              <a:rPr lang="en-US" altLang="zh-TW" sz="2400" dirty="0">
                <a:latin typeface="TimesTen-Roman"/>
              </a:rPr>
              <a:t>The textbook defines Hardware Control Language (HCL) to describe control logics.</a:t>
            </a:r>
            <a:endParaRPr lang="en-US" altLang="zh-TW" sz="2400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15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651957-A083-4B1D-AF26-1D887F062ED6}"/>
              </a:ext>
            </a:extLst>
          </p:cNvPr>
          <p:cNvSpPr/>
          <p:nvPr/>
        </p:nvSpPr>
        <p:spPr bwMode="auto">
          <a:xfrm>
            <a:off x="866775" y="4941655"/>
            <a:ext cx="10963275" cy="514350"/>
          </a:xfrm>
          <a:prstGeom prst="rect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65FF2B-EF61-4BAC-9CBE-75C6E126E413}"/>
              </a:ext>
            </a:extLst>
          </p:cNvPr>
          <p:cNvSpPr txBox="1"/>
          <p:nvPr/>
        </p:nvSpPr>
        <p:spPr>
          <a:xfrm>
            <a:off x="895350" y="4101346"/>
            <a:ext cx="3262432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High-Level Language (C/C++)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6E529A-BE14-4253-A7FE-3A0FB1F89B91}"/>
              </a:ext>
            </a:extLst>
          </p:cNvPr>
          <p:cNvSpPr txBox="1"/>
          <p:nvPr/>
        </p:nvSpPr>
        <p:spPr>
          <a:xfrm>
            <a:off x="310212" y="5014164"/>
            <a:ext cx="5693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HW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161842-3F21-4907-B409-D695EE5D9B05}"/>
              </a:ext>
            </a:extLst>
          </p:cNvPr>
          <p:cNvSpPr/>
          <p:nvPr/>
        </p:nvSpPr>
        <p:spPr bwMode="auto">
          <a:xfrm>
            <a:off x="895350" y="4048123"/>
            <a:ext cx="10963275" cy="514350"/>
          </a:xfrm>
          <a:prstGeom prst="rect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22217EF-179A-4B3E-A43E-9E62C4D9D91C}"/>
              </a:ext>
            </a:extLst>
          </p:cNvPr>
          <p:cNvSpPr/>
          <p:nvPr/>
        </p:nvSpPr>
        <p:spPr bwMode="auto">
          <a:xfrm>
            <a:off x="4281607" y="4148137"/>
            <a:ext cx="466725" cy="257175"/>
          </a:xfrm>
          <a:prstGeom prst="rightArrow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F96618-F82E-4C0E-96EA-ABFCEF16C21B}"/>
              </a:ext>
            </a:extLst>
          </p:cNvPr>
          <p:cNvSpPr txBox="1"/>
          <p:nvPr/>
        </p:nvSpPr>
        <p:spPr>
          <a:xfrm>
            <a:off x="4903637" y="4097893"/>
            <a:ext cx="1107996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Compiler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7EB524C5-AAC8-475B-8578-AA8D6AB753A4}"/>
              </a:ext>
            </a:extLst>
          </p:cNvPr>
          <p:cNvSpPr/>
          <p:nvPr/>
        </p:nvSpPr>
        <p:spPr bwMode="auto">
          <a:xfrm>
            <a:off x="6075438" y="4176711"/>
            <a:ext cx="466725" cy="257175"/>
          </a:xfrm>
          <a:prstGeom prst="rightArrow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CD3C16-1BD2-4E86-94F2-72BB0C2ECED9}"/>
              </a:ext>
            </a:extLst>
          </p:cNvPr>
          <p:cNvSpPr txBox="1"/>
          <p:nvPr/>
        </p:nvSpPr>
        <p:spPr>
          <a:xfrm>
            <a:off x="6589098" y="4064554"/>
            <a:ext cx="5109091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Assembly program / Machine language program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09CB89-560C-4831-92C1-CB4601333635}"/>
              </a:ext>
            </a:extLst>
          </p:cNvPr>
          <p:cNvSpPr txBox="1"/>
          <p:nvPr/>
        </p:nvSpPr>
        <p:spPr>
          <a:xfrm>
            <a:off x="338787" y="4148137"/>
            <a:ext cx="556563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SW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9049DA7-11B8-4CDF-AD3B-5BE51223D382}"/>
              </a:ext>
            </a:extLst>
          </p:cNvPr>
          <p:cNvSpPr txBox="1"/>
          <p:nvPr/>
        </p:nvSpPr>
        <p:spPr>
          <a:xfrm>
            <a:off x="1008349" y="5006171"/>
            <a:ext cx="390369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High-Description Language (Verilog)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727E46C-ABA8-4688-A08B-3D8E219B6521}"/>
              </a:ext>
            </a:extLst>
          </p:cNvPr>
          <p:cNvSpPr/>
          <p:nvPr/>
        </p:nvSpPr>
        <p:spPr bwMode="auto">
          <a:xfrm>
            <a:off x="5016504" y="5070242"/>
            <a:ext cx="466725" cy="257175"/>
          </a:xfrm>
          <a:prstGeom prst="rightArrow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0A9448-0455-4254-80CC-83F3D7C9D882}"/>
              </a:ext>
            </a:extLst>
          </p:cNvPr>
          <p:cNvSpPr txBox="1"/>
          <p:nvPr/>
        </p:nvSpPr>
        <p:spPr>
          <a:xfrm>
            <a:off x="5430073" y="4875665"/>
            <a:ext cx="2356735" cy="646331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 Logical Synthesizer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(</a:t>
            </a:r>
            <a:r>
              <a:rPr lang="en-US" b="1" i="1" dirty="0">
                <a:solidFill>
                  <a:srgbClr val="11182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⊂ 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 Silicon Compiler)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4BBC21DA-AD0A-45A5-B57F-DD990FFDC241}"/>
              </a:ext>
            </a:extLst>
          </p:cNvPr>
          <p:cNvSpPr/>
          <p:nvPr/>
        </p:nvSpPr>
        <p:spPr bwMode="auto">
          <a:xfrm>
            <a:off x="7745514" y="5084221"/>
            <a:ext cx="466725" cy="257175"/>
          </a:xfrm>
          <a:prstGeom prst="rightArrow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4DBD47-597A-401E-9932-7021DC9D2AB8}"/>
              </a:ext>
            </a:extLst>
          </p:cNvPr>
          <p:cNvSpPr txBox="1"/>
          <p:nvPr/>
        </p:nvSpPr>
        <p:spPr>
          <a:xfrm>
            <a:off x="8487717" y="4966553"/>
            <a:ext cx="2845651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Boolean equations + FSM</a:t>
            </a:r>
          </a:p>
        </p:txBody>
      </p:sp>
    </p:spTree>
    <p:extLst>
      <p:ext uri="{BB962C8B-B14F-4D97-AF65-F5344CB8AC3E}">
        <p14:creationId xmlns:p14="http://schemas.microsoft.com/office/powerpoint/2010/main" val="1489732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1249937" y="58739"/>
            <a:ext cx="9056115" cy="901700"/>
          </a:xfrm>
        </p:spPr>
        <p:txBody>
          <a:bodyPr/>
          <a:lstStyle/>
          <a:p>
            <a:r>
              <a:rPr lang="en-US" altLang="zh-TW" dirty="0"/>
              <a:t>4.2  Logic Design Basics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3315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228600" y="939803"/>
            <a:ext cx="11734800" cy="5204573"/>
          </a:xfrm>
        </p:spPr>
        <p:txBody>
          <a:bodyPr/>
          <a:lstStyle/>
          <a:p>
            <a:r>
              <a:rPr lang="en-US" altLang="zh-TW" sz="3000" dirty="0"/>
              <a:t>Information encoded in binary</a:t>
            </a:r>
          </a:p>
          <a:p>
            <a:pPr lvl="1"/>
            <a:r>
              <a:rPr lang="en-US" altLang="zh-TW" sz="2400" dirty="0"/>
              <a:t>Low voltage = 0, High voltage = 1</a:t>
            </a:r>
          </a:p>
          <a:p>
            <a:pPr lvl="1"/>
            <a:r>
              <a:rPr lang="en-US" altLang="zh-TW" sz="2400" dirty="0"/>
              <a:t>One wire per bit, Multi-bit data encoded on multi-wire buses</a:t>
            </a:r>
          </a:p>
          <a:p>
            <a:r>
              <a:rPr lang="en-US" altLang="zh-TW" sz="3000" dirty="0"/>
              <a:t>Three major components:</a:t>
            </a:r>
          </a:p>
          <a:p>
            <a:pPr lvl="1"/>
            <a:r>
              <a:rPr lang="en-US" altLang="zh-TW" sz="2400" dirty="0"/>
              <a:t>Combinational element</a:t>
            </a:r>
          </a:p>
          <a:p>
            <a:pPr lvl="2"/>
            <a:r>
              <a:rPr lang="en-US" altLang="zh-TW" sz="2200" dirty="0"/>
              <a:t>Operate on data</a:t>
            </a:r>
          </a:p>
          <a:p>
            <a:pPr lvl="2"/>
            <a:r>
              <a:rPr lang="en-US" altLang="zh-TW" sz="2200" dirty="0"/>
              <a:t>Output is a function of input</a:t>
            </a:r>
          </a:p>
          <a:p>
            <a:pPr lvl="1"/>
            <a:r>
              <a:rPr lang="en-US" altLang="zh-TW" sz="2400" dirty="0"/>
              <a:t>State (sequential) elements</a:t>
            </a:r>
          </a:p>
          <a:p>
            <a:pPr lvl="2"/>
            <a:r>
              <a:rPr lang="en-US" altLang="zh-TW" sz="2200" dirty="0"/>
              <a:t>Store information</a:t>
            </a:r>
          </a:p>
          <a:p>
            <a:pPr lvl="1"/>
            <a:r>
              <a:rPr lang="en-US" altLang="zh-TW" sz="2400" dirty="0"/>
              <a:t>Clock signals</a:t>
            </a:r>
          </a:p>
          <a:p>
            <a:pPr lvl="2"/>
            <a:r>
              <a:rPr lang="en-US" altLang="zh-TW" sz="1867" dirty="0"/>
              <a:t>Regulate the updating of the memory elements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16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6" name="文本框 1">
            <a:extLst>
              <a:ext uri="{FF2B5EF4-FFF2-40B4-BE49-F238E27FC236}">
                <a16:creationId xmlns:a16="http://schemas.microsoft.com/office/drawing/2014/main" id="{FA62FE5F-3017-4507-9CA8-FBD8E1215C54}"/>
              </a:ext>
            </a:extLst>
          </p:cNvPr>
          <p:cNvSpPr txBox="1"/>
          <p:nvPr/>
        </p:nvSpPr>
        <p:spPr>
          <a:xfrm>
            <a:off x="6906683" y="2828835"/>
            <a:ext cx="4174067" cy="1200329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4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What is the difference between </a:t>
            </a:r>
            <a:r>
              <a:rPr lang="en-US" altLang="zh-CN" sz="2400" dirty="0">
                <a:solidFill>
                  <a:srgbClr val="0070C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combinational</a:t>
            </a:r>
            <a:r>
              <a:rPr lang="en-US" altLang="zh-CN" sz="24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 logic and </a:t>
            </a:r>
            <a:r>
              <a:rPr lang="en-US" altLang="zh-CN" sz="2400" dirty="0">
                <a:solidFill>
                  <a:srgbClr val="0070C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sequential</a:t>
            </a:r>
            <a:r>
              <a:rPr lang="en-US" altLang="zh-CN" sz="24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 logic?</a:t>
            </a:r>
          </a:p>
        </p:txBody>
      </p:sp>
      <p:sp>
        <p:nvSpPr>
          <p:cNvPr id="7" name="文本框 1">
            <a:extLst>
              <a:ext uri="{FF2B5EF4-FFF2-40B4-BE49-F238E27FC236}">
                <a16:creationId xmlns:a16="http://schemas.microsoft.com/office/drawing/2014/main" id="{80A7AC16-45CD-4864-8015-C436C5068061}"/>
              </a:ext>
            </a:extLst>
          </p:cNvPr>
          <p:cNvSpPr txBox="1"/>
          <p:nvPr/>
        </p:nvSpPr>
        <p:spPr>
          <a:xfrm>
            <a:off x="7072010" y="4139300"/>
            <a:ext cx="4880807" cy="1323439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One is </a:t>
            </a:r>
            <a:r>
              <a:rPr lang="en-US" altLang="zh-CN" sz="2000" b="1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stateless</a:t>
            </a:r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, output purely depends on the inputs. e.g. ALU</a:t>
            </a:r>
          </a:p>
          <a:p>
            <a:pPr defTabSz="1219170"/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The other has </a:t>
            </a:r>
            <a:r>
              <a:rPr lang="en-US" altLang="zh-CN" sz="2000" b="1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states</a:t>
            </a:r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, output depends on the inputs and the states, e.g. register</a:t>
            </a:r>
          </a:p>
        </p:txBody>
      </p:sp>
      <p:sp>
        <p:nvSpPr>
          <p:cNvPr id="8" name="文本框 1">
            <a:extLst>
              <a:ext uri="{FF2B5EF4-FFF2-40B4-BE49-F238E27FC236}">
                <a16:creationId xmlns:a16="http://schemas.microsoft.com/office/drawing/2014/main" id="{86E7ED43-9070-4B46-9F68-2B26874EA2CF}"/>
              </a:ext>
            </a:extLst>
          </p:cNvPr>
          <p:cNvSpPr txBox="1"/>
          <p:nvPr/>
        </p:nvSpPr>
        <p:spPr>
          <a:xfrm>
            <a:off x="7072010" y="4167875"/>
            <a:ext cx="4880807" cy="1323439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One is </a:t>
            </a:r>
            <a:r>
              <a:rPr lang="en-US" altLang="zh-CN" sz="2000" b="1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stateless</a:t>
            </a:r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, output purely depends on the inputs. e.g. ALU</a:t>
            </a:r>
          </a:p>
          <a:p>
            <a:pPr defTabSz="1219170"/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The other has </a:t>
            </a:r>
            <a:r>
              <a:rPr lang="en-US" altLang="zh-CN" sz="2000" b="1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states</a:t>
            </a:r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, output depends on the inputs and the states, e.g. register</a:t>
            </a:r>
          </a:p>
        </p:txBody>
      </p:sp>
    </p:spTree>
    <p:extLst>
      <p:ext uri="{BB962C8B-B14F-4D97-AF65-F5344CB8AC3E}">
        <p14:creationId xmlns:p14="http://schemas.microsoft.com/office/powerpoint/2010/main" val="2467842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321655" y="58739"/>
            <a:ext cx="8984397" cy="901700"/>
          </a:xfrm>
        </p:spPr>
        <p:txBody>
          <a:bodyPr/>
          <a:lstStyle/>
          <a:p>
            <a:r>
              <a:rPr lang="en-US" altLang="zh-TW" dirty="0"/>
              <a:t>4.2.1 Logic Gates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35165" y="1091963"/>
            <a:ext cx="3157537" cy="967359"/>
          </a:xfrm>
        </p:spPr>
        <p:txBody>
          <a:bodyPr/>
          <a:lstStyle/>
          <a:p>
            <a:pPr>
              <a:buClr>
                <a:schemeClr val="tx2"/>
              </a:buClr>
            </a:pPr>
            <a:r>
              <a:rPr lang="en-US" altLang="zh-TW" sz="2400" b="1" dirty="0"/>
              <a:t>AND-gate</a:t>
            </a:r>
          </a:p>
          <a:p>
            <a:pPr lvl="1">
              <a:buFont typeface="Arial" panose="020B0604020202090204" pitchFamily="34" charset="0"/>
              <a:buChar char="–"/>
            </a:pPr>
            <a:r>
              <a:rPr lang="en-US" altLang="zh-TW" sz="2133" b="1" dirty="0"/>
              <a:t>Y = A &amp;&amp; B</a:t>
            </a:r>
          </a:p>
        </p:txBody>
      </p:sp>
      <p:grpSp>
        <p:nvGrpSpPr>
          <p:cNvPr id="14340" name="Group 4"/>
          <p:cNvGrpSpPr/>
          <p:nvPr/>
        </p:nvGrpSpPr>
        <p:grpSpPr bwMode="auto">
          <a:xfrm>
            <a:off x="2449513" y="2218195"/>
            <a:ext cx="1850763" cy="790944"/>
            <a:chOff x="249" y="2299"/>
            <a:chExt cx="944" cy="361"/>
          </a:xfrm>
        </p:grpSpPr>
        <p:grpSp>
          <p:nvGrpSpPr>
            <p:cNvPr id="14393" name="Group 5"/>
            <p:cNvGrpSpPr/>
            <p:nvPr/>
          </p:nvGrpSpPr>
          <p:grpSpPr bwMode="auto">
            <a:xfrm>
              <a:off x="476" y="2387"/>
              <a:ext cx="544" cy="273"/>
              <a:chOff x="431" y="1888"/>
              <a:chExt cx="544" cy="273"/>
            </a:xfrm>
          </p:grpSpPr>
          <p:sp>
            <p:nvSpPr>
              <p:cNvPr id="14397" name="Arc 6"/>
              <p:cNvSpPr/>
              <p:nvPr/>
            </p:nvSpPr>
            <p:spPr bwMode="auto">
              <a:xfrm>
                <a:off x="701" y="1889"/>
                <a:ext cx="139" cy="272"/>
              </a:xfrm>
              <a:custGeom>
                <a:avLst/>
                <a:gdLst>
                  <a:gd name="T0" fmla="*/ 0 w 22080"/>
                  <a:gd name="T1" fmla="*/ 0 h 43200"/>
                  <a:gd name="T2" fmla="*/ 0 w 22080"/>
                  <a:gd name="T3" fmla="*/ 0 h 43200"/>
                  <a:gd name="T4" fmla="*/ 0 w 22080"/>
                  <a:gd name="T5" fmla="*/ 0 h 43200"/>
                  <a:gd name="T6" fmla="*/ 0 60000 65536"/>
                  <a:gd name="T7" fmla="*/ 0 60000 65536"/>
                  <a:gd name="T8" fmla="*/ 0 60000 65536"/>
                  <a:gd name="T9" fmla="*/ 0 w 22080"/>
                  <a:gd name="T10" fmla="*/ 0 h 43200"/>
                  <a:gd name="T11" fmla="*/ 22080 w 22080"/>
                  <a:gd name="T12" fmla="*/ 43200 h 43200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22080" h="43200" fill="none" extrusionOk="0">
                    <a:moveTo>
                      <a:pt x="479" y="0"/>
                    </a:moveTo>
                    <a:cubicBezTo>
                      <a:pt x="12409" y="0"/>
                      <a:pt x="22080" y="9670"/>
                      <a:pt x="22080" y="21600"/>
                    </a:cubicBezTo>
                    <a:cubicBezTo>
                      <a:pt x="22080" y="33529"/>
                      <a:pt x="12409" y="43200"/>
                      <a:pt x="480" y="43200"/>
                    </a:cubicBezTo>
                    <a:cubicBezTo>
                      <a:pt x="319" y="43200"/>
                      <a:pt x="159" y="43198"/>
                      <a:pt x="0" y="43194"/>
                    </a:cubicBezTo>
                  </a:path>
                  <a:path w="22080" h="43200" stroke="0" extrusionOk="0">
                    <a:moveTo>
                      <a:pt x="479" y="0"/>
                    </a:moveTo>
                    <a:cubicBezTo>
                      <a:pt x="12409" y="0"/>
                      <a:pt x="22080" y="9670"/>
                      <a:pt x="22080" y="21600"/>
                    </a:cubicBezTo>
                    <a:cubicBezTo>
                      <a:pt x="22080" y="33529"/>
                      <a:pt x="12409" y="43200"/>
                      <a:pt x="480" y="43200"/>
                    </a:cubicBezTo>
                    <a:cubicBezTo>
                      <a:pt x="319" y="43200"/>
                      <a:pt x="159" y="43198"/>
                      <a:pt x="0" y="43194"/>
                    </a:cubicBezTo>
                    <a:lnTo>
                      <a:pt x="480" y="21600"/>
                    </a:lnTo>
                    <a:lnTo>
                      <a:pt x="479" y="0"/>
                    </a:lnTo>
                    <a:close/>
                  </a:path>
                </a:pathLst>
              </a:custGeom>
              <a:noFill/>
              <a:ln w="1905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398" name="Line 7"/>
              <p:cNvSpPr>
                <a:spLocks noChangeShapeType="1"/>
              </p:cNvSpPr>
              <p:nvPr/>
            </p:nvSpPr>
            <p:spPr bwMode="auto">
              <a:xfrm>
                <a:off x="567" y="1888"/>
                <a:ext cx="13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399" name="Line 8"/>
              <p:cNvSpPr>
                <a:spLocks noChangeShapeType="1"/>
              </p:cNvSpPr>
              <p:nvPr/>
            </p:nvSpPr>
            <p:spPr bwMode="auto">
              <a:xfrm>
                <a:off x="567" y="1888"/>
                <a:ext cx="0" cy="272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400" name="Line 9"/>
              <p:cNvSpPr>
                <a:spLocks noChangeShapeType="1"/>
              </p:cNvSpPr>
              <p:nvPr/>
            </p:nvSpPr>
            <p:spPr bwMode="auto">
              <a:xfrm>
                <a:off x="567" y="2160"/>
                <a:ext cx="136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401" name="Line 10"/>
              <p:cNvSpPr>
                <a:spLocks noChangeShapeType="1"/>
              </p:cNvSpPr>
              <p:nvPr/>
            </p:nvSpPr>
            <p:spPr bwMode="auto">
              <a:xfrm>
                <a:off x="431" y="1933"/>
                <a:ext cx="136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402" name="Line 11"/>
              <p:cNvSpPr>
                <a:spLocks noChangeShapeType="1"/>
              </p:cNvSpPr>
              <p:nvPr/>
            </p:nvSpPr>
            <p:spPr bwMode="auto">
              <a:xfrm>
                <a:off x="431" y="2115"/>
                <a:ext cx="136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14403" name="Line 12"/>
              <p:cNvSpPr>
                <a:spLocks noChangeShapeType="1"/>
              </p:cNvSpPr>
              <p:nvPr/>
            </p:nvSpPr>
            <p:spPr bwMode="auto">
              <a:xfrm>
                <a:off x="839" y="2024"/>
                <a:ext cx="136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b="1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</p:grpSp>
        <p:sp>
          <p:nvSpPr>
            <p:cNvPr id="14394" name="Text Box 13"/>
            <p:cNvSpPr txBox="1">
              <a:spLocks noChangeArrowheads="1"/>
            </p:cNvSpPr>
            <p:nvPr/>
          </p:nvSpPr>
          <p:spPr bwMode="auto">
            <a:xfrm>
              <a:off x="249" y="2299"/>
              <a:ext cx="17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95" name="Text Box 14"/>
            <p:cNvSpPr txBox="1">
              <a:spLocks noChangeArrowheads="1"/>
            </p:cNvSpPr>
            <p:nvPr/>
          </p:nvSpPr>
          <p:spPr bwMode="auto">
            <a:xfrm>
              <a:off x="249" y="2481"/>
              <a:ext cx="17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96" name="Text Box 15"/>
            <p:cNvSpPr txBox="1">
              <a:spLocks noChangeArrowheads="1"/>
            </p:cNvSpPr>
            <p:nvPr/>
          </p:nvSpPr>
          <p:spPr bwMode="auto">
            <a:xfrm>
              <a:off x="1020" y="2390"/>
              <a:ext cx="173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5" name="Rectangle 65"/>
          <p:cNvSpPr>
            <a:spLocks noChangeArrowheads="1"/>
          </p:cNvSpPr>
          <p:nvPr/>
        </p:nvSpPr>
        <p:spPr bwMode="auto">
          <a:xfrm>
            <a:off x="6303028" y="1101487"/>
            <a:ext cx="3360737" cy="824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chemeClr val="tx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OR-gate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A II B</a:t>
            </a:r>
          </a:p>
        </p:txBody>
      </p:sp>
      <p:sp>
        <p:nvSpPr>
          <p:cNvPr id="14346" name="Rectangle 66"/>
          <p:cNvSpPr>
            <a:spLocks noChangeArrowheads="1"/>
          </p:cNvSpPr>
          <p:nvPr/>
        </p:nvSpPr>
        <p:spPr bwMode="auto">
          <a:xfrm>
            <a:off x="6230002" y="3524986"/>
            <a:ext cx="4679951" cy="911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endParaRPr lang="en-US" altLang="zh-TW" sz="2133" dirty="0">
              <a:solidFill>
                <a:prstClr val="black"/>
              </a:solidFill>
              <a:latin typeface="Calibri" panose="020F0702030404030204" pitchFamily="34" charset="0"/>
              <a:cs typeface="Calibri" panose="020F0702030404030204" pitchFamily="34" charset="0"/>
            </a:endParaRPr>
          </a:p>
        </p:txBody>
      </p:sp>
      <p:sp>
        <p:nvSpPr>
          <p:cNvPr id="6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17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11518A-3A6F-47F1-953F-F14CD0E405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0409" y="2107181"/>
            <a:ext cx="1047896" cy="1225833"/>
          </a:xfrm>
          <a:prstGeom prst="rect">
            <a:avLst/>
          </a:prstGeom>
        </p:spPr>
      </p:pic>
      <p:sp>
        <p:nvSpPr>
          <p:cNvPr id="70" name="Text Box 13">
            <a:extLst>
              <a:ext uri="{FF2B5EF4-FFF2-40B4-BE49-F238E27FC236}">
                <a16:creationId xmlns:a16="http://schemas.microsoft.com/office/drawing/2014/main" id="{1F18199F-9063-4A06-B3D5-149EA3D270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5234" y="2158533"/>
            <a:ext cx="350939" cy="370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</a:t>
            </a:r>
            <a:endParaRPr lang="en-AU" altLang="zh-TW" sz="1800" dirty="0">
              <a:solidFill>
                <a:prstClr val="black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71" name="Text Box 14">
            <a:extLst>
              <a:ext uri="{FF2B5EF4-FFF2-40B4-BE49-F238E27FC236}">
                <a16:creationId xmlns:a16="http://schemas.microsoft.com/office/drawing/2014/main" id="{789DD6E6-F8A8-430E-B405-7C98019B2E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9218" y="2595984"/>
            <a:ext cx="350939" cy="370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B</a:t>
            </a:r>
            <a:endParaRPr lang="en-AU" altLang="zh-TW" sz="1800" dirty="0">
              <a:solidFill>
                <a:prstClr val="black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72" name="Text Box 15">
            <a:extLst>
              <a:ext uri="{FF2B5EF4-FFF2-40B4-BE49-F238E27FC236}">
                <a16:creationId xmlns:a16="http://schemas.microsoft.com/office/drawing/2014/main" id="{EAF23781-1447-4495-A6A8-629858ABB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99902" y="2403333"/>
            <a:ext cx="339176" cy="370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Y</a:t>
            </a:r>
            <a:endParaRPr lang="en-AU" altLang="zh-TW" sz="1800" dirty="0">
              <a:solidFill>
                <a:prstClr val="black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73" name="Rectangle 65">
            <a:extLst>
              <a:ext uri="{FF2B5EF4-FFF2-40B4-BE49-F238E27FC236}">
                <a16:creationId xmlns:a16="http://schemas.microsoft.com/office/drawing/2014/main" id="{C830554B-EAB8-44AE-8ECF-1B357AC3E3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14096" y="3580985"/>
            <a:ext cx="3360737" cy="824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chemeClr val="tx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Not-gate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!A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E25800-84B4-4180-BAB6-D9E701FAF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3721" y="4679868"/>
            <a:ext cx="1600423" cy="885949"/>
          </a:xfrm>
          <a:prstGeom prst="rect">
            <a:avLst/>
          </a:prstGeom>
        </p:spPr>
      </p:pic>
      <p:sp>
        <p:nvSpPr>
          <p:cNvPr id="76" name="Text Box 13">
            <a:extLst>
              <a:ext uri="{FF2B5EF4-FFF2-40B4-BE49-F238E27FC236}">
                <a16:creationId xmlns:a16="http://schemas.microsoft.com/office/drawing/2014/main" id="{C4C8B2A9-338D-485B-BF67-A5ADA1B905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48307" y="4907362"/>
            <a:ext cx="350939" cy="370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</a:t>
            </a:r>
            <a:endParaRPr lang="en-AU" altLang="zh-TW" sz="1800" dirty="0">
              <a:solidFill>
                <a:prstClr val="black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77" name="Text Box 15">
            <a:extLst>
              <a:ext uri="{FF2B5EF4-FFF2-40B4-BE49-F238E27FC236}">
                <a16:creationId xmlns:a16="http://schemas.microsoft.com/office/drawing/2014/main" id="{96E0E6B2-2199-4B4E-9E1D-112CE4F229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4968" y="4912046"/>
            <a:ext cx="339176" cy="370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lang="en-US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Y</a:t>
            </a:r>
            <a:endParaRPr lang="en-AU" altLang="zh-TW" sz="1800" dirty="0">
              <a:solidFill>
                <a:prstClr val="black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B5E85E-DCB7-48B9-A12C-4AB9F97B2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695" y="4558683"/>
            <a:ext cx="3000794" cy="1228896"/>
          </a:xfrm>
          <a:prstGeom prst="rect">
            <a:avLst/>
          </a:prstGeom>
        </p:spPr>
      </p:pic>
      <p:sp>
        <p:nvSpPr>
          <p:cNvPr id="80" name="Rectangle 65">
            <a:extLst>
              <a:ext uri="{FF2B5EF4-FFF2-40B4-BE49-F238E27FC236}">
                <a16:creationId xmlns:a16="http://schemas.microsoft.com/office/drawing/2014/main" id="{390A8C09-DA03-4ED3-B9EE-68FCF5901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752" y="3831558"/>
            <a:ext cx="3360737" cy="824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chemeClr val="tx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XOR and XNOR</a:t>
            </a:r>
          </a:p>
        </p:txBody>
      </p:sp>
    </p:spTree>
    <p:extLst>
      <p:ext uri="{BB962C8B-B14F-4D97-AF65-F5344CB8AC3E}">
        <p14:creationId xmlns:p14="http://schemas.microsoft.com/office/powerpoint/2010/main" val="2758604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321655" y="58739"/>
            <a:ext cx="8984397" cy="901700"/>
          </a:xfrm>
        </p:spPr>
        <p:txBody>
          <a:bodyPr/>
          <a:lstStyle/>
          <a:p>
            <a:r>
              <a:rPr lang="en-US" altLang="zh-TW" dirty="0"/>
              <a:t>4.2.2 Combinational Elements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grpSp>
        <p:nvGrpSpPr>
          <p:cNvPr id="14341" name="Group 16"/>
          <p:cNvGrpSpPr/>
          <p:nvPr/>
        </p:nvGrpSpPr>
        <p:grpSpPr bwMode="auto">
          <a:xfrm>
            <a:off x="7096230" y="2004724"/>
            <a:ext cx="1855777" cy="1445318"/>
            <a:chOff x="113" y="2840"/>
            <a:chExt cx="822" cy="774"/>
          </a:xfrm>
        </p:grpSpPr>
        <p:sp>
          <p:nvSpPr>
            <p:cNvPr id="14378" name="Line 17"/>
            <p:cNvSpPr>
              <a:spLocks noChangeShapeType="1"/>
            </p:cNvSpPr>
            <p:nvPr/>
          </p:nvSpPr>
          <p:spPr bwMode="auto">
            <a:xfrm>
              <a:off x="340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9" name="Line 18"/>
            <p:cNvSpPr>
              <a:spLocks noChangeShapeType="1"/>
            </p:cNvSpPr>
            <p:nvPr/>
          </p:nvSpPr>
          <p:spPr bwMode="auto">
            <a:xfrm>
              <a:off x="340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0" name="Line 19"/>
            <p:cNvSpPr>
              <a:spLocks noChangeShapeType="1"/>
            </p:cNvSpPr>
            <p:nvPr/>
          </p:nvSpPr>
          <p:spPr bwMode="auto">
            <a:xfrm>
              <a:off x="657" y="3067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1" name="Text Box 20"/>
            <p:cNvSpPr txBox="1">
              <a:spLocks noChangeArrowheads="1"/>
            </p:cNvSpPr>
            <p:nvPr/>
          </p:nvSpPr>
          <p:spPr bwMode="auto">
            <a:xfrm>
              <a:off x="113" y="2843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I0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2" name="Text Box 21"/>
            <p:cNvSpPr txBox="1">
              <a:spLocks noChangeArrowheads="1"/>
            </p:cNvSpPr>
            <p:nvPr/>
          </p:nvSpPr>
          <p:spPr bwMode="auto">
            <a:xfrm>
              <a:off x="113" y="3025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I1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3" name="Text Box 22"/>
            <p:cNvSpPr txBox="1">
              <a:spLocks noChangeArrowheads="1"/>
            </p:cNvSpPr>
            <p:nvPr/>
          </p:nvSpPr>
          <p:spPr bwMode="auto">
            <a:xfrm>
              <a:off x="793" y="2934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4" name="Line 23"/>
            <p:cNvSpPr>
              <a:spLocks noChangeShapeType="1"/>
            </p:cNvSpPr>
            <p:nvPr/>
          </p:nvSpPr>
          <p:spPr bwMode="auto">
            <a:xfrm>
              <a:off x="476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5" name="Arc 24"/>
            <p:cNvSpPr/>
            <p:nvPr/>
          </p:nvSpPr>
          <p:spPr bwMode="auto">
            <a:xfrm>
              <a:off x="567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6" name="Arc 25"/>
            <p:cNvSpPr/>
            <p:nvPr/>
          </p:nvSpPr>
          <p:spPr bwMode="auto">
            <a:xfrm flipH="1">
              <a:off x="476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7" name="Arc 26"/>
            <p:cNvSpPr/>
            <p:nvPr/>
          </p:nvSpPr>
          <p:spPr bwMode="auto">
            <a:xfrm flipV="1">
              <a:off x="567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8" name="Arc 27"/>
            <p:cNvSpPr/>
            <p:nvPr/>
          </p:nvSpPr>
          <p:spPr bwMode="auto">
            <a:xfrm flipH="1" flipV="1">
              <a:off x="476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9" name="Line 28"/>
            <p:cNvSpPr>
              <a:spLocks noChangeShapeType="1"/>
            </p:cNvSpPr>
            <p:nvPr/>
          </p:nvSpPr>
          <p:spPr bwMode="auto">
            <a:xfrm>
              <a:off x="657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0" name="Text Box 29"/>
            <p:cNvSpPr txBox="1">
              <a:spLocks noChangeArrowheads="1"/>
            </p:cNvSpPr>
            <p:nvPr/>
          </p:nvSpPr>
          <p:spPr bwMode="auto">
            <a:xfrm>
              <a:off x="476" y="2840"/>
              <a:ext cx="181" cy="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3600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algn="ctr"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</a:t>
              </a:r>
              <a:b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u</a:t>
              </a:r>
              <a:b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x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91" name="Line 30"/>
            <p:cNvSpPr>
              <a:spLocks noChangeShapeType="1"/>
            </p:cNvSpPr>
            <p:nvPr/>
          </p:nvSpPr>
          <p:spPr bwMode="auto">
            <a:xfrm flipV="1">
              <a:off x="567" y="329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2" name="Text Box 31"/>
            <p:cNvSpPr txBox="1">
              <a:spLocks noChangeArrowheads="1"/>
            </p:cNvSpPr>
            <p:nvPr/>
          </p:nvSpPr>
          <p:spPr bwMode="auto">
            <a:xfrm>
              <a:off x="461" y="3433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S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2" name="Rectangle 32"/>
          <p:cNvSpPr>
            <a:spLocks noChangeArrowheads="1"/>
          </p:cNvSpPr>
          <p:nvPr/>
        </p:nvSpPr>
        <p:spPr bwMode="auto">
          <a:xfrm>
            <a:off x="6082513" y="1071058"/>
            <a:ext cx="3509963" cy="781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Multiplexer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S ? I1 : I0</a:t>
            </a:r>
            <a:endParaRPr lang="en-AU" altLang="zh-TW" sz="2133" dirty="0">
              <a:solidFill>
                <a:prstClr val="black"/>
              </a:solidFill>
              <a:latin typeface="Calibri" panose="020F0702030404030204" pitchFamily="34" charset="0"/>
              <a:ea typeface="新細明體" panose="02020500000000000000" pitchFamily="18" charset="-120"/>
              <a:cs typeface="Calibri" panose="020F0702030404030204" pitchFamily="34" charset="0"/>
            </a:endParaRPr>
          </a:p>
        </p:txBody>
      </p:sp>
      <p:grpSp>
        <p:nvGrpSpPr>
          <p:cNvPr id="14343" name="Group 33"/>
          <p:cNvGrpSpPr/>
          <p:nvPr/>
        </p:nvGrpSpPr>
        <p:grpSpPr bwMode="auto">
          <a:xfrm>
            <a:off x="2331692" y="2031213"/>
            <a:ext cx="1714085" cy="1031875"/>
            <a:chOff x="1111" y="2649"/>
            <a:chExt cx="996" cy="650"/>
          </a:xfrm>
        </p:grpSpPr>
        <p:sp>
          <p:nvSpPr>
            <p:cNvPr id="14364" name="Line 34"/>
            <p:cNvSpPr>
              <a:spLocks noChangeShapeType="1"/>
            </p:cNvSpPr>
            <p:nvPr/>
          </p:nvSpPr>
          <p:spPr bwMode="auto">
            <a:xfrm>
              <a:off x="1338" y="2795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5" name="Line 35"/>
            <p:cNvSpPr>
              <a:spLocks noChangeShapeType="1"/>
            </p:cNvSpPr>
            <p:nvPr/>
          </p:nvSpPr>
          <p:spPr bwMode="auto">
            <a:xfrm>
              <a:off x="1338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6" name="Line 36"/>
            <p:cNvSpPr>
              <a:spLocks noChangeShapeType="1"/>
            </p:cNvSpPr>
            <p:nvPr/>
          </p:nvSpPr>
          <p:spPr bwMode="auto">
            <a:xfrm>
              <a:off x="1791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7" name="Text Box 37"/>
            <p:cNvSpPr txBox="1">
              <a:spLocks noChangeArrowheads="1"/>
            </p:cNvSpPr>
            <p:nvPr/>
          </p:nvSpPr>
          <p:spPr bwMode="auto">
            <a:xfrm>
              <a:off x="1111" y="2662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8" name="Text Box 38"/>
            <p:cNvSpPr txBox="1">
              <a:spLocks noChangeArrowheads="1"/>
            </p:cNvSpPr>
            <p:nvPr/>
          </p:nvSpPr>
          <p:spPr bwMode="auto">
            <a:xfrm>
              <a:off x="1111" y="3066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9" name="Text Box 39"/>
            <p:cNvSpPr txBox="1">
              <a:spLocks noChangeArrowheads="1"/>
            </p:cNvSpPr>
            <p:nvPr/>
          </p:nvSpPr>
          <p:spPr bwMode="auto">
            <a:xfrm>
              <a:off x="1910" y="2843"/>
              <a:ext cx="197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70" name="Line 40"/>
            <p:cNvSpPr>
              <a:spLocks noChangeShapeType="1"/>
            </p:cNvSpPr>
            <p:nvPr/>
          </p:nvSpPr>
          <p:spPr bwMode="auto">
            <a:xfrm>
              <a:off x="1474" y="2659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1" name="Line 41"/>
            <p:cNvSpPr>
              <a:spLocks noChangeShapeType="1"/>
            </p:cNvSpPr>
            <p:nvPr/>
          </p:nvSpPr>
          <p:spPr bwMode="auto">
            <a:xfrm>
              <a:off x="1474" y="3067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2" name="Line 42"/>
            <p:cNvSpPr>
              <a:spLocks noChangeShapeType="1"/>
            </p:cNvSpPr>
            <p:nvPr/>
          </p:nvSpPr>
          <p:spPr bwMode="auto">
            <a:xfrm>
              <a:off x="1474" y="2886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 flipH="1">
              <a:off x="1474" y="2976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1479" y="2649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 flipV="1">
              <a:off x="1474" y="3113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1791" y="2840"/>
              <a:ext cx="0" cy="27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7" name="Text Box 47"/>
            <p:cNvSpPr txBox="1">
              <a:spLocks noChangeArrowheads="1"/>
            </p:cNvSpPr>
            <p:nvPr/>
          </p:nvSpPr>
          <p:spPr bwMode="auto">
            <a:xfrm>
              <a:off x="1620" y="2889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+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grpSp>
        <p:nvGrpSpPr>
          <p:cNvPr id="14344" name="Group 48"/>
          <p:cNvGrpSpPr/>
          <p:nvPr/>
        </p:nvGrpSpPr>
        <p:grpSpPr bwMode="auto">
          <a:xfrm>
            <a:off x="2360622" y="4268052"/>
            <a:ext cx="1668820" cy="1521802"/>
            <a:chOff x="2699" y="2750"/>
            <a:chExt cx="1045" cy="995"/>
          </a:xfrm>
        </p:grpSpPr>
        <p:sp>
          <p:nvSpPr>
            <p:cNvPr id="14348" name="Line 49"/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49" name="Line 50"/>
            <p:cNvSpPr>
              <a:spLocks noChangeShapeType="1"/>
            </p:cNvSpPr>
            <p:nvPr/>
          </p:nvSpPr>
          <p:spPr bwMode="auto">
            <a:xfrm>
              <a:off x="2926" y="3339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0" name="Line 51"/>
            <p:cNvSpPr>
              <a:spLocks noChangeShapeType="1"/>
            </p:cNvSpPr>
            <p:nvPr/>
          </p:nvSpPr>
          <p:spPr bwMode="auto">
            <a:xfrm>
              <a:off x="3424" y="3113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1" name="Text Box 52"/>
            <p:cNvSpPr txBox="1">
              <a:spLocks noChangeArrowheads="1"/>
            </p:cNvSpPr>
            <p:nvPr/>
          </p:nvSpPr>
          <p:spPr bwMode="auto">
            <a:xfrm>
              <a:off x="2699" y="2753"/>
              <a:ext cx="208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2" name="Text Box 53"/>
            <p:cNvSpPr txBox="1">
              <a:spLocks noChangeArrowheads="1"/>
            </p:cNvSpPr>
            <p:nvPr/>
          </p:nvSpPr>
          <p:spPr bwMode="auto">
            <a:xfrm>
              <a:off x="2699" y="3247"/>
              <a:ext cx="208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3" name="Text Box 54"/>
            <p:cNvSpPr txBox="1">
              <a:spLocks noChangeArrowheads="1"/>
            </p:cNvSpPr>
            <p:nvPr/>
          </p:nvSpPr>
          <p:spPr bwMode="auto">
            <a:xfrm>
              <a:off x="3543" y="2979"/>
              <a:ext cx="201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4" name="Line 55"/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5" name="Line 56"/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6" name="Line 57"/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7" name="Line 58"/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8" name="Line 59"/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9" name="Line 60"/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0" name="Line 61"/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1" name="Text Box 62"/>
            <p:cNvSpPr txBox="1">
              <a:spLocks noChangeArrowheads="1"/>
            </p:cNvSpPr>
            <p:nvPr/>
          </p:nvSpPr>
          <p:spPr bwMode="auto">
            <a:xfrm>
              <a:off x="3152" y="3025"/>
              <a:ext cx="263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2" name="Line 63"/>
            <p:cNvSpPr>
              <a:spLocks noChangeShapeType="1"/>
            </p:cNvSpPr>
            <p:nvPr/>
          </p:nvSpPr>
          <p:spPr bwMode="auto">
            <a:xfrm>
              <a:off x="3243" y="3385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3" name="Text Box 64"/>
            <p:cNvSpPr txBox="1">
              <a:spLocks noChangeArrowheads="1"/>
            </p:cNvSpPr>
            <p:nvPr/>
          </p:nvSpPr>
          <p:spPr bwMode="auto">
            <a:xfrm>
              <a:off x="3152" y="3524"/>
              <a:ext cx="194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F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5" name="Rectangle 65"/>
          <p:cNvSpPr>
            <a:spLocks noChangeArrowheads="1"/>
          </p:cNvSpPr>
          <p:nvPr/>
        </p:nvSpPr>
        <p:spPr bwMode="auto">
          <a:xfrm>
            <a:off x="1768766" y="1103756"/>
            <a:ext cx="3360737" cy="824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Adder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A + B</a:t>
            </a:r>
          </a:p>
        </p:txBody>
      </p:sp>
      <p:sp>
        <p:nvSpPr>
          <p:cNvPr id="14346" name="Rectangle 66"/>
          <p:cNvSpPr>
            <a:spLocks noChangeArrowheads="1"/>
          </p:cNvSpPr>
          <p:nvPr/>
        </p:nvSpPr>
        <p:spPr bwMode="auto">
          <a:xfrm>
            <a:off x="1779591" y="3269296"/>
            <a:ext cx="4679951" cy="911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Arithmetic/Logic Unit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F(A, B)</a:t>
            </a:r>
          </a:p>
        </p:txBody>
      </p:sp>
      <p:sp>
        <p:nvSpPr>
          <p:cNvPr id="6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18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CF5BCC-DCAC-41D2-90E6-68B79BFC1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684" y="3486956"/>
            <a:ext cx="2896004" cy="2600688"/>
          </a:xfrm>
          <a:prstGeom prst="rect">
            <a:avLst/>
          </a:prstGeom>
        </p:spPr>
      </p:pic>
      <p:sp>
        <p:nvSpPr>
          <p:cNvPr id="72" name="Rectangle 32">
            <a:extLst>
              <a:ext uri="{FF2B5EF4-FFF2-40B4-BE49-F238E27FC236}">
                <a16:creationId xmlns:a16="http://schemas.microsoft.com/office/drawing/2014/main" id="{0AA5FBCC-92BD-4953-9674-0B4F15F6C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58584" y="3394331"/>
            <a:ext cx="3509963" cy="14728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Comparator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L = A &lt; B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E = A == B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G = A &gt; B</a:t>
            </a:r>
            <a:endParaRPr lang="en-AU" altLang="zh-TW" sz="2133" dirty="0">
              <a:solidFill>
                <a:prstClr val="black"/>
              </a:solidFill>
              <a:latin typeface="Calibri" panose="020F0702030404030204" pitchFamily="34" charset="0"/>
              <a:ea typeface="新細明體" panose="02020500000000000000" pitchFamily="18" charset="-120"/>
              <a:cs typeface="Calibri" panose="020F0702030404030204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321655" y="58739"/>
            <a:ext cx="8984397" cy="901700"/>
          </a:xfrm>
        </p:spPr>
        <p:txBody>
          <a:bodyPr/>
          <a:lstStyle/>
          <a:p>
            <a:r>
              <a:rPr lang="en-US" altLang="zh-TW" dirty="0"/>
              <a:t>4.2.2 Combinational Elements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grpSp>
        <p:nvGrpSpPr>
          <p:cNvPr id="14341" name="Group 16"/>
          <p:cNvGrpSpPr/>
          <p:nvPr/>
        </p:nvGrpSpPr>
        <p:grpSpPr bwMode="auto">
          <a:xfrm>
            <a:off x="7096230" y="2004724"/>
            <a:ext cx="1855777" cy="1445318"/>
            <a:chOff x="113" y="2840"/>
            <a:chExt cx="822" cy="774"/>
          </a:xfrm>
        </p:grpSpPr>
        <p:sp>
          <p:nvSpPr>
            <p:cNvPr id="14378" name="Line 17"/>
            <p:cNvSpPr>
              <a:spLocks noChangeShapeType="1"/>
            </p:cNvSpPr>
            <p:nvPr/>
          </p:nvSpPr>
          <p:spPr bwMode="auto">
            <a:xfrm>
              <a:off x="340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9" name="Line 18"/>
            <p:cNvSpPr>
              <a:spLocks noChangeShapeType="1"/>
            </p:cNvSpPr>
            <p:nvPr/>
          </p:nvSpPr>
          <p:spPr bwMode="auto">
            <a:xfrm>
              <a:off x="340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0" name="Line 19"/>
            <p:cNvSpPr>
              <a:spLocks noChangeShapeType="1"/>
            </p:cNvSpPr>
            <p:nvPr/>
          </p:nvSpPr>
          <p:spPr bwMode="auto">
            <a:xfrm>
              <a:off x="657" y="3067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1" name="Text Box 20"/>
            <p:cNvSpPr txBox="1">
              <a:spLocks noChangeArrowheads="1"/>
            </p:cNvSpPr>
            <p:nvPr/>
          </p:nvSpPr>
          <p:spPr bwMode="auto">
            <a:xfrm>
              <a:off x="113" y="2843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I0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2" name="Text Box 21"/>
            <p:cNvSpPr txBox="1">
              <a:spLocks noChangeArrowheads="1"/>
            </p:cNvSpPr>
            <p:nvPr/>
          </p:nvSpPr>
          <p:spPr bwMode="auto">
            <a:xfrm>
              <a:off x="113" y="3025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I1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3" name="Text Box 22"/>
            <p:cNvSpPr txBox="1">
              <a:spLocks noChangeArrowheads="1"/>
            </p:cNvSpPr>
            <p:nvPr/>
          </p:nvSpPr>
          <p:spPr bwMode="auto">
            <a:xfrm>
              <a:off x="793" y="2934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4" name="Line 23"/>
            <p:cNvSpPr>
              <a:spLocks noChangeShapeType="1"/>
            </p:cNvSpPr>
            <p:nvPr/>
          </p:nvSpPr>
          <p:spPr bwMode="auto">
            <a:xfrm>
              <a:off x="476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5" name="Arc 24"/>
            <p:cNvSpPr/>
            <p:nvPr/>
          </p:nvSpPr>
          <p:spPr bwMode="auto">
            <a:xfrm>
              <a:off x="567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6" name="Arc 25"/>
            <p:cNvSpPr/>
            <p:nvPr/>
          </p:nvSpPr>
          <p:spPr bwMode="auto">
            <a:xfrm flipH="1">
              <a:off x="476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7" name="Arc 26"/>
            <p:cNvSpPr/>
            <p:nvPr/>
          </p:nvSpPr>
          <p:spPr bwMode="auto">
            <a:xfrm flipV="1">
              <a:off x="567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8" name="Arc 27"/>
            <p:cNvSpPr/>
            <p:nvPr/>
          </p:nvSpPr>
          <p:spPr bwMode="auto">
            <a:xfrm flipH="1" flipV="1">
              <a:off x="476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9" name="Line 28"/>
            <p:cNvSpPr>
              <a:spLocks noChangeShapeType="1"/>
            </p:cNvSpPr>
            <p:nvPr/>
          </p:nvSpPr>
          <p:spPr bwMode="auto">
            <a:xfrm>
              <a:off x="657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0" name="Text Box 29"/>
            <p:cNvSpPr txBox="1">
              <a:spLocks noChangeArrowheads="1"/>
            </p:cNvSpPr>
            <p:nvPr/>
          </p:nvSpPr>
          <p:spPr bwMode="auto">
            <a:xfrm>
              <a:off x="476" y="2840"/>
              <a:ext cx="181" cy="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3600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algn="ctr"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</a:t>
              </a:r>
              <a:b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u</a:t>
              </a:r>
              <a:b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x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91" name="Line 30"/>
            <p:cNvSpPr>
              <a:spLocks noChangeShapeType="1"/>
            </p:cNvSpPr>
            <p:nvPr/>
          </p:nvSpPr>
          <p:spPr bwMode="auto">
            <a:xfrm flipV="1">
              <a:off x="567" y="329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2" name="Text Box 31"/>
            <p:cNvSpPr txBox="1">
              <a:spLocks noChangeArrowheads="1"/>
            </p:cNvSpPr>
            <p:nvPr/>
          </p:nvSpPr>
          <p:spPr bwMode="auto">
            <a:xfrm>
              <a:off x="461" y="3433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S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2" name="Rectangle 32"/>
          <p:cNvSpPr>
            <a:spLocks noChangeArrowheads="1"/>
          </p:cNvSpPr>
          <p:nvPr/>
        </p:nvSpPr>
        <p:spPr bwMode="auto">
          <a:xfrm>
            <a:off x="6082513" y="1071058"/>
            <a:ext cx="5870304" cy="781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Multiplexer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S ? I1 : I0    or   Y=(S</a:t>
            </a:r>
            <a:r>
              <a:rPr lang="en-US" altLang="zh-TW" sz="2000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&amp;&amp;</a:t>
            </a: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I0)||(!S</a:t>
            </a:r>
            <a:r>
              <a:rPr lang="en-US" altLang="zh-TW" sz="2000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&amp;&amp;</a:t>
            </a: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I1)</a:t>
            </a:r>
            <a:endParaRPr lang="en-AU" altLang="zh-TW" sz="2133" dirty="0">
              <a:solidFill>
                <a:prstClr val="black"/>
              </a:solidFill>
              <a:latin typeface="Calibri" panose="020F0702030404030204" pitchFamily="34" charset="0"/>
              <a:ea typeface="新細明體" panose="02020500000000000000" pitchFamily="18" charset="-120"/>
              <a:cs typeface="Calibri" panose="020F0702030404030204" pitchFamily="34" charset="0"/>
            </a:endParaRPr>
          </a:p>
        </p:txBody>
      </p:sp>
      <p:grpSp>
        <p:nvGrpSpPr>
          <p:cNvPr id="14343" name="Group 33"/>
          <p:cNvGrpSpPr/>
          <p:nvPr/>
        </p:nvGrpSpPr>
        <p:grpSpPr bwMode="auto">
          <a:xfrm>
            <a:off x="2331692" y="2031213"/>
            <a:ext cx="1714085" cy="1031875"/>
            <a:chOff x="1111" y="2649"/>
            <a:chExt cx="996" cy="650"/>
          </a:xfrm>
        </p:grpSpPr>
        <p:sp>
          <p:nvSpPr>
            <p:cNvPr id="14364" name="Line 34"/>
            <p:cNvSpPr>
              <a:spLocks noChangeShapeType="1"/>
            </p:cNvSpPr>
            <p:nvPr/>
          </p:nvSpPr>
          <p:spPr bwMode="auto">
            <a:xfrm>
              <a:off x="1338" y="2795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5" name="Line 35"/>
            <p:cNvSpPr>
              <a:spLocks noChangeShapeType="1"/>
            </p:cNvSpPr>
            <p:nvPr/>
          </p:nvSpPr>
          <p:spPr bwMode="auto">
            <a:xfrm>
              <a:off x="1338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6" name="Line 36"/>
            <p:cNvSpPr>
              <a:spLocks noChangeShapeType="1"/>
            </p:cNvSpPr>
            <p:nvPr/>
          </p:nvSpPr>
          <p:spPr bwMode="auto">
            <a:xfrm>
              <a:off x="1791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7" name="Text Box 37"/>
            <p:cNvSpPr txBox="1">
              <a:spLocks noChangeArrowheads="1"/>
            </p:cNvSpPr>
            <p:nvPr/>
          </p:nvSpPr>
          <p:spPr bwMode="auto">
            <a:xfrm>
              <a:off x="1111" y="2662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8" name="Text Box 38"/>
            <p:cNvSpPr txBox="1">
              <a:spLocks noChangeArrowheads="1"/>
            </p:cNvSpPr>
            <p:nvPr/>
          </p:nvSpPr>
          <p:spPr bwMode="auto">
            <a:xfrm>
              <a:off x="1111" y="3066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9" name="Text Box 39"/>
            <p:cNvSpPr txBox="1">
              <a:spLocks noChangeArrowheads="1"/>
            </p:cNvSpPr>
            <p:nvPr/>
          </p:nvSpPr>
          <p:spPr bwMode="auto">
            <a:xfrm>
              <a:off x="1910" y="2843"/>
              <a:ext cx="197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70" name="Line 40"/>
            <p:cNvSpPr>
              <a:spLocks noChangeShapeType="1"/>
            </p:cNvSpPr>
            <p:nvPr/>
          </p:nvSpPr>
          <p:spPr bwMode="auto">
            <a:xfrm>
              <a:off x="1474" y="2659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1" name="Line 41"/>
            <p:cNvSpPr>
              <a:spLocks noChangeShapeType="1"/>
            </p:cNvSpPr>
            <p:nvPr/>
          </p:nvSpPr>
          <p:spPr bwMode="auto">
            <a:xfrm>
              <a:off x="1474" y="3067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2" name="Line 42"/>
            <p:cNvSpPr>
              <a:spLocks noChangeShapeType="1"/>
            </p:cNvSpPr>
            <p:nvPr/>
          </p:nvSpPr>
          <p:spPr bwMode="auto">
            <a:xfrm>
              <a:off x="1474" y="2886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 flipH="1">
              <a:off x="1474" y="2976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1479" y="2649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 flipV="1">
              <a:off x="1474" y="3113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1791" y="2840"/>
              <a:ext cx="0" cy="27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7" name="Text Box 47"/>
            <p:cNvSpPr txBox="1">
              <a:spLocks noChangeArrowheads="1"/>
            </p:cNvSpPr>
            <p:nvPr/>
          </p:nvSpPr>
          <p:spPr bwMode="auto">
            <a:xfrm>
              <a:off x="1620" y="2889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+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grpSp>
        <p:nvGrpSpPr>
          <p:cNvPr id="14344" name="Group 48"/>
          <p:cNvGrpSpPr/>
          <p:nvPr/>
        </p:nvGrpSpPr>
        <p:grpSpPr bwMode="auto">
          <a:xfrm>
            <a:off x="2360622" y="4268052"/>
            <a:ext cx="1668820" cy="1521802"/>
            <a:chOff x="2699" y="2750"/>
            <a:chExt cx="1045" cy="995"/>
          </a:xfrm>
        </p:grpSpPr>
        <p:sp>
          <p:nvSpPr>
            <p:cNvPr id="14348" name="Line 49"/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49" name="Line 50"/>
            <p:cNvSpPr>
              <a:spLocks noChangeShapeType="1"/>
            </p:cNvSpPr>
            <p:nvPr/>
          </p:nvSpPr>
          <p:spPr bwMode="auto">
            <a:xfrm>
              <a:off x="2926" y="3339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0" name="Line 51"/>
            <p:cNvSpPr>
              <a:spLocks noChangeShapeType="1"/>
            </p:cNvSpPr>
            <p:nvPr/>
          </p:nvSpPr>
          <p:spPr bwMode="auto">
            <a:xfrm>
              <a:off x="3424" y="3113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1" name="Text Box 52"/>
            <p:cNvSpPr txBox="1">
              <a:spLocks noChangeArrowheads="1"/>
            </p:cNvSpPr>
            <p:nvPr/>
          </p:nvSpPr>
          <p:spPr bwMode="auto">
            <a:xfrm>
              <a:off x="2699" y="2753"/>
              <a:ext cx="208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2" name="Text Box 53"/>
            <p:cNvSpPr txBox="1">
              <a:spLocks noChangeArrowheads="1"/>
            </p:cNvSpPr>
            <p:nvPr/>
          </p:nvSpPr>
          <p:spPr bwMode="auto">
            <a:xfrm>
              <a:off x="2699" y="3247"/>
              <a:ext cx="208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3" name="Text Box 54"/>
            <p:cNvSpPr txBox="1">
              <a:spLocks noChangeArrowheads="1"/>
            </p:cNvSpPr>
            <p:nvPr/>
          </p:nvSpPr>
          <p:spPr bwMode="auto">
            <a:xfrm>
              <a:off x="3543" y="2979"/>
              <a:ext cx="201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54" name="Line 55"/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5" name="Line 56"/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6" name="Line 57"/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7" name="Line 58"/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8" name="Line 59"/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59" name="Line 60"/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0" name="Line 61"/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1" name="Text Box 62"/>
            <p:cNvSpPr txBox="1">
              <a:spLocks noChangeArrowheads="1"/>
            </p:cNvSpPr>
            <p:nvPr/>
          </p:nvSpPr>
          <p:spPr bwMode="auto">
            <a:xfrm>
              <a:off x="3152" y="3025"/>
              <a:ext cx="263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2" name="Line 63"/>
            <p:cNvSpPr>
              <a:spLocks noChangeShapeType="1"/>
            </p:cNvSpPr>
            <p:nvPr/>
          </p:nvSpPr>
          <p:spPr bwMode="auto">
            <a:xfrm>
              <a:off x="3243" y="3385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3" name="Text Box 64"/>
            <p:cNvSpPr txBox="1">
              <a:spLocks noChangeArrowheads="1"/>
            </p:cNvSpPr>
            <p:nvPr/>
          </p:nvSpPr>
          <p:spPr bwMode="auto">
            <a:xfrm>
              <a:off x="3152" y="3524"/>
              <a:ext cx="194" cy="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F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5" name="Rectangle 65"/>
          <p:cNvSpPr>
            <a:spLocks noChangeArrowheads="1"/>
          </p:cNvSpPr>
          <p:nvPr/>
        </p:nvSpPr>
        <p:spPr bwMode="auto">
          <a:xfrm>
            <a:off x="1768766" y="1103756"/>
            <a:ext cx="3360737" cy="824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Adder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A + B</a:t>
            </a:r>
          </a:p>
        </p:txBody>
      </p:sp>
      <p:sp>
        <p:nvSpPr>
          <p:cNvPr id="14346" name="Rectangle 66"/>
          <p:cNvSpPr>
            <a:spLocks noChangeArrowheads="1"/>
          </p:cNvSpPr>
          <p:nvPr/>
        </p:nvSpPr>
        <p:spPr bwMode="auto">
          <a:xfrm>
            <a:off x="1779591" y="3269296"/>
            <a:ext cx="4679951" cy="911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Arithmetic/Logic Unit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F(A, B)</a:t>
            </a:r>
            <a:endParaRPr lang="en-US" altLang="zh-TW" sz="2133" dirty="0">
              <a:solidFill>
                <a:prstClr val="black"/>
              </a:solidFill>
              <a:latin typeface="Calibri" panose="020F0702030404030204" pitchFamily="34" charset="0"/>
              <a:cs typeface="Calibri" panose="020F0702030404030204" pitchFamily="34" charset="0"/>
            </a:endParaRPr>
          </a:p>
        </p:txBody>
      </p:sp>
      <p:sp>
        <p:nvSpPr>
          <p:cNvPr id="6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19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CF5BCC-DCAC-41D2-90E6-68B79BFC1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684" y="3486956"/>
            <a:ext cx="2896004" cy="2600688"/>
          </a:xfrm>
          <a:prstGeom prst="rect">
            <a:avLst/>
          </a:prstGeom>
        </p:spPr>
      </p:pic>
      <p:sp>
        <p:nvSpPr>
          <p:cNvPr id="72" name="Rectangle 32">
            <a:extLst>
              <a:ext uri="{FF2B5EF4-FFF2-40B4-BE49-F238E27FC236}">
                <a16:creationId xmlns:a16="http://schemas.microsoft.com/office/drawing/2014/main" id="{0AA5FBCC-92BD-4953-9674-0B4F15F6C9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58584" y="3394331"/>
            <a:ext cx="3509963" cy="14728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Comparator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L = A &lt; B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E = A == B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G = A &gt; B</a:t>
            </a:r>
            <a:endParaRPr lang="en-AU" altLang="zh-TW" sz="2133" dirty="0">
              <a:solidFill>
                <a:prstClr val="black"/>
              </a:solidFill>
              <a:latin typeface="Calibri" panose="020F0702030404030204" pitchFamily="34" charset="0"/>
              <a:ea typeface="新細明體" panose="02020500000000000000" pitchFamily="18" charset="-120"/>
              <a:cs typeface="Calibri" panose="020F0702030404030204" pitchFamily="34" charset="0"/>
            </a:endParaRPr>
          </a:p>
        </p:txBody>
      </p:sp>
      <p:sp>
        <p:nvSpPr>
          <p:cNvPr id="59" name="文本框 1">
            <a:extLst>
              <a:ext uri="{FF2B5EF4-FFF2-40B4-BE49-F238E27FC236}">
                <a16:creationId xmlns:a16="http://schemas.microsoft.com/office/drawing/2014/main" id="{58347391-52E7-4C96-AE41-187C98C42076}"/>
              </a:ext>
            </a:extLst>
          </p:cNvPr>
          <p:cNvSpPr txBox="1"/>
          <p:nvPr/>
        </p:nvSpPr>
        <p:spPr>
          <a:xfrm>
            <a:off x="-7940" y="4003349"/>
            <a:ext cx="10420349" cy="2123658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200" dirty="0"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Logic gates and combinational circuits are always active: if the inputs change, the outputs also change after some delay.</a:t>
            </a:r>
          </a:p>
          <a:p>
            <a:pPr defTabSz="1219170"/>
            <a:endParaRPr lang="en-US" altLang="zh-CN" sz="2200" dirty="0">
              <a:latin typeface="Arial"/>
              <a:ea typeface="標楷體" panose="02010601000101010101" pitchFamily="65" charset="-120"/>
              <a:cs typeface="Calibri" panose="020F0702030404030204" pitchFamily="34" charset="0"/>
            </a:endParaRPr>
          </a:p>
          <a:p>
            <a:pPr defTabSz="1219170"/>
            <a:r>
              <a:rPr lang="en-US" sz="2200" dirty="0">
                <a:solidFill>
                  <a:srgbClr val="111827"/>
                </a:solidFill>
              </a:rPr>
              <a:t>The propagation delay of a combinational circuit is determined by the delay of the critical path, which is the longest path of logic gates from any input to any output.</a:t>
            </a:r>
            <a:endParaRPr lang="en-US" altLang="zh-CN" sz="2200" dirty="0">
              <a:ea typeface="標楷體" panose="02010601000101010101" pitchFamily="65" charset="-120"/>
              <a:cs typeface="Calibri" panose="020F07020304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985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283555" y="51621"/>
            <a:ext cx="10184545" cy="901700"/>
          </a:xfrm>
        </p:spPr>
        <p:txBody>
          <a:bodyPr/>
          <a:lstStyle/>
          <a:p>
            <a:r>
              <a:rPr lang="en-US" altLang="zh-TW" dirty="0"/>
              <a:t>4.2.3 </a:t>
            </a:r>
            <a:r>
              <a:rPr lang="en-US" altLang="zh-TW" sz="4400" dirty="0"/>
              <a:t>Word-Level Combinational Circuits</a:t>
            </a:r>
            <a:endParaRPr lang="en-AU" altLang="zh-TW" sz="4400" dirty="0">
              <a:ea typeface="新細明體" panose="02020500000000000000" pitchFamily="18" charset="-120"/>
            </a:endParaRPr>
          </a:p>
        </p:txBody>
      </p:sp>
      <p:grpSp>
        <p:nvGrpSpPr>
          <p:cNvPr id="14341" name="Group 16"/>
          <p:cNvGrpSpPr/>
          <p:nvPr/>
        </p:nvGrpSpPr>
        <p:grpSpPr bwMode="auto">
          <a:xfrm>
            <a:off x="1085603" y="4768818"/>
            <a:ext cx="1855777" cy="1445318"/>
            <a:chOff x="113" y="2840"/>
            <a:chExt cx="822" cy="774"/>
          </a:xfrm>
        </p:grpSpPr>
        <p:sp>
          <p:nvSpPr>
            <p:cNvPr id="14378" name="Line 17"/>
            <p:cNvSpPr>
              <a:spLocks noChangeShapeType="1"/>
            </p:cNvSpPr>
            <p:nvPr/>
          </p:nvSpPr>
          <p:spPr bwMode="auto">
            <a:xfrm>
              <a:off x="340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9" name="Line 18"/>
            <p:cNvSpPr>
              <a:spLocks noChangeShapeType="1"/>
            </p:cNvSpPr>
            <p:nvPr/>
          </p:nvSpPr>
          <p:spPr bwMode="auto">
            <a:xfrm>
              <a:off x="340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0" name="Line 19"/>
            <p:cNvSpPr>
              <a:spLocks noChangeShapeType="1"/>
            </p:cNvSpPr>
            <p:nvPr/>
          </p:nvSpPr>
          <p:spPr bwMode="auto">
            <a:xfrm>
              <a:off x="657" y="3067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1" name="Text Box 20"/>
            <p:cNvSpPr txBox="1">
              <a:spLocks noChangeArrowheads="1"/>
            </p:cNvSpPr>
            <p:nvPr/>
          </p:nvSpPr>
          <p:spPr bwMode="auto">
            <a:xfrm>
              <a:off x="113" y="2843"/>
              <a:ext cx="147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2" name="Text Box 21"/>
            <p:cNvSpPr txBox="1">
              <a:spLocks noChangeArrowheads="1"/>
            </p:cNvSpPr>
            <p:nvPr/>
          </p:nvSpPr>
          <p:spPr bwMode="auto">
            <a:xfrm>
              <a:off x="113" y="3025"/>
              <a:ext cx="147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3" name="Text Box 22"/>
            <p:cNvSpPr txBox="1">
              <a:spLocks noChangeArrowheads="1"/>
            </p:cNvSpPr>
            <p:nvPr/>
          </p:nvSpPr>
          <p:spPr bwMode="auto">
            <a:xfrm>
              <a:off x="793" y="2934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84" name="Line 23"/>
            <p:cNvSpPr>
              <a:spLocks noChangeShapeType="1"/>
            </p:cNvSpPr>
            <p:nvPr/>
          </p:nvSpPr>
          <p:spPr bwMode="auto">
            <a:xfrm>
              <a:off x="476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5" name="Arc 24"/>
            <p:cNvSpPr/>
            <p:nvPr/>
          </p:nvSpPr>
          <p:spPr bwMode="auto">
            <a:xfrm>
              <a:off x="567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6" name="Arc 25"/>
            <p:cNvSpPr/>
            <p:nvPr/>
          </p:nvSpPr>
          <p:spPr bwMode="auto">
            <a:xfrm flipH="1">
              <a:off x="476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7" name="Arc 26"/>
            <p:cNvSpPr/>
            <p:nvPr/>
          </p:nvSpPr>
          <p:spPr bwMode="auto">
            <a:xfrm flipV="1">
              <a:off x="567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8" name="Arc 27"/>
            <p:cNvSpPr/>
            <p:nvPr/>
          </p:nvSpPr>
          <p:spPr bwMode="auto">
            <a:xfrm flipH="1" flipV="1">
              <a:off x="476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89" name="Line 28"/>
            <p:cNvSpPr>
              <a:spLocks noChangeShapeType="1"/>
            </p:cNvSpPr>
            <p:nvPr/>
          </p:nvSpPr>
          <p:spPr bwMode="auto">
            <a:xfrm>
              <a:off x="657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0" name="Text Box 29"/>
            <p:cNvSpPr txBox="1">
              <a:spLocks noChangeArrowheads="1"/>
            </p:cNvSpPr>
            <p:nvPr/>
          </p:nvSpPr>
          <p:spPr bwMode="auto">
            <a:xfrm>
              <a:off x="476" y="2840"/>
              <a:ext cx="181" cy="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3600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algn="ctr"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</a:t>
              </a:r>
              <a:b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u</a:t>
              </a:r>
              <a:b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x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91" name="Line 30"/>
            <p:cNvSpPr>
              <a:spLocks noChangeShapeType="1"/>
            </p:cNvSpPr>
            <p:nvPr/>
          </p:nvSpPr>
          <p:spPr bwMode="auto">
            <a:xfrm flipV="1">
              <a:off x="567" y="329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92" name="Text Box 31"/>
            <p:cNvSpPr txBox="1">
              <a:spLocks noChangeArrowheads="1"/>
            </p:cNvSpPr>
            <p:nvPr/>
          </p:nvSpPr>
          <p:spPr bwMode="auto">
            <a:xfrm>
              <a:off x="461" y="3433"/>
              <a:ext cx="13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s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2" name="Rectangle 32"/>
          <p:cNvSpPr>
            <a:spLocks noChangeArrowheads="1"/>
          </p:cNvSpPr>
          <p:nvPr/>
        </p:nvSpPr>
        <p:spPr bwMode="auto">
          <a:xfrm>
            <a:off x="359630" y="3804908"/>
            <a:ext cx="5870304" cy="781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Multiplexer</a:t>
            </a:r>
          </a:p>
          <a:p>
            <a:pPr marL="990575" lvl="1" indent="-380990" defTabSz="1219170">
              <a:buClr>
                <a:srgbClr val="0000FF"/>
              </a:buClr>
              <a:buFont typeface="Arial" panose="020B0604020202090204" pitchFamily="34" charset="0"/>
              <a:buChar char="–"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S ? A : B    </a:t>
            </a:r>
            <a:endParaRPr lang="en-AU" altLang="zh-TW" sz="2133" dirty="0">
              <a:solidFill>
                <a:prstClr val="black"/>
              </a:solidFill>
              <a:latin typeface="Calibri" panose="020F0702030404030204" pitchFamily="34" charset="0"/>
              <a:ea typeface="新細明體" panose="02020500000000000000" pitchFamily="18" charset="-120"/>
              <a:cs typeface="Calibri" panose="020F0702030404030204" pitchFamily="34" charset="0"/>
            </a:endParaRPr>
          </a:p>
        </p:txBody>
      </p:sp>
      <p:grpSp>
        <p:nvGrpSpPr>
          <p:cNvPr id="14343" name="Group 33"/>
          <p:cNvGrpSpPr/>
          <p:nvPr/>
        </p:nvGrpSpPr>
        <p:grpSpPr bwMode="auto">
          <a:xfrm>
            <a:off x="1654095" y="2360730"/>
            <a:ext cx="1714085" cy="1031875"/>
            <a:chOff x="1111" y="2649"/>
            <a:chExt cx="996" cy="650"/>
          </a:xfrm>
        </p:grpSpPr>
        <p:sp>
          <p:nvSpPr>
            <p:cNvPr id="14364" name="Line 34"/>
            <p:cNvSpPr>
              <a:spLocks noChangeShapeType="1"/>
            </p:cNvSpPr>
            <p:nvPr/>
          </p:nvSpPr>
          <p:spPr bwMode="auto">
            <a:xfrm>
              <a:off x="1338" y="2795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5" name="Line 35"/>
            <p:cNvSpPr>
              <a:spLocks noChangeShapeType="1"/>
            </p:cNvSpPr>
            <p:nvPr/>
          </p:nvSpPr>
          <p:spPr bwMode="auto">
            <a:xfrm>
              <a:off x="1338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6" name="Line 36"/>
            <p:cNvSpPr>
              <a:spLocks noChangeShapeType="1"/>
            </p:cNvSpPr>
            <p:nvPr/>
          </p:nvSpPr>
          <p:spPr bwMode="auto">
            <a:xfrm>
              <a:off x="1791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67" name="Text Box 37"/>
            <p:cNvSpPr txBox="1">
              <a:spLocks noChangeArrowheads="1"/>
            </p:cNvSpPr>
            <p:nvPr/>
          </p:nvSpPr>
          <p:spPr bwMode="auto">
            <a:xfrm>
              <a:off x="1111" y="2662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8" name="Text Box 38"/>
            <p:cNvSpPr txBox="1">
              <a:spLocks noChangeArrowheads="1"/>
            </p:cNvSpPr>
            <p:nvPr/>
          </p:nvSpPr>
          <p:spPr bwMode="auto">
            <a:xfrm>
              <a:off x="1111" y="3066"/>
              <a:ext cx="204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69" name="Text Box 39"/>
            <p:cNvSpPr txBox="1">
              <a:spLocks noChangeArrowheads="1"/>
            </p:cNvSpPr>
            <p:nvPr/>
          </p:nvSpPr>
          <p:spPr bwMode="auto">
            <a:xfrm>
              <a:off x="1910" y="2843"/>
              <a:ext cx="197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8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4370" name="Line 40"/>
            <p:cNvSpPr>
              <a:spLocks noChangeShapeType="1"/>
            </p:cNvSpPr>
            <p:nvPr/>
          </p:nvSpPr>
          <p:spPr bwMode="auto">
            <a:xfrm>
              <a:off x="1474" y="2659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1" name="Line 41"/>
            <p:cNvSpPr>
              <a:spLocks noChangeShapeType="1"/>
            </p:cNvSpPr>
            <p:nvPr/>
          </p:nvSpPr>
          <p:spPr bwMode="auto">
            <a:xfrm>
              <a:off x="1474" y="3067"/>
              <a:ext cx="0" cy="227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2" name="Line 42"/>
            <p:cNvSpPr>
              <a:spLocks noChangeShapeType="1"/>
            </p:cNvSpPr>
            <p:nvPr/>
          </p:nvSpPr>
          <p:spPr bwMode="auto">
            <a:xfrm>
              <a:off x="1474" y="2886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 flipH="1">
              <a:off x="1474" y="2976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1479" y="2649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 flipV="1">
              <a:off x="1474" y="3113"/>
              <a:ext cx="317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1791" y="2840"/>
              <a:ext cx="0" cy="27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377" name="Text Box 47"/>
            <p:cNvSpPr txBox="1">
              <a:spLocks noChangeArrowheads="1"/>
            </p:cNvSpPr>
            <p:nvPr/>
          </p:nvSpPr>
          <p:spPr bwMode="auto">
            <a:xfrm>
              <a:off x="1620" y="2889"/>
              <a:ext cx="78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+</a:t>
              </a:r>
              <a:endParaRPr lang="en-AU" altLang="zh-TW" sz="18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4345" name="Rectangle 65"/>
          <p:cNvSpPr>
            <a:spLocks noChangeArrowheads="1"/>
          </p:cNvSpPr>
          <p:nvPr/>
        </p:nvSpPr>
        <p:spPr bwMode="auto">
          <a:xfrm>
            <a:off x="359630" y="1094155"/>
            <a:ext cx="4672811" cy="13512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Adder</a:t>
            </a:r>
          </a:p>
          <a:p>
            <a:pPr marL="0" indent="0" defTabSz="1219170">
              <a:buClr>
                <a:srgbClr val="8064A2"/>
              </a:buClr>
              <a:buNone/>
            </a:pPr>
            <a:endParaRPr lang="en-US" altLang="zh-TW" sz="2133" dirty="0">
              <a:solidFill>
                <a:prstClr val="black"/>
              </a:solidFill>
              <a:latin typeface="Calibri" panose="020F0702030404030204" pitchFamily="34" charset="0"/>
              <a:cs typeface="Calibri" panose="020F0702030404030204" pitchFamily="34" charset="0"/>
            </a:endParaRPr>
          </a:p>
          <a:p>
            <a:pPr marL="0" indent="0" defTabSz="1219170">
              <a:buClr>
                <a:srgbClr val="8064A2"/>
              </a:buClr>
              <a:buNone/>
            </a:pPr>
            <a:r>
              <a:rPr lang="en-US" altLang="zh-TW" sz="2133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Y = A + B  where A and B are </a:t>
            </a:r>
            <a:r>
              <a:rPr lang="en-US" altLang="zh-TW" sz="2133" dirty="0">
                <a:solidFill>
                  <a:srgbClr val="FF0000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words</a:t>
            </a:r>
          </a:p>
        </p:txBody>
      </p:sp>
      <p:sp>
        <p:nvSpPr>
          <p:cNvPr id="6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20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B097C7-B461-4445-9ECA-62307CA0B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2022" y="1094155"/>
            <a:ext cx="6977099" cy="5020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0217A5-AA16-45B7-8A5D-8DCC8DDE648A}"/>
              </a:ext>
            </a:extLst>
          </p:cNvPr>
          <p:cNvSpPr txBox="1"/>
          <p:nvPr/>
        </p:nvSpPr>
        <p:spPr>
          <a:xfrm>
            <a:off x="8560571" y="1224973"/>
            <a:ext cx="2012154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HCL expression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Bool eq= (A == B)</a:t>
            </a:r>
          </a:p>
        </p:txBody>
      </p:sp>
    </p:spTree>
    <p:extLst>
      <p:ext uri="{BB962C8B-B14F-4D97-AF65-F5344CB8AC3E}">
        <p14:creationId xmlns:p14="http://schemas.microsoft.com/office/powerpoint/2010/main" val="1336013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270428" y="58739"/>
            <a:ext cx="9035624" cy="901700"/>
          </a:xfrm>
        </p:spPr>
        <p:txBody>
          <a:bodyPr/>
          <a:lstStyle/>
          <a:p>
            <a:r>
              <a:rPr lang="en-US" altLang="zh-TW" dirty="0"/>
              <a:t>Sequential Elements</a:t>
            </a:r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29447" y="1086012"/>
            <a:ext cx="10614211" cy="1842978"/>
          </a:xfrm>
        </p:spPr>
        <p:txBody>
          <a:bodyPr/>
          <a:lstStyle/>
          <a:p>
            <a:r>
              <a:rPr lang="en-US" altLang="zh-TW" sz="3200" dirty="0"/>
              <a:t>Register: stores data in a circuit</a:t>
            </a:r>
          </a:p>
          <a:p>
            <a:pPr lvl="1"/>
            <a:r>
              <a:rPr lang="en-US" altLang="zh-TW" sz="2600" dirty="0"/>
              <a:t>Use a clock signal to determine when to update the stored value</a:t>
            </a:r>
          </a:p>
          <a:p>
            <a:pPr lvl="1"/>
            <a:r>
              <a:rPr lang="en-US" altLang="zh-TW" sz="2600" dirty="0"/>
              <a:t>Edge-triggered: update when </a:t>
            </a:r>
            <a:r>
              <a:rPr lang="en-US" altLang="zh-TW" sz="2600" dirty="0" err="1"/>
              <a:t>Clk</a:t>
            </a:r>
            <a:r>
              <a:rPr lang="en-US" altLang="zh-TW" sz="2600" dirty="0"/>
              <a:t> changes from 0 to 1</a:t>
            </a:r>
            <a:endParaRPr lang="en-AU" altLang="zh-TW" sz="2600" dirty="0">
              <a:ea typeface="新細明體" panose="02020500000000000000" pitchFamily="18" charset="-120"/>
            </a:endParaRPr>
          </a:p>
        </p:txBody>
      </p:sp>
      <p:grpSp>
        <p:nvGrpSpPr>
          <p:cNvPr id="15364" name="Group 4"/>
          <p:cNvGrpSpPr/>
          <p:nvPr/>
        </p:nvGrpSpPr>
        <p:grpSpPr bwMode="auto">
          <a:xfrm>
            <a:off x="1767489" y="3483501"/>
            <a:ext cx="2566096" cy="1745012"/>
            <a:chOff x="657" y="2296"/>
            <a:chExt cx="1269" cy="771"/>
          </a:xfrm>
        </p:grpSpPr>
        <p:sp>
          <p:nvSpPr>
            <p:cNvPr id="15396" name="Rectangle 5"/>
            <p:cNvSpPr>
              <a:spLocks noChangeArrowheads="1"/>
            </p:cNvSpPr>
            <p:nvPr/>
          </p:nvSpPr>
          <p:spPr bwMode="auto">
            <a:xfrm>
              <a:off x="1111" y="2296"/>
              <a:ext cx="499" cy="77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15397" name="Line 6"/>
            <p:cNvSpPr>
              <a:spLocks noChangeShapeType="1"/>
            </p:cNvSpPr>
            <p:nvPr/>
          </p:nvSpPr>
          <p:spPr bwMode="auto">
            <a:xfrm>
              <a:off x="975" y="247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8" name="Line 7"/>
            <p:cNvSpPr>
              <a:spLocks noChangeShapeType="1"/>
            </p:cNvSpPr>
            <p:nvPr/>
          </p:nvSpPr>
          <p:spPr bwMode="auto">
            <a:xfrm>
              <a:off x="975" y="2886"/>
              <a:ext cx="1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9" name="Line 8"/>
            <p:cNvSpPr>
              <a:spLocks noChangeShapeType="1"/>
            </p:cNvSpPr>
            <p:nvPr/>
          </p:nvSpPr>
          <p:spPr bwMode="auto">
            <a:xfrm>
              <a:off x="1610" y="247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400" name="Text Box 9"/>
            <p:cNvSpPr txBox="1">
              <a:spLocks noChangeArrowheads="1"/>
            </p:cNvSpPr>
            <p:nvPr/>
          </p:nvSpPr>
          <p:spPr bwMode="auto">
            <a:xfrm>
              <a:off x="748" y="2345"/>
              <a:ext cx="174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1" name="Text Box 10"/>
            <p:cNvSpPr txBox="1">
              <a:spLocks noChangeArrowheads="1"/>
            </p:cNvSpPr>
            <p:nvPr/>
          </p:nvSpPr>
          <p:spPr bwMode="auto">
            <a:xfrm>
              <a:off x="657" y="2753"/>
              <a:ext cx="256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2" name="Text Box 11"/>
            <p:cNvSpPr txBox="1">
              <a:spLocks noChangeArrowheads="1"/>
            </p:cNvSpPr>
            <p:nvPr/>
          </p:nvSpPr>
          <p:spPr bwMode="auto">
            <a:xfrm>
              <a:off x="1746" y="2345"/>
              <a:ext cx="180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Q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3" name="Line 12"/>
            <p:cNvSpPr>
              <a:spLocks noChangeShapeType="1"/>
            </p:cNvSpPr>
            <p:nvPr/>
          </p:nvSpPr>
          <p:spPr bwMode="auto">
            <a:xfrm>
              <a:off x="1111" y="2840"/>
              <a:ext cx="91" cy="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404" name="Line 13"/>
            <p:cNvSpPr>
              <a:spLocks noChangeShapeType="1"/>
            </p:cNvSpPr>
            <p:nvPr/>
          </p:nvSpPr>
          <p:spPr bwMode="auto">
            <a:xfrm flipV="1">
              <a:off x="1111" y="2886"/>
              <a:ext cx="91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</p:grpSp>
      <p:grpSp>
        <p:nvGrpSpPr>
          <p:cNvPr id="15365" name="Group 14"/>
          <p:cNvGrpSpPr/>
          <p:nvPr/>
        </p:nvGrpSpPr>
        <p:grpSpPr bwMode="auto">
          <a:xfrm>
            <a:off x="4848225" y="3267601"/>
            <a:ext cx="5704515" cy="2295641"/>
            <a:chOff x="2154" y="2523"/>
            <a:chExt cx="3008" cy="1134"/>
          </a:xfrm>
        </p:grpSpPr>
        <p:sp>
          <p:nvSpPr>
            <p:cNvPr id="15367" name="Line 15"/>
            <p:cNvSpPr>
              <a:spLocks noChangeShapeType="1"/>
            </p:cNvSpPr>
            <p:nvPr/>
          </p:nvSpPr>
          <p:spPr bwMode="auto">
            <a:xfrm>
              <a:off x="2712" y="2614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68" name="Line 16"/>
            <p:cNvSpPr>
              <a:spLocks noChangeShapeType="1"/>
            </p:cNvSpPr>
            <p:nvPr/>
          </p:nvSpPr>
          <p:spPr bwMode="auto">
            <a:xfrm>
              <a:off x="2712" y="2614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69" name="Line 17"/>
            <p:cNvSpPr>
              <a:spLocks noChangeShapeType="1"/>
            </p:cNvSpPr>
            <p:nvPr/>
          </p:nvSpPr>
          <p:spPr bwMode="auto">
            <a:xfrm>
              <a:off x="3256" y="2614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0" name="Line 18"/>
            <p:cNvSpPr>
              <a:spLocks noChangeShapeType="1"/>
            </p:cNvSpPr>
            <p:nvPr/>
          </p:nvSpPr>
          <p:spPr bwMode="auto">
            <a:xfrm>
              <a:off x="3256" y="2795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1" name="Line 19"/>
            <p:cNvSpPr>
              <a:spLocks noChangeShapeType="1"/>
            </p:cNvSpPr>
            <p:nvPr/>
          </p:nvSpPr>
          <p:spPr bwMode="auto">
            <a:xfrm>
              <a:off x="2531" y="2795"/>
              <a:ext cx="181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2" name="Line 20"/>
            <p:cNvSpPr>
              <a:spLocks noChangeShapeType="1"/>
            </p:cNvSpPr>
            <p:nvPr/>
          </p:nvSpPr>
          <p:spPr bwMode="auto">
            <a:xfrm>
              <a:off x="3801" y="2614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3" name="Line 21"/>
            <p:cNvSpPr>
              <a:spLocks noChangeShapeType="1"/>
            </p:cNvSpPr>
            <p:nvPr/>
          </p:nvSpPr>
          <p:spPr bwMode="auto">
            <a:xfrm>
              <a:off x="3801" y="2614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4" name="Line 22"/>
            <p:cNvSpPr>
              <a:spLocks noChangeShapeType="1"/>
            </p:cNvSpPr>
            <p:nvPr/>
          </p:nvSpPr>
          <p:spPr bwMode="auto">
            <a:xfrm>
              <a:off x="4345" y="2614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5" name="Line 23"/>
            <p:cNvSpPr>
              <a:spLocks noChangeShapeType="1"/>
            </p:cNvSpPr>
            <p:nvPr/>
          </p:nvSpPr>
          <p:spPr bwMode="auto">
            <a:xfrm>
              <a:off x="4345" y="2795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6" name="Line 24"/>
            <p:cNvSpPr>
              <a:spLocks noChangeShapeType="1"/>
            </p:cNvSpPr>
            <p:nvPr/>
          </p:nvSpPr>
          <p:spPr bwMode="auto">
            <a:xfrm>
              <a:off x="4889" y="2614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7" name="Line 25"/>
            <p:cNvSpPr>
              <a:spLocks noChangeShapeType="1"/>
            </p:cNvSpPr>
            <p:nvPr/>
          </p:nvSpPr>
          <p:spPr bwMode="auto">
            <a:xfrm flipV="1">
              <a:off x="4890" y="2613"/>
              <a:ext cx="227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8" name="Line 26"/>
            <p:cNvSpPr>
              <a:spLocks noChangeShapeType="1"/>
            </p:cNvSpPr>
            <p:nvPr/>
          </p:nvSpPr>
          <p:spPr bwMode="auto">
            <a:xfrm>
              <a:off x="2531" y="3657"/>
              <a:ext cx="263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79" name="Line 27"/>
            <p:cNvSpPr>
              <a:spLocks noChangeShapeType="1"/>
            </p:cNvSpPr>
            <p:nvPr/>
          </p:nvSpPr>
          <p:spPr bwMode="auto">
            <a:xfrm flipV="1">
              <a:off x="2531" y="2523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0" name="Text Box 28"/>
            <p:cNvSpPr txBox="1">
              <a:spLocks noChangeArrowheads="1"/>
            </p:cNvSpPr>
            <p:nvPr/>
          </p:nvSpPr>
          <p:spPr bwMode="auto">
            <a:xfrm>
              <a:off x="2154" y="2617"/>
              <a:ext cx="253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381" name="Text Box 29"/>
            <p:cNvSpPr txBox="1">
              <a:spLocks noChangeArrowheads="1"/>
            </p:cNvSpPr>
            <p:nvPr/>
          </p:nvSpPr>
          <p:spPr bwMode="auto">
            <a:xfrm>
              <a:off x="2154" y="2949"/>
              <a:ext cx="175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382" name="Text Box 30"/>
            <p:cNvSpPr txBox="1">
              <a:spLocks noChangeArrowheads="1"/>
            </p:cNvSpPr>
            <p:nvPr/>
          </p:nvSpPr>
          <p:spPr bwMode="auto">
            <a:xfrm>
              <a:off x="2154" y="3297"/>
              <a:ext cx="182" cy="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Q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383" name="Freeform 31"/>
            <p:cNvSpPr/>
            <p:nvPr/>
          </p:nvSpPr>
          <p:spPr bwMode="auto">
            <a:xfrm>
              <a:off x="2531" y="2976"/>
              <a:ext cx="635" cy="182"/>
            </a:xfrm>
            <a:custGeom>
              <a:avLst/>
              <a:gdLst>
                <a:gd name="T0" fmla="*/ 0 w 635"/>
                <a:gd name="T1" fmla="*/ 0 h 182"/>
                <a:gd name="T2" fmla="*/ 590 w 635"/>
                <a:gd name="T3" fmla="*/ 0 h 182"/>
                <a:gd name="T4" fmla="*/ 635 w 635"/>
                <a:gd name="T5" fmla="*/ 91 h 182"/>
                <a:gd name="T6" fmla="*/ 590 w 635"/>
                <a:gd name="T7" fmla="*/ 182 h 182"/>
                <a:gd name="T8" fmla="*/ 0 w 635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5"/>
                <a:gd name="T16" fmla="*/ 0 h 182"/>
                <a:gd name="T17" fmla="*/ 635 w 635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5" h="182">
                  <a:moveTo>
                    <a:pt x="0" y="0"/>
                  </a:moveTo>
                  <a:lnTo>
                    <a:pt x="590" y="0"/>
                  </a:lnTo>
                  <a:lnTo>
                    <a:pt x="635" y="91"/>
                  </a:lnTo>
                  <a:lnTo>
                    <a:pt x="590" y="182"/>
                  </a:lnTo>
                  <a:lnTo>
                    <a:pt x="0" y="182"/>
                  </a:lnTo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4" name="Freeform 32"/>
            <p:cNvSpPr/>
            <p:nvPr/>
          </p:nvSpPr>
          <p:spPr bwMode="auto">
            <a:xfrm>
              <a:off x="3166" y="2976"/>
              <a:ext cx="1089" cy="182"/>
            </a:xfrm>
            <a:custGeom>
              <a:avLst/>
              <a:gdLst>
                <a:gd name="T0" fmla="*/ 0 w 1089"/>
                <a:gd name="T1" fmla="*/ 91 h 182"/>
                <a:gd name="T2" fmla="*/ 45 w 1089"/>
                <a:gd name="T3" fmla="*/ 0 h 182"/>
                <a:gd name="T4" fmla="*/ 1043 w 1089"/>
                <a:gd name="T5" fmla="*/ 0 h 182"/>
                <a:gd name="T6" fmla="*/ 1089 w 1089"/>
                <a:gd name="T7" fmla="*/ 91 h 182"/>
                <a:gd name="T8" fmla="*/ 1043 w 1089"/>
                <a:gd name="T9" fmla="*/ 182 h 182"/>
                <a:gd name="T10" fmla="*/ 45 w 1089"/>
                <a:gd name="T11" fmla="*/ 182 h 182"/>
                <a:gd name="T12" fmla="*/ 0 w 1089"/>
                <a:gd name="T13" fmla="*/ 91 h 18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89"/>
                <a:gd name="T22" fmla="*/ 0 h 182"/>
                <a:gd name="T23" fmla="*/ 1089 w 1089"/>
                <a:gd name="T24" fmla="*/ 182 h 18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89" h="182">
                  <a:moveTo>
                    <a:pt x="0" y="91"/>
                  </a:moveTo>
                  <a:lnTo>
                    <a:pt x="45" y="0"/>
                  </a:lnTo>
                  <a:lnTo>
                    <a:pt x="1043" y="0"/>
                  </a:lnTo>
                  <a:lnTo>
                    <a:pt x="1089" y="91"/>
                  </a:lnTo>
                  <a:lnTo>
                    <a:pt x="1043" y="182"/>
                  </a:lnTo>
                  <a:lnTo>
                    <a:pt x="45" y="182"/>
                  </a:lnTo>
                  <a:lnTo>
                    <a:pt x="0" y="91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5" name="Freeform 33"/>
            <p:cNvSpPr/>
            <p:nvPr/>
          </p:nvSpPr>
          <p:spPr bwMode="auto">
            <a:xfrm>
              <a:off x="3892" y="3339"/>
              <a:ext cx="1089" cy="182"/>
            </a:xfrm>
            <a:custGeom>
              <a:avLst/>
              <a:gdLst>
                <a:gd name="T0" fmla="*/ 0 w 1089"/>
                <a:gd name="T1" fmla="*/ 91 h 182"/>
                <a:gd name="T2" fmla="*/ 45 w 1089"/>
                <a:gd name="T3" fmla="*/ 0 h 182"/>
                <a:gd name="T4" fmla="*/ 1043 w 1089"/>
                <a:gd name="T5" fmla="*/ 0 h 182"/>
                <a:gd name="T6" fmla="*/ 1089 w 1089"/>
                <a:gd name="T7" fmla="*/ 91 h 182"/>
                <a:gd name="T8" fmla="*/ 1043 w 1089"/>
                <a:gd name="T9" fmla="*/ 182 h 182"/>
                <a:gd name="T10" fmla="*/ 45 w 1089"/>
                <a:gd name="T11" fmla="*/ 182 h 182"/>
                <a:gd name="T12" fmla="*/ 0 w 1089"/>
                <a:gd name="T13" fmla="*/ 91 h 18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89"/>
                <a:gd name="T22" fmla="*/ 0 h 182"/>
                <a:gd name="T23" fmla="*/ 1089 w 1089"/>
                <a:gd name="T24" fmla="*/ 182 h 18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89" h="182">
                  <a:moveTo>
                    <a:pt x="0" y="91"/>
                  </a:moveTo>
                  <a:lnTo>
                    <a:pt x="45" y="0"/>
                  </a:lnTo>
                  <a:lnTo>
                    <a:pt x="1043" y="0"/>
                  </a:lnTo>
                  <a:lnTo>
                    <a:pt x="1089" y="91"/>
                  </a:lnTo>
                  <a:lnTo>
                    <a:pt x="1043" y="182"/>
                  </a:lnTo>
                  <a:lnTo>
                    <a:pt x="45" y="182"/>
                  </a:lnTo>
                  <a:lnTo>
                    <a:pt x="0" y="91"/>
                  </a:lnTo>
                  <a:close/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6" name="Freeform 34"/>
            <p:cNvSpPr/>
            <p:nvPr/>
          </p:nvSpPr>
          <p:spPr bwMode="auto">
            <a:xfrm>
              <a:off x="2803" y="3339"/>
              <a:ext cx="1089" cy="182"/>
            </a:xfrm>
            <a:custGeom>
              <a:avLst/>
              <a:gdLst>
                <a:gd name="T0" fmla="*/ 0 w 1089"/>
                <a:gd name="T1" fmla="*/ 91 h 182"/>
                <a:gd name="T2" fmla="*/ 45 w 1089"/>
                <a:gd name="T3" fmla="*/ 0 h 182"/>
                <a:gd name="T4" fmla="*/ 1043 w 1089"/>
                <a:gd name="T5" fmla="*/ 0 h 182"/>
                <a:gd name="T6" fmla="*/ 1089 w 1089"/>
                <a:gd name="T7" fmla="*/ 91 h 182"/>
                <a:gd name="T8" fmla="*/ 1043 w 1089"/>
                <a:gd name="T9" fmla="*/ 182 h 182"/>
                <a:gd name="T10" fmla="*/ 45 w 1089"/>
                <a:gd name="T11" fmla="*/ 182 h 182"/>
                <a:gd name="T12" fmla="*/ 0 w 1089"/>
                <a:gd name="T13" fmla="*/ 91 h 18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89"/>
                <a:gd name="T22" fmla="*/ 0 h 182"/>
                <a:gd name="T23" fmla="*/ 1089 w 1089"/>
                <a:gd name="T24" fmla="*/ 182 h 18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89" h="182">
                  <a:moveTo>
                    <a:pt x="0" y="91"/>
                  </a:moveTo>
                  <a:lnTo>
                    <a:pt x="45" y="0"/>
                  </a:lnTo>
                  <a:lnTo>
                    <a:pt x="1043" y="0"/>
                  </a:lnTo>
                  <a:lnTo>
                    <a:pt x="1089" y="91"/>
                  </a:lnTo>
                  <a:lnTo>
                    <a:pt x="1043" y="182"/>
                  </a:lnTo>
                  <a:lnTo>
                    <a:pt x="45" y="182"/>
                  </a:lnTo>
                  <a:lnTo>
                    <a:pt x="0" y="91"/>
                  </a:lnTo>
                  <a:close/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7" name="Freeform 35"/>
            <p:cNvSpPr/>
            <p:nvPr/>
          </p:nvSpPr>
          <p:spPr bwMode="auto">
            <a:xfrm>
              <a:off x="2531" y="3340"/>
              <a:ext cx="272" cy="181"/>
            </a:xfrm>
            <a:custGeom>
              <a:avLst/>
              <a:gdLst>
                <a:gd name="T0" fmla="*/ 0 w 272"/>
                <a:gd name="T1" fmla="*/ 0 h 181"/>
                <a:gd name="T2" fmla="*/ 227 w 272"/>
                <a:gd name="T3" fmla="*/ 0 h 181"/>
                <a:gd name="T4" fmla="*/ 272 w 272"/>
                <a:gd name="T5" fmla="*/ 90 h 181"/>
                <a:gd name="T6" fmla="*/ 227 w 272"/>
                <a:gd name="T7" fmla="*/ 181 h 181"/>
                <a:gd name="T8" fmla="*/ 0 w 272"/>
                <a:gd name="T9" fmla="*/ 181 h 1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2"/>
                <a:gd name="T16" fmla="*/ 0 h 181"/>
                <a:gd name="T17" fmla="*/ 272 w 272"/>
                <a:gd name="T18" fmla="*/ 181 h 18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2" h="181">
                  <a:moveTo>
                    <a:pt x="0" y="0"/>
                  </a:moveTo>
                  <a:lnTo>
                    <a:pt x="227" y="0"/>
                  </a:lnTo>
                  <a:lnTo>
                    <a:pt x="272" y="90"/>
                  </a:lnTo>
                  <a:lnTo>
                    <a:pt x="227" y="181"/>
                  </a:lnTo>
                  <a:lnTo>
                    <a:pt x="0" y="181"/>
                  </a:lnTo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8" name="Freeform 36"/>
            <p:cNvSpPr/>
            <p:nvPr/>
          </p:nvSpPr>
          <p:spPr bwMode="auto">
            <a:xfrm>
              <a:off x="2712" y="3067"/>
              <a:ext cx="169" cy="270"/>
            </a:xfrm>
            <a:custGeom>
              <a:avLst/>
              <a:gdLst>
                <a:gd name="T0" fmla="*/ 0 w 169"/>
                <a:gd name="T1" fmla="*/ 0 h 270"/>
                <a:gd name="T2" fmla="*/ 45 w 169"/>
                <a:gd name="T3" fmla="*/ 190 h 270"/>
                <a:gd name="T4" fmla="*/ 137 w 169"/>
                <a:gd name="T5" fmla="*/ 158 h 270"/>
                <a:gd name="T6" fmla="*/ 169 w 169"/>
                <a:gd name="T7" fmla="*/ 270 h 2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9"/>
                <a:gd name="T13" fmla="*/ 0 h 270"/>
                <a:gd name="T14" fmla="*/ 169 w 169"/>
                <a:gd name="T15" fmla="*/ 270 h 2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9" h="270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6" y="145"/>
                    <a:pt x="137" y="158"/>
                  </a:cubicBezTo>
                  <a:cubicBezTo>
                    <a:pt x="158" y="171"/>
                    <a:pt x="162" y="247"/>
                    <a:pt x="169" y="270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89" name="Freeform 37"/>
            <p:cNvSpPr/>
            <p:nvPr/>
          </p:nvSpPr>
          <p:spPr bwMode="auto">
            <a:xfrm>
              <a:off x="3801" y="3067"/>
              <a:ext cx="169" cy="270"/>
            </a:xfrm>
            <a:custGeom>
              <a:avLst/>
              <a:gdLst>
                <a:gd name="T0" fmla="*/ 0 w 169"/>
                <a:gd name="T1" fmla="*/ 0 h 270"/>
                <a:gd name="T2" fmla="*/ 45 w 169"/>
                <a:gd name="T3" fmla="*/ 190 h 270"/>
                <a:gd name="T4" fmla="*/ 137 w 169"/>
                <a:gd name="T5" fmla="*/ 158 h 270"/>
                <a:gd name="T6" fmla="*/ 169 w 169"/>
                <a:gd name="T7" fmla="*/ 270 h 2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9"/>
                <a:gd name="T13" fmla="*/ 0 h 270"/>
                <a:gd name="T14" fmla="*/ 169 w 169"/>
                <a:gd name="T15" fmla="*/ 270 h 2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9" h="270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6" y="145"/>
                    <a:pt x="137" y="158"/>
                  </a:cubicBezTo>
                  <a:cubicBezTo>
                    <a:pt x="158" y="171"/>
                    <a:pt x="162" y="247"/>
                    <a:pt x="169" y="270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0" name="Freeform 38"/>
            <p:cNvSpPr/>
            <p:nvPr/>
          </p:nvSpPr>
          <p:spPr bwMode="auto">
            <a:xfrm>
              <a:off x="4980" y="3339"/>
              <a:ext cx="136" cy="182"/>
            </a:xfrm>
            <a:custGeom>
              <a:avLst/>
              <a:gdLst>
                <a:gd name="T0" fmla="*/ 136 w 136"/>
                <a:gd name="T1" fmla="*/ 0 h 182"/>
                <a:gd name="T2" fmla="*/ 45 w 136"/>
                <a:gd name="T3" fmla="*/ 0 h 182"/>
                <a:gd name="T4" fmla="*/ 0 w 136"/>
                <a:gd name="T5" fmla="*/ 91 h 182"/>
                <a:gd name="T6" fmla="*/ 45 w 136"/>
                <a:gd name="T7" fmla="*/ 182 h 182"/>
                <a:gd name="T8" fmla="*/ 136 w 136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6"/>
                <a:gd name="T16" fmla="*/ 0 h 182"/>
                <a:gd name="T17" fmla="*/ 136 w 136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6" h="182">
                  <a:moveTo>
                    <a:pt x="136" y="0"/>
                  </a:moveTo>
                  <a:lnTo>
                    <a:pt x="45" y="0"/>
                  </a:lnTo>
                  <a:lnTo>
                    <a:pt x="0" y="91"/>
                  </a:lnTo>
                  <a:lnTo>
                    <a:pt x="45" y="182"/>
                  </a:lnTo>
                  <a:lnTo>
                    <a:pt x="136" y="182"/>
                  </a:lnTo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1" name="Freeform 39"/>
            <p:cNvSpPr/>
            <p:nvPr/>
          </p:nvSpPr>
          <p:spPr bwMode="auto">
            <a:xfrm>
              <a:off x="4255" y="2976"/>
              <a:ext cx="862" cy="182"/>
            </a:xfrm>
            <a:custGeom>
              <a:avLst/>
              <a:gdLst>
                <a:gd name="T0" fmla="*/ 862 w 862"/>
                <a:gd name="T1" fmla="*/ 0 h 182"/>
                <a:gd name="T2" fmla="*/ 46 w 862"/>
                <a:gd name="T3" fmla="*/ 0 h 182"/>
                <a:gd name="T4" fmla="*/ 0 w 862"/>
                <a:gd name="T5" fmla="*/ 91 h 182"/>
                <a:gd name="T6" fmla="*/ 46 w 862"/>
                <a:gd name="T7" fmla="*/ 182 h 182"/>
                <a:gd name="T8" fmla="*/ 862 w 862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62"/>
                <a:gd name="T16" fmla="*/ 0 h 182"/>
                <a:gd name="T17" fmla="*/ 862 w 862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62" h="182">
                  <a:moveTo>
                    <a:pt x="862" y="0"/>
                  </a:moveTo>
                  <a:lnTo>
                    <a:pt x="46" y="0"/>
                  </a:lnTo>
                  <a:lnTo>
                    <a:pt x="0" y="91"/>
                  </a:lnTo>
                  <a:lnTo>
                    <a:pt x="46" y="182"/>
                  </a:lnTo>
                  <a:lnTo>
                    <a:pt x="862" y="182"/>
                  </a:lnTo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2" name="Freeform 40"/>
            <p:cNvSpPr/>
            <p:nvPr/>
          </p:nvSpPr>
          <p:spPr bwMode="auto">
            <a:xfrm>
              <a:off x="4890" y="3067"/>
              <a:ext cx="169" cy="270"/>
            </a:xfrm>
            <a:custGeom>
              <a:avLst/>
              <a:gdLst>
                <a:gd name="T0" fmla="*/ 0 w 169"/>
                <a:gd name="T1" fmla="*/ 0 h 270"/>
                <a:gd name="T2" fmla="*/ 45 w 169"/>
                <a:gd name="T3" fmla="*/ 190 h 270"/>
                <a:gd name="T4" fmla="*/ 137 w 169"/>
                <a:gd name="T5" fmla="*/ 158 h 270"/>
                <a:gd name="T6" fmla="*/ 169 w 169"/>
                <a:gd name="T7" fmla="*/ 270 h 2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9"/>
                <a:gd name="T13" fmla="*/ 0 h 270"/>
                <a:gd name="T14" fmla="*/ 169 w 169"/>
                <a:gd name="T15" fmla="*/ 270 h 2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9" h="270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6" y="145"/>
                    <a:pt x="137" y="158"/>
                  </a:cubicBezTo>
                  <a:cubicBezTo>
                    <a:pt x="158" y="171"/>
                    <a:pt x="162" y="247"/>
                    <a:pt x="169" y="270"/>
                  </a:cubicBezTo>
                </a:path>
              </a:pathLst>
            </a:custGeom>
            <a:noFill/>
            <a:ln w="9525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3" name="Line 41"/>
            <p:cNvSpPr>
              <a:spLocks noChangeShapeType="1"/>
            </p:cNvSpPr>
            <p:nvPr/>
          </p:nvSpPr>
          <p:spPr bwMode="auto">
            <a:xfrm>
              <a:off x="2712" y="2523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4" name="Line 42"/>
            <p:cNvSpPr>
              <a:spLocks noChangeShapeType="1"/>
            </p:cNvSpPr>
            <p:nvPr/>
          </p:nvSpPr>
          <p:spPr bwMode="auto">
            <a:xfrm>
              <a:off x="3801" y="2523"/>
              <a:ext cx="0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5" name="Line 43"/>
            <p:cNvSpPr>
              <a:spLocks noChangeShapeType="1"/>
            </p:cNvSpPr>
            <p:nvPr/>
          </p:nvSpPr>
          <p:spPr bwMode="auto">
            <a:xfrm>
              <a:off x="4889" y="2523"/>
              <a:ext cx="1" cy="11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4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21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48173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270428" y="58739"/>
            <a:ext cx="9035624" cy="901700"/>
          </a:xfrm>
        </p:spPr>
        <p:txBody>
          <a:bodyPr/>
          <a:lstStyle/>
          <a:p>
            <a:r>
              <a:rPr lang="en-US" altLang="zh-TW" dirty="0"/>
              <a:t>Sequential Elements</a:t>
            </a:r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29447" y="1086012"/>
            <a:ext cx="10614211" cy="1842978"/>
          </a:xfrm>
        </p:spPr>
        <p:txBody>
          <a:bodyPr/>
          <a:lstStyle/>
          <a:p>
            <a:r>
              <a:rPr lang="en-US" altLang="zh-TW" sz="3200" dirty="0"/>
              <a:t>Register: stores data in a circuit</a:t>
            </a:r>
          </a:p>
          <a:p>
            <a:pPr lvl="1"/>
            <a:r>
              <a:rPr lang="en-US" altLang="zh-TW" sz="2600" dirty="0"/>
              <a:t>Use a clock signal to determine when to update the stored value</a:t>
            </a:r>
          </a:p>
          <a:p>
            <a:pPr lvl="1"/>
            <a:r>
              <a:rPr lang="en-US" altLang="zh-TW" sz="2600" dirty="0"/>
              <a:t>Edge-triggered: update when </a:t>
            </a:r>
            <a:r>
              <a:rPr lang="en-US" altLang="zh-TW" sz="2600" dirty="0" err="1"/>
              <a:t>Clk</a:t>
            </a:r>
            <a:r>
              <a:rPr lang="en-US" altLang="zh-TW" sz="2600" dirty="0"/>
              <a:t> changes from 0 to 1</a:t>
            </a:r>
            <a:endParaRPr lang="en-AU" altLang="zh-TW" sz="2600" dirty="0">
              <a:ea typeface="新細明體" panose="02020500000000000000" pitchFamily="18" charset="-120"/>
            </a:endParaRPr>
          </a:p>
        </p:txBody>
      </p:sp>
      <p:grpSp>
        <p:nvGrpSpPr>
          <p:cNvPr id="15364" name="Group 4"/>
          <p:cNvGrpSpPr/>
          <p:nvPr/>
        </p:nvGrpSpPr>
        <p:grpSpPr bwMode="auto">
          <a:xfrm>
            <a:off x="1767489" y="3483501"/>
            <a:ext cx="2566096" cy="1745012"/>
            <a:chOff x="657" y="2296"/>
            <a:chExt cx="1269" cy="771"/>
          </a:xfrm>
        </p:grpSpPr>
        <p:sp>
          <p:nvSpPr>
            <p:cNvPr id="15396" name="Rectangle 5"/>
            <p:cNvSpPr>
              <a:spLocks noChangeArrowheads="1"/>
            </p:cNvSpPr>
            <p:nvPr/>
          </p:nvSpPr>
          <p:spPr bwMode="auto">
            <a:xfrm>
              <a:off x="1111" y="2296"/>
              <a:ext cx="499" cy="77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15397" name="Line 6"/>
            <p:cNvSpPr>
              <a:spLocks noChangeShapeType="1"/>
            </p:cNvSpPr>
            <p:nvPr/>
          </p:nvSpPr>
          <p:spPr bwMode="auto">
            <a:xfrm>
              <a:off x="975" y="247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8" name="Line 7"/>
            <p:cNvSpPr>
              <a:spLocks noChangeShapeType="1"/>
            </p:cNvSpPr>
            <p:nvPr/>
          </p:nvSpPr>
          <p:spPr bwMode="auto">
            <a:xfrm>
              <a:off x="975" y="2886"/>
              <a:ext cx="1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399" name="Line 8"/>
            <p:cNvSpPr>
              <a:spLocks noChangeShapeType="1"/>
            </p:cNvSpPr>
            <p:nvPr/>
          </p:nvSpPr>
          <p:spPr bwMode="auto">
            <a:xfrm>
              <a:off x="1610" y="247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400" name="Text Box 9"/>
            <p:cNvSpPr txBox="1">
              <a:spLocks noChangeArrowheads="1"/>
            </p:cNvSpPr>
            <p:nvPr/>
          </p:nvSpPr>
          <p:spPr bwMode="auto">
            <a:xfrm>
              <a:off x="748" y="2345"/>
              <a:ext cx="174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1" name="Text Box 10"/>
            <p:cNvSpPr txBox="1">
              <a:spLocks noChangeArrowheads="1"/>
            </p:cNvSpPr>
            <p:nvPr/>
          </p:nvSpPr>
          <p:spPr bwMode="auto">
            <a:xfrm>
              <a:off x="657" y="2753"/>
              <a:ext cx="256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2" name="Text Box 11"/>
            <p:cNvSpPr txBox="1">
              <a:spLocks noChangeArrowheads="1"/>
            </p:cNvSpPr>
            <p:nvPr/>
          </p:nvSpPr>
          <p:spPr bwMode="auto">
            <a:xfrm>
              <a:off x="1746" y="2345"/>
              <a:ext cx="180" cy="1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Q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5403" name="Line 12"/>
            <p:cNvSpPr>
              <a:spLocks noChangeShapeType="1"/>
            </p:cNvSpPr>
            <p:nvPr/>
          </p:nvSpPr>
          <p:spPr bwMode="auto">
            <a:xfrm>
              <a:off x="1111" y="2840"/>
              <a:ext cx="91" cy="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5404" name="Line 13"/>
            <p:cNvSpPr>
              <a:spLocks noChangeShapeType="1"/>
            </p:cNvSpPr>
            <p:nvPr/>
          </p:nvSpPr>
          <p:spPr bwMode="auto">
            <a:xfrm flipV="1">
              <a:off x="1111" y="2886"/>
              <a:ext cx="91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4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22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8DD33F-8144-4F15-92FE-D68E70CD5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5138" y="2336260"/>
            <a:ext cx="4398712" cy="3715268"/>
          </a:xfrm>
          <a:prstGeom prst="rect">
            <a:avLst/>
          </a:prstGeom>
          <a:solidFill>
            <a:schemeClr val="accent3"/>
          </a:solidFill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1208954" y="58739"/>
            <a:ext cx="9097097" cy="901700"/>
          </a:xfrm>
        </p:spPr>
        <p:txBody>
          <a:bodyPr/>
          <a:lstStyle/>
          <a:p>
            <a:r>
              <a:rPr lang="en-US" altLang="zh-TW" dirty="0"/>
              <a:t>Sequential Elements</a:t>
            </a:r>
            <a:r>
              <a:rPr lang="zh-CN" altLang="en-US" dirty="0"/>
              <a:t>（</a:t>
            </a:r>
            <a:r>
              <a:rPr lang="en-US" altLang="zh-CN" dirty="0"/>
              <a:t>2</a:t>
            </a:r>
            <a:r>
              <a:rPr lang="zh-CN" altLang="en-US" dirty="0"/>
              <a:t>）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88465" y="1078221"/>
            <a:ext cx="9035624" cy="1739259"/>
          </a:xfrm>
        </p:spPr>
        <p:txBody>
          <a:bodyPr/>
          <a:lstStyle/>
          <a:p>
            <a:r>
              <a:rPr lang="en-US" altLang="zh-TW" dirty="0"/>
              <a:t>Register with write control</a:t>
            </a:r>
          </a:p>
          <a:p>
            <a:pPr lvl="1"/>
            <a:r>
              <a:rPr lang="en-US" altLang="zh-TW" sz="2600" dirty="0"/>
              <a:t>Only updates on clock edge when write control input is 1</a:t>
            </a:r>
          </a:p>
          <a:p>
            <a:pPr lvl="1"/>
            <a:r>
              <a:rPr lang="en-US" altLang="zh-TW" sz="2600" dirty="0"/>
              <a:t>Used when stored value is required later</a:t>
            </a:r>
            <a:endParaRPr lang="en-AU" altLang="zh-TW" sz="2600" dirty="0">
              <a:ea typeface="新細明體" panose="02020500000000000000" pitchFamily="18" charset="-120"/>
            </a:endParaRPr>
          </a:p>
        </p:txBody>
      </p:sp>
      <p:grpSp>
        <p:nvGrpSpPr>
          <p:cNvPr id="16388" name="Group 4"/>
          <p:cNvGrpSpPr/>
          <p:nvPr/>
        </p:nvGrpSpPr>
        <p:grpSpPr bwMode="auto">
          <a:xfrm>
            <a:off x="1208956" y="3739564"/>
            <a:ext cx="3134724" cy="1624601"/>
            <a:chOff x="340" y="2750"/>
            <a:chExt cx="1386" cy="771"/>
          </a:xfrm>
        </p:grpSpPr>
        <p:sp>
          <p:nvSpPr>
            <p:cNvPr id="16426" name="Rectangle 5"/>
            <p:cNvSpPr>
              <a:spLocks noChangeArrowheads="1"/>
            </p:cNvSpPr>
            <p:nvPr/>
          </p:nvSpPr>
          <p:spPr bwMode="auto">
            <a:xfrm>
              <a:off x="930" y="2750"/>
              <a:ext cx="499" cy="771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16427" name="Line 6"/>
            <p:cNvSpPr>
              <a:spLocks noChangeShapeType="1"/>
            </p:cNvSpPr>
            <p:nvPr/>
          </p:nvSpPr>
          <p:spPr bwMode="auto">
            <a:xfrm>
              <a:off x="794" y="2932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8" name="Line 7"/>
            <p:cNvSpPr>
              <a:spLocks noChangeShapeType="1"/>
            </p:cNvSpPr>
            <p:nvPr/>
          </p:nvSpPr>
          <p:spPr bwMode="auto">
            <a:xfrm>
              <a:off x="794" y="3340"/>
              <a:ext cx="1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9" name="Line 8"/>
            <p:cNvSpPr>
              <a:spLocks noChangeShapeType="1"/>
            </p:cNvSpPr>
            <p:nvPr/>
          </p:nvSpPr>
          <p:spPr bwMode="auto">
            <a:xfrm>
              <a:off x="1429" y="2932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30" name="Text Box 9"/>
            <p:cNvSpPr txBox="1">
              <a:spLocks noChangeArrowheads="1"/>
            </p:cNvSpPr>
            <p:nvPr/>
          </p:nvSpPr>
          <p:spPr bwMode="auto">
            <a:xfrm>
              <a:off x="567" y="2799"/>
              <a:ext cx="155" cy="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31" name="Text Box 10"/>
            <p:cNvSpPr txBox="1">
              <a:spLocks noChangeArrowheads="1"/>
            </p:cNvSpPr>
            <p:nvPr/>
          </p:nvSpPr>
          <p:spPr bwMode="auto">
            <a:xfrm>
              <a:off x="476" y="3207"/>
              <a:ext cx="229" cy="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32" name="Text Box 11"/>
            <p:cNvSpPr txBox="1">
              <a:spLocks noChangeArrowheads="1"/>
            </p:cNvSpPr>
            <p:nvPr/>
          </p:nvSpPr>
          <p:spPr bwMode="auto">
            <a:xfrm>
              <a:off x="1565" y="2799"/>
              <a:ext cx="161" cy="1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8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Q</a:t>
              </a:r>
              <a:endParaRPr lang="en-AU" altLang="zh-TW" sz="18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33" name="Line 12"/>
            <p:cNvSpPr>
              <a:spLocks noChangeShapeType="1"/>
            </p:cNvSpPr>
            <p:nvPr/>
          </p:nvSpPr>
          <p:spPr bwMode="auto">
            <a:xfrm>
              <a:off x="930" y="3294"/>
              <a:ext cx="91" cy="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34" name="Line 13"/>
            <p:cNvSpPr>
              <a:spLocks noChangeShapeType="1"/>
            </p:cNvSpPr>
            <p:nvPr/>
          </p:nvSpPr>
          <p:spPr bwMode="auto">
            <a:xfrm flipV="1">
              <a:off x="930" y="3340"/>
              <a:ext cx="91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35" name="Line 14"/>
            <p:cNvSpPr>
              <a:spLocks noChangeShapeType="1"/>
            </p:cNvSpPr>
            <p:nvPr/>
          </p:nvSpPr>
          <p:spPr bwMode="auto">
            <a:xfrm>
              <a:off x="793" y="3154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36" name="Text Box 15"/>
            <p:cNvSpPr txBox="1">
              <a:spLocks noChangeArrowheads="1"/>
            </p:cNvSpPr>
            <p:nvPr/>
          </p:nvSpPr>
          <p:spPr bwMode="auto">
            <a:xfrm>
              <a:off x="340" y="3021"/>
              <a:ext cx="362" cy="1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20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Write</a:t>
              </a:r>
              <a:endParaRPr lang="en-AU" altLang="zh-TW" sz="20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grpSp>
        <p:nvGrpSpPr>
          <p:cNvPr id="16389" name="Group 16"/>
          <p:cNvGrpSpPr/>
          <p:nvPr/>
        </p:nvGrpSpPr>
        <p:grpSpPr bwMode="auto">
          <a:xfrm>
            <a:off x="5124193" y="3372977"/>
            <a:ext cx="5634801" cy="2440448"/>
            <a:chOff x="2115" y="2387"/>
            <a:chExt cx="3033" cy="1497"/>
          </a:xfrm>
        </p:grpSpPr>
        <p:sp>
          <p:nvSpPr>
            <p:cNvPr id="16391" name="Line 17"/>
            <p:cNvSpPr>
              <a:spLocks noChangeShapeType="1"/>
            </p:cNvSpPr>
            <p:nvPr/>
          </p:nvSpPr>
          <p:spPr bwMode="auto">
            <a:xfrm>
              <a:off x="2517" y="2840"/>
              <a:ext cx="81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2" name="Line 18"/>
            <p:cNvSpPr>
              <a:spLocks noChangeShapeType="1"/>
            </p:cNvSpPr>
            <p:nvPr/>
          </p:nvSpPr>
          <p:spPr bwMode="auto">
            <a:xfrm>
              <a:off x="3334" y="2840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3" name="Line 19"/>
            <p:cNvSpPr>
              <a:spLocks noChangeShapeType="1"/>
            </p:cNvSpPr>
            <p:nvPr/>
          </p:nvSpPr>
          <p:spPr bwMode="auto">
            <a:xfrm>
              <a:off x="3334" y="3022"/>
              <a:ext cx="122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4" name="Line 20"/>
            <p:cNvSpPr>
              <a:spLocks noChangeShapeType="1"/>
            </p:cNvSpPr>
            <p:nvPr/>
          </p:nvSpPr>
          <p:spPr bwMode="auto">
            <a:xfrm>
              <a:off x="4558" y="2840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5" name="Line 21"/>
            <p:cNvSpPr>
              <a:spLocks noChangeShapeType="1"/>
            </p:cNvSpPr>
            <p:nvPr/>
          </p:nvSpPr>
          <p:spPr bwMode="auto">
            <a:xfrm flipV="1">
              <a:off x="4558" y="2840"/>
              <a:ext cx="54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6" name="Line 22"/>
            <p:cNvSpPr>
              <a:spLocks noChangeShapeType="1"/>
            </p:cNvSpPr>
            <p:nvPr/>
          </p:nvSpPr>
          <p:spPr bwMode="auto">
            <a:xfrm>
              <a:off x="2517" y="3884"/>
              <a:ext cx="263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7" name="Line 23"/>
            <p:cNvSpPr>
              <a:spLocks noChangeShapeType="1"/>
            </p:cNvSpPr>
            <p:nvPr/>
          </p:nvSpPr>
          <p:spPr bwMode="auto">
            <a:xfrm flipH="1" flipV="1">
              <a:off x="2503" y="2387"/>
              <a:ext cx="14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398" name="Text Box 24"/>
            <p:cNvSpPr txBox="1">
              <a:spLocks noChangeArrowheads="1"/>
            </p:cNvSpPr>
            <p:nvPr/>
          </p:nvSpPr>
          <p:spPr bwMode="auto">
            <a:xfrm>
              <a:off x="2115" y="2739"/>
              <a:ext cx="441" cy="2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20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Write</a:t>
              </a:r>
              <a:endParaRPr lang="en-AU" altLang="zh-TW" sz="20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399" name="Text Box 25"/>
            <p:cNvSpPr txBox="1">
              <a:spLocks noChangeArrowheads="1"/>
            </p:cNvSpPr>
            <p:nvPr/>
          </p:nvSpPr>
          <p:spPr bwMode="auto">
            <a:xfrm>
              <a:off x="2140" y="3176"/>
              <a:ext cx="179" cy="2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00" name="Text Box 26"/>
            <p:cNvSpPr txBox="1">
              <a:spLocks noChangeArrowheads="1"/>
            </p:cNvSpPr>
            <p:nvPr/>
          </p:nvSpPr>
          <p:spPr bwMode="auto">
            <a:xfrm>
              <a:off x="2140" y="3524"/>
              <a:ext cx="186" cy="2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Q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01" name="Freeform 27"/>
            <p:cNvSpPr/>
            <p:nvPr/>
          </p:nvSpPr>
          <p:spPr bwMode="auto">
            <a:xfrm>
              <a:off x="2517" y="3203"/>
              <a:ext cx="635" cy="182"/>
            </a:xfrm>
            <a:custGeom>
              <a:avLst/>
              <a:gdLst>
                <a:gd name="T0" fmla="*/ 0 w 635"/>
                <a:gd name="T1" fmla="*/ 0 h 182"/>
                <a:gd name="T2" fmla="*/ 590 w 635"/>
                <a:gd name="T3" fmla="*/ 0 h 182"/>
                <a:gd name="T4" fmla="*/ 635 w 635"/>
                <a:gd name="T5" fmla="*/ 91 h 182"/>
                <a:gd name="T6" fmla="*/ 590 w 635"/>
                <a:gd name="T7" fmla="*/ 182 h 182"/>
                <a:gd name="T8" fmla="*/ 0 w 635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635"/>
                <a:gd name="T16" fmla="*/ 0 h 182"/>
                <a:gd name="T17" fmla="*/ 635 w 635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635" h="182">
                  <a:moveTo>
                    <a:pt x="0" y="0"/>
                  </a:moveTo>
                  <a:lnTo>
                    <a:pt x="590" y="0"/>
                  </a:lnTo>
                  <a:lnTo>
                    <a:pt x="635" y="91"/>
                  </a:lnTo>
                  <a:lnTo>
                    <a:pt x="590" y="182"/>
                  </a:lnTo>
                  <a:lnTo>
                    <a:pt x="0" y="182"/>
                  </a:lnTo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2" name="Freeform 28"/>
            <p:cNvSpPr/>
            <p:nvPr/>
          </p:nvSpPr>
          <p:spPr bwMode="auto">
            <a:xfrm>
              <a:off x="3152" y="3203"/>
              <a:ext cx="1089" cy="182"/>
            </a:xfrm>
            <a:custGeom>
              <a:avLst/>
              <a:gdLst>
                <a:gd name="T0" fmla="*/ 0 w 1089"/>
                <a:gd name="T1" fmla="*/ 91 h 182"/>
                <a:gd name="T2" fmla="*/ 45 w 1089"/>
                <a:gd name="T3" fmla="*/ 0 h 182"/>
                <a:gd name="T4" fmla="*/ 1043 w 1089"/>
                <a:gd name="T5" fmla="*/ 0 h 182"/>
                <a:gd name="T6" fmla="*/ 1089 w 1089"/>
                <a:gd name="T7" fmla="*/ 91 h 182"/>
                <a:gd name="T8" fmla="*/ 1043 w 1089"/>
                <a:gd name="T9" fmla="*/ 182 h 182"/>
                <a:gd name="T10" fmla="*/ 45 w 1089"/>
                <a:gd name="T11" fmla="*/ 182 h 182"/>
                <a:gd name="T12" fmla="*/ 0 w 1089"/>
                <a:gd name="T13" fmla="*/ 91 h 18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89"/>
                <a:gd name="T22" fmla="*/ 0 h 182"/>
                <a:gd name="T23" fmla="*/ 1089 w 1089"/>
                <a:gd name="T24" fmla="*/ 182 h 18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89" h="182">
                  <a:moveTo>
                    <a:pt x="0" y="91"/>
                  </a:moveTo>
                  <a:lnTo>
                    <a:pt x="45" y="0"/>
                  </a:lnTo>
                  <a:lnTo>
                    <a:pt x="1043" y="0"/>
                  </a:lnTo>
                  <a:lnTo>
                    <a:pt x="1089" y="91"/>
                  </a:lnTo>
                  <a:lnTo>
                    <a:pt x="1043" y="182"/>
                  </a:lnTo>
                  <a:lnTo>
                    <a:pt x="45" y="182"/>
                  </a:lnTo>
                  <a:lnTo>
                    <a:pt x="0" y="91"/>
                  </a:ln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3" name="Freeform 29"/>
            <p:cNvSpPr/>
            <p:nvPr/>
          </p:nvSpPr>
          <p:spPr bwMode="auto">
            <a:xfrm>
              <a:off x="2517" y="3567"/>
              <a:ext cx="272" cy="181"/>
            </a:xfrm>
            <a:custGeom>
              <a:avLst/>
              <a:gdLst>
                <a:gd name="T0" fmla="*/ 0 w 272"/>
                <a:gd name="T1" fmla="*/ 0 h 181"/>
                <a:gd name="T2" fmla="*/ 227 w 272"/>
                <a:gd name="T3" fmla="*/ 0 h 181"/>
                <a:gd name="T4" fmla="*/ 272 w 272"/>
                <a:gd name="T5" fmla="*/ 90 h 181"/>
                <a:gd name="T6" fmla="*/ 227 w 272"/>
                <a:gd name="T7" fmla="*/ 181 h 181"/>
                <a:gd name="T8" fmla="*/ 0 w 272"/>
                <a:gd name="T9" fmla="*/ 181 h 1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72"/>
                <a:gd name="T16" fmla="*/ 0 h 181"/>
                <a:gd name="T17" fmla="*/ 272 w 272"/>
                <a:gd name="T18" fmla="*/ 181 h 18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72" h="181">
                  <a:moveTo>
                    <a:pt x="0" y="0"/>
                  </a:moveTo>
                  <a:lnTo>
                    <a:pt x="227" y="0"/>
                  </a:lnTo>
                  <a:lnTo>
                    <a:pt x="272" y="90"/>
                  </a:lnTo>
                  <a:lnTo>
                    <a:pt x="227" y="181"/>
                  </a:lnTo>
                  <a:lnTo>
                    <a:pt x="0" y="181"/>
                  </a:lnTo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4" name="Freeform 30"/>
            <p:cNvSpPr/>
            <p:nvPr/>
          </p:nvSpPr>
          <p:spPr bwMode="auto">
            <a:xfrm>
              <a:off x="2698" y="3294"/>
              <a:ext cx="169" cy="270"/>
            </a:xfrm>
            <a:custGeom>
              <a:avLst/>
              <a:gdLst>
                <a:gd name="T0" fmla="*/ 0 w 169"/>
                <a:gd name="T1" fmla="*/ 0 h 270"/>
                <a:gd name="T2" fmla="*/ 45 w 169"/>
                <a:gd name="T3" fmla="*/ 190 h 270"/>
                <a:gd name="T4" fmla="*/ 137 w 169"/>
                <a:gd name="T5" fmla="*/ 158 h 270"/>
                <a:gd name="T6" fmla="*/ 169 w 169"/>
                <a:gd name="T7" fmla="*/ 270 h 2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9"/>
                <a:gd name="T13" fmla="*/ 0 h 270"/>
                <a:gd name="T14" fmla="*/ 169 w 169"/>
                <a:gd name="T15" fmla="*/ 270 h 2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9" h="270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6" y="145"/>
                    <a:pt x="137" y="158"/>
                  </a:cubicBezTo>
                  <a:cubicBezTo>
                    <a:pt x="158" y="171"/>
                    <a:pt x="162" y="247"/>
                    <a:pt x="169" y="270"/>
                  </a:cubicBezTo>
                </a:path>
              </a:pathLst>
            </a:custGeom>
            <a:noFill/>
            <a:ln w="1270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5" name="Freeform 31"/>
            <p:cNvSpPr/>
            <p:nvPr/>
          </p:nvSpPr>
          <p:spPr bwMode="auto">
            <a:xfrm>
              <a:off x="2699" y="2840"/>
              <a:ext cx="157" cy="688"/>
            </a:xfrm>
            <a:custGeom>
              <a:avLst/>
              <a:gdLst>
                <a:gd name="T0" fmla="*/ 0 w 157"/>
                <a:gd name="T1" fmla="*/ 0 h 688"/>
                <a:gd name="T2" fmla="*/ 45 w 157"/>
                <a:gd name="T3" fmla="*/ 190 h 688"/>
                <a:gd name="T4" fmla="*/ 137 w 157"/>
                <a:gd name="T5" fmla="*/ 158 h 688"/>
                <a:gd name="T6" fmla="*/ 157 w 157"/>
                <a:gd name="T7" fmla="*/ 688 h 68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57"/>
                <a:gd name="T13" fmla="*/ 0 h 688"/>
                <a:gd name="T14" fmla="*/ 157 w 157"/>
                <a:gd name="T15" fmla="*/ 688 h 68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57" h="688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8" y="75"/>
                    <a:pt x="137" y="158"/>
                  </a:cubicBezTo>
                  <a:cubicBezTo>
                    <a:pt x="156" y="241"/>
                    <a:pt x="153" y="578"/>
                    <a:pt x="157" y="688"/>
                  </a:cubicBezTo>
                </a:path>
              </a:pathLst>
            </a:custGeom>
            <a:noFill/>
            <a:ln w="127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6" name="Freeform 32"/>
            <p:cNvSpPr/>
            <p:nvPr/>
          </p:nvSpPr>
          <p:spPr bwMode="auto">
            <a:xfrm>
              <a:off x="4966" y="3566"/>
              <a:ext cx="136" cy="182"/>
            </a:xfrm>
            <a:custGeom>
              <a:avLst/>
              <a:gdLst>
                <a:gd name="T0" fmla="*/ 136 w 136"/>
                <a:gd name="T1" fmla="*/ 0 h 182"/>
                <a:gd name="T2" fmla="*/ 45 w 136"/>
                <a:gd name="T3" fmla="*/ 0 h 182"/>
                <a:gd name="T4" fmla="*/ 0 w 136"/>
                <a:gd name="T5" fmla="*/ 91 h 182"/>
                <a:gd name="T6" fmla="*/ 45 w 136"/>
                <a:gd name="T7" fmla="*/ 182 h 182"/>
                <a:gd name="T8" fmla="*/ 136 w 136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36"/>
                <a:gd name="T16" fmla="*/ 0 h 182"/>
                <a:gd name="T17" fmla="*/ 136 w 136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36" h="182">
                  <a:moveTo>
                    <a:pt x="136" y="0"/>
                  </a:moveTo>
                  <a:lnTo>
                    <a:pt x="45" y="0"/>
                  </a:lnTo>
                  <a:lnTo>
                    <a:pt x="0" y="91"/>
                  </a:lnTo>
                  <a:lnTo>
                    <a:pt x="45" y="182"/>
                  </a:lnTo>
                  <a:lnTo>
                    <a:pt x="136" y="182"/>
                  </a:lnTo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7" name="Freeform 33"/>
            <p:cNvSpPr/>
            <p:nvPr/>
          </p:nvSpPr>
          <p:spPr bwMode="auto">
            <a:xfrm>
              <a:off x="4241" y="3203"/>
              <a:ext cx="862" cy="182"/>
            </a:xfrm>
            <a:custGeom>
              <a:avLst/>
              <a:gdLst>
                <a:gd name="T0" fmla="*/ 862 w 862"/>
                <a:gd name="T1" fmla="*/ 0 h 182"/>
                <a:gd name="T2" fmla="*/ 46 w 862"/>
                <a:gd name="T3" fmla="*/ 0 h 182"/>
                <a:gd name="T4" fmla="*/ 0 w 862"/>
                <a:gd name="T5" fmla="*/ 91 h 182"/>
                <a:gd name="T6" fmla="*/ 46 w 862"/>
                <a:gd name="T7" fmla="*/ 182 h 182"/>
                <a:gd name="T8" fmla="*/ 862 w 862"/>
                <a:gd name="T9" fmla="*/ 182 h 18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62"/>
                <a:gd name="T16" fmla="*/ 0 h 182"/>
                <a:gd name="T17" fmla="*/ 862 w 862"/>
                <a:gd name="T18" fmla="*/ 182 h 18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62" h="182">
                  <a:moveTo>
                    <a:pt x="862" y="0"/>
                  </a:moveTo>
                  <a:lnTo>
                    <a:pt x="46" y="0"/>
                  </a:lnTo>
                  <a:lnTo>
                    <a:pt x="0" y="91"/>
                  </a:lnTo>
                  <a:lnTo>
                    <a:pt x="46" y="182"/>
                  </a:lnTo>
                  <a:lnTo>
                    <a:pt x="862" y="182"/>
                  </a:lnTo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8" name="Line 34"/>
            <p:cNvSpPr>
              <a:spLocks noChangeShapeType="1"/>
            </p:cNvSpPr>
            <p:nvPr/>
          </p:nvSpPr>
          <p:spPr bwMode="auto">
            <a:xfrm>
              <a:off x="2698" y="2478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09" name="Line 35"/>
            <p:cNvSpPr>
              <a:spLocks noChangeShapeType="1"/>
            </p:cNvSpPr>
            <p:nvPr/>
          </p:nvSpPr>
          <p:spPr bwMode="auto">
            <a:xfrm>
              <a:off x="2698" y="2478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0" name="Line 36"/>
            <p:cNvSpPr>
              <a:spLocks noChangeShapeType="1"/>
            </p:cNvSpPr>
            <p:nvPr/>
          </p:nvSpPr>
          <p:spPr bwMode="auto">
            <a:xfrm>
              <a:off x="3242" y="2478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1" name="Line 37"/>
            <p:cNvSpPr>
              <a:spLocks noChangeShapeType="1"/>
            </p:cNvSpPr>
            <p:nvPr/>
          </p:nvSpPr>
          <p:spPr bwMode="auto">
            <a:xfrm>
              <a:off x="3242" y="2659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2" name="Line 38"/>
            <p:cNvSpPr>
              <a:spLocks noChangeShapeType="1"/>
            </p:cNvSpPr>
            <p:nvPr/>
          </p:nvSpPr>
          <p:spPr bwMode="auto">
            <a:xfrm>
              <a:off x="2517" y="2659"/>
              <a:ext cx="181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3" name="Line 39"/>
            <p:cNvSpPr>
              <a:spLocks noChangeShapeType="1"/>
            </p:cNvSpPr>
            <p:nvPr/>
          </p:nvSpPr>
          <p:spPr bwMode="auto">
            <a:xfrm>
              <a:off x="3787" y="2478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4" name="Line 40"/>
            <p:cNvSpPr>
              <a:spLocks noChangeShapeType="1"/>
            </p:cNvSpPr>
            <p:nvPr/>
          </p:nvSpPr>
          <p:spPr bwMode="auto">
            <a:xfrm>
              <a:off x="3787" y="2478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5" name="Line 41"/>
            <p:cNvSpPr>
              <a:spLocks noChangeShapeType="1"/>
            </p:cNvSpPr>
            <p:nvPr/>
          </p:nvSpPr>
          <p:spPr bwMode="auto">
            <a:xfrm>
              <a:off x="4331" y="2478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6" name="Line 42"/>
            <p:cNvSpPr>
              <a:spLocks noChangeShapeType="1"/>
            </p:cNvSpPr>
            <p:nvPr/>
          </p:nvSpPr>
          <p:spPr bwMode="auto">
            <a:xfrm>
              <a:off x="4331" y="2659"/>
              <a:ext cx="54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7" name="Line 43"/>
            <p:cNvSpPr>
              <a:spLocks noChangeShapeType="1"/>
            </p:cNvSpPr>
            <p:nvPr/>
          </p:nvSpPr>
          <p:spPr bwMode="auto">
            <a:xfrm>
              <a:off x="4875" y="2478"/>
              <a:ext cx="0" cy="18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8" name="Line 44"/>
            <p:cNvSpPr>
              <a:spLocks noChangeShapeType="1"/>
            </p:cNvSpPr>
            <p:nvPr/>
          </p:nvSpPr>
          <p:spPr bwMode="auto">
            <a:xfrm flipV="1">
              <a:off x="4876" y="2477"/>
              <a:ext cx="227" cy="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19" name="Text Box 45"/>
            <p:cNvSpPr txBox="1">
              <a:spLocks noChangeArrowheads="1"/>
            </p:cNvSpPr>
            <p:nvPr/>
          </p:nvSpPr>
          <p:spPr bwMode="auto">
            <a:xfrm>
              <a:off x="2140" y="2481"/>
              <a:ext cx="258" cy="20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  <a:endParaRPr lang="en-AU" altLang="zh-TW" sz="1600" b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6420" name="Freeform 46"/>
            <p:cNvSpPr/>
            <p:nvPr/>
          </p:nvSpPr>
          <p:spPr bwMode="auto">
            <a:xfrm>
              <a:off x="2789" y="3566"/>
              <a:ext cx="2178" cy="182"/>
            </a:xfrm>
            <a:custGeom>
              <a:avLst/>
              <a:gdLst>
                <a:gd name="T0" fmla="*/ 0 w 2178"/>
                <a:gd name="T1" fmla="*/ 91 h 182"/>
                <a:gd name="T2" fmla="*/ 46 w 2178"/>
                <a:gd name="T3" fmla="*/ 0 h 182"/>
                <a:gd name="T4" fmla="*/ 2132 w 2178"/>
                <a:gd name="T5" fmla="*/ 0 h 182"/>
                <a:gd name="T6" fmla="*/ 2178 w 2178"/>
                <a:gd name="T7" fmla="*/ 91 h 182"/>
                <a:gd name="T8" fmla="*/ 2132 w 2178"/>
                <a:gd name="T9" fmla="*/ 182 h 182"/>
                <a:gd name="T10" fmla="*/ 46 w 2178"/>
                <a:gd name="T11" fmla="*/ 182 h 182"/>
                <a:gd name="T12" fmla="*/ 0 w 2178"/>
                <a:gd name="T13" fmla="*/ 91 h 182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2178"/>
                <a:gd name="T22" fmla="*/ 0 h 182"/>
                <a:gd name="T23" fmla="*/ 2178 w 2178"/>
                <a:gd name="T24" fmla="*/ 182 h 182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2178" h="182">
                  <a:moveTo>
                    <a:pt x="0" y="91"/>
                  </a:moveTo>
                  <a:lnTo>
                    <a:pt x="46" y="0"/>
                  </a:lnTo>
                  <a:lnTo>
                    <a:pt x="2132" y="0"/>
                  </a:lnTo>
                  <a:lnTo>
                    <a:pt x="2178" y="91"/>
                  </a:lnTo>
                  <a:lnTo>
                    <a:pt x="2132" y="182"/>
                  </a:lnTo>
                  <a:lnTo>
                    <a:pt x="46" y="182"/>
                  </a:lnTo>
                  <a:lnTo>
                    <a:pt x="0" y="91"/>
                  </a:lnTo>
                  <a:close/>
                </a:path>
              </a:pathLst>
            </a:custGeom>
            <a:solidFill>
              <a:schemeClr val="hlink"/>
            </a:solidFill>
            <a:ln w="9525">
              <a:solidFill>
                <a:schemeClr val="tx1"/>
              </a:solidFill>
              <a:round/>
            </a:ln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1" name="Freeform 47"/>
            <p:cNvSpPr/>
            <p:nvPr/>
          </p:nvSpPr>
          <p:spPr bwMode="auto">
            <a:xfrm>
              <a:off x="4875" y="3294"/>
              <a:ext cx="169" cy="270"/>
            </a:xfrm>
            <a:custGeom>
              <a:avLst/>
              <a:gdLst>
                <a:gd name="T0" fmla="*/ 0 w 169"/>
                <a:gd name="T1" fmla="*/ 0 h 270"/>
                <a:gd name="T2" fmla="*/ 45 w 169"/>
                <a:gd name="T3" fmla="*/ 190 h 270"/>
                <a:gd name="T4" fmla="*/ 137 w 169"/>
                <a:gd name="T5" fmla="*/ 158 h 270"/>
                <a:gd name="T6" fmla="*/ 169 w 169"/>
                <a:gd name="T7" fmla="*/ 270 h 27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69"/>
                <a:gd name="T13" fmla="*/ 0 h 270"/>
                <a:gd name="T14" fmla="*/ 169 w 169"/>
                <a:gd name="T15" fmla="*/ 270 h 27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69" h="270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6" y="145"/>
                    <a:pt x="137" y="158"/>
                  </a:cubicBezTo>
                  <a:cubicBezTo>
                    <a:pt x="158" y="171"/>
                    <a:pt x="162" y="247"/>
                    <a:pt x="169" y="270"/>
                  </a:cubicBezTo>
                </a:path>
              </a:pathLst>
            </a:custGeom>
            <a:noFill/>
            <a:ln w="1270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2" name="Freeform 48"/>
            <p:cNvSpPr/>
            <p:nvPr/>
          </p:nvSpPr>
          <p:spPr bwMode="auto">
            <a:xfrm>
              <a:off x="4876" y="2840"/>
              <a:ext cx="157" cy="688"/>
            </a:xfrm>
            <a:custGeom>
              <a:avLst/>
              <a:gdLst>
                <a:gd name="T0" fmla="*/ 0 w 157"/>
                <a:gd name="T1" fmla="*/ 0 h 688"/>
                <a:gd name="T2" fmla="*/ 45 w 157"/>
                <a:gd name="T3" fmla="*/ 190 h 688"/>
                <a:gd name="T4" fmla="*/ 137 w 157"/>
                <a:gd name="T5" fmla="*/ 158 h 688"/>
                <a:gd name="T6" fmla="*/ 157 w 157"/>
                <a:gd name="T7" fmla="*/ 688 h 688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57"/>
                <a:gd name="T13" fmla="*/ 0 h 688"/>
                <a:gd name="T14" fmla="*/ 157 w 157"/>
                <a:gd name="T15" fmla="*/ 688 h 688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57" h="688">
                  <a:moveTo>
                    <a:pt x="0" y="0"/>
                  </a:moveTo>
                  <a:cubicBezTo>
                    <a:pt x="7" y="32"/>
                    <a:pt x="22" y="164"/>
                    <a:pt x="45" y="190"/>
                  </a:cubicBezTo>
                  <a:cubicBezTo>
                    <a:pt x="68" y="216"/>
                    <a:pt x="118" y="75"/>
                    <a:pt x="137" y="158"/>
                  </a:cubicBezTo>
                  <a:cubicBezTo>
                    <a:pt x="156" y="241"/>
                    <a:pt x="153" y="578"/>
                    <a:pt x="157" y="688"/>
                  </a:cubicBezTo>
                </a:path>
              </a:pathLst>
            </a:custGeom>
            <a:noFill/>
            <a:ln w="12700">
              <a:solidFill>
                <a:srgbClr val="FF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3" name="Line 49"/>
            <p:cNvSpPr>
              <a:spLocks noChangeShapeType="1"/>
            </p:cNvSpPr>
            <p:nvPr/>
          </p:nvSpPr>
          <p:spPr bwMode="auto">
            <a:xfrm>
              <a:off x="2698" y="2387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4" name="Line 50"/>
            <p:cNvSpPr>
              <a:spLocks noChangeShapeType="1"/>
            </p:cNvSpPr>
            <p:nvPr/>
          </p:nvSpPr>
          <p:spPr bwMode="auto">
            <a:xfrm>
              <a:off x="3787" y="2387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6425" name="Line 51"/>
            <p:cNvSpPr>
              <a:spLocks noChangeShapeType="1"/>
            </p:cNvSpPr>
            <p:nvPr/>
          </p:nvSpPr>
          <p:spPr bwMode="auto">
            <a:xfrm>
              <a:off x="4875" y="2387"/>
              <a:ext cx="1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53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23</a:t>
            </a:fld>
            <a:endParaRPr lang="zh-TW" altLang="en-US">
              <a:solidFill>
                <a:prstClr val="white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3D4EA1F-C166-4300-8C0C-234A87BE64B8}"/>
              </a:ext>
            </a:extLst>
          </p:cNvPr>
          <p:cNvCxnSpPr>
            <a:cxnSpLocks/>
          </p:cNvCxnSpPr>
          <p:nvPr/>
        </p:nvCxnSpPr>
        <p:spPr bwMode="auto">
          <a:xfrm flipH="1">
            <a:off x="8315017" y="4145170"/>
            <a:ext cx="361917" cy="379283"/>
          </a:xfrm>
          <a:prstGeom prst="straightConnector1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4" name="文本框 1">
            <a:extLst>
              <a:ext uri="{FF2B5EF4-FFF2-40B4-BE49-F238E27FC236}">
                <a16:creationId xmlns:a16="http://schemas.microsoft.com/office/drawing/2014/main" id="{056754F6-E234-4FDE-8A91-1D144CD3C47E}"/>
              </a:ext>
            </a:extLst>
          </p:cNvPr>
          <p:cNvSpPr txBox="1"/>
          <p:nvPr/>
        </p:nvSpPr>
        <p:spPr>
          <a:xfrm>
            <a:off x="6867922" y="960865"/>
            <a:ext cx="4880807" cy="707886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000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For general purpose register updates, WRITE is 0 for what RV instructions?</a:t>
            </a:r>
          </a:p>
        </p:txBody>
      </p:sp>
      <p:sp>
        <p:nvSpPr>
          <p:cNvPr id="55" name="文本框 1">
            <a:extLst>
              <a:ext uri="{FF2B5EF4-FFF2-40B4-BE49-F238E27FC236}">
                <a16:creationId xmlns:a16="http://schemas.microsoft.com/office/drawing/2014/main" id="{4E95A905-2A1A-4CB8-ACCB-87AC331CC42B}"/>
              </a:ext>
            </a:extLst>
          </p:cNvPr>
          <p:cNvSpPr txBox="1"/>
          <p:nvPr/>
        </p:nvSpPr>
        <p:spPr>
          <a:xfrm>
            <a:off x="8228628" y="2395578"/>
            <a:ext cx="3544420" cy="461665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square" rtlCol="0" anchor="ctr" anchorCtr="1">
            <a:spAutoFit/>
          </a:bodyPr>
          <a:lstStyle/>
          <a:p>
            <a:pPr defTabSz="1219170"/>
            <a:r>
              <a:rPr lang="en-US" altLang="zh-CN" sz="2400" b="1" dirty="0">
                <a:solidFill>
                  <a:srgbClr val="C00000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Branches and Stores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260183" y="58739"/>
            <a:ext cx="9045869" cy="901700"/>
          </a:xfrm>
        </p:spPr>
        <p:txBody>
          <a:bodyPr/>
          <a:lstStyle/>
          <a:p>
            <a:r>
              <a:rPr lang="en-US" altLang="zh-TW" dirty="0"/>
              <a:t>Clocking Methodology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11625" y="1078220"/>
            <a:ext cx="10322218" cy="2824163"/>
          </a:xfrm>
        </p:spPr>
        <p:txBody>
          <a:bodyPr/>
          <a:lstStyle/>
          <a:p>
            <a:r>
              <a:rPr lang="en-US" altLang="zh-TW" sz="3200" dirty="0"/>
              <a:t>Combinational logic transforms data during clock cycles</a:t>
            </a:r>
          </a:p>
          <a:p>
            <a:pPr lvl="1"/>
            <a:r>
              <a:rPr lang="en-US" altLang="zh-TW" dirty="0"/>
              <a:t>Between clock edges, </a:t>
            </a:r>
            <a:r>
              <a:rPr lang="en-US" altLang="zh-TW" dirty="0">
                <a:solidFill>
                  <a:schemeClr val="accent1"/>
                </a:solidFill>
              </a:rPr>
              <a:t>edge triggered clocking</a:t>
            </a:r>
            <a:endParaRPr lang="en-US" altLang="zh-TW" dirty="0"/>
          </a:p>
          <a:p>
            <a:pPr lvl="1"/>
            <a:r>
              <a:rPr lang="en-US" altLang="zh-TW" dirty="0"/>
              <a:t>Input from state elements, output to state element</a:t>
            </a:r>
          </a:p>
          <a:p>
            <a:pPr lvl="1"/>
            <a:r>
              <a:rPr lang="en-US" altLang="zh-TW" dirty="0"/>
              <a:t>Longest delay determines clock period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pic>
        <p:nvPicPr>
          <p:cNvPr id="17412" name="Picture 4" descr="f04-04-P37449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3704" y="4134259"/>
            <a:ext cx="5355291" cy="11568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3" name="Picture 5" descr="f04-03-P374493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683" y="4064666"/>
            <a:ext cx="4967773" cy="13534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24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291581" y="5496869"/>
            <a:ext cx="5355953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pPr defTabSz="1219170"/>
            <a:r>
              <a:rPr lang="en-US" altLang="zh-CN" sz="2400" dirty="0">
                <a:solidFill>
                  <a:srgbClr val="4F81BD"/>
                </a:solidFill>
                <a:latin typeface="Arial"/>
                <a:ea typeface="標楷體" panose="02010601000101010101" pitchFamily="65" charset="-120"/>
                <a:cs typeface="Calibri" panose="020F0702030404030204" pitchFamily="34" charset="0"/>
              </a:rPr>
              <a:t>enable read and write in a same clock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1413863" y="163927"/>
            <a:ext cx="8892188" cy="706931"/>
          </a:xfrm>
        </p:spPr>
        <p:txBody>
          <a:bodyPr/>
          <a:lstStyle/>
          <a:p>
            <a:r>
              <a:rPr lang="en-US" altLang="zh-TW" dirty="0"/>
              <a:t>Abstract View of RV32I Subset</a:t>
            </a:r>
            <a:endParaRPr lang="en-US" altLang="zh-CN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25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6DC8D-886C-432F-8A39-2E6D99E66025}"/>
              </a:ext>
            </a:extLst>
          </p:cNvPr>
          <p:cNvSpPr txBox="1"/>
          <p:nvPr/>
        </p:nvSpPr>
        <p:spPr>
          <a:xfrm>
            <a:off x="1711104" y="4613669"/>
            <a:ext cx="55226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PC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763C09-7791-4504-BC4E-DBE485004AE4}"/>
              </a:ext>
            </a:extLst>
          </p:cNvPr>
          <p:cNvSpPr/>
          <p:nvPr/>
        </p:nvSpPr>
        <p:spPr bwMode="auto">
          <a:xfrm>
            <a:off x="1702051" y="3992577"/>
            <a:ext cx="561315" cy="1611517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F180D6-E533-49FC-92AD-9A00F5DFF739}"/>
              </a:ext>
            </a:extLst>
          </p:cNvPr>
          <p:cNvSpPr/>
          <p:nvPr/>
        </p:nvSpPr>
        <p:spPr bwMode="auto">
          <a:xfrm>
            <a:off x="2625505" y="3720972"/>
            <a:ext cx="1765426" cy="2154725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B97B25-B39C-4C6B-83C3-42DA4F59E682}"/>
              </a:ext>
            </a:extLst>
          </p:cNvPr>
          <p:cNvCxnSpPr>
            <a:stCxn id="3" idx="3"/>
            <a:endCxn id="4" idx="1"/>
          </p:cNvCxnSpPr>
          <p:nvPr/>
        </p:nvCxnSpPr>
        <p:spPr bwMode="auto">
          <a:xfrm flipV="1">
            <a:off x="2263366" y="4798335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F13A8B-8C70-42D4-8781-EC386B0052DC}"/>
              </a:ext>
            </a:extLst>
          </p:cNvPr>
          <p:cNvSpPr txBox="1"/>
          <p:nvPr/>
        </p:nvSpPr>
        <p:spPr>
          <a:xfrm>
            <a:off x="2625505" y="5229366"/>
            <a:ext cx="1765426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Instruction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E236F5-565D-41BF-88F3-BBE3BEEDA869}"/>
              </a:ext>
            </a:extLst>
          </p:cNvPr>
          <p:cNvSpPr txBox="1"/>
          <p:nvPr/>
        </p:nvSpPr>
        <p:spPr>
          <a:xfrm>
            <a:off x="2643612" y="461366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DEEEAE-1CEC-421C-9A63-BD46A24F7F82}"/>
              </a:ext>
            </a:extLst>
          </p:cNvPr>
          <p:cNvSpPr txBox="1"/>
          <p:nvPr/>
        </p:nvSpPr>
        <p:spPr>
          <a:xfrm>
            <a:off x="3739082" y="4599506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inst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B6138C-28E8-48AE-8B64-4E1DB711A8E7}"/>
              </a:ext>
            </a:extLst>
          </p:cNvPr>
          <p:cNvCxnSpPr/>
          <p:nvPr/>
        </p:nvCxnSpPr>
        <p:spPr bwMode="auto">
          <a:xfrm flipV="1">
            <a:off x="4377351" y="4805873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5" name="Group 48">
            <a:extLst>
              <a:ext uri="{FF2B5EF4-FFF2-40B4-BE49-F238E27FC236}">
                <a16:creationId xmlns:a16="http://schemas.microsoft.com/office/drawing/2014/main" id="{1708B904-4025-48B5-8FF3-17C8BC86D1EF}"/>
              </a:ext>
            </a:extLst>
          </p:cNvPr>
          <p:cNvGrpSpPr/>
          <p:nvPr/>
        </p:nvGrpSpPr>
        <p:grpSpPr bwMode="auto">
          <a:xfrm>
            <a:off x="2897868" y="2102400"/>
            <a:ext cx="795285" cy="1108850"/>
            <a:chOff x="2926" y="2750"/>
            <a:chExt cx="498" cy="725"/>
          </a:xfrm>
        </p:grpSpPr>
        <p:sp>
          <p:nvSpPr>
            <p:cNvPr id="16" name="Line 49">
              <a:extLst>
                <a:ext uri="{FF2B5EF4-FFF2-40B4-BE49-F238E27FC236}">
                  <a16:creationId xmlns:a16="http://schemas.microsoft.com/office/drawing/2014/main" id="{5BC77547-8A2A-43DB-B453-61A260D135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2" name="Line 55">
              <a:extLst>
                <a:ext uri="{FF2B5EF4-FFF2-40B4-BE49-F238E27FC236}">
                  <a16:creationId xmlns:a16="http://schemas.microsoft.com/office/drawing/2014/main" id="{B4BD4DAF-70C5-49D5-B51F-1346B765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3" name="Line 56">
              <a:extLst>
                <a:ext uri="{FF2B5EF4-FFF2-40B4-BE49-F238E27FC236}">
                  <a16:creationId xmlns:a16="http://schemas.microsoft.com/office/drawing/2014/main" id="{CEB8CA83-774A-44F8-A352-44854ED2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E9D4706F-02AB-4D18-A464-19C8AAD2C7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5" name="Line 58">
              <a:extLst>
                <a:ext uri="{FF2B5EF4-FFF2-40B4-BE49-F238E27FC236}">
                  <a16:creationId xmlns:a16="http://schemas.microsoft.com/office/drawing/2014/main" id="{5A26BD1F-71C1-44D0-A09A-263FF96C9E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6" name="Line 59">
              <a:extLst>
                <a:ext uri="{FF2B5EF4-FFF2-40B4-BE49-F238E27FC236}">
                  <a16:creationId xmlns:a16="http://schemas.microsoft.com/office/drawing/2014/main" id="{74DF865D-DF51-4372-B1D8-8EEFB41BDC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" name="Line 60">
              <a:extLst>
                <a:ext uri="{FF2B5EF4-FFF2-40B4-BE49-F238E27FC236}">
                  <a16:creationId xmlns:a16="http://schemas.microsoft.com/office/drawing/2014/main" id="{58C65BD9-446C-4066-A2C3-5FF1A2F8E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" name="Line 61">
              <a:extLst>
                <a:ext uri="{FF2B5EF4-FFF2-40B4-BE49-F238E27FC236}">
                  <a16:creationId xmlns:a16="http://schemas.microsoft.com/office/drawing/2014/main" id="{4A2E7C78-AB6E-4D9E-B065-204E2E08C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9" name="Text Box 62">
              <a:extLst>
                <a:ext uri="{FF2B5EF4-FFF2-40B4-BE49-F238E27FC236}">
                  <a16:creationId xmlns:a16="http://schemas.microsoft.com/office/drawing/2014/main" id="{ADB0590A-C373-4F21-B3DA-B26A48814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70592D-FB04-48C0-85E9-016511669BFD}"/>
              </a:ext>
            </a:extLst>
          </p:cNvPr>
          <p:cNvCxnSpPr/>
          <p:nvPr/>
        </p:nvCxnSpPr>
        <p:spPr bwMode="auto">
          <a:xfrm flipV="1">
            <a:off x="2444435" y="3086816"/>
            <a:ext cx="0" cy="1697356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4" name="Group 48">
            <a:extLst>
              <a:ext uri="{FF2B5EF4-FFF2-40B4-BE49-F238E27FC236}">
                <a16:creationId xmlns:a16="http://schemas.microsoft.com/office/drawing/2014/main" id="{DDB462B4-3D53-4664-A368-83C8D87C926C}"/>
              </a:ext>
            </a:extLst>
          </p:cNvPr>
          <p:cNvGrpSpPr/>
          <p:nvPr/>
        </p:nvGrpSpPr>
        <p:grpSpPr bwMode="auto">
          <a:xfrm>
            <a:off x="4816924" y="1725746"/>
            <a:ext cx="579696" cy="1108850"/>
            <a:chOff x="3061" y="2750"/>
            <a:chExt cx="363" cy="725"/>
          </a:xfrm>
        </p:grpSpPr>
        <p:sp>
          <p:nvSpPr>
            <p:cNvPr id="38" name="Line 55">
              <a:extLst>
                <a:ext uri="{FF2B5EF4-FFF2-40B4-BE49-F238E27FC236}">
                  <a16:creationId xmlns:a16="http://schemas.microsoft.com/office/drawing/2014/main" id="{9460A4D4-5FAD-47D3-81E6-E3CE91EE25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39" name="Line 56">
              <a:extLst>
                <a:ext uri="{FF2B5EF4-FFF2-40B4-BE49-F238E27FC236}">
                  <a16:creationId xmlns:a16="http://schemas.microsoft.com/office/drawing/2014/main" id="{A405C5A2-A907-423E-92E5-75DCE2B84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0" name="Line 57">
              <a:extLst>
                <a:ext uri="{FF2B5EF4-FFF2-40B4-BE49-F238E27FC236}">
                  <a16:creationId xmlns:a16="http://schemas.microsoft.com/office/drawing/2014/main" id="{2EDF4C95-C10B-45FB-9A8A-EBE0F6D2B6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1" name="Line 58">
              <a:extLst>
                <a:ext uri="{FF2B5EF4-FFF2-40B4-BE49-F238E27FC236}">
                  <a16:creationId xmlns:a16="http://schemas.microsoft.com/office/drawing/2014/main" id="{07A93669-3E88-4B8E-8A7B-ABA56D8A5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2" name="Line 59">
              <a:extLst>
                <a:ext uri="{FF2B5EF4-FFF2-40B4-BE49-F238E27FC236}">
                  <a16:creationId xmlns:a16="http://schemas.microsoft.com/office/drawing/2014/main" id="{41CAD5A2-4B4A-4FB6-A2BC-A72416CC6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3" name="Line 60">
              <a:extLst>
                <a:ext uri="{FF2B5EF4-FFF2-40B4-BE49-F238E27FC236}">
                  <a16:creationId xmlns:a16="http://schemas.microsoft.com/office/drawing/2014/main" id="{D50029AA-C476-4630-8368-995F6AA4CF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4" name="Line 61">
              <a:extLst>
                <a:ext uri="{FF2B5EF4-FFF2-40B4-BE49-F238E27FC236}">
                  <a16:creationId xmlns:a16="http://schemas.microsoft.com/office/drawing/2014/main" id="{7A7C6E38-2D6E-4FFF-997A-DD7F09656D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5" name="Text Box 62">
              <a:extLst>
                <a:ext uri="{FF2B5EF4-FFF2-40B4-BE49-F238E27FC236}">
                  <a16:creationId xmlns:a16="http://schemas.microsoft.com/office/drawing/2014/main" id="{B65966B0-B48C-479B-86F5-C8B9C936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7BE3A2-1CDF-4252-8363-23F21A59696F}"/>
              </a:ext>
            </a:extLst>
          </p:cNvPr>
          <p:cNvCxnSpPr/>
          <p:nvPr/>
        </p:nvCxnSpPr>
        <p:spPr bwMode="auto">
          <a:xfrm>
            <a:off x="2444435" y="3086816"/>
            <a:ext cx="669021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2C43C39-65BC-4B88-9065-8A2D9AEB23D8}"/>
              </a:ext>
            </a:extLst>
          </p:cNvPr>
          <p:cNvSpPr txBox="1"/>
          <p:nvPr/>
        </p:nvSpPr>
        <p:spPr>
          <a:xfrm>
            <a:off x="2643612" y="2130433"/>
            <a:ext cx="25120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4DF7F29-8532-433D-97AA-E5477AA9F238}"/>
              </a:ext>
            </a:extLst>
          </p:cNvPr>
          <p:cNvCxnSpPr/>
          <p:nvPr/>
        </p:nvCxnSpPr>
        <p:spPr bwMode="auto">
          <a:xfrm>
            <a:off x="2444435" y="3494638"/>
            <a:ext cx="1738266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01341F3-509D-4721-A7F3-A07C6F400FAB}"/>
              </a:ext>
            </a:extLst>
          </p:cNvPr>
          <p:cNvCxnSpPr/>
          <p:nvPr/>
        </p:nvCxnSpPr>
        <p:spPr bwMode="auto">
          <a:xfrm flipV="1">
            <a:off x="4191754" y="1933751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106A893-7947-4B5C-A7C5-F75FD2BB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82701" y="1955759"/>
            <a:ext cx="634218" cy="364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C8B140-5902-44A6-AF4B-1FE5F22C1775}"/>
              </a:ext>
            </a:extLst>
          </p:cNvPr>
          <p:cNvCxnSpPr>
            <a:cxnSpLocks/>
          </p:cNvCxnSpPr>
          <p:nvPr/>
        </p:nvCxnSpPr>
        <p:spPr bwMode="auto">
          <a:xfrm flipV="1">
            <a:off x="4516169" y="2618944"/>
            <a:ext cx="0" cy="217939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7" name="Line 49">
            <a:extLst>
              <a:ext uri="{FF2B5EF4-FFF2-40B4-BE49-F238E27FC236}">
                <a16:creationId xmlns:a16="http://schemas.microsoft.com/office/drawing/2014/main" id="{4B19C78B-385D-44E0-9D5F-8AC05D3205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2303" y="2618944"/>
            <a:ext cx="294615" cy="2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8" name="Line 49">
            <a:extLst>
              <a:ext uri="{FF2B5EF4-FFF2-40B4-BE49-F238E27FC236}">
                <a16:creationId xmlns:a16="http://schemas.microsoft.com/office/drawing/2014/main" id="{B04065AF-DDBB-4C8F-A5A8-747648A99E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3153" y="2657831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9" name="Line 49">
            <a:extLst>
              <a:ext uri="{FF2B5EF4-FFF2-40B4-BE49-F238E27FC236}">
                <a16:creationId xmlns:a16="http://schemas.microsoft.com/office/drawing/2014/main" id="{E613C17A-118D-4635-BE0E-B5B1FE435D3C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6620" y="2279406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AA62194-D82D-4F3D-9299-AF0932D65B7E}"/>
              </a:ext>
            </a:extLst>
          </p:cNvPr>
          <p:cNvSpPr/>
          <p:nvPr/>
        </p:nvSpPr>
        <p:spPr bwMode="auto">
          <a:xfrm>
            <a:off x="4834552" y="3687954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54FD5D-752D-4702-BAA3-853487A072BF}"/>
              </a:ext>
            </a:extLst>
          </p:cNvPr>
          <p:cNvSpPr txBox="1"/>
          <p:nvPr/>
        </p:nvSpPr>
        <p:spPr>
          <a:xfrm>
            <a:off x="4842475" y="3842825"/>
            <a:ext cx="70729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A0D087-858C-4C22-B372-7CAB5B2B814C}"/>
              </a:ext>
            </a:extLst>
          </p:cNvPr>
          <p:cNvSpPr txBox="1"/>
          <p:nvPr/>
        </p:nvSpPr>
        <p:spPr>
          <a:xfrm>
            <a:off x="4840584" y="4393419"/>
            <a:ext cx="142441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C56500-4E89-4DAA-A10E-914BC859F186}"/>
              </a:ext>
            </a:extLst>
          </p:cNvPr>
          <p:cNvSpPr txBox="1"/>
          <p:nvPr/>
        </p:nvSpPr>
        <p:spPr>
          <a:xfrm>
            <a:off x="4842475" y="3309972"/>
            <a:ext cx="2098964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637D9E-A9A0-4347-BE4C-7F9A891C3C1B}"/>
              </a:ext>
            </a:extLst>
          </p:cNvPr>
          <p:cNvSpPr txBox="1"/>
          <p:nvPr/>
        </p:nvSpPr>
        <p:spPr>
          <a:xfrm>
            <a:off x="4847092" y="481967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99D937-6A61-42CC-94B6-2CFEA64690F6}"/>
              </a:ext>
            </a:extLst>
          </p:cNvPr>
          <p:cNvSpPr txBox="1"/>
          <p:nvPr/>
        </p:nvSpPr>
        <p:spPr>
          <a:xfrm>
            <a:off x="4847092" y="523476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rd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grpSp>
        <p:nvGrpSpPr>
          <p:cNvPr id="66" name="Group 48">
            <a:extLst>
              <a:ext uri="{FF2B5EF4-FFF2-40B4-BE49-F238E27FC236}">
                <a16:creationId xmlns:a16="http://schemas.microsoft.com/office/drawing/2014/main" id="{4D8386ED-3814-45C6-A46C-32B5AF48A051}"/>
              </a:ext>
            </a:extLst>
          </p:cNvPr>
          <p:cNvGrpSpPr/>
          <p:nvPr/>
        </p:nvGrpSpPr>
        <p:grpSpPr bwMode="auto">
          <a:xfrm>
            <a:off x="7504293" y="3842825"/>
            <a:ext cx="579696" cy="1433915"/>
            <a:chOff x="3061" y="2750"/>
            <a:chExt cx="363" cy="725"/>
          </a:xfrm>
        </p:grpSpPr>
        <p:sp>
          <p:nvSpPr>
            <p:cNvPr id="67" name="Line 55">
              <a:extLst>
                <a:ext uri="{FF2B5EF4-FFF2-40B4-BE49-F238E27FC236}">
                  <a16:creationId xmlns:a16="http://schemas.microsoft.com/office/drawing/2014/main" id="{B8F0C5FE-D783-4FD0-A56F-9D852E57A5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8" name="Line 56">
              <a:extLst>
                <a:ext uri="{FF2B5EF4-FFF2-40B4-BE49-F238E27FC236}">
                  <a16:creationId xmlns:a16="http://schemas.microsoft.com/office/drawing/2014/main" id="{046FC258-0BBA-4704-8E3D-771B08F949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9" name="Line 57">
              <a:extLst>
                <a:ext uri="{FF2B5EF4-FFF2-40B4-BE49-F238E27FC236}">
                  <a16:creationId xmlns:a16="http://schemas.microsoft.com/office/drawing/2014/main" id="{AA5099A2-E996-4B4D-B5EE-BE5A16F275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0" name="Line 58">
              <a:extLst>
                <a:ext uri="{FF2B5EF4-FFF2-40B4-BE49-F238E27FC236}">
                  <a16:creationId xmlns:a16="http://schemas.microsoft.com/office/drawing/2014/main" id="{9B188378-CB73-4304-8AE1-023EB8016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1" name="Line 59">
              <a:extLst>
                <a:ext uri="{FF2B5EF4-FFF2-40B4-BE49-F238E27FC236}">
                  <a16:creationId xmlns:a16="http://schemas.microsoft.com/office/drawing/2014/main" id="{CAEC01F4-2D8C-45F1-B53F-A8200097F4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2" name="Line 60">
              <a:extLst>
                <a:ext uri="{FF2B5EF4-FFF2-40B4-BE49-F238E27FC236}">
                  <a16:creationId xmlns:a16="http://schemas.microsoft.com/office/drawing/2014/main" id="{FA6AFBA5-1772-4662-A8F7-1B8AA7D43B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3" name="Line 61">
              <a:extLst>
                <a:ext uri="{FF2B5EF4-FFF2-40B4-BE49-F238E27FC236}">
                  <a16:creationId xmlns:a16="http://schemas.microsoft.com/office/drawing/2014/main" id="{E867097F-0791-4602-A215-F6CDBE9BCD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4" name="Text Box 62">
              <a:extLst>
                <a:ext uri="{FF2B5EF4-FFF2-40B4-BE49-F238E27FC236}">
                  <a16:creationId xmlns:a16="http://schemas.microsoft.com/office/drawing/2014/main" id="{DB572613-D747-410B-8908-F5920CE46E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63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3519035D-5CB0-4BAB-A1D0-29F80E07C06C}"/>
              </a:ext>
            </a:extLst>
          </p:cNvPr>
          <p:cNvSpPr/>
          <p:nvPr/>
        </p:nvSpPr>
        <p:spPr bwMode="auto">
          <a:xfrm>
            <a:off x="8672999" y="3560077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FD89F7-70AD-4696-9E9F-D86A71DCDA0C}"/>
              </a:ext>
            </a:extLst>
          </p:cNvPr>
          <p:cNvSpPr txBox="1"/>
          <p:nvPr/>
        </p:nvSpPr>
        <p:spPr>
          <a:xfrm>
            <a:off x="9045921" y="4322507"/>
            <a:ext cx="1715860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261A1A-8C54-4615-95C8-6ADA1E042164}"/>
              </a:ext>
            </a:extLst>
          </p:cNvPr>
          <p:cNvSpPr txBox="1"/>
          <p:nvPr/>
        </p:nvSpPr>
        <p:spPr>
          <a:xfrm>
            <a:off x="8672998" y="3807911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466BC9-EC15-409F-BCF8-BF7E042FB12F}"/>
              </a:ext>
            </a:extLst>
          </p:cNvPr>
          <p:cNvSpPr txBox="1"/>
          <p:nvPr/>
        </p:nvSpPr>
        <p:spPr>
          <a:xfrm>
            <a:off x="8682881" y="517795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45B4268-0B0F-4779-8481-0421390222B6}"/>
              </a:ext>
            </a:extLst>
          </p:cNvPr>
          <p:cNvCxnSpPr>
            <a:cxnSpLocks/>
          </p:cNvCxnSpPr>
          <p:nvPr/>
        </p:nvCxnSpPr>
        <p:spPr bwMode="auto">
          <a:xfrm>
            <a:off x="6923334" y="4081188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3B1A3A3-B79B-4F8E-809A-828F499EFD85}"/>
              </a:ext>
            </a:extLst>
          </p:cNvPr>
          <p:cNvCxnSpPr>
            <a:cxnSpLocks/>
          </p:cNvCxnSpPr>
          <p:nvPr/>
        </p:nvCxnSpPr>
        <p:spPr bwMode="auto">
          <a:xfrm>
            <a:off x="6941439" y="5069231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77454B7-5B57-4987-9A66-B4E485A7EB38}"/>
              </a:ext>
            </a:extLst>
          </p:cNvPr>
          <p:cNvCxnSpPr>
            <a:cxnSpLocks/>
          </p:cNvCxnSpPr>
          <p:nvPr/>
        </p:nvCxnSpPr>
        <p:spPr bwMode="auto">
          <a:xfrm flipV="1">
            <a:off x="8090443" y="4477331"/>
            <a:ext cx="283925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69427D0-BFA0-418D-B2C8-43DDC7AFBD1E}"/>
              </a:ext>
            </a:extLst>
          </p:cNvPr>
          <p:cNvCxnSpPr>
            <a:cxnSpLocks/>
          </p:cNvCxnSpPr>
          <p:nvPr/>
        </p:nvCxnSpPr>
        <p:spPr bwMode="auto">
          <a:xfrm flipV="1">
            <a:off x="8381912" y="3992577"/>
            <a:ext cx="0" cy="5145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6" name="Line 49">
            <a:extLst>
              <a:ext uri="{FF2B5EF4-FFF2-40B4-BE49-F238E27FC236}">
                <a16:creationId xmlns:a16="http://schemas.microsoft.com/office/drawing/2014/main" id="{899FC1CC-AB6D-445B-9C85-B4ACF89905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74374" y="3978836"/>
            <a:ext cx="308507" cy="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AED3FB5-F682-4B54-B39F-788FDB1867BF}"/>
              </a:ext>
            </a:extLst>
          </p:cNvPr>
          <p:cNvCxnSpPr>
            <a:cxnSpLocks/>
          </p:cNvCxnSpPr>
          <p:nvPr/>
        </p:nvCxnSpPr>
        <p:spPr bwMode="auto">
          <a:xfrm flipV="1">
            <a:off x="7221560" y="5055840"/>
            <a:ext cx="0" cy="42150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9" name="Line 49">
            <a:extLst>
              <a:ext uri="{FF2B5EF4-FFF2-40B4-BE49-F238E27FC236}">
                <a16:creationId xmlns:a16="http://schemas.microsoft.com/office/drawing/2014/main" id="{D5111B26-8960-4C5A-81A0-12F0C98008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5786" y="5451982"/>
            <a:ext cx="1455914" cy="2536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012C138-8BE7-466E-B9E3-B095A8F6CCFF}"/>
              </a:ext>
            </a:extLst>
          </p:cNvPr>
          <p:cNvCxnSpPr>
            <a:cxnSpLocks/>
          </p:cNvCxnSpPr>
          <p:nvPr/>
        </p:nvCxnSpPr>
        <p:spPr bwMode="auto">
          <a:xfrm>
            <a:off x="4644428" y="3086816"/>
            <a:ext cx="638269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A2F477D-8C97-4121-9FBE-CF8A43D67C28}"/>
              </a:ext>
            </a:extLst>
          </p:cNvPr>
          <p:cNvCxnSpPr/>
          <p:nvPr/>
        </p:nvCxnSpPr>
        <p:spPr bwMode="auto">
          <a:xfrm flipV="1">
            <a:off x="11025612" y="3094279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3FEBFD7-0ED4-452E-8695-7DD89D926E99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4428" y="3094279"/>
            <a:ext cx="0" cy="898298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7" name="Line 49">
            <a:extLst>
              <a:ext uri="{FF2B5EF4-FFF2-40B4-BE49-F238E27FC236}">
                <a16:creationId xmlns:a16="http://schemas.microsoft.com/office/drawing/2014/main" id="{0B1E28C1-2477-4F34-9C20-C3B27FF00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4428" y="3996232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8" name="Line 49">
            <a:extLst>
              <a:ext uri="{FF2B5EF4-FFF2-40B4-BE49-F238E27FC236}">
                <a16:creationId xmlns:a16="http://schemas.microsoft.com/office/drawing/2014/main" id="{89204497-6A1E-4F94-802D-042F058CC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92147" y="4692150"/>
            <a:ext cx="36072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D6C29C6-1225-484A-8162-3D0414C7CC83}"/>
              </a:ext>
            </a:extLst>
          </p:cNvPr>
          <p:cNvCxnSpPr>
            <a:cxnSpLocks/>
          </p:cNvCxnSpPr>
          <p:nvPr/>
        </p:nvCxnSpPr>
        <p:spPr bwMode="auto">
          <a:xfrm flipV="1">
            <a:off x="1348966" y="1338468"/>
            <a:ext cx="4264840" cy="17627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E3D565B-B959-4A6C-A208-ED9CBF0C792D}"/>
              </a:ext>
            </a:extLst>
          </p:cNvPr>
          <p:cNvCxnSpPr>
            <a:cxnSpLocks/>
            <a:stCxn id="59" idx="1"/>
          </p:cNvCxnSpPr>
          <p:nvPr/>
        </p:nvCxnSpPr>
        <p:spPr bwMode="auto">
          <a:xfrm flipV="1">
            <a:off x="5613806" y="1338468"/>
            <a:ext cx="0" cy="940939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E7707A0-3F0A-47F7-8BF9-7246F857AA1F}"/>
              </a:ext>
            </a:extLst>
          </p:cNvPr>
          <p:cNvCxnSpPr>
            <a:cxnSpLocks/>
          </p:cNvCxnSpPr>
          <p:nvPr/>
        </p:nvCxnSpPr>
        <p:spPr bwMode="auto">
          <a:xfrm flipV="1">
            <a:off x="1339912" y="1356096"/>
            <a:ext cx="9055" cy="3459936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ED6079D-AC34-4FEE-8791-F5A4346EECC6}"/>
              </a:ext>
            </a:extLst>
          </p:cNvPr>
          <p:cNvCxnSpPr/>
          <p:nvPr/>
        </p:nvCxnSpPr>
        <p:spPr bwMode="auto">
          <a:xfrm flipV="1">
            <a:off x="1327935" y="4816032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297E9F4-61CA-4A0B-AE86-3D82B5102AF7}"/>
              </a:ext>
            </a:extLst>
          </p:cNvPr>
          <p:cNvCxnSpPr>
            <a:cxnSpLocks/>
            <a:stCxn id="58" idx="1"/>
          </p:cNvCxnSpPr>
          <p:nvPr/>
        </p:nvCxnSpPr>
        <p:spPr bwMode="auto">
          <a:xfrm flipV="1">
            <a:off x="3910339" y="1356095"/>
            <a:ext cx="0" cy="130173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FED88A-B6DD-4330-B696-B0892492BD2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729585" y="4585371"/>
            <a:ext cx="9905" cy="1435183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5" name="Line 49">
            <a:extLst>
              <a:ext uri="{FF2B5EF4-FFF2-40B4-BE49-F238E27FC236}">
                <a16:creationId xmlns:a16="http://schemas.microsoft.com/office/drawing/2014/main" id="{A2FDB1EB-BE77-4A16-ADDD-CEB3EC4CD0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4585371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6" name="Line 49">
            <a:extLst>
              <a:ext uri="{FF2B5EF4-FFF2-40B4-BE49-F238E27FC236}">
                <a16:creationId xmlns:a16="http://schemas.microsoft.com/office/drawing/2014/main" id="{9C9CD79A-03F9-48A6-BCCB-B90563B5DA7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9585" y="5055840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7" name="Line 49">
            <a:extLst>
              <a:ext uri="{FF2B5EF4-FFF2-40B4-BE49-F238E27FC236}">
                <a16:creationId xmlns:a16="http://schemas.microsoft.com/office/drawing/2014/main" id="{5F67B85F-6455-4723-AFBE-AA8D1F6F1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5462049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AFEB6CA-4501-490B-B33F-13B71A9CAD87}"/>
              </a:ext>
            </a:extLst>
          </p:cNvPr>
          <p:cNvCxnSpPr>
            <a:cxnSpLocks/>
          </p:cNvCxnSpPr>
          <p:nvPr/>
        </p:nvCxnSpPr>
        <p:spPr bwMode="auto">
          <a:xfrm flipV="1">
            <a:off x="4708325" y="6017820"/>
            <a:ext cx="2380538" cy="8814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D5D2A40D-B1D3-4BFC-950A-D41BDA55A64D}"/>
              </a:ext>
            </a:extLst>
          </p:cNvPr>
          <p:cNvCxnSpPr>
            <a:cxnSpLocks/>
          </p:cNvCxnSpPr>
          <p:nvPr/>
        </p:nvCxnSpPr>
        <p:spPr bwMode="auto">
          <a:xfrm flipV="1">
            <a:off x="7088863" y="5069231"/>
            <a:ext cx="0" cy="93922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CC3D4E1-F920-46C3-A234-ECFCF96E5A94}"/>
              </a:ext>
            </a:extLst>
          </p:cNvPr>
          <p:cNvCxnSpPr>
            <a:cxnSpLocks/>
          </p:cNvCxnSpPr>
          <p:nvPr/>
        </p:nvCxnSpPr>
        <p:spPr bwMode="auto">
          <a:xfrm flipV="1">
            <a:off x="8237144" y="3094279"/>
            <a:ext cx="0" cy="13771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F917F70-BD22-4805-BF60-7298E3F6A0BE}"/>
              </a:ext>
            </a:extLst>
          </p:cNvPr>
          <p:cNvSpPr txBox="1"/>
          <p:nvPr/>
        </p:nvSpPr>
        <p:spPr>
          <a:xfrm>
            <a:off x="8851769" y="1213132"/>
            <a:ext cx="736099" cy="120032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Load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Store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Add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BEQ</a:t>
            </a:r>
          </a:p>
        </p:txBody>
      </p:sp>
    </p:spTree>
    <p:extLst>
      <p:ext uri="{BB962C8B-B14F-4D97-AF65-F5344CB8AC3E}">
        <p14:creationId xmlns:p14="http://schemas.microsoft.com/office/powerpoint/2010/main" val="1343759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26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6DC8D-886C-432F-8A39-2E6D99E66025}"/>
              </a:ext>
            </a:extLst>
          </p:cNvPr>
          <p:cNvSpPr txBox="1"/>
          <p:nvPr/>
        </p:nvSpPr>
        <p:spPr>
          <a:xfrm>
            <a:off x="1711104" y="4613669"/>
            <a:ext cx="55226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PC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763C09-7791-4504-BC4E-DBE485004AE4}"/>
              </a:ext>
            </a:extLst>
          </p:cNvPr>
          <p:cNvSpPr/>
          <p:nvPr/>
        </p:nvSpPr>
        <p:spPr bwMode="auto">
          <a:xfrm>
            <a:off x="1702051" y="3992577"/>
            <a:ext cx="561315" cy="1611517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F180D6-E533-49FC-92AD-9A00F5DFF739}"/>
              </a:ext>
            </a:extLst>
          </p:cNvPr>
          <p:cNvSpPr/>
          <p:nvPr/>
        </p:nvSpPr>
        <p:spPr bwMode="auto">
          <a:xfrm>
            <a:off x="2625505" y="3720972"/>
            <a:ext cx="1765426" cy="2154725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B97B25-B39C-4C6B-83C3-42DA4F59E682}"/>
              </a:ext>
            </a:extLst>
          </p:cNvPr>
          <p:cNvCxnSpPr>
            <a:stCxn id="3" idx="3"/>
            <a:endCxn id="4" idx="1"/>
          </p:cNvCxnSpPr>
          <p:nvPr/>
        </p:nvCxnSpPr>
        <p:spPr bwMode="auto">
          <a:xfrm flipV="1">
            <a:off x="2263366" y="4798335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F13A8B-8C70-42D4-8781-EC386B0052DC}"/>
              </a:ext>
            </a:extLst>
          </p:cNvPr>
          <p:cNvSpPr txBox="1"/>
          <p:nvPr/>
        </p:nvSpPr>
        <p:spPr>
          <a:xfrm>
            <a:off x="2625505" y="5229366"/>
            <a:ext cx="1765426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Instruction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E236F5-565D-41BF-88F3-BBE3BEEDA869}"/>
              </a:ext>
            </a:extLst>
          </p:cNvPr>
          <p:cNvSpPr txBox="1"/>
          <p:nvPr/>
        </p:nvSpPr>
        <p:spPr>
          <a:xfrm>
            <a:off x="2643612" y="461366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DEEEAE-1CEC-421C-9A63-BD46A24F7F82}"/>
              </a:ext>
            </a:extLst>
          </p:cNvPr>
          <p:cNvSpPr txBox="1"/>
          <p:nvPr/>
        </p:nvSpPr>
        <p:spPr>
          <a:xfrm>
            <a:off x="3739082" y="4599506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inst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B6138C-28E8-48AE-8B64-4E1DB711A8E7}"/>
              </a:ext>
            </a:extLst>
          </p:cNvPr>
          <p:cNvCxnSpPr/>
          <p:nvPr/>
        </p:nvCxnSpPr>
        <p:spPr bwMode="auto">
          <a:xfrm flipV="1">
            <a:off x="4377351" y="4805873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5" name="Group 48">
            <a:extLst>
              <a:ext uri="{FF2B5EF4-FFF2-40B4-BE49-F238E27FC236}">
                <a16:creationId xmlns:a16="http://schemas.microsoft.com/office/drawing/2014/main" id="{1708B904-4025-48B5-8FF3-17C8BC86D1EF}"/>
              </a:ext>
            </a:extLst>
          </p:cNvPr>
          <p:cNvGrpSpPr/>
          <p:nvPr/>
        </p:nvGrpSpPr>
        <p:grpSpPr bwMode="auto">
          <a:xfrm>
            <a:off x="2897868" y="2102400"/>
            <a:ext cx="795285" cy="1108850"/>
            <a:chOff x="2926" y="2750"/>
            <a:chExt cx="498" cy="725"/>
          </a:xfrm>
        </p:grpSpPr>
        <p:sp>
          <p:nvSpPr>
            <p:cNvPr id="16" name="Line 49">
              <a:extLst>
                <a:ext uri="{FF2B5EF4-FFF2-40B4-BE49-F238E27FC236}">
                  <a16:creationId xmlns:a16="http://schemas.microsoft.com/office/drawing/2014/main" id="{5BC77547-8A2A-43DB-B453-61A260D135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2" name="Line 55">
              <a:extLst>
                <a:ext uri="{FF2B5EF4-FFF2-40B4-BE49-F238E27FC236}">
                  <a16:creationId xmlns:a16="http://schemas.microsoft.com/office/drawing/2014/main" id="{B4BD4DAF-70C5-49D5-B51F-1346B765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3" name="Line 56">
              <a:extLst>
                <a:ext uri="{FF2B5EF4-FFF2-40B4-BE49-F238E27FC236}">
                  <a16:creationId xmlns:a16="http://schemas.microsoft.com/office/drawing/2014/main" id="{CEB8CA83-774A-44F8-A352-44854ED2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E9D4706F-02AB-4D18-A464-19C8AAD2C7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5" name="Line 58">
              <a:extLst>
                <a:ext uri="{FF2B5EF4-FFF2-40B4-BE49-F238E27FC236}">
                  <a16:creationId xmlns:a16="http://schemas.microsoft.com/office/drawing/2014/main" id="{5A26BD1F-71C1-44D0-A09A-263FF96C9E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6" name="Line 59">
              <a:extLst>
                <a:ext uri="{FF2B5EF4-FFF2-40B4-BE49-F238E27FC236}">
                  <a16:creationId xmlns:a16="http://schemas.microsoft.com/office/drawing/2014/main" id="{74DF865D-DF51-4372-B1D8-8EEFB41BDC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" name="Line 60">
              <a:extLst>
                <a:ext uri="{FF2B5EF4-FFF2-40B4-BE49-F238E27FC236}">
                  <a16:creationId xmlns:a16="http://schemas.microsoft.com/office/drawing/2014/main" id="{58C65BD9-446C-4066-A2C3-5FF1A2F8E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" name="Line 61">
              <a:extLst>
                <a:ext uri="{FF2B5EF4-FFF2-40B4-BE49-F238E27FC236}">
                  <a16:creationId xmlns:a16="http://schemas.microsoft.com/office/drawing/2014/main" id="{4A2E7C78-AB6E-4D9E-B065-204E2E08C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9" name="Text Box 62">
              <a:extLst>
                <a:ext uri="{FF2B5EF4-FFF2-40B4-BE49-F238E27FC236}">
                  <a16:creationId xmlns:a16="http://schemas.microsoft.com/office/drawing/2014/main" id="{ADB0590A-C373-4F21-B3DA-B26A48814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70592D-FB04-48C0-85E9-016511669BFD}"/>
              </a:ext>
            </a:extLst>
          </p:cNvPr>
          <p:cNvCxnSpPr/>
          <p:nvPr/>
        </p:nvCxnSpPr>
        <p:spPr bwMode="auto">
          <a:xfrm flipV="1">
            <a:off x="2444435" y="3086816"/>
            <a:ext cx="0" cy="1697356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4" name="Group 48">
            <a:extLst>
              <a:ext uri="{FF2B5EF4-FFF2-40B4-BE49-F238E27FC236}">
                <a16:creationId xmlns:a16="http://schemas.microsoft.com/office/drawing/2014/main" id="{DDB462B4-3D53-4664-A368-83C8D87C926C}"/>
              </a:ext>
            </a:extLst>
          </p:cNvPr>
          <p:cNvGrpSpPr/>
          <p:nvPr/>
        </p:nvGrpSpPr>
        <p:grpSpPr bwMode="auto">
          <a:xfrm>
            <a:off x="4816924" y="1725746"/>
            <a:ext cx="579696" cy="1108850"/>
            <a:chOff x="3061" y="2750"/>
            <a:chExt cx="363" cy="725"/>
          </a:xfrm>
        </p:grpSpPr>
        <p:sp>
          <p:nvSpPr>
            <p:cNvPr id="38" name="Line 55">
              <a:extLst>
                <a:ext uri="{FF2B5EF4-FFF2-40B4-BE49-F238E27FC236}">
                  <a16:creationId xmlns:a16="http://schemas.microsoft.com/office/drawing/2014/main" id="{9460A4D4-5FAD-47D3-81E6-E3CE91EE25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39" name="Line 56">
              <a:extLst>
                <a:ext uri="{FF2B5EF4-FFF2-40B4-BE49-F238E27FC236}">
                  <a16:creationId xmlns:a16="http://schemas.microsoft.com/office/drawing/2014/main" id="{A405C5A2-A907-423E-92E5-75DCE2B84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0" name="Line 57">
              <a:extLst>
                <a:ext uri="{FF2B5EF4-FFF2-40B4-BE49-F238E27FC236}">
                  <a16:creationId xmlns:a16="http://schemas.microsoft.com/office/drawing/2014/main" id="{2EDF4C95-C10B-45FB-9A8A-EBE0F6D2B6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1" name="Line 58">
              <a:extLst>
                <a:ext uri="{FF2B5EF4-FFF2-40B4-BE49-F238E27FC236}">
                  <a16:creationId xmlns:a16="http://schemas.microsoft.com/office/drawing/2014/main" id="{07A93669-3E88-4B8E-8A7B-ABA56D8A5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2" name="Line 59">
              <a:extLst>
                <a:ext uri="{FF2B5EF4-FFF2-40B4-BE49-F238E27FC236}">
                  <a16:creationId xmlns:a16="http://schemas.microsoft.com/office/drawing/2014/main" id="{41CAD5A2-4B4A-4FB6-A2BC-A72416CC6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3" name="Line 60">
              <a:extLst>
                <a:ext uri="{FF2B5EF4-FFF2-40B4-BE49-F238E27FC236}">
                  <a16:creationId xmlns:a16="http://schemas.microsoft.com/office/drawing/2014/main" id="{D50029AA-C476-4630-8368-995F6AA4CF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4" name="Line 61">
              <a:extLst>
                <a:ext uri="{FF2B5EF4-FFF2-40B4-BE49-F238E27FC236}">
                  <a16:creationId xmlns:a16="http://schemas.microsoft.com/office/drawing/2014/main" id="{7A7C6E38-2D6E-4FFF-997A-DD7F09656D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5" name="Text Box 62">
              <a:extLst>
                <a:ext uri="{FF2B5EF4-FFF2-40B4-BE49-F238E27FC236}">
                  <a16:creationId xmlns:a16="http://schemas.microsoft.com/office/drawing/2014/main" id="{B65966B0-B48C-479B-86F5-C8B9C936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7BE3A2-1CDF-4252-8363-23F21A59696F}"/>
              </a:ext>
            </a:extLst>
          </p:cNvPr>
          <p:cNvCxnSpPr/>
          <p:nvPr/>
        </p:nvCxnSpPr>
        <p:spPr bwMode="auto">
          <a:xfrm>
            <a:off x="2444435" y="3086816"/>
            <a:ext cx="669021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2C43C39-65BC-4B88-9065-8A2D9AEB23D8}"/>
              </a:ext>
            </a:extLst>
          </p:cNvPr>
          <p:cNvSpPr txBox="1"/>
          <p:nvPr/>
        </p:nvSpPr>
        <p:spPr>
          <a:xfrm>
            <a:off x="2643612" y="2130433"/>
            <a:ext cx="25120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4DF7F29-8532-433D-97AA-E5477AA9F238}"/>
              </a:ext>
            </a:extLst>
          </p:cNvPr>
          <p:cNvCxnSpPr/>
          <p:nvPr/>
        </p:nvCxnSpPr>
        <p:spPr bwMode="auto">
          <a:xfrm>
            <a:off x="2444435" y="3494638"/>
            <a:ext cx="1738266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01341F3-509D-4721-A7F3-A07C6F400FAB}"/>
              </a:ext>
            </a:extLst>
          </p:cNvPr>
          <p:cNvCxnSpPr/>
          <p:nvPr/>
        </p:nvCxnSpPr>
        <p:spPr bwMode="auto">
          <a:xfrm flipV="1">
            <a:off x="4191754" y="1933751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106A893-7947-4B5C-A7C5-F75FD2BB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82701" y="1955759"/>
            <a:ext cx="634218" cy="364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C8B140-5902-44A6-AF4B-1FE5F22C1775}"/>
              </a:ext>
            </a:extLst>
          </p:cNvPr>
          <p:cNvCxnSpPr>
            <a:cxnSpLocks/>
          </p:cNvCxnSpPr>
          <p:nvPr/>
        </p:nvCxnSpPr>
        <p:spPr bwMode="auto">
          <a:xfrm flipV="1">
            <a:off x="4516169" y="2618944"/>
            <a:ext cx="0" cy="217939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7" name="Line 49">
            <a:extLst>
              <a:ext uri="{FF2B5EF4-FFF2-40B4-BE49-F238E27FC236}">
                <a16:creationId xmlns:a16="http://schemas.microsoft.com/office/drawing/2014/main" id="{4B19C78B-385D-44E0-9D5F-8AC05D3205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2303" y="2618944"/>
            <a:ext cx="294615" cy="2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8" name="Line 49">
            <a:extLst>
              <a:ext uri="{FF2B5EF4-FFF2-40B4-BE49-F238E27FC236}">
                <a16:creationId xmlns:a16="http://schemas.microsoft.com/office/drawing/2014/main" id="{B04065AF-DDBB-4C8F-A5A8-747648A99E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3153" y="2657831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9" name="Line 49">
            <a:extLst>
              <a:ext uri="{FF2B5EF4-FFF2-40B4-BE49-F238E27FC236}">
                <a16:creationId xmlns:a16="http://schemas.microsoft.com/office/drawing/2014/main" id="{E613C17A-118D-4635-BE0E-B5B1FE435D3C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6620" y="2279406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AA62194-D82D-4F3D-9299-AF0932D65B7E}"/>
              </a:ext>
            </a:extLst>
          </p:cNvPr>
          <p:cNvSpPr/>
          <p:nvPr/>
        </p:nvSpPr>
        <p:spPr bwMode="auto">
          <a:xfrm>
            <a:off x="4834552" y="3687954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54FD5D-752D-4702-BAA3-853487A072BF}"/>
              </a:ext>
            </a:extLst>
          </p:cNvPr>
          <p:cNvSpPr txBox="1"/>
          <p:nvPr/>
        </p:nvSpPr>
        <p:spPr>
          <a:xfrm>
            <a:off x="4842475" y="3842825"/>
            <a:ext cx="70729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A0D087-858C-4C22-B372-7CAB5B2B814C}"/>
              </a:ext>
            </a:extLst>
          </p:cNvPr>
          <p:cNvSpPr txBox="1"/>
          <p:nvPr/>
        </p:nvSpPr>
        <p:spPr>
          <a:xfrm>
            <a:off x="4840584" y="4393419"/>
            <a:ext cx="142441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C56500-4E89-4DAA-A10E-914BC859F186}"/>
              </a:ext>
            </a:extLst>
          </p:cNvPr>
          <p:cNvSpPr txBox="1"/>
          <p:nvPr/>
        </p:nvSpPr>
        <p:spPr>
          <a:xfrm>
            <a:off x="4842475" y="3309972"/>
            <a:ext cx="2098964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637D9E-A9A0-4347-BE4C-7F9A891C3C1B}"/>
              </a:ext>
            </a:extLst>
          </p:cNvPr>
          <p:cNvSpPr txBox="1"/>
          <p:nvPr/>
        </p:nvSpPr>
        <p:spPr>
          <a:xfrm>
            <a:off x="4847092" y="481967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99D937-6A61-42CC-94B6-2CFEA64690F6}"/>
              </a:ext>
            </a:extLst>
          </p:cNvPr>
          <p:cNvSpPr txBox="1"/>
          <p:nvPr/>
        </p:nvSpPr>
        <p:spPr>
          <a:xfrm>
            <a:off x="4847092" y="523476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rd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grpSp>
        <p:nvGrpSpPr>
          <p:cNvPr id="66" name="Group 48">
            <a:extLst>
              <a:ext uri="{FF2B5EF4-FFF2-40B4-BE49-F238E27FC236}">
                <a16:creationId xmlns:a16="http://schemas.microsoft.com/office/drawing/2014/main" id="{4D8386ED-3814-45C6-A46C-32B5AF48A051}"/>
              </a:ext>
            </a:extLst>
          </p:cNvPr>
          <p:cNvGrpSpPr/>
          <p:nvPr/>
        </p:nvGrpSpPr>
        <p:grpSpPr bwMode="auto">
          <a:xfrm>
            <a:off x="7504293" y="3842825"/>
            <a:ext cx="579696" cy="1433915"/>
            <a:chOff x="3061" y="2750"/>
            <a:chExt cx="363" cy="725"/>
          </a:xfrm>
        </p:grpSpPr>
        <p:sp>
          <p:nvSpPr>
            <p:cNvPr id="67" name="Line 55">
              <a:extLst>
                <a:ext uri="{FF2B5EF4-FFF2-40B4-BE49-F238E27FC236}">
                  <a16:creationId xmlns:a16="http://schemas.microsoft.com/office/drawing/2014/main" id="{B8F0C5FE-D783-4FD0-A56F-9D852E57A5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8" name="Line 56">
              <a:extLst>
                <a:ext uri="{FF2B5EF4-FFF2-40B4-BE49-F238E27FC236}">
                  <a16:creationId xmlns:a16="http://schemas.microsoft.com/office/drawing/2014/main" id="{046FC258-0BBA-4704-8E3D-771B08F949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9" name="Line 57">
              <a:extLst>
                <a:ext uri="{FF2B5EF4-FFF2-40B4-BE49-F238E27FC236}">
                  <a16:creationId xmlns:a16="http://schemas.microsoft.com/office/drawing/2014/main" id="{AA5099A2-E996-4B4D-B5EE-BE5A16F275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0" name="Line 58">
              <a:extLst>
                <a:ext uri="{FF2B5EF4-FFF2-40B4-BE49-F238E27FC236}">
                  <a16:creationId xmlns:a16="http://schemas.microsoft.com/office/drawing/2014/main" id="{9B188378-CB73-4304-8AE1-023EB8016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1" name="Line 59">
              <a:extLst>
                <a:ext uri="{FF2B5EF4-FFF2-40B4-BE49-F238E27FC236}">
                  <a16:creationId xmlns:a16="http://schemas.microsoft.com/office/drawing/2014/main" id="{CAEC01F4-2D8C-45F1-B53F-A8200097F4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2" name="Line 60">
              <a:extLst>
                <a:ext uri="{FF2B5EF4-FFF2-40B4-BE49-F238E27FC236}">
                  <a16:creationId xmlns:a16="http://schemas.microsoft.com/office/drawing/2014/main" id="{FA6AFBA5-1772-4662-A8F7-1B8AA7D43B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3" name="Line 61">
              <a:extLst>
                <a:ext uri="{FF2B5EF4-FFF2-40B4-BE49-F238E27FC236}">
                  <a16:creationId xmlns:a16="http://schemas.microsoft.com/office/drawing/2014/main" id="{E867097F-0791-4602-A215-F6CDBE9BCD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4" name="Text Box 62">
              <a:extLst>
                <a:ext uri="{FF2B5EF4-FFF2-40B4-BE49-F238E27FC236}">
                  <a16:creationId xmlns:a16="http://schemas.microsoft.com/office/drawing/2014/main" id="{DB572613-D747-410B-8908-F5920CE46E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63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3519035D-5CB0-4BAB-A1D0-29F80E07C06C}"/>
              </a:ext>
            </a:extLst>
          </p:cNvPr>
          <p:cNvSpPr/>
          <p:nvPr/>
        </p:nvSpPr>
        <p:spPr bwMode="auto">
          <a:xfrm>
            <a:off x="8672999" y="3560077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FD89F7-70AD-4696-9E9F-D86A71DCDA0C}"/>
              </a:ext>
            </a:extLst>
          </p:cNvPr>
          <p:cNvSpPr txBox="1"/>
          <p:nvPr/>
        </p:nvSpPr>
        <p:spPr>
          <a:xfrm>
            <a:off x="9045921" y="4322507"/>
            <a:ext cx="1715860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261A1A-8C54-4615-95C8-6ADA1E042164}"/>
              </a:ext>
            </a:extLst>
          </p:cNvPr>
          <p:cNvSpPr txBox="1"/>
          <p:nvPr/>
        </p:nvSpPr>
        <p:spPr>
          <a:xfrm>
            <a:off x="8672998" y="3807911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466BC9-EC15-409F-BCF8-BF7E042FB12F}"/>
              </a:ext>
            </a:extLst>
          </p:cNvPr>
          <p:cNvSpPr txBox="1"/>
          <p:nvPr/>
        </p:nvSpPr>
        <p:spPr>
          <a:xfrm>
            <a:off x="8682881" y="517795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45B4268-0B0F-4779-8481-0421390222B6}"/>
              </a:ext>
            </a:extLst>
          </p:cNvPr>
          <p:cNvCxnSpPr>
            <a:cxnSpLocks/>
          </p:cNvCxnSpPr>
          <p:nvPr/>
        </p:nvCxnSpPr>
        <p:spPr bwMode="auto">
          <a:xfrm>
            <a:off x="6923334" y="4081188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3B1A3A3-B79B-4F8E-809A-828F499EFD85}"/>
              </a:ext>
            </a:extLst>
          </p:cNvPr>
          <p:cNvCxnSpPr>
            <a:cxnSpLocks/>
          </p:cNvCxnSpPr>
          <p:nvPr/>
        </p:nvCxnSpPr>
        <p:spPr bwMode="auto">
          <a:xfrm>
            <a:off x="6941439" y="5069231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77454B7-5B57-4987-9A66-B4E485A7EB38}"/>
              </a:ext>
            </a:extLst>
          </p:cNvPr>
          <p:cNvCxnSpPr>
            <a:cxnSpLocks/>
          </p:cNvCxnSpPr>
          <p:nvPr/>
        </p:nvCxnSpPr>
        <p:spPr bwMode="auto">
          <a:xfrm flipV="1">
            <a:off x="8090443" y="4477331"/>
            <a:ext cx="283925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69427D0-BFA0-418D-B2C8-43DDC7AFBD1E}"/>
              </a:ext>
            </a:extLst>
          </p:cNvPr>
          <p:cNvCxnSpPr>
            <a:cxnSpLocks/>
          </p:cNvCxnSpPr>
          <p:nvPr/>
        </p:nvCxnSpPr>
        <p:spPr bwMode="auto">
          <a:xfrm flipV="1">
            <a:off x="8381912" y="3992577"/>
            <a:ext cx="0" cy="5145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6" name="Line 49">
            <a:extLst>
              <a:ext uri="{FF2B5EF4-FFF2-40B4-BE49-F238E27FC236}">
                <a16:creationId xmlns:a16="http://schemas.microsoft.com/office/drawing/2014/main" id="{899FC1CC-AB6D-445B-9C85-B4ACF89905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74374" y="3978836"/>
            <a:ext cx="308507" cy="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AED3FB5-F682-4B54-B39F-788FDB1867BF}"/>
              </a:ext>
            </a:extLst>
          </p:cNvPr>
          <p:cNvCxnSpPr>
            <a:cxnSpLocks/>
          </p:cNvCxnSpPr>
          <p:nvPr/>
        </p:nvCxnSpPr>
        <p:spPr bwMode="auto">
          <a:xfrm flipV="1">
            <a:off x="7221560" y="5055840"/>
            <a:ext cx="0" cy="42150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9" name="Line 49">
            <a:extLst>
              <a:ext uri="{FF2B5EF4-FFF2-40B4-BE49-F238E27FC236}">
                <a16:creationId xmlns:a16="http://schemas.microsoft.com/office/drawing/2014/main" id="{D5111B26-8960-4C5A-81A0-12F0C98008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5786" y="5451982"/>
            <a:ext cx="1455914" cy="2536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012C138-8BE7-466E-B9E3-B095A8F6CCFF}"/>
              </a:ext>
            </a:extLst>
          </p:cNvPr>
          <p:cNvCxnSpPr>
            <a:cxnSpLocks/>
          </p:cNvCxnSpPr>
          <p:nvPr/>
        </p:nvCxnSpPr>
        <p:spPr bwMode="auto">
          <a:xfrm>
            <a:off x="4644428" y="3086816"/>
            <a:ext cx="638269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A2F477D-8C97-4121-9FBE-CF8A43D67C28}"/>
              </a:ext>
            </a:extLst>
          </p:cNvPr>
          <p:cNvCxnSpPr/>
          <p:nvPr/>
        </p:nvCxnSpPr>
        <p:spPr bwMode="auto">
          <a:xfrm flipV="1">
            <a:off x="11025612" y="3094279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3FEBFD7-0ED4-452E-8695-7DD89D926E99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4428" y="3094279"/>
            <a:ext cx="0" cy="898298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7" name="Line 49">
            <a:extLst>
              <a:ext uri="{FF2B5EF4-FFF2-40B4-BE49-F238E27FC236}">
                <a16:creationId xmlns:a16="http://schemas.microsoft.com/office/drawing/2014/main" id="{0B1E28C1-2477-4F34-9C20-C3B27FF00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4428" y="3996232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8" name="Line 49">
            <a:extLst>
              <a:ext uri="{FF2B5EF4-FFF2-40B4-BE49-F238E27FC236}">
                <a16:creationId xmlns:a16="http://schemas.microsoft.com/office/drawing/2014/main" id="{89204497-6A1E-4F94-802D-042F058CC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92147" y="4692150"/>
            <a:ext cx="36072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D6C29C6-1225-484A-8162-3D0414C7CC83}"/>
              </a:ext>
            </a:extLst>
          </p:cNvPr>
          <p:cNvCxnSpPr>
            <a:cxnSpLocks/>
          </p:cNvCxnSpPr>
          <p:nvPr/>
        </p:nvCxnSpPr>
        <p:spPr bwMode="auto">
          <a:xfrm flipV="1">
            <a:off x="1348966" y="1338468"/>
            <a:ext cx="4264840" cy="17627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E3D565B-B959-4A6C-A208-ED9CBF0C792D}"/>
              </a:ext>
            </a:extLst>
          </p:cNvPr>
          <p:cNvCxnSpPr>
            <a:cxnSpLocks/>
            <a:stCxn id="59" idx="1"/>
          </p:cNvCxnSpPr>
          <p:nvPr/>
        </p:nvCxnSpPr>
        <p:spPr bwMode="auto">
          <a:xfrm flipV="1">
            <a:off x="5613806" y="1338468"/>
            <a:ext cx="0" cy="940939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E7707A0-3F0A-47F7-8BF9-7246F857AA1F}"/>
              </a:ext>
            </a:extLst>
          </p:cNvPr>
          <p:cNvCxnSpPr>
            <a:cxnSpLocks/>
          </p:cNvCxnSpPr>
          <p:nvPr/>
        </p:nvCxnSpPr>
        <p:spPr bwMode="auto">
          <a:xfrm flipV="1">
            <a:off x="1339912" y="1356096"/>
            <a:ext cx="9055" cy="3459936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ED6079D-AC34-4FEE-8791-F5A4346EECC6}"/>
              </a:ext>
            </a:extLst>
          </p:cNvPr>
          <p:cNvCxnSpPr/>
          <p:nvPr/>
        </p:nvCxnSpPr>
        <p:spPr bwMode="auto">
          <a:xfrm flipV="1">
            <a:off x="1327935" y="4816032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297E9F4-61CA-4A0B-AE86-3D82B5102AF7}"/>
              </a:ext>
            </a:extLst>
          </p:cNvPr>
          <p:cNvCxnSpPr>
            <a:cxnSpLocks/>
            <a:stCxn id="58" idx="1"/>
          </p:cNvCxnSpPr>
          <p:nvPr/>
        </p:nvCxnSpPr>
        <p:spPr bwMode="auto">
          <a:xfrm flipV="1">
            <a:off x="3910339" y="1356095"/>
            <a:ext cx="0" cy="130173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FED88A-B6DD-4330-B696-B0892492BD2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729585" y="4585371"/>
            <a:ext cx="9905" cy="1435183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5" name="Line 49">
            <a:extLst>
              <a:ext uri="{FF2B5EF4-FFF2-40B4-BE49-F238E27FC236}">
                <a16:creationId xmlns:a16="http://schemas.microsoft.com/office/drawing/2014/main" id="{A2FDB1EB-BE77-4A16-ADDD-CEB3EC4CD0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4585371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6" name="Line 49">
            <a:extLst>
              <a:ext uri="{FF2B5EF4-FFF2-40B4-BE49-F238E27FC236}">
                <a16:creationId xmlns:a16="http://schemas.microsoft.com/office/drawing/2014/main" id="{9C9CD79A-03F9-48A6-BCCB-B90563B5DA7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9585" y="5055840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7" name="Line 49">
            <a:extLst>
              <a:ext uri="{FF2B5EF4-FFF2-40B4-BE49-F238E27FC236}">
                <a16:creationId xmlns:a16="http://schemas.microsoft.com/office/drawing/2014/main" id="{5F67B85F-6455-4723-AFBE-AA8D1F6F1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5462049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AFEB6CA-4501-490B-B33F-13B71A9CAD87}"/>
              </a:ext>
            </a:extLst>
          </p:cNvPr>
          <p:cNvCxnSpPr>
            <a:cxnSpLocks/>
          </p:cNvCxnSpPr>
          <p:nvPr/>
        </p:nvCxnSpPr>
        <p:spPr bwMode="auto">
          <a:xfrm flipV="1">
            <a:off x="4708325" y="6017820"/>
            <a:ext cx="2380538" cy="8814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D5D2A40D-B1D3-4BFC-950A-D41BDA55A64D}"/>
              </a:ext>
            </a:extLst>
          </p:cNvPr>
          <p:cNvCxnSpPr>
            <a:cxnSpLocks/>
          </p:cNvCxnSpPr>
          <p:nvPr/>
        </p:nvCxnSpPr>
        <p:spPr bwMode="auto">
          <a:xfrm flipV="1">
            <a:off x="7088863" y="5069231"/>
            <a:ext cx="0" cy="93922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CC3D4E1-F920-46C3-A234-ECFCF96E5A94}"/>
              </a:ext>
            </a:extLst>
          </p:cNvPr>
          <p:cNvCxnSpPr>
            <a:cxnSpLocks/>
          </p:cNvCxnSpPr>
          <p:nvPr/>
        </p:nvCxnSpPr>
        <p:spPr bwMode="auto">
          <a:xfrm flipV="1">
            <a:off x="8237144" y="3094279"/>
            <a:ext cx="0" cy="13771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88" name="Rectangle 5">
            <a:extLst>
              <a:ext uri="{FF2B5EF4-FFF2-40B4-BE49-F238E27FC236}">
                <a16:creationId xmlns:a16="http://schemas.microsoft.com/office/drawing/2014/main" id="{6E1FD52E-661A-42DD-9D3F-0126383EB21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9338" y="144463"/>
            <a:ext cx="10518775" cy="692150"/>
          </a:xfrm>
        </p:spPr>
        <p:txBody>
          <a:bodyPr/>
          <a:lstStyle/>
          <a:p>
            <a:r>
              <a:rPr lang="en-US" altLang="zh-TW" dirty="0"/>
              <a:t>Multiplexers Required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91" name="Rectangle 13">
            <a:extLst>
              <a:ext uri="{FF2B5EF4-FFF2-40B4-BE49-F238E27FC236}">
                <a16:creationId xmlns:a16="http://schemas.microsoft.com/office/drawing/2014/main" id="{1C9B762D-5A89-42EC-984E-341FC5783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8329" y="1196977"/>
            <a:ext cx="4671892" cy="8828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marL="457189" indent="-457189" defTabSz="1219170">
              <a:buClr>
                <a:srgbClr val="8064A2"/>
              </a:buClr>
              <a:buFont typeface="Wingdings" panose="05000000000000000000" pitchFamily="2" charset="2"/>
              <a:buChar char="l"/>
            </a:pPr>
            <a:r>
              <a:rPr lang="en-US" altLang="zh-TW" b="0" dirty="0">
                <a:solidFill>
                  <a:prstClr val="black"/>
                </a:solidFill>
                <a:latin typeface="Calibri" panose="020F0702030404030204" pitchFamily="34" charset="0"/>
                <a:cs typeface="Calibri" panose="020F0702030404030204" pitchFamily="34" charset="0"/>
              </a:rPr>
              <a:t>Can’t just join wires together</a:t>
            </a:r>
          </a:p>
          <a:p>
            <a:pPr marL="990575" lvl="1" indent="-380990" defTabSz="1219170">
              <a:buClr>
                <a:srgbClr val="8064A2"/>
              </a:buClr>
              <a:buFont typeface="Wingdings" panose="05000000000000000000" pitchFamily="2" charset="2"/>
              <a:buChar char="Ø"/>
            </a:pPr>
            <a:r>
              <a:rPr lang="en-AU" altLang="zh-TW" sz="2133" b="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Must use multiplexers</a:t>
            </a:r>
          </a:p>
        </p:txBody>
      </p:sp>
      <p:sp>
        <p:nvSpPr>
          <p:cNvPr id="100" name="Oval 3">
            <a:extLst>
              <a:ext uri="{FF2B5EF4-FFF2-40B4-BE49-F238E27FC236}">
                <a16:creationId xmlns:a16="http://schemas.microsoft.com/office/drawing/2014/main" id="{BC779C89-4B58-4635-BF3C-6189227473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98927" y="2734380"/>
            <a:ext cx="783954" cy="706171"/>
          </a:xfrm>
          <a:prstGeom prst="ellipse">
            <a:avLst/>
          </a:prstGeom>
          <a:noFill/>
          <a:ln w="19050">
            <a:solidFill>
              <a:srgbClr val="00B050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01" name="Line 8">
            <a:extLst>
              <a:ext uri="{FF2B5EF4-FFF2-40B4-BE49-F238E27FC236}">
                <a16:creationId xmlns:a16="http://schemas.microsoft.com/office/drawing/2014/main" id="{4383FA7A-ACD9-4046-B770-30388C3C653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237144" y="2995598"/>
            <a:ext cx="653513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03" name="Arc 9">
            <a:extLst>
              <a:ext uri="{FF2B5EF4-FFF2-40B4-BE49-F238E27FC236}">
                <a16:creationId xmlns:a16="http://schemas.microsoft.com/office/drawing/2014/main" id="{B70BF0F8-30A2-450D-AD79-3D00A189BADA}"/>
              </a:ext>
            </a:extLst>
          </p:cNvPr>
          <p:cNvSpPr/>
          <p:nvPr/>
        </p:nvSpPr>
        <p:spPr bwMode="auto">
          <a:xfrm rot="10800000" flipH="1" flipV="1">
            <a:off x="8237973" y="3038497"/>
            <a:ext cx="325926" cy="22842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2147483647 h 21600"/>
              <a:gd name="T4" fmla="*/ 0 w 21600"/>
              <a:gd name="T5" fmla="*/ 2147483647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B050"/>
            </a:solidFill>
            <a:round/>
            <a:head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1" name="Oval 3">
            <a:extLst>
              <a:ext uri="{FF2B5EF4-FFF2-40B4-BE49-F238E27FC236}">
                <a16:creationId xmlns:a16="http://schemas.microsoft.com/office/drawing/2014/main" id="{1D5544BD-8CF7-482C-863D-380C14C206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1366" y="1039749"/>
            <a:ext cx="783954" cy="706171"/>
          </a:xfrm>
          <a:prstGeom prst="ellipse">
            <a:avLst/>
          </a:prstGeom>
          <a:noFill/>
          <a:ln w="19050">
            <a:solidFill>
              <a:srgbClr val="00B050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12" name="Line 8">
            <a:extLst>
              <a:ext uri="{FF2B5EF4-FFF2-40B4-BE49-F238E27FC236}">
                <a16:creationId xmlns:a16="http://schemas.microsoft.com/office/drawing/2014/main" id="{BE49DE39-51DA-4754-BCC9-49C65C2F017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19583" y="1300967"/>
            <a:ext cx="653513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4" name="Arc 9">
            <a:extLst>
              <a:ext uri="{FF2B5EF4-FFF2-40B4-BE49-F238E27FC236}">
                <a16:creationId xmlns:a16="http://schemas.microsoft.com/office/drawing/2014/main" id="{49E8B43C-5B60-4DEB-BFBE-59566BCD6F43}"/>
              </a:ext>
            </a:extLst>
          </p:cNvPr>
          <p:cNvSpPr/>
          <p:nvPr/>
        </p:nvSpPr>
        <p:spPr bwMode="auto">
          <a:xfrm rot="10800000" flipH="1" flipV="1">
            <a:off x="3920413" y="1353233"/>
            <a:ext cx="325926" cy="22842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2147483647 h 21600"/>
              <a:gd name="T4" fmla="*/ 0 w 21600"/>
              <a:gd name="T5" fmla="*/ 2147483647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B050"/>
            </a:solidFill>
            <a:round/>
            <a:head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9" name="Oval 3">
            <a:extLst>
              <a:ext uri="{FF2B5EF4-FFF2-40B4-BE49-F238E27FC236}">
                <a16:creationId xmlns:a16="http://schemas.microsoft.com/office/drawing/2014/main" id="{C90C0C15-889F-4059-A421-D71EDCA93F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2750" y="4702753"/>
            <a:ext cx="783954" cy="706171"/>
          </a:xfrm>
          <a:prstGeom prst="ellipse">
            <a:avLst/>
          </a:prstGeom>
          <a:noFill/>
          <a:ln w="19050">
            <a:solidFill>
              <a:srgbClr val="00B050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121" name="Line 8">
            <a:extLst>
              <a:ext uri="{FF2B5EF4-FFF2-40B4-BE49-F238E27FC236}">
                <a16:creationId xmlns:a16="http://schemas.microsoft.com/office/drawing/2014/main" id="{1DA7FDAC-20B6-4783-893D-2F63BAE481A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20966" y="4963970"/>
            <a:ext cx="320119" cy="1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24" name="Arc 9">
            <a:extLst>
              <a:ext uri="{FF2B5EF4-FFF2-40B4-BE49-F238E27FC236}">
                <a16:creationId xmlns:a16="http://schemas.microsoft.com/office/drawing/2014/main" id="{E6E9C72D-0171-40C1-AD60-1E3DBB6EA845}"/>
              </a:ext>
            </a:extLst>
          </p:cNvPr>
          <p:cNvSpPr/>
          <p:nvPr/>
        </p:nvSpPr>
        <p:spPr bwMode="auto">
          <a:xfrm rot="6866814" flipH="1" flipV="1">
            <a:off x="6997872" y="5132688"/>
            <a:ext cx="325926" cy="228420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2147483647 h 21600"/>
              <a:gd name="T4" fmla="*/ 0 w 21600"/>
              <a:gd name="T5" fmla="*/ 2147483647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9050">
            <a:solidFill>
              <a:srgbClr val="00B050"/>
            </a:solidFill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</p:spTree>
    <p:extLst>
      <p:ext uri="{BB962C8B-B14F-4D97-AF65-F5344CB8AC3E}">
        <p14:creationId xmlns:p14="http://schemas.microsoft.com/office/powerpoint/2010/main" val="176270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1" grpId="0" animBg="1"/>
      <p:bldP spid="112" grpId="0" animBg="1"/>
      <p:bldP spid="114" grpId="0" animBg="1"/>
      <p:bldP spid="119" grpId="0" animBg="1"/>
      <p:bldP spid="121" grpId="0" animBg="1"/>
      <p:bldP spid="1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27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6DC8D-886C-432F-8A39-2E6D99E66025}"/>
              </a:ext>
            </a:extLst>
          </p:cNvPr>
          <p:cNvSpPr txBox="1"/>
          <p:nvPr/>
        </p:nvSpPr>
        <p:spPr>
          <a:xfrm>
            <a:off x="1711104" y="4613669"/>
            <a:ext cx="55226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PC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763C09-7791-4504-BC4E-DBE485004AE4}"/>
              </a:ext>
            </a:extLst>
          </p:cNvPr>
          <p:cNvSpPr/>
          <p:nvPr/>
        </p:nvSpPr>
        <p:spPr bwMode="auto">
          <a:xfrm>
            <a:off x="1702051" y="3992577"/>
            <a:ext cx="561315" cy="1611517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F180D6-E533-49FC-92AD-9A00F5DFF739}"/>
              </a:ext>
            </a:extLst>
          </p:cNvPr>
          <p:cNvSpPr/>
          <p:nvPr/>
        </p:nvSpPr>
        <p:spPr bwMode="auto">
          <a:xfrm>
            <a:off x="2625505" y="3720972"/>
            <a:ext cx="1765426" cy="2154725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B97B25-B39C-4C6B-83C3-42DA4F59E682}"/>
              </a:ext>
            </a:extLst>
          </p:cNvPr>
          <p:cNvCxnSpPr>
            <a:stCxn id="3" idx="3"/>
            <a:endCxn id="4" idx="1"/>
          </p:cNvCxnSpPr>
          <p:nvPr/>
        </p:nvCxnSpPr>
        <p:spPr bwMode="auto">
          <a:xfrm flipV="1">
            <a:off x="2263366" y="4798335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F13A8B-8C70-42D4-8781-EC386B0052DC}"/>
              </a:ext>
            </a:extLst>
          </p:cNvPr>
          <p:cNvSpPr txBox="1"/>
          <p:nvPr/>
        </p:nvSpPr>
        <p:spPr>
          <a:xfrm>
            <a:off x="2625505" y="5229366"/>
            <a:ext cx="1765426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Instruction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E236F5-565D-41BF-88F3-BBE3BEEDA869}"/>
              </a:ext>
            </a:extLst>
          </p:cNvPr>
          <p:cNvSpPr txBox="1"/>
          <p:nvPr/>
        </p:nvSpPr>
        <p:spPr>
          <a:xfrm>
            <a:off x="2643612" y="461366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DEEEAE-1CEC-421C-9A63-BD46A24F7F82}"/>
              </a:ext>
            </a:extLst>
          </p:cNvPr>
          <p:cNvSpPr txBox="1"/>
          <p:nvPr/>
        </p:nvSpPr>
        <p:spPr>
          <a:xfrm>
            <a:off x="3739082" y="4599506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inst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B6138C-28E8-48AE-8B64-4E1DB711A8E7}"/>
              </a:ext>
            </a:extLst>
          </p:cNvPr>
          <p:cNvCxnSpPr/>
          <p:nvPr/>
        </p:nvCxnSpPr>
        <p:spPr bwMode="auto">
          <a:xfrm flipV="1">
            <a:off x="4377351" y="4805873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5" name="Group 48">
            <a:extLst>
              <a:ext uri="{FF2B5EF4-FFF2-40B4-BE49-F238E27FC236}">
                <a16:creationId xmlns:a16="http://schemas.microsoft.com/office/drawing/2014/main" id="{1708B904-4025-48B5-8FF3-17C8BC86D1EF}"/>
              </a:ext>
            </a:extLst>
          </p:cNvPr>
          <p:cNvGrpSpPr/>
          <p:nvPr/>
        </p:nvGrpSpPr>
        <p:grpSpPr bwMode="auto">
          <a:xfrm>
            <a:off x="2897868" y="2102400"/>
            <a:ext cx="795285" cy="1108850"/>
            <a:chOff x="2926" y="2750"/>
            <a:chExt cx="498" cy="725"/>
          </a:xfrm>
        </p:grpSpPr>
        <p:sp>
          <p:nvSpPr>
            <p:cNvPr id="16" name="Line 49">
              <a:extLst>
                <a:ext uri="{FF2B5EF4-FFF2-40B4-BE49-F238E27FC236}">
                  <a16:creationId xmlns:a16="http://schemas.microsoft.com/office/drawing/2014/main" id="{5BC77547-8A2A-43DB-B453-61A260D135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2" name="Line 55">
              <a:extLst>
                <a:ext uri="{FF2B5EF4-FFF2-40B4-BE49-F238E27FC236}">
                  <a16:creationId xmlns:a16="http://schemas.microsoft.com/office/drawing/2014/main" id="{B4BD4DAF-70C5-49D5-B51F-1346B765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3" name="Line 56">
              <a:extLst>
                <a:ext uri="{FF2B5EF4-FFF2-40B4-BE49-F238E27FC236}">
                  <a16:creationId xmlns:a16="http://schemas.microsoft.com/office/drawing/2014/main" id="{CEB8CA83-774A-44F8-A352-44854ED2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E9D4706F-02AB-4D18-A464-19C8AAD2C7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5" name="Line 58">
              <a:extLst>
                <a:ext uri="{FF2B5EF4-FFF2-40B4-BE49-F238E27FC236}">
                  <a16:creationId xmlns:a16="http://schemas.microsoft.com/office/drawing/2014/main" id="{5A26BD1F-71C1-44D0-A09A-263FF96C9E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6" name="Line 59">
              <a:extLst>
                <a:ext uri="{FF2B5EF4-FFF2-40B4-BE49-F238E27FC236}">
                  <a16:creationId xmlns:a16="http://schemas.microsoft.com/office/drawing/2014/main" id="{74DF865D-DF51-4372-B1D8-8EEFB41BDC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" name="Line 60">
              <a:extLst>
                <a:ext uri="{FF2B5EF4-FFF2-40B4-BE49-F238E27FC236}">
                  <a16:creationId xmlns:a16="http://schemas.microsoft.com/office/drawing/2014/main" id="{58C65BD9-446C-4066-A2C3-5FF1A2F8E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" name="Line 61">
              <a:extLst>
                <a:ext uri="{FF2B5EF4-FFF2-40B4-BE49-F238E27FC236}">
                  <a16:creationId xmlns:a16="http://schemas.microsoft.com/office/drawing/2014/main" id="{4A2E7C78-AB6E-4D9E-B065-204E2E08C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9" name="Text Box 62">
              <a:extLst>
                <a:ext uri="{FF2B5EF4-FFF2-40B4-BE49-F238E27FC236}">
                  <a16:creationId xmlns:a16="http://schemas.microsoft.com/office/drawing/2014/main" id="{ADB0590A-C373-4F21-B3DA-B26A48814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70592D-FB04-48C0-85E9-016511669BFD}"/>
              </a:ext>
            </a:extLst>
          </p:cNvPr>
          <p:cNvCxnSpPr/>
          <p:nvPr/>
        </p:nvCxnSpPr>
        <p:spPr bwMode="auto">
          <a:xfrm flipV="1">
            <a:off x="2444435" y="3086816"/>
            <a:ext cx="0" cy="1697356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4" name="Group 48">
            <a:extLst>
              <a:ext uri="{FF2B5EF4-FFF2-40B4-BE49-F238E27FC236}">
                <a16:creationId xmlns:a16="http://schemas.microsoft.com/office/drawing/2014/main" id="{DDB462B4-3D53-4664-A368-83C8D87C926C}"/>
              </a:ext>
            </a:extLst>
          </p:cNvPr>
          <p:cNvGrpSpPr/>
          <p:nvPr/>
        </p:nvGrpSpPr>
        <p:grpSpPr bwMode="auto">
          <a:xfrm>
            <a:off x="4816924" y="1725746"/>
            <a:ext cx="579696" cy="1108850"/>
            <a:chOff x="3061" y="2750"/>
            <a:chExt cx="363" cy="725"/>
          </a:xfrm>
        </p:grpSpPr>
        <p:sp>
          <p:nvSpPr>
            <p:cNvPr id="38" name="Line 55">
              <a:extLst>
                <a:ext uri="{FF2B5EF4-FFF2-40B4-BE49-F238E27FC236}">
                  <a16:creationId xmlns:a16="http://schemas.microsoft.com/office/drawing/2014/main" id="{9460A4D4-5FAD-47D3-81E6-E3CE91EE25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39" name="Line 56">
              <a:extLst>
                <a:ext uri="{FF2B5EF4-FFF2-40B4-BE49-F238E27FC236}">
                  <a16:creationId xmlns:a16="http://schemas.microsoft.com/office/drawing/2014/main" id="{A405C5A2-A907-423E-92E5-75DCE2B84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0" name="Line 57">
              <a:extLst>
                <a:ext uri="{FF2B5EF4-FFF2-40B4-BE49-F238E27FC236}">
                  <a16:creationId xmlns:a16="http://schemas.microsoft.com/office/drawing/2014/main" id="{2EDF4C95-C10B-45FB-9A8A-EBE0F6D2B6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1" name="Line 58">
              <a:extLst>
                <a:ext uri="{FF2B5EF4-FFF2-40B4-BE49-F238E27FC236}">
                  <a16:creationId xmlns:a16="http://schemas.microsoft.com/office/drawing/2014/main" id="{07A93669-3E88-4B8E-8A7B-ABA56D8A5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2" name="Line 59">
              <a:extLst>
                <a:ext uri="{FF2B5EF4-FFF2-40B4-BE49-F238E27FC236}">
                  <a16:creationId xmlns:a16="http://schemas.microsoft.com/office/drawing/2014/main" id="{41CAD5A2-4B4A-4FB6-A2BC-A72416CC6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3" name="Line 60">
              <a:extLst>
                <a:ext uri="{FF2B5EF4-FFF2-40B4-BE49-F238E27FC236}">
                  <a16:creationId xmlns:a16="http://schemas.microsoft.com/office/drawing/2014/main" id="{D50029AA-C476-4630-8368-995F6AA4CF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4" name="Line 61">
              <a:extLst>
                <a:ext uri="{FF2B5EF4-FFF2-40B4-BE49-F238E27FC236}">
                  <a16:creationId xmlns:a16="http://schemas.microsoft.com/office/drawing/2014/main" id="{7A7C6E38-2D6E-4FFF-997A-DD7F09656D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5" name="Text Box 62">
              <a:extLst>
                <a:ext uri="{FF2B5EF4-FFF2-40B4-BE49-F238E27FC236}">
                  <a16:creationId xmlns:a16="http://schemas.microsoft.com/office/drawing/2014/main" id="{B65966B0-B48C-479B-86F5-C8B9C936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7BE3A2-1CDF-4252-8363-23F21A59696F}"/>
              </a:ext>
            </a:extLst>
          </p:cNvPr>
          <p:cNvCxnSpPr/>
          <p:nvPr/>
        </p:nvCxnSpPr>
        <p:spPr bwMode="auto">
          <a:xfrm>
            <a:off x="2444435" y="3086816"/>
            <a:ext cx="669021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2C43C39-65BC-4B88-9065-8A2D9AEB23D8}"/>
              </a:ext>
            </a:extLst>
          </p:cNvPr>
          <p:cNvSpPr txBox="1"/>
          <p:nvPr/>
        </p:nvSpPr>
        <p:spPr>
          <a:xfrm>
            <a:off x="2643612" y="2130433"/>
            <a:ext cx="25120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4DF7F29-8532-433D-97AA-E5477AA9F238}"/>
              </a:ext>
            </a:extLst>
          </p:cNvPr>
          <p:cNvCxnSpPr/>
          <p:nvPr/>
        </p:nvCxnSpPr>
        <p:spPr bwMode="auto">
          <a:xfrm>
            <a:off x="2444435" y="3494638"/>
            <a:ext cx="1738266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01341F3-509D-4721-A7F3-A07C6F400FAB}"/>
              </a:ext>
            </a:extLst>
          </p:cNvPr>
          <p:cNvCxnSpPr/>
          <p:nvPr/>
        </p:nvCxnSpPr>
        <p:spPr bwMode="auto">
          <a:xfrm flipV="1">
            <a:off x="4191754" y="1933751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106A893-7947-4B5C-A7C5-F75FD2BB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82701" y="1955759"/>
            <a:ext cx="634218" cy="364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C8B140-5902-44A6-AF4B-1FE5F22C1775}"/>
              </a:ext>
            </a:extLst>
          </p:cNvPr>
          <p:cNvCxnSpPr>
            <a:cxnSpLocks/>
          </p:cNvCxnSpPr>
          <p:nvPr/>
        </p:nvCxnSpPr>
        <p:spPr bwMode="auto">
          <a:xfrm flipV="1">
            <a:off x="4516169" y="2618944"/>
            <a:ext cx="0" cy="217939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7" name="Line 49">
            <a:extLst>
              <a:ext uri="{FF2B5EF4-FFF2-40B4-BE49-F238E27FC236}">
                <a16:creationId xmlns:a16="http://schemas.microsoft.com/office/drawing/2014/main" id="{4B19C78B-385D-44E0-9D5F-8AC05D3205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2303" y="2618944"/>
            <a:ext cx="294615" cy="2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8" name="Line 49">
            <a:extLst>
              <a:ext uri="{FF2B5EF4-FFF2-40B4-BE49-F238E27FC236}">
                <a16:creationId xmlns:a16="http://schemas.microsoft.com/office/drawing/2014/main" id="{B04065AF-DDBB-4C8F-A5A8-747648A99E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3153" y="2657831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9" name="Line 49">
            <a:extLst>
              <a:ext uri="{FF2B5EF4-FFF2-40B4-BE49-F238E27FC236}">
                <a16:creationId xmlns:a16="http://schemas.microsoft.com/office/drawing/2014/main" id="{E613C17A-118D-4635-BE0E-B5B1FE435D3C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6620" y="2279406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AA62194-D82D-4F3D-9299-AF0932D65B7E}"/>
              </a:ext>
            </a:extLst>
          </p:cNvPr>
          <p:cNvSpPr/>
          <p:nvPr/>
        </p:nvSpPr>
        <p:spPr bwMode="auto">
          <a:xfrm>
            <a:off x="4834552" y="3687954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54FD5D-752D-4702-BAA3-853487A072BF}"/>
              </a:ext>
            </a:extLst>
          </p:cNvPr>
          <p:cNvSpPr txBox="1"/>
          <p:nvPr/>
        </p:nvSpPr>
        <p:spPr>
          <a:xfrm>
            <a:off x="4842475" y="3842825"/>
            <a:ext cx="70729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A0D087-858C-4C22-B372-7CAB5B2B814C}"/>
              </a:ext>
            </a:extLst>
          </p:cNvPr>
          <p:cNvSpPr txBox="1"/>
          <p:nvPr/>
        </p:nvSpPr>
        <p:spPr>
          <a:xfrm>
            <a:off x="4840584" y="4393419"/>
            <a:ext cx="142441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C56500-4E89-4DAA-A10E-914BC859F186}"/>
              </a:ext>
            </a:extLst>
          </p:cNvPr>
          <p:cNvSpPr txBox="1"/>
          <p:nvPr/>
        </p:nvSpPr>
        <p:spPr>
          <a:xfrm>
            <a:off x="4842475" y="3309972"/>
            <a:ext cx="2098964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637D9E-A9A0-4347-BE4C-7F9A891C3C1B}"/>
              </a:ext>
            </a:extLst>
          </p:cNvPr>
          <p:cNvSpPr txBox="1"/>
          <p:nvPr/>
        </p:nvSpPr>
        <p:spPr>
          <a:xfrm>
            <a:off x="4847092" y="481967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99D937-6A61-42CC-94B6-2CFEA64690F6}"/>
              </a:ext>
            </a:extLst>
          </p:cNvPr>
          <p:cNvSpPr txBox="1"/>
          <p:nvPr/>
        </p:nvSpPr>
        <p:spPr>
          <a:xfrm>
            <a:off x="4847092" y="523476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rd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grpSp>
        <p:nvGrpSpPr>
          <p:cNvPr id="66" name="Group 48">
            <a:extLst>
              <a:ext uri="{FF2B5EF4-FFF2-40B4-BE49-F238E27FC236}">
                <a16:creationId xmlns:a16="http://schemas.microsoft.com/office/drawing/2014/main" id="{4D8386ED-3814-45C6-A46C-32B5AF48A051}"/>
              </a:ext>
            </a:extLst>
          </p:cNvPr>
          <p:cNvGrpSpPr/>
          <p:nvPr/>
        </p:nvGrpSpPr>
        <p:grpSpPr bwMode="auto">
          <a:xfrm>
            <a:off x="7504293" y="3842825"/>
            <a:ext cx="579696" cy="1433915"/>
            <a:chOff x="3061" y="2750"/>
            <a:chExt cx="363" cy="725"/>
          </a:xfrm>
        </p:grpSpPr>
        <p:sp>
          <p:nvSpPr>
            <p:cNvPr id="67" name="Line 55">
              <a:extLst>
                <a:ext uri="{FF2B5EF4-FFF2-40B4-BE49-F238E27FC236}">
                  <a16:creationId xmlns:a16="http://schemas.microsoft.com/office/drawing/2014/main" id="{B8F0C5FE-D783-4FD0-A56F-9D852E57A5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8" name="Line 56">
              <a:extLst>
                <a:ext uri="{FF2B5EF4-FFF2-40B4-BE49-F238E27FC236}">
                  <a16:creationId xmlns:a16="http://schemas.microsoft.com/office/drawing/2014/main" id="{046FC258-0BBA-4704-8E3D-771B08F949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9" name="Line 57">
              <a:extLst>
                <a:ext uri="{FF2B5EF4-FFF2-40B4-BE49-F238E27FC236}">
                  <a16:creationId xmlns:a16="http://schemas.microsoft.com/office/drawing/2014/main" id="{AA5099A2-E996-4B4D-B5EE-BE5A16F275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0" name="Line 58">
              <a:extLst>
                <a:ext uri="{FF2B5EF4-FFF2-40B4-BE49-F238E27FC236}">
                  <a16:creationId xmlns:a16="http://schemas.microsoft.com/office/drawing/2014/main" id="{9B188378-CB73-4304-8AE1-023EB8016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1" name="Line 59">
              <a:extLst>
                <a:ext uri="{FF2B5EF4-FFF2-40B4-BE49-F238E27FC236}">
                  <a16:creationId xmlns:a16="http://schemas.microsoft.com/office/drawing/2014/main" id="{CAEC01F4-2D8C-45F1-B53F-A8200097F4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2" name="Line 60">
              <a:extLst>
                <a:ext uri="{FF2B5EF4-FFF2-40B4-BE49-F238E27FC236}">
                  <a16:creationId xmlns:a16="http://schemas.microsoft.com/office/drawing/2014/main" id="{FA6AFBA5-1772-4662-A8F7-1B8AA7D43B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3" name="Line 61">
              <a:extLst>
                <a:ext uri="{FF2B5EF4-FFF2-40B4-BE49-F238E27FC236}">
                  <a16:creationId xmlns:a16="http://schemas.microsoft.com/office/drawing/2014/main" id="{E867097F-0791-4602-A215-F6CDBE9BCD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4" name="Text Box 62">
              <a:extLst>
                <a:ext uri="{FF2B5EF4-FFF2-40B4-BE49-F238E27FC236}">
                  <a16:creationId xmlns:a16="http://schemas.microsoft.com/office/drawing/2014/main" id="{DB572613-D747-410B-8908-F5920CE46E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63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3519035D-5CB0-4BAB-A1D0-29F80E07C06C}"/>
              </a:ext>
            </a:extLst>
          </p:cNvPr>
          <p:cNvSpPr/>
          <p:nvPr/>
        </p:nvSpPr>
        <p:spPr bwMode="auto">
          <a:xfrm>
            <a:off x="8672999" y="3560077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FD89F7-70AD-4696-9E9F-D86A71DCDA0C}"/>
              </a:ext>
            </a:extLst>
          </p:cNvPr>
          <p:cNvSpPr txBox="1"/>
          <p:nvPr/>
        </p:nvSpPr>
        <p:spPr>
          <a:xfrm>
            <a:off x="9045921" y="4322507"/>
            <a:ext cx="1715860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261A1A-8C54-4615-95C8-6ADA1E042164}"/>
              </a:ext>
            </a:extLst>
          </p:cNvPr>
          <p:cNvSpPr txBox="1"/>
          <p:nvPr/>
        </p:nvSpPr>
        <p:spPr>
          <a:xfrm>
            <a:off x="8672998" y="3807911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466BC9-EC15-409F-BCF8-BF7E042FB12F}"/>
              </a:ext>
            </a:extLst>
          </p:cNvPr>
          <p:cNvSpPr txBox="1"/>
          <p:nvPr/>
        </p:nvSpPr>
        <p:spPr>
          <a:xfrm>
            <a:off x="8682881" y="517795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45B4268-0B0F-4779-8481-0421390222B6}"/>
              </a:ext>
            </a:extLst>
          </p:cNvPr>
          <p:cNvCxnSpPr>
            <a:cxnSpLocks/>
          </p:cNvCxnSpPr>
          <p:nvPr/>
        </p:nvCxnSpPr>
        <p:spPr bwMode="auto">
          <a:xfrm>
            <a:off x="6923334" y="4081188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3B1A3A3-B79B-4F8E-809A-828F499EFD85}"/>
              </a:ext>
            </a:extLst>
          </p:cNvPr>
          <p:cNvCxnSpPr>
            <a:cxnSpLocks/>
          </p:cNvCxnSpPr>
          <p:nvPr/>
        </p:nvCxnSpPr>
        <p:spPr bwMode="auto">
          <a:xfrm>
            <a:off x="6941439" y="5069231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77454B7-5B57-4987-9A66-B4E485A7EB38}"/>
              </a:ext>
            </a:extLst>
          </p:cNvPr>
          <p:cNvCxnSpPr>
            <a:cxnSpLocks/>
          </p:cNvCxnSpPr>
          <p:nvPr/>
        </p:nvCxnSpPr>
        <p:spPr bwMode="auto">
          <a:xfrm flipV="1">
            <a:off x="8090443" y="4477331"/>
            <a:ext cx="283925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69427D0-BFA0-418D-B2C8-43DDC7AFBD1E}"/>
              </a:ext>
            </a:extLst>
          </p:cNvPr>
          <p:cNvCxnSpPr>
            <a:cxnSpLocks/>
          </p:cNvCxnSpPr>
          <p:nvPr/>
        </p:nvCxnSpPr>
        <p:spPr bwMode="auto">
          <a:xfrm flipV="1">
            <a:off x="8381912" y="3992577"/>
            <a:ext cx="0" cy="5145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6" name="Line 49">
            <a:extLst>
              <a:ext uri="{FF2B5EF4-FFF2-40B4-BE49-F238E27FC236}">
                <a16:creationId xmlns:a16="http://schemas.microsoft.com/office/drawing/2014/main" id="{899FC1CC-AB6D-445B-9C85-B4ACF89905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74374" y="3978836"/>
            <a:ext cx="308507" cy="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AED3FB5-F682-4B54-B39F-788FDB1867BF}"/>
              </a:ext>
            </a:extLst>
          </p:cNvPr>
          <p:cNvCxnSpPr>
            <a:cxnSpLocks/>
          </p:cNvCxnSpPr>
          <p:nvPr/>
        </p:nvCxnSpPr>
        <p:spPr bwMode="auto">
          <a:xfrm flipV="1">
            <a:off x="7221560" y="5055840"/>
            <a:ext cx="0" cy="42150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9" name="Line 49">
            <a:extLst>
              <a:ext uri="{FF2B5EF4-FFF2-40B4-BE49-F238E27FC236}">
                <a16:creationId xmlns:a16="http://schemas.microsoft.com/office/drawing/2014/main" id="{D5111B26-8960-4C5A-81A0-12F0C98008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5786" y="5451982"/>
            <a:ext cx="1455914" cy="2536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012C138-8BE7-466E-B9E3-B095A8F6CCFF}"/>
              </a:ext>
            </a:extLst>
          </p:cNvPr>
          <p:cNvCxnSpPr>
            <a:cxnSpLocks/>
          </p:cNvCxnSpPr>
          <p:nvPr/>
        </p:nvCxnSpPr>
        <p:spPr bwMode="auto">
          <a:xfrm>
            <a:off x="4644428" y="3086816"/>
            <a:ext cx="638269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A2F477D-8C97-4121-9FBE-CF8A43D67C28}"/>
              </a:ext>
            </a:extLst>
          </p:cNvPr>
          <p:cNvCxnSpPr/>
          <p:nvPr/>
        </p:nvCxnSpPr>
        <p:spPr bwMode="auto">
          <a:xfrm flipV="1">
            <a:off x="11025612" y="3094279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3FEBFD7-0ED4-452E-8695-7DD89D926E99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4428" y="3094279"/>
            <a:ext cx="0" cy="898298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7" name="Line 49">
            <a:extLst>
              <a:ext uri="{FF2B5EF4-FFF2-40B4-BE49-F238E27FC236}">
                <a16:creationId xmlns:a16="http://schemas.microsoft.com/office/drawing/2014/main" id="{0B1E28C1-2477-4F34-9C20-C3B27FF00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4428" y="3996232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8" name="Line 49">
            <a:extLst>
              <a:ext uri="{FF2B5EF4-FFF2-40B4-BE49-F238E27FC236}">
                <a16:creationId xmlns:a16="http://schemas.microsoft.com/office/drawing/2014/main" id="{89204497-6A1E-4F94-802D-042F058CC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92147" y="4692150"/>
            <a:ext cx="36072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D6C29C6-1225-484A-8162-3D0414C7CC83}"/>
              </a:ext>
            </a:extLst>
          </p:cNvPr>
          <p:cNvCxnSpPr>
            <a:cxnSpLocks/>
          </p:cNvCxnSpPr>
          <p:nvPr/>
        </p:nvCxnSpPr>
        <p:spPr bwMode="auto">
          <a:xfrm flipV="1">
            <a:off x="1348966" y="1338468"/>
            <a:ext cx="4264840" cy="17627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E3D565B-B959-4A6C-A208-ED9CBF0C792D}"/>
              </a:ext>
            </a:extLst>
          </p:cNvPr>
          <p:cNvCxnSpPr>
            <a:cxnSpLocks/>
            <a:stCxn id="59" idx="1"/>
          </p:cNvCxnSpPr>
          <p:nvPr/>
        </p:nvCxnSpPr>
        <p:spPr bwMode="auto">
          <a:xfrm flipV="1">
            <a:off x="5613806" y="1338468"/>
            <a:ext cx="0" cy="940939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E7707A0-3F0A-47F7-8BF9-7246F857AA1F}"/>
              </a:ext>
            </a:extLst>
          </p:cNvPr>
          <p:cNvCxnSpPr>
            <a:cxnSpLocks/>
          </p:cNvCxnSpPr>
          <p:nvPr/>
        </p:nvCxnSpPr>
        <p:spPr bwMode="auto">
          <a:xfrm flipV="1">
            <a:off x="1339912" y="1356096"/>
            <a:ext cx="9055" cy="3459936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ED6079D-AC34-4FEE-8791-F5A4346EECC6}"/>
              </a:ext>
            </a:extLst>
          </p:cNvPr>
          <p:cNvCxnSpPr/>
          <p:nvPr/>
        </p:nvCxnSpPr>
        <p:spPr bwMode="auto">
          <a:xfrm flipV="1">
            <a:off x="1327935" y="4816032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297E9F4-61CA-4A0B-AE86-3D82B5102AF7}"/>
              </a:ext>
            </a:extLst>
          </p:cNvPr>
          <p:cNvCxnSpPr>
            <a:cxnSpLocks/>
            <a:stCxn id="58" idx="1"/>
          </p:cNvCxnSpPr>
          <p:nvPr/>
        </p:nvCxnSpPr>
        <p:spPr bwMode="auto">
          <a:xfrm flipV="1">
            <a:off x="3910339" y="1356095"/>
            <a:ext cx="0" cy="130173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FED88A-B6DD-4330-B696-B0892492BD2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729585" y="4585371"/>
            <a:ext cx="9905" cy="1435183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5" name="Line 49">
            <a:extLst>
              <a:ext uri="{FF2B5EF4-FFF2-40B4-BE49-F238E27FC236}">
                <a16:creationId xmlns:a16="http://schemas.microsoft.com/office/drawing/2014/main" id="{A2FDB1EB-BE77-4A16-ADDD-CEB3EC4CD0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4585371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6" name="Line 49">
            <a:extLst>
              <a:ext uri="{FF2B5EF4-FFF2-40B4-BE49-F238E27FC236}">
                <a16:creationId xmlns:a16="http://schemas.microsoft.com/office/drawing/2014/main" id="{9C9CD79A-03F9-48A6-BCCB-B90563B5DA7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9585" y="5055840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7" name="Line 49">
            <a:extLst>
              <a:ext uri="{FF2B5EF4-FFF2-40B4-BE49-F238E27FC236}">
                <a16:creationId xmlns:a16="http://schemas.microsoft.com/office/drawing/2014/main" id="{5F67B85F-6455-4723-AFBE-AA8D1F6F1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5462049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AFEB6CA-4501-490B-B33F-13B71A9CAD87}"/>
              </a:ext>
            </a:extLst>
          </p:cNvPr>
          <p:cNvCxnSpPr>
            <a:cxnSpLocks/>
          </p:cNvCxnSpPr>
          <p:nvPr/>
        </p:nvCxnSpPr>
        <p:spPr bwMode="auto">
          <a:xfrm flipV="1">
            <a:off x="4708325" y="6017820"/>
            <a:ext cx="2380538" cy="8814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D5D2A40D-B1D3-4BFC-950A-D41BDA55A64D}"/>
              </a:ext>
            </a:extLst>
          </p:cNvPr>
          <p:cNvCxnSpPr>
            <a:cxnSpLocks/>
          </p:cNvCxnSpPr>
          <p:nvPr/>
        </p:nvCxnSpPr>
        <p:spPr bwMode="auto">
          <a:xfrm flipV="1">
            <a:off x="7088863" y="5069231"/>
            <a:ext cx="0" cy="93922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CC3D4E1-F920-46C3-A234-ECFCF96E5A94}"/>
              </a:ext>
            </a:extLst>
          </p:cNvPr>
          <p:cNvCxnSpPr>
            <a:cxnSpLocks/>
          </p:cNvCxnSpPr>
          <p:nvPr/>
        </p:nvCxnSpPr>
        <p:spPr bwMode="auto">
          <a:xfrm flipV="1">
            <a:off x="8237144" y="3094279"/>
            <a:ext cx="0" cy="13771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07" name="Rectangle 3">
            <a:extLst>
              <a:ext uri="{FF2B5EF4-FFF2-40B4-BE49-F238E27FC236}">
                <a16:creationId xmlns:a16="http://schemas.microsoft.com/office/drawing/2014/main" id="{690543F4-9432-49FA-9064-4BCA8D2ABA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9338" y="144463"/>
            <a:ext cx="10518775" cy="692150"/>
          </a:xfrm>
        </p:spPr>
        <p:txBody>
          <a:bodyPr/>
          <a:lstStyle/>
          <a:p>
            <a:r>
              <a:rPr lang="en-US" altLang="zh-TW" dirty="0"/>
              <a:t>Adding Multiplexer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1137EA1-6606-4EE9-AEB5-FBBDD32D34FE}"/>
              </a:ext>
            </a:extLst>
          </p:cNvPr>
          <p:cNvSpPr/>
          <p:nvPr/>
        </p:nvSpPr>
        <p:spPr bwMode="auto">
          <a:xfrm>
            <a:off x="3679134" y="1142523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0E386996-D53C-481E-A832-1E9E1BBC9CE8}"/>
              </a:ext>
            </a:extLst>
          </p:cNvPr>
          <p:cNvSpPr/>
          <p:nvPr/>
        </p:nvSpPr>
        <p:spPr bwMode="auto">
          <a:xfrm>
            <a:off x="8001200" y="2803882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2E04B819-62A9-4F43-849C-D0EA194686E8}"/>
              </a:ext>
            </a:extLst>
          </p:cNvPr>
          <p:cNvSpPr/>
          <p:nvPr/>
        </p:nvSpPr>
        <p:spPr bwMode="auto">
          <a:xfrm>
            <a:off x="6915283" y="4599506"/>
            <a:ext cx="428100" cy="49252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grpSp>
        <p:nvGrpSpPr>
          <p:cNvPr id="125" name="Group 16">
            <a:extLst>
              <a:ext uri="{FF2B5EF4-FFF2-40B4-BE49-F238E27FC236}">
                <a16:creationId xmlns:a16="http://schemas.microsoft.com/office/drawing/2014/main" id="{88C76B93-5544-4C88-85B1-461A11E7F03D}"/>
              </a:ext>
            </a:extLst>
          </p:cNvPr>
          <p:cNvGrpSpPr/>
          <p:nvPr/>
        </p:nvGrpSpPr>
        <p:grpSpPr bwMode="auto">
          <a:xfrm>
            <a:off x="10097723" y="1248454"/>
            <a:ext cx="1855777" cy="1445318"/>
            <a:chOff x="113" y="2840"/>
            <a:chExt cx="822" cy="774"/>
          </a:xfrm>
        </p:grpSpPr>
        <p:sp>
          <p:nvSpPr>
            <p:cNvPr id="126" name="Line 17">
              <a:extLst>
                <a:ext uri="{FF2B5EF4-FFF2-40B4-BE49-F238E27FC236}">
                  <a16:creationId xmlns:a16="http://schemas.microsoft.com/office/drawing/2014/main" id="{F84B8DDD-9B3A-4812-BFEA-24814682D8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" y="297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27" name="Line 18">
              <a:extLst>
                <a:ext uri="{FF2B5EF4-FFF2-40B4-BE49-F238E27FC236}">
                  <a16:creationId xmlns:a16="http://schemas.microsoft.com/office/drawing/2014/main" id="{234C8E5A-0C2E-4E1A-A3F1-BA23047063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" y="3158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28" name="Line 19">
              <a:extLst>
                <a:ext uri="{FF2B5EF4-FFF2-40B4-BE49-F238E27FC236}">
                  <a16:creationId xmlns:a16="http://schemas.microsoft.com/office/drawing/2014/main" id="{A34377F6-F378-4165-A88C-4C53C45C23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" y="3067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29" name="Text Box 20">
              <a:extLst>
                <a:ext uri="{FF2B5EF4-FFF2-40B4-BE49-F238E27FC236}">
                  <a16:creationId xmlns:a16="http://schemas.microsoft.com/office/drawing/2014/main" id="{7AB4820C-1175-47C7-920C-5006C1FD981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" y="2843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I0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30" name="Text Box 21">
              <a:extLst>
                <a:ext uri="{FF2B5EF4-FFF2-40B4-BE49-F238E27FC236}">
                  <a16:creationId xmlns:a16="http://schemas.microsoft.com/office/drawing/2014/main" id="{388DE683-BE01-4CB0-A3E0-AFE45139D3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" y="3025"/>
              <a:ext cx="158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I1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31" name="Text Box 22">
              <a:extLst>
                <a:ext uri="{FF2B5EF4-FFF2-40B4-BE49-F238E27FC236}">
                  <a16:creationId xmlns:a16="http://schemas.microsoft.com/office/drawing/2014/main" id="{3515ABC3-EFBB-43F6-95BC-254ADBC05E5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3" y="2934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Y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32" name="Line 23">
              <a:extLst>
                <a:ext uri="{FF2B5EF4-FFF2-40B4-BE49-F238E27FC236}">
                  <a16:creationId xmlns:a16="http://schemas.microsoft.com/office/drawing/2014/main" id="{76A23798-BAE1-409A-8C89-36D7BA22E5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6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3" name="Arc 24">
              <a:extLst>
                <a:ext uri="{FF2B5EF4-FFF2-40B4-BE49-F238E27FC236}">
                  <a16:creationId xmlns:a16="http://schemas.microsoft.com/office/drawing/2014/main" id="{A916326B-1435-49EA-86D4-7A207CFAF7A6}"/>
                </a:ext>
              </a:extLst>
            </p:cNvPr>
            <p:cNvSpPr/>
            <p:nvPr/>
          </p:nvSpPr>
          <p:spPr bwMode="auto">
            <a:xfrm>
              <a:off x="567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4" name="Arc 25">
              <a:extLst>
                <a:ext uri="{FF2B5EF4-FFF2-40B4-BE49-F238E27FC236}">
                  <a16:creationId xmlns:a16="http://schemas.microsoft.com/office/drawing/2014/main" id="{5870B41A-B0D1-4E8E-838B-3F61B9536476}"/>
                </a:ext>
              </a:extLst>
            </p:cNvPr>
            <p:cNvSpPr/>
            <p:nvPr/>
          </p:nvSpPr>
          <p:spPr bwMode="auto">
            <a:xfrm flipH="1">
              <a:off x="476" y="2840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5" name="Arc 26">
              <a:extLst>
                <a:ext uri="{FF2B5EF4-FFF2-40B4-BE49-F238E27FC236}">
                  <a16:creationId xmlns:a16="http://schemas.microsoft.com/office/drawing/2014/main" id="{6482FFB8-92ED-4B7D-9456-3510931911E0}"/>
                </a:ext>
              </a:extLst>
            </p:cNvPr>
            <p:cNvSpPr/>
            <p:nvPr/>
          </p:nvSpPr>
          <p:spPr bwMode="auto">
            <a:xfrm flipV="1">
              <a:off x="567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6" name="Arc 27">
              <a:extLst>
                <a:ext uri="{FF2B5EF4-FFF2-40B4-BE49-F238E27FC236}">
                  <a16:creationId xmlns:a16="http://schemas.microsoft.com/office/drawing/2014/main" id="{1CCA7477-E558-40A2-BEEC-28700692F8BD}"/>
                </a:ext>
              </a:extLst>
            </p:cNvPr>
            <p:cNvSpPr/>
            <p:nvPr/>
          </p:nvSpPr>
          <p:spPr bwMode="auto">
            <a:xfrm flipH="1" flipV="1">
              <a:off x="476" y="3203"/>
              <a:ext cx="90" cy="9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600"/>
                <a:gd name="T11" fmla="*/ 21600 w 21600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lnTo>
                    <a:pt x="-1" y="0"/>
                  </a:lnTo>
                  <a:close/>
                </a:path>
              </a:pathLst>
            </a:cu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7" name="Line 28">
              <a:extLst>
                <a:ext uri="{FF2B5EF4-FFF2-40B4-BE49-F238E27FC236}">
                  <a16:creationId xmlns:a16="http://schemas.microsoft.com/office/drawing/2014/main" id="{A1CC2DB9-76C0-4DF4-9758-F7D1DE879A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7" y="2931"/>
              <a:ext cx="0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38" name="Text Box 29">
              <a:extLst>
                <a:ext uri="{FF2B5EF4-FFF2-40B4-BE49-F238E27FC236}">
                  <a16:creationId xmlns:a16="http://schemas.microsoft.com/office/drawing/2014/main" id="{EF283687-9F77-4008-82FA-4F7D2AA3588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6" y="2840"/>
              <a:ext cx="181" cy="4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3600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algn="ctr"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</a:t>
              </a:r>
              <a:b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u</a:t>
              </a:r>
              <a:b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</a:b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x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139" name="Line 30">
              <a:extLst>
                <a:ext uri="{FF2B5EF4-FFF2-40B4-BE49-F238E27FC236}">
                  <a16:creationId xmlns:a16="http://schemas.microsoft.com/office/drawing/2014/main" id="{965802E5-1142-49E4-8E1E-A74F9CB6EA5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7" y="329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140" name="Text Box 31">
              <a:extLst>
                <a:ext uri="{FF2B5EF4-FFF2-40B4-BE49-F238E27FC236}">
                  <a16:creationId xmlns:a16="http://schemas.microsoft.com/office/drawing/2014/main" id="{B21C9462-F505-4863-B4AC-0E409BCECAE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1" y="3433"/>
              <a:ext cx="142" cy="1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S</a:t>
              </a:r>
              <a:endParaRPr lang="en-AU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sp>
        <p:nvSpPr>
          <p:cNvPr id="103" name="Arrow: Down 102">
            <a:extLst>
              <a:ext uri="{FF2B5EF4-FFF2-40B4-BE49-F238E27FC236}">
                <a16:creationId xmlns:a16="http://schemas.microsoft.com/office/drawing/2014/main" id="{C9A49DA4-8876-495A-9127-62E11E313367}"/>
              </a:ext>
            </a:extLst>
          </p:cNvPr>
          <p:cNvSpPr/>
          <p:nvPr/>
        </p:nvSpPr>
        <p:spPr bwMode="auto">
          <a:xfrm rot="2484811">
            <a:off x="4150119" y="952582"/>
            <a:ext cx="277918" cy="362390"/>
          </a:xfrm>
          <a:prstGeom prst="downArrow">
            <a:avLst/>
          </a:prstGeom>
          <a:solidFill>
            <a:srgbClr val="00B05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71BEF2-3451-4763-BD30-2EF282DB2C4F}"/>
              </a:ext>
            </a:extLst>
          </p:cNvPr>
          <p:cNvSpPr txBox="1"/>
          <p:nvPr/>
        </p:nvSpPr>
        <p:spPr>
          <a:xfrm>
            <a:off x="5611548" y="949392"/>
            <a:ext cx="3627916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pPr marR="0" lvl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tabLst/>
              <a:defRPr/>
            </a:pPr>
            <a:r>
              <a:rPr kumimoji="1" lang="en-AU" altLang="zh-TW" sz="24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PCSrc</a:t>
            </a:r>
            <a:r>
              <a:rPr kumimoji="1" lang="en-AU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新細明體" panose="02020500000000000000" pitchFamily="18" charset="-120"/>
                <a:cs typeface="+mn-cs"/>
              </a:rPr>
              <a:t> = ((BEQ or JAL) ? 1: 0)</a:t>
            </a:r>
          </a:p>
        </p:txBody>
      </p:sp>
    </p:spTree>
    <p:extLst>
      <p:ext uri="{BB962C8B-B14F-4D97-AF65-F5344CB8AC3E}">
        <p14:creationId xmlns:p14="http://schemas.microsoft.com/office/powerpoint/2010/main" val="296382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28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6DC8D-886C-432F-8A39-2E6D99E66025}"/>
              </a:ext>
            </a:extLst>
          </p:cNvPr>
          <p:cNvSpPr txBox="1"/>
          <p:nvPr/>
        </p:nvSpPr>
        <p:spPr>
          <a:xfrm>
            <a:off x="1711104" y="4613669"/>
            <a:ext cx="55226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PC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763C09-7791-4504-BC4E-DBE485004AE4}"/>
              </a:ext>
            </a:extLst>
          </p:cNvPr>
          <p:cNvSpPr/>
          <p:nvPr/>
        </p:nvSpPr>
        <p:spPr bwMode="auto">
          <a:xfrm>
            <a:off x="1702051" y="3992577"/>
            <a:ext cx="561315" cy="1611517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F180D6-E533-49FC-92AD-9A00F5DFF739}"/>
              </a:ext>
            </a:extLst>
          </p:cNvPr>
          <p:cNvSpPr/>
          <p:nvPr/>
        </p:nvSpPr>
        <p:spPr bwMode="auto">
          <a:xfrm>
            <a:off x="2625505" y="3720972"/>
            <a:ext cx="1765426" cy="2154725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B97B25-B39C-4C6B-83C3-42DA4F59E682}"/>
              </a:ext>
            </a:extLst>
          </p:cNvPr>
          <p:cNvCxnSpPr>
            <a:stCxn id="3" idx="3"/>
            <a:endCxn id="4" idx="1"/>
          </p:cNvCxnSpPr>
          <p:nvPr/>
        </p:nvCxnSpPr>
        <p:spPr bwMode="auto">
          <a:xfrm flipV="1">
            <a:off x="2263366" y="4798335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F13A8B-8C70-42D4-8781-EC386B0052DC}"/>
              </a:ext>
            </a:extLst>
          </p:cNvPr>
          <p:cNvSpPr txBox="1"/>
          <p:nvPr/>
        </p:nvSpPr>
        <p:spPr>
          <a:xfrm>
            <a:off x="2625505" y="5229366"/>
            <a:ext cx="1765426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Instruction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E236F5-565D-41BF-88F3-BBE3BEEDA869}"/>
              </a:ext>
            </a:extLst>
          </p:cNvPr>
          <p:cNvSpPr txBox="1"/>
          <p:nvPr/>
        </p:nvSpPr>
        <p:spPr>
          <a:xfrm>
            <a:off x="2643612" y="461366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DEEEAE-1CEC-421C-9A63-BD46A24F7F82}"/>
              </a:ext>
            </a:extLst>
          </p:cNvPr>
          <p:cNvSpPr txBox="1"/>
          <p:nvPr/>
        </p:nvSpPr>
        <p:spPr>
          <a:xfrm>
            <a:off x="3739082" y="4599506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inst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B6138C-28E8-48AE-8B64-4E1DB711A8E7}"/>
              </a:ext>
            </a:extLst>
          </p:cNvPr>
          <p:cNvCxnSpPr/>
          <p:nvPr/>
        </p:nvCxnSpPr>
        <p:spPr bwMode="auto">
          <a:xfrm flipV="1">
            <a:off x="4377351" y="4805873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5" name="Group 48">
            <a:extLst>
              <a:ext uri="{FF2B5EF4-FFF2-40B4-BE49-F238E27FC236}">
                <a16:creationId xmlns:a16="http://schemas.microsoft.com/office/drawing/2014/main" id="{1708B904-4025-48B5-8FF3-17C8BC86D1EF}"/>
              </a:ext>
            </a:extLst>
          </p:cNvPr>
          <p:cNvGrpSpPr/>
          <p:nvPr/>
        </p:nvGrpSpPr>
        <p:grpSpPr bwMode="auto">
          <a:xfrm>
            <a:off x="2897868" y="2102400"/>
            <a:ext cx="795285" cy="1108850"/>
            <a:chOff x="2926" y="2750"/>
            <a:chExt cx="498" cy="725"/>
          </a:xfrm>
        </p:grpSpPr>
        <p:sp>
          <p:nvSpPr>
            <p:cNvPr id="16" name="Line 49">
              <a:extLst>
                <a:ext uri="{FF2B5EF4-FFF2-40B4-BE49-F238E27FC236}">
                  <a16:creationId xmlns:a16="http://schemas.microsoft.com/office/drawing/2014/main" id="{5BC77547-8A2A-43DB-B453-61A260D135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2" name="Line 55">
              <a:extLst>
                <a:ext uri="{FF2B5EF4-FFF2-40B4-BE49-F238E27FC236}">
                  <a16:creationId xmlns:a16="http://schemas.microsoft.com/office/drawing/2014/main" id="{B4BD4DAF-70C5-49D5-B51F-1346B765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3" name="Line 56">
              <a:extLst>
                <a:ext uri="{FF2B5EF4-FFF2-40B4-BE49-F238E27FC236}">
                  <a16:creationId xmlns:a16="http://schemas.microsoft.com/office/drawing/2014/main" id="{CEB8CA83-774A-44F8-A352-44854ED2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E9D4706F-02AB-4D18-A464-19C8AAD2C7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5" name="Line 58">
              <a:extLst>
                <a:ext uri="{FF2B5EF4-FFF2-40B4-BE49-F238E27FC236}">
                  <a16:creationId xmlns:a16="http://schemas.microsoft.com/office/drawing/2014/main" id="{5A26BD1F-71C1-44D0-A09A-263FF96C9E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6" name="Line 59">
              <a:extLst>
                <a:ext uri="{FF2B5EF4-FFF2-40B4-BE49-F238E27FC236}">
                  <a16:creationId xmlns:a16="http://schemas.microsoft.com/office/drawing/2014/main" id="{74DF865D-DF51-4372-B1D8-8EEFB41BDC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" name="Line 60">
              <a:extLst>
                <a:ext uri="{FF2B5EF4-FFF2-40B4-BE49-F238E27FC236}">
                  <a16:creationId xmlns:a16="http://schemas.microsoft.com/office/drawing/2014/main" id="{58C65BD9-446C-4066-A2C3-5FF1A2F8E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" name="Line 61">
              <a:extLst>
                <a:ext uri="{FF2B5EF4-FFF2-40B4-BE49-F238E27FC236}">
                  <a16:creationId xmlns:a16="http://schemas.microsoft.com/office/drawing/2014/main" id="{4A2E7C78-AB6E-4D9E-B065-204E2E08C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9" name="Text Box 62">
              <a:extLst>
                <a:ext uri="{FF2B5EF4-FFF2-40B4-BE49-F238E27FC236}">
                  <a16:creationId xmlns:a16="http://schemas.microsoft.com/office/drawing/2014/main" id="{ADB0590A-C373-4F21-B3DA-B26A48814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70592D-FB04-48C0-85E9-016511669BFD}"/>
              </a:ext>
            </a:extLst>
          </p:cNvPr>
          <p:cNvCxnSpPr/>
          <p:nvPr/>
        </p:nvCxnSpPr>
        <p:spPr bwMode="auto">
          <a:xfrm flipV="1">
            <a:off x="2444435" y="3086816"/>
            <a:ext cx="0" cy="1697356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4" name="Group 48">
            <a:extLst>
              <a:ext uri="{FF2B5EF4-FFF2-40B4-BE49-F238E27FC236}">
                <a16:creationId xmlns:a16="http://schemas.microsoft.com/office/drawing/2014/main" id="{DDB462B4-3D53-4664-A368-83C8D87C926C}"/>
              </a:ext>
            </a:extLst>
          </p:cNvPr>
          <p:cNvGrpSpPr/>
          <p:nvPr/>
        </p:nvGrpSpPr>
        <p:grpSpPr bwMode="auto">
          <a:xfrm>
            <a:off x="4816924" y="1725746"/>
            <a:ext cx="579696" cy="1108850"/>
            <a:chOff x="3061" y="2750"/>
            <a:chExt cx="363" cy="725"/>
          </a:xfrm>
        </p:grpSpPr>
        <p:sp>
          <p:nvSpPr>
            <p:cNvPr id="38" name="Line 55">
              <a:extLst>
                <a:ext uri="{FF2B5EF4-FFF2-40B4-BE49-F238E27FC236}">
                  <a16:creationId xmlns:a16="http://schemas.microsoft.com/office/drawing/2014/main" id="{9460A4D4-5FAD-47D3-81E6-E3CE91EE25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39" name="Line 56">
              <a:extLst>
                <a:ext uri="{FF2B5EF4-FFF2-40B4-BE49-F238E27FC236}">
                  <a16:creationId xmlns:a16="http://schemas.microsoft.com/office/drawing/2014/main" id="{A405C5A2-A907-423E-92E5-75DCE2B84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0" name="Line 57">
              <a:extLst>
                <a:ext uri="{FF2B5EF4-FFF2-40B4-BE49-F238E27FC236}">
                  <a16:creationId xmlns:a16="http://schemas.microsoft.com/office/drawing/2014/main" id="{2EDF4C95-C10B-45FB-9A8A-EBE0F6D2B6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1" name="Line 58">
              <a:extLst>
                <a:ext uri="{FF2B5EF4-FFF2-40B4-BE49-F238E27FC236}">
                  <a16:creationId xmlns:a16="http://schemas.microsoft.com/office/drawing/2014/main" id="{07A93669-3E88-4B8E-8A7B-ABA56D8A5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2" name="Line 59">
              <a:extLst>
                <a:ext uri="{FF2B5EF4-FFF2-40B4-BE49-F238E27FC236}">
                  <a16:creationId xmlns:a16="http://schemas.microsoft.com/office/drawing/2014/main" id="{41CAD5A2-4B4A-4FB6-A2BC-A72416CC6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3" name="Line 60">
              <a:extLst>
                <a:ext uri="{FF2B5EF4-FFF2-40B4-BE49-F238E27FC236}">
                  <a16:creationId xmlns:a16="http://schemas.microsoft.com/office/drawing/2014/main" id="{D50029AA-C476-4630-8368-995F6AA4CF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4" name="Line 61">
              <a:extLst>
                <a:ext uri="{FF2B5EF4-FFF2-40B4-BE49-F238E27FC236}">
                  <a16:creationId xmlns:a16="http://schemas.microsoft.com/office/drawing/2014/main" id="{7A7C6E38-2D6E-4FFF-997A-DD7F09656D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5" name="Text Box 62">
              <a:extLst>
                <a:ext uri="{FF2B5EF4-FFF2-40B4-BE49-F238E27FC236}">
                  <a16:creationId xmlns:a16="http://schemas.microsoft.com/office/drawing/2014/main" id="{B65966B0-B48C-479B-86F5-C8B9C936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7BE3A2-1CDF-4252-8363-23F21A59696F}"/>
              </a:ext>
            </a:extLst>
          </p:cNvPr>
          <p:cNvCxnSpPr/>
          <p:nvPr/>
        </p:nvCxnSpPr>
        <p:spPr bwMode="auto">
          <a:xfrm>
            <a:off x="2444435" y="3086816"/>
            <a:ext cx="669021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2C43C39-65BC-4B88-9065-8A2D9AEB23D8}"/>
              </a:ext>
            </a:extLst>
          </p:cNvPr>
          <p:cNvSpPr txBox="1"/>
          <p:nvPr/>
        </p:nvSpPr>
        <p:spPr>
          <a:xfrm>
            <a:off x="2643612" y="2130433"/>
            <a:ext cx="25120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4DF7F29-8532-433D-97AA-E5477AA9F238}"/>
              </a:ext>
            </a:extLst>
          </p:cNvPr>
          <p:cNvCxnSpPr/>
          <p:nvPr/>
        </p:nvCxnSpPr>
        <p:spPr bwMode="auto">
          <a:xfrm>
            <a:off x="2444435" y="3494638"/>
            <a:ext cx="1738266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01341F3-509D-4721-A7F3-A07C6F400FAB}"/>
              </a:ext>
            </a:extLst>
          </p:cNvPr>
          <p:cNvCxnSpPr/>
          <p:nvPr/>
        </p:nvCxnSpPr>
        <p:spPr bwMode="auto">
          <a:xfrm flipV="1">
            <a:off x="4191754" y="1933751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106A893-7947-4B5C-A7C5-F75FD2BB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82701" y="1955759"/>
            <a:ext cx="634218" cy="364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C8B140-5902-44A6-AF4B-1FE5F22C1775}"/>
              </a:ext>
            </a:extLst>
          </p:cNvPr>
          <p:cNvCxnSpPr>
            <a:cxnSpLocks/>
          </p:cNvCxnSpPr>
          <p:nvPr/>
        </p:nvCxnSpPr>
        <p:spPr bwMode="auto">
          <a:xfrm flipV="1">
            <a:off x="4516169" y="2618944"/>
            <a:ext cx="0" cy="217939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7" name="Line 49">
            <a:extLst>
              <a:ext uri="{FF2B5EF4-FFF2-40B4-BE49-F238E27FC236}">
                <a16:creationId xmlns:a16="http://schemas.microsoft.com/office/drawing/2014/main" id="{4B19C78B-385D-44E0-9D5F-8AC05D3205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2303" y="2618944"/>
            <a:ext cx="294615" cy="2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8" name="Line 49">
            <a:extLst>
              <a:ext uri="{FF2B5EF4-FFF2-40B4-BE49-F238E27FC236}">
                <a16:creationId xmlns:a16="http://schemas.microsoft.com/office/drawing/2014/main" id="{B04065AF-DDBB-4C8F-A5A8-747648A99E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3153" y="2657831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9" name="Line 49">
            <a:extLst>
              <a:ext uri="{FF2B5EF4-FFF2-40B4-BE49-F238E27FC236}">
                <a16:creationId xmlns:a16="http://schemas.microsoft.com/office/drawing/2014/main" id="{E613C17A-118D-4635-BE0E-B5B1FE435D3C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6620" y="2279406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AA62194-D82D-4F3D-9299-AF0932D65B7E}"/>
              </a:ext>
            </a:extLst>
          </p:cNvPr>
          <p:cNvSpPr/>
          <p:nvPr/>
        </p:nvSpPr>
        <p:spPr bwMode="auto">
          <a:xfrm>
            <a:off x="4834552" y="3687954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54FD5D-752D-4702-BAA3-853487A072BF}"/>
              </a:ext>
            </a:extLst>
          </p:cNvPr>
          <p:cNvSpPr txBox="1"/>
          <p:nvPr/>
        </p:nvSpPr>
        <p:spPr>
          <a:xfrm>
            <a:off x="4842475" y="3842825"/>
            <a:ext cx="70729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A0D087-858C-4C22-B372-7CAB5B2B814C}"/>
              </a:ext>
            </a:extLst>
          </p:cNvPr>
          <p:cNvSpPr txBox="1"/>
          <p:nvPr/>
        </p:nvSpPr>
        <p:spPr>
          <a:xfrm>
            <a:off x="4840584" y="4393419"/>
            <a:ext cx="142441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C56500-4E89-4DAA-A10E-914BC859F186}"/>
              </a:ext>
            </a:extLst>
          </p:cNvPr>
          <p:cNvSpPr txBox="1"/>
          <p:nvPr/>
        </p:nvSpPr>
        <p:spPr>
          <a:xfrm>
            <a:off x="4842475" y="3309972"/>
            <a:ext cx="2098964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637D9E-A9A0-4347-BE4C-7F9A891C3C1B}"/>
              </a:ext>
            </a:extLst>
          </p:cNvPr>
          <p:cNvSpPr txBox="1"/>
          <p:nvPr/>
        </p:nvSpPr>
        <p:spPr>
          <a:xfrm>
            <a:off x="4847092" y="481967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99D937-6A61-42CC-94B6-2CFEA64690F6}"/>
              </a:ext>
            </a:extLst>
          </p:cNvPr>
          <p:cNvSpPr txBox="1"/>
          <p:nvPr/>
        </p:nvSpPr>
        <p:spPr>
          <a:xfrm>
            <a:off x="4847092" y="523476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rd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grpSp>
        <p:nvGrpSpPr>
          <p:cNvPr id="66" name="Group 48">
            <a:extLst>
              <a:ext uri="{FF2B5EF4-FFF2-40B4-BE49-F238E27FC236}">
                <a16:creationId xmlns:a16="http://schemas.microsoft.com/office/drawing/2014/main" id="{4D8386ED-3814-45C6-A46C-32B5AF48A051}"/>
              </a:ext>
            </a:extLst>
          </p:cNvPr>
          <p:cNvGrpSpPr/>
          <p:nvPr/>
        </p:nvGrpSpPr>
        <p:grpSpPr bwMode="auto">
          <a:xfrm>
            <a:off x="7504293" y="3842825"/>
            <a:ext cx="579696" cy="1433915"/>
            <a:chOff x="3061" y="2750"/>
            <a:chExt cx="363" cy="725"/>
          </a:xfrm>
        </p:grpSpPr>
        <p:sp>
          <p:nvSpPr>
            <p:cNvPr id="67" name="Line 55">
              <a:extLst>
                <a:ext uri="{FF2B5EF4-FFF2-40B4-BE49-F238E27FC236}">
                  <a16:creationId xmlns:a16="http://schemas.microsoft.com/office/drawing/2014/main" id="{B8F0C5FE-D783-4FD0-A56F-9D852E57A5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8" name="Line 56">
              <a:extLst>
                <a:ext uri="{FF2B5EF4-FFF2-40B4-BE49-F238E27FC236}">
                  <a16:creationId xmlns:a16="http://schemas.microsoft.com/office/drawing/2014/main" id="{046FC258-0BBA-4704-8E3D-771B08F949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9" name="Line 57">
              <a:extLst>
                <a:ext uri="{FF2B5EF4-FFF2-40B4-BE49-F238E27FC236}">
                  <a16:creationId xmlns:a16="http://schemas.microsoft.com/office/drawing/2014/main" id="{AA5099A2-E996-4B4D-B5EE-BE5A16F275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0" name="Line 58">
              <a:extLst>
                <a:ext uri="{FF2B5EF4-FFF2-40B4-BE49-F238E27FC236}">
                  <a16:creationId xmlns:a16="http://schemas.microsoft.com/office/drawing/2014/main" id="{9B188378-CB73-4304-8AE1-023EB8016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1" name="Line 59">
              <a:extLst>
                <a:ext uri="{FF2B5EF4-FFF2-40B4-BE49-F238E27FC236}">
                  <a16:creationId xmlns:a16="http://schemas.microsoft.com/office/drawing/2014/main" id="{CAEC01F4-2D8C-45F1-B53F-A8200097F4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2" name="Line 60">
              <a:extLst>
                <a:ext uri="{FF2B5EF4-FFF2-40B4-BE49-F238E27FC236}">
                  <a16:creationId xmlns:a16="http://schemas.microsoft.com/office/drawing/2014/main" id="{FA6AFBA5-1772-4662-A8F7-1B8AA7D43B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3" name="Line 61">
              <a:extLst>
                <a:ext uri="{FF2B5EF4-FFF2-40B4-BE49-F238E27FC236}">
                  <a16:creationId xmlns:a16="http://schemas.microsoft.com/office/drawing/2014/main" id="{E867097F-0791-4602-A215-F6CDBE9BCD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4" name="Text Box 62">
              <a:extLst>
                <a:ext uri="{FF2B5EF4-FFF2-40B4-BE49-F238E27FC236}">
                  <a16:creationId xmlns:a16="http://schemas.microsoft.com/office/drawing/2014/main" id="{DB572613-D747-410B-8908-F5920CE46E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63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3519035D-5CB0-4BAB-A1D0-29F80E07C06C}"/>
              </a:ext>
            </a:extLst>
          </p:cNvPr>
          <p:cNvSpPr/>
          <p:nvPr/>
        </p:nvSpPr>
        <p:spPr bwMode="auto">
          <a:xfrm>
            <a:off x="8672999" y="3560077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FD89F7-70AD-4696-9E9F-D86A71DCDA0C}"/>
              </a:ext>
            </a:extLst>
          </p:cNvPr>
          <p:cNvSpPr txBox="1"/>
          <p:nvPr/>
        </p:nvSpPr>
        <p:spPr>
          <a:xfrm>
            <a:off x="9045921" y="4322507"/>
            <a:ext cx="1715860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261A1A-8C54-4615-95C8-6ADA1E042164}"/>
              </a:ext>
            </a:extLst>
          </p:cNvPr>
          <p:cNvSpPr txBox="1"/>
          <p:nvPr/>
        </p:nvSpPr>
        <p:spPr>
          <a:xfrm>
            <a:off x="8672998" y="3807911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466BC9-EC15-409F-BCF8-BF7E042FB12F}"/>
              </a:ext>
            </a:extLst>
          </p:cNvPr>
          <p:cNvSpPr txBox="1"/>
          <p:nvPr/>
        </p:nvSpPr>
        <p:spPr>
          <a:xfrm>
            <a:off x="8682881" y="517795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45B4268-0B0F-4779-8481-0421390222B6}"/>
              </a:ext>
            </a:extLst>
          </p:cNvPr>
          <p:cNvCxnSpPr>
            <a:cxnSpLocks/>
          </p:cNvCxnSpPr>
          <p:nvPr/>
        </p:nvCxnSpPr>
        <p:spPr bwMode="auto">
          <a:xfrm>
            <a:off x="6923334" y="4081188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3B1A3A3-B79B-4F8E-809A-828F499EFD85}"/>
              </a:ext>
            </a:extLst>
          </p:cNvPr>
          <p:cNvCxnSpPr>
            <a:cxnSpLocks/>
          </p:cNvCxnSpPr>
          <p:nvPr/>
        </p:nvCxnSpPr>
        <p:spPr bwMode="auto">
          <a:xfrm>
            <a:off x="6941439" y="5069231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77454B7-5B57-4987-9A66-B4E485A7EB38}"/>
              </a:ext>
            </a:extLst>
          </p:cNvPr>
          <p:cNvCxnSpPr>
            <a:cxnSpLocks/>
          </p:cNvCxnSpPr>
          <p:nvPr/>
        </p:nvCxnSpPr>
        <p:spPr bwMode="auto">
          <a:xfrm flipV="1">
            <a:off x="8090443" y="4477331"/>
            <a:ext cx="283925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69427D0-BFA0-418D-B2C8-43DDC7AFBD1E}"/>
              </a:ext>
            </a:extLst>
          </p:cNvPr>
          <p:cNvCxnSpPr>
            <a:cxnSpLocks/>
          </p:cNvCxnSpPr>
          <p:nvPr/>
        </p:nvCxnSpPr>
        <p:spPr bwMode="auto">
          <a:xfrm flipV="1">
            <a:off x="8381912" y="3992577"/>
            <a:ext cx="0" cy="5145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6" name="Line 49">
            <a:extLst>
              <a:ext uri="{FF2B5EF4-FFF2-40B4-BE49-F238E27FC236}">
                <a16:creationId xmlns:a16="http://schemas.microsoft.com/office/drawing/2014/main" id="{899FC1CC-AB6D-445B-9C85-B4ACF89905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74374" y="3978836"/>
            <a:ext cx="308507" cy="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AED3FB5-F682-4B54-B39F-788FDB1867BF}"/>
              </a:ext>
            </a:extLst>
          </p:cNvPr>
          <p:cNvCxnSpPr>
            <a:cxnSpLocks/>
          </p:cNvCxnSpPr>
          <p:nvPr/>
        </p:nvCxnSpPr>
        <p:spPr bwMode="auto">
          <a:xfrm flipV="1">
            <a:off x="7221560" y="5055840"/>
            <a:ext cx="0" cy="42150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9" name="Line 49">
            <a:extLst>
              <a:ext uri="{FF2B5EF4-FFF2-40B4-BE49-F238E27FC236}">
                <a16:creationId xmlns:a16="http://schemas.microsoft.com/office/drawing/2014/main" id="{D5111B26-8960-4C5A-81A0-12F0C98008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5786" y="5451982"/>
            <a:ext cx="1455914" cy="2536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012C138-8BE7-466E-B9E3-B095A8F6CCFF}"/>
              </a:ext>
            </a:extLst>
          </p:cNvPr>
          <p:cNvCxnSpPr>
            <a:cxnSpLocks/>
          </p:cNvCxnSpPr>
          <p:nvPr/>
        </p:nvCxnSpPr>
        <p:spPr bwMode="auto">
          <a:xfrm>
            <a:off x="4644428" y="3086816"/>
            <a:ext cx="638269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A2F477D-8C97-4121-9FBE-CF8A43D67C28}"/>
              </a:ext>
            </a:extLst>
          </p:cNvPr>
          <p:cNvCxnSpPr/>
          <p:nvPr/>
        </p:nvCxnSpPr>
        <p:spPr bwMode="auto">
          <a:xfrm flipV="1">
            <a:off x="11025612" y="3094279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3FEBFD7-0ED4-452E-8695-7DD89D926E99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4428" y="3094279"/>
            <a:ext cx="0" cy="898298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7" name="Line 49">
            <a:extLst>
              <a:ext uri="{FF2B5EF4-FFF2-40B4-BE49-F238E27FC236}">
                <a16:creationId xmlns:a16="http://schemas.microsoft.com/office/drawing/2014/main" id="{0B1E28C1-2477-4F34-9C20-C3B27FF00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4428" y="3996232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8" name="Line 49">
            <a:extLst>
              <a:ext uri="{FF2B5EF4-FFF2-40B4-BE49-F238E27FC236}">
                <a16:creationId xmlns:a16="http://schemas.microsoft.com/office/drawing/2014/main" id="{89204497-6A1E-4F94-802D-042F058CC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92147" y="4692150"/>
            <a:ext cx="36072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D6C29C6-1225-484A-8162-3D0414C7CC83}"/>
              </a:ext>
            </a:extLst>
          </p:cNvPr>
          <p:cNvCxnSpPr>
            <a:cxnSpLocks/>
          </p:cNvCxnSpPr>
          <p:nvPr/>
        </p:nvCxnSpPr>
        <p:spPr bwMode="auto">
          <a:xfrm flipV="1">
            <a:off x="1348966" y="1338468"/>
            <a:ext cx="4264840" cy="17627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E3D565B-B959-4A6C-A208-ED9CBF0C792D}"/>
              </a:ext>
            </a:extLst>
          </p:cNvPr>
          <p:cNvCxnSpPr>
            <a:cxnSpLocks/>
            <a:stCxn id="59" idx="1"/>
          </p:cNvCxnSpPr>
          <p:nvPr/>
        </p:nvCxnSpPr>
        <p:spPr bwMode="auto">
          <a:xfrm flipV="1">
            <a:off x="5613806" y="1338468"/>
            <a:ext cx="0" cy="940939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E7707A0-3F0A-47F7-8BF9-7246F857AA1F}"/>
              </a:ext>
            </a:extLst>
          </p:cNvPr>
          <p:cNvCxnSpPr>
            <a:cxnSpLocks/>
          </p:cNvCxnSpPr>
          <p:nvPr/>
        </p:nvCxnSpPr>
        <p:spPr bwMode="auto">
          <a:xfrm flipV="1">
            <a:off x="1339912" y="1356096"/>
            <a:ext cx="9055" cy="3459936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ED6079D-AC34-4FEE-8791-F5A4346EECC6}"/>
              </a:ext>
            </a:extLst>
          </p:cNvPr>
          <p:cNvCxnSpPr/>
          <p:nvPr/>
        </p:nvCxnSpPr>
        <p:spPr bwMode="auto">
          <a:xfrm flipV="1">
            <a:off x="1327935" y="4816032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297E9F4-61CA-4A0B-AE86-3D82B5102AF7}"/>
              </a:ext>
            </a:extLst>
          </p:cNvPr>
          <p:cNvCxnSpPr>
            <a:cxnSpLocks/>
            <a:stCxn id="58" idx="1"/>
          </p:cNvCxnSpPr>
          <p:nvPr/>
        </p:nvCxnSpPr>
        <p:spPr bwMode="auto">
          <a:xfrm flipV="1">
            <a:off x="3910339" y="1356095"/>
            <a:ext cx="0" cy="130173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FED88A-B6DD-4330-B696-B0892492BD2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729585" y="4585371"/>
            <a:ext cx="9905" cy="1435183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5" name="Line 49">
            <a:extLst>
              <a:ext uri="{FF2B5EF4-FFF2-40B4-BE49-F238E27FC236}">
                <a16:creationId xmlns:a16="http://schemas.microsoft.com/office/drawing/2014/main" id="{A2FDB1EB-BE77-4A16-ADDD-CEB3EC4CD0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4585371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6" name="Line 49">
            <a:extLst>
              <a:ext uri="{FF2B5EF4-FFF2-40B4-BE49-F238E27FC236}">
                <a16:creationId xmlns:a16="http://schemas.microsoft.com/office/drawing/2014/main" id="{9C9CD79A-03F9-48A6-BCCB-B90563B5DA7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9585" y="5055840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7" name="Line 49">
            <a:extLst>
              <a:ext uri="{FF2B5EF4-FFF2-40B4-BE49-F238E27FC236}">
                <a16:creationId xmlns:a16="http://schemas.microsoft.com/office/drawing/2014/main" id="{5F67B85F-6455-4723-AFBE-AA8D1F6F1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5462049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AFEB6CA-4501-490B-B33F-13B71A9CAD87}"/>
              </a:ext>
            </a:extLst>
          </p:cNvPr>
          <p:cNvCxnSpPr>
            <a:cxnSpLocks/>
          </p:cNvCxnSpPr>
          <p:nvPr/>
        </p:nvCxnSpPr>
        <p:spPr bwMode="auto">
          <a:xfrm flipV="1">
            <a:off x="4708325" y="6017820"/>
            <a:ext cx="2380538" cy="8814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D5D2A40D-B1D3-4BFC-950A-D41BDA55A64D}"/>
              </a:ext>
            </a:extLst>
          </p:cNvPr>
          <p:cNvCxnSpPr>
            <a:cxnSpLocks/>
          </p:cNvCxnSpPr>
          <p:nvPr/>
        </p:nvCxnSpPr>
        <p:spPr bwMode="auto">
          <a:xfrm flipV="1">
            <a:off x="7088863" y="5069231"/>
            <a:ext cx="0" cy="93922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CC3D4E1-F920-46C3-A234-ECFCF96E5A94}"/>
              </a:ext>
            </a:extLst>
          </p:cNvPr>
          <p:cNvCxnSpPr>
            <a:cxnSpLocks/>
          </p:cNvCxnSpPr>
          <p:nvPr/>
        </p:nvCxnSpPr>
        <p:spPr bwMode="auto">
          <a:xfrm flipV="1">
            <a:off x="8237144" y="3094279"/>
            <a:ext cx="0" cy="13771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07" name="Rectangle 3">
            <a:extLst>
              <a:ext uri="{FF2B5EF4-FFF2-40B4-BE49-F238E27FC236}">
                <a16:creationId xmlns:a16="http://schemas.microsoft.com/office/drawing/2014/main" id="{690543F4-9432-49FA-9064-4BCA8D2ABA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9338" y="144463"/>
            <a:ext cx="10518775" cy="692150"/>
          </a:xfrm>
        </p:spPr>
        <p:txBody>
          <a:bodyPr/>
          <a:lstStyle/>
          <a:p>
            <a:r>
              <a:rPr lang="en-US" altLang="zh-TW" dirty="0"/>
              <a:t>Adding Control Signals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1137EA1-6606-4EE9-AEB5-FBBDD32D34FE}"/>
              </a:ext>
            </a:extLst>
          </p:cNvPr>
          <p:cNvSpPr/>
          <p:nvPr/>
        </p:nvSpPr>
        <p:spPr bwMode="auto">
          <a:xfrm>
            <a:off x="3679134" y="1142523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0E386996-D53C-481E-A832-1E9E1BBC9CE8}"/>
              </a:ext>
            </a:extLst>
          </p:cNvPr>
          <p:cNvSpPr/>
          <p:nvPr/>
        </p:nvSpPr>
        <p:spPr bwMode="auto">
          <a:xfrm>
            <a:off x="8001200" y="2803882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2E04B819-62A9-4F43-849C-D0EA194686E8}"/>
              </a:ext>
            </a:extLst>
          </p:cNvPr>
          <p:cNvSpPr/>
          <p:nvPr/>
        </p:nvSpPr>
        <p:spPr bwMode="auto">
          <a:xfrm>
            <a:off x="6915283" y="4599506"/>
            <a:ext cx="428100" cy="49252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FE9B90-6F47-4897-AC40-2D8C2592E42C}"/>
              </a:ext>
            </a:extLst>
          </p:cNvPr>
          <p:cNvSpPr txBox="1"/>
          <p:nvPr/>
        </p:nvSpPr>
        <p:spPr>
          <a:xfrm>
            <a:off x="149002" y="1056706"/>
            <a:ext cx="3217547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How to select between PC+4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and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PC+immediate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?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337B5C6B-88B8-474F-808D-678D5256236C}"/>
              </a:ext>
            </a:extLst>
          </p:cNvPr>
          <p:cNvSpPr txBox="1"/>
          <p:nvPr/>
        </p:nvSpPr>
        <p:spPr>
          <a:xfrm>
            <a:off x="6805763" y="2225498"/>
            <a:ext cx="2762359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How to select data from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the memory or the ALU?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34174ED6-759E-43A5-9218-1F9129E98D16}"/>
              </a:ext>
            </a:extLst>
          </p:cNvPr>
          <p:cNvSpPr txBox="1"/>
          <p:nvPr/>
        </p:nvSpPr>
        <p:spPr>
          <a:xfrm>
            <a:off x="6026065" y="5659899"/>
            <a:ext cx="2672526" cy="677108"/>
          </a:xfrm>
          <a:prstGeom prst="rect">
            <a:avLst/>
          </a:prstGeom>
          <a:solidFill>
            <a:srgbClr val="FFFF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How to select data from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Immediate or </a:t>
            </a:r>
            <a:r>
              <a:rPr lang="en-US" sz="2000" b="1" dirty="0">
                <a:ea typeface="標楷體" pitchFamily="65" charset="-120"/>
                <a:cs typeface="Calibri" pitchFamily="34" charset="0"/>
              </a:rPr>
              <a:t>reg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[rs2]?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A1F35E1-9351-47EA-9091-43E1FD1CFE6C}"/>
              </a:ext>
            </a:extLst>
          </p:cNvPr>
          <p:cNvSpPr txBox="1"/>
          <p:nvPr/>
        </p:nvSpPr>
        <p:spPr>
          <a:xfrm>
            <a:off x="137184" y="1780238"/>
            <a:ext cx="2133918" cy="1477328"/>
          </a:xfrm>
          <a:prstGeom prst="rect">
            <a:avLst/>
          </a:prstGeom>
          <a:solidFill>
            <a:srgbClr val="FFC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 a branch is taken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or a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jal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 instruction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select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pc+immed</a:t>
            </a:r>
            <a:endParaRPr lang="en-US" dirty="0">
              <a:ea typeface="標楷體" pitchFamily="65" charset="-120"/>
              <a:cs typeface="Calibri" pitchFamily="34" charset="0"/>
            </a:endParaRP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Otherwise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   select pc+4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B94C1D6B-6F89-4D31-A9DD-4D0FC045677B}"/>
              </a:ext>
            </a:extLst>
          </p:cNvPr>
          <p:cNvSpPr txBox="1"/>
          <p:nvPr/>
        </p:nvSpPr>
        <p:spPr>
          <a:xfrm>
            <a:off x="9712355" y="2244168"/>
            <a:ext cx="2095445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 load select Mem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If R-type select Alu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8BDD501-67C5-4FCB-8BAF-3EA61B43A1FC}"/>
              </a:ext>
            </a:extLst>
          </p:cNvPr>
          <p:cNvSpPr txBox="1"/>
          <p:nvPr/>
        </p:nvSpPr>
        <p:spPr>
          <a:xfrm>
            <a:off x="8778024" y="5694654"/>
            <a:ext cx="2377574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If R-type select rs2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If I-type select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immed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90CC9C2B-820F-4078-9624-856F70DBF6C5}"/>
              </a:ext>
            </a:extLst>
          </p:cNvPr>
          <p:cNvSpPr/>
          <p:nvPr/>
        </p:nvSpPr>
        <p:spPr bwMode="auto">
          <a:xfrm rot="2484811">
            <a:off x="4150119" y="952582"/>
            <a:ext cx="277918" cy="362390"/>
          </a:xfrm>
          <a:prstGeom prst="downArrow">
            <a:avLst/>
          </a:prstGeom>
          <a:solidFill>
            <a:srgbClr val="00B05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96" name="Arrow: Down 95">
            <a:extLst>
              <a:ext uri="{FF2B5EF4-FFF2-40B4-BE49-F238E27FC236}">
                <a16:creationId xmlns:a16="http://schemas.microsoft.com/office/drawing/2014/main" id="{AE9FB62C-FB64-4B5A-9FFF-8E6A66E07EAC}"/>
              </a:ext>
            </a:extLst>
          </p:cNvPr>
          <p:cNvSpPr/>
          <p:nvPr/>
        </p:nvSpPr>
        <p:spPr bwMode="auto">
          <a:xfrm rot="2484811">
            <a:off x="6988101" y="4300905"/>
            <a:ext cx="277918" cy="362390"/>
          </a:xfrm>
          <a:prstGeom prst="downArrow">
            <a:avLst/>
          </a:prstGeom>
          <a:solidFill>
            <a:srgbClr val="00B05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0" name="Arrow: Down 99">
            <a:extLst>
              <a:ext uri="{FF2B5EF4-FFF2-40B4-BE49-F238E27FC236}">
                <a16:creationId xmlns:a16="http://schemas.microsoft.com/office/drawing/2014/main" id="{AD4091B4-E8DF-45A4-B5DE-2431BEE537A7}"/>
              </a:ext>
            </a:extLst>
          </p:cNvPr>
          <p:cNvSpPr/>
          <p:nvPr/>
        </p:nvSpPr>
        <p:spPr bwMode="auto">
          <a:xfrm rot="2484811">
            <a:off x="8480087" y="2744841"/>
            <a:ext cx="277918" cy="362390"/>
          </a:xfrm>
          <a:prstGeom prst="downArrow">
            <a:avLst/>
          </a:prstGeom>
          <a:solidFill>
            <a:srgbClr val="00B05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10436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4" grpId="0" animBg="1"/>
      <p:bldP spid="105" grpId="0" animBg="1"/>
      <p:bldP spid="111" grpId="0" animBg="1"/>
      <p:bldP spid="112" grpId="0" animBg="1"/>
      <p:bldP spid="114" grpId="0" animBg="1"/>
      <p:bldP spid="8" grpId="0" animBg="1"/>
      <p:bldP spid="96" grpId="0" animBg="1"/>
      <p:bldP spid="10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29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96DC8D-886C-432F-8A39-2E6D99E66025}"/>
              </a:ext>
            </a:extLst>
          </p:cNvPr>
          <p:cNvSpPr txBox="1"/>
          <p:nvPr/>
        </p:nvSpPr>
        <p:spPr>
          <a:xfrm>
            <a:off x="1711104" y="4613669"/>
            <a:ext cx="55226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PC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763C09-7791-4504-BC4E-DBE485004AE4}"/>
              </a:ext>
            </a:extLst>
          </p:cNvPr>
          <p:cNvSpPr/>
          <p:nvPr/>
        </p:nvSpPr>
        <p:spPr bwMode="auto">
          <a:xfrm>
            <a:off x="1702051" y="3992577"/>
            <a:ext cx="561315" cy="1611517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F180D6-E533-49FC-92AD-9A00F5DFF739}"/>
              </a:ext>
            </a:extLst>
          </p:cNvPr>
          <p:cNvSpPr/>
          <p:nvPr/>
        </p:nvSpPr>
        <p:spPr bwMode="auto">
          <a:xfrm>
            <a:off x="2625505" y="3720972"/>
            <a:ext cx="1765426" cy="2154725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B97B25-B39C-4C6B-83C3-42DA4F59E682}"/>
              </a:ext>
            </a:extLst>
          </p:cNvPr>
          <p:cNvCxnSpPr>
            <a:stCxn id="3" idx="3"/>
            <a:endCxn id="4" idx="1"/>
          </p:cNvCxnSpPr>
          <p:nvPr/>
        </p:nvCxnSpPr>
        <p:spPr bwMode="auto">
          <a:xfrm flipV="1">
            <a:off x="2263366" y="4798335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6F13A8B-8C70-42D4-8781-EC386B0052DC}"/>
              </a:ext>
            </a:extLst>
          </p:cNvPr>
          <p:cNvSpPr txBox="1"/>
          <p:nvPr/>
        </p:nvSpPr>
        <p:spPr>
          <a:xfrm>
            <a:off x="2625505" y="5229366"/>
            <a:ext cx="1765426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Instruction 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E236F5-565D-41BF-88F3-BBE3BEEDA869}"/>
              </a:ext>
            </a:extLst>
          </p:cNvPr>
          <p:cNvSpPr txBox="1"/>
          <p:nvPr/>
        </p:nvSpPr>
        <p:spPr>
          <a:xfrm>
            <a:off x="2643612" y="461366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DEEEAE-1CEC-421C-9A63-BD46A24F7F82}"/>
              </a:ext>
            </a:extLst>
          </p:cNvPr>
          <p:cNvSpPr txBox="1"/>
          <p:nvPr/>
        </p:nvSpPr>
        <p:spPr>
          <a:xfrm>
            <a:off x="3739082" y="4599506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inst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B6138C-28E8-48AE-8B64-4E1DB711A8E7}"/>
              </a:ext>
            </a:extLst>
          </p:cNvPr>
          <p:cNvCxnSpPr/>
          <p:nvPr/>
        </p:nvCxnSpPr>
        <p:spPr bwMode="auto">
          <a:xfrm flipV="1">
            <a:off x="4377351" y="4805873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5" name="Group 48">
            <a:extLst>
              <a:ext uri="{FF2B5EF4-FFF2-40B4-BE49-F238E27FC236}">
                <a16:creationId xmlns:a16="http://schemas.microsoft.com/office/drawing/2014/main" id="{1708B904-4025-48B5-8FF3-17C8BC86D1EF}"/>
              </a:ext>
            </a:extLst>
          </p:cNvPr>
          <p:cNvGrpSpPr/>
          <p:nvPr/>
        </p:nvGrpSpPr>
        <p:grpSpPr bwMode="auto">
          <a:xfrm>
            <a:off x="2897868" y="2102400"/>
            <a:ext cx="795285" cy="1108850"/>
            <a:chOff x="2926" y="2750"/>
            <a:chExt cx="498" cy="725"/>
          </a:xfrm>
        </p:grpSpPr>
        <p:sp>
          <p:nvSpPr>
            <p:cNvPr id="16" name="Line 49">
              <a:extLst>
                <a:ext uri="{FF2B5EF4-FFF2-40B4-BE49-F238E27FC236}">
                  <a16:creationId xmlns:a16="http://schemas.microsoft.com/office/drawing/2014/main" id="{5BC77547-8A2A-43DB-B453-61A260D135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6" y="2886"/>
              <a:ext cx="136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rou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2" name="Line 55">
              <a:extLst>
                <a:ext uri="{FF2B5EF4-FFF2-40B4-BE49-F238E27FC236}">
                  <a16:creationId xmlns:a16="http://schemas.microsoft.com/office/drawing/2014/main" id="{B4BD4DAF-70C5-49D5-B51F-1346B765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3" name="Line 56">
              <a:extLst>
                <a:ext uri="{FF2B5EF4-FFF2-40B4-BE49-F238E27FC236}">
                  <a16:creationId xmlns:a16="http://schemas.microsoft.com/office/drawing/2014/main" id="{CEB8CA83-774A-44F8-A352-44854ED2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4" name="Line 57">
              <a:extLst>
                <a:ext uri="{FF2B5EF4-FFF2-40B4-BE49-F238E27FC236}">
                  <a16:creationId xmlns:a16="http://schemas.microsoft.com/office/drawing/2014/main" id="{E9D4706F-02AB-4D18-A464-19C8AAD2C7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5" name="Line 58">
              <a:extLst>
                <a:ext uri="{FF2B5EF4-FFF2-40B4-BE49-F238E27FC236}">
                  <a16:creationId xmlns:a16="http://schemas.microsoft.com/office/drawing/2014/main" id="{5A26BD1F-71C1-44D0-A09A-263FF96C9E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6" name="Line 59">
              <a:extLst>
                <a:ext uri="{FF2B5EF4-FFF2-40B4-BE49-F238E27FC236}">
                  <a16:creationId xmlns:a16="http://schemas.microsoft.com/office/drawing/2014/main" id="{74DF865D-DF51-4372-B1D8-8EEFB41BDC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" name="Line 60">
              <a:extLst>
                <a:ext uri="{FF2B5EF4-FFF2-40B4-BE49-F238E27FC236}">
                  <a16:creationId xmlns:a16="http://schemas.microsoft.com/office/drawing/2014/main" id="{58C65BD9-446C-4066-A2C3-5FF1A2F8E5A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" name="Line 61">
              <a:extLst>
                <a:ext uri="{FF2B5EF4-FFF2-40B4-BE49-F238E27FC236}">
                  <a16:creationId xmlns:a16="http://schemas.microsoft.com/office/drawing/2014/main" id="{4A2E7C78-AB6E-4D9E-B065-204E2E08C9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9" name="Text Box 62">
              <a:extLst>
                <a:ext uri="{FF2B5EF4-FFF2-40B4-BE49-F238E27FC236}">
                  <a16:creationId xmlns:a16="http://schemas.microsoft.com/office/drawing/2014/main" id="{ADB0590A-C373-4F21-B3DA-B26A488140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  <a:endParaRPr lang="en-AU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A70592D-FB04-48C0-85E9-016511669BFD}"/>
              </a:ext>
            </a:extLst>
          </p:cNvPr>
          <p:cNvCxnSpPr/>
          <p:nvPr/>
        </p:nvCxnSpPr>
        <p:spPr bwMode="auto">
          <a:xfrm flipV="1">
            <a:off x="2444435" y="3086816"/>
            <a:ext cx="0" cy="1697356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4" name="Group 48">
            <a:extLst>
              <a:ext uri="{FF2B5EF4-FFF2-40B4-BE49-F238E27FC236}">
                <a16:creationId xmlns:a16="http://schemas.microsoft.com/office/drawing/2014/main" id="{DDB462B4-3D53-4664-A368-83C8D87C926C}"/>
              </a:ext>
            </a:extLst>
          </p:cNvPr>
          <p:cNvGrpSpPr/>
          <p:nvPr/>
        </p:nvGrpSpPr>
        <p:grpSpPr bwMode="auto">
          <a:xfrm>
            <a:off x="4816924" y="1725746"/>
            <a:ext cx="579696" cy="1108850"/>
            <a:chOff x="3061" y="2750"/>
            <a:chExt cx="363" cy="725"/>
          </a:xfrm>
        </p:grpSpPr>
        <p:sp>
          <p:nvSpPr>
            <p:cNvPr id="38" name="Line 55">
              <a:extLst>
                <a:ext uri="{FF2B5EF4-FFF2-40B4-BE49-F238E27FC236}">
                  <a16:creationId xmlns:a16="http://schemas.microsoft.com/office/drawing/2014/main" id="{9460A4D4-5FAD-47D3-81E6-E3CE91EE25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39" name="Line 56">
              <a:extLst>
                <a:ext uri="{FF2B5EF4-FFF2-40B4-BE49-F238E27FC236}">
                  <a16:creationId xmlns:a16="http://schemas.microsoft.com/office/drawing/2014/main" id="{A405C5A2-A907-423E-92E5-75DCE2B84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0" name="Line 57">
              <a:extLst>
                <a:ext uri="{FF2B5EF4-FFF2-40B4-BE49-F238E27FC236}">
                  <a16:creationId xmlns:a16="http://schemas.microsoft.com/office/drawing/2014/main" id="{2EDF4C95-C10B-45FB-9A8A-EBE0F6D2B6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1" name="Line 58">
              <a:extLst>
                <a:ext uri="{FF2B5EF4-FFF2-40B4-BE49-F238E27FC236}">
                  <a16:creationId xmlns:a16="http://schemas.microsoft.com/office/drawing/2014/main" id="{07A93669-3E88-4B8E-8A7B-ABA56D8A5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2" name="Line 59">
              <a:extLst>
                <a:ext uri="{FF2B5EF4-FFF2-40B4-BE49-F238E27FC236}">
                  <a16:creationId xmlns:a16="http://schemas.microsoft.com/office/drawing/2014/main" id="{41CAD5A2-4B4A-4FB6-A2BC-A72416CC6F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3" name="Line 60">
              <a:extLst>
                <a:ext uri="{FF2B5EF4-FFF2-40B4-BE49-F238E27FC236}">
                  <a16:creationId xmlns:a16="http://schemas.microsoft.com/office/drawing/2014/main" id="{D50029AA-C476-4630-8368-995F6AA4CF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4" name="Line 61">
              <a:extLst>
                <a:ext uri="{FF2B5EF4-FFF2-40B4-BE49-F238E27FC236}">
                  <a16:creationId xmlns:a16="http://schemas.microsoft.com/office/drawing/2014/main" id="{7A7C6E38-2D6E-4FFF-997A-DD7F09656D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45" name="Text Box 62">
              <a:extLst>
                <a:ext uri="{FF2B5EF4-FFF2-40B4-BE49-F238E27FC236}">
                  <a16:creationId xmlns:a16="http://schemas.microsoft.com/office/drawing/2014/main" id="{B65966B0-B48C-479B-86F5-C8B9C9369D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77" cy="1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87BE3A2-1CDF-4252-8363-23F21A59696F}"/>
              </a:ext>
            </a:extLst>
          </p:cNvPr>
          <p:cNvCxnSpPr/>
          <p:nvPr/>
        </p:nvCxnSpPr>
        <p:spPr bwMode="auto">
          <a:xfrm>
            <a:off x="2444435" y="3086816"/>
            <a:ext cx="669021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2C43C39-65BC-4B88-9065-8A2D9AEB23D8}"/>
              </a:ext>
            </a:extLst>
          </p:cNvPr>
          <p:cNvSpPr txBox="1"/>
          <p:nvPr/>
        </p:nvSpPr>
        <p:spPr>
          <a:xfrm>
            <a:off x="2643612" y="2130433"/>
            <a:ext cx="25120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4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4DF7F29-8532-433D-97AA-E5477AA9F238}"/>
              </a:ext>
            </a:extLst>
          </p:cNvPr>
          <p:cNvCxnSpPr/>
          <p:nvPr/>
        </p:nvCxnSpPr>
        <p:spPr bwMode="auto">
          <a:xfrm>
            <a:off x="2444435" y="3494638"/>
            <a:ext cx="1738266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01341F3-509D-4721-A7F3-A07C6F400FAB}"/>
              </a:ext>
            </a:extLst>
          </p:cNvPr>
          <p:cNvCxnSpPr/>
          <p:nvPr/>
        </p:nvCxnSpPr>
        <p:spPr bwMode="auto">
          <a:xfrm flipV="1">
            <a:off x="4191754" y="1933751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106A893-7947-4B5C-A7C5-F75FD2BB04C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82701" y="1955759"/>
            <a:ext cx="634218" cy="364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BC8B140-5902-44A6-AF4B-1FE5F22C1775}"/>
              </a:ext>
            </a:extLst>
          </p:cNvPr>
          <p:cNvCxnSpPr>
            <a:cxnSpLocks/>
          </p:cNvCxnSpPr>
          <p:nvPr/>
        </p:nvCxnSpPr>
        <p:spPr bwMode="auto">
          <a:xfrm flipV="1">
            <a:off x="4516169" y="2618944"/>
            <a:ext cx="0" cy="217939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7" name="Line 49">
            <a:extLst>
              <a:ext uri="{FF2B5EF4-FFF2-40B4-BE49-F238E27FC236}">
                <a16:creationId xmlns:a16="http://schemas.microsoft.com/office/drawing/2014/main" id="{4B19C78B-385D-44E0-9D5F-8AC05D3205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2303" y="2618944"/>
            <a:ext cx="294615" cy="2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8" name="Line 49">
            <a:extLst>
              <a:ext uri="{FF2B5EF4-FFF2-40B4-BE49-F238E27FC236}">
                <a16:creationId xmlns:a16="http://schemas.microsoft.com/office/drawing/2014/main" id="{B04065AF-DDBB-4C8F-A5A8-747648A99E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693153" y="2657831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9" name="Line 49">
            <a:extLst>
              <a:ext uri="{FF2B5EF4-FFF2-40B4-BE49-F238E27FC236}">
                <a16:creationId xmlns:a16="http://schemas.microsoft.com/office/drawing/2014/main" id="{E613C17A-118D-4635-BE0E-B5B1FE435D3C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6620" y="2279406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AA62194-D82D-4F3D-9299-AF0932D65B7E}"/>
              </a:ext>
            </a:extLst>
          </p:cNvPr>
          <p:cNvSpPr/>
          <p:nvPr/>
        </p:nvSpPr>
        <p:spPr bwMode="auto">
          <a:xfrm>
            <a:off x="4834552" y="3687954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54FD5D-752D-4702-BAA3-853487A072BF}"/>
              </a:ext>
            </a:extLst>
          </p:cNvPr>
          <p:cNvSpPr txBox="1"/>
          <p:nvPr/>
        </p:nvSpPr>
        <p:spPr>
          <a:xfrm>
            <a:off x="4842475" y="3842825"/>
            <a:ext cx="70729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A0D087-858C-4C22-B372-7CAB5B2B814C}"/>
              </a:ext>
            </a:extLst>
          </p:cNvPr>
          <p:cNvSpPr txBox="1"/>
          <p:nvPr/>
        </p:nvSpPr>
        <p:spPr>
          <a:xfrm>
            <a:off x="4840584" y="4393419"/>
            <a:ext cx="1424414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C56500-4E89-4DAA-A10E-914BC859F186}"/>
              </a:ext>
            </a:extLst>
          </p:cNvPr>
          <p:cNvSpPr txBox="1"/>
          <p:nvPr/>
        </p:nvSpPr>
        <p:spPr>
          <a:xfrm>
            <a:off x="4842475" y="3309972"/>
            <a:ext cx="2098964" cy="3693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Registers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B637D9E-A9A0-4347-BE4C-7F9A891C3C1B}"/>
              </a:ext>
            </a:extLst>
          </p:cNvPr>
          <p:cNvSpPr txBox="1"/>
          <p:nvPr/>
        </p:nvSpPr>
        <p:spPr>
          <a:xfrm>
            <a:off x="4847092" y="481967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rs2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799D937-6A61-42CC-94B6-2CFEA64690F6}"/>
              </a:ext>
            </a:extLst>
          </p:cNvPr>
          <p:cNvSpPr txBox="1"/>
          <p:nvPr/>
        </p:nvSpPr>
        <p:spPr>
          <a:xfrm>
            <a:off x="4847092" y="5234762"/>
            <a:ext cx="141790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Register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rd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grpSp>
        <p:nvGrpSpPr>
          <p:cNvPr id="66" name="Group 48">
            <a:extLst>
              <a:ext uri="{FF2B5EF4-FFF2-40B4-BE49-F238E27FC236}">
                <a16:creationId xmlns:a16="http://schemas.microsoft.com/office/drawing/2014/main" id="{4D8386ED-3814-45C6-A46C-32B5AF48A051}"/>
              </a:ext>
            </a:extLst>
          </p:cNvPr>
          <p:cNvGrpSpPr/>
          <p:nvPr/>
        </p:nvGrpSpPr>
        <p:grpSpPr bwMode="auto">
          <a:xfrm>
            <a:off x="7504293" y="3842825"/>
            <a:ext cx="579696" cy="1433915"/>
            <a:chOff x="3061" y="2750"/>
            <a:chExt cx="363" cy="725"/>
          </a:xfrm>
        </p:grpSpPr>
        <p:sp>
          <p:nvSpPr>
            <p:cNvPr id="67" name="Line 55">
              <a:extLst>
                <a:ext uri="{FF2B5EF4-FFF2-40B4-BE49-F238E27FC236}">
                  <a16:creationId xmlns:a16="http://schemas.microsoft.com/office/drawing/2014/main" id="{B8F0C5FE-D783-4FD0-A56F-9D852E57A5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8" name="Line 56">
              <a:extLst>
                <a:ext uri="{FF2B5EF4-FFF2-40B4-BE49-F238E27FC236}">
                  <a16:creationId xmlns:a16="http://schemas.microsoft.com/office/drawing/2014/main" id="{046FC258-0BBA-4704-8E3D-771B08F949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1" y="3203"/>
              <a:ext cx="1" cy="27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69" name="Line 57">
              <a:extLst>
                <a:ext uri="{FF2B5EF4-FFF2-40B4-BE49-F238E27FC236}">
                  <a16:creationId xmlns:a16="http://schemas.microsoft.com/office/drawing/2014/main" id="{AA5099A2-E996-4B4D-B5EE-BE5A16F275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2" y="3022"/>
              <a:ext cx="91" cy="9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0" name="Line 58">
              <a:extLst>
                <a:ext uri="{FF2B5EF4-FFF2-40B4-BE49-F238E27FC236}">
                  <a16:creationId xmlns:a16="http://schemas.microsoft.com/office/drawing/2014/main" id="{9B188378-CB73-4304-8AE1-023EB8016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062" y="3112"/>
              <a:ext cx="91" cy="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1" name="Line 59">
              <a:extLst>
                <a:ext uri="{FF2B5EF4-FFF2-40B4-BE49-F238E27FC236}">
                  <a16:creationId xmlns:a16="http://schemas.microsoft.com/office/drawing/2014/main" id="{CAEC01F4-2D8C-45F1-B53F-A8200097F4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61" y="2750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2" name="Line 60">
              <a:extLst>
                <a:ext uri="{FF2B5EF4-FFF2-40B4-BE49-F238E27FC236}">
                  <a16:creationId xmlns:a16="http://schemas.microsoft.com/office/drawing/2014/main" id="{FA6AFBA5-1772-4662-A8F7-1B8AA7D43B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61" y="3294"/>
              <a:ext cx="363" cy="18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3" name="Line 61">
              <a:extLst>
                <a:ext uri="{FF2B5EF4-FFF2-40B4-BE49-F238E27FC236}">
                  <a16:creationId xmlns:a16="http://schemas.microsoft.com/office/drawing/2014/main" id="{E867097F-0791-4602-A215-F6CDBE9BCD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24" y="2931"/>
              <a:ext cx="0" cy="3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 defTabSz="1219170"/>
              <a:endParaRPr lang="zh-CN" altLang="en-US" sz="1600" b="1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74" name="Text Box 62">
              <a:extLst>
                <a:ext uri="{FF2B5EF4-FFF2-40B4-BE49-F238E27FC236}">
                  <a16:creationId xmlns:a16="http://schemas.microsoft.com/office/drawing/2014/main" id="{DB572613-D747-410B-8908-F5920CE46E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77" y="3173"/>
              <a:ext cx="263" cy="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AU" altLang="zh-TW" sz="16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ALU</a:t>
              </a:r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3519035D-5CB0-4BAB-A1D0-29F80E07C06C}"/>
              </a:ext>
            </a:extLst>
          </p:cNvPr>
          <p:cNvSpPr/>
          <p:nvPr/>
        </p:nvSpPr>
        <p:spPr bwMode="auto">
          <a:xfrm>
            <a:off x="8672999" y="3560077"/>
            <a:ext cx="2088782" cy="2179391"/>
          </a:xfrm>
          <a:prstGeom prst="rect">
            <a:avLst/>
          </a:prstGeom>
          <a:noFill/>
          <a:ln w="158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FD89F7-70AD-4696-9E9F-D86A71DCDA0C}"/>
              </a:ext>
            </a:extLst>
          </p:cNvPr>
          <p:cNvSpPr txBox="1"/>
          <p:nvPr/>
        </p:nvSpPr>
        <p:spPr>
          <a:xfrm>
            <a:off x="9045921" y="4322507"/>
            <a:ext cx="1715860" cy="646331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Memory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261A1A-8C54-4615-95C8-6ADA1E042164}"/>
              </a:ext>
            </a:extLst>
          </p:cNvPr>
          <p:cNvSpPr txBox="1"/>
          <p:nvPr/>
        </p:nvSpPr>
        <p:spPr>
          <a:xfrm>
            <a:off x="8672998" y="3807911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addr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466BC9-EC15-409F-BCF8-BF7E042FB12F}"/>
              </a:ext>
            </a:extLst>
          </p:cNvPr>
          <p:cNvSpPr txBox="1"/>
          <p:nvPr/>
        </p:nvSpPr>
        <p:spPr>
          <a:xfrm>
            <a:off x="8682881" y="5177958"/>
            <a:ext cx="65184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data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45B4268-0B0F-4779-8481-0421390222B6}"/>
              </a:ext>
            </a:extLst>
          </p:cNvPr>
          <p:cNvCxnSpPr>
            <a:cxnSpLocks/>
          </p:cNvCxnSpPr>
          <p:nvPr/>
        </p:nvCxnSpPr>
        <p:spPr bwMode="auto">
          <a:xfrm>
            <a:off x="6923334" y="4081188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C3B1A3A3-B79B-4F8E-809A-828F499EFD85}"/>
              </a:ext>
            </a:extLst>
          </p:cNvPr>
          <p:cNvCxnSpPr>
            <a:cxnSpLocks/>
          </p:cNvCxnSpPr>
          <p:nvPr/>
        </p:nvCxnSpPr>
        <p:spPr bwMode="auto">
          <a:xfrm>
            <a:off x="6941439" y="5069231"/>
            <a:ext cx="580959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977454B7-5B57-4987-9A66-B4E485A7EB38}"/>
              </a:ext>
            </a:extLst>
          </p:cNvPr>
          <p:cNvCxnSpPr>
            <a:cxnSpLocks/>
          </p:cNvCxnSpPr>
          <p:nvPr/>
        </p:nvCxnSpPr>
        <p:spPr bwMode="auto">
          <a:xfrm flipV="1">
            <a:off x="8090443" y="4477331"/>
            <a:ext cx="283925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E69427D0-BFA0-418D-B2C8-43DDC7AFBD1E}"/>
              </a:ext>
            </a:extLst>
          </p:cNvPr>
          <p:cNvCxnSpPr>
            <a:cxnSpLocks/>
          </p:cNvCxnSpPr>
          <p:nvPr/>
        </p:nvCxnSpPr>
        <p:spPr bwMode="auto">
          <a:xfrm flipV="1">
            <a:off x="8381912" y="3992577"/>
            <a:ext cx="0" cy="5145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6" name="Line 49">
            <a:extLst>
              <a:ext uri="{FF2B5EF4-FFF2-40B4-BE49-F238E27FC236}">
                <a16:creationId xmlns:a16="http://schemas.microsoft.com/office/drawing/2014/main" id="{899FC1CC-AB6D-445B-9C85-B4ACF89905A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74374" y="3978836"/>
            <a:ext cx="308507" cy="1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AED3FB5-F682-4B54-B39F-788FDB1867BF}"/>
              </a:ext>
            </a:extLst>
          </p:cNvPr>
          <p:cNvCxnSpPr>
            <a:cxnSpLocks/>
          </p:cNvCxnSpPr>
          <p:nvPr/>
        </p:nvCxnSpPr>
        <p:spPr bwMode="auto">
          <a:xfrm flipV="1">
            <a:off x="7221560" y="5055840"/>
            <a:ext cx="0" cy="42150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9" name="Line 49">
            <a:extLst>
              <a:ext uri="{FF2B5EF4-FFF2-40B4-BE49-F238E27FC236}">
                <a16:creationId xmlns:a16="http://schemas.microsoft.com/office/drawing/2014/main" id="{D5111B26-8960-4C5A-81A0-12F0C98008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95786" y="5451982"/>
            <a:ext cx="1455914" cy="25365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012C138-8BE7-466E-B9E3-B095A8F6CCFF}"/>
              </a:ext>
            </a:extLst>
          </p:cNvPr>
          <p:cNvCxnSpPr>
            <a:cxnSpLocks/>
          </p:cNvCxnSpPr>
          <p:nvPr/>
        </p:nvCxnSpPr>
        <p:spPr bwMode="auto">
          <a:xfrm>
            <a:off x="4644428" y="3086816"/>
            <a:ext cx="6382693" cy="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A2F477D-8C97-4121-9FBE-CF8A43D67C28}"/>
              </a:ext>
            </a:extLst>
          </p:cNvPr>
          <p:cNvCxnSpPr/>
          <p:nvPr/>
        </p:nvCxnSpPr>
        <p:spPr bwMode="auto">
          <a:xfrm flipV="1">
            <a:off x="11025612" y="3094279"/>
            <a:ext cx="0" cy="156994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3FEBFD7-0ED4-452E-8695-7DD89D926E99}"/>
              </a:ext>
            </a:extLst>
          </p:cNvPr>
          <p:cNvCxnSpPr>
            <a:cxnSpLocks/>
          </p:cNvCxnSpPr>
          <p:nvPr/>
        </p:nvCxnSpPr>
        <p:spPr bwMode="auto">
          <a:xfrm flipV="1">
            <a:off x="4644428" y="3094279"/>
            <a:ext cx="0" cy="898298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7" name="Line 49">
            <a:extLst>
              <a:ext uri="{FF2B5EF4-FFF2-40B4-BE49-F238E27FC236}">
                <a16:creationId xmlns:a16="http://schemas.microsoft.com/office/drawing/2014/main" id="{0B1E28C1-2477-4F34-9C20-C3B27FF001F7}"/>
              </a:ext>
            </a:extLst>
          </p:cNvPr>
          <p:cNvSpPr>
            <a:spLocks noChangeShapeType="1"/>
          </p:cNvSpPr>
          <p:nvPr/>
        </p:nvSpPr>
        <p:spPr bwMode="auto">
          <a:xfrm>
            <a:off x="4644428" y="3996232"/>
            <a:ext cx="217186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8" name="Line 49">
            <a:extLst>
              <a:ext uri="{FF2B5EF4-FFF2-40B4-BE49-F238E27FC236}">
                <a16:creationId xmlns:a16="http://schemas.microsoft.com/office/drawing/2014/main" id="{89204497-6A1E-4F94-802D-042F058CC7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0692147" y="4692150"/>
            <a:ext cx="360720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D6C29C6-1225-484A-8162-3D0414C7CC83}"/>
              </a:ext>
            </a:extLst>
          </p:cNvPr>
          <p:cNvCxnSpPr>
            <a:cxnSpLocks/>
          </p:cNvCxnSpPr>
          <p:nvPr/>
        </p:nvCxnSpPr>
        <p:spPr bwMode="auto">
          <a:xfrm flipV="1">
            <a:off x="1348966" y="1338468"/>
            <a:ext cx="4264840" cy="17627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E3D565B-B959-4A6C-A208-ED9CBF0C792D}"/>
              </a:ext>
            </a:extLst>
          </p:cNvPr>
          <p:cNvCxnSpPr>
            <a:cxnSpLocks/>
            <a:stCxn id="59" idx="1"/>
          </p:cNvCxnSpPr>
          <p:nvPr/>
        </p:nvCxnSpPr>
        <p:spPr bwMode="auto">
          <a:xfrm flipV="1">
            <a:off x="5613806" y="1338468"/>
            <a:ext cx="0" cy="940939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E7707A0-3F0A-47F7-8BF9-7246F857AA1F}"/>
              </a:ext>
            </a:extLst>
          </p:cNvPr>
          <p:cNvCxnSpPr>
            <a:cxnSpLocks/>
          </p:cNvCxnSpPr>
          <p:nvPr/>
        </p:nvCxnSpPr>
        <p:spPr bwMode="auto">
          <a:xfrm flipV="1">
            <a:off x="1339912" y="1356096"/>
            <a:ext cx="9055" cy="3459936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ED6079D-AC34-4FEE-8791-F5A4346EECC6}"/>
              </a:ext>
            </a:extLst>
          </p:cNvPr>
          <p:cNvCxnSpPr/>
          <p:nvPr/>
        </p:nvCxnSpPr>
        <p:spPr bwMode="auto">
          <a:xfrm flipV="1">
            <a:off x="1327935" y="4816032"/>
            <a:ext cx="362139" cy="1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297E9F4-61CA-4A0B-AE86-3D82B5102AF7}"/>
              </a:ext>
            </a:extLst>
          </p:cNvPr>
          <p:cNvCxnSpPr>
            <a:cxnSpLocks/>
            <a:stCxn id="58" idx="1"/>
          </p:cNvCxnSpPr>
          <p:nvPr/>
        </p:nvCxnSpPr>
        <p:spPr bwMode="auto">
          <a:xfrm flipV="1">
            <a:off x="3910339" y="1356095"/>
            <a:ext cx="0" cy="1301737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4FED88A-B6DD-4330-B696-B0892492BD2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729585" y="4585371"/>
            <a:ext cx="9905" cy="1435183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5" name="Line 49">
            <a:extLst>
              <a:ext uri="{FF2B5EF4-FFF2-40B4-BE49-F238E27FC236}">
                <a16:creationId xmlns:a16="http://schemas.microsoft.com/office/drawing/2014/main" id="{A2FDB1EB-BE77-4A16-ADDD-CEB3EC4CD0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4585371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6" name="Line 49">
            <a:extLst>
              <a:ext uri="{FF2B5EF4-FFF2-40B4-BE49-F238E27FC236}">
                <a16:creationId xmlns:a16="http://schemas.microsoft.com/office/drawing/2014/main" id="{9C9CD79A-03F9-48A6-BCCB-B90563B5DA72}"/>
              </a:ext>
            </a:extLst>
          </p:cNvPr>
          <p:cNvSpPr>
            <a:spLocks noChangeShapeType="1"/>
          </p:cNvSpPr>
          <p:nvPr/>
        </p:nvSpPr>
        <p:spPr bwMode="auto">
          <a:xfrm>
            <a:off x="4729585" y="5055840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7" name="Line 49">
            <a:extLst>
              <a:ext uri="{FF2B5EF4-FFF2-40B4-BE49-F238E27FC236}">
                <a16:creationId xmlns:a16="http://schemas.microsoft.com/office/drawing/2014/main" id="{5F67B85F-6455-4723-AFBE-AA8D1F6F1663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8325" y="5462049"/>
            <a:ext cx="153289" cy="0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 sz="1600" b="1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6AFEB6CA-4501-490B-B33F-13B71A9CAD87}"/>
              </a:ext>
            </a:extLst>
          </p:cNvPr>
          <p:cNvCxnSpPr>
            <a:cxnSpLocks/>
          </p:cNvCxnSpPr>
          <p:nvPr/>
        </p:nvCxnSpPr>
        <p:spPr bwMode="auto">
          <a:xfrm flipV="1">
            <a:off x="4708325" y="6017820"/>
            <a:ext cx="2380538" cy="8814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D5D2A40D-B1D3-4BFC-950A-D41BDA55A64D}"/>
              </a:ext>
            </a:extLst>
          </p:cNvPr>
          <p:cNvCxnSpPr>
            <a:cxnSpLocks/>
          </p:cNvCxnSpPr>
          <p:nvPr/>
        </p:nvCxnSpPr>
        <p:spPr bwMode="auto">
          <a:xfrm flipV="1">
            <a:off x="7088863" y="5069231"/>
            <a:ext cx="0" cy="93922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CC3D4E1-F920-46C3-A234-ECFCF96E5A94}"/>
              </a:ext>
            </a:extLst>
          </p:cNvPr>
          <p:cNvCxnSpPr>
            <a:cxnSpLocks/>
          </p:cNvCxnSpPr>
          <p:nvPr/>
        </p:nvCxnSpPr>
        <p:spPr bwMode="auto">
          <a:xfrm flipV="1">
            <a:off x="8237144" y="3094279"/>
            <a:ext cx="0" cy="1377169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07" name="Rectangle 3">
            <a:extLst>
              <a:ext uri="{FF2B5EF4-FFF2-40B4-BE49-F238E27FC236}">
                <a16:creationId xmlns:a16="http://schemas.microsoft.com/office/drawing/2014/main" id="{690543F4-9432-49FA-9064-4BCA8D2ABA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49338" y="144463"/>
            <a:ext cx="10518775" cy="692150"/>
          </a:xfrm>
        </p:spPr>
        <p:txBody>
          <a:bodyPr/>
          <a:lstStyle/>
          <a:p>
            <a:r>
              <a:rPr lang="en-US" altLang="zh-TW" dirty="0"/>
              <a:t>Adding Other Control Signals</a:t>
            </a:r>
            <a:endParaRPr lang="en-AU" altLang="zh-TW" dirty="0">
              <a:ea typeface="新細明體" panose="02020500000000000000" pitchFamily="18" charset="-12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1137EA1-6606-4EE9-AEB5-FBBDD32D34FE}"/>
              </a:ext>
            </a:extLst>
          </p:cNvPr>
          <p:cNvSpPr/>
          <p:nvPr/>
        </p:nvSpPr>
        <p:spPr bwMode="auto">
          <a:xfrm>
            <a:off x="3679134" y="1142523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0E386996-D53C-481E-A832-1E9E1BBC9CE8}"/>
              </a:ext>
            </a:extLst>
          </p:cNvPr>
          <p:cNvSpPr/>
          <p:nvPr/>
        </p:nvSpPr>
        <p:spPr bwMode="auto">
          <a:xfrm>
            <a:off x="8001200" y="2803882"/>
            <a:ext cx="462410" cy="536912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2E04B819-62A9-4F43-849C-D0EA194686E8}"/>
              </a:ext>
            </a:extLst>
          </p:cNvPr>
          <p:cNvSpPr/>
          <p:nvPr/>
        </p:nvSpPr>
        <p:spPr bwMode="auto">
          <a:xfrm>
            <a:off x="6915283" y="4599506"/>
            <a:ext cx="428100" cy="49252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ea typeface="新細明體" pitchFamily="18" charset="-120"/>
              </a:rPr>
              <a:t>mux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D6A3B1-16C9-4C3E-AC23-2AB6B78E8175}"/>
              </a:ext>
            </a:extLst>
          </p:cNvPr>
          <p:cNvSpPr txBox="1"/>
          <p:nvPr/>
        </p:nvSpPr>
        <p:spPr>
          <a:xfrm>
            <a:off x="5794128" y="5506365"/>
            <a:ext cx="1142300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RegWrite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7" name="Arrow: Up 16">
            <a:extLst>
              <a:ext uri="{FF2B5EF4-FFF2-40B4-BE49-F238E27FC236}">
                <a16:creationId xmlns:a16="http://schemas.microsoft.com/office/drawing/2014/main" id="{7BA0122B-F447-498D-92E4-B68D0174F240}"/>
              </a:ext>
            </a:extLst>
          </p:cNvPr>
          <p:cNvSpPr/>
          <p:nvPr/>
        </p:nvSpPr>
        <p:spPr bwMode="auto">
          <a:xfrm>
            <a:off x="6264998" y="5863653"/>
            <a:ext cx="160910" cy="286763"/>
          </a:xfrm>
          <a:prstGeom prst="upArrow">
            <a:avLst/>
          </a:prstGeom>
          <a:solidFill>
            <a:srgbClr val="FF0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B1F3C2B-9C8C-4FAC-A038-BAF04FE6C454}"/>
              </a:ext>
            </a:extLst>
          </p:cNvPr>
          <p:cNvSpPr txBox="1"/>
          <p:nvPr/>
        </p:nvSpPr>
        <p:spPr>
          <a:xfrm>
            <a:off x="9640780" y="5354175"/>
            <a:ext cx="1232069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MemWrite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00" name="Arrow: Up 99">
            <a:extLst>
              <a:ext uri="{FF2B5EF4-FFF2-40B4-BE49-F238E27FC236}">
                <a16:creationId xmlns:a16="http://schemas.microsoft.com/office/drawing/2014/main" id="{FB9D041B-FFF6-4135-AC72-1EDE791B5B53}"/>
              </a:ext>
            </a:extLst>
          </p:cNvPr>
          <p:cNvSpPr/>
          <p:nvPr/>
        </p:nvSpPr>
        <p:spPr bwMode="auto">
          <a:xfrm>
            <a:off x="10176359" y="5739468"/>
            <a:ext cx="160910" cy="286763"/>
          </a:xfrm>
          <a:prstGeom prst="upArrow">
            <a:avLst/>
          </a:prstGeom>
          <a:solidFill>
            <a:srgbClr val="FF0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0E86ECC-C142-407A-AD02-BE8483F64EFE}"/>
              </a:ext>
            </a:extLst>
          </p:cNvPr>
          <p:cNvSpPr txBox="1"/>
          <p:nvPr/>
        </p:nvSpPr>
        <p:spPr>
          <a:xfrm>
            <a:off x="9524576" y="3545608"/>
            <a:ext cx="1249060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MemRead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03" name="Arrow: Up 102">
            <a:extLst>
              <a:ext uri="{FF2B5EF4-FFF2-40B4-BE49-F238E27FC236}">
                <a16:creationId xmlns:a16="http://schemas.microsoft.com/office/drawing/2014/main" id="{784CEDC8-01DE-4843-B304-83AA18F078AC}"/>
              </a:ext>
            </a:extLst>
          </p:cNvPr>
          <p:cNvSpPr/>
          <p:nvPr/>
        </p:nvSpPr>
        <p:spPr bwMode="auto">
          <a:xfrm rot="10800000">
            <a:off x="10043663" y="3250476"/>
            <a:ext cx="160910" cy="286763"/>
          </a:xfrm>
          <a:prstGeom prst="upArrow">
            <a:avLst/>
          </a:prstGeom>
          <a:solidFill>
            <a:srgbClr val="FF0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F9ECC55-737B-4273-8E39-10256A927579}"/>
              </a:ext>
            </a:extLst>
          </p:cNvPr>
          <p:cNvSpPr txBox="1"/>
          <p:nvPr/>
        </p:nvSpPr>
        <p:spPr>
          <a:xfrm>
            <a:off x="7249304" y="3466837"/>
            <a:ext cx="889987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 anchor="ctr" anchorCtr="1">
            <a:spAutoFit/>
          </a:bodyPr>
          <a:lstStyle/>
          <a:p>
            <a:r>
              <a:rPr lang="en-US" dirty="0" err="1">
                <a:ea typeface="標楷體" pitchFamily="65" charset="-120"/>
                <a:cs typeface="Calibri" pitchFamily="34" charset="0"/>
              </a:rPr>
              <a:t>ALUop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121" name="Arrow: Up 120">
            <a:extLst>
              <a:ext uri="{FF2B5EF4-FFF2-40B4-BE49-F238E27FC236}">
                <a16:creationId xmlns:a16="http://schemas.microsoft.com/office/drawing/2014/main" id="{63D783F4-D195-4547-99BD-BCC6711D9612}"/>
              </a:ext>
            </a:extLst>
          </p:cNvPr>
          <p:cNvSpPr/>
          <p:nvPr/>
        </p:nvSpPr>
        <p:spPr bwMode="auto">
          <a:xfrm rot="10800000">
            <a:off x="7639566" y="3829739"/>
            <a:ext cx="160910" cy="286763"/>
          </a:xfrm>
          <a:prstGeom prst="upArrow">
            <a:avLst/>
          </a:prstGeom>
          <a:solidFill>
            <a:srgbClr val="FF0000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113242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1239692" y="58739"/>
            <a:ext cx="9066361" cy="901700"/>
          </a:xfrm>
        </p:spPr>
        <p:txBody>
          <a:bodyPr/>
          <a:lstStyle/>
          <a:p>
            <a:r>
              <a:rPr lang="en-US" altLang="zh-TW" dirty="0"/>
              <a:t>How to Design a Processor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1654" y="1094801"/>
            <a:ext cx="9702373" cy="4714328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zh-TW" altLang="en-US" dirty="0"/>
              <a:t>1</a:t>
            </a:r>
            <a:r>
              <a:rPr lang="zh-TW" altLang="en-US" sz="2667" dirty="0"/>
              <a:t>. </a:t>
            </a:r>
            <a:r>
              <a:rPr lang="en-US" altLang="zh-TW" sz="2667" dirty="0"/>
              <a:t>Analyze the required instruction set (data path requirements)</a:t>
            </a:r>
            <a:endParaRPr lang="en-US" altLang="zh-TW" sz="2667" u="sng" dirty="0"/>
          </a:p>
          <a:p>
            <a:pPr lvl="1"/>
            <a:r>
              <a:rPr lang="en-US" altLang="zh-TW" sz="2400" dirty="0"/>
              <a:t> The register transfers give the meaning of each instruction Datapath must include a storage element</a:t>
            </a:r>
          </a:p>
          <a:p>
            <a:pPr lvl="1"/>
            <a:r>
              <a:rPr lang="en-US" altLang="zh-TW" sz="2400" dirty="0"/>
              <a:t>Datapath must support each register transfer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667" dirty="0"/>
              <a:t>2. Select a set of data path components and establish a clocking methodology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667" dirty="0"/>
              <a:t>3. Assemble data path meeting the requirements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667" dirty="0"/>
              <a:t>4. Analyze the implementation of each instruction to determine the setting of control points affecting register transfers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667" dirty="0"/>
              <a:t>5. Assemble the control logic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30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6C387-838E-4F27-9FE8-C110B07213E1}"/>
              </a:ext>
            </a:extLst>
          </p:cNvPr>
          <p:cNvSpPr txBox="1"/>
          <p:nvPr/>
        </p:nvSpPr>
        <p:spPr>
          <a:xfrm>
            <a:off x="9271154" y="2155774"/>
            <a:ext cx="2198038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b="1" dirty="0">
                <a:ea typeface="標楷體" pitchFamily="65" charset="-120"/>
                <a:cs typeface="Calibri" pitchFamily="34" charset="0"/>
              </a:rPr>
              <a:t>Check data </a:t>
            </a:r>
          </a:p>
          <a:p>
            <a:r>
              <a:rPr lang="en-US" b="1" dirty="0">
                <a:ea typeface="標楷體" pitchFamily="65" charset="-120"/>
                <a:cs typeface="Calibri" pitchFamily="34" charset="0"/>
              </a:rPr>
              <a:t>path requirements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C5CE7B-AD48-4EA5-A6F6-D5CDDBEC4C07}"/>
              </a:ext>
            </a:extLst>
          </p:cNvPr>
          <p:cNvSpPr txBox="1"/>
          <p:nvPr/>
        </p:nvSpPr>
        <p:spPr>
          <a:xfrm>
            <a:off x="9271154" y="3539912"/>
            <a:ext cx="2108269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b="1" dirty="0">
                <a:ea typeface="標楷體" pitchFamily="65" charset="-120"/>
                <a:cs typeface="Calibri" pitchFamily="34" charset="0"/>
              </a:rPr>
              <a:t>Assemble data </a:t>
            </a:r>
          </a:p>
          <a:p>
            <a:r>
              <a:rPr lang="en-US" b="1" dirty="0">
                <a:ea typeface="標楷體" pitchFamily="65" charset="-120"/>
                <a:cs typeface="Calibri" pitchFamily="34" charset="0"/>
              </a:rPr>
              <a:t>path components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A0F5F-7577-430A-B796-7417346EB403}"/>
              </a:ext>
            </a:extLst>
          </p:cNvPr>
          <p:cNvSpPr txBox="1"/>
          <p:nvPr/>
        </p:nvSpPr>
        <p:spPr>
          <a:xfrm>
            <a:off x="9271154" y="5032270"/>
            <a:ext cx="1826141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b="1" dirty="0">
                <a:ea typeface="標楷體" pitchFamily="65" charset="-120"/>
                <a:cs typeface="Calibri" pitchFamily="34" charset="0"/>
              </a:rPr>
              <a:t>Adding control</a:t>
            </a:r>
          </a:p>
          <a:p>
            <a:r>
              <a:rPr lang="en-US" b="1" dirty="0">
                <a:ea typeface="標楷體" pitchFamily="65" charset="-120"/>
                <a:cs typeface="Calibri" pitchFamily="34" charset="0"/>
              </a:rPr>
              <a:t>signals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347263" y="1105046"/>
            <a:ext cx="8773890" cy="4970463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altLang="zh-TW" sz="2400" dirty="0"/>
              <a:t>Subset of RISC-V instructions are 32 bits long with 4 formats</a:t>
            </a:r>
          </a:p>
          <a:p>
            <a:pPr lvl="1">
              <a:lnSpc>
                <a:spcPct val="80000"/>
              </a:lnSpc>
            </a:pPr>
            <a:endParaRPr lang="en-US" altLang="zh-TW" sz="2133" dirty="0"/>
          </a:p>
          <a:p>
            <a:pPr marL="457189" lvl="1" indent="0">
              <a:lnSpc>
                <a:spcPct val="80000"/>
              </a:lnSpc>
              <a:buNone/>
            </a:pPr>
            <a:r>
              <a:rPr lang="en-US" altLang="zh-TW" sz="2133" dirty="0">
                <a:solidFill>
                  <a:srgbClr val="0000FF"/>
                </a:solidFill>
              </a:rPr>
              <a:t>         R-type</a:t>
            </a:r>
            <a:br>
              <a:rPr lang="en-US" altLang="zh-TW" sz="2133" dirty="0"/>
            </a:br>
            <a:endParaRPr lang="en-US" altLang="zh-TW" sz="2133" dirty="0"/>
          </a:p>
          <a:p>
            <a:pPr marL="457189" lvl="1" indent="0">
              <a:lnSpc>
                <a:spcPct val="80000"/>
              </a:lnSpc>
              <a:spcBef>
                <a:spcPts val="2000"/>
              </a:spcBef>
              <a:buNone/>
            </a:pPr>
            <a:r>
              <a:rPr lang="en-US" altLang="zh-TW" sz="2133" dirty="0">
                <a:solidFill>
                  <a:srgbClr val="0000FF"/>
                </a:solidFill>
              </a:rPr>
              <a:t>         I-type</a:t>
            </a:r>
            <a:br>
              <a:rPr lang="en-US" altLang="zh-TW" sz="2133" dirty="0"/>
            </a:br>
            <a:endParaRPr lang="en-US" altLang="zh-TW" sz="2133" dirty="0"/>
          </a:p>
          <a:p>
            <a:pPr marL="457189" lvl="1" indent="0">
              <a:lnSpc>
                <a:spcPct val="80000"/>
              </a:lnSpc>
              <a:spcBef>
                <a:spcPts val="2000"/>
              </a:spcBef>
              <a:buNone/>
            </a:pPr>
            <a:r>
              <a:rPr lang="en-US" altLang="zh-TW" sz="2133" dirty="0">
                <a:solidFill>
                  <a:srgbClr val="0000FF"/>
                </a:solidFill>
              </a:rPr>
              <a:t>  S-type/B-type</a:t>
            </a:r>
          </a:p>
          <a:p>
            <a:pPr marL="457189" lvl="1" indent="0">
              <a:lnSpc>
                <a:spcPct val="80000"/>
              </a:lnSpc>
              <a:spcBef>
                <a:spcPts val="2000"/>
              </a:spcBef>
              <a:buNone/>
            </a:pPr>
            <a:r>
              <a:rPr lang="en-US" altLang="zh-TW" sz="2133" dirty="0">
                <a:solidFill>
                  <a:srgbClr val="0000FF"/>
                </a:solidFill>
              </a:rPr>
              <a:t>	 J-type</a:t>
            </a:r>
            <a:br>
              <a:rPr lang="en-US" altLang="zh-TW" sz="2133" dirty="0"/>
            </a:br>
            <a:endParaRPr lang="en-US" altLang="zh-TW" sz="2133" dirty="0"/>
          </a:p>
          <a:p>
            <a:pPr>
              <a:lnSpc>
                <a:spcPct val="80000"/>
              </a:lnSpc>
            </a:pPr>
            <a:r>
              <a:rPr lang="en-US" altLang="zh-TW" sz="2400" dirty="0"/>
              <a:t>The different fields are:</a:t>
            </a:r>
          </a:p>
          <a:p>
            <a:pPr lvl="1">
              <a:lnSpc>
                <a:spcPct val="80000"/>
              </a:lnSpc>
              <a:spcBef>
                <a:spcPct val="10000"/>
              </a:spcBef>
            </a:pPr>
            <a:r>
              <a:rPr lang="en-US" altLang="zh-TW" sz="2133" dirty="0"/>
              <a:t>opcode: Operation of the instruction</a:t>
            </a:r>
          </a:p>
          <a:p>
            <a:pPr lvl="1">
              <a:lnSpc>
                <a:spcPct val="80000"/>
              </a:lnSpc>
              <a:spcBef>
                <a:spcPct val="10000"/>
              </a:spcBef>
            </a:pPr>
            <a:r>
              <a:rPr lang="en-US" altLang="zh-TW" sz="2133" dirty="0"/>
              <a:t>rs1,rs2, </a:t>
            </a:r>
            <a:r>
              <a:rPr lang="en-US" altLang="zh-TW" sz="2133" dirty="0" err="1"/>
              <a:t>rd</a:t>
            </a:r>
            <a:r>
              <a:rPr lang="en-US" altLang="zh-TW" sz="2133" dirty="0"/>
              <a:t>: Source and destination registers</a:t>
            </a:r>
          </a:p>
          <a:p>
            <a:pPr lvl="1">
              <a:lnSpc>
                <a:spcPct val="80000"/>
              </a:lnSpc>
              <a:spcBef>
                <a:spcPct val="10000"/>
              </a:spcBef>
            </a:pPr>
            <a:r>
              <a:rPr lang="en-US" altLang="zh-TW" sz="2133" dirty="0"/>
              <a:t>funct3: Selects variant of the “opcode” field</a:t>
            </a:r>
          </a:p>
          <a:p>
            <a:pPr lvl="1">
              <a:lnSpc>
                <a:spcPct val="80000"/>
              </a:lnSpc>
              <a:spcBef>
                <a:spcPct val="10000"/>
              </a:spcBef>
            </a:pPr>
            <a:r>
              <a:rPr lang="en-US" altLang="zh-TW" sz="2133" dirty="0"/>
              <a:t>Immediate: for computing memory addresses (data and instruction)</a:t>
            </a:r>
          </a:p>
        </p:txBody>
      </p:sp>
      <p:sp>
        <p:nvSpPr>
          <p:cNvPr id="20486" name="Rectangle 73"/>
          <p:cNvSpPr>
            <a:spLocks noGrp="1" noChangeArrowheads="1"/>
          </p:cNvSpPr>
          <p:nvPr>
            <p:ph type="title"/>
          </p:nvPr>
        </p:nvSpPr>
        <p:spPr>
          <a:xfrm>
            <a:off x="1270428" y="143436"/>
            <a:ext cx="9035624" cy="717177"/>
          </a:xfrm>
        </p:spPr>
        <p:txBody>
          <a:bodyPr/>
          <a:lstStyle/>
          <a:p>
            <a:r>
              <a:rPr lang="en-US" altLang="zh-TW" dirty="0"/>
              <a:t>Step 1 - Analyze Instruction Set</a:t>
            </a:r>
          </a:p>
        </p:txBody>
      </p:sp>
      <p:sp>
        <p:nvSpPr>
          <p:cNvPr id="7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31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5849F33-64BB-48BC-89A2-4D30CADBE076}"/>
              </a:ext>
            </a:extLst>
          </p:cNvPr>
          <p:cNvGrpSpPr/>
          <p:nvPr/>
        </p:nvGrpSpPr>
        <p:grpSpPr>
          <a:xfrm>
            <a:off x="3576619" y="1541890"/>
            <a:ext cx="8078703" cy="646103"/>
            <a:chOff x="723900" y="2124293"/>
            <a:chExt cx="8078703" cy="646103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785ADFAA-4A36-4EF4-8BC8-0B72653B8FB3}"/>
                </a:ext>
              </a:extLst>
            </p:cNvPr>
            <p:cNvSpPr txBox="1"/>
            <p:nvPr/>
          </p:nvSpPr>
          <p:spPr>
            <a:xfrm>
              <a:off x="723900" y="2416453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funct7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890E847-60D7-476A-A059-F50C4F4733F3}"/>
                </a:ext>
              </a:extLst>
            </p:cNvPr>
            <p:cNvSpPr txBox="1"/>
            <p:nvPr/>
          </p:nvSpPr>
          <p:spPr>
            <a:xfrm>
              <a:off x="2466181" y="2416453"/>
              <a:ext cx="122792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rs2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907DF1B0-C98A-4B83-BFE4-74AB61C6C2EE}"/>
                </a:ext>
              </a:extLst>
            </p:cNvPr>
            <p:cNvSpPr txBox="1"/>
            <p:nvPr/>
          </p:nvSpPr>
          <p:spPr>
            <a:xfrm>
              <a:off x="4922042" y="2416453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7F9FE862-51B1-4413-9D60-84552A9A98E4}"/>
                </a:ext>
              </a:extLst>
            </p:cNvPr>
            <p:cNvSpPr txBox="1"/>
            <p:nvPr/>
          </p:nvSpPr>
          <p:spPr>
            <a:xfrm>
              <a:off x="3694111" y="2416453"/>
              <a:ext cx="12279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C29EDD69-5323-446A-AC8A-C636E13C7147}"/>
                </a:ext>
              </a:extLst>
            </p:cNvPr>
            <p:cNvSpPr txBox="1"/>
            <p:nvPr/>
          </p:nvSpPr>
          <p:spPr>
            <a:xfrm>
              <a:off x="5834060" y="2416453"/>
              <a:ext cx="122626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B4F4980A-6F02-42D6-B981-36729F8ED4DB}"/>
                </a:ext>
              </a:extLst>
            </p:cNvPr>
            <p:cNvSpPr txBox="1"/>
            <p:nvPr/>
          </p:nvSpPr>
          <p:spPr>
            <a:xfrm>
              <a:off x="7060322" y="2416453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ACE45C1-CAD5-4ABC-9677-66038BBD2504}"/>
                </a:ext>
              </a:extLst>
            </p:cNvPr>
            <p:cNvSpPr txBox="1"/>
            <p:nvPr/>
          </p:nvSpPr>
          <p:spPr>
            <a:xfrm>
              <a:off x="144179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068A4487-ADF3-460E-B47C-0B743667A54E}"/>
                </a:ext>
              </a:extLst>
            </p:cNvPr>
            <p:cNvSpPr txBox="1"/>
            <p:nvPr/>
          </p:nvSpPr>
          <p:spPr>
            <a:xfrm>
              <a:off x="292725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BD7EF3C7-5F23-40DC-81F5-1AAA29A1BA67}"/>
                </a:ext>
              </a:extLst>
            </p:cNvPr>
            <p:cNvSpPr txBox="1"/>
            <p:nvPr/>
          </p:nvSpPr>
          <p:spPr>
            <a:xfrm>
              <a:off x="4154830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1F8C2834-45B3-4E07-8DD2-3FC63F922C62}"/>
                </a:ext>
              </a:extLst>
            </p:cNvPr>
            <p:cNvSpPr txBox="1"/>
            <p:nvPr/>
          </p:nvSpPr>
          <p:spPr>
            <a:xfrm>
              <a:off x="522083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295470D-3E7A-4D45-A871-B3473BEDEFDC}"/>
                </a:ext>
              </a:extLst>
            </p:cNvPr>
            <p:cNvSpPr txBox="1"/>
            <p:nvPr/>
          </p:nvSpPr>
          <p:spPr>
            <a:xfrm>
              <a:off x="629689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43A9D690-EC13-4D5A-9FAF-ABA6CD56C711}"/>
                </a:ext>
              </a:extLst>
            </p:cNvPr>
            <p:cNvSpPr txBox="1"/>
            <p:nvPr/>
          </p:nvSpPr>
          <p:spPr>
            <a:xfrm>
              <a:off x="7778215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F1B0622-7649-409F-B715-FCA3DD1390D5}"/>
              </a:ext>
            </a:extLst>
          </p:cNvPr>
          <p:cNvGrpSpPr/>
          <p:nvPr/>
        </p:nvGrpSpPr>
        <p:grpSpPr>
          <a:xfrm>
            <a:off x="3576619" y="2139328"/>
            <a:ext cx="8078703" cy="646103"/>
            <a:chOff x="723900" y="3317566"/>
            <a:chExt cx="8078703" cy="646103"/>
          </a:xfrm>
        </p:grpSpPr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EE1C994-FE04-4E4D-B252-101A4D5FBBCE}"/>
                </a:ext>
              </a:extLst>
            </p:cNvPr>
            <p:cNvSpPr txBox="1"/>
            <p:nvPr/>
          </p:nvSpPr>
          <p:spPr>
            <a:xfrm>
              <a:off x="723900" y="3609726"/>
              <a:ext cx="2968096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[11:0]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77C310AA-10E8-475A-82D5-962EC841D6E2}"/>
                </a:ext>
              </a:extLst>
            </p:cNvPr>
            <p:cNvSpPr txBox="1"/>
            <p:nvPr/>
          </p:nvSpPr>
          <p:spPr>
            <a:xfrm>
              <a:off x="4922042" y="3609726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2E6CA56-DBDA-4F54-83AD-5FF11BE22DAE}"/>
                </a:ext>
              </a:extLst>
            </p:cNvPr>
            <p:cNvSpPr txBox="1"/>
            <p:nvPr/>
          </p:nvSpPr>
          <p:spPr>
            <a:xfrm>
              <a:off x="3694111" y="3609726"/>
              <a:ext cx="12279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DB94E9C-4845-4519-AF0D-8FA427C4D7EC}"/>
                </a:ext>
              </a:extLst>
            </p:cNvPr>
            <p:cNvSpPr txBox="1"/>
            <p:nvPr/>
          </p:nvSpPr>
          <p:spPr>
            <a:xfrm>
              <a:off x="5834060" y="3609726"/>
              <a:ext cx="122626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AD15A69F-F436-494B-A472-85CE27E5B8CB}"/>
                </a:ext>
              </a:extLst>
            </p:cNvPr>
            <p:cNvSpPr txBox="1"/>
            <p:nvPr/>
          </p:nvSpPr>
          <p:spPr>
            <a:xfrm>
              <a:off x="7060322" y="3609726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586356FD-92AF-49F0-99BA-18CA37AD3ABF}"/>
                </a:ext>
              </a:extLst>
            </p:cNvPr>
            <p:cNvSpPr txBox="1"/>
            <p:nvPr/>
          </p:nvSpPr>
          <p:spPr>
            <a:xfrm>
              <a:off x="1993787" y="3317566"/>
              <a:ext cx="428322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12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224A7825-D6C6-4B50-8C14-47E5A7D66386}"/>
                </a:ext>
              </a:extLst>
            </p:cNvPr>
            <p:cNvSpPr txBox="1"/>
            <p:nvPr/>
          </p:nvSpPr>
          <p:spPr>
            <a:xfrm>
              <a:off x="4154830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99D2115-BFBA-4DFC-BDF6-27106FD1CDE9}"/>
                </a:ext>
              </a:extLst>
            </p:cNvPr>
            <p:cNvSpPr txBox="1"/>
            <p:nvPr/>
          </p:nvSpPr>
          <p:spPr>
            <a:xfrm>
              <a:off x="522083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746A7AF-3F6E-4A6C-8681-5C49E2B5185F}"/>
                </a:ext>
              </a:extLst>
            </p:cNvPr>
            <p:cNvSpPr txBox="1"/>
            <p:nvPr/>
          </p:nvSpPr>
          <p:spPr>
            <a:xfrm>
              <a:off x="629689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2FA22EA7-68F2-4A22-997E-91EE8851D224}"/>
                </a:ext>
              </a:extLst>
            </p:cNvPr>
            <p:cNvSpPr txBox="1"/>
            <p:nvPr/>
          </p:nvSpPr>
          <p:spPr>
            <a:xfrm>
              <a:off x="7778215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C9FADF62-119F-4810-9D15-C5356941EFFA}"/>
              </a:ext>
            </a:extLst>
          </p:cNvPr>
          <p:cNvGrpSpPr/>
          <p:nvPr/>
        </p:nvGrpSpPr>
        <p:grpSpPr>
          <a:xfrm>
            <a:off x="3576619" y="3466708"/>
            <a:ext cx="8078701" cy="743606"/>
            <a:chOff x="721855" y="5296661"/>
            <a:chExt cx="8078701" cy="743606"/>
          </a:xfrm>
        </p:grpSpPr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7B7BD68A-295E-44D5-8DEC-77E337953FE7}"/>
                </a:ext>
              </a:extLst>
            </p:cNvPr>
            <p:cNvSpPr txBox="1"/>
            <p:nvPr/>
          </p:nvSpPr>
          <p:spPr>
            <a:xfrm>
              <a:off x="5870794" y="5678432"/>
              <a:ext cx="1220417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EC5A15B-A764-44FF-917E-48BB13C0E936}"/>
                </a:ext>
              </a:extLst>
            </p:cNvPr>
            <p:cNvSpPr txBox="1"/>
            <p:nvPr/>
          </p:nvSpPr>
          <p:spPr>
            <a:xfrm>
              <a:off x="721855" y="5686324"/>
              <a:ext cx="511015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[31:12]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27AC4122-4251-4988-98EF-01D5C742D3A7}"/>
                </a:ext>
              </a:extLst>
            </p:cNvPr>
            <p:cNvSpPr txBox="1"/>
            <p:nvPr/>
          </p:nvSpPr>
          <p:spPr>
            <a:xfrm>
              <a:off x="7108325" y="5678884"/>
              <a:ext cx="16922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83199F9-4902-4E24-8E3C-09938019A083}"/>
                </a:ext>
              </a:extLst>
            </p:cNvPr>
            <p:cNvSpPr txBox="1"/>
            <p:nvPr/>
          </p:nvSpPr>
          <p:spPr>
            <a:xfrm>
              <a:off x="3090803" y="5371010"/>
              <a:ext cx="428323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20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DA19F38A-1C70-41E7-B760-02617A45206F}"/>
                </a:ext>
              </a:extLst>
            </p:cNvPr>
            <p:cNvSpPr txBox="1"/>
            <p:nvPr/>
          </p:nvSpPr>
          <p:spPr>
            <a:xfrm>
              <a:off x="6309142" y="5296661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63211E16-33FE-41F3-813A-7580EEB9F1DF}"/>
                </a:ext>
              </a:extLst>
            </p:cNvPr>
            <p:cNvSpPr txBox="1"/>
            <p:nvPr/>
          </p:nvSpPr>
          <p:spPr>
            <a:xfrm>
              <a:off x="7776169" y="5360348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E7CDDE85-59CD-4BE7-909E-CC5CB455AF9E}"/>
              </a:ext>
            </a:extLst>
          </p:cNvPr>
          <p:cNvGrpSpPr/>
          <p:nvPr/>
        </p:nvGrpSpPr>
        <p:grpSpPr>
          <a:xfrm>
            <a:off x="3576619" y="2884292"/>
            <a:ext cx="8078703" cy="646103"/>
            <a:chOff x="723900" y="3317566"/>
            <a:chExt cx="8078703" cy="646103"/>
          </a:xfrm>
        </p:grpSpPr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ED2DAB9D-1FD3-4E70-9EB9-ACC7F78E0E3E}"/>
                </a:ext>
              </a:extLst>
            </p:cNvPr>
            <p:cNvSpPr txBox="1"/>
            <p:nvPr/>
          </p:nvSpPr>
          <p:spPr>
            <a:xfrm>
              <a:off x="723900" y="3609726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[11:5]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2BDE4A9-D2C7-4E60-A60E-6B10F3E3B825}"/>
                </a:ext>
              </a:extLst>
            </p:cNvPr>
            <p:cNvSpPr txBox="1"/>
            <p:nvPr/>
          </p:nvSpPr>
          <p:spPr>
            <a:xfrm>
              <a:off x="4922042" y="3609726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727989F3-E7D9-4FEA-BDBA-DE1014C40857}"/>
                </a:ext>
              </a:extLst>
            </p:cNvPr>
            <p:cNvSpPr txBox="1"/>
            <p:nvPr/>
          </p:nvSpPr>
          <p:spPr>
            <a:xfrm>
              <a:off x="3694111" y="3609726"/>
              <a:ext cx="12279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89AF86A6-F038-4FDD-9525-DA341817D0CF}"/>
                </a:ext>
              </a:extLst>
            </p:cNvPr>
            <p:cNvSpPr txBox="1"/>
            <p:nvPr/>
          </p:nvSpPr>
          <p:spPr>
            <a:xfrm>
              <a:off x="7060322" y="3609726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36E8086-4BE4-4B90-A601-E665CE705463}"/>
                </a:ext>
              </a:extLst>
            </p:cNvPr>
            <p:cNvSpPr txBox="1"/>
            <p:nvPr/>
          </p:nvSpPr>
          <p:spPr>
            <a:xfrm>
              <a:off x="4154830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31EC5627-6922-4A5D-8873-F17978B70E15}"/>
                </a:ext>
              </a:extLst>
            </p:cNvPr>
            <p:cNvSpPr txBox="1"/>
            <p:nvPr/>
          </p:nvSpPr>
          <p:spPr>
            <a:xfrm>
              <a:off x="522083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3C8E487-1FC8-4F9D-8FB2-744E0487F0BC}"/>
                </a:ext>
              </a:extLst>
            </p:cNvPr>
            <p:cNvSpPr txBox="1"/>
            <p:nvPr/>
          </p:nvSpPr>
          <p:spPr>
            <a:xfrm>
              <a:off x="629689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41D4F403-AC2E-4802-A7F4-6173EE8662A4}"/>
                </a:ext>
              </a:extLst>
            </p:cNvPr>
            <p:cNvSpPr txBox="1"/>
            <p:nvPr/>
          </p:nvSpPr>
          <p:spPr>
            <a:xfrm>
              <a:off x="7778215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0F716A08-4825-4E52-9E47-37BE1CCBA434}"/>
              </a:ext>
            </a:extLst>
          </p:cNvPr>
          <p:cNvSpPr txBox="1"/>
          <p:nvPr/>
        </p:nvSpPr>
        <p:spPr>
          <a:xfrm>
            <a:off x="5326412" y="3176451"/>
            <a:ext cx="1220417" cy="35394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>
                <a:solidFill>
                  <a:srgbClr val="56127A"/>
                </a:solidFill>
              </a:rPr>
              <a:t>rs2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BEF2140-B173-4900-96D5-67A85470A85F}"/>
              </a:ext>
            </a:extLst>
          </p:cNvPr>
          <p:cNvSpPr txBox="1"/>
          <p:nvPr/>
        </p:nvSpPr>
        <p:spPr>
          <a:xfrm>
            <a:off x="5728537" y="2854829"/>
            <a:ext cx="306494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700" dirty="0"/>
              <a:t>5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9303939F-68A8-400A-8D2B-77C226F2E559}"/>
              </a:ext>
            </a:extLst>
          </p:cNvPr>
          <p:cNvSpPr txBox="1"/>
          <p:nvPr/>
        </p:nvSpPr>
        <p:spPr>
          <a:xfrm>
            <a:off x="8678840" y="3160124"/>
            <a:ext cx="1235872" cy="35394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700" dirty="0" err="1">
                <a:solidFill>
                  <a:srgbClr val="56127A"/>
                </a:solidFill>
              </a:rPr>
              <a:t>imm</a:t>
            </a:r>
            <a:r>
              <a:rPr lang="en-US" sz="1700" dirty="0">
                <a:solidFill>
                  <a:srgbClr val="56127A"/>
                </a:solidFill>
              </a:rPr>
              <a:t>[4:0]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5452534-DAC5-4E4F-BB1A-B0061F08EF9A}"/>
              </a:ext>
            </a:extLst>
          </p:cNvPr>
          <p:cNvSpPr txBox="1"/>
          <p:nvPr/>
        </p:nvSpPr>
        <p:spPr>
          <a:xfrm>
            <a:off x="4360666" y="2851954"/>
            <a:ext cx="306494" cy="3539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700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D71E34-B0FF-47C1-B2E5-923BE5A212D7}"/>
              </a:ext>
            </a:extLst>
          </p:cNvPr>
          <p:cNvSpPr txBox="1"/>
          <p:nvPr/>
        </p:nvSpPr>
        <p:spPr>
          <a:xfrm>
            <a:off x="404453" y="2007129"/>
            <a:ext cx="1133644" cy="1754326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Subset:</a:t>
            </a:r>
          </a:p>
          <a:p>
            <a:endParaRPr lang="en-US" dirty="0">
              <a:ea typeface="標楷體" pitchFamily="65" charset="-120"/>
              <a:cs typeface="Calibri" pitchFamily="34" charset="0"/>
            </a:endParaRPr>
          </a:p>
          <a:p>
            <a:r>
              <a:rPr lang="en-US" b="1" dirty="0" err="1">
                <a:ea typeface="標楷體" pitchFamily="65" charset="-120"/>
                <a:cs typeface="Calibri" pitchFamily="34" charset="0"/>
              </a:rPr>
              <a:t>Lw</a:t>
            </a:r>
            <a:r>
              <a:rPr lang="en-US" b="1" dirty="0">
                <a:ea typeface="標楷體" pitchFamily="65" charset="-120"/>
                <a:cs typeface="Calibri" pitchFamily="34" charset="0"/>
              </a:rPr>
              <a:t>/</a:t>
            </a:r>
            <a:r>
              <a:rPr lang="en-US" b="1" dirty="0" err="1">
                <a:ea typeface="標楷體" pitchFamily="65" charset="-120"/>
                <a:cs typeface="Calibri" pitchFamily="34" charset="0"/>
              </a:rPr>
              <a:t>Sw</a:t>
            </a:r>
            <a:endParaRPr lang="en-US" b="1" dirty="0">
              <a:ea typeface="標楷體" pitchFamily="65" charset="-120"/>
              <a:cs typeface="Calibri" pitchFamily="34" charset="0"/>
            </a:endParaRPr>
          </a:p>
          <a:p>
            <a:r>
              <a:rPr lang="en-US" b="1" dirty="0">
                <a:ea typeface="標楷體" pitchFamily="65" charset="-120"/>
                <a:cs typeface="Calibri" pitchFamily="34" charset="0"/>
              </a:rPr>
              <a:t>Add/Sub</a:t>
            </a:r>
          </a:p>
          <a:p>
            <a:r>
              <a:rPr lang="en-US" b="1" dirty="0" err="1">
                <a:ea typeface="標楷體" pitchFamily="65" charset="-120"/>
                <a:cs typeface="Calibri" pitchFamily="34" charset="0"/>
              </a:rPr>
              <a:t>And/Or</a:t>
            </a:r>
            <a:endParaRPr lang="en-US" b="1" dirty="0">
              <a:ea typeface="標楷體" pitchFamily="65" charset="-120"/>
              <a:cs typeface="Calibri" pitchFamily="34" charset="0"/>
            </a:endParaRPr>
          </a:p>
          <a:p>
            <a:r>
              <a:rPr lang="en-US" b="1" dirty="0" err="1">
                <a:ea typeface="標楷體" pitchFamily="65" charset="-120"/>
                <a:cs typeface="Calibri" pitchFamily="34" charset="0"/>
              </a:rPr>
              <a:t>Beq</a:t>
            </a:r>
            <a:r>
              <a:rPr lang="en-US" b="1" dirty="0">
                <a:ea typeface="標楷體" pitchFamily="65" charset="-120"/>
                <a:cs typeface="Calibri" pitchFamily="34" charset="0"/>
              </a:rPr>
              <a:t>/Jal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9" name="Rectangle 94"/>
          <p:cNvSpPr>
            <a:spLocks noGrp="1" noChangeArrowheads="1"/>
          </p:cNvSpPr>
          <p:nvPr>
            <p:ph type="title"/>
          </p:nvPr>
        </p:nvSpPr>
        <p:spPr>
          <a:xfrm>
            <a:off x="1198709" y="102454"/>
            <a:ext cx="9107343" cy="747913"/>
          </a:xfrm>
        </p:spPr>
        <p:txBody>
          <a:bodyPr/>
          <a:lstStyle/>
          <a:p>
            <a:r>
              <a:rPr lang="en-US" altLang="zh-TW" dirty="0"/>
              <a:t>Our Example: RV32I Subset</a:t>
            </a:r>
          </a:p>
        </p:txBody>
      </p:sp>
      <p:sp>
        <p:nvSpPr>
          <p:cNvPr id="21510" name="Rectangle 95"/>
          <p:cNvSpPr>
            <a:spLocks noGrp="1" noChangeArrowheads="1"/>
          </p:cNvSpPr>
          <p:nvPr>
            <p:ph type="body" idx="1"/>
          </p:nvPr>
        </p:nvSpPr>
        <p:spPr>
          <a:xfrm>
            <a:off x="1072856" y="1045028"/>
            <a:ext cx="3342903" cy="4876800"/>
          </a:xfrm>
        </p:spPr>
        <p:txBody>
          <a:bodyPr/>
          <a:lstStyle/>
          <a:p>
            <a:r>
              <a:rPr lang="en-US" altLang="zh-TW" sz="2133" dirty="0"/>
              <a:t>R-Type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/>
              <a:t>add </a:t>
            </a:r>
            <a:r>
              <a:rPr lang="en-US" altLang="zh-TW" sz="1867" dirty="0" err="1"/>
              <a:t>rd</a:t>
            </a:r>
            <a:r>
              <a:rPr lang="en-US" altLang="zh-TW" sz="1867" dirty="0"/>
              <a:t>, rs1, rs2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/>
              <a:t>sub </a:t>
            </a:r>
            <a:r>
              <a:rPr lang="en-US" altLang="zh-TW" sz="1867" dirty="0" err="1"/>
              <a:t>rd</a:t>
            </a:r>
            <a:r>
              <a:rPr lang="en-US" altLang="zh-TW" sz="1867" dirty="0"/>
              <a:t>, rs1, rs2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/>
              <a:t>and </a:t>
            </a:r>
            <a:r>
              <a:rPr lang="en-US" altLang="zh-TW" sz="1867" dirty="0" err="1"/>
              <a:t>rd</a:t>
            </a:r>
            <a:r>
              <a:rPr lang="en-US" altLang="zh-TW" sz="1867" dirty="0"/>
              <a:t>, rs1, rs2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/>
              <a:t>or    </a:t>
            </a:r>
            <a:r>
              <a:rPr lang="en-US" altLang="zh-TW" sz="1867" dirty="0" err="1"/>
              <a:t>rd</a:t>
            </a:r>
            <a:r>
              <a:rPr lang="en-US" altLang="zh-TW" sz="1867" dirty="0"/>
              <a:t>, rs1, rs2</a:t>
            </a:r>
          </a:p>
          <a:p>
            <a:r>
              <a:rPr lang="en-US" altLang="zh-TW" sz="2133" dirty="0"/>
              <a:t>Load/Store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 err="1"/>
              <a:t>lw</a:t>
            </a:r>
            <a:r>
              <a:rPr lang="en-US" altLang="zh-TW" sz="1867" dirty="0"/>
              <a:t> rd,rs1,imm12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 err="1"/>
              <a:t>sw</a:t>
            </a:r>
            <a:r>
              <a:rPr lang="en-US" altLang="zh-TW" sz="1867" dirty="0"/>
              <a:t> rs2,rs1,imm12</a:t>
            </a:r>
          </a:p>
          <a:p>
            <a:r>
              <a:rPr lang="en-US" altLang="zh-TW" sz="2133" dirty="0"/>
              <a:t>Immediate operand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 err="1"/>
              <a:t>addi</a:t>
            </a:r>
            <a:r>
              <a:rPr lang="en-US" altLang="zh-TW" sz="1867" dirty="0"/>
              <a:t>   rd,rs1,imm12</a:t>
            </a:r>
          </a:p>
          <a:p>
            <a:r>
              <a:rPr lang="en-US" altLang="zh-TW" sz="2133" dirty="0"/>
              <a:t>Branch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 err="1"/>
              <a:t>beq</a:t>
            </a:r>
            <a:r>
              <a:rPr lang="en-US" altLang="zh-TW" sz="1867" dirty="0"/>
              <a:t> rs1,rs2,imm12</a:t>
            </a:r>
          </a:p>
          <a:p>
            <a:r>
              <a:rPr lang="en-US" altLang="zh-TW" sz="2133" dirty="0"/>
              <a:t>Jump</a:t>
            </a:r>
          </a:p>
          <a:p>
            <a:pPr lvl="1">
              <a:spcBef>
                <a:spcPts val="0"/>
              </a:spcBef>
            </a:pPr>
            <a:r>
              <a:rPr lang="en-US" altLang="zh-TW" sz="1867" dirty="0" err="1"/>
              <a:t>jal</a:t>
            </a:r>
            <a:r>
              <a:rPr lang="en-US" altLang="zh-TW" sz="1867" dirty="0"/>
              <a:t> </a:t>
            </a:r>
            <a:r>
              <a:rPr lang="en-US" altLang="zh-TW" sz="1867" dirty="0" err="1"/>
              <a:t>rd</a:t>
            </a:r>
            <a:r>
              <a:rPr lang="en-US" altLang="zh-TW" sz="1867" dirty="0"/>
              <a:t>, target</a:t>
            </a:r>
          </a:p>
        </p:txBody>
      </p:sp>
      <p:sp>
        <p:nvSpPr>
          <p:cNvPr id="76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32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E3347384-9FB0-45AC-BD28-F8054C68B5F5}"/>
              </a:ext>
            </a:extLst>
          </p:cNvPr>
          <p:cNvGrpSpPr/>
          <p:nvPr/>
        </p:nvGrpSpPr>
        <p:grpSpPr>
          <a:xfrm>
            <a:off x="3980031" y="1156642"/>
            <a:ext cx="8078703" cy="646103"/>
            <a:chOff x="723900" y="2124293"/>
            <a:chExt cx="8078703" cy="646103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1FAF7CC-483C-40DE-A9F5-030AF7C570B7}"/>
                </a:ext>
              </a:extLst>
            </p:cNvPr>
            <p:cNvSpPr txBox="1"/>
            <p:nvPr/>
          </p:nvSpPr>
          <p:spPr>
            <a:xfrm>
              <a:off x="723900" y="2416453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funct7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EE22483-E112-4BEB-A06E-0FA20E8384ED}"/>
                </a:ext>
              </a:extLst>
            </p:cNvPr>
            <p:cNvSpPr txBox="1"/>
            <p:nvPr/>
          </p:nvSpPr>
          <p:spPr>
            <a:xfrm>
              <a:off x="2466181" y="2416453"/>
              <a:ext cx="122792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rs2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00DED39-582C-4BBA-BF64-3666CA99C47D}"/>
                </a:ext>
              </a:extLst>
            </p:cNvPr>
            <p:cNvSpPr txBox="1"/>
            <p:nvPr/>
          </p:nvSpPr>
          <p:spPr>
            <a:xfrm>
              <a:off x="4922042" y="2416453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21A8AE8-F670-4343-BFE4-853FD3DC0428}"/>
                </a:ext>
              </a:extLst>
            </p:cNvPr>
            <p:cNvSpPr txBox="1"/>
            <p:nvPr/>
          </p:nvSpPr>
          <p:spPr>
            <a:xfrm>
              <a:off x="3694111" y="2416453"/>
              <a:ext cx="12279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DDF063F-6207-411E-8F04-31E8183232DE}"/>
                </a:ext>
              </a:extLst>
            </p:cNvPr>
            <p:cNvSpPr txBox="1"/>
            <p:nvPr/>
          </p:nvSpPr>
          <p:spPr>
            <a:xfrm>
              <a:off x="5834060" y="2416453"/>
              <a:ext cx="122626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C0A0278-5DC9-4DDC-814F-27174F8779DA}"/>
                </a:ext>
              </a:extLst>
            </p:cNvPr>
            <p:cNvSpPr txBox="1"/>
            <p:nvPr/>
          </p:nvSpPr>
          <p:spPr>
            <a:xfrm>
              <a:off x="7060322" y="2416453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92C4E13A-FB1F-4B37-9452-48EAE8B9E05B}"/>
                </a:ext>
              </a:extLst>
            </p:cNvPr>
            <p:cNvSpPr txBox="1"/>
            <p:nvPr/>
          </p:nvSpPr>
          <p:spPr>
            <a:xfrm>
              <a:off x="144179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1948C57E-A400-4B4F-9908-1A99D96CA3A9}"/>
                </a:ext>
              </a:extLst>
            </p:cNvPr>
            <p:cNvSpPr txBox="1"/>
            <p:nvPr/>
          </p:nvSpPr>
          <p:spPr>
            <a:xfrm>
              <a:off x="292725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1F39364-28D3-482E-81BD-83E82F4CB548}"/>
                </a:ext>
              </a:extLst>
            </p:cNvPr>
            <p:cNvSpPr txBox="1"/>
            <p:nvPr/>
          </p:nvSpPr>
          <p:spPr>
            <a:xfrm>
              <a:off x="4154830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BF3A80D-C1DD-436E-918F-38EE29774646}"/>
                </a:ext>
              </a:extLst>
            </p:cNvPr>
            <p:cNvSpPr txBox="1"/>
            <p:nvPr/>
          </p:nvSpPr>
          <p:spPr>
            <a:xfrm>
              <a:off x="522083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53C3FF45-8652-4F5C-837E-D03189D407E7}"/>
                </a:ext>
              </a:extLst>
            </p:cNvPr>
            <p:cNvSpPr txBox="1"/>
            <p:nvPr/>
          </p:nvSpPr>
          <p:spPr>
            <a:xfrm>
              <a:off x="6296894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FF312F-3C0D-44D8-9845-D440A81C9B94}"/>
                </a:ext>
              </a:extLst>
            </p:cNvPr>
            <p:cNvSpPr txBox="1"/>
            <p:nvPr/>
          </p:nvSpPr>
          <p:spPr>
            <a:xfrm>
              <a:off x="7778215" y="21242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A9E0F0AC-89BF-4301-A809-583BA1D155BE}"/>
              </a:ext>
            </a:extLst>
          </p:cNvPr>
          <p:cNvGrpSpPr/>
          <p:nvPr/>
        </p:nvGrpSpPr>
        <p:grpSpPr>
          <a:xfrm>
            <a:off x="4033937" y="2508973"/>
            <a:ext cx="8078703" cy="646103"/>
            <a:chOff x="723900" y="3317566"/>
            <a:chExt cx="8078703" cy="646103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0FB2E1A-32C0-4E04-8DF2-A9281416E7EB}"/>
                </a:ext>
              </a:extLst>
            </p:cNvPr>
            <p:cNvSpPr txBox="1"/>
            <p:nvPr/>
          </p:nvSpPr>
          <p:spPr>
            <a:xfrm>
              <a:off x="723900" y="3609726"/>
              <a:ext cx="2968096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[11:0]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9FACB78-A892-4322-ABFB-E7749D10A20F}"/>
                </a:ext>
              </a:extLst>
            </p:cNvPr>
            <p:cNvSpPr txBox="1"/>
            <p:nvPr/>
          </p:nvSpPr>
          <p:spPr>
            <a:xfrm>
              <a:off x="4922042" y="3609726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6A0CC748-CA4A-41C8-A893-030E7D5BD28E}"/>
                </a:ext>
              </a:extLst>
            </p:cNvPr>
            <p:cNvSpPr txBox="1"/>
            <p:nvPr/>
          </p:nvSpPr>
          <p:spPr>
            <a:xfrm>
              <a:off x="3694111" y="3609726"/>
              <a:ext cx="12279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40D5D804-B94E-4138-97B3-5673E4B05614}"/>
                </a:ext>
              </a:extLst>
            </p:cNvPr>
            <p:cNvSpPr txBox="1"/>
            <p:nvPr/>
          </p:nvSpPr>
          <p:spPr>
            <a:xfrm>
              <a:off x="5834060" y="3609726"/>
              <a:ext cx="122626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A8B6037-5DFD-49D0-8A1B-5A0A37F9ECBC}"/>
                </a:ext>
              </a:extLst>
            </p:cNvPr>
            <p:cNvSpPr txBox="1"/>
            <p:nvPr/>
          </p:nvSpPr>
          <p:spPr>
            <a:xfrm>
              <a:off x="7060322" y="3609726"/>
              <a:ext cx="174228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F766DA3-A778-42E2-A942-CB3275189068}"/>
                </a:ext>
              </a:extLst>
            </p:cNvPr>
            <p:cNvSpPr txBox="1"/>
            <p:nvPr/>
          </p:nvSpPr>
          <p:spPr>
            <a:xfrm>
              <a:off x="1993787" y="3317566"/>
              <a:ext cx="428322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12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6EBC75EF-2054-4798-9D35-1178CF89A091}"/>
                </a:ext>
              </a:extLst>
            </p:cNvPr>
            <p:cNvSpPr txBox="1"/>
            <p:nvPr/>
          </p:nvSpPr>
          <p:spPr>
            <a:xfrm>
              <a:off x="4154830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608473A2-03DB-421D-9238-4F2654135B59}"/>
                </a:ext>
              </a:extLst>
            </p:cNvPr>
            <p:cNvSpPr txBox="1"/>
            <p:nvPr/>
          </p:nvSpPr>
          <p:spPr>
            <a:xfrm>
              <a:off x="522083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3898BA22-6D5B-406F-80E3-3C72E1BDE58F}"/>
                </a:ext>
              </a:extLst>
            </p:cNvPr>
            <p:cNvSpPr txBox="1"/>
            <p:nvPr/>
          </p:nvSpPr>
          <p:spPr>
            <a:xfrm>
              <a:off x="6296894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9939EB-5737-4F0E-A855-4668C6894F92}"/>
                </a:ext>
              </a:extLst>
            </p:cNvPr>
            <p:cNvSpPr txBox="1"/>
            <p:nvPr/>
          </p:nvSpPr>
          <p:spPr>
            <a:xfrm>
              <a:off x="7778215" y="3317566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4BE47435-323F-493C-8CED-6C60EA7FEAF5}"/>
              </a:ext>
            </a:extLst>
          </p:cNvPr>
          <p:cNvGrpSpPr/>
          <p:nvPr/>
        </p:nvGrpSpPr>
        <p:grpSpPr>
          <a:xfrm>
            <a:off x="4032224" y="5011612"/>
            <a:ext cx="8078701" cy="745766"/>
            <a:chOff x="721855" y="5296661"/>
            <a:chExt cx="8078701" cy="745766"/>
          </a:xfrm>
        </p:grpSpPr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4EBBE90-95CD-42F0-A33D-ADEEE0E848E3}"/>
                </a:ext>
              </a:extLst>
            </p:cNvPr>
            <p:cNvSpPr txBox="1"/>
            <p:nvPr/>
          </p:nvSpPr>
          <p:spPr>
            <a:xfrm>
              <a:off x="721855" y="5708993"/>
              <a:ext cx="742280" cy="276999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rgbClr val="56127A"/>
                  </a:solidFill>
                </a:rPr>
                <a:t>imm</a:t>
              </a:r>
              <a:r>
                <a:rPr lang="en-US" sz="1200" dirty="0">
                  <a:solidFill>
                    <a:srgbClr val="56127A"/>
                  </a:solidFill>
                </a:rPr>
                <a:t>[20]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2A8EF24-1726-40F0-815E-8EC722C7EB7A}"/>
                </a:ext>
              </a:extLst>
            </p:cNvPr>
            <p:cNvSpPr txBox="1"/>
            <p:nvPr/>
          </p:nvSpPr>
          <p:spPr>
            <a:xfrm>
              <a:off x="1485860" y="5688484"/>
              <a:ext cx="1647204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[10:1]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47C78F04-8A37-4321-92EB-CFDF249F297C}"/>
                </a:ext>
              </a:extLst>
            </p:cNvPr>
            <p:cNvSpPr txBox="1"/>
            <p:nvPr/>
          </p:nvSpPr>
          <p:spPr>
            <a:xfrm>
              <a:off x="5870794" y="5678432"/>
              <a:ext cx="1220417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rd</a:t>
              </a:r>
              <a:endParaRPr lang="en-US" sz="1700" dirty="0">
                <a:solidFill>
                  <a:srgbClr val="56127A"/>
                </a:solidFill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6D482D7-F511-4FA3-B913-BC11AC37578B}"/>
                </a:ext>
              </a:extLst>
            </p:cNvPr>
            <p:cNvSpPr txBox="1"/>
            <p:nvPr/>
          </p:nvSpPr>
          <p:spPr>
            <a:xfrm>
              <a:off x="3689950" y="5686324"/>
              <a:ext cx="2142064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[19:12]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AC8E98CC-F59B-405E-84E3-C12002EF04CD}"/>
                </a:ext>
              </a:extLst>
            </p:cNvPr>
            <p:cNvSpPr txBox="1"/>
            <p:nvPr/>
          </p:nvSpPr>
          <p:spPr>
            <a:xfrm>
              <a:off x="3141559" y="5700502"/>
              <a:ext cx="509611" cy="276999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rgbClr val="56127A"/>
                  </a:solidFill>
                </a:rPr>
                <a:t>imm</a:t>
              </a:r>
              <a:endParaRPr lang="en-US" sz="1200" dirty="0">
                <a:solidFill>
                  <a:srgbClr val="56127A"/>
                </a:solidFill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9439397-AF14-4187-9563-95195D25624E}"/>
                </a:ext>
              </a:extLst>
            </p:cNvPr>
            <p:cNvSpPr txBox="1"/>
            <p:nvPr/>
          </p:nvSpPr>
          <p:spPr>
            <a:xfrm>
              <a:off x="7108325" y="5678884"/>
              <a:ext cx="169223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44B9D5AD-DE43-48AC-86BF-4A89938AC883}"/>
                </a:ext>
              </a:extLst>
            </p:cNvPr>
            <p:cNvSpPr txBox="1"/>
            <p:nvPr/>
          </p:nvSpPr>
          <p:spPr>
            <a:xfrm>
              <a:off x="939748" y="53953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BB54BF9B-D721-4615-A1F9-09B3243A5E80}"/>
                </a:ext>
              </a:extLst>
            </p:cNvPr>
            <p:cNvSpPr txBox="1"/>
            <p:nvPr/>
          </p:nvSpPr>
          <p:spPr>
            <a:xfrm>
              <a:off x="1950531" y="5395393"/>
              <a:ext cx="428322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10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32C30B28-5047-437D-986A-DDB7BE1F10F0}"/>
                </a:ext>
              </a:extLst>
            </p:cNvPr>
            <p:cNvSpPr txBox="1"/>
            <p:nvPr/>
          </p:nvSpPr>
          <p:spPr>
            <a:xfrm>
              <a:off x="3344676" y="5365109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E58C2C58-A926-423A-A5C8-F8CA00AE5C62}"/>
                </a:ext>
              </a:extLst>
            </p:cNvPr>
            <p:cNvSpPr txBox="1"/>
            <p:nvPr/>
          </p:nvSpPr>
          <p:spPr>
            <a:xfrm>
              <a:off x="4310499" y="5395393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8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4F042E8-9D7D-45B9-A863-2E5514CEA120}"/>
                </a:ext>
              </a:extLst>
            </p:cNvPr>
            <p:cNvSpPr txBox="1"/>
            <p:nvPr/>
          </p:nvSpPr>
          <p:spPr>
            <a:xfrm>
              <a:off x="6309142" y="5296661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DF53E426-3FB4-411A-B088-89EAF7C0C807}"/>
                </a:ext>
              </a:extLst>
            </p:cNvPr>
            <p:cNvSpPr txBox="1"/>
            <p:nvPr/>
          </p:nvSpPr>
          <p:spPr>
            <a:xfrm>
              <a:off x="7776169" y="5360348"/>
              <a:ext cx="306494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16B873FB-20AE-4C37-BDCF-1E02904D5C47}"/>
              </a:ext>
            </a:extLst>
          </p:cNvPr>
          <p:cNvGrpSpPr/>
          <p:nvPr/>
        </p:nvGrpSpPr>
        <p:grpSpPr>
          <a:xfrm>
            <a:off x="4029098" y="3156007"/>
            <a:ext cx="8081827" cy="646103"/>
            <a:chOff x="896575" y="2124293"/>
            <a:chExt cx="7729174" cy="646103"/>
          </a:xfrm>
        </p:grpSpPr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6DC1066-C875-462C-99D4-022887133EE3}"/>
                </a:ext>
              </a:extLst>
            </p:cNvPr>
            <p:cNvSpPr txBox="1"/>
            <p:nvPr/>
          </p:nvSpPr>
          <p:spPr>
            <a:xfrm>
              <a:off x="896575" y="2416453"/>
              <a:ext cx="1569607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[11:5]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E00D7867-E93A-4153-9730-A0B760CC452E}"/>
                </a:ext>
              </a:extLst>
            </p:cNvPr>
            <p:cNvSpPr txBox="1"/>
            <p:nvPr/>
          </p:nvSpPr>
          <p:spPr>
            <a:xfrm>
              <a:off x="2466181" y="2416453"/>
              <a:ext cx="1227930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rs2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8797C0A5-DC30-4968-A909-85C7A2308250}"/>
                </a:ext>
              </a:extLst>
            </p:cNvPr>
            <p:cNvSpPr txBox="1"/>
            <p:nvPr/>
          </p:nvSpPr>
          <p:spPr>
            <a:xfrm>
              <a:off x="4922040" y="2416453"/>
              <a:ext cx="912019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17973397-11FA-49DD-A616-C11DAC4CE564}"/>
                </a:ext>
              </a:extLst>
            </p:cNvPr>
            <p:cNvSpPr txBox="1"/>
            <p:nvPr/>
          </p:nvSpPr>
          <p:spPr>
            <a:xfrm>
              <a:off x="3694111" y="2416453"/>
              <a:ext cx="1227932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732C1C2-6D5C-4654-8A82-7655AB640CEA}"/>
                </a:ext>
              </a:extLst>
            </p:cNvPr>
            <p:cNvSpPr txBox="1"/>
            <p:nvPr/>
          </p:nvSpPr>
          <p:spPr>
            <a:xfrm>
              <a:off x="5834060" y="2416453"/>
              <a:ext cx="1226261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[4:0]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1CA0A995-7619-4B07-B466-0B01FF7B1DE6}"/>
                </a:ext>
              </a:extLst>
            </p:cNvPr>
            <p:cNvSpPr txBox="1"/>
            <p:nvPr/>
          </p:nvSpPr>
          <p:spPr>
            <a:xfrm>
              <a:off x="7060323" y="2416453"/>
              <a:ext cx="1565426" cy="35394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89B5774-E32E-4FEA-8F99-2EE27DBBEE6D}"/>
                </a:ext>
              </a:extLst>
            </p:cNvPr>
            <p:cNvSpPr txBox="1"/>
            <p:nvPr/>
          </p:nvSpPr>
          <p:spPr>
            <a:xfrm>
              <a:off x="1534819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17369B75-1422-4FE9-8D6B-89FE6B5BB7A0}"/>
                </a:ext>
              </a:extLst>
            </p:cNvPr>
            <p:cNvSpPr txBox="1"/>
            <p:nvPr/>
          </p:nvSpPr>
          <p:spPr>
            <a:xfrm>
              <a:off x="2933942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23F0985F-B3B6-4818-97F7-F14005C5C437}"/>
                </a:ext>
              </a:extLst>
            </p:cNvPr>
            <p:cNvSpPr txBox="1"/>
            <p:nvPr/>
          </p:nvSpPr>
          <p:spPr>
            <a:xfrm>
              <a:off x="4161517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341B6108-98C4-4140-A307-47917F4EED76}"/>
                </a:ext>
              </a:extLst>
            </p:cNvPr>
            <p:cNvSpPr txBox="1"/>
            <p:nvPr/>
          </p:nvSpPr>
          <p:spPr>
            <a:xfrm>
              <a:off x="5227520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B050E1D5-72F7-4276-8C0B-8B66EAE6EDBC}"/>
                </a:ext>
              </a:extLst>
            </p:cNvPr>
            <p:cNvSpPr txBox="1"/>
            <p:nvPr/>
          </p:nvSpPr>
          <p:spPr>
            <a:xfrm>
              <a:off x="6303580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61FBB00-F085-434F-9847-116EE3AF2792}"/>
                </a:ext>
              </a:extLst>
            </p:cNvPr>
            <p:cNvSpPr txBox="1"/>
            <p:nvPr/>
          </p:nvSpPr>
          <p:spPr>
            <a:xfrm>
              <a:off x="7696477" y="2124293"/>
              <a:ext cx="293120" cy="3539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D73545EA-EBE3-4F63-8333-A4CD0666B60E}"/>
              </a:ext>
            </a:extLst>
          </p:cNvPr>
          <p:cNvGrpSpPr/>
          <p:nvPr/>
        </p:nvGrpSpPr>
        <p:grpSpPr>
          <a:xfrm>
            <a:off x="3924793" y="4252336"/>
            <a:ext cx="8267207" cy="656641"/>
            <a:chOff x="721854" y="2240557"/>
            <a:chExt cx="8267206" cy="656639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DF9A2E78-B5D6-4F5E-90D7-16EECA5485DD}"/>
                </a:ext>
              </a:extLst>
            </p:cNvPr>
            <p:cNvSpPr txBox="1"/>
            <p:nvPr/>
          </p:nvSpPr>
          <p:spPr>
            <a:xfrm>
              <a:off x="721854" y="2543251"/>
              <a:ext cx="1178065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[12]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BF361ED6-CB9B-4039-9F09-8D6EB9FDB14D}"/>
                </a:ext>
              </a:extLst>
            </p:cNvPr>
            <p:cNvSpPr txBox="1"/>
            <p:nvPr/>
          </p:nvSpPr>
          <p:spPr>
            <a:xfrm>
              <a:off x="1899919" y="2543251"/>
              <a:ext cx="138684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[10:5]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7B83A673-F936-487D-BD0D-BCC8592B482A}"/>
                </a:ext>
              </a:extLst>
            </p:cNvPr>
            <p:cNvSpPr txBox="1"/>
            <p:nvPr/>
          </p:nvSpPr>
          <p:spPr>
            <a:xfrm>
              <a:off x="3278986" y="2543250"/>
              <a:ext cx="69850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rs2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49D32948-6D7C-4A7F-85BC-F6076FA12AB1}"/>
                </a:ext>
              </a:extLst>
            </p:cNvPr>
            <p:cNvSpPr txBox="1"/>
            <p:nvPr/>
          </p:nvSpPr>
          <p:spPr>
            <a:xfrm>
              <a:off x="3977487" y="2543254"/>
              <a:ext cx="69850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rs1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3F7A9315-6477-4E61-819D-6BC1A9DD6111}"/>
                </a:ext>
              </a:extLst>
            </p:cNvPr>
            <p:cNvSpPr txBox="1"/>
            <p:nvPr/>
          </p:nvSpPr>
          <p:spPr>
            <a:xfrm>
              <a:off x="4675987" y="2543252"/>
              <a:ext cx="86868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funct3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85E81E3C-3A6C-4C3E-8734-2D4E87845A26}"/>
                </a:ext>
              </a:extLst>
            </p:cNvPr>
            <p:cNvSpPr txBox="1"/>
            <p:nvPr/>
          </p:nvSpPr>
          <p:spPr>
            <a:xfrm>
              <a:off x="5544667" y="2543251"/>
              <a:ext cx="124206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[4:1]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2D769A1-28C5-44BD-ACDB-6B0F6523AC56}"/>
                </a:ext>
              </a:extLst>
            </p:cNvPr>
            <p:cNvSpPr txBox="1"/>
            <p:nvPr/>
          </p:nvSpPr>
          <p:spPr>
            <a:xfrm>
              <a:off x="6786728" y="2543249"/>
              <a:ext cx="1153312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 err="1">
                  <a:solidFill>
                    <a:srgbClr val="56127A"/>
                  </a:solidFill>
                </a:rPr>
                <a:t>imm</a:t>
              </a:r>
              <a:r>
                <a:rPr lang="en-US" sz="1700" dirty="0">
                  <a:solidFill>
                    <a:srgbClr val="56127A"/>
                  </a:solidFill>
                </a:rPr>
                <a:t>[11]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E07749B8-389E-481D-AC1C-23C3806EB863}"/>
                </a:ext>
              </a:extLst>
            </p:cNvPr>
            <p:cNvSpPr txBox="1"/>
            <p:nvPr/>
          </p:nvSpPr>
          <p:spPr>
            <a:xfrm>
              <a:off x="7940040" y="2543249"/>
              <a:ext cx="1049020" cy="35394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700" dirty="0">
                  <a:solidFill>
                    <a:srgbClr val="56127A"/>
                  </a:solidFill>
                </a:rPr>
                <a:t>opcode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AE3550E6-E8C0-43AB-A7C7-CDAE44A46061}"/>
                </a:ext>
              </a:extLst>
            </p:cNvPr>
            <p:cNvSpPr txBox="1"/>
            <p:nvPr/>
          </p:nvSpPr>
          <p:spPr>
            <a:xfrm>
              <a:off x="1157640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163E203F-93F4-419E-A53E-3D03225699BA}"/>
                </a:ext>
              </a:extLst>
            </p:cNvPr>
            <p:cNvSpPr txBox="1"/>
            <p:nvPr/>
          </p:nvSpPr>
          <p:spPr>
            <a:xfrm>
              <a:off x="2440093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6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D30FB8A-502C-4539-A482-277313FFCC25}"/>
                </a:ext>
              </a:extLst>
            </p:cNvPr>
            <p:cNvSpPr txBox="1"/>
            <p:nvPr/>
          </p:nvSpPr>
          <p:spPr>
            <a:xfrm>
              <a:off x="3474989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9D91C25-CC66-40C0-9968-4A50597D6861}"/>
                </a:ext>
              </a:extLst>
            </p:cNvPr>
            <p:cNvSpPr txBox="1"/>
            <p:nvPr/>
          </p:nvSpPr>
          <p:spPr>
            <a:xfrm>
              <a:off x="4173490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5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0B0B068C-EE05-4B2E-84FB-91D7C34A19F2}"/>
                </a:ext>
              </a:extLst>
            </p:cNvPr>
            <p:cNvSpPr txBox="1"/>
            <p:nvPr/>
          </p:nvSpPr>
          <p:spPr>
            <a:xfrm>
              <a:off x="4957081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3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85AA6CFD-3473-4F61-909E-62973F66B351}"/>
                </a:ext>
              </a:extLst>
            </p:cNvPr>
            <p:cNvSpPr txBox="1"/>
            <p:nvPr/>
          </p:nvSpPr>
          <p:spPr>
            <a:xfrm>
              <a:off x="6012450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4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66A4035-4149-40D7-BC19-CCF2B769331D}"/>
                </a:ext>
              </a:extLst>
            </p:cNvPr>
            <p:cNvSpPr txBox="1"/>
            <p:nvPr/>
          </p:nvSpPr>
          <p:spPr>
            <a:xfrm>
              <a:off x="7210138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1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AA82792-CCA3-4995-9497-7A11B27B4662}"/>
                </a:ext>
              </a:extLst>
            </p:cNvPr>
            <p:cNvSpPr txBox="1"/>
            <p:nvPr/>
          </p:nvSpPr>
          <p:spPr>
            <a:xfrm>
              <a:off x="8311303" y="2240557"/>
              <a:ext cx="306494" cy="3539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700" dirty="0"/>
                <a:t>7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1403617" y="257175"/>
            <a:ext cx="8819883" cy="531720"/>
          </a:xfrm>
          <a:noFill/>
        </p:spPr>
        <p:txBody>
          <a:bodyPr vert="horz" wrap="square" lIns="92075" tIns="46039" rIns="92075" bIns="46039" numCol="1" anchor="ctr" anchorCtr="0" compatLnSpc="1"/>
          <a:lstStyle/>
          <a:p>
            <a:r>
              <a:rPr lang="en-US" altLang="zh-TW" dirty="0"/>
              <a:t>Logical Register Transfer</a:t>
            </a:r>
          </a:p>
        </p:txBody>
      </p:sp>
      <p:sp>
        <p:nvSpPr>
          <p:cNvPr id="22531" name="Rectangle 3"/>
          <p:cNvSpPr>
            <a:spLocks noChangeArrowheads="1"/>
          </p:cNvSpPr>
          <p:nvPr/>
        </p:nvSpPr>
        <p:spPr bwMode="auto">
          <a:xfrm>
            <a:off x="1807315" y="2273006"/>
            <a:ext cx="9315873" cy="3742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tabLst>
                <a:tab pos="1143000" algn="l"/>
                <a:tab pos="5367020" algn="l"/>
              </a:tabLst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tabLst>
                <a:tab pos="1143000" algn="l"/>
                <a:tab pos="5367020" algn="l"/>
              </a:tabLst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tabLst>
                <a:tab pos="1143000" algn="l"/>
                <a:tab pos="5367020" algn="l"/>
              </a:tabLst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tabLst>
                <a:tab pos="1143000" algn="l"/>
                <a:tab pos="5367020" algn="l"/>
              </a:tabLst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5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1867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    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format   = op | rs1 | rs2 |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rd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 |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funct</a:t>
            </a:r>
            <a:b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</a:b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        or       = op | rs1 | rs2 |   Imm12</a:t>
            </a:r>
            <a:b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</a:b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        or       = op | Imm20 </a:t>
            </a:r>
          </a:p>
          <a:p>
            <a:pPr defTabSz="1219170">
              <a:lnSpc>
                <a:spcPct val="100000"/>
              </a:lnSpc>
              <a:spcBef>
                <a:spcPct val="5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u="sng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Inst 	Register transfers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ADD	R[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rd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] &lt;- R[rs1] + R[rs2];     PC &lt;- PC + 4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SUB	R[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rd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] &lt;- R[rs1] - R[rs2];     PC &lt;- PC + 4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LOAD	R[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rd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] &lt;- MEM[ R[rs1] +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sign_ext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(Imm12)];     PC &lt;- PC + 4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STORE	MEM[ R[rs1] +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sign_ext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(Imm12) ] &lt;-R[rs2];     PC &lt;- PC + 4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ADDI 	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R[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rd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] &lt;- R[rs1] +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sign_ext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(Imm12)];     PC &lt;- PC + 4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BEQ	 if (R[rs1] == R[rs2]) then PC &lt;- PC + </a:t>
            </a:r>
            <a:r>
              <a:rPr kumimoji="1" lang="en-US" altLang="zh-TW" sz="2000" dirty="0" err="1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sign_ext</a:t>
            </a: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(Imm12)]</a:t>
            </a:r>
          </a:p>
          <a:p>
            <a:pPr defTabSz="1219170">
              <a:lnSpc>
                <a:spcPct val="85000"/>
              </a:lnSpc>
              <a:spcBef>
                <a:spcPct val="20000"/>
              </a:spcBef>
              <a:buClrTx/>
              <a:buSzTx/>
              <a:buNone/>
              <a:tabLst>
                <a:tab pos="1523962" algn="l"/>
                <a:tab pos="7155848" algn="l"/>
              </a:tabLst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	                                else PC &lt;- PC + 4</a:t>
            </a:r>
          </a:p>
        </p:txBody>
      </p:sp>
      <p:sp>
        <p:nvSpPr>
          <p:cNvPr id="22532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403774" y="1410547"/>
            <a:ext cx="9315873" cy="966047"/>
          </a:xfrm>
        </p:spPr>
        <p:txBody>
          <a:bodyPr/>
          <a:lstStyle/>
          <a:p>
            <a:r>
              <a:rPr lang="en-US" altLang="zh-TW" sz="2400" dirty="0"/>
              <a:t>All start by fetching the instruction, reading registers, then use ALU =&gt; simplicity and regularity help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33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1239692" y="58739"/>
            <a:ext cx="10530776" cy="901700"/>
          </a:xfrm>
        </p:spPr>
        <p:txBody>
          <a:bodyPr/>
          <a:lstStyle/>
          <a:p>
            <a:r>
              <a:rPr lang="en-US" altLang="zh-TW" dirty="0"/>
              <a:t>Regularity in RISC-V Instruction Format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18290" y="1094801"/>
            <a:ext cx="10605738" cy="4714328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Opcode: The major opcode is always in bits 0-6.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Destination register (</a:t>
            </a:r>
            <a:r>
              <a:rPr lang="en-US" altLang="zh-TW" sz="2800" dirty="0" err="1"/>
              <a:t>rd</a:t>
            </a:r>
            <a:r>
              <a:rPr lang="en-US" altLang="zh-TW" sz="2800" dirty="0"/>
              <a:t>): when present, is always in bits 7-11.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First source register (rs1): when present, is always in bits 15-19.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Second source register (rs2): when present, is always in bits 20-24.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Instructions are fixed length: 16 or 32 </a:t>
            </a:r>
          </a:p>
          <a:p>
            <a:pPr>
              <a:buFont typeface="Wingdings" panose="05000000000000000000" pitchFamily="2" charset="2"/>
              <a:buNone/>
            </a:pPr>
            <a:r>
              <a:rPr lang="en-US" altLang="zh-TW" sz="2800" dirty="0"/>
              <a:t>Immediate values are placed in the high bits of the instructions (branch and store have some bits use the “</a:t>
            </a:r>
            <a:r>
              <a:rPr lang="en-US" altLang="zh-TW" sz="2800" dirty="0" err="1"/>
              <a:t>rd</a:t>
            </a:r>
            <a:r>
              <a:rPr lang="en-US" altLang="zh-TW" sz="2800" dirty="0"/>
              <a:t>” field)</a:t>
            </a:r>
            <a:endParaRPr lang="en-US" altLang="zh-TW" sz="2667" dirty="0"/>
          </a:p>
          <a:p>
            <a:pPr>
              <a:buFont typeface="Wingdings" panose="05000000000000000000" pitchFamily="2" charset="2"/>
              <a:buNone/>
            </a:pPr>
            <a:endParaRPr lang="en-US" altLang="zh-TW" sz="2667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34</a:t>
            </a:fld>
            <a:endParaRPr lang="zh-TW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34568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1311409" y="58739"/>
            <a:ext cx="8994643" cy="901700"/>
          </a:xfrm>
        </p:spPr>
        <p:txBody>
          <a:bodyPr/>
          <a:lstStyle/>
          <a:p>
            <a:r>
              <a:rPr lang="en-US" altLang="zh-TW" dirty="0"/>
              <a:t>Data Path Requirements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35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1372880" y="1053819"/>
            <a:ext cx="9804829" cy="506267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342891" indent="-342891" defTabSz="1219170">
              <a:buClr>
                <a:srgbClr val="8064A2"/>
              </a:buClr>
            </a:pPr>
            <a:r>
              <a:rPr lang="en-US" altLang="zh-TW" sz="2667" kern="0" dirty="0">
                <a:solidFill>
                  <a:prstClr val="black"/>
                </a:solidFill>
              </a:rPr>
              <a:t>After checking the register transfers, we can see that data path needs the followings: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Memory</a:t>
            </a:r>
          </a:p>
          <a:p>
            <a:pPr marL="1142971" lvl="2" indent="-228594" defTabSz="1219170"/>
            <a:r>
              <a:rPr lang="en-US" altLang="zh-TW" sz="2133" kern="0" dirty="0">
                <a:solidFill>
                  <a:prstClr val="black"/>
                </a:solidFill>
              </a:rPr>
              <a:t>Store instructions and data	(we have I-cache and D-cache)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Registers (32 x 32b)</a:t>
            </a:r>
          </a:p>
          <a:p>
            <a:pPr marL="1142971" lvl="2" indent="-228594" defTabSz="1219170"/>
            <a:r>
              <a:rPr lang="en-US" altLang="zh-TW" sz="2133" kern="0" dirty="0">
                <a:solidFill>
                  <a:prstClr val="black"/>
                </a:solidFill>
              </a:rPr>
              <a:t>Read RS1</a:t>
            </a:r>
          </a:p>
          <a:p>
            <a:pPr marL="1142971" lvl="2" indent="-228594" defTabSz="1219170"/>
            <a:r>
              <a:rPr lang="en-US" altLang="zh-TW" sz="2133" kern="0" dirty="0">
                <a:solidFill>
                  <a:prstClr val="black"/>
                </a:solidFill>
              </a:rPr>
              <a:t>Read RS2</a:t>
            </a:r>
          </a:p>
          <a:p>
            <a:pPr marL="1142971" lvl="2" indent="-228594" defTabSz="1219170"/>
            <a:r>
              <a:rPr lang="en-US" altLang="zh-TW" sz="2133" kern="0" dirty="0">
                <a:solidFill>
                  <a:prstClr val="black"/>
                </a:solidFill>
              </a:rPr>
              <a:t>Write RD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PC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Extender for zero- or sign-extension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Add and sub register or extended immediate (ALU)</a:t>
            </a:r>
          </a:p>
          <a:p>
            <a:pPr marL="742508" lvl="1" indent="-285320" defTabSz="1219170"/>
            <a:r>
              <a:rPr lang="en-US" altLang="zh-TW" sz="2400" kern="0" dirty="0">
                <a:solidFill>
                  <a:prstClr val="black"/>
                </a:solidFill>
              </a:rPr>
              <a:t>Add 4 or extended immediate to PC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301163" y="1125538"/>
            <a:ext cx="10281237" cy="564951"/>
          </a:xfrm>
          <a:noFill/>
        </p:spPr>
        <p:txBody>
          <a:bodyPr vert="horz" wrap="square" lIns="92075" tIns="46039" rIns="92075" bIns="46039" numCol="1" anchor="t" anchorCtr="0" compatLnSpc="1"/>
          <a:lstStyle/>
          <a:p>
            <a:r>
              <a:rPr lang="en-US" altLang="zh-TW" sz="2667" dirty="0">
                <a:cs typeface="Calibri" panose="020F0702030404030204" pitchFamily="34" charset="0"/>
              </a:rPr>
              <a:t>Basic building blocks of combinational logic elements </a:t>
            </a:r>
          </a:p>
        </p:txBody>
      </p:sp>
      <p:sp>
        <p:nvSpPr>
          <p:cNvPr id="25603" name="Line 3"/>
          <p:cNvSpPr>
            <a:spLocks noChangeShapeType="1"/>
          </p:cNvSpPr>
          <p:nvPr/>
        </p:nvSpPr>
        <p:spPr bwMode="auto">
          <a:xfrm flipH="1">
            <a:off x="2876551" y="22983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grpSp>
        <p:nvGrpSpPr>
          <p:cNvPr id="25604" name="Group 4"/>
          <p:cNvGrpSpPr/>
          <p:nvPr/>
        </p:nvGrpSpPr>
        <p:grpSpPr bwMode="auto">
          <a:xfrm>
            <a:off x="3702051" y="2145901"/>
            <a:ext cx="495300" cy="1219200"/>
            <a:chOff x="1488" y="1056"/>
            <a:chExt cx="288" cy="768"/>
          </a:xfrm>
        </p:grpSpPr>
        <p:sp>
          <p:nvSpPr>
            <p:cNvPr id="25672" name="Line 5"/>
            <p:cNvSpPr>
              <a:spLocks noChangeShapeType="1"/>
            </p:cNvSpPr>
            <p:nvPr/>
          </p:nvSpPr>
          <p:spPr bwMode="auto">
            <a:xfrm>
              <a:off x="1488" y="1056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3" name="Line 6"/>
            <p:cNvSpPr>
              <a:spLocks noChangeShapeType="1"/>
            </p:cNvSpPr>
            <p:nvPr/>
          </p:nvSpPr>
          <p:spPr bwMode="auto">
            <a:xfrm>
              <a:off x="1488" y="1056"/>
              <a:ext cx="288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4" name="Line 7"/>
            <p:cNvSpPr>
              <a:spLocks noChangeShapeType="1"/>
            </p:cNvSpPr>
            <p:nvPr/>
          </p:nvSpPr>
          <p:spPr bwMode="auto">
            <a:xfrm>
              <a:off x="1488" y="1248"/>
              <a:ext cx="144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5" name="Line 8"/>
            <p:cNvSpPr>
              <a:spLocks noChangeShapeType="1"/>
            </p:cNvSpPr>
            <p:nvPr/>
          </p:nvSpPr>
          <p:spPr bwMode="auto">
            <a:xfrm>
              <a:off x="1632" y="1344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6" name="Line 9"/>
            <p:cNvSpPr>
              <a:spLocks noChangeShapeType="1"/>
            </p:cNvSpPr>
            <p:nvPr/>
          </p:nvSpPr>
          <p:spPr bwMode="auto">
            <a:xfrm>
              <a:off x="1776" y="1248"/>
              <a:ext cx="0" cy="38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7" name="Line 10"/>
            <p:cNvSpPr>
              <a:spLocks noChangeShapeType="1"/>
            </p:cNvSpPr>
            <p:nvPr/>
          </p:nvSpPr>
          <p:spPr bwMode="auto">
            <a:xfrm flipV="1">
              <a:off x="1488" y="1536"/>
              <a:ext cx="144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8" name="Line 11"/>
            <p:cNvSpPr>
              <a:spLocks noChangeShapeType="1"/>
            </p:cNvSpPr>
            <p:nvPr/>
          </p:nvSpPr>
          <p:spPr bwMode="auto">
            <a:xfrm>
              <a:off x="1488" y="1632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9" name="Line 12"/>
            <p:cNvSpPr>
              <a:spLocks noChangeShapeType="1"/>
            </p:cNvSpPr>
            <p:nvPr/>
          </p:nvSpPr>
          <p:spPr bwMode="auto">
            <a:xfrm flipV="1">
              <a:off x="1488" y="1632"/>
              <a:ext cx="288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</p:grpSp>
      <p:sp>
        <p:nvSpPr>
          <p:cNvPr id="25605" name="Line 13"/>
          <p:cNvSpPr>
            <a:spLocks noChangeShapeType="1"/>
          </p:cNvSpPr>
          <p:nvPr/>
        </p:nvSpPr>
        <p:spPr bwMode="auto">
          <a:xfrm flipH="1">
            <a:off x="3289301" y="22221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06" name="Rectangle 14"/>
          <p:cNvSpPr>
            <a:spLocks noChangeArrowheads="1"/>
          </p:cNvSpPr>
          <p:nvPr/>
        </p:nvSpPr>
        <p:spPr bwMode="auto">
          <a:xfrm>
            <a:off x="2941639" y="22681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07" name="Line 15"/>
          <p:cNvSpPr>
            <a:spLocks noChangeShapeType="1"/>
          </p:cNvSpPr>
          <p:nvPr/>
        </p:nvSpPr>
        <p:spPr bwMode="auto">
          <a:xfrm flipH="1">
            <a:off x="2876551" y="32127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08" name="Line 16"/>
          <p:cNvSpPr>
            <a:spLocks noChangeShapeType="1"/>
          </p:cNvSpPr>
          <p:nvPr/>
        </p:nvSpPr>
        <p:spPr bwMode="auto">
          <a:xfrm flipH="1">
            <a:off x="3289301" y="31365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09" name="Rectangle 17"/>
          <p:cNvSpPr>
            <a:spLocks noChangeArrowheads="1"/>
          </p:cNvSpPr>
          <p:nvPr/>
        </p:nvSpPr>
        <p:spPr bwMode="auto">
          <a:xfrm>
            <a:off x="2941639" y="31825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10" name="Rectangle 18"/>
          <p:cNvSpPr>
            <a:spLocks noChangeArrowheads="1"/>
          </p:cNvSpPr>
          <p:nvPr/>
        </p:nvSpPr>
        <p:spPr bwMode="auto">
          <a:xfrm>
            <a:off x="2528889" y="2115740"/>
            <a:ext cx="34144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</a:t>
            </a:r>
          </a:p>
        </p:txBody>
      </p:sp>
      <p:sp>
        <p:nvSpPr>
          <p:cNvPr id="25611" name="Rectangle 19"/>
          <p:cNvSpPr>
            <a:spLocks noChangeArrowheads="1"/>
          </p:cNvSpPr>
          <p:nvPr/>
        </p:nvSpPr>
        <p:spPr bwMode="auto">
          <a:xfrm>
            <a:off x="2528889" y="3030140"/>
            <a:ext cx="330219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B</a:t>
            </a:r>
          </a:p>
        </p:txBody>
      </p:sp>
      <p:sp>
        <p:nvSpPr>
          <p:cNvPr id="25612" name="Line 20"/>
          <p:cNvSpPr>
            <a:spLocks noChangeShapeType="1"/>
          </p:cNvSpPr>
          <p:nvPr/>
        </p:nvSpPr>
        <p:spPr bwMode="auto">
          <a:xfrm flipH="1">
            <a:off x="4197351" y="27555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13" name="Line 21"/>
          <p:cNvSpPr>
            <a:spLocks noChangeShapeType="1"/>
          </p:cNvSpPr>
          <p:nvPr/>
        </p:nvSpPr>
        <p:spPr bwMode="auto">
          <a:xfrm flipH="1">
            <a:off x="4610101" y="26793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14" name="Rectangle 22"/>
          <p:cNvSpPr>
            <a:spLocks noChangeArrowheads="1"/>
          </p:cNvSpPr>
          <p:nvPr/>
        </p:nvSpPr>
        <p:spPr bwMode="auto">
          <a:xfrm>
            <a:off x="4262439" y="27253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15" name="Rectangle 23"/>
          <p:cNvSpPr>
            <a:spLocks noChangeArrowheads="1"/>
          </p:cNvSpPr>
          <p:nvPr/>
        </p:nvSpPr>
        <p:spPr bwMode="auto">
          <a:xfrm>
            <a:off x="5005388" y="2572940"/>
            <a:ext cx="65402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Sum</a:t>
            </a:r>
          </a:p>
        </p:txBody>
      </p:sp>
      <p:sp>
        <p:nvSpPr>
          <p:cNvPr id="25616" name="Line 24"/>
          <p:cNvSpPr>
            <a:spLocks noChangeShapeType="1"/>
          </p:cNvSpPr>
          <p:nvPr/>
        </p:nvSpPr>
        <p:spPr bwMode="auto">
          <a:xfrm>
            <a:off x="3949701" y="3212701"/>
            <a:ext cx="1073151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17" name="Rectangle 25"/>
          <p:cNvSpPr>
            <a:spLocks noChangeArrowheads="1"/>
          </p:cNvSpPr>
          <p:nvPr/>
        </p:nvSpPr>
        <p:spPr bwMode="auto">
          <a:xfrm>
            <a:off x="5005390" y="3030140"/>
            <a:ext cx="1153714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CarryOut</a:t>
            </a:r>
          </a:p>
        </p:txBody>
      </p:sp>
      <p:sp>
        <p:nvSpPr>
          <p:cNvPr id="25618" name="Line 26"/>
          <p:cNvSpPr>
            <a:spLocks noChangeShapeType="1"/>
          </p:cNvSpPr>
          <p:nvPr/>
        </p:nvSpPr>
        <p:spPr bwMode="auto">
          <a:xfrm flipH="1">
            <a:off x="5187951" y="4690664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grpSp>
        <p:nvGrpSpPr>
          <p:cNvPr id="25619" name="Group 27"/>
          <p:cNvGrpSpPr/>
          <p:nvPr/>
        </p:nvGrpSpPr>
        <p:grpSpPr bwMode="auto">
          <a:xfrm>
            <a:off x="6013451" y="4538264"/>
            <a:ext cx="495300" cy="1219200"/>
            <a:chOff x="2832" y="2688"/>
            <a:chExt cx="288" cy="768"/>
          </a:xfrm>
        </p:grpSpPr>
        <p:sp>
          <p:nvSpPr>
            <p:cNvPr id="25664" name="Line 28"/>
            <p:cNvSpPr>
              <a:spLocks noChangeShapeType="1"/>
            </p:cNvSpPr>
            <p:nvPr/>
          </p:nvSpPr>
          <p:spPr bwMode="auto">
            <a:xfrm>
              <a:off x="2832" y="2688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5" name="Line 29"/>
            <p:cNvSpPr>
              <a:spLocks noChangeShapeType="1"/>
            </p:cNvSpPr>
            <p:nvPr/>
          </p:nvSpPr>
          <p:spPr bwMode="auto">
            <a:xfrm>
              <a:off x="2832" y="2688"/>
              <a:ext cx="288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6" name="Line 30"/>
            <p:cNvSpPr>
              <a:spLocks noChangeShapeType="1"/>
            </p:cNvSpPr>
            <p:nvPr/>
          </p:nvSpPr>
          <p:spPr bwMode="auto">
            <a:xfrm>
              <a:off x="2832" y="2880"/>
              <a:ext cx="144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7" name="Line 31"/>
            <p:cNvSpPr>
              <a:spLocks noChangeShapeType="1"/>
            </p:cNvSpPr>
            <p:nvPr/>
          </p:nvSpPr>
          <p:spPr bwMode="auto">
            <a:xfrm>
              <a:off x="2976" y="2976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8" name="Line 32"/>
            <p:cNvSpPr>
              <a:spLocks noChangeShapeType="1"/>
            </p:cNvSpPr>
            <p:nvPr/>
          </p:nvSpPr>
          <p:spPr bwMode="auto">
            <a:xfrm>
              <a:off x="3120" y="2880"/>
              <a:ext cx="0" cy="384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9" name="Line 33"/>
            <p:cNvSpPr>
              <a:spLocks noChangeShapeType="1"/>
            </p:cNvSpPr>
            <p:nvPr/>
          </p:nvSpPr>
          <p:spPr bwMode="auto">
            <a:xfrm flipV="1">
              <a:off x="2832" y="3168"/>
              <a:ext cx="144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0" name="Line 34"/>
            <p:cNvSpPr>
              <a:spLocks noChangeShapeType="1"/>
            </p:cNvSpPr>
            <p:nvPr/>
          </p:nvSpPr>
          <p:spPr bwMode="auto">
            <a:xfrm>
              <a:off x="2832" y="3264"/>
              <a:ext cx="0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71" name="Line 35"/>
            <p:cNvSpPr>
              <a:spLocks noChangeShapeType="1"/>
            </p:cNvSpPr>
            <p:nvPr/>
          </p:nvSpPr>
          <p:spPr bwMode="auto">
            <a:xfrm flipV="1">
              <a:off x="2832" y="3264"/>
              <a:ext cx="288" cy="19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</p:grpSp>
      <p:sp>
        <p:nvSpPr>
          <p:cNvPr id="25620" name="Line 36"/>
          <p:cNvSpPr>
            <a:spLocks noChangeShapeType="1"/>
          </p:cNvSpPr>
          <p:nvPr/>
        </p:nvSpPr>
        <p:spPr bwMode="auto">
          <a:xfrm flipH="1">
            <a:off x="5600701" y="4614464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21" name="Rectangle 37"/>
          <p:cNvSpPr>
            <a:spLocks noChangeArrowheads="1"/>
          </p:cNvSpPr>
          <p:nvPr/>
        </p:nvSpPr>
        <p:spPr bwMode="auto">
          <a:xfrm>
            <a:off x="5253039" y="4660502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22" name="Line 38"/>
          <p:cNvSpPr>
            <a:spLocks noChangeShapeType="1"/>
          </p:cNvSpPr>
          <p:nvPr/>
        </p:nvSpPr>
        <p:spPr bwMode="auto">
          <a:xfrm flipH="1">
            <a:off x="5187951" y="5605064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23" name="Line 39"/>
          <p:cNvSpPr>
            <a:spLocks noChangeShapeType="1"/>
          </p:cNvSpPr>
          <p:nvPr/>
        </p:nvSpPr>
        <p:spPr bwMode="auto">
          <a:xfrm flipH="1">
            <a:off x="5600701" y="5528864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24" name="Rectangle 40"/>
          <p:cNvSpPr>
            <a:spLocks noChangeArrowheads="1"/>
          </p:cNvSpPr>
          <p:nvPr/>
        </p:nvSpPr>
        <p:spPr bwMode="auto">
          <a:xfrm>
            <a:off x="5253039" y="5574902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25" name="Rectangle 41"/>
          <p:cNvSpPr>
            <a:spLocks noChangeArrowheads="1"/>
          </p:cNvSpPr>
          <p:nvPr/>
        </p:nvSpPr>
        <p:spPr bwMode="auto">
          <a:xfrm>
            <a:off x="4840289" y="4508102"/>
            <a:ext cx="34144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</a:t>
            </a:r>
          </a:p>
        </p:txBody>
      </p:sp>
      <p:sp>
        <p:nvSpPr>
          <p:cNvPr id="25626" name="Rectangle 42"/>
          <p:cNvSpPr>
            <a:spLocks noChangeArrowheads="1"/>
          </p:cNvSpPr>
          <p:nvPr/>
        </p:nvSpPr>
        <p:spPr bwMode="auto">
          <a:xfrm>
            <a:off x="4840289" y="5422502"/>
            <a:ext cx="330219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B</a:t>
            </a:r>
          </a:p>
        </p:txBody>
      </p:sp>
      <p:sp>
        <p:nvSpPr>
          <p:cNvPr id="25627" name="Line 43"/>
          <p:cNvSpPr>
            <a:spLocks noChangeShapeType="1"/>
          </p:cNvSpPr>
          <p:nvPr/>
        </p:nvSpPr>
        <p:spPr bwMode="auto">
          <a:xfrm flipH="1">
            <a:off x="6508751" y="5147864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28" name="Line 44"/>
          <p:cNvSpPr>
            <a:spLocks noChangeShapeType="1"/>
          </p:cNvSpPr>
          <p:nvPr/>
        </p:nvSpPr>
        <p:spPr bwMode="auto">
          <a:xfrm flipH="1">
            <a:off x="6921501" y="5071664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29" name="Rectangle 45"/>
          <p:cNvSpPr>
            <a:spLocks noChangeArrowheads="1"/>
          </p:cNvSpPr>
          <p:nvPr/>
        </p:nvSpPr>
        <p:spPr bwMode="auto">
          <a:xfrm>
            <a:off x="6573839" y="5117702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30" name="Rectangle 46"/>
          <p:cNvSpPr>
            <a:spLocks noChangeArrowheads="1"/>
          </p:cNvSpPr>
          <p:nvPr/>
        </p:nvSpPr>
        <p:spPr bwMode="auto">
          <a:xfrm>
            <a:off x="7316789" y="4965302"/>
            <a:ext cx="847411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Result</a:t>
            </a:r>
          </a:p>
        </p:txBody>
      </p:sp>
      <p:sp>
        <p:nvSpPr>
          <p:cNvPr id="25631" name="Line 47"/>
          <p:cNvSpPr>
            <a:spLocks noChangeShapeType="1"/>
          </p:cNvSpPr>
          <p:nvPr/>
        </p:nvSpPr>
        <p:spPr bwMode="auto">
          <a:xfrm>
            <a:off x="6261100" y="4233464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32" name="Rectangle 48"/>
          <p:cNvSpPr>
            <a:spLocks noChangeArrowheads="1"/>
          </p:cNvSpPr>
          <p:nvPr/>
        </p:nvSpPr>
        <p:spPr bwMode="auto">
          <a:xfrm>
            <a:off x="5435601" y="3901676"/>
            <a:ext cx="181610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ALU control</a:t>
            </a:r>
          </a:p>
        </p:txBody>
      </p:sp>
      <p:grpSp>
        <p:nvGrpSpPr>
          <p:cNvPr id="25633" name="Group 49"/>
          <p:cNvGrpSpPr/>
          <p:nvPr/>
        </p:nvGrpSpPr>
        <p:grpSpPr bwMode="auto">
          <a:xfrm>
            <a:off x="8159751" y="2298301"/>
            <a:ext cx="330200" cy="1143000"/>
            <a:chOff x="4080" y="1152"/>
            <a:chExt cx="192" cy="720"/>
          </a:xfrm>
        </p:grpSpPr>
        <p:sp>
          <p:nvSpPr>
            <p:cNvPr id="25660" name="Line 50"/>
            <p:cNvSpPr>
              <a:spLocks noChangeShapeType="1"/>
            </p:cNvSpPr>
            <p:nvPr/>
          </p:nvSpPr>
          <p:spPr bwMode="auto">
            <a:xfrm>
              <a:off x="4080" y="1152"/>
              <a:ext cx="0" cy="72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1" name="Line 51"/>
            <p:cNvSpPr>
              <a:spLocks noChangeShapeType="1"/>
            </p:cNvSpPr>
            <p:nvPr/>
          </p:nvSpPr>
          <p:spPr bwMode="auto">
            <a:xfrm>
              <a:off x="4080" y="1152"/>
              <a:ext cx="192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2" name="Line 52"/>
            <p:cNvSpPr>
              <a:spLocks noChangeShapeType="1"/>
            </p:cNvSpPr>
            <p:nvPr/>
          </p:nvSpPr>
          <p:spPr bwMode="auto">
            <a:xfrm flipV="1">
              <a:off x="4080" y="1776"/>
              <a:ext cx="192" cy="9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  <p:sp>
          <p:nvSpPr>
            <p:cNvPr id="25663" name="Line 53"/>
            <p:cNvSpPr>
              <a:spLocks noChangeShapeType="1"/>
            </p:cNvSpPr>
            <p:nvPr/>
          </p:nvSpPr>
          <p:spPr bwMode="auto">
            <a:xfrm>
              <a:off x="4272" y="1248"/>
              <a:ext cx="0" cy="52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Calibri" panose="020F0702030404030204" pitchFamily="34" charset="0"/>
                <a:ea typeface="新細明體"/>
                <a:cs typeface="Calibri" panose="020F0702030404030204" pitchFamily="34" charset="0"/>
              </a:endParaRPr>
            </a:p>
          </p:txBody>
        </p:sp>
      </p:grpSp>
      <p:sp>
        <p:nvSpPr>
          <p:cNvPr id="25634" name="Line 54"/>
          <p:cNvSpPr>
            <a:spLocks noChangeShapeType="1"/>
          </p:cNvSpPr>
          <p:nvPr/>
        </p:nvSpPr>
        <p:spPr bwMode="auto">
          <a:xfrm flipH="1">
            <a:off x="7334251" y="25269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35" name="Line 55"/>
          <p:cNvSpPr>
            <a:spLocks noChangeShapeType="1"/>
          </p:cNvSpPr>
          <p:nvPr/>
        </p:nvSpPr>
        <p:spPr bwMode="auto">
          <a:xfrm flipH="1">
            <a:off x="7747001" y="24507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36" name="Rectangle 56"/>
          <p:cNvSpPr>
            <a:spLocks noChangeArrowheads="1"/>
          </p:cNvSpPr>
          <p:nvPr/>
        </p:nvSpPr>
        <p:spPr bwMode="auto">
          <a:xfrm>
            <a:off x="7399339" y="24967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37" name="Line 57"/>
          <p:cNvSpPr>
            <a:spLocks noChangeShapeType="1"/>
          </p:cNvSpPr>
          <p:nvPr/>
        </p:nvSpPr>
        <p:spPr bwMode="auto">
          <a:xfrm flipH="1">
            <a:off x="7334251" y="32127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38" name="Line 58"/>
          <p:cNvSpPr>
            <a:spLocks noChangeShapeType="1"/>
          </p:cNvSpPr>
          <p:nvPr/>
        </p:nvSpPr>
        <p:spPr bwMode="auto">
          <a:xfrm flipH="1">
            <a:off x="7747001" y="31365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39" name="Rectangle 59"/>
          <p:cNvSpPr>
            <a:spLocks noChangeArrowheads="1"/>
          </p:cNvSpPr>
          <p:nvPr/>
        </p:nvSpPr>
        <p:spPr bwMode="auto">
          <a:xfrm>
            <a:off x="6986589" y="2344340"/>
            <a:ext cx="34144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</a:t>
            </a:r>
          </a:p>
        </p:txBody>
      </p:sp>
      <p:sp>
        <p:nvSpPr>
          <p:cNvPr id="25640" name="Rectangle 60"/>
          <p:cNvSpPr>
            <a:spLocks noChangeArrowheads="1"/>
          </p:cNvSpPr>
          <p:nvPr/>
        </p:nvSpPr>
        <p:spPr bwMode="auto">
          <a:xfrm>
            <a:off x="6986589" y="3030140"/>
            <a:ext cx="330219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B</a:t>
            </a:r>
          </a:p>
        </p:txBody>
      </p:sp>
      <p:sp>
        <p:nvSpPr>
          <p:cNvPr id="25641" name="Rectangle 61"/>
          <p:cNvSpPr>
            <a:spLocks noChangeArrowheads="1"/>
          </p:cNvSpPr>
          <p:nvPr/>
        </p:nvSpPr>
        <p:spPr bwMode="auto">
          <a:xfrm>
            <a:off x="7399339" y="31825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42" name="Line 62"/>
          <p:cNvSpPr>
            <a:spLocks noChangeShapeType="1"/>
          </p:cNvSpPr>
          <p:nvPr/>
        </p:nvSpPr>
        <p:spPr bwMode="auto">
          <a:xfrm flipH="1">
            <a:off x="8489951" y="2907901"/>
            <a:ext cx="8255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43" name="Line 63"/>
          <p:cNvSpPr>
            <a:spLocks noChangeShapeType="1"/>
          </p:cNvSpPr>
          <p:nvPr/>
        </p:nvSpPr>
        <p:spPr bwMode="auto">
          <a:xfrm flipH="1">
            <a:off x="8902701" y="2831701"/>
            <a:ext cx="82551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44" name="Rectangle 64"/>
          <p:cNvSpPr>
            <a:spLocks noChangeArrowheads="1"/>
          </p:cNvSpPr>
          <p:nvPr/>
        </p:nvSpPr>
        <p:spPr bwMode="auto">
          <a:xfrm>
            <a:off x="9297988" y="2725340"/>
            <a:ext cx="318998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Y</a:t>
            </a:r>
          </a:p>
        </p:txBody>
      </p:sp>
      <p:sp>
        <p:nvSpPr>
          <p:cNvPr id="25645" name="Rectangle 65"/>
          <p:cNvSpPr>
            <a:spLocks noChangeArrowheads="1"/>
          </p:cNvSpPr>
          <p:nvPr/>
        </p:nvSpPr>
        <p:spPr bwMode="auto">
          <a:xfrm>
            <a:off x="8555039" y="2877740"/>
            <a:ext cx="445635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32</a:t>
            </a:r>
          </a:p>
        </p:txBody>
      </p:sp>
      <p:sp>
        <p:nvSpPr>
          <p:cNvPr id="25646" name="Line 66"/>
          <p:cNvSpPr>
            <a:spLocks noChangeShapeType="1"/>
          </p:cNvSpPr>
          <p:nvPr/>
        </p:nvSpPr>
        <p:spPr bwMode="auto">
          <a:xfrm>
            <a:off x="8324851" y="1917301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47" name="Rectangle 67"/>
          <p:cNvSpPr>
            <a:spLocks noChangeArrowheads="1"/>
          </p:cNvSpPr>
          <p:nvPr/>
        </p:nvSpPr>
        <p:spPr bwMode="auto">
          <a:xfrm>
            <a:off x="7334250" y="1839516"/>
            <a:ext cx="1073151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Select</a:t>
            </a:r>
          </a:p>
        </p:txBody>
      </p:sp>
      <p:sp>
        <p:nvSpPr>
          <p:cNvPr id="25648" name="Rectangle 68"/>
          <p:cNvSpPr>
            <a:spLocks noChangeArrowheads="1"/>
          </p:cNvSpPr>
          <p:nvPr/>
        </p:nvSpPr>
        <p:spPr bwMode="auto">
          <a:xfrm rot="5400000">
            <a:off x="3741121" y="2619609"/>
            <a:ext cx="708527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Adder</a:t>
            </a:r>
          </a:p>
        </p:txBody>
      </p:sp>
      <p:sp>
        <p:nvSpPr>
          <p:cNvPr id="25649" name="Rectangle 69"/>
          <p:cNvSpPr>
            <a:spLocks noChangeArrowheads="1"/>
          </p:cNvSpPr>
          <p:nvPr/>
        </p:nvSpPr>
        <p:spPr bwMode="auto">
          <a:xfrm rot="5400000">
            <a:off x="8023213" y="2720841"/>
            <a:ext cx="61395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MUX</a:t>
            </a:r>
          </a:p>
        </p:txBody>
      </p:sp>
      <p:sp>
        <p:nvSpPr>
          <p:cNvPr id="25650" name="Rectangle 70"/>
          <p:cNvSpPr>
            <a:spLocks noChangeArrowheads="1"/>
          </p:cNvSpPr>
          <p:nvPr/>
        </p:nvSpPr>
        <p:spPr bwMode="auto">
          <a:xfrm rot="5400000">
            <a:off x="6129839" y="4967301"/>
            <a:ext cx="52719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ALU</a:t>
            </a:r>
          </a:p>
        </p:txBody>
      </p:sp>
      <p:sp>
        <p:nvSpPr>
          <p:cNvPr id="25651" name="Line 71"/>
          <p:cNvSpPr>
            <a:spLocks noChangeShapeType="1"/>
          </p:cNvSpPr>
          <p:nvPr/>
        </p:nvSpPr>
        <p:spPr bwMode="auto">
          <a:xfrm>
            <a:off x="4032251" y="1917301"/>
            <a:ext cx="0" cy="4572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52" name="Rectangle 72"/>
          <p:cNvSpPr>
            <a:spLocks noChangeArrowheads="1"/>
          </p:cNvSpPr>
          <p:nvPr/>
        </p:nvSpPr>
        <p:spPr bwMode="auto">
          <a:xfrm>
            <a:off x="4014788" y="1810940"/>
            <a:ext cx="961353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CarryIn</a:t>
            </a:r>
          </a:p>
        </p:txBody>
      </p:sp>
      <p:sp>
        <p:nvSpPr>
          <p:cNvPr id="25653" name="Rectangle 73"/>
          <p:cNvSpPr>
            <a:spLocks noChangeArrowheads="1"/>
          </p:cNvSpPr>
          <p:nvPr/>
        </p:nvSpPr>
        <p:spPr bwMode="auto">
          <a:xfrm>
            <a:off x="3436937" y="3596876"/>
            <a:ext cx="966611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Adder</a:t>
            </a:r>
          </a:p>
        </p:txBody>
      </p:sp>
      <p:sp>
        <p:nvSpPr>
          <p:cNvPr id="25654" name="Rectangle 74"/>
          <p:cNvSpPr>
            <a:spLocks noChangeArrowheads="1"/>
          </p:cNvSpPr>
          <p:nvPr/>
        </p:nvSpPr>
        <p:spPr bwMode="auto">
          <a:xfrm>
            <a:off x="7894640" y="3520676"/>
            <a:ext cx="825547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dirty="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MUX</a:t>
            </a:r>
          </a:p>
        </p:txBody>
      </p:sp>
      <p:sp>
        <p:nvSpPr>
          <p:cNvPr id="25655" name="Rectangle 75"/>
          <p:cNvSpPr>
            <a:spLocks noChangeArrowheads="1"/>
          </p:cNvSpPr>
          <p:nvPr/>
        </p:nvSpPr>
        <p:spPr bwMode="auto">
          <a:xfrm>
            <a:off x="5748339" y="5743176"/>
            <a:ext cx="694614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ALU</a:t>
            </a:r>
          </a:p>
        </p:txBody>
      </p:sp>
      <p:sp>
        <p:nvSpPr>
          <p:cNvPr id="25656" name="Line 76"/>
          <p:cNvSpPr>
            <a:spLocks noChangeShapeType="1"/>
          </p:cNvSpPr>
          <p:nvPr/>
        </p:nvSpPr>
        <p:spPr bwMode="auto">
          <a:xfrm flipH="1">
            <a:off x="6178551" y="4358876"/>
            <a:ext cx="165100" cy="152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Calibri" panose="020F0702030404030204" pitchFamily="34" charset="0"/>
              <a:ea typeface="新細明體"/>
              <a:cs typeface="Calibri" panose="020F0702030404030204" pitchFamily="34" charset="0"/>
            </a:endParaRPr>
          </a:p>
        </p:txBody>
      </p:sp>
      <p:sp>
        <p:nvSpPr>
          <p:cNvPr id="25657" name="Rectangle 77"/>
          <p:cNvSpPr>
            <a:spLocks noChangeArrowheads="1"/>
          </p:cNvSpPr>
          <p:nvPr/>
        </p:nvSpPr>
        <p:spPr bwMode="auto">
          <a:xfrm>
            <a:off x="6426200" y="4282677"/>
            <a:ext cx="315792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2000">
                <a:solidFill>
                  <a:prstClr val="black"/>
                </a:solidFill>
                <a:latin typeface="Calibri" panose="020F0702030404030204" pitchFamily="34" charset="0"/>
                <a:ea typeface="新細明體" panose="02020500000000000000" pitchFamily="18" charset="-120"/>
                <a:cs typeface="Calibri" panose="020F0702030404030204" pitchFamily="34" charset="0"/>
              </a:rPr>
              <a:t>4</a:t>
            </a:r>
          </a:p>
        </p:txBody>
      </p:sp>
      <p:sp>
        <p:nvSpPr>
          <p:cNvPr id="25658" name="Rectangle 78"/>
          <p:cNvSpPr>
            <a:spLocks noGrp="1" noChangeArrowheads="1"/>
          </p:cNvSpPr>
          <p:nvPr>
            <p:ph type="title"/>
          </p:nvPr>
        </p:nvSpPr>
        <p:spPr>
          <a:xfrm>
            <a:off x="1290919" y="204908"/>
            <a:ext cx="10522003" cy="583987"/>
          </a:xfrm>
        </p:spPr>
        <p:txBody>
          <a:bodyPr/>
          <a:lstStyle/>
          <a:p>
            <a:r>
              <a:rPr lang="en-US" altLang="zh-TW" sz="3733" dirty="0"/>
              <a:t>Step 2a - Combinational Components for Datapath</a:t>
            </a:r>
          </a:p>
        </p:txBody>
      </p:sp>
      <p:sp>
        <p:nvSpPr>
          <p:cNvPr id="80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36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1362634" y="1115293"/>
            <a:ext cx="9845809" cy="3648809"/>
          </a:xfrm>
        </p:spPr>
        <p:txBody>
          <a:bodyPr/>
          <a:lstStyle/>
          <a:p>
            <a:r>
              <a:rPr lang="en-US" altLang="zh-TW" dirty="0"/>
              <a:t>Register</a:t>
            </a:r>
          </a:p>
          <a:p>
            <a:pPr lvl="1"/>
            <a:r>
              <a:rPr lang="en-US" altLang="zh-TW" dirty="0"/>
              <a:t>Similar to the D Flip Flop except</a:t>
            </a:r>
          </a:p>
          <a:p>
            <a:pPr lvl="2"/>
            <a:r>
              <a:rPr lang="en-US" altLang="zh-TW" dirty="0"/>
              <a:t>N-bit input and output</a:t>
            </a:r>
          </a:p>
          <a:p>
            <a:pPr lvl="2"/>
            <a:r>
              <a:rPr lang="en-US" altLang="zh-TW" dirty="0"/>
              <a:t>Write Enable input</a:t>
            </a:r>
            <a:endParaRPr lang="en-US" altLang="zh-TW" sz="2200" dirty="0"/>
          </a:p>
          <a:p>
            <a:pPr lvl="1"/>
            <a:r>
              <a:rPr lang="en-US" altLang="zh-TW" dirty="0"/>
              <a:t>Write Enable</a:t>
            </a:r>
          </a:p>
          <a:p>
            <a:pPr lvl="2"/>
            <a:r>
              <a:rPr lang="en-US" altLang="zh-TW" dirty="0"/>
              <a:t>negated (0): Data Out will not change</a:t>
            </a:r>
          </a:p>
          <a:p>
            <a:pPr lvl="2"/>
            <a:r>
              <a:rPr lang="en-US" altLang="zh-TW" dirty="0"/>
              <a:t>asserted (1): Data Out will become Data In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8290992" y="2358226"/>
            <a:ext cx="2987097" cy="2887313"/>
            <a:chOff x="6218244" y="1930033"/>
            <a:chExt cx="2240323" cy="2165485"/>
          </a:xfrm>
        </p:grpSpPr>
        <p:sp>
          <p:nvSpPr>
            <p:cNvPr id="26633" name="Line 9"/>
            <p:cNvSpPr>
              <a:spLocks noChangeShapeType="1"/>
            </p:cNvSpPr>
            <p:nvPr/>
          </p:nvSpPr>
          <p:spPr bwMode="auto">
            <a:xfrm flipH="1">
              <a:off x="7328018" y="3535857"/>
              <a:ext cx="7144" cy="25955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6218244" y="1930033"/>
              <a:ext cx="2240323" cy="2165485"/>
              <a:chOff x="6218244" y="1930033"/>
              <a:chExt cx="2240323" cy="2165485"/>
            </a:xfrm>
          </p:grpSpPr>
          <p:sp>
            <p:nvSpPr>
              <p:cNvPr id="26627" name="Rectangle 3"/>
              <p:cNvSpPr>
                <a:spLocks noChangeArrowheads="1"/>
              </p:cNvSpPr>
              <p:nvPr/>
            </p:nvSpPr>
            <p:spPr bwMode="auto">
              <a:xfrm>
                <a:off x="7160439" y="3794952"/>
                <a:ext cx="439223" cy="3005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2075" tIns="46039" rIns="92075" bIns="46039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kumimoji="1" lang="en-US" altLang="zh-TW" sz="2000" dirty="0" err="1">
                    <a:solidFill>
                      <a:prstClr val="black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Clk</a:t>
                </a:r>
                <a:endParaRPr kumimoji="1" lang="en-US" altLang="zh-TW" sz="20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endParaRPr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6218244" y="1930033"/>
                <a:ext cx="2240323" cy="1551385"/>
                <a:chOff x="4750594" y="3098006"/>
                <a:chExt cx="2240323" cy="1551385"/>
              </a:xfrm>
            </p:grpSpPr>
            <p:sp>
              <p:nvSpPr>
                <p:cNvPr id="26628" name="Rectangle 4"/>
                <p:cNvSpPr>
                  <a:spLocks noChangeArrowheads="1"/>
                </p:cNvSpPr>
                <p:nvPr/>
              </p:nvSpPr>
              <p:spPr bwMode="auto">
                <a:xfrm>
                  <a:off x="4750594" y="3764756"/>
                  <a:ext cx="780262" cy="3005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92075" tIns="46039" rIns="92075" bIns="46039">
                  <a:spAutoFit/>
                </a:bodyPr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kumimoji="1" lang="en-US" altLang="zh-TW" sz="2000">
                      <a:solidFill>
                        <a:prstClr val="black"/>
                      </a:solidFill>
                      <a:latin typeface="Arial" panose="020B0604020202090204" pitchFamily="34" charset="0"/>
                      <a:ea typeface="新細明體" panose="02020500000000000000" pitchFamily="18" charset="-120"/>
                    </a:rPr>
                    <a:t>Data In</a:t>
                  </a:r>
                </a:p>
              </p:txBody>
            </p:sp>
            <p:sp>
              <p:nvSpPr>
                <p:cNvPr id="26629" name="Rectangle 5"/>
                <p:cNvSpPr>
                  <a:spLocks noChangeArrowheads="1"/>
                </p:cNvSpPr>
                <p:nvPr/>
              </p:nvSpPr>
              <p:spPr bwMode="auto">
                <a:xfrm>
                  <a:off x="5766197" y="3634978"/>
                  <a:ext cx="214313" cy="890588"/>
                </a:xfrm>
                <a:prstGeom prst="rect">
                  <a:avLst/>
                </a:prstGeom>
                <a:noFill/>
                <a:ln w="50800">
                  <a:solidFill>
                    <a:schemeClr val="tx1"/>
                  </a:solidFill>
                  <a:miter lim="800000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endParaRPr lang="zh-TW" altLang="en-US" b="0">
                    <a:solidFill>
                      <a:prstClr val="black"/>
                    </a:solidFill>
                    <a:latin typeface="Times New Roman" panose="02020703060505090304" pitchFamily="18" charset="0"/>
                    <a:ea typeface="新細明體" panose="02020500000000000000" pitchFamily="18" charset="-120"/>
                  </a:endParaRPr>
                </a:p>
              </p:txBody>
            </p:sp>
            <p:sp>
              <p:nvSpPr>
                <p:cNvPr id="26630" name="Line 6"/>
                <p:cNvSpPr>
                  <a:spLocks noChangeShapeType="1"/>
                </p:cNvSpPr>
                <p:nvPr/>
              </p:nvSpPr>
              <p:spPr bwMode="auto">
                <a:xfrm flipV="1">
                  <a:off x="5807869" y="4373166"/>
                  <a:ext cx="61913" cy="17145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31" name="Line 7"/>
                <p:cNvSpPr>
                  <a:spLocks noChangeShapeType="1"/>
                </p:cNvSpPr>
                <p:nvPr/>
              </p:nvSpPr>
              <p:spPr bwMode="auto">
                <a:xfrm>
                  <a:off x="5869781" y="4373166"/>
                  <a:ext cx="61913" cy="17145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32" name="Oval 8"/>
                <p:cNvSpPr>
                  <a:spLocks noChangeArrowheads="1"/>
                </p:cNvSpPr>
                <p:nvPr/>
              </p:nvSpPr>
              <p:spPr bwMode="auto">
                <a:xfrm>
                  <a:off x="5818585" y="4554141"/>
                  <a:ext cx="102394" cy="95250"/>
                </a:xfrm>
                <a:prstGeom prst="ellipse">
                  <a:avLst/>
                </a:prstGeom>
                <a:noFill/>
                <a:ln w="25400">
                  <a:solidFill>
                    <a:schemeClr val="tx1"/>
                  </a:solidFill>
                  <a:rou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endParaRPr lang="zh-TW" altLang="en-US" b="0">
                    <a:solidFill>
                      <a:prstClr val="black"/>
                    </a:solidFill>
                    <a:latin typeface="Times New Roman" panose="02020703060505090304" pitchFamily="18" charset="0"/>
                    <a:ea typeface="新細明體" panose="02020500000000000000" pitchFamily="18" charset="-120"/>
                  </a:endParaRPr>
                </a:p>
              </p:txBody>
            </p:sp>
            <p:sp>
              <p:nvSpPr>
                <p:cNvPr id="26634" name="Rectangle 10"/>
                <p:cNvSpPr>
                  <a:spLocks noChangeArrowheads="1"/>
                </p:cNvSpPr>
                <p:nvPr/>
              </p:nvSpPr>
              <p:spPr bwMode="auto">
                <a:xfrm>
                  <a:off x="4872037" y="3098006"/>
                  <a:ext cx="1299779" cy="3005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92075" tIns="46039" rIns="92075" bIns="46039">
                  <a:spAutoFit/>
                </a:bodyPr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kumimoji="1" lang="en-US" altLang="zh-TW" sz="2000">
                      <a:solidFill>
                        <a:prstClr val="black"/>
                      </a:solidFill>
                      <a:latin typeface="Arial" panose="020B0604020202090204" pitchFamily="34" charset="0"/>
                      <a:ea typeface="新細明體" panose="02020500000000000000" pitchFamily="18" charset="-120"/>
                    </a:rPr>
                    <a:t>Write Enable</a:t>
                  </a:r>
                </a:p>
              </p:txBody>
            </p:sp>
            <p:sp>
              <p:nvSpPr>
                <p:cNvPr id="26635" name="Line 11"/>
                <p:cNvSpPr>
                  <a:spLocks noChangeShapeType="1"/>
                </p:cNvSpPr>
                <p:nvPr/>
              </p:nvSpPr>
              <p:spPr bwMode="auto">
                <a:xfrm flipH="1">
                  <a:off x="4824412" y="4073129"/>
                  <a:ext cx="928688" cy="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 type="stealth" w="med" len="lg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36" name="Line 12"/>
                <p:cNvSpPr>
                  <a:spLocks noChangeShapeType="1"/>
                </p:cNvSpPr>
                <p:nvPr/>
              </p:nvSpPr>
              <p:spPr bwMode="auto">
                <a:xfrm flipH="1">
                  <a:off x="5257800" y="4015979"/>
                  <a:ext cx="61913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37" name="Rectangle 13"/>
                <p:cNvSpPr>
                  <a:spLocks noChangeArrowheads="1"/>
                </p:cNvSpPr>
                <p:nvPr/>
              </p:nvSpPr>
              <p:spPr bwMode="auto">
                <a:xfrm>
                  <a:off x="4998244" y="4050506"/>
                  <a:ext cx="278923" cy="3005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92075" tIns="46039" rIns="92075" bIns="46039">
                  <a:spAutoFit/>
                </a:bodyPr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kumimoji="1" lang="en-US" altLang="zh-TW" sz="2000">
                      <a:solidFill>
                        <a:prstClr val="black"/>
                      </a:solidFill>
                      <a:latin typeface="Arial" panose="020B0604020202090204" pitchFamily="34" charset="0"/>
                      <a:ea typeface="新細明體" panose="02020500000000000000" pitchFamily="18" charset="-120"/>
                    </a:rPr>
                    <a:t>N</a:t>
                  </a:r>
                </a:p>
              </p:txBody>
            </p:sp>
            <p:sp>
              <p:nvSpPr>
                <p:cNvPr id="26638" name="Line 14"/>
                <p:cNvSpPr>
                  <a:spLocks noChangeShapeType="1"/>
                </p:cNvSpPr>
                <p:nvPr/>
              </p:nvSpPr>
              <p:spPr bwMode="auto">
                <a:xfrm>
                  <a:off x="6000750" y="4073129"/>
                  <a:ext cx="928688" cy="0"/>
                </a:xfrm>
                <a:prstGeom prst="line">
                  <a:avLst/>
                </a:prstGeom>
                <a:noFill/>
                <a:ln w="25400">
                  <a:solidFill>
                    <a:schemeClr val="tx1"/>
                  </a:solidFill>
                  <a:round/>
                  <a:headEnd type="none" w="sm" len="sm"/>
                  <a:tailEnd type="stealth" w="med" len="lg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39" name="Line 15"/>
                <p:cNvSpPr>
                  <a:spLocks noChangeShapeType="1"/>
                </p:cNvSpPr>
                <p:nvPr/>
              </p:nvSpPr>
              <p:spPr bwMode="auto">
                <a:xfrm flipH="1">
                  <a:off x="6434137" y="4015979"/>
                  <a:ext cx="61913" cy="114300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  <p:sp>
              <p:nvSpPr>
                <p:cNvPr id="26640" name="Rectangle 16"/>
                <p:cNvSpPr>
                  <a:spLocks noChangeArrowheads="1"/>
                </p:cNvSpPr>
                <p:nvPr/>
              </p:nvSpPr>
              <p:spPr bwMode="auto">
                <a:xfrm>
                  <a:off x="6174581" y="4050506"/>
                  <a:ext cx="278923" cy="3005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92075" tIns="46039" rIns="92075" bIns="46039">
                  <a:spAutoFit/>
                </a:bodyPr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kumimoji="1" lang="en-US" altLang="zh-TW" sz="2000">
                      <a:solidFill>
                        <a:prstClr val="black"/>
                      </a:solidFill>
                      <a:latin typeface="Arial" panose="020B0604020202090204" pitchFamily="34" charset="0"/>
                      <a:ea typeface="新細明體" panose="02020500000000000000" pitchFamily="18" charset="-120"/>
                    </a:rPr>
                    <a:t>N</a:t>
                  </a:r>
                </a:p>
              </p:txBody>
            </p:sp>
            <p:sp>
              <p:nvSpPr>
                <p:cNvPr id="26641" name="Rectangle 17"/>
                <p:cNvSpPr>
                  <a:spLocks noChangeArrowheads="1"/>
                </p:cNvSpPr>
                <p:nvPr/>
              </p:nvSpPr>
              <p:spPr bwMode="auto">
                <a:xfrm>
                  <a:off x="6050756" y="3764756"/>
                  <a:ext cx="940161" cy="300566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92075" tIns="46039" rIns="92075" bIns="46039">
                  <a:spAutoFit/>
                </a:bodyPr>
                <a:lstStyle>
                  <a:lvl1pPr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folHlink"/>
                    </a:buClr>
                    <a:buSzPct val="75000"/>
                    <a:buFont typeface="Wingdings" panose="05000000000000000000" pitchFamily="2" charset="2"/>
                    <a:buChar char="t"/>
                    <a:defRPr sz="24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1pPr>
                  <a:lvl2pPr marL="742950" indent="-285750">
                    <a:lnSpc>
                      <a:spcPct val="90000"/>
                    </a:lnSpc>
                    <a:spcBef>
                      <a:spcPct val="15000"/>
                    </a:spcBef>
                    <a:buClr>
                      <a:srgbClr val="FF9900"/>
                    </a:buClr>
                    <a:buSzPct val="75000"/>
                    <a:buFont typeface="Wingdings" panose="05000000000000000000" pitchFamily="2" charset="2"/>
                    <a:buChar char="l"/>
                    <a:defRPr sz="22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2pPr>
                  <a:lvl3pPr marL="11430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2"/>
                    </a:buClr>
                    <a:buSzPct val="75000"/>
                    <a:buFont typeface="Wingdings" panose="05000000000000000000" pitchFamily="2" charset="2"/>
                    <a:buChar char="n"/>
                    <a:defRPr sz="2000" b="1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3pPr>
                  <a:lvl4pPr marL="16002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hlink"/>
                    </a:buClr>
                    <a:buSzPct val="75000"/>
                    <a:buFont typeface="Monotype Sorts" pitchFamily="2" charset="2"/>
                    <a:buChar char="T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4pPr>
                  <a:lvl5pPr marL="2057400" indent="-228600">
                    <a:lnSpc>
                      <a:spcPct val="90000"/>
                    </a:lnSpc>
                    <a:spcBef>
                      <a:spcPct val="15000"/>
                    </a:spcBef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5pPr>
                  <a:lvl6pPr marL="25146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6pPr>
                  <a:lvl7pPr marL="29718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7pPr>
                  <a:lvl8pPr marL="34290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8pPr>
                  <a:lvl9pPr marL="3886200" indent="-228600" eaLnBrk="0" fontAlgn="base" hangingPunct="0">
                    <a:lnSpc>
                      <a:spcPct val="90000"/>
                    </a:lnSpc>
                    <a:spcBef>
                      <a:spcPct val="15000"/>
                    </a:spcBef>
                    <a:spcAft>
                      <a:spcPct val="0"/>
                    </a:spcAft>
                    <a:buClr>
                      <a:schemeClr val="accent1"/>
                    </a:buClr>
                    <a:buSzPct val="100000"/>
                    <a:buChar char="–"/>
                    <a:defRPr sz="2000">
                      <a:solidFill>
                        <a:schemeClr val="tx1"/>
                      </a:solidFill>
                      <a:latin typeface="Century Gothic" panose="020B0502020202020204" pitchFamily="34" charset="0"/>
                      <a:ea typeface="標楷體" panose="02010601000101010101" pitchFamily="65" charset="-128"/>
                    </a:defRPr>
                  </a:lvl9pPr>
                </a:lstStyle>
                <a:p>
                  <a:pPr defTabSz="1219170">
                    <a:lnSpc>
                      <a:spcPct val="100000"/>
                    </a:lnSpc>
                    <a:spcBef>
                      <a:spcPct val="0"/>
                    </a:spcBef>
                    <a:buClrTx/>
                    <a:buSzTx/>
                    <a:buNone/>
                  </a:pPr>
                  <a:r>
                    <a:rPr kumimoji="1" lang="en-US" altLang="zh-TW" sz="2000">
                      <a:solidFill>
                        <a:prstClr val="black"/>
                      </a:solidFill>
                      <a:latin typeface="Arial" panose="020B0604020202090204" pitchFamily="34" charset="0"/>
                      <a:ea typeface="新細明體" panose="02020500000000000000" pitchFamily="18" charset="-120"/>
                    </a:rPr>
                    <a:t>Data Out</a:t>
                  </a:r>
                </a:p>
              </p:txBody>
            </p:sp>
            <p:sp>
              <p:nvSpPr>
                <p:cNvPr id="26642" name="Line 18"/>
                <p:cNvSpPr>
                  <a:spLocks noChangeShapeType="1"/>
                </p:cNvSpPr>
                <p:nvPr/>
              </p:nvSpPr>
              <p:spPr bwMode="auto">
                <a:xfrm flipV="1">
                  <a:off x="5876925" y="3394473"/>
                  <a:ext cx="0" cy="221456"/>
                </a:xfrm>
                <a:prstGeom prst="line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 type="none" w="sm" len="sm"/>
                  <a:tailEnd type="none" w="sm" len="sm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pPr defTabSz="1219170"/>
                  <a:endParaRPr lang="zh-CN" altLang="en-US">
                    <a:solidFill>
                      <a:prstClr val="black"/>
                    </a:solidFill>
                    <a:latin typeface="Arial"/>
                    <a:ea typeface="新細明體"/>
                  </a:endParaRPr>
                </a:p>
              </p:txBody>
            </p:sp>
          </p:grpSp>
        </p:grpSp>
      </p:grpSp>
      <p:sp>
        <p:nvSpPr>
          <p:cNvPr id="26643" name="Rectangle 19"/>
          <p:cNvSpPr>
            <a:spLocks noGrp="1" noChangeArrowheads="1"/>
          </p:cNvSpPr>
          <p:nvPr>
            <p:ph type="title"/>
          </p:nvPr>
        </p:nvSpPr>
        <p:spPr>
          <a:xfrm>
            <a:off x="1290919" y="225399"/>
            <a:ext cx="10511757" cy="532760"/>
          </a:xfrm>
        </p:spPr>
        <p:txBody>
          <a:bodyPr/>
          <a:lstStyle/>
          <a:p>
            <a:r>
              <a:rPr lang="en-US" altLang="zh-TW" sz="3733" dirty="0"/>
              <a:t>Step 2b - Sequential Components for Datapath</a:t>
            </a:r>
          </a:p>
        </p:txBody>
      </p:sp>
      <p:sp>
        <p:nvSpPr>
          <p:cNvPr id="2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37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84" name="Rectangle 36"/>
          <p:cNvSpPr>
            <a:spLocks noGrp="1" noChangeArrowheads="1"/>
          </p:cNvSpPr>
          <p:nvPr>
            <p:ph type="body" idx="1"/>
          </p:nvPr>
        </p:nvSpPr>
        <p:spPr>
          <a:xfrm>
            <a:off x="1219200" y="1074310"/>
            <a:ext cx="9630656" cy="5042180"/>
          </a:xfrm>
        </p:spPr>
        <p:txBody>
          <a:bodyPr/>
          <a:lstStyle/>
          <a:p>
            <a:r>
              <a:rPr lang="en-US" altLang="zh-TW" sz="2667" dirty="0"/>
              <a:t>Consists of 32 registers</a:t>
            </a:r>
          </a:p>
          <a:p>
            <a:pPr lvl="1"/>
            <a:r>
              <a:rPr lang="en-US" altLang="zh-TW" sz="2133" dirty="0"/>
              <a:t>Two 32-bit output buses (</a:t>
            </a:r>
            <a:r>
              <a:rPr lang="en-US" altLang="zh-TW" sz="2133" dirty="0" err="1"/>
              <a:t>busA</a:t>
            </a:r>
            <a:r>
              <a:rPr lang="en-US" altLang="zh-TW" sz="2133" dirty="0"/>
              <a:t> and </a:t>
            </a:r>
            <a:r>
              <a:rPr lang="en-US" altLang="zh-TW" sz="2133" dirty="0" err="1"/>
              <a:t>busB</a:t>
            </a:r>
            <a:r>
              <a:rPr lang="en-US" altLang="zh-TW" sz="2133" dirty="0"/>
              <a:t>)</a:t>
            </a:r>
          </a:p>
          <a:p>
            <a:pPr lvl="1"/>
            <a:r>
              <a:rPr lang="en-US" altLang="zh-TW" sz="2133" dirty="0"/>
              <a:t>Two output buses are usually called two read ports</a:t>
            </a:r>
          </a:p>
          <a:p>
            <a:pPr lvl="1"/>
            <a:r>
              <a:rPr lang="en-US" altLang="zh-TW" sz="2133" dirty="0"/>
              <a:t>One 32-bit input bus: </a:t>
            </a:r>
            <a:r>
              <a:rPr lang="en-US" altLang="zh-TW" sz="2133" dirty="0" err="1"/>
              <a:t>busW</a:t>
            </a:r>
            <a:r>
              <a:rPr lang="en-US" altLang="zh-TW" sz="2133" dirty="0"/>
              <a:t> (one write port)</a:t>
            </a:r>
          </a:p>
          <a:p>
            <a:r>
              <a:rPr lang="en-US" altLang="zh-TW" sz="2667" dirty="0"/>
              <a:t>Register is selected by</a:t>
            </a:r>
          </a:p>
          <a:p>
            <a:pPr lvl="1"/>
            <a:r>
              <a:rPr lang="en-US" altLang="zh-TW" sz="2133" dirty="0"/>
              <a:t>Rs1 selects the register to put on </a:t>
            </a:r>
            <a:r>
              <a:rPr lang="en-US" altLang="zh-TW" sz="2133" dirty="0" err="1"/>
              <a:t>busA</a:t>
            </a:r>
            <a:r>
              <a:rPr lang="en-US" altLang="zh-TW" sz="2133" dirty="0"/>
              <a:t> (data)</a:t>
            </a:r>
          </a:p>
          <a:p>
            <a:pPr lvl="1"/>
            <a:r>
              <a:rPr lang="en-US" altLang="zh-TW" sz="2133" dirty="0"/>
              <a:t>Rs2 selects the register to put on </a:t>
            </a:r>
            <a:r>
              <a:rPr lang="en-US" altLang="zh-TW" sz="2133" dirty="0" err="1"/>
              <a:t>busB</a:t>
            </a:r>
            <a:r>
              <a:rPr lang="en-US" altLang="zh-TW" sz="2133" dirty="0"/>
              <a:t> (data)</a:t>
            </a:r>
          </a:p>
          <a:p>
            <a:pPr lvl="1"/>
            <a:r>
              <a:rPr lang="en-US" altLang="zh-TW" sz="2133" dirty="0"/>
              <a:t>Rd selects the register to be  written via </a:t>
            </a:r>
            <a:r>
              <a:rPr lang="en-US" altLang="zh-TW" sz="2133" dirty="0" err="1"/>
              <a:t>busW</a:t>
            </a:r>
            <a:r>
              <a:rPr lang="en-US" altLang="zh-TW" sz="2133" dirty="0"/>
              <a:t> (data) when Write Enable is 1</a:t>
            </a:r>
          </a:p>
          <a:p>
            <a:r>
              <a:rPr lang="en-US" altLang="zh-TW" sz="2667" dirty="0"/>
              <a:t>Clock input (CLK) </a:t>
            </a:r>
          </a:p>
          <a:p>
            <a:pPr lvl="1"/>
            <a:r>
              <a:rPr lang="en-US" altLang="zh-TW" sz="2133" dirty="0"/>
              <a:t>The CLK input is a factor ONLY during write operation</a:t>
            </a:r>
          </a:p>
          <a:p>
            <a:pPr lvl="1"/>
            <a:r>
              <a:rPr lang="en-US" altLang="zh-TW" sz="2133" dirty="0"/>
              <a:t>During read, behaves as a combinational circuit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7365654" y="1568557"/>
            <a:ext cx="4355057" cy="2433268"/>
            <a:chOff x="5155407" y="938213"/>
            <a:chExt cx="2971800" cy="1550148"/>
          </a:xfrm>
        </p:grpSpPr>
        <p:sp>
          <p:nvSpPr>
            <p:cNvPr id="27650" name="Rectangle 2"/>
            <p:cNvSpPr>
              <a:spLocks noChangeArrowheads="1"/>
            </p:cNvSpPr>
            <p:nvPr/>
          </p:nvSpPr>
          <p:spPr bwMode="auto">
            <a:xfrm>
              <a:off x="5582841" y="2088356"/>
              <a:ext cx="371911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Clk</a:t>
              </a:r>
            </a:p>
          </p:txBody>
        </p:sp>
        <p:sp>
          <p:nvSpPr>
            <p:cNvPr id="27651" name="Rectangle 3"/>
            <p:cNvSpPr>
              <a:spLocks noChangeArrowheads="1"/>
            </p:cNvSpPr>
            <p:nvPr/>
          </p:nvSpPr>
          <p:spPr bwMode="auto">
            <a:xfrm>
              <a:off x="5266135" y="1681163"/>
              <a:ext cx="555678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busW</a:t>
              </a:r>
            </a:p>
          </p:txBody>
        </p:sp>
        <p:sp>
          <p:nvSpPr>
            <p:cNvPr id="27652" name="Rectangle 4"/>
            <p:cNvSpPr>
              <a:spLocks noChangeArrowheads="1"/>
            </p:cNvSpPr>
            <p:nvPr/>
          </p:nvSpPr>
          <p:spPr bwMode="auto">
            <a:xfrm>
              <a:off x="6159104" y="1551385"/>
              <a:ext cx="1141809" cy="890588"/>
            </a:xfrm>
            <a:prstGeom prst="rect">
              <a:avLst/>
            </a:prstGeom>
            <a:noFill/>
            <a:ln w="508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27653" name="Line 5"/>
            <p:cNvSpPr>
              <a:spLocks noChangeShapeType="1"/>
            </p:cNvSpPr>
            <p:nvPr/>
          </p:nvSpPr>
          <p:spPr bwMode="auto">
            <a:xfrm>
              <a:off x="6168629" y="2260997"/>
              <a:ext cx="225028" cy="71438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54" name="Line 6"/>
            <p:cNvSpPr>
              <a:spLocks noChangeShapeType="1"/>
            </p:cNvSpPr>
            <p:nvPr/>
          </p:nvSpPr>
          <p:spPr bwMode="auto">
            <a:xfrm flipH="1">
              <a:off x="6168629" y="2332435"/>
              <a:ext cx="225028" cy="100013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55" name="Oval 7"/>
            <p:cNvSpPr>
              <a:spLocks noChangeArrowheads="1"/>
            </p:cNvSpPr>
            <p:nvPr/>
          </p:nvSpPr>
          <p:spPr bwMode="auto">
            <a:xfrm>
              <a:off x="6024563" y="2299097"/>
              <a:ext cx="103585" cy="9525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27656" name="Rectangle 8"/>
            <p:cNvSpPr>
              <a:spLocks noChangeArrowheads="1"/>
            </p:cNvSpPr>
            <p:nvPr/>
          </p:nvSpPr>
          <p:spPr bwMode="auto">
            <a:xfrm>
              <a:off x="5155407" y="1042988"/>
              <a:ext cx="1077886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Write Enable</a:t>
              </a:r>
            </a:p>
          </p:txBody>
        </p:sp>
        <p:sp>
          <p:nvSpPr>
            <p:cNvPr id="27657" name="Line 9"/>
            <p:cNvSpPr>
              <a:spLocks noChangeShapeType="1"/>
            </p:cNvSpPr>
            <p:nvPr/>
          </p:nvSpPr>
          <p:spPr bwMode="auto">
            <a:xfrm flipH="1">
              <a:off x="5341144" y="1932385"/>
              <a:ext cx="8048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stealth" w="med" len="lg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58" name="Line 10"/>
            <p:cNvSpPr>
              <a:spLocks noChangeShapeType="1"/>
            </p:cNvSpPr>
            <p:nvPr/>
          </p:nvSpPr>
          <p:spPr bwMode="auto">
            <a:xfrm flipH="1">
              <a:off x="5774531" y="1875235"/>
              <a:ext cx="61913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59" name="Rectangle 11"/>
            <p:cNvSpPr>
              <a:spLocks noChangeArrowheads="1"/>
            </p:cNvSpPr>
            <p:nvPr/>
          </p:nvSpPr>
          <p:spPr bwMode="auto">
            <a:xfrm>
              <a:off x="5513785" y="1909763"/>
              <a:ext cx="301904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</a:t>
              </a:r>
            </a:p>
          </p:txBody>
        </p:sp>
        <p:sp>
          <p:nvSpPr>
            <p:cNvPr id="27660" name="Line 12"/>
            <p:cNvSpPr>
              <a:spLocks noChangeShapeType="1"/>
            </p:cNvSpPr>
            <p:nvPr/>
          </p:nvSpPr>
          <p:spPr bwMode="auto">
            <a:xfrm>
              <a:off x="7322344" y="1703785"/>
              <a:ext cx="8048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61" name="Line 13"/>
            <p:cNvSpPr>
              <a:spLocks noChangeShapeType="1"/>
            </p:cNvSpPr>
            <p:nvPr/>
          </p:nvSpPr>
          <p:spPr bwMode="auto">
            <a:xfrm flipH="1">
              <a:off x="7817644" y="1646635"/>
              <a:ext cx="61913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62" name="Rectangle 14"/>
            <p:cNvSpPr>
              <a:spLocks noChangeArrowheads="1"/>
            </p:cNvSpPr>
            <p:nvPr/>
          </p:nvSpPr>
          <p:spPr bwMode="auto">
            <a:xfrm>
              <a:off x="7556898" y="1681163"/>
              <a:ext cx="301904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</a:t>
              </a:r>
            </a:p>
          </p:txBody>
        </p:sp>
        <p:sp>
          <p:nvSpPr>
            <p:cNvPr id="27663" name="Rectangle 15"/>
            <p:cNvSpPr>
              <a:spLocks noChangeArrowheads="1"/>
            </p:cNvSpPr>
            <p:nvPr/>
          </p:nvSpPr>
          <p:spPr bwMode="auto">
            <a:xfrm>
              <a:off x="7309248" y="1452563"/>
              <a:ext cx="520675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busA</a:t>
              </a:r>
            </a:p>
          </p:txBody>
        </p:sp>
        <p:sp>
          <p:nvSpPr>
            <p:cNvPr id="27664" name="Line 16"/>
            <p:cNvSpPr>
              <a:spLocks noChangeShapeType="1"/>
            </p:cNvSpPr>
            <p:nvPr/>
          </p:nvSpPr>
          <p:spPr bwMode="auto">
            <a:xfrm flipV="1">
              <a:off x="6233293" y="1189434"/>
              <a:ext cx="0" cy="34885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65" name="Line 17"/>
            <p:cNvSpPr>
              <a:spLocks noChangeShapeType="1"/>
            </p:cNvSpPr>
            <p:nvPr/>
          </p:nvSpPr>
          <p:spPr bwMode="auto">
            <a:xfrm>
              <a:off x="7322344" y="2275285"/>
              <a:ext cx="8048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66" name="Line 18"/>
            <p:cNvSpPr>
              <a:spLocks noChangeShapeType="1"/>
            </p:cNvSpPr>
            <p:nvPr/>
          </p:nvSpPr>
          <p:spPr bwMode="auto">
            <a:xfrm flipH="1">
              <a:off x="7817644" y="2218135"/>
              <a:ext cx="61913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67" name="Rectangle 19"/>
            <p:cNvSpPr>
              <a:spLocks noChangeArrowheads="1"/>
            </p:cNvSpPr>
            <p:nvPr/>
          </p:nvSpPr>
          <p:spPr bwMode="auto">
            <a:xfrm>
              <a:off x="7556898" y="2252663"/>
              <a:ext cx="301904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</a:t>
              </a:r>
            </a:p>
          </p:txBody>
        </p:sp>
        <p:sp>
          <p:nvSpPr>
            <p:cNvPr id="27668" name="Rectangle 20"/>
            <p:cNvSpPr>
              <a:spLocks noChangeArrowheads="1"/>
            </p:cNvSpPr>
            <p:nvPr/>
          </p:nvSpPr>
          <p:spPr bwMode="auto">
            <a:xfrm>
              <a:off x="7309248" y="2024063"/>
              <a:ext cx="520675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busB</a:t>
              </a:r>
            </a:p>
          </p:txBody>
        </p:sp>
        <p:sp>
          <p:nvSpPr>
            <p:cNvPr id="27669" name="Line 21"/>
            <p:cNvSpPr>
              <a:spLocks noChangeShapeType="1"/>
            </p:cNvSpPr>
            <p:nvPr/>
          </p:nvSpPr>
          <p:spPr bwMode="auto">
            <a:xfrm flipH="1">
              <a:off x="5650706" y="2332435"/>
              <a:ext cx="371475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0" name="Line 22"/>
            <p:cNvSpPr>
              <a:spLocks noChangeShapeType="1"/>
            </p:cNvSpPr>
            <p:nvPr/>
          </p:nvSpPr>
          <p:spPr bwMode="auto">
            <a:xfrm>
              <a:off x="6517481" y="1189435"/>
              <a:ext cx="0" cy="3429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1" name="Line 23"/>
            <p:cNvSpPr>
              <a:spLocks noChangeShapeType="1"/>
            </p:cNvSpPr>
            <p:nvPr/>
          </p:nvSpPr>
          <p:spPr bwMode="auto">
            <a:xfrm flipV="1">
              <a:off x="6455569" y="1303735"/>
              <a:ext cx="123825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2" name="Rectangle 24"/>
            <p:cNvSpPr>
              <a:spLocks noChangeArrowheads="1"/>
            </p:cNvSpPr>
            <p:nvPr/>
          </p:nvSpPr>
          <p:spPr bwMode="auto">
            <a:xfrm>
              <a:off x="6318648" y="1166813"/>
              <a:ext cx="214396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5</a:t>
              </a:r>
            </a:p>
          </p:txBody>
        </p:sp>
        <p:sp>
          <p:nvSpPr>
            <p:cNvPr id="27673" name="Line 25"/>
            <p:cNvSpPr>
              <a:spLocks noChangeShapeType="1"/>
            </p:cNvSpPr>
            <p:nvPr/>
          </p:nvSpPr>
          <p:spPr bwMode="auto">
            <a:xfrm>
              <a:off x="6827044" y="1189435"/>
              <a:ext cx="0" cy="3429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4" name="Line 26"/>
            <p:cNvSpPr>
              <a:spLocks noChangeShapeType="1"/>
            </p:cNvSpPr>
            <p:nvPr/>
          </p:nvSpPr>
          <p:spPr bwMode="auto">
            <a:xfrm flipV="1">
              <a:off x="6765131" y="1303735"/>
              <a:ext cx="123825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5" name="Rectangle 27"/>
            <p:cNvSpPr>
              <a:spLocks noChangeArrowheads="1"/>
            </p:cNvSpPr>
            <p:nvPr/>
          </p:nvSpPr>
          <p:spPr bwMode="auto">
            <a:xfrm>
              <a:off x="6628210" y="1166813"/>
              <a:ext cx="214396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5</a:t>
              </a:r>
            </a:p>
          </p:txBody>
        </p:sp>
        <p:sp>
          <p:nvSpPr>
            <p:cNvPr id="27676" name="Line 28"/>
            <p:cNvSpPr>
              <a:spLocks noChangeShapeType="1"/>
            </p:cNvSpPr>
            <p:nvPr/>
          </p:nvSpPr>
          <p:spPr bwMode="auto">
            <a:xfrm>
              <a:off x="7198519" y="1189435"/>
              <a:ext cx="0" cy="34290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7" name="Line 29"/>
            <p:cNvSpPr>
              <a:spLocks noChangeShapeType="1"/>
            </p:cNvSpPr>
            <p:nvPr/>
          </p:nvSpPr>
          <p:spPr bwMode="auto">
            <a:xfrm flipV="1">
              <a:off x="7136606" y="1303735"/>
              <a:ext cx="123825" cy="1143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7678" name="Rectangle 30"/>
            <p:cNvSpPr>
              <a:spLocks noChangeArrowheads="1"/>
            </p:cNvSpPr>
            <p:nvPr/>
          </p:nvSpPr>
          <p:spPr bwMode="auto">
            <a:xfrm>
              <a:off x="6999685" y="1166813"/>
              <a:ext cx="214396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5</a:t>
              </a:r>
            </a:p>
          </p:txBody>
        </p:sp>
        <p:sp>
          <p:nvSpPr>
            <p:cNvPr id="27679" name="Rectangle 31"/>
            <p:cNvSpPr>
              <a:spLocks noChangeArrowheads="1"/>
            </p:cNvSpPr>
            <p:nvPr/>
          </p:nvSpPr>
          <p:spPr bwMode="auto">
            <a:xfrm>
              <a:off x="6318648" y="938213"/>
              <a:ext cx="336908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Rd</a:t>
              </a:r>
            </a:p>
          </p:txBody>
        </p:sp>
        <p:sp>
          <p:nvSpPr>
            <p:cNvPr id="27680" name="Rectangle 32"/>
            <p:cNvSpPr>
              <a:spLocks noChangeArrowheads="1"/>
            </p:cNvSpPr>
            <p:nvPr/>
          </p:nvSpPr>
          <p:spPr bwMode="auto">
            <a:xfrm>
              <a:off x="6690123" y="938213"/>
              <a:ext cx="415665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Rs1</a:t>
              </a:r>
            </a:p>
          </p:txBody>
        </p:sp>
        <p:sp>
          <p:nvSpPr>
            <p:cNvPr id="27681" name="Rectangle 33"/>
            <p:cNvSpPr>
              <a:spLocks noChangeArrowheads="1"/>
            </p:cNvSpPr>
            <p:nvPr/>
          </p:nvSpPr>
          <p:spPr bwMode="auto">
            <a:xfrm>
              <a:off x="6999685" y="938213"/>
              <a:ext cx="415665" cy="2356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 dirty="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Rs2</a:t>
              </a:r>
            </a:p>
          </p:txBody>
        </p:sp>
        <p:sp>
          <p:nvSpPr>
            <p:cNvPr id="27682" name="Rectangle 34"/>
            <p:cNvSpPr>
              <a:spLocks noChangeArrowheads="1"/>
            </p:cNvSpPr>
            <p:nvPr/>
          </p:nvSpPr>
          <p:spPr bwMode="auto">
            <a:xfrm>
              <a:off x="6318647" y="1738312"/>
              <a:ext cx="844456" cy="412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32-</a:t>
              </a: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bit</a:t>
              </a:r>
            </a:p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Registers</a:t>
              </a:r>
            </a:p>
          </p:txBody>
        </p:sp>
      </p:grpSp>
      <p:sp>
        <p:nvSpPr>
          <p:cNvPr id="27683" name="Rectangle 35"/>
          <p:cNvSpPr>
            <a:spLocks noGrp="1" noChangeArrowheads="1"/>
          </p:cNvSpPr>
          <p:nvPr>
            <p:ph type="title"/>
          </p:nvPr>
        </p:nvSpPr>
        <p:spPr>
          <a:xfrm>
            <a:off x="1219201" y="133190"/>
            <a:ext cx="9086851" cy="676196"/>
          </a:xfrm>
        </p:spPr>
        <p:txBody>
          <a:bodyPr/>
          <a:lstStyle/>
          <a:p>
            <a:r>
              <a:rPr lang="en-US" altLang="zh-TW" dirty="0"/>
              <a:t>Storage Element - Register File</a:t>
            </a:r>
          </a:p>
        </p:txBody>
      </p:sp>
      <p:sp>
        <p:nvSpPr>
          <p:cNvPr id="3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38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A6D763-767C-49F7-9AB2-5C8C1E4D9308}"/>
              </a:ext>
            </a:extLst>
          </p:cNvPr>
          <p:cNvSpPr txBox="1"/>
          <p:nvPr/>
        </p:nvSpPr>
        <p:spPr>
          <a:xfrm>
            <a:off x="7967654" y="4406519"/>
            <a:ext cx="3544560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How many read ports needed for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a 2-wide </a:t>
            </a:r>
            <a:r>
              <a:rPr lang="en-US">
                <a:ea typeface="標楷體" pitchFamily="65" charset="-120"/>
                <a:cs typeface="Calibri" pitchFamily="34" charset="0"/>
              </a:rPr>
              <a:t>superscalar processor?</a:t>
            </a:r>
            <a:endParaRPr lang="en-US" dirty="0">
              <a:ea typeface="標楷體" pitchFamily="65" charset="-120"/>
              <a:cs typeface="Calibri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EDB697C-7ED0-40DE-803B-398C6DE6544A}"/>
              </a:ext>
            </a:extLst>
          </p:cNvPr>
          <p:cNvSpPr txBox="1"/>
          <p:nvPr/>
        </p:nvSpPr>
        <p:spPr>
          <a:xfrm>
            <a:off x="7992778" y="5443254"/>
            <a:ext cx="3942105" cy="64633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How many read ports are needed for</a:t>
            </a:r>
          </a:p>
          <a:p>
            <a:r>
              <a:rPr lang="en-US" dirty="0">
                <a:ea typeface="標楷體" pitchFamily="65" charset="-120"/>
                <a:cs typeface="Calibri" pitchFamily="34" charset="0"/>
              </a:rPr>
              <a:t>the </a:t>
            </a:r>
            <a:r>
              <a:rPr lang="en-US" b="1" dirty="0" err="1">
                <a:ea typeface="標楷體" pitchFamily="65" charset="-120"/>
                <a:cs typeface="Calibri" pitchFamily="34" charset="0"/>
              </a:rPr>
              <a:t>fma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 (fused </a:t>
            </a:r>
            <a:r>
              <a:rPr lang="en-US" dirty="0" err="1">
                <a:ea typeface="標楷體" pitchFamily="65" charset="-120"/>
                <a:cs typeface="Calibri" pitchFamily="34" charset="0"/>
              </a:rPr>
              <a:t>mul</a:t>
            </a:r>
            <a:r>
              <a:rPr lang="en-US" dirty="0">
                <a:ea typeface="標楷體" pitchFamily="65" charset="-120"/>
                <a:cs typeface="Calibri" pitchFamily="34" charset="0"/>
              </a:rPr>
              <a:t>-add) instruction?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92" name="Rectangle 20"/>
          <p:cNvSpPr>
            <a:spLocks noGrp="1" noChangeArrowheads="1"/>
          </p:cNvSpPr>
          <p:nvPr>
            <p:ph type="title"/>
          </p:nvPr>
        </p:nvSpPr>
        <p:spPr>
          <a:xfrm>
            <a:off x="1280673" y="225399"/>
            <a:ext cx="9025379" cy="563496"/>
          </a:xfrm>
        </p:spPr>
        <p:txBody>
          <a:bodyPr/>
          <a:lstStyle/>
          <a:p>
            <a:r>
              <a:rPr lang="en-US" altLang="zh-TW" dirty="0"/>
              <a:t>Storage Element - Memory</a:t>
            </a:r>
          </a:p>
        </p:txBody>
      </p:sp>
      <p:sp>
        <p:nvSpPr>
          <p:cNvPr id="28693" name="Rectangle 21"/>
          <p:cNvSpPr>
            <a:spLocks noGrp="1" noChangeArrowheads="1"/>
          </p:cNvSpPr>
          <p:nvPr>
            <p:ph type="body" idx="1"/>
          </p:nvPr>
        </p:nvSpPr>
        <p:spPr>
          <a:xfrm>
            <a:off x="1311488" y="1176867"/>
            <a:ext cx="7578513" cy="4895427"/>
          </a:xfrm>
        </p:spPr>
        <p:txBody>
          <a:bodyPr/>
          <a:lstStyle/>
          <a:p>
            <a:pPr>
              <a:lnSpc>
                <a:spcPct val="80000"/>
              </a:lnSpc>
            </a:pPr>
            <a:r>
              <a:rPr lang="en-US" altLang="zh-TW" sz="2667" dirty="0"/>
              <a:t>Memory </a:t>
            </a:r>
          </a:p>
          <a:p>
            <a:pPr lvl="1">
              <a:lnSpc>
                <a:spcPct val="80000"/>
              </a:lnSpc>
            </a:pPr>
            <a:r>
              <a:rPr lang="en-US" altLang="zh-TW" sz="2400" dirty="0"/>
              <a:t>One input bus: Data In</a:t>
            </a:r>
          </a:p>
          <a:p>
            <a:pPr lvl="1">
              <a:lnSpc>
                <a:spcPct val="80000"/>
              </a:lnSpc>
            </a:pPr>
            <a:r>
              <a:rPr lang="en-US" altLang="zh-TW" sz="2400" dirty="0"/>
              <a:t>One output bus: Data Out</a:t>
            </a:r>
          </a:p>
          <a:p>
            <a:pPr>
              <a:lnSpc>
                <a:spcPct val="80000"/>
              </a:lnSpc>
            </a:pPr>
            <a:r>
              <a:rPr lang="en-US" altLang="zh-TW" sz="2667" dirty="0"/>
              <a:t>Word is selected by</a:t>
            </a:r>
          </a:p>
          <a:p>
            <a:pPr lvl="1">
              <a:lnSpc>
                <a:spcPct val="80000"/>
              </a:lnSpc>
            </a:pPr>
            <a:r>
              <a:rPr lang="en-US" altLang="zh-TW" sz="2400" dirty="0"/>
              <a:t>Address selects the word to put on Data Out</a:t>
            </a:r>
          </a:p>
          <a:p>
            <a:pPr lvl="1">
              <a:lnSpc>
                <a:spcPct val="80000"/>
              </a:lnSpc>
            </a:pPr>
            <a:r>
              <a:rPr lang="en-US" altLang="zh-TW" sz="2400" dirty="0"/>
              <a:t>Write Enable = 1: address selects the memory</a:t>
            </a:r>
            <a:br>
              <a:rPr lang="en-US" altLang="zh-TW" sz="2400" dirty="0"/>
            </a:br>
            <a:r>
              <a:rPr lang="en-US" altLang="zh-TW" sz="2400" dirty="0"/>
              <a:t>word to be written via the Data In bus</a:t>
            </a:r>
          </a:p>
          <a:p>
            <a:pPr>
              <a:lnSpc>
                <a:spcPct val="80000"/>
              </a:lnSpc>
            </a:pPr>
            <a:endParaRPr lang="en-US" altLang="zh-TW" sz="2133" dirty="0"/>
          </a:p>
        </p:txBody>
      </p:sp>
      <p:sp>
        <p:nvSpPr>
          <p:cNvPr id="2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39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7783407" y="1385993"/>
            <a:ext cx="3916680" cy="2473113"/>
            <a:chOff x="9711" y="2020"/>
            <a:chExt cx="4626" cy="2921"/>
          </a:xfrm>
        </p:grpSpPr>
        <p:sp>
          <p:nvSpPr>
            <p:cNvPr id="28675" name="Rectangle 3"/>
            <p:cNvSpPr>
              <a:spLocks noChangeArrowheads="1"/>
            </p:cNvSpPr>
            <p:nvPr/>
          </p:nvSpPr>
          <p:spPr bwMode="auto">
            <a:xfrm>
              <a:off x="9711" y="2920"/>
              <a:ext cx="1128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Data In</a:t>
              </a:r>
            </a:p>
          </p:txBody>
        </p:sp>
        <p:sp>
          <p:nvSpPr>
            <p:cNvPr id="28676" name="Rectangle 4"/>
            <p:cNvSpPr>
              <a:spLocks noChangeArrowheads="1"/>
            </p:cNvSpPr>
            <p:nvPr/>
          </p:nvSpPr>
          <p:spPr bwMode="auto">
            <a:xfrm>
              <a:off x="11101" y="2700"/>
              <a:ext cx="1831" cy="1433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endParaRPr lang="zh-TW" altLang="en-US" b="0">
                <a:solidFill>
                  <a:prstClr val="black"/>
                </a:solidFill>
                <a:latin typeface="Times New Roman" panose="02020703060505090304" pitchFamily="18" charset="0"/>
                <a:ea typeface="新細明體" panose="02020500000000000000" pitchFamily="18" charset="-120"/>
              </a:endParaRPr>
            </a:p>
          </p:txBody>
        </p:sp>
        <p:sp>
          <p:nvSpPr>
            <p:cNvPr id="28680" name="Rectangle 8"/>
            <p:cNvSpPr>
              <a:spLocks noChangeArrowheads="1"/>
            </p:cNvSpPr>
            <p:nvPr/>
          </p:nvSpPr>
          <p:spPr bwMode="auto">
            <a:xfrm>
              <a:off x="10624" y="2022"/>
              <a:ext cx="1593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Mem Write</a:t>
              </a:r>
            </a:p>
          </p:txBody>
        </p:sp>
        <p:sp>
          <p:nvSpPr>
            <p:cNvPr id="28681" name="Line 9"/>
            <p:cNvSpPr>
              <a:spLocks noChangeShapeType="1"/>
            </p:cNvSpPr>
            <p:nvPr/>
          </p:nvSpPr>
          <p:spPr bwMode="auto">
            <a:xfrm flipH="1">
              <a:off x="9829" y="3315"/>
              <a:ext cx="126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stealth" w="med" len="lg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82" name="Line 10"/>
            <p:cNvSpPr>
              <a:spLocks noChangeShapeType="1"/>
            </p:cNvSpPr>
            <p:nvPr/>
          </p:nvSpPr>
          <p:spPr bwMode="auto">
            <a:xfrm flipH="1">
              <a:off x="10512" y="3225"/>
              <a:ext cx="97" cy="1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83" name="Rectangle 11"/>
            <p:cNvSpPr>
              <a:spLocks noChangeArrowheads="1"/>
            </p:cNvSpPr>
            <p:nvPr/>
          </p:nvSpPr>
          <p:spPr bwMode="auto">
            <a:xfrm>
              <a:off x="10101" y="3280"/>
              <a:ext cx="523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</a:t>
              </a:r>
            </a:p>
          </p:txBody>
        </p:sp>
        <p:sp>
          <p:nvSpPr>
            <p:cNvPr id="28684" name="Line 12"/>
            <p:cNvSpPr>
              <a:spLocks noChangeShapeType="1"/>
            </p:cNvSpPr>
            <p:nvPr/>
          </p:nvSpPr>
          <p:spPr bwMode="auto">
            <a:xfrm>
              <a:off x="12949" y="3280"/>
              <a:ext cx="1388" cy="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85" name="Line 13"/>
            <p:cNvSpPr>
              <a:spLocks noChangeShapeType="1"/>
            </p:cNvSpPr>
            <p:nvPr/>
          </p:nvSpPr>
          <p:spPr bwMode="auto">
            <a:xfrm flipH="1">
              <a:off x="14022" y="3225"/>
              <a:ext cx="97" cy="1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86" name="Rectangle 14"/>
            <p:cNvSpPr>
              <a:spLocks noChangeArrowheads="1"/>
            </p:cNvSpPr>
            <p:nvPr/>
          </p:nvSpPr>
          <p:spPr bwMode="auto">
            <a:xfrm>
              <a:off x="13514" y="3280"/>
              <a:ext cx="523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zh-TW" altLang="en-US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32</a:t>
              </a:r>
            </a:p>
          </p:txBody>
        </p:sp>
        <p:sp>
          <p:nvSpPr>
            <p:cNvPr id="28687" name="Rectangle 15"/>
            <p:cNvSpPr>
              <a:spLocks noChangeArrowheads="1"/>
            </p:cNvSpPr>
            <p:nvPr/>
          </p:nvSpPr>
          <p:spPr bwMode="auto">
            <a:xfrm>
              <a:off x="12929" y="2920"/>
              <a:ext cx="1280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DataOut</a:t>
              </a:r>
            </a:p>
          </p:txBody>
        </p:sp>
        <p:sp>
          <p:nvSpPr>
            <p:cNvPr id="28688" name="Line 16"/>
            <p:cNvSpPr>
              <a:spLocks noChangeShapeType="1"/>
            </p:cNvSpPr>
            <p:nvPr/>
          </p:nvSpPr>
          <p:spPr bwMode="auto">
            <a:xfrm flipV="1">
              <a:off x="11487" y="2415"/>
              <a:ext cx="0" cy="27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89" name="Line 17"/>
            <p:cNvSpPr>
              <a:spLocks noChangeShapeType="1"/>
            </p:cNvSpPr>
            <p:nvPr/>
          </p:nvSpPr>
          <p:spPr bwMode="auto">
            <a:xfrm flipH="1">
              <a:off x="11475" y="4133"/>
              <a:ext cx="11" cy="37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90" name="Line 18"/>
            <p:cNvSpPr>
              <a:spLocks noChangeShapeType="1"/>
            </p:cNvSpPr>
            <p:nvPr/>
          </p:nvSpPr>
          <p:spPr bwMode="auto">
            <a:xfrm>
              <a:off x="12169" y="2145"/>
              <a:ext cx="0" cy="5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  <p:sp>
          <p:nvSpPr>
            <p:cNvPr id="28691" name="Rectangle 19"/>
            <p:cNvSpPr>
              <a:spLocks noChangeArrowheads="1"/>
            </p:cNvSpPr>
            <p:nvPr/>
          </p:nvSpPr>
          <p:spPr bwMode="auto">
            <a:xfrm>
              <a:off x="12149" y="2020"/>
              <a:ext cx="1310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Address</a:t>
              </a:r>
            </a:p>
          </p:txBody>
        </p:sp>
        <p:sp>
          <p:nvSpPr>
            <p:cNvPr id="3" name="Rectangle 8"/>
            <p:cNvSpPr>
              <a:spLocks noChangeArrowheads="1"/>
            </p:cNvSpPr>
            <p:nvPr/>
          </p:nvSpPr>
          <p:spPr bwMode="auto">
            <a:xfrm>
              <a:off x="10758" y="4504"/>
              <a:ext cx="1583" cy="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9" rIns="92075" bIns="46039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800">
                  <a:solidFill>
                    <a:prstClr val="black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Mem Read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6632815" y="1997208"/>
            <a:ext cx="5169861" cy="4037320"/>
            <a:chOff x="5635438" y="2089577"/>
            <a:chExt cx="3064669" cy="2428875"/>
          </a:xfrm>
        </p:grpSpPr>
        <p:pic>
          <p:nvPicPr>
            <p:cNvPr id="29698" name="Picture 2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35438" y="2089577"/>
              <a:ext cx="3064669" cy="2428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</p:pic>
        <p:sp>
          <p:nvSpPr>
            <p:cNvPr id="29699" name="Line 3"/>
            <p:cNvSpPr>
              <a:spLocks noChangeShapeType="1"/>
            </p:cNvSpPr>
            <p:nvPr/>
          </p:nvSpPr>
          <p:spPr bwMode="auto">
            <a:xfrm>
              <a:off x="6424933" y="4512929"/>
              <a:ext cx="136207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defTabSz="1219170"/>
              <a:endParaRPr lang="zh-CN" altLang="en-US">
                <a:solidFill>
                  <a:prstClr val="black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29700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297180" y="1125220"/>
            <a:ext cx="6680200" cy="3263053"/>
          </a:xfrm>
        </p:spPr>
        <p:txBody>
          <a:bodyPr/>
          <a:lstStyle/>
          <a:p>
            <a:r>
              <a:rPr lang="en-US" altLang="zh-TW" sz="2667" dirty="0"/>
              <a:t>Instruction fetch unit: common operations</a:t>
            </a:r>
            <a:endParaRPr lang="en-US" altLang="zh-TW" sz="2400" dirty="0"/>
          </a:p>
          <a:p>
            <a:pPr lvl="1"/>
            <a:r>
              <a:rPr lang="en-US" altLang="zh-TW" sz="2400" dirty="0"/>
              <a:t>Fetch the instruction: mem[PC]</a:t>
            </a:r>
          </a:p>
          <a:p>
            <a:pPr lvl="1"/>
            <a:r>
              <a:rPr lang="en-US" altLang="zh-TW" sz="2400" dirty="0"/>
              <a:t>Update the program counter</a:t>
            </a:r>
          </a:p>
          <a:p>
            <a:pPr lvl="2">
              <a:spcBef>
                <a:spcPct val="10000"/>
              </a:spcBef>
            </a:pPr>
            <a:r>
              <a:rPr lang="en-US" altLang="zh-TW" sz="2133" dirty="0"/>
              <a:t>Sequential code: PC &lt;- PC + 4 </a:t>
            </a:r>
          </a:p>
          <a:p>
            <a:pPr lvl="2">
              <a:spcBef>
                <a:spcPct val="10000"/>
              </a:spcBef>
            </a:pPr>
            <a:r>
              <a:rPr lang="en-US" altLang="zh-TW" sz="2133" dirty="0"/>
              <a:t>Branch and Jump:   PC &lt;- “Something else”</a:t>
            </a:r>
          </a:p>
        </p:txBody>
      </p:sp>
      <p:sp>
        <p:nvSpPr>
          <p:cNvPr id="29701" name="Rectangle 5"/>
          <p:cNvSpPr>
            <a:spLocks noGrp="1" noChangeArrowheads="1"/>
          </p:cNvSpPr>
          <p:nvPr>
            <p:ph type="title"/>
          </p:nvPr>
        </p:nvSpPr>
        <p:spPr>
          <a:xfrm>
            <a:off x="1249937" y="143435"/>
            <a:ext cx="9056115" cy="645460"/>
          </a:xfrm>
        </p:spPr>
        <p:txBody>
          <a:bodyPr/>
          <a:lstStyle/>
          <a:p>
            <a:r>
              <a:rPr lang="en-US" altLang="zh-TW" dirty="0"/>
              <a:t>Step 3a - Datapath Assembly</a:t>
            </a:r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40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83826" y="1018351"/>
            <a:ext cx="10250501" cy="3577091"/>
          </a:xfrm>
        </p:spPr>
        <p:txBody>
          <a:bodyPr/>
          <a:lstStyle/>
          <a:p>
            <a:pPr marL="286166" indent="-286166">
              <a:spcBef>
                <a:spcPts val="0"/>
              </a:spcBef>
              <a:spcAft>
                <a:spcPts val="1600"/>
              </a:spcAft>
            </a:pPr>
            <a:r>
              <a:rPr lang="en-US" altLang="zh-TW" sz="2400" dirty="0" err="1"/>
              <a:t>beq</a:t>
            </a:r>
            <a:r>
              <a:rPr lang="en-US" altLang="zh-TW" sz="2400" dirty="0"/>
              <a:t>  rs1, rs2, imm12</a:t>
            </a:r>
          </a:p>
          <a:p>
            <a:pPr marL="685783" lvl="1" indent="-228594">
              <a:buNone/>
            </a:pPr>
            <a:r>
              <a:rPr lang="en-US" altLang="zh-TW" sz="2400" dirty="0"/>
              <a:t>mem[PC]                             /*Fetch inst. from memory */</a:t>
            </a:r>
          </a:p>
          <a:p>
            <a:pPr marL="685783" lvl="1" indent="-228594">
              <a:buNone/>
            </a:pPr>
            <a:r>
              <a:rPr lang="en-US" altLang="zh-TW" sz="2400" dirty="0"/>
              <a:t>Equal &lt;- R[rs1] == R[rs2]	/* Calculate branch condition */</a:t>
            </a:r>
          </a:p>
          <a:p>
            <a:pPr marL="685783" lvl="1" indent="-228594">
              <a:buNone/>
            </a:pPr>
            <a:r>
              <a:rPr lang="en-US" altLang="zh-TW" sz="2400" dirty="0"/>
              <a:t>if (Equal)			/* Calculate next inst. Address */</a:t>
            </a:r>
          </a:p>
          <a:p>
            <a:pPr marL="1104872" lvl="2">
              <a:buNone/>
            </a:pPr>
            <a:r>
              <a:rPr lang="en-US" altLang="zh-TW" dirty="0"/>
              <a:t>PC  </a:t>
            </a:r>
            <a:r>
              <a:rPr lang="en-US" altLang="zh-TW"/>
              <a:t>&lt;-  PC </a:t>
            </a:r>
            <a:r>
              <a:rPr lang="en-US" altLang="zh-TW" dirty="0"/>
              <a:t>+ ( </a:t>
            </a:r>
            <a:r>
              <a:rPr lang="en-US" altLang="zh-TW" dirty="0" err="1"/>
              <a:t>SignExt</a:t>
            </a:r>
            <a:r>
              <a:rPr lang="en-US" altLang="zh-TW" dirty="0"/>
              <a:t>(imm12) x 2 )</a:t>
            </a:r>
          </a:p>
          <a:p>
            <a:pPr marL="685783" lvl="1" indent="-228594">
              <a:buNone/>
            </a:pPr>
            <a:r>
              <a:rPr lang="en-US" altLang="zh-TW" sz="2400" dirty="0"/>
              <a:t>else</a:t>
            </a:r>
          </a:p>
          <a:p>
            <a:pPr marL="1104872" lvl="2">
              <a:buNone/>
            </a:pPr>
            <a:r>
              <a:rPr lang="en-US" altLang="zh-TW" dirty="0"/>
              <a:t>PC  &lt;-  PC + 4</a:t>
            </a:r>
          </a:p>
        </p:txBody>
      </p:sp>
      <p:sp>
        <p:nvSpPr>
          <p:cNvPr id="33796" name="Rectangle 25"/>
          <p:cNvSpPr>
            <a:spLocks noGrp="1" noChangeArrowheads="1"/>
          </p:cNvSpPr>
          <p:nvPr>
            <p:ph type="title"/>
          </p:nvPr>
        </p:nvSpPr>
        <p:spPr>
          <a:xfrm>
            <a:off x="1208956" y="143435"/>
            <a:ext cx="9097096" cy="696687"/>
          </a:xfrm>
        </p:spPr>
        <p:txBody>
          <a:bodyPr/>
          <a:lstStyle/>
          <a:p>
            <a:r>
              <a:rPr lang="en-US" altLang="zh-TW" dirty="0"/>
              <a:t>Step 3b - Branch Operations</a:t>
            </a:r>
          </a:p>
        </p:txBody>
      </p:sp>
      <p:sp>
        <p:nvSpPr>
          <p:cNvPr id="27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41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3"/>
          <p:cNvSpPr>
            <a:spLocks noGrp="1" noChangeArrowheads="1"/>
          </p:cNvSpPr>
          <p:nvPr>
            <p:ph type="title"/>
          </p:nvPr>
        </p:nvSpPr>
        <p:spPr>
          <a:xfrm>
            <a:off x="1270428" y="112700"/>
            <a:ext cx="9035624" cy="717177"/>
          </a:xfrm>
        </p:spPr>
        <p:txBody>
          <a:bodyPr/>
          <a:lstStyle/>
          <a:p>
            <a:r>
              <a:rPr lang="en-US" altLang="zh-TW" dirty="0"/>
              <a:t>Datapath for Branch Operations</a:t>
            </a:r>
          </a:p>
        </p:txBody>
      </p:sp>
      <p:sp>
        <p:nvSpPr>
          <p:cNvPr id="34820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753036" y="1125539"/>
            <a:ext cx="3734442" cy="523968"/>
          </a:xfrm>
        </p:spPr>
        <p:txBody>
          <a:bodyPr/>
          <a:lstStyle/>
          <a:p>
            <a:r>
              <a:rPr lang="en-US" altLang="zh-TW" sz="2667" dirty="0" err="1"/>
              <a:t>beq</a:t>
            </a:r>
            <a:r>
              <a:rPr lang="en-US" altLang="zh-TW" sz="2667" dirty="0"/>
              <a:t>   rs1, rs2, imm12</a:t>
            </a:r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42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3F9BBD-578C-4247-BDC6-5150E9BAA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656" y="1649507"/>
            <a:ext cx="8298958" cy="42551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3E09D51-5D04-453B-9BC9-DB7DFBFD60A3}"/>
              </a:ext>
            </a:extLst>
          </p:cNvPr>
          <p:cNvSpPr txBox="1"/>
          <p:nvPr/>
        </p:nvSpPr>
        <p:spPr>
          <a:xfrm>
            <a:off x="6668887" y="5463532"/>
            <a:ext cx="4878259" cy="369332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ea typeface="標楷體" pitchFamily="65" charset="-120"/>
                <a:cs typeface="Calibri" pitchFamily="34" charset="0"/>
              </a:rPr>
              <a:t>Why do we need two adders? Is one enough?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1311409" y="58739"/>
            <a:ext cx="8994643" cy="901700"/>
          </a:xfrm>
        </p:spPr>
        <p:txBody>
          <a:bodyPr/>
          <a:lstStyle/>
          <a:p>
            <a:r>
              <a:rPr lang="en-US" altLang="zh-TW" dirty="0"/>
              <a:t>Alert: Branch with Subtraction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43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0" y="1053819"/>
            <a:ext cx="12106275" cy="506267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121920" tIns="60960" rIns="121920" bIns="60960" numCol="1" anchor="t" anchorCtr="0" compatLnSpc="1"/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4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+mn-cs"/>
              </a:defRPr>
            </a:lvl1pPr>
            <a:lvl2pPr marL="556895" indent="-21399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panose="020B0604020202090204" pitchFamily="34" charset="0"/>
              <a:buChar char="–"/>
              <a:defRPr kumimoji="1" sz="20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18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16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400">
                <a:solidFill>
                  <a:schemeClr val="tx1"/>
                </a:solidFill>
                <a:latin typeface="Calibri" panose="020F0702030404030204" pitchFamily="34" charset="0"/>
                <a:ea typeface="標楷體" panose="02010601000101010101" pitchFamily="65" charset="-120"/>
                <a:cs typeface="Calibri" panose="020F0702030404030204" pitchFamily="34" charset="0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15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342891" indent="-342891" defTabSz="1219170">
              <a:buClr>
                <a:srgbClr val="8064A2"/>
              </a:buClr>
            </a:pPr>
            <a:r>
              <a:rPr lang="en-US" altLang="zh-TW" sz="2400" kern="0" dirty="0">
                <a:solidFill>
                  <a:prstClr val="black"/>
                </a:solidFill>
              </a:rPr>
              <a:t>Intuitively, a </a:t>
            </a:r>
            <a:r>
              <a:rPr lang="en-US" altLang="zh-TW" sz="2400" b="1" kern="0" dirty="0">
                <a:solidFill>
                  <a:prstClr val="black"/>
                </a:solidFill>
              </a:rPr>
              <a:t>compare and branch </a:t>
            </a:r>
            <a:r>
              <a:rPr lang="en-US" altLang="zh-TW" sz="2400" kern="0" dirty="0">
                <a:solidFill>
                  <a:prstClr val="black"/>
                </a:solidFill>
              </a:rPr>
              <a:t>instruction could be handled by a subtraction. The output condition is positive, 0, or negative. This output can be used to guide the branch direction.</a:t>
            </a:r>
          </a:p>
          <a:p>
            <a:pPr marL="342891" indent="-342891" defTabSz="1219170">
              <a:buClr>
                <a:srgbClr val="8064A2"/>
              </a:buClr>
            </a:pPr>
            <a:r>
              <a:rPr lang="en-US" altLang="zh-TW" kern="0" dirty="0">
                <a:solidFill>
                  <a:prstClr val="black"/>
                </a:solidFill>
              </a:rPr>
              <a:t>The above implementation is cost-effective because we have the ALU to support ADD/SUB operations. The same ALU could be used.</a:t>
            </a:r>
          </a:p>
          <a:p>
            <a:pPr marL="342891" indent="-342891" defTabSz="1219170">
              <a:buClr>
                <a:srgbClr val="8064A2"/>
              </a:buClr>
            </a:pPr>
            <a:r>
              <a:rPr lang="en-US" altLang="zh-TW" sz="2400" kern="0" dirty="0">
                <a:solidFill>
                  <a:prstClr val="black"/>
                </a:solidFill>
              </a:rPr>
              <a:t>The trouble is, what if the subtraction caused an overflow? So, the sign of the result is incorrect, and cannot be used to decide the branch outcome.</a:t>
            </a:r>
          </a:p>
          <a:p>
            <a:pPr marL="342891" indent="-342891" defTabSz="1219170">
              <a:buClr>
                <a:srgbClr val="8064A2"/>
              </a:buClr>
            </a:pPr>
            <a:r>
              <a:rPr lang="en-US" altLang="zh-TW" kern="0" dirty="0">
                <a:solidFill>
                  <a:prstClr val="black"/>
                </a:solidFill>
              </a:rPr>
              <a:t>If overflow, the trap handler can handle this, but RISC-V does not support such hardware traps. It requires explicit software checks. Does that mean we always generate a check for overflow for each compare and branch?</a:t>
            </a:r>
          </a:p>
          <a:p>
            <a:pPr marL="342891" indent="-342891" defTabSz="1219170">
              <a:buClr>
                <a:srgbClr val="8064A2"/>
              </a:buClr>
            </a:pPr>
            <a:r>
              <a:rPr lang="en-US" altLang="zh-TW" sz="2400" kern="0" dirty="0">
                <a:solidFill>
                  <a:prstClr val="black"/>
                </a:solidFill>
              </a:rPr>
              <a:t>One way to handle this correctly is to use a true comparison operation </a:t>
            </a:r>
            <a:r>
              <a:rPr lang="en-US" altLang="zh-TW" kern="0" dirty="0">
                <a:solidFill>
                  <a:prstClr val="black"/>
                </a:solidFill>
              </a:rPr>
              <a:t>instead of the subtraction. However, this increases the cost and the complexity of the design. In practice, most RV processor implementations will include V (overflow) and C (Carry) flags in a temporary status register if they use subtraction to determine conditions.</a:t>
            </a:r>
            <a:endParaRPr lang="en-US" altLang="zh-TW" sz="2400" kern="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29753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6" name="Rectangle 40"/>
          <p:cNvSpPr>
            <a:spLocks noGrp="1" noChangeArrowheads="1"/>
          </p:cNvSpPr>
          <p:nvPr>
            <p:ph type="title"/>
          </p:nvPr>
        </p:nvSpPr>
        <p:spPr>
          <a:xfrm>
            <a:off x="1290919" y="174172"/>
            <a:ext cx="9015133" cy="645459"/>
          </a:xfrm>
        </p:spPr>
        <p:txBody>
          <a:bodyPr/>
          <a:lstStyle/>
          <a:p>
            <a:r>
              <a:rPr lang="en-US" altLang="zh-TW" dirty="0"/>
              <a:t>Step 3b - Add and Subtract</a:t>
            </a:r>
          </a:p>
        </p:txBody>
      </p:sp>
      <p:sp>
        <p:nvSpPr>
          <p:cNvPr id="30727" name="Rectangle 41"/>
          <p:cNvSpPr>
            <a:spLocks noGrp="1" noChangeArrowheads="1"/>
          </p:cNvSpPr>
          <p:nvPr>
            <p:ph type="body" idx="1"/>
          </p:nvPr>
        </p:nvSpPr>
        <p:spPr>
          <a:xfrm>
            <a:off x="456604" y="1072831"/>
            <a:ext cx="10230011" cy="1261636"/>
          </a:xfrm>
        </p:spPr>
        <p:txBody>
          <a:bodyPr/>
          <a:lstStyle/>
          <a:p>
            <a:r>
              <a:rPr lang="en-US" altLang="zh-TW" sz="2400" dirty="0"/>
              <a:t>R[</a:t>
            </a:r>
            <a:r>
              <a:rPr lang="en-US" altLang="zh-TW" sz="2400" dirty="0" err="1"/>
              <a:t>rd</a:t>
            </a:r>
            <a:r>
              <a:rPr lang="en-US" altLang="zh-TW" sz="2400" dirty="0"/>
              <a:t>] &lt;- R[rs1] op R[rs2] 	Ex: add  </a:t>
            </a:r>
            <a:r>
              <a:rPr lang="en-US" altLang="zh-TW" sz="2400" dirty="0" err="1"/>
              <a:t>rd</a:t>
            </a:r>
            <a:r>
              <a:rPr lang="en-US" altLang="zh-TW" sz="2400" dirty="0"/>
              <a:t>, rs1, rs2</a:t>
            </a:r>
          </a:p>
          <a:p>
            <a:pPr lvl="1"/>
            <a:r>
              <a:rPr lang="en-US" altLang="zh-TW" sz="2133" dirty="0"/>
              <a:t>Ra, Rb, </a:t>
            </a:r>
            <a:r>
              <a:rPr lang="en-US" altLang="zh-TW" sz="2133" dirty="0" err="1"/>
              <a:t>Rw</a:t>
            </a:r>
            <a:r>
              <a:rPr lang="en-US" altLang="zh-TW" sz="2133" dirty="0"/>
              <a:t> come from inst</a:t>
            </a:r>
            <a:r>
              <a:rPr lang="en-US" altLang="zh-CN" sz="2133" dirty="0"/>
              <a:t>ruction</a:t>
            </a:r>
            <a:r>
              <a:rPr lang="en-US" altLang="zh-TW" sz="2133" dirty="0"/>
              <a:t>’s rs1, rs2, and </a:t>
            </a:r>
            <a:r>
              <a:rPr lang="en-US" altLang="zh-TW" sz="2133" dirty="0" err="1"/>
              <a:t>rd</a:t>
            </a:r>
            <a:r>
              <a:rPr lang="en-US" altLang="zh-TW" sz="2133" dirty="0"/>
              <a:t> fields</a:t>
            </a:r>
          </a:p>
          <a:p>
            <a:pPr lvl="1"/>
            <a:r>
              <a:rPr lang="en-US" altLang="zh-TW" sz="2133" dirty="0"/>
              <a:t>ALU and </a:t>
            </a:r>
            <a:r>
              <a:rPr lang="en-US" altLang="zh-TW" sz="2133" dirty="0" err="1"/>
              <a:t>RegWrite</a:t>
            </a:r>
            <a:r>
              <a:rPr lang="en-US" altLang="zh-TW" sz="2133" dirty="0"/>
              <a:t>: control logic after decode 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2823881" y="2731804"/>
            <a:ext cx="6670851" cy="2834336"/>
            <a:chOff x="1328738" y="2446735"/>
            <a:chExt cx="6195660" cy="2299097"/>
          </a:xfrm>
        </p:grpSpPr>
        <p:sp>
          <p:nvSpPr>
            <p:cNvPr id="30723" name="Text Box 37"/>
            <p:cNvSpPr txBox="1">
              <a:spLocks noChangeArrowheads="1"/>
            </p:cNvSpPr>
            <p:nvPr/>
          </p:nvSpPr>
          <p:spPr bwMode="auto">
            <a:xfrm>
              <a:off x="2253873" y="2537365"/>
              <a:ext cx="433542" cy="2580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467" dirty="0">
                  <a:solidFill>
                    <a:srgbClr val="009E00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rs1</a:t>
              </a:r>
              <a:endParaRPr kumimoji="1" lang="en-US" altLang="zh-TW" sz="1467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30724" name="Text Box 38"/>
            <p:cNvSpPr txBox="1">
              <a:spLocks noChangeArrowheads="1"/>
            </p:cNvSpPr>
            <p:nvPr/>
          </p:nvSpPr>
          <p:spPr bwMode="auto">
            <a:xfrm>
              <a:off x="2272904" y="2987278"/>
              <a:ext cx="433542" cy="2580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467" dirty="0">
                  <a:solidFill>
                    <a:srgbClr val="009E00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rs2</a:t>
              </a:r>
              <a:endParaRPr kumimoji="1" lang="en-US" altLang="zh-TW" sz="1467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30725" name="Text Box 39"/>
            <p:cNvSpPr txBox="1">
              <a:spLocks noChangeArrowheads="1"/>
            </p:cNvSpPr>
            <p:nvPr/>
          </p:nvSpPr>
          <p:spPr bwMode="auto">
            <a:xfrm>
              <a:off x="2272903" y="3444478"/>
              <a:ext cx="347191" cy="2580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467">
                  <a:solidFill>
                    <a:srgbClr val="009E00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rd</a:t>
              </a:r>
              <a:endParaRPr kumimoji="1" lang="en-US" altLang="zh-TW" sz="1467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30728" name="Text Box 43"/>
            <p:cNvSpPr txBox="1">
              <a:spLocks noChangeArrowheads="1"/>
            </p:cNvSpPr>
            <p:nvPr/>
          </p:nvSpPr>
          <p:spPr bwMode="auto">
            <a:xfrm>
              <a:off x="5335191" y="2500313"/>
              <a:ext cx="176213" cy="25803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467" b="0" dirty="0">
                  <a:solidFill>
                    <a:srgbClr val="FF66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rPr>
                <a:t>4</a:t>
              </a:r>
            </a:p>
          </p:txBody>
        </p:sp>
        <p:grpSp>
          <p:nvGrpSpPr>
            <p:cNvPr id="30729" name="Group 45"/>
            <p:cNvGrpSpPr>
              <a:grpSpLocks noChangeAspect="1"/>
            </p:cNvGrpSpPr>
            <p:nvPr/>
          </p:nvGrpSpPr>
          <p:grpSpPr bwMode="auto">
            <a:xfrm>
              <a:off x="1328738" y="2538413"/>
              <a:ext cx="5445918" cy="2207419"/>
              <a:chOff x="396" y="2132"/>
              <a:chExt cx="4574" cy="1854"/>
            </a:xfrm>
          </p:grpSpPr>
          <p:sp>
            <p:nvSpPr>
              <p:cNvPr id="30732" name="AutoShape 44"/>
              <p:cNvSpPr>
                <a:spLocks noChangeAspect="1" noChangeArrowheads="1" noTextEdit="1"/>
              </p:cNvSpPr>
              <p:nvPr/>
            </p:nvSpPr>
            <p:spPr bwMode="auto">
              <a:xfrm>
                <a:off x="396" y="2136"/>
                <a:ext cx="4562" cy="18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33" name="Line 46"/>
              <p:cNvSpPr>
                <a:spLocks noChangeShapeType="1"/>
              </p:cNvSpPr>
              <p:nvPr/>
            </p:nvSpPr>
            <p:spPr bwMode="auto">
              <a:xfrm flipH="1">
                <a:off x="3016" y="2542"/>
                <a:ext cx="55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34" name="Freeform 47"/>
              <p:cNvSpPr/>
              <p:nvPr/>
            </p:nvSpPr>
            <p:spPr bwMode="auto">
              <a:xfrm>
                <a:off x="1418" y="3072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0 w 69"/>
                  <a:gd name="T3" fmla="*/ 64 h 64"/>
                  <a:gd name="T4" fmla="*/ 69 w 69"/>
                  <a:gd name="T5" fmla="*/ 34 h 64"/>
                  <a:gd name="T6" fmla="*/ 0 w 69"/>
                  <a:gd name="T7" fmla="*/ 4 h 64"/>
                  <a:gd name="T8" fmla="*/ 0 w 69"/>
                  <a:gd name="T9" fmla="*/ 4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0" y="64"/>
                    </a:lnTo>
                    <a:lnTo>
                      <a:pt x="69" y="34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35" name="Rectangle 48"/>
              <p:cNvSpPr>
                <a:spLocks noChangeArrowheads="1"/>
              </p:cNvSpPr>
              <p:nvPr/>
            </p:nvSpPr>
            <p:spPr bwMode="auto">
              <a:xfrm>
                <a:off x="465" y="2737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36" name="Rectangle 49"/>
              <p:cNvSpPr>
                <a:spLocks noChangeArrowheads="1"/>
              </p:cNvSpPr>
              <p:nvPr/>
            </p:nvSpPr>
            <p:spPr bwMode="auto">
              <a:xfrm>
                <a:off x="501" y="2737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n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37" name="Rectangle 50"/>
              <p:cNvSpPr>
                <a:spLocks noChangeArrowheads="1"/>
              </p:cNvSpPr>
              <p:nvPr/>
            </p:nvSpPr>
            <p:spPr bwMode="auto">
              <a:xfrm>
                <a:off x="578" y="2737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38" name="Rectangle 51"/>
              <p:cNvSpPr>
                <a:spLocks noChangeArrowheads="1"/>
              </p:cNvSpPr>
              <p:nvPr/>
            </p:nvSpPr>
            <p:spPr bwMode="auto">
              <a:xfrm>
                <a:off x="643" y="2737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39" name="Rectangle 52"/>
              <p:cNvSpPr>
                <a:spLocks noChangeArrowheads="1"/>
              </p:cNvSpPr>
              <p:nvPr/>
            </p:nvSpPr>
            <p:spPr bwMode="auto">
              <a:xfrm>
                <a:off x="680" y="2737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0" name="Rectangle 53"/>
              <p:cNvSpPr>
                <a:spLocks noChangeArrowheads="1"/>
              </p:cNvSpPr>
              <p:nvPr/>
            </p:nvSpPr>
            <p:spPr bwMode="auto">
              <a:xfrm>
                <a:off x="729" y="2737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u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1" name="Rectangle 54"/>
              <p:cNvSpPr>
                <a:spLocks noChangeArrowheads="1"/>
              </p:cNvSpPr>
              <p:nvPr/>
            </p:nvSpPr>
            <p:spPr bwMode="auto">
              <a:xfrm>
                <a:off x="802" y="2737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c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2" name="Rectangle 55"/>
              <p:cNvSpPr>
                <a:spLocks noChangeArrowheads="1"/>
              </p:cNvSpPr>
              <p:nvPr/>
            </p:nvSpPr>
            <p:spPr bwMode="auto">
              <a:xfrm>
                <a:off x="870" y="2737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3" name="Rectangle 56"/>
              <p:cNvSpPr>
                <a:spLocks noChangeArrowheads="1"/>
              </p:cNvSpPr>
              <p:nvPr/>
            </p:nvSpPr>
            <p:spPr bwMode="auto">
              <a:xfrm>
                <a:off x="907" y="2737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4" name="Rectangle 57"/>
              <p:cNvSpPr>
                <a:spLocks noChangeArrowheads="1"/>
              </p:cNvSpPr>
              <p:nvPr/>
            </p:nvSpPr>
            <p:spPr bwMode="auto">
              <a:xfrm>
                <a:off x="935" y="2737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o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5" name="Rectangle 58"/>
              <p:cNvSpPr>
                <a:spLocks noChangeArrowheads="1"/>
              </p:cNvSpPr>
              <p:nvPr/>
            </p:nvSpPr>
            <p:spPr bwMode="auto">
              <a:xfrm>
                <a:off x="1012" y="2737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n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46" name="Freeform 59"/>
              <p:cNvSpPr/>
              <p:nvPr/>
            </p:nvSpPr>
            <p:spPr bwMode="auto">
              <a:xfrm>
                <a:off x="1418" y="2320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0 w 69"/>
                  <a:gd name="T3" fmla="*/ 64 h 64"/>
                  <a:gd name="T4" fmla="*/ 69 w 69"/>
                  <a:gd name="T5" fmla="*/ 34 h 64"/>
                  <a:gd name="T6" fmla="*/ 0 w 69"/>
                  <a:gd name="T7" fmla="*/ 4 h 64"/>
                  <a:gd name="T8" fmla="*/ 0 w 69"/>
                  <a:gd name="T9" fmla="*/ 4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0" y="64"/>
                    </a:lnTo>
                    <a:lnTo>
                      <a:pt x="69" y="34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47" name="Freeform 60"/>
              <p:cNvSpPr/>
              <p:nvPr/>
            </p:nvSpPr>
            <p:spPr bwMode="auto">
              <a:xfrm>
                <a:off x="1418" y="3448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0 w 69"/>
                  <a:gd name="T3" fmla="*/ 64 h 64"/>
                  <a:gd name="T4" fmla="*/ 69 w 69"/>
                  <a:gd name="T5" fmla="*/ 34 h 64"/>
                  <a:gd name="T6" fmla="*/ 0 w 69"/>
                  <a:gd name="T7" fmla="*/ 4 h 64"/>
                  <a:gd name="T8" fmla="*/ 0 w 69"/>
                  <a:gd name="T9" fmla="*/ 4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0" y="64"/>
                    </a:lnTo>
                    <a:lnTo>
                      <a:pt x="69" y="34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48" name="Freeform 61"/>
              <p:cNvSpPr/>
              <p:nvPr/>
            </p:nvSpPr>
            <p:spPr bwMode="auto">
              <a:xfrm>
                <a:off x="3547" y="3260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4 w 69"/>
                  <a:gd name="T3" fmla="*/ 64 h 64"/>
                  <a:gd name="T4" fmla="*/ 69 w 69"/>
                  <a:gd name="T5" fmla="*/ 34 h 64"/>
                  <a:gd name="T6" fmla="*/ 4 w 69"/>
                  <a:gd name="T7" fmla="*/ 4 h 64"/>
                  <a:gd name="T8" fmla="*/ 4 w 69"/>
                  <a:gd name="T9" fmla="*/ 4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4" y="64"/>
                    </a:lnTo>
                    <a:lnTo>
                      <a:pt x="69" y="34"/>
                    </a:lnTo>
                    <a:lnTo>
                      <a:pt x="4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49" name="Freeform 62"/>
              <p:cNvSpPr/>
              <p:nvPr/>
            </p:nvSpPr>
            <p:spPr bwMode="auto">
              <a:xfrm>
                <a:off x="3547" y="2512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4 w 69"/>
                  <a:gd name="T3" fmla="*/ 64 h 64"/>
                  <a:gd name="T4" fmla="*/ 69 w 69"/>
                  <a:gd name="T5" fmla="*/ 30 h 64"/>
                  <a:gd name="T6" fmla="*/ 4 w 69"/>
                  <a:gd name="T7" fmla="*/ 0 h 64"/>
                  <a:gd name="T8" fmla="*/ 4 w 69"/>
                  <a:gd name="T9" fmla="*/ 0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4" y="64"/>
                    </a:lnTo>
                    <a:lnTo>
                      <a:pt x="69" y="30"/>
                    </a:lnTo>
                    <a:lnTo>
                      <a:pt x="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50" name="Freeform 63"/>
              <p:cNvSpPr/>
              <p:nvPr/>
            </p:nvSpPr>
            <p:spPr bwMode="auto">
              <a:xfrm>
                <a:off x="1418" y="2696"/>
                <a:ext cx="69" cy="64"/>
              </a:xfrm>
              <a:custGeom>
                <a:avLst/>
                <a:gdLst>
                  <a:gd name="T0" fmla="*/ 0 w 69"/>
                  <a:gd name="T1" fmla="*/ 0 h 64"/>
                  <a:gd name="T2" fmla="*/ 0 w 69"/>
                  <a:gd name="T3" fmla="*/ 64 h 64"/>
                  <a:gd name="T4" fmla="*/ 69 w 69"/>
                  <a:gd name="T5" fmla="*/ 34 h 64"/>
                  <a:gd name="T6" fmla="*/ 0 w 69"/>
                  <a:gd name="T7" fmla="*/ 4 h 64"/>
                  <a:gd name="T8" fmla="*/ 0 w 69"/>
                  <a:gd name="T9" fmla="*/ 4 h 64"/>
                  <a:gd name="T10" fmla="*/ 0 w 69"/>
                  <a:gd name="T11" fmla="*/ 0 h 6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9"/>
                  <a:gd name="T19" fmla="*/ 0 h 64"/>
                  <a:gd name="T20" fmla="*/ 69 w 69"/>
                  <a:gd name="T21" fmla="*/ 64 h 6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9" h="64">
                    <a:moveTo>
                      <a:pt x="0" y="0"/>
                    </a:moveTo>
                    <a:lnTo>
                      <a:pt x="0" y="64"/>
                    </a:lnTo>
                    <a:lnTo>
                      <a:pt x="69" y="34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51" name="Freeform 64"/>
              <p:cNvSpPr/>
              <p:nvPr/>
            </p:nvSpPr>
            <p:spPr bwMode="auto">
              <a:xfrm>
                <a:off x="1495" y="2181"/>
                <a:ext cx="1521" cy="1474"/>
              </a:xfrm>
              <a:custGeom>
                <a:avLst/>
                <a:gdLst>
                  <a:gd name="T0" fmla="*/ 1521 w 1521"/>
                  <a:gd name="T1" fmla="*/ 1474 h 1474"/>
                  <a:gd name="T2" fmla="*/ 1521 w 1521"/>
                  <a:gd name="T3" fmla="*/ 0 h 1474"/>
                  <a:gd name="T4" fmla="*/ 0 w 1521"/>
                  <a:gd name="T5" fmla="*/ 0 h 1474"/>
                  <a:gd name="T6" fmla="*/ 0 w 1521"/>
                  <a:gd name="T7" fmla="*/ 1474 h 1474"/>
                  <a:gd name="T8" fmla="*/ 1521 w 1521"/>
                  <a:gd name="T9" fmla="*/ 1474 h 1474"/>
                  <a:gd name="T10" fmla="*/ 1521 w 1521"/>
                  <a:gd name="T11" fmla="*/ 1474 h 147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521"/>
                  <a:gd name="T19" fmla="*/ 0 h 1474"/>
                  <a:gd name="T20" fmla="*/ 1521 w 1521"/>
                  <a:gd name="T21" fmla="*/ 1474 h 147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521" h="1474">
                    <a:moveTo>
                      <a:pt x="1521" y="1474"/>
                    </a:moveTo>
                    <a:lnTo>
                      <a:pt x="1521" y="0"/>
                    </a:lnTo>
                    <a:lnTo>
                      <a:pt x="0" y="0"/>
                    </a:lnTo>
                    <a:lnTo>
                      <a:pt x="0" y="1474"/>
                    </a:lnTo>
                    <a:lnTo>
                      <a:pt x="1521" y="147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52" name="Freeform 65"/>
              <p:cNvSpPr/>
              <p:nvPr/>
            </p:nvSpPr>
            <p:spPr bwMode="auto">
              <a:xfrm>
                <a:off x="1495" y="2181"/>
                <a:ext cx="1521" cy="1474"/>
              </a:xfrm>
              <a:custGeom>
                <a:avLst/>
                <a:gdLst>
                  <a:gd name="T0" fmla="*/ 1521 w 1521"/>
                  <a:gd name="T1" fmla="*/ 1474 h 1474"/>
                  <a:gd name="T2" fmla="*/ 1521 w 1521"/>
                  <a:gd name="T3" fmla="*/ 0 h 1474"/>
                  <a:gd name="T4" fmla="*/ 0 w 1521"/>
                  <a:gd name="T5" fmla="*/ 0 h 1474"/>
                  <a:gd name="T6" fmla="*/ 0 w 1521"/>
                  <a:gd name="T7" fmla="*/ 1474 h 1474"/>
                  <a:gd name="T8" fmla="*/ 1521 w 1521"/>
                  <a:gd name="T9" fmla="*/ 1474 h 1474"/>
                  <a:gd name="T10" fmla="*/ 1521 w 1521"/>
                  <a:gd name="T11" fmla="*/ 1474 h 1474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1521"/>
                  <a:gd name="T19" fmla="*/ 0 h 1474"/>
                  <a:gd name="T20" fmla="*/ 1521 w 1521"/>
                  <a:gd name="T21" fmla="*/ 1474 h 1474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1521" h="1474">
                    <a:moveTo>
                      <a:pt x="1521" y="1474"/>
                    </a:moveTo>
                    <a:lnTo>
                      <a:pt x="1521" y="0"/>
                    </a:lnTo>
                    <a:lnTo>
                      <a:pt x="0" y="0"/>
                    </a:lnTo>
                    <a:lnTo>
                      <a:pt x="0" y="1474"/>
                    </a:lnTo>
                    <a:lnTo>
                      <a:pt x="1521" y="1474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753" name="Rectangle 66"/>
              <p:cNvSpPr>
                <a:spLocks noChangeArrowheads="1"/>
              </p:cNvSpPr>
              <p:nvPr/>
            </p:nvSpPr>
            <p:spPr bwMode="auto">
              <a:xfrm>
                <a:off x="1965" y="2842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4" name="Rectangle 67"/>
              <p:cNvSpPr>
                <a:spLocks noChangeArrowheads="1"/>
              </p:cNvSpPr>
              <p:nvPr/>
            </p:nvSpPr>
            <p:spPr bwMode="auto">
              <a:xfrm>
                <a:off x="2063" y="28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5" name="Rectangle 68"/>
              <p:cNvSpPr>
                <a:spLocks noChangeArrowheads="1"/>
              </p:cNvSpPr>
              <p:nvPr/>
            </p:nvSpPr>
            <p:spPr bwMode="auto">
              <a:xfrm>
                <a:off x="2140" y="28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g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6" name="Rectangle 69"/>
              <p:cNvSpPr>
                <a:spLocks noChangeArrowheads="1"/>
              </p:cNvSpPr>
              <p:nvPr/>
            </p:nvSpPr>
            <p:spPr bwMode="auto">
              <a:xfrm>
                <a:off x="2213" y="2842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7" name="Rectangle 70"/>
              <p:cNvSpPr>
                <a:spLocks noChangeArrowheads="1"/>
              </p:cNvSpPr>
              <p:nvPr/>
            </p:nvSpPr>
            <p:spPr bwMode="auto">
              <a:xfrm>
                <a:off x="2241" y="2842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8" name="Rectangle 71"/>
              <p:cNvSpPr>
                <a:spLocks noChangeArrowheads="1"/>
              </p:cNvSpPr>
              <p:nvPr/>
            </p:nvSpPr>
            <p:spPr bwMode="auto">
              <a:xfrm>
                <a:off x="2310" y="284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59" name="Rectangle 72"/>
              <p:cNvSpPr>
                <a:spLocks noChangeArrowheads="1"/>
              </p:cNvSpPr>
              <p:nvPr/>
            </p:nvSpPr>
            <p:spPr bwMode="auto">
              <a:xfrm>
                <a:off x="2347" y="28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0" name="Rectangle 73"/>
              <p:cNvSpPr>
                <a:spLocks noChangeArrowheads="1"/>
              </p:cNvSpPr>
              <p:nvPr/>
            </p:nvSpPr>
            <p:spPr bwMode="auto">
              <a:xfrm>
                <a:off x="2424" y="284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1" name="Rectangle 74"/>
              <p:cNvSpPr>
                <a:spLocks noChangeArrowheads="1"/>
              </p:cNvSpPr>
              <p:nvPr/>
            </p:nvSpPr>
            <p:spPr bwMode="auto">
              <a:xfrm>
                <a:off x="2468" y="2842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2" name="Rectangle 75"/>
              <p:cNvSpPr>
                <a:spLocks noChangeArrowheads="1"/>
              </p:cNvSpPr>
              <p:nvPr/>
            </p:nvSpPr>
            <p:spPr bwMode="auto">
              <a:xfrm>
                <a:off x="1552" y="2967"/>
                <a:ext cx="13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W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3" name="Rectangle 76"/>
              <p:cNvSpPr>
                <a:spLocks noChangeArrowheads="1"/>
              </p:cNvSpPr>
              <p:nvPr/>
            </p:nvSpPr>
            <p:spPr bwMode="auto">
              <a:xfrm>
                <a:off x="1681" y="2967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4" name="Rectangle 77"/>
              <p:cNvSpPr>
                <a:spLocks noChangeArrowheads="1"/>
              </p:cNvSpPr>
              <p:nvPr/>
            </p:nvSpPr>
            <p:spPr bwMode="auto">
              <a:xfrm>
                <a:off x="1726" y="2967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5" name="Rectangle 78"/>
              <p:cNvSpPr>
                <a:spLocks noChangeArrowheads="1"/>
              </p:cNvSpPr>
              <p:nvPr/>
            </p:nvSpPr>
            <p:spPr bwMode="auto">
              <a:xfrm>
                <a:off x="1754" y="2967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6" name="Rectangle 79"/>
              <p:cNvSpPr>
                <a:spLocks noChangeArrowheads="1"/>
              </p:cNvSpPr>
              <p:nvPr/>
            </p:nvSpPr>
            <p:spPr bwMode="auto">
              <a:xfrm>
                <a:off x="1791" y="2967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7" name="Rectangle 80"/>
              <p:cNvSpPr>
                <a:spLocks noChangeArrowheads="1"/>
              </p:cNvSpPr>
              <p:nvPr/>
            </p:nvSpPr>
            <p:spPr bwMode="auto">
              <a:xfrm>
                <a:off x="1868" y="2967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8" name="Rectangle 81"/>
              <p:cNvSpPr>
                <a:spLocks noChangeArrowheads="1"/>
              </p:cNvSpPr>
              <p:nvPr/>
            </p:nvSpPr>
            <p:spPr bwMode="auto">
              <a:xfrm>
                <a:off x="1552" y="3094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69" name="Rectangle 82"/>
              <p:cNvSpPr>
                <a:spLocks noChangeArrowheads="1"/>
              </p:cNvSpPr>
              <p:nvPr/>
            </p:nvSpPr>
            <p:spPr bwMode="auto">
              <a:xfrm>
                <a:off x="1596" y="3094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0" name="Rectangle 83"/>
              <p:cNvSpPr>
                <a:spLocks noChangeArrowheads="1"/>
              </p:cNvSpPr>
              <p:nvPr/>
            </p:nvSpPr>
            <p:spPr bwMode="auto">
              <a:xfrm>
                <a:off x="1673" y="3094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g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1" name="Rectangle 84"/>
              <p:cNvSpPr>
                <a:spLocks noChangeArrowheads="1"/>
              </p:cNvSpPr>
              <p:nvPr/>
            </p:nvSpPr>
            <p:spPr bwMode="auto">
              <a:xfrm>
                <a:off x="1746" y="3094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2" name="Rectangle 85"/>
              <p:cNvSpPr>
                <a:spLocks noChangeArrowheads="1"/>
              </p:cNvSpPr>
              <p:nvPr/>
            </p:nvSpPr>
            <p:spPr bwMode="auto">
              <a:xfrm>
                <a:off x="1779" y="3094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3" name="Rectangle 86"/>
              <p:cNvSpPr>
                <a:spLocks noChangeArrowheads="1"/>
              </p:cNvSpPr>
              <p:nvPr/>
            </p:nvSpPr>
            <p:spPr bwMode="auto">
              <a:xfrm>
                <a:off x="1848" y="3094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4" name="Rectangle 87"/>
              <p:cNvSpPr>
                <a:spLocks noChangeArrowheads="1"/>
              </p:cNvSpPr>
              <p:nvPr/>
            </p:nvSpPr>
            <p:spPr bwMode="auto">
              <a:xfrm>
                <a:off x="1884" y="3094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5" name="Rectangle 88"/>
              <p:cNvSpPr>
                <a:spLocks noChangeArrowheads="1"/>
              </p:cNvSpPr>
              <p:nvPr/>
            </p:nvSpPr>
            <p:spPr bwMode="auto">
              <a:xfrm>
                <a:off x="1957" y="3094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6" name="Rectangle 89"/>
              <p:cNvSpPr>
                <a:spLocks noChangeArrowheads="1"/>
              </p:cNvSpPr>
              <p:nvPr/>
            </p:nvSpPr>
            <p:spPr bwMode="auto">
              <a:xfrm>
                <a:off x="2651" y="2403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7" name="Rectangle 90"/>
              <p:cNvSpPr>
                <a:spLocks noChangeArrowheads="1"/>
              </p:cNvSpPr>
              <p:nvPr/>
            </p:nvSpPr>
            <p:spPr bwMode="auto">
              <a:xfrm>
                <a:off x="2752" y="2403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8" name="Rectangle 91"/>
              <p:cNvSpPr>
                <a:spLocks noChangeArrowheads="1"/>
              </p:cNvSpPr>
              <p:nvPr/>
            </p:nvSpPr>
            <p:spPr bwMode="auto">
              <a:xfrm>
                <a:off x="2825" y="2403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79" name="Rectangle 92"/>
              <p:cNvSpPr>
                <a:spLocks noChangeArrowheads="1"/>
              </p:cNvSpPr>
              <p:nvPr/>
            </p:nvSpPr>
            <p:spPr bwMode="auto">
              <a:xfrm>
                <a:off x="2902" y="2403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0" name="Rectangle 93"/>
              <p:cNvSpPr>
                <a:spLocks noChangeArrowheads="1"/>
              </p:cNvSpPr>
              <p:nvPr/>
            </p:nvSpPr>
            <p:spPr bwMode="auto">
              <a:xfrm>
                <a:off x="2975" y="2403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1" name="Rectangle 94"/>
              <p:cNvSpPr>
                <a:spLocks noChangeArrowheads="1"/>
              </p:cNvSpPr>
              <p:nvPr/>
            </p:nvSpPr>
            <p:spPr bwMode="auto">
              <a:xfrm>
                <a:off x="2574" y="253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2" name="Rectangle 95"/>
              <p:cNvSpPr>
                <a:spLocks noChangeArrowheads="1"/>
              </p:cNvSpPr>
              <p:nvPr/>
            </p:nvSpPr>
            <p:spPr bwMode="auto">
              <a:xfrm>
                <a:off x="2647" y="253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3" name="Rectangle 96"/>
              <p:cNvSpPr>
                <a:spLocks noChangeArrowheads="1"/>
              </p:cNvSpPr>
              <p:nvPr/>
            </p:nvSpPr>
            <p:spPr bwMode="auto">
              <a:xfrm>
                <a:off x="2724" y="2530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4" name="Rectangle 97"/>
              <p:cNvSpPr>
                <a:spLocks noChangeArrowheads="1"/>
              </p:cNvSpPr>
              <p:nvPr/>
            </p:nvSpPr>
            <p:spPr bwMode="auto">
              <a:xfrm>
                <a:off x="2760" y="253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5" name="Rectangle 98"/>
              <p:cNvSpPr>
                <a:spLocks noChangeArrowheads="1"/>
              </p:cNvSpPr>
              <p:nvPr/>
            </p:nvSpPr>
            <p:spPr bwMode="auto">
              <a:xfrm>
                <a:off x="2833" y="2530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zh-TW" altLang="en-US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 </a:t>
                </a: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6" name="Rectangle 99"/>
              <p:cNvSpPr>
                <a:spLocks noChangeArrowheads="1"/>
              </p:cNvSpPr>
              <p:nvPr/>
            </p:nvSpPr>
            <p:spPr bwMode="auto">
              <a:xfrm>
                <a:off x="2874" y="253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1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7" name="Rectangle 100"/>
              <p:cNvSpPr>
                <a:spLocks noChangeArrowheads="1"/>
              </p:cNvSpPr>
              <p:nvPr/>
            </p:nvSpPr>
            <p:spPr bwMode="auto">
              <a:xfrm>
                <a:off x="2651" y="3158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8" name="Rectangle 101"/>
              <p:cNvSpPr>
                <a:spLocks noChangeArrowheads="1"/>
              </p:cNvSpPr>
              <p:nvPr/>
            </p:nvSpPr>
            <p:spPr bwMode="auto">
              <a:xfrm>
                <a:off x="2752" y="315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89" name="Rectangle 102"/>
              <p:cNvSpPr>
                <a:spLocks noChangeArrowheads="1"/>
              </p:cNvSpPr>
              <p:nvPr/>
            </p:nvSpPr>
            <p:spPr bwMode="auto">
              <a:xfrm>
                <a:off x="2825" y="315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0" name="Rectangle 103"/>
              <p:cNvSpPr>
                <a:spLocks noChangeArrowheads="1"/>
              </p:cNvSpPr>
              <p:nvPr/>
            </p:nvSpPr>
            <p:spPr bwMode="auto">
              <a:xfrm>
                <a:off x="2902" y="315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1" name="Rectangle 104"/>
              <p:cNvSpPr>
                <a:spLocks noChangeArrowheads="1"/>
              </p:cNvSpPr>
              <p:nvPr/>
            </p:nvSpPr>
            <p:spPr bwMode="auto">
              <a:xfrm>
                <a:off x="2975" y="3158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2" name="Rectangle 105"/>
              <p:cNvSpPr>
                <a:spLocks noChangeArrowheads="1"/>
              </p:cNvSpPr>
              <p:nvPr/>
            </p:nvSpPr>
            <p:spPr bwMode="auto">
              <a:xfrm>
                <a:off x="2574" y="328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3" name="Rectangle 106"/>
              <p:cNvSpPr>
                <a:spLocks noChangeArrowheads="1"/>
              </p:cNvSpPr>
              <p:nvPr/>
            </p:nvSpPr>
            <p:spPr bwMode="auto">
              <a:xfrm>
                <a:off x="2647" y="328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4" name="Rectangle 107"/>
              <p:cNvSpPr>
                <a:spLocks noChangeArrowheads="1"/>
              </p:cNvSpPr>
              <p:nvPr/>
            </p:nvSpPr>
            <p:spPr bwMode="auto">
              <a:xfrm>
                <a:off x="2724" y="328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5" name="Rectangle 108"/>
              <p:cNvSpPr>
                <a:spLocks noChangeArrowheads="1"/>
              </p:cNvSpPr>
              <p:nvPr/>
            </p:nvSpPr>
            <p:spPr bwMode="auto">
              <a:xfrm>
                <a:off x="2760" y="328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6" name="Rectangle 109"/>
              <p:cNvSpPr>
                <a:spLocks noChangeArrowheads="1"/>
              </p:cNvSpPr>
              <p:nvPr/>
            </p:nvSpPr>
            <p:spPr bwMode="auto">
              <a:xfrm>
                <a:off x="2833" y="328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zh-TW" altLang="en-US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 </a:t>
                </a: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7" name="Rectangle 110"/>
              <p:cNvSpPr>
                <a:spLocks noChangeArrowheads="1"/>
              </p:cNvSpPr>
              <p:nvPr/>
            </p:nvSpPr>
            <p:spPr bwMode="auto">
              <a:xfrm>
                <a:off x="2874" y="328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2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8" name="Rectangle 111"/>
              <p:cNvSpPr>
                <a:spLocks noChangeArrowheads="1"/>
              </p:cNvSpPr>
              <p:nvPr/>
            </p:nvSpPr>
            <p:spPr bwMode="auto">
              <a:xfrm>
                <a:off x="1552" y="2215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799" name="Rectangle 112"/>
              <p:cNvSpPr>
                <a:spLocks noChangeArrowheads="1"/>
              </p:cNvSpPr>
              <p:nvPr/>
            </p:nvSpPr>
            <p:spPr bwMode="auto">
              <a:xfrm>
                <a:off x="1649" y="2215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0" name="Rectangle 113"/>
              <p:cNvSpPr>
                <a:spLocks noChangeArrowheads="1"/>
              </p:cNvSpPr>
              <p:nvPr/>
            </p:nvSpPr>
            <p:spPr bwMode="auto">
              <a:xfrm>
                <a:off x="1726" y="2215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1" name="Rectangle 114"/>
              <p:cNvSpPr>
                <a:spLocks noChangeArrowheads="1"/>
              </p:cNvSpPr>
              <p:nvPr/>
            </p:nvSpPr>
            <p:spPr bwMode="auto">
              <a:xfrm>
                <a:off x="1799" y="2215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2" name="Rectangle 115"/>
              <p:cNvSpPr>
                <a:spLocks noChangeArrowheads="1"/>
              </p:cNvSpPr>
              <p:nvPr/>
            </p:nvSpPr>
            <p:spPr bwMode="auto">
              <a:xfrm>
                <a:off x="1876" y="2215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3" name="Rectangle 116"/>
              <p:cNvSpPr>
                <a:spLocks noChangeArrowheads="1"/>
              </p:cNvSpPr>
              <p:nvPr/>
            </p:nvSpPr>
            <p:spPr bwMode="auto">
              <a:xfrm>
                <a:off x="1552" y="234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4" name="Rectangle 117"/>
              <p:cNvSpPr>
                <a:spLocks noChangeArrowheads="1"/>
              </p:cNvSpPr>
              <p:nvPr/>
            </p:nvSpPr>
            <p:spPr bwMode="auto">
              <a:xfrm>
                <a:off x="1596" y="23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5" name="Rectangle 118"/>
              <p:cNvSpPr>
                <a:spLocks noChangeArrowheads="1"/>
              </p:cNvSpPr>
              <p:nvPr/>
            </p:nvSpPr>
            <p:spPr bwMode="auto">
              <a:xfrm>
                <a:off x="1673" y="23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g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6" name="Rectangle 119"/>
              <p:cNvSpPr>
                <a:spLocks noChangeArrowheads="1"/>
              </p:cNvSpPr>
              <p:nvPr/>
            </p:nvSpPr>
            <p:spPr bwMode="auto">
              <a:xfrm>
                <a:off x="1746" y="2342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7" name="Rectangle 120"/>
              <p:cNvSpPr>
                <a:spLocks noChangeArrowheads="1"/>
              </p:cNvSpPr>
              <p:nvPr/>
            </p:nvSpPr>
            <p:spPr bwMode="auto">
              <a:xfrm>
                <a:off x="1779" y="2342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8" name="Rectangle 121"/>
              <p:cNvSpPr>
                <a:spLocks noChangeArrowheads="1"/>
              </p:cNvSpPr>
              <p:nvPr/>
            </p:nvSpPr>
            <p:spPr bwMode="auto">
              <a:xfrm>
                <a:off x="1848" y="234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09" name="Rectangle 122"/>
              <p:cNvSpPr>
                <a:spLocks noChangeArrowheads="1"/>
              </p:cNvSpPr>
              <p:nvPr/>
            </p:nvSpPr>
            <p:spPr bwMode="auto">
              <a:xfrm>
                <a:off x="1884" y="23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0" name="Rectangle 123"/>
              <p:cNvSpPr>
                <a:spLocks noChangeArrowheads="1"/>
              </p:cNvSpPr>
              <p:nvPr/>
            </p:nvSpPr>
            <p:spPr bwMode="auto">
              <a:xfrm>
                <a:off x="1957" y="234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1" name="Rectangle 124"/>
              <p:cNvSpPr>
                <a:spLocks noChangeArrowheads="1"/>
              </p:cNvSpPr>
              <p:nvPr/>
            </p:nvSpPr>
            <p:spPr bwMode="auto">
              <a:xfrm>
                <a:off x="2002" y="234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zh-TW" altLang="en-US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 </a:t>
                </a: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2" name="Rectangle 125"/>
              <p:cNvSpPr>
                <a:spLocks noChangeArrowheads="1"/>
              </p:cNvSpPr>
              <p:nvPr/>
            </p:nvSpPr>
            <p:spPr bwMode="auto">
              <a:xfrm>
                <a:off x="2042" y="23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1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3" name="Rectangle 126"/>
              <p:cNvSpPr>
                <a:spLocks noChangeArrowheads="1"/>
              </p:cNvSpPr>
              <p:nvPr/>
            </p:nvSpPr>
            <p:spPr bwMode="auto">
              <a:xfrm>
                <a:off x="1552" y="2591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4" name="Rectangle 127"/>
              <p:cNvSpPr>
                <a:spLocks noChangeArrowheads="1"/>
              </p:cNvSpPr>
              <p:nvPr/>
            </p:nvSpPr>
            <p:spPr bwMode="auto">
              <a:xfrm>
                <a:off x="1649" y="2591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5" name="Rectangle 128"/>
              <p:cNvSpPr>
                <a:spLocks noChangeArrowheads="1"/>
              </p:cNvSpPr>
              <p:nvPr/>
            </p:nvSpPr>
            <p:spPr bwMode="auto">
              <a:xfrm>
                <a:off x="1726" y="2591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6" name="Rectangle 129"/>
              <p:cNvSpPr>
                <a:spLocks noChangeArrowheads="1"/>
              </p:cNvSpPr>
              <p:nvPr/>
            </p:nvSpPr>
            <p:spPr bwMode="auto">
              <a:xfrm>
                <a:off x="1799" y="2591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7" name="Rectangle 130"/>
              <p:cNvSpPr>
                <a:spLocks noChangeArrowheads="1"/>
              </p:cNvSpPr>
              <p:nvPr/>
            </p:nvSpPr>
            <p:spPr bwMode="auto">
              <a:xfrm>
                <a:off x="1876" y="2591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8" name="Rectangle 131"/>
              <p:cNvSpPr>
                <a:spLocks noChangeArrowheads="1"/>
              </p:cNvSpPr>
              <p:nvPr/>
            </p:nvSpPr>
            <p:spPr bwMode="auto">
              <a:xfrm>
                <a:off x="1552" y="2718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19" name="Rectangle 132"/>
              <p:cNvSpPr>
                <a:spLocks noChangeArrowheads="1"/>
              </p:cNvSpPr>
              <p:nvPr/>
            </p:nvSpPr>
            <p:spPr bwMode="auto">
              <a:xfrm>
                <a:off x="1596" y="271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0" name="Rectangle 133"/>
              <p:cNvSpPr>
                <a:spLocks noChangeArrowheads="1"/>
              </p:cNvSpPr>
              <p:nvPr/>
            </p:nvSpPr>
            <p:spPr bwMode="auto">
              <a:xfrm>
                <a:off x="1673" y="271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g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1" name="Rectangle 134"/>
              <p:cNvSpPr>
                <a:spLocks noChangeArrowheads="1"/>
              </p:cNvSpPr>
              <p:nvPr/>
            </p:nvSpPr>
            <p:spPr bwMode="auto">
              <a:xfrm>
                <a:off x="1746" y="2718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2" name="Rectangle 135"/>
              <p:cNvSpPr>
                <a:spLocks noChangeArrowheads="1"/>
              </p:cNvSpPr>
              <p:nvPr/>
            </p:nvSpPr>
            <p:spPr bwMode="auto">
              <a:xfrm>
                <a:off x="1779" y="2718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3" name="Rectangle 136"/>
              <p:cNvSpPr>
                <a:spLocks noChangeArrowheads="1"/>
              </p:cNvSpPr>
              <p:nvPr/>
            </p:nvSpPr>
            <p:spPr bwMode="auto">
              <a:xfrm>
                <a:off x="1848" y="2718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4" name="Rectangle 137"/>
              <p:cNvSpPr>
                <a:spLocks noChangeArrowheads="1"/>
              </p:cNvSpPr>
              <p:nvPr/>
            </p:nvSpPr>
            <p:spPr bwMode="auto">
              <a:xfrm>
                <a:off x="1884" y="271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5" name="Rectangle 138"/>
              <p:cNvSpPr>
                <a:spLocks noChangeArrowheads="1"/>
              </p:cNvSpPr>
              <p:nvPr/>
            </p:nvSpPr>
            <p:spPr bwMode="auto">
              <a:xfrm>
                <a:off x="1957" y="2718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6" name="Rectangle 139"/>
              <p:cNvSpPr>
                <a:spLocks noChangeArrowheads="1"/>
              </p:cNvSpPr>
              <p:nvPr/>
            </p:nvSpPr>
            <p:spPr bwMode="auto">
              <a:xfrm>
                <a:off x="2002" y="2718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zh-TW" altLang="en-US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 </a:t>
                </a: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7" name="Rectangle 140"/>
              <p:cNvSpPr>
                <a:spLocks noChangeArrowheads="1"/>
              </p:cNvSpPr>
              <p:nvPr/>
            </p:nvSpPr>
            <p:spPr bwMode="auto">
              <a:xfrm>
                <a:off x="2042" y="2718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2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28" name="Freeform 141"/>
              <p:cNvSpPr/>
              <p:nvPr/>
            </p:nvSpPr>
            <p:spPr bwMode="auto">
              <a:xfrm>
                <a:off x="1191" y="2354"/>
                <a:ext cx="251" cy="752"/>
              </a:xfrm>
              <a:custGeom>
                <a:avLst/>
                <a:gdLst>
                  <a:gd name="T0" fmla="*/ 251 w 251"/>
                  <a:gd name="T1" fmla="*/ 752 h 752"/>
                  <a:gd name="T2" fmla="*/ 0 w 251"/>
                  <a:gd name="T3" fmla="*/ 752 h 752"/>
                  <a:gd name="T4" fmla="*/ 0 w 251"/>
                  <a:gd name="T5" fmla="*/ 0 h 752"/>
                  <a:gd name="T6" fmla="*/ 243 w 251"/>
                  <a:gd name="T7" fmla="*/ 0 h 752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51"/>
                  <a:gd name="T13" fmla="*/ 0 h 752"/>
                  <a:gd name="T14" fmla="*/ 251 w 251"/>
                  <a:gd name="T15" fmla="*/ 752 h 752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51" h="752">
                    <a:moveTo>
                      <a:pt x="251" y="752"/>
                    </a:moveTo>
                    <a:lnTo>
                      <a:pt x="0" y="752"/>
                    </a:lnTo>
                    <a:lnTo>
                      <a:pt x="0" y="0"/>
                    </a:lnTo>
                    <a:lnTo>
                      <a:pt x="243" y="0"/>
                    </a:lnTo>
                  </a:path>
                </a:pathLst>
              </a:cu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29" name="Line 142"/>
              <p:cNvSpPr>
                <a:spLocks noChangeShapeType="1"/>
              </p:cNvSpPr>
              <p:nvPr/>
            </p:nvSpPr>
            <p:spPr bwMode="auto">
              <a:xfrm>
                <a:off x="1191" y="2730"/>
                <a:ext cx="251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30" name="Line 143"/>
              <p:cNvSpPr>
                <a:spLocks noChangeShapeType="1"/>
              </p:cNvSpPr>
              <p:nvPr/>
            </p:nvSpPr>
            <p:spPr bwMode="auto">
              <a:xfrm>
                <a:off x="396" y="2918"/>
                <a:ext cx="795" cy="1"/>
              </a:xfrm>
              <a:prstGeom prst="line">
                <a:avLst/>
              </a:pr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31" name="Freeform 144"/>
              <p:cNvSpPr/>
              <p:nvPr/>
            </p:nvSpPr>
            <p:spPr bwMode="auto">
              <a:xfrm>
                <a:off x="1191" y="3080"/>
                <a:ext cx="3580" cy="883"/>
              </a:xfrm>
              <a:custGeom>
                <a:avLst/>
                <a:gdLst>
                  <a:gd name="T0" fmla="*/ 3276 w 3580"/>
                  <a:gd name="T1" fmla="*/ 0 h 883"/>
                  <a:gd name="T2" fmla="*/ 3580 w 3580"/>
                  <a:gd name="T3" fmla="*/ 4 h 883"/>
                  <a:gd name="T4" fmla="*/ 3580 w 3580"/>
                  <a:gd name="T5" fmla="*/ 883 h 883"/>
                  <a:gd name="T6" fmla="*/ 0 w 3580"/>
                  <a:gd name="T7" fmla="*/ 883 h 883"/>
                  <a:gd name="T8" fmla="*/ 0 w 3580"/>
                  <a:gd name="T9" fmla="*/ 402 h 883"/>
                  <a:gd name="T10" fmla="*/ 251 w 3580"/>
                  <a:gd name="T11" fmla="*/ 402 h 883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3580"/>
                  <a:gd name="T19" fmla="*/ 0 h 883"/>
                  <a:gd name="T20" fmla="*/ 3580 w 3580"/>
                  <a:gd name="T21" fmla="*/ 883 h 883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3580" h="883">
                    <a:moveTo>
                      <a:pt x="3276" y="0"/>
                    </a:moveTo>
                    <a:lnTo>
                      <a:pt x="3580" y="4"/>
                    </a:lnTo>
                    <a:lnTo>
                      <a:pt x="3580" y="883"/>
                    </a:lnTo>
                    <a:lnTo>
                      <a:pt x="0" y="883"/>
                    </a:lnTo>
                    <a:lnTo>
                      <a:pt x="0" y="402"/>
                    </a:lnTo>
                    <a:lnTo>
                      <a:pt x="251" y="402"/>
                    </a:lnTo>
                  </a:path>
                </a:pathLst>
              </a:cu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32" name="Rectangle 145"/>
              <p:cNvSpPr>
                <a:spLocks noChangeArrowheads="1"/>
              </p:cNvSpPr>
              <p:nvPr/>
            </p:nvSpPr>
            <p:spPr bwMode="auto">
              <a:xfrm>
                <a:off x="1552" y="3343"/>
                <a:ext cx="13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W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3" name="Rectangle 146"/>
              <p:cNvSpPr>
                <a:spLocks noChangeArrowheads="1"/>
              </p:cNvSpPr>
              <p:nvPr/>
            </p:nvSpPr>
            <p:spPr bwMode="auto">
              <a:xfrm>
                <a:off x="1681" y="3343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4" name="Rectangle 147"/>
              <p:cNvSpPr>
                <a:spLocks noChangeArrowheads="1"/>
              </p:cNvSpPr>
              <p:nvPr/>
            </p:nvSpPr>
            <p:spPr bwMode="auto">
              <a:xfrm>
                <a:off x="1726" y="3343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5" name="Rectangle 148"/>
              <p:cNvSpPr>
                <a:spLocks noChangeArrowheads="1"/>
              </p:cNvSpPr>
              <p:nvPr/>
            </p:nvSpPr>
            <p:spPr bwMode="auto">
              <a:xfrm>
                <a:off x="1754" y="3343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6" name="Rectangle 149"/>
              <p:cNvSpPr>
                <a:spLocks noChangeArrowheads="1"/>
              </p:cNvSpPr>
              <p:nvPr/>
            </p:nvSpPr>
            <p:spPr bwMode="auto">
              <a:xfrm>
                <a:off x="1791" y="3343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7" name="Rectangle 150"/>
              <p:cNvSpPr>
                <a:spLocks noChangeArrowheads="1"/>
              </p:cNvSpPr>
              <p:nvPr/>
            </p:nvSpPr>
            <p:spPr bwMode="auto">
              <a:xfrm>
                <a:off x="1868" y="3343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8" name="Rectangle 151"/>
              <p:cNvSpPr>
                <a:spLocks noChangeArrowheads="1"/>
              </p:cNvSpPr>
              <p:nvPr/>
            </p:nvSpPr>
            <p:spPr bwMode="auto">
              <a:xfrm>
                <a:off x="1552" y="347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d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39" name="Rectangle 152"/>
              <p:cNvSpPr>
                <a:spLocks noChangeArrowheads="1"/>
              </p:cNvSpPr>
              <p:nvPr/>
            </p:nvSpPr>
            <p:spPr bwMode="auto">
              <a:xfrm>
                <a:off x="1629" y="347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0" name="Rectangle 153"/>
              <p:cNvSpPr>
                <a:spLocks noChangeArrowheads="1"/>
              </p:cNvSpPr>
              <p:nvPr/>
            </p:nvSpPr>
            <p:spPr bwMode="auto">
              <a:xfrm>
                <a:off x="1702" y="3470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1" name="Rectangle 154"/>
              <p:cNvSpPr>
                <a:spLocks noChangeArrowheads="1"/>
              </p:cNvSpPr>
              <p:nvPr/>
            </p:nvSpPr>
            <p:spPr bwMode="auto">
              <a:xfrm>
                <a:off x="1742" y="347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2" name="Freeform 155"/>
              <p:cNvSpPr/>
              <p:nvPr/>
            </p:nvSpPr>
            <p:spPr bwMode="auto">
              <a:xfrm>
                <a:off x="3016" y="3294"/>
                <a:ext cx="547" cy="1"/>
              </a:xfrm>
              <a:custGeom>
                <a:avLst/>
                <a:gdLst>
                  <a:gd name="T0" fmla="*/ 0 w 547"/>
                  <a:gd name="T1" fmla="*/ 0 h 1"/>
                  <a:gd name="T2" fmla="*/ 16 w 547"/>
                  <a:gd name="T3" fmla="*/ 0 h 1"/>
                  <a:gd name="T4" fmla="*/ 56 w 547"/>
                  <a:gd name="T5" fmla="*/ 0 h 1"/>
                  <a:gd name="T6" fmla="*/ 117 w 547"/>
                  <a:gd name="T7" fmla="*/ 0 h 1"/>
                  <a:gd name="T8" fmla="*/ 194 w 547"/>
                  <a:gd name="T9" fmla="*/ 0 h 1"/>
                  <a:gd name="T10" fmla="*/ 275 w 547"/>
                  <a:gd name="T11" fmla="*/ 0 h 1"/>
                  <a:gd name="T12" fmla="*/ 356 w 547"/>
                  <a:gd name="T13" fmla="*/ 0 h 1"/>
                  <a:gd name="T14" fmla="*/ 429 w 547"/>
                  <a:gd name="T15" fmla="*/ 0 h 1"/>
                  <a:gd name="T16" fmla="*/ 490 w 547"/>
                  <a:gd name="T17" fmla="*/ 0 h 1"/>
                  <a:gd name="T18" fmla="*/ 531 w 547"/>
                  <a:gd name="T19" fmla="*/ 0 h 1"/>
                  <a:gd name="T20" fmla="*/ 547 w 547"/>
                  <a:gd name="T21" fmla="*/ 0 h 1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547"/>
                  <a:gd name="T34" fmla="*/ 0 h 1"/>
                  <a:gd name="T35" fmla="*/ 547 w 547"/>
                  <a:gd name="T36" fmla="*/ 1 h 1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547" h="1">
                    <a:moveTo>
                      <a:pt x="0" y="0"/>
                    </a:moveTo>
                    <a:lnTo>
                      <a:pt x="16" y="0"/>
                    </a:lnTo>
                    <a:lnTo>
                      <a:pt x="56" y="0"/>
                    </a:lnTo>
                    <a:lnTo>
                      <a:pt x="117" y="0"/>
                    </a:lnTo>
                    <a:lnTo>
                      <a:pt x="194" y="0"/>
                    </a:lnTo>
                    <a:lnTo>
                      <a:pt x="275" y="0"/>
                    </a:lnTo>
                    <a:lnTo>
                      <a:pt x="356" y="0"/>
                    </a:lnTo>
                    <a:lnTo>
                      <a:pt x="429" y="0"/>
                    </a:lnTo>
                    <a:lnTo>
                      <a:pt x="490" y="0"/>
                    </a:lnTo>
                    <a:lnTo>
                      <a:pt x="531" y="0"/>
                    </a:lnTo>
                    <a:lnTo>
                      <a:pt x="547" y="0"/>
                    </a:lnTo>
                  </a:path>
                </a:pathLst>
              </a:custGeom>
              <a:noFill/>
              <a:ln w="4445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43" name="Freeform 156"/>
              <p:cNvSpPr/>
              <p:nvPr/>
            </p:nvSpPr>
            <p:spPr bwMode="auto">
              <a:xfrm>
                <a:off x="3624" y="2286"/>
                <a:ext cx="843" cy="1264"/>
              </a:xfrm>
              <a:custGeom>
                <a:avLst/>
                <a:gdLst>
                  <a:gd name="T0" fmla="*/ 0 w 843"/>
                  <a:gd name="T1" fmla="*/ 0 h 1264"/>
                  <a:gd name="T2" fmla="*/ 0 w 843"/>
                  <a:gd name="T3" fmla="*/ 512 h 1264"/>
                  <a:gd name="T4" fmla="*/ 142 w 843"/>
                  <a:gd name="T5" fmla="*/ 632 h 1264"/>
                  <a:gd name="T6" fmla="*/ 0 w 843"/>
                  <a:gd name="T7" fmla="*/ 756 h 1264"/>
                  <a:gd name="T8" fmla="*/ 0 w 843"/>
                  <a:gd name="T9" fmla="*/ 1264 h 1264"/>
                  <a:gd name="T10" fmla="*/ 843 w 843"/>
                  <a:gd name="T11" fmla="*/ 877 h 1264"/>
                  <a:gd name="T12" fmla="*/ 843 w 843"/>
                  <a:gd name="T13" fmla="*/ 388 h 1264"/>
                  <a:gd name="T14" fmla="*/ 0 w 843"/>
                  <a:gd name="T15" fmla="*/ 4 h 1264"/>
                  <a:gd name="T16" fmla="*/ 0 w 843"/>
                  <a:gd name="T17" fmla="*/ 4 h 1264"/>
                  <a:gd name="T18" fmla="*/ 0 w 843"/>
                  <a:gd name="T19" fmla="*/ 0 h 1264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843"/>
                  <a:gd name="T31" fmla="*/ 0 h 1264"/>
                  <a:gd name="T32" fmla="*/ 843 w 843"/>
                  <a:gd name="T33" fmla="*/ 1264 h 1264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843" h="1264">
                    <a:moveTo>
                      <a:pt x="0" y="0"/>
                    </a:moveTo>
                    <a:lnTo>
                      <a:pt x="0" y="512"/>
                    </a:lnTo>
                    <a:lnTo>
                      <a:pt x="142" y="632"/>
                    </a:lnTo>
                    <a:lnTo>
                      <a:pt x="0" y="756"/>
                    </a:lnTo>
                    <a:lnTo>
                      <a:pt x="0" y="1264"/>
                    </a:lnTo>
                    <a:lnTo>
                      <a:pt x="843" y="877"/>
                    </a:lnTo>
                    <a:lnTo>
                      <a:pt x="843" y="388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44" name="Freeform 157"/>
              <p:cNvSpPr/>
              <p:nvPr/>
            </p:nvSpPr>
            <p:spPr bwMode="auto">
              <a:xfrm>
                <a:off x="3624" y="2286"/>
                <a:ext cx="843" cy="1264"/>
              </a:xfrm>
              <a:custGeom>
                <a:avLst/>
                <a:gdLst>
                  <a:gd name="T0" fmla="*/ 0 w 843"/>
                  <a:gd name="T1" fmla="*/ 0 h 1264"/>
                  <a:gd name="T2" fmla="*/ 0 w 843"/>
                  <a:gd name="T3" fmla="*/ 512 h 1264"/>
                  <a:gd name="T4" fmla="*/ 142 w 843"/>
                  <a:gd name="T5" fmla="*/ 632 h 1264"/>
                  <a:gd name="T6" fmla="*/ 0 w 843"/>
                  <a:gd name="T7" fmla="*/ 756 h 1264"/>
                  <a:gd name="T8" fmla="*/ 0 w 843"/>
                  <a:gd name="T9" fmla="*/ 1264 h 1264"/>
                  <a:gd name="T10" fmla="*/ 843 w 843"/>
                  <a:gd name="T11" fmla="*/ 877 h 1264"/>
                  <a:gd name="T12" fmla="*/ 843 w 843"/>
                  <a:gd name="T13" fmla="*/ 388 h 1264"/>
                  <a:gd name="T14" fmla="*/ 0 w 843"/>
                  <a:gd name="T15" fmla="*/ 4 h 1264"/>
                  <a:gd name="T16" fmla="*/ 0 w 843"/>
                  <a:gd name="T17" fmla="*/ 4 h 1264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843"/>
                  <a:gd name="T28" fmla="*/ 0 h 1264"/>
                  <a:gd name="T29" fmla="*/ 843 w 843"/>
                  <a:gd name="T30" fmla="*/ 1264 h 1264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843" h="1264">
                    <a:moveTo>
                      <a:pt x="0" y="0"/>
                    </a:moveTo>
                    <a:lnTo>
                      <a:pt x="0" y="512"/>
                    </a:lnTo>
                    <a:lnTo>
                      <a:pt x="142" y="632"/>
                    </a:lnTo>
                    <a:lnTo>
                      <a:pt x="0" y="756"/>
                    </a:lnTo>
                    <a:lnTo>
                      <a:pt x="0" y="1264"/>
                    </a:lnTo>
                    <a:lnTo>
                      <a:pt x="843" y="877"/>
                    </a:lnTo>
                    <a:lnTo>
                      <a:pt x="843" y="388"/>
                    </a:lnTo>
                    <a:lnTo>
                      <a:pt x="0" y="4"/>
                    </a:lnTo>
                  </a:path>
                </a:pathLst>
              </a:custGeom>
              <a:noFill/>
              <a:ln w="25400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45" name="Rectangle 158"/>
              <p:cNvSpPr>
                <a:spLocks noChangeArrowheads="1"/>
              </p:cNvSpPr>
              <p:nvPr/>
            </p:nvSpPr>
            <p:spPr bwMode="auto">
              <a:xfrm>
                <a:off x="4188" y="2880"/>
                <a:ext cx="9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6" name="Rectangle 159"/>
              <p:cNvSpPr>
                <a:spLocks noChangeArrowheads="1"/>
              </p:cNvSpPr>
              <p:nvPr/>
            </p:nvSpPr>
            <p:spPr bwMode="auto">
              <a:xfrm>
                <a:off x="4277" y="2880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L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7" name="Rectangle 160"/>
              <p:cNvSpPr>
                <a:spLocks noChangeArrowheads="1"/>
              </p:cNvSpPr>
              <p:nvPr/>
            </p:nvSpPr>
            <p:spPr bwMode="auto">
              <a:xfrm>
                <a:off x="4354" y="2880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U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8" name="Rectangle 161"/>
              <p:cNvSpPr>
                <a:spLocks noChangeArrowheads="1"/>
              </p:cNvSpPr>
              <p:nvPr/>
            </p:nvSpPr>
            <p:spPr bwMode="auto">
              <a:xfrm>
                <a:off x="4451" y="2880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49" name="Rectangle 162"/>
              <p:cNvSpPr>
                <a:spLocks noChangeArrowheads="1"/>
              </p:cNvSpPr>
              <p:nvPr/>
            </p:nvSpPr>
            <p:spPr bwMode="auto">
              <a:xfrm>
                <a:off x="4082" y="3004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0" name="Rectangle 163"/>
              <p:cNvSpPr>
                <a:spLocks noChangeArrowheads="1"/>
              </p:cNvSpPr>
              <p:nvPr/>
            </p:nvSpPr>
            <p:spPr bwMode="auto">
              <a:xfrm>
                <a:off x="4127" y="3004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1" name="Rectangle 164"/>
              <p:cNvSpPr>
                <a:spLocks noChangeArrowheads="1"/>
              </p:cNvSpPr>
              <p:nvPr/>
            </p:nvSpPr>
            <p:spPr bwMode="auto">
              <a:xfrm>
                <a:off x="4200" y="3004"/>
                <a:ext cx="74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s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2" name="Rectangle 165"/>
              <p:cNvSpPr>
                <a:spLocks noChangeArrowheads="1"/>
              </p:cNvSpPr>
              <p:nvPr/>
            </p:nvSpPr>
            <p:spPr bwMode="auto">
              <a:xfrm>
                <a:off x="4269" y="3004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u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3" name="Rectangle 166"/>
              <p:cNvSpPr>
                <a:spLocks noChangeArrowheads="1"/>
              </p:cNvSpPr>
              <p:nvPr/>
            </p:nvSpPr>
            <p:spPr bwMode="auto">
              <a:xfrm>
                <a:off x="4346" y="3004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l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4" name="Rectangle 167"/>
              <p:cNvSpPr>
                <a:spLocks noChangeArrowheads="1"/>
              </p:cNvSpPr>
              <p:nvPr/>
            </p:nvSpPr>
            <p:spPr bwMode="auto">
              <a:xfrm>
                <a:off x="4374" y="3004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5" name="Rectangle 168"/>
              <p:cNvSpPr>
                <a:spLocks noChangeArrowheads="1"/>
              </p:cNvSpPr>
              <p:nvPr/>
            </p:nvSpPr>
            <p:spPr bwMode="auto">
              <a:xfrm>
                <a:off x="3798" y="2842"/>
                <a:ext cx="9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6" name="Rectangle 169"/>
              <p:cNvSpPr>
                <a:spLocks noChangeArrowheads="1"/>
              </p:cNvSpPr>
              <p:nvPr/>
            </p:nvSpPr>
            <p:spPr bwMode="auto">
              <a:xfrm>
                <a:off x="3887" y="284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L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7" name="Rectangle 170"/>
              <p:cNvSpPr>
                <a:spLocks noChangeArrowheads="1"/>
              </p:cNvSpPr>
              <p:nvPr/>
            </p:nvSpPr>
            <p:spPr bwMode="auto">
              <a:xfrm>
                <a:off x="3964" y="2842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00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U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58" name="Freeform 171"/>
              <p:cNvSpPr/>
              <p:nvPr/>
            </p:nvSpPr>
            <p:spPr bwMode="auto">
              <a:xfrm>
                <a:off x="1158" y="2700"/>
                <a:ext cx="69" cy="60"/>
              </a:xfrm>
              <a:custGeom>
                <a:avLst/>
                <a:gdLst>
                  <a:gd name="T0" fmla="*/ 33 w 69"/>
                  <a:gd name="T1" fmla="*/ 60 h 60"/>
                  <a:gd name="T2" fmla="*/ 41 w 69"/>
                  <a:gd name="T3" fmla="*/ 60 h 60"/>
                  <a:gd name="T4" fmla="*/ 45 w 69"/>
                  <a:gd name="T5" fmla="*/ 60 h 60"/>
                  <a:gd name="T6" fmla="*/ 49 w 69"/>
                  <a:gd name="T7" fmla="*/ 60 h 60"/>
                  <a:gd name="T8" fmla="*/ 53 w 69"/>
                  <a:gd name="T9" fmla="*/ 56 h 60"/>
                  <a:gd name="T10" fmla="*/ 57 w 69"/>
                  <a:gd name="T11" fmla="*/ 53 h 60"/>
                  <a:gd name="T12" fmla="*/ 61 w 69"/>
                  <a:gd name="T13" fmla="*/ 49 h 60"/>
                  <a:gd name="T14" fmla="*/ 65 w 69"/>
                  <a:gd name="T15" fmla="*/ 45 h 60"/>
                  <a:gd name="T16" fmla="*/ 65 w 69"/>
                  <a:gd name="T17" fmla="*/ 41 h 60"/>
                  <a:gd name="T18" fmla="*/ 69 w 69"/>
                  <a:gd name="T19" fmla="*/ 34 h 60"/>
                  <a:gd name="T20" fmla="*/ 69 w 69"/>
                  <a:gd name="T21" fmla="*/ 30 h 60"/>
                  <a:gd name="T22" fmla="*/ 69 w 69"/>
                  <a:gd name="T23" fmla="*/ 26 h 60"/>
                  <a:gd name="T24" fmla="*/ 65 w 69"/>
                  <a:gd name="T25" fmla="*/ 19 h 60"/>
                  <a:gd name="T26" fmla="*/ 65 w 69"/>
                  <a:gd name="T27" fmla="*/ 15 h 60"/>
                  <a:gd name="T28" fmla="*/ 61 w 69"/>
                  <a:gd name="T29" fmla="*/ 11 h 60"/>
                  <a:gd name="T30" fmla="*/ 57 w 69"/>
                  <a:gd name="T31" fmla="*/ 8 h 60"/>
                  <a:gd name="T32" fmla="*/ 53 w 69"/>
                  <a:gd name="T33" fmla="*/ 4 h 60"/>
                  <a:gd name="T34" fmla="*/ 49 w 69"/>
                  <a:gd name="T35" fmla="*/ 4 h 60"/>
                  <a:gd name="T36" fmla="*/ 45 w 69"/>
                  <a:gd name="T37" fmla="*/ 0 h 60"/>
                  <a:gd name="T38" fmla="*/ 41 w 69"/>
                  <a:gd name="T39" fmla="*/ 0 h 60"/>
                  <a:gd name="T40" fmla="*/ 33 w 69"/>
                  <a:gd name="T41" fmla="*/ 0 h 60"/>
                  <a:gd name="T42" fmla="*/ 29 w 69"/>
                  <a:gd name="T43" fmla="*/ 0 h 60"/>
                  <a:gd name="T44" fmla="*/ 25 w 69"/>
                  <a:gd name="T45" fmla="*/ 0 h 60"/>
                  <a:gd name="T46" fmla="*/ 21 w 69"/>
                  <a:gd name="T47" fmla="*/ 4 h 60"/>
                  <a:gd name="T48" fmla="*/ 13 w 69"/>
                  <a:gd name="T49" fmla="*/ 4 h 60"/>
                  <a:gd name="T50" fmla="*/ 8 w 69"/>
                  <a:gd name="T51" fmla="*/ 8 h 60"/>
                  <a:gd name="T52" fmla="*/ 8 w 69"/>
                  <a:gd name="T53" fmla="*/ 11 h 60"/>
                  <a:gd name="T54" fmla="*/ 4 w 69"/>
                  <a:gd name="T55" fmla="*/ 15 h 60"/>
                  <a:gd name="T56" fmla="*/ 0 w 69"/>
                  <a:gd name="T57" fmla="*/ 19 h 60"/>
                  <a:gd name="T58" fmla="*/ 0 w 69"/>
                  <a:gd name="T59" fmla="*/ 26 h 60"/>
                  <a:gd name="T60" fmla="*/ 0 w 69"/>
                  <a:gd name="T61" fmla="*/ 30 h 60"/>
                  <a:gd name="T62" fmla="*/ 0 w 69"/>
                  <a:gd name="T63" fmla="*/ 34 h 60"/>
                  <a:gd name="T64" fmla="*/ 0 w 69"/>
                  <a:gd name="T65" fmla="*/ 41 h 60"/>
                  <a:gd name="T66" fmla="*/ 4 w 69"/>
                  <a:gd name="T67" fmla="*/ 45 h 60"/>
                  <a:gd name="T68" fmla="*/ 8 w 69"/>
                  <a:gd name="T69" fmla="*/ 49 h 60"/>
                  <a:gd name="T70" fmla="*/ 8 w 69"/>
                  <a:gd name="T71" fmla="*/ 53 h 60"/>
                  <a:gd name="T72" fmla="*/ 13 w 69"/>
                  <a:gd name="T73" fmla="*/ 56 h 60"/>
                  <a:gd name="T74" fmla="*/ 21 w 69"/>
                  <a:gd name="T75" fmla="*/ 60 h 60"/>
                  <a:gd name="T76" fmla="*/ 25 w 69"/>
                  <a:gd name="T77" fmla="*/ 60 h 60"/>
                  <a:gd name="T78" fmla="*/ 29 w 69"/>
                  <a:gd name="T79" fmla="*/ 60 h 60"/>
                  <a:gd name="T80" fmla="*/ 33 w 69"/>
                  <a:gd name="T81" fmla="*/ 60 h 60"/>
                  <a:gd name="T82" fmla="*/ 33 w 69"/>
                  <a:gd name="T83" fmla="*/ 60 h 60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w 69"/>
                  <a:gd name="T127" fmla="*/ 0 h 60"/>
                  <a:gd name="T128" fmla="*/ 69 w 69"/>
                  <a:gd name="T129" fmla="*/ 60 h 60"/>
                </a:gdLst>
                <a:ahLst/>
                <a:cxnLst>
                  <a:cxn ang="T84">
                    <a:pos x="T0" y="T1"/>
                  </a:cxn>
                  <a:cxn ang="T85">
                    <a:pos x="T2" y="T3"/>
                  </a:cxn>
                  <a:cxn ang="T86">
                    <a:pos x="T4" y="T5"/>
                  </a:cxn>
                  <a:cxn ang="T87">
                    <a:pos x="T6" y="T7"/>
                  </a:cxn>
                  <a:cxn ang="T88">
                    <a:pos x="T8" y="T9"/>
                  </a:cxn>
                  <a:cxn ang="T89">
                    <a:pos x="T10" y="T11"/>
                  </a:cxn>
                  <a:cxn ang="T90">
                    <a:pos x="T12" y="T13"/>
                  </a:cxn>
                  <a:cxn ang="T91">
                    <a:pos x="T14" y="T15"/>
                  </a:cxn>
                  <a:cxn ang="T92">
                    <a:pos x="T16" y="T17"/>
                  </a:cxn>
                  <a:cxn ang="T93">
                    <a:pos x="T18" y="T19"/>
                  </a:cxn>
                  <a:cxn ang="T94">
                    <a:pos x="T20" y="T21"/>
                  </a:cxn>
                  <a:cxn ang="T95">
                    <a:pos x="T22" y="T23"/>
                  </a:cxn>
                  <a:cxn ang="T96">
                    <a:pos x="T24" y="T25"/>
                  </a:cxn>
                  <a:cxn ang="T97">
                    <a:pos x="T26" y="T27"/>
                  </a:cxn>
                  <a:cxn ang="T98">
                    <a:pos x="T28" y="T29"/>
                  </a:cxn>
                  <a:cxn ang="T99">
                    <a:pos x="T30" y="T31"/>
                  </a:cxn>
                  <a:cxn ang="T100">
                    <a:pos x="T32" y="T33"/>
                  </a:cxn>
                  <a:cxn ang="T101">
                    <a:pos x="T34" y="T35"/>
                  </a:cxn>
                  <a:cxn ang="T102">
                    <a:pos x="T36" y="T37"/>
                  </a:cxn>
                  <a:cxn ang="T103">
                    <a:pos x="T38" y="T39"/>
                  </a:cxn>
                  <a:cxn ang="T104">
                    <a:pos x="T40" y="T41"/>
                  </a:cxn>
                  <a:cxn ang="T105">
                    <a:pos x="T42" y="T43"/>
                  </a:cxn>
                  <a:cxn ang="T106">
                    <a:pos x="T44" y="T45"/>
                  </a:cxn>
                  <a:cxn ang="T107">
                    <a:pos x="T46" y="T47"/>
                  </a:cxn>
                  <a:cxn ang="T108">
                    <a:pos x="T48" y="T49"/>
                  </a:cxn>
                  <a:cxn ang="T109">
                    <a:pos x="T50" y="T51"/>
                  </a:cxn>
                  <a:cxn ang="T110">
                    <a:pos x="T52" y="T53"/>
                  </a:cxn>
                  <a:cxn ang="T111">
                    <a:pos x="T54" y="T55"/>
                  </a:cxn>
                  <a:cxn ang="T112">
                    <a:pos x="T56" y="T57"/>
                  </a:cxn>
                  <a:cxn ang="T113">
                    <a:pos x="T58" y="T59"/>
                  </a:cxn>
                  <a:cxn ang="T114">
                    <a:pos x="T60" y="T61"/>
                  </a:cxn>
                  <a:cxn ang="T115">
                    <a:pos x="T62" y="T63"/>
                  </a:cxn>
                  <a:cxn ang="T116">
                    <a:pos x="T64" y="T65"/>
                  </a:cxn>
                  <a:cxn ang="T117">
                    <a:pos x="T66" y="T67"/>
                  </a:cxn>
                  <a:cxn ang="T118">
                    <a:pos x="T68" y="T69"/>
                  </a:cxn>
                  <a:cxn ang="T119">
                    <a:pos x="T70" y="T71"/>
                  </a:cxn>
                  <a:cxn ang="T120">
                    <a:pos x="T72" y="T73"/>
                  </a:cxn>
                  <a:cxn ang="T121">
                    <a:pos x="T74" y="T75"/>
                  </a:cxn>
                  <a:cxn ang="T122">
                    <a:pos x="T76" y="T77"/>
                  </a:cxn>
                  <a:cxn ang="T123">
                    <a:pos x="T78" y="T79"/>
                  </a:cxn>
                  <a:cxn ang="T124">
                    <a:pos x="T80" y="T81"/>
                  </a:cxn>
                  <a:cxn ang="T125">
                    <a:pos x="T82" y="T83"/>
                  </a:cxn>
                </a:cxnLst>
                <a:rect l="T126" t="T127" r="T128" b="T129"/>
                <a:pathLst>
                  <a:path w="69" h="60">
                    <a:moveTo>
                      <a:pt x="33" y="60"/>
                    </a:moveTo>
                    <a:lnTo>
                      <a:pt x="41" y="60"/>
                    </a:lnTo>
                    <a:lnTo>
                      <a:pt x="45" y="60"/>
                    </a:lnTo>
                    <a:lnTo>
                      <a:pt x="49" y="60"/>
                    </a:lnTo>
                    <a:lnTo>
                      <a:pt x="53" y="56"/>
                    </a:lnTo>
                    <a:lnTo>
                      <a:pt x="57" y="53"/>
                    </a:lnTo>
                    <a:lnTo>
                      <a:pt x="61" y="49"/>
                    </a:lnTo>
                    <a:lnTo>
                      <a:pt x="65" y="45"/>
                    </a:lnTo>
                    <a:lnTo>
                      <a:pt x="65" y="41"/>
                    </a:lnTo>
                    <a:lnTo>
                      <a:pt x="69" y="34"/>
                    </a:lnTo>
                    <a:lnTo>
                      <a:pt x="69" y="30"/>
                    </a:lnTo>
                    <a:lnTo>
                      <a:pt x="69" y="26"/>
                    </a:lnTo>
                    <a:lnTo>
                      <a:pt x="65" y="19"/>
                    </a:lnTo>
                    <a:lnTo>
                      <a:pt x="65" y="15"/>
                    </a:lnTo>
                    <a:lnTo>
                      <a:pt x="61" y="11"/>
                    </a:lnTo>
                    <a:lnTo>
                      <a:pt x="57" y="8"/>
                    </a:lnTo>
                    <a:lnTo>
                      <a:pt x="53" y="4"/>
                    </a:lnTo>
                    <a:lnTo>
                      <a:pt x="49" y="4"/>
                    </a:lnTo>
                    <a:lnTo>
                      <a:pt x="45" y="0"/>
                    </a:lnTo>
                    <a:lnTo>
                      <a:pt x="41" y="0"/>
                    </a:lnTo>
                    <a:lnTo>
                      <a:pt x="33" y="0"/>
                    </a:lnTo>
                    <a:lnTo>
                      <a:pt x="29" y="0"/>
                    </a:lnTo>
                    <a:lnTo>
                      <a:pt x="25" y="0"/>
                    </a:lnTo>
                    <a:lnTo>
                      <a:pt x="21" y="4"/>
                    </a:lnTo>
                    <a:lnTo>
                      <a:pt x="13" y="4"/>
                    </a:lnTo>
                    <a:lnTo>
                      <a:pt x="8" y="8"/>
                    </a:lnTo>
                    <a:lnTo>
                      <a:pt x="8" y="11"/>
                    </a:lnTo>
                    <a:lnTo>
                      <a:pt x="4" y="15"/>
                    </a:lnTo>
                    <a:lnTo>
                      <a:pt x="0" y="19"/>
                    </a:lnTo>
                    <a:lnTo>
                      <a:pt x="0" y="26"/>
                    </a:lnTo>
                    <a:lnTo>
                      <a:pt x="0" y="30"/>
                    </a:lnTo>
                    <a:lnTo>
                      <a:pt x="0" y="34"/>
                    </a:lnTo>
                    <a:lnTo>
                      <a:pt x="0" y="41"/>
                    </a:lnTo>
                    <a:lnTo>
                      <a:pt x="4" y="45"/>
                    </a:lnTo>
                    <a:lnTo>
                      <a:pt x="8" y="49"/>
                    </a:lnTo>
                    <a:lnTo>
                      <a:pt x="8" y="53"/>
                    </a:lnTo>
                    <a:lnTo>
                      <a:pt x="13" y="56"/>
                    </a:lnTo>
                    <a:lnTo>
                      <a:pt x="21" y="60"/>
                    </a:lnTo>
                    <a:lnTo>
                      <a:pt x="25" y="60"/>
                    </a:lnTo>
                    <a:lnTo>
                      <a:pt x="29" y="60"/>
                    </a:lnTo>
                    <a:lnTo>
                      <a:pt x="33" y="6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59" name="Freeform 172"/>
              <p:cNvSpPr/>
              <p:nvPr/>
            </p:nvSpPr>
            <p:spPr bwMode="auto">
              <a:xfrm>
                <a:off x="1158" y="2888"/>
                <a:ext cx="69" cy="60"/>
              </a:xfrm>
              <a:custGeom>
                <a:avLst/>
                <a:gdLst>
                  <a:gd name="T0" fmla="*/ 33 w 69"/>
                  <a:gd name="T1" fmla="*/ 60 h 60"/>
                  <a:gd name="T2" fmla="*/ 41 w 69"/>
                  <a:gd name="T3" fmla="*/ 60 h 60"/>
                  <a:gd name="T4" fmla="*/ 45 w 69"/>
                  <a:gd name="T5" fmla="*/ 60 h 60"/>
                  <a:gd name="T6" fmla="*/ 49 w 69"/>
                  <a:gd name="T7" fmla="*/ 60 h 60"/>
                  <a:gd name="T8" fmla="*/ 53 w 69"/>
                  <a:gd name="T9" fmla="*/ 56 h 60"/>
                  <a:gd name="T10" fmla="*/ 57 w 69"/>
                  <a:gd name="T11" fmla="*/ 53 h 60"/>
                  <a:gd name="T12" fmla="*/ 61 w 69"/>
                  <a:gd name="T13" fmla="*/ 49 h 60"/>
                  <a:gd name="T14" fmla="*/ 65 w 69"/>
                  <a:gd name="T15" fmla="*/ 45 h 60"/>
                  <a:gd name="T16" fmla="*/ 65 w 69"/>
                  <a:gd name="T17" fmla="*/ 41 h 60"/>
                  <a:gd name="T18" fmla="*/ 69 w 69"/>
                  <a:gd name="T19" fmla="*/ 34 h 60"/>
                  <a:gd name="T20" fmla="*/ 69 w 69"/>
                  <a:gd name="T21" fmla="*/ 30 h 60"/>
                  <a:gd name="T22" fmla="*/ 69 w 69"/>
                  <a:gd name="T23" fmla="*/ 26 h 60"/>
                  <a:gd name="T24" fmla="*/ 65 w 69"/>
                  <a:gd name="T25" fmla="*/ 19 h 60"/>
                  <a:gd name="T26" fmla="*/ 65 w 69"/>
                  <a:gd name="T27" fmla="*/ 15 h 60"/>
                  <a:gd name="T28" fmla="*/ 61 w 69"/>
                  <a:gd name="T29" fmla="*/ 11 h 60"/>
                  <a:gd name="T30" fmla="*/ 57 w 69"/>
                  <a:gd name="T31" fmla="*/ 8 h 60"/>
                  <a:gd name="T32" fmla="*/ 53 w 69"/>
                  <a:gd name="T33" fmla="*/ 4 h 60"/>
                  <a:gd name="T34" fmla="*/ 49 w 69"/>
                  <a:gd name="T35" fmla="*/ 4 h 60"/>
                  <a:gd name="T36" fmla="*/ 45 w 69"/>
                  <a:gd name="T37" fmla="*/ 0 h 60"/>
                  <a:gd name="T38" fmla="*/ 41 w 69"/>
                  <a:gd name="T39" fmla="*/ 0 h 60"/>
                  <a:gd name="T40" fmla="*/ 33 w 69"/>
                  <a:gd name="T41" fmla="*/ 0 h 60"/>
                  <a:gd name="T42" fmla="*/ 29 w 69"/>
                  <a:gd name="T43" fmla="*/ 0 h 60"/>
                  <a:gd name="T44" fmla="*/ 25 w 69"/>
                  <a:gd name="T45" fmla="*/ 0 h 60"/>
                  <a:gd name="T46" fmla="*/ 21 w 69"/>
                  <a:gd name="T47" fmla="*/ 4 h 60"/>
                  <a:gd name="T48" fmla="*/ 13 w 69"/>
                  <a:gd name="T49" fmla="*/ 4 h 60"/>
                  <a:gd name="T50" fmla="*/ 8 w 69"/>
                  <a:gd name="T51" fmla="*/ 8 h 60"/>
                  <a:gd name="T52" fmla="*/ 8 w 69"/>
                  <a:gd name="T53" fmla="*/ 11 h 60"/>
                  <a:gd name="T54" fmla="*/ 4 w 69"/>
                  <a:gd name="T55" fmla="*/ 15 h 60"/>
                  <a:gd name="T56" fmla="*/ 0 w 69"/>
                  <a:gd name="T57" fmla="*/ 19 h 60"/>
                  <a:gd name="T58" fmla="*/ 0 w 69"/>
                  <a:gd name="T59" fmla="*/ 26 h 60"/>
                  <a:gd name="T60" fmla="*/ 0 w 69"/>
                  <a:gd name="T61" fmla="*/ 30 h 60"/>
                  <a:gd name="T62" fmla="*/ 0 w 69"/>
                  <a:gd name="T63" fmla="*/ 34 h 60"/>
                  <a:gd name="T64" fmla="*/ 0 w 69"/>
                  <a:gd name="T65" fmla="*/ 41 h 60"/>
                  <a:gd name="T66" fmla="*/ 4 w 69"/>
                  <a:gd name="T67" fmla="*/ 45 h 60"/>
                  <a:gd name="T68" fmla="*/ 8 w 69"/>
                  <a:gd name="T69" fmla="*/ 49 h 60"/>
                  <a:gd name="T70" fmla="*/ 8 w 69"/>
                  <a:gd name="T71" fmla="*/ 53 h 60"/>
                  <a:gd name="T72" fmla="*/ 13 w 69"/>
                  <a:gd name="T73" fmla="*/ 56 h 60"/>
                  <a:gd name="T74" fmla="*/ 21 w 69"/>
                  <a:gd name="T75" fmla="*/ 60 h 60"/>
                  <a:gd name="T76" fmla="*/ 25 w 69"/>
                  <a:gd name="T77" fmla="*/ 60 h 60"/>
                  <a:gd name="T78" fmla="*/ 29 w 69"/>
                  <a:gd name="T79" fmla="*/ 60 h 60"/>
                  <a:gd name="T80" fmla="*/ 33 w 69"/>
                  <a:gd name="T81" fmla="*/ 60 h 60"/>
                  <a:gd name="T82" fmla="*/ 33 w 69"/>
                  <a:gd name="T83" fmla="*/ 60 h 60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w 69"/>
                  <a:gd name="T127" fmla="*/ 0 h 60"/>
                  <a:gd name="T128" fmla="*/ 69 w 69"/>
                  <a:gd name="T129" fmla="*/ 60 h 60"/>
                </a:gdLst>
                <a:ahLst/>
                <a:cxnLst>
                  <a:cxn ang="T84">
                    <a:pos x="T0" y="T1"/>
                  </a:cxn>
                  <a:cxn ang="T85">
                    <a:pos x="T2" y="T3"/>
                  </a:cxn>
                  <a:cxn ang="T86">
                    <a:pos x="T4" y="T5"/>
                  </a:cxn>
                  <a:cxn ang="T87">
                    <a:pos x="T6" y="T7"/>
                  </a:cxn>
                  <a:cxn ang="T88">
                    <a:pos x="T8" y="T9"/>
                  </a:cxn>
                  <a:cxn ang="T89">
                    <a:pos x="T10" y="T11"/>
                  </a:cxn>
                  <a:cxn ang="T90">
                    <a:pos x="T12" y="T13"/>
                  </a:cxn>
                  <a:cxn ang="T91">
                    <a:pos x="T14" y="T15"/>
                  </a:cxn>
                  <a:cxn ang="T92">
                    <a:pos x="T16" y="T17"/>
                  </a:cxn>
                  <a:cxn ang="T93">
                    <a:pos x="T18" y="T19"/>
                  </a:cxn>
                  <a:cxn ang="T94">
                    <a:pos x="T20" y="T21"/>
                  </a:cxn>
                  <a:cxn ang="T95">
                    <a:pos x="T22" y="T23"/>
                  </a:cxn>
                  <a:cxn ang="T96">
                    <a:pos x="T24" y="T25"/>
                  </a:cxn>
                  <a:cxn ang="T97">
                    <a:pos x="T26" y="T27"/>
                  </a:cxn>
                  <a:cxn ang="T98">
                    <a:pos x="T28" y="T29"/>
                  </a:cxn>
                  <a:cxn ang="T99">
                    <a:pos x="T30" y="T31"/>
                  </a:cxn>
                  <a:cxn ang="T100">
                    <a:pos x="T32" y="T33"/>
                  </a:cxn>
                  <a:cxn ang="T101">
                    <a:pos x="T34" y="T35"/>
                  </a:cxn>
                  <a:cxn ang="T102">
                    <a:pos x="T36" y="T37"/>
                  </a:cxn>
                  <a:cxn ang="T103">
                    <a:pos x="T38" y="T39"/>
                  </a:cxn>
                  <a:cxn ang="T104">
                    <a:pos x="T40" y="T41"/>
                  </a:cxn>
                  <a:cxn ang="T105">
                    <a:pos x="T42" y="T43"/>
                  </a:cxn>
                  <a:cxn ang="T106">
                    <a:pos x="T44" y="T45"/>
                  </a:cxn>
                  <a:cxn ang="T107">
                    <a:pos x="T46" y="T47"/>
                  </a:cxn>
                  <a:cxn ang="T108">
                    <a:pos x="T48" y="T49"/>
                  </a:cxn>
                  <a:cxn ang="T109">
                    <a:pos x="T50" y="T51"/>
                  </a:cxn>
                  <a:cxn ang="T110">
                    <a:pos x="T52" y="T53"/>
                  </a:cxn>
                  <a:cxn ang="T111">
                    <a:pos x="T54" y="T55"/>
                  </a:cxn>
                  <a:cxn ang="T112">
                    <a:pos x="T56" y="T57"/>
                  </a:cxn>
                  <a:cxn ang="T113">
                    <a:pos x="T58" y="T59"/>
                  </a:cxn>
                  <a:cxn ang="T114">
                    <a:pos x="T60" y="T61"/>
                  </a:cxn>
                  <a:cxn ang="T115">
                    <a:pos x="T62" y="T63"/>
                  </a:cxn>
                  <a:cxn ang="T116">
                    <a:pos x="T64" y="T65"/>
                  </a:cxn>
                  <a:cxn ang="T117">
                    <a:pos x="T66" y="T67"/>
                  </a:cxn>
                  <a:cxn ang="T118">
                    <a:pos x="T68" y="T69"/>
                  </a:cxn>
                  <a:cxn ang="T119">
                    <a:pos x="T70" y="T71"/>
                  </a:cxn>
                  <a:cxn ang="T120">
                    <a:pos x="T72" y="T73"/>
                  </a:cxn>
                  <a:cxn ang="T121">
                    <a:pos x="T74" y="T75"/>
                  </a:cxn>
                  <a:cxn ang="T122">
                    <a:pos x="T76" y="T77"/>
                  </a:cxn>
                  <a:cxn ang="T123">
                    <a:pos x="T78" y="T79"/>
                  </a:cxn>
                  <a:cxn ang="T124">
                    <a:pos x="T80" y="T81"/>
                  </a:cxn>
                  <a:cxn ang="T125">
                    <a:pos x="T82" y="T83"/>
                  </a:cxn>
                </a:cxnLst>
                <a:rect l="T126" t="T127" r="T128" b="T129"/>
                <a:pathLst>
                  <a:path w="69" h="60">
                    <a:moveTo>
                      <a:pt x="33" y="60"/>
                    </a:moveTo>
                    <a:lnTo>
                      <a:pt x="41" y="60"/>
                    </a:lnTo>
                    <a:lnTo>
                      <a:pt x="45" y="60"/>
                    </a:lnTo>
                    <a:lnTo>
                      <a:pt x="49" y="60"/>
                    </a:lnTo>
                    <a:lnTo>
                      <a:pt x="53" y="56"/>
                    </a:lnTo>
                    <a:lnTo>
                      <a:pt x="57" y="53"/>
                    </a:lnTo>
                    <a:lnTo>
                      <a:pt x="61" y="49"/>
                    </a:lnTo>
                    <a:lnTo>
                      <a:pt x="65" y="45"/>
                    </a:lnTo>
                    <a:lnTo>
                      <a:pt x="65" y="41"/>
                    </a:lnTo>
                    <a:lnTo>
                      <a:pt x="69" y="34"/>
                    </a:lnTo>
                    <a:lnTo>
                      <a:pt x="69" y="30"/>
                    </a:lnTo>
                    <a:lnTo>
                      <a:pt x="69" y="26"/>
                    </a:lnTo>
                    <a:lnTo>
                      <a:pt x="65" y="19"/>
                    </a:lnTo>
                    <a:lnTo>
                      <a:pt x="65" y="15"/>
                    </a:lnTo>
                    <a:lnTo>
                      <a:pt x="61" y="11"/>
                    </a:lnTo>
                    <a:lnTo>
                      <a:pt x="57" y="8"/>
                    </a:lnTo>
                    <a:lnTo>
                      <a:pt x="53" y="4"/>
                    </a:lnTo>
                    <a:lnTo>
                      <a:pt x="49" y="4"/>
                    </a:lnTo>
                    <a:lnTo>
                      <a:pt x="45" y="0"/>
                    </a:lnTo>
                    <a:lnTo>
                      <a:pt x="41" y="0"/>
                    </a:lnTo>
                    <a:lnTo>
                      <a:pt x="33" y="0"/>
                    </a:lnTo>
                    <a:lnTo>
                      <a:pt x="29" y="0"/>
                    </a:lnTo>
                    <a:lnTo>
                      <a:pt x="25" y="0"/>
                    </a:lnTo>
                    <a:lnTo>
                      <a:pt x="21" y="4"/>
                    </a:lnTo>
                    <a:lnTo>
                      <a:pt x="13" y="4"/>
                    </a:lnTo>
                    <a:lnTo>
                      <a:pt x="8" y="8"/>
                    </a:lnTo>
                    <a:lnTo>
                      <a:pt x="8" y="11"/>
                    </a:lnTo>
                    <a:lnTo>
                      <a:pt x="4" y="15"/>
                    </a:lnTo>
                    <a:lnTo>
                      <a:pt x="0" y="19"/>
                    </a:lnTo>
                    <a:lnTo>
                      <a:pt x="0" y="26"/>
                    </a:lnTo>
                    <a:lnTo>
                      <a:pt x="0" y="30"/>
                    </a:lnTo>
                    <a:lnTo>
                      <a:pt x="0" y="34"/>
                    </a:lnTo>
                    <a:lnTo>
                      <a:pt x="0" y="41"/>
                    </a:lnTo>
                    <a:lnTo>
                      <a:pt x="4" y="45"/>
                    </a:lnTo>
                    <a:lnTo>
                      <a:pt x="8" y="49"/>
                    </a:lnTo>
                    <a:lnTo>
                      <a:pt x="8" y="53"/>
                    </a:lnTo>
                    <a:lnTo>
                      <a:pt x="13" y="56"/>
                    </a:lnTo>
                    <a:lnTo>
                      <a:pt x="21" y="60"/>
                    </a:lnTo>
                    <a:lnTo>
                      <a:pt x="25" y="60"/>
                    </a:lnTo>
                    <a:lnTo>
                      <a:pt x="29" y="60"/>
                    </a:lnTo>
                    <a:lnTo>
                      <a:pt x="33" y="6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0" name="Freeform 173"/>
              <p:cNvSpPr/>
              <p:nvPr/>
            </p:nvSpPr>
            <p:spPr bwMode="auto">
              <a:xfrm>
                <a:off x="4634" y="2745"/>
                <a:ext cx="24" cy="1"/>
              </a:xfrm>
              <a:custGeom>
                <a:avLst/>
                <a:gdLst>
                  <a:gd name="T0" fmla="*/ 24 w 24"/>
                  <a:gd name="T1" fmla="*/ 0 h 1"/>
                  <a:gd name="T2" fmla="*/ 0 w 24"/>
                  <a:gd name="T3" fmla="*/ 0 h 1"/>
                  <a:gd name="T4" fmla="*/ 24 w 24"/>
                  <a:gd name="T5" fmla="*/ 0 h 1"/>
                  <a:gd name="T6" fmla="*/ 0 60000 65536"/>
                  <a:gd name="T7" fmla="*/ 0 60000 65536"/>
                  <a:gd name="T8" fmla="*/ 0 60000 65536"/>
                  <a:gd name="T9" fmla="*/ 0 w 24"/>
                  <a:gd name="T10" fmla="*/ 0 h 1"/>
                  <a:gd name="T11" fmla="*/ 24 w 24"/>
                  <a:gd name="T12" fmla="*/ 1 h 1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24" h="1">
                    <a:moveTo>
                      <a:pt x="24" y="0"/>
                    </a:moveTo>
                    <a:lnTo>
                      <a:pt x="0" y="0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1" name="Line 174"/>
              <p:cNvSpPr>
                <a:spLocks noChangeShapeType="1"/>
              </p:cNvSpPr>
              <p:nvPr/>
            </p:nvSpPr>
            <p:spPr bwMode="auto">
              <a:xfrm flipH="1">
                <a:off x="4634" y="2745"/>
                <a:ext cx="24" cy="1"/>
              </a:xfrm>
              <a:prstGeom prst="line">
                <a:avLst/>
              </a:prstGeom>
              <a:noFill/>
              <a:ln w="25400">
                <a:solidFill>
                  <a:srgbClr val="666666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2" name="Freeform 175"/>
              <p:cNvSpPr/>
              <p:nvPr/>
            </p:nvSpPr>
            <p:spPr bwMode="auto">
              <a:xfrm>
                <a:off x="4634" y="2715"/>
                <a:ext cx="60" cy="56"/>
              </a:xfrm>
              <a:custGeom>
                <a:avLst/>
                <a:gdLst>
                  <a:gd name="T0" fmla="*/ 0 w 60"/>
                  <a:gd name="T1" fmla="*/ 0 h 56"/>
                  <a:gd name="T2" fmla="*/ 0 w 60"/>
                  <a:gd name="T3" fmla="*/ 56 h 56"/>
                  <a:gd name="T4" fmla="*/ 60 w 60"/>
                  <a:gd name="T5" fmla="*/ 30 h 56"/>
                  <a:gd name="T6" fmla="*/ 0 w 60"/>
                  <a:gd name="T7" fmla="*/ 4 h 56"/>
                  <a:gd name="T8" fmla="*/ 0 w 60"/>
                  <a:gd name="T9" fmla="*/ 4 h 56"/>
                  <a:gd name="T10" fmla="*/ 0 w 60"/>
                  <a:gd name="T11" fmla="*/ 0 h 56"/>
                  <a:gd name="T12" fmla="*/ 0 60000 65536"/>
                  <a:gd name="T13" fmla="*/ 0 60000 655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w 60"/>
                  <a:gd name="T19" fmla="*/ 0 h 56"/>
                  <a:gd name="T20" fmla="*/ 60 w 60"/>
                  <a:gd name="T21" fmla="*/ 56 h 56"/>
                </a:gdLst>
                <a:ahLst/>
                <a:cxnLst>
                  <a:cxn ang="T12">
                    <a:pos x="T0" y="T1"/>
                  </a:cxn>
                  <a:cxn ang="T13">
                    <a:pos x="T2" y="T3"/>
                  </a:cxn>
                  <a:cxn ang="T14">
                    <a:pos x="T4" y="T5"/>
                  </a:cxn>
                  <a:cxn ang="T15">
                    <a:pos x="T6" y="T7"/>
                  </a:cxn>
                  <a:cxn ang="T16">
                    <a:pos x="T8" y="T9"/>
                  </a:cxn>
                  <a:cxn ang="T17">
                    <a:pos x="T10" y="T11"/>
                  </a:cxn>
                </a:cxnLst>
                <a:rect l="T18" t="T19" r="T20" b="T21"/>
                <a:pathLst>
                  <a:path w="60" h="56">
                    <a:moveTo>
                      <a:pt x="0" y="0"/>
                    </a:moveTo>
                    <a:lnTo>
                      <a:pt x="0" y="56"/>
                    </a:lnTo>
                    <a:lnTo>
                      <a:pt x="60" y="30"/>
                    </a:lnTo>
                    <a:lnTo>
                      <a:pt x="0" y="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6666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3" name="Freeform 176"/>
              <p:cNvSpPr/>
              <p:nvPr/>
            </p:nvSpPr>
            <p:spPr bwMode="auto">
              <a:xfrm>
                <a:off x="4634" y="2715"/>
                <a:ext cx="60" cy="56"/>
              </a:xfrm>
              <a:custGeom>
                <a:avLst/>
                <a:gdLst>
                  <a:gd name="T0" fmla="*/ 0 w 60"/>
                  <a:gd name="T1" fmla="*/ 0 h 56"/>
                  <a:gd name="T2" fmla="*/ 0 w 60"/>
                  <a:gd name="T3" fmla="*/ 56 h 56"/>
                  <a:gd name="T4" fmla="*/ 60 w 60"/>
                  <a:gd name="T5" fmla="*/ 30 h 56"/>
                  <a:gd name="T6" fmla="*/ 0 w 60"/>
                  <a:gd name="T7" fmla="*/ 4 h 56"/>
                  <a:gd name="T8" fmla="*/ 0 w 60"/>
                  <a:gd name="T9" fmla="*/ 4 h 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60"/>
                  <a:gd name="T16" fmla="*/ 0 h 56"/>
                  <a:gd name="T17" fmla="*/ 60 w 60"/>
                  <a:gd name="T18" fmla="*/ 56 h 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60" h="56">
                    <a:moveTo>
                      <a:pt x="0" y="0"/>
                    </a:moveTo>
                    <a:lnTo>
                      <a:pt x="0" y="56"/>
                    </a:lnTo>
                    <a:lnTo>
                      <a:pt x="60" y="30"/>
                    </a:lnTo>
                    <a:lnTo>
                      <a:pt x="0" y="4"/>
                    </a:lnTo>
                  </a:path>
                </a:pathLst>
              </a:custGeom>
              <a:noFill/>
              <a:ln w="25400">
                <a:solidFill>
                  <a:srgbClr val="666666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4" name="Line 177"/>
              <p:cNvSpPr>
                <a:spLocks noChangeShapeType="1"/>
              </p:cNvSpPr>
              <p:nvPr/>
            </p:nvSpPr>
            <p:spPr bwMode="auto">
              <a:xfrm>
                <a:off x="4471" y="2745"/>
                <a:ext cx="179" cy="1"/>
              </a:xfrm>
              <a:prstGeom prst="line">
                <a:avLst/>
              </a:prstGeom>
              <a:noFill/>
              <a:ln w="25400">
                <a:solidFill>
                  <a:srgbClr val="666666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65" name="Rectangle 178"/>
              <p:cNvSpPr>
                <a:spLocks noChangeArrowheads="1"/>
              </p:cNvSpPr>
              <p:nvPr/>
            </p:nvSpPr>
            <p:spPr bwMode="auto">
              <a:xfrm>
                <a:off x="4179" y="2662"/>
                <a:ext cx="9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666666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Z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66" name="Rectangle 179"/>
              <p:cNvSpPr>
                <a:spLocks noChangeArrowheads="1"/>
              </p:cNvSpPr>
              <p:nvPr/>
            </p:nvSpPr>
            <p:spPr bwMode="auto">
              <a:xfrm>
                <a:off x="4261" y="266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666666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67" name="Rectangle 180"/>
              <p:cNvSpPr>
                <a:spLocks noChangeArrowheads="1"/>
              </p:cNvSpPr>
              <p:nvPr/>
            </p:nvSpPr>
            <p:spPr bwMode="auto">
              <a:xfrm>
                <a:off x="4338" y="266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666666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68" name="Rectangle 181"/>
              <p:cNvSpPr>
                <a:spLocks noChangeArrowheads="1"/>
              </p:cNvSpPr>
              <p:nvPr/>
            </p:nvSpPr>
            <p:spPr bwMode="auto">
              <a:xfrm>
                <a:off x="4382" y="266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666666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o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69" name="Line 182"/>
              <p:cNvSpPr>
                <a:spLocks noChangeShapeType="1"/>
              </p:cNvSpPr>
              <p:nvPr/>
            </p:nvSpPr>
            <p:spPr bwMode="auto">
              <a:xfrm flipV="1">
                <a:off x="2168" y="3666"/>
                <a:ext cx="4" cy="177"/>
              </a:xfrm>
              <a:prstGeom prst="line">
                <a:avLst/>
              </a:prstGeom>
              <a:noFill/>
              <a:ln w="25400">
                <a:solidFill>
                  <a:srgbClr val="EB75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prstClr val="black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70" name="Rectangle 183"/>
              <p:cNvSpPr>
                <a:spLocks noChangeArrowheads="1"/>
              </p:cNvSpPr>
              <p:nvPr/>
            </p:nvSpPr>
            <p:spPr bwMode="auto">
              <a:xfrm>
                <a:off x="2237" y="3722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1" name="Rectangle 184"/>
              <p:cNvSpPr>
                <a:spLocks noChangeArrowheads="1"/>
              </p:cNvSpPr>
              <p:nvPr/>
            </p:nvSpPr>
            <p:spPr bwMode="auto">
              <a:xfrm>
                <a:off x="2334" y="372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2" name="Rectangle 185"/>
              <p:cNvSpPr>
                <a:spLocks noChangeArrowheads="1"/>
              </p:cNvSpPr>
              <p:nvPr/>
            </p:nvSpPr>
            <p:spPr bwMode="auto">
              <a:xfrm>
                <a:off x="2411" y="372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g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3" name="Rectangle 186"/>
              <p:cNvSpPr>
                <a:spLocks noChangeArrowheads="1"/>
              </p:cNvSpPr>
              <p:nvPr/>
            </p:nvSpPr>
            <p:spPr bwMode="auto">
              <a:xfrm>
                <a:off x="2484" y="3722"/>
                <a:ext cx="13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W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4" name="Rectangle 187"/>
              <p:cNvSpPr>
                <a:spLocks noChangeArrowheads="1"/>
              </p:cNvSpPr>
              <p:nvPr/>
            </p:nvSpPr>
            <p:spPr bwMode="auto">
              <a:xfrm>
                <a:off x="2614" y="372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5" name="Rectangle 188"/>
              <p:cNvSpPr>
                <a:spLocks noChangeArrowheads="1"/>
              </p:cNvSpPr>
              <p:nvPr/>
            </p:nvSpPr>
            <p:spPr bwMode="auto">
              <a:xfrm>
                <a:off x="2659" y="3722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6" name="Rectangle 189"/>
              <p:cNvSpPr>
                <a:spLocks noChangeArrowheads="1"/>
              </p:cNvSpPr>
              <p:nvPr/>
            </p:nvSpPr>
            <p:spPr bwMode="auto">
              <a:xfrm>
                <a:off x="2687" y="372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7" name="Rectangle 190"/>
              <p:cNvSpPr>
                <a:spLocks noChangeArrowheads="1"/>
              </p:cNvSpPr>
              <p:nvPr/>
            </p:nvSpPr>
            <p:spPr bwMode="auto">
              <a:xfrm>
                <a:off x="2724" y="372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78" name="Line 191"/>
              <p:cNvSpPr>
                <a:spLocks noChangeShapeType="1"/>
              </p:cNvSpPr>
              <p:nvPr/>
            </p:nvSpPr>
            <p:spPr bwMode="auto">
              <a:xfrm flipV="1">
                <a:off x="4021" y="2174"/>
                <a:ext cx="4" cy="282"/>
              </a:xfrm>
              <a:prstGeom prst="line">
                <a:avLst/>
              </a:prstGeom>
              <a:noFill/>
              <a:ln w="38100">
                <a:solidFill>
                  <a:srgbClr val="EB75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srgbClr val="FF0000"/>
                  </a:solidFill>
                  <a:latin typeface="Arial"/>
                  <a:ea typeface="新細明體"/>
                </a:endParaRPr>
              </a:p>
            </p:txBody>
          </p:sp>
          <p:sp>
            <p:nvSpPr>
              <p:cNvPr id="30879" name="Rectangle 192"/>
              <p:cNvSpPr>
                <a:spLocks noChangeArrowheads="1"/>
              </p:cNvSpPr>
              <p:nvPr/>
            </p:nvSpPr>
            <p:spPr bwMode="auto">
              <a:xfrm>
                <a:off x="4102" y="2132"/>
                <a:ext cx="9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0" name="Rectangle 193"/>
              <p:cNvSpPr>
                <a:spLocks noChangeArrowheads="1"/>
              </p:cNvSpPr>
              <p:nvPr/>
            </p:nvSpPr>
            <p:spPr bwMode="auto">
              <a:xfrm>
                <a:off x="4192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FF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L</a:t>
                </a:r>
                <a:endParaRPr lang="en-US" altLang="zh-TW" sz="1467" b="0">
                  <a:solidFill>
                    <a:srgbClr val="FF00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1" name="Rectangle 194"/>
              <p:cNvSpPr>
                <a:spLocks noChangeArrowheads="1"/>
              </p:cNvSpPr>
              <p:nvPr/>
            </p:nvSpPr>
            <p:spPr bwMode="auto">
              <a:xfrm>
                <a:off x="4265" y="2132"/>
                <a:ext cx="106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U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2" name="Rectangle 195"/>
              <p:cNvSpPr>
                <a:spLocks noChangeArrowheads="1"/>
              </p:cNvSpPr>
              <p:nvPr/>
            </p:nvSpPr>
            <p:spPr bwMode="auto">
              <a:xfrm>
                <a:off x="4362" y="213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zh-TW" altLang="en-US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 </a:t>
                </a:r>
                <a:endParaRPr lang="zh-TW" altLang="en-US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3" name="Rectangle 196"/>
              <p:cNvSpPr>
                <a:spLocks noChangeArrowheads="1"/>
              </p:cNvSpPr>
              <p:nvPr/>
            </p:nvSpPr>
            <p:spPr bwMode="auto">
              <a:xfrm>
                <a:off x="4402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FF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o</a:t>
                </a:r>
                <a:endParaRPr lang="en-US" altLang="zh-TW" sz="1467" b="0">
                  <a:solidFill>
                    <a:srgbClr val="FF00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4" name="Rectangle 197"/>
              <p:cNvSpPr>
                <a:spLocks noChangeArrowheads="1"/>
              </p:cNvSpPr>
              <p:nvPr/>
            </p:nvSpPr>
            <p:spPr bwMode="auto">
              <a:xfrm>
                <a:off x="4475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p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5" name="Rectangle 198"/>
              <p:cNvSpPr>
                <a:spLocks noChangeArrowheads="1"/>
              </p:cNvSpPr>
              <p:nvPr/>
            </p:nvSpPr>
            <p:spPr bwMode="auto">
              <a:xfrm>
                <a:off x="4552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FF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e</a:t>
                </a:r>
                <a:endParaRPr lang="en-US" altLang="zh-TW" sz="1467" b="0" dirty="0">
                  <a:solidFill>
                    <a:srgbClr val="FF00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6" name="Rectangle 199"/>
              <p:cNvSpPr>
                <a:spLocks noChangeArrowheads="1"/>
              </p:cNvSpPr>
              <p:nvPr/>
            </p:nvSpPr>
            <p:spPr bwMode="auto">
              <a:xfrm>
                <a:off x="4625" y="2132"/>
                <a:ext cx="49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r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7" name="Rectangle 200"/>
              <p:cNvSpPr>
                <a:spLocks noChangeArrowheads="1"/>
              </p:cNvSpPr>
              <p:nvPr/>
            </p:nvSpPr>
            <p:spPr bwMode="auto">
              <a:xfrm>
                <a:off x="4670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 dirty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a</a:t>
                </a:r>
                <a:endParaRPr lang="en-US" altLang="zh-TW" sz="1467" b="0" dirty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8" name="Rectangle 201"/>
              <p:cNvSpPr>
                <a:spLocks noChangeArrowheads="1"/>
              </p:cNvSpPr>
              <p:nvPr/>
            </p:nvSpPr>
            <p:spPr bwMode="auto">
              <a:xfrm>
                <a:off x="4747" y="2132"/>
                <a:ext cx="4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FF00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t</a:t>
                </a:r>
                <a:endParaRPr lang="en-US" altLang="zh-TW" sz="1467" b="0">
                  <a:solidFill>
                    <a:srgbClr val="FF00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89" name="Rectangle 202"/>
              <p:cNvSpPr>
                <a:spLocks noChangeArrowheads="1"/>
              </p:cNvSpPr>
              <p:nvPr/>
            </p:nvSpPr>
            <p:spPr bwMode="auto">
              <a:xfrm>
                <a:off x="4784" y="2132"/>
                <a:ext cx="33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i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90" name="Rectangle 203"/>
              <p:cNvSpPr>
                <a:spLocks noChangeArrowheads="1"/>
              </p:cNvSpPr>
              <p:nvPr/>
            </p:nvSpPr>
            <p:spPr bwMode="auto">
              <a:xfrm>
                <a:off x="4816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o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91" name="Rectangle 204"/>
              <p:cNvSpPr>
                <a:spLocks noChangeArrowheads="1"/>
              </p:cNvSpPr>
              <p:nvPr/>
            </p:nvSpPr>
            <p:spPr bwMode="auto">
              <a:xfrm>
                <a:off x="4889" y="2132"/>
                <a:ext cx="81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r>
                  <a:rPr lang="en-US" altLang="zh-TW" sz="1467" b="0">
                    <a:solidFill>
                      <a:srgbClr val="EB7500"/>
                    </a:solidFill>
                    <a:latin typeface="Arial" panose="020B0604020202090204" pitchFamily="34" charset="0"/>
                    <a:ea typeface="新細明體" panose="02020500000000000000" pitchFamily="18" charset="-120"/>
                  </a:rPr>
                  <a:t>n</a:t>
                </a: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92" name="Rectangle 205"/>
              <p:cNvSpPr>
                <a:spLocks noChangeArrowheads="1"/>
              </p:cNvSpPr>
              <p:nvPr/>
            </p:nvSpPr>
            <p:spPr bwMode="auto">
              <a:xfrm>
                <a:off x="3827" y="2203"/>
                <a:ext cx="0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>
                  <a:lnSpc>
                    <a:spcPct val="90000"/>
                  </a:lnSpc>
                  <a:spcBef>
                    <a:spcPct val="15000"/>
                  </a:spcBef>
                  <a:buClr>
                    <a:schemeClr val="folHlink"/>
                  </a:buClr>
                  <a:buSzPct val="75000"/>
                  <a:buFont typeface="Wingdings" panose="05000000000000000000" pitchFamily="2" charset="2"/>
                  <a:buChar char="t"/>
                  <a:defRPr sz="24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1pPr>
                <a:lvl2pPr marL="742950" indent="-285750">
                  <a:lnSpc>
                    <a:spcPct val="90000"/>
                  </a:lnSpc>
                  <a:spcBef>
                    <a:spcPct val="15000"/>
                  </a:spcBef>
                  <a:buClr>
                    <a:srgbClr val="FF9900"/>
                  </a:buClr>
                  <a:buSzPct val="75000"/>
                  <a:buFont typeface="Wingdings" panose="05000000000000000000" pitchFamily="2" charset="2"/>
                  <a:buChar char="l"/>
                  <a:defRPr sz="22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2"/>
                  </a:buClr>
                  <a:buSzPct val="75000"/>
                  <a:buFont typeface="Wingdings" panose="05000000000000000000" pitchFamily="2" charset="2"/>
                  <a:buChar char="n"/>
                  <a:defRPr sz="2000" b="1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hlink"/>
                  </a:buClr>
                  <a:buSzPct val="75000"/>
                  <a:buFont typeface="Monotype Sorts" pitchFamily="2" charset="2"/>
                  <a:buChar char="T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ct val="15000"/>
                  </a:spcBef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5pPr>
                <a:lvl6pPr marL="25146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6pPr>
                <a:lvl7pPr marL="29718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7pPr>
                <a:lvl8pPr marL="34290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8pPr>
                <a:lvl9pPr marL="3886200" indent="-228600" eaLnBrk="0" fontAlgn="base" hangingPunct="0">
                  <a:lnSpc>
                    <a:spcPct val="90000"/>
                  </a:lnSpc>
                  <a:spcBef>
                    <a:spcPct val="15000"/>
                  </a:spcBef>
                  <a:spcAft>
                    <a:spcPct val="0"/>
                  </a:spcAft>
                  <a:buClr>
                    <a:schemeClr val="accent1"/>
                  </a:buClr>
                  <a:buSzPct val="100000"/>
                  <a:buChar char="–"/>
                  <a:defRPr sz="2000">
                    <a:solidFill>
                      <a:schemeClr val="tx1"/>
                    </a:solidFill>
                    <a:latin typeface="Century Gothic" panose="020B0502020202020204" pitchFamily="34" charset="0"/>
                    <a:ea typeface="標楷體" panose="02010601000101010101" pitchFamily="65" charset="-128"/>
                  </a:defRPr>
                </a:lvl9pPr>
              </a:lstStyle>
              <a:p>
                <a:pPr defTabSz="1219170">
                  <a:lnSpc>
                    <a:spcPct val="100000"/>
                  </a:lnSpc>
                  <a:spcBef>
                    <a:spcPct val="0"/>
                  </a:spcBef>
                  <a:buClrTx/>
                  <a:buSzTx/>
                  <a:buNone/>
                </a:pPr>
                <a:endParaRPr lang="en-US" altLang="zh-TW" sz="1467" b="0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endParaRPr>
              </a:p>
            </p:txBody>
          </p:sp>
          <p:sp>
            <p:nvSpPr>
              <p:cNvPr id="30893" name="Line 206"/>
              <p:cNvSpPr>
                <a:spLocks noChangeShapeType="1"/>
              </p:cNvSpPr>
              <p:nvPr/>
            </p:nvSpPr>
            <p:spPr bwMode="auto">
              <a:xfrm>
                <a:off x="3964" y="2268"/>
                <a:ext cx="110" cy="105"/>
              </a:xfrm>
              <a:prstGeom prst="line">
                <a:avLst/>
              </a:prstGeom>
              <a:noFill/>
              <a:ln w="25400">
                <a:solidFill>
                  <a:srgbClr val="EB75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 defTabSz="1219170"/>
                <a:endParaRPr lang="zh-CN" altLang="en-US" sz="1467">
                  <a:solidFill>
                    <a:srgbClr val="FF0000"/>
                  </a:solidFill>
                  <a:latin typeface="Arial"/>
                  <a:ea typeface="新細明體"/>
                </a:endParaRPr>
              </a:p>
            </p:txBody>
          </p:sp>
        </p:grpSp>
        <p:sp>
          <p:nvSpPr>
            <p:cNvPr id="30730" name="Rectangle 207"/>
            <p:cNvSpPr>
              <a:spLocks noChangeArrowheads="1"/>
            </p:cNvSpPr>
            <p:nvPr/>
          </p:nvSpPr>
          <p:spPr bwMode="auto">
            <a:xfrm>
              <a:off x="6849667" y="2446735"/>
              <a:ext cx="674731" cy="2580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467">
                  <a:solidFill>
                    <a:prstClr val="black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rPr>
                <a:t>(funct)</a:t>
              </a:r>
            </a:p>
          </p:txBody>
        </p:sp>
      </p:grpSp>
      <p:sp>
        <p:nvSpPr>
          <p:cNvPr id="20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44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7" name="Rectangle 3"/>
          <p:cNvSpPr>
            <a:spLocks noGrp="1" noChangeArrowheads="1"/>
          </p:cNvSpPr>
          <p:nvPr>
            <p:ph type="title"/>
          </p:nvPr>
        </p:nvSpPr>
        <p:spPr>
          <a:xfrm>
            <a:off x="1239692" y="58739"/>
            <a:ext cx="9066360" cy="901700"/>
          </a:xfrm>
        </p:spPr>
        <p:txBody>
          <a:bodyPr/>
          <a:lstStyle/>
          <a:p>
            <a:r>
              <a:rPr lang="en-US" altLang="zh-TW" dirty="0"/>
              <a:t>Step 3c - Load/Store Operations</a:t>
            </a:r>
          </a:p>
        </p:txBody>
      </p:sp>
      <p:sp>
        <p:nvSpPr>
          <p:cNvPr id="31748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321653" y="1084556"/>
            <a:ext cx="10240256" cy="493233"/>
          </a:xfrm>
        </p:spPr>
        <p:txBody>
          <a:bodyPr/>
          <a:lstStyle/>
          <a:p>
            <a:r>
              <a:rPr lang="en-US" altLang="zh-TW" sz="2667" dirty="0"/>
              <a:t>R[</a:t>
            </a:r>
            <a:r>
              <a:rPr lang="en-US" altLang="zh-TW" sz="2667" dirty="0" err="1"/>
              <a:t>rd</a:t>
            </a:r>
            <a:r>
              <a:rPr lang="en-US" altLang="zh-TW" sz="2667" dirty="0"/>
              <a:t>]&lt;-Mem[R[rs1]+</a:t>
            </a:r>
            <a:r>
              <a:rPr lang="en-US" altLang="zh-TW" sz="2667" dirty="0" err="1"/>
              <a:t>SignExt</a:t>
            </a:r>
            <a:r>
              <a:rPr lang="en-US" altLang="zh-TW" sz="2667" dirty="0"/>
              <a:t>[imm12]]   Ex: </a:t>
            </a:r>
            <a:r>
              <a:rPr lang="en-US" altLang="zh-TW" sz="2667" dirty="0" err="1"/>
              <a:t>lw</a:t>
            </a:r>
            <a:r>
              <a:rPr lang="en-US" altLang="zh-TW" sz="2667" dirty="0"/>
              <a:t> rd,rs1,imm12</a:t>
            </a:r>
          </a:p>
        </p:txBody>
      </p:sp>
      <p:sp>
        <p:nvSpPr>
          <p:cNvPr id="36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45</a:t>
            </a:fld>
            <a:endParaRPr lang="zh-TW" altLang="en-US">
              <a:solidFill>
                <a:prstClr val="white"/>
              </a:solidFill>
            </a:endParaRPr>
          </a:p>
        </p:txBody>
      </p:sp>
      <p:grpSp>
        <p:nvGrpSpPr>
          <p:cNvPr id="5" name="组合 1">
            <a:extLst>
              <a:ext uri="{FF2B5EF4-FFF2-40B4-BE49-F238E27FC236}">
                <a16:creationId xmlns:a16="http://schemas.microsoft.com/office/drawing/2014/main" id="{A3CB97E8-8C36-4F29-A344-AA86BF640C13}"/>
              </a:ext>
            </a:extLst>
          </p:cNvPr>
          <p:cNvGrpSpPr/>
          <p:nvPr/>
        </p:nvGrpSpPr>
        <p:grpSpPr>
          <a:xfrm>
            <a:off x="1938937" y="1701906"/>
            <a:ext cx="7919679" cy="4440478"/>
            <a:chOff x="1352550" y="1909762"/>
            <a:chExt cx="6438900" cy="2738438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E234AC53-66BA-4049-A513-38E00A2B99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2550" y="2057400"/>
              <a:ext cx="6438900" cy="2590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</p:pic>
        <p:sp>
          <p:nvSpPr>
            <p:cNvPr id="7" name="Text Box 6">
              <a:extLst>
                <a:ext uri="{FF2B5EF4-FFF2-40B4-BE49-F238E27FC236}">
                  <a16:creationId xmlns:a16="http://schemas.microsoft.com/office/drawing/2014/main" id="{BEC234D2-F864-4243-9FF8-6C355D84B2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58603" y="1909762"/>
              <a:ext cx="400369" cy="2087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600" dirty="0">
                  <a:solidFill>
                    <a:srgbClr val="0000FF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rs1</a:t>
              </a:r>
            </a:p>
          </p:txBody>
        </p:sp>
        <p:sp>
          <p:nvSpPr>
            <p:cNvPr id="8" name="Text Box 8">
              <a:extLst>
                <a:ext uri="{FF2B5EF4-FFF2-40B4-BE49-F238E27FC236}">
                  <a16:creationId xmlns:a16="http://schemas.microsoft.com/office/drawing/2014/main" id="{1714B030-618C-46F6-8E1B-33F5C4FAEA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58603" y="2681287"/>
              <a:ext cx="316958" cy="2087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prstDash val="sysDot"/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kumimoji="1" lang="en-US" altLang="zh-TW" sz="1600" dirty="0" err="1">
                  <a:solidFill>
                    <a:srgbClr val="C0504D"/>
                  </a:solidFill>
                  <a:latin typeface="Arial" panose="020B0604020202090204" pitchFamily="34" charset="0"/>
                  <a:ea typeface="新細明體" panose="02020500000000000000" pitchFamily="18" charset="-120"/>
                </a:rPr>
                <a:t>rd</a:t>
              </a:r>
              <a:endParaRPr kumimoji="1" lang="en-US" altLang="zh-TW" sz="1600" dirty="0">
                <a:solidFill>
                  <a:srgbClr val="C0504D"/>
                </a:solidFill>
                <a:latin typeface="Arial" panose="020B0604020202090204" pitchFamily="34" charset="0"/>
                <a:ea typeface="新細明體" panose="02020500000000000000" pitchFamily="18" charset="-120"/>
              </a:endParaRPr>
            </a:p>
          </p:txBody>
        </p:sp>
        <p:sp>
          <p:nvSpPr>
            <p:cNvPr id="9" name="Text Box 34">
              <a:extLst>
                <a:ext uri="{FF2B5EF4-FFF2-40B4-BE49-F238E27FC236}">
                  <a16:creationId xmlns:a16="http://schemas.microsoft.com/office/drawing/2014/main" id="{6E47B91C-7C1B-46E3-9263-370CA580F9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83919" y="1972866"/>
              <a:ext cx="176213" cy="2785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lnSpc>
                  <a:spcPct val="90000"/>
                </a:lnSpc>
                <a:spcBef>
                  <a:spcPct val="15000"/>
                </a:spcBef>
                <a:buClr>
                  <a:schemeClr val="folHlink"/>
                </a:buClr>
                <a:buSzPct val="75000"/>
                <a:buFont typeface="Wingdings" panose="05000000000000000000" pitchFamily="2" charset="2"/>
                <a:buChar char="t"/>
                <a:defRPr sz="24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1pPr>
              <a:lvl2pPr marL="742950" indent="-285750">
                <a:lnSpc>
                  <a:spcPct val="90000"/>
                </a:lnSpc>
                <a:spcBef>
                  <a:spcPct val="15000"/>
                </a:spcBef>
                <a:buClr>
                  <a:srgbClr val="FF9900"/>
                </a:buClr>
                <a:buSzPct val="75000"/>
                <a:buFont typeface="Wingdings" panose="05000000000000000000" pitchFamily="2" charset="2"/>
                <a:buChar char="l"/>
                <a:defRPr sz="22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2pPr>
              <a:lvl3pPr marL="11430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2"/>
                </a:buClr>
                <a:buSzPct val="75000"/>
                <a:buFont typeface="Wingdings" panose="05000000000000000000" pitchFamily="2" charset="2"/>
                <a:buChar char="n"/>
                <a:defRPr sz="2000" b="1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3pPr>
              <a:lvl4pPr marL="1600200" indent="-228600">
                <a:lnSpc>
                  <a:spcPct val="90000"/>
                </a:lnSpc>
                <a:spcBef>
                  <a:spcPct val="15000"/>
                </a:spcBef>
                <a:buClr>
                  <a:schemeClr val="hlink"/>
                </a:buClr>
                <a:buSzPct val="75000"/>
                <a:buFont typeface="Monotype Sorts" pitchFamily="2" charset="2"/>
                <a:buChar char="T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4pPr>
              <a:lvl5pPr marL="2057400" indent="-228600">
                <a:lnSpc>
                  <a:spcPct val="90000"/>
                </a:lnSpc>
                <a:spcBef>
                  <a:spcPct val="15000"/>
                </a:spcBef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ct val="15000"/>
                </a:spcBef>
                <a:spcAft>
                  <a:spcPct val="0"/>
                </a:spcAft>
                <a:buClr>
                  <a:schemeClr val="accent1"/>
                </a:buClr>
                <a:buSzPct val="100000"/>
                <a:buChar char="–"/>
                <a:defRPr sz="2000">
                  <a:solidFill>
                    <a:schemeClr val="tx1"/>
                  </a:solidFill>
                  <a:latin typeface="Century Gothic" panose="020B0502020202020204" pitchFamily="34" charset="0"/>
                  <a:ea typeface="標楷體" panose="02010601000101010101" pitchFamily="65" charset="-128"/>
                </a:defRPr>
              </a:lvl9pPr>
            </a:lstStyle>
            <a:p>
              <a:pPr defTabSz="1219170">
                <a:lnSpc>
                  <a:spcPct val="100000"/>
                </a:lnSpc>
                <a:spcBef>
                  <a:spcPct val="0"/>
                </a:spcBef>
                <a:buClrTx/>
                <a:buSzTx/>
                <a:buNone/>
              </a:pPr>
              <a:r>
                <a:rPr lang="en-US" altLang="zh-TW" sz="1600" b="0">
                  <a:solidFill>
                    <a:srgbClr val="FF6600"/>
                  </a:solidFill>
                  <a:latin typeface="Times New Roman" panose="02020703060505090304" pitchFamily="18" charset="0"/>
                  <a:ea typeface="新細明體" panose="02020500000000000000" pitchFamily="18" charset="-120"/>
                </a:rPr>
                <a:t>4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21022017-817A-444E-B297-E4DFB7442846}"/>
              </a:ext>
            </a:extLst>
          </p:cNvPr>
          <p:cNvSpPr txBox="1"/>
          <p:nvPr/>
        </p:nvSpPr>
        <p:spPr>
          <a:xfrm>
            <a:off x="4066162" y="4673502"/>
            <a:ext cx="470000" cy="400110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000" b="1" dirty="0">
                <a:ea typeface="標楷體" pitchFamily="65" charset="-120"/>
                <a:cs typeface="Calibri" pitchFamily="34" charset="0"/>
              </a:rPr>
              <a:t>12</a:t>
            </a:r>
          </a:p>
        </p:txBody>
      </p:sp>
      <p:sp>
        <p:nvSpPr>
          <p:cNvPr id="11" name="Text Box 6">
            <a:extLst>
              <a:ext uri="{FF2B5EF4-FFF2-40B4-BE49-F238E27FC236}">
                <a16:creationId xmlns:a16="http://schemas.microsoft.com/office/drawing/2014/main" id="{3B473E44-ACE6-43FC-9327-F895140131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30361" y="2455994"/>
            <a:ext cx="49244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prstDash val="sysDot"/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rs2</a:t>
            </a:r>
          </a:p>
        </p:txBody>
      </p:sp>
    </p:spTree>
  </p:cSld>
  <p:clrMapOvr>
    <a:masterClrMapping/>
  </p:clrMapOvr>
  <p:transition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1290917" y="163927"/>
            <a:ext cx="9015135" cy="614723"/>
          </a:xfrm>
        </p:spPr>
        <p:txBody>
          <a:bodyPr/>
          <a:lstStyle/>
          <a:p>
            <a:r>
              <a:rPr lang="en-US" altLang="zh-TW" sz="4000" dirty="0"/>
              <a:t>Combine Mem and R-type Instructions</a:t>
            </a:r>
            <a:endParaRPr lang="en-AU" altLang="zh-TW" sz="4000" dirty="0">
              <a:ea typeface="新細明體" panose="02020500000000000000" pitchFamily="18" charset="-120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46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6B905F-0223-47B6-87FE-E478406F6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56" y="1227188"/>
            <a:ext cx="9211961" cy="4848902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6498E48E-8588-40F0-8083-33AE96DB69B9}"/>
              </a:ext>
            </a:extLst>
          </p:cNvPr>
          <p:cNvSpPr/>
          <p:nvPr/>
        </p:nvSpPr>
        <p:spPr bwMode="auto">
          <a:xfrm>
            <a:off x="5095314" y="2334639"/>
            <a:ext cx="914400" cy="2062264"/>
          </a:xfrm>
          <a:prstGeom prst="ellips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E5DBC3B-E7D9-4BE2-BE9B-AD1CC80C3C7E}"/>
              </a:ext>
            </a:extLst>
          </p:cNvPr>
          <p:cNvSpPr/>
          <p:nvPr/>
        </p:nvSpPr>
        <p:spPr bwMode="auto">
          <a:xfrm>
            <a:off x="9236055" y="2175754"/>
            <a:ext cx="914400" cy="2062264"/>
          </a:xfrm>
          <a:prstGeom prst="ellips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新細明體" pitchFamily="18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1260183" y="58739"/>
            <a:ext cx="9045869" cy="901700"/>
          </a:xfrm>
        </p:spPr>
        <p:txBody>
          <a:bodyPr/>
          <a:lstStyle/>
          <a:p>
            <a:r>
              <a:rPr lang="en-US" altLang="zh-TW" dirty="0"/>
              <a:t>A Single Cycle RISC-V Processor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47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A5800BF9-B04E-4849-AE56-C4ADAD2E6A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655" y="1125537"/>
            <a:ext cx="11476162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882" indent="-342882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37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742913" indent="-28573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32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1142943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667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600121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2057298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1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2514476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652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829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007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zh-TW" sz="2667" kern="0" dirty="0"/>
              <a:t> </a:t>
            </a:r>
            <a:r>
              <a:rPr lang="en-US" altLang="zh-TW" sz="3200" kern="0" dirty="0"/>
              <a:t>On every tick of the clock, the processor executes one instruction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TW" sz="2800" kern="0" dirty="0"/>
              <a:t>Current outputs of the state elements drive the inputs to the combinational logic.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TW" sz="2800" kern="0" dirty="0"/>
              <a:t>The outputs of the combinational logic settle at the inputs to the state elements before the rising of the next clock edge.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3333" kern="0" dirty="0"/>
              <a:t>At the next rising edge of the clock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TW" sz="2800" kern="0" dirty="0"/>
              <a:t>All state elements are updated with the combinational logic outputs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altLang="zh-TW" sz="2800" kern="0" dirty="0"/>
              <a:t>The execution moves to the next clock cycle</a:t>
            </a:r>
          </a:p>
        </p:txBody>
      </p:sp>
    </p:spTree>
    <p:extLst>
      <p:ext uri="{BB962C8B-B14F-4D97-AF65-F5344CB8AC3E}">
        <p14:creationId xmlns:p14="http://schemas.microsoft.com/office/powerpoint/2010/main" val="22155902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3"/>
          <p:cNvSpPr>
            <a:spLocks noGrp="1" noChangeArrowheads="1"/>
          </p:cNvSpPr>
          <p:nvPr>
            <p:ph type="title"/>
          </p:nvPr>
        </p:nvSpPr>
        <p:spPr>
          <a:xfrm>
            <a:off x="1270428" y="143436"/>
            <a:ext cx="9035624" cy="686441"/>
          </a:xfrm>
        </p:spPr>
        <p:txBody>
          <a:bodyPr/>
          <a:lstStyle/>
          <a:p>
            <a:r>
              <a:rPr lang="en-US" altLang="zh-TW" dirty="0">
                <a:cs typeface="Calibri" panose="020F0702030404030204" pitchFamily="34" charset="0"/>
              </a:rPr>
              <a:t>A Single Cycle Data Path</a:t>
            </a:r>
          </a:p>
        </p:txBody>
      </p:sp>
      <p:sp>
        <p:nvSpPr>
          <p:cNvPr id="4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48</a:t>
            </a:fld>
            <a:endParaRPr lang="zh-TW" altLang="en-US">
              <a:solidFill>
                <a:prstClr val="white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FBB95-9019-4710-8035-BBBCDDE7F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227" y="1044380"/>
            <a:ext cx="10359956" cy="5210899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14C2BC3-0A79-41B4-B81E-475315D5FA5C}"/>
              </a:ext>
            </a:extLst>
          </p:cNvPr>
          <p:cNvCxnSpPr/>
          <p:nvPr/>
        </p:nvCxnSpPr>
        <p:spPr bwMode="auto">
          <a:xfrm>
            <a:off x="8686800" y="1643974"/>
            <a:ext cx="0" cy="1313235"/>
          </a:xfrm>
          <a:prstGeom prst="straightConnector1">
            <a:avLst/>
          </a:prstGeom>
          <a:noFill/>
          <a:ln w="15875" cap="flat" cmpd="sng" algn="ctr">
            <a:solidFill>
              <a:schemeClr val="tx1"/>
            </a:solidFill>
            <a:prstDash val="solid"/>
            <a:round/>
            <a:headEnd type="oval" w="med" len="med"/>
            <a:tailEnd type="oval" w="med" len="med"/>
          </a:ln>
          <a:effectLst/>
        </p:spPr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B229E37-0E09-494F-9475-999ACAED3B72}"/>
              </a:ext>
            </a:extLst>
          </p:cNvPr>
          <p:cNvCxnSpPr/>
          <p:nvPr/>
        </p:nvCxnSpPr>
        <p:spPr bwMode="auto">
          <a:xfrm>
            <a:off x="8677072" y="2957209"/>
            <a:ext cx="1945532" cy="0"/>
          </a:xfrm>
          <a:prstGeom prst="line">
            <a:avLst/>
          </a:prstGeom>
          <a:noFill/>
          <a:ln w="158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57E3F5-011A-4201-B600-0AAE30DAB884}"/>
              </a:ext>
            </a:extLst>
          </p:cNvPr>
          <p:cNvCxnSpPr/>
          <p:nvPr/>
        </p:nvCxnSpPr>
        <p:spPr bwMode="auto">
          <a:xfrm>
            <a:off x="10612877" y="2957209"/>
            <a:ext cx="0" cy="982493"/>
          </a:xfrm>
          <a:prstGeom prst="straightConnector1">
            <a:avLst/>
          </a:prstGeom>
          <a:noFill/>
          <a:ln w="158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FEBB76-B293-40A6-8740-EB6D10184C4D}"/>
              </a:ext>
            </a:extLst>
          </p:cNvPr>
          <p:cNvSpPr txBox="1"/>
          <p:nvPr/>
        </p:nvSpPr>
        <p:spPr>
          <a:xfrm>
            <a:off x="9355957" y="2526921"/>
            <a:ext cx="23262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Add this path for JAL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1E6B6-4B44-456F-9E9C-32B8B7EC2157}"/>
              </a:ext>
            </a:extLst>
          </p:cNvPr>
          <p:cNvSpPr txBox="1"/>
          <p:nvPr/>
        </p:nvSpPr>
        <p:spPr>
          <a:xfrm>
            <a:off x="10622604" y="3448455"/>
            <a:ext cx="8899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b="1" dirty="0">
              <a:solidFill>
                <a:srgbClr val="FF00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773836-BA0C-43AF-9804-618CA579B359}"/>
              </a:ext>
            </a:extLst>
          </p:cNvPr>
          <p:cNvCxnSpPr>
            <a:cxnSpLocks/>
          </p:cNvCxnSpPr>
          <p:nvPr/>
        </p:nvCxnSpPr>
        <p:spPr bwMode="auto">
          <a:xfrm>
            <a:off x="10807430" y="3659557"/>
            <a:ext cx="0" cy="280145"/>
          </a:xfrm>
          <a:prstGeom prst="straightConnector1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58739"/>
            <a:ext cx="11038417" cy="901700"/>
          </a:xfrm>
        </p:spPr>
        <p:txBody>
          <a:bodyPr/>
          <a:lstStyle/>
          <a:p>
            <a:r>
              <a:rPr lang="en-US" altLang="zh-TW" sz="4000" dirty="0"/>
              <a:t>Limitations of a Single-Cycle Implementation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49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A5800BF9-B04E-4849-AE56-C4ADAD2E6A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655" y="1125537"/>
            <a:ext cx="11476162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882" indent="-342882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37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742913" indent="-28573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32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1142943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667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600121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2057298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1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2514476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652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829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007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zh-TW" sz="2667" kern="0" dirty="0"/>
              <a:t>Resources cannot be reused. So there are multiple adders – for PC updates, and for ALU.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667" kern="0" dirty="0"/>
              <a:t>Instruction memory and data memory are separated. In a single cycle, you may not go through the same combinational logic or the state more than once.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667" kern="0" dirty="0"/>
              <a:t>Do we need duplicated register file? How to read two registers, and write one at the same time?  We will need two </a:t>
            </a:r>
            <a:r>
              <a:rPr lang="en-US" altLang="zh-TW" sz="2667" kern="0" dirty="0">
                <a:solidFill>
                  <a:srgbClr val="FF0000"/>
                </a:solidFill>
              </a:rPr>
              <a:t>read ports</a:t>
            </a:r>
            <a:r>
              <a:rPr lang="en-US" altLang="zh-TW" sz="2667" kern="0" dirty="0"/>
              <a:t> and one </a:t>
            </a:r>
            <a:r>
              <a:rPr lang="en-US" altLang="zh-TW" sz="2667" kern="0" dirty="0">
                <a:solidFill>
                  <a:srgbClr val="FF0000"/>
                </a:solidFill>
              </a:rPr>
              <a:t>write port</a:t>
            </a:r>
            <a:r>
              <a:rPr lang="en-US" altLang="zh-TW" sz="2667" kern="0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667" kern="0" dirty="0"/>
              <a:t>A single cycle design, registers are updated at the rise of the clock, and the registers are updated, and then the outputs from registers are send to the combinational logic. </a:t>
            </a:r>
            <a:endParaRPr lang="en-US" altLang="zh-TW" sz="2800" kern="0" dirty="0"/>
          </a:p>
        </p:txBody>
      </p:sp>
    </p:spTree>
    <p:extLst>
      <p:ext uri="{BB962C8B-B14F-4D97-AF65-F5344CB8AC3E}">
        <p14:creationId xmlns:p14="http://schemas.microsoft.com/office/powerpoint/2010/main" val="20599399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1260183" y="58739"/>
            <a:ext cx="10692634" cy="901700"/>
          </a:xfrm>
        </p:spPr>
        <p:txBody>
          <a:bodyPr/>
          <a:lstStyle/>
          <a:p>
            <a:r>
              <a:rPr lang="en-US" altLang="zh-TW" sz="4000" dirty="0"/>
              <a:t>Inefficiency in a Single Cycle Implementation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50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A5800BF9-B04E-4849-AE56-C4ADAD2E6A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655" y="1125537"/>
            <a:ext cx="11476162" cy="4895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882" indent="-342882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80000"/>
              <a:buFont typeface="Wingdings" pitchFamily="2" charset="2"/>
              <a:buChar char="l"/>
              <a:defRPr kumimoji="1" sz="37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+mn-cs"/>
              </a:defRPr>
            </a:lvl1pPr>
            <a:lvl2pPr marL="742913" indent="-285737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0000FF"/>
              </a:buClr>
              <a:buSzPct val="90000"/>
              <a:buFont typeface="Arial" charset="0"/>
              <a:buChar char="–"/>
              <a:defRPr kumimoji="1" sz="3200">
                <a:solidFill>
                  <a:schemeClr val="tx1"/>
                </a:solidFill>
                <a:latin typeface="Calibri" pitchFamily="34" charset="0"/>
                <a:ea typeface="標楷體" pitchFamily="65" charset="-120"/>
              </a:defRPr>
            </a:lvl2pPr>
            <a:lvl3pPr marL="1142943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667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 marL="1600121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400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 marL="2057298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133">
                <a:solidFill>
                  <a:schemeClr val="tx1"/>
                </a:solidFill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  <a:lvl6pPr marL="2514476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652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829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007" indent="-22858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altLang="zh-TW" sz="2800" kern="0" dirty="0"/>
              <a:t>Some computations are iterative such as multiply and divide.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800" kern="0" dirty="0"/>
              <a:t>Multiply and divide may need to iterate through the same combinational logic resources many times. In a single-cycle implementation, the logic must be replicated many times.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800" kern="0" dirty="0"/>
              <a:t>The above implementation is way too expensive. So, one way to reduce the cost is to allow the implementation to iterate through the same resource using a counter. However, that means we need to use a faster clock to sync each step. Such instructions then become multi-cycle instructions.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altLang="zh-TW" sz="2800" kern="0" dirty="0"/>
              <a:t>Multi-cycle implementation is one step between single-cycle implementation and pipelined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28339512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9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677" y="1330265"/>
            <a:ext cx="9575800" cy="4602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prstDash val="sysDot"/>
                <a:miter lim="800000"/>
                <a:headEnd type="none" w="sm" len="sm"/>
                <a:tailEnd type="none" w="sm" len="sm"/>
              </a14:hiddenLine>
            </a:ext>
          </a:extLst>
        </p:spPr>
      </p:pic>
      <p:sp>
        <p:nvSpPr>
          <p:cNvPr id="37891" name="Rectangle 3"/>
          <p:cNvSpPr>
            <a:spLocks noGrp="1" noChangeArrowheads="1"/>
          </p:cNvSpPr>
          <p:nvPr>
            <p:ph type="title"/>
          </p:nvPr>
        </p:nvSpPr>
        <p:spPr>
          <a:xfrm>
            <a:off x="1270428" y="143436"/>
            <a:ext cx="9035624" cy="686441"/>
          </a:xfrm>
        </p:spPr>
        <p:txBody>
          <a:bodyPr/>
          <a:lstStyle/>
          <a:p>
            <a:r>
              <a:rPr lang="en-US" altLang="zh-TW" dirty="0">
                <a:cs typeface="Calibri" panose="020F0702030404030204" pitchFamily="34" charset="0"/>
              </a:rPr>
              <a:t>Data Flow during add </a:t>
            </a:r>
            <a:r>
              <a:rPr lang="en-US" altLang="zh-TW" dirty="0" err="1">
                <a:cs typeface="Calibri" panose="020F0702030404030204" pitchFamily="34" charset="0"/>
              </a:rPr>
              <a:t>rd</a:t>
            </a:r>
            <a:r>
              <a:rPr lang="en-US" altLang="zh-TW" dirty="0">
                <a:cs typeface="Calibri" panose="020F0702030404030204" pitchFamily="34" charset="0"/>
              </a:rPr>
              <a:t>, rs1, rs2</a:t>
            </a:r>
          </a:p>
        </p:txBody>
      </p:sp>
      <p:sp>
        <p:nvSpPr>
          <p:cNvPr id="37893" name="Text Box 6"/>
          <p:cNvSpPr txBox="1">
            <a:spLocks noChangeArrowheads="1"/>
          </p:cNvSpPr>
          <p:nvPr/>
        </p:nvSpPr>
        <p:spPr bwMode="auto">
          <a:xfrm rot="5400000" flipH="1">
            <a:off x="1021817" y="4359374"/>
            <a:ext cx="13520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prstDash val="sysDot"/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5000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srgbClr val="4F81BD"/>
                </a:solidFill>
                <a:latin typeface="Courier New" panose="02070309020205020404" pitchFamily="49" charset="0"/>
                <a:ea typeface="新細明體" panose="02020500000000000000" pitchFamily="18" charset="-120"/>
              </a:rPr>
              <a:t>100..0100</a:t>
            </a:r>
            <a:endParaRPr kumimoji="1" lang="zh-TW" altLang="en-US" sz="1800" b="0" dirty="0">
              <a:solidFill>
                <a:srgbClr val="4F81BD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376839" name="Line 7"/>
          <p:cNvSpPr>
            <a:spLocks noChangeShapeType="1"/>
          </p:cNvSpPr>
          <p:nvPr/>
        </p:nvSpPr>
        <p:spPr bwMode="auto">
          <a:xfrm>
            <a:off x="1885951" y="3555147"/>
            <a:ext cx="9906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0" name="Freeform 8"/>
          <p:cNvSpPr/>
          <p:nvPr/>
        </p:nvSpPr>
        <p:spPr bwMode="auto">
          <a:xfrm>
            <a:off x="2876551" y="4013936"/>
            <a:ext cx="1095375" cy="7937"/>
          </a:xfrm>
          <a:custGeom>
            <a:avLst/>
            <a:gdLst>
              <a:gd name="T0" fmla="*/ 2147483647 w 637"/>
              <a:gd name="T1" fmla="*/ 2147483647 h 5"/>
              <a:gd name="T2" fmla="*/ 0 w 637"/>
              <a:gd name="T3" fmla="*/ 0 h 5"/>
              <a:gd name="T4" fmla="*/ 0 60000 65536"/>
              <a:gd name="T5" fmla="*/ 0 60000 65536"/>
              <a:gd name="T6" fmla="*/ 0 w 637"/>
              <a:gd name="T7" fmla="*/ 0 h 5"/>
              <a:gd name="T8" fmla="*/ 637 w 637"/>
              <a:gd name="T9" fmla="*/ 5 h 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637" h="5">
                <a:moveTo>
                  <a:pt x="637" y="5"/>
                </a:moveTo>
                <a:lnTo>
                  <a:pt x="0" y="0"/>
                </a:lnTo>
              </a:path>
            </a:pathLst>
          </a:cu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1" name="Line 9"/>
          <p:cNvSpPr>
            <a:spLocks noChangeShapeType="1"/>
          </p:cNvSpPr>
          <p:nvPr/>
        </p:nvSpPr>
        <p:spPr bwMode="auto">
          <a:xfrm>
            <a:off x="2876551" y="3555147"/>
            <a:ext cx="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2" name="Line 10"/>
          <p:cNvSpPr>
            <a:spLocks noChangeShapeType="1"/>
          </p:cNvSpPr>
          <p:nvPr/>
        </p:nvSpPr>
        <p:spPr bwMode="auto">
          <a:xfrm>
            <a:off x="2051051" y="1726347"/>
            <a:ext cx="0" cy="1828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3" name="Line 11"/>
          <p:cNvSpPr>
            <a:spLocks noChangeShapeType="1"/>
          </p:cNvSpPr>
          <p:nvPr/>
        </p:nvSpPr>
        <p:spPr bwMode="auto">
          <a:xfrm flipH="1">
            <a:off x="2051051" y="1726347"/>
            <a:ext cx="6604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4" name="Line 12"/>
          <p:cNvSpPr>
            <a:spLocks noChangeShapeType="1"/>
          </p:cNvSpPr>
          <p:nvPr/>
        </p:nvSpPr>
        <p:spPr bwMode="auto">
          <a:xfrm flipH="1">
            <a:off x="3929064" y="3478947"/>
            <a:ext cx="20637" cy="725488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5" name="Line 13"/>
          <p:cNvSpPr>
            <a:spLocks noChangeShapeType="1"/>
          </p:cNvSpPr>
          <p:nvPr/>
        </p:nvSpPr>
        <p:spPr bwMode="auto">
          <a:xfrm flipH="1">
            <a:off x="3949701" y="3478947"/>
            <a:ext cx="412751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6" name="Line 14"/>
          <p:cNvSpPr>
            <a:spLocks noChangeShapeType="1"/>
          </p:cNvSpPr>
          <p:nvPr/>
        </p:nvSpPr>
        <p:spPr bwMode="auto">
          <a:xfrm flipH="1">
            <a:off x="3949701" y="3859947"/>
            <a:ext cx="412751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7" name="Freeform 15"/>
          <p:cNvSpPr/>
          <p:nvPr/>
        </p:nvSpPr>
        <p:spPr bwMode="auto">
          <a:xfrm>
            <a:off x="2711451" y="1726347"/>
            <a:ext cx="498475" cy="387351"/>
          </a:xfrm>
          <a:custGeom>
            <a:avLst/>
            <a:gdLst>
              <a:gd name="T0" fmla="*/ 2147483647 w 290"/>
              <a:gd name="T1" fmla="*/ 2147483647 h 244"/>
              <a:gd name="T2" fmla="*/ 2147483647 w 290"/>
              <a:gd name="T3" fmla="*/ 2147483647 h 244"/>
              <a:gd name="T4" fmla="*/ 0 w 290"/>
              <a:gd name="T5" fmla="*/ 0 h 244"/>
              <a:gd name="T6" fmla="*/ 0 60000 65536"/>
              <a:gd name="T7" fmla="*/ 0 60000 65536"/>
              <a:gd name="T8" fmla="*/ 0 60000 65536"/>
              <a:gd name="T9" fmla="*/ 0 w 290"/>
              <a:gd name="T10" fmla="*/ 0 h 244"/>
              <a:gd name="T11" fmla="*/ 290 w 290"/>
              <a:gd name="T12" fmla="*/ 244 h 2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90" h="244">
                <a:moveTo>
                  <a:pt x="288" y="192"/>
                </a:moveTo>
                <a:lnTo>
                  <a:pt x="290" y="244"/>
                </a:lnTo>
                <a:lnTo>
                  <a:pt x="0" y="0"/>
                </a:lnTo>
              </a:path>
            </a:pathLst>
          </a:cu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8" name="Freeform 16"/>
          <p:cNvSpPr/>
          <p:nvPr/>
        </p:nvSpPr>
        <p:spPr bwMode="auto">
          <a:xfrm>
            <a:off x="3197226" y="2107347"/>
            <a:ext cx="2651125" cy="6351"/>
          </a:xfrm>
          <a:custGeom>
            <a:avLst/>
            <a:gdLst>
              <a:gd name="T0" fmla="*/ 2147483647 w 1542"/>
              <a:gd name="T1" fmla="*/ 0 h 4"/>
              <a:gd name="T2" fmla="*/ 0 w 1542"/>
              <a:gd name="T3" fmla="*/ 2147483647 h 4"/>
              <a:gd name="T4" fmla="*/ 0 60000 65536"/>
              <a:gd name="T5" fmla="*/ 0 60000 65536"/>
              <a:gd name="T6" fmla="*/ 0 w 1542"/>
              <a:gd name="T7" fmla="*/ 0 h 4"/>
              <a:gd name="T8" fmla="*/ 1542 w 1542"/>
              <a:gd name="T9" fmla="*/ 4 h 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542" h="4">
                <a:moveTo>
                  <a:pt x="1542" y="0"/>
                </a:moveTo>
                <a:lnTo>
                  <a:pt x="0" y="4"/>
                </a:lnTo>
              </a:path>
            </a:pathLst>
          </a:cu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49" name="Line 17"/>
          <p:cNvSpPr>
            <a:spLocks noChangeShapeType="1"/>
          </p:cNvSpPr>
          <p:nvPr/>
        </p:nvSpPr>
        <p:spPr bwMode="auto">
          <a:xfrm>
            <a:off x="5848351" y="1802547"/>
            <a:ext cx="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0" name="Line 18"/>
          <p:cNvSpPr>
            <a:spLocks noChangeShapeType="1"/>
          </p:cNvSpPr>
          <p:nvPr/>
        </p:nvSpPr>
        <p:spPr bwMode="auto">
          <a:xfrm flipH="1">
            <a:off x="5848351" y="1802547"/>
            <a:ext cx="31369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1" name="Line 19"/>
          <p:cNvSpPr>
            <a:spLocks noChangeShapeType="1"/>
          </p:cNvSpPr>
          <p:nvPr/>
        </p:nvSpPr>
        <p:spPr bwMode="auto">
          <a:xfrm>
            <a:off x="4279900" y="3478947"/>
            <a:ext cx="1568451" cy="152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2" name="Line 20"/>
          <p:cNvSpPr>
            <a:spLocks noChangeShapeType="1"/>
          </p:cNvSpPr>
          <p:nvPr/>
        </p:nvSpPr>
        <p:spPr bwMode="auto">
          <a:xfrm>
            <a:off x="5848351" y="3631347"/>
            <a:ext cx="13208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3" name="Line 21"/>
          <p:cNvSpPr>
            <a:spLocks noChangeShapeType="1"/>
          </p:cNvSpPr>
          <p:nvPr/>
        </p:nvSpPr>
        <p:spPr bwMode="auto">
          <a:xfrm>
            <a:off x="4362451" y="3859947"/>
            <a:ext cx="14859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4" name="Line 22"/>
          <p:cNvSpPr>
            <a:spLocks noChangeShapeType="1"/>
          </p:cNvSpPr>
          <p:nvPr/>
        </p:nvSpPr>
        <p:spPr bwMode="auto">
          <a:xfrm>
            <a:off x="5848351" y="4164747"/>
            <a:ext cx="24765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5" name="Line 23"/>
          <p:cNvSpPr>
            <a:spLocks noChangeShapeType="1"/>
          </p:cNvSpPr>
          <p:nvPr/>
        </p:nvSpPr>
        <p:spPr bwMode="auto">
          <a:xfrm>
            <a:off x="7169149" y="3631347"/>
            <a:ext cx="908051" cy="533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6" name="Line 24"/>
          <p:cNvSpPr>
            <a:spLocks noChangeShapeType="1"/>
          </p:cNvSpPr>
          <p:nvPr/>
        </p:nvSpPr>
        <p:spPr bwMode="auto">
          <a:xfrm>
            <a:off x="8324851" y="4164747"/>
            <a:ext cx="0" cy="15240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7" name="Freeform 25"/>
          <p:cNvSpPr/>
          <p:nvPr/>
        </p:nvSpPr>
        <p:spPr bwMode="auto">
          <a:xfrm>
            <a:off x="8324851" y="5674461"/>
            <a:ext cx="1752600" cy="14287"/>
          </a:xfrm>
          <a:custGeom>
            <a:avLst/>
            <a:gdLst>
              <a:gd name="T0" fmla="*/ 0 w 1019"/>
              <a:gd name="T1" fmla="*/ 2147483647 h 9"/>
              <a:gd name="T2" fmla="*/ 2147483647 w 1019"/>
              <a:gd name="T3" fmla="*/ 0 h 9"/>
              <a:gd name="T4" fmla="*/ 0 60000 65536"/>
              <a:gd name="T5" fmla="*/ 0 60000 65536"/>
              <a:gd name="T6" fmla="*/ 0 w 1019"/>
              <a:gd name="T7" fmla="*/ 0 h 9"/>
              <a:gd name="T8" fmla="*/ 1019 w 1019"/>
              <a:gd name="T9" fmla="*/ 9 h 9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019" h="9">
                <a:moveTo>
                  <a:pt x="0" y="9"/>
                </a:moveTo>
                <a:lnTo>
                  <a:pt x="1019" y="0"/>
                </a:lnTo>
              </a:path>
            </a:pathLst>
          </a:cu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8" name="Line 26"/>
          <p:cNvSpPr>
            <a:spLocks noChangeShapeType="1"/>
          </p:cNvSpPr>
          <p:nvPr/>
        </p:nvSpPr>
        <p:spPr bwMode="auto">
          <a:xfrm>
            <a:off x="10058400" y="4698147"/>
            <a:ext cx="0" cy="990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59" name="Line 27"/>
          <p:cNvSpPr>
            <a:spLocks noChangeShapeType="1"/>
          </p:cNvSpPr>
          <p:nvPr/>
        </p:nvSpPr>
        <p:spPr bwMode="auto">
          <a:xfrm>
            <a:off x="10058401" y="4698147"/>
            <a:ext cx="1651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1" name="Line 29"/>
          <p:cNvSpPr>
            <a:spLocks noChangeShapeType="1"/>
          </p:cNvSpPr>
          <p:nvPr/>
        </p:nvSpPr>
        <p:spPr bwMode="auto">
          <a:xfrm flipV="1">
            <a:off x="10223500" y="4393347"/>
            <a:ext cx="247651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2" name="Line 30"/>
          <p:cNvSpPr>
            <a:spLocks noChangeShapeType="1"/>
          </p:cNvSpPr>
          <p:nvPr/>
        </p:nvSpPr>
        <p:spPr bwMode="auto">
          <a:xfrm>
            <a:off x="10471151" y="4393347"/>
            <a:ext cx="1651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4" name="Line 32"/>
          <p:cNvSpPr>
            <a:spLocks noChangeShapeType="1"/>
          </p:cNvSpPr>
          <p:nvPr/>
        </p:nvSpPr>
        <p:spPr bwMode="auto">
          <a:xfrm>
            <a:off x="10636251" y="4393347"/>
            <a:ext cx="0" cy="15240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5" name="Line 33"/>
          <p:cNvSpPr>
            <a:spLocks noChangeShapeType="1"/>
          </p:cNvSpPr>
          <p:nvPr/>
        </p:nvSpPr>
        <p:spPr bwMode="auto">
          <a:xfrm flipH="1">
            <a:off x="4114800" y="5917347"/>
            <a:ext cx="6521451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6" name="Line 34"/>
          <p:cNvSpPr>
            <a:spLocks noChangeShapeType="1"/>
          </p:cNvSpPr>
          <p:nvPr/>
        </p:nvSpPr>
        <p:spPr bwMode="auto">
          <a:xfrm flipH="1" flipV="1">
            <a:off x="4114800" y="4545747"/>
            <a:ext cx="0" cy="1371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7" name="Line 35"/>
          <p:cNvSpPr>
            <a:spLocks noChangeShapeType="1"/>
          </p:cNvSpPr>
          <p:nvPr/>
        </p:nvSpPr>
        <p:spPr bwMode="auto">
          <a:xfrm flipH="1" flipV="1">
            <a:off x="8985249" y="1802547"/>
            <a:ext cx="247651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8" name="Line 36"/>
          <p:cNvSpPr>
            <a:spLocks noChangeShapeType="1"/>
          </p:cNvSpPr>
          <p:nvPr/>
        </p:nvSpPr>
        <p:spPr bwMode="auto">
          <a:xfrm flipH="1" flipV="1">
            <a:off x="9232901" y="2107347"/>
            <a:ext cx="82551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69" name="Line 37"/>
          <p:cNvSpPr>
            <a:spLocks noChangeShapeType="1"/>
          </p:cNvSpPr>
          <p:nvPr/>
        </p:nvSpPr>
        <p:spPr bwMode="auto">
          <a:xfrm flipH="1">
            <a:off x="9315451" y="1345347"/>
            <a:ext cx="0" cy="7620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70" name="Freeform 38"/>
          <p:cNvSpPr/>
          <p:nvPr/>
        </p:nvSpPr>
        <p:spPr bwMode="auto">
          <a:xfrm>
            <a:off x="1336677" y="1348523"/>
            <a:ext cx="7978775" cy="9525"/>
          </a:xfrm>
          <a:custGeom>
            <a:avLst/>
            <a:gdLst>
              <a:gd name="T0" fmla="*/ 2147483647 w 4639"/>
              <a:gd name="T1" fmla="*/ 0 h 6"/>
              <a:gd name="T2" fmla="*/ 0 w 4639"/>
              <a:gd name="T3" fmla="*/ 2147483647 h 6"/>
              <a:gd name="T4" fmla="*/ 0 60000 65536"/>
              <a:gd name="T5" fmla="*/ 0 60000 65536"/>
              <a:gd name="T6" fmla="*/ 0 w 4639"/>
              <a:gd name="T7" fmla="*/ 0 h 6"/>
              <a:gd name="T8" fmla="*/ 4639 w 4639"/>
              <a:gd name="T9" fmla="*/ 6 h 6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4639" h="6">
                <a:moveTo>
                  <a:pt x="4639" y="0"/>
                </a:moveTo>
                <a:lnTo>
                  <a:pt x="0" y="6"/>
                </a:lnTo>
              </a:path>
            </a:pathLst>
          </a:cu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71" name="Line 39"/>
          <p:cNvSpPr>
            <a:spLocks noChangeShapeType="1"/>
          </p:cNvSpPr>
          <p:nvPr/>
        </p:nvSpPr>
        <p:spPr bwMode="auto">
          <a:xfrm flipV="1">
            <a:off x="1308100" y="1345347"/>
            <a:ext cx="0" cy="2209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376872" name="AutoShape 40"/>
          <p:cNvSpPr>
            <a:spLocks noChangeArrowheads="1"/>
          </p:cNvSpPr>
          <p:nvPr/>
        </p:nvSpPr>
        <p:spPr bwMode="auto">
          <a:xfrm>
            <a:off x="4197351" y="4393347"/>
            <a:ext cx="165100" cy="381000"/>
          </a:xfrm>
          <a:prstGeom prst="flowChartCollate">
            <a:avLst/>
          </a:prstGeom>
          <a:solidFill>
            <a:schemeClr val="bg1"/>
          </a:solidFill>
          <a:ln w="38100">
            <a:solidFill>
              <a:schemeClr val="hlink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376873" name="AutoShape 41"/>
          <p:cNvSpPr>
            <a:spLocks noChangeArrowheads="1"/>
          </p:cNvSpPr>
          <p:nvPr/>
        </p:nvSpPr>
        <p:spPr bwMode="auto">
          <a:xfrm>
            <a:off x="1390651" y="3402747"/>
            <a:ext cx="165100" cy="381000"/>
          </a:xfrm>
          <a:prstGeom prst="flowChartCollate">
            <a:avLst/>
          </a:prstGeom>
          <a:solidFill>
            <a:schemeClr val="bg1"/>
          </a:solidFill>
          <a:ln w="38100">
            <a:solidFill>
              <a:schemeClr val="hlink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37929" name="Text Box 43"/>
          <p:cNvSpPr txBox="1">
            <a:spLocks noChangeArrowheads="1"/>
          </p:cNvSpPr>
          <p:nvPr/>
        </p:nvSpPr>
        <p:spPr bwMode="auto">
          <a:xfrm>
            <a:off x="7208838" y="3088423"/>
            <a:ext cx="234951" cy="338554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en-US" altLang="zh-TW" sz="1600" b="0" dirty="0">
              <a:solidFill>
                <a:srgbClr val="FF6600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376876" name="Line 44"/>
          <p:cNvSpPr>
            <a:spLocks noChangeShapeType="1"/>
          </p:cNvSpPr>
          <p:nvPr/>
        </p:nvSpPr>
        <p:spPr bwMode="auto">
          <a:xfrm>
            <a:off x="3971926" y="4213960"/>
            <a:ext cx="339725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51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BB5C04-E989-4B87-9971-2B9FE408D426}"/>
              </a:ext>
            </a:extLst>
          </p:cNvPr>
          <p:cNvSpPr txBox="1"/>
          <p:nvPr/>
        </p:nvSpPr>
        <p:spPr>
          <a:xfrm>
            <a:off x="6660268" y="2672150"/>
            <a:ext cx="356188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b="1" dirty="0">
                <a:ea typeface="標楷體" pitchFamily="65" charset="-120"/>
                <a:cs typeface="Calibri" pitchFamily="34" charset="0"/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4DFCCF-7B98-4B25-BE80-6A88BCD6626B}"/>
              </a:ext>
            </a:extLst>
          </p:cNvPr>
          <p:cNvSpPr txBox="1"/>
          <p:nvPr/>
        </p:nvSpPr>
        <p:spPr>
          <a:xfrm>
            <a:off x="4675762" y="4895731"/>
            <a:ext cx="527709" cy="461665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sz="2400" b="1" dirty="0">
                <a:ea typeface="標楷體" pitchFamily="65" charset="-120"/>
                <a:cs typeface="Calibri" pitchFamily="34" charset="0"/>
              </a:rPr>
              <a:t>12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3A1EFB7-F697-4209-973A-E2C28922F1B6}"/>
              </a:ext>
            </a:extLst>
          </p:cNvPr>
          <p:cNvCxnSpPr/>
          <p:nvPr/>
        </p:nvCxnSpPr>
        <p:spPr bwMode="auto">
          <a:xfrm>
            <a:off x="8693797" y="1796835"/>
            <a:ext cx="0" cy="1313235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oval" w="med" len="med"/>
            <a:tailEnd type="oval" w="med" len="med"/>
          </a:ln>
          <a:effectLst/>
        </p:spPr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7ACBCF0-4550-4445-B860-1C62D2F911F1}"/>
              </a:ext>
            </a:extLst>
          </p:cNvPr>
          <p:cNvCxnSpPr>
            <a:cxnSpLocks/>
          </p:cNvCxnSpPr>
          <p:nvPr/>
        </p:nvCxnSpPr>
        <p:spPr bwMode="auto">
          <a:xfrm>
            <a:off x="8684069" y="3110070"/>
            <a:ext cx="1705071" cy="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0A02DEC6-450E-44A0-9652-371B8A52BB53}"/>
              </a:ext>
            </a:extLst>
          </p:cNvPr>
          <p:cNvCxnSpPr>
            <a:cxnSpLocks/>
          </p:cNvCxnSpPr>
          <p:nvPr/>
        </p:nvCxnSpPr>
        <p:spPr bwMode="auto">
          <a:xfrm>
            <a:off x="10389140" y="3088423"/>
            <a:ext cx="0" cy="93345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BF4A7D9-6183-489B-90C4-C7A11111A9FD}"/>
              </a:ext>
            </a:extLst>
          </p:cNvPr>
          <p:cNvSpPr txBox="1"/>
          <p:nvPr/>
        </p:nvSpPr>
        <p:spPr>
          <a:xfrm>
            <a:off x="8829984" y="2744249"/>
            <a:ext cx="2326278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Add this path for JAL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B68EA72-8041-4F83-A293-D56DB90B25C3}"/>
              </a:ext>
            </a:extLst>
          </p:cNvPr>
          <p:cNvSpPr txBox="1"/>
          <p:nvPr/>
        </p:nvSpPr>
        <p:spPr>
          <a:xfrm>
            <a:off x="10085423" y="3513452"/>
            <a:ext cx="8899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b="1" dirty="0">
              <a:solidFill>
                <a:srgbClr val="FF00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04F4144B-1604-48C9-B173-0B6E73352F64}"/>
              </a:ext>
            </a:extLst>
          </p:cNvPr>
          <p:cNvCxnSpPr>
            <a:cxnSpLocks/>
          </p:cNvCxnSpPr>
          <p:nvPr/>
        </p:nvCxnSpPr>
        <p:spPr bwMode="auto">
          <a:xfrm>
            <a:off x="10471151" y="3826697"/>
            <a:ext cx="0" cy="280145"/>
          </a:xfrm>
          <a:prstGeom prst="straightConnector1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6790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768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768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768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768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7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768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768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768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768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768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768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768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768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7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768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768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768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768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768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768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768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768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500"/>
                            </p:stCondLst>
                            <p:childTnLst>
                              <p:par>
                                <p:cTn id="43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3768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3768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3768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3768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7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3768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3768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3768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3768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3768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3768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3768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3768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000"/>
                            </p:stCondLst>
                            <p:childTnLst>
                              <p:par>
                                <p:cTn id="65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3768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3768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3768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3768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00"/>
                            </p:stCondLst>
                            <p:childTnLst>
                              <p:par>
                                <p:cTn id="72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3768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3768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3768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3768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000"/>
                            </p:stCondLst>
                            <p:childTnLst>
                              <p:par>
                                <p:cTn id="79" presetID="17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3768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3768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3768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3768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2500"/>
                            </p:stCondLst>
                            <p:childTnLst>
                              <p:par>
                                <p:cTn id="86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3768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3768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3768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3768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7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3768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768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3768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3768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500"/>
                            </p:stCondLst>
                            <p:childTnLst>
                              <p:par>
                                <p:cTn id="101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3768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3768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3768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3768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000"/>
                            </p:stCondLst>
                            <p:childTnLst>
                              <p:par>
                                <p:cTn id="108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3768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3768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3768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3768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15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3768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3768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3768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0" fill="hold"/>
                                        <p:tgtEl>
                                          <p:spTgt spid="3768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2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4" dur="500" fill="hold"/>
                                        <p:tgtEl>
                                          <p:spTgt spid="3768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500" fill="hold"/>
                                        <p:tgtEl>
                                          <p:spTgt spid="3768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3768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3768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7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3768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3768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500" fill="hold"/>
                                        <p:tgtEl>
                                          <p:spTgt spid="3768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500" fill="hold"/>
                                        <p:tgtEl>
                                          <p:spTgt spid="3768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500"/>
                            </p:stCondLst>
                            <p:childTnLst>
                              <p:par>
                                <p:cTn id="137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3768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3768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3768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768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4" presetID="17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3768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768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3768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3768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1500"/>
                            </p:stCondLst>
                            <p:childTnLst>
                              <p:par>
                                <p:cTn id="151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3768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3768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3768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3768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2000"/>
                            </p:stCondLst>
                            <p:childTnLst>
                              <p:par>
                                <p:cTn id="158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3768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3768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500" fill="hold"/>
                                        <p:tgtEl>
                                          <p:spTgt spid="3768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3768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2500"/>
                            </p:stCondLst>
                            <p:childTnLst>
                              <p:par>
                                <p:cTn id="165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3768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500" fill="hold"/>
                                        <p:tgtEl>
                                          <p:spTgt spid="3768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3768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3768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7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3768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3768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500" fill="hold"/>
                                        <p:tgtEl>
                                          <p:spTgt spid="3768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" dur="500" fill="hold"/>
                                        <p:tgtEl>
                                          <p:spTgt spid="3768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500"/>
                            </p:stCondLst>
                            <p:childTnLst>
                              <p:par>
                                <p:cTn id="180" presetID="17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3768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500" fill="hold"/>
                                        <p:tgtEl>
                                          <p:spTgt spid="3768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500" fill="hold"/>
                                        <p:tgtEl>
                                          <p:spTgt spid="3768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500" fill="hold"/>
                                        <p:tgtEl>
                                          <p:spTgt spid="3768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1000"/>
                            </p:stCondLst>
                            <p:childTnLst>
                              <p:par>
                                <p:cTn id="187" presetID="17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9" dur="500" fill="hold"/>
                                        <p:tgtEl>
                                          <p:spTgt spid="3768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500" fill="hold"/>
                                        <p:tgtEl>
                                          <p:spTgt spid="3768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500" fill="hold"/>
                                        <p:tgtEl>
                                          <p:spTgt spid="3768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2" dur="500" fill="hold"/>
                                        <p:tgtEl>
                                          <p:spTgt spid="3768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500"/>
                            </p:stCondLst>
                            <p:childTnLst>
                              <p:par>
                                <p:cTn id="194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6" dur="500" fill="hold"/>
                                        <p:tgtEl>
                                          <p:spTgt spid="3768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500" fill="hold"/>
                                        <p:tgtEl>
                                          <p:spTgt spid="3768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8" dur="500" fill="hold"/>
                                        <p:tgtEl>
                                          <p:spTgt spid="3768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500" fill="hold"/>
                                        <p:tgtEl>
                                          <p:spTgt spid="3768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2000"/>
                            </p:stCondLst>
                            <p:childTnLst>
                              <p:par>
                                <p:cTn id="201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3" dur="500" fill="hold"/>
                                        <p:tgtEl>
                                          <p:spTgt spid="3768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500" fill="hold"/>
                                        <p:tgtEl>
                                          <p:spTgt spid="3768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500" fill="hold"/>
                                        <p:tgtEl>
                                          <p:spTgt spid="3768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6" dur="500" fill="hold"/>
                                        <p:tgtEl>
                                          <p:spTgt spid="3768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2500"/>
                            </p:stCondLst>
                            <p:childTnLst>
                              <p:par>
                                <p:cTn id="208" presetID="17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0" dur="500" fill="hold"/>
                                        <p:tgtEl>
                                          <p:spTgt spid="3768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1" dur="500" fill="hold"/>
                                        <p:tgtEl>
                                          <p:spTgt spid="3768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3768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500" fill="hold"/>
                                        <p:tgtEl>
                                          <p:spTgt spid="3768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4" fill="hold">
                            <p:stCondLst>
                              <p:cond delay="3000"/>
                            </p:stCondLst>
                            <p:childTnLst>
                              <p:par>
                                <p:cTn id="215" presetID="17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7" dur="500" fill="hold"/>
                                        <p:tgtEl>
                                          <p:spTgt spid="3768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8" dur="500" fill="hold"/>
                                        <p:tgtEl>
                                          <p:spTgt spid="3768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9" dur="500" fill="hold"/>
                                        <p:tgtEl>
                                          <p:spTgt spid="37687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500" fill="hold"/>
                                        <p:tgtEl>
                                          <p:spTgt spid="37687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2" presetID="17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4" dur="500" fill="hold"/>
                                        <p:tgtEl>
                                          <p:spTgt spid="3768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500" fill="hold"/>
                                        <p:tgtEl>
                                          <p:spTgt spid="3768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6" dur="500" fill="hold"/>
                                        <p:tgtEl>
                                          <p:spTgt spid="3768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500" fill="hold"/>
                                        <p:tgtEl>
                                          <p:spTgt spid="3768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500"/>
                            </p:stCondLst>
                            <p:childTnLst>
                              <p:par>
                                <p:cTn id="2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6872" grpId="0" animBg="1"/>
      <p:bldP spid="37687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ChangeArrowheads="1"/>
          </p:cNvSpPr>
          <p:nvPr/>
        </p:nvSpPr>
        <p:spPr bwMode="auto">
          <a:xfrm>
            <a:off x="6386557" y="4067043"/>
            <a:ext cx="101758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ALUctr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0" name="Rectangle 4"/>
          <p:cNvSpPr>
            <a:spLocks noChangeArrowheads="1"/>
          </p:cNvSpPr>
          <p:nvPr/>
        </p:nvSpPr>
        <p:spPr bwMode="auto">
          <a:xfrm>
            <a:off x="5475859" y="4065626"/>
            <a:ext cx="936154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ALUSrc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1" name="Rectangle 5"/>
          <p:cNvSpPr>
            <a:spLocks noChangeArrowheads="1"/>
          </p:cNvSpPr>
          <p:nvPr/>
        </p:nvSpPr>
        <p:spPr bwMode="auto">
          <a:xfrm>
            <a:off x="4477637" y="4057931"/>
            <a:ext cx="926536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MemRd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2" name="Rectangle 6"/>
          <p:cNvSpPr>
            <a:spLocks noChangeArrowheads="1"/>
          </p:cNvSpPr>
          <p:nvPr/>
        </p:nvSpPr>
        <p:spPr bwMode="auto">
          <a:xfrm>
            <a:off x="8000177" y="4081112"/>
            <a:ext cx="1234312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MemtoReg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3" name="Rectangle 7"/>
          <p:cNvSpPr>
            <a:spLocks noChangeArrowheads="1"/>
          </p:cNvSpPr>
          <p:nvPr/>
        </p:nvSpPr>
        <p:spPr bwMode="auto">
          <a:xfrm>
            <a:off x="7168751" y="4074761"/>
            <a:ext cx="924420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MemWr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64" name="Rectangle 8"/>
          <p:cNvSpPr>
            <a:spLocks noChangeArrowheads="1"/>
          </p:cNvSpPr>
          <p:nvPr/>
        </p:nvSpPr>
        <p:spPr bwMode="auto">
          <a:xfrm>
            <a:off x="9450390" y="3982905"/>
            <a:ext cx="74379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Equal</a:t>
            </a:r>
          </a:p>
        </p:txBody>
      </p:sp>
      <p:sp>
        <p:nvSpPr>
          <p:cNvPr id="45065" name="Line 9"/>
          <p:cNvSpPr>
            <a:spLocks noChangeShapeType="1"/>
          </p:cNvSpPr>
          <p:nvPr/>
        </p:nvSpPr>
        <p:spPr bwMode="auto">
          <a:xfrm>
            <a:off x="3454401" y="1558792"/>
            <a:ext cx="31369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66" name="Rectangle 10"/>
          <p:cNvSpPr>
            <a:spLocks noChangeArrowheads="1"/>
          </p:cNvSpPr>
          <p:nvPr/>
        </p:nvSpPr>
        <p:spPr bwMode="auto">
          <a:xfrm>
            <a:off x="3932239" y="1155568"/>
            <a:ext cx="2268250" cy="4007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Instruction&lt;31:0&gt;</a:t>
            </a:r>
          </a:p>
        </p:txBody>
      </p:sp>
      <p:sp>
        <p:nvSpPr>
          <p:cNvPr id="45067" name="Line 11"/>
          <p:cNvSpPr>
            <a:spLocks noChangeShapeType="1"/>
          </p:cNvSpPr>
          <p:nvPr/>
        </p:nvSpPr>
        <p:spPr bwMode="auto">
          <a:xfrm>
            <a:off x="484346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68" name="Rectangle 12"/>
          <p:cNvSpPr>
            <a:spLocks noChangeArrowheads="1"/>
          </p:cNvSpPr>
          <p:nvPr/>
        </p:nvSpPr>
        <p:spPr bwMode="auto">
          <a:xfrm rot="5400000">
            <a:off x="4576930" y="1853538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15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19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69" name="Rectangle 13"/>
          <p:cNvSpPr>
            <a:spLocks noChangeArrowheads="1"/>
          </p:cNvSpPr>
          <p:nvPr/>
        </p:nvSpPr>
        <p:spPr bwMode="auto">
          <a:xfrm rot="5400000">
            <a:off x="5154779" y="1853538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20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:2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4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0" name="Rectangle 14"/>
          <p:cNvSpPr>
            <a:spLocks noChangeArrowheads="1"/>
          </p:cNvSpPr>
          <p:nvPr/>
        </p:nvSpPr>
        <p:spPr bwMode="auto">
          <a:xfrm rot="5400000">
            <a:off x="5738303" y="1853538"/>
            <a:ext cx="825419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7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:1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1" name="Rectangle 15"/>
          <p:cNvSpPr>
            <a:spLocks noChangeArrowheads="1"/>
          </p:cNvSpPr>
          <p:nvPr/>
        </p:nvSpPr>
        <p:spPr bwMode="auto">
          <a:xfrm rot="5400000">
            <a:off x="6312618" y="1847982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20:31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72" name="Line 16"/>
          <p:cNvSpPr>
            <a:spLocks noChangeShapeType="1"/>
          </p:cNvSpPr>
          <p:nvPr/>
        </p:nvSpPr>
        <p:spPr bwMode="auto">
          <a:xfrm>
            <a:off x="542131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3" name="Line 17"/>
          <p:cNvSpPr>
            <a:spLocks noChangeShapeType="1"/>
          </p:cNvSpPr>
          <p:nvPr/>
        </p:nvSpPr>
        <p:spPr bwMode="auto">
          <a:xfrm>
            <a:off x="599916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4" name="Line 18"/>
          <p:cNvSpPr>
            <a:spLocks noChangeShapeType="1"/>
          </p:cNvSpPr>
          <p:nvPr/>
        </p:nvSpPr>
        <p:spPr bwMode="auto">
          <a:xfrm>
            <a:off x="6577013" y="15841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75" name="Rectangle 19"/>
          <p:cNvSpPr>
            <a:spLocks noChangeArrowheads="1"/>
          </p:cNvSpPr>
          <p:nvPr/>
        </p:nvSpPr>
        <p:spPr bwMode="auto">
          <a:xfrm>
            <a:off x="6313489" y="2433505"/>
            <a:ext cx="836768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Imm12</a:t>
            </a:r>
          </a:p>
        </p:txBody>
      </p:sp>
      <p:sp>
        <p:nvSpPr>
          <p:cNvPr id="45076" name="Rectangle 20"/>
          <p:cNvSpPr>
            <a:spLocks noChangeArrowheads="1"/>
          </p:cNvSpPr>
          <p:nvPr/>
        </p:nvSpPr>
        <p:spPr bwMode="auto">
          <a:xfrm>
            <a:off x="5735639" y="2433505"/>
            <a:ext cx="458459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Rd</a:t>
            </a:r>
          </a:p>
        </p:txBody>
      </p:sp>
      <p:sp>
        <p:nvSpPr>
          <p:cNvPr id="45077" name="Rectangle 21"/>
          <p:cNvSpPr>
            <a:spLocks noChangeArrowheads="1"/>
          </p:cNvSpPr>
          <p:nvPr/>
        </p:nvSpPr>
        <p:spPr bwMode="auto">
          <a:xfrm>
            <a:off x="5240340" y="2433505"/>
            <a:ext cx="56105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Rs2</a:t>
            </a:r>
          </a:p>
        </p:txBody>
      </p:sp>
      <p:sp>
        <p:nvSpPr>
          <p:cNvPr id="45078" name="Rectangle 22"/>
          <p:cNvSpPr>
            <a:spLocks noChangeArrowheads="1"/>
          </p:cNvSpPr>
          <p:nvPr/>
        </p:nvSpPr>
        <p:spPr bwMode="auto">
          <a:xfrm>
            <a:off x="4662489" y="2433505"/>
            <a:ext cx="56105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Rs1</a:t>
            </a:r>
          </a:p>
        </p:txBody>
      </p:sp>
      <p:sp>
        <p:nvSpPr>
          <p:cNvPr id="45079" name="Rectangle 23"/>
          <p:cNvSpPr>
            <a:spLocks noChangeArrowheads="1"/>
          </p:cNvSpPr>
          <p:nvPr/>
        </p:nvSpPr>
        <p:spPr bwMode="auto">
          <a:xfrm>
            <a:off x="2489633" y="4051694"/>
            <a:ext cx="777457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PCsrc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080" name="Rectangle 24"/>
          <p:cNvSpPr>
            <a:spLocks noChangeArrowheads="1"/>
          </p:cNvSpPr>
          <p:nvPr/>
        </p:nvSpPr>
        <p:spPr bwMode="auto">
          <a:xfrm>
            <a:off x="2233613" y="1380992"/>
            <a:ext cx="1193800" cy="10001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81" name="Rectangle 25"/>
          <p:cNvSpPr>
            <a:spLocks noChangeArrowheads="1"/>
          </p:cNvSpPr>
          <p:nvPr/>
        </p:nvSpPr>
        <p:spPr bwMode="auto">
          <a:xfrm>
            <a:off x="2763839" y="2123943"/>
            <a:ext cx="66364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Addr</a:t>
            </a:r>
          </a:p>
        </p:txBody>
      </p:sp>
      <p:sp>
        <p:nvSpPr>
          <p:cNvPr id="45082" name="Rectangle 26"/>
          <p:cNvSpPr>
            <a:spLocks noChangeArrowheads="1"/>
          </p:cNvSpPr>
          <p:nvPr/>
        </p:nvSpPr>
        <p:spPr bwMode="auto">
          <a:xfrm>
            <a:off x="2207099" y="1431792"/>
            <a:ext cx="1215076" cy="7085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algn="ctr"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Inst.</a:t>
            </a:r>
          </a:p>
          <a:p>
            <a:pPr algn="ctr"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>
                <a:solidFill>
                  <a:prstClr val="black"/>
                </a:solidFill>
                <a:ea typeface="新細明體" panose="02020500000000000000" pitchFamily="18" charset="-120"/>
              </a:rPr>
              <a:t>Memory</a:t>
            </a:r>
          </a:p>
        </p:txBody>
      </p:sp>
      <p:sp>
        <p:nvSpPr>
          <p:cNvPr id="45083" name="Rectangle 27"/>
          <p:cNvSpPr>
            <a:spLocks noChangeArrowheads="1"/>
          </p:cNvSpPr>
          <p:nvPr/>
        </p:nvSpPr>
        <p:spPr bwMode="auto">
          <a:xfrm>
            <a:off x="2841625" y="4816343"/>
            <a:ext cx="6865939" cy="1206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84" name="Rectangle 28"/>
          <p:cNvSpPr>
            <a:spLocks noChangeArrowheads="1"/>
          </p:cNvSpPr>
          <p:nvPr/>
        </p:nvSpPr>
        <p:spPr bwMode="auto">
          <a:xfrm>
            <a:off x="5116514" y="5176705"/>
            <a:ext cx="1585370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>
                <a:solidFill>
                  <a:prstClr val="black"/>
                </a:solidFill>
                <a:ea typeface="新細明體" panose="02020500000000000000" pitchFamily="18" charset="-120"/>
              </a:rPr>
              <a:t>Datapath</a:t>
            </a:r>
          </a:p>
        </p:txBody>
      </p:sp>
      <p:sp>
        <p:nvSpPr>
          <p:cNvPr id="45085" name="Line 29"/>
          <p:cNvSpPr>
            <a:spLocks noChangeShapeType="1"/>
          </p:cNvSpPr>
          <p:nvPr/>
        </p:nvSpPr>
        <p:spPr bwMode="auto">
          <a:xfrm>
            <a:off x="2890839" y="43527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7" name="Line 31"/>
          <p:cNvSpPr>
            <a:spLocks noChangeShapeType="1"/>
          </p:cNvSpPr>
          <p:nvPr/>
        </p:nvSpPr>
        <p:spPr bwMode="auto">
          <a:xfrm>
            <a:off x="4885496" y="44035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8" name="Line 32"/>
          <p:cNvSpPr>
            <a:spLocks noChangeShapeType="1"/>
          </p:cNvSpPr>
          <p:nvPr/>
        </p:nvSpPr>
        <p:spPr bwMode="auto">
          <a:xfrm>
            <a:off x="5980781" y="43908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89" name="Line 33"/>
          <p:cNvSpPr>
            <a:spLocks noChangeShapeType="1"/>
          </p:cNvSpPr>
          <p:nvPr/>
        </p:nvSpPr>
        <p:spPr bwMode="auto">
          <a:xfrm>
            <a:off x="6772319" y="43654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0" name="Line 34"/>
          <p:cNvSpPr>
            <a:spLocks noChangeShapeType="1"/>
          </p:cNvSpPr>
          <p:nvPr/>
        </p:nvSpPr>
        <p:spPr bwMode="auto">
          <a:xfrm>
            <a:off x="7597813" y="43781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1" name="Line 35"/>
          <p:cNvSpPr>
            <a:spLocks noChangeShapeType="1"/>
          </p:cNvSpPr>
          <p:nvPr/>
        </p:nvSpPr>
        <p:spPr bwMode="auto">
          <a:xfrm>
            <a:off x="8600108" y="4327392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2" name="Line 36"/>
          <p:cNvSpPr>
            <a:spLocks noChangeShapeType="1"/>
          </p:cNvSpPr>
          <p:nvPr/>
        </p:nvSpPr>
        <p:spPr bwMode="auto">
          <a:xfrm>
            <a:off x="9342439" y="4022592"/>
            <a:ext cx="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stealth" w="med" len="lg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3" name="AutoShape 37"/>
          <p:cNvSpPr>
            <a:spLocks noChangeArrowheads="1"/>
          </p:cNvSpPr>
          <p:nvPr/>
        </p:nvSpPr>
        <p:spPr bwMode="auto">
          <a:xfrm>
            <a:off x="2759077" y="2670043"/>
            <a:ext cx="6948488" cy="1231900"/>
          </a:xfrm>
          <a:prstGeom prst="roundRect">
            <a:avLst>
              <a:gd name="adj" fmla="val 12495"/>
            </a:avLst>
          </a:prstGeom>
          <a:noFill/>
          <a:ln w="12700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endParaRPr lang="zh-TW" altLang="en-US" b="0">
              <a:solidFill>
                <a:prstClr val="black"/>
              </a:solidFill>
              <a:latin typeface="Times New Roman" panose="02020703060505090304" pitchFamily="18" charset="0"/>
              <a:ea typeface="新細明體" panose="02020500000000000000" pitchFamily="18" charset="-120"/>
            </a:endParaRPr>
          </a:p>
        </p:txBody>
      </p:sp>
      <p:sp>
        <p:nvSpPr>
          <p:cNvPr id="45094" name="Rectangle 38"/>
          <p:cNvSpPr>
            <a:spLocks noChangeArrowheads="1"/>
          </p:cNvSpPr>
          <p:nvPr/>
        </p:nvSpPr>
        <p:spPr bwMode="auto">
          <a:xfrm>
            <a:off x="5211763" y="3132005"/>
            <a:ext cx="1269578" cy="4623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>
                <a:solidFill>
                  <a:prstClr val="black"/>
                </a:solidFill>
                <a:ea typeface="新細明體" panose="02020500000000000000" pitchFamily="18" charset="-120"/>
              </a:rPr>
              <a:t>Control</a:t>
            </a:r>
          </a:p>
        </p:txBody>
      </p:sp>
      <p:sp>
        <p:nvSpPr>
          <p:cNvPr id="45095" name="Line 39"/>
          <p:cNvSpPr>
            <a:spLocks noChangeShapeType="1"/>
          </p:cNvSpPr>
          <p:nvPr/>
        </p:nvSpPr>
        <p:spPr bwMode="auto">
          <a:xfrm>
            <a:off x="3811588" y="15587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6" name="Rectangle 40"/>
          <p:cNvSpPr>
            <a:spLocks noChangeArrowheads="1"/>
          </p:cNvSpPr>
          <p:nvPr/>
        </p:nvSpPr>
        <p:spPr bwMode="auto">
          <a:xfrm>
            <a:off x="3630614" y="2408105"/>
            <a:ext cx="47128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Op</a:t>
            </a:r>
          </a:p>
        </p:txBody>
      </p:sp>
      <p:sp>
        <p:nvSpPr>
          <p:cNvPr id="45097" name="Line 41"/>
          <p:cNvSpPr>
            <a:spLocks noChangeShapeType="1"/>
          </p:cNvSpPr>
          <p:nvPr/>
        </p:nvSpPr>
        <p:spPr bwMode="auto">
          <a:xfrm>
            <a:off x="4238625" y="1558792"/>
            <a:ext cx="0" cy="9144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098" name="Rectangle 42"/>
          <p:cNvSpPr>
            <a:spLocks noChangeArrowheads="1"/>
          </p:cNvSpPr>
          <p:nvPr/>
        </p:nvSpPr>
        <p:spPr bwMode="auto">
          <a:xfrm rot="5400000">
            <a:off x="4008779" y="1806706"/>
            <a:ext cx="950581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&lt;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12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:</a:t>
            </a:r>
            <a:r>
              <a:rPr kumimoji="1" lang="en-US" altLang="zh-TW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14</a:t>
            </a:r>
            <a:r>
              <a:rPr kumimoji="1" lang="zh-TW" altLang="en-US" sz="1600" dirty="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&gt;</a:t>
            </a:r>
          </a:p>
        </p:txBody>
      </p:sp>
      <p:sp>
        <p:nvSpPr>
          <p:cNvPr id="45099" name="Rectangle 43"/>
          <p:cNvSpPr>
            <a:spLocks noChangeArrowheads="1"/>
          </p:cNvSpPr>
          <p:nvPr/>
        </p:nvSpPr>
        <p:spPr bwMode="auto">
          <a:xfrm>
            <a:off x="3976690" y="2408105"/>
            <a:ext cx="743793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>
                <a:solidFill>
                  <a:prstClr val="black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Funct</a:t>
            </a:r>
          </a:p>
        </p:txBody>
      </p:sp>
      <p:sp>
        <p:nvSpPr>
          <p:cNvPr id="45100" name="Rectangle 44"/>
          <p:cNvSpPr>
            <a:spLocks noChangeArrowheads="1"/>
          </p:cNvSpPr>
          <p:nvPr/>
        </p:nvSpPr>
        <p:spPr bwMode="auto">
          <a:xfrm>
            <a:off x="3370916" y="4067043"/>
            <a:ext cx="842667" cy="3391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9" rIns="92075" bIns="46039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1600" dirty="0" err="1">
                <a:solidFill>
                  <a:srgbClr val="0000FF"/>
                </a:solidFill>
                <a:latin typeface="Arial" panose="020B0604020202090204" pitchFamily="34" charset="0"/>
                <a:ea typeface="新細明體" panose="02020500000000000000" pitchFamily="18" charset="-120"/>
              </a:rPr>
              <a:t>RegWr</a:t>
            </a:r>
            <a:endParaRPr kumimoji="1" lang="en-US" altLang="zh-TW" sz="1600" dirty="0">
              <a:solidFill>
                <a:srgbClr val="0000FF"/>
              </a:solidFill>
              <a:latin typeface="Arial" panose="020B0604020202090204" pitchFamily="34" charset="0"/>
              <a:ea typeface="新細明體" panose="02020500000000000000" pitchFamily="18" charset="-120"/>
            </a:endParaRPr>
          </a:p>
        </p:txBody>
      </p:sp>
      <p:sp>
        <p:nvSpPr>
          <p:cNvPr id="45101" name="Line 45"/>
          <p:cNvSpPr>
            <a:spLocks noChangeShapeType="1"/>
          </p:cNvSpPr>
          <p:nvPr/>
        </p:nvSpPr>
        <p:spPr bwMode="auto">
          <a:xfrm>
            <a:off x="3791603" y="4380058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45102" name="Rectangle 46"/>
          <p:cNvSpPr>
            <a:spLocks noGrp="1" noChangeArrowheads="1"/>
          </p:cNvSpPr>
          <p:nvPr>
            <p:ph type="title"/>
          </p:nvPr>
        </p:nvSpPr>
        <p:spPr>
          <a:xfrm>
            <a:off x="1270428" y="133190"/>
            <a:ext cx="9035624" cy="717177"/>
          </a:xfrm>
        </p:spPr>
        <p:txBody>
          <a:bodyPr/>
          <a:lstStyle/>
          <a:p>
            <a:r>
              <a:rPr lang="en-US" altLang="zh-TW" dirty="0"/>
              <a:t>Step 4 - Control Points and Signals</a:t>
            </a:r>
          </a:p>
        </p:txBody>
      </p:sp>
      <p:sp>
        <p:nvSpPr>
          <p:cNvPr id="48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52</a:t>
            </a:fld>
            <a:endParaRPr lang="zh-TW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78D027-F5D0-47A0-9068-E0F7BFE8E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124" y="1264596"/>
            <a:ext cx="11544102" cy="4756826"/>
          </a:xfrm>
          <a:prstGeom prst="rect">
            <a:avLst/>
          </a:prstGeom>
        </p:spPr>
      </p:pic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>
          <a:xfrm>
            <a:off x="1239692" y="174172"/>
            <a:ext cx="9066360" cy="604477"/>
          </a:xfrm>
        </p:spPr>
        <p:txBody>
          <a:bodyPr/>
          <a:lstStyle/>
          <a:p>
            <a:r>
              <a:rPr lang="en-US" altLang="zh-TW" dirty="0">
                <a:sym typeface="+mn-ea"/>
              </a:rPr>
              <a:t>Step 4 - Control Points and Signals</a:t>
            </a:r>
            <a:endParaRPr lang="en-US" altLang="zh-TW" dirty="0"/>
          </a:p>
        </p:txBody>
      </p:sp>
      <p:sp>
        <p:nvSpPr>
          <p:cNvPr id="46086" name="Text Box 5"/>
          <p:cNvSpPr txBox="1">
            <a:spLocks noChangeArrowheads="1"/>
          </p:cNvSpPr>
          <p:nvPr/>
        </p:nvSpPr>
        <p:spPr bwMode="auto">
          <a:xfrm>
            <a:off x="2931512" y="5471820"/>
            <a:ext cx="185281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prstDash val="sysDot"/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90000"/>
              </a:lnSpc>
              <a:spcBef>
                <a:spcPct val="15000"/>
              </a:spcBef>
              <a:buClr>
                <a:schemeClr val="folHlink"/>
              </a:buClr>
              <a:buSzPct val="75000"/>
              <a:buFont typeface="Wingdings" panose="05000000000000000000" pitchFamily="2" charset="2"/>
              <a:buChar char="t"/>
              <a:defRPr sz="24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1pPr>
            <a:lvl2pPr marL="742950" indent="-285750">
              <a:lnSpc>
                <a:spcPct val="90000"/>
              </a:lnSpc>
              <a:spcBef>
                <a:spcPct val="15000"/>
              </a:spcBef>
              <a:buClr>
                <a:srgbClr val="FF9900"/>
              </a:buClr>
              <a:buSzPct val="75000"/>
              <a:buFont typeface="Wingdings" panose="05000000000000000000" pitchFamily="2" charset="2"/>
              <a:buChar char="l"/>
              <a:defRPr sz="22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2pPr>
            <a:lvl3pPr marL="1143000" indent="-228600">
              <a:lnSpc>
                <a:spcPct val="90000"/>
              </a:lnSpc>
              <a:spcBef>
                <a:spcPct val="15000"/>
              </a:spcBef>
              <a:buClr>
                <a:schemeClr val="accent2"/>
              </a:buClr>
              <a:buSzPct val="75000"/>
              <a:buFont typeface="Wingdings" panose="05000000000000000000" pitchFamily="2" charset="2"/>
              <a:buChar char="n"/>
              <a:defRPr sz="2000" b="1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3pPr>
            <a:lvl4pPr marL="1600200" indent="-228600">
              <a:lnSpc>
                <a:spcPct val="90000"/>
              </a:lnSpc>
              <a:spcBef>
                <a:spcPct val="15000"/>
              </a:spcBef>
              <a:buClr>
                <a:schemeClr val="hlink"/>
              </a:buClr>
              <a:buSzPct val="75000"/>
              <a:buFont typeface="Monotype Sorts" pitchFamily="2" charset="2"/>
              <a:buChar char="T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4pPr>
            <a:lvl5pPr marL="2057400" indent="-228600">
              <a:lnSpc>
                <a:spcPct val="90000"/>
              </a:lnSpc>
              <a:spcBef>
                <a:spcPct val="15000"/>
              </a:spcBef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ct val="15000"/>
              </a:spcBef>
              <a:spcAft>
                <a:spcPct val="0"/>
              </a:spcAft>
              <a:buClr>
                <a:schemeClr val="accent1"/>
              </a:buClr>
              <a:buSzPct val="100000"/>
              <a:buChar char="–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標楷體" panose="02010601000101010101" pitchFamily="65" charset="-128"/>
              </a:defRPr>
            </a:lvl9pPr>
          </a:lstStyle>
          <a:p>
            <a:pPr defTabSz="1219170">
              <a:lnSpc>
                <a:spcPct val="100000"/>
              </a:lnSpc>
              <a:spcBef>
                <a:spcPct val="0"/>
              </a:spcBef>
              <a:buClrTx/>
              <a:buSzTx/>
              <a:buNone/>
            </a:pPr>
            <a:r>
              <a:rPr kumimoji="1" lang="en-US" altLang="zh-TW" sz="2000" dirty="0">
                <a:solidFill>
                  <a:srgbClr val="4F81BD"/>
                </a:solidFill>
                <a:ea typeface="新細明體" panose="02020500000000000000" pitchFamily="18" charset="-120"/>
              </a:rPr>
              <a:t>Control point</a:t>
            </a:r>
          </a:p>
        </p:txBody>
      </p:sp>
      <p:sp>
        <p:nvSpPr>
          <p:cNvPr id="46088" name="Line 7"/>
          <p:cNvSpPr>
            <a:spLocks noChangeShapeType="1"/>
          </p:cNvSpPr>
          <p:nvPr/>
        </p:nvSpPr>
        <p:spPr bwMode="auto">
          <a:xfrm flipV="1">
            <a:off x="4394924" y="3793786"/>
            <a:ext cx="3085646" cy="1658381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9108017" y="6524628"/>
            <a:ext cx="2844800" cy="339725"/>
          </a:xfrm>
        </p:spPr>
        <p:txBody>
          <a:bodyPr/>
          <a:lstStyle/>
          <a:p>
            <a:pPr defTabSz="1219170"/>
            <a:fld id="{D9B6BDF2-6896-4B98-8776-C18582F63BA5}" type="slidenum">
              <a:rPr lang="zh-TW" altLang="en-US">
                <a:solidFill>
                  <a:prstClr val="white"/>
                </a:solidFill>
              </a:rPr>
              <a:pPr defTabSz="1219170"/>
              <a:t>53</a:t>
            </a:fld>
            <a:endParaRPr lang="zh-TW" altLang="en-US">
              <a:solidFill>
                <a:prstClr val="white"/>
              </a:solidFill>
            </a:endParaRPr>
          </a:p>
        </p:txBody>
      </p:sp>
      <p:sp>
        <p:nvSpPr>
          <p:cNvPr id="10" name="Line 7"/>
          <p:cNvSpPr>
            <a:spLocks noChangeShapeType="1"/>
          </p:cNvSpPr>
          <p:nvPr/>
        </p:nvSpPr>
        <p:spPr bwMode="auto">
          <a:xfrm flipV="1">
            <a:off x="4394923" y="2986390"/>
            <a:ext cx="1701077" cy="2494664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1" name="Line 7"/>
          <p:cNvSpPr>
            <a:spLocks noChangeShapeType="1"/>
          </p:cNvSpPr>
          <p:nvPr/>
        </p:nvSpPr>
        <p:spPr bwMode="auto">
          <a:xfrm flipV="1">
            <a:off x="4394924" y="5322327"/>
            <a:ext cx="5110875" cy="129839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2" name="Line 7"/>
          <p:cNvSpPr>
            <a:spLocks noChangeShapeType="1"/>
          </p:cNvSpPr>
          <p:nvPr/>
        </p:nvSpPr>
        <p:spPr bwMode="auto">
          <a:xfrm flipV="1">
            <a:off x="4394923" y="1682884"/>
            <a:ext cx="5177094" cy="3769282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3" name="Line 7"/>
          <p:cNvSpPr>
            <a:spLocks noChangeShapeType="1"/>
          </p:cNvSpPr>
          <p:nvPr/>
        </p:nvSpPr>
        <p:spPr bwMode="auto">
          <a:xfrm flipV="1">
            <a:off x="4394924" y="3428999"/>
            <a:ext cx="5352192" cy="2023167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4" name="Line 7"/>
          <p:cNvSpPr>
            <a:spLocks noChangeShapeType="1"/>
          </p:cNvSpPr>
          <p:nvPr/>
        </p:nvSpPr>
        <p:spPr bwMode="auto">
          <a:xfrm flipV="1">
            <a:off x="4394922" y="3793784"/>
            <a:ext cx="6500057" cy="1658381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sp>
        <p:nvSpPr>
          <p:cNvPr id="17" name="Line 36">
            <a:extLst>
              <a:ext uri="{FF2B5EF4-FFF2-40B4-BE49-F238E27FC236}">
                <a16:creationId xmlns:a16="http://schemas.microsoft.com/office/drawing/2014/main" id="{A202F923-182E-41F6-85E8-2779A511A92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908716" y="2057982"/>
            <a:ext cx="82551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defTabSz="1219170"/>
            <a:endParaRPr lang="zh-CN" altLang="en-US">
              <a:solidFill>
                <a:prstClr val="black"/>
              </a:solidFill>
              <a:latin typeface="Arial"/>
              <a:ea typeface="新細明體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B5BA626-F631-4F43-AEE4-D634D41F1AF1}"/>
              </a:ext>
            </a:extLst>
          </p:cNvPr>
          <p:cNvCxnSpPr>
            <a:cxnSpLocks/>
          </p:cNvCxnSpPr>
          <p:nvPr/>
        </p:nvCxnSpPr>
        <p:spPr bwMode="auto">
          <a:xfrm>
            <a:off x="9369612" y="1984443"/>
            <a:ext cx="0" cy="1076262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oval" w="med" len="med"/>
            <a:tailEnd type="oval" w="med" len="med"/>
          </a:ln>
          <a:effectLst/>
        </p:spPr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B84D7AD-EC66-4E63-83DF-13E3B249B18B}"/>
              </a:ext>
            </a:extLst>
          </p:cNvPr>
          <p:cNvCxnSpPr>
            <a:cxnSpLocks/>
          </p:cNvCxnSpPr>
          <p:nvPr/>
        </p:nvCxnSpPr>
        <p:spPr bwMode="auto">
          <a:xfrm>
            <a:off x="9359884" y="3060705"/>
            <a:ext cx="1705071" cy="0"/>
          </a:xfrm>
          <a:prstGeom prst="line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D84ACBA-AC45-45E7-A93F-82E9518BC640}"/>
              </a:ext>
            </a:extLst>
          </p:cNvPr>
          <p:cNvCxnSpPr>
            <a:cxnSpLocks/>
          </p:cNvCxnSpPr>
          <p:nvPr/>
        </p:nvCxnSpPr>
        <p:spPr bwMode="auto">
          <a:xfrm>
            <a:off x="11064955" y="3039058"/>
            <a:ext cx="0" cy="933450"/>
          </a:xfrm>
          <a:prstGeom prst="straightConnector1">
            <a:avLst/>
          </a:prstGeom>
          <a:noFill/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84E2601-AA5A-4D27-B7F9-0CBEBDDFE6D4}"/>
              </a:ext>
            </a:extLst>
          </p:cNvPr>
          <p:cNvSpPr txBox="1"/>
          <p:nvPr/>
        </p:nvSpPr>
        <p:spPr>
          <a:xfrm>
            <a:off x="9505799" y="2694884"/>
            <a:ext cx="2326278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dirty="0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Add this path for JAL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183CCE-212F-4B5D-AEE2-007F9E5186FD}"/>
              </a:ext>
            </a:extLst>
          </p:cNvPr>
          <p:cNvSpPr txBox="1"/>
          <p:nvPr/>
        </p:nvSpPr>
        <p:spPr>
          <a:xfrm>
            <a:off x="10761238" y="3464087"/>
            <a:ext cx="889987" cy="369332"/>
          </a:xfrm>
          <a:prstGeom prst="rect">
            <a:avLst/>
          </a:prstGeom>
          <a:noFill/>
        </p:spPr>
        <p:txBody>
          <a:bodyPr wrap="none" rtlCol="0" anchor="ctr" anchorCtr="1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  <a:ea typeface="標楷體" pitchFamily="65" charset="-120"/>
                <a:cs typeface="Calibri" pitchFamily="34" charset="0"/>
              </a:rPr>
              <a:t>WBsel</a:t>
            </a:r>
            <a:endParaRPr lang="en-US" b="1" dirty="0">
              <a:solidFill>
                <a:srgbClr val="FF0000"/>
              </a:solidFill>
              <a:ea typeface="標楷體" pitchFamily="65" charset="-120"/>
              <a:cs typeface="Calibri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5B356B3-67D4-4BDB-99DD-25D369584264}"/>
              </a:ext>
            </a:extLst>
          </p:cNvPr>
          <p:cNvCxnSpPr>
            <a:cxnSpLocks/>
          </p:cNvCxnSpPr>
          <p:nvPr/>
        </p:nvCxnSpPr>
        <p:spPr bwMode="auto">
          <a:xfrm>
            <a:off x="11146966" y="3777332"/>
            <a:ext cx="0" cy="280145"/>
          </a:xfrm>
          <a:prstGeom prst="straightConnector1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793856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60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60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60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60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17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6" grpId="0"/>
      <p:bldP spid="46088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17272</TotalTime>
  <Words>6280</Words>
  <Application>Microsoft Office PowerPoint</Application>
  <PresentationFormat>宽屏</PresentationFormat>
  <Paragraphs>1136</Paragraphs>
  <Slides>53</Slides>
  <Notes>38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53</vt:i4>
      </vt:variant>
    </vt:vector>
  </HeadingPairs>
  <TitlesOfParts>
    <vt:vector size="68" baseType="lpstr">
      <vt:lpstr>標楷體</vt:lpstr>
      <vt:lpstr>MS Sans Serif</vt:lpstr>
      <vt:lpstr>新細明體</vt:lpstr>
      <vt:lpstr>TimesTen-Italic</vt:lpstr>
      <vt:lpstr>TimesTen-Roman</vt:lpstr>
      <vt:lpstr>华文楷体</vt:lpstr>
      <vt:lpstr>Arial</vt:lpstr>
      <vt:lpstr>Calibri</vt:lpstr>
      <vt:lpstr>Calibri Light</vt:lpstr>
      <vt:lpstr>Courier New</vt:lpstr>
      <vt:lpstr>Symbol</vt:lpstr>
      <vt:lpstr>Times New Roman</vt:lpstr>
      <vt:lpstr>Wingdings</vt:lpstr>
      <vt:lpstr>NTHU UniCloud</vt:lpstr>
      <vt:lpstr>自訂設計</vt:lpstr>
      <vt:lpstr>CSC3060 – Computer Architecture  Chapter 4  Processor Architecture &amp; Logic Designs</vt:lpstr>
      <vt:lpstr>Processors and Logic Designs</vt:lpstr>
      <vt:lpstr>Processors and Logic Designs</vt:lpstr>
      <vt:lpstr>Computer Organization</vt:lpstr>
      <vt:lpstr>The Processor: Datapath &amp; Control</vt:lpstr>
      <vt:lpstr>RV32I Data Path and Control</vt:lpstr>
      <vt:lpstr>Instruction Execution Cycle</vt:lpstr>
      <vt:lpstr>Instruction Execution</vt:lpstr>
      <vt:lpstr>Single Cycle vs. Multi-Cycles</vt:lpstr>
      <vt:lpstr>CPU Time = Inst count X CPI X Clock cycle time</vt:lpstr>
      <vt:lpstr>CISC vs RISC Examples </vt:lpstr>
      <vt:lpstr>CPU Time = Inst count X CPI X Clock cycle time </vt:lpstr>
      <vt:lpstr>CPU Time = Inst count X CPI X Clock cycle time </vt:lpstr>
      <vt:lpstr>4.2  Logic Design Basics</vt:lpstr>
      <vt:lpstr>4.2  Logic Design Past and Now</vt:lpstr>
      <vt:lpstr>4.2  Logic Design Basics</vt:lpstr>
      <vt:lpstr>4.2.1 Logic Gates</vt:lpstr>
      <vt:lpstr>4.2.2 Combinational Elements</vt:lpstr>
      <vt:lpstr>4.2.2 Combinational Elements</vt:lpstr>
      <vt:lpstr>4.2.3 Word-Level Combinational Circuits</vt:lpstr>
      <vt:lpstr>Sequential Elements（1）</vt:lpstr>
      <vt:lpstr>Sequential Elements（1）</vt:lpstr>
      <vt:lpstr>Sequential Elements（2）</vt:lpstr>
      <vt:lpstr>Clocking Methodology</vt:lpstr>
      <vt:lpstr>Abstract View of RV32I Subset</vt:lpstr>
      <vt:lpstr>Multiplexers Required</vt:lpstr>
      <vt:lpstr>Adding Multiplexer</vt:lpstr>
      <vt:lpstr>Adding Control Signals</vt:lpstr>
      <vt:lpstr>Adding Other Control Signals</vt:lpstr>
      <vt:lpstr>How to Design a Processor</vt:lpstr>
      <vt:lpstr>Step 1 - Analyze Instruction Set</vt:lpstr>
      <vt:lpstr>Our Example: RV32I Subset</vt:lpstr>
      <vt:lpstr>Logical Register Transfer</vt:lpstr>
      <vt:lpstr>Regularity in RISC-V Instruction Format</vt:lpstr>
      <vt:lpstr>Data Path Requirements</vt:lpstr>
      <vt:lpstr>Step 2a - Combinational Components for Datapath</vt:lpstr>
      <vt:lpstr>Step 2b - Sequential Components for Datapath</vt:lpstr>
      <vt:lpstr>Storage Element - Register File</vt:lpstr>
      <vt:lpstr>Storage Element - Memory</vt:lpstr>
      <vt:lpstr>Step 3a - Datapath Assembly</vt:lpstr>
      <vt:lpstr>Step 3b - Branch Operations</vt:lpstr>
      <vt:lpstr>Datapath for Branch Operations</vt:lpstr>
      <vt:lpstr>Alert: Branch with Subtraction</vt:lpstr>
      <vt:lpstr>Step 3b - Add and Subtract</vt:lpstr>
      <vt:lpstr>Step 3c - Load/Store Operations</vt:lpstr>
      <vt:lpstr>Combine Mem and R-type Instructions</vt:lpstr>
      <vt:lpstr>A Single Cycle RISC-V Processor</vt:lpstr>
      <vt:lpstr>A Single Cycle Data Path</vt:lpstr>
      <vt:lpstr>Limitations of a Single-Cycle Implementation</vt:lpstr>
      <vt:lpstr>Inefficiency in a Single Cycle Implementation</vt:lpstr>
      <vt:lpstr>Data Flow during add rd, rs1, rs2</vt:lpstr>
      <vt:lpstr>Step 4 - Control Points and Signals</vt:lpstr>
      <vt:lpstr>Step 4 - Control Points and Signals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香港中文大学(深圳)数据科学院 School of Data Science</dc:title>
  <dc:creator>Windows 使用者</dc:creator>
  <cp:lastModifiedBy>Chaoyi Sun (SDS,124090550)</cp:lastModifiedBy>
  <cp:revision>319</cp:revision>
  <cp:lastPrinted>2026-03-07T08:34:27Z</cp:lastPrinted>
  <dcterms:created xsi:type="dcterms:W3CDTF">2020-07-15T11:13:39Z</dcterms:created>
  <dcterms:modified xsi:type="dcterms:W3CDTF">2026-03-10T08:33:56Z</dcterms:modified>
</cp:coreProperties>
</file>