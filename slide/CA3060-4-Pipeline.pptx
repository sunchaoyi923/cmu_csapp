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39"/>
  </p:notesMasterIdLst>
  <p:handoutMasterIdLst>
    <p:handoutMasterId r:id="rId40"/>
  </p:handoutMasterIdLst>
  <p:sldIdLst>
    <p:sldId id="256" r:id="rId3"/>
    <p:sldId id="670" r:id="rId4"/>
    <p:sldId id="524" r:id="rId5"/>
    <p:sldId id="665" r:id="rId6"/>
    <p:sldId id="663" r:id="rId7"/>
    <p:sldId id="696" r:id="rId8"/>
    <p:sldId id="697" r:id="rId9"/>
    <p:sldId id="666" r:id="rId10"/>
    <p:sldId id="667" r:id="rId11"/>
    <p:sldId id="668" r:id="rId12"/>
    <p:sldId id="671" r:id="rId13"/>
    <p:sldId id="669" r:id="rId14"/>
    <p:sldId id="682" r:id="rId15"/>
    <p:sldId id="658" r:id="rId16"/>
    <p:sldId id="527" r:id="rId17"/>
    <p:sldId id="528" r:id="rId18"/>
    <p:sldId id="293" r:id="rId19"/>
    <p:sldId id="693" r:id="rId20"/>
    <p:sldId id="659" r:id="rId21"/>
    <p:sldId id="660" r:id="rId22"/>
    <p:sldId id="661" r:id="rId23"/>
    <p:sldId id="662" r:id="rId24"/>
    <p:sldId id="672" r:id="rId25"/>
    <p:sldId id="673" r:id="rId26"/>
    <p:sldId id="674" r:id="rId27"/>
    <p:sldId id="681" r:id="rId28"/>
    <p:sldId id="695" r:id="rId29"/>
    <p:sldId id="694" r:id="rId30"/>
    <p:sldId id="698" r:id="rId31"/>
    <p:sldId id="675" r:id="rId32"/>
    <p:sldId id="676" r:id="rId33"/>
    <p:sldId id="677" r:id="rId34"/>
    <p:sldId id="678" r:id="rId35"/>
    <p:sldId id="679" r:id="rId36"/>
    <p:sldId id="699" r:id="rId37"/>
    <p:sldId id="680" r:id="rId3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2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06"/>
    </p:cViewPr>
  </p:sorterViewPr>
  <p:notesViewPr>
    <p:cSldViewPr snapToGrid="0">
      <p:cViewPr varScale="1">
        <p:scale>
          <a:sx n="57" d="100"/>
          <a:sy n="57" d="100"/>
        </p:scale>
        <p:origin x="30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15C594-135F-4D15-8E4B-45F1BE861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B0960-189E-46E1-8D29-6FB05B6F72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3A5A2-ABA0-4772-A51C-C5F6F247E98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1DB78-23CB-4BEF-89B3-77D711E9DA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CDE08-0A77-4F04-A3CE-DB3F76D614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3270-4340-4F2C-881F-076058FFD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9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76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1. Place one dirty load of clothes in the washer.</a:t>
            </a:r>
          </a:p>
          <a:p>
            <a:r>
              <a:rPr lang="zh-CN" altLang="en-US" dirty="0"/>
              <a:t>2. When the washer is fi nished, place the wet load in the dryer.</a:t>
            </a:r>
          </a:p>
          <a:p>
            <a:r>
              <a:rPr lang="zh-CN" altLang="en-US" dirty="0"/>
              <a:t>3. When the dryer is fi nished, place the dry load on a table and fold.</a:t>
            </a:r>
          </a:p>
          <a:p>
            <a:r>
              <a:rPr lang="zh-CN" altLang="en-US" dirty="0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1819268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85248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4045954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假设每个半小时</a:t>
            </a:r>
          </a:p>
          <a:p>
            <a:endParaRPr lang="zh-CN" altLang="en-US"/>
          </a:p>
          <a:p>
            <a:r>
              <a:rPr lang="zh-CN" altLang="en-US"/>
              <a:t>1. Place one dirty load of clothes in the washer.</a:t>
            </a:r>
          </a:p>
          <a:p>
            <a:r>
              <a:rPr lang="zh-CN" altLang="en-US"/>
              <a:t>2. When the washer is fi nished, place the wet load in the dryer.</a:t>
            </a:r>
          </a:p>
          <a:p>
            <a:r>
              <a:rPr lang="zh-CN" altLang="en-US"/>
              <a:t>3. When the dryer is fi nished, place the dry load on a table and fold.</a:t>
            </a:r>
          </a:p>
          <a:p>
            <a:r>
              <a:rPr lang="zh-CN" altLang="en-US"/>
              <a:t>4. When folding is fi nished, ask your roommate to put the clothes away.</a:t>
            </a:r>
          </a:p>
        </p:txBody>
      </p:sp>
    </p:spTree>
    <p:extLst>
      <p:ext uri="{BB962C8B-B14F-4D97-AF65-F5344CB8AC3E}">
        <p14:creationId xmlns:p14="http://schemas.microsoft.com/office/powerpoint/2010/main" val="4003528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739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960106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2950" y="3227388"/>
            <a:ext cx="8537575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536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6688" y="436563"/>
            <a:ext cx="4511675" cy="2538412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20944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CF4834-0539-4513-8D25-641B75117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1021404"/>
            <a:ext cx="8160657" cy="3365770"/>
          </a:xfrm>
        </p:spPr>
        <p:txBody>
          <a:bodyPr/>
          <a:lstStyle/>
          <a:p>
            <a:pPr algn="ctr"/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 Computer Architecture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4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Pipelined Implementation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7EF043F-0047-4EC5-B297-23522E981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6109" y="4185126"/>
            <a:ext cx="7908692" cy="2339502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Pipelining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E71CA5F-387A-4354-9522-8963C055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0" y="1105722"/>
            <a:ext cx="11886873" cy="1967831"/>
          </a:xfrm>
        </p:spPr>
        <p:txBody>
          <a:bodyPr>
            <a:normAutofit/>
          </a:bodyPr>
          <a:lstStyle/>
          <a:p>
            <a:r>
              <a:rPr lang="en-US" dirty="0"/>
              <a:t>Pipelining is an implementation technique in which multiple instructions are </a:t>
            </a:r>
            <a:r>
              <a:rPr lang="en-US" dirty="0">
                <a:solidFill>
                  <a:srgbClr val="FF0000"/>
                </a:solidFill>
              </a:rPr>
              <a:t>overlapped</a:t>
            </a:r>
            <a:r>
              <a:rPr lang="en-US" dirty="0"/>
              <a:t> in execution, much like an assembly line.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B973CD-802E-46A9-A32A-BA2B3E195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14" y="4440316"/>
            <a:ext cx="3468925" cy="1146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4C9D14-8041-480A-9472-A66B76CC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14" y="3955021"/>
            <a:ext cx="6093696" cy="339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7ED950-FCA4-48A9-ACA5-88D9024B4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14" y="3342658"/>
            <a:ext cx="7650121" cy="3397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DBCAFA-A59D-4CC8-83AB-20FFA388CDC0}"/>
              </a:ext>
            </a:extLst>
          </p:cNvPr>
          <p:cNvSpPr txBox="1"/>
          <p:nvPr/>
        </p:nvSpPr>
        <p:spPr>
          <a:xfrm>
            <a:off x="183406" y="3297662"/>
            <a:ext cx="1569660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Single-cycle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E0BA1-ECDF-4475-97EE-777A3D534B52}"/>
              </a:ext>
            </a:extLst>
          </p:cNvPr>
          <p:cNvSpPr txBox="1"/>
          <p:nvPr/>
        </p:nvSpPr>
        <p:spPr>
          <a:xfrm>
            <a:off x="230673" y="3992586"/>
            <a:ext cx="1396536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Multi-cycle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0FD92-A3C0-482B-A1F2-41A27406B6DF}"/>
              </a:ext>
            </a:extLst>
          </p:cNvPr>
          <p:cNvSpPr txBox="1"/>
          <p:nvPr/>
        </p:nvSpPr>
        <p:spPr>
          <a:xfrm>
            <a:off x="301205" y="4772465"/>
            <a:ext cx="1242648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39248C-391E-4D99-9AA2-991039A40734}"/>
              </a:ext>
            </a:extLst>
          </p:cNvPr>
          <p:cNvSpPr txBox="1"/>
          <p:nvPr/>
        </p:nvSpPr>
        <p:spPr>
          <a:xfrm>
            <a:off x="9949186" y="3189355"/>
            <a:ext cx="2121093" cy="646331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4 X long cycles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(16 x short cycles)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04DD6-5718-46FD-8404-6CAC3CCA1A12}"/>
              </a:ext>
            </a:extLst>
          </p:cNvPr>
          <p:cNvSpPr txBox="1"/>
          <p:nvPr/>
        </p:nvSpPr>
        <p:spPr>
          <a:xfrm>
            <a:off x="9945007" y="4058627"/>
            <a:ext cx="200567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13 X short cycles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764DFD-5ABE-4EDF-8170-1E7F22730C16}"/>
              </a:ext>
            </a:extLst>
          </p:cNvPr>
          <p:cNvSpPr txBox="1"/>
          <p:nvPr/>
        </p:nvSpPr>
        <p:spPr>
          <a:xfrm>
            <a:off x="9945007" y="4828809"/>
            <a:ext cx="187743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7 X short cycles </a:t>
            </a:r>
          </a:p>
        </p:txBody>
      </p:sp>
    </p:spTree>
    <p:extLst>
      <p:ext uri="{BB962C8B-B14F-4D97-AF65-F5344CB8AC3E}">
        <p14:creationId xmlns:p14="http://schemas.microsoft.com/office/powerpoint/2010/main" val="66182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Stages of the Simple Data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053" y="1125537"/>
            <a:ext cx="10251347" cy="4895851"/>
          </a:xfrm>
        </p:spPr>
        <p:txBody>
          <a:bodyPr>
            <a:normAutofit/>
          </a:bodyPr>
          <a:lstStyle/>
          <a:p>
            <a:r>
              <a:rPr lang="en-US" dirty="0"/>
              <a:t>Five stages, one step per stage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IF</a:t>
            </a:r>
            <a:r>
              <a:rPr lang="en-US" dirty="0"/>
              <a:t>: Instruction fetch from (instruction) memory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ID</a:t>
            </a:r>
            <a:r>
              <a:rPr lang="en-US" dirty="0"/>
              <a:t>: Instruction decode &amp; register read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EX</a:t>
            </a:r>
            <a:r>
              <a:rPr lang="en-US" dirty="0"/>
              <a:t>: Execute operation or calculate address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MEM</a:t>
            </a:r>
            <a:r>
              <a:rPr lang="en-US" dirty="0"/>
              <a:t>: Access (data) memory operand</a:t>
            </a:r>
          </a:p>
          <a:p>
            <a:pPr marL="514760" indent="-51476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WB</a:t>
            </a:r>
            <a:r>
              <a:rPr lang="en-US" dirty="0"/>
              <a:t>: Write the result back to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4FCDE-1E6C-4421-8097-317B854A4BCF}"/>
              </a:ext>
            </a:extLst>
          </p:cNvPr>
          <p:cNvSpPr txBox="1"/>
          <p:nvPr/>
        </p:nvSpPr>
        <p:spPr>
          <a:xfrm>
            <a:off x="1410510" y="5316964"/>
            <a:ext cx="8638161" cy="83099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Initially, this partition is for multi-cycle implementation:</a:t>
            </a:r>
          </a:p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an instruction can finish at stage 3, stage 4 or stage 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Divide the Single Cycle Data Path into 5 Stages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7020304040A0204" pitchFamily="34" charset="0"/>
              </a:rPr>
              <a:t>Instruction Timing and Clock Cycle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817" y="956464"/>
            <a:ext cx="10726365" cy="1452292"/>
          </a:xfrm>
        </p:spPr>
        <p:txBody>
          <a:bodyPr/>
          <a:lstStyle/>
          <a:p>
            <a:r>
              <a:rPr lang="en-US" sz="2800" dirty="0"/>
              <a:t>Assume time for a stage is</a:t>
            </a:r>
          </a:p>
          <a:p>
            <a:pPr lvl="1"/>
            <a:r>
              <a:rPr lang="en-US" sz="2800" dirty="0"/>
              <a:t>100 ps for register to read or write</a:t>
            </a:r>
          </a:p>
          <a:p>
            <a:pPr lvl="1"/>
            <a:r>
              <a:rPr lang="en-US" sz="2800" dirty="0"/>
              <a:t>200 ps for other stages (Mem and ALU)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A36514-F4F7-4085-9BC6-5D7B6D212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37234"/>
              </p:ext>
            </p:extLst>
          </p:nvPr>
        </p:nvGraphicFramePr>
        <p:xfrm>
          <a:off x="732817" y="2466304"/>
          <a:ext cx="10726366" cy="294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338">
                  <a:extLst>
                    <a:ext uri="{9D8B030D-6E8A-4147-A177-3AD203B41FA5}">
                      <a16:colId xmlns:a16="http://schemas.microsoft.com/office/drawing/2014/main" val="9937378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26053459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730245139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97093375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6455321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2470789098"/>
                    </a:ext>
                  </a:extLst>
                </a:gridCol>
                <a:gridCol w="1532338">
                  <a:extLst>
                    <a:ext uri="{9D8B030D-6E8A-4147-A177-3AD203B41FA5}">
                      <a16:colId xmlns:a16="http://schemas.microsoft.com/office/drawing/2014/main" val="3710206421"/>
                    </a:ext>
                  </a:extLst>
                </a:gridCol>
              </a:tblGrid>
              <a:tr h="490110">
                <a:tc>
                  <a:txBody>
                    <a:bodyPr/>
                    <a:lstStyle/>
                    <a:p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= 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ID=100ps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ALU=200ps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Mem=200ps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WB=100ps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618655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10960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096946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43255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863343"/>
                  </a:ext>
                </a:extLst>
              </a:tr>
              <a:tr h="4901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640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9F4DDD-29AD-42BD-91FF-C8BC69619E5C}"/>
              </a:ext>
            </a:extLst>
          </p:cNvPr>
          <p:cNvSpPr txBox="1"/>
          <p:nvPr/>
        </p:nvSpPr>
        <p:spPr>
          <a:xfrm>
            <a:off x="841222" y="5464512"/>
            <a:ext cx="9333910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Maximum clock frequency for single-cycle implementation= 1/800ps = 1.25 GHz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For multi-cycle implementation, 1/200ps = 5 GHz</a:t>
            </a:r>
          </a:p>
        </p:txBody>
      </p:sp>
    </p:spTree>
    <p:extLst>
      <p:ext uri="{BB962C8B-B14F-4D97-AF65-F5344CB8AC3E}">
        <p14:creationId xmlns:p14="http://schemas.microsoft.com/office/powerpoint/2010/main" val="61698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7020304040A0204" pitchFamily="34" charset="0"/>
              </a:rPr>
              <a:t>Overlapped Execution in Pipeline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B353663C-B3D3-4757-B0EC-D06ADF9FC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057688"/>
              </p:ext>
            </p:extLst>
          </p:nvPr>
        </p:nvGraphicFramePr>
        <p:xfrm>
          <a:off x="209550" y="1224491"/>
          <a:ext cx="11810997" cy="2123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65799922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1593295412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4276829765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3843840085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979626758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4131641589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3616169046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4264397272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2269501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Cycle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Cycle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Cycle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1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Cycle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1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Cycle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1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Cycle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1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Cycle 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1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Cycle 8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0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7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1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088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151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AAEA932-6312-48E2-93DA-E9E8837517D3}"/>
              </a:ext>
            </a:extLst>
          </p:cNvPr>
          <p:cNvSpPr txBox="1"/>
          <p:nvPr/>
        </p:nvSpPr>
        <p:spPr>
          <a:xfrm>
            <a:off x="1609725" y="1844159"/>
            <a:ext cx="123825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9C3AE-BBC2-4C38-9DD6-F517E1DBF2AC}"/>
              </a:ext>
            </a:extLst>
          </p:cNvPr>
          <p:cNvSpPr txBox="1"/>
          <p:nvPr/>
        </p:nvSpPr>
        <p:spPr>
          <a:xfrm>
            <a:off x="2847975" y="2228850"/>
            <a:ext cx="129540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F523D-D3FA-4CE9-80A5-545A4F241B67}"/>
              </a:ext>
            </a:extLst>
          </p:cNvPr>
          <p:cNvSpPr txBox="1"/>
          <p:nvPr/>
        </p:nvSpPr>
        <p:spPr>
          <a:xfrm>
            <a:off x="4143375" y="2598182"/>
            <a:ext cx="129540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719EA-AEF4-46A6-B7F3-87D3A0A7201E}"/>
              </a:ext>
            </a:extLst>
          </p:cNvPr>
          <p:cNvSpPr txBox="1"/>
          <p:nvPr/>
        </p:nvSpPr>
        <p:spPr>
          <a:xfrm>
            <a:off x="5438775" y="2967514"/>
            <a:ext cx="1295400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2AD1C-6D2A-44C6-BE91-6B7AF8C4B16F}"/>
              </a:ext>
            </a:extLst>
          </p:cNvPr>
          <p:cNvSpPr txBox="1"/>
          <p:nvPr/>
        </p:nvSpPr>
        <p:spPr>
          <a:xfrm>
            <a:off x="2847975" y="1844159"/>
            <a:ext cx="1295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5C939-FC27-48AD-A9C2-6B25043DDD48}"/>
              </a:ext>
            </a:extLst>
          </p:cNvPr>
          <p:cNvSpPr txBox="1"/>
          <p:nvPr/>
        </p:nvSpPr>
        <p:spPr>
          <a:xfrm>
            <a:off x="4143375" y="2228850"/>
            <a:ext cx="1295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CED00-86A9-4629-839B-112315CC768A}"/>
              </a:ext>
            </a:extLst>
          </p:cNvPr>
          <p:cNvSpPr txBox="1"/>
          <p:nvPr/>
        </p:nvSpPr>
        <p:spPr>
          <a:xfrm>
            <a:off x="5457827" y="2598182"/>
            <a:ext cx="1295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D6BA7-5C61-489B-912C-26BDE15FC301}"/>
              </a:ext>
            </a:extLst>
          </p:cNvPr>
          <p:cNvSpPr txBox="1"/>
          <p:nvPr/>
        </p:nvSpPr>
        <p:spPr>
          <a:xfrm>
            <a:off x="6753227" y="2978853"/>
            <a:ext cx="1295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AE348-21E4-4374-9641-CF1FE6EEC9C2}"/>
              </a:ext>
            </a:extLst>
          </p:cNvPr>
          <p:cNvSpPr txBox="1"/>
          <p:nvPr/>
        </p:nvSpPr>
        <p:spPr>
          <a:xfrm>
            <a:off x="4143375" y="1844159"/>
            <a:ext cx="1295400" cy="369332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EXE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ACB5AC-F6DA-4569-BA2E-B707A8ECDD10}"/>
              </a:ext>
            </a:extLst>
          </p:cNvPr>
          <p:cNvSpPr txBox="1"/>
          <p:nvPr/>
        </p:nvSpPr>
        <p:spPr>
          <a:xfrm>
            <a:off x="5467348" y="2217511"/>
            <a:ext cx="1295400" cy="369332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EXE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1A05F-1B9A-4DA1-AE30-AA9278FA5166}"/>
              </a:ext>
            </a:extLst>
          </p:cNvPr>
          <p:cNvSpPr txBox="1"/>
          <p:nvPr/>
        </p:nvSpPr>
        <p:spPr>
          <a:xfrm>
            <a:off x="6772279" y="2617411"/>
            <a:ext cx="1295400" cy="369332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EXE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9AEF65-5DE3-4A62-9AAD-E5FB5CB74011}"/>
              </a:ext>
            </a:extLst>
          </p:cNvPr>
          <p:cNvSpPr txBox="1"/>
          <p:nvPr/>
        </p:nvSpPr>
        <p:spPr>
          <a:xfrm>
            <a:off x="8091487" y="2978853"/>
            <a:ext cx="1295400" cy="369332"/>
          </a:xfrm>
          <a:prstGeom prst="rect">
            <a:avLst/>
          </a:prstGeom>
          <a:solidFill>
            <a:schemeClr val="accent6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EXE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9B61F7-B389-4532-A2CD-449FA4A1FF47}"/>
              </a:ext>
            </a:extLst>
          </p:cNvPr>
          <p:cNvSpPr txBox="1"/>
          <p:nvPr/>
        </p:nvSpPr>
        <p:spPr>
          <a:xfrm>
            <a:off x="5467348" y="1844159"/>
            <a:ext cx="12954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AF009-4900-4B5C-98B3-9B1E37B3D6F4}"/>
              </a:ext>
            </a:extLst>
          </p:cNvPr>
          <p:cNvSpPr txBox="1"/>
          <p:nvPr/>
        </p:nvSpPr>
        <p:spPr>
          <a:xfrm>
            <a:off x="6772274" y="2244134"/>
            <a:ext cx="12954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MEM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AC9E1-40C1-4546-BCF7-9FB3F8F04887}"/>
              </a:ext>
            </a:extLst>
          </p:cNvPr>
          <p:cNvSpPr txBox="1"/>
          <p:nvPr/>
        </p:nvSpPr>
        <p:spPr>
          <a:xfrm>
            <a:off x="8086721" y="2586843"/>
            <a:ext cx="12954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MEM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37423-E3A2-4589-A935-A247BC5B3AFF}"/>
              </a:ext>
            </a:extLst>
          </p:cNvPr>
          <p:cNvSpPr txBox="1"/>
          <p:nvPr/>
        </p:nvSpPr>
        <p:spPr>
          <a:xfrm>
            <a:off x="9377361" y="2978853"/>
            <a:ext cx="1295400" cy="3693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MEM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CC8F5-4B45-4AF4-B4A8-8F3639DC3E4F}"/>
              </a:ext>
            </a:extLst>
          </p:cNvPr>
          <p:cNvSpPr txBox="1"/>
          <p:nvPr/>
        </p:nvSpPr>
        <p:spPr>
          <a:xfrm>
            <a:off x="6772274" y="1863463"/>
            <a:ext cx="129540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5E7E3F-80B6-45FF-A1B4-CE1C3760254A}"/>
              </a:ext>
            </a:extLst>
          </p:cNvPr>
          <p:cNvSpPr txBox="1"/>
          <p:nvPr/>
        </p:nvSpPr>
        <p:spPr>
          <a:xfrm>
            <a:off x="8067674" y="2234609"/>
            <a:ext cx="129540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0E640A-04DB-4F04-9665-F4A80E60A5B6}"/>
              </a:ext>
            </a:extLst>
          </p:cNvPr>
          <p:cNvSpPr txBox="1"/>
          <p:nvPr/>
        </p:nvSpPr>
        <p:spPr>
          <a:xfrm>
            <a:off x="9396408" y="2617665"/>
            <a:ext cx="129540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FED3F7-37DB-48C4-AA08-DDF468D87FD1}"/>
              </a:ext>
            </a:extLst>
          </p:cNvPr>
          <p:cNvSpPr txBox="1"/>
          <p:nvPr/>
        </p:nvSpPr>
        <p:spPr>
          <a:xfrm>
            <a:off x="10682282" y="2967693"/>
            <a:ext cx="129540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WB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A994269-D59E-4D8C-BE29-05D58DE7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3575843"/>
            <a:ext cx="10726365" cy="2472532"/>
          </a:xfrm>
        </p:spPr>
        <p:txBody>
          <a:bodyPr/>
          <a:lstStyle/>
          <a:p>
            <a:r>
              <a:rPr lang="en-US" sz="2800" dirty="0"/>
              <a:t>Every instruction takes 5 short cycles</a:t>
            </a:r>
          </a:p>
          <a:p>
            <a:r>
              <a:rPr lang="en-US" sz="2800" dirty="0"/>
              <a:t>Issue one instruction and retire one instruction per short cycle</a:t>
            </a:r>
          </a:p>
          <a:p>
            <a:r>
              <a:rPr lang="en-US" sz="2800" dirty="0"/>
              <a:t>Throughput is one instruction per clock cycle</a:t>
            </a:r>
          </a:p>
          <a:p>
            <a:pPr lvl="1"/>
            <a:r>
              <a:rPr lang="en-US" sz="2267" dirty="0"/>
              <a:t>One instruction per 200ps</a:t>
            </a:r>
          </a:p>
          <a:p>
            <a:pPr lvl="1"/>
            <a:r>
              <a:rPr lang="en-US" sz="2267" dirty="0"/>
              <a:t>Single cycle implementation will be one instruction per 800ps</a:t>
            </a:r>
          </a:p>
        </p:txBody>
      </p:sp>
    </p:spTree>
    <p:extLst>
      <p:ext uri="{BB962C8B-B14F-4D97-AF65-F5344CB8AC3E}">
        <p14:creationId xmlns:p14="http://schemas.microsoft.com/office/powerpoint/2010/main" val="155715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Single cycle, Multi-cycle, Pipelining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E71CA5F-387A-4354-9522-8963C055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0" y="1105723"/>
            <a:ext cx="11886873" cy="1170752"/>
          </a:xfrm>
        </p:spPr>
        <p:txBody>
          <a:bodyPr>
            <a:normAutofit fontScale="77500" lnSpcReduction="20000"/>
          </a:bodyPr>
          <a:lstStyle/>
          <a:p>
            <a:r>
              <a:rPr lang="en-US" sz="3400" dirty="0"/>
              <a:t>Using the table from the previous slides</a:t>
            </a:r>
          </a:p>
          <a:p>
            <a:pPr marL="0" indent="0">
              <a:buNone/>
            </a:pPr>
            <a:r>
              <a:rPr lang="en-US" sz="3400" dirty="0"/>
              <a:t>	</a:t>
            </a:r>
            <a:r>
              <a:rPr lang="en-US" sz="3100" dirty="0"/>
              <a:t>LW takes 5 clock cycles, Add/sub takes 4 clock cycles, Branch takes 3 cycles, and 	SW 	takes 4 cycles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DBCAFA-A59D-4CC8-83AB-20FFA388CDC0}"/>
              </a:ext>
            </a:extLst>
          </p:cNvPr>
          <p:cNvSpPr txBox="1"/>
          <p:nvPr/>
        </p:nvSpPr>
        <p:spPr>
          <a:xfrm>
            <a:off x="1250206" y="3575438"/>
            <a:ext cx="1569660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Single-cycle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E0BA1-ECDF-4475-97EE-777A3D534B52}"/>
              </a:ext>
            </a:extLst>
          </p:cNvPr>
          <p:cNvSpPr txBox="1"/>
          <p:nvPr/>
        </p:nvSpPr>
        <p:spPr>
          <a:xfrm>
            <a:off x="1290737" y="4139474"/>
            <a:ext cx="1396536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Multi-cycle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0FD92-A3C0-482B-A1F2-41A27406B6DF}"/>
              </a:ext>
            </a:extLst>
          </p:cNvPr>
          <p:cNvSpPr txBox="1"/>
          <p:nvPr/>
        </p:nvSpPr>
        <p:spPr>
          <a:xfrm>
            <a:off x="1290737" y="4798031"/>
            <a:ext cx="1242648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39248C-391E-4D99-9AA2-991039A40734}"/>
              </a:ext>
            </a:extLst>
          </p:cNvPr>
          <p:cNvSpPr txBox="1"/>
          <p:nvPr/>
        </p:nvSpPr>
        <p:spPr>
          <a:xfrm>
            <a:off x="4853311" y="3532839"/>
            <a:ext cx="1999265" cy="707886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7 X long cycles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(</a:t>
            </a:r>
            <a:r>
              <a:rPr lang="en-US" sz="2200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35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short cycles)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504DD6-5718-46FD-8404-6CAC3CCA1A12}"/>
              </a:ext>
            </a:extLst>
          </p:cNvPr>
          <p:cNvSpPr txBox="1"/>
          <p:nvPr/>
        </p:nvSpPr>
        <p:spPr>
          <a:xfrm>
            <a:off x="4911018" y="4324141"/>
            <a:ext cx="4076757" cy="43088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5x2 + 4x2 + 3 + 4x2 = </a:t>
            </a:r>
            <a:r>
              <a:rPr lang="en-US" sz="2200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29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short cycles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764DFD-5ABE-4EDF-8170-1E7F22730C16}"/>
              </a:ext>
            </a:extLst>
          </p:cNvPr>
          <p:cNvSpPr txBox="1"/>
          <p:nvPr/>
        </p:nvSpPr>
        <p:spPr>
          <a:xfrm>
            <a:off x="4975137" y="4838444"/>
            <a:ext cx="5184304" cy="43088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7 X short cycles  + 4 pipe drain = </a:t>
            </a:r>
            <a:r>
              <a:rPr lang="en-US" sz="2200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11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short cycles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967EAE-83F7-45DA-A5F6-609F589B72C5}"/>
              </a:ext>
            </a:extLst>
          </p:cNvPr>
          <p:cNvSpPr txBox="1">
            <a:spLocks/>
          </p:cNvSpPr>
          <p:nvPr/>
        </p:nvSpPr>
        <p:spPr bwMode="auto">
          <a:xfrm>
            <a:off x="301205" y="2348924"/>
            <a:ext cx="11886873" cy="108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400" kern="0" dirty="0"/>
              <a:t>Now, for the following code sequence (assuming all instructions are independent)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kern="0" dirty="0"/>
              <a:t>	LW, LW, ADD, SUB, BEQ, SW, SW</a:t>
            </a:r>
          </a:p>
        </p:txBody>
      </p:sp>
    </p:spTree>
    <p:extLst>
      <p:ext uri="{BB962C8B-B14F-4D97-AF65-F5344CB8AC3E}">
        <p14:creationId xmlns:p14="http://schemas.microsoft.com/office/powerpoint/2010/main" val="30526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1" y="1391055"/>
            <a:ext cx="8136051" cy="4906452"/>
          </a:xfrm>
        </p:spPr>
        <p:txBody>
          <a:bodyPr>
            <a:normAutofit/>
          </a:bodyPr>
          <a:lstStyle/>
          <a:p>
            <a:r>
              <a:rPr lang="en-US" sz="3000" dirty="0"/>
              <a:t>Four students A, B, C, and D, each have one load of cloth to wash, dray, fold, and put away.</a:t>
            </a:r>
          </a:p>
          <a:p>
            <a:r>
              <a:rPr lang="en-US" sz="3000" dirty="0"/>
              <a:t>Washer takes 30 minutes</a:t>
            </a:r>
          </a:p>
          <a:p>
            <a:r>
              <a:rPr lang="en-US" sz="3000" dirty="0"/>
              <a:t>Dryer takes 30 minutes</a:t>
            </a:r>
          </a:p>
          <a:p>
            <a:r>
              <a:rPr lang="en-US" sz="3000" dirty="0"/>
              <a:t>Folder takes 30 minutes</a:t>
            </a:r>
          </a:p>
          <a:p>
            <a:r>
              <a:rPr lang="en-US" sz="3000" dirty="0"/>
              <a:t>Stasher takes 30 minutes to put folded cloth into drawer.</a:t>
            </a:r>
          </a:p>
          <a:p>
            <a:endParaRPr 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5B13-7E21-4B86-94A1-E099E30A6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051" y="208848"/>
            <a:ext cx="2848373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0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25AA4C-5169-4261-B8EA-FEA35745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0" y="1099226"/>
            <a:ext cx="10355120" cy="508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3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F661-4336-4D02-81B3-80A2E34D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45" y="1070042"/>
            <a:ext cx="10097909" cy="507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7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Laundry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F661-4336-4D02-81B3-80A2E34D1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67" y="1107656"/>
            <a:ext cx="10097909" cy="50778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23A26D-F505-4BD0-9F77-BF687D0B60D0}"/>
              </a:ext>
            </a:extLst>
          </p:cNvPr>
          <p:cNvSpPr/>
          <p:nvPr/>
        </p:nvSpPr>
        <p:spPr bwMode="auto">
          <a:xfrm>
            <a:off x="3054485" y="3210128"/>
            <a:ext cx="2587558" cy="5350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5B5BDB-ACFA-4840-BBB4-39E07F457055}"/>
              </a:ext>
            </a:extLst>
          </p:cNvPr>
          <p:cNvSpPr/>
          <p:nvPr/>
        </p:nvSpPr>
        <p:spPr bwMode="auto">
          <a:xfrm>
            <a:off x="4309353" y="2490281"/>
            <a:ext cx="603115" cy="2791838"/>
          </a:xfrm>
          <a:prstGeom prst="rect">
            <a:avLst/>
          </a:prstGeom>
          <a:noFill/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268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Yale </a:t>
            </a:r>
            <a:r>
              <a:rPr lang="en-US" dirty="0" err="1"/>
              <a:t>Patt’s</a:t>
            </a:r>
            <a:r>
              <a:rPr lang="en-US" dirty="0"/>
              <a:t>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02" y="1079770"/>
            <a:ext cx="11569915" cy="4906452"/>
          </a:xfrm>
        </p:spPr>
        <p:txBody>
          <a:bodyPr>
            <a:normAutofit lnSpcReduction="10000"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An African tribe leader wants to have 10 children in one-two years. He calls upon his advisor, who suggests a plan:</a:t>
            </a:r>
          </a:p>
          <a:p>
            <a:r>
              <a:rPr lang="en-US" sz="2800" b="1" i="0" dirty="0">
                <a:solidFill>
                  <a:srgbClr val="1F1F1F"/>
                </a:solidFill>
                <a:effectLst/>
                <a:latin typeface="Google Sans"/>
              </a:rPr>
              <a:t>Traditional Method (No Pipelining):</a:t>
            </a:r>
            <a:endParaRPr lang="en-US" sz="28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The wife carries a child for 9 months (gestation period).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This process is repeated 10 times to have 10 children, taking a total of 9 months/child * 10 children = 90 months (7.5 years).</a:t>
            </a:r>
          </a:p>
          <a:p>
            <a:pPr marL="342882" marR="0" lvl="0" indent="-34288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kumimoji="1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Google Sans"/>
                <a:ea typeface="標楷體" pitchFamily="65" charset="-120"/>
                <a:cs typeface="+mn-cs"/>
              </a:rPr>
              <a:t>Pipelined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Start conception for child #1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Google Sans"/>
              </a:rPr>
              <a:t>B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egin conception for child #2 after 1 month.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Repeat this process for all 10 children.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Google Sans"/>
              </a:rPr>
              <a:t>This process takes 19 months (1.5 year).</a:t>
            </a: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lvl="1" indent="-342882">
              <a:buSzPct val="80000"/>
              <a:buFont typeface="Wingdings" pitchFamily="2" charset="2"/>
              <a:buChar char="l"/>
              <a:defRPr/>
            </a:pPr>
            <a:endParaRPr kumimoji="1" lang="en-US" sz="2267" b="0" i="0" u="none" strike="noStrike" kern="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Google Sans"/>
              <a:ea typeface="標楷體" pitchFamily="65" charset="-120"/>
              <a:cs typeface="+mn-cs"/>
            </a:endParaRPr>
          </a:p>
          <a:p>
            <a:pPr marL="342919" indent="-285750">
              <a:buFont typeface="Arial" panose="020B0604020202020204" pitchFamily="34" charset="0"/>
              <a:buChar char="•"/>
            </a:pPr>
            <a:endParaRPr lang="en-US" sz="3333" b="0" i="0" dirty="0">
              <a:solidFill>
                <a:srgbClr val="1F1F1F"/>
              </a:solidFill>
              <a:effectLst/>
              <a:latin typeface="Google Sans"/>
            </a:endParaRPr>
          </a:p>
          <a:p>
            <a:endParaRPr 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A47-770B-4D22-9256-26780EF418BF}"/>
              </a:ext>
            </a:extLst>
          </p:cNvPr>
          <p:cNvSpPr txBox="1"/>
          <p:nvPr/>
        </p:nvSpPr>
        <p:spPr>
          <a:xfrm>
            <a:off x="6394377" y="5124447"/>
            <a:ext cx="5368777" cy="707886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This does not work!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The tribe leader is required to have ten wives.</a:t>
            </a:r>
          </a:p>
        </p:txBody>
      </p:sp>
    </p:spTree>
    <p:extLst>
      <p:ext uri="{BB962C8B-B14F-4D97-AF65-F5344CB8AC3E}">
        <p14:creationId xmlns:p14="http://schemas.microsoft.com/office/powerpoint/2010/main" val="33524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F2F3-599E-4D35-9182-D5A30A39A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96CDC-7EB5-47BF-9C7E-FEDDA98FC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53" y="87549"/>
            <a:ext cx="9854120" cy="6031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26F74-7B12-4035-B5EB-C73214B19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8" y="0"/>
            <a:ext cx="4079132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4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Single cycle vs. multi-cycle vs. pipeline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373189" y="3397251"/>
            <a:ext cx="50494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Clk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968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1968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V="1">
            <a:off x="2381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2381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2794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1555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1968500" y="18621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1951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</a:t>
            </a:r>
          </a:p>
        </p:txBody>
      </p:sp>
      <p:sp>
        <p:nvSpPr>
          <p:cNvPr id="12300" name="Line 29"/>
          <p:cNvSpPr>
            <a:spLocks noChangeShapeType="1"/>
          </p:cNvSpPr>
          <p:nvPr/>
        </p:nvSpPr>
        <p:spPr bwMode="auto">
          <a:xfrm>
            <a:off x="2794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1" name="Line 30"/>
          <p:cNvSpPr>
            <a:spLocks noChangeShapeType="1"/>
          </p:cNvSpPr>
          <p:nvPr/>
        </p:nvSpPr>
        <p:spPr bwMode="auto">
          <a:xfrm flipV="1">
            <a:off x="3206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31"/>
          <p:cNvSpPr>
            <a:spLocks noChangeShapeType="1"/>
          </p:cNvSpPr>
          <p:nvPr/>
        </p:nvSpPr>
        <p:spPr bwMode="auto">
          <a:xfrm>
            <a:off x="3206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32"/>
          <p:cNvSpPr>
            <a:spLocks noChangeShapeType="1"/>
          </p:cNvSpPr>
          <p:nvPr/>
        </p:nvSpPr>
        <p:spPr bwMode="auto">
          <a:xfrm>
            <a:off x="3619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33"/>
          <p:cNvSpPr>
            <a:spLocks noChangeShapeType="1"/>
          </p:cNvSpPr>
          <p:nvPr/>
        </p:nvSpPr>
        <p:spPr bwMode="auto">
          <a:xfrm flipV="1">
            <a:off x="2794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Rectangle 34"/>
          <p:cNvSpPr>
            <a:spLocks noChangeArrowheads="1"/>
          </p:cNvSpPr>
          <p:nvPr/>
        </p:nvSpPr>
        <p:spPr bwMode="auto">
          <a:xfrm>
            <a:off x="2776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2</a:t>
            </a:r>
          </a:p>
        </p:txBody>
      </p:sp>
      <p:sp>
        <p:nvSpPr>
          <p:cNvPr id="12306" name="Line 35"/>
          <p:cNvSpPr>
            <a:spLocks noChangeShapeType="1"/>
          </p:cNvSpPr>
          <p:nvPr/>
        </p:nvSpPr>
        <p:spPr bwMode="auto">
          <a:xfrm>
            <a:off x="3619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7" name="Line 36"/>
          <p:cNvSpPr>
            <a:spLocks noChangeShapeType="1"/>
          </p:cNvSpPr>
          <p:nvPr/>
        </p:nvSpPr>
        <p:spPr bwMode="auto">
          <a:xfrm flipV="1">
            <a:off x="4032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Line 37"/>
          <p:cNvSpPr>
            <a:spLocks noChangeShapeType="1"/>
          </p:cNvSpPr>
          <p:nvPr/>
        </p:nvSpPr>
        <p:spPr bwMode="auto">
          <a:xfrm>
            <a:off x="4032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9" name="Line 38"/>
          <p:cNvSpPr>
            <a:spLocks noChangeShapeType="1"/>
          </p:cNvSpPr>
          <p:nvPr/>
        </p:nvSpPr>
        <p:spPr bwMode="auto">
          <a:xfrm>
            <a:off x="4445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0" name="Line 39"/>
          <p:cNvSpPr>
            <a:spLocks noChangeShapeType="1"/>
          </p:cNvSpPr>
          <p:nvPr/>
        </p:nvSpPr>
        <p:spPr bwMode="auto">
          <a:xfrm flipV="1">
            <a:off x="3619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1" name="Rectangle 40"/>
          <p:cNvSpPr>
            <a:spLocks noChangeArrowheads="1"/>
          </p:cNvSpPr>
          <p:nvPr/>
        </p:nvSpPr>
        <p:spPr bwMode="auto">
          <a:xfrm>
            <a:off x="3602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3</a:t>
            </a:r>
          </a:p>
        </p:txBody>
      </p:sp>
      <p:sp>
        <p:nvSpPr>
          <p:cNvPr id="12312" name="Line 41"/>
          <p:cNvSpPr>
            <a:spLocks noChangeShapeType="1"/>
          </p:cNvSpPr>
          <p:nvPr/>
        </p:nvSpPr>
        <p:spPr bwMode="auto">
          <a:xfrm>
            <a:off x="4445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3" name="Line 42"/>
          <p:cNvSpPr>
            <a:spLocks noChangeShapeType="1"/>
          </p:cNvSpPr>
          <p:nvPr/>
        </p:nvSpPr>
        <p:spPr bwMode="auto">
          <a:xfrm flipV="1">
            <a:off x="4857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4" name="Line 43"/>
          <p:cNvSpPr>
            <a:spLocks noChangeShapeType="1"/>
          </p:cNvSpPr>
          <p:nvPr/>
        </p:nvSpPr>
        <p:spPr bwMode="auto">
          <a:xfrm>
            <a:off x="4857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5" name="Line 44"/>
          <p:cNvSpPr>
            <a:spLocks noChangeShapeType="1"/>
          </p:cNvSpPr>
          <p:nvPr/>
        </p:nvSpPr>
        <p:spPr bwMode="auto">
          <a:xfrm>
            <a:off x="5270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6" name="Line 45"/>
          <p:cNvSpPr>
            <a:spLocks noChangeShapeType="1"/>
          </p:cNvSpPr>
          <p:nvPr/>
        </p:nvSpPr>
        <p:spPr bwMode="auto">
          <a:xfrm flipV="1">
            <a:off x="4445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7" name="Rectangle 46"/>
          <p:cNvSpPr>
            <a:spLocks noChangeArrowheads="1"/>
          </p:cNvSpPr>
          <p:nvPr/>
        </p:nvSpPr>
        <p:spPr bwMode="auto">
          <a:xfrm>
            <a:off x="4427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4</a:t>
            </a:r>
          </a:p>
        </p:txBody>
      </p:sp>
      <p:sp>
        <p:nvSpPr>
          <p:cNvPr id="12318" name="Line 47"/>
          <p:cNvSpPr>
            <a:spLocks noChangeShapeType="1"/>
          </p:cNvSpPr>
          <p:nvPr/>
        </p:nvSpPr>
        <p:spPr bwMode="auto">
          <a:xfrm>
            <a:off x="5270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9" name="Line 48"/>
          <p:cNvSpPr>
            <a:spLocks noChangeShapeType="1"/>
          </p:cNvSpPr>
          <p:nvPr/>
        </p:nvSpPr>
        <p:spPr bwMode="auto">
          <a:xfrm flipV="1">
            <a:off x="5683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0" name="Line 49"/>
          <p:cNvSpPr>
            <a:spLocks noChangeShapeType="1"/>
          </p:cNvSpPr>
          <p:nvPr/>
        </p:nvSpPr>
        <p:spPr bwMode="auto">
          <a:xfrm>
            <a:off x="5683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1" name="Line 50"/>
          <p:cNvSpPr>
            <a:spLocks noChangeShapeType="1"/>
          </p:cNvSpPr>
          <p:nvPr/>
        </p:nvSpPr>
        <p:spPr bwMode="auto">
          <a:xfrm>
            <a:off x="6096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2" name="Line 51"/>
          <p:cNvSpPr>
            <a:spLocks noChangeShapeType="1"/>
          </p:cNvSpPr>
          <p:nvPr/>
        </p:nvSpPr>
        <p:spPr bwMode="auto">
          <a:xfrm flipV="1">
            <a:off x="5270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3" name="Rectangle 52"/>
          <p:cNvSpPr>
            <a:spLocks noChangeArrowheads="1"/>
          </p:cNvSpPr>
          <p:nvPr/>
        </p:nvSpPr>
        <p:spPr bwMode="auto">
          <a:xfrm>
            <a:off x="5253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5</a:t>
            </a:r>
          </a:p>
        </p:txBody>
      </p:sp>
      <p:sp>
        <p:nvSpPr>
          <p:cNvPr id="12324" name="Line 53"/>
          <p:cNvSpPr>
            <a:spLocks noChangeShapeType="1"/>
          </p:cNvSpPr>
          <p:nvPr/>
        </p:nvSpPr>
        <p:spPr bwMode="auto">
          <a:xfrm>
            <a:off x="6096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5" name="Line 54"/>
          <p:cNvSpPr>
            <a:spLocks noChangeShapeType="1"/>
          </p:cNvSpPr>
          <p:nvPr/>
        </p:nvSpPr>
        <p:spPr bwMode="auto">
          <a:xfrm flipV="1">
            <a:off x="6508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6" name="Line 55"/>
          <p:cNvSpPr>
            <a:spLocks noChangeShapeType="1"/>
          </p:cNvSpPr>
          <p:nvPr/>
        </p:nvSpPr>
        <p:spPr bwMode="auto">
          <a:xfrm>
            <a:off x="6508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7" name="Line 56"/>
          <p:cNvSpPr>
            <a:spLocks noChangeShapeType="1"/>
          </p:cNvSpPr>
          <p:nvPr/>
        </p:nvSpPr>
        <p:spPr bwMode="auto">
          <a:xfrm>
            <a:off x="6921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28" name="Rectangle 57"/>
          <p:cNvSpPr>
            <a:spLocks noChangeArrowheads="1"/>
          </p:cNvSpPr>
          <p:nvPr/>
        </p:nvSpPr>
        <p:spPr bwMode="auto">
          <a:xfrm>
            <a:off x="6078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6</a:t>
            </a:r>
          </a:p>
        </p:txBody>
      </p:sp>
      <p:sp>
        <p:nvSpPr>
          <p:cNvPr id="12329" name="Line 58"/>
          <p:cNvSpPr>
            <a:spLocks noChangeShapeType="1"/>
          </p:cNvSpPr>
          <p:nvPr/>
        </p:nvSpPr>
        <p:spPr bwMode="auto">
          <a:xfrm>
            <a:off x="6921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0" name="Line 59"/>
          <p:cNvSpPr>
            <a:spLocks noChangeShapeType="1"/>
          </p:cNvSpPr>
          <p:nvPr/>
        </p:nvSpPr>
        <p:spPr bwMode="auto">
          <a:xfrm flipV="1">
            <a:off x="7334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1" name="Line 60"/>
          <p:cNvSpPr>
            <a:spLocks noChangeShapeType="1"/>
          </p:cNvSpPr>
          <p:nvPr/>
        </p:nvSpPr>
        <p:spPr bwMode="auto">
          <a:xfrm>
            <a:off x="7334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2" name="Line 61"/>
          <p:cNvSpPr>
            <a:spLocks noChangeShapeType="1"/>
          </p:cNvSpPr>
          <p:nvPr/>
        </p:nvSpPr>
        <p:spPr bwMode="auto">
          <a:xfrm>
            <a:off x="7747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3" name="Line 62"/>
          <p:cNvSpPr>
            <a:spLocks noChangeShapeType="1"/>
          </p:cNvSpPr>
          <p:nvPr/>
        </p:nvSpPr>
        <p:spPr bwMode="auto">
          <a:xfrm flipV="1">
            <a:off x="6921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4" name="Rectangle 63"/>
          <p:cNvSpPr>
            <a:spLocks noChangeArrowheads="1"/>
          </p:cNvSpPr>
          <p:nvPr/>
        </p:nvSpPr>
        <p:spPr bwMode="auto">
          <a:xfrm>
            <a:off x="6904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7</a:t>
            </a:r>
          </a:p>
        </p:txBody>
      </p:sp>
      <p:sp>
        <p:nvSpPr>
          <p:cNvPr id="12335" name="Line 64"/>
          <p:cNvSpPr>
            <a:spLocks noChangeShapeType="1"/>
          </p:cNvSpPr>
          <p:nvPr/>
        </p:nvSpPr>
        <p:spPr bwMode="auto">
          <a:xfrm>
            <a:off x="7747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6" name="Line 65"/>
          <p:cNvSpPr>
            <a:spLocks noChangeShapeType="1"/>
          </p:cNvSpPr>
          <p:nvPr/>
        </p:nvSpPr>
        <p:spPr bwMode="auto">
          <a:xfrm flipV="1">
            <a:off x="8159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7" name="Line 66"/>
          <p:cNvSpPr>
            <a:spLocks noChangeShapeType="1"/>
          </p:cNvSpPr>
          <p:nvPr/>
        </p:nvSpPr>
        <p:spPr bwMode="auto">
          <a:xfrm>
            <a:off x="8159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8" name="Line 67"/>
          <p:cNvSpPr>
            <a:spLocks noChangeShapeType="1"/>
          </p:cNvSpPr>
          <p:nvPr/>
        </p:nvSpPr>
        <p:spPr bwMode="auto">
          <a:xfrm>
            <a:off x="8572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39" name="Line 68"/>
          <p:cNvSpPr>
            <a:spLocks noChangeShapeType="1"/>
          </p:cNvSpPr>
          <p:nvPr/>
        </p:nvSpPr>
        <p:spPr bwMode="auto">
          <a:xfrm flipV="1">
            <a:off x="7747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0" name="Rectangle 69"/>
          <p:cNvSpPr>
            <a:spLocks noChangeArrowheads="1"/>
          </p:cNvSpPr>
          <p:nvPr/>
        </p:nvSpPr>
        <p:spPr bwMode="auto">
          <a:xfrm>
            <a:off x="77295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8</a:t>
            </a:r>
          </a:p>
        </p:txBody>
      </p:sp>
      <p:sp>
        <p:nvSpPr>
          <p:cNvPr id="12341" name="Line 70"/>
          <p:cNvSpPr>
            <a:spLocks noChangeShapeType="1"/>
          </p:cNvSpPr>
          <p:nvPr/>
        </p:nvSpPr>
        <p:spPr bwMode="auto">
          <a:xfrm>
            <a:off x="8572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2" name="Line 71"/>
          <p:cNvSpPr>
            <a:spLocks noChangeShapeType="1"/>
          </p:cNvSpPr>
          <p:nvPr/>
        </p:nvSpPr>
        <p:spPr bwMode="auto">
          <a:xfrm flipV="1">
            <a:off x="89852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3" name="Line 72"/>
          <p:cNvSpPr>
            <a:spLocks noChangeShapeType="1"/>
          </p:cNvSpPr>
          <p:nvPr/>
        </p:nvSpPr>
        <p:spPr bwMode="auto">
          <a:xfrm>
            <a:off x="89852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4" name="Line 73"/>
          <p:cNvSpPr>
            <a:spLocks noChangeShapeType="1"/>
          </p:cNvSpPr>
          <p:nvPr/>
        </p:nvSpPr>
        <p:spPr bwMode="auto">
          <a:xfrm>
            <a:off x="93980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5" name="Line 74"/>
          <p:cNvSpPr>
            <a:spLocks noChangeShapeType="1"/>
          </p:cNvSpPr>
          <p:nvPr/>
        </p:nvSpPr>
        <p:spPr bwMode="auto">
          <a:xfrm flipV="1">
            <a:off x="85725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6" name="Rectangle 75"/>
          <p:cNvSpPr>
            <a:spLocks noChangeArrowheads="1"/>
          </p:cNvSpPr>
          <p:nvPr/>
        </p:nvSpPr>
        <p:spPr bwMode="auto">
          <a:xfrm>
            <a:off x="8555039" y="30162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9</a:t>
            </a:r>
          </a:p>
        </p:txBody>
      </p:sp>
      <p:sp>
        <p:nvSpPr>
          <p:cNvPr id="12347" name="Line 76"/>
          <p:cNvSpPr>
            <a:spLocks noChangeShapeType="1"/>
          </p:cNvSpPr>
          <p:nvPr/>
        </p:nvSpPr>
        <p:spPr bwMode="auto">
          <a:xfrm>
            <a:off x="93980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8" name="Line 77"/>
          <p:cNvSpPr>
            <a:spLocks noChangeShapeType="1"/>
          </p:cNvSpPr>
          <p:nvPr/>
        </p:nvSpPr>
        <p:spPr bwMode="auto">
          <a:xfrm flipV="1">
            <a:off x="9810751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49" name="Line 78"/>
          <p:cNvSpPr>
            <a:spLocks noChangeShapeType="1"/>
          </p:cNvSpPr>
          <p:nvPr/>
        </p:nvSpPr>
        <p:spPr bwMode="auto">
          <a:xfrm>
            <a:off x="9810750" y="3386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0" name="Line 79"/>
          <p:cNvSpPr>
            <a:spLocks noChangeShapeType="1"/>
          </p:cNvSpPr>
          <p:nvPr/>
        </p:nvSpPr>
        <p:spPr bwMode="auto">
          <a:xfrm>
            <a:off x="10223500" y="3386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1" name="Line 80"/>
          <p:cNvSpPr>
            <a:spLocks noChangeShapeType="1"/>
          </p:cNvSpPr>
          <p:nvPr/>
        </p:nvSpPr>
        <p:spPr bwMode="auto">
          <a:xfrm flipV="1">
            <a:off x="9398000" y="30051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2" name="Rectangle 81"/>
          <p:cNvSpPr>
            <a:spLocks noChangeArrowheads="1"/>
          </p:cNvSpPr>
          <p:nvPr/>
        </p:nvSpPr>
        <p:spPr bwMode="auto">
          <a:xfrm>
            <a:off x="9297989" y="3016251"/>
            <a:ext cx="93294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10</a:t>
            </a:r>
          </a:p>
        </p:txBody>
      </p:sp>
      <p:sp>
        <p:nvSpPr>
          <p:cNvPr id="12353" name="Line 82"/>
          <p:cNvSpPr>
            <a:spLocks noChangeShapeType="1"/>
          </p:cNvSpPr>
          <p:nvPr/>
        </p:nvSpPr>
        <p:spPr bwMode="auto">
          <a:xfrm>
            <a:off x="10223501" y="3614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4" name="Rectangle 83"/>
          <p:cNvSpPr>
            <a:spLocks noChangeArrowheads="1"/>
          </p:cNvSpPr>
          <p:nvPr/>
        </p:nvSpPr>
        <p:spPr bwMode="auto">
          <a:xfrm>
            <a:off x="1318427" y="4625828"/>
            <a:ext cx="64120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Load</a:t>
            </a:r>
          </a:p>
        </p:txBody>
      </p:sp>
      <p:sp>
        <p:nvSpPr>
          <p:cNvPr id="12355" name="Line 114"/>
          <p:cNvSpPr>
            <a:spLocks noChangeShapeType="1"/>
          </p:cNvSpPr>
          <p:nvPr/>
        </p:nvSpPr>
        <p:spPr bwMode="auto">
          <a:xfrm flipV="1">
            <a:off x="6086168" y="3614739"/>
            <a:ext cx="9832" cy="65246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6" name="Rectangle 115"/>
          <p:cNvSpPr>
            <a:spLocks noChangeArrowheads="1"/>
          </p:cNvSpPr>
          <p:nvPr/>
        </p:nvSpPr>
        <p:spPr bwMode="auto">
          <a:xfrm>
            <a:off x="203696" y="4690012"/>
            <a:ext cx="945772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Pipeline </a:t>
            </a:r>
          </a:p>
        </p:txBody>
      </p:sp>
      <p:sp>
        <p:nvSpPr>
          <p:cNvPr id="12357" name="Line 133"/>
          <p:cNvSpPr>
            <a:spLocks noChangeShapeType="1"/>
          </p:cNvSpPr>
          <p:nvPr/>
        </p:nvSpPr>
        <p:spPr bwMode="auto">
          <a:xfrm flipH="1" flipV="1">
            <a:off x="1968500" y="3614738"/>
            <a:ext cx="7784" cy="61313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8" name="Line 136"/>
          <p:cNvSpPr>
            <a:spLocks noChangeShapeType="1"/>
          </p:cNvSpPr>
          <p:nvPr/>
        </p:nvSpPr>
        <p:spPr bwMode="auto">
          <a:xfrm>
            <a:off x="1555750" y="14811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59" name="Line 137"/>
          <p:cNvSpPr>
            <a:spLocks noChangeShapeType="1"/>
          </p:cNvSpPr>
          <p:nvPr/>
        </p:nvSpPr>
        <p:spPr bwMode="auto">
          <a:xfrm>
            <a:off x="19685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0" name="Line 138"/>
          <p:cNvSpPr>
            <a:spLocks noChangeShapeType="1"/>
          </p:cNvSpPr>
          <p:nvPr/>
        </p:nvSpPr>
        <p:spPr bwMode="auto">
          <a:xfrm flipV="1">
            <a:off x="9389808" y="3614739"/>
            <a:ext cx="8193" cy="73112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1" name="Line 139"/>
          <p:cNvSpPr>
            <a:spLocks noChangeShapeType="1"/>
          </p:cNvSpPr>
          <p:nvPr/>
        </p:nvSpPr>
        <p:spPr bwMode="auto">
          <a:xfrm flipV="1">
            <a:off x="6096000" y="2547939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2" name="Line 140"/>
          <p:cNvSpPr>
            <a:spLocks noChangeShapeType="1"/>
          </p:cNvSpPr>
          <p:nvPr/>
        </p:nvSpPr>
        <p:spPr bwMode="auto">
          <a:xfrm>
            <a:off x="5848351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3" name="Line 141"/>
          <p:cNvSpPr>
            <a:spLocks noChangeShapeType="1"/>
          </p:cNvSpPr>
          <p:nvPr/>
        </p:nvSpPr>
        <p:spPr bwMode="auto">
          <a:xfrm flipV="1">
            <a:off x="9893300" y="17859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4" name="Line 142"/>
          <p:cNvSpPr>
            <a:spLocks noChangeShapeType="1"/>
          </p:cNvSpPr>
          <p:nvPr/>
        </p:nvSpPr>
        <p:spPr bwMode="auto">
          <a:xfrm>
            <a:off x="98933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5" name="Line 143"/>
          <p:cNvSpPr>
            <a:spLocks noChangeShapeType="1"/>
          </p:cNvSpPr>
          <p:nvPr/>
        </p:nvSpPr>
        <p:spPr bwMode="auto">
          <a:xfrm>
            <a:off x="1968501" y="1709739"/>
            <a:ext cx="2063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6" name="Line 144"/>
          <p:cNvSpPr>
            <a:spLocks noChangeShapeType="1"/>
          </p:cNvSpPr>
          <p:nvPr/>
        </p:nvSpPr>
        <p:spPr bwMode="auto">
          <a:xfrm>
            <a:off x="4032251" y="1481139"/>
            <a:ext cx="1816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7" name="Line 145"/>
          <p:cNvSpPr>
            <a:spLocks noChangeShapeType="1"/>
          </p:cNvSpPr>
          <p:nvPr/>
        </p:nvSpPr>
        <p:spPr bwMode="auto">
          <a:xfrm>
            <a:off x="4032251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8" name="Line 146"/>
          <p:cNvSpPr>
            <a:spLocks noChangeShapeType="1"/>
          </p:cNvSpPr>
          <p:nvPr/>
        </p:nvSpPr>
        <p:spPr bwMode="auto">
          <a:xfrm>
            <a:off x="5848350" y="1709739"/>
            <a:ext cx="2063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9" name="Line 147"/>
          <p:cNvSpPr>
            <a:spLocks noChangeShapeType="1"/>
          </p:cNvSpPr>
          <p:nvPr/>
        </p:nvSpPr>
        <p:spPr bwMode="auto">
          <a:xfrm>
            <a:off x="7912100" y="1481139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0" name="Line 148"/>
          <p:cNvSpPr>
            <a:spLocks noChangeShapeType="1"/>
          </p:cNvSpPr>
          <p:nvPr/>
        </p:nvSpPr>
        <p:spPr bwMode="auto">
          <a:xfrm>
            <a:off x="7912100" y="1481139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1" name="Line 149"/>
          <p:cNvSpPr>
            <a:spLocks noChangeShapeType="1"/>
          </p:cNvSpPr>
          <p:nvPr/>
        </p:nvSpPr>
        <p:spPr bwMode="auto">
          <a:xfrm>
            <a:off x="9975850" y="1709739"/>
            <a:ext cx="412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2" name="Rectangle 150"/>
          <p:cNvSpPr>
            <a:spLocks noChangeArrowheads="1"/>
          </p:cNvSpPr>
          <p:nvPr/>
        </p:nvSpPr>
        <p:spPr bwMode="auto">
          <a:xfrm>
            <a:off x="1455739" y="1492251"/>
            <a:ext cx="50494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Clk</a:t>
            </a:r>
          </a:p>
        </p:txBody>
      </p:sp>
      <p:sp>
        <p:nvSpPr>
          <p:cNvPr id="12373" name="Rectangle 151"/>
          <p:cNvSpPr>
            <a:spLocks noChangeArrowheads="1"/>
          </p:cNvSpPr>
          <p:nvPr/>
        </p:nvSpPr>
        <p:spPr bwMode="auto">
          <a:xfrm>
            <a:off x="237386" y="2197524"/>
            <a:ext cx="133369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Single Cycle:</a:t>
            </a:r>
          </a:p>
        </p:txBody>
      </p:sp>
      <p:sp>
        <p:nvSpPr>
          <p:cNvPr id="12374" name="Rectangle 152"/>
          <p:cNvSpPr>
            <a:spLocks noChangeArrowheads="1"/>
          </p:cNvSpPr>
          <p:nvPr/>
        </p:nvSpPr>
        <p:spPr bwMode="auto">
          <a:xfrm>
            <a:off x="1982789" y="2255839"/>
            <a:ext cx="3851275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 b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5" name="Rectangle 153"/>
          <p:cNvSpPr>
            <a:spLocks noChangeArrowheads="1"/>
          </p:cNvSpPr>
          <p:nvPr/>
        </p:nvSpPr>
        <p:spPr bwMode="auto">
          <a:xfrm>
            <a:off x="5862639" y="2255839"/>
            <a:ext cx="4016375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en-US" b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6" name="Rectangle 154"/>
          <p:cNvSpPr>
            <a:spLocks noChangeArrowheads="1"/>
          </p:cNvSpPr>
          <p:nvPr/>
        </p:nvSpPr>
        <p:spPr bwMode="auto">
          <a:xfrm>
            <a:off x="3436939" y="2254251"/>
            <a:ext cx="64120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Load</a:t>
            </a:r>
          </a:p>
        </p:txBody>
      </p:sp>
      <p:sp>
        <p:nvSpPr>
          <p:cNvPr id="12377" name="Rectangle 155"/>
          <p:cNvSpPr>
            <a:spLocks noChangeArrowheads="1"/>
          </p:cNvSpPr>
          <p:nvPr/>
        </p:nvSpPr>
        <p:spPr bwMode="auto">
          <a:xfrm>
            <a:off x="7564439" y="2254251"/>
            <a:ext cx="52738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 err="1">
                <a:latin typeface="Times New Roman" panose="02020503050405090304" pitchFamily="18" charset="0"/>
                <a:ea typeface="新細明體" panose="02020500000000000000" pitchFamily="18" charset="-120"/>
              </a:rPr>
              <a:t>Beq</a:t>
            </a:r>
            <a:endParaRPr kumimoji="1" lang="en-US" altLang="zh-TW" sz="1600" dirty="0">
              <a:latin typeface="Times New Roman" panose="020205030504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378" name="Line 156"/>
          <p:cNvSpPr>
            <a:spLocks noChangeShapeType="1"/>
          </p:cNvSpPr>
          <p:nvPr/>
        </p:nvSpPr>
        <p:spPr bwMode="auto">
          <a:xfrm flipV="1">
            <a:off x="8582733" y="228864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79" name="Rectangle 157"/>
          <p:cNvSpPr>
            <a:spLocks noChangeArrowheads="1"/>
          </p:cNvSpPr>
          <p:nvPr/>
        </p:nvSpPr>
        <p:spPr bwMode="auto">
          <a:xfrm>
            <a:off x="8723312" y="2254251"/>
            <a:ext cx="113240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  Waste</a:t>
            </a:r>
          </a:p>
        </p:txBody>
      </p:sp>
      <p:grpSp>
        <p:nvGrpSpPr>
          <p:cNvPr id="12392" name="Group 84"/>
          <p:cNvGrpSpPr/>
          <p:nvPr/>
        </p:nvGrpSpPr>
        <p:grpSpPr bwMode="auto">
          <a:xfrm>
            <a:off x="1914314" y="4668516"/>
            <a:ext cx="4098713" cy="368300"/>
            <a:chOff x="488" y="3253"/>
            <a:chExt cx="2384" cy="232"/>
          </a:xfrm>
        </p:grpSpPr>
        <p:grpSp>
          <p:nvGrpSpPr>
            <p:cNvPr id="12429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12442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43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12430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12440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41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31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12438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9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32" name="Group 94"/>
            <p:cNvGrpSpPr/>
            <p:nvPr/>
          </p:nvGrpSpPr>
          <p:grpSpPr bwMode="auto">
            <a:xfrm>
              <a:off x="1928" y="3271"/>
              <a:ext cx="464" cy="214"/>
              <a:chOff x="1928" y="3271"/>
              <a:chExt cx="464" cy="214"/>
            </a:xfrm>
          </p:grpSpPr>
          <p:sp>
            <p:nvSpPr>
              <p:cNvPr id="12436" name="Rectangle 95"/>
              <p:cNvSpPr>
                <a:spLocks noChangeArrowheads="1"/>
              </p:cNvSpPr>
              <p:nvPr/>
            </p:nvSpPr>
            <p:spPr bwMode="auto">
              <a:xfrm>
                <a:off x="192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7" name="Rectangle 96"/>
              <p:cNvSpPr>
                <a:spLocks noChangeArrowheads="1"/>
              </p:cNvSpPr>
              <p:nvPr/>
            </p:nvSpPr>
            <p:spPr bwMode="auto">
              <a:xfrm>
                <a:off x="1958" y="3271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33" name="Group 97"/>
            <p:cNvGrpSpPr/>
            <p:nvPr/>
          </p:nvGrpSpPr>
          <p:grpSpPr bwMode="auto">
            <a:xfrm>
              <a:off x="2408" y="3253"/>
              <a:ext cx="464" cy="214"/>
              <a:chOff x="2408" y="3253"/>
              <a:chExt cx="464" cy="214"/>
            </a:xfrm>
          </p:grpSpPr>
          <p:sp>
            <p:nvSpPr>
              <p:cNvPr id="12434" name="Rectangle 98"/>
              <p:cNvSpPr>
                <a:spLocks noChangeArrowheads="1"/>
              </p:cNvSpPr>
              <p:nvPr/>
            </p:nvSpPr>
            <p:spPr bwMode="auto">
              <a:xfrm>
                <a:off x="240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35" name="Rectangle 99"/>
              <p:cNvSpPr>
                <a:spLocks noChangeArrowheads="1"/>
              </p:cNvSpPr>
              <p:nvPr/>
            </p:nvSpPr>
            <p:spPr bwMode="auto">
              <a:xfrm>
                <a:off x="2486" y="3253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grpSp>
        <p:nvGrpSpPr>
          <p:cNvPr id="12393" name="Group 116"/>
          <p:cNvGrpSpPr/>
          <p:nvPr/>
        </p:nvGrpSpPr>
        <p:grpSpPr bwMode="auto">
          <a:xfrm>
            <a:off x="2739814" y="5124890"/>
            <a:ext cx="4098713" cy="350521"/>
            <a:chOff x="968" y="3540"/>
            <a:chExt cx="2384" cy="221"/>
          </a:xfrm>
        </p:grpSpPr>
        <p:grpSp>
          <p:nvGrpSpPr>
            <p:cNvPr id="12414" name="Group 117"/>
            <p:cNvGrpSpPr/>
            <p:nvPr/>
          </p:nvGrpSpPr>
          <p:grpSpPr bwMode="auto">
            <a:xfrm>
              <a:off x="968" y="3540"/>
              <a:ext cx="464" cy="214"/>
              <a:chOff x="968" y="3540"/>
              <a:chExt cx="464" cy="214"/>
            </a:xfrm>
          </p:grpSpPr>
          <p:sp>
            <p:nvSpPr>
              <p:cNvPr id="12427" name="Rectangle 118"/>
              <p:cNvSpPr>
                <a:spLocks noChangeArrowheads="1"/>
              </p:cNvSpPr>
              <p:nvPr/>
            </p:nvSpPr>
            <p:spPr bwMode="auto">
              <a:xfrm>
                <a:off x="96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8" name="Rectangle 119"/>
              <p:cNvSpPr>
                <a:spLocks noChangeArrowheads="1"/>
              </p:cNvSpPr>
              <p:nvPr/>
            </p:nvSpPr>
            <p:spPr bwMode="auto">
              <a:xfrm>
                <a:off x="1091" y="3540"/>
                <a:ext cx="292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</a:p>
            </p:txBody>
          </p:sp>
        </p:grpSp>
        <p:grpSp>
          <p:nvGrpSpPr>
            <p:cNvPr id="12415" name="Group 120"/>
            <p:cNvGrpSpPr/>
            <p:nvPr/>
          </p:nvGrpSpPr>
          <p:grpSpPr bwMode="auto">
            <a:xfrm>
              <a:off x="1448" y="3547"/>
              <a:ext cx="464" cy="214"/>
              <a:chOff x="1448" y="3547"/>
              <a:chExt cx="464" cy="214"/>
            </a:xfrm>
          </p:grpSpPr>
          <p:sp>
            <p:nvSpPr>
              <p:cNvPr id="12425" name="Rectangle 121"/>
              <p:cNvSpPr>
                <a:spLocks noChangeArrowheads="1"/>
              </p:cNvSpPr>
              <p:nvPr/>
            </p:nvSpPr>
            <p:spPr bwMode="auto">
              <a:xfrm>
                <a:off x="144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6" name="Rectangle 122"/>
              <p:cNvSpPr>
                <a:spLocks noChangeArrowheads="1"/>
              </p:cNvSpPr>
              <p:nvPr/>
            </p:nvSpPr>
            <p:spPr bwMode="auto">
              <a:xfrm>
                <a:off x="1556" y="3547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16" name="Group 123"/>
            <p:cNvGrpSpPr/>
            <p:nvPr/>
          </p:nvGrpSpPr>
          <p:grpSpPr bwMode="auto">
            <a:xfrm>
              <a:off x="1928" y="3545"/>
              <a:ext cx="464" cy="214"/>
              <a:chOff x="1928" y="3545"/>
              <a:chExt cx="464" cy="214"/>
            </a:xfrm>
          </p:grpSpPr>
          <p:sp>
            <p:nvSpPr>
              <p:cNvPr id="12423" name="Rectangle 124"/>
              <p:cNvSpPr>
                <a:spLocks noChangeArrowheads="1"/>
              </p:cNvSpPr>
              <p:nvPr/>
            </p:nvSpPr>
            <p:spPr bwMode="auto">
              <a:xfrm>
                <a:off x="192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4" name="Rectangle 125"/>
              <p:cNvSpPr>
                <a:spLocks noChangeArrowheads="1"/>
              </p:cNvSpPr>
              <p:nvPr/>
            </p:nvSpPr>
            <p:spPr bwMode="auto">
              <a:xfrm>
                <a:off x="2027" y="3545"/>
                <a:ext cx="35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17" name="Group 126"/>
            <p:cNvGrpSpPr/>
            <p:nvPr/>
          </p:nvGrpSpPr>
          <p:grpSpPr bwMode="auto">
            <a:xfrm>
              <a:off x="2408" y="3547"/>
              <a:ext cx="464" cy="214"/>
              <a:chOff x="2408" y="3547"/>
              <a:chExt cx="464" cy="214"/>
            </a:xfrm>
          </p:grpSpPr>
          <p:sp>
            <p:nvSpPr>
              <p:cNvPr id="12421" name="Rectangle 127"/>
              <p:cNvSpPr>
                <a:spLocks noChangeArrowheads="1"/>
              </p:cNvSpPr>
              <p:nvPr/>
            </p:nvSpPr>
            <p:spPr bwMode="auto">
              <a:xfrm>
                <a:off x="240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2" name="Rectangle 128"/>
              <p:cNvSpPr>
                <a:spLocks noChangeArrowheads="1"/>
              </p:cNvSpPr>
              <p:nvPr/>
            </p:nvSpPr>
            <p:spPr bwMode="auto">
              <a:xfrm>
                <a:off x="2438" y="3547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18" name="Group 129"/>
            <p:cNvGrpSpPr/>
            <p:nvPr/>
          </p:nvGrpSpPr>
          <p:grpSpPr bwMode="auto">
            <a:xfrm>
              <a:off x="2888" y="3547"/>
              <a:ext cx="464" cy="214"/>
              <a:chOff x="2888" y="3547"/>
              <a:chExt cx="464" cy="214"/>
            </a:xfrm>
          </p:grpSpPr>
          <p:sp>
            <p:nvSpPr>
              <p:cNvPr id="12419" name="Rectangle 130"/>
              <p:cNvSpPr>
                <a:spLocks noChangeArrowheads="1"/>
              </p:cNvSpPr>
              <p:nvPr/>
            </p:nvSpPr>
            <p:spPr bwMode="auto">
              <a:xfrm>
                <a:off x="2888" y="3560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20" name="Rectangle 131"/>
              <p:cNvSpPr>
                <a:spLocks noChangeArrowheads="1"/>
              </p:cNvSpPr>
              <p:nvPr/>
            </p:nvSpPr>
            <p:spPr bwMode="auto">
              <a:xfrm>
                <a:off x="2966" y="3547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12394" name="Rectangle 132"/>
          <p:cNvSpPr>
            <a:spLocks noChangeArrowheads="1"/>
          </p:cNvSpPr>
          <p:nvPr/>
        </p:nvSpPr>
        <p:spPr bwMode="auto">
          <a:xfrm>
            <a:off x="2130214" y="5154507"/>
            <a:ext cx="61664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rPr>
              <a:t>store</a:t>
            </a:r>
          </a:p>
        </p:txBody>
      </p:sp>
      <p:grpSp>
        <p:nvGrpSpPr>
          <p:cNvPr id="12397" name="Group 162"/>
          <p:cNvGrpSpPr/>
          <p:nvPr/>
        </p:nvGrpSpPr>
        <p:grpSpPr bwMode="auto">
          <a:xfrm>
            <a:off x="3647441" y="5582923"/>
            <a:ext cx="4098713" cy="368300"/>
            <a:chOff x="1496" y="3829"/>
            <a:chExt cx="2384" cy="232"/>
          </a:xfrm>
        </p:grpSpPr>
        <p:grpSp>
          <p:nvGrpSpPr>
            <p:cNvPr id="12399" name="Group 163"/>
            <p:cNvGrpSpPr/>
            <p:nvPr/>
          </p:nvGrpSpPr>
          <p:grpSpPr bwMode="auto">
            <a:xfrm>
              <a:off x="1496" y="3829"/>
              <a:ext cx="464" cy="214"/>
              <a:chOff x="1496" y="3829"/>
              <a:chExt cx="464" cy="214"/>
            </a:xfrm>
          </p:grpSpPr>
          <p:sp>
            <p:nvSpPr>
              <p:cNvPr id="12412" name="Rectangle 164"/>
              <p:cNvSpPr>
                <a:spLocks noChangeArrowheads="1"/>
              </p:cNvSpPr>
              <p:nvPr/>
            </p:nvSpPr>
            <p:spPr bwMode="auto">
              <a:xfrm>
                <a:off x="149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13" name="Rectangle 165"/>
              <p:cNvSpPr>
                <a:spLocks noChangeArrowheads="1"/>
              </p:cNvSpPr>
              <p:nvPr/>
            </p:nvSpPr>
            <p:spPr bwMode="auto">
              <a:xfrm>
                <a:off x="1609" y="382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</a:p>
            </p:txBody>
          </p:sp>
        </p:grpSp>
        <p:grpSp>
          <p:nvGrpSpPr>
            <p:cNvPr id="12400" name="Group 166"/>
            <p:cNvGrpSpPr/>
            <p:nvPr/>
          </p:nvGrpSpPr>
          <p:grpSpPr bwMode="auto">
            <a:xfrm>
              <a:off x="1976" y="3829"/>
              <a:ext cx="464" cy="214"/>
              <a:chOff x="1976" y="3829"/>
              <a:chExt cx="464" cy="214"/>
            </a:xfrm>
          </p:grpSpPr>
          <p:sp>
            <p:nvSpPr>
              <p:cNvPr id="12410" name="Rectangle 167"/>
              <p:cNvSpPr>
                <a:spLocks noChangeArrowheads="1"/>
              </p:cNvSpPr>
              <p:nvPr/>
            </p:nvSpPr>
            <p:spPr bwMode="auto">
              <a:xfrm>
                <a:off x="197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11" name="Rectangle 168"/>
              <p:cNvSpPr>
                <a:spLocks noChangeArrowheads="1"/>
              </p:cNvSpPr>
              <p:nvPr/>
            </p:nvSpPr>
            <p:spPr bwMode="auto">
              <a:xfrm>
                <a:off x="2054" y="3829"/>
                <a:ext cx="266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2401" name="Group 169"/>
            <p:cNvGrpSpPr/>
            <p:nvPr/>
          </p:nvGrpSpPr>
          <p:grpSpPr bwMode="auto">
            <a:xfrm>
              <a:off x="2456" y="3829"/>
              <a:ext cx="464" cy="214"/>
              <a:chOff x="2456" y="3829"/>
              <a:chExt cx="464" cy="214"/>
            </a:xfrm>
          </p:grpSpPr>
          <p:sp>
            <p:nvSpPr>
              <p:cNvPr id="12408" name="Rectangle 170"/>
              <p:cNvSpPr>
                <a:spLocks noChangeArrowheads="1"/>
              </p:cNvSpPr>
              <p:nvPr/>
            </p:nvSpPr>
            <p:spPr bwMode="auto">
              <a:xfrm>
                <a:off x="245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9" name="Rectangle 171"/>
              <p:cNvSpPr>
                <a:spLocks noChangeArrowheads="1"/>
              </p:cNvSpPr>
              <p:nvPr/>
            </p:nvSpPr>
            <p:spPr bwMode="auto">
              <a:xfrm>
                <a:off x="2533" y="3829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2402" name="Group 172"/>
            <p:cNvGrpSpPr/>
            <p:nvPr/>
          </p:nvGrpSpPr>
          <p:grpSpPr bwMode="auto">
            <a:xfrm>
              <a:off x="2936" y="3847"/>
              <a:ext cx="464" cy="214"/>
              <a:chOff x="2936" y="3847"/>
              <a:chExt cx="464" cy="214"/>
            </a:xfrm>
          </p:grpSpPr>
          <p:sp>
            <p:nvSpPr>
              <p:cNvPr id="12406" name="Rectangle 173"/>
              <p:cNvSpPr>
                <a:spLocks noChangeArrowheads="1"/>
              </p:cNvSpPr>
              <p:nvPr/>
            </p:nvSpPr>
            <p:spPr bwMode="auto">
              <a:xfrm>
                <a:off x="293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7" name="Rectangle 174"/>
              <p:cNvSpPr>
                <a:spLocks noChangeArrowheads="1"/>
              </p:cNvSpPr>
              <p:nvPr/>
            </p:nvSpPr>
            <p:spPr bwMode="auto">
              <a:xfrm>
                <a:off x="2966" y="3847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12403" name="Group 175"/>
            <p:cNvGrpSpPr/>
            <p:nvPr/>
          </p:nvGrpSpPr>
          <p:grpSpPr bwMode="auto">
            <a:xfrm>
              <a:off x="3416" y="3847"/>
              <a:ext cx="464" cy="214"/>
              <a:chOff x="3416" y="3847"/>
              <a:chExt cx="464" cy="214"/>
            </a:xfrm>
          </p:grpSpPr>
          <p:sp>
            <p:nvSpPr>
              <p:cNvPr id="12404" name="Rectangle 176"/>
              <p:cNvSpPr>
                <a:spLocks noChangeArrowheads="1"/>
              </p:cNvSpPr>
              <p:nvPr/>
            </p:nvSpPr>
            <p:spPr bwMode="auto">
              <a:xfrm>
                <a:off x="3416" y="3848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2405" name="Rectangle 177"/>
              <p:cNvSpPr>
                <a:spLocks noChangeArrowheads="1"/>
              </p:cNvSpPr>
              <p:nvPr/>
            </p:nvSpPr>
            <p:spPr bwMode="auto">
              <a:xfrm>
                <a:off x="3494" y="3847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12398" name="Rectangle 178"/>
          <p:cNvSpPr>
            <a:spLocks noChangeArrowheads="1"/>
          </p:cNvSpPr>
          <p:nvPr/>
        </p:nvSpPr>
        <p:spPr bwMode="auto">
          <a:xfrm>
            <a:off x="2872740" y="5611707"/>
            <a:ext cx="77905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R-type</a:t>
            </a:r>
          </a:p>
        </p:txBody>
      </p:sp>
      <p:sp>
        <p:nvSpPr>
          <p:cNvPr id="12381" name="Line 179"/>
          <p:cNvSpPr>
            <a:spLocks noChangeShapeType="1"/>
          </p:cNvSpPr>
          <p:nvPr/>
        </p:nvSpPr>
        <p:spPr bwMode="auto">
          <a:xfrm flipV="1">
            <a:off x="1968500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2" name="Rectangle 180"/>
          <p:cNvSpPr>
            <a:spLocks noChangeArrowheads="1"/>
          </p:cNvSpPr>
          <p:nvPr/>
        </p:nvSpPr>
        <p:spPr bwMode="auto">
          <a:xfrm>
            <a:off x="3602039" y="11874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1</a:t>
            </a:r>
          </a:p>
        </p:txBody>
      </p:sp>
      <p:sp>
        <p:nvSpPr>
          <p:cNvPr id="12383" name="Line 181"/>
          <p:cNvSpPr>
            <a:spLocks noChangeShapeType="1"/>
          </p:cNvSpPr>
          <p:nvPr/>
        </p:nvSpPr>
        <p:spPr bwMode="auto">
          <a:xfrm flipV="1">
            <a:off x="5848351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4" name="Line 182"/>
          <p:cNvSpPr>
            <a:spLocks noChangeShapeType="1"/>
          </p:cNvSpPr>
          <p:nvPr/>
        </p:nvSpPr>
        <p:spPr bwMode="auto">
          <a:xfrm flipV="1">
            <a:off x="9893300" y="117633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5" name="Rectangle 183"/>
          <p:cNvSpPr>
            <a:spLocks noChangeArrowheads="1"/>
          </p:cNvSpPr>
          <p:nvPr/>
        </p:nvSpPr>
        <p:spPr bwMode="auto">
          <a:xfrm>
            <a:off x="7481890" y="1187451"/>
            <a:ext cx="83035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Cycle 2</a:t>
            </a:r>
          </a:p>
        </p:txBody>
      </p:sp>
      <p:sp>
        <p:nvSpPr>
          <p:cNvPr id="12386" name="Line 184"/>
          <p:cNvSpPr>
            <a:spLocks noChangeShapeType="1"/>
          </p:cNvSpPr>
          <p:nvPr/>
        </p:nvSpPr>
        <p:spPr bwMode="auto">
          <a:xfrm>
            <a:off x="1968500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7" name="Line 185"/>
          <p:cNvSpPr>
            <a:spLocks noChangeShapeType="1"/>
          </p:cNvSpPr>
          <p:nvPr/>
        </p:nvSpPr>
        <p:spPr bwMode="auto">
          <a:xfrm>
            <a:off x="5848349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8" name="Line 186"/>
          <p:cNvSpPr>
            <a:spLocks noChangeShapeType="1"/>
          </p:cNvSpPr>
          <p:nvPr/>
        </p:nvSpPr>
        <p:spPr bwMode="auto">
          <a:xfrm flipH="1">
            <a:off x="8324849" y="1328739"/>
            <a:ext cx="15684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89" name="Line 187"/>
          <p:cNvSpPr>
            <a:spLocks noChangeShapeType="1"/>
          </p:cNvSpPr>
          <p:nvPr/>
        </p:nvSpPr>
        <p:spPr bwMode="auto">
          <a:xfrm flipH="1">
            <a:off x="4527551" y="1328739"/>
            <a:ext cx="1155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0" name="Line 188"/>
          <p:cNvSpPr>
            <a:spLocks noChangeShapeType="1"/>
          </p:cNvSpPr>
          <p:nvPr/>
        </p:nvSpPr>
        <p:spPr bwMode="auto">
          <a:xfrm flipV="1">
            <a:off x="5848351" y="1481139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84"/>
          <p:cNvGrpSpPr/>
          <p:nvPr/>
        </p:nvGrpSpPr>
        <p:grpSpPr bwMode="auto">
          <a:xfrm>
            <a:off x="1973581" y="3821849"/>
            <a:ext cx="4098713" cy="368300"/>
            <a:chOff x="488" y="3253"/>
            <a:chExt cx="2384" cy="232"/>
          </a:xfrm>
        </p:grpSpPr>
        <p:grpSp>
          <p:nvGrpSpPr>
            <p:cNvPr id="8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9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0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11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12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3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14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15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6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grpSp>
          <p:nvGrpSpPr>
            <p:cNvPr id="17" name="Group 94"/>
            <p:cNvGrpSpPr/>
            <p:nvPr/>
          </p:nvGrpSpPr>
          <p:grpSpPr bwMode="auto">
            <a:xfrm>
              <a:off x="1928" y="3271"/>
              <a:ext cx="464" cy="214"/>
              <a:chOff x="1928" y="3271"/>
              <a:chExt cx="464" cy="214"/>
            </a:xfrm>
          </p:grpSpPr>
          <p:sp>
            <p:nvSpPr>
              <p:cNvPr id="18" name="Rectangle 95"/>
              <p:cNvSpPr>
                <a:spLocks noChangeArrowheads="1"/>
              </p:cNvSpPr>
              <p:nvPr/>
            </p:nvSpPr>
            <p:spPr bwMode="auto">
              <a:xfrm>
                <a:off x="192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9" name="Rectangle 96"/>
              <p:cNvSpPr>
                <a:spLocks noChangeArrowheads="1"/>
              </p:cNvSpPr>
              <p:nvPr/>
            </p:nvSpPr>
            <p:spPr bwMode="auto">
              <a:xfrm>
                <a:off x="1958" y="3271"/>
                <a:ext cx="41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MEM</a:t>
                </a:r>
              </a:p>
            </p:txBody>
          </p:sp>
        </p:grpSp>
        <p:grpSp>
          <p:nvGrpSpPr>
            <p:cNvPr id="20" name="Group 97"/>
            <p:cNvGrpSpPr/>
            <p:nvPr/>
          </p:nvGrpSpPr>
          <p:grpSpPr bwMode="auto">
            <a:xfrm>
              <a:off x="2408" y="3253"/>
              <a:ext cx="464" cy="214"/>
              <a:chOff x="2408" y="3253"/>
              <a:chExt cx="464" cy="214"/>
            </a:xfrm>
          </p:grpSpPr>
          <p:sp>
            <p:nvSpPr>
              <p:cNvPr id="21" name="Rectangle 98"/>
              <p:cNvSpPr>
                <a:spLocks noChangeArrowheads="1"/>
              </p:cNvSpPr>
              <p:nvPr/>
            </p:nvSpPr>
            <p:spPr bwMode="auto">
              <a:xfrm>
                <a:off x="240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2" name="Rectangle 99"/>
              <p:cNvSpPr>
                <a:spLocks noChangeArrowheads="1"/>
              </p:cNvSpPr>
              <p:nvPr/>
            </p:nvSpPr>
            <p:spPr bwMode="auto">
              <a:xfrm>
                <a:off x="2486" y="3253"/>
                <a:ext cx="30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WB</a:t>
                </a:r>
              </a:p>
            </p:txBody>
          </p:sp>
        </p:grpSp>
      </p:grpSp>
      <p:sp>
        <p:nvSpPr>
          <p:cNvPr id="23" name="Rectangle 151"/>
          <p:cNvSpPr>
            <a:spLocks noChangeArrowheads="1"/>
          </p:cNvSpPr>
          <p:nvPr/>
        </p:nvSpPr>
        <p:spPr bwMode="auto">
          <a:xfrm>
            <a:off x="139173" y="3850217"/>
            <a:ext cx="1250342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1600">
                <a:latin typeface="Times New Roman" panose="02020503050405090304" pitchFamily="18" charset="0"/>
                <a:ea typeface="新細明體" panose="02020500000000000000" pitchFamily="18" charset="-120"/>
              </a:rPr>
              <a:t>Multi-cycle:</a:t>
            </a:r>
          </a:p>
        </p:txBody>
      </p:sp>
      <p:grpSp>
        <p:nvGrpSpPr>
          <p:cNvPr id="25" name="Group 84"/>
          <p:cNvGrpSpPr/>
          <p:nvPr/>
        </p:nvGrpSpPr>
        <p:grpSpPr bwMode="auto">
          <a:xfrm>
            <a:off x="6090921" y="3809149"/>
            <a:ext cx="2712991" cy="368300"/>
            <a:chOff x="488" y="3253"/>
            <a:chExt cx="1578" cy="232"/>
          </a:xfrm>
        </p:grpSpPr>
        <p:grpSp>
          <p:nvGrpSpPr>
            <p:cNvPr id="26" name="Group 85"/>
            <p:cNvGrpSpPr/>
            <p:nvPr/>
          </p:nvGrpSpPr>
          <p:grpSpPr bwMode="auto">
            <a:xfrm>
              <a:off x="488" y="3259"/>
              <a:ext cx="464" cy="214"/>
              <a:chOff x="488" y="3259"/>
              <a:chExt cx="464" cy="214"/>
            </a:xfrm>
          </p:grpSpPr>
          <p:sp>
            <p:nvSpPr>
              <p:cNvPr id="27" name="Rectangle 86"/>
              <p:cNvSpPr>
                <a:spLocks noChangeArrowheads="1"/>
              </p:cNvSpPr>
              <p:nvPr/>
            </p:nvSpPr>
            <p:spPr bwMode="auto">
              <a:xfrm>
                <a:off x="48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28" name="Rectangle 87"/>
              <p:cNvSpPr>
                <a:spLocks noChangeArrowheads="1"/>
              </p:cNvSpPr>
              <p:nvPr/>
            </p:nvSpPr>
            <p:spPr bwMode="auto">
              <a:xfrm>
                <a:off x="598" y="3259"/>
                <a:ext cx="228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IF</a:t>
                </a:r>
                <a:endParaRPr kumimoji="1" lang="en-US" altLang="zh-TW" sz="1600" dirty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</p:grpSp>
        <p:grpSp>
          <p:nvGrpSpPr>
            <p:cNvPr id="29" name="Group 88"/>
            <p:cNvGrpSpPr/>
            <p:nvPr/>
          </p:nvGrpSpPr>
          <p:grpSpPr bwMode="auto">
            <a:xfrm>
              <a:off x="968" y="3265"/>
              <a:ext cx="464" cy="214"/>
              <a:chOff x="968" y="3265"/>
              <a:chExt cx="464" cy="214"/>
            </a:xfrm>
          </p:grpSpPr>
          <p:sp>
            <p:nvSpPr>
              <p:cNvPr id="30" name="Rectangle 89"/>
              <p:cNvSpPr>
                <a:spLocks noChangeArrowheads="1"/>
              </p:cNvSpPr>
              <p:nvPr/>
            </p:nvSpPr>
            <p:spPr bwMode="auto">
              <a:xfrm>
                <a:off x="96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1" name="Rectangle 90"/>
              <p:cNvSpPr>
                <a:spLocks noChangeArrowheads="1"/>
              </p:cNvSpPr>
              <p:nvPr/>
            </p:nvSpPr>
            <p:spPr bwMode="auto">
              <a:xfrm>
                <a:off x="1046" y="3265"/>
                <a:ext cx="24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ID</a:t>
                </a:r>
              </a:p>
            </p:txBody>
          </p:sp>
        </p:grpSp>
        <p:grpSp>
          <p:nvGrpSpPr>
            <p:cNvPr id="32" name="Group 91"/>
            <p:cNvGrpSpPr/>
            <p:nvPr/>
          </p:nvGrpSpPr>
          <p:grpSpPr bwMode="auto">
            <a:xfrm>
              <a:off x="1448" y="3253"/>
              <a:ext cx="464" cy="214"/>
              <a:chOff x="1448" y="3253"/>
              <a:chExt cx="464" cy="214"/>
            </a:xfrm>
          </p:grpSpPr>
          <p:sp>
            <p:nvSpPr>
              <p:cNvPr id="33" name="Rectangle 92"/>
              <p:cNvSpPr>
                <a:spLocks noChangeArrowheads="1"/>
              </p:cNvSpPr>
              <p:nvPr/>
            </p:nvSpPr>
            <p:spPr bwMode="auto">
              <a:xfrm>
                <a:off x="1448" y="3272"/>
                <a:ext cx="46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b="0">
                  <a:latin typeface="Times New Roman" panose="02020503050405090304" pitchFamily="18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4" name="Rectangle 93"/>
              <p:cNvSpPr>
                <a:spLocks noChangeArrowheads="1"/>
              </p:cNvSpPr>
              <p:nvPr/>
            </p:nvSpPr>
            <p:spPr bwMode="auto">
              <a:xfrm>
                <a:off x="1547" y="3253"/>
                <a:ext cx="273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9" rIns="92075" bIns="46039">
                <a:spAutoFit/>
              </a:bodyPr>
              <a:lstStyle>
                <a:lvl1pPr>
                  <a:lnSpc>
                    <a:spcPct val="90000"/>
                  </a:lnSpc>
                  <a:spcBef>
                    <a:spcPct val="1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sz="24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15000"/>
                  </a:spcBef>
                  <a:buClr>
                    <a:srgbClr val="FF9900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hlink"/>
                  </a:buClr>
                  <a:buSzPct val="75000"/>
                  <a:buFont typeface="Monotype Sorts" pitchFamily="2" charset="2"/>
                  <a:buChar char="T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15000"/>
                  </a:spcBef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15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標楷體" panose="02010601000101010101" pitchFamily="65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TW" sz="1600" dirty="0">
                    <a:latin typeface="Times New Roman" panose="02020503050405090304" pitchFamily="18" charset="0"/>
                    <a:ea typeface="新細明體" panose="02020500000000000000" pitchFamily="18" charset="-120"/>
                  </a:rPr>
                  <a:t>EX</a:t>
                </a:r>
              </a:p>
            </p:txBody>
          </p:sp>
        </p:grpSp>
        <p:sp>
          <p:nvSpPr>
            <p:cNvPr id="37" name="Rectangle 96"/>
            <p:cNvSpPr>
              <a:spLocks noChangeArrowheads="1"/>
            </p:cNvSpPr>
            <p:nvPr/>
          </p:nvSpPr>
          <p:spPr bwMode="auto">
            <a:xfrm>
              <a:off x="1958" y="3271"/>
              <a:ext cx="108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9" rIns="92075" bIns="46039">
              <a:spAutoFit/>
            </a:bodyPr>
            <a:lstStyle>
              <a:lvl1pPr>
                <a:lnSpc>
                  <a:spcPct val="90000"/>
                </a:lnSpc>
                <a:spcBef>
                  <a:spcPct val="1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sz="24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1pPr>
              <a:lvl2pPr marL="742950" indent="-285750">
                <a:lnSpc>
                  <a:spcPct val="90000"/>
                </a:lnSpc>
                <a:spcBef>
                  <a:spcPct val="15000"/>
                </a:spcBef>
                <a:buClr>
                  <a:srgbClr val="FF9900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2pPr>
              <a:lvl3pPr marL="11430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3pPr>
              <a:lvl4pPr marL="1600200" indent="-228600">
                <a:lnSpc>
                  <a:spcPct val="90000"/>
                </a:lnSpc>
                <a:spcBef>
                  <a:spcPct val="15000"/>
                </a:spcBef>
                <a:buClr>
                  <a:schemeClr val="hlink"/>
                </a:buClr>
                <a:buSzPct val="75000"/>
                <a:buFont typeface="Monotype Sorts" pitchFamily="2" charset="2"/>
                <a:buChar char="T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4pPr>
              <a:lvl5pPr marL="2057400" indent="-228600">
                <a:lnSpc>
                  <a:spcPct val="90000"/>
                </a:lnSpc>
                <a:spcBef>
                  <a:spcPct val="15000"/>
                </a:spcBef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15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標楷體" panose="02010601000101010101" pitchFamily="65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TW" sz="1600" dirty="0">
                <a:latin typeface="Times New Roman" panose="02020503050405090304" pitchFamily="18" charset="0"/>
                <a:ea typeface="新細明體" panose="02020500000000000000" pitchFamily="18" charset="-12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867" y="1125537"/>
            <a:ext cx="10798907" cy="4895851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If all stages are balanced, i.e., all take the same time, in an ideal situation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If not perfectly balanced, speedup would be less</a:t>
            </a:r>
          </a:p>
          <a:p>
            <a:r>
              <a:rPr lang="en-US" sz="3200" dirty="0"/>
              <a:t>The speedup is a result of increased </a:t>
            </a:r>
            <a:r>
              <a:rPr lang="en-US" sz="3200" dirty="0">
                <a:solidFill>
                  <a:srgbClr val="FF0000"/>
                </a:solidFill>
              </a:rPr>
              <a:t>throughput</a:t>
            </a:r>
            <a:r>
              <a:rPr lang="en-US" sz="3200" dirty="0"/>
              <a:t>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Instruction Latency, </a:t>
            </a:r>
            <a:r>
              <a:rPr lang="en-US" sz="2800" dirty="0"/>
              <a:t>which refers to the time it takes for each instruction to be executed, does not decrease; in fact, it may even increase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  <a:endParaRPr lang="en-US" sz="28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352396"/>
              </p:ext>
            </p:extLst>
          </p:nvPr>
        </p:nvGraphicFramePr>
        <p:xfrm>
          <a:off x="1350683" y="2079812"/>
          <a:ext cx="9120094" cy="1302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7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383">
                <a:tc rowSpan="2"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Time between instructions </a:t>
                      </a:r>
                      <a:r>
                        <a:rPr lang="en-US" sz="2100" baseline="-25000" dirty="0"/>
                        <a:t>pipelined</a:t>
                      </a:r>
                      <a:r>
                        <a:rPr lang="en-US" sz="2100" baseline="0" dirty="0"/>
                        <a:t> =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100" dirty="0"/>
                        <a:t>Time between instructions </a:t>
                      </a:r>
                      <a:r>
                        <a:rPr lang="en-US" sz="2100" baseline="-25000" dirty="0"/>
                        <a:t>nonpipelined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3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Number of pipeline stages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Pipeline-oriented ISA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77" y="972766"/>
            <a:ext cx="11855540" cy="5379395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RISC-V ISA is designed for pipelining</a:t>
            </a:r>
          </a:p>
          <a:p>
            <a:pPr lvl="1"/>
            <a:r>
              <a:rPr lang="en-US" sz="2800" dirty="0"/>
              <a:t>All </a:t>
            </a:r>
            <a:r>
              <a:rPr lang="en-US" sz="2800" b="1" dirty="0">
                <a:solidFill>
                  <a:srgbClr val="FF0000"/>
                </a:solidFill>
              </a:rPr>
              <a:t>instructions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are fixed length: </a:t>
            </a:r>
            <a:r>
              <a:rPr lang="en-US" sz="2800" b="1" dirty="0">
                <a:solidFill>
                  <a:srgbClr val="FF0000"/>
                </a:solidFill>
              </a:rPr>
              <a:t>32-bits </a:t>
            </a:r>
            <a:r>
              <a:rPr lang="en-US" sz="2800" b="1" dirty="0"/>
              <a:t>(</a:t>
            </a:r>
            <a:r>
              <a:rPr lang="en-US" sz="2800" dirty="0"/>
              <a:t>except for the C extension</a:t>
            </a:r>
            <a:r>
              <a:rPr lang="en-US" sz="2800" b="1" dirty="0"/>
              <a:t>)</a:t>
            </a:r>
          </a:p>
          <a:p>
            <a:pPr lvl="2"/>
            <a:r>
              <a:rPr lang="en-US" sz="2600" dirty="0"/>
              <a:t>Easier to fetch and decode in one cycle</a:t>
            </a:r>
          </a:p>
          <a:p>
            <a:pPr lvl="2"/>
            <a:r>
              <a:rPr lang="en-US" sz="2600" dirty="0"/>
              <a:t>c.f. x86: 1- to 17-byte instructions</a:t>
            </a:r>
          </a:p>
          <a:p>
            <a:pPr lvl="1"/>
            <a:r>
              <a:rPr lang="en-US" sz="2800" dirty="0"/>
              <a:t>Few and </a:t>
            </a:r>
            <a:r>
              <a:rPr lang="en-US" sz="2800" b="1" dirty="0">
                <a:solidFill>
                  <a:srgbClr val="FF0000"/>
                </a:solidFill>
              </a:rPr>
              <a:t>regular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instruction </a:t>
            </a:r>
            <a:r>
              <a:rPr lang="en-US" sz="2800" b="1" dirty="0">
                <a:solidFill>
                  <a:srgbClr val="FF0000"/>
                </a:solidFill>
              </a:rPr>
              <a:t>formats</a:t>
            </a:r>
          </a:p>
          <a:p>
            <a:pPr lvl="2"/>
            <a:r>
              <a:rPr lang="en-US" sz="2600" dirty="0"/>
              <a:t>Decode and read registers in one step</a:t>
            </a:r>
          </a:p>
          <a:p>
            <a:pPr lvl="1"/>
            <a:r>
              <a:rPr lang="en-US" sz="2800" dirty="0"/>
              <a:t>Only load/store instructions accessing memory </a:t>
            </a:r>
          </a:p>
          <a:p>
            <a:pPr lvl="2"/>
            <a:r>
              <a:rPr lang="en-US" sz="2600" b="1" dirty="0">
                <a:solidFill>
                  <a:srgbClr val="FF0000"/>
                </a:solidFill>
              </a:rPr>
              <a:t>Calculate address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in the 3rd stage, </a:t>
            </a:r>
            <a:r>
              <a:rPr lang="en-US" sz="2600" b="1" dirty="0">
                <a:solidFill>
                  <a:srgbClr val="FF0000"/>
                </a:solidFill>
              </a:rPr>
              <a:t>access memory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in the 4th stage</a:t>
            </a:r>
          </a:p>
          <a:p>
            <a:pPr lvl="2"/>
            <a:r>
              <a:rPr lang="en-US" sz="2600" dirty="0"/>
              <a:t>If the operand is in memory, additional execution stages are needed after stage 4. </a:t>
            </a:r>
          </a:p>
          <a:p>
            <a:pPr lvl="1"/>
            <a:r>
              <a:rPr lang="en-US" sz="2800" dirty="0"/>
              <a:t>Instructions are simple and do not require a large number of steps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Pipeline Lessons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612844" y="1299861"/>
            <a:ext cx="10954744" cy="4721560"/>
          </a:xfrm>
          <a:noFill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Pipeline does not help the </a:t>
            </a:r>
            <a:r>
              <a:rPr lang="en-US" altLang="zh-TW" sz="3200" dirty="0">
                <a:solidFill>
                  <a:srgbClr val="FF0000"/>
                </a:solidFill>
              </a:rPr>
              <a:t>latency</a:t>
            </a:r>
            <a:r>
              <a:rPr lang="en-US" altLang="zh-TW" sz="3200" dirty="0"/>
              <a:t> of a single instruction, but the </a:t>
            </a:r>
            <a:r>
              <a:rPr lang="en-US" altLang="zh-TW" sz="3200" dirty="0">
                <a:solidFill>
                  <a:srgbClr val="FF0000"/>
                </a:solidFill>
              </a:rPr>
              <a:t>throughput</a:t>
            </a:r>
            <a:r>
              <a:rPr lang="en-US" altLang="zh-TW" sz="3200" dirty="0"/>
              <a:t> of the entire program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Pipeline rate is limited by the </a:t>
            </a:r>
            <a:r>
              <a:rPr lang="en-US" altLang="zh-TW" sz="3200" dirty="0">
                <a:solidFill>
                  <a:srgbClr val="FF0000"/>
                </a:solidFill>
              </a:rPr>
              <a:t>slowest</a:t>
            </a:r>
            <a:r>
              <a:rPr lang="en-US" altLang="zh-TW" sz="3200" dirty="0"/>
              <a:t> stage; unbalanced stage length limits the perfect speedup</a:t>
            </a:r>
            <a:endParaRPr lang="en-US" altLang="zh-TW" sz="3200" dirty="0">
              <a:solidFill>
                <a:srgbClr val="008000"/>
              </a:solidFill>
            </a:endParaRP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>
                <a:solidFill>
                  <a:srgbClr val="FF0000"/>
                </a:solidFill>
              </a:rPr>
              <a:t>Multiple</a:t>
            </a:r>
            <a:r>
              <a:rPr lang="en-US" altLang="zh-TW" sz="3200" dirty="0"/>
              <a:t> tasks are working at the same time using different resources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Potential/Ideal speedup = </a:t>
            </a:r>
            <a:r>
              <a:rPr lang="en-US" altLang="zh-TW" sz="3200" dirty="0">
                <a:solidFill>
                  <a:srgbClr val="FF0000"/>
                </a:solidFill>
              </a:rPr>
              <a:t>Number of pipeline stages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CN" sz="3200" dirty="0"/>
              <a:t>T</a:t>
            </a:r>
            <a:r>
              <a:rPr lang="en-US" altLang="zh-TW" sz="3200" dirty="0"/>
              <a:t>ime to </a:t>
            </a:r>
            <a:r>
              <a:rPr lang="en-US" altLang="zh-TW" sz="3200" dirty="0">
                <a:solidFill>
                  <a:schemeClr val="hlink"/>
                </a:solidFill>
              </a:rPr>
              <a:t>“</a:t>
            </a:r>
            <a:r>
              <a:rPr lang="en-US" altLang="zh-TW" sz="3200" dirty="0">
                <a:solidFill>
                  <a:srgbClr val="FF0000"/>
                </a:solidFill>
              </a:rPr>
              <a:t>fill</a:t>
            </a:r>
            <a:r>
              <a:rPr lang="en-US" altLang="zh-TW" sz="3200" dirty="0">
                <a:solidFill>
                  <a:schemeClr val="hlink"/>
                </a:solidFill>
              </a:rPr>
              <a:t>”</a:t>
            </a:r>
            <a:r>
              <a:rPr lang="en-US" altLang="zh-TW" sz="3200" dirty="0"/>
              <a:t> &amp; </a:t>
            </a:r>
            <a:r>
              <a:rPr lang="en-US" altLang="zh-TW" sz="3200" dirty="0">
                <a:solidFill>
                  <a:schemeClr val="hlink"/>
                </a:solidFill>
              </a:rPr>
              <a:t>“</a:t>
            </a:r>
            <a:r>
              <a:rPr lang="en-US" altLang="zh-TW" sz="3200" dirty="0">
                <a:solidFill>
                  <a:srgbClr val="FF0000"/>
                </a:solidFill>
              </a:rPr>
              <a:t>drain</a:t>
            </a:r>
            <a:r>
              <a:rPr lang="en-US" altLang="zh-TW" sz="3200" dirty="0">
                <a:solidFill>
                  <a:schemeClr val="hlink"/>
                </a:solidFill>
              </a:rPr>
              <a:t>”</a:t>
            </a:r>
            <a:r>
              <a:rPr lang="en-US" altLang="zh-TW" sz="3200" dirty="0"/>
              <a:t> the pipeline reduces speedup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Need to reduce possible fill and drain (e.g., I-cache misses and branch </a:t>
            </a:r>
          </a:p>
          <a:p>
            <a:pPr marL="400031" lvl="1" indent="0">
              <a:lnSpc>
                <a:spcPct val="80000"/>
              </a:lnSpc>
              <a:buNone/>
            </a:pPr>
            <a:r>
              <a:rPr lang="en-US" altLang="zh-TW" sz="2400" dirty="0"/>
              <a:t>	misprediction)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Avoid pipeline </a:t>
            </a:r>
            <a:r>
              <a:rPr lang="en-US" altLang="zh-TW" sz="3200" dirty="0">
                <a:solidFill>
                  <a:srgbClr val="FF0000"/>
                </a:solidFill>
              </a:rPr>
              <a:t>bubbles</a:t>
            </a:r>
            <a:r>
              <a:rPr lang="en-US" altLang="zh-TW" sz="3200" dirty="0"/>
              <a:t> from data and control dependencies</a:t>
            </a: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17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Pipeline Everywhere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612844" y="1299861"/>
            <a:ext cx="10954744" cy="4721560"/>
          </a:xfrm>
          <a:noFill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480895" indent="-480895">
              <a:lnSpc>
                <a:spcPct val="80000"/>
              </a:lnSpc>
            </a:pPr>
            <a:r>
              <a:rPr lang="en-US" altLang="zh-TW" sz="3200" dirty="0"/>
              <a:t>Aside from the instruction pipeline, many other areas have implemented pipelined architectures.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DRAM pipeline</a:t>
            </a:r>
          </a:p>
          <a:p>
            <a:pPr marL="1142961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Row activation, column selection, data transfer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Cache pipeline</a:t>
            </a:r>
          </a:p>
          <a:p>
            <a:pPr marL="1142961" lvl="2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Address decoding, Way selection, tag match, data retrieval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Floating point unit pipeline</a:t>
            </a:r>
          </a:p>
          <a:p>
            <a:pPr marL="1280956" lvl="2" indent="-480895">
              <a:lnSpc>
                <a:spcPct val="80000"/>
              </a:lnSpc>
            </a:pPr>
            <a:r>
              <a:rPr lang="en-US" altLang="zh-TW" sz="2000" dirty="0"/>
              <a:t>Exponent alignment, operation, normalization, rounding, …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GPU pipeline</a:t>
            </a:r>
          </a:p>
          <a:p>
            <a:pPr marL="1280956" lvl="2" indent="-480895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vertex processing, rasterization, fragment processing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/>
              <a:t>Network pipeline</a:t>
            </a:r>
          </a:p>
          <a:p>
            <a:pPr marL="1280956" lvl="2" indent="-480895">
              <a:lnSpc>
                <a:spcPct val="80000"/>
              </a:lnSpc>
            </a:pPr>
            <a:r>
              <a:rPr lang="en-US" sz="2000" dirty="0"/>
              <a:t>packet header processing, routing table lookup, and packet forwarding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3066" dirty="0"/>
              <a:t>If you need to have a higher throughput, think about pipelining.</a:t>
            </a: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18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3282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/>
              <a:t>What is the clock time for non-pipeline version and pipeline version </a:t>
            </a:r>
            <a:r>
              <a:rPr lang="zh-CN" altLang="en-US"/>
              <a:t>？</a:t>
            </a:r>
          </a:p>
          <a:p>
            <a:pPr marL="457189" indent="-457189">
              <a:buFont typeface="+mj-lt"/>
              <a:buAutoNum type="arabicPeriod"/>
            </a:pPr>
            <a:endParaRPr lang="en-US" altLang="zh-CN"/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49867" y="3415004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1250, 350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49866" y="4092786"/>
            <a:ext cx="4047427" cy="9461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Non-pipelined: 1250, Pipelined: 1750 (350*5)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If we can split a stage, which stage should we split? What is the new cycle time?</a:t>
            </a:r>
          </a:p>
          <a:p>
            <a:pPr marL="457189" indent="-457189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095654" y="2700020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</a:t>
            </a:r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115973" y="3237653"/>
            <a:ext cx="203200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350*5</a:t>
            </a:r>
          </a:p>
        </p:txBody>
      </p:sp>
      <p:sp>
        <p:nvSpPr>
          <p:cNvPr id="13" name="内容占位符 5"/>
          <p:cNvSpPr>
            <a:spLocks noGrp="1"/>
          </p:cNvSpPr>
          <p:nvPr/>
        </p:nvSpPr>
        <p:spPr>
          <a:xfrm>
            <a:off x="10306050" y="3921759"/>
            <a:ext cx="1841923" cy="8942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ID,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MEM 300 </a:t>
            </a:r>
            <a:r>
              <a:rPr lang="en-US" altLang="zh-CN" dirty="0" err="1">
                <a:solidFill>
                  <a:srgbClr val="FF0000"/>
                </a:solidFill>
              </a:rPr>
              <a:t>ps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Exercise-1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1" y="1125221"/>
            <a:ext cx="5649807" cy="1106593"/>
          </a:xfrm>
        </p:spPr>
        <p:txBody>
          <a:bodyPr/>
          <a:lstStyle/>
          <a:p>
            <a:r>
              <a:rPr lang="en-US" altLang="zh-CN" sz="2400"/>
              <a:t>Assume individual stages of the datapath have the following latencies:</a:t>
            </a:r>
          </a:p>
          <a:p>
            <a:endParaRPr lang="en-US" altLang="zh-CN" sz="2400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019301"/>
            <a:ext cx="5882640" cy="7459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74" y="1906693"/>
            <a:ext cx="4271433" cy="765387"/>
          </a:xfrm>
          <a:prstGeom prst="rect">
            <a:avLst/>
          </a:prstGeom>
        </p:spPr>
      </p:pic>
      <p:sp>
        <p:nvSpPr>
          <p:cNvPr id="9" name="内容占位符 5"/>
          <p:cNvSpPr>
            <a:spLocks noGrp="1"/>
          </p:cNvSpPr>
          <p:nvPr/>
        </p:nvSpPr>
        <p:spPr>
          <a:xfrm>
            <a:off x="6234853" y="1125221"/>
            <a:ext cx="5913120" cy="11065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/>
              <a:t>Assume that instructions executed by the processor are broken down as follows:</a:t>
            </a: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585047" y="2700021"/>
            <a:ext cx="9840807" cy="2825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What is the clock time for non-pipeline version and pipeline version </a:t>
            </a:r>
            <a:r>
              <a:rPr lang="zh-CN" altLang="en-US" dirty="0"/>
              <a:t>？</a:t>
            </a:r>
          </a:p>
          <a:p>
            <a:pPr marL="457189" indent="-457189">
              <a:buFont typeface="+mj-lt"/>
              <a:buAutoNum type="arabicPeriod"/>
            </a:pPr>
            <a:r>
              <a:rPr lang="zh-CN" altLang="en-US" dirty="0"/>
              <a:t>What is the total latency of an LW instruction in a pipelined and non-pipelined processor?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If we can split a stage, which stage should we split? What is the new cycle time?</a:t>
            </a:r>
          </a:p>
          <a:p>
            <a:pPr marL="457189" indent="-457189">
              <a:buFont typeface="+mj-lt"/>
              <a:buAutoNum type="arabicPeriod"/>
            </a:pPr>
            <a:r>
              <a:rPr lang="en-US" altLang="zh-CN" dirty="0"/>
              <a:t>Compare to multi-cycle implementation, assume </a:t>
            </a:r>
            <a:r>
              <a:rPr lang="en-US" altLang="zh-CN" dirty="0" err="1"/>
              <a:t>lw</a:t>
            </a:r>
            <a:r>
              <a:rPr lang="en-US" altLang="zh-CN" dirty="0"/>
              <a:t> needs 5 short cycles, ALU needs 4, </a:t>
            </a:r>
            <a:r>
              <a:rPr lang="en-US" altLang="zh-CN" dirty="0" err="1"/>
              <a:t>beq</a:t>
            </a:r>
            <a:r>
              <a:rPr lang="en-US" altLang="zh-CN" dirty="0"/>
              <a:t> and </a:t>
            </a:r>
            <a:r>
              <a:rPr lang="en-US" altLang="zh-CN" dirty="0" err="1"/>
              <a:t>sw</a:t>
            </a:r>
            <a:r>
              <a:rPr lang="en-US" altLang="zh-CN" dirty="0"/>
              <a:t> need 3, compute the ideal speedup of Ex(</a:t>
            </a:r>
            <a:r>
              <a:rPr lang="en-US" altLang="zh-CN" dirty="0">
                <a:solidFill>
                  <a:schemeClr val="accent2"/>
                </a:solidFill>
              </a:rPr>
              <a:t>single-cycle</a:t>
            </a:r>
            <a:r>
              <a:rPr lang="en-US" altLang="zh-CN" dirty="0"/>
              <a:t>/pipeline) and Ex(</a:t>
            </a:r>
            <a:r>
              <a:rPr lang="en-US" altLang="zh-CN" dirty="0">
                <a:solidFill>
                  <a:schemeClr val="accent2"/>
                </a:solidFill>
              </a:rPr>
              <a:t>multi-cycle</a:t>
            </a:r>
            <a:r>
              <a:rPr lang="en-US" altLang="zh-CN" dirty="0"/>
              <a:t>/pipeline)?</a:t>
            </a:r>
          </a:p>
        </p:txBody>
      </p:sp>
      <p:sp>
        <p:nvSpPr>
          <p:cNvPr id="11" name="内容占位符 5"/>
          <p:cNvSpPr>
            <a:spLocks noGrp="1"/>
          </p:cNvSpPr>
          <p:nvPr/>
        </p:nvSpPr>
        <p:spPr>
          <a:xfrm>
            <a:off x="10095654" y="2700020"/>
            <a:ext cx="169418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</a:t>
            </a:r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10115973" y="3237653"/>
            <a:ext cx="203200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1250, 350*5</a:t>
            </a:r>
          </a:p>
        </p:txBody>
      </p:sp>
      <p:sp>
        <p:nvSpPr>
          <p:cNvPr id="13" name="内容占位符 5"/>
          <p:cNvSpPr>
            <a:spLocks noGrp="1"/>
          </p:cNvSpPr>
          <p:nvPr/>
        </p:nvSpPr>
        <p:spPr>
          <a:xfrm>
            <a:off x="10405534" y="3921760"/>
            <a:ext cx="1637453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ID, 300 ps</a:t>
            </a: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10405534" y="4687147"/>
            <a:ext cx="1637453" cy="430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1250/350</a:t>
            </a:r>
          </a:p>
          <a:p>
            <a:pPr marL="0" indent="0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5" name="内容占位符 5"/>
          <p:cNvSpPr>
            <a:spLocks noGrp="1"/>
          </p:cNvSpPr>
          <p:nvPr/>
        </p:nvSpPr>
        <p:spPr>
          <a:xfrm>
            <a:off x="8286552" y="5670975"/>
            <a:ext cx="3985260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(0.2*5+0.45*4+0.35*3)</a:t>
            </a:r>
          </a:p>
        </p:txBody>
      </p:sp>
      <p:sp>
        <p:nvSpPr>
          <p:cNvPr id="16" name="内容占位符 5">
            <a:extLst>
              <a:ext uri="{FF2B5EF4-FFF2-40B4-BE49-F238E27FC236}">
                <a16:creationId xmlns:a16="http://schemas.microsoft.com/office/drawing/2014/main" id="{FC714CCB-9740-47E9-B1CA-8195F6D39FFF}"/>
              </a:ext>
            </a:extLst>
          </p:cNvPr>
          <p:cNvSpPr>
            <a:spLocks noGrp="1"/>
          </p:cNvSpPr>
          <p:nvPr/>
        </p:nvSpPr>
        <p:spPr>
          <a:xfrm>
            <a:off x="6560925" y="5723088"/>
            <a:ext cx="1706676" cy="579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+mn-cs"/>
              </a:defRPr>
            </a:lvl1pPr>
            <a:lvl2pPr marL="556895" indent="-21399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Font typeface="Arial" panose="020B060402020209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Calibri" panose="020F07020304040A0204" pitchFamily="34" charset="0"/>
                <a:ea typeface="標楷體" panose="02010601000101010101" pitchFamily="65" charset="-120"/>
                <a:cs typeface="Calibri" panose="020F07020304040A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1250/350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Pipelined RV32I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9661C7-DC80-4341-B3D2-3328864A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59" y="1147377"/>
            <a:ext cx="7887801" cy="49155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493242-EAE6-4E0A-9044-773684F11D51}"/>
                  </a:ext>
                </a:extLst>
              </p:cNvPr>
              <p:cNvSpPr txBox="1"/>
              <p:nvPr/>
            </p:nvSpPr>
            <p:spPr>
              <a:xfrm>
                <a:off x="3719223" y="6062963"/>
                <a:ext cx="1999586" cy="461665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0000"/>
                </a:solidFill>
              </a:ln>
            </p:spPr>
            <p:txBody>
              <a:bodyPr wrap="none" rtlCol="0" anchor="ctr" anchorCtr="1">
                <a:spAutoFit/>
              </a:bodyPr>
              <a:lstStyle/>
              <a:p>
                <a:r>
                  <a:rPr lang="en-US" sz="2400" i="1" dirty="0">
                    <a:ea typeface="標楷體" pitchFamily="65" charset="-120"/>
                    <a:cs typeface="Calibri" pitchFamily="34" charset="0"/>
                  </a:rPr>
                  <a:t>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標楷體" pitchFamily="65" charset="-120"/>
                        <a:cs typeface="Calibri" pitchFamily="34" charset="0"/>
                      </a:rPr>
                      <m:t>𝑐𝑦𝑐𝑙𝑒</m:t>
                    </m:r>
                  </m:oMath>
                </a14:m>
                <a:r>
                  <a:rPr lang="en-US" sz="2400" i="1" dirty="0">
                    <a:ea typeface="標楷體" pitchFamily="65" charset="-120"/>
                    <a:cs typeface="Calibri" pitchFamily="34" charset="0"/>
                  </a:rPr>
                  <a:t>=200ps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493242-EAE6-4E0A-9044-773684F11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223" y="6062963"/>
                <a:ext cx="1999586" cy="461665"/>
              </a:xfrm>
              <a:prstGeom prst="rect">
                <a:avLst/>
              </a:prstGeom>
              <a:blipFill>
                <a:blip r:embed="rId3"/>
                <a:stretch>
                  <a:fillRect l="-3939" t="-7792" r="-3939" b="-2987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EBDEF8A-47A5-478E-A418-8883C7CE4C6D}"/>
              </a:ext>
            </a:extLst>
          </p:cNvPr>
          <p:cNvSpPr txBox="1"/>
          <p:nvPr/>
        </p:nvSpPr>
        <p:spPr>
          <a:xfrm>
            <a:off x="8919760" y="1985054"/>
            <a:ext cx="2839239" cy="2585323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The label of each box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indicates its state element</a:t>
            </a:r>
          </a:p>
          <a:p>
            <a:r>
              <a:rPr lang="en-US" dirty="0" err="1">
                <a:ea typeface="標楷體" pitchFamily="65" charset="-120"/>
                <a:cs typeface="Calibri" pitchFamily="34" charset="0"/>
              </a:rPr>
              <a:t>e,g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, IMEM, DMEM, Reg</a:t>
            </a:r>
          </a:p>
          <a:p>
            <a:endParaRPr lang="en-US" dirty="0"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Blue shade means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the element is active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Calibri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itchFamily="34" charset="0"/>
              </a:rPr>
              <a:t>Black shade means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itchFamily="34" charset="0"/>
              </a:rPr>
              <a:t>the element is inactive</a:t>
            </a:r>
          </a:p>
        </p:txBody>
      </p:sp>
    </p:spTree>
    <p:extLst>
      <p:ext uri="{BB962C8B-B14F-4D97-AF65-F5344CB8AC3E}">
        <p14:creationId xmlns:p14="http://schemas.microsoft.com/office/powerpoint/2010/main" val="3795004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What happens Sequentially? Simultaneously?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05C9C-58FB-4DC1-B70D-7DDB4755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"/>
            <a:ext cx="121920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7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Latency vs Throughput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05C9C-58FB-4DC1-B70D-7DDB4755C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"/>
            <a:ext cx="12192000" cy="5086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D0F922-E81A-408C-8C82-7D5047421CD9}"/>
              </a:ext>
            </a:extLst>
          </p:cNvPr>
          <p:cNvSpPr txBox="1"/>
          <p:nvPr/>
        </p:nvSpPr>
        <p:spPr>
          <a:xfrm>
            <a:off x="5332430" y="1085636"/>
            <a:ext cx="6859570" cy="132343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Latency: 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 cycle data path: 800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Pipelined: cycle time=200ps, one instruction takes 5 cycles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	200ps x 5 = 1000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06BEE-C829-464E-9AA0-72B8E200C5D1}"/>
              </a:ext>
            </a:extLst>
          </p:cNvPr>
          <p:cNvSpPr txBox="1"/>
          <p:nvPr/>
        </p:nvSpPr>
        <p:spPr>
          <a:xfrm>
            <a:off x="5055110" y="3474720"/>
            <a:ext cx="7136890" cy="132343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Throughput: </a:t>
            </a: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Single cycle data path: one instruction every 800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</a:rPr>
              <a:t>Pipelined: one </a:t>
            </a:r>
            <a:r>
              <a:rPr lang="en-US" sz="2000" dirty="0" err="1">
                <a:ea typeface="標楷體" pitchFamily="65" charset="-120"/>
                <a:cs typeface="Calibri" pitchFamily="34" charset="0"/>
              </a:rPr>
              <a:t>inst</a:t>
            </a:r>
            <a:r>
              <a:rPr lang="en-US" sz="2000" dirty="0">
                <a:ea typeface="標楷體" pitchFamily="65" charset="-120"/>
                <a:cs typeface="Calibri" pitchFamily="34" charset="0"/>
              </a:rPr>
              <a:t> per cycle </a:t>
            </a:r>
            <a:r>
              <a:rPr lang="en-US" sz="2000" dirty="0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 one instruction every 200 </a:t>
            </a:r>
            <a:r>
              <a:rPr lang="en-US" sz="2000" dirty="0" err="1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ps</a:t>
            </a:r>
            <a:endParaRPr lang="en-US" sz="2000" dirty="0">
              <a:ea typeface="標楷體" pitchFamily="65" charset="-120"/>
              <a:cs typeface="Calibri" pitchFamily="34" charset="0"/>
              <a:sym typeface="Wingdings" panose="05000000000000000000" pitchFamily="2" charset="2"/>
            </a:endParaRPr>
          </a:p>
          <a:p>
            <a:r>
              <a:rPr lang="en-US" sz="2000" dirty="0">
                <a:ea typeface="標楷體" pitchFamily="65" charset="-120"/>
                <a:cs typeface="Calibri" pitchFamily="34" charset="0"/>
                <a:sym typeface="Wingdings" panose="05000000000000000000" pitchFamily="2" charset="2"/>
              </a:rPr>
              <a:t>Pipelined throughput is 4X the single cycle data path method </a:t>
            </a:r>
            <a:endParaRPr lang="en-US" sz="20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95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983248" cy="692151"/>
          </a:xfrm>
        </p:spPr>
        <p:txBody>
          <a:bodyPr/>
          <a:lstStyle/>
          <a:p>
            <a:r>
              <a:rPr lang="en-US" altLang="zh-CN" dirty="0"/>
              <a:t>What happens to long latency operations?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9661C7-DC80-4341-B3D2-3328864A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" y="1142657"/>
            <a:ext cx="7887801" cy="49155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5E8899-12DC-4230-927E-B3F0BB22ECC2}"/>
              </a:ext>
            </a:extLst>
          </p:cNvPr>
          <p:cNvSpPr txBox="1"/>
          <p:nvPr/>
        </p:nvSpPr>
        <p:spPr>
          <a:xfrm>
            <a:off x="72569" y="3505683"/>
            <a:ext cx="56938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b="1" dirty="0">
                <a:ea typeface="標楷體" pitchFamily="65" charset="-120"/>
                <a:cs typeface="Calibri" pitchFamily="34" charset="0"/>
              </a:rPr>
              <a:t>DIV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8E3D72-5C48-47F0-8B1B-54AE468ADF96}"/>
              </a:ext>
            </a:extLst>
          </p:cNvPr>
          <p:cNvSpPr/>
          <p:nvPr/>
        </p:nvSpPr>
        <p:spPr bwMode="auto">
          <a:xfrm>
            <a:off x="5009745" y="4202349"/>
            <a:ext cx="2950625" cy="262647"/>
          </a:xfrm>
          <a:prstGeom prst="rect">
            <a:avLst/>
          </a:prstGeom>
          <a:solidFill>
            <a:srgbClr val="92D05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Div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execution 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  <a:sym typeface="Wingdings" panose="05000000000000000000" pitchFamily="2" charset="2"/>
              </a:rPr>
              <a:t></a:t>
            </a:r>
            <a:endParaRPr kumimoji="1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BF8FE-CCC9-4628-B663-D5442C1E4586}"/>
              </a:ext>
            </a:extLst>
          </p:cNvPr>
          <p:cNvSpPr txBox="1"/>
          <p:nvPr/>
        </p:nvSpPr>
        <p:spPr>
          <a:xfrm>
            <a:off x="7942119" y="1012693"/>
            <a:ext cx="4249881" cy="535531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Two options:</a:t>
            </a:r>
          </a:p>
          <a:p>
            <a:pPr marL="342900" indent="-342900">
              <a:buAutoNum type="arabicParenR"/>
            </a:pPr>
            <a:r>
              <a:rPr lang="en-US" dirty="0">
                <a:ea typeface="標楷體" pitchFamily="65" charset="-120"/>
                <a:cs typeface="Calibri" pitchFamily="34" charset="0"/>
              </a:rPr>
              <a:t>Stall: the next instruction stalls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  at the EXE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2) Have a separate long latency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pipeline. Subsequent instructions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can continue to proceed (such as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FP instructions).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Be aware, instructions are typically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</a:t>
            </a:r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retired at the WB stage in order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So even if the later instructions are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completed sooner than this long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latency operation, they should wait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at the WB stage. This is due to the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possibility of traps.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 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RISC-V avoids arithmetic exceptions.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So, </a:t>
            </a:r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out-of-order retirement is viable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.</a:t>
            </a:r>
          </a:p>
          <a:p>
            <a:endParaRPr lang="en-US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271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Single Cycle Data Path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9" y="1263138"/>
            <a:ext cx="10875523" cy="45846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7F609C-2BE6-4F95-B9A6-D40CB188A039}"/>
              </a:ext>
            </a:extLst>
          </p:cNvPr>
          <p:cNvSpPr/>
          <p:nvPr/>
        </p:nvSpPr>
        <p:spPr bwMode="auto">
          <a:xfrm>
            <a:off x="1181100" y="1314450"/>
            <a:ext cx="10153650" cy="476250"/>
          </a:xfrm>
          <a:prstGeom prst="rect">
            <a:avLst/>
          </a:prstGeom>
          <a:solidFill>
            <a:schemeClr val="tx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038BE-FD78-48FB-A4BF-FA5EFC775675}"/>
              </a:ext>
            </a:extLst>
          </p:cNvPr>
          <p:cNvSpPr/>
          <p:nvPr/>
        </p:nvSpPr>
        <p:spPr bwMode="auto">
          <a:xfrm>
            <a:off x="1049866" y="4933949"/>
            <a:ext cx="5150909" cy="733425"/>
          </a:xfrm>
          <a:prstGeom prst="rect">
            <a:avLst/>
          </a:prstGeom>
          <a:solidFill>
            <a:srgbClr val="FFFF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Instruction decode: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b="1" dirty="0">
                <a:latin typeface="Arial" pitchFamily="34" charset="0"/>
                <a:ea typeface="新細明體" pitchFamily="18" charset="-120"/>
              </a:rPr>
              <a:t>G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enerate control signals,</a:t>
            </a:r>
            <a:r>
              <a:rPr kumimoji="1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</a:t>
            </a:r>
            <a:r>
              <a:rPr kumimoji="1" lang="en-US" b="1" dirty="0">
                <a:latin typeface="Arial" pitchFamily="34" charset="0"/>
                <a:ea typeface="新細明體" pitchFamily="18" charset="-120"/>
              </a:rPr>
              <a:t>No ambiguity</a:t>
            </a:r>
            <a:endParaRPr kumimoji="1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4476C-6126-4357-A8AC-CA7374A7983E}"/>
              </a:ext>
            </a:extLst>
          </p:cNvPr>
          <p:cNvSpPr/>
          <p:nvPr/>
        </p:nvSpPr>
        <p:spPr bwMode="auto">
          <a:xfrm>
            <a:off x="6096000" y="4933949"/>
            <a:ext cx="5365412" cy="913792"/>
          </a:xfrm>
          <a:prstGeom prst="rect">
            <a:avLst/>
          </a:prstGeom>
          <a:solidFill>
            <a:schemeClr val="tx1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CA99BE-C301-4130-938A-18A4D48E62C0}"/>
              </a:ext>
            </a:extLst>
          </p:cNvPr>
          <p:cNvCxnSpPr/>
          <p:nvPr/>
        </p:nvCxnSpPr>
        <p:spPr bwMode="auto">
          <a:xfrm>
            <a:off x="10048875" y="1955289"/>
            <a:ext cx="0" cy="997461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60671C-B6DC-46A8-B4EF-DD58972DDCA5}"/>
              </a:ext>
            </a:extLst>
          </p:cNvPr>
          <p:cNvSpPr txBox="1"/>
          <p:nvPr/>
        </p:nvSpPr>
        <p:spPr>
          <a:xfrm>
            <a:off x="9972675" y="2515951"/>
            <a:ext cx="8667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WBsel</a:t>
            </a:r>
            <a:endParaRPr lang="en-US" dirty="0">
              <a:solidFill>
                <a:srgbClr val="FFFF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1FBEC8-6769-450E-AA73-9D9016D520FE}"/>
              </a:ext>
            </a:extLst>
          </p:cNvPr>
          <p:cNvCxnSpPr/>
          <p:nvPr/>
        </p:nvCxnSpPr>
        <p:spPr bwMode="auto">
          <a:xfrm>
            <a:off x="8001000" y="2431539"/>
            <a:ext cx="0" cy="997461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CBCD3D-ED24-4F5B-A78C-FC9697193DDC}"/>
              </a:ext>
            </a:extLst>
          </p:cNvPr>
          <p:cNvSpPr txBox="1"/>
          <p:nvPr/>
        </p:nvSpPr>
        <p:spPr>
          <a:xfrm>
            <a:off x="7441408" y="2800152"/>
            <a:ext cx="100488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ALUop</a:t>
            </a:r>
            <a:endParaRPr lang="en-US" dirty="0">
              <a:solidFill>
                <a:srgbClr val="FFFF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12F9E7-77D2-4F84-8DE4-592A093E0A88}"/>
              </a:ext>
            </a:extLst>
          </p:cNvPr>
          <p:cNvCxnSpPr/>
          <p:nvPr/>
        </p:nvCxnSpPr>
        <p:spPr bwMode="auto">
          <a:xfrm>
            <a:off x="5267325" y="1887822"/>
            <a:ext cx="0" cy="997461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E0AB37-6341-42D9-91D3-8641ED4DAD04}"/>
              </a:ext>
            </a:extLst>
          </p:cNvPr>
          <p:cNvSpPr txBox="1"/>
          <p:nvPr/>
        </p:nvSpPr>
        <p:spPr>
          <a:xfrm>
            <a:off x="4764881" y="2428108"/>
            <a:ext cx="100488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RegWr</a:t>
            </a:r>
            <a:endParaRPr lang="en-US" dirty="0">
              <a:solidFill>
                <a:srgbClr val="FFFF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7E3298-06E8-44CB-9A9D-8BBE6631F4C9}"/>
              </a:ext>
            </a:extLst>
          </p:cNvPr>
          <p:cNvCxnSpPr/>
          <p:nvPr/>
        </p:nvCxnSpPr>
        <p:spPr bwMode="auto">
          <a:xfrm>
            <a:off x="7416630" y="2298188"/>
            <a:ext cx="0" cy="997461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BAA17D-7C7D-4E2F-8D32-DD885494C5D7}"/>
              </a:ext>
            </a:extLst>
          </p:cNvPr>
          <p:cNvSpPr txBox="1"/>
          <p:nvPr/>
        </p:nvSpPr>
        <p:spPr>
          <a:xfrm>
            <a:off x="6857038" y="2666801"/>
            <a:ext cx="100488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ALUsrc</a:t>
            </a:r>
            <a:endParaRPr lang="en-US" dirty="0">
              <a:solidFill>
                <a:srgbClr val="FFFF00"/>
              </a:solidFill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47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0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Multiple Instructions On-the-Fly in Pipeline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9" y="1263138"/>
            <a:ext cx="10875523" cy="458460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C2BC431-E6D4-4D3C-A441-68142E6EAA97}"/>
              </a:ext>
            </a:extLst>
          </p:cNvPr>
          <p:cNvSpPr/>
          <p:nvPr/>
        </p:nvSpPr>
        <p:spPr bwMode="auto">
          <a:xfrm>
            <a:off x="7229475" y="2528585"/>
            <a:ext cx="914400" cy="2438400"/>
          </a:xfrm>
          <a:prstGeom prst="ellips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5E95C-54F5-4C6B-9297-48C700B78D02}"/>
              </a:ext>
            </a:extLst>
          </p:cNvPr>
          <p:cNvSpPr txBox="1"/>
          <p:nvPr/>
        </p:nvSpPr>
        <p:spPr>
          <a:xfrm>
            <a:off x="5705475" y="4622534"/>
            <a:ext cx="3634328" cy="1200329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Which </a:t>
            </a:r>
            <a:r>
              <a:rPr lang="en-US" dirty="0" err="1">
                <a:ea typeface="標楷體" pitchFamily="65" charset="-120"/>
                <a:cs typeface="Calibri" pitchFamily="34" charset="0"/>
              </a:rPr>
              <a:t>immediates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 to take from?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Which rs1/rs2 to take from?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From instruction at the EXE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or instruction from the ID stage?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D75EA83-F158-45CA-AAF0-FD02753A825D}"/>
              </a:ext>
            </a:extLst>
          </p:cNvPr>
          <p:cNvSpPr/>
          <p:nvPr/>
        </p:nvSpPr>
        <p:spPr bwMode="auto">
          <a:xfrm>
            <a:off x="4286250" y="3057524"/>
            <a:ext cx="914400" cy="371475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ECDA1-5998-4DB0-A987-AA5EF3DEB044}"/>
              </a:ext>
            </a:extLst>
          </p:cNvPr>
          <p:cNvSpPr txBox="1"/>
          <p:nvPr/>
        </p:nvSpPr>
        <p:spPr>
          <a:xfrm>
            <a:off x="585889" y="1698666"/>
            <a:ext cx="4852610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Which Rd to write?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The Rd from the instruction at the WB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or the Rd from the instruction at the ID stage?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F1C12D-CDC3-4966-B438-12C344C39691}"/>
              </a:ext>
            </a:extLst>
          </p:cNvPr>
          <p:cNvCxnSpPr>
            <a:cxnSpLocks/>
          </p:cNvCxnSpPr>
          <p:nvPr/>
        </p:nvCxnSpPr>
        <p:spPr bwMode="auto">
          <a:xfrm flipV="1">
            <a:off x="5267325" y="4124325"/>
            <a:ext cx="0" cy="498209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5270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Multiple Instructions On-the-Fly in Pipeline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89" y="1263138"/>
            <a:ext cx="10875523" cy="4584604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D75EA83-F158-45CA-AAF0-FD02753A825D}"/>
              </a:ext>
            </a:extLst>
          </p:cNvPr>
          <p:cNvSpPr/>
          <p:nvPr/>
        </p:nvSpPr>
        <p:spPr bwMode="auto">
          <a:xfrm>
            <a:off x="4286250" y="3057524"/>
            <a:ext cx="914400" cy="371475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ECDA1-5998-4DB0-A987-AA5EF3DEB044}"/>
              </a:ext>
            </a:extLst>
          </p:cNvPr>
          <p:cNvSpPr txBox="1"/>
          <p:nvPr/>
        </p:nvSpPr>
        <p:spPr>
          <a:xfrm>
            <a:off x="585889" y="1698666"/>
            <a:ext cx="4852610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itchFamily="34" charset="0"/>
              </a:rPr>
              <a:t>Which Rd to write?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The Rd from the instruction at the WB stage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or the Rd from the instruction at the ID stage?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F1C12D-CDC3-4966-B438-12C344C39691}"/>
              </a:ext>
            </a:extLst>
          </p:cNvPr>
          <p:cNvCxnSpPr>
            <a:cxnSpLocks/>
          </p:cNvCxnSpPr>
          <p:nvPr/>
        </p:nvCxnSpPr>
        <p:spPr bwMode="auto">
          <a:xfrm flipV="1">
            <a:off x="5267325" y="4124325"/>
            <a:ext cx="0" cy="498209"/>
          </a:xfrm>
          <a:prstGeom prst="straightConnector1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BF331E4-15FD-4FC5-80D4-09ECF96DA957}"/>
              </a:ext>
            </a:extLst>
          </p:cNvPr>
          <p:cNvSpPr txBox="1"/>
          <p:nvPr/>
        </p:nvSpPr>
        <p:spPr>
          <a:xfrm>
            <a:off x="3255887" y="4928501"/>
            <a:ext cx="1944763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ADD t0, t1,t2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EBA4B-47E1-4366-AD7F-8E8940EE8CD7}"/>
              </a:ext>
            </a:extLst>
          </p:cNvPr>
          <p:cNvSpPr txBox="1"/>
          <p:nvPr/>
        </p:nvSpPr>
        <p:spPr>
          <a:xfrm>
            <a:off x="9661348" y="4598035"/>
            <a:ext cx="1800064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SW t0,8(t1)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2F103-A8EE-4A5B-B7DC-9A75CC2EB2B3}"/>
              </a:ext>
            </a:extLst>
          </p:cNvPr>
          <p:cNvSpPr txBox="1"/>
          <p:nvPr/>
        </p:nvSpPr>
        <p:spPr>
          <a:xfrm>
            <a:off x="5267325" y="4406979"/>
            <a:ext cx="100488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 anchorCtr="1">
            <a:spAutoFit/>
          </a:bodyPr>
          <a:lstStyle/>
          <a:p>
            <a:r>
              <a:rPr lang="en-US" b="1" dirty="0" err="1">
                <a:ea typeface="標楷體" pitchFamily="65" charset="-120"/>
                <a:cs typeface="Calibri" pitchFamily="34" charset="0"/>
              </a:rPr>
              <a:t>RegWr</a:t>
            </a:r>
            <a:endParaRPr lang="en-US" b="1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61CB8-85A2-41A3-9265-BA575EB34001}"/>
              </a:ext>
            </a:extLst>
          </p:cNvPr>
          <p:cNvSpPr txBox="1"/>
          <p:nvPr/>
        </p:nvSpPr>
        <p:spPr>
          <a:xfrm>
            <a:off x="9516649" y="5255388"/>
            <a:ext cx="1944763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AND t3, t1,t2</a:t>
            </a:r>
          </a:p>
        </p:txBody>
      </p:sp>
    </p:spTree>
    <p:extLst>
      <p:ext uri="{BB962C8B-B14F-4D97-AF65-F5344CB8AC3E}">
        <p14:creationId xmlns:p14="http://schemas.microsoft.com/office/powerpoint/2010/main" val="133215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Key to Pipelining: Inserting Pipeline Registers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1D2EDC-A3FC-4A0A-8B33-2D07FF8E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329813"/>
            <a:ext cx="10875523" cy="45846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0FF974-6EAE-4880-9914-7E6337E07166}"/>
              </a:ext>
            </a:extLst>
          </p:cNvPr>
          <p:cNvSpPr/>
          <p:nvPr/>
        </p:nvSpPr>
        <p:spPr bwMode="auto">
          <a:xfrm>
            <a:off x="3215640" y="2394747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97B41B-9421-4F31-A574-4A852C9C721F}"/>
              </a:ext>
            </a:extLst>
          </p:cNvPr>
          <p:cNvSpPr/>
          <p:nvPr/>
        </p:nvSpPr>
        <p:spPr bwMode="auto">
          <a:xfrm>
            <a:off x="3215640" y="3316568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40E3E9-3B81-4C48-918B-7EC06335C065}"/>
              </a:ext>
            </a:extLst>
          </p:cNvPr>
          <p:cNvSpPr/>
          <p:nvPr/>
        </p:nvSpPr>
        <p:spPr bwMode="auto">
          <a:xfrm>
            <a:off x="6096000" y="2914650"/>
            <a:ext cx="134404" cy="765972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9FE55-6694-429C-94E7-74378BC27B17}"/>
              </a:ext>
            </a:extLst>
          </p:cNvPr>
          <p:cNvSpPr/>
          <p:nvPr/>
        </p:nvSpPr>
        <p:spPr bwMode="auto">
          <a:xfrm>
            <a:off x="6098756" y="3680622"/>
            <a:ext cx="134404" cy="582768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F86EBF-FC06-46EE-9315-D8B3EE167E7E}"/>
              </a:ext>
            </a:extLst>
          </p:cNvPr>
          <p:cNvSpPr/>
          <p:nvPr/>
        </p:nvSpPr>
        <p:spPr bwMode="auto">
          <a:xfrm>
            <a:off x="6093244" y="1903257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70A49-183A-4029-AFF6-2A7C8A209E7D}"/>
              </a:ext>
            </a:extLst>
          </p:cNvPr>
          <p:cNvSpPr/>
          <p:nvPr/>
        </p:nvSpPr>
        <p:spPr bwMode="auto">
          <a:xfrm>
            <a:off x="6059845" y="4327961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B186F-E1C0-4933-84AA-FEAB7FEDA132}"/>
              </a:ext>
            </a:extLst>
          </p:cNvPr>
          <p:cNvSpPr/>
          <p:nvPr/>
        </p:nvSpPr>
        <p:spPr bwMode="auto">
          <a:xfrm>
            <a:off x="8381351" y="2108835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73F6EA-C228-4AB9-98FF-CCA7B87BCF3E}"/>
              </a:ext>
            </a:extLst>
          </p:cNvPr>
          <p:cNvSpPr/>
          <p:nvPr/>
        </p:nvSpPr>
        <p:spPr bwMode="auto">
          <a:xfrm>
            <a:off x="8449931" y="3193490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CE136-5ED7-4D51-9A52-44F5DADA891C}"/>
              </a:ext>
            </a:extLst>
          </p:cNvPr>
          <p:cNvSpPr/>
          <p:nvPr/>
        </p:nvSpPr>
        <p:spPr bwMode="auto">
          <a:xfrm>
            <a:off x="8449931" y="4173818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ECB9D-1AFE-4E62-9128-5CD8B06CF7D0}"/>
              </a:ext>
            </a:extLst>
          </p:cNvPr>
          <p:cNvSpPr/>
          <p:nvPr/>
        </p:nvSpPr>
        <p:spPr bwMode="auto">
          <a:xfrm>
            <a:off x="9739941" y="3028950"/>
            <a:ext cx="137160" cy="857250"/>
          </a:xfrm>
          <a:prstGeom prst="rect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4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733" dirty="0"/>
              <a:t>Instruction Fetch/Instruction Decode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455A8-8188-4C46-BD7C-9074364ED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1068706"/>
            <a:ext cx="7125694" cy="515493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2D6CAD5-619E-404E-8622-C4256209705A}"/>
              </a:ext>
            </a:extLst>
          </p:cNvPr>
          <p:cNvSpPr/>
          <p:nvPr/>
        </p:nvSpPr>
        <p:spPr bwMode="auto">
          <a:xfrm>
            <a:off x="5194302" y="5302568"/>
            <a:ext cx="1114425" cy="71437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90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ID/EX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8254B-24A3-4C9B-B069-4FDC2B22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017270"/>
            <a:ext cx="10317015" cy="5331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01EFFA6-98CB-4A34-ACEC-09501D577948}"/>
              </a:ext>
            </a:extLst>
          </p:cNvPr>
          <p:cNvSpPr/>
          <p:nvPr/>
        </p:nvSpPr>
        <p:spPr bwMode="auto">
          <a:xfrm>
            <a:off x="6956427" y="5634444"/>
            <a:ext cx="1114425" cy="71437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896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EX/MEM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341C6-E225-4CDD-9875-95D536E4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410"/>
            <a:ext cx="12192000" cy="5719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906978-990E-4E97-94FC-A0006A654BA4}"/>
              </a:ext>
            </a:extLst>
          </p:cNvPr>
          <p:cNvSpPr txBox="1"/>
          <p:nvPr/>
        </p:nvSpPr>
        <p:spPr>
          <a:xfrm>
            <a:off x="10211547" y="1550343"/>
            <a:ext cx="78880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2400" dirty="0">
                <a:ea typeface="標楷體" pitchFamily="65" charset="-120"/>
                <a:cs typeface="Calibri" pitchFamily="34" charset="0"/>
              </a:rPr>
              <a:t>JAL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182EFA-0288-466B-A4C1-D91F3A2C69D8}"/>
              </a:ext>
            </a:extLst>
          </p:cNvPr>
          <p:cNvSpPr/>
          <p:nvPr/>
        </p:nvSpPr>
        <p:spPr bwMode="auto">
          <a:xfrm>
            <a:off x="9023352" y="5506402"/>
            <a:ext cx="1273173" cy="71437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509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MEM/WB Pipeline Register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72E91-7B52-4A08-A901-5BCA538A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679"/>
            <a:ext cx="12192000" cy="510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27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wrap="square" lIns="92075" tIns="46039" rIns="92075" bIns="46039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TW" sz="4400" dirty="0"/>
              <a:t>Are Pipelined Registers Architecture States?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612844" y="1299861"/>
            <a:ext cx="10954744" cy="4721560"/>
          </a:xfrm>
          <a:noFill/>
        </p:spPr>
        <p:txBody>
          <a:bodyPr vert="horz" wrap="square" lIns="92075" tIns="46039" rIns="92075" bIns="46039" numCol="1" anchor="t" anchorCtr="0" compatLnSpc="1">
            <a:prstTxWarp prst="textNoShape">
              <a:avLst/>
            </a:prstTxWarp>
          </a:bodyPr>
          <a:lstStyle/>
          <a:p>
            <a:pPr marL="480895" indent="-480895">
              <a:lnSpc>
                <a:spcPct val="80000"/>
              </a:lnSpc>
            </a:pPr>
            <a:r>
              <a:rPr lang="en-US" sz="2800" b="1" i="0" dirty="0">
                <a:solidFill>
                  <a:srgbClr val="111827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No!</a:t>
            </a:r>
            <a:r>
              <a:rPr lang="en-US" sz="2800" b="0" i="0" dirty="0">
                <a:solidFill>
                  <a:srgbClr val="111827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US" sz="2800" b="1" i="0" dirty="0">
                <a:solidFill>
                  <a:srgbClr val="111827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Pipelined registers are </a:t>
            </a:r>
            <a:r>
              <a:rPr lang="en-US" sz="2800" b="1" i="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800" b="1" i="0" dirty="0">
                <a:solidFill>
                  <a:srgbClr val="111827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architectural states.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2800" b="1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Architecture states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Registers (general purpose, </a:t>
            </a:r>
            <a:r>
              <a:rPr lang="en-US" altLang="zh-TW" sz="2400" dirty="0" err="1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fp</a:t>
            </a: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vector, flags,…)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PC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480895" indent="-480895">
              <a:lnSpc>
                <a:spcPct val="80000"/>
              </a:lnSpc>
            </a:pPr>
            <a:r>
              <a:rPr lang="en-US" altLang="zh-TW" sz="2800" b="1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Micro-architecture states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Pipelined registers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Branch predictors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Caches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Buffers and </a:t>
            </a:r>
            <a:r>
              <a:rPr lang="en-US" altLang="zh-TW" sz="2400" dirty="0" err="1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Quenes</a:t>
            </a:r>
            <a:endParaRPr lang="en-US" altLang="zh-TW" sz="2400" dirty="0">
              <a:solidFill>
                <a:srgbClr val="111827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Counters</a:t>
            </a:r>
          </a:p>
          <a:p>
            <a:pPr marL="880926" lvl="1" indent="-480895">
              <a:lnSpc>
                <a:spcPct val="80000"/>
              </a:lnSpc>
            </a:pPr>
            <a:r>
              <a:rPr lang="en-US" altLang="zh-TW" sz="2400" dirty="0">
                <a:solidFill>
                  <a:srgbClr val="111827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880926" lvl="1" indent="-480895">
              <a:lnSpc>
                <a:spcPct val="80000"/>
              </a:lnSpc>
            </a:pPr>
            <a:endParaRPr lang="en-US" altLang="zh-TW" sz="2267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83" name="投影片編號版面配置區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3355" indent="-286166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2971" indent="-228594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160" indent="-228594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349" indent="-228594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537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726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8914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103" indent="-228594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B372B80-DEA1-4621-B194-1DB2F08AB0C3}" type="slidenum">
              <a:rPr lang="zh-TW" altLang="en-US" sz="1400" b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35</a:t>
            </a:fld>
            <a:endParaRPr lang="en-US" altLang="zh-TW" sz="1400" b="0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7E2ED-D9A9-4A36-B775-FBF8DF794A73}"/>
              </a:ext>
            </a:extLst>
          </p:cNvPr>
          <p:cNvSpPr txBox="1"/>
          <p:nvPr/>
        </p:nvSpPr>
        <p:spPr>
          <a:xfrm>
            <a:off x="6090216" y="3226037"/>
            <a:ext cx="5827236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b="1" dirty="0">
                <a:ea typeface="標楷體" pitchFamily="65" charset="-120"/>
                <a:cs typeface="Calibri" pitchFamily="34" charset="0"/>
              </a:rPr>
              <a:t>Architecture states </a:t>
            </a:r>
            <a:r>
              <a:rPr lang="en-US" dirty="0">
                <a:ea typeface="標楷體" pitchFamily="65" charset="-120"/>
                <a:cs typeface="Calibri" pitchFamily="34" charset="0"/>
              </a:rPr>
              <a:t>are saved during a context switch:</a:t>
            </a:r>
          </a:p>
          <a:p>
            <a:endParaRPr lang="en-US" dirty="0">
              <a:ea typeface="標楷體" pitchFamily="65" charset="-120"/>
              <a:cs typeface="Calibri" pitchFamily="34" charset="0"/>
            </a:endParaRPr>
          </a:p>
          <a:p>
            <a:pPr marL="342900" indent="-342900">
              <a:buAutoNum type="arabicParenR"/>
            </a:pPr>
            <a:r>
              <a:rPr lang="en-US" dirty="0">
                <a:ea typeface="標楷體" pitchFamily="65" charset="-120"/>
                <a:cs typeface="Calibri" pitchFamily="34" charset="0"/>
              </a:rPr>
              <a:t>User-level switch, such as a procedure call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      Registers are saved on the runtime program stack</a:t>
            </a:r>
          </a:p>
          <a:p>
            <a:r>
              <a:rPr lang="en-US" dirty="0">
                <a:ea typeface="標楷體" pitchFamily="65" charset="-120"/>
                <a:cs typeface="Calibri" pitchFamily="34" charset="0"/>
              </a:rPr>
              <a:t>2)   System-level switch, such as a process switch</a:t>
            </a:r>
          </a:p>
          <a:p>
            <a:r>
              <a:rPr lang="en-US" dirty="0">
                <a:solidFill>
                  <a:prstClr val="black"/>
                </a:solidFill>
                <a:ea typeface="標楷體" pitchFamily="65" charset="-120"/>
                <a:cs typeface="Calibri" pitchFamily="34" charset="0"/>
              </a:rPr>
              <a:t>      Registers are saved on the PCB (Process Control </a:t>
            </a:r>
          </a:p>
          <a:p>
            <a:r>
              <a:rPr lang="en-US" dirty="0">
                <a:solidFill>
                  <a:prstClr val="black"/>
                </a:solidFill>
                <a:ea typeface="標楷體" pitchFamily="65" charset="-120"/>
                <a:cs typeface="Calibri" pitchFamily="34" charset="0"/>
              </a:rPr>
              <a:t>      Block) or the kernel stack.</a:t>
            </a:r>
            <a:endParaRPr lang="en-US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33" dirty="0"/>
              <a:t>Control Signals in Pipelined Data Path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A83EC-C5CB-4758-997B-96D58884B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68" y="2188262"/>
            <a:ext cx="9836702" cy="3901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23AE5E-5A00-40C4-AEBF-203F81E5C91B}"/>
              </a:ext>
            </a:extLst>
          </p:cNvPr>
          <p:cNvSpPr txBox="1"/>
          <p:nvPr/>
        </p:nvSpPr>
        <p:spPr>
          <a:xfrm>
            <a:off x="320039" y="1357265"/>
            <a:ext cx="10517721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Control signals are derived from instruction bits, that is, after the ID stage.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ea typeface="標楷體" pitchFamily="65" charset="-120"/>
                <a:cs typeface="Calibri" pitchFamily="34" charset="0"/>
              </a:rPr>
              <a:t>Control information for later stages are also stored in the pipeline registers</a:t>
            </a:r>
          </a:p>
        </p:txBody>
      </p:sp>
    </p:spTree>
    <p:extLst>
      <p:ext uri="{BB962C8B-B14F-4D97-AF65-F5344CB8AC3E}">
        <p14:creationId xmlns:p14="http://schemas.microsoft.com/office/powerpoint/2010/main" val="2504043901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13186</TotalTime>
  <Words>2188</Words>
  <Application>Microsoft Office PowerPoint</Application>
  <PresentationFormat>Widescreen</PresentationFormat>
  <Paragraphs>423</Paragraphs>
  <Slides>36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Google Sans</vt:lpstr>
      <vt:lpstr>MS Sans Serif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CSC3060 – Computer Architecture  Chapter 4 Pipelined Implementation</vt:lpstr>
      <vt:lpstr>Pipelining</vt:lpstr>
      <vt:lpstr>Five Stages of the Simple Data Path</vt:lpstr>
      <vt:lpstr>Divide the Single Cycle Data Path into 5 Stages</vt:lpstr>
      <vt:lpstr>Instruction Timing and Clock Cycle Time</vt:lpstr>
      <vt:lpstr>Overlapped Execution in Pipeline</vt:lpstr>
      <vt:lpstr>Single cycle, Multi-cycle, Pipelining</vt:lpstr>
      <vt:lpstr>Pipelining Analogy</vt:lpstr>
      <vt:lpstr>Sequential Laundry </vt:lpstr>
      <vt:lpstr>Pipelined Laundry </vt:lpstr>
      <vt:lpstr>Pipelined Laundry </vt:lpstr>
      <vt:lpstr>Yale Patt’s Analogy</vt:lpstr>
      <vt:lpstr>PowerPoint Presentation</vt:lpstr>
      <vt:lpstr>Single cycle vs. multi-cycle vs. pipeline</vt:lpstr>
      <vt:lpstr>Pipeline Speedup</vt:lpstr>
      <vt:lpstr>Pipeline-oriented ISA Design</vt:lpstr>
      <vt:lpstr>Pipeline Lessons</vt:lpstr>
      <vt:lpstr>Pipeline Everywhere</vt:lpstr>
      <vt:lpstr>Exercise-1</vt:lpstr>
      <vt:lpstr>Exercise-1</vt:lpstr>
      <vt:lpstr>Exercise-1</vt:lpstr>
      <vt:lpstr>Exercise-1</vt:lpstr>
      <vt:lpstr>Pipelined RV32I Data Path</vt:lpstr>
      <vt:lpstr>What happens Sequentially? Simultaneously?</vt:lpstr>
      <vt:lpstr>Latency vs Throughput</vt:lpstr>
      <vt:lpstr>What happens to long latency operations? </vt:lpstr>
      <vt:lpstr>Single Cycle Data Path</vt:lpstr>
      <vt:lpstr>Multiple Instructions On-the-Fly in Pipeline</vt:lpstr>
      <vt:lpstr>Multiple Instructions On-the-Fly in Pipeline</vt:lpstr>
      <vt:lpstr>Key to Pipelining: Inserting Pipeline Registers</vt:lpstr>
      <vt:lpstr>Instruction Fetch/Instruction Decode Pipeline Register</vt:lpstr>
      <vt:lpstr>ID/EX Pipeline Register</vt:lpstr>
      <vt:lpstr>EX/MEM Pipeline Register</vt:lpstr>
      <vt:lpstr>MEM/WB Pipeline Register</vt:lpstr>
      <vt:lpstr>Are Pipelined Registers Architecture States?</vt:lpstr>
      <vt:lpstr>Control Signals in Pipelined Data Path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296</cp:revision>
  <dcterms:created xsi:type="dcterms:W3CDTF">2020-07-15T11:13:39Z</dcterms:created>
  <dcterms:modified xsi:type="dcterms:W3CDTF">2026-03-17T01:06:21Z</dcterms:modified>
</cp:coreProperties>
</file>