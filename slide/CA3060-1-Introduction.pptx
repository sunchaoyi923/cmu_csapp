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2"/>
    <p:sldMasterId id="2147483679" r:id="rId3"/>
  </p:sldMasterIdLst>
  <p:notesMasterIdLst>
    <p:notesMasterId r:id="rId50"/>
  </p:notesMasterIdLst>
  <p:handoutMasterIdLst>
    <p:handoutMasterId r:id="rId51"/>
  </p:handoutMasterIdLst>
  <p:sldIdLst>
    <p:sldId id="295" r:id="rId4"/>
    <p:sldId id="802" r:id="rId5"/>
    <p:sldId id="790" r:id="rId6"/>
    <p:sldId id="258" r:id="rId7"/>
    <p:sldId id="344" r:id="rId8"/>
    <p:sldId id="789" r:id="rId9"/>
    <p:sldId id="803" r:id="rId10"/>
    <p:sldId id="804" r:id="rId11"/>
    <p:sldId id="448" r:id="rId12"/>
    <p:sldId id="445" r:id="rId13"/>
    <p:sldId id="805" r:id="rId14"/>
    <p:sldId id="806" r:id="rId15"/>
    <p:sldId id="829" r:id="rId16"/>
    <p:sldId id="830" r:id="rId17"/>
    <p:sldId id="807" r:id="rId18"/>
    <p:sldId id="808" r:id="rId19"/>
    <p:sldId id="809" r:id="rId20"/>
    <p:sldId id="810" r:id="rId21"/>
    <p:sldId id="811" r:id="rId22"/>
    <p:sldId id="812" r:id="rId23"/>
    <p:sldId id="813" r:id="rId24"/>
    <p:sldId id="815" r:id="rId25"/>
    <p:sldId id="814" r:id="rId26"/>
    <p:sldId id="831" r:id="rId27"/>
    <p:sldId id="818" r:id="rId28"/>
    <p:sldId id="816" r:id="rId29"/>
    <p:sldId id="817" r:id="rId30"/>
    <p:sldId id="819" r:id="rId31"/>
    <p:sldId id="820" r:id="rId32"/>
    <p:sldId id="1364" r:id="rId33"/>
    <p:sldId id="821" r:id="rId34"/>
    <p:sldId id="822" r:id="rId35"/>
    <p:sldId id="823" r:id="rId36"/>
    <p:sldId id="832" r:id="rId37"/>
    <p:sldId id="824" r:id="rId38"/>
    <p:sldId id="826" r:id="rId39"/>
    <p:sldId id="833" r:id="rId40"/>
    <p:sldId id="827" r:id="rId41"/>
    <p:sldId id="828" r:id="rId42"/>
    <p:sldId id="825" r:id="rId43"/>
    <p:sldId id="1358" r:id="rId44"/>
    <p:sldId id="1365" r:id="rId45"/>
    <p:sldId id="1359" r:id="rId46"/>
    <p:sldId id="1360" r:id="rId47"/>
    <p:sldId id="1362" r:id="rId48"/>
    <p:sldId id="1363" r:id="rId49"/>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907">
          <p15:clr>
            <a:srgbClr val="A4A3A4"/>
          </p15:clr>
        </p15:guide>
        <p15:guide id="3" orient="horz" pos="16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F81BD"/>
    <a:srgbClr val="973632"/>
    <a:srgbClr val="46ACC8"/>
    <a:srgbClr val="633869"/>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3" autoAdjust="0"/>
    <p:restoredTop sz="96197"/>
  </p:normalViewPr>
  <p:slideViewPr>
    <p:cSldViewPr snapToGrid="0">
      <p:cViewPr varScale="1">
        <p:scale>
          <a:sx n="134" d="100"/>
          <a:sy n="134" d="100"/>
        </p:scale>
        <p:origin x="810" y="96"/>
      </p:cViewPr>
      <p:guideLst>
        <p:guide orient="horz" pos="2160"/>
        <p:guide pos="2907"/>
        <p:guide orient="horz" pos="162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65" d="100"/>
          <a:sy n="65" d="100"/>
        </p:scale>
        <p:origin x="3082"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viewProps" Target="viewProp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microsoft.com/office/2016/11/relationships/changesInfo" Target="changesInfos/changesInfo1.xml"/><Relationship Id="rId8" Type="http://schemas.openxmlformats.org/officeDocument/2006/relationships/slide" Target="slides/slide5.xml"/><Relationship Id="rId51" Type="http://schemas.openxmlformats.org/officeDocument/2006/relationships/handoutMaster" Target="handoutMasters/handout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f. Wang Fangxin (SSE)" userId="ce1f3ee1-525b-4f0b-8f12-bc5b2dd7d371" providerId="ADAL" clId="{072444D5-B6E1-794C-B782-80CEB355B39B}"/>
    <pc:docChg chg="undo custSel addSld modSld">
      <pc:chgData name="Prof. Wang Fangxin (SSE)" userId="ce1f3ee1-525b-4f0b-8f12-bc5b2dd7d371" providerId="ADAL" clId="{072444D5-B6E1-794C-B782-80CEB355B39B}" dt="2023-01-04T10:36:32.720" v="702" actId="20577"/>
      <pc:docMkLst>
        <pc:docMk/>
      </pc:docMkLst>
      <pc:sldChg chg="modSp mod">
        <pc:chgData name="Prof. Wang Fangxin (SSE)" userId="ce1f3ee1-525b-4f0b-8f12-bc5b2dd7d371" providerId="ADAL" clId="{072444D5-B6E1-794C-B782-80CEB355B39B}" dt="2023-01-04T10:36:26.792" v="695" actId="20577"/>
        <pc:sldMkLst>
          <pc:docMk/>
          <pc:sldMk cId="0" sldId="296"/>
        </pc:sldMkLst>
        <pc:spChg chg="mod">
          <ac:chgData name="Prof. Wang Fangxin (SSE)" userId="ce1f3ee1-525b-4f0b-8f12-bc5b2dd7d371" providerId="ADAL" clId="{072444D5-B6E1-794C-B782-80CEB355B39B}" dt="2023-01-04T10:36:06.733" v="685" actId="20577"/>
          <ac:spMkLst>
            <pc:docMk/>
            <pc:sldMk cId="0" sldId="296"/>
            <ac:spMk id="3" creationId="{00000000-0000-0000-0000-000000000000}"/>
          </ac:spMkLst>
        </pc:spChg>
        <pc:spChg chg="mod">
          <ac:chgData name="Prof. Wang Fangxin (SSE)" userId="ce1f3ee1-525b-4f0b-8f12-bc5b2dd7d371" providerId="ADAL" clId="{072444D5-B6E1-794C-B782-80CEB355B39B}" dt="2023-01-04T10:36:26.792" v="695" actId="20577"/>
          <ac:spMkLst>
            <pc:docMk/>
            <pc:sldMk cId="0" sldId="296"/>
            <ac:spMk id="6" creationId="{00000000-0000-0000-0000-000000000000}"/>
          </ac:spMkLst>
        </pc:spChg>
      </pc:sldChg>
      <pc:sldChg chg="modSp mod">
        <pc:chgData name="Prof. Wang Fangxin (SSE)" userId="ce1f3ee1-525b-4f0b-8f12-bc5b2dd7d371" providerId="ADAL" clId="{072444D5-B6E1-794C-B782-80CEB355B39B}" dt="2023-01-04T10:27:49.456" v="356" actId="20577"/>
        <pc:sldMkLst>
          <pc:docMk/>
          <pc:sldMk cId="0" sldId="299"/>
        </pc:sldMkLst>
        <pc:spChg chg="mod">
          <ac:chgData name="Prof. Wang Fangxin (SSE)" userId="ce1f3ee1-525b-4f0b-8f12-bc5b2dd7d371" providerId="ADAL" clId="{072444D5-B6E1-794C-B782-80CEB355B39B}" dt="2023-01-04T10:27:49.456" v="356" actId="20577"/>
          <ac:spMkLst>
            <pc:docMk/>
            <pc:sldMk cId="0" sldId="299"/>
            <ac:spMk id="3" creationId="{00000000-0000-0000-0000-000000000000}"/>
          </ac:spMkLst>
        </pc:spChg>
      </pc:sldChg>
      <pc:sldChg chg="modSp mod">
        <pc:chgData name="Prof. Wang Fangxin (SSE)" userId="ce1f3ee1-525b-4f0b-8f12-bc5b2dd7d371" providerId="ADAL" clId="{072444D5-B6E1-794C-B782-80CEB355B39B}" dt="2023-01-04T10:24:58.830" v="335" actId="20577"/>
        <pc:sldMkLst>
          <pc:docMk/>
          <pc:sldMk cId="0" sldId="391"/>
        </pc:sldMkLst>
        <pc:spChg chg="mod">
          <ac:chgData name="Prof. Wang Fangxin (SSE)" userId="ce1f3ee1-525b-4f0b-8f12-bc5b2dd7d371" providerId="ADAL" clId="{072444D5-B6E1-794C-B782-80CEB355B39B}" dt="2023-01-04T10:24:58.830" v="335" actId="20577"/>
          <ac:spMkLst>
            <pc:docMk/>
            <pc:sldMk cId="0" sldId="391"/>
            <ac:spMk id="6" creationId="{00000000-0000-0000-0000-000000000000}"/>
          </ac:spMkLst>
        </pc:spChg>
      </pc:sldChg>
      <pc:sldChg chg="modSp add mod">
        <pc:chgData name="Prof. Wang Fangxin (SSE)" userId="ce1f3ee1-525b-4f0b-8f12-bc5b2dd7d371" providerId="ADAL" clId="{072444D5-B6E1-794C-B782-80CEB355B39B}" dt="2023-01-04T10:36:32.720" v="702" actId="20577"/>
        <pc:sldMkLst>
          <pc:docMk/>
          <pc:sldMk cId="2341894575" sldId="447"/>
        </pc:sldMkLst>
        <pc:spChg chg="mod">
          <ac:chgData name="Prof. Wang Fangxin (SSE)" userId="ce1f3ee1-525b-4f0b-8f12-bc5b2dd7d371" providerId="ADAL" clId="{072444D5-B6E1-794C-B782-80CEB355B39B}" dt="2023-01-04T10:32:31.287" v="384" actId="20577"/>
          <ac:spMkLst>
            <pc:docMk/>
            <pc:sldMk cId="2341894575" sldId="447"/>
            <ac:spMk id="3" creationId="{00000000-0000-0000-0000-000000000000}"/>
          </ac:spMkLst>
        </pc:spChg>
        <pc:spChg chg="mod">
          <ac:chgData name="Prof. Wang Fangxin (SSE)" userId="ce1f3ee1-525b-4f0b-8f12-bc5b2dd7d371" providerId="ADAL" clId="{072444D5-B6E1-794C-B782-80CEB355B39B}" dt="2023-01-04T10:36:32.720" v="702" actId="20577"/>
          <ac:spMkLst>
            <pc:docMk/>
            <pc:sldMk cId="2341894575" sldId="447"/>
            <ac:spMk id="6" creationId="{00000000-0000-0000-0000-000000000000}"/>
          </ac:spMkLst>
        </pc:spChg>
      </pc:sldChg>
    </pc:docChg>
  </pc:docChgLst>
  <pc:docChgLst>
    <pc:chgData name="Prof. Wang Fangxin (SSE)" userId="ce1f3ee1-525b-4f0b-8f12-bc5b2dd7d371" providerId="ADAL" clId="{56731C7C-97E0-41C3-86F4-ADF8CE8A2053}"/>
    <pc:docChg chg="undo custSel delSld modSld sldOrd">
      <pc:chgData name="Prof. Wang Fangxin (SSE)" userId="ce1f3ee1-525b-4f0b-8f12-bc5b2dd7d371" providerId="ADAL" clId="{56731C7C-97E0-41C3-86F4-ADF8CE8A2053}" dt="2022-01-10T06:59:30.151" v="590" actId="2696"/>
      <pc:docMkLst>
        <pc:docMk/>
      </pc:docMkLst>
      <pc:sldChg chg="modSp">
        <pc:chgData name="Prof. Wang Fangxin (SSE)" userId="ce1f3ee1-525b-4f0b-8f12-bc5b2dd7d371" providerId="ADAL" clId="{56731C7C-97E0-41C3-86F4-ADF8CE8A2053}" dt="2022-01-10T06:28:47.372" v="1" actId="27636"/>
        <pc:sldMkLst>
          <pc:docMk/>
          <pc:sldMk cId="0" sldId="262"/>
        </pc:sldMkLst>
        <pc:spChg chg="mod">
          <ac:chgData name="Prof. Wang Fangxin (SSE)" userId="ce1f3ee1-525b-4f0b-8f12-bc5b2dd7d371" providerId="ADAL" clId="{56731C7C-97E0-41C3-86F4-ADF8CE8A2053}" dt="2022-01-10T06:28:47.372" v="1" actId="27636"/>
          <ac:spMkLst>
            <pc:docMk/>
            <pc:sldMk cId="0" sldId="262"/>
            <ac:spMk id="3" creationId="{00000000-0000-0000-0000-000000000000}"/>
          </ac:spMkLst>
        </pc:spChg>
      </pc:sldChg>
      <pc:sldChg chg="del">
        <pc:chgData name="Prof. Wang Fangxin (SSE)" userId="ce1f3ee1-525b-4f0b-8f12-bc5b2dd7d371" providerId="ADAL" clId="{56731C7C-97E0-41C3-86F4-ADF8CE8A2053}" dt="2022-01-10T06:59:30.151" v="590" actId="2696"/>
        <pc:sldMkLst>
          <pc:docMk/>
          <pc:sldMk cId="0" sldId="272"/>
        </pc:sldMkLst>
      </pc:sldChg>
      <pc:sldChg chg="addSp modSp">
        <pc:chgData name="Prof. Wang Fangxin (SSE)" userId="ce1f3ee1-525b-4f0b-8f12-bc5b2dd7d371" providerId="ADAL" clId="{56731C7C-97E0-41C3-86F4-ADF8CE8A2053}" dt="2022-01-10T06:30:29.070" v="33" actId="1076"/>
        <pc:sldMkLst>
          <pc:docMk/>
          <pc:sldMk cId="0" sldId="295"/>
        </pc:sldMkLst>
        <pc:spChg chg="add mod">
          <ac:chgData name="Prof. Wang Fangxin (SSE)" userId="ce1f3ee1-525b-4f0b-8f12-bc5b2dd7d371" providerId="ADAL" clId="{56731C7C-97E0-41C3-86F4-ADF8CE8A2053}" dt="2022-01-10T06:30:29.070" v="33" actId="1076"/>
          <ac:spMkLst>
            <pc:docMk/>
            <pc:sldMk cId="0" sldId="295"/>
            <ac:spMk id="4" creationId="{5E4FC43E-652B-47EE-A940-42294AB0E172}"/>
          </ac:spMkLst>
        </pc:spChg>
      </pc:sldChg>
      <pc:sldChg chg="modSp">
        <pc:chgData name="Prof. Wang Fangxin (SSE)" userId="ce1f3ee1-525b-4f0b-8f12-bc5b2dd7d371" providerId="ADAL" clId="{56731C7C-97E0-41C3-86F4-ADF8CE8A2053}" dt="2022-01-10T06:51:11.053" v="586" actId="404"/>
        <pc:sldMkLst>
          <pc:docMk/>
          <pc:sldMk cId="0" sldId="296"/>
        </pc:sldMkLst>
        <pc:spChg chg="mod">
          <ac:chgData name="Prof. Wang Fangxin (SSE)" userId="ce1f3ee1-525b-4f0b-8f12-bc5b2dd7d371" providerId="ADAL" clId="{56731C7C-97E0-41C3-86F4-ADF8CE8A2053}" dt="2022-01-10T06:51:11.053" v="586" actId="404"/>
          <ac:spMkLst>
            <pc:docMk/>
            <pc:sldMk cId="0" sldId="296"/>
            <ac:spMk id="3" creationId="{00000000-0000-0000-0000-000000000000}"/>
          </ac:spMkLst>
        </pc:spChg>
      </pc:sldChg>
      <pc:sldChg chg="modSp">
        <pc:chgData name="Prof. Wang Fangxin (SSE)" userId="ce1f3ee1-525b-4f0b-8f12-bc5b2dd7d371" providerId="ADAL" clId="{56731C7C-97E0-41C3-86F4-ADF8CE8A2053}" dt="2022-01-10T06:44:19.141" v="478" actId="207"/>
        <pc:sldMkLst>
          <pc:docMk/>
          <pc:sldMk cId="0" sldId="299"/>
        </pc:sldMkLst>
        <pc:spChg chg="mod">
          <ac:chgData name="Prof. Wang Fangxin (SSE)" userId="ce1f3ee1-525b-4f0b-8f12-bc5b2dd7d371" providerId="ADAL" clId="{56731C7C-97E0-41C3-86F4-ADF8CE8A2053}" dt="2022-01-10T06:44:19.141" v="478" actId="207"/>
          <ac:spMkLst>
            <pc:docMk/>
            <pc:sldMk cId="0" sldId="299"/>
            <ac:spMk id="3" creationId="{00000000-0000-0000-0000-000000000000}"/>
          </ac:spMkLst>
        </pc:spChg>
      </pc:sldChg>
      <pc:sldChg chg="modSp ord">
        <pc:chgData name="Prof. Wang Fangxin (SSE)" userId="ce1f3ee1-525b-4f0b-8f12-bc5b2dd7d371" providerId="ADAL" clId="{56731C7C-97E0-41C3-86F4-ADF8CE8A2053}" dt="2022-01-10T06:48:53.068" v="570" actId="207"/>
        <pc:sldMkLst>
          <pc:docMk/>
          <pc:sldMk cId="0" sldId="301"/>
        </pc:sldMkLst>
        <pc:spChg chg="mod">
          <ac:chgData name="Prof. Wang Fangxin (SSE)" userId="ce1f3ee1-525b-4f0b-8f12-bc5b2dd7d371" providerId="ADAL" clId="{56731C7C-97E0-41C3-86F4-ADF8CE8A2053}" dt="2022-01-10T06:48:53.068" v="570" actId="207"/>
          <ac:spMkLst>
            <pc:docMk/>
            <pc:sldMk cId="0" sldId="301"/>
            <ac:spMk id="3" creationId="{00000000-0000-0000-0000-000000000000}"/>
          </ac:spMkLst>
        </pc:spChg>
      </pc:sldChg>
      <pc:sldChg chg="modSp">
        <pc:chgData name="Prof. Wang Fangxin (SSE)" userId="ce1f3ee1-525b-4f0b-8f12-bc5b2dd7d371" providerId="ADAL" clId="{56731C7C-97E0-41C3-86F4-ADF8CE8A2053}" dt="2022-01-10T06:51:17.850" v="588" actId="404"/>
        <pc:sldMkLst>
          <pc:docMk/>
          <pc:sldMk cId="0" sldId="391"/>
        </pc:sldMkLst>
        <pc:spChg chg="mod">
          <ac:chgData name="Prof. Wang Fangxin (SSE)" userId="ce1f3ee1-525b-4f0b-8f12-bc5b2dd7d371" providerId="ADAL" clId="{56731C7C-97E0-41C3-86F4-ADF8CE8A2053}" dt="2022-01-10T06:51:17.850" v="588" actId="404"/>
          <ac:spMkLst>
            <pc:docMk/>
            <pc:sldMk cId="0" sldId="391"/>
            <ac:spMk id="6" creationId="{00000000-0000-0000-0000-000000000000}"/>
          </ac:spMkLst>
        </pc:spChg>
      </pc:sldChg>
      <pc:sldChg chg="modSp del">
        <pc:chgData name="Prof. Wang Fangxin (SSE)" userId="ce1f3ee1-525b-4f0b-8f12-bc5b2dd7d371" providerId="ADAL" clId="{56731C7C-97E0-41C3-86F4-ADF8CE8A2053}" dt="2022-01-10T06:51:27.305" v="589" actId="2696"/>
        <pc:sldMkLst>
          <pc:docMk/>
          <pc:sldMk cId="0" sldId="392"/>
        </pc:sldMkLst>
        <pc:spChg chg="mod">
          <ac:chgData name="Prof. Wang Fangxin (SSE)" userId="ce1f3ee1-525b-4f0b-8f12-bc5b2dd7d371" providerId="ADAL" clId="{56731C7C-97E0-41C3-86F4-ADF8CE8A2053}" dt="2022-01-10T06:41:58.169" v="400" actId="20577"/>
          <ac:spMkLst>
            <pc:docMk/>
            <pc:sldMk cId="0" sldId="392"/>
            <ac:spMk id="6" creationId="{00000000-0000-0000-0000-000000000000}"/>
          </ac:spMkLst>
        </pc:spChg>
      </pc:sldChg>
      <pc:sldChg chg="modSp">
        <pc:chgData name="Prof. Wang Fangxin (SSE)" userId="ce1f3ee1-525b-4f0b-8f12-bc5b2dd7d371" providerId="ADAL" clId="{56731C7C-97E0-41C3-86F4-ADF8CE8A2053}" dt="2022-01-10T06:45:25" v="501" actId="20577"/>
        <pc:sldMkLst>
          <pc:docMk/>
          <pc:sldMk cId="2446583169" sldId="445"/>
        </pc:sldMkLst>
        <pc:spChg chg="mod">
          <ac:chgData name="Prof. Wang Fangxin (SSE)" userId="ce1f3ee1-525b-4f0b-8f12-bc5b2dd7d371" providerId="ADAL" clId="{56731C7C-97E0-41C3-86F4-ADF8CE8A2053}" dt="2022-01-10T06:45:25" v="501" actId="20577"/>
          <ac:spMkLst>
            <pc:docMk/>
            <pc:sldMk cId="2446583169" sldId="445"/>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t>2026/1/13</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t>‹#›</a:t>
            </a:fld>
            <a:endParaRPr lang="zh-TW"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t>2026/1/13</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When you drive a car, you only need to know how to use the steering wheel, the brake, and the pedal. You do not need to know the details of how the engine works, how the transmission works, how the brake works!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¾ of a </a:t>
            </a:r>
            <a:r>
              <a:rPr lang="en-US" dirty="0" err="1"/>
              <a:t>centry</a:t>
            </a:r>
            <a:r>
              <a:rPr lang="en-US" dirty="0"/>
              <a:t>, Most impactful technical advancements are pushed by the computers</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2</a:t>
            </a:fld>
            <a:endParaRPr lang="zh-TW" altLang="en-US"/>
          </a:p>
        </p:txBody>
      </p:sp>
    </p:spTree>
    <p:extLst>
      <p:ext uri="{BB962C8B-B14F-4D97-AF65-F5344CB8AC3E}">
        <p14:creationId xmlns:p14="http://schemas.microsoft.com/office/powerpoint/2010/main" val="10969459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Faster than the speed of light</a:t>
            </a:r>
          </a:p>
          <a:p>
            <a:pPr marL="171450" indent="-171450">
              <a:buFontTx/>
              <a:buChar char="-"/>
            </a:pPr>
            <a:r>
              <a:rPr lang="en-US" dirty="0"/>
              <a:t>Many applications used to be “science fiction”, now become reality: computers in automobiles, cell phone, human genome, WWW, search engine, self-driving cars, google glass, cashless society</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3</a:t>
            </a:fld>
            <a:endParaRPr lang="zh-TW" altLang="en-US"/>
          </a:p>
        </p:txBody>
      </p:sp>
    </p:spTree>
    <p:extLst>
      <p:ext uri="{BB962C8B-B14F-4D97-AF65-F5344CB8AC3E}">
        <p14:creationId xmlns:p14="http://schemas.microsoft.com/office/powerpoint/2010/main" val="2225753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Adding more registers (to keep frequently used data) ? Or adding more functional units (for computation). Sometimes, it is the functionality! For example, should you support 32b addressing or 64b addressing.</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Faster than the speed of light</a:t>
            </a:r>
          </a:p>
          <a:p>
            <a:pPr marL="171450" indent="-171450">
              <a:buFontTx/>
              <a:buChar char="-"/>
            </a:pPr>
            <a:r>
              <a:rPr lang="en-US" dirty="0"/>
              <a:t>Many applications used to be “science fiction”, now become reality: computers in automobiles, cell phone, human genome, WWW, search engine, self-driving cars, google glass, cashless society</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5</a:t>
            </a:fld>
            <a:endParaRPr lang="zh-TW" altLang="en-US"/>
          </a:p>
        </p:txBody>
      </p:sp>
    </p:spTree>
    <p:extLst>
      <p:ext uri="{BB962C8B-B14F-4D97-AF65-F5344CB8AC3E}">
        <p14:creationId xmlns:p14="http://schemas.microsoft.com/office/powerpoint/2010/main" val="10754882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1465647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all technical advancements are pushed by the computers</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7</a:t>
            </a:fld>
            <a:endParaRPr lang="zh-TW" altLang="en-US"/>
          </a:p>
        </p:txBody>
      </p:sp>
    </p:spTree>
    <p:extLst>
      <p:ext uri="{BB962C8B-B14F-4D97-AF65-F5344CB8AC3E}">
        <p14:creationId xmlns:p14="http://schemas.microsoft.com/office/powerpoint/2010/main" val="2233879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all technical advancements are pushed by the computers</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8</a:t>
            </a:fld>
            <a:endParaRPr lang="zh-TW" altLang="en-US"/>
          </a:p>
        </p:txBody>
      </p:sp>
    </p:spTree>
    <p:extLst>
      <p:ext uri="{BB962C8B-B14F-4D97-AF65-F5344CB8AC3E}">
        <p14:creationId xmlns:p14="http://schemas.microsoft.com/office/powerpoint/2010/main" val="4018866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all technical advancements are pushed by the computers</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11</a:t>
            </a:fld>
            <a:endParaRPr lang="zh-TW" altLang="en-US"/>
          </a:p>
        </p:txBody>
      </p:sp>
    </p:spTree>
    <p:extLst>
      <p:ext uri="{BB962C8B-B14F-4D97-AF65-F5344CB8AC3E}">
        <p14:creationId xmlns:p14="http://schemas.microsoft.com/office/powerpoint/2010/main" val="35933704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DMA is only used for high-speed, bulk data.</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17</a:t>
            </a:fld>
            <a:endParaRPr lang="zh-TW" altLang="en-US"/>
          </a:p>
        </p:txBody>
      </p:sp>
    </p:spTree>
    <p:extLst>
      <p:ext uri="{BB962C8B-B14F-4D97-AF65-F5344CB8AC3E}">
        <p14:creationId xmlns:p14="http://schemas.microsoft.com/office/powerpoint/2010/main" val="41819751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22</a:t>
            </a:fld>
            <a:endParaRPr lang="zh-TW" altLang="en-US"/>
          </a:p>
        </p:txBody>
      </p:sp>
    </p:spTree>
    <p:extLst>
      <p:ext uri="{BB962C8B-B14F-4D97-AF65-F5344CB8AC3E}">
        <p14:creationId xmlns:p14="http://schemas.microsoft.com/office/powerpoint/2010/main" val="40220823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23</a:t>
            </a:fld>
            <a:endParaRPr lang="zh-TW" altLang="en-US"/>
          </a:p>
        </p:txBody>
      </p:sp>
    </p:spTree>
    <p:extLst>
      <p:ext uri="{BB962C8B-B14F-4D97-AF65-F5344CB8AC3E}">
        <p14:creationId xmlns:p14="http://schemas.microsoft.com/office/powerpoint/2010/main" val="32727570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24</a:t>
            </a:fld>
            <a:endParaRPr lang="zh-TW" altLang="en-US"/>
          </a:p>
        </p:txBody>
      </p:sp>
    </p:spTree>
    <p:extLst>
      <p:ext uri="{BB962C8B-B14F-4D97-AF65-F5344CB8AC3E}">
        <p14:creationId xmlns:p14="http://schemas.microsoft.com/office/powerpoint/2010/main" val="24656900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25</a:t>
            </a:fld>
            <a:endParaRPr lang="zh-TW" altLang="en-US"/>
          </a:p>
        </p:txBody>
      </p:sp>
    </p:spTree>
    <p:extLst>
      <p:ext uri="{BB962C8B-B14F-4D97-AF65-F5344CB8AC3E}">
        <p14:creationId xmlns:p14="http://schemas.microsoft.com/office/powerpoint/2010/main" val="8841852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26</a:t>
            </a:fld>
            <a:endParaRPr lang="zh-TW" altLang="en-US"/>
          </a:p>
        </p:txBody>
      </p:sp>
    </p:spTree>
    <p:extLst>
      <p:ext uri="{BB962C8B-B14F-4D97-AF65-F5344CB8AC3E}">
        <p14:creationId xmlns:p14="http://schemas.microsoft.com/office/powerpoint/2010/main" val="16131385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27</a:t>
            </a:fld>
            <a:endParaRPr lang="zh-TW" altLang="en-US"/>
          </a:p>
        </p:txBody>
      </p:sp>
    </p:spTree>
    <p:extLst>
      <p:ext uri="{BB962C8B-B14F-4D97-AF65-F5344CB8AC3E}">
        <p14:creationId xmlns:p14="http://schemas.microsoft.com/office/powerpoint/2010/main" val="3788219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you want to process an image with 1000 threads at the same time.</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28</a:t>
            </a:fld>
            <a:endParaRPr lang="zh-TW" altLang="en-US"/>
          </a:p>
        </p:txBody>
      </p:sp>
    </p:spTree>
    <p:extLst>
      <p:ext uri="{BB962C8B-B14F-4D97-AF65-F5344CB8AC3E}">
        <p14:creationId xmlns:p14="http://schemas.microsoft.com/office/powerpoint/2010/main" val="5653745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29</a:t>
            </a:fld>
            <a:endParaRPr lang="zh-TW" altLang="en-US"/>
          </a:p>
        </p:txBody>
      </p:sp>
    </p:spTree>
    <p:extLst>
      <p:ext uri="{BB962C8B-B14F-4D97-AF65-F5344CB8AC3E}">
        <p14:creationId xmlns:p14="http://schemas.microsoft.com/office/powerpoint/2010/main" val="25952196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31</a:t>
            </a:fld>
            <a:endParaRPr lang="zh-TW" altLang="en-US"/>
          </a:p>
        </p:txBody>
      </p:sp>
    </p:spTree>
    <p:extLst>
      <p:ext uri="{BB962C8B-B14F-4D97-AF65-F5344CB8AC3E}">
        <p14:creationId xmlns:p14="http://schemas.microsoft.com/office/powerpoint/2010/main" val="41640059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32</a:t>
            </a:fld>
            <a:endParaRPr lang="zh-TW" altLang="en-US"/>
          </a:p>
        </p:txBody>
      </p:sp>
    </p:spTree>
    <p:extLst>
      <p:ext uri="{BB962C8B-B14F-4D97-AF65-F5344CB8AC3E}">
        <p14:creationId xmlns:p14="http://schemas.microsoft.com/office/powerpoint/2010/main" val="30770993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33</a:t>
            </a:fld>
            <a:endParaRPr lang="zh-TW" altLang="en-US"/>
          </a:p>
        </p:txBody>
      </p:sp>
    </p:spTree>
    <p:extLst>
      <p:ext uri="{BB962C8B-B14F-4D97-AF65-F5344CB8AC3E}">
        <p14:creationId xmlns:p14="http://schemas.microsoft.com/office/powerpoint/2010/main" val="32901870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34</a:t>
            </a:fld>
            <a:endParaRPr lang="zh-TW" altLang="en-US"/>
          </a:p>
        </p:txBody>
      </p:sp>
    </p:spTree>
    <p:extLst>
      <p:ext uri="{BB962C8B-B14F-4D97-AF65-F5344CB8AC3E}">
        <p14:creationId xmlns:p14="http://schemas.microsoft.com/office/powerpoint/2010/main" val="34289883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35</a:t>
            </a:fld>
            <a:endParaRPr lang="zh-TW" altLang="en-US"/>
          </a:p>
        </p:txBody>
      </p:sp>
    </p:spTree>
    <p:extLst>
      <p:ext uri="{BB962C8B-B14F-4D97-AF65-F5344CB8AC3E}">
        <p14:creationId xmlns:p14="http://schemas.microsoft.com/office/powerpoint/2010/main" val="3011439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36</a:t>
            </a:fld>
            <a:endParaRPr lang="zh-TW" altLang="en-US"/>
          </a:p>
        </p:txBody>
      </p:sp>
    </p:spTree>
    <p:extLst>
      <p:ext uri="{BB962C8B-B14F-4D97-AF65-F5344CB8AC3E}">
        <p14:creationId xmlns:p14="http://schemas.microsoft.com/office/powerpoint/2010/main" val="23666834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37</a:t>
            </a:fld>
            <a:endParaRPr lang="zh-TW" altLang="en-US"/>
          </a:p>
        </p:txBody>
      </p:sp>
    </p:spTree>
    <p:extLst>
      <p:ext uri="{BB962C8B-B14F-4D97-AF65-F5344CB8AC3E}">
        <p14:creationId xmlns:p14="http://schemas.microsoft.com/office/powerpoint/2010/main" val="39038668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38</a:t>
            </a:fld>
            <a:endParaRPr lang="zh-TW" altLang="en-US"/>
          </a:p>
        </p:txBody>
      </p:sp>
    </p:spTree>
    <p:extLst>
      <p:ext uri="{BB962C8B-B14F-4D97-AF65-F5344CB8AC3E}">
        <p14:creationId xmlns:p14="http://schemas.microsoft.com/office/powerpoint/2010/main" val="3231570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39</a:t>
            </a:fld>
            <a:endParaRPr lang="zh-TW" altLang="en-US"/>
          </a:p>
        </p:txBody>
      </p:sp>
    </p:spTree>
    <p:extLst>
      <p:ext uri="{BB962C8B-B14F-4D97-AF65-F5344CB8AC3E}">
        <p14:creationId xmlns:p14="http://schemas.microsoft.com/office/powerpoint/2010/main" val="413773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40</a:t>
            </a:fld>
            <a:endParaRPr lang="zh-TW" altLang="en-US"/>
          </a:p>
        </p:txBody>
      </p:sp>
    </p:spTree>
    <p:extLst>
      <p:ext uri="{BB962C8B-B14F-4D97-AF65-F5344CB8AC3E}">
        <p14:creationId xmlns:p14="http://schemas.microsoft.com/office/powerpoint/2010/main" val="20128697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jump instruction may be out of the 1MB range</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1D5518-E2B7-47D3-A483-775D39982443}"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936849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1pPr>
              <a:buClr>
                <a:srgbClr val="8064A2"/>
              </a:buClr>
              <a:defRPr sz="2400"/>
            </a:lvl1pPr>
            <a:lvl2pPr>
              <a:buClr>
                <a:srgbClr val="8064A2"/>
              </a:buClr>
              <a:defRPr sz="2000"/>
            </a:lvl2pPr>
            <a:lvl3pPr>
              <a:defRPr sz="1800">
                <a:latin typeface="Calibri" panose="020F07020304040A0204" pitchFamily="34" charset="0"/>
                <a:ea typeface="標楷體" pitchFamily="65" charset="-120"/>
                <a:cs typeface="Calibri" panose="020F07020304040A0204" pitchFamily="34" charset="0"/>
              </a:defRPr>
            </a:lvl3pPr>
            <a:lvl4pPr>
              <a:defRPr sz="1600">
                <a:latin typeface="Calibri" panose="020F07020304040A0204" pitchFamily="34" charset="0"/>
                <a:ea typeface="標楷體" pitchFamily="65" charset="-120"/>
                <a:cs typeface="Calibri" panose="020F07020304040A0204" pitchFamily="34" charset="0"/>
              </a:defRPr>
            </a:lvl4pPr>
            <a:lvl5pPr>
              <a:defRPr sz="1200">
                <a:latin typeface="Calibri" panose="020F07020304040A0204" pitchFamily="34" charset="0"/>
                <a:ea typeface="標楷體" pitchFamily="65" charset="-120"/>
                <a:cs typeface="Calibri" panose="020F07020304040A0204"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ltLang="zh-TW" dirty="0"/>
              <a:t>Click to edit Master text styles</a:t>
            </a:r>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0"/>
            </a:lvl6pPr>
            <a:lvl7pPr>
              <a:defRPr sz="1350"/>
            </a:lvl7pPr>
            <a:lvl8pPr>
              <a:defRPr sz="1350"/>
            </a:lvl8pPr>
            <a:lvl9pPr>
              <a:defRPr sz="135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0"/>
            </a:lvl6pPr>
            <a:lvl7pPr>
              <a:defRPr sz="1350"/>
            </a:lvl7pPr>
            <a:lvl8pPr>
              <a:defRPr sz="1350"/>
            </a:lvl8pPr>
            <a:lvl9pPr>
              <a:defRPr sz="135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hasCustomPrompt="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000">
                <a:latin typeface="Calibri" pitchFamily="34" charset="0"/>
                <a:ea typeface="標楷體" pitchFamily="65" charset="-120"/>
                <a:cs typeface="Calibri" pitchFamily="34" charset="0"/>
              </a:defRPr>
            </a:lvl3pPr>
            <a:lvl4pPr>
              <a:defRPr sz="1800">
                <a:latin typeface="Calibri" pitchFamily="34" charset="0"/>
                <a:ea typeface="標楷體" pitchFamily="65" charset="-120"/>
                <a:cs typeface="Calibri" pitchFamily="34" charset="0"/>
              </a:defRPr>
            </a:lvl4pPr>
            <a:lvl5pPr>
              <a:defRPr sz="1600">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3629548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8"/>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83" indent="0">
              <a:buNone/>
              <a:defRPr sz="1351"/>
            </a:lvl2pPr>
            <a:lvl3pPr marL="685766" indent="0">
              <a:buNone/>
              <a:defRPr sz="1200"/>
            </a:lvl3pPr>
            <a:lvl4pPr marL="1028648" indent="0">
              <a:buNone/>
              <a:defRPr sz="1051"/>
            </a:lvl4pPr>
            <a:lvl5pPr marL="1371532" indent="0">
              <a:buNone/>
              <a:defRPr sz="1051"/>
            </a:lvl5pPr>
            <a:lvl6pPr marL="1714415" indent="0">
              <a:buNone/>
              <a:defRPr sz="1051"/>
            </a:lvl6pPr>
            <a:lvl7pPr marL="2057297" indent="0">
              <a:buNone/>
              <a:defRPr sz="1051"/>
            </a:lvl7pPr>
            <a:lvl8pPr marL="2400180" indent="0">
              <a:buNone/>
              <a:defRPr sz="1051"/>
            </a:lvl8pPr>
            <a:lvl9pPr marL="2743063"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6134825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3"/>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3"/>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63319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2" y="951580"/>
            <a:ext cx="4040188" cy="479822"/>
          </a:xfrm>
        </p:spPr>
        <p:txBody>
          <a:bodyPr anchor="b"/>
          <a:lstStyle>
            <a:lvl1pPr marL="0" indent="0">
              <a:buNone/>
              <a:defRPr sz="2000" b="1"/>
            </a:lvl1pPr>
            <a:lvl2pPr marL="342883" indent="0">
              <a:buNone/>
              <a:defRPr sz="1500" b="1"/>
            </a:lvl2pPr>
            <a:lvl3pPr marL="685766" indent="0">
              <a:buNone/>
              <a:defRPr sz="1351" b="1"/>
            </a:lvl3pPr>
            <a:lvl4pPr marL="1028648"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3"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2"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30" y="951580"/>
            <a:ext cx="4041775" cy="479822"/>
          </a:xfrm>
        </p:spPr>
        <p:txBody>
          <a:bodyPr anchor="b"/>
          <a:lstStyle>
            <a:lvl1pPr marL="0" indent="0">
              <a:buNone/>
              <a:defRPr sz="2000" b="1"/>
            </a:lvl1pPr>
            <a:lvl2pPr marL="342883" indent="0">
              <a:buNone/>
              <a:defRPr sz="1500" b="1"/>
            </a:lvl2pPr>
            <a:lvl3pPr marL="685766" indent="0">
              <a:buNone/>
              <a:defRPr sz="1351" b="1"/>
            </a:lvl3pPr>
            <a:lvl4pPr marL="1028648"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3"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30"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6" y="108350"/>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26714720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041519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931477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5"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1" y="204792"/>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5" y="1076328"/>
            <a:ext cx="3008313" cy="3518297"/>
          </a:xfrm>
        </p:spPr>
        <p:txBody>
          <a:bodyPr/>
          <a:lstStyle>
            <a:lvl1pPr marL="0" indent="0">
              <a:buNone/>
              <a:defRPr sz="1051"/>
            </a:lvl1pPr>
            <a:lvl2pPr marL="342883" indent="0">
              <a:buNone/>
              <a:defRPr sz="900"/>
            </a:lvl2pPr>
            <a:lvl3pPr marL="685766" indent="0">
              <a:buNone/>
              <a:defRPr sz="751"/>
            </a:lvl3pPr>
            <a:lvl4pPr marL="1028648"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3"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8173714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1"/>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83" indent="0">
              <a:buNone/>
              <a:defRPr sz="2100"/>
            </a:lvl2pPr>
            <a:lvl3pPr marL="685766" indent="0">
              <a:buNone/>
              <a:defRPr sz="1800"/>
            </a:lvl3pPr>
            <a:lvl4pPr marL="1028648"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3"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6"/>
            <a:ext cx="5486400" cy="603647"/>
          </a:xfrm>
        </p:spPr>
        <p:txBody>
          <a:bodyPr/>
          <a:lstStyle>
            <a:lvl1pPr marL="0" indent="0">
              <a:buNone/>
              <a:defRPr sz="1051"/>
            </a:lvl1pPr>
            <a:lvl2pPr marL="342883" indent="0">
              <a:buNone/>
              <a:defRPr sz="900"/>
            </a:lvl2pPr>
            <a:lvl3pPr marL="685766" indent="0">
              <a:buNone/>
              <a:defRPr sz="751"/>
            </a:lvl3pPr>
            <a:lvl4pPr marL="1028648"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3"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4249356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110199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876866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6695301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7"/>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8258041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4"/>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83" indent="0" algn="ctr">
              <a:buNone/>
              <a:defRPr/>
            </a:lvl2pPr>
            <a:lvl3pPr marL="685766" indent="0" algn="ctr">
              <a:buNone/>
              <a:defRPr/>
            </a:lvl3pPr>
            <a:lvl4pPr marL="1028648" indent="0" algn="ctr">
              <a:buNone/>
              <a:defRPr/>
            </a:lvl4pPr>
            <a:lvl5pPr marL="1371532" indent="0" algn="ctr">
              <a:buNone/>
              <a:defRPr/>
            </a:lvl5pPr>
            <a:lvl6pPr marL="1714415" indent="0" algn="ctr">
              <a:buNone/>
              <a:defRPr/>
            </a:lvl6pPr>
            <a:lvl7pPr marL="2057297" indent="0" algn="ctr">
              <a:buNone/>
              <a:defRPr/>
            </a:lvl7pPr>
            <a:lvl8pPr marL="2400180" indent="0" algn="ctr">
              <a:buNone/>
              <a:defRPr/>
            </a:lvl8pPr>
            <a:lvl9pPr marL="2743063"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7305120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AndTwoObj">
  <p:cSld name="標題，1 個大物件與 2 個小物件">
    <p:spTree>
      <p:nvGrpSpPr>
        <p:cNvPr id="1" name=""/>
        <p:cNvGrpSpPr/>
        <p:nvPr/>
      </p:nvGrpSpPr>
      <p:grpSpPr>
        <a:xfrm>
          <a:off x="0" y="0"/>
          <a:ext cx="0" cy="0"/>
          <a:chOff x="0" y="0"/>
          <a:chExt cx="0" cy="0"/>
        </a:xfrm>
      </p:grpSpPr>
      <p:sp>
        <p:nvSpPr>
          <p:cNvPr id="2" name="標題 1"/>
          <p:cNvSpPr>
            <a:spLocks noGrp="1"/>
          </p:cNvSpPr>
          <p:nvPr>
            <p:ph type="title"/>
          </p:nvPr>
        </p:nvSpPr>
        <p:spPr>
          <a:xfrm>
            <a:off x="1371600" y="171450"/>
            <a:ext cx="7335838" cy="514350"/>
          </a:xfrm>
        </p:spPr>
        <p:txBody>
          <a:bodyPr/>
          <a:lstStyle/>
          <a:p>
            <a:r>
              <a:rPr lang="zh-TW" altLang="en-US"/>
              <a:t>按一下以編輯母片標題樣式</a:t>
            </a:r>
          </a:p>
        </p:txBody>
      </p:sp>
      <p:sp>
        <p:nvSpPr>
          <p:cNvPr id="3" name="內容版面配置區 2"/>
          <p:cNvSpPr>
            <a:spLocks noGrp="1"/>
          </p:cNvSpPr>
          <p:nvPr>
            <p:ph sz="half" idx="1"/>
          </p:nvPr>
        </p:nvSpPr>
        <p:spPr>
          <a:xfrm>
            <a:off x="685800" y="800100"/>
            <a:ext cx="4038600" cy="382905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quarter" idx="2"/>
          </p:nvPr>
        </p:nvSpPr>
        <p:spPr>
          <a:xfrm>
            <a:off x="4876800" y="800100"/>
            <a:ext cx="4038600" cy="1857375"/>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內容版面配置區 4"/>
          <p:cNvSpPr>
            <a:spLocks noGrp="1"/>
          </p:cNvSpPr>
          <p:nvPr>
            <p:ph sz="quarter" idx="3"/>
          </p:nvPr>
        </p:nvSpPr>
        <p:spPr>
          <a:xfrm>
            <a:off x="4876800" y="2771775"/>
            <a:ext cx="4038600" cy="1857375"/>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Rectangle 11">
            <a:extLst>
              <a:ext uri="{FF2B5EF4-FFF2-40B4-BE49-F238E27FC236}">
                <a16:creationId xmlns:a16="http://schemas.microsoft.com/office/drawing/2014/main" id="{A1770150-137E-4011-8F05-AE33888DBC74}"/>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7" name="Rectangle 12">
            <a:extLst>
              <a:ext uri="{FF2B5EF4-FFF2-40B4-BE49-F238E27FC236}">
                <a16:creationId xmlns:a16="http://schemas.microsoft.com/office/drawing/2014/main" id="{8E12A7C8-A7ED-4F9F-A528-04DC996F54F7}"/>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8" name="Rectangle 13">
            <a:extLst>
              <a:ext uri="{FF2B5EF4-FFF2-40B4-BE49-F238E27FC236}">
                <a16:creationId xmlns:a16="http://schemas.microsoft.com/office/drawing/2014/main" id="{70FCEB43-85C4-4253-8D29-06DE258F9420}"/>
              </a:ext>
            </a:extLst>
          </p:cNvPr>
          <p:cNvSpPr>
            <a:spLocks noGrp="1" noChangeArrowheads="1"/>
          </p:cNvSpPr>
          <p:nvPr>
            <p:ph type="sldNum" sz="quarter" idx="12"/>
          </p:nvPr>
        </p:nvSpPr>
        <p:spPr>
          <a:ln/>
        </p:spPr>
        <p:txBody>
          <a:bodyPr/>
          <a:lstStyle>
            <a:lvl1pPr>
              <a:defRPr/>
            </a:lvl1pPr>
          </a:lstStyle>
          <a:p>
            <a:fld id="{0D007BC4-B656-4797-8C19-F22034B20051}" type="slidenum">
              <a:rPr lang="zh-TW" altLang="en-US"/>
              <a:pPr/>
              <a:t>‹#›</a:t>
            </a:fld>
            <a:endParaRPr lang="en-US" altLang="zh-TW"/>
          </a:p>
        </p:txBody>
      </p:sp>
    </p:spTree>
    <p:extLst>
      <p:ext uri="{BB962C8B-B14F-4D97-AF65-F5344CB8AC3E}">
        <p14:creationId xmlns:p14="http://schemas.microsoft.com/office/powerpoint/2010/main" val="31987139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611189" y="86917"/>
            <a:ext cx="8281987" cy="526256"/>
          </a:xfrm>
        </p:spPr>
        <p:txBody>
          <a:bodyPr/>
          <a:lstStyle/>
          <a:p>
            <a:r>
              <a:rPr lang="en-US"/>
              <a:t>Click to edit Master title style</a:t>
            </a:r>
          </a:p>
        </p:txBody>
      </p:sp>
      <p:sp>
        <p:nvSpPr>
          <p:cNvPr id="3" name="SmartArt Placeholder 2"/>
          <p:cNvSpPr>
            <a:spLocks noGrp="1"/>
          </p:cNvSpPr>
          <p:nvPr>
            <p:ph type="dgm" idx="1"/>
          </p:nvPr>
        </p:nvSpPr>
        <p:spPr>
          <a:xfrm>
            <a:off x="684214" y="844153"/>
            <a:ext cx="8270875" cy="3833813"/>
          </a:xfrm>
        </p:spPr>
        <p:txBody>
          <a:bodyPr/>
          <a:lstStyle/>
          <a:p>
            <a:endParaRPr lang="en-US"/>
          </a:p>
        </p:txBody>
      </p:sp>
      <p:sp>
        <p:nvSpPr>
          <p:cNvPr id="4" name="Footer Placeholder 3"/>
          <p:cNvSpPr>
            <a:spLocks noGrp="1"/>
          </p:cNvSpPr>
          <p:nvPr>
            <p:ph type="ftr" sz="quarter" idx="10"/>
          </p:nvPr>
        </p:nvSpPr>
        <p:spPr>
          <a:xfrm>
            <a:off x="1042989" y="4786314"/>
            <a:ext cx="7272337" cy="269081"/>
          </a:xfrm>
        </p:spPr>
        <p:txBody>
          <a:bodyPr/>
          <a:lstStyle>
            <a:lvl1pPr>
              <a:defRPr/>
            </a:lvl1pPr>
          </a:lstStyle>
          <a:p>
            <a:r>
              <a:rPr lang="en-US"/>
              <a:t>Copyright © 2019, Elsevier Inc. All rights reserved.</a:t>
            </a:r>
            <a:endParaRPr lang="en-AU" dirty="0"/>
          </a:p>
        </p:txBody>
      </p:sp>
    </p:spTree>
    <p:extLst>
      <p:ext uri="{BB962C8B-B14F-4D97-AF65-F5344CB8AC3E}">
        <p14:creationId xmlns:p14="http://schemas.microsoft.com/office/powerpoint/2010/main" val="9219875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000">
                <a:latin typeface="Calibri" pitchFamily="34" charset="0"/>
                <a:ea typeface="標楷體" pitchFamily="65" charset="-120"/>
                <a:cs typeface="Calibri" pitchFamily="34" charset="0"/>
              </a:defRPr>
            </a:lvl3pPr>
            <a:lvl4pPr>
              <a:defRPr sz="1800">
                <a:latin typeface="Calibri" pitchFamily="34" charset="0"/>
                <a:ea typeface="標楷體" pitchFamily="65" charset="-120"/>
                <a:cs typeface="Calibri" pitchFamily="34" charset="0"/>
              </a:defRPr>
            </a:lvl4pPr>
            <a:lvl5pPr>
              <a:defRPr sz="1600">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endParaRPr lang="zh-TW" altLang="en-US" dirty="0"/>
          </a:p>
        </p:txBody>
      </p:sp>
    </p:spTree>
    <p:extLst>
      <p:ext uri="{BB962C8B-B14F-4D97-AF65-F5344CB8AC3E}">
        <p14:creationId xmlns:p14="http://schemas.microsoft.com/office/powerpoint/2010/main" val="40844765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8"/>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83" indent="0">
              <a:buNone/>
              <a:defRPr sz="1351"/>
            </a:lvl2pPr>
            <a:lvl3pPr marL="685766" indent="0">
              <a:buNone/>
              <a:defRPr sz="1200"/>
            </a:lvl3pPr>
            <a:lvl4pPr marL="1028648" indent="0">
              <a:buNone/>
              <a:defRPr sz="1051"/>
            </a:lvl4pPr>
            <a:lvl5pPr marL="1371532" indent="0">
              <a:buNone/>
              <a:defRPr sz="1051"/>
            </a:lvl5pPr>
            <a:lvl6pPr marL="1714415" indent="0">
              <a:buNone/>
              <a:defRPr sz="1051"/>
            </a:lvl6pPr>
            <a:lvl7pPr marL="2057297" indent="0">
              <a:buNone/>
              <a:defRPr sz="1051"/>
            </a:lvl7pPr>
            <a:lvl8pPr marL="2400180" indent="0">
              <a:buNone/>
              <a:defRPr sz="1051"/>
            </a:lvl8pPr>
            <a:lvl9pPr marL="2743063"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22586522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3"/>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3"/>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87782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2" y="951580"/>
            <a:ext cx="4040188" cy="479822"/>
          </a:xfrm>
        </p:spPr>
        <p:txBody>
          <a:bodyPr anchor="b"/>
          <a:lstStyle>
            <a:lvl1pPr marL="0" indent="0">
              <a:buNone/>
              <a:defRPr sz="2000" b="1"/>
            </a:lvl1pPr>
            <a:lvl2pPr marL="342883" indent="0">
              <a:buNone/>
              <a:defRPr sz="1500" b="1"/>
            </a:lvl2pPr>
            <a:lvl3pPr marL="685766" indent="0">
              <a:buNone/>
              <a:defRPr sz="1351" b="1"/>
            </a:lvl3pPr>
            <a:lvl4pPr marL="1028648"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3"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2"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30" y="951580"/>
            <a:ext cx="4041775" cy="479822"/>
          </a:xfrm>
        </p:spPr>
        <p:txBody>
          <a:bodyPr anchor="b"/>
          <a:lstStyle>
            <a:lvl1pPr marL="0" indent="0">
              <a:buNone/>
              <a:defRPr sz="2000" b="1"/>
            </a:lvl1pPr>
            <a:lvl2pPr marL="342883" indent="0">
              <a:buNone/>
              <a:defRPr sz="1500" b="1"/>
            </a:lvl2pPr>
            <a:lvl3pPr marL="685766" indent="0">
              <a:buNone/>
              <a:defRPr sz="1351" b="1"/>
            </a:lvl3pPr>
            <a:lvl4pPr marL="1028648"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3"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30"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6" y="108350"/>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2540491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7301127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64049058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5"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1" y="204792"/>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5" y="1076328"/>
            <a:ext cx="3008313" cy="3518297"/>
          </a:xfrm>
        </p:spPr>
        <p:txBody>
          <a:bodyPr/>
          <a:lstStyle>
            <a:lvl1pPr marL="0" indent="0">
              <a:buNone/>
              <a:defRPr sz="1051"/>
            </a:lvl1pPr>
            <a:lvl2pPr marL="342883" indent="0">
              <a:buNone/>
              <a:defRPr sz="900"/>
            </a:lvl2pPr>
            <a:lvl3pPr marL="685766" indent="0">
              <a:buNone/>
              <a:defRPr sz="751"/>
            </a:lvl3pPr>
            <a:lvl4pPr marL="1028648"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3"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6447483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1"/>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83" indent="0">
              <a:buNone/>
              <a:defRPr sz="2100"/>
            </a:lvl2pPr>
            <a:lvl3pPr marL="685766" indent="0">
              <a:buNone/>
              <a:defRPr sz="1800"/>
            </a:lvl3pPr>
            <a:lvl4pPr marL="1028648"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3"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6"/>
            <a:ext cx="5486400" cy="603647"/>
          </a:xfrm>
        </p:spPr>
        <p:txBody>
          <a:bodyPr/>
          <a:lstStyle>
            <a:lvl1pPr marL="0" indent="0">
              <a:buNone/>
              <a:defRPr sz="1051"/>
            </a:lvl1pPr>
            <a:lvl2pPr marL="342883" indent="0">
              <a:buNone/>
              <a:defRPr sz="900"/>
            </a:lvl2pPr>
            <a:lvl3pPr marL="685766" indent="0">
              <a:buNone/>
              <a:defRPr sz="751"/>
            </a:lvl3pPr>
            <a:lvl4pPr marL="1028648"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3"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64093316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6142170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5971706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21981078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7"/>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0264388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4"/>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83" indent="0" algn="ctr">
              <a:buNone/>
              <a:defRPr/>
            </a:lvl2pPr>
            <a:lvl3pPr marL="685766" indent="0" algn="ctr">
              <a:buNone/>
              <a:defRPr/>
            </a:lvl3pPr>
            <a:lvl4pPr marL="1028648" indent="0" algn="ctr">
              <a:buNone/>
              <a:defRPr/>
            </a:lvl4pPr>
            <a:lvl5pPr marL="1371532" indent="0" algn="ctr">
              <a:buNone/>
              <a:defRPr/>
            </a:lvl5pPr>
            <a:lvl6pPr marL="1714415" indent="0" algn="ctr">
              <a:buNone/>
              <a:defRPr/>
            </a:lvl6pPr>
            <a:lvl7pPr marL="2057297" indent="0" algn="ctr">
              <a:buNone/>
              <a:defRPr/>
            </a:lvl7pPr>
            <a:lvl8pPr marL="2400180" indent="0" algn="ctr">
              <a:buNone/>
              <a:defRPr/>
            </a:lvl8pPr>
            <a:lvl9pPr marL="2743063"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4366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image" Target="../media/image2.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image" Target="../media/image1.png"/><Relationship Id="rId2" Type="http://schemas.openxmlformats.org/officeDocument/2006/relationships/slideLayout" Target="../slideLayouts/slideLayout15.xml"/><Relationship Id="rId16" Type="http://schemas.openxmlformats.org/officeDocument/2006/relationships/theme" Target="../theme/theme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19" Type="http://schemas.openxmlformats.org/officeDocument/2006/relationships/image" Target="../media/image3.png"/><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image" Target="../media/image3.png"/><Relationship Id="rId2" Type="http://schemas.openxmlformats.org/officeDocument/2006/relationships/slideLayout" Target="../slideLayouts/slideLayout30.xml"/><Relationship Id="rId16" Type="http://schemas.openxmlformats.org/officeDocument/2006/relationships/image" Target="../media/image2.jpeg"/><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image" Target="../media/image1.png"/><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969010" y="108585"/>
            <a:ext cx="7706995" cy="518795"/>
          </a:xfrm>
          <a:prstGeom prst="rect">
            <a:avLst/>
          </a:prstGeom>
          <a:noFill/>
          <a:ln w="9525">
            <a:noFill/>
            <a:miter lim="800000"/>
          </a:ln>
        </p:spPr>
        <p:txBody>
          <a:bodyPr vert="horz" wrap="square" lIns="91440" tIns="45720" rIns="91440" bIns="45720" numCol="1" anchor="ctr" anchorCtr="0" compatLnSpc="1"/>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ln>
        </p:spPr>
        <p:txBody>
          <a:bodyPr vert="horz" wrap="square" lIns="91440" tIns="45720" rIns="91440" bIns="45720" numCol="1" anchor="t" anchorCtr="0" compatLnSpc="1"/>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anose="020B0604020202090204" pitchFamily="34" charset="0"/>
                <a:ea typeface="新細明體" panose="02020500000000000000" pitchFamily="18" charset="-120"/>
                <a:cs typeface="Arial" panose="020B0604020202090204" pitchFamily="34" charset="0"/>
              </a:rPr>
              <a:t>National Tsing Hua University ® copyright OIA</a:t>
            </a:r>
            <a:endParaRPr lang="zh-TW" altLang="en-US" sz="900" b="1" dirty="0">
              <a:solidFill>
                <a:schemeClr val="bg1"/>
              </a:solidFill>
              <a:latin typeface="Arial" panose="020B0604020202090204" pitchFamily="34" charset="0"/>
              <a:ea typeface="新細明體" panose="02020500000000000000" pitchFamily="18" charset="-120"/>
              <a:cs typeface="Arial" panose="020B0604020202090204"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633869"/>
          </a:solidFill>
          <a:ln w="15875">
            <a:noFill/>
            <a:miter lim="800000"/>
          </a:ln>
          <a:effectLst/>
        </p:spPr>
        <p:txBody>
          <a:bodyPr wrap="none" anchor="ctr"/>
          <a:lstStyle/>
          <a:p>
            <a:pPr>
              <a:defRPr/>
            </a:pPr>
            <a:endParaRPr lang="zh-TW" altLang="en-US" sz="1350">
              <a:ea typeface="新細明體" panose="02020500000000000000"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633869"/>
          </a:solidFill>
          <a:ln w="15875">
            <a:noFill/>
            <a:miter lim="800000"/>
          </a:ln>
          <a:effectLst/>
        </p:spPr>
        <p:txBody>
          <a:bodyPr wrap="none" anchor="ctr"/>
          <a:lstStyle/>
          <a:p>
            <a:pPr>
              <a:defRPr/>
            </a:pPr>
            <a:endParaRPr lang="zh-TW" altLang="en-US" sz="1350">
              <a:ea typeface="新細明體" panose="02020500000000000000"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ln>
          <a:effectLst/>
        </p:spPr>
        <p:txBody>
          <a:bodyPr vert="horz" wrap="square" lIns="91440" tIns="45720" rIns="91440" bIns="45720" numCol="1" anchor="t" anchorCtr="0" compatLnSpc="1"/>
          <a:lstStyle>
            <a:lvl1pPr algn="r">
              <a:defRPr sz="900">
                <a:solidFill>
                  <a:schemeClr val="bg1"/>
                </a:solidFill>
                <a:latin typeface="Arial" panose="020B0604020202090204" pitchFamily="34" charset="0"/>
                <a:ea typeface="新細明體" panose="02020500000000000000" pitchFamily="18" charset="-120"/>
              </a:defRPr>
            </a:lvl1pPr>
          </a:lstStyle>
          <a:p>
            <a:fld id="{D9B6BDF2-6896-4B98-8776-C18582F63BA5}" type="slidenum">
              <a:rPr lang="zh-TW" altLang="en-US" smtClean="0"/>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sp>
        <p:nvSpPr>
          <p:cNvPr id="14" name="矩形 14">
            <a:extLst>
              <a:ext uri="{FF2B5EF4-FFF2-40B4-BE49-F238E27FC236}">
                <a16:creationId xmlns:a16="http://schemas.microsoft.com/office/drawing/2014/main" id="{2F40B62B-E9EF-48EF-B192-3D6726CCBE1D}"/>
              </a:ext>
            </a:extLst>
          </p:cNvPr>
          <p:cNvSpPr/>
          <p:nvPr userDrawn="1"/>
        </p:nvSpPr>
        <p:spPr>
          <a:xfrm>
            <a:off x="694904" y="4678027"/>
            <a:ext cx="2731837" cy="430887"/>
          </a:xfrm>
          <a:prstGeom prst="rect">
            <a:avLst/>
          </a:prstGeom>
        </p:spPr>
        <p:txBody>
          <a:bodyPr wrap="square">
            <a:spAutoFit/>
          </a:bodyPr>
          <a:lstStyle/>
          <a:p>
            <a:pPr algn="ctr">
              <a:spcAft>
                <a:spcPts val="0"/>
              </a:spcAft>
            </a:pP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香港中文大学（深圳）数据科学</a:t>
            </a:r>
            <a:r>
              <a:rPr kumimoji="0" lang="zh-CN" altLang="zh-TW" sz="1200" b="0" i="0" u="none" strike="noStrike" kern="100" cap="none" spc="0" normalizeH="0" baseline="0" noProof="0" dirty="0">
                <a:ln>
                  <a:noFill/>
                </a:ln>
                <a:solidFill>
                  <a:prstClr val="white"/>
                </a:solidFill>
                <a:effectLst/>
                <a:uLnTx/>
                <a:uFillTx/>
                <a:latin typeface="华文楷体" panose="02010600040101010101" pitchFamily="2" charset="-122"/>
                <a:ea typeface="华文楷体" panose="02010600040101010101" pitchFamily="2" charset="-122"/>
                <a:cs typeface="Times New Roman" panose="02020603050405020304" pitchFamily="18" charset="0"/>
              </a:rPr>
              <a:t>学</a:t>
            </a: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院</a:t>
            </a:r>
            <a:endParaRPr lang="zh-TW"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rtl="0" eaLnBrk="1" fontAlgn="base" hangingPunct="1">
        <a:spcBef>
          <a:spcPct val="0"/>
        </a:spcBef>
        <a:spcAft>
          <a:spcPct val="0"/>
        </a:spcAft>
        <a:defRPr kumimoji="1" sz="3200" b="1">
          <a:solidFill>
            <a:schemeClr val="tx2"/>
          </a:solidFill>
          <a:latin typeface="Calibri" panose="020F07020304040A0204"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5pPr>
      <a:lvl6pPr marL="342900" algn="l" rtl="0" eaLnBrk="1" fontAlgn="base" hangingPunct="1">
        <a:spcBef>
          <a:spcPct val="0"/>
        </a:spcBef>
        <a:spcAft>
          <a:spcPct val="0"/>
        </a:spcAft>
        <a:defRPr kumimoji="1" sz="2250" b="1">
          <a:solidFill>
            <a:schemeClr val="tx2"/>
          </a:solidFill>
          <a:latin typeface="MS Sans Serif"/>
          <a:ea typeface="MS Sans Serif"/>
          <a:cs typeface="MS Sans Serif"/>
        </a:defRPr>
      </a:lvl6pPr>
      <a:lvl7pPr marL="685800" algn="l" rtl="0" eaLnBrk="1" fontAlgn="base" hangingPunct="1">
        <a:spcBef>
          <a:spcPct val="0"/>
        </a:spcBef>
        <a:spcAft>
          <a:spcPct val="0"/>
        </a:spcAft>
        <a:defRPr kumimoji="1" sz="2250" b="1">
          <a:solidFill>
            <a:schemeClr val="tx2"/>
          </a:solidFill>
          <a:latin typeface="MS Sans Serif"/>
          <a:ea typeface="MS Sans Serif"/>
          <a:cs typeface="MS Sans Serif"/>
        </a:defRPr>
      </a:lvl7pPr>
      <a:lvl8pPr marL="1028700" algn="l" rtl="0" eaLnBrk="1" fontAlgn="base" hangingPunct="1">
        <a:spcBef>
          <a:spcPct val="0"/>
        </a:spcBef>
        <a:spcAft>
          <a:spcPct val="0"/>
        </a:spcAft>
        <a:defRPr kumimoji="1" sz="2250" b="1">
          <a:solidFill>
            <a:schemeClr val="tx2"/>
          </a:solidFill>
          <a:latin typeface="MS Sans Serif"/>
          <a:ea typeface="MS Sans Serif"/>
          <a:cs typeface="MS Sans Serif"/>
        </a:defRPr>
      </a:lvl8pPr>
      <a:lvl9pPr marL="1371600" algn="l" rtl="0" eaLnBrk="1" fontAlgn="base" hangingPunct="1">
        <a:spcBef>
          <a:spcPct val="0"/>
        </a:spcBef>
        <a:spcAft>
          <a:spcPct val="0"/>
        </a:spcAft>
        <a:defRPr kumimoji="1" sz="2250" b="1">
          <a:solidFill>
            <a:schemeClr val="tx2"/>
          </a:solidFill>
          <a:latin typeface="MS Sans Serif"/>
          <a:ea typeface="MS Sans Serif"/>
          <a:cs typeface="MS Sans Serif"/>
        </a:defRPr>
      </a:lvl9pPr>
    </p:titleStyle>
    <p:body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mn-lt"/>
          <a:ea typeface="+mn-ea"/>
        </a:defRPr>
      </a:lvl3pPr>
      <a:lvl4pPr marL="1200150" indent="-171450" algn="l" rtl="0" eaLnBrk="1" fontAlgn="base" hangingPunct="1">
        <a:spcBef>
          <a:spcPct val="20000"/>
        </a:spcBef>
        <a:spcAft>
          <a:spcPct val="0"/>
        </a:spcAft>
        <a:buChar char="–"/>
        <a:defRPr kumimoji="1" sz="1500">
          <a:solidFill>
            <a:schemeClr val="tx1"/>
          </a:solidFill>
          <a:latin typeface="+mn-lt"/>
          <a:ea typeface="+mn-ea"/>
        </a:defRPr>
      </a:lvl4pPr>
      <a:lvl5pPr marL="1543050" indent="-171450" algn="l" rtl="0" eaLnBrk="1" fontAlgn="base" hangingPunct="1">
        <a:spcBef>
          <a:spcPct val="20000"/>
        </a:spcBef>
        <a:spcAft>
          <a:spcPct val="0"/>
        </a:spcAft>
        <a:buChar char="»"/>
        <a:defRPr kumimoji="1" sz="1500">
          <a:solidFill>
            <a:schemeClr val="tx1"/>
          </a:solidFill>
          <a:latin typeface="+mn-lt"/>
          <a:ea typeface="+mn-ea"/>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165" rtl="0" eaLnBrk="1" latinLnBrk="0" hangingPunct="1">
        <a:defRPr sz="1350" kern="1200">
          <a:solidFill>
            <a:schemeClr val="tx1"/>
          </a:solidFill>
          <a:latin typeface="+mn-lt"/>
          <a:ea typeface="+mn-ea"/>
          <a:cs typeface="+mn-cs"/>
        </a:defRPr>
      </a:lvl1pPr>
      <a:lvl2pPr marL="342900" algn="l" defTabSz="685165" rtl="0" eaLnBrk="1" latinLnBrk="0" hangingPunct="1">
        <a:defRPr sz="1350" kern="1200">
          <a:solidFill>
            <a:schemeClr val="tx1"/>
          </a:solidFill>
          <a:latin typeface="+mn-lt"/>
          <a:ea typeface="+mn-ea"/>
          <a:cs typeface="+mn-cs"/>
        </a:defRPr>
      </a:lvl2pPr>
      <a:lvl3pPr marL="685800" algn="l" defTabSz="685165" rtl="0" eaLnBrk="1" latinLnBrk="0" hangingPunct="1">
        <a:defRPr sz="1350" kern="1200">
          <a:solidFill>
            <a:schemeClr val="tx1"/>
          </a:solidFill>
          <a:latin typeface="+mn-lt"/>
          <a:ea typeface="+mn-ea"/>
          <a:cs typeface="+mn-cs"/>
        </a:defRPr>
      </a:lvl3pPr>
      <a:lvl4pPr marL="1028700" algn="l" defTabSz="685165" rtl="0" eaLnBrk="1" latinLnBrk="0" hangingPunct="1">
        <a:defRPr sz="1350" kern="1200">
          <a:solidFill>
            <a:schemeClr val="tx1"/>
          </a:solidFill>
          <a:latin typeface="+mn-lt"/>
          <a:ea typeface="+mn-ea"/>
          <a:cs typeface="+mn-cs"/>
        </a:defRPr>
      </a:lvl4pPr>
      <a:lvl5pPr marL="1371600" algn="l" defTabSz="685165" rtl="0" eaLnBrk="1" latinLnBrk="0" hangingPunct="1">
        <a:defRPr sz="1350" kern="1200">
          <a:solidFill>
            <a:schemeClr val="tx1"/>
          </a:solidFill>
          <a:latin typeface="+mn-lt"/>
          <a:ea typeface="+mn-ea"/>
          <a:cs typeface="+mn-cs"/>
        </a:defRPr>
      </a:lvl5pPr>
      <a:lvl6pPr marL="1714500" algn="l" defTabSz="685165" rtl="0" eaLnBrk="1" latinLnBrk="0" hangingPunct="1">
        <a:defRPr sz="1350" kern="1200">
          <a:solidFill>
            <a:schemeClr val="tx1"/>
          </a:solidFill>
          <a:latin typeface="+mn-lt"/>
          <a:ea typeface="+mn-ea"/>
          <a:cs typeface="+mn-cs"/>
        </a:defRPr>
      </a:lvl6pPr>
      <a:lvl7pPr marL="2057400" algn="l" defTabSz="685165" rtl="0" eaLnBrk="1" latinLnBrk="0" hangingPunct="1">
        <a:defRPr sz="1350" kern="1200">
          <a:solidFill>
            <a:schemeClr val="tx1"/>
          </a:solidFill>
          <a:latin typeface="+mn-lt"/>
          <a:ea typeface="+mn-ea"/>
          <a:cs typeface="+mn-cs"/>
        </a:defRPr>
      </a:lvl7pPr>
      <a:lvl8pPr marL="2400300" algn="l" defTabSz="685165" rtl="0" eaLnBrk="1" latinLnBrk="0" hangingPunct="1">
        <a:defRPr sz="1350" kern="1200">
          <a:solidFill>
            <a:schemeClr val="tx1"/>
          </a:solidFill>
          <a:latin typeface="+mn-lt"/>
          <a:ea typeface="+mn-ea"/>
          <a:cs typeface="+mn-cs"/>
        </a:defRPr>
      </a:lvl8pPr>
      <a:lvl9pPr marL="2743200" algn="l" defTabSz="685165"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50"/>
            <a:ext cx="7888291"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7" cstate="print"/>
          <a:srcRect/>
          <a:stretch>
            <a:fillRect/>
          </a:stretch>
        </p:blipFill>
        <p:spPr bwMode="auto">
          <a:xfrm>
            <a:off x="3" y="4768455"/>
            <a:ext cx="3833813" cy="148828"/>
          </a:xfrm>
          <a:prstGeom prst="rect">
            <a:avLst/>
          </a:prstGeom>
          <a:noFill/>
          <a:ln w="9525">
            <a:noFill/>
            <a:miter lim="800000"/>
            <a:headEnd/>
            <a:tailEnd/>
          </a:ln>
        </p:spPr>
      </p:pic>
      <p:sp>
        <p:nvSpPr>
          <p:cNvPr id="8" name="矩形 7"/>
          <p:cNvSpPr/>
          <p:nvPr/>
        </p:nvSpPr>
        <p:spPr>
          <a:xfrm>
            <a:off x="569247" y="4936333"/>
            <a:ext cx="2731838"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2"/>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99961" y="93461"/>
            <a:ext cx="687440" cy="504233"/>
          </a:xfrm>
          <a:prstGeom prst="rect">
            <a:avLst/>
          </a:prstGeom>
        </p:spPr>
      </p:pic>
      <p:grpSp>
        <p:nvGrpSpPr>
          <p:cNvPr id="2" name="群組 1"/>
          <p:cNvGrpSpPr/>
          <p:nvPr userDrawn="1"/>
        </p:nvGrpSpPr>
        <p:grpSpPr>
          <a:xfrm>
            <a:off x="65236" y="4679944"/>
            <a:ext cx="2417531" cy="565635"/>
            <a:chOff x="86980" y="6239920"/>
            <a:chExt cx="3223375" cy="754180"/>
          </a:xfrm>
        </p:grpSpPr>
        <p:pic>
          <p:nvPicPr>
            <p:cNvPr id="12" name="圖片 11"/>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69"/>
              <a:ext cx="2480518" cy="646331"/>
            </a:xfrm>
            <a:prstGeom prst="rect">
              <a:avLst/>
            </a:prstGeom>
          </p:spPr>
          <p:txBody>
            <a:bodyPr wrap="square">
              <a:spAutoFit/>
            </a:bodyPr>
            <a:lstStyle/>
            <a:p>
              <a:pPr algn="ctr">
                <a:spcAft>
                  <a:spcPts val="0"/>
                </a:spcAft>
              </a:pPr>
              <a:r>
                <a:rPr lang="zh-CN" altLang="zh-TW" sz="9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香港中文大学（深圳）数据科学院</a:t>
              </a:r>
              <a:endParaRPr lang="zh-TW" altLang="zh-TW" sz="9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algn="ctr">
                <a:spcAft>
                  <a:spcPts val="0"/>
                </a:spcAft>
              </a:pPr>
              <a:r>
                <a:rPr lang="en-US" altLang="zh-TW" sz="75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75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75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75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197687915"/>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Lst>
  <p:hf hdr="0" ftr="0" dt="0"/>
  <p:txStyles>
    <p:title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83"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66"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48"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32"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2" indent="-257162"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85" indent="-214303"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07" indent="-171442" algn="l" rtl="0" eaLnBrk="1" fontAlgn="base" hangingPunct="1">
        <a:spcBef>
          <a:spcPct val="20000"/>
        </a:spcBef>
        <a:spcAft>
          <a:spcPct val="0"/>
        </a:spcAft>
        <a:buChar char="•"/>
        <a:defRPr kumimoji="1" sz="1800">
          <a:solidFill>
            <a:schemeClr val="tx1"/>
          </a:solidFill>
          <a:latin typeface="+mn-lt"/>
          <a:ea typeface="+mn-ea"/>
        </a:defRPr>
      </a:lvl3pPr>
      <a:lvl4pPr marL="1200091" indent="-171442" algn="l" rtl="0" eaLnBrk="1" fontAlgn="base" hangingPunct="1">
        <a:spcBef>
          <a:spcPct val="20000"/>
        </a:spcBef>
        <a:spcAft>
          <a:spcPct val="0"/>
        </a:spcAft>
        <a:buChar char="–"/>
        <a:defRPr kumimoji="1" sz="1500">
          <a:solidFill>
            <a:schemeClr val="tx1"/>
          </a:solidFill>
          <a:latin typeface="+mn-lt"/>
          <a:ea typeface="+mn-ea"/>
        </a:defRPr>
      </a:lvl4pPr>
      <a:lvl5pPr marL="1542974" indent="-171442" algn="l" rtl="0" eaLnBrk="1" fontAlgn="base" hangingPunct="1">
        <a:spcBef>
          <a:spcPct val="20000"/>
        </a:spcBef>
        <a:spcAft>
          <a:spcPct val="0"/>
        </a:spcAft>
        <a:buChar char="»"/>
        <a:defRPr kumimoji="1" sz="1500">
          <a:solidFill>
            <a:schemeClr val="tx1"/>
          </a:solidFill>
          <a:latin typeface="+mn-lt"/>
          <a:ea typeface="+mn-ea"/>
        </a:defRPr>
      </a:lvl5pPr>
      <a:lvl6pPr marL="1885857" indent="-171442" algn="l" rtl="0" eaLnBrk="1" fontAlgn="base" hangingPunct="1">
        <a:spcBef>
          <a:spcPct val="20000"/>
        </a:spcBef>
        <a:spcAft>
          <a:spcPct val="0"/>
        </a:spcAft>
        <a:buChar char="»"/>
        <a:defRPr kumimoji="1" sz="1500">
          <a:solidFill>
            <a:schemeClr val="tx1"/>
          </a:solidFill>
          <a:latin typeface="+mn-lt"/>
          <a:ea typeface="+mn-ea"/>
        </a:defRPr>
      </a:lvl6pPr>
      <a:lvl7pPr marL="2228739" indent="-171442" algn="l" rtl="0" eaLnBrk="1" fontAlgn="base" hangingPunct="1">
        <a:spcBef>
          <a:spcPct val="20000"/>
        </a:spcBef>
        <a:spcAft>
          <a:spcPct val="0"/>
        </a:spcAft>
        <a:buChar char="»"/>
        <a:defRPr kumimoji="1" sz="1500">
          <a:solidFill>
            <a:schemeClr val="tx1"/>
          </a:solidFill>
          <a:latin typeface="+mn-lt"/>
          <a:ea typeface="+mn-ea"/>
        </a:defRPr>
      </a:lvl7pPr>
      <a:lvl8pPr marL="2571622" indent="-171442" algn="l" rtl="0" eaLnBrk="1" fontAlgn="base" hangingPunct="1">
        <a:spcBef>
          <a:spcPct val="20000"/>
        </a:spcBef>
        <a:spcAft>
          <a:spcPct val="0"/>
        </a:spcAft>
        <a:buChar char="»"/>
        <a:defRPr kumimoji="1" sz="1500">
          <a:solidFill>
            <a:schemeClr val="tx1"/>
          </a:solidFill>
          <a:latin typeface="+mn-lt"/>
          <a:ea typeface="+mn-ea"/>
        </a:defRPr>
      </a:lvl8pPr>
      <a:lvl9pPr marL="2914505" indent="-171442"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66" rtl="0" eaLnBrk="1" latinLnBrk="0" hangingPunct="1">
        <a:defRPr sz="1351" kern="1200">
          <a:solidFill>
            <a:schemeClr val="tx1"/>
          </a:solidFill>
          <a:latin typeface="+mn-lt"/>
          <a:ea typeface="+mn-ea"/>
          <a:cs typeface="+mn-cs"/>
        </a:defRPr>
      </a:lvl1pPr>
      <a:lvl2pPr marL="342883" algn="l" defTabSz="685766" rtl="0" eaLnBrk="1" latinLnBrk="0" hangingPunct="1">
        <a:defRPr sz="1351" kern="1200">
          <a:solidFill>
            <a:schemeClr val="tx1"/>
          </a:solidFill>
          <a:latin typeface="+mn-lt"/>
          <a:ea typeface="+mn-ea"/>
          <a:cs typeface="+mn-cs"/>
        </a:defRPr>
      </a:lvl2pPr>
      <a:lvl3pPr marL="685766" algn="l" defTabSz="685766" rtl="0" eaLnBrk="1" latinLnBrk="0" hangingPunct="1">
        <a:defRPr sz="1351" kern="1200">
          <a:solidFill>
            <a:schemeClr val="tx1"/>
          </a:solidFill>
          <a:latin typeface="+mn-lt"/>
          <a:ea typeface="+mn-ea"/>
          <a:cs typeface="+mn-cs"/>
        </a:defRPr>
      </a:lvl3pPr>
      <a:lvl4pPr marL="1028648" algn="l" defTabSz="685766" rtl="0" eaLnBrk="1" latinLnBrk="0" hangingPunct="1">
        <a:defRPr sz="1351" kern="1200">
          <a:solidFill>
            <a:schemeClr val="tx1"/>
          </a:solidFill>
          <a:latin typeface="+mn-lt"/>
          <a:ea typeface="+mn-ea"/>
          <a:cs typeface="+mn-cs"/>
        </a:defRPr>
      </a:lvl4pPr>
      <a:lvl5pPr marL="1371532" algn="l" defTabSz="685766" rtl="0" eaLnBrk="1" latinLnBrk="0" hangingPunct="1">
        <a:defRPr sz="1351" kern="1200">
          <a:solidFill>
            <a:schemeClr val="tx1"/>
          </a:solidFill>
          <a:latin typeface="+mn-lt"/>
          <a:ea typeface="+mn-ea"/>
          <a:cs typeface="+mn-cs"/>
        </a:defRPr>
      </a:lvl5pPr>
      <a:lvl6pPr marL="1714415" algn="l" defTabSz="685766" rtl="0" eaLnBrk="1" latinLnBrk="0" hangingPunct="1">
        <a:defRPr sz="1351" kern="1200">
          <a:solidFill>
            <a:schemeClr val="tx1"/>
          </a:solidFill>
          <a:latin typeface="+mn-lt"/>
          <a:ea typeface="+mn-ea"/>
          <a:cs typeface="+mn-cs"/>
        </a:defRPr>
      </a:lvl6pPr>
      <a:lvl7pPr marL="2057297" algn="l" defTabSz="685766" rtl="0" eaLnBrk="1" latinLnBrk="0" hangingPunct="1">
        <a:defRPr sz="1351" kern="1200">
          <a:solidFill>
            <a:schemeClr val="tx1"/>
          </a:solidFill>
          <a:latin typeface="+mn-lt"/>
          <a:ea typeface="+mn-ea"/>
          <a:cs typeface="+mn-cs"/>
        </a:defRPr>
      </a:lvl7pPr>
      <a:lvl8pPr marL="2400180" algn="l" defTabSz="685766" rtl="0" eaLnBrk="1" latinLnBrk="0" hangingPunct="1">
        <a:defRPr sz="1351" kern="1200">
          <a:solidFill>
            <a:schemeClr val="tx1"/>
          </a:solidFill>
          <a:latin typeface="+mn-lt"/>
          <a:ea typeface="+mn-ea"/>
          <a:cs typeface="+mn-cs"/>
        </a:defRPr>
      </a:lvl8pPr>
      <a:lvl9pPr marL="2743063" algn="l" defTabSz="685766" rtl="0" eaLnBrk="1" latinLnBrk="0" hangingPunct="1">
        <a:defRPr sz="1351"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50"/>
            <a:ext cx="7888291"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4768455"/>
            <a:ext cx="3833813" cy="148828"/>
          </a:xfrm>
          <a:prstGeom prst="rect">
            <a:avLst/>
          </a:prstGeom>
          <a:noFill/>
          <a:ln w="9525">
            <a:noFill/>
            <a:miter lim="800000"/>
            <a:headEnd/>
            <a:tailEnd/>
          </a:ln>
        </p:spPr>
      </p:pic>
      <p:sp>
        <p:nvSpPr>
          <p:cNvPr id="8" name="矩形 7"/>
          <p:cNvSpPr/>
          <p:nvPr/>
        </p:nvSpPr>
        <p:spPr>
          <a:xfrm>
            <a:off x="569247" y="4936333"/>
            <a:ext cx="2731838"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2"/>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99961" y="93461"/>
            <a:ext cx="687440" cy="504233"/>
          </a:xfrm>
          <a:prstGeom prst="rect">
            <a:avLst/>
          </a:prstGeom>
        </p:spPr>
      </p:pic>
      <p:grpSp>
        <p:nvGrpSpPr>
          <p:cNvPr id="2" name="群組 1"/>
          <p:cNvGrpSpPr/>
          <p:nvPr userDrawn="1"/>
        </p:nvGrpSpPr>
        <p:grpSpPr>
          <a:xfrm>
            <a:off x="65235" y="4679941"/>
            <a:ext cx="2681119" cy="427136"/>
            <a:chOff x="86980" y="6239920"/>
            <a:chExt cx="3223375" cy="569515"/>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69"/>
              <a:ext cx="2480518" cy="461666"/>
            </a:xfrm>
            <a:prstGeom prst="rect">
              <a:avLst/>
            </a:prstGeom>
          </p:spPr>
          <p:txBody>
            <a:bodyPr wrap="square">
              <a:spAutoFit/>
            </a:bodyPr>
            <a:lstStyle/>
            <a:p>
              <a:pPr algn="ctr">
                <a:spcAft>
                  <a:spcPts val="0"/>
                </a:spcAft>
              </a:pPr>
              <a:r>
                <a:rPr lang="zh-CN" altLang="zh-TW" sz="9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香港中文大学（深圳）数据科学</a:t>
              </a:r>
              <a:r>
                <a:rPr kumimoji="0" lang="zh-CN" altLang="zh-TW" sz="900" b="0" i="0" u="none" strike="noStrike" kern="100" cap="none" spc="0" normalizeH="0" baseline="0" noProof="0" dirty="0">
                  <a:ln>
                    <a:noFill/>
                  </a:ln>
                  <a:solidFill>
                    <a:prstClr val="white"/>
                  </a:solidFill>
                  <a:effectLst/>
                  <a:uLnTx/>
                  <a:uFillTx/>
                  <a:latin typeface="华文楷体" panose="02010600040101010101" pitchFamily="2" charset="-122"/>
                  <a:ea typeface="华文楷体" panose="02010600040101010101" pitchFamily="2" charset="-122"/>
                  <a:cs typeface="Times New Roman" panose="02020603050405020304" pitchFamily="18" charset="0"/>
                </a:rPr>
                <a:t>学</a:t>
              </a:r>
              <a:r>
                <a:rPr lang="zh-CN" altLang="zh-TW" sz="9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院</a:t>
              </a:r>
              <a:endParaRPr lang="zh-TW" altLang="zh-TW" sz="9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algn="ctr">
                <a:spcAft>
                  <a:spcPts val="0"/>
                </a:spcAft>
              </a:pPr>
              <a:r>
                <a:rPr lang="en-US" altLang="zh-TW" sz="75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75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75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75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2998039391"/>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Lst>
  <p:hf hdr="0" ftr="0" dt="0"/>
  <p:txStyles>
    <p:title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83"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66"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48"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32"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2" indent="-257162"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85" indent="-214303"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07" indent="-171442" algn="l" rtl="0" eaLnBrk="1" fontAlgn="base" hangingPunct="1">
        <a:spcBef>
          <a:spcPct val="20000"/>
        </a:spcBef>
        <a:spcAft>
          <a:spcPct val="0"/>
        </a:spcAft>
        <a:buChar char="•"/>
        <a:defRPr kumimoji="1" sz="1800">
          <a:solidFill>
            <a:schemeClr val="tx1"/>
          </a:solidFill>
          <a:latin typeface="+mn-lt"/>
          <a:ea typeface="+mn-ea"/>
        </a:defRPr>
      </a:lvl3pPr>
      <a:lvl4pPr marL="1200091" indent="-171442" algn="l" rtl="0" eaLnBrk="1" fontAlgn="base" hangingPunct="1">
        <a:spcBef>
          <a:spcPct val="20000"/>
        </a:spcBef>
        <a:spcAft>
          <a:spcPct val="0"/>
        </a:spcAft>
        <a:buChar char="–"/>
        <a:defRPr kumimoji="1" sz="1500">
          <a:solidFill>
            <a:schemeClr val="tx1"/>
          </a:solidFill>
          <a:latin typeface="+mn-lt"/>
          <a:ea typeface="+mn-ea"/>
        </a:defRPr>
      </a:lvl4pPr>
      <a:lvl5pPr marL="1542974" indent="-171442" algn="l" rtl="0" eaLnBrk="1" fontAlgn="base" hangingPunct="1">
        <a:spcBef>
          <a:spcPct val="20000"/>
        </a:spcBef>
        <a:spcAft>
          <a:spcPct val="0"/>
        </a:spcAft>
        <a:buChar char="»"/>
        <a:defRPr kumimoji="1" sz="1500">
          <a:solidFill>
            <a:schemeClr val="tx1"/>
          </a:solidFill>
          <a:latin typeface="+mn-lt"/>
          <a:ea typeface="+mn-ea"/>
        </a:defRPr>
      </a:lvl5pPr>
      <a:lvl6pPr marL="1885857" indent="-171442" algn="l" rtl="0" eaLnBrk="1" fontAlgn="base" hangingPunct="1">
        <a:spcBef>
          <a:spcPct val="20000"/>
        </a:spcBef>
        <a:spcAft>
          <a:spcPct val="0"/>
        </a:spcAft>
        <a:buChar char="»"/>
        <a:defRPr kumimoji="1" sz="1500">
          <a:solidFill>
            <a:schemeClr val="tx1"/>
          </a:solidFill>
          <a:latin typeface="+mn-lt"/>
          <a:ea typeface="+mn-ea"/>
        </a:defRPr>
      </a:lvl6pPr>
      <a:lvl7pPr marL="2228739" indent="-171442" algn="l" rtl="0" eaLnBrk="1" fontAlgn="base" hangingPunct="1">
        <a:spcBef>
          <a:spcPct val="20000"/>
        </a:spcBef>
        <a:spcAft>
          <a:spcPct val="0"/>
        </a:spcAft>
        <a:buChar char="»"/>
        <a:defRPr kumimoji="1" sz="1500">
          <a:solidFill>
            <a:schemeClr val="tx1"/>
          </a:solidFill>
          <a:latin typeface="+mn-lt"/>
          <a:ea typeface="+mn-ea"/>
        </a:defRPr>
      </a:lvl7pPr>
      <a:lvl8pPr marL="2571622" indent="-171442" algn="l" rtl="0" eaLnBrk="1" fontAlgn="base" hangingPunct="1">
        <a:spcBef>
          <a:spcPct val="20000"/>
        </a:spcBef>
        <a:spcAft>
          <a:spcPct val="0"/>
        </a:spcAft>
        <a:buChar char="»"/>
        <a:defRPr kumimoji="1" sz="1500">
          <a:solidFill>
            <a:schemeClr val="tx1"/>
          </a:solidFill>
          <a:latin typeface="+mn-lt"/>
          <a:ea typeface="+mn-ea"/>
        </a:defRPr>
      </a:lvl8pPr>
      <a:lvl9pPr marL="2914505" indent="-171442"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66" rtl="0" eaLnBrk="1" latinLnBrk="0" hangingPunct="1">
        <a:defRPr sz="1351" kern="1200">
          <a:solidFill>
            <a:schemeClr val="tx1"/>
          </a:solidFill>
          <a:latin typeface="+mn-lt"/>
          <a:ea typeface="+mn-ea"/>
          <a:cs typeface="+mn-cs"/>
        </a:defRPr>
      </a:lvl1pPr>
      <a:lvl2pPr marL="342883" algn="l" defTabSz="685766" rtl="0" eaLnBrk="1" latinLnBrk="0" hangingPunct="1">
        <a:defRPr sz="1351" kern="1200">
          <a:solidFill>
            <a:schemeClr val="tx1"/>
          </a:solidFill>
          <a:latin typeface="+mn-lt"/>
          <a:ea typeface="+mn-ea"/>
          <a:cs typeface="+mn-cs"/>
        </a:defRPr>
      </a:lvl2pPr>
      <a:lvl3pPr marL="685766" algn="l" defTabSz="685766" rtl="0" eaLnBrk="1" latinLnBrk="0" hangingPunct="1">
        <a:defRPr sz="1351" kern="1200">
          <a:solidFill>
            <a:schemeClr val="tx1"/>
          </a:solidFill>
          <a:latin typeface="+mn-lt"/>
          <a:ea typeface="+mn-ea"/>
          <a:cs typeface="+mn-cs"/>
        </a:defRPr>
      </a:lvl3pPr>
      <a:lvl4pPr marL="1028648" algn="l" defTabSz="685766" rtl="0" eaLnBrk="1" latinLnBrk="0" hangingPunct="1">
        <a:defRPr sz="1351" kern="1200">
          <a:solidFill>
            <a:schemeClr val="tx1"/>
          </a:solidFill>
          <a:latin typeface="+mn-lt"/>
          <a:ea typeface="+mn-ea"/>
          <a:cs typeface="+mn-cs"/>
        </a:defRPr>
      </a:lvl4pPr>
      <a:lvl5pPr marL="1371532" algn="l" defTabSz="685766" rtl="0" eaLnBrk="1" latinLnBrk="0" hangingPunct="1">
        <a:defRPr sz="1351" kern="1200">
          <a:solidFill>
            <a:schemeClr val="tx1"/>
          </a:solidFill>
          <a:latin typeface="+mn-lt"/>
          <a:ea typeface="+mn-ea"/>
          <a:cs typeface="+mn-cs"/>
        </a:defRPr>
      </a:lvl5pPr>
      <a:lvl6pPr marL="1714415" algn="l" defTabSz="685766" rtl="0" eaLnBrk="1" latinLnBrk="0" hangingPunct="1">
        <a:defRPr sz="1351" kern="1200">
          <a:solidFill>
            <a:schemeClr val="tx1"/>
          </a:solidFill>
          <a:latin typeface="+mn-lt"/>
          <a:ea typeface="+mn-ea"/>
          <a:cs typeface="+mn-cs"/>
        </a:defRPr>
      </a:lvl6pPr>
      <a:lvl7pPr marL="2057297" algn="l" defTabSz="685766" rtl="0" eaLnBrk="1" latinLnBrk="0" hangingPunct="1">
        <a:defRPr sz="1351" kern="1200">
          <a:solidFill>
            <a:schemeClr val="tx1"/>
          </a:solidFill>
          <a:latin typeface="+mn-lt"/>
          <a:ea typeface="+mn-ea"/>
          <a:cs typeface="+mn-cs"/>
        </a:defRPr>
      </a:lvl7pPr>
      <a:lvl8pPr marL="2400180" algn="l" defTabSz="685766" rtl="0" eaLnBrk="1" latinLnBrk="0" hangingPunct="1">
        <a:defRPr sz="1351" kern="1200">
          <a:solidFill>
            <a:schemeClr val="tx1"/>
          </a:solidFill>
          <a:latin typeface="+mn-lt"/>
          <a:ea typeface="+mn-ea"/>
          <a:cs typeface="+mn-cs"/>
        </a:defRPr>
      </a:lvl8pPr>
      <a:lvl9pPr marL="2743063" algn="l" defTabSz="685766"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microsoft.com/office/2007/relationships/hdphoto" Target="../media/hdphoto1.wdp"/><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26534"/>
            <a:ext cx="7772400" cy="1307066"/>
          </a:xfrm>
        </p:spPr>
        <p:txBody>
          <a:bodyPr/>
          <a:lstStyle/>
          <a:p>
            <a:pPr algn="ctr"/>
            <a:r>
              <a:rPr lang="en-US" altLang="zh-TW" sz="3600" dirty="0"/>
              <a:t>CSC3060 – Computer Systems</a:t>
            </a:r>
            <a:br>
              <a:rPr lang="en-US" altLang="zh-TW" sz="3600" dirty="0">
                <a:effectLst>
                  <a:outerShdw blurRad="38100" dist="38100" dir="2700000" algn="tl">
                    <a:srgbClr val="000000">
                      <a:alpha val="43137"/>
                    </a:srgbClr>
                  </a:outerShdw>
                </a:effectLst>
              </a:rPr>
            </a:br>
            <a:endParaRPr lang="en-US" altLang="zh-TW" sz="3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609599" y="2075543"/>
            <a:ext cx="8048171" cy="2275077"/>
          </a:xfrm>
        </p:spPr>
        <p:txBody>
          <a:bodyPr/>
          <a:lstStyle/>
          <a:p>
            <a:r>
              <a:rPr lang="en-US" altLang="zh-TW" sz="3600" dirty="0">
                <a:effectLst>
                  <a:outerShdw blurRad="38100" dist="38100" dir="2700000" algn="tl">
                    <a:srgbClr val="000000">
                      <a:alpha val="43137"/>
                    </a:srgbClr>
                  </a:outerShdw>
                </a:effectLst>
              </a:rPr>
              <a:t>Chapter 1</a:t>
            </a:r>
          </a:p>
          <a:p>
            <a:r>
              <a:rPr lang="en-US" altLang="zh-TW" sz="3600" dirty="0">
                <a:effectLst>
                  <a:outerShdw blurRad="38100" dist="38100" dir="2700000" algn="tl">
                    <a:srgbClr val="000000">
                      <a:alpha val="43137"/>
                    </a:srgbClr>
                  </a:outerShdw>
                </a:effectLst>
              </a:rPr>
              <a:t>A Tour of Computer Systems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638" y="0"/>
            <a:ext cx="8192093" cy="645413"/>
          </a:xfrm>
        </p:spPr>
        <p:txBody>
          <a:bodyPr/>
          <a:lstStyle/>
          <a:p>
            <a:pPr marL="342900" marR="0" lvl="1" indent="0" defTabSz="914400" rtl="0" eaLnBrk="1" fontAlgn="base" latinLnBrk="0" hangingPunct="1">
              <a:lnSpc>
                <a:spcPct val="100000"/>
              </a:lnSpc>
              <a:spcBef>
                <a:spcPct val="20000"/>
              </a:spcBef>
              <a:spcAft>
                <a:spcPct val="0"/>
              </a:spcAft>
              <a:tabLst/>
              <a:defRPr/>
            </a:pPr>
            <a:br>
              <a:rPr lang="en-US" sz="2400" dirty="0">
                <a:solidFill>
                  <a:srgbClr val="1F497D"/>
                </a:solidFill>
                <a:latin typeface="Arial"/>
                <a:cs typeface="Times New Roman" panose="02020603050405020304" pitchFamily="18" charset="0"/>
              </a:rPr>
            </a:br>
            <a:r>
              <a:rPr lang="en-US" sz="2800" dirty="0">
                <a:solidFill>
                  <a:srgbClr val="1F497D"/>
                </a:solidFill>
                <a:latin typeface="Calibri" panose="020F0502020204030204" pitchFamily="34" charset="0"/>
                <a:ea typeface="Calibri" panose="020F0502020204030204" pitchFamily="34" charset="0"/>
                <a:cs typeface="Calibri" panose="020F0502020204030204" pitchFamily="34" charset="0"/>
              </a:rPr>
              <a:t>Technological Advancements Driven by Computers</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
        <p:nvSpPr>
          <p:cNvPr id="4" name="Content Placeholder 2">
            <a:extLst>
              <a:ext uri="{FF2B5EF4-FFF2-40B4-BE49-F238E27FC236}">
                <a16:creationId xmlns:a16="http://schemas.microsoft.com/office/drawing/2014/main" id="{D4EBF60B-38E7-424A-90C7-2282014613DB}"/>
              </a:ext>
            </a:extLst>
          </p:cNvPr>
          <p:cNvSpPr txBox="1">
            <a:spLocks/>
          </p:cNvSpPr>
          <p:nvPr/>
        </p:nvSpPr>
        <p:spPr bwMode="auto">
          <a:xfrm>
            <a:off x="300038" y="942975"/>
            <a:ext cx="8693943" cy="3655219"/>
          </a:xfrm>
          <a:prstGeom prst="rect">
            <a:avLst/>
          </a:prstGeom>
          <a:noFill/>
          <a:ln w="9525">
            <a:noFill/>
            <a:miter lim="800000"/>
          </a:ln>
        </p:spPr>
        <p:txBody>
          <a:bodyPr vert="horz" wrap="square" lIns="91440" tIns="45720" rIns="91440" bIns="45720" numCol="1" anchor="t" anchorCtr="0" compatLnSpc="1">
            <a:normAutofit fontScale="92500" lnSpcReduction="10000"/>
          </a:bodyPr>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en-US" kern="0" dirty="0">
                <a:solidFill>
                  <a:srgbClr val="0070C0"/>
                </a:solidFill>
                <a:latin typeface="Calibri" panose="020F0502020204030204" pitchFamily="34" charset="0"/>
                <a:ea typeface="Calibri" panose="020F0502020204030204" pitchFamily="34" charset="0"/>
                <a:cs typeface="Calibri" panose="020F0502020204030204" pitchFamily="34" charset="0"/>
              </a:rPr>
              <a:t>Computer and IC Technology</a:t>
            </a:r>
          </a:p>
          <a:p>
            <a:pPr lvl="1"/>
            <a:r>
              <a:rPr lang="en-US" sz="2200" kern="0" dirty="0">
                <a:solidFill>
                  <a:srgbClr val="0070C0"/>
                </a:solidFill>
                <a:latin typeface="Calibri" panose="020F0502020204030204" pitchFamily="34" charset="0"/>
                <a:ea typeface="Calibri" panose="020F0502020204030204" pitchFamily="34" charset="0"/>
                <a:cs typeface="Calibri" panose="020F0502020204030204" pitchFamily="34" charset="0"/>
              </a:rPr>
              <a:t>The performance of computers has improved by </a:t>
            </a:r>
            <a:r>
              <a:rPr lang="en-US" sz="2000" b="1" i="0" dirty="0">
                <a:solidFill>
                  <a:srgbClr val="111827"/>
                </a:solidFill>
                <a:effectLst/>
                <a:latin typeface="ui-sans-serif"/>
              </a:rPr>
              <a:t>trillion-to-quadrillion </a:t>
            </a:r>
            <a:r>
              <a:rPr lang="en-US" sz="2000" i="0" dirty="0">
                <a:solidFill>
                  <a:schemeClr val="accent1"/>
                </a:solidFill>
                <a:effectLst/>
                <a:latin typeface="ui-sans-serif"/>
              </a:rPr>
              <a:t>times. </a:t>
            </a:r>
            <a:endParaRPr lang="en-US" sz="2400" kern="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lvl="1"/>
            <a:r>
              <a:rPr lang="en-US" sz="2200" kern="0" dirty="0">
                <a:solidFill>
                  <a:srgbClr val="0070C0"/>
                </a:solidFill>
                <a:latin typeface="Calibri" panose="020F0502020204030204" pitchFamily="34" charset="0"/>
                <a:ea typeface="Calibri" panose="020F0502020204030204" pitchFamily="34" charset="0"/>
                <a:cs typeface="Calibri" panose="020F0502020204030204" pitchFamily="34" charset="0"/>
              </a:rPr>
              <a:t>Computers everywhere, from the cloud to PCs and smartphones</a:t>
            </a:r>
          </a:p>
          <a:p>
            <a:r>
              <a:rPr lang="en-US" kern="0" dirty="0">
                <a:solidFill>
                  <a:srgbClr val="0070C0"/>
                </a:solidFill>
                <a:latin typeface="Calibri" panose="020F0502020204030204" pitchFamily="34" charset="0"/>
                <a:ea typeface="Calibri" panose="020F0502020204030204" pitchFamily="34" charset="0"/>
                <a:cs typeface="Calibri" panose="020F0502020204030204" pitchFamily="34" charset="0"/>
              </a:rPr>
              <a:t>Internet</a:t>
            </a:r>
          </a:p>
          <a:p>
            <a:pPr lvl="1"/>
            <a:r>
              <a:rPr kumimoji="0" lang="en-US" sz="1800" b="0" i="0" u="none" strike="noStrike" kern="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WWW, e-commerce, search engine, big data</a:t>
            </a:r>
            <a:r>
              <a:rPr kumimoji="0" lang="en-US" sz="2200" b="0" i="0" u="none" strike="noStrike" kern="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 </a:t>
            </a:r>
            <a:endParaRPr kumimoji="0" lang="en-US" sz="1800" b="0" i="0" u="none" strike="noStrike" kern="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endParaRPr>
          </a:p>
          <a:p>
            <a:pPr lvl="1"/>
            <a:r>
              <a:rPr lang="en-US" kern="0" dirty="0">
                <a:solidFill>
                  <a:srgbClr val="0070C0"/>
                </a:solidFill>
                <a:latin typeface="Calibri" panose="020F0502020204030204" pitchFamily="34" charset="0"/>
                <a:ea typeface="Calibri" panose="020F0502020204030204" pitchFamily="34" charset="0"/>
                <a:cs typeface="Calibri" panose="020F0502020204030204" pitchFamily="34" charset="0"/>
              </a:rPr>
              <a:t>Social media and IoT</a:t>
            </a:r>
          </a:p>
          <a:p>
            <a:r>
              <a:rPr lang="en-US" kern="0" dirty="0">
                <a:solidFill>
                  <a:srgbClr val="0070C0"/>
                </a:solidFill>
                <a:latin typeface="Calibri" panose="020F0502020204030204" pitchFamily="34" charset="0"/>
                <a:ea typeface="Calibri" panose="020F0502020204030204" pitchFamily="34" charset="0"/>
                <a:cs typeface="Calibri" panose="020F0502020204030204" pitchFamily="34" charset="0"/>
              </a:rPr>
              <a:t>AI</a:t>
            </a:r>
          </a:p>
          <a:p>
            <a:pPr lvl="1"/>
            <a:r>
              <a:rPr lang="en-US" sz="2200" kern="0" dirty="0">
                <a:solidFill>
                  <a:srgbClr val="0070C0"/>
                </a:solidFill>
                <a:latin typeface="Calibri" panose="020F0502020204030204" pitchFamily="34" charset="0"/>
                <a:ea typeface="Calibri" panose="020F0502020204030204" pitchFamily="34" charset="0"/>
                <a:cs typeface="Calibri" panose="020F0502020204030204" pitchFamily="34" charset="0"/>
              </a:rPr>
              <a:t>ML, Generative AI, Self-driving, Medical instruments and treatments</a:t>
            </a:r>
          </a:p>
          <a:p>
            <a:r>
              <a:rPr lang="en-US" kern="0" dirty="0">
                <a:solidFill>
                  <a:srgbClr val="0070C0"/>
                </a:solidFill>
                <a:latin typeface="Calibri" panose="020F0502020204030204" pitchFamily="34" charset="0"/>
                <a:ea typeface="Calibri" panose="020F0502020204030204" pitchFamily="34" charset="0"/>
                <a:cs typeface="Calibri" panose="020F0502020204030204" pitchFamily="34" charset="0"/>
              </a:rPr>
              <a:t>Renewable energy resources</a:t>
            </a:r>
          </a:p>
          <a:p>
            <a:pPr lvl="1"/>
            <a:r>
              <a:rPr lang="en-US" kern="0" dirty="0">
                <a:solidFill>
                  <a:srgbClr val="0070C0"/>
                </a:solidFill>
                <a:latin typeface="Calibri" panose="020F0502020204030204" pitchFamily="34" charset="0"/>
                <a:ea typeface="Calibri" panose="020F0502020204030204" pitchFamily="34" charset="0"/>
                <a:cs typeface="Calibri" panose="020F0502020204030204" pitchFamily="34" charset="0"/>
              </a:rPr>
              <a:t>Solar, Wind, Hydroelectrical, Geothermal, …</a:t>
            </a:r>
          </a:p>
          <a:p>
            <a:endParaRPr lang="en-US" sz="2800" kern="0" dirty="0">
              <a:solidFill>
                <a:srgbClr val="0070C0"/>
              </a:solidFill>
            </a:endParaRPr>
          </a:p>
        </p:txBody>
      </p:sp>
    </p:spTree>
    <p:extLst>
      <p:ext uri="{BB962C8B-B14F-4D97-AF65-F5344CB8AC3E}">
        <p14:creationId xmlns:p14="http://schemas.microsoft.com/office/powerpoint/2010/main" val="3822469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821744" y="108664"/>
            <a:ext cx="8260336" cy="518795"/>
          </a:xfrm>
        </p:spPr>
        <p:txBody>
          <a:bodyPr/>
          <a:lstStyle/>
          <a:p>
            <a:r>
              <a:rPr lang="en-US" altLang="zh-CN" dirty="0"/>
              <a:t>Driving Force behind Information Revolution</a:t>
            </a:r>
          </a:p>
        </p:txBody>
      </p:sp>
      <p:sp>
        <p:nvSpPr>
          <p:cNvPr id="6" name="内容占位符 5"/>
          <p:cNvSpPr>
            <a:spLocks noGrp="1"/>
          </p:cNvSpPr>
          <p:nvPr>
            <p:ph idx="1"/>
          </p:nvPr>
        </p:nvSpPr>
        <p:spPr>
          <a:xfrm>
            <a:off x="203200" y="769620"/>
            <a:ext cx="8761413" cy="3746421"/>
          </a:xfrm>
        </p:spPr>
        <p:txBody>
          <a:bodyPr/>
          <a:lstStyle/>
          <a:p>
            <a:r>
              <a:rPr lang="en-US" altLang="zh-CN" dirty="0">
                <a:solidFill>
                  <a:srgbClr val="FF0000"/>
                </a:solidFill>
                <a:latin typeface="Calibri" panose="020F0502020204030204" pitchFamily="34" charset="0"/>
                <a:ea typeface="Calibri" panose="020F0502020204030204" pitchFamily="34" charset="0"/>
                <a:cs typeface="Calibri" panose="020F0502020204030204" pitchFamily="34" charset="0"/>
              </a:rPr>
              <a:t>Moore’s law</a:t>
            </a:r>
            <a:r>
              <a:rPr lang="en-US" altLang="zh-CN" dirty="0">
                <a:latin typeface="Calibri" panose="020F0502020204030204" pitchFamily="34" charset="0"/>
                <a:ea typeface="Calibri" panose="020F0502020204030204" pitchFamily="34" charset="0"/>
                <a:cs typeface="Calibri" panose="020F0502020204030204" pitchFamily="34" charset="0"/>
              </a:rPr>
              <a:t>:</a:t>
            </a:r>
          </a:p>
          <a:p>
            <a:pPr lvl="1"/>
            <a:r>
              <a:rPr lang="en-US" sz="18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Moore's Law is a prediction made by Gordon Moore, co-founder of </a:t>
            </a:r>
            <a:r>
              <a:rPr lang="en-US" b="1" i="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Intel</a:t>
            </a:r>
            <a:r>
              <a:rPr lang="en-US" sz="18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 in 1965. It originally stated that the </a:t>
            </a:r>
            <a:r>
              <a:rPr lang="en-US" sz="1800" b="1" i="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number of transistors </a:t>
            </a:r>
            <a:r>
              <a:rPr lang="en-US" sz="18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on a microchip would </a:t>
            </a:r>
            <a:r>
              <a:rPr lang="en-US" sz="1800" b="1" i="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double every year </a:t>
            </a:r>
            <a:r>
              <a:rPr lang="en-US" sz="16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while the </a:t>
            </a:r>
            <a:r>
              <a:rPr lang="en-US" sz="1800" b="1" i="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costs would be halved</a:t>
            </a:r>
            <a:r>
              <a:rPr lang="en-US" sz="18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 In 1975, Moore revised this forecast to </a:t>
            </a:r>
            <a:r>
              <a:rPr lang="en-US" sz="1800" b="1" i="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doubling approximately every two years</a:t>
            </a:r>
            <a:r>
              <a:rPr lang="en-US" sz="18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 It has been holding remarkably well for 50 years.</a:t>
            </a:r>
          </a:p>
          <a:p>
            <a:pPr lvl="1"/>
            <a:r>
              <a:rPr lang="en-US" altLang="zh-CN" sz="1800" dirty="0">
                <a:solidFill>
                  <a:srgbClr val="374151"/>
                </a:solidFill>
                <a:latin typeface="Calibri" panose="020F0502020204030204" pitchFamily="34" charset="0"/>
                <a:ea typeface="Calibri" panose="020F0502020204030204" pitchFamily="34" charset="0"/>
                <a:cs typeface="Calibri" panose="020F0502020204030204" pitchFamily="34" charset="0"/>
              </a:rPr>
              <a:t>Other related predictions are mistakenly considered Moore’s law, such as “computer performance doubles every 18 months.”</a:t>
            </a:r>
            <a:endParaRPr lang="en-US" altLang="zh-CN" sz="1800" dirty="0">
              <a:latin typeface="Calibri" panose="020F0502020204030204" pitchFamily="34" charset="0"/>
              <a:ea typeface="Calibri" panose="020F0502020204030204" pitchFamily="34" charset="0"/>
              <a:cs typeface="Calibri" panose="020F0502020204030204" pitchFamily="34" charset="0"/>
            </a:endParaRPr>
          </a:p>
          <a:p>
            <a:r>
              <a:rPr lang="en-US" altLang="zh-CN" dirty="0">
                <a:solidFill>
                  <a:schemeClr val="bg1">
                    <a:lumMod val="85000"/>
                  </a:schemeClr>
                </a:solidFill>
              </a:rPr>
              <a:t>Implications</a:t>
            </a:r>
          </a:p>
          <a:p>
            <a:pPr lvl="1"/>
            <a:r>
              <a:rPr lang="en-US" altLang="zh-CN" sz="1800" dirty="0">
                <a:solidFill>
                  <a:schemeClr val="bg1">
                    <a:lumMod val="85000"/>
                  </a:schemeClr>
                </a:solidFill>
              </a:rPr>
              <a:t>Each time the </a:t>
            </a:r>
            <a:r>
              <a:rPr lang="en-US" altLang="zh-CN" sz="1800" b="1" dirty="0">
                <a:solidFill>
                  <a:schemeClr val="bg1">
                    <a:lumMod val="85000"/>
                  </a:schemeClr>
                </a:solidFill>
              </a:rPr>
              <a:t>cost or performance </a:t>
            </a:r>
            <a:r>
              <a:rPr lang="en-US" altLang="zh-CN" sz="1800" dirty="0">
                <a:solidFill>
                  <a:schemeClr val="bg1">
                    <a:lumMod val="85000"/>
                  </a:schemeClr>
                </a:solidFill>
              </a:rPr>
              <a:t>improves by 10x, new applications emerge.  Economically infeasible applications suddenly became practical.</a:t>
            </a:r>
          </a:p>
          <a:p>
            <a:pPr lvl="1"/>
            <a:r>
              <a:rPr lang="en-US" altLang="zh-CN" sz="18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Had the transportation industry matched the progress of the computer industry, we would be able to travel to the moon in 0.001 second.</a:t>
            </a:r>
          </a:p>
        </p:txBody>
      </p:sp>
      <p:sp>
        <p:nvSpPr>
          <p:cNvPr id="4" name="灯片编号占位符 3"/>
          <p:cNvSpPr>
            <a:spLocks noGrp="1"/>
          </p:cNvSpPr>
          <p:nvPr>
            <p:ph type="sldNum" sz="quarter" idx="10"/>
          </p:nvPr>
        </p:nvSpPr>
        <p:spPr/>
        <p:txBody>
          <a:bodyPr/>
          <a:lstStyle/>
          <a:p>
            <a:fld id="{D9B6BDF2-6896-4B98-8776-C18582F63BA5}" type="slidenum">
              <a:rPr lang="zh-TW" altLang="en-US" smtClean="0"/>
              <a:t>3</a:t>
            </a:fld>
            <a:endParaRPr lang="zh-TW" altLang="en-US"/>
          </a:p>
        </p:txBody>
      </p:sp>
    </p:spTree>
    <p:extLst>
      <p:ext uri="{BB962C8B-B14F-4D97-AF65-F5344CB8AC3E}">
        <p14:creationId xmlns:p14="http://schemas.microsoft.com/office/powerpoint/2010/main" val="2700545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5040" y="75399"/>
            <a:ext cx="7746784" cy="519113"/>
          </a:xfrm>
        </p:spPr>
        <p:txBody>
          <a:bodyPr/>
          <a:lstStyle/>
          <a:p>
            <a:r>
              <a:rPr lang="en-US" sz="3200" dirty="0">
                <a:latin typeface="Calibri" panose="020F0502020204030204" pitchFamily="34" charset="0"/>
                <a:ea typeface="Calibri" panose="020F0502020204030204" pitchFamily="34" charset="0"/>
                <a:cs typeface="Calibri" panose="020F0502020204030204" pitchFamily="34" charset="0"/>
              </a:rPr>
              <a:t>More Transistors </a:t>
            </a:r>
            <a:r>
              <a:rPr lang="en-US" sz="32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Higher Performance</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p:cNvSpPr>
            <a:spLocks noGrp="1"/>
          </p:cNvSpPr>
          <p:nvPr>
            <p:ph sz="half" idx="1"/>
          </p:nvPr>
        </p:nvSpPr>
        <p:spPr>
          <a:xfrm>
            <a:off x="254000" y="884791"/>
            <a:ext cx="8810171" cy="3745931"/>
          </a:xfrm>
        </p:spPr>
        <p:txBody>
          <a:bodyPr/>
          <a:lstStyle/>
          <a:p>
            <a:r>
              <a:rPr lang="en-US" sz="2400" dirty="0"/>
              <a:t>More transistors </a:t>
            </a:r>
            <a:r>
              <a:rPr lang="en-US" sz="2400" i="1" dirty="0"/>
              <a:t>enable</a:t>
            </a:r>
            <a:r>
              <a:rPr lang="en-US" sz="2400" dirty="0"/>
              <a:t> increased performance, but how those transistors are used matters.</a:t>
            </a:r>
          </a:p>
          <a:p>
            <a:r>
              <a:rPr lang="en-US" sz="2400" dirty="0"/>
              <a:t>Computer Architecture determines how those transistors are used to achieve high performance effectively</a:t>
            </a:r>
          </a:p>
          <a:p>
            <a:pPr lvl="1"/>
            <a:r>
              <a:rPr lang="en-US" sz="2000" dirty="0"/>
              <a:t>Multiplier/Divider</a:t>
            </a:r>
          </a:p>
          <a:p>
            <a:pPr lvl="1"/>
            <a:r>
              <a:rPr lang="en-US" sz="2000" dirty="0"/>
              <a:t>Pipelining</a:t>
            </a:r>
          </a:p>
          <a:p>
            <a:pPr lvl="1"/>
            <a:r>
              <a:rPr lang="en-US" sz="2000" dirty="0"/>
              <a:t>Superscalar/VLIW/Out-of-Order</a:t>
            </a:r>
          </a:p>
          <a:p>
            <a:pPr lvl="1"/>
            <a:r>
              <a:rPr lang="en-US" sz="2000" dirty="0"/>
              <a:t>Multi-cores</a:t>
            </a:r>
          </a:p>
          <a:p>
            <a:pPr lvl="1"/>
            <a:r>
              <a:rPr lang="en-US" sz="2000" dirty="0"/>
              <a:t>Cache hierarchy</a:t>
            </a:r>
          </a:p>
          <a:p>
            <a:pPr lvl="1"/>
            <a:r>
              <a:rPr lang="en-US" sz="2000" dirty="0"/>
              <a:t>Vector/SIMD units</a:t>
            </a:r>
          </a:p>
          <a:p>
            <a:pPr lvl="1"/>
            <a:endParaRPr lang="en-US" sz="2000" dirty="0"/>
          </a:p>
          <a:p>
            <a:pPr lvl="1"/>
            <a:endParaRPr lang="en-US" sz="2000"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t>4</a:t>
            </a:fld>
            <a:endParaRPr lang="zh-TW"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821744" y="108664"/>
            <a:ext cx="8260336" cy="518795"/>
          </a:xfrm>
        </p:spPr>
        <p:txBody>
          <a:bodyPr/>
          <a:lstStyle/>
          <a:p>
            <a:r>
              <a:rPr lang="en-US" altLang="zh-CN" dirty="0"/>
              <a:t>Driving Force behind Information Revolution</a:t>
            </a:r>
          </a:p>
        </p:txBody>
      </p:sp>
      <p:sp>
        <p:nvSpPr>
          <p:cNvPr id="6" name="内容占位符 5"/>
          <p:cNvSpPr>
            <a:spLocks noGrp="1"/>
          </p:cNvSpPr>
          <p:nvPr>
            <p:ph idx="1"/>
          </p:nvPr>
        </p:nvSpPr>
        <p:spPr>
          <a:xfrm>
            <a:off x="203200" y="769620"/>
            <a:ext cx="8761413" cy="3746421"/>
          </a:xfrm>
        </p:spPr>
        <p:txBody>
          <a:bodyPr/>
          <a:lstStyle/>
          <a:p>
            <a:r>
              <a:rPr lang="en-US" altLang="zh-CN" dirty="0">
                <a:solidFill>
                  <a:schemeClr val="bg1">
                    <a:lumMod val="85000"/>
                  </a:schemeClr>
                </a:solidFill>
              </a:rPr>
              <a:t>Moore’s law:</a:t>
            </a:r>
          </a:p>
          <a:p>
            <a:pPr lvl="1"/>
            <a:r>
              <a:rPr lang="en-US" sz="1800" b="0" i="0" dirty="0">
                <a:solidFill>
                  <a:schemeClr val="bg1">
                    <a:lumMod val="85000"/>
                  </a:schemeClr>
                </a:solidFill>
                <a:effectLst/>
                <a:latin typeface="Söhne"/>
              </a:rPr>
              <a:t>Moore's Law is a prediction made by Gordon Moore, co-founder of </a:t>
            </a:r>
            <a:r>
              <a:rPr lang="en-US" b="0" i="0" dirty="0">
                <a:solidFill>
                  <a:schemeClr val="bg1">
                    <a:lumMod val="85000"/>
                  </a:schemeClr>
                </a:solidFill>
                <a:effectLst/>
                <a:latin typeface="Söhne"/>
              </a:rPr>
              <a:t>Intel</a:t>
            </a:r>
            <a:r>
              <a:rPr lang="en-US" sz="1800" b="0" i="0" dirty="0">
                <a:solidFill>
                  <a:schemeClr val="bg1">
                    <a:lumMod val="85000"/>
                  </a:schemeClr>
                </a:solidFill>
                <a:effectLst/>
                <a:latin typeface="Söhne"/>
              </a:rPr>
              <a:t>, in 1965. It originally stated that the </a:t>
            </a:r>
            <a:r>
              <a:rPr lang="en-US" sz="1800" b="1" i="0" dirty="0">
                <a:solidFill>
                  <a:schemeClr val="bg1">
                    <a:lumMod val="85000"/>
                  </a:schemeClr>
                </a:solidFill>
                <a:effectLst/>
                <a:latin typeface="Söhne"/>
              </a:rPr>
              <a:t>number of transistors </a:t>
            </a:r>
            <a:r>
              <a:rPr lang="en-US" sz="1800" b="0" i="0" dirty="0">
                <a:solidFill>
                  <a:schemeClr val="bg1">
                    <a:lumMod val="85000"/>
                  </a:schemeClr>
                </a:solidFill>
                <a:effectLst/>
                <a:latin typeface="Söhne"/>
              </a:rPr>
              <a:t>on a microchip would </a:t>
            </a:r>
            <a:r>
              <a:rPr lang="en-US" sz="1600" b="0" i="0" dirty="0">
                <a:solidFill>
                  <a:schemeClr val="bg1">
                    <a:lumMod val="85000"/>
                  </a:schemeClr>
                </a:solidFill>
                <a:effectLst/>
                <a:latin typeface="Söhne"/>
              </a:rPr>
              <a:t>double every year while the </a:t>
            </a:r>
            <a:r>
              <a:rPr lang="en-US" sz="1800" b="1" i="0" dirty="0">
                <a:solidFill>
                  <a:schemeClr val="bg1">
                    <a:lumMod val="85000"/>
                  </a:schemeClr>
                </a:solidFill>
                <a:effectLst/>
                <a:latin typeface="Söhne"/>
              </a:rPr>
              <a:t>costs would be halved</a:t>
            </a:r>
            <a:r>
              <a:rPr lang="en-US" sz="1800" b="0" i="0" dirty="0">
                <a:solidFill>
                  <a:schemeClr val="bg1">
                    <a:lumMod val="85000"/>
                  </a:schemeClr>
                </a:solidFill>
                <a:effectLst/>
                <a:latin typeface="Söhne"/>
              </a:rPr>
              <a:t>. In 1975, Moore revised this forecast to doubling approximately every two years. It has been holding remarkably well for 50 years.</a:t>
            </a:r>
          </a:p>
          <a:p>
            <a:pPr lvl="1"/>
            <a:r>
              <a:rPr lang="en-US" altLang="zh-CN" sz="1800" dirty="0">
                <a:solidFill>
                  <a:schemeClr val="bg1">
                    <a:lumMod val="85000"/>
                  </a:schemeClr>
                </a:solidFill>
                <a:latin typeface="Söhne"/>
              </a:rPr>
              <a:t>Other related predictions are mistakenly considered Moore’s law, such as “computer performance doubles every 18 months.”</a:t>
            </a:r>
            <a:endParaRPr lang="en-US" altLang="zh-CN" sz="1800" dirty="0">
              <a:solidFill>
                <a:schemeClr val="bg1">
                  <a:lumMod val="85000"/>
                </a:schemeClr>
              </a:solidFill>
            </a:endParaRPr>
          </a:p>
          <a:p>
            <a:r>
              <a:rPr lang="en-US" altLang="zh-CN" dirty="0"/>
              <a:t>Implications</a:t>
            </a:r>
          </a:p>
          <a:p>
            <a:pPr lvl="1"/>
            <a:r>
              <a:rPr lang="en-US" altLang="zh-CN" sz="1800" dirty="0"/>
              <a:t>Each time the </a:t>
            </a:r>
            <a:r>
              <a:rPr lang="en-US" altLang="zh-CN" b="1" dirty="0">
                <a:solidFill>
                  <a:srgbClr val="FF0000"/>
                </a:solidFill>
              </a:rPr>
              <a:t>cost or performance </a:t>
            </a:r>
            <a:r>
              <a:rPr lang="en-US" altLang="zh-CN" sz="1800" dirty="0"/>
              <a:t>improves by </a:t>
            </a:r>
            <a:r>
              <a:rPr lang="en-US" altLang="zh-CN" sz="1800" dirty="0">
                <a:solidFill>
                  <a:srgbClr val="FF0000"/>
                </a:solidFill>
              </a:rPr>
              <a:t>10x</a:t>
            </a:r>
            <a:r>
              <a:rPr lang="en-US" altLang="zh-CN" sz="1800" dirty="0"/>
              <a:t>, new applications emerge.  Economically infeasible applications suddenly became practical.</a:t>
            </a:r>
          </a:p>
          <a:p>
            <a:pPr lvl="1"/>
            <a:r>
              <a:rPr lang="en-US" altLang="zh-CN" sz="1800" dirty="0">
                <a:latin typeface="Calibri" panose="020F0502020204030204" pitchFamily="34" charset="0"/>
                <a:ea typeface="Calibri" panose="020F0502020204030204" pitchFamily="34" charset="0"/>
                <a:cs typeface="Calibri" panose="020F0502020204030204" pitchFamily="34" charset="0"/>
              </a:rPr>
              <a:t>Had the transportation industry matched the progress of the computer industry, we would be able to travel to the moon in 0.001 second.</a:t>
            </a:r>
          </a:p>
        </p:txBody>
      </p:sp>
      <p:sp>
        <p:nvSpPr>
          <p:cNvPr id="4" name="灯片编号占位符 3"/>
          <p:cNvSpPr>
            <a:spLocks noGrp="1"/>
          </p:cNvSpPr>
          <p:nvPr>
            <p:ph type="sldNum" sz="quarter" idx="10"/>
          </p:nvPr>
        </p:nvSpPr>
        <p:spPr/>
        <p:txBody>
          <a:bodyPr/>
          <a:lstStyle/>
          <a:p>
            <a:fld id="{D9B6BDF2-6896-4B98-8776-C18582F63BA5}" type="slidenum">
              <a:rPr lang="zh-TW" altLang="en-US" smtClean="0"/>
              <a:t>5</a:t>
            </a:fld>
            <a:endParaRPr lang="zh-TW"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5040" y="75399"/>
            <a:ext cx="7746784" cy="519113"/>
          </a:xfrm>
        </p:spPr>
        <p:txBody>
          <a:bodyPr/>
          <a:lstStyle/>
          <a:p>
            <a:r>
              <a:rPr lang="en-US" altLang="zh-CN" sz="3200" dirty="0">
                <a:cs typeface="Calibri" panose="020F07020304040A0204" pitchFamily="34" charset="0"/>
              </a:rPr>
              <a:t>Classes of Computers </a:t>
            </a:r>
            <a:endParaRPr lang="en-US" sz="3200"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sz="half" idx="1"/>
          </p:nvPr>
        </p:nvSpPr>
        <p:spPr>
          <a:xfrm>
            <a:off x="285636" y="1121568"/>
            <a:ext cx="8572727" cy="4143375"/>
          </a:xfrm>
        </p:spPr>
        <p:txBody>
          <a:bodyPr/>
          <a:lstStyle/>
          <a:p>
            <a:pPr marL="257175" marR="0" lvl="0" indent="-257175" algn="l" defTabSz="914400" rtl="0" eaLnBrk="1" fontAlgn="base" latinLnBrk="0" hangingPunct="1">
              <a:lnSpc>
                <a:spcPct val="100000"/>
              </a:lnSpc>
              <a:spcBef>
                <a:spcPct val="20000"/>
              </a:spcBef>
              <a:spcAft>
                <a:spcPct val="0"/>
              </a:spcAft>
              <a:buClr>
                <a:srgbClr val="8064A2"/>
              </a:buClr>
              <a:buSzPct val="80000"/>
              <a:buFont typeface="Wingdings" panose="05000000000000000000" pitchFamily="2" charset="2"/>
              <a:buChar char="l"/>
              <a:tabLst/>
              <a:defRPr/>
            </a:pPr>
            <a:r>
              <a:rPr kumimoji="1" lang="en-US" sz="2400" b="0" i="0" u="none" strike="noStrike" kern="0" cap="none" spc="0" normalizeH="0" baseline="0" noProof="0" dirty="0">
                <a:ln>
                  <a:noFill/>
                </a:ln>
                <a:solidFill>
                  <a:prstClr val="black"/>
                </a:solidFill>
                <a:effectLst/>
                <a:uLnTx/>
                <a:uFillTx/>
                <a:latin typeface="Calibri" panose="020F07020304040A0204" pitchFamily="34" charset="0"/>
                <a:ea typeface="標楷體" pitchFamily="65" charset="-120"/>
                <a:cs typeface="+mn-cs"/>
              </a:rPr>
              <a:t>Supercomputers</a:t>
            </a:r>
          </a:p>
          <a:p>
            <a:pPr marL="257175" marR="0" lvl="0" indent="-257175" algn="l" defTabSz="914400" rtl="0" eaLnBrk="1" fontAlgn="base" latinLnBrk="0" hangingPunct="1">
              <a:lnSpc>
                <a:spcPct val="100000"/>
              </a:lnSpc>
              <a:spcBef>
                <a:spcPct val="20000"/>
              </a:spcBef>
              <a:spcAft>
                <a:spcPct val="0"/>
              </a:spcAft>
              <a:buClr>
                <a:srgbClr val="8064A2"/>
              </a:buClr>
              <a:buSzPct val="80000"/>
              <a:buFont typeface="Wingdings" panose="05000000000000000000" pitchFamily="2" charset="2"/>
              <a:buChar char="l"/>
              <a:tabLst/>
              <a:defRPr/>
            </a:pPr>
            <a:r>
              <a:rPr kumimoji="1" lang="en-US" sz="2400" b="0" i="0" u="none" strike="noStrike" kern="0" cap="none" spc="0" normalizeH="0" baseline="0" noProof="0" dirty="0">
                <a:ln>
                  <a:noFill/>
                </a:ln>
                <a:solidFill>
                  <a:prstClr val="black"/>
                </a:solidFill>
                <a:effectLst/>
                <a:uLnTx/>
                <a:uFillTx/>
                <a:latin typeface="Calibri" panose="020F07020304040A0204" pitchFamily="34" charset="0"/>
                <a:ea typeface="標楷體" pitchFamily="65" charset="-120"/>
                <a:cs typeface="+mn-cs"/>
              </a:rPr>
              <a:t>Warehouse-Scale Computers</a:t>
            </a:r>
          </a:p>
          <a:p>
            <a:pPr marL="257175" marR="0" lvl="0" indent="-257175" algn="l" defTabSz="914400" rtl="0" eaLnBrk="1" fontAlgn="base" latinLnBrk="0" hangingPunct="1">
              <a:lnSpc>
                <a:spcPct val="110000"/>
              </a:lnSpc>
              <a:spcBef>
                <a:spcPct val="20000"/>
              </a:spcBef>
              <a:spcAft>
                <a:spcPct val="0"/>
              </a:spcAft>
              <a:buClr>
                <a:srgbClr val="8064A2"/>
              </a:buClr>
              <a:buSzPct val="80000"/>
              <a:buFont typeface="Wingdings" panose="05000000000000000000" pitchFamily="2" charset="2"/>
              <a:buChar char="l"/>
              <a:tabLst/>
              <a:defRPr/>
            </a:pPr>
            <a:r>
              <a:rPr kumimoji="1" lang="en-US" sz="2400" i="0" u="none" strike="noStrike" kern="0" cap="none" spc="0" normalizeH="0" baseline="0" noProof="0" dirty="0">
                <a:ln>
                  <a:noFill/>
                </a:ln>
                <a:effectLst/>
                <a:uLnTx/>
                <a:uFillTx/>
                <a:latin typeface="Calibri" panose="020F07020304040A0204" pitchFamily="34" charset="0"/>
                <a:ea typeface="標楷體" pitchFamily="65" charset="-120"/>
                <a:cs typeface="+mn-cs"/>
              </a:rPr>
              <a:t>Servers/Mainframes</a:t>
            </a:r>
          </a:p>
          <a:p>
            <a:pPr marL="257175" marR="0" lvl="0" indent="-257175" algn="l" defTabSz="914400" rtl="0" eaLnBrk="1" fontAlgn="base" latinLnBrk="0" hangingPunct="1">
              <a:lnSpc>
                <a:spcPct val="100000"/>
              </a:lnSpc>
              <a:spcBef>
                <a:spcPct val="20000"/>
              </a:spcBef>
              <a:spcAft>
                <a:spcPct val="0"/>
              </a:spcAft>
              <a:buClr>
                <a:srgbClr val="8064A2"/>
              </a:buClr>
              <a:buSzPct val="80000"/>
              <a:buFont typeface="Wingdings" panose="05000000000000000000" pitchFamily="2" charset="2"/>
              <a:buChar char="l"/>
              <a:tabLst/>
              <a:defRPr/>
            </a:pPr>
            <a:r>
              <a:rPr kumimoji="1" lang="en-US" sz="2400" b="0" i="0" u="none" strike="noStrike" kern="0" cap="none" spc="0" normalizeH="0" baseline="0" noProof="0" dirty="0">
                <a:ln>
                  <a:noFill/>
                </a:ln>
                <a:solidFill>
                  <a:prstClr val="black"/>
                </a:solidFill>
                <a:effectLst/>
                <a:uLnTx/>
                <a:uFillTx/>
                <a:latin typeface="Calibri" panose="020F07020304040A0204" pitchFamily="34" charset="0"/>
                <a:ea typeface="標楷體" pitchFamily="65" charset="-120"/>
                <a:cs typeface="+mn-cs"/>
              </a:rPr>
              <a:t>Desktop computers (PC/Workstations)</a:t>
            </a:r>
            <a:endParaRPr kumimoji="1" lang="en-US" sz="2400" i="0" u="none" strike="noStrike" kern="0" cap="none" spc="0" normalizeH="0" baseline="0" noProof="0" dirty="0">
              <a:ln>
                <a:noFill/>
              </a:ln>
              <a:effectLst/>
              <a:uLnTx/>
              <a:uFillTx/>
              <a:latin typeface="Calibri" panose="020F07020304040A0204" pitchFamily="34" charset="0"/>
              <a:ea typeface="標楷體" pitchFamily="65" charset="-120"/>
              <a:cs typeface="+mn-cs"/>
            </a:endParaRPr>
          </a:p>
          <a:p>
            <a:pPr marL="257175" marR="0" lvl="0" indent="-257175" algn="l" defTabSz="914400" rtl="0" eaLnBrk="1" fontAlgn="base" latinLnBrk="0" hangingPunct="1">
              <a:lnSpc>
                <a:spcPct val="110000"/>
              </a:lnSpc>
              <a:spcBef>
                <a:spcPct val="20000"/>
              </a:spcBef>
              <a:spcAft>
                <a:spcPct val="0"/>
              </a:spcAft>
              <a:buClr>
                <a:srgbClr val="8064A2"/>
              </a:buClr>
              <a:buSzPct val="80000"/>
              <a:buFont typeface="Wingdings" panose="05000000000000000000" pitchFamily="2" charset="2"/>
              <a:buChar char="l"/>
              <a:tabLst/>
              <a:defRPr/>
            </a:pPr>
            <a:r>
              <a:rPr kumimoji="1" lang="en-US" sz="2400" i="0" u="none" strike="noStrike" kern="0" cap="none" spc="0" normalizeH="0" baseline="0" noProof="0" dirty="0">
                <a:ln>
                  <a:noFill/>
                </a:ln>
                <a:effectLst/>
                <a:uLnTx/>
                <a:uFillTx/>
                <a:latin typeface="Calibri" panose="020F07020304040A0204" pitchFamily="34" charset="0"/>
                <a:ea typeface="標楷體" pitchFamily="65" charset="-120"/>
                <a:cs typeface="+mn-cs"/>
              </a:rPr>
              <a:t>Embedded computers </a:t>
            </a:r>
          </a:p>
          <a:p>
            <a:r>
              <a:rPr lang="en-US" sz="2400" dirty="0"/>
              <a:t>Mobile computers (cell phones, pads, tablets, PDA)</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B6BDF2-6896-4B98-8776-C18582F63BA5}" type="slidenum">
              <a:rPr kumimoji="0" lang="zh-TW" altLang="en-US" sz="900" b="0" i="0" u="none" strike="noStrike" kern="1200" cap="none" spc="0" normalizeH="0" baseline="0" noProof="0" smtClean="0">
                <a:ln>
                  <a:noFill/>
                </a:ln>
                <a:solidFill>
                  <a:prstClr val="white"/>
                </a:solidFill>
                <a:effectLst/>
                <a:uLnTx/>
                <a:uFillTx/>
                <a:latin typeface="Arial" panose="020B0604020202090204" pitchFamily="34" charset="0"/>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TW" altLang="en-US" sz="900" b="0" i="0" u="none" strike="noStrike" kern="1200" cap="none" spc="0" normalizeH="0" baseline="0" noProof="0">
              <a:ln>
                <a:noFill/>
              </a:ln>
              <a:solidFill>
                <a:prstClr val="white"/>
              </a:solidFill>
              <a:effectLst/>
              <a:uLnTx/>
              <a:uFillTx/>
              <a:latin typeface="Arial" panose="020B0604020202090204" pitchFamily="34" charset="0"/>
              <a:ea typeface="新細明體" panose="02020500000000000000" pitchFamily="18" charset="-120"/>
              <a:cs typeface="+mn-cs"/>
            </a:endParaRPr>
          </a:p>
        </p:txBody>
      </p:sp>
      <p:pic>
        <p:nvPicPr>
          <p:cNvPr id="5" name="Picture 4">
            <a:extLst>
              <a:ext uri="{FF2B5EF4-FFF2-40B4-BE49-F238E27FC236}">
                <a16:creationId xmlns:a16="http://schemas.microsoft.com/office/drawing/2014/main" id="{09B87BBA-48B4-4D5C-B82E-34DCABA30346}"/>
              </a:ext>
            </a:extLst>
          </p:cNvPr>
          <p:cNvPicPr>
            <a:picLocks noChangeAspect="1"/>
          </p:cNvPicPr>
          <p:nvPr/>
        </p:nvPicPr>
        <p:blipFill>
          <a:blip r:embed="rId3"/>
          <a:stretch>
            <a:fillRect/>
          </a:stretch>
        </p:blipFill>
        <p:spPr>
          <a:xfrm>
            <a:off x="7071835" y="205136"/>
            <a:ext cx="2072165" cy="1304249"/>
          </a:xfrm>
          <a:prstGeom prst="rect">
            <a:avLst/>
          </a:prstGeom>
        </p:spPr>
      </p:pic>
      <p:pic>
        <p:nvPicPr>
          <p:cNvPr id="6" name="Picture 5">
            <a:extLst>
              <a:ext uri="{FF2B5EF4-FFF2-40B4-BE49-F238E27FC236}">
                <a16:creationId xmlns:a16="http://schemas.microsoft.com/office/drawing/2014/main" id="{5F8AF5BE-0015-48C1-BC53-5EF5B0D166A1}"/>
              </a:ext>
            </a:extLst>
          </p:cNvPr>
          <p:cNvPicPr>
            <a:picLocks noChangeAspect="1"/>
          </p:cNvPicPr>
          <p:nvPr/>
        </p:nvPicPr>
        <p:blipFill>
          <a:blip r:embed="rId4"/>
          <a:stretch>
            <a:fillRect/>
          </a:stretch>
        </p:blipFill>
        <p:spPr>
          <a:xfrm>
            <a:off x="4450842" y="1004611"/>
            <a:ext cx="2620993" cy="1304249"/>
          </a:xfrm>
          <a:prstGeom prst="rect">
            <a:avLst/>
          </a:prstGeom>
        </p:spPr>
      </p:pic>
      <p:pic>
        <p:nvPicPr>
          <p:cNvPr id="7" name="Picture 2" descr="https://dcvizcayno.files.wordpress.com/2015/08/as1.png">
            <a:extLst>
              <a:ext uri="{FF2B5EF4-FFF2-40B4-BE49-F238E27FC236}">
                <a16:creationId xmlns:a16="http://schemas.microsoft.com/office/drawing/2014/main" id="{72B7BB7E-F542-4F19-97B2-47F0A5E6E4B1}"/>
              </a:ext>
            </a:extLst>
          </p:cNvPr>
          <p:cNvPicPr>
            <a:picLocks noChangeAspect="1" noChangeArrowheads="1"/>
          </p:cNvPicPr>
          <p:nvPr/>
        </p:nvPicPr>
        <p:blipFill>
          <a:blip r:embed="rId5" cstate="print">
            <a:extLst>
              <a:ext uri="{BEBA8EAE-BF5A-486C-A8C5-ECC9F3942E4B}">
                <a14:imgProps xmlns:a14="http://schemas.microsoft.com/office/drawing/2010/main">
                  <a14:imgLayer r:embed="rId6">
                    <a14:imgEffect>
                      <a14:brightnessContrast contrast="400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6884138" y="2293187"/>
            <a:ext cx="2259862" cy="126703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Mobile devices collage">
            <a:extLst>
              <a:ext uri="{FF2B5EF4-FFF2-40B4-BE49-F238E27FC236}">
                <a16:creationId xmlns:a16="http://schemas.microsoft.com/office/drawing/2014/main" id="{E410B3AB-61DD-437B-B45E-DC6734D2977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410214" y="3832311"/>
            <a:ext cx="1603855" cy="1023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1047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5833" y="64294"/>
            <a:ext cx="5879306" cy="621506"/>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solidFill>
                  <a:srgbClr val="1F497D"/>
                </a:solidFill>
                <a:latin typeface="Calibri" panose="020F0502020204030204" pitchFamily="34" charset="0"/>
                <a:ea typeface="Calibri" panose="020F0502020204030204" pitchFamily="34" charset="0"/>
                <a:cs typeface="Calibri" panose="020F0502020204030204" pitchFamily="34" charset="0"/>
              </a:rPr>
              <a:t>What is a Computer System?</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
        <p:nvSpPr>
          <p:cNvPr id="4" name="Content Placeholder 2">
            <a:extLst>
              <a:ext uri="{FF2B5EF4-FFF2-40B4-BE49-F238E27FC236}">
                <a16:creationId xmlns:a16="http://schemas.microsoft.com/office/drawing/2014/main" id="{D4EBF60B-38E7-424A-90C7-2282014613DB}"/>
              </a:ext>
            </a:extLst>
          </p:cNvPr>
          <p:cNvSpPr txBox="1">
            <a:spLocks/>
          </p:cNvSpPr>
          <p:nvPr/>
        </p:nvSpPr>
        <p:spPr bwMode="auto">
          <a:xfrm>
            <a:off x="423269" y="942975"/>
            <a:ext cx="8297462" cy="3655219"/>
          </a:xfrm>
          <a:prstGeom prst="rect">
            <a:avLst/>
          </a:prstGeom>
          <a:noFill/>
          <a:ln w="9525">
            <a:noFill/>
            <a:miter lim="800000"/>
          </a:ln>
        </p:spPr>
        <p:txBody>
          <a:bodyPr vert="horz" wrap="square" lIns="91440" tIns="45720" rIns="91440" bIns="45720" numCol="1" anchor="t" anchorCtr="0" compatLnSpc="1">
            <a:normAutofit/>
          </a:bodyPr>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endParaRPr lang="en-US" sz="2800" kern="0" dirty="0">
              <a:solidFill>
                <a:srgbClr val="0070C0"/>
              </a:solidFill>
            </a:endParaRPr>
          </a:p>
        </p:txBody>
      </p:sp>
      <p:sp>
        <p:nvSpPr>
          <p:cNvPr id="5" name="Content Placeholder 2">
            <a:extLst>
              <a:ext uri="{FF2B5EF4-FFF2-40B4-BE49-F238E27FC236}">
                <a16:creationId xmlns:a16="http://schemas.microsoft.com/office/drawing/2014/main" id="{8AAF1580-9984-4A4B-95F7-D307567A15E7}"/>
              </a:ext>
            </a:extLst>
          </p:cNvPr>
          <p:cNvSpPr txBox="1">
            <a:spLocks/>
          </p:cNvSpPr>
          <p:nvPr/>
        </p:nvSpPr>
        <p:spPr bwMode="auto">
          <a:xfrm>
            <a:off x="423269" y="816769"/>
            <a:ext cx="8297462" cy="3655219"/>
          </a:xfrm>
          <a:prstGeom prst="rect">
            <a:avLst/>
          </a:prstGeom>
          <a:noFill/>
          <a:ln w="9525">
            <a:noFill/>
            <a:miter lim="800000"/>
          </a:ln>
        </p:spPr>
        <p:txBody>
          <a:bodyPr vert="horz" wrap="square" lIns="91440" tIns="45720" rIns="91440" bIns="45720" numCol="1" anchor="t" anchorCtr="0" compatLnSpc="1">
            <a:normAutofit lnSpcReduction="10000"/>
          </a:bodyPr>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algn="l"/>
            <a:r>
              <a:rPr lang="en-US" dirty="0">
                <a:latin typeface="Calibri" panose="020F0502020204030204" pitchFamily="34" charset="0"/>
                <a:ea typeface="Calibri" panose="020F0502020204030204" pitchFamily="34" charset="0"/>
                <a:cs typeface="Calibri" panose="020F0502020204030204" pitchFamily="34" charset="0"/>
              </a:rPr>
              <a:t>A</a:t>
            </a:r>
            <a:r>
              <a:rPr lang="en-US" dirty="0">
                <a:solidFill>
                  <a:srgbClr val="00FFFF"/>
                </a:solidFill>
                <a:latin typeface="Calibri" panose="020F0502020204030204" pitchFamily="34" charset="0"/>
                <a:ea typeface="Calibri" panose="020F0502020204030204" pitchFamily="34" charset="0"/>
                <a:cs typeface="Calibri" panose="020F0502020204030204" pitchFamily="34" charset="0"/>
              </a:rPr>
              <a:t> </a:t>
            </a:r>
            <a:r>
              <a:rPr lang="en-US"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computer system </a:t>
            </a:r>
            <a:r>
              <a:rPr lang="en-US"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consists of </a:t>
            </a:r>
            <a:r>
              <a:rPr lang="en-US" b="0" i="0" u="none" strike="noStrike" baseline="0" dirty="0">
                <a:solidFill>
                  <a:srgbClr val="FF0000"/>
                </a:solidFill>
                <a:latin typeface="Calibri" panose="020F0502020204030204" pitchFamily="34" charset="0"/>
                <a:ea typeface="Calibri" panose="020F0502020204030204" pitchFamily="34" charset="0"/>
                <a:cs typeface="Calibri" panose="020F0502020204030204" pitchFamily="34" charset="0"/>
              </a:rPr>
              <a:t>hardware</a:t>
            </a:r>
            <a:r>
              <a:rPr lang="en-US"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b="0" i="0" u="none" strike="noStrike" baseline="0" dirty="0">
                <a:solidFill>
                  <a:srgbClr val="FF0000"/>
                </a:solidFill>
                <a:latin typeface="Calibri" panose="020F0502020204030204" pitchFamily="34" charset="0"/>
                <a:ea typeface="Calibri" panose="020F0502020204030204" pitchFamily="34" charset="0"/>
                <a:cs typeface="Calibri" panose="020F0502020204030204" pitchFamily="34" charset="0"/>
              </a:rPr>
              <a:t>system software </a:t>
            </a:r>
            <a:r>
              <a:rPr lang="en-US"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that work together to run application programs.</a:t>
            </a:r>
          </a:p>
          <a:p>
            <a:pPr algn="l"/>
            <a:r>
              <a:rPr lang="en-US" kern="0" dirty="0">
                <a:latin typeface="Calibri" panose="020F0502020204030204" pitchFamily="34" charset="0"/>
                <a:ea typeface="Calibri" panose="020F0502020204030204" pitchFamily="34" charset="0"/>
                <a:cs typeface="Calibri" panose="020F0502020204030204" pitchFamily="34" charset="0"/>
              </a:rPr>
              <a:t>All computer systems (no matter what classes they are) have </a:t>
            </a:r>
            <a:r>
              <a:rPr lang="en-US" kern="0" dirty="0">
                <a:solidFill>
                  <a:srgbClr val="FF0000"/>
                </a:solidFill>
                <a:latin typeface="Calibri" panose="020F0502020204030204" pitchFamily="34" charset="0"/>
                <a:ea typeface="Calibri" panose="020F0502020204030204" pitchFamily="34" charset="0"/>
                <a:cs typeface="Calibri" panose="020F0502020204030204" pitchFamily="34" charset="0"/>
              </a:rPr>
              <a:t>similar</a:t>
            </a:r>
            <a:r>
              <a:rPr lang="en-US" kern="0" dirty="0">
                <a:latin typeface="Calibri" panose="020F0502020204030204" pitchFamily="34" charset="0"/>
                <a:ea typeface="Calibri" panose="020F0502020204030204" pitchFamily="34" charset="0"/>
                <a:cs typeface="Calibri" panose="020F0502020204030204" pitchFamily="34" charset="0"/>
              </a:rPr>
              <a:t> hardware and software components that perform </a:t>
            </a:r>
            <a:r>
              <a:rPr lang="en-US" kern="0" dirty="0">
                <a:solidFill>
                  <a:srgbClr val="FF0000"/>
                </a:solidFill>
                <a:latin typeface="Calibri" panose="020F0502020204030204" pitchFamily="34" charset="0"/>
                <a:ea typeface="Calibri" panose="020F0502020204030204" pitchFamily="34" charset="0"/>
                <a:cs typeface="Calibri" panose="020F0502020204030204" pitchFamily="34" charset="0"/>
              </a:rPr>
              <a:t>similar</a:t>
            </a:r>
            <a:r>
              <a:rPr lang="en-US" kern="0" dirty="0">
                <a:latin typeface="Calibri" panose="020F0502020204030204" pitchFamily="34" charset="0"/>
                <a:ea typeface="Calibri" panose="020F0502020204030204" pitchFamily="34" charset="0"/>
                <a:cs typeface="Calibri" panose="020F0502020204030204" pitchFamily="34" charset="0"/>
              </a:rPr>
              <a:t> functions.</a:t>
            </a:r>
          </a:p>
          <a:p>
            <a:pPr algn="l"/>
            <a:r>
              <a:rPr lang="en-US" kern="0" dirty="0">
                <a:latin typeface="Calibri" panose="020F0502020204030204" pitchFamily="34" charset="0"/>
                <a:ea typeface="Calibri" panose="020F0502020204030204" pitchFamily="34" charset="0"/>
                <a:cs typeface="Calibri" panose="020F0502020204030204" pitchFamily="34" charset="0"/>
              </a:rPr>
              <a:t>This course is designed to help you understand how the components of a computer system work and how they affect the </a:t>
            </a:r>
            <a:r>
              <a:rPr lang="en-US" i="1" kern="0" dirty="0">
                <a:solidFill>
                  <a:srgbClr val="FF0000"/>
                </a:solidFill>
                <a:latin typeface="Calibri" panose="020F0502020204030204" pitchFamily="34" charset="0"/>
                <a:ea typeface="Calibri" panose="020F0502020204030204" pitchFamily="34" charset="0"/>
                <a:cs typeface="Calibri" panose="020F0502020204030204" pitchFamily="34" charset="0"/>
              </a:rPr>
              <a:t>correctness</a:t>
            </a:r>
            <a:r>
              <a:rPr lang="en-US" kern="0" dirty="0">
                <a:latin typeface="Calibri" panose="020F0502020204030204" pitchFamily="34" charset="0"/>
                <a:ea typeface="Calibri" panose="020F0502020204030204" pitchFamily="34" charset="0"/>
                <a:cs typeface="Calibri" panose="020F0502020204030204" pitchFamily="34" charset="0"/>
              </a:rPr>
              <a:t> and </a:t>
            </a:r>
            <a:r>
              <a:rPr lang="en-US" i="1" kern="0" dirty="0">
                <a:solidFill>
                  <a:srgbClr val="FF0000"/>
                </a:solidFill>
                <a:latin typeface="Calibri" panose="020F0502020204030204" pitchFamily="34" charset="0"/>
                <a:ea typeface="Calibri" panose="020F0502020204030204" pitchFamily="34" charset="0"/>
                <a:cs typeface="Calibri" panose="020F0502020204030204" pitchFamily="34" charset="0"/>
              </a:rPr>
              <a:t>performance</a:t>
            </a:r>
            <a:r>
              <a:rPr lang="en-US" kern="0" dirty="0">
                <a:latin typeface="Calibri" panose="020F0502020204030204" pitchFamily="34" charset="0"/>
                <a:ea typeface="Calibri" panose="020F0502020204030204" pitchFamily="34" charset="0"/>
                <a:cs typeface="Calibri" panose="020F0502020204030204" pitchFamily="34" charset="0"/>
              </a:rPr>
              <a:t> of your programs.</a:t>
            </a:r>
          </a:p>
          <a:p>
            <a:pPr algn="l"/>
            <a:r>
              <a:rPr lang="en-US" kern="0" dirty="0">
                <a:latin typeface="Calibri" panose="020F0502020204030204" pitchFamily="34" charset="0"/>
                <a:ea typeface="Calibri" panose="020F0502020204030204" pitchFamily="34" charset="0"/>
                <a:cs typeface="Calibri" panose="020F0502020204030204" pitchFamily="34" charset="0"/>
              </a:rPr>
              <a:t>The components include architectures, micro-architectures, system programs (OS, Compilers, Linkers,…), and networking</a:t>
            </a:r>
          </a:p>
        </p:txBody>
      </p:sp>
    </p:spTree>
    <p:extLst>
      <p:ext uri="{BB962C8B-B14F-4D97-AF65-F5344CB8AC3E}">
        <p14:creationId xmlns:p14="http://schemas.microsoft.com/office/powerpoint/2010/main" val="1740065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5833" y="64294"/>
            <a:ext cx="5879306" cy="621506"/>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solidFill>
                  <a:srgbClr val="1F497D"/>
                </a:solidFill>
                <a:latin typeface="Calibri" panose="020F0502020204030204" pitchFamily="34" charset="0"/>
                <a:ea typeface="Calibri" panose="020F0502020204030204" pitchFamily="34" charset="0"/>
                <a:cs typeface="Calibri" panose="020F0502020204030204" pitchFamily="34" charset="0"/>
              </a:rPr>
              <a:t>Tracing the Lifetime of “Hello”</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
        <p:nvSpPr>
          <p:cNvPr id="4" name="Content Placeholder 2">
            <a:extLst>
              <a:ext uri="{FF2B5EF4-FFF2-40B4-BE49-F238E27FC236}">
                <a16:creationId xmlns:a16="http://schemas.microsoft.com/office/drawing/2014/main" id="{D4EBF60B-38E7-424A-90C7-2282014613DB}"/>
              </a:ext>
            </a:extLst>
          </p:cNvPr>
          <p:cNvSpPr txBox="1">
            <a:spLocks/>
          </p:cNvSpPr>
          <p:nvPr/>
        </p:nvSpPr>
        <p:spPr bwMode="auto">
          <a:xfrm>
            <a:off x="423269" y="942976"/>
            <a:ext cx="8297462" cy="3036094"/>
          </a:xfrm>
          <a:prstGeom prst="rect">
            <a:avLst/>
          </a:prstGeom>
          <a:noFill/>
          <a:ln w="9525">
            <a:noFill/>
            <a:miter lim="800000"/>
          </a:ln>
        </p:spPr>
        <p:txBody>
          <a:bodyPr vert="horz" wrap="square" lIns="91440" tIns="45720" rIns="91440" bIns="45720" numCol="1" anchor="t" anchorCtr="0" compatLnSpc="1">
            <a:normAutofit/>
          </a:bodyPr>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buNone/>
            </a:pPr>
            <a:endParaRPr lang="en-US" sz="2800" kern="0" dirty="0">
              <a:solidFill>
                <a:srgbClr val="0070C0"/>
              </a:solidFill>
            </a:endParaRPr>
          </a:p>
        </p:txBody>
      </p:sp>
      <p:sp>
        <p:nvSpPr>
          <p:cNvPr id="5" name="Content Placeholder 2">
            <a:extLst>
              <a:ext uri="{FF2B5EF4-FFF2-40B4-BE49-F238E27FC236}">
                <a16:creationId xmlns:a16="http://schemas.microsoft.com/office/drawing/2014/main" id="{8AAF1580-9984-4A4B-95F7-D307567A15E7}"/>
              </a:ext>
            </a:extLst>
          </p:cNvPr>
          <p:cNvSpPr txBox="1">
            <a:spLocks/>
          </p:cNvSpPr>
          <p:nvPr/>
        </p:nvSpPr>
        <p:spPr bwMode="auto">
          <a:xfrm>
            <a:off x="566144" y="666751"/>
            <a:ext cx="8297462" cy="3312319"/>
          </a:xfrm>
          <a:prstGeom prst="rect">
            <a:avLst/>
          </a:prstGeom>
          <a:noFill/>
          <a:ln w="9525">
            <a:noFill/>
            <a:miter lim="800000"/>
          </a:ln>
        </p:spPr>
        <p:txBody>
          <a:bodyPr vert="horz" wrap="square" lIns="91440" tIns="45720" rIns="91440" bIns="45720" numCol="1" anchor="t" anchorCtr="0" compatLnSpc="1">
            <a:normAutofit/>
          </a:bodyPr>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lgn="l">
              <a:buNone/>
            </a:pPr>
            <a:endParaRPr lang="en-US" kern="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CDEBFA4C-5698-4B56-83EA-454941F953DB}"/>
              </a:ext>
            </a:extLst>
          </p:cNvPr>
          <p:cNvPicPr>
            <a:picLocks noChangeAspect="1"/>
          </p:cNvPicPr>
          <p:nvPr/>
        </p:nvPicPr>
        <p:blipFill>
          <a:blip r:embed="rId3"/>
          <a:stretch>
            <a:fillRect/>
          </a:stretch>
        </p:blipFill>
        <p:spPr>
          <a:xfrm>
            <a:off x="957265" y="830670"/>
            <a:ext cx="6935168" cy="2772162"/>
          </a:xfrm>
          <a:prstGeom prst="rect">
            <a:avLst/>
          </a:prstGeom>
        </p:spPr>
      </p:pic>
      <p:sp>
        <p:nvSpPr>
          <p:cNvPr id="7" name="Rectangle 6">
            <a:extLst>
              <a:ext uri="{FF2B5EF4-FFF2-40B4-BE49-F238E27FC236}">
                <a16:creationId xmlns:a16="http://schemas.microsoft.com/office/drawing/2014/main" id="{3B422691-04CA-4C50-8B03-C811BEECC4D7}"/>
              </a:ext>
            </a:extLst>
          </p:cNvPr>
          <p:cNvSpPr/>
          <p:nvPr/>
        </p:nvSpPr>
        <p:spPr bwMode="auto">
          <a:xfrm>
            <a:off x="628650" y="3766751"/>
            <a:ext cx="8165306" cy="709998"/>
          </a:xfrm>
          <a:prstGeom prst="rect">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algn="l"/>
            <a:r>
              <a:rPr kumimoji="1" lang="en-US" sz="1800" b="1" i="0" u="none" strike="noStrike" cap="none" normalizeH="0" baseline="0" dirty="0">
                <a:ln>
                  <a:noFill/>
                </a:ln>
                <a:solidFill>
                  <a:schemeClr val="tx1"/>
                </a:solidFill>
                <a:effectLst/>
                <a:latin typeface="Arial" panose="020B0604020202090204" pitchFamily="34" charset="0"/>
                <a:ea typeface="新細明體" panose="02020500000000000000" pitchFamily="18" charset="-120"/>
              </a:rPr>
              <a:t>Lifetime: </a:t>
            </a:r>
            <a:r>
              <a:rPr kumimoji="1" lang="en-US" cap="none" normalizeH="0" dirty="0">
                <a:ln>
                  <a:noFill/>
                </a:ln>
                <a:solidFill>
                  <a:schemeClr val="tx1"/>
                </a:solidFill>
                <a:effectLst/>
                <a:latin typeface="TimesTen-Roman"/>
                <a:ea typeface="新細明體" panose="02020500000000000000" pitchFamily="18" charset="-120"/>
              </a:rPr>
              <a:t>F</a:t>
            </a:r>
            <a:r>
              <a:rPr lang="en-US" sz="1800" b="0" i="0" u="none" strike="noStrike" baseline="0" dirty="0">
                <a:latin typeface="TimesTen-Roman"/>
              </a:rPr>
              <a:t>rom the time this program is created by a programmer until it runs on </a:t>
            </a:r>
          </a:p>
          <a:p>
            <a:pPr algn="l"/>
            <a:r>
              <a:rPr lang="en-US" sz="1800" b="0" i="0" u="none" strike="noStrike" baseline="0" dirty="0">
                <a:latin typeface="TimesTen-Roman"/>
              </a:rPr>
              <a:t>a system, prints its simple message, and terminates.</a:t>
            </a:r>
            <a:r>
              <a:rPr kumimoji="1" lang="en-US" sz="1800" b="1" i="0" u="none" strike="noStrike" cap="none" normalizeH="0" baseline="0" dirty="0">
                <a:ln>
                  <a:noFill/>
                </a:ln>
                <a:solidFill>
                  <a:schemeClr val="tx1"/>
                </a:solidFill>
                <a:effectLst/>
                <a:latin typeface="Arial" panose="020B0604020202090204" pitchFamily="34" charset="0"/>
                <a:ea typeface="新細明體" panose="02020500000000000000" pitchFamily="18" charset="-120"/>
              </a:rPr>
              <a:t> </a:t>
            </a:r>
          </a:p>
        </p:txBody>
      </p:sp>
    </p:spTree>
    <p:extLst>
      <p:ext uri="{BB962C8B-B14F-4D97-AF65-F5344CB8AC3E}">
        <p14:creationId xmlns:p14="http://schemas.microsoft.com/office/powerpoint/2010/main" val="315329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74171" y="864394"/>
            <a:ext cx="8795657" cy="3809205"/>
          </a:xfrm>
        </p:spPr>
        <p:txBody>
          <a:bodyPr/>
          <a:lstStyle/>
          <a:p>
            <a:r>
              <a:rPr lang="en-US" sz="1800" dirty="0"/>
              <a:t>Memory consists of bits represented as 0s and 1s.</a:t>
            </a:r>
          </a:p>
          <a:p>
            <a:r>
              <a:rPr lang="en-US" sz="1800" dirty="0"/>
              <a:t>These bits can represent various types of information, including:  </a:t>
            </a:r>
          </a:p>
          <a:p>
            <a:pPr marL="0" indent="0">
              <a:buNone/>
            </a:pPr>
            <a:r>
              <a:rPr lang="en-US" sz="1800" dirty="0"/>
              <a:t>	- </a:t>
            </a:r>
            <a:r>
              <a:rPr lang="en-US" sz="1500" dirty="0"/>
              <a:t>Instructions  </a:t>
            </a:r>
          </a:p>
          <a:p>
            <a:pPr marL="0" indent="0">
              <a:buNone/>
            </a:pPr>
            <a:r>
              <a:rPr lang="en-US" sz="1500" dirty="0"/>
              <a:t>	- Character strings  </a:t>
            </a:r>
          </a:p>
          <a:p>
            <a:pPr marL="0" indent="0">
              <a:buNone/>
            </a:pPr>
            <a:r>
              <a:rPr lang="en-US" sz="1500" dirty="0"/>
              <a:t>	- Integer numbers  </a:t>
            </a:r>
          </a:p>
          <a:p>
            <a:pPr marL="0" indent="0">
              <a:buNone/>
            </a:pPr>
            <a:r>
              <a:rPr lang="en-US" sz="1500" dirty="0"/>
              <a:t>	- Floating-point numbers  </a:t>
            </a:r>
          </a:p>
          <a:p>
            <a:pPr marL="0" indent="0">
              <a:buNone/>
            </a:pPr>
            <a:r>
              <a:rPr lang="en-US" sz="1500" dirty="0"/>
              <a:t>	- Media data, such as colors and audio  </a:t>
            </a:r>
          </a:p>
          <a:p>
            <a:pPr marL="0" indent="0">
              <a:buNone/>
            </a:pPr>
            <a:r>
              <a:rPr lang="en-US" sz="1500" dirty="0"/>
              <a:t>	- Structured data  </a:t>
            </a:r>
          </a:p>
          <a:p>
            <a:pPr marL="0" indent="0">
              <a:buNone/>
            </a:pPr>
            <a:r>
              <a:rPr lang="en-US" sz="1500" dirty="0"/>
              <a:t>	- Arrays</a:t>
            </a:r>
          </a:p>
          <a:p>
            <a:pPr>
              <a:buSzPct val="156000"/>
              <a:buFont typeface="Arial" panose="020B0604020202020204" pitchFamily="34" charset="0"/>
              <a:buChar char="•"/>
            </a:pPr>
            <a:r>
              <a:rPr lang="en-US" sz="1600" dirty="0"/>
              <a:t>Memory is usually addressed by </a:t>
            </a:r>
            <a:r>
              <a:rPr lang="en-US" sz="1600" b="1" dirty="0">
                <a:solidFill>
                  <a:srgbClr val="FF0000"/>
                </a:solidFill>
              </a:rPr>
              <a:t>bytes</a:t>
            </a:r>
            <a:r>
              <a:rPr lang="en-US" sz="1600" dirty="0"/>
              <a:t> (8bits), though some machines may use word (32bits) or double word (64bits) addressing.</a:t>
            </a:r>
          </a:p>
          <a:p>
            <a:pPr>
              <a:buSzPct val="156000"/>
              <a:buFont typeface="Arial" panose="020B0604020202020204" pitchFamily="34" charset="0"/>
              <a:buChar char="•"/>
            </a:pPr>
            <a:r>
              <a:rPr lang="en-US" sz="1600" dirty="0"/>
              <a:t>For example, 4 bytes of 0 (i.e., 4 bytes, each is 00000000) could mean integer 0, or a NOP instruction, a floating point value +0.0, a memory address, or a sequence of characters.</a:t>
            </a:r>
          </a:p>
        </p:txBody>
      </p:sp>
      <p:sp>
        <p:nvSpPr>
          <p:cNvPr id="2" name="灯片编号占位符 1"/>
          <p:cNvSpPr>
            <a:spLocks noGrp="1"/>
          </p:cNvSpPr>
          <p:nvPr>
            <p:ph type="sldNum" sz="quarter" idx="10"/>
          </p:nvPr>
        </p:nvSpPr>
        <p:spPr/>
        <p:txBody>
          <a:bodyPr/>
          <a:lstStyle/>
          <a:p>
            <a:fld id="{D9B6BDF2-6896-4B98-8776-C18582F63BA5}" type="slidenum">
              <a:rPr lang="zh-TW" altLang="en-US" smtClean="0"/>
              <a:t>9</a:t>
            </a:fld>
            <a:endParaRPr lang="zh-TW" altLang="en-US"/>
          </a:p>
        </p:txBody>
      </p:sp>
      <p:graphicFrame>
        <p:nvGraphicFramePr>
          <p:cNvPr id="3" name="Table 3">
            <a:extLst>
              <a:ext uri="{FF2B5EF4-FFF2-40B4-BE49-F238E27FC236}">
                <a16:creationId xmlns:a16="http://schemas.microsoft.com/office/drawing/2014/main" id="{79011984-66C5-4BCC-8723-35F323389B82}"/>
              </a:ext>
            </a:extLst>
          </p:cNvPr>
          <p:cNvGraphicFramePr>
            <a:graphicFrameLocks noGrp="1"/>
          </p:cNvGraphicFramePr>
          <p:nvPr/>
        </p:nvGraphicFramePr>
        <p:xfrm>
          <a:off x="4232953" y="1686378"/>
          <a:ext cx="4731660" cy="370840"/>
        </p:xfrm>
        <a:graphic>
          <a:graphicData uri="http://schemas.openxmlformats.org/drawingml/2006/table">
            <a:tbl>
              <a:tblPr firstRow="1" bandRow="1">
                <a:tableStyleId>{5C22544A-7EE6-4342-B048-85BDC9FD1C3A}</a:tableStyleId>
              </a:tblPr>
              <a:tblGrid>
                <a:gridCol w="473166">
                  <a:extLst>
                    <a:ext uri="{9D8B030D-6E8A-4147-A177-3AD203B41FA5}">
                      <a16:colId xmlns:a16="http://schemas.microsoft.com/office/drawing/2014/main" val="556322482"/>
                    </a:ext>
                  </a:extLst>
                </a:gridCol>
                <a:gridCol w="473166">
                  <a:extLst>
                    <a:ext uri="{9D8B030D-6E8A-4147-A177-3AD203B41FA5}">
                      <a16:colId xmlns:a16="http://schemas.microsoft.com/office/drawing/2014/main" val="1886084493"/>
                    </a:ext>
                  </a:extLst>
                </a:gridCol>
                <a:gridCol w="473166">
                  <a:extLst>
                    <a:ext uri="{9D8B030D-6E8A-4147-A177-3AD203B41FA5}">
                      <a16:colId xmlns:a16="http://schemas.microsoft.com/office/drawing/2014/main" val="930003307"/>
                    </a:ext>
                  </a:extLst>
                </a:gridCol>
                <a:gridCol w="473166">
                  <a:extLst>
                    <a:ext uri="{9D8B030D-6E8A-4147-A177-3AD203B41FA5}">
                      <a16:colId xmlns:a16="http://schemas.microsoft.com/office/drawing/2014/main" val="1065522681"/>
                    </a:ext>
                  </a:extLst>
                </a:gridCol>
                <a:gridCol w="473166">
                  <a:extLst>
                    <a:ext uri="{9D8B030D-6E8A-4147-A177-3AD203B41FA5}">
                      <a16:colId xmlns:a16="http://schemas.microsoft.com/office/drawing/2014/main" val="4010346805"/>
                    </a:ext>
                  </a:extLst>
                </a:gridCol>
                <a:gridCol w="473166">
                  <a:extLst>
                    <a:ext uri="{9D8B030D-6E8A-4147-A177-3AD203B41FA5}">
                      <a16:colId xmlns:a16="http://schemas.microsoft.com/office/drawing/2014/main" val="1018821338"/>
                    </a:ext>
                  </a:extLst>
                </a:gridCol>
                <a:gridCol w="473166">
                  <a:extLst>
                    <a:ext uri="{9D8B030D-6E8A-4147-A177-3AD203B41FA5}">
                      <a16:colId xmlns:a16="http://schemas.microsoft.com/office/drawing/2014/main" val="1830172307"/>
                    </a:ext>
                  </a:extLst>
                </a:gridCol>
                <a:gridCol w="473166">
                  <a:extLst>
                    <a:ext uri="{9D8B030D-6E8A-4147-A177-3AD203B41FA5}">
                      <a16:colId xmlns:a16="http://schemas.microsoft.com/office/drawing/2014/main" val="972158757"/>
                    </a:ext>
                  </a:extLst>
                </a:gridCol>
                <a:gridCol w="473166">
                  <a:extLst>
                    <a:ext uri="{9D8B030D-6E8A-4147-A177-3AD203B41FA5}">
                      <a16:colId xmlns:a16="http://schemas.microsoft.com/office/drawing/2014/main" val="494258196"/>
                    </a:ext>
                  </a:extLst>
                </a:gridCol>
                <a:gridCol w="473166">
                  <a:extLst>
                    <a:ext uri="{9D8B030D-6E8A-4147-A177-3AD203B41FA5}">
                      <a16:colId xmlns:a16="http://schemas.microsoft.com/office/drawing/2014/main" val="1667496769"/>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279399271"/>
                  </a:ext>
                </a:extLst>
              </a:tr>
            </a:tbl>
          </a:graphicData>
        </a:graphic>
      </p:graphicFrame>
      <p:graphicFrame>
        <p:nvGraphicFramePr>
          <p:cNvPr id="6" name="Table 3">
            <a:extLst>
              <a:ext uri="{FF2B5EF4-FFF2-40B4-BE49-F238E27FC236}">
                <a16:creationId xmlns:a16="http://schemas.microsoft.com/office/drawing/2014/main" id="{483CE842-C5BD-4E29-89AC-9D415FA892B7}"/>
              </a:ext>
            </a:extLst>
          </p:cNvPr>
          <p:cNvGraphicFramePr>
            <a:graphicFrameLocks noGrp="1"/>
          </p:cNvGraphicFramePr>
          <p:nvPr/>
        </p:nvGraphicFramePr>
        <p:xfrm>
          <a:off x="4232953" y="2031989"/>
          <a:ext cx="4731660" cy="370840"/>
        </p:xfrm>
        <a:graphic>
          <a:graphicData uri="http://schemas.openxmlformats.org/drawingml/2006/table">
            <a:tbl>
              <a:tblPr firstRow="1" bandRow="1">
                <a:tableStyleId>{5C22544A-7EE6-4342-B048-85BDC9FD1C3A}</a:tableStyleId>
              </a:tblPr>
              <a:tblGrid>
                <a:gridCol w="473166">
                  <a:extLst>
                    <a:ext uri="{9D8B030D-6E8A-4147-A177-3AD203B41FA5}">
                      <a16:colId xmlns:a16="http://schemas.microsoft.com/office/drawing/2014/main" val="556322482"/>
                    </a:ext>
                  </a:extLst>
                </a:gridCol>
                <a:gridCol w="473166">
                  <a:extLst>
                    <a:ext uri="{9D8B030D-6E8A-4147-A177-3AD203B41FA5}">
                      <a16:colId xmlns:a16="http://schemas.microsoft.com/office/drawing/2014/main" val="1886084493"/>
                    </a:ext>
                  </a:extLst>
                </a:gridCol>
                <a:gridCol w="473166">
                  <a:extLst>
                    <a:ext uri="{9D8B030D-6E8A-4147-A177-3AD203B41FA5}">
                      <a16:colId xmlns:a16="http://schemas.microsoft.com/office/drawing/2014/main" val="930003307"/>
                    </a:ext>
                  </a:extLst>
                </a:gridCol>
                <a:gridCol w="473166">
                  <a:extLst>
                    <a:ext uri="{9D8B030D-6E8A-4147-A177-3AD203B41FA5}">
                      <a16:colId xmlns:a16="http://schemas.microsoft.com/office/drawing/2014/main" val="1065522681"/>
                    </a:ext>
                  </a:extLst>
                </a:gridCol>
                <a:gridCol w="473166">
                  <a:extLst>
                    <a:ext uri="{9D8B030D-6E8A-4147-A177-3AD203B41FA5}">
                      <a16:colId xmlns:a16="http://schemas.microsoft.com/office/drawing/2014/main" val="4010346805"/>
                    </a:ext>
                  </a:extLst>
                </a:gridCol>
                <a:gridCol w="473166">
                  <a:extLst>
                    <a:ext uri="{9D8B030D-6E8A-4147-A177-3AD203B41FA5}">
                      <a16:colId xmlns:a16="http://schemas.microsoft.com/office/drawing/2014/main" val="1018821338"/>
                    </a:ext>
                  </a:extLst>
                </a:gridCol>
                <a:gridCol w="473166">
                  <a:extLst>
                    <a:ext uri="{9D8B030D-6E8A-4147-A177-3AD203B41FA5}">
                      <a16:colId xmlns:a16="http://schemas.microsoft.com/office/drawing/2014/main" val="1830172307"/>
                    </a:ext>
                  </a:extLst>
                </a:gridCol>
                <a:gridCol w="473166">
                  <a:extLst>
                    <a:ext uri="{9D8B030D-6E8A-4147-A177-3AD203B41FA5}">
                      <a16:colId xmlns:a16="http://schemas.microsoft.com/office/drawing/2014/main" val="972158757"/>
                    </a:ext>
                  </a:extLst>
                </a:gridCol>
                <a:gridCol w="473166">
                  <a:extLst>
                    <a:ext uri="{9D8B030D-6E8A-4147-A177-3AD203B41FA5}">
                      <a16:colId xmlns:a16="http://schemas.microsoft.com/office/drawing/2014/main" val="494258196"/>
                    </a:ext>
                  </a:extLst>
                </a:gridCol>
                <a:gridCol w="473166">
                  <a:extLst>
                    <a:ext uri="{9D8B030D-6E8A-4147-A177-3AD203B41FA5}">
                      <a16:colId xmlns:a16="http://schemas.microsoft.com/office/drawing/2014/main" val="1667496769"/>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279399271"/>
                  </a:ext>
                </a:extLst>
              </a:tr>
            </a:tbl>
          </a:graphicData>
        </a:graphic>
      </p:graphicFrame>
      <p:graphicFrame>
        <p:nvGraphicFramePr>
          <p:cNvPr id="9" name="Table 3">
            <a:extLst>
              <a:ext uri="{FF2B5EF4-FFF2-40B4-BE49-F238E27FC236}">
                <a16:creationId xmlns:a16="http://schemas.microsoft.com/office/drawing/2014/main" id="{A3666A50-D88D-404A-9CDE-CF04A923CB7A}"/>
              </a:ext>
            </a:extLst>
          </p:cNvPr>
          <p:cNvGraphicFramePr>
            <a:graphicFrameLocks noGrp="1"/>
          </p:cNvGraphicFramePr>
          <p:nvPr/>
        </p:nvGraphicFramePr>
        <p:xfrm>
          <a:off x="4232953" y="2369832"/>
          <a:ext cx="4731660" cy="370840"/>
        </p:xfrm>
        <a:graphic>
          <a:graphicData uri="http://schemas.openxmlformats.org/drawingml/2006/table">
            <a:tbl>
              <a:tblPr firstRow="1" bandRow="1">
                <a:tableStyleId>{5C22544A-7EE6-4342-B048-85BDC9FD1C3A}</a:tableStyleId>
              </a:tblPr>
              <a:tblGrid>
                <a:gridCol w="473166">
                  <a:extLst>
                    <a:ext uri="{9D8B030D-6E8A-4147-A177-3AD203B41FA5}">
                      <a16:colId xmlns:a16="http://schemas.microsoft.com/office/drawing/2014/main" val="556322482"/>
                    </a:ext>
                  </a:extLst>
                </a:gridCol>
                <a:gridCol w="473166">
                  <a:extLst>
                    <a:ext uri="{9D8B030D-6E8A-4147-A177-3AD203B41FA5}">
                      <a16:colId xmlns:a16="http://schemas.microsoft.com/office/drawing/2014/main" val="1886084493"/>
                    </a:ext>
                  </a:extLst>
                </a:gridCol>
                <a:gridCol w="473166">
                  <a:extLst>
                    <a:ext uri="{9D8B030D-6E8A-4147-A177-3AD203B41FA5}">
                      <a16:colId xmlns:a16="http://schemas.microsoft.com/office/drawing/2014/main" val="930003307"/>
                    </a:ext>
                  </a:extLst>
                </a:gridCol>
                <a:gridCol w="473166">
                  <a:extLst>
                    <a:ext uri="{9D8B030D-6E8A-4147-A177-3AD203B41FA5}">
                      <a16:colId xmlns:a16="http://schemas.microsoft.com/office/drawing/2014/main" val="1065522681"/>
                    </a:ext>
                  </a:extLst>
                </a:gridCol>
                <a:gridCol w="473166">
                  <a:extLst>
                    <a:ext uri="{9D8B030D-6E8A-4147-A177-3AD203B41FA5}">
                      <a16:colId xmlns:a16="http://schemas.microsoft.com/office/drawing/2014/main" val="4010346805"/>
                    </a:ext>
                  </a:extLst>
                </a:gridCol>
                <a:gridCol w="473166">
                  <a:extLst>
                    <a:ext uri="{9D8B030D-6E8A-4147-A177-3AD203B41FA5}">
                      <a16:colId xmlns:a16="http://schemas.microsoft.com/office/drawing/2014/main" val="1018821338"/>
                    </a:ext>
                  </a:extLst>
                </a:gridCol>
                <a:gridCol w="473166">
                  <a:extLst>
                    <a:ext uri="{9D8B030D-6E8A-4147-A177-3AD203B41FA5}">
                      <a16:colId xmlns:a16="http://schemas.microsoft.com/office/drawing/2014/main" val="1830172307"/>
                    </a:ext>
                  </a:extLst>
                </a:gridCol>
                <a:gridCol w="473166">
                  <a:extLst>
                    <a:ext uri="{9D8B030D-6E8A-4147-A177-3AD203B41FA5}">
                      <a16:colId xmlns:a16="http://schemas.microsoft.com/office/drawing/2014/main" val="972158757"/>
                    </a:ext>
                  </a:extLst>
                </a:gridCol>
                <a:gridCol w="473166">
                  <a:extLst>
                    <a:ext uri="{9D8B030D-6E8A-4147-A177-3AD203B41FA5}">
                      <a16:colId xmlns:a16="http://schemas.microsoft.com/office/drawing/2014/main" val="494258196"/>
                    </a:ext>
                  </a:extLst>
                </a:gridCol>
                <a:gridCol w="473166">
                  <a:extLst>
                    <a:ext uri="{9D8B030D-6E8A-4147-A177-3AD203B41FA5}">
                      <a16:colId xmlns:a16="http://schemas.microsoft.com/office/drawing/2014/main" val="1667496769"/>
                    </a:ext>
                  </a:extLst>
                </a:gridCol>
              </a:tblGrid>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279399271"/>
                  </a:ext>
                </a:extLst>
              </a:tr>
            </a:tbl>
          </a:graphicData>
        </a:graphic>
      </p:graphicFrame>
      <p:sp>
        <p:nvSpPr>
          <p:cNvPr id="4" name="TextBox 3">
            <a:extLst>
              <a:ext uri="{FF2B5EF4-FFF2-40B4-BE49-F238E27FC236}">
                <a16:creationId xmlns:a16="http://schemas.microsoft.com/office/drawing/2014/main" id="{44B306A1-825C-4BA8-A6B1-6CAE99A95E30}"/>
              </a:ext>
            </a:extLst>
          </p:cNvPr>
          <p:cNvSpPr txBox="1"/>
          <p:nvPr/>
        </p:nvSpPr>
        <p:spPr>
          <a:xfrm>
            <a:off x="4129314" y="1409259"/>
            <a:ext cx="312906" cy="369332"/>
          </a:xfrm>
          <a:prstGeom prst="rect">
            <a:avLst/>
          </a:prstGeom>
          <a:noFill/>
        </p:spPr>
        <p:txBody>
          <a:bodyPr wrap="none" rtlCol="0" anchor="ctr" anchorCtr="1">
            <a:spAutoFit/>
          </a:bodyPr>
          <a:lstStyle/>
          <a:p>
            <a:r>
              <a:rPr lang="en-US" dirty="0">
                <a:ea typeface="標楷體" pitchFamily="65" charset="-120"/>
                <a:cs typeface="Calibri" panose="020F0502020204030204" pitchFamily="34" charset="0"/>
              </a:rPr>
              <a:t>0</a:t>
            </a:r>
          </a:p>
        </p:txBody>
      </p:sp>
      <p:sp>
        <p:nvSpPr>
          <p:cNvPr id="10" name="TextBox 9">
            <a:extLst>
              <a:ext uri="{FF2B5EF4-FFF2-40B4-BE49-F238E27FC236}">
                <a16:creationId xmlns:a16="http://schemas.microsoft.com/office/drawing/2014/main" id="{93849AA4-7385-49FC-9076-E09DED0A68DC}"/>
              </a:ext>
            </a:extLst>
          </p:cNvPr>
          <p:cNvSpPr txBox="1"/>
          <p:nvPr/>
        </p:nvSpPr>
        <p:spPr>
          <a:xfrm>
            <a:off x="4582144" y="1409259"/>
            <a:ext cx="312906" cy="369332"/>
          </a:xfrm>
          <a:prstGeom prst="rect">
            <a:avLst/>
          </a:prstGeom>
          <a:noFill/>
        </p:spPr>
        <p:txBody>
          <a:bodyPr wrap="none" rtlCol="0" anchor="ctr" anchorCtr="1">
            <a:spAutoFit/>
          </a:bodyPr>
          <a:lstStyle/>
          <a:p>
            <a:r>
              <a:rPr lang="en-US" dirty="0">
                <a:ea typeface="標楷體" pitchFamily="65" charset="-120"/>
                <a:cs typeface="Calibri" panose="020F0502020204030204" pitchFamily="34" charset="0"/>
              </a:rPr>
              <a:t>1</a:t>
            </a:r>
          </a:p>
        </p:txBody>
      </p:sp>
      <p:sp>
        <p:nvSpPr>
          <p:cNvPr id="11" name="TextBox 10">
            <a:extLst>
              <a:ext uri="{FF2B5EF4-FFF2-40B4-BE49-F238E27FC236}">
                <a16:creationId xmlns:a16="http://schemas.microsoft.com/office/drawing/2014/main" id="{7B0521C7-B7AE-4E9C-B32D-1D58E3637341}"/>
              </a:ext>
            </a:extLst>
          </p:cNvPr>
          <p:cNvSpPr txBox="1"/>
          <p:nvPr/>
        </p:nvSpPr>
        <p:spPr>
          <a:xfrm>
            <a:off x="5066890" y="1401136"/>
            <a:ext cx="312906" cy="369332"/>
          </a:xfrm>
          <a:prstGeom prst="rect">
            <a:avLst/>
          </a:prstGeom>
          <a:noFill/>
        </p:spPr>
        <p:txBody>
          <a:bodyPr wrap="none" rtlCol="0" anchor="ctr" anchorCtr="1">
            <a:spAutoFit/>
          </a:bodyPr>
          <a:lstStyle/>
          <a:p>
            <a:r>
              <a:rPr lang="en-US" dirty="0">
                <a:ea typeface="標楷體" pitchFamily="65" charset="-120"/>
                <a:cs typeface="Calibri" panose="020F0502020204030204" pitchFamily="34" charset="0"/>
              </a:rPr>
              <a:t>2</a:t>
            </a:r>
          </a:p>
        </p:txBody>
      </p:sp>
      <p:sp>
        <p:nvSpPr>
          <p:cNvPr id="12" name="TextBox 11">
            <a:extLst>
              <a:ext uri="{FF2B5EF4-FFF2-40B4-BE49-F238E27FC236}">
                <a16:creationId xmlns:a16="http://schemas.microsoft.com/office/drawing/2014/main" id="{7DC58185-8072-4544-AB39-B8755B0CAAAA}"/>
              </a:ext>
            </a:extLst>
          </p:cNvPr>
          <p:cNvSpPr txBox="1"/>
          <p:nvPr/>
        </p:nvSpPr>
        <p:spPr>
          <a:xfrm>
            <a:off x="5576295" y="1409259"/>
            <a:ext cx="312906" cy="369332"/>
          </a:xfrm>
          <a:prstGeom prst="rect">
            <a:avLst/>
          </a:prstGeom>
          <a:noFill/>
        </p:spPr>
        <p:txBody>
          <a:bodyPr wrap="none" rtlCol="0" anchor="ctr" anchorCtr="1">
            <a:spAutoFit/>
          </a:bodyPr>
          <a:lstStyle/>
          <a:p>
            <a:r>
              <a:rPr lang="en-US" dirty="0">
                <a:ea typeface="標楷體" pitchFamily="65" charset="-120"/>
                <a:cs typeface="Calibri" panose="020F0502020204030204" pitchFamily="34" charset="0"/>
              </a:rPr>
              <a:t>3</a:t>
            </a:r>
          </a:p>
        </p:txBody>
      </p:sp>
      <p:sp>
        <p:nvSpPr>
          <p:cNvPr id="5" name="TextBox 4">
            <a:extLst>
              <a:ext uri="{FF2B5EF4-FFF2-40B4-BE49-F238E27FC236}">
                <a16:creationId xmlns:a16="http://schemas.microsoft.com/office/drawing/2014/main" id="{CC2EC62E-1B5E-4929-9648-8912802979B2}"/>
              </a:ext>
            </a:extLst>
          </p:cNvPr>
          <p:cNvSpPr txBox="1"/>
          <p:nvPr/>
        </p:nvSpPr>
        <p:spPr>
          <a:xfrm>
            <a:off x="4162159" y="1687132"/>
            <a:ext cx="620683" cy="369332"/>
          </a:xfrm>
          <a:prstGeom prst="rect">
            <a:avLst/>
          </a:prstGeom>
          <a:noFill/>
        </p:spPr>
        <p:txBody>
          <a:bodyPr wrap="none" rtlCol="0" anchor="ctr" anchorCtr="1">
            <a:spAutoFit/>
          </a:bodyPr>
          <a:lstStyle/>
          <a:p>
            <a:r>
              <a:rPr lang="en-US" dirty="0">
                <a:solidFill>
                  <a:schemeClr val="bg2"/>
                </a:solidFill>
                <a:ea typeface="標楷體" pitchFamily="65" charset="-120"/>
                <a:cs typeface="Calibri" panose="020F0502020204030204" pitchFamily="34" charset="0"/>
              </a:rPr>
              <a:t>byte</a:t>
            </a:r>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1031875" y="107950"/>
            <a:ext cx="7643813"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1.1 Information is bits + context</a:t>
            </a:r>
          </a:p>
        </p:txBody>
      </p:sp>
    </p:spTree>
    <p:extLst>
      <p:ext uri="{BB962C8B-B14F-4D97-AF65-F5344CB8AC3E}">
        <p14:creationId xmlns:p14="http://schemas.microsoft.com/office/powerpoint/2010/main" val="2711112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P spid="11" grpId="0"/>
      <p:bldP spid="12"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031846" y="108349"/>
            <a:ext cx="7643844" cy="519113"/>
          </a:xfrm>
        </p:spPr>
        <p:txBody>
          <a:bodyPr/>
          <a:lstStyle/>
          <a:p>
            <a:r>
              <a:rPr lang="en-US" sz="3200" dirty="0"/>
              <a:t>Bits can Represent Any Information  </a:t>
            </a:r>
          </a:p>
        </p:txBody>
      </p:sp>
      <mc:AlternateContent xmlns:mc="http://schemas.openxmlformats.org/markup-compatibility/2006" xmlns:a14="http://schemas.microsoft.com/office/drawing/2010/main">
        <mc:Choice Requires="a14">
          <p:sp>
            <p:nvSpPr>
              <p:cNvPr id="8" name="Content Placeholder 7"/>
              <p:cNvSpPr>
                <a:spLocks noGrp="1"/>
              </p:cNvSpPr>
              <p:nvPr>
                <p:ph idx="1"/>
              </p:nvPr>
            </p:nvSpPr>
            <p:spPr>
              <a:xfrm>
                <a:off x="232229" y="762000"/>
                <a:ext cx="8893192" cy="3802743"/>
              </a:xfrm>
            </p:spPr>
            <p:txBody>
              <a:bodyPr/>
              <a:lstStyle/>
              <a:p>
                <a:r>
                  <a:rPr lang="en-US" sz="1800" dirty="0"/>
                  <a:t>Character</a:t>
                </a:r>
              </a:p>
              <a:p>
                <a:pPr lvl="1"/>
                <a:r>
                  <a:rPr lang="en-US" sz="1400" dirty="0"/>
                  <a:t>Characters are represented in 7 bits (</a:t>
                </a:r>
                <a:r>
                  <a:rPr lang="en-US" sz="1400" b="1" dirty="0">
                    <a:solidFill>
                      <a:srgbClr val="FF0000"/>
                    </a:solidFill>
                  </a:rPr>
                  <a:t>ASCII</a:t>
                </a:r>
                <a:r>
                  <a:rPr lang="en-US" sz="1400" dirty="0">
                    <a:solidFill>
                      <a:srgbClr val="FF0000"/>
                    </a:solidFill>
                  </a:rPr>
                  <a:t> code</a:t>
                </a:r>
                <a:r>
                  <a:rPr lang="en-US" sz="1400" dirty="0"/>
                  <a:t>), or 8 bits (extended ASCII)</a:t>
                </a:r>
              </a:p>
              <a:p>
                <a:pPr lvl="1"/>
                <a:r>
                  <a:rPr lang="en-US" sz="1400" dirty="0"/>
                  <a:t>26 characters (upper and lower cases </a:t>
                </a:r>
                <a:r>
                  <a:rPr lang="en-US" sz="1400" dirty="0">
                    <a:sym typeface="Wingdings" panose="05000000000000000000" pitchFamily="2" charset="2"/>
                  </a:rPr>
                  <a:t> 52) + punctuations are represented in ASCII code</a:t>
                </a:r>
              </a:p>
              <a:p>
                <a:pPr lvl="1"/>
                <a:r>
                  <a:rPr lang="en-US" sz="1400" dirty="0">
                    <a:sym typeface="Wingdings" panose="05000000000000000000" pitchFamily="2" charset="2"/>
                  </a:rPr>
                  <a:t>Standard code to cover  all the world’s languages: </a:t>
                </a:r>
                <a:r>
                  <a:rPr lang="en-US" sz="1400" b="1" dirty="0">
                    <a:sym typeface="Wingdings" panose="05000000000000000000" pitchFamily="2" charset="2"/>
                  </a:rPr>
                  <a:t>Unicode</a:t>
                </a:r>
                <a:endParaRPr lang="en-US" sz="1400" b="1" dirty="0"/>
              </a:p>
              <a:p>
                <a:r>
                  <a:rPr lang="en-US" sz="1800" dirty="0"/>
                  <a:t>Logical value (0/1)</a:t>
                </a:r>
              </a:p>
              <a:p>
                <a:r>
                  <a:rPr lang="en-US" sz="1800" dirty="0"/>
                  <a:t>Colors/Audio</a:t>
                </a:r>
              </a:p>
              <a:p>
                <a:r>
                  <a:rPr lang="en-US" sz="1800" dirty="0"/>
                  <a:t>Memory locations (addresses)</a:t>
                </a:r>
              </a:p>
              <a:p>
                <a:r>
                  <a:rPr lang="en-US" sz="1800" dirty="0"/>
                  <a:t>Commands (Instructions)</a:t>
                </a:r>
              </a:p>
              <a:p>
                <a:r>
                  <a:rPr lang="en-US" sz="1800" dirty="0"/>
                  <a:t>Summary</a:t>
                </a:r>
              </a:p>
              <a:p>
                <a:pPr marL="0" indent="0">
                  <a:buNone/>
                </a:pPr>
                <a:r>
                  <a:rPr lang="en-US" sz="1800" dirty="0"/>
                  <a:t>	N bits can represent </a:t>
                </a:r>
                <a14:m>
                  <m:oMath xmlns:m="http://schemas.openxmlformats.org/officeDocument/2006/math">
                    <m:sSup>
                      <m:sSupPr>
                        <m:ctrlPr>
                          <a:rPr lang="en-US" sz="1800" i="1" smtClean="0">
                            <a:latin typeface="Cambria Math" panose="02040503050406030204" pitchFamily="18" charset="0"/>
                          </a:rPr>
                        </m:ctrlPr>
                      </m:sSupPr>
                      <m:e>
                        <m:r>
                          <a:rPr lang="en-US" sz="1800" b="0" i="1" smtClean="0">
                            <a:latin typeface="Cambria Math" panose="02040503050406030204" pitchFamily="18" charset="0"/>
                          </a:rPr>
                          <m:t>2</m:t>
                        </m:r>
                      </m:e>
                      <m:sup>
                        <m:r>
                          <a:rPr lang="en-US" sz="1800" b="0" i="1" smtClean="0">
                            <a:latin typeface="Cambria Math" panose="02040503050406030204" pitchFamily="18" charset="0"/>
                          </a:rPr>
                          <m:t>𝑁</m:t>
                        </m:r>
                      </m:sup>
                    </m:sSup>
                  </m:oMath>
                </a14:m>
                <a:r>
                  <a:rPr lang="en-US" sz="1800" dirty="0"/>
                  <a:t> different things</a:t>
                </a:r>
              </a:p>
            </p:txBody>
          </p:sp>
        </mc:Choice>
        <mc:Fallback xmlns="">
          <p:sp>
            <p:nvSpPr>
              <p:cNvPr id="8" name="Content Placeholder 7"/>
              <p:cNvSpPr>
                <a:spLocks noGrp="1" noRot="1" noChangeAspect="1" noMove="1" noResize="1" noEditPoints="1" noAdjustHandles="1" noChangeArrowheads="1" noChangeShapeType="1" noTextEdit="1"/>
              </p:cNvSpPr>
              <p:nvPr>
                <p:ph idx="1"/>
              </p:nvPr>
            </p:nvSpPr>
            <p:spPr>
              <a:xfrm>
                <a:off x="232229" y="762000"/>
                <a:ext cx="8893192" cy="3802743"/>
              </a:xfrm>
              <a:blipFill>
                <a:blip r:embed="rId2"/>
                <a:stretch>
                  <a:fillRect l="-137" t="-801"/>
                </a:stretch>
              </a:blipFill>
            </p:spPr>
            <p:txBody>
              <a:bodyPr/>
              <a:lstStyle/>
              <a:p>
                <a:r>
                  <a:rPr lang="en-US">
                    <a:noFill/>
                  </a:rPr>
                  <a:t> </a:t>
                </a:r>
              </a:p>
            </p:txBody>
          </p:sp>
        </mc:Fallback>
      </mc:AlternateContent>
      <p:sp>
        <p:nvSpPr>
          <p:cNvPr id="2" name="灯片编号占位符 1"/>
          <p:cNvSpPr>
            <a:spLocks noGrp="1"/>
          </p:cNvSpPr>
          <p:nvPr>
            <p:ph type="sldNum" sz="quarter" idx="10"/>
          </p:nvPr>
        </p:nvSpPr>
        <p:spPr/>
        <p:txBody>
          <a:bodyPr/>
          <a:lstStyle/>
          <a:p>
            <a:fld id="{D9B6BDF2-6896-4B98-8776-C18582F63BA5}" type="slidenum">
              <a:rPr lang="zh-TW" altLang="en-US" smtClean="0"/>
              <a:t>10</a:t>
            </a:fld>
            <a:endParaRPr lang="zh-TW" altLang="en-US"/>
          </a:p>
        </p:txBody>
      </p:sp>
      <p:pic>
        <p:nvPicPr>
          <p:cNvPr id="3" name="Picture 2">
            <a:extLst>
              <a:ext uri="{FF2B5EF4-FFF2-40B4-BE49-F238E27FC236}">
                <a16:creationId xmlns:a16="http://schemas.microsoft.com/office/drawing/2014/main" id="{258CF450-20C3-449A-B8F1-24E8A5F59912}"/>
              </a:ext>
            </a:extLst>
          </p:cNvPr>
          <p:cNvPicPr>
            <a:picLocks noChangeAspect="1"/>
          </p:cNvPicPr>
          <p:nvPr/>
        </p:nvPicPr>
        <p:blipFill>
          <a:blip r:embed="rId3"/>
          <a:stretch>
            <a:fillRect/>
          </a:stretch>
        </p:blipFill>
        <p:spPr>
          <a:xfrm>
            <a:off x="5181600" y="1680612"/>
            <a:ext cx="3962400" cy="2804302"/>
          </a:xfrm>
          <a:prstGeom prst="rect">
            <a:avLst/>
          </a:prstGeom>
        </p:spPr>
      </p:pic>
      <p:sp>
        <p:nvSpPr>
          <p:cNvPr id="9" name="TextBox 8">
            <a:extLst>
              <a:ext uri="{FF2B5EF4-FFF2-40B4-BE49-F238E27FC236}">
                <a16:creationId xmlns:a16="http://schemas.microsoft.com/office/drawing/2014/main" id="{A98A6FD2-E6C3-4145-9D44-BE5427ABA54E}"/>
              </a:ext>
            </a:extLst>
          </p:cNvPr>
          <p:cNvSpPr txBox="1"/>
          <p:nvPr/>
        </p:nvSpPr>
        <p:spPr>
          <a:xfrm>
            <a:off x="5084955" y="786913"/>
            <a:ext cx="3925242" cy="338554"/>
          </a:xfrm>
          <a:prstGeom prst="rect">
            <a:avLst/>
          </a:prstGeom>
          <a:noFill/>
        </p:spPr>
        <p:txBody>
          <a:bodyPr wrap="none" rtlCol="0" anchor="ctr" anchorCtr="1">
            <a:spAutoFit/>
          </a:bodyPr>
          <a:lstStyle/>
          <a:p>
            <a:r>
              <a:rPr lang="en-US" sz="1600" dirty="0">
                <a:ea typeface="標楷體" pitchFamily="65" charset="-120"/>
                <a:cs typeface="Calibri" panose="020F0502020204030204" pitchFamily="34" charset="0"/>
              </a:rPr>
              <a:t>ABC </a:t>
            </a:r>
            <a:r>
              <a:rPr lang="en-US" sz="1600" dirty="0">
                <a:ea typeface="標楷體" pitchFamily="65" charset="-120"/>
                <a:cs typeface="Calibri" panose="020F0502020204030204" pitchFamily="34" charset="0"/>
                <a:sym typeface="Wingdings" panose="05000000000000000000" pitchFamily="2" charset="2"/>
              </a:rPr>
              <a:t> 0100 0001 0100 0010 0100 0011</a:t>
            </a:r>
            <a:endParaRPr lang="en-US" sz="1600" dirty="0">
              <a:ea typeface="標楷體" pitchFamily="65" charset="-120"/>
              <a:cs typeface="Calibri" panose="020F0502020204030204" pitchFamily="34" charset="0"/>
            </a:endParaRPr>
          </a:p>
        </p:txBody>
      </p:sp>
      <p:sp>
        <p:nvSpPr>
          <p:cNvPr id="4" name="TextBox 3">
            <a:extLst>
              <a:ext uri="{FF2B5EF4-FFF2-40B4-BE49-F238E27FC236}">
                <a16:creationId xmlns:a16="http://schemas.microsoft.com/office/drawing/2014/main" id="{882A1F0D-76D2-4D24-8CA4-9EC9917264CF}"/>
              </a:ext>
            </a:extLst>
          </p:cNvPr>
          <p:cNvSpPr txBox="1"/>
          <p:nvPr/>
        </p:nvSpPr>
        <p:spPr>
          <a:xfrm>
            <a:off x="6306457" y="1033707"/>
            <a:ext cx="441146" cy="369332"/>
          </a:xfrm>
          <a:prstGeom prst="rect">
            <a:avLst/>
          </a:prstGeom>
          <a:solidFill>
            <a:srgbClr val="FFFF00"/>
          </a:solidFill>
        </p:spPr>
        <p:txBody>
          <a:bodyPr wrap="none" rtlCol="0" anchor="ctr" anchorCtr="1">
            <a:spAutoFit/>
          </a:bodyPr>
          <a:lstStyle/>
          <a:p>
            <a:r>
              <a:rPr lang="en-US" dirty="0">
                <a:ea typeface="標楷體" pitchFamily="65" charset="-120"/>
                <a:cs typeface="Calibri" panose="020F0502020204030204" pitchFamily="34" charset="0"/>
              </a:rPr>
              <a:t>41</a:t>
            </a:r>
          </a:p>
        </p:txBody>
      </p:sp>
      <p:sp>
        <p:nvSpPr>
          <p:cNvPr id="10" name="TextBox 9">
            <a:extLst>
              <a:ext uri="{FF2B5EF4-FFF2-40B4-BE49-F238E27FC236}">
                <a16:creationId xmlns:a16="http://schemas.microsoft.com/office/drawing/2014/main" id="{C69896A4-F3EB-4B48-BF0D-4860145052B4}"/>
              </a:ext>
            </a:extLst>
          </p:cNvPr>
          <p:cNvSpPr txBox="1"/>
          <p:nvPr/>
        </p:nvSpPr>
        <p:spPr>
          <a:xfrm>
            <a:off x="7274793" y="1033400"/>
            <a:ext cx="441146" cy="369332"/>
          </a:xfrm>
          <a:prstGeom prst="rect">
            <a:avLst/>
          </a:prstGeom>
          <a:solidFill>
            <a:srgbClr val="FFFF00"/>
          </a:solidFill>
        </p:spPr>
        <p:txBody>
          <a:bodyPr wrap="none" rtlCol="0" anchor="ctr" anchorCtr="1">
            <a:spAutoFit/>
          </a:bodyPr>
          <a:lstStyle/>
          <a:p>
            <a:r>
              <a:rPr lang="en-US" dirty="0">
                <a:ea typeface="標楷體" pitchFamily="65" charset="-120"/>
                <a:cs typeface="Calibri" panose="020F0502020204030204" pitchFamily="34" charset="0"/>
              </a:rPr>
              <a:t>42</a:t>
            </a:r>
          </a:p>
        </p:txBody>
      </p:sp>
      <p:sp>
        <p:nvSpPr>
          <p:cNvPr id="11" name="TextBox 10">
            <a:extLst>
              <a:ext uri="{FF2B5EF4-FFF2-40B4-BE49-F238E27FC236}">
                <a16:creationId xmlns:a16="http://schemas.microsoft.com/office/drawing/2014/main" id="{FDEF009B-BEEC-44C3-8566-2EF24391F9D3}"/>
              </a:ext>
            </a:extLst>
          </p:cNvPr>
          <p:cNvSpPr txBox="1"/>
          <p:nvPr/>
        </p:nvSpPr>
        <p:spPr>
          <a:xfrm>
            <a:off x="8243129" y="1033400"/>
            <a:ext cx="441146" cy="369332"/>
          </a:xfrm>
          <a:prstGeom prst="rect">
            <a:avLst/>
          </a:prstGeom>
          <a:solidFill>
            <a:srgbClr val="FFFF00"/>
          </a:solidFill>
        </p:spPr>
        <p:txBody>
          <a:bodyPr wrap="none" rtlCol="0" anchor="ctr" anchorCtr="1">
            <a:spAutoFit/>
          </a:bodyPr>
          <a:lstStyle/>
          <a:p>
            <a:r>
              <a:rPr lang="en-US" dirty="0">
                <a:ea typeface="標楷體" pitchFamily="65" charset="-120"/>
                <a:cs typeface="Calibri" panose="020F0502020204030204" pitchFamily="34" charset="0"/>
              </a:rPr>
              <a:t>43</a:t>
            </a:r>
          </a:p>
        </p:txBody>
      </p:sp>
    </p:spTree>
    <p:extLst>
      <p:ext uri="{BB962C8B-B14F-4D97-AF65-F5344CB8AC3E}">
        <p14:creationId xmlns:p14="http://schemas.microsoft.com/office/powerpoint/2010/main" val="2446583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animBg="1"/>
      <p:bldP spid="10"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5832" y="64294"/>
            <a:ext cx="6622255" cy="621506"/>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Interpretation of the “Hello” File</a:t>
            </a:r>
          </a:p>
        </p:txBody>
      </p:sp>
      <p:sp>
        <p:nvSpPr>
          <p:cNvPr id="4" name="Content Placeholder 2">
            <a:extLst>
              <a:ext uri="{FF2B5EF4-FFF2-40B4-BE49-F238E27FC236}">
                <a16:creationId xmlns:a16="http://schemas.microsoft.com/office/drawing/2014/main" id="{D4EBF60B-38E7-424A-90C7-2282014613DB}"/>
              </a:ext>
            </a:extLst>
          </p:cNvPr>
          <p:cNvSpPr txBox="1">
            <a:spLocks/>
          </p:cNvSpPr>
          <p:nvPr/>
        </p:nvSpPr>
        <p:spPr bwMode="auto">
          <a:xfrm>
            <a:off x="423269" y="942976"/>
            <a:ext cx="8297462" cy="3036094"/>
          </a:xfrm>
          <a:prstGeom prst="rect">
            <a:avLst/>
          </a:prstGeom>
          <a:noFill/>
          <a:ln w="9525">
            <a:noFill/>
            <a:miter lim="800000"/>
          </a:ln>
        </p:spPr>
        <p:txBody>
          <a:bodyPr vert="horz" wrap="square" lIns="91440" tIns="45720" rIns="91440" bIns="45720" numCol="1" anchor="t" anchorCtr="0" compatLnSpc="1">
            <a:normAutofit/>
          </a:bodyPr>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buNone/>
            </a:pPr>
            <a:endParaRPr lang="en-US" sz="2800" kern="0" dirty="0">
              <a:solidFill>
                <a:srgbClr val="0070C0"/>
              </a:solidFill>
            </a:endParaRPr>
          </a:p>
        </p:txBody>
      </p:sp>
      <p:sp>
        <p:nvSpPr>
          <p:cNvPr id="5" name="Content Placeholder 2">
            <a:extLst>
              <a:ext uri="{FF2B5EF4-FFF2-40B4-BE49-F238E27FC236}">
                <a16:creationId xmlns:a16="http://schemas.microsoft.com/office/drawing/2014/main" id="{8AAF1580-9984-4A4B-95F7-D307567A15E7}"/>
              </a:ext>
            </a:extLst>
          </p:cNvPr>
          <p:cNvSpPr txBox="1">
            <a:spLocks/>
          </p:cNvSpPr>
          <p:nvPr/>
        </p:nvSpPr>
        <p:spPr bwMode="auto">
          <a:xfrm>
            <a:off x="566144" y="666751"/>
            <a:ext cx="8297462" cy="3312319"/>
          </a:xfrm>
          <a:prstGeom prst="rect">
            <a:avLst/>
          </a:prstGeom>
          <a:noFill/>
          <a:ln w="9525">
            <a:noFill/>
            <a:miter lim="800000"/>
          </a:ln>
        </p:spPr>
        <p:txBody>
          <a:bodyPr vert="horz" wrap="square" lIns="91440" tIns="45720" rIns="91440" bIns="45720" numCol="1" anchor="t" anchorCtr="0" compatLnSpc="1">
            <a:normAutofit/>
          </a:bodyPr>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lgn="l">
              <a:buNone/>
            </a:pPr>
            <a:endParaRPr lang="en-US" kern="0" dirty="0">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D9DE430C-40B9-4D01-91E5-59793E7B316D}"/>
              </a:ext>
            </a:extLst>
          </p:cNvPr>
          <p:cNvPicPr>
            <a:picLocks noChangeAspect="1"/>
          </p:cNvPicPr>
          <p:nvPr/>
        </p:nvPicPr>
        <p:blipFill>
          <a:blip r:embed="rId3"/>
          <a:stretch>
            <a:fillRect/>
          </a:stretch>
        </p:blipFill>
        <p:spPr>
          <a:xfrm>
            <a:off x="661456" y="1164430"/>
            <a:ext cx="8059275" cy="3515216"/>
          </a:xfrm>
          <a:prstGeom prst="rect">
            <a:avLst/>
          </a:prstGeom>
        </p:spPr>
      </p:pic>
      <p:sp>
        <p:nvSpPr>
          <p:cNvPr id="3" name="TextBox 2">
            <a:extLst>
              <a:ext uri="{FF2B5EF4-FFF2-40B4-BE49-F238E27FC236}">
                <a16:creationId xmlns:a16="http://schemas.microsoft.com/office/drawing/2014/main" id="{2289DFDD-8ABE-4EA8-B46F-D9F8EF917677}"/>
              </a:ext>
            </a:extLst>
          </p:cNvPr>
          <p:cNvSpPr txBox="1"/>
          <p:nvPr/>
        </p:nvSpPr>
        <p:spPr>
          <a:xfrm>
            <a:off x="0" y="686868"/>
            <a:ext cx="5827301" cy="646331"/>
          </a:xfrm>
          <a:prstGeom prst="rect">
            <a:avLst/>
          </a:prstGeom>
          <a:solidFill>
            <a:srgbClr val="FFFF00"/>
          </a:solidFill>
        </p:spPr>
        <p:txBody>
          <a:bodyPr wrap="none" rtlCol="0" anchor="ctr" anchorCtr="1">
            <a:spAutoFit/>
          </a:bodyPr>
          <a:lstStyle/>
          <a:p>
            <a:r>
              <a:rPr lang="en-US" dirty="0" err="1">
                <a:ea typeface="標楷體" pitchFamily="65" charset="-120"/>
                <a:cs typeface="Calibri" panose="020F07020304040A0204" pitchFamily="34" charset="0"/>
              </a:rPr>
              <a:t>hello.c</a:t>
            </a:r>
            <a:r>
              <a:rPr lang="en-US" dirty="0">
                <a:ea typeface="標楷體" pitchFamily="65" charset="-120"/>
                <a:cs typeface="Calibri" panose="020F07020304040A0204" pitchFamily="34" charset="0"/>
              </a:rPr>
              <a:t> is stored as a sequence of characters. </a:t>
            </a:r>
          </a:p>
          <a:p>
            <a:r>
              <a:rPr lang="en-US" dirty="0">
                <a:ea typeface="標楷體" pitchFamily="65" charset="-120"/>
                <a:cs typeface="Calibri" panose="020F07020304040A0204" pitchFamily="34" charset="0"/>
              </a:rPr>
              <a:t>Their respective decimal byte values are shown below. </a:t>
            </a:r>
          </a:p>
        </p:txBody>
      </p:sp>
    </p:spTree>
    <p:extLst>
      <p:ext uri="{BB962C8B-B14F-4D97-AF65-F5344CB8AC3E}">
        <p14:creationId xmlns:p14="http://schemas.microsoft.com/office/powerpoint/2010/main" val="2729885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74171" y="864394"/>
            <a:ext cx="8795657" cy="3809205"/>
          </a:xfrm>
        </p:spPr>
        <p:txBody>
          <a:bodyPr/>
          <a:lstStyle/>
          <a:p>
            <a:pPr algn="l"/>
            <a:r>
              <a:rPr lang="en-US" sz="2000" dirty="0">
                <a:latin typeface="TimesTen-Roman"/>
              </a:rPr>
              <a:t>The individual C statements must be compiled </a:t>
            </a:r>
            <a:r>
              <a:rPr lang="en-US" sz="2000" b="0" i="0" u="none" strike="noStrike" baseline="0" dirty="0">
                <a:latin typeface="TimesTen-Roman"/>
              </a:rPr>
              <a:t>into a sequence of low-level </a:t>
            </a:r>
            <a:r>
              <a:rPr lang="en-US" sz="2000" b="0" i="1" u="none" strike="noStrike" baseline="0" dirty="0">
                <a:solidFill>
                  <a:srgbClr val="FF0000"/>
                </a:solidFill>
                <a:latin typeface="TimesTen-Italic"/>
              </a:rPr>
              <a:t>machine-language </a:t>
            </a:r>
            <a:r>
              <a:rPr lang="en-US" sz="2000" b="0" i="0" u="none" strike="noStrike" baseline="0" dirty="0">
                <a:latin typeface="TimesTen-Roman"/>
              </a:rPr>
              <a:t>instructions. These instructions are then packaged into an </a:t>
            </a:r>
            <a:r>
              <a:rPr lang="en-US" sz="2000" b="0" i="1" u="none" strike="noStrike" baseline="0" dirty="0">
                <a:solidFill>
                  <a:srgbClr val="FF0000"/>
                </a:solidFill>
                <a:latin typeface="TimesTen-Italic"/>
              </a:rPr>
              <a:t>executable object program </a:t>
            </a:r>
            <a:r>
              <a:rPr lang="en-US" sz="2000" b="0" i="0" u="none" strike="noStrike" baseline="0" dirty="0">
                <a:latin typeface="TimesTen-Roman"/>
              </a:rPr>
              <a:t>and stored as a binary disk file. Object programs are also called </a:t>
            </a:r>
            <a:r>
              <a:rPr lang="en-US" sz="2000" b="0" i="1" u="none" strike="noStrike" baseline="0" dirty="0">
                <a:solidFill>
                  <a:srgbClr val="FF0000"/>
                </a:solidFill>
                <a:latin typeface="TimesTen-Italic"/>
              </a:rPr>
              <a:t>executable object files.</a:t>
            </a:r>
          </a:p>
          <a:p>
            <a:pPr algn="l"/>
            <a:endParaRPr lang="en-US" sz="2000" i="1" dirty="0">
              <a:solidFill>
                <a:srgbClr val="FF0000"/>
              </a:solidFill>
              <a:latin typeface="TimesTen-Italic"/>
            </a:endParaRPr>
          </a:p>
          <a:p>
            <a:pPr algn="l"/>
            <a:endParaRPr lang="en-US" sz="2000" b="0" i="1" u="none" strike="noStrike" baseline="0" dirty="0">
              <a:solidFill>
                <a:srgbClr val="FF0000"/>
              </a:solidFill>
              <a:latin typeface="TimesTen-Italic"/>
            </a:endParaRPr>
          </a:p>
          <a:p>
            <a:pPr algn="l"/>
            <a:endParaRPr lang="en-US" sz="2000" i="1" dirty="0">
              <a:solidFill>
                <a:srgbClr val="FF0000"/>
              </a:solidFill>
              <a:latin typeface="TimesTen-Italic"/>
            </a:endParaRPr>
          </a:p>
          <a:p>
            <a:pPr algn="l"/>
            <a:endParaRPr lang="en-US" sz="2000" b="0" i="1" u="none" strike="noStrike" baseline="0" dirty="0">
              <a:solidFill>
                <a:srgbClr val="FF0000"/>
              </a:solidFill>
              <a:latin typeface="TimesTen-Italic"/>
            </a:endParaRPr>
          </a:p>
          <a:p>
            <a:pPr algn="l"/>
            <a:endParaRPr lang="en-US" sz="2000" i="1" dirty="0">
              <a:solidFill>
                <a:srgbClr val="FF0000"/>
              </a:solidFill>
              <a:latin typeface="TimesTen-Italic"/>
            </a:endParaRPr>
          </a:p>
          <a:p>
            <a:pPr algn="l"/>
            <a:r>
              <a:rPr lang="en-US" sz="2000" b="0" u="none" strike="noStrike" baseline="0" dirty="0">
                <a:latin typeface="TimesTen-Italic"/>
              </a:rPr>
              <a:t>The process of translating a source program into an executable object program is shown above. On Unix, the command is  </a:t>
            </a:r>
            <a:r>
              <a:rPr lang="en-US" sz="2200" b="1" i="1" u="none" strike="noStrike" baseline="0" dirty="0" err="1">
                <a:solidFill>
                  <a:srgbClr val="FF0000"/>
                </a:solidFill>
                <a:latin typeface="TimesTen-Italic"/>
              </a:rPr>
              <a:t>gcc</a:t>
            </a:r>
            <a:r>
              <a:rPr lang="en-US" sz="2200" b="1" i="1" u="none" strike="noStrike" baseline="0" dirty="0">
                <a:solidFill>
                  <a:srgbClr val="FF0000"/>
                </a:solidFill>
                <a:latin typeface="TimesTen-Italic"/>
              </a:rPr>
              <a:t> –o hello </a:t>
            </a:r>
            <a:r>
              <a:rPr lang="en-US" sz="2200" b="1" i="1" u="none" strike="noStrike" baseline="0" dirty="0" err="1">
                <a:solidFill>
                  <a:srgbClr val="FF0000"/>
                </a:solidFill>
                <a:latin typeface="TimesTen-Italic"/>
              </a:rPr>
              <a:t>hello.c</a:t>
            </a:r>
            <a:endParaRPr lang="en-US" sz="2200" b="1" i="1" u="none" strike="noStrike" baseline="0" dirty="0">
              <a:solidFill>
                <a:srgbClr val="FF0000"/>
              </a:solidFill>
              <a:latin typeface="TimesTen-Italic"/>
            </a:endParaRPr>
          </a:p>
          <a:p>
            <a:pPr algn="l"/>
            <a:endParaRPr lang="en-US" sz="2000" i="1" dirty="0">
              <a:solidFill>
                <a:srgbClr val="FF0000"/>
              </a:solidFill>
              <a:latin typeface="TimesTen-Italic"/>
            </a:endParaRPr>
          </a:p>
          <a:p>
            <a:pPr algn="l"/>
            <a:endParaRPr lang="en-US" sz="2000" i="1" dirty="0">
              <a:solidFill>
                <a:srgbClr val="FF0000"/>
              </a:solidFill>
              <a:latin typeface="TimesTen-Italic"/>
            </a:endParaRPr>
          </a:p>
          <a:p>
            <a:pPr algn="l"/>
            <a:endParaRPr lang="en-US" sz="2000" i="1" dirty="0">
              <a:solidFill>
                <a:srgbClr val="FF0000"/>
              </a:solidFill>
              <a:latin typeface="TimesTen-Italic"/>
            </a:endParaRPr>
          </a:p>
          <a:p>
            <a:pPr algn="l"/>
            <a:endParaRPr lang="en-US" sz="2000" i="1" dirty="0">
              <a:solidFill>
                <a:srgbClr val="FF0000"/>
              </a:solidFill>
              <a:latin typeface="TimesTen-Italic"/>
            </a:endParaRPr>
          </a:p>
          <a:p>
            <a:pPr algn="l"/>
            <a:endParaRPr lang="en-US" sz="2000" dirty="0">
              <a:solidFill>
                <a:srgbClr val="FF0000"/>
              </a:solidFill>
            </a:endParaRPr>
          </a:p>
        </p:txBody>
      </p:sp>
      <p:sp>
        <p:nvSpPr>
          <p:cNvPr id="2" name="灯片编号占位符 1"/>
          <p:cNvSpPr>
            <a:spLocks noGrp="1"/>
          </p:cNvSpPr>
          <p:nvPr>
            <p:ph type="sldNum" sz="quarter" idx="10"/>
          </p:nvPr>
        </p:nvSpPr>
        <p:spPr/>
        <p:txBody>
          <a:bodyPr/>
          <a:lstStyle/>
          <a:p>
            <a:fld id="{D9B6BDF2-6896-4B98-8776-C18582F63BA5}" type="slidenum">
              <a:rPr lang="zh-TW" altLang="en-US" smtClean="0"/>
              <a:t>12</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1031875" y="107950"/>
            <a:ext cx="7643813"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1.2 Program Compilation</a:t>
            </a:r>
          </a:p>
        </p:txBody>
      </p:sp>
      <p:pic>
        <p:nvPicPr>
          <p:cNvPr id="4" name="Picture 3">
            <a:extLst>
              <a:ext uri="{FF2B5EF4-FFF2-40B4-BE49-F238E27FC236}">
                <a16:creationId xmlns:a16="http://schemas.microsoft.com/office/drawing/2014/main" id="{456E306E-68D6-4B57-B240-0A318CCD0815}"/>
              </a:ext>
            </a:extLst>
          </p:cNvPr>
          <p:cNvPicPr>
            <a:picLocks noChangeAspect="1"/>
          </p:cNvPicPr>
          <p:nvPr/>
        </p:nvPicPr>
        <p:blipFill>
          <a:blip r:embed="rId2"/>
          <a:stretch>
            <a:fillRect/>
          </a:stretch>
        </p:blipFill>
        <p:spPr>
          <a:xfrm>
            <a:off x="632220" y="2245428"/>
            <a:ext cx="7879557" cy="1626485"/>
          </a:xfrm>
          <a:prstGeom prst="rect">
            <a:avLst/>
          </a:prstGeom>
        </p:spPr>
      </p:pic>
    </p:spTree>
    <p:extLst>
      <p:ext uri="{BB962C8B-B14F-4D97-AF65-F5344CB8AC3E}">
        <p14:creationId xmlns:p14="http://schemas.microsoft.com/office/powerpoint/2010/main" val="3218921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74171" y="864394"/>
            <a:ext cx="8795657" cy="3809205"/>
          </a:xfrm>
        </p:spPr>
        <p:txBody>
          <a:bodyPr/>
          <a:lstStyle/>
          <a:p>
            <a:pPr algn="l"/>
            <a:r>
              <a:rPr lang="en-US" sz="2000" dirty="0">
                <a:latin typeface="TimesTen-Roman"/>
              </a:rPr>
              <a:t>The individual C statements must be compiled </a:t>
            </a:r>
            <a:r>
              <a:rPr lang="en-US" sz="2000" b="0" i="0" u="none" strike="noStrike" baseline="0" dirty="0">
                <a:latin typeface="TimesTen-Roman"/>
              </a:rPr>
              <a:t>into a sequence of low-level </a:t>
            </a:r>
            <a:r>
              <a:rPr lang="en-US" sz="2000" b="0" i="1" u="none" strike="noStrike" baseline="0" dirty="0">
                <a:solidFill>
                  <a:srgbClr val="FF0000"/>
                </a:solidFill>
                <a:latin typeface="TimesTen-Italic"/>
              </a:rPr>
              <a:t>machine-language </a:t>
            </a:r>
            <a:r>
              <a:rPr lang="en-US" sz="2000" b="0" i="0" u="none" strike="noStrike" baseline="0" dirty="0">
                <a:latin typeface="TimesTen-Roman"/>
              </a:rPr>
              <a:t>instructions. These instructions are then packaged into an </a:t>
            </a:r>
            <a:r>
              <a:rPr lang="en-US" sz="2000" b="0" i="1" u="none" strike="noStrike" baseline="0" dirty="0">
                <a:solidFill>
                  <a:srgbClr val="FF0000"/>
                </a:solidFill>
                <a:latin typeface="TimesTen-Italic"/>
              </a:rPr>
              <a:t>executable object program </a:t>
            </a:r>
            <a:r>
              <a:rPr lang="en-US" sz="2000" b="0" i="0" u="none" strike="noStrike" baseline="0" dirty="0">
                <a:latin typeface="TimesTen-Roman"/>
              </a:rPr>
              <a:t>and stored as a binary disk file. Object programs are also called </a:t>
            </a:r>
            <a:r>
              <a:rPr lang="en-US" sz="2000" b="0" i="1" u="none" strike="noStrike" baseline="0" dirty="0">
                <a:solidFill>
                  <a:srgbClr val="FF0000"/>
                </a:solidFill>
                <a:latin typeface="TimesTen-Italic"/>
              </a:rPr>
              <a:t>executable object files.</a:t>
            </a:r>
          </a:p>
          <a:p>
            <a:pPr algn="l"/>
            <a:endParaRPr lang="en-US" sz="2000" i="1" dirty="0">
              <a:solidFill>
                <a:srgbClr val="FF0000"/>
              </a:solidFill>
              <a:latin typeface="TimesTen-Italic"/>
            </a:endParaRPr>
          </a:p>
          <a:p>
            <a:pPr algn="l"/>
            <a:endParaRPr lang="en-US" sz="2000" b="0" i="1" u="none" strike="noStrike" baseline="0" dirty="0">
              <a:solidFill>
                <a:srgbClr val="FF0000"/>
              </a:solidFill>
              <a:latin typeface="TimesTen-Italic"/>
            </a:endParaRPr>
          </a:p>
          <a:p>
            <a:pPr algn="l"/>
            <a:endParaRPr lang="en-US" sz="2000" i="1" dirty="0">
              <a:solidFill>
                <a:srgbClr val="FF0000"/>
              </a:solidFill>
              <a:latin typeface="TimesTen-Italic"/>
            </a:endParaRPr>
          </a:p>
          <a:p>
            <a:pPr algn="l"/>
            <a:endParaRPr lang="en-US" sz="2000" b="0" i="1" u="none" strike="noStrike" baseline="0" dirty="0">
              <a:solidFill>
                <a:srgbClr val="FF0000"/>
              </a:solidFill>
              <a:latin typeface="TimesTen-Italic"/>
            </a:endParaRPr>
          </a:p>
          <a:p>
            <a:pPr algn="l"/>
            <a:endParaRPr lang="en-US" sz="2000" i="1" dirty="0">
              <a:solidFill>
                <a:srgbClr val="FF0000"/>
              </a:solidFill>
              <a:latin typeface="TimesTen-Italic"/>
            </a:endParaRPr>
          </a:p>
          <a:p>
            <a:pPr algn="l"/>
            <a:r>
              <a:rPr lang="en-US" sz="2000" b="0" u="none" strike="noStrike" baseline="0" dirty="0">
                <a:latin typeface="TimesTen-Italic"/>
              </a:rPr>
              <a:t>The process of translating a source program into an executable object program is shown above. On Unix, the command is  </a:t>
            </a:r>
            <a:r>
              <a:rPr lang="en-US" sz="2000" b="1" i="1" u="none" strike="noStrike" baseline="0" dirty="0" err="1">
                <a:latin typeface="TimesTen-Italic"/>
              </a:rPr>
              <a:t>gcc</a:t>
            </a:r>
            <a:r>
              <a:rPr lang="en-US" sz="2000" b="1" i="1" u="none" strike="noStrike" baseline="0" dirty="0">
                <a:latin typeface="TimesTen-Italic"/>
              </a:rPr>
              <a:t> –o hello </a:t>
            </a:r>
            <a:r>
              <a:rPr lang="en-US" sz="2000" b="1" i="1" u="none" strike="noStrike" baseline="0" dirty="0" err="1">
                <a:latin typeface="TimesTen-Italic"/>
              </a:rPr>
              <a:t>hello.c</a:t>
            </a:r>
            <a:endParaRPr lang="en-US" sz="2000" b="1" i="1" u="none" strike="noStrike" baseline="0" dirty="0">
              <a:latin typeface="TimesTen-Italic"/>
            </a:endParaRPr>
          </a:p>
          <a:p>
            <a:pPr algn="l"/>
            <a:endParaRPr lang="en-US" sz="2000" i="1" dirty="0">
              <a:solidFill>
                <a:srgbClr val="FF0000"/>
              </a:solidFill>
              <a:latin typeface="TimesTen-Italic"/>
            </a:endParaRPr>
          </a:p>
          <a:p>
            <a:pPr algn="l"/>
            <a:endParaRPr lang="en-US" sz="2000" i="1" dirty="0">
              <a:solidFill>
                <a:srgbClr val="FF0000"/>
              </a:solidFill>
              <a:latin typeface="TimesTen-Italic"/>
            </a:endParaRPr>
          </a:p>
          <a:p>
            <a:pPr algn="l"/>
            <a:endParaRPr lang="en-US" sz="2000" i="1" dirty="0">
              <a:solidFill>
                <a:srgbClr val="FF0000"/>
              </a:solidFill>
              <a:latin typeface="TimesTen-Italic"/>
            </a:endParaRPr>
          </a:p>
          <a:p>
            <a:pPr algn="l"/>
            <a:endParaRPr lang="en-US" sz="2000" i="1" dirty="0">
              <a:solidFill>
                <a:srgbClr val="FF0000"/>
              </a:solidFill>
              <a:latin typeface="TimesTen-Italic"/>
            </a:endParaRPr>
          </a:p>
          <a:p>
            <a:pPr algn="l"/>
            <a:endParaRPr lang="en-US" sz="2000" dirty="0">
              <a:solidFill>
                <a:srgbClr val="FF0000"/>
              </a:solidFill>
            </a:endParaRPr>
          </a:p>
        </p:txBody>
      </p:sp>
      <p:sp>
        <p:nvSpPr>
          <p:cNvPr id="2" name="灯片编号占位符 1"/>
          <p:cNvSpPr>
            <a:spLocks noGrp="1"/>
          </p:cNvSpPr>
          <p:nvPr>
            <p:ph type="sldNum" sz="quarter" idx="10"/>
          </p:nvPr>
        </p:nvSpPr>
        <p:spPr/>
        <p:txBody>
          <a:bodyPr/>
          <a:lstStyle/>
          <a:p>
            <a:fld id="{D9B6BDF2-6896-4B98-8776-C18582F63BA5}" type="slidenum">
              <a:rPr lang="zh-TW" altLang="en-US" smtClean="0"/>
              <a:t>13</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1031875" y="107950"/>
            <a:ext cx="7643813"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1.2 Program Compilation</a:t>
            </a:r>
          </a:p>
        </p:txBody>
      </p:sp>
      <p:pic>
        <p:nvPicPr>
          <p:cNvPr id="4" name="Picture 3">
            <a:extLst>
              <a:ext uri="{FF2B5EF4-FFF2-40B4-BE49-F238E27FC236}">
                <a16:creationId xmlns:a16="http://schemas.microsoft.com/office/drawing/2014/main" id="{456E306E-68D6-4B57-B240-0A318CCD0815}"/>
              </a:ext>
            </a:extLst>
          </p:cNvPr>
          <p:cNvPicPr>
            <a:picLocks noChangeAspect="1"/>
          </p:cNvPicPr>
          <p:nvPr/>
        </p:nvPicPr>
        <p:blipFill>
          <a:blip r:embed="rId2"/>
          <a:stretch>
            <a:fillRect/>
          </a:stretch>
        </p:blipFill>
        <p:spPr>
          <a:xfrm>
            <a:off x="632220" y="2245428"/>
            <a:ext cx="7879557" cy="1626485"/>
          </a:xfrm>
          <a:prstGeom prst="rect">
            <a:avLst/>
          </a:prstGeom>
        </p:spPr>
      </p:pic>
      <p:sp>
        <p:nvSpPr>
          <p:cNvPr id="3" name="Arc 2">
            <a:extLst>
              <a:ext uri="{FF2B5EF4-FFF2-40B4-BE49-F238E27FC236}">
                <a16:creationId xmlns:a16="http://schemas.microsoft.com/office/drawing/2014/main" id="{7DC813FC-25C6-418C-927B-1765C76108B5}"/>
              </a:ext>
            </a:extLst>
          </p:cNvPr>
          <p:cNvSpPr/>
          <p:nvPr/>
        </p:nvSpPr>
        <p:spPr bwMode="auto">
          <a:xfrm>
            <a:off x="3950494" y="2443163"/>
            <a:ext cx="1521619" cy="342900"/>
          </a:xfrm>
          <a:prstGeom prst="arc">
            <a:avLst>
              <a:gd name="adj1" fmla="val 10706759"/>
              <a:gd name="adj2" fmla="val 0"/>
            </a:avLst>
          </a:prstGeom>
          <a:noFill/>
          <a:ln w="15875" cap="flat" cmpd="sng" algn="ctr">
            <a:solidFill>
              <a:srgbClr val="FF0000"/>
            </a:solidFill>
            <a:prstDash val="solid"/>
            <a:round/>
            <a:headEnd type="none" w="med" len="med"/>
            <a:tailEnd type="stealth" w="lg" len="lg"/>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5" name="TextBox 4">
            <a:extLst>
              <a:ext uri="{FF2B5EF4-FFF2-40B4-BE49-F238E27FC236}">
                <a16:creationId xmlns:a16="http://schemas.microsoft.com/office/drawing/2014/main" id="{5C175CF7-7ED9-4AE6-AF31-E26D6E3A9C2E}"/>
              </a:ext>
            </a:extLst>
          </p:cNvPr>
          <p:cNvSpPr txBox="1"/>
          <p:nvPr/>
        </p:nvSpPr>
        <p:spPr>
          <a:xfrm>
            <a:off x="3224787" y="3423317"/>
            <a:ext cx="1184940" cy="646331"/>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anose="020F07020304040A0204" pitchFamily="34" charset="0"/>
              </a:rPr>
              <a:t>CSC4180</a:t>
            </a:r>
          </a:p>
          <a:p>
            <a:r>
              <a:rPr lang="en-US" dirty="0">
                <a:ea typeface="標楷體" pitchFamily="65" charset="-120"/>
                <a:cs typeface="Calibri" panose="020F07020304040A0204" pitchFamily="34" charset="0"/>
              </a:rPr>
              <a:t>Compiler</a:t>
            </a:r>
          </a:p>
        </p:txBody>
      </p:sp>
      <p:cxnSp>
        <p:nvCxnSpPr>
          <p:cNvPr id="7" name="Straight Arrow Connector 6">
            <a:extLst>
              <a:ext uri="{FF2B5EF4-FFF2-40B4-BE49-F238E27FC236}">
                <a16:creationId xmlns:a16="http://schemas.microsoft.com/office/drawing/2014/main" id="{355381A8-C9AB-4328-BDBD-B7F8CE25C14E}"/>
              </a:ext>
            </a:extLst>
          </p:cNvPr>
          <p:cNvCxnSpPr>
            <a:stCxn id="5" idx="0"/>
          </p:cNvCxnSpPr>
          <p:nvPr/>
        </p:nvCxnSpPr>
        <p:spPr bwMode="auto">
          <a:xfrm flipH="1" flipV="1">
            <a:off x="3708400" y="3135086"/>
            <a:ext cx="108857" cy="288231"/>
          </a:xfrm>
          <a:prstGeom prst="straightConnector1">
            <a:avLst/>
          </a:prstGeom>
          <a:noFill/>
          <a:ln w="15875" cap="flat" cmpd="sng" algn="ctr">
            <a:solidFill>
              <a:srgbClr val="FF0000"/>
            </a:solidFill>
            <a:prstDash val="solid"/>
            <a:round/>
            <a:headEnd type="none" w="med" len="med"/>
            <a:tailEnd type="triangle"/>
          </a:ln>
        </p:spPr>
      </p:cxnSp>
      <p:sp>
        <p:nvSpPr>
          <p:cNvPr id="10" name="TextBox 9">
            <a:extLst>
              <a:ext uri="{FF2B5EF4-FFF2-40B4-BE49-F238E27FC236}">
                <a16:creationId xmlns:a16="http://schemas.microsoft.com/office/drawing/2014/main" id="{4AC627ED-97EF-4A65-A7D7-D6423AB51E58}"/>
              </a:ext>
            </a:extLst>
          </p:cNvPr>
          <p:cNvSpPr txBox="1"/>
          <p:nvPr/>
        </p:nvSpPr>
        <p:spPr>
          <a:xfrm>
            <a:off x="6016759" y="3561816"/>
            <a:ext cx="1197764"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anose="020F07020304040A0204" pitchFamily="34" charset="0"/>
              </a:rPr>
              <a:t>Chapter 7</a:t>
            </a:r>
          </a:p>
        </p:txBody>
      </p:sp>
      <p:cxnSp>
        <p:nvCxnSpPr>
          <p:cNvPr id="11" name="Straight Arrow Connector 10">
            <a:extLst>
              <a:ext uri="{FF2B5EF4-FFF2-40B4-BE49-F238E27FC236}">
                <a16:creationId xmlns:a16="http://schemas.microsoft.com/office/drawing/2014/main" id="{7A0B08BA-FE36-4491-BCB5-7A5BAA8E041C}"/>
              </a:ext>
            </a:extLst>
          </p:cNvPr>
          <p:cNvCxnSpPr>
            <a:cxnSpLocks/>
          </p:cNvCxnSpPr>
          <p:nvPr/>
        </p:nvCxnSpPr>
        <p:spPr bwMode="auto">
          <a:xfrm flipH="1" flipV="1">
            <a:off x="6615641" y="3135086"/>
            <a:ext cx="19709" cy="452181"/>
          </a:xfrm>
          <a:prstGeom prst="straightConnector1">
            <a:avLst/>
          </a:prstGeom>
          <a:noFill/>
          <a:ln w="15875" cap="flat" cmpd="sng" algn="ctr">
            <a:solidFill>
              <a:srgbClr val="FF0000"/>
            </a:solidFill>
            <a:prstDash val="solid"/>
            <a:round/>
            <a:headEnd type="none" w="med" len="med"/>
            <a:tailEnd type="triangle"/>
          </a:ln>
        </p:spPr>
      </p:cxnSp>
    </p:spTree>
    <p:extLst>
      <p:ext uri="{BB962C8B-B14F-4D97-AF65-F5344CB8AC3E}">
        <p14:creationId xmlns:p14="http://schemas.microsoft.com/office/powerpoint/2010/main" val="2757956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74171" y="864394"/>
            <a:ext cx="8795657" cy="3809205"/>
          </a:xfrm>
        </p:spPr>
        <p:txBody>
          <a:bodyPr/>
          <a:lstStyle/>
          <a:p>
            <a:pPr algn="l"/>
            <a:r>
              <a:rPr lang="en-US" sz="2000" dirty="0">
                <a:latin typeface="TimesTen-Roman"/>
              </a:rPr>
              <a:t>The individual C statements must be compiled </a:t>
            </a:r>
            <a:r>
              <a:rPr lang="en-US" sz="2000" b="0" i="0" u="none" strike="noStrike" baseline="0" dirty="0">
                <a:latin typeface="TimesTen-Roman"/>
              </a:rPr>
              <a:t>into a sequence of low-level </a:t>
            </a:r>
            <a:r>
              <a:rPr lang="en-US" sz="2000" b="0" i="1" u="none" strike="noStrike" baseline="0" dirty="0">
                <a:solidFill>
                  <a:srgbClr val="FF0000"/>
                </a:solidFill>
                <a:latin typeface="TimesTen-Italic"/>
              </a:rPr>
              <a:t>machine-language </a:t>
            </a:r>
            <a:r>
              <a:rPr lang="en-US" sz="2000" b="0" i="0" u="none" strike="noStrike" baseline="0" dirty="0">
                <a:latin typeface="TimesTen-Roman"/>
              </a:rPr>
              <a:t>instructions. These instructions are then packaged into an </a:t>
            </a:r>
            <a:r>
              <a:rPr lang="en-US" sz="2000" b="0" i="1" u="none" strike="noStrike" baseline="0" dirty="0">
                <a:solidFill>
                  <a:srgbClr val="FF0000"/>
                </a:solidFill>
                <a:latin typeface="TimesTen-Italic"/>
              </a:rPr>
              <a:t>executable object program </a:t>
            </a:r>
            <a:r>
              <a:rPr lang="en-US" sz="2000" b="0" i="0" u="none" strike="noStrike" baseline="0" dirty="0">
                <a:latin typeface="TimesTen-Roman"/>
              </a:rPr>
              <a:t>and stored as a binary disk file. Object programs are also called </a:t>
            </a:r>
            <a:r>
              <a:rPr lang="en-US" sz="2000" b="0" i="1" u="none" strike="noStrike" baseline="0" dirty="0">
                <a:solidFill>
                  <a:srgbClr val="FF0000"/>
                </a:solidFill>
                <a:latin typeface="TimesTen-Italic"/>
              </a:rPr>
              <a:t>executable object files.</a:t>
            </a:r>
          </a:p>
          <a:p>
            <a:pPr algn="l"/>
            <a:endParaRPr lang="en-US" sz="2000" i="1" dirty="0">
              <a:solidFill>
                <a:srgbClr val="FF0000"/>
              </a:solidFill>
              <a:latin typeface="TimesTen-Italic"/>
            </a:endParaRPr>
          </a:p>
          <a:p>
            <a:pPr algn="l"/>
            <a:endParaRPr lang="en-US" sz="2000" b="0" i="1" u="none" strike="noStrike" baseline="0" dirty="0">
              <a:solidFill>
                <a:srgbClr val="FF0000"/>
              </a:solidFill>
              <a:latin typeface="TimesTen-Italic"/>
            </a:endParaRPr>
          </a:p>
          <a:p>
            <a:pPr algn="l"/>
            <a:endParaRPr lang="en-US" sz="2000" i="1" dirty="0">
              <a:solidFill>
                <a:srgbClr val="FF0000"/>
              </a:solidFill>
              <a:latin typeface="TimesTen-Italic"/>
            </a:endParaRPr>
          </a:p>
          <a:p>
            <a:pPr algn="l"/>
            <a:endParaRPr lang="en-US" sz="2000" b="0" i="1" u="none" strike="noStrike" baseline="0" dirty="0">
              <a:solidFill>
                <a:srgbClr val="FF0000"/>
              </a:solidFill>
              <a:latin typeface="TimesTen-Italic"/>
            </a:endParaRPr>
          </a:p>
          <a:p>
            <a:pPr algn="l"/>
            <a:endParaRPr lang="en-US" sz="2000" i="1" dirty="0">
              <a:solidFill>
                <a:srgbClr val="FF0000"/>
              </a:solidFill>
              <a:latin typeface="TimesTen-Italic"/>
            </a:endParaRPr>
          </a:p>
          <a:p>
            <a:pPr algn="l"/>
            <a:r>
              <a:rPr lang="en-US" sz="2000" b="0" u="none" strike="noStrike" baseline="0" dirty="0">
                <a:latin typeface="TimesTen-Italic"/>
              </a:rPr>
              <a:t>The process of translating a source program into an executable object program is shown above. On Unix, the command is  </a:t>
            </a:r>
            <a:r>
              <a:rPr lang="en-US" sz="2000" b="1" i="1" u="none" strike="noStrike" baseline="0" dirty="0" err="1">
                <a:latin typeface="TimesTen-Italic"/>
              </a:rPr>
              <a:t>gcc</a:t>
            </a:r>
            <a:r>
              <a:rPr lang="en-US" sz="2000" b="1" i="1" u="none" strike="noStrike" baseline="0" dirty="0">
                <a:latin typeface="TimesTen-Italic"/>
              </a:rPr>
              <a:t> –o hello </a:t>
            </a:r>
            <a:r>
              <a:rPr lang="en-US" sz="2000" b="1" i="1" u="none" strike="noStrike" baseline="0" dirty="0" err="1">
                <a:latin typeface="TimesTen-Italic"/>
              </a:rPr>
              <a:t>hello.c</a:t>
            </a:r>
            <a:endParaRPr lang="en-US" sz="2000" b="1" i="1" u="none" strike="noStrike" baseline="0" dirty="0">
              <a:latin typeface="TimesTen-Italic"/>
            </a:endParaRPr>
          </a:p>
          <a:p>
            <a:pPr algn="l"/>
            <a:endParaRPr lang="en-US" sz="2000" i="1" dirty="0">
              <a:solidFill>
                <a:srgbClr val="FF0000"/>
              </a:solidFill>
              <a:latin typeface="TimesTen-Italic"/>
            </a:endParaRPr>
          </a:p>
          <a:p>
            <a:pPr algn="l"/>
            <a:endParaRPr lang="en-US" sz="2000" i="1" dirty="0">
              <a:solidFill>
                <a:srgbClr val="FF0000"/>
              </a:solidFill>
              <a:latin typeface="TimesTen-Italic"/>
            </a:endParaRPr>
          </a:p>
          <a:p>
            <a:pPr algn="l"/>
            <a:endParaRPr lang="en-US" sz="2000" i="1" dirty="0">
              <a:solidFill>
                <a:srgbClr val="FF0000"/>
              </a:solidFill>
              <a:latin typeface="TimesTen-Italic"/>
            </a:endParaRPr>
          </a:p>
          <a:p>
            <a:pPr algn="l"/>
            <a:endParaRPr lang="en-US" sz="2000" i="1" dirty="0">
              <a:solidFill>
                <a:srgbClr val="FF0000"/>
              </a:solidFill>
              <a:latin typeface="TimesTen-Italic"/>
            </a:endParaRPr>
          </a:p>
          <a:p>
            <a:pPr algn="l"/>
            <a:endParaRPr lang="en-US" sz="2000" dirty="0">
              <a:solidFill>
                <a:srgbClr val="FF0000"/>
              </a:solidFill>
            </a:endParaRPr>
          </a:p>
        </p:txBody>
      </p:sp>
      <p:sp>
        <p:nvSpPr>
          <p:cNvPr id="2" name="灯片编号占位符 1"/>
          <p:cNvSpPr>
            <a:spLocks noGrp="1"/>
          </p:cNvSpPr>
          <p:nvPr>
            <p:ph type="sldNum" sz="quarter" idx="10"/>
          </p:nvPr>
        </p:nvSpPr>
        <p:spPr/>
        <p:txBody>
          <a:bodyPr/>
          <a:lstStyle/>
          <a:p>
            <a:fld id="{D9B6BDF2-6896-4B98-8776-C18582F63BA5}" type="slidenum">
              <a:rPr lang="zh-TW" altLang="en-US" smtClean="0"/>
              <a:t>14</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1031875" y="107950"/>
            <a:ext cx="7643813"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1.2 Program Compilation</a:t>
            </a:r>
          </a:p>
        </p:txBody>
      </p:sp>
      <p:pic>
        <p:nvPicPr>
          <p:cNvPr id="4" name="Picture 3">
            <a:extLst>
              <a:ext uri="{FF2B5EF4-FFF2-40B4-BE49-F238E27FC236}">
                <a16:creationId xmlns:a16="http://schemas.microsoft.com/office/drawing/2014/main" id="{456E306E-68D6-4B57-B240-0A318CCD0815}"/>
              </a:ext>
            </a:extLst>
          </p:cNvPr>
          <p:cNvPicPr>
            <a:picLocks noChangeAspect="1"/>
          </p:cNvPicPr>
          <p:nvPr/>
        </p:nvPicPr>
        <p:blipFill>
          <a:blip r:embed="rId2"/>
          <a:stretch>
            <a:fillRect/>
          </a:stretch>
        </p:blipFill>
        <p:spPr>
          <a:xfrm>
            <a:off x="632220" y="2245428"/>
            <a:ext cx="7879557" cy="1626485"/>
          </a:xfrm>
          <a:prstGeom prst="rect">
            <a:avLst/>
          </a:prstGeom>
        </p:spPr>
      </p:pic>
      <p:sp>
        <p:nvSpPr>
          <p:cNvPr id="6" name="TextBox 5">
            <a:extLst>
              <a:ext uri="{FF2B5EF4-FFF2-40B4-BE49-F238E27FC236}">
                <a16:creationId xmlns:a16="http://schemas.microsoft.com/office/drawing/2014/main" id="{48BE778B-F180-4BCE-B58A-D276A408A0A6}"/>
              </a:ext>
            </a:extLst>
          </p:cNvPr>
          <p:cNvSpPr txBox="1"/>
          <p:nvPr/>
        </p:nvSpPr>
        <p:spPr>
          <a:xfrm>
            <a:off x="174169" y="1061145"/>
            <a:ext cx="4243607" cy="1600438"/>
          </a:xfrm>
          <a:prstGeom prst="rect">
            <a:avLst/>
          </a:prstGeom>
          <a:solidFill>
            <a:srgbClr val="FFFF00"/>
          </a:solidFill>
          <a:ln>
            <a:solidFill>
              <a:srgbClr val="FF0000"/>
            </a:solidFill>
          </a:ln>
        </p:spPr>
        <p:txBody>
          <a:bodyPr wrap="square" rtlCol="0" anchor="ctr" anchorCtr="1">
            <a:spAutoFit/>
          </a:bodyPr>
          <a:lstStyle/>
          <a:p>
            <a:pPr algn="ctr"/>
            <a:r>
              <a:rPr lang="en-US" dirty="0">
                <a:ea typeface="標楷體" pitchFamily="65" charset="-120"/>
                <a:cs typeface="Calibri" panose="020F07020304040A0204" pitchFamily="34" charset="0"/>
              </a:rPr>
              <a:t>4 phases in Figure 1.3 </a:t>
            </a:r>
          </a:p>
          <a:p>
            <a:r>
              <a:rPr lang="en-US" dirty="0">
                <a:ea typeface="標楷體" pitchFamily="65" charset="-120"/>
                <a:cs typeface="Calibri" panose="020F07020304040A0204" pitchFamily="34" charset="0"/>
              </a:rPr>
              <a:t>Pre-processing: 	</a:t>
            </a:r>
            <a:r>
              <a:rPr lang="en-US" sz="2000" dirty="0">
                <a:ea typeface="標楷體" pitchFamily="65" charset="-120"/>
                <a:cs typeface="Calibri" panose="020F07020304040A0204" pitchFamily="34" charset="0"/>
              </a:rPr>
              <a:t>.c </a:t>
            </a:r>
            <a:r>
              <a:rPr lang="en-US" sz="2000" dirty="0">
                <a:ea typeface="標楷體" pitchFamily="65" charset="-120"/>
                <a:cs typeface="Calibri" panose="020F07020304040A0204" pitchFamily="34" charset="0"/>
                <a:sym typeface="Wingdings" panose="05000000000000000000" pitchFamily="2" charset="2"/>
              </a:rPr>
              <a:t> .</a:t>
            </a:r>
            <a:r>
              <a:rPr lang="en-US" sz="2000" dirty="0" err="1">
                <a:ea typeface="標楷體" pitchFamily="65" charset="-120"/>
                <a:cs typeface="Calibri" panose="020F07020304040A0204" pitchFamily="34" charset="0"/>
                <a:sym typeface="Wingdings" panose="05000000000000000000" pitchFamily="2" charset="2"/>
              </a:rPr>
              <a:t>i</a:t>
            </a:r>
            <a:endParaRPr lang="en-US" sz="2000" dirty="0">
              <a:ea typeface="標楷體" pitchFamily="65" charset="-120"/>
              <a:cs typeface="Calibri" panose="020F07020304040A0204" pitchFamily="34" charset="0"/>
              <a:sym typeface="Wingdings" panose="05000000000000000000" pitchFamily="2" charset="2"/>
            </a:endParaRPr>
          </a:p>
          <a:p>
            <a:r>
              <a:rPr lang="en-US" dirty="0">
                <a:ea typeface="標楷體" pitchFamily="65" charset="-120"/>
                <a:cs typeface="Calibri" panose="020F07020304040A0204" pitchFamily="34" charset="0"/>
                <a:sym typeface="Wingdings" panose="05000000000000000000" pitchFamily="2" charset="2"/>
              </a:rPr>
              <a:t>Compiling: 	</a:t>
            </a:r>
            <a:r>
              <a:rPr lang="en-US" sz="2000" dirty="0">
                <a:ea typeface="標楷體" pitchFamily="65" charset="-120"/>
                <a:cs typeface="Calibri" panose="020F07020304040A0204" pitchFamily="34" charset="0"/>
                <a:sym typeface="Wingdings" panose="05000000000000000000" pitchFamily="2" charset="2"/>
              </a:rPr>
              <a:t>.</a:t>
            </a:r>
            <a:r>
              <a:rPr lang="en-US" sz="2000" dirty="0" err="1">
                <a:ea typeface="標楷體" pitchFamily="65" charset="-120"/>
                <a:cs typeface="Calibri" panose="020F07020304040A0204" pitchFamily="34" charset="0"/>
                <a:sym typeface="Wingdings" panose="05000000000000000000" pitchFamily="2" charset="2"/>
              </a:rPr>
              <a:t>i</a:t>
            </a:r>
            <a:r>
              <a:rPr lang="en-US" sz="2000" dirty="0">
                <a:ea typeface="標楷體" pitchFamily="65" charset="-120"/>
                <a:cs typeface="Calibri" panose="020F07020304040A0204" pitchFamily="34" charset="0"/>
                <a:sym typeface="Wingdings" panose="05000000000000000000" pitchFamily="2" charset="2"/>
              </a:rPr>
              <a:t>   .s</a:t>
            </a:r>
          </a:p>
          <a:p>
            <a:r>
              <a:rPr lang="en-US" dirty="0">
                <a:ea typeface="標楷體" pitchFamily="65" charset="-120"/>
                <a:cs typeface="Calibri" panose="020F07020304040A0204" pitchFamily="34" charset="0"/>
                <a:sym typeface="Wingdings" panose="05000000000000000000" pitchFamily="2" charset="2"/>
              </a:rPr>
              <a:t>Assembling: 	</a:t>
            </a:r>
            <a:r>
              <a:rPr lang="en-US" sz="2000" dirty="0">
                <a:ea typeface="標楷體" pitchFamily="65" charset="-120"/>
                <a:cs typeface="Calibri" panose="020F07020304040A0204" pitchFamily="34" charset="0"/>
                <a:sym typeface="Wingdings" panose="05000000000000000000" pitchFamily="2" charset="2"/>
              </a:rPr>
              <a:t>.s  .o</a:t>
            </a:r>
          </a:p>
          <a:p>
            <a:r>
              <a:rPr lang="en-US" dirty="0">
                <a:ea typeface="標楷體" pitchFamily="65" charset="-120"/>
                <a:cs typeface="Calibri" panose="020F07020304040A0204" pitchFamily="34" charset="0"/>
                <a:sym typeface="Wingdings" panose="05000000000000000000" pitchFamily="2" charset="2"/>
              </a:rPr>
              <a:t>Linking:		</a:t>
            </a:r>
            <a:r>
              <a:rPr lang="en-US" sz="2000" dirty="0">
                <a:ea typeface="標楷體" pitchFamily="65" charset="-120"/>
                <a:cs typeface="Calibri" panose="020F07020304040A0204" pitchFamily="34" charset="0"/>
                <a:sym typeface="Wingdings" panose="05000000000000000000" pitchFamily="2" charset="2"/>
              </a:rPr>
              <a:t>.o  </a:t>
            </a:r>
            <a:r>
              <a:rPr lang="en-US" sz="2000" dirty="0">
                <a:solidFill>
                  <a:srgbClr val="FF0000"/>
                </a:solidFill>
                <a:ea typeface="標楷體" pitchFamily="65" charset="-120"/>
                <a:cs typeface="Calibri" panose="020F07020304040A0204" pitchFamily="34" charset="0"/>
                <a:sym typeface="Wingdings" panose="05000000000000000000" pitchFamily="2" charset="2"/>
              </a:rPr>
              <a:t>executable</a:t>
            </a:r>
            <a:endParaRPr lang="en-US" sz="2000" dirty="0">
              <a:solidFill>
                <a:srgbClr val="FF0000"/>
              </a:solidFill>
              <a:ea typeface="標楷體" pitchFamily="65" charset="-120"/>
              <a:cs typeface="Calibri" panose="020F07020304040A0204" pitchFamily="34" charset="0"/>
            </a:endParaRPr>
          </a:p>
        </p:txBody>
      </p:sp>
      <p:sp>
        <p:nvSpPr>
          <p:cNvPr id="7" name="TextBox 6">
            <a:extLst>
              <a:ext uri="{FF2B5EF4-FFF2-40B4-BE49-F238E27FC236}">
                <a16:creationId xmlns:a16="http://schemas.microsoft.com/office/drawing/2014/main" id="{953A639F-3624-4DD7-961E-368AD58E21AB}"/>
              </a:ext>
            </a:extLst>
          </p:cNvPr>
          <p:cNvSpPr txBox="1"/>
          <p:nvPr/>
        </p:nvSpPr>
        <p:spPr>
          <a:xfrm>
            <a:off x="2407445" y="2875145"/>
            <a:ext cx="6647258" cy="1815882"/>
          </a:xfrm>
          <a:prstGeom prst="rect">
            <a:avLst/>
          </a:prstGeom>
          <a:solidFill>
            <a:srgbClr val="FFFF00"/>
          </a:solidFill>
          <a:ln>
            <a:solidFill>
              <a:srgbClr val="FF0000"/>
            </a:solidFill>
          </a:ln>
        </p:spPr>
        <p:txBody>
          <a:bodyPr wrap="square" rtlCol="0" anchor="ctr" anchorCtr="1">
            <a:spAutoFit/>
          </a:bodyPr>
          <a:lstStyle/>
          <a:p>
            <a:pPr algn="ctr"/>
            <a:r>
              <a:rPr lang="en-US" dirty="0">
                <a:ea typeface="標楷體" pitchFamily="65" charset="-120"/>
                <a:cs typeface="Calibri" panose="020F07020304040A0204" pitchFamily="34" charset="0"/>
              </a:rPr>
              <a:t>4 phases </a:t>
            </a:r>
          </a:p>
          <a:p>
            <a:r>
              <a:rPr lang="en-US" dirty="0">
                <a:ea typeface="標楷體" pitchFamily="65" charset="-120"/>
                <a:cs typeface="Calibri" panose="020F07020304040A0204" pitchFamily="34" charset="0"/>
              </a:rPr>
              <a:t>Pre-processing: 	handles include/define, strips off comments, and conditional compilation #ifdef. </a:t>
            </a:r>
          </a:p>
          <a:p>
            <a:r>
              <a:rPr lang="en-US" dirty="0">
                <a:ea typeface="標楷體" pitchFamily="65" charset="-120"/>
                <a:cs typeface="Calibri" panose="020F07020304040A0204" pitchFamily="34" charset="0"/>
                <a:sym typeface="Wingdings" panose="05000000000000000000" pitchFamily="2" charset="2"/>
              </a:rPr>
              <a:t>Compiling: 	scan/parse/semantic check/code gen/opt	</a:t>
            </a:r>
            <a:endParaRPr lang="en-US" sz="2000" dirty="0">
              <a:ea typeface="標楷體" pitchFamily="65" charset="-120"/>
              <a:cs typeface="Calibri" panose="020F07020304040A0204" pitchFamily="34" charset="0"/>
              <a:sym typeface="Wingdings" panose="05000000000000000000" pitchFamily="2" charset="2"/>
            </a:endParaRPr>
          </a:p>
          <a:p>
            <a:r>
              <a:rPr lang="en-US" dirty="0">
                <a:ea typeface="標楷體" pitchFamily="65" charset="-120"/>
                <a:cs typeface="Calibri" panose="020F07020304040A0204" pitchFamily="34" charset="0"/>
                <a:sym typeface="Wingdings" panose="05000000000000000000" pitchFamily="2" charset="2"/>
              </a:rPr>
              <a:t>Assembling: 	from assembly to machine code</a:t>
            </a:r>
          </a:p>
          <a:p>
            <a:r>
              <a:rPr lang="en-US" dirty="0">
                <a:ea typeface="標楷體" pitchFamily="65" charset="-120"/>
                <a:cs typeface="Calibri" panose="020F07020304040A0204" pitchFamily="34" charset="0"/>
                <a:sym typeface="Wingdings" panose="05000000000000000000" pitchFamily="2" charset="2"/>
              </a:rPr>
              <a:t>Linking:		relocation, reference resolution</a:t>
            </a:r>
            <a:endParaRPr lang="en-US" sz="2000" dirty="0">
              <a:ea typeface="標楷體" pitchFamily="65" charset="-120"/>
              <a:cs typeface="Calibri" panose="020F07020304040A0204" pitchFamily="34" charset="0"/>
            </a:endParaRPr>
          </a:p>
        </p:txBody>
      </p:sp>
    </p:spTree>
    <p:extLst>
      <p:ext uri="{BB962C8B-B14F-4D97-AF65-F5344CB8AC3E}">
        <p14:creationId xmlns:p14="http://schemas.microsoft.com/office/powerpoint/2010/main" val="1167735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74171" y="714375"/>
            <a:ext cx="8795657" cy="3986211"/>
          </a:xfrm>
        </p:spPr>
        <p:txBody>
          <a:bodyPr/>
          <a:lstStyle/>
          <a:p>
            <a:pPr algn="l"/>
            <a:r>
              <a:rPr lang="en-US" sz="2200" dirty="0">
                <a:latin typeface="TimesTen-Italic"/>
              </a:rPr>
              <a:t>It pays to understand how the compiler translates code</a:t>
            </a:r>
          </a:p>
          <a:p>
            <a:pPr lvl="1"/>
            <a:r>
              <a:rPr lang="en-US" sz="1600" dirty="0">
                <a:latin typeface="Times New Roman" panose="02020603050405020304" pitchFamily="18" charset="0"/>
                <a:cs typeface="Times New Roman" panose="02020603050405020304" pitchFamily="18" charset="0"/>
              </a:rPr>
              <a:t>Is “switch” always faster than a nested “if-then-else”?</a:t>
            </a:r>
          </a:p>
          <a:p>
            <a:pPr lvl="1"/>
            <a:r>
              <a:rPr lang="en-US" sz="1600" dirty="0">
                <a:latin typeface="Times New Roman" panose="02020603050405020304" pitchFamily="18" charset="0"/>
                <a:cs typeface="Times New Roman" panose="02020603050405020304" pitchFamily="18" charset="0"/>
              </a:rPr>
              <a:t>What is the overhead for a function call?</a:t>
            </a:r>
          </a:p>
          <a:p>
            <a:pPr lvl="1"/>
            <a:r>
              <a:rPr lang="en-US" sz="1600" dirty="0">
                <a:latin typeface="Times New Roman" panose="02020603050405020304" pitchFamily="18" charset="0"/>
                <a:cs typeface="Times New Roman" panose="02020603050405020304" pitchFamily="18" charset="0"/>
              </a:rPr>
              <a:t>Why is (</a:t>
            </a:r>
            <a:r>
              <a:rPr lang="en-US" sz="1600" dirty="0" err="1">
                <a:latin typeface="Times New Roman" panose="02020603050405020304" pitchFamily="18" charset="0"/>
                <a:cs typeface="Times New Roman" panose="02020603050405020304" pitchFamily="18" charset="0"/>
              </a:rPr>
              <a:t>a+b</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c+d</a:t>
            </a:r>
            <a:r>
              <a:rPr lang="en-US" sz="1600" dirty="0">
                <a:latin typeface="Times New Roman" panose="02020603050405020304" pitchFamily="18" charset="0"/>
                <a:cs typeface="Times New Roman" panose="02020603050405020304" pitchFamily="18" charset="0"/>
              </a:rPr>
              <a:t>) faster than (((</a:t>
            </a:r>
            <a:r>
              <a:rPr lang="en-US" sz="1600" dirty="0" err="1">
                <a:latin typeface="Times New Roman" panose="02020603050405020304" pitchFamily="18" charset="0"/>
                <a:cs typeface="Times New Roman" panose="02020603050405020304" pitchFamily="18" charset="0"/>
              </a:rPr>
              <a:t>a+b</a:t>
            </a:r>
            <a:r>
              <a:rPr lang="en-US" sz="1600" dirty="0">
                <a:latin typeface="Times New Roman" panose="02020603050405020304" pitchFamily="18" charset="0"/>
                <a:cs typeface="Times New Roman" panose="02020603050405020304" pitchFamily="18" charset="0"/>
              </a:rPr>
              <a:t>)+c)+d)</a:t>
            </a:r>
          </a:p>
          <a:p>
            <a:pPr lvl="1"/>
            <a:r>
              <a:rPr lang="en-US" sz="1600" dirty="0">
                <a:latin typeface="Times New Roman" panose="02020603050405020304" pitchFamily="18" charset="0"/>
                <a:cs typeface="Times New Roman" panose="02020603050405020304" pitchFamily="18" charset="0"/>
              </a:rPr>
              <a:t>Why is </a:t>
            </a:r>
            <a:r>
              <a:rPr lang="en-US" sz="1600" b="0" i="0" dirty="0" err="1">
                <a:effectLst/>
                <a:latin typeface="Times New Roman" panose="02020603050405020304" pitchFamily="18" charset="0"/>
                <a:cs typeface="Times New Roman" panose="02020603050405020304" pitchFamily="18" charset="0"/>
              </a:rPr>
              <a:t>memcpy</a:t>
            </a:r>
            <a:r>
              <a:rPr lang="en-US" sz="1600" b="0" i="0" dirty="0">
                <a:solidFill>
                  <a:srgbClr val="383A42"/>
                </a:solidFill>
                <a:effectLst/>
                <a:latin typeface="Times New Roman" panose="02020603050405020304" pitchFamily="18" charset="0"/>
                <a:cs typeface="Times New Roman" panose="02020603050405020304" pitchFamily="18" charset="0"/>
              </a:rPr>
              <a:t>(</a:t>
            </a:r>
            <a:r>
              <a:rPr lang="en-US" sz="1600" b="0" i="0" dirty="0">
                <a:solidFill>
                  <a:srgbClr val="4078F2"/>
                </a:solidFill>
                <a:effectLst/>
                <a:latin typeface="Times New Roman" panose="02020603050405020304" pitchFamily="18" charset="0"/>
                <a:cs typeface="Times New Roman" panose="02020603050405020304" pitchFamily="18" charset="0"/>
              </a:rPr>
              <a:t>*</a:t>
            </a:r>
            <a:r>
              <a:rPr lang="en-US" sz="1600" b="0" i="0" dirty="0">
                <a:solidFill>
                  <a:srgbClr val="383A42"/>
                </a:solidFill>
                <a:effectLst/>
                <a:latin typeface="Times New Roman" panose="02020603050405020304" pitchFamily="18" charset="0"/>
                <a:cs typeface="Times New Roman" panose="02020603050405020304" pitchFamily="18" charset="0"/>
              </a:rPr>
              <a:t>restrict </a:t>
            </a:r>
            <a:r>
              <a:rPr lang="en-US" sz="1600" b="0" i="0" dirty="0" err="1">
                <a:solidFill>
                  <a:srgbClr val="383A42"/>
                </a:solidFill>
                <a:effectLst/>
                <a:latin typeface="Times New Roman" panose="02020603050405020304" pitchFamily="18" charset="0"/>
                <a:cs typeface="Times New Roman" panose="02020603050405020304" pitchFamily="18" charset="0"/>
              </a:rPr>
              <a:t>dest</a:t>
            </a:r>
            <a:r>
              <a:rPr lang="en-US" sz="1600" b="0" i="0" dirty="0">
                <a:solidFill>
                  <a:srgbClr val="383A42"/>
                </a:solidFill>
                <a:effectLst/>
                <a:latin typeface="Times New Roman" panose="02020603050405020304" pitchFamily="18" charset="0"/>
                <a:cs typeface="Times New Roman" panose="02020603050405020304" pitchFamily="18" charset="0"/>
              </a:rPr>
              <a:t>,</a:t>
            </a:r>
            <a:r>
              <a:rPr lang="en-US" sz="1600" b="0" i="0" dirty="0">
                <a:solidFill>
                  <a:srgbClr val="4078F2"/>
                </a:solidFill>
                <a:effectLst/>
                <a:latin typeface="Times New Roman" panose="02020603050405020304" pitchFamily="18" charset="0"/>
                <a:cs typeface="Times New Roman" panose="02020603050405020304" pitchFamily="18" charset="0"/>
              </a:rPr>
              <a:t>*</a:t>
            </a:r>
            <a:r>
              <a:rPr lang="en-US" sz="1600" b="0" i="0" dirty="0">
                <a:solidFill>
                  <a:srgbClr val="383A42"/>
                </a:solidFill>
                <a:effectLst/>
                <a:latin typeface="Times New Roman" panose="02020603050405020304" pitchFamily="18" charset="0"/>
                <a:cs typeface="Times New Roman" panose="02020603050405020304" pitchFamily="18" charset="0"/>
              </a:rPr>
              <a:t>restrict </a:t>
            </a:r>
            <a:r>
              <a:rPr lang="en-US" sz="1600" b="0" i="0" dirty="0" err="1">
                <a:solidFill>
                  <a:srgbClr val="383A42"/>
                </a:solidFill>
                <a:effectLst/>
                <a:latin typeface="Times New Roman" panose="02020603050405020304" pitchFamily="18" charset="0"/>
                <a:cs typeface="Times New Roman" panose="02020603050405020304" pitchFamily="18" charset="0"/>
              </a:rPr>
              <a:t>src</a:t>
            </a:r>
            <a:r>
              <a:rPr lang="en-US" sz="1600" b="0" i="0" dirty="0">
                <a:solidFill>
                  <a:srgbClr val="383A42"/>
                </a:solidFill>
                <a:effectLst/>
                <a:latin typeface="Times New Roman" panose="02020603050405020304" pitchFamily="18" charset="0"/>
                <a:cs typeface="Times New Roman" panose="02020603050405020304" pitchFamily="18" charset="0"/>
              </a:rPr>
              <a:t>,…) much faster than without restrict?</a:t>
            </a:r>
            <a:endParaRPr lang="en-US" sz="1600" dirty="0">
              <a:latin typeface="Times New Roman" panose="02020603050405020304" pitchFamily="18" charset="0"/>
              <a:cs typeface="Times New Roman" panose="02020603050405020304" pitchFamily="18" charset="0"/>
            </a:endParaRPr>
          </a:p>
          <a:p>
            <a:pPr algn="l"/>
            <a:r>
              <a:rPr lang="en-US" sz="2200" dirty="0">
                <a:latin typeface="TimesTen-Italic"/>
              </a:rPr>
              <a:t>Have you ever turned on the compiler optimization flag (-O)?</a:t>
            </a:r>
          </a:p>
          <a:p>
            <a:pPr lvl="1"/>
            <a:r>
              <a:rPr lang="en-US" sz="1800" dirty="0">
                <a:latin typeface="TimesTen-Italic"/>
              </a:rPr>
              <a:t>The performance loss might be 2x-20x, depending on the target app/machines.</a:t>
            </a:r>
          </a:p>
          <a:p>
            <a:pPr algn="l"/>
            <a:r>
              <a:rPr lang="en-US" sz="2200" dirty="0">
                <a:latin typeface="TimesTen-Italic"/>
              </a:rPr>
              <a:t>Do you know how the linker works?</a:t>
            </a:r>
          </a:p>
          <a:p>
            <a:pPr marL="556895" marR="0" lvl="1" indent="-213995" algn="l" defTabSz="914400" rtl="0" eaLnBrk="1" fontAlgn="base" latinLnBrk="0" hangingPunct="1">
              <a:lnSpc>
                <a:spcPct val="100000"/>
              </a:lnSpc>
              <a:spcBef>
                <a:spcPct val="20000"/>
              </a:spcBef>
              <a:spcAft>
                <a:spcPct val="0"/>
              </a:spcAft>
              <a:buClr>
                <a:srgbClr val="8064A2"/>
              </a:buClr>
              <a:buSzPct val="90000"/>
              <a:buFont typeface="Arial" panose="020B0604020202090204" pitchFamily="34" charset="0"/>
              <a:buChar char="–"/>
              <a:tabLst/>
              <a:defRPr/>
            </a:pPr>
            <a:r>
              <a:rPr kumimoji="1" lang="en-US" sz="1600" b="0" i="0" u="none" strike="noStrike" kern="0" cap="none" spc="0" normalizeH="0" baseline="0" noProof="0" dirty="0">
                <a:ln>
                  <a:noFill/>
                </a:ln>
                <a:solidFill>
                  <a:prstClr val="black"/>
                </a:solidFill>
                <a:effectLst/>
                <a:uLnTx/>
                <a:uFillTx/>
                <a:latin typeface="TimesTen-Italic"/>
                <a:ea typeface="標楷體" pitchFamily="65" charset="-120"/>
              </a:rPr>
              <a:t>How do you resolve linker-reported error messages?</a:t>
            </a:r>
          </a:p>
          <a:p>
            <a:pPr marL="556895" marR="0" lvl="1" indent="-213995" algn="l" defTabSz="914400" rtl="0" eaLnBrk="1" fontAlgn="base" latinLnBrk="0" hangingPunct="1">
              <a:lnSpc>
                <a:spcPct val="100000"/>
              </a:lnSpc>
              <a:spcBef>
                <a:spcPct val="20000"/>
              </a:spcBef>
              <a:spcAft>
                <a:spcPct val="0"/>
              </a:spcAft>
              <a:buClr>
                <a:srgbClr val="8064A2"/>
              </a:buClr>
              <a:buSzPct val="90000"/>
              <a:buFont typeface="Arial" panose="020B0604020202090204" pitchFamily="34" charset="0"/>
              <a:buChar char="–"/>
              <a:tabLst/>
              <a:defRPr/>
            </a:pPr>
            <a:r>
              <a:rPr kumimoji="1" lang="en-US" sz="1600" b="0" i="0" u="none" strike="noStrike" kern="0" cap="none" spc="0" normalizeH="0" baseline="0" noProof="0" dirty="0">
                <a:ln>
                  <a:noFill/>
                </a:ln>
                <a:solidFill>
                  <a:prstClr val="black"/>
                </a:solidFill>
                <a:effectLst/>
                <a:uLnTx/>
                <a:uFillTx/>
                <a:latin typeface="TimesTen-Italic"/>
                <a:ea typeface="標楷體" pitchFamily="65" charset="-120"/>
              </a:rPr>
              <a:t>What is the difference between static and dynamic libraries?</a:t>
            </a:r>
          </a:p>
          <a:p>
            <a:pPr algn="l"/>
            <a:r>
              <a:rPr lang="en-US" sz="2200" dirty="0">
                <a:latin typeface="TimesTen-Italic"/>
              </a:rPr>
              <a:t>How to avoid security holes in your program?</a:t>
            </a:r>
          </a:p>
          <a:p>
            <a:pPr lvl="1"/>
            <a:r>
              <a:rPr lang="en-US" sz="1600" dirty="0">
                <a:latin typeface="TimesTen-Italic"/>
              </a:rPr>
              <a:t>Must understand how data and control information are stored on the program stack</a:t>
            </a:r>
          </a:p>
          <a:p>
            <a:pPr algn="l"/>
            <a:endParaRPr lang="en-US" dirty="0">
              <a:latin typeface="TimesTen-Italic"/>
            </a:endParaRPr>
          </a:p>
          <a:p>
            <a:pPr algn="l"/>
            <a:endParaRPr lang="en-US" sz="2000" i="1" dirty="0">
              <a:solidFill>
                <a:srgbClr val="FF0000"/>
              </a:solidFill>
              <a:latin typeface="TimesTen-Italic"/>
            </a:endParaRPr>
          </a:p>
          <a:p>
            <a:pPr algn="l"/>
            <a:endParaRPr lang="en-US" sz="2000" i="1" dirty="0">
              <a:solidFill>
                <a:srgbClr val="FF0000"/>
              </a:solidFill>
              <a:latin typeface="TimesTen-Italic"/>
            </a:endParaRPr>
          </a:p>
          <a:p>
            <a:pPr algn="l"/>
            <a:endParaRPr lang="en-US" sz="2000" dirty="0">
              <a:solidFill>
                <a:srgbClr val="FF0000"/>
              </a:solidFill>
            </a:endParaRPr>
          </a:p>
        </p:txBody>
      </p:sp>
      <p:sp>
        <p:nvSpPr>
          <p:cNvPr id="2" name="灯片编号占位符 1"/>
          <p:cNvSpPr>
            <a:spLocks noGrp="1"/>
          </p:cNvSpPr>
          <p:nvPr>
            <p:ph type="sldNum" sz="quarter" idx="10"/>
          </p:nvPr>
        </p:nvSpPr>
        <p:spPr/>
        <p:txBody>
          <a:bodyPr/>
          <a:lstStyle/>
          <a:p>
            <a:fld id="{D9B6BDF2-6896-4B98-8776-C18582F63BA5}" type="slidenum">
              <a:rPr lang="zh-TW" altLang="en-US" smtClean="0"/>
              <a:t>15</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235744" y="107950"/>
            <a:ext cx="8658225"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2600" dirty="0">
                <a:latin typeface="Calibri" panose="020F0502020204030204" pitchFamily="34" charset="0"/>
                <a:ea typeface="Calibri" panose="020F0502020204030204" pitchFamily="34" charset="0"/>
                <a:cs typeface="Calibri" panose="020F0502020204030204" pitchFamily="34" charset="0"/>
              </a:rPr>
              <a:t>1.3 It Pays to Understand How Compilation Systems Work </a:t>
            </a:r>
          </a:p>
        </p:txBody>
      </p:sp>
    </p:spTree>
    <p:extLst>
      <p:ext uri="{BB962C8B-B14F-4D97-AF65-F5344CB8AC3E}">
        <p14:creationId xmlns:p14="http://schemas.microsoft.com/office/powerpoint/2010/main" val="4252197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74171" y="714375"/>
            <a:ext cx="8795657" cy="3986211"/>
          </a:xfrm>
        </p:spPr>
        <p:txBody>
          <a:bodyPr/>
          <a:lstStyle/>
          <a:p>
            <a:pPr algn="l">
              <a:buSzPct val="151000"/>
              <a:buFont typeface="Arial" panose="020B0604020202020204" pitchFamily="34" charset="0"/>
              <a:buChar char="•"/>
            </a:pPr>
            <a:r>
              <a:rPr lang="en-US" sz="2000" b="0" i="0" u="none" strike="noStrike" baseline="0" dirty="0">
                <a:latin typeface="TimesTen-Roman"/>
              </a:rPr>
              <a:t>To run the executable file on a Unix system, we type its name to an application program known as a </a:t>
            </a:r>
            <a:r>
              <a:rPr lang="en-US" sz="2000" b="0" i="1" u="none" strike="noStrike" baseline="0" dirty="0">
                <a:latin typeface="TimesTen-Italic"/>
              </a:rPr>
              <a:t>shell:</a:t>
            </a:r>
          </a:p>
          <a:p>
            <a:pPr marL="342900" lvl="1" indent="0">
              <a:buNone/>
            </a:pPr>
            <a:r>
              <a:rPr lang="en-US" sz="1400" b="0" i="0" u="none" strike="noStrike" baseline="0" dirty="0" err="1">
                <a:latin typeface="ZztexMono-Regular"/>
              </a:rPr>
              <a:t>linux</a:t>
            </a:r>
            <a:r>
              <a:rPr lang="en-US" sz="1400" b="0" i="0" u="none" strike="noStrike" baseline="0" dirty="0">
                <a:latin typeface="ZztexMono-Regular"/>
              </a:rPr>
              <a:t>&gt; </a:t>
            </a:r>
            <a:r>
              <a:rPr lang="en-US" sz="1400" b="0" i="1" u="none" strike="noStrike" baseline="0" dirty="0">
                <a:latin typeface="ZztexMono-Italic"/>
              </a:rPr>
              <a:t>./hello</a:t>
            </a:r>
          </a:p>
          <a:p>
            <a:pPr marL="342900" lvl="1" indent="0">
              <a:buNone/>
            </a:pPr>
            <a:r>
              <a:rPr lang="en-US" sz="1400" b="0" i="0" u="none" strike="noStrike" baseline="0" dirty="0">
                <a:latin typeface="ZztexMono-Regular"/>
              </a:rPr>
              <a:t>hello, world</a:t>
            </a:r>
          </a:p>
          <a:p>
            <a:pPr marL="342900" lvl="1" indent="0">
              <a:buNone/>
            </a:pPr>
            <a:r>
              <a:rPr lang="en-US" sz="1400" b="0" i="0" u="none" strike="noStrike" baseline="0" dirty="0" err="1">
                <a:latin typeface="ZztexMono-Regular"/>
              </a:rPr>
              <a:t>linux</a:t>
            </a:r>
            <a:r>
              <a:rPr lang="en-US" sz="1400" b="0" i="0" u="none" strike="noStrike" baseline="0" dirty="0">
                <a:latin typeface="ZztexMono-Regular"/>
              </a:rPr>
              <a:t>&gt;</a:t>
            </a:r>
          </a:p>
          <a:p>
            <a:pPr>
              <a:buSzPct val="150000"/>
              <a:buFont typeface="Arial" panose="020B0604020202020204" pitchFamily="34" charset="0"/>
              <a:buChar char="•"/>
            </a:pPr>
            <a:r>
              <a:rPr lang="en-US" sz="2000" dirty="0">
                <a:latin typeface="ZztexMono-Regular"/>
              </a:rPr>
              <a:t>Hardware organization of </a:t>
            </a:r>
          </a:p>
          <a:p>
            <a:pPr marL="0" indent="0">
              <a:buSzPct val="150000"/>
              <a:buNone/>
            </a:pPr>
            <a:r>
              <a:rPr lang="en-US" sz="2000" dirty="0">
                <a:latin typeface="ZztexMono-Regular"/>
              </a:rPr>
              <a:t>     a system</a:t>
            </a:r>
          </a:p>
          <a:p>
            <a:pPr lvl="1">
              <a:buSzPct val="100000"/>
              <a:buFont typeface="Wingdings" panose="05000000000000000000" pitchFamily="2" charset="2"/>
              <a:buChar char="§"/>
            </a:pPr>
            <a:r>
              <a:rPr lang="en-US" sz="1600" dirty="0">
                <a:latin typeface="ZztexMono-Regular"/>
              </a:rPr>
              <a:t>Buses</a:t>
            </a:r>
          </a:p>
          <a:p>
            <a:pPr lvl="1">
              <a:buSzPct val="100000"/>
              <a:buFont typeface="Wingdings" panose="05000000000000000000" pitchFamily="2" charset="2"/>
              <a:buChar char="§"/>
            </a:pPr>
            <a:r>
              <a:rPr lang="en-US" sz="1600" b="0" i="0" u="none" strike="noStrike" baseline="0" dirty="0">
                <a:latin typeface="ZztexMono-Regular"/>
              </a:rPr>
              <a:t>I/O devices</a:t>
            </a:r>
          </a:p>
          <a:p>
            <a:pPr lvl="1">
              <a:buSzPct val="100000"/>
              <a:buFont typeface="Wingdings" panose="05000000000000000000" pitchFamily="2" charset="2"/>
              <a:buChar char="§"/>
            </a:pPr>
            <a:r>
              <a:rPr lang="en-US" sz="1600" dirty="0">
                <a:latin typeface="ZztexMono-Regular"/>
              </a:rPr>
              <a:t>Main Memory</a:t>
            </a:r>
          </a:p>
          <a:p>
            <a:pPr lvl="1">
              <a:buSzPct val="100000"/>
              <a:buFont typeface="Wingdings" panose="05000000000000000000" pitchFamily="2" charset="2"/>
              <a:buChar char="§"/>
            </a:pPr>
            <a:r>
              <a:rPr lang="en-US" sz="1600" b="0" i="0" u="none" strike="noStrike" baseline="0" dirty="0">
                <a:latin typeface="ZztexMono-Regular"/>
              </a:rPr>
              <a:t>CPU (or Processor)</a:t>
            </a:r>
          </a:p>
        </p:txBody>
      </p:sp>
      <p:sp>
        <p:nvSpPr>
          <p:cNvPr id="2" name="灯片编号占位符 1"/>
          <p:cNvSpPr>
            <a:spLocks noGrp="1"/>
          </p:cNvSpPr>
          <p:nvPr>
            <p:ph type="sldNum" sz="quarter" idx="10"/>
          </p:nvPr>
        </p:nvSpPr>
        <p:spPr/>
        <p:txBody>
          <a:bodyPr/>
          <a:lstStyle/>
          <a:p>
            <a:fld id="{D9B6BDF2-6896-4B98-8776-C18582F63BA5}" type="slidenum">
              <a:rPr lang="zh-TW" altLang="en-US" smtClean="0"/>
              <a:t>16</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235744" y="107950"/>
            <a:ext cx="8658225"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2600" dirty="0">
                <a:latin typeface="Calibri" panose="020F0502020204030204" pitchFamily="34" charset="0"/>
                <a:ea typeface="Calibri" panose="020F0502020204030204" pitchFamily="34" charset="0"/>
                <a:cs typeface="Calibri" panose="020F0502020204030204" pitchFamily="34" charset="0"/>
              </a:rPr>
              <a:t>1.4 Processors Read and Interpret </a:t>
            </a:r>
            <a:r>
              <a:rPr lang="en-US" sz="2600" dirty="0" err="1">
                <a:latin typeface="Calibri" panose="020F0502020204030204" pitchFamily="34" charset="0"/>
                <a:ea typeface="Calibri" panose="020F0502020204030204" pitchFamily="34" charset="0"/>
                <a:cs typeface="Calibri" panose="020F0502020204030204" pitchFamily="34" charset="0"/>
              </a:rPr>
              <a:t>Insts</a:t>
            </a:r>
            <a:r>
              <a:rPr lang="en-US" sz="2600" dirty="0">
                <a:latin typeface="Calibri" panose="020F0502020204030204" pitchFamily="34" charset="0"/>
                <a:ea typeface="Calibri" panose="020F0502020204030204" pitchFamily="34" charset="0"/>
                <a:cs typeface="Calibri" panose="020F0502020204030204" pitchFamily="34" charset="0"/>
              </a:rPr>
              <a:t> Stored in Memory</a:t>
            </a:r>
          </a:p>
        </p:txBody>
      </p:sp>
      <p:pic>
        <p:nvPicPr>
          <p:cNvPr id="4" name="Picture 3">
            <a:extLst>
              <a:ext uri="{FF2B5EF4-FFF2-40B4-BE49-F238E27FC236}">
                <a16:creationId xmlns:a16="http://schemas.microsoft.com/office/drawing/2014/main" id="{A09999C8-F841-45E9-B086-14491F888083}"/>
              </a:ext>
            </a:extLst>
          </p:cNvPr>
          <p:cNvPicPr>
            <a:picLocks noChangeAspect="1"/>
          </p:cNvPicPr>
          <p:nvPr/>
        </p:nvPicPr>
        <p:blipFill>
          <a:blip r:embed="rId2"/>
          <a:stretch>
            <a:fillRect/>
          </a:stretch>
        </p:blipFill>
        <p:spPr>
          <a:xfrm>
            <a:off x="3188108" y="1157289"/>
            <a:ext cx="5891598" cy="3343274"/>
          </a:xfrm>
          <a:prstGeom prst="rect">
            <a:avLst/>
          </a:prstGeom>
        </p:spPr>
      </p:pic>
      <p:sp>
        <p:nvSpPr>
          <p:cNvPr id="3" name="Oval 2">
            <a:extLst>
              <a:ext uri="{FF2B5EF4-FFF2-40B4-BE49-F238E27FC236}">
                <a16:creationId xmlns:a16="http://schemas.microsoft.com/office/drawing/2014/main" id="{C4128C40-D53F-4B3E-A095-D26805AF4B9B}"/>
              </a:ext>
            </a:extLst>
          </p:cNvPr>
          <p:cNvSpPr/>
          <p:nvPr/>
        </p:nvSpPr>
        <p:spPr bwMode="auto">
          <a:xfrm>
            <a:off x="7366000" y="2046514"/>
            <a:ext cx="914400" cy="914400"/>
          </a:xfrm>
          <a:prstGeom prst="ellipse">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9" name="Oval 8">
            <a:extLst>
              <a:ext uri="{FF2B5EF4-FFF2-40B4-BE49-F238E27FC236}">
                <a16:creationId xmlns:a16="http://schemas.microsoft.com/office/drawing/2014/main" id="{81A6FAB4-DDBF-41FE-B4FC-78E7A7B7AD52}"/>
              </a:ext>
            </a:extLst>
          </p:cNvPr>
          <p:cNvSpPr/>
          <p:nvPr/>
        </p:nvSpPr>
        <p:spPr bwMode="auto">
          <a:xfrm>
            <a:off x="4796972" y="1157289"/>
            <a:ext cx="1719942" cy="1738311"/>
          </a:xfrm>
          <a:prstGeom prst="ellipse">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10" name="Oval 9">
            <a:extLst>
              <a:ext uri="{FF2B5EF4-FFF2-40B4-BE49-F238E27FC236}">
                <a16:creationId xmlns:a16="http://schemas.microsoft.com/office/drawing/2014/main" id="{EE9A21DD-AF6D-4A40-98C9-B3692C271DFF}"/>
              </a:ext>
            </a:extLst>
          </p:cNvPr>
          <p:cNvSpPr/>
          <p:nvPr/>
        </p:nvSpPr>
        <p:spPr bwMode="auto">
          <a:xfrm>
            <a:off x="4796972" y="3325417"/>
            <a:ext cx="3933371" cy="914400"/>
          </a:xfrm>
          <a:prstGeom prst="ellipse">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11" name="TextBox 10">
            <a:extLst>
              <a:ext uri="{FF2B5EF4-FFF2-40B4-BE49-F238E27FC236}">
                <a16:creationId xmlns:a16="http://schemas.microsoft.com/office/drawing/2014/main" id="{13E8C4BF-2B3E-4290-BE12-FB6F124F793B}"/>
              </a:ext>
            </a:extLst>
          </p:cNvPr>
          <p:cNvSpPr txBox="1"/>
          <p:nvPr/>
        </p:nvSpPr>
        <p:spPr>
          <a:xfrm>
            <a:off x="1568707" y="1354582"/>
            <a:ext cx="2031325" cy="584775"/>
          </a:xfrm>
          <a:prstGeom prst="rect">
            <a:avLst/>
          </a:prstGeom>
          <a:solidFill>
            <a:srgbClr val="FFFF00"/>
          </a:solidFill>
          <a:ln>
            <a:solidFill>
              <a:schemeClr val="accent2"/>
            </a:solidFill>
          </a:ln>
        </p:spPr>
        <p:txBody>
          <a:bodyPr wrap="none" rtlCol="0" anchor="ctr" anchorCtr="1">
            <a:spAutoFit/>
          </a:bodyPr>
          <a:lstStyle/>
          <a:p>
            <a:r>
              <a:rPr lang="en-US" sz="1600" dirty="0">
                <a:ea typeface="標楷體" pitchFamily="65" charset="-120"/>
                <a:cs typeface="Calibri" panose="020F07020304040A0204" pitchFamily="34" charset="0"/>
              </a:rPr>
              <a:t>Shell is a command </a:t>
            </a:r>
          </a:p>
          <a:p>
            <a:r>
              <a:rPr lang="en-US" sz="1600" dirty="0">
                <a:ea typeface="標楷體" pitchFamily="65" charset="-120"/>
                <a:cs typeface="Calibri" panose="020F07020304040A0204" pitchFamily="34" charset="0"/>
              </a:rPr>
              <a:t>line interpreter</a:t>
            </a:r>
          </a:p>
        </p:txBody>
      </p:sp>
    </p:spTree>
    <p:extLst>
      <p:ext uri="{BB962C8B-B14F-4D97-AF65-F5344CB8AC3E}">
        <p14:creationId xmlns:p14="http://schemas.microsoft.com/office/powerpoint/2010/main" val="654812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F80576F-5A7A-44E4-A884-6597944CEFC7}"/>
              </a:ext>
            </a:extLst>
          </p:cNvPr>
          <p:cNvPicPr>
            <a:picLocks noGrp="1" noChangeAspect="1"/>
          </p:cNvPicPr>
          <p:nvPr>
            <p:ph idx="1"/>
          </p:nvPr>
        </p:nvPicPr>
        <p:blipFill>
          <a:blip r:embed="rId3"/>
          <a:stretch>
            <a:fillRect/>
          </a:stretch>
        </p:blipFill>
        <p:spPr>
          <a:xfrm>
            <a:off x="3711674" y="1430957"/>
            <a:ext cx="4982270" cy="2524477"/>
          </a:xfrm>
        </p:spPr>
      </p:pic>
      <p:sp>
        <p:nvSpPr>
          <p:cNvPr id="2" name="灯片编号占位符 1"/>
          <p:cNvSpPr>
            <a:spLocks noGrp="1"/>
          </p:cNvSpPr>
          <p:nvPr>
            <p:ph type="sldNum" sz="quarter" idx="10"/>
          </p:nvPr>
        </p:nvSpPr>
        <p:spPr/>
        <p:txBody>
          <a:bodyPr/>
          <a:lstStyle/>
          <a:p>
            <a:fld id="{D9B6BDF2-6896-4B98-8776-C18582F63BA5}" type="slidenum">
              <a:rPr lang="zh-TW" altLang="en-US" smtClean="0"/>
              <a:t>17</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235744" y="107950"/>
            <a:ext cx="8658225"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2600" dirty="0">
                <a:latin typeface="Calibri" panose="020F0502020204030204" pitchFamily="34" charset="0"/>
                <a:ea typeface="Calibri" panose="020F0502020204030204" pitchFamily="34" charset="0"/>
                <a:cs typeface="Calibri" panose="020F0502020204030204" pitchFamily="34" charset="0"/>
              </a:rPr>
              <a:t>1.4.2 Running the “Hello” Program</a:t>
            </a:r>
          </a:p>
        </p:txBody>
      </p:sp>
      <p:sp>
        <p:nvSpPr>
          <p:cNvPr id="9" name="Content Placeholder 7">
            <a:extLst>
              <a:ext uri="{FF2B5EF4-FFF2-40B4-BE49-F238E27FC236}">
                <a16:creationId xmlns:a16="http://schemas.microsoft.com/office/drawing/2014/main" id="{29F3D107-A731-41E5-A906-75CBD96584B8}"/>
              </a:ext>
            </a:extLst>
          </p:cNvPr>
          <p:cNvSpPr txBox="1">
            <a:spLocks/>
          </p:cNvSpPr>
          <p:nvPr/>
        </p:nvSpPr>
        <p:spPr bwMode="auto">
          <a:xfrm>
            <a:off x="98312" y="1188066"/>
            <a:ext cx="8052707" cy="3619677"/>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a:buSzPct val="150000"/>
              <a:buFont typeface="Arial" panose="020B0604020202020204" pitchFamily="34" charset="0"/>
              <a:buChar char="•"/>
            </a:pPr>
            <a:r>
              <a:rPr lang="en-US" sz="2000" kern="0" dirty="0">
                <a:latin typeface="ZztexMono-Regular"/>
              </a:rPr>
              <a:t> Steps</a:t>
            </a:r>
            <a:endParaRPr lang="en-US" sz="1600" kern="0" dirty="0">
              <a:latin typeface="ZztexMono-Regular"/>
            </a:endParaRPr>
          </a:p>
          <a:p>
            <a:pPr lvl="1">
              <a:buSzPct val="150000"/>
              <a:buFont typeface="Wingdings" panose="05000000000000000000" pitchFamily="2" charset="2"/>
              <a:buChar char="§"/>
            </a:pPr>
            <a:r>
              <a:rPr lang="en-US" sz="1600" kern="0" dirty="0">
                <a:latin typeface="ZztexMono-Regular"/>
              </a:rPr>
              <a:t>Typing ./hello from the keyboard</a:t>
            </a:r>
          </a:p>
          <a:p>
            <a:pPr lvl="1">
              <a:buSzPct val="150000"/>
              <a:buFont typeface="Wingdings" panose="05000000000000000000" pitchFamily="2" charset="2"/>
              <a:buChar char="§"/>
            </a:pPr>
            <a:r>
              <a:rPr lang="en-US" sz="1600" kern="0" dirty="0">
                <a:latin typeface="ZztexMono-Regular"/>
              </a:rPr>
              <a:t>The shell loads the object file “hello”</a:t>
            </a:r>
          </a:p>
          <a:p>
            <a:pPr marL="342900" lvl="1" indent="0">
              <a:buSzPct val="150000"/>
              <a:buNone/>
            </a:pPr>
            <a:r>
              <a:rPr lang="en-US" sz="1600" kern="0" dirty="0">
                <a:latin typeface="ZztexMono-Regular"/>
              </a:rPr>
              <a:t>     into memory, prepare for execution</a:t>
            </a:r>
          </a:p>
          <a:p>
            <a:pPr lvl="1">
              <a:buSzPct val="150000"/>
              <a:buFont typeface="Wingdings" panose="05000000000000000000" pitchFamily="2" charset="2"/>
              <a:buChar char="§"/>
            </a:pPr>
            <a:r>
              <a:rPr lang="en-US" sz="1600" kern="0" dirty="0">
                <a:solidFill>
                  <a:srgbClr val="FF0000"/>
                </a:solidFill>
                <a:latin typeface="ZztexMono-Regular"/>
              </a:rPr>
              <a:t>DMA</a:t>
            </a:r>
            <a:r>
              <a:rPr lang="en-US" sz="1600" kern="0" dirty="0">
                <a:latin typeface="ZztexMono-Regular"/>
              </a:rPr>
              <a:t> (Direct Memory Access) moves </a:t>
            </a:r>
          </a:p>
          <a:p>
            <a:pPr marL="342900" lvl="1" indent="0">
              <a:buSzPct val="150000"/>
              <a:buNone/>
            </a:pPr>
            <a:r>
              <a:rPr lang="en-US" sz="1600" kern="0" dirty="0">
                <a:latin typeface="ZztexMono-Regular"/>
              </a:rPr>
              <a:t>     data of the object file “hello” to memory</a:t>
            </a:r>
          </a:p>
          <a:p>
            <a:pPr marL="342900" lvl="1" indent="0">
              <a:buSzPct val="150000"/>
              <a:buNone/>
            </a:pPr>
            <a:r>
              <a:rPr lang="en-US" sz="1600" kern="0" dirty="0">
                <a:latin typeface="ZztexMono-Regular"/>
              </a:rPr>
              <a:t>     directly without going through the processor.</a:t>
            </a:r>
          </a:p>
          <a:p>
            <a:pPr marL="342900" lvl="1" indent="0">
              <a:buSzPct val="150000"/>
              <a:buNone/>
            </a:pPr>
            <a:r>
              <a:rPr lang="en-US" sz="1600" kern="0" dirty="0">
                <a:latin typeface="ZztexMono-Regular"/>
              </a:rPr>
              <a:t>     This is shown in Figure 1.6</a:t>
            </a:r>
          </a:p>
          <a:p>
            <a:pPr marL="342900" lvl="1" indent="0">
              <a:buSzPct val="150000"/>
              <a:buNone/>
            </a:pPr>
            <a:r>
              <a:rPr lang="en-US" sz="1600" kern="0" dirty="0">
                <a:latin typeface="ZztexMono-Regular"/>
              </a:rPr>
              <a:t>     </a:t>
            </a:r>
          </a:p>
        </p:txBody>
      </p:sp>
      <p:sp>
        <p:nvSpPr>
          <p:cNvPr id="6" name="TextBox 5">
            <a:extLst>
              <a:ext uri="{FF2B5EF4-FFF2-40B4-BE49-F238E27FC236}">
                <a16:creationId xmlns:a16="http://schemas.microsoft.com/office/drawing/2014/main" id="{10337DD0-355D-4E5E-A5B0-56ED3FAA9B6E}"/>
              </a:ext>
            </a:extLst>
          </p:cNvPr>
          <p:cNvSpPr txBox="1"/>
          <p:nvPr/>
        </p:nvSpPr>
        <p:spPr>
          <a:xfrm>
            <a:off x="83672" y="4177883"/>
            <a:ext cx="8810297" cy="338554"/>
          </a:xfrm>
          <a:prstGeom prst="rect">
            <a:avLst/>
          </a:prstGeom>
          <a:solidFill>
            <a:srgbClr val="FFFF00"/>
          </a:solidFill>
          <a:ln>
            <a:solidFill>
              <a:schemeClr val="accent2"/>
            </a:solidFill>
          </a:ln>
        </p:spPr>
        <p:txBody>
          <a:bodyPr wrap="none" rtlCol="0" anchor="ctr" anchorCtr="1">
            <a:spAutoFit/>
          </a:bodyPr>
          <a:lstStyle/>
          <a:p>
            <a:r>
              <a:rPr lang="en-US" sz="1600" dirty="0">
                <a:ea typeface="標楷體" pitchFamily="65" charset="-120"/>
                <a:cs typeface="Calibri" panose="020F07020304040A0204" pitchFamily="34" charset="0"/>
              </a:rPr>
              <a:t>DMA is usually used for high-speed and bulk data transfers, controlled by system programmers</a:t>
            </a:r>
          </a:p>
        </p:txBody>
      </p:sp>
    </p:spTree>
    <p:extLst>
      <p:ext uri="{BB962C8B-B14F-4D97-AF65-F5344CB8AC3E}">
        <p14:creationId xmlns:p14="http://schemas.microsoft.com/office/powerpoint/2010/main" val="2584489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D9B6BDF2-6896-4B98-8776-C18582F63BA5}" type="slidenum">
              <a:rPr lang="zh-TW" altLang="en-US" smtClean="0"/>
              <a:t>18</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235745" y="107950"/>
            <a:ext cx="4579144"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2600" dirty="0">
                <a:latin typeface="Calibri" panose="020F0502020204030204" pitchFamily="34" charset="0"/>
                <a:ea typeface="Calibri" panose="020F0502020204030204" pitchFamily="34" charset="0"/>
                <a:cs typeface="Calibri" panose="020F0502020204030204" pitchFamily="34" charset="0"/>
              </a:rPr>
              <a:t>1.4.2 Running “Hello” (cont.)</a:t>
            </a:r>
          </a:p>
        </p:txBody>
      </p:sp>
      <p:sp>
        <p:nvSpPr>
          <p:cNvPr id="9" name="Content Placeholder 7">
            <a:extLst>
              <a:ext uri="{FF2B5EF4-FFF2-40B4-BE49-F238E27FC236}">
                <a16:creationId xmlns:a16="http://schemas.microsoft.com/office/drawing/2014/main" id="{29F3D107-A731-41E5-A906-75CBD96584B8}"/>
              </a:ext>
            </a:extLst>
          </p:cNvPr>
          <p:cNvSpPr txBox="1">
            <a:spLocks/>
          </p:cNvSpPr>
          <p:nvPr/>
        </p:nvSpPr>
        <p:spPr bwMode="auto">
          <a:xfrm>
            <a:off x="0" y="761911"/>
            <a:ext cx="4343400" cy="3619677"/>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buSzPct val="150000"/>
              <a:buNone/>
            </a:pPr>
            <a:r>
              <a:rPr lang="en-US" kern="0" dirty="0">
                <a:latin typeface="ZztexMono-Regular"/>
              </a:rPr>
              <a:t>Steps</a:t>
            </a:r>
          </a:p>
          <a:p>
            <a:pPr algn="l"/>
            <a:r>
              <a:rPr lang="en-US" sz="1800" b="0" i="0" u="none" strike="noStrike" baseline="0" dirty="0">
                <a:latin typeface="TimesTen-Roman"/>
              </a:rPr>
              <a:t>Once the code and data are loaded into </a:t>
            </a:r>
          </a:p>
          <a:p>
            <a:pPr marL="0" indent="0" algn="l">
              <a:buNone/>
            </a:pPr>
            <a:r>
              <a:rPr lang="en-US" sz="1800" dirty="0">
                <a:latin typeface="TimesTen-Roman"/>
              </a:rPr>
              <a:t>     </a:t>
            </a:r>
            <a:r>
              <a:rPr lang="en-US" sz="1800" b="0" i="0" u="none" strike="noStrike" baseline="0" dirty="0">
                <a:latin typeface="TimesTen-Roman"/>
              </a:rPr>
              <a:t>memory, the processor begins executing </a:t>
            </a:r>
          </a:p>
          <a:p>
            <a:pPr marL="0" indent="0" algn="l">
              <a:buNone/>
            </a:pPr>
            <a:r>
              <a:rPr lang="en-US" sz="1800" dirty="0">
                <a:latin typeface="TimesTen-Roman"/>
              </a:rPr>
              <a:t>     </a:t>
            </a:r>
            <a:r>
              <a:rPr lang="en-US" sz="1800" b="0" i="0" u="none" strike="noStrike" baseline="0" dirty="0">
                <a:latin typeface="TimesTen-Roman"/>
              </a:rPr>
              <a:t>the machine-language instructions in the </a:t>
            </a:r>
          </a:p>
          <a:p>
            <a:pPr marL="0" indent="0" algn="l">
              <a:buNone/>
            </a:pPr>
            <a:r>
              <a:rPr lang="en-US" sz="1800" dirty="0">
                <a:latin typeface="TimesTen-Roman"/>
              </a:rPr>
              <a:t>     “</a:t>
            </a:r>
            <a:r>
              <a:rPr lang="en-US" sz="1800" b="0" i="0" u="none" strike="noStrike" baseline="0" dirty="0">
                <a:latin typeface="ZztexMono-Regular"/>
              </a:rPr>
              <a:t>hello” </a:t>
            </a:r>
            <a:r>
              <a:rPr lang="en-US" sz="1800" b="0" i="0" u="none" strike="noStrike" baseline="0" dirty="0">
                <a:latin typeface="TimesTen-Roman"/>
              </a:rPr>
              <a:t>program’s </a:t>
            </a:r>
            <a:r>
              <a:rPr lang="en-US" sz="1800" b="0" i="0" u="none" strike="noStrike" baseline="0" dirty="0">
                <a:latin typeface="ZztexMono-Regular"/>
              </a:rPr>
              <a:t>main </a:t>
            </a:r>
            <a:r>
              <a:rPr lang="en-US" sz="1800" b="0" i="0" u="none" strike="noStrike" baseline="0" dirty="0">
                <a:latin typeface="TimesTen-Roman"/>
              </a:rPr>
              <a:t>routine. </a:t>
            </a:r>
          </a:p>
          <a:p>
            <a:pPr algn="l">
              <a:buSzPct val="150000"/>
              <a:buFont typeface="Arial" panose="020B0604020202020204" pitchFamily="34" charset="0"/>
              <a:buChar char="•"/>
            </a:pPr>
            <a:r>
              <a:rPr lang="en-US" sz="1800" b="0" i="0" u="none" strike="noStrike" baseline="0" dirty="0">
                <a:latin typeface="TimesTen-Roman"/>
              </a:rPr>
              <a:t>These instructions copy the bytes in the </a:t>
            </a:r>
          </a:p>
          <a:p>
            <a:pPr marL="0" indent="0" algn="l">
              <a:buSzPct val="150000"/>
              <a:buNone/>
            </a:pPr>
            <a:r>
              <a:rPr lang="en-US" sz="1800" dirty="0">
                <a:latin typeface="TimesTen-Roman"/>
              </a:rPr>
              <a:t>     </a:t>
            </a:r>
            <a:r>
              <a:rPr lang="en-US" sz="1800" b="0" i="0" u="none" strike="noStrike" baseline="0" dirty="0">
                <a:latin typeface="ZztexMono-Regular"/>
              </a:rPr>
              <a:t>hello, world\n </a:t>
            </a:r>
            <a:r>
              <a:rPr lang="en-US" sz="1800" b="0" i="0" u="none" strike="noStrike" baseline="0" dirty="0">
                <a:latin typeface="TimesTen-Roman"/>
              </a:rPr>
              <a:t>string from memory to the </a:t>
            </a:r>
          </a:p>
          <a:p>
            <a:pPr marL="0" indent="0" algn="l">
              <a:buSzPct val="150000"/>
              <a:buNone/>
            </a:pPr>
            <a:r>
              <a:rPr lang="en-US" sz="1800" dirty="0">
                <a:latin typeface="TimesTen-Roman"/>
              </a:rPr>
              <a:t>     </a:t>
            </a:r>
            <a:r>
              <a:rPr lang="en-US" sz="1800" b="0" i="0" u="none" strike="noStrike" baseline="0" dirty="0">
                <a:latin typeface="TimesTen-Roman"/>
              </a:rPr>
              <a:t>register file, and from there to the display </a:t>
            </a:r>
          </a:p>
          <a:p>
            <a:pPr marL="0" indent="0" algn="l">
              <a:buSzPct val="150000"/>
              <a:buNone/>
            </a:pPr>
            <a:r>
              <a:rPr lang="en-US" sz="1800" dirty="0">
                <a:latin typeface="TimesTen-Roman"/>
              </a:rPr>
              <a:t>     </a:t>
            </a:r>
            <a:r>
              <a:rPr lang="en-US" sz="1800" b="0" i="0" u="none" strike="noStrike" baseline="0" dirty="0">
                <a:latin typeface="TimesTen-Roman"/>
              </a:rPr>
              <a:t>device, where they are displayed a</a:t>
            </a:r>
            <a:r>
              <a:rPr lang="en-US" sz="1800" dirty="0">
                <a:latin typeface="TimesTen-Roman"/>
              </a:rPr>
              <a:t>s </a:t>
            </a:r>
          </a:p>
          <a:p>
            <a:pPr marL="0" indent="0" algn="l">
              <a:buSzPct val="150000"/>
              <a:buNone/>
            </a:pPr>
            <a:r>
              <a:rPr lang="en-US" sz="1800" dirty="0">
                <a:latin typeface="TimesTen-Roman"/>
              </a:rPr>
              <a:t>     shown in Figure 1.7</a:t>
            </a:r>
            <a:endParaRPr lang="en-US" sz="1600" kern="0" dirty="0">
              <a:latin typeface="ZztexMono-Regular"/>
            </a:endParaRPr>
          </a:p>
        </p:txBody>
      </p:sp>
      <p:pic>
        <p:nvPicPr>
          <p:cNvPr id="7" name="Picture 6">
            <a:extLst>
              <a:ext uri="{FF2B5EF4-FFF2-40B4-BE49-F238E27FC236}">
                <a16:creationId xmlns:a16="http://schemas.microsoft.com/office/drawing/2014/main" id="{7E4EC7DE-623E-4319-A008-EAF7370FA2C7}"/>
              </a:ext>
            </a:extLst>
          </p:cNvPr>
          <p:cNvPicPr>
            <a:picLocks noChangeAspect="1"/>
          </p:cNvPicPr>
          <p:nvPr/>
        </p:nvPicPr>
        <p:blipFill>
          <a:blip r:embed="rId2"/>
          <a:stretch>
            <a:fillRect/>
          </a:stretch>
        </p:blipFill>
        <p:spPr>
          <a:xfrm>
            <a:off x="4955140" y="0"/>
            <a:ext cx="3624504" cy="2553056"/>
          </a:xfrm>
          <a:prstGeom prst="rect">
            <a:avLst/>
          </a:prstGeom>
        </p:spPr>
      </p:pic>
      <p:pic>
        <p:nvPicPr>
          <p:cNvPr id="12" name="Picture 11">
            <a:extLst>
              <a:ext uri="{FF2B5EF4-FFF2-40B4-BE49-F238E27FC236}">
                <a16:creationId xmlns:a16="http://schemas.microsoft.com/office/drawing/2014/main" id="{98FD31C5-AD1F-49C9-A07D-F4757194A406}"/>
              </a:ext>
            </a:extLst>
          </p:cNvPr>
          <p:cNvPicPr>
            <a:picLocks noChangeAspect="1"/>
          </p:cNvPicPr>
          <p:nvPr/>
        </p:nvPicPr>
        <p:blipFill>
          <a:blip r:embed="rId3"/>
          <a:stretch>
            <a:fillRect/>
          </a:stretch>
        </p:blipFill>
        <p:spPr>
          <a:xfrm>
            <a:off x="4814889" y="2553056"/>
            <a:ext cx="3753374" cy="2753109"/>
          </a:xfrm>
          <a:prstGeom prst="rect">
            <a:avLst/>
          </a:prstGeom>
        </p:spPr>
      </p:pic>
    </p:spTree>
    <p:extLst>
      <p:ext uri="{BB962C8B-B14F-4D97-AF65-F5344CB8AC3E}">
        <p14:creationId xmlns:p14="http://schemas.microsoft.com/office/powerpoint/2010/main" val="24822532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68956" y="714375"/>
            <a:ext cx="8795657" cy="2307431"/>
          </a:xfrm>
        </p:spPr>
        <p:txBody>
          <a:bodyPr/>
          <a:lstStyle/>
          <a:p>
            <a:pPr algn="l"/>
            <a:r>
              <a:rPr lang="en-US" sz="1800" b="0" i="0" u="none" strike="noStrike" baseline="0" dirty="0">
                <a:latin typeface="TimesTen-Roman"/>
              </a:rPr>
              <a:t>An important lesson from this simple example is that a system often spends considerable time transferring information from one location to another, such as moving data from memory to registers. </a:t>
            </a:r>
          </a:p>
          <a:p>
            <a:pPr algn="l"/>
            <a:r>
              <a:rPr lang="en-US" sz="1800" b="0" i="0" u="none" strike="noStrike" baseline="0" dirty="0">
                <a:latin typeface="TimesTen-Roman"/>
              </a:rPr>
              <a:t>The significant distance between main memory and CPU registers results in substantial </a:t>
            </a:r>
            <a:r>
              <a:rPr lang="en-US" sz="1800" b="0" i="0" u="none" strike="noStrike" baseline="0" dirty="0">
                <a:solidFill>
                  <a:srgbClr val="FF0000"/>
                </a:solidFill>
                <a:latin typeface="TimesTen-Roman"/>
              </a:rPr>
              <a:t>latency</a:t>
            </a:r>
            <a:r>
              <a:rPr lang="en-US" sz="1800" b="0" i="0" u="none" strike="noStrike" baseline="0" dirty="0">
                <a:latin typeface="TimesTen-Roman"/>
              </a:rPr>
              <a:t>, which can extend to hundreds of clock cycles in modern systems. To bridge the processor-memory gap, system designers implement smaller, faster storage devices known as cache memories (or simply caches). These caches serve as </a:t>
            </a:r>
            <a:r>
              <a:rPr lang="en-US" sz="1800" b="0" i="0" u="none" strike="noStrike" baseline="0" dirty="0">
                <a:solidFill>
                  <a:srgbClr val="FF0000"/>
                </a:solidFill>
                <a:latin typeface="TimesTen-Roman"/>
              </a:rPr>
              <a:t>temporary staging areas</a:t>
            </a:r>
            <a:r>
              <a:rPr lang="en-US" sz="1800" b="0" i="0" u="none" strike="noStrike" baseline="0" dirty="0">
                <a:latin typeface="TimesTen-Roman"/>
              </a:rPr>
              <a:t> for information that the processor is likely to require in the near future.</a:t>
            </a:r>
            <a:endParaRPr lang="en-US" sz="1800" i="1" dirty="0">
              <a:solidFill>
                <a:srgbClr val="FF0000"/>
              </a:solidFill>
              <a:latin typeface="TimesTen-Italic"/>
            </a:endParaRPr>
          </a:p>
          <a:p>
            <a:pPr algn="l"/>
            <a:endParaRPr lang="en-US" sz="2000" i="1" dirty="0">
              <a:solidFill>
                <a:srgbClr val="FF0000"/>
              </a:solidFill>
              <a:latin typeface="TimesTen-Italic"/>
            </a:endParaRPr>
          </a:p>
          <a:p>
            <a:pPr algn="l"/>
            <a:endParaRPr lang="en-US" sz="2000" dirty="0">
              <a:solidFill>
                <a:srgbClr val="FF0000"/>
              </a:solidFill>
            </a:endParaRPr>
          </a:p>
        </p:txBody>
      </p:sp>
      <p:sp>
        <p:nvSpPr>
          <p:cNvPr id="2" name="灯片编号占位符 1"/>
          <p:cNvSpPr>
            <a:spLocks noGrp="1"/>
          </p:cNvSpPr>
          <p:nvPr>
            <p:ph type="sldNum" sz="quarter" idx="10"/>
          </p:nvPr>
        </p:nvSpPr>
        <p:spPr/>
        <p:txBody>
          <a:bodyPr/>
          <a:lstStyle/>
          <a:p>
            <a:fld id="{D9B6BDF2-6896-4B98-8776-C18582F63BA5}" type="slidenum">
              <a:rPr lang="zh-TW" altLang="en-US" smtClean="0"/>
              <a:t>19</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771525" y="107950"/>
            <a:ext cx="8122444"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1.5  Caches Matter</a:t>
            </a:r>
          </a:p>
        </p:txBody>
      </p:sp>
      <p:pic>
        <p:nvPicPr>
          <p:cNvPr id="4" name="Picture 3">
            <a:extLst>
              <a:ext uri="{FF2B5EF4-FFF2-40B4-BE49-F238E27FC236}">
                <a16:creationId xmlns:a16="http://schemas.microsoft.com/office/drawing/2014/main" id="{4778C912-7A61-4934-B1B7-F20B706686C2}"/>
              </a:ext>
            </a:extLst>
          </p:cNvPr>
          <p:cNvPicPr>
            <a:picLocks noChangeAspect="1"/>
          </p:cNvPicPr>
          <p:nvPr/>
        </p:nvPicPr>
        <p:blipFill>
          <a:blip r:embed="rId2"/>
          <a:stretch>
            <a:fillRect/>
          </a:stretch>
        </p:blipFill>
        <p:spPr>
          <a:xfrm>
            <a:off x="1372623" y="3021806"/>
            <a:ext cx="6041564" cy="1678780"/>
          </a:xfrm>
          <a:prstGeom prst="rect">
            <a:avLst/>
          </a:prstGeom>
        </p:spPr>
      </p:pic>
      <p:sp>
        <p:nvSpPr>
          <p:cNvPr id="3" name="Oval 2">
            <a:extLst>
              <a:ext uri="{FF2B5EF4-FFF2-40B4-BE49-F238E27FC236}">
                <a16:creationId xmlns:a16="http://schemas.microsoft.com/office/drawing/2014/main" id="{D819B551-91B9-421C-B99B-DC0FBB81D723}"/>
              </a:ext>
            </a:extLst>
          </p:cNvPr>
          <p:cNvSpPr/>
          <p:nvPr/>
        </p:nvSpPr>
        <p:spPr bwMode="auto">
          <a:xfrm>
            <a:off x="3236119" y="3378993"/>
            <a:ext cx="914400" cy="685801"/>
          </a:xfrm>
          <a:prstGeom prst="ellipse">
            <a:avLst/>
          </a:prstGeom>
          <a:noFill/>
          <a:ln w="285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Tree>
    <p:extLst>
      <p:ext uri="{BB962C8B-B14F-4D97-AF65-F5344CB8AC3E}">
        <p14:creationId xmlns:p14="http://schemas.microsoft.com/office/powerpoint/2010/main" val="1916271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74171" y="714375"/>
            <a:ext cx="8795657" cy="3986211"/>
          </a:xfrm>
        </p:spPr>
        <p:txBody>
          <a:bodyPr/>
          <a:lstStyle/>
          <a:p>
            <a:pPr algn="l"/>
            <a:r>
              <a:rPr lang="en-US" sz="2000" dirty="0">
                <a:latin typeface="TimesTen-Roman"/>
              </a:rPr>
              <a:t>Although the cache serves as a </a:t>
            </a:r>
            <a:r>
              <a:rPr lang="en-US" sz="2000" i="1" dirty="0">
                <a:solidFill>
                  <a:srgbClr val="FF0000"/>
                </a:solidFill>
                <a:latin typeface="TimesTen-Roman"/>
              </a:rPr>
              <a:t>transparent</a:t>
            </a:r>
            <a:r>
              <a:rPr lang="en-US" sz="2000" dirty="0">
                <a:latin typeface="TimesTen-Roman"/>
              </a:rPr>
              <a:t> fast memory, a</a:t>
            </a:r>
            <a:r>
              <a:rPr lang="en-US" sz="2000" b="0" i="0" u="none" strike="noStrike" baseline="0" dirty="0">
                <a:latin typeface="TimesTen-Roman"/>
              </a:rPr>
              <a:t>pplication programmers </a:t>
            </a:r>
            <a:r>
              <a:rPr kumimoji="1" lang="en-US" sz="2000" b="0" i="0" u="none" strike="noStrike" kern="0" cap="none" spc="0" normalizeH="0" baseline="0" noProof="0" dirty="0">
                <a:ln>
                  <a:noFill/>
                </a:ln>
                <a:solidFill>
                  <a:prstClr val="black"/>
                </a:solidFill>
                <a:effectLst/>
                <a:uLnTx/>
                <a:uFillTx/>
                <a:latin typeface="TimesTen-Roman"/>
                <a:ea typeface="標楷體" pitchFamily="65" charset="-120"/>
                <a:cs typeface="+mn-cs"/>
              </a:rPr>
              <a:t>who are aware of it can exploit it to improve the performance of their programs by an order of magnitude.</a:t>
            </a:r>
          </a:p>
          <a:p>
            <a:pPr marL="0" indent="0" algn="l">
              <a:buNone/>
            </a:pPr>
            <a:endParaRPr lang="en-US" sz="2000" dirty="0">
              <a:latin typeface="TimesTen-Roman"/>
            </a:endParaRPr>
          </a:p>
          <a:p>
            <a:pPr algn="l"/>
            <a:r>
              <a:rPr lang="en-US" sz="2000" b="0" i="0" u="none" strike="noStrike" baseline="0" dirty="0">
                <a:latin typeface="TimesTen-Roman"/>
              </a:rPr>
              <a:t>Cache works because of two types of localities: </a:t>
            </a:r>
          </a:p>
          <a:p>
            <a:pPr lvl="1"/>
            <a:r>
              <a:rPr lang="en-US" b="0" i="0" u="none" strike="noStrike" baseline="0" dirty="0">
                <a:solidFill>
                  <a:srgbClr val="FF0000"/>
                </a:solidFill>
                <a:latin typeface="TimesTen-Roman"/>
              </a:rPr>
              <a:t>temporal locality</a:t>
            </a:r>
          </a:p>
          <a:p>
            <a:pPr marL="342900" lvl="1" indent="0">
              <a:buNone/>
            </a:pPr>
            <a:r>
              <a:rPr lang="en-US" dirty="0">
                <a:solidFill>
                  <a:srgbClr val="FF0000"/>
                </a:solidFill>
                <a:latin typeface="TimesTen-Roman"/>
              </a:rPr>
              <a:t>	</a:t>
            </a:r>
            <a:r>
              <a:rPr lang="en-US" sz="1800" i="1" dirty="0">
                <a:latin typeface="TimesTen-Roman"/>
              </a:rPr>
              <a:t>If data A is referenced, it is likely to be referenced again in the near future</a:t>
            </a:r>
          </a:p>
          <a:p>
            <a:pPr marL="342900" lvl="1" indent="0">
              <a:buNone/>
            </a:pPr>
            <a:r>
              <a:rPr lang="en-US" sz="1800" b="0" i="1" u="none" strike="noStrike" baseline="0" dirty="0">
                <a:latin typeface="TimesTen-Roman"/>
              </a:rPr>
              <a:t>	Instructions in a loop are likely to be executed again and again</a:t>
            </a:r>
          </a:p>
          <a:p>
            <a:pPr marL="556895" marR="0" lvl="1" indent="-213995" algn="l" defTabSz="914400" rtl="0" eaLnBrk="1" fontAlgn="base" latinLnBrk="0" hangingPunct="1">
              <a:lnSpc>
                <a:spcPct val="100000"/>
              </a:lnSpc>
              <a:spcBef>
                <a:spcPct val="20000"/>
              </a:spcBef>
              <a:spcAft>
                <a:spcPct val="0"/>
              </a:spcAft>
              <a:buClr>
                <a:srgbClr val="8064A2"/>
              </a:buClr>
              <a:buSzPct val="90000"/>
              <a:buFont typeface="Arial" panose="020B0604020202090204" pitchFamily="34" charset="0"/>
              <a:buChar char="–"/>
              <a:tabLst/>
              <a:defRPr/>
            </a:pPr>
            <a:r>
              <a:rPr kumimoji="1" lang="en-US" sz="2000" b="0" i="0" u="none" strike="noStrike" kern="0" cap="none" spc="0" normalizeH="0" baseline="0" noProof="0" dirty="0">
                <a:ln>
                  <a:noFill/>
                </a:ln>
                <a:solidFill>
                  <a:srgbClr val="FF0000"/>
                </a:solidFill>
                <a:effectLst/>
                <a:uLnTx/>
                <a:uFillTx/>
                <a:latin typeface="TimesTen-Roman"/>
                <a:ea typeface="標楷體" pitchFamily="65" charset="-120"/>
              </a:rPr>
              <a:t>spatial locality </a:t>
            </a:r>
            <a:endParaRPr kumimoji="1" lang="en-US" sz="2000" b="0" i="0" u="none" strike="noStrike" kern="0" cap="none" spc="0" normalizeH="0" baseline="0" noProof="0" dirty="0">
              <a:ln>
                <a:noFill/>
              </a:ln>
              <a:solidFill>
                <a:prstClr val="black"/>
              </a:solidFill>
              <a:effectLst/>
              <a:uLnTx/>
              <a:uFillTx/>
              <a:latin typeface="TimesTen-Roman"/>
              <a:ea typeface="標楷體" pitchFamily="65" charset="-120"/>
            </a:endParaRPr>
          </a:p>
          <a:p>
            <a:pPr marL="685800" lvl="2" indent="0">
              <a:buNone/>
            </a:pPr>
            <a:r>
              <a:rPr lang="en-US" b="0" i="0" u="none" strike="noStrike" baseline="0" dirty="0">
                <a:latin typeface="TimesTen-Roman"/>
              </a:rPr>
              <a:t>	</a:t>
            </a:r>
            <a:r>
              <a:rPr kumimoji="1" lang="en-US" sz="1800" b="0" i="1" u="none" strike="noStrike" kern="0" cap="none" spc="0" normalizeH="0" baseline="0" noProof="0" dirty="0">
                <a:ln>
                  <a:noFill/>
                </a:ln>
                <a:effectLst/>
                <a:uLnTx/>
                <a:uFillTx/>
                <a:latin typeface="TimesTen-Roman"/>
                <a:ea typeface="標楷體" pitchFamily="65" charset="-120"/>
                <a:cs typeface="+mn-cs"/>
              </a:rPr>
              <a:t>If data A is referenced, its nearby neighbors, such as A+1, A+2, and A-1, A-2, are 	likely to be referenced again in the near future.</a:t>
            </a:r>
            <a:endParaRPr lang="en-US" b="0" i="0" u="none" strike="noStrike" baseline="0" dirty="0">
              <a:latin typeface="TimesTen-Roman"/>
            </a:endParaRPr>
          </a:p>
          <a:p>
            <a:pPr marL="0" indent="0" algn="l">
              <a:buNone/>
            </a:pPr>
            <a:r>
              <a:rPr lang="en-US" sz="2000" b="0" i="0" u="none" strike="noStrike" baseline="0" dirty="0">
                <a:latin typeface="TimesTen-Roman"/>
              </a:rPr>
              <a:t>    </a:t>
            </a:r>
          </a:p>
        </p:txBody>
      </p:sp>
      <p:sp>
        <p:nvSpPr>
          <p:cNvPr id="2" name="灯片编号占位符 1"/>
          <p:cNvSpPr>
            <a:spLocks noGrp="1"/>
          </p:cNvSpPr>
          <p:nvPr>
            <p:ph type="sldNum" sz="quarter" idx="10"/>
          </p:nvPr>
        </p:nvSpPr>
        <p:spPr/>
        <p:txBody>
          <a:bodyPr/>
          <a:lstStyle/>
          <a:p>
            <a:fld id="{D9B6BDF2-6896-4B98-8776-C18582F63BA5}" type="slidenum">
              <a:rPr lang="zh-TW" altLang="en-US" smtClean="0"/>
              <a:t>20</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771525" y="107950"/>
            <a:ext cx="8122444"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1.5  Caches Matter (cont.)</a:t>
            </a:r>
          </a:p>
        </p:txBody>
      </p:sp>
    </p:spTree>
    <p:extLst>
      <p:ext uri="{BB962C8B-B14F-4D97-AF65-F5344CB8AC3E}">
        <p14:creationId xmlns:p14="http://schemas.microsoft.com/office/powerpoint/2010/main" val="35123962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5107782" y="807243"/>
            <a:ext cx="3786188" cy="3793331"/>
          </a:xfrm>
        </p:spPr>
        <p:txBody>
          <a:bodyPr/>
          <a:lstStyle/>
          <a:p>
            <a:pPr algn="l"/>
            <a:r>
              <a:rPr lang="en-US" sz="1600" b="0" i="0" u="none" strike="noStrike" baseline="0" dirty="0">
                <a:latin typeface="TimesTen-Roman"/>
              </a:rPr>
              <a:t>The notion of inserting a smaller, faster storage device (e.g., cache memory) between the processor and a larger, slower device (e.g., main memory) turns out to be a general idea.</a:t>
            </a:r>
          </a:p>
          <a:p>
            <a:pPr algn="l"/>
            <a:r>
              <a:rPr lang="en-US" sz="1600" dirty="0">
                <a:latin typeface="TimesTen-Roman"/>
              </a:rPr>
              <a:t>T</a:t>
            </a:r>
            <a:r>
              <a:rPr lang="en-US" sz="1600" b="0" i="0" u="none" strike="noStrike" baseline="0" dirty="0">
                <a:latin typeface="TimesTen-Roman"/>
              </a:rPr>
              <a:t>he storage devices in every computer system are organized as a </a:t>
            </a:r>
            <a:r>
              <a:rPr lang="en-US" sz="1600" b="0" i="1" u="none" strike="noStrike" baseline="0" dirty="0">
                <a:latin typeface="TimesTen-Italic"/>
              </a:rPr>
              <a:t>memory hierarchy </a:t>
            </a:r>
            <a:r>
              <a:rPr lang="en-US" sz="1600" b="0" i="0" u="none" strike="noStrike" baseline="0" dirty="0">
                <a:latin typeface="TimesTen-Roman"/>
              </a:rPr>
              <a:t>similar to Figure 1.9 on the left.</a:t>
            </a:r>
          </a:p>
          <a:p>
            <a:pPr algn="l"/>
            <a:r>
              <a:rPr lang="en-US" sz="1600" dirty="0">
                <a:latin typeface="TimesTen-Roman"/>
              </a:rPr>
              <a:t>The</a:t>
            </a:r>
            <a:r>
              <a:rPr lang="en-US" sz="1600" b="0" i="0" u="none" strike="noStrike" baseline="0" dirty="0">
                <a:latin typeface="TimesTen-Roman"/>
              </a:rPr>
              <a:t> storage at one level serves as a</a:t>
            </a:r>
          </a:p>
          <a:p>
            <a:pPr marL="0" indent="0" algn="l">
              <a:buNone/>
            </a:pPr>
            <a:r>
              <a:rPr lang="en-US" sz="1600" b="0" i="0" u="none" strike="noStrike" baseline="0" dirty="0">
                <a:latin typeface="TimesTen-Roman"/>
              </a:rPr>
              <a:t>      cache for storage at the next lower </a:t>
            </a:r>
          </a:p>
          <a:p>
            <a:pPr marL="0" indent="0" algn="l">
              <a:buNone/>
            </a:pPr>
            <a:r>
              <a:rPr lang="en-US" sz="1600" dirty="0">
                <a:latin typeface="TimesTen-Roman"/>
              </a:rPr>
              <a:t>      </a:t>
            </a:r>
            <a:r>
              <a:rPr lang="en-US" sz="1600" b="0" i="0" u="none" strike="noStrike" baseline="0" dirty="0">
                <a:latin typeface="TimesTen-Roman"/>
              </a:rPr>
              <a:t>level. For example, the main memory </a:t>
            </a:r>
          </a:p>
          <a:p>
            <a:pPr marL="0" indent="0" algn="l">
              <a:buNone/>
            </a:pPr>
            <a:r>
              <a:rPr lang="en-US" sz="1600" dirty="0">
                <a:latin typeface="TimesTen-Roman"/>
              </a:rPr>
              <a:t>      can act </a:t>
            </a:r>
            <a:r>
              <a:rPr lang="en-US" sz="1600" b="0" i="0" u="none" strike="noStrike" baseline="0" dirty="0">
                <a:latin typeface="TimesTen-Roman"/>
              </a:rPr>
              <a:t>as </a:t>
            </a:r>
            <a:r>
              <a:rPr lang="en-US" sz="1600" dirty="0">
                <a:latin typeface="TimesTen-Roman"/>
              </a:rPr>
              <a:t>a cache for the disk (e.g. </a:t>
            </a:r>
          </a:p>
          <a:p>
            <a:pPr marL="0" indent="0" algn="l">
              <a:buNone/>
            </a:pPr>
            <a:r>
              <a:rPr lang="en-US" sz="1600" dirty="0">
                <a:latin typeface="TimesTen-Roman"/>
              </a:rPr>
              <a:t>      disk cache).</a:t>
            </a:r>
          </a:p>
        </p:txBody>
      </p:sp>
      <p:sp>
        <p:nvSpPr>
          <p:cNvPr id="2" name="灯片编号占位符 1"/>
          <p:cNvSpPr>
            <a:spLocks noGrp="1"/>
          </p:cNvSpPr>
          <p:nvPr>
            <p:ph type="sldNum" sz="quarter" idx="10"/>
          </p:nvPr>
        </p:nvSpPr>
        <p:spPr/>
        <p:txBody>
          <a:bodyPr/>
          <a:lstStyle/>
          <a:p>
            <a:fld id="{D9B6BDF2-6896-4B98-8776-C18582F63BA5}" type="slidenum">
              <a:rPr lang="zh-TW" altLang="en-US" smtClean="0"/>
              <a:t>21</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771525" y="107950"/>
            <a:ext cx="8122444"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1.6  Storage Devices Form a Hierarchy</a:t>
            </a:r>
          </a:p>
        </p:txBody>
      </p:sp>
      <p:pic>
        <p:nvPicPr>
          <p:cNvPr id="4" name="Picture 3">
            <a:extLst>
              <a:ext uri="{FF2B5EF4-FFF2-40B4-BE49-F238E27FC236}">
                <a16:creationId xmlns:a16="http://schemas.microsoft.com/office/drawing/2014/main" id="{DB444762-CB5F-43B2-A5B7-E60036B34098}"/>
              </a:ext>
            </a:extLst>
          </p:cNvPr>
          <p:cNvPicPr>
            <a:picLocks noChangeAspect="1"/>
          </p:cNvPicPr>
          <p:nvPr/>
        </p:nvPicPr>
        <p:blipFill>
          <a:blip r:embed="rId2"/>
          <a:stretch>
            <a:fillRect/>
          </a:stretch>
        </p:blipFill>
        <p:spPr>
          <a:xfrm>
            <a:off x="28575" y="807243"/>
            <a:ext cx="5129213" cy="3693319"/>
          </a:xfrm>
          <a:prstGeom prst="rect">
            <a:avLst/>
          </a:prstGeom>
        </p:spPr>
      </p:pic>
      <p:sp>
        <p:nvSpPr>
          <p:cNvPr id="6" name="TextBox 5">
            <a:extLst>
              <a:ext uri="{FF2B5EF4-FFF2-40B4-BE49-F238E27FC236}">
                <a16:creationId xmlns:a16="http://schemas.microsoft.com/office/drawing/2014/main" id="{11A4CFC7-B420-4281-A007-341D99AC22F7}"/>
              </a:ext>
            </a:extLst>
          </p:cNvPr>
          <p:cNvSpPr txBox="1"/>
          <p:nvPr/>
        </p:nvSpPr>
        <p:spPr>
          <a:xfrm>
            <a:off x="907255" y="3906421"/>
            <a:ext cx="2600325" cy="338554"/>
          </a:xfrm>
          <a:prstGeom prst="rect">
            <a:avLst/>
          </a:prstGeom>
          <a:solidFill>
            <a:srgbClr val="FFFF00"/>
          </a:solidFill>
          <a:ln>
            <a:solidFill>
              <a:schemeClr val="accent2"/>
            </a:solidFill>
          </a:ln>
        </p:spPr>
        <p:txBody>
          <a:bodyPr wrap="square" rtlCol="0" anchor="ctr" anchorCtr="1">
            <a:spAutoFit/>
          </a:bodyPr>
          <a:lstStyle/>
          <a:p>
            <a:r>
              <a:rPr lang="en-US" sz="1600" dirty="0">
                <a:ea typeface="標楷體" pitchFamily="65" charset="-120"/>
                <a:cs typeface="Calibri" panose="020F07020304040A0204" pitchFamily="34" charset="0"/>
              </a:rPr>
              <a:t>Large, Slow, Cheap</a:t>
            </a:r>
          </a:p>
        </p:txBody>
      </p:sp>
      <p:sp>
        <p:nvSpPr>
          <p:cNvPr id="7" name="TextBox 6">
            <a:extLst>
              <a:ext uri="{FF2B5EF4-FFF2-40B4-BE49-F238E27FC236}">
                <a16:creationId xmlns:a16="http://schemas.microsoft.com/office/drawing/2014/main" id="{9914877D-44A4-4249-9B97-B6159EC6471D}"/>
              </a:ext>
            </a:extLst>
          </p:cNvPr>
          <p:cNvSpPr txBox="1"/>
          <p:nvPr/>
        </p:nvSpPr>
        <p:spPr>
          <a:xfrm>
            <a:off x="1203126" y="678656"/>
            <a:ext cx="2008582" cy="307777"/>
          </a:xfrm>
          <a:prstGeom prst="rect">
            <a:avLst/>
          </a:prstGeom>
          <a:solidFill>
            <a:srgbClr val="FFFF00"/>
          </a:solidFill>
          <a:ln>
            <a:solidFill>
              <a:schemeClr val="accent2"/>
            </a:solidFill>
          </a:ln>
        </p:spPr>
        <p:txBody>
          <a:bodyPr wrap="square" rtlCol="0" anchor="ctr" anchorCtr="1">
            <a:spAutoFit/>
          </a:bodyPr>
          <a:lstStyle/>
          <a:p>
            <a:r>
              <a:rPr lang="en-US" sz="1400" dirty="0">
                <a:ea typeface="標楷體" pitchFamily="65" charset="-120"/>
                <a:cs typeface="Calibri" panose="020F07020304040A0204" pitchFamily="34" charset="0"/>
              </a:rPr>
              <a:t>Small, Fast, Expensive</a:t>
            </a:r>
          </a:p>
        </p:txBody>
      </p:sp>
    </p:spTree>
    <p:extLst>
      <p:ext uri="{BB962C8B-B14F-4D97-AF65-F5344CB8AC3E}">
        <p14:creationId xmlns:p14="http://schemas.microsoft.com/office/powerpoint/2010/main" val="1154017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74171" y="714375"/>
            <a:ext cx="8795657" cy="3986211"/>
          </a:xfrm>
        </p:spPr>
        <p:txBody>
          <a:bodyPr/>
          <a:lstStyle/>
          <a:p>
            <a:pPr marL="0" indent="0" algn="l">
              <a:buNone/>
            </a:pPr>
            <a:r>
              <a:rPr lang="en-US" sz="2000" b="0" i="0" u="none" strike="noStrike" baseline="0" dirty="0">
                <a:latin typeface="TimesTen-Roman"/>
              </a:rPr>
              <a:t>    </a:t>
            </a:r>
          </a:p>
        </p:txBody>
      </p:sp>
      <p:sp>
        <p:nvSpPr>
          <p:cNvPr id="2" name="灯片编号占位符 1"/>
          <p:cNvSpPr>
            <a:spLocks noGrp="1"/>
          </p:cNvSpPr>
          <p:nvPr>
            <p:ph type="sldNum" sz="quarter" idx="10"/>
          </p:nvPr>
        </p:nvSpPr>
        <p:spPr/>
        <p:txBody>
          <a:bodyPr/>
          <a:lstStyle/>
          <a:p>
            <a:fld id="{D9B6BDF2-6896-4B98-8776-C18582F63BA5}" type="slidenum">
              <a:rPr lang="zh-TW" altLang="en-US" smtClean="0"/>
              <a:t>22</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771525" y="107950"/>
            <a:ext cx="8122444"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1.7  OS Manages the Hardware</a:t>
            </a:r>
          </a:p>
        </p:txBody>
      </p:sp>
      <p:pic>
        <p:nvPicPr>
          <p:cNvPr id="4" name="Picture 3">
            <a:extLst>
              <a:ext uri="{FF2B5EF4-FFF2-40B4-BE49-F238E27FC236}">
                <a16:creationId xmlns:a16="http://schemas.microsoft.com/office/drawing/2014/main" id="{183806B8-1760-43AF-93C2-F927757B9163}"/>
              </a:ext>
            </a:extLst>
          </p:cNvPr>
          <p:cNvPicPr>
            <a:picLocks noChangeAspect="1"/>
          </p:cNvPicPr>
          <p:nvPr/>
        </p:nvPicPr>
        <p:blipFill>
          <a:blip r:embed="rId3"/>
          <a:stretch>
            <a:fillRect/>
          </a:stretch>
        </p:blipFill>
        <p:spPr>
          <a:xfrm>
            <a:off x="1458239" y="819948"/>
            <a:ext cx="6035555" cy="1012076"/>
          </a:xfrm>
          <a:prstGeom prst="rect">
            <a:avLst/>
          </a:prstGeom>
        </p:spPr>
      </p:pic>
      <p:sp>
        <p:nvSpPr>
          <p:cNvPr id="7" name="Content Placeholder 7">
            <a:extLst>
              <a:ext uri="{FF2B5EF4-FFF2-40B4-BE49-F238E27FC236}">
                <a16:creationId xmlns:a16="http://schemas.microsoft.com/office/drawing/2014/main" id="{5B628818-E06A-48D3-972B-384C202BB3BB}"/>
              </a:ext>
            </a:extLst>
          </p:cNvPr>
          <p:cNvSpPr txBox="1">
            <a:spLocks/>
          </p:cNvSpPr>
          <p:nvPr/>
        </p:nvSpPr>
        <p:spPr bwMode="auto">
          <a:xfrm>
            <a:off x="326571" y="1735931"/>
            <a:ext cx="8795657" cy="2587621"/>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endParaRPr lang="en-US" sz="2000" i="1" kern="0" dirty="0">
              <a:solidFill>
                <a:srgbClr val="FF0000"/>
              </a:solidFill>
              <a:latin typeface="TimesTen-Italic"/>
            </a:endParaRPr>
          </a:p>
          <a:p>
            <a:endParaRPr lang="en-US" sz="2000" kern="0" dirty="0">
              <a:solidFill>
                <a:srgbClr val="FF0000"/>
              </a:solidFill>
            </a:endParaRPr>
          </a:p>
        </p:txBody>
      </p:sp>
      <p:sp>
        <p:nvSpPr>
          <p:cNvPr id="9" name="Content Placeholder 7">
            <a:extLst>
              <a:ext uri="{FF2B5EF4-FFF2-40B4-BE49-F238E27FC236}">
                <a16:creationId xmlns:a16="http://schemas.microsoft.com/office/drawing/2014/main" id="{EB5B0796-7C98-4612-998C-8602E87EB120}"/>
              </a:ext>
            </a:extLst>
          </p:cNvPr>
          <p:cNvSpPr txBox="1">
            <a:spLocks/>
          </p:cNvSpPr>
          <p:nvPr/>
        </p:nvSpPr>
        <p:spPr bwMode="auto">
          <a:xfrm>
            <a:off x="21773" y="1750218"/>
            <a:ext cx="8948056" cy="2587621"/>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en-US" sz="2000" kern="0" dirty="0">
                <a:solidFill>
                  <a:srgbClr val="002060"/>
                </a:solidFill>
                <a:latin typeface="TimesTen-Roman"/>
              </a:rPr>
              <a:t>OS is a software layer interposed between the hardware and application software.</a:t>
            </a:r>
          </a:p>
          <a:p>
            <a:r>
              <a:rPr lang="en-US" sz="2000" kern="0" dirty="0">
                <a:solidFill>
                  <a:srgbClr val="002060"/>
                </a:solidFill>
                <a:latin typeface="TimesTen-Roman"/>
              </a:rPr>
              <a:t>OS is responsible for </a:t>
            </a:r>
          </a:p>
          <a:p>
            <a:pPr lvl="1"/>
            <a:r>
              <a:rPr lang="en-US" sz="1600" kern="0" dirty="0">
                <a:solidFill>
                  <a:srgbClr val="002060"/>
                </a:solidFill>
                <a:latin typeface="TimesTen-Roman"/>
              </a:rPr>
              <a:t>Make the machine easier to use by applications (such as GUI, Shell, </a:t>
            </a:r>
            <a:r>
              <a:rPr lang="en-US" sz="1600" kern="0" dirty="0" err="1">
                <a:solidFill>
                  <a:srgbClr val="002060"/>
                </a:solidFill>
                <a:latin typeface="TimesTen-Roman"/>
              </a:rPr>
              <a:t>TouchScreen</a:t>
            </a:r>
            <a:r>
              <a:rPr lang="en-US" sz="1600" kern="0" dirty="0">
                <a:solidFill>
                  <a:srgbClr val="002060"/>
                </a:solidFill>
                <a:latin typeface="TimesTen-Roman"/>
              </a:rPr>
              <a:t> interface, …)</a:t>
            </a:r>
          </a:p>
          <a:p>
            <a:pPr lvl="1"/>
            <a:r>
              <a:rPr lang="en-US" sz="1600" kern="0" dirty="0">
                <a:solidFill>
                  <a:srgbClr val="002060"/>
                </a:solidFill>
                <a:latin typeface="TimesTen-Roman"/>
              </a:rPr>
              <a:t>Resource manager and allocator (memory, CPU, I/O)</a:t>
            </a:r>
          </a:p>
          <a:p>
            <a:pPr lvl="1"/>
            <a:r>
              <a:rPr lang="en-US" sz="1600" kern="0" dirty="0">
                <a:solidFill>
                  <a:srgbClr val="002060"/>
                </a:solidFill>
                <a:latin typeface="TimesTen-Roman"/>
              </a:rPr>
              <a:t>Controller of the system hardware (various schedulers: processor, IO, memory, network, device,..)</a:t>
            </a:r>
          </a:p>
          <a:p>
            <a:pPr lvl="1"/>
            <a:r>
              <a:rPr lang="en-US" sz="1600" kern="0" dirty="0">
                <a:solidFill>
                  <a:srgbClr val="002060"/>
                </a:solidFill>
                <a:latin typeface="TimesTen-Roman"/>
              </a:rPr>
              <a:t>Security and Protection</a:t>
            </a:r>
          </a:p>
          <a:p>
            <a:r>
              <a:rPr lang="en-US" sz="2000" kern="0" dirty="0">
                <a:solidFill>
                  <a:srgbClr val="002060"/>
                </a:solidFill>
                <a:latin typeface="TimesTen-Roman"/>
              </a:rPr>
              <a:t>Applications use system calls to request operating system services for interacting with I/O devices.</a:t>
            </a:r>
            <a:endParaRPr lang="en-US" sz="2000" kern="0" dirty="0">
              <a:solidFill>
                <a:srgbClr val="FF0000"/>
              </a:solidFill>
            </a:endParaRPr>
          </a:p>
        </p:txBody>
      </p:sp>
    </p:spTree>
    <p:extLst>
      <p:ext uri="{BB962C8B-B14F-4D97-AF65-F5344CB8AC3E}">
        <p14:creationId xmlns:p14="http://schemas.microsoft.com/office/powerpoint/2010/main" val="8720858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74171" y="714375"/>
            <a:ext cx="8795657" cy="3986211"/>
          </a:xfrm>
        </p:spPr>
        <p:txBody>
          <a:bodyPr/>
          <a:lstStyle/>
          <a:p>
            <a:pPr marL="0" indent="0" algn="l">
              <a:buNone/>
            </a:pPr>
            <a:r>
              <a:rPr lang="en-US" sz="2000" b="0" i="0" u="none" strike="noStrike" baseline="0" dirty="0">
                <a:latin typeface="TimesTen-Roman"/>
              </a:rPr>
              <a:t>    </a:t>
            </a:r>
          </a:p>
        </p:txBody>
      </p:sp>
      <p:sp>
        <p:nvSpPr>
          <p:cNvPr id="2" name="灯片编号占位符 1"/>
          <p:cNvSpPr>
            <a:spLocks noGrp="1"/>
          </p:cNvSpPr>
          <p:nvPr>
            <p:ph type="sldNum" sz="quarter" idx="10"/>
          </p:nvPr>
        </p:nvSpPr>
        <p:spPr/>
        <p:txBody>
          <a:bodyPr/>
          <a:lstStyle/>
          <a:p>
            <a:fld id="{D9B6BDF2-6896-4B98-8776-C18582F63BA5}" type="slidenum">
              <a:rPr lang="zh-TW" altLang="en-US" smtClean="0"/>
              <a:t>23</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771525" y="107950"/>
            <a:ext cx="8122444"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1.7.0 Three OS Abstractions (Virtualization) </a:t>
            </a:r>
          </a:p>
        </p:txBody>
      </p:sp>
      <p:sp>
        <p:nvSpPr>
          <p:cNvPr id="7" name="Content Placeholder 7">
            <a:extLst>
              <a:ext uri="{FF2B5EF4-FFF2-40B4-BE49-F238E27FC236}">
                <a16:creationId xmlns:a16="http://schemas.microsoft.com/office/drawing/2014/main" id="{5B628818-E06A-48D3-972B-384C202BB3BB}"/>
              </a:ext>
            </a:extLst>
          </p:cNvPr>
          <p:cNvSpPr txBox="1">
            <a:spLocks/>
          </p:cNvSpPr>
          <p:nvPr/>
        </p:nvSpPr>
        <p:spPr bwMode="auto">
          <a:xfrm>
            <a:off x="326570" y="2143125"/>
            <a:ext cx="8795657" cy="2339332"/>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endParaRPr lang="en-US" sz="2000" i="1" kern="0" dirty="0">
              <a:solidFill>
                <a:srgbClr val="FF0000"/>
              </a:solidFill>
              <a:latin typeface="TimesTen-Italic"/>
            </a:endParaRPr>
          </a:p>
          <a:p>
            <a:endParaRPr lang="en-US" sz="2000" kern="0" dirty="0">
              <a:solidFill>
                <a:srgbClr val="FF0000"/>
              </a:solidFill>
            </a:endParaRPr>
          </a:p>
        </p:txBody>
      </p:sp>
      <p:sp>
        <p:nvSpPr>
          <p:cNvPr id="9" name="Content Placeholder 7">
            <a:extLst>
              <a:ext uri="{FF2B5EF4-FFF2-40B4-BE49-F238E27FC236}">
                <a16:creationId xmlns:a16="http://schemas.microsoft.com/office/drawing/2014/main" id="{EB5B0796-7C98-4612-998C-8602E87EB120}"/>
              </a:ext>
            </a:extLst>
          </p:cNvPr>
          <p:cNvSpPr txBox="1">
            <a:spLocks/>
          </p:cNvSpPr>
          <p:nvPr/>
        </p:nvSpPr>
        <p:spPr bwMode="auto">
          <a:xfrm>
            <a:off x="21772" y="2143125"/>
            <a:ext cx="8948056" cy="2339332"/>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algn="l"/>
            <a:r>
              <a:rPr lang="en-US" b="0" i="0" u="none" strike="noStrike" baseline="0" dirty="0">
                <a:latin typeface="TimesTen-Roman"/>
              </a:rPr>
              <a:t>The operating system offers three fundamental abstractions shown in Figure 1.11: </a:t>
            </a:r>
            <a:r>
              <a:rPr lang="en-US" b="0" i="1" u="none" strike="noStrike" baseline="0" dirty="0">
                <a:latin typeface="TimesTen-Italic"/>
              </a:rPr>
              <a:t>processes</a:t>
            </a:r>
            <a:r>
              <a:rPr lang="en-US" b="0" i="0" u="none" strike="noStrike" baseline="0" dirty="0">
                <a:latin typeface="TimesTen-Roman"/>
              </a:rPr>
              <a:t>, </a:t>
            </a:r>
            <a:r>
              <a:rPr lang="en-US" b="0" i="1" u="none" strike="noStrike" baseline="0" dirty="0">
                <a:latin typeface="TimesTen-Italic"/>
              </a:rPr>
              <a:t>virtual memory</a:t>
            </a:r>
            <a:r>
              <a:rPr lang="en-US" b="0" i="0" u="none" strike="noStrike" baseline="0" dirty="0">
                <a:latin typeface="TimesTen-Roman"/>
              </a:rPr>
              <a:t>, and </a:t>
            </a:r>
            <a:r>
              <a:rPr lang="en-US" b="0" i="1" u="none" strike="noStrike" baseline="0" dirty="0">
                <a:latin typeface="TimesTen-Italic"/>
              </a:rPr>
              <a:t>files</a:t>
            </a:r>
            <a:r>
              <a:rPr lang="en-US" b="0" i="0" u="none" strike="noStrike" baseline="0" dirty="0">
                <a:latin typeface="TimesTen-Roman"/>
              </a:rPr>
              <a:t>. </a:t>
            </a:r>
          </a:p>
          <a:p>
            <a:pPr lvl="1"/>
            <a:r>
              <a:rPr lang="en-US" sz="2100" dirty="0">
                <a:solidFill>
                  <a:srgbClr val="FF0000"/>
                </a:solidFill>
                <a:latin typeface="TimesTen-Roman"/>
              </a:rPr>
              <a:t>F</a:t>
            </a:r>
            <a:r>
              <a:rPr lang="en-US" sz="2100" b="0" i="0" u="none" strike="noStrike" baseline="0" dirty="0">
                <a:solidFill>
                  <a:srgbClr val="FF0000"/>
                </a:solidFill>
                <a:latin typeface="TimesTen-Roman"/>
              </a:rPr>
              <a:t>iles</a:t>
            </a:r>
            <a:r>
              <a:rPr lang="en-US" sz="2100" b="0" i="0" u="none" strike="noStrike" baseline="0" dirty="0">
                <a:latin typeface="TimesTen-Roman"/>
              </a:rPr>
              <a:t> are abstractions for I/O devices </a:t>
            </a:r>
          </a:p>
          <a:p>
            <a:pPr lvl="1"/>
            <a:r>
              <a:rPr lang="en-US" sz="2100" dirty="0">
                <a:solidFill>
                  <a:srgbClr val="FF0000"/>
                </a:solidFill>
                <a:latin typeface="TimesTen-Roman"/>
              </a:rPr>
              <a:t>V</a:t>
            </a:r>
            <a:r>
              <a:rPr lang="en-US" sz="2100" b="0" i="0" u="none" strike="noStrike" baseline="0" dirty="0">
                <a:solidFill>
                  <a:srgbClr val="FF0000"/>
                </a:solidFill>
                <a:latin typeface="TimesTen-Roman"/>
              </a:rPr>
              <a:t>irtual memory </a:t>
            </a:r>
            <a:r>
              <a:rPr lang="en-US" sz="2100" b="0" i="0" u="none" strike="noStrike" baseline="0" dirty="0">
                <a:latin typeface="TimesTen-Roman"/>
              </a:rPr>
              <a:t>is an abstraction for both the main memory and disk I/O devices </a:t>
            </a:r>
          </a:p>
          <a:p>
            <a:pPr lvl="1"/>
            <a:r>
              <a:rPr lang="en-US" sz="2100" b="0" i="0" u="none" strike="noStrike" baseline="0" dirty="0">
                <a:solidFill>
                  <a:srgbClr val="FF0000"/>
                </a:solidFill>
                <a:latin typeface="TimesTen-Roman"/>
              </a:rPr>
              <a:t>Processes</a:t>
            </a:r>
            <a:r>
              <a:rPr lang="en-US" sz="2100" dirty="0">
                <a:latin typeface="TimesTen-Roman"/>
              </a:rPr>
              <a:t> </a:t>
            </a:r>
            <a:r>
              <a:rPr lang="en-US" sz="2100" b="0" i="0" u="none" strike="noStrike" baseline="0" dirty="0">
                <a:latin typeface="TimesTen-Roman"/>
              </a:rPr>
              <a:t>are abstractions for the processor, main memory, and I/O devices.</a:t>
            </a:r>
            <a:endParaRPr lang="en-US" sz="2100" kern="0" dirty="0">
              <a:solidFill>
                <a:srgbClr val="FF0000"/>
              </a:solidFill>
            </a:endParaRPr>
          </a:p>
        </p:txBody>
      </p:sp>
      <p:pic>
        <p:nvPicPr>
          <p:cNvPr id="5" name="Picture 4">
            <a:extLst>
              <a:ext uri="{FF2B5EF4-FFF2-40B4-BE49-F238E27FC236}">
                <a16:creationId xmlns:a16="http://schemas.microsoft.com/office/drawing/2014/main" id="{BA618177-E128-42D1-A8A9-99ADEDD47A79}"/>
              </a:ext>
            </a:extLst>
          </p:cNvPr>
          <p:cNvPicPr>
            <a:picLocks noChangeAspect="1"/>
          </p:cNvPicPr>
          <p:nvPr/>
        </p:nvPicPr>
        <p:blipFill>
          <a:blip r:embed="rId3"/>
          <a:stretch>
            <a:fillRect/>
          </a:stretch>
        </p:blipFill>
        <p:spPr>
          <a:xfrm>
            <a:off x="1521619" y="714375"/>
            <a:ext cx="6015037" cy="1428750"/>
          </a:xfrm>
          <a:prstGeom prst="rect">
            <a:avLst/>
          </a:prstGeom>
        </p:spPr>
      </p:pic>
    </p:spTree>
    <p:extLst>
      <p:ext uri="{BB962C8B-B14F-4D97-AF65-F5344CB8AC3E}">
        <p14:creationId xmlns:p14="http://schemas.microsoft.com/office/powerpoint/2010/main" val="6576322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74171" y="714375"/>
            <a:ext cx="8795657" cy="3986211"/>
          </a:xfrm>
        </p:spPr>
        <p:txBody>
          <a:bodyPr/>
          <a:lstStyle/>
          <a:p>
            <a:pPr marL="0" indent="0" algn="l">
              <a:buNone/>
            </a:pPr>
            <a:r>
              <a:rPr lang="en-US" sz="2000" b="0" i="0" u="none" strike="noStrike" baseline="0" dirty="0">
                <a:latin typeface="TimesTen-Roman"/>
              </a:rPr>
              <a:t>    </a:t>
            </a:r>
          </a:p>
        </p:txBody>
      </p:sp>
      <p:sp>
        <p:nvSpPr>
          <p:cNvPr id="2" name="灯片编号占位符 1"/>
          <p:cNvSpPr>
            <a:spLocks noGrp="1"/>
          </p:cNvSpPr>
          <p:nvPr>
            <p:ph type="sldNum" sz="quarter" idx="10"/>
          </p:nvPr>
        </p:nvSpPr>
        <p:spPr/>
        <p:txBody>
          <a:bodyPr/>
          <a:lstStyle/>
          <a:p>
            <a:fld id="{D9B6BDF2-6896-4B98-8776-C18582F63BA5}" type="slidenum">
              <a:rPr lang="zh-TW" altLang="en-US" smtClean="0"/>
              <a:t>24</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771525" y="107950"/>
            <a:ext cx="8122444"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1.7.0 Three OS Abstractions (Virtualization) </a:t>
            </a:r>
          </a:p>
        </p:txBody>
      </p:sp>
      <p:sp>
        <p:nvSpPr>
          <p:cNvPr id="7" name="Content Placeholder 7">
            <a:extLst>
              <a:ext uri="{FF2B5EF4-FFF2-40B4-BE49-F238E27FC236}">
                <a16:creationId xmlns:a16="http://schemas.microsoft.com/office/drawing/2014/main" id="{5B628818-E06A-48D3-972B-384C202BB3BB}"/>
              </a:ext>
            </a:extLst>
          </p:cNvPr>
          <p:cNvSpPr txBox="1">
            <a:spLocks/>
          </p:cNvSpPr>
          <p:nvPr/>
        </p:nvSpPr>
        <p:spPr bwMode="auto">
          <a:xfrm>
            <a:off x="326570" y="2143125"/>
            <a:ext cx="8795657" cy="2339332"/>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endParaRPr lang="en-US" sz="2000" i="1" kern="0" dirty="0">
              <a:solidFill>
                <a:srgbClr val="FF0000"/>
              </a:solidFill>
              <a:latin typeface="TimesTen-Italic"/>
            </a:endParaRPr>
          </a:p>
          <a:p>
            <a:endParaRPr lang="en-US" sz="2000" kern="0" dirty="0">
              <a:solidFill>
                <a:srgbClr val="FF0000"/>
              </a:solidFill>
            </a:endParaRPr>
          </a:p>
        </p:txBody>
      </p:sp>
      <p:sp>
        <p:nvSpPr>
          <p:cNvPr id="9" name="Content Placeholder 7">
            <a:extLst>
              <a:ext uri="{FF2B5EF4-FFF2-40B4-BE49-F238E27FC236}">
                <a16:creationId xmlns:a16="http://schemas.microsoft.com/office/drawing/2014/main" id="{EB5B0796-7C98-4612-998C-8602E87EB120}"/>
              </a:ext>
            </a:extLst>
          </p:cNvPr>
          <p:cNvSpPr txBox="1">
            <a:spLocks/>
          </p:cNvSpPr>
          <p:nvPr/>
        </p:nvSpPr>
        <p:spPr bwMode="auto">
          <a:xfrm>
            <a:off x="21772" y="2143125"/>
            <a:ext cx="8948056" cy="2339332"/>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algn="l"/>
            <a:r>
              <a:rPr lang="en-US" b="0" i="0" u="none" strike="noStrike" baseline="0" dirty="0">
                <a:latin typeface="TimesTen-Roman"/>
              </a:rPr>
              <a:t>The operating system offers three fundamental abstractions shown in Figure 1.11: </a:t>
            </a:r>
            <a:r>
              <a:rPr lang="en-US" b="0" i="1" u="none" strike="noStrike" baseline="0" dirty="0">
                <a:latin typeface="TimesTen-Italic"/>
              </a:rPr>
              <a:t>processes</a:t>
            </a:r>
            <a:r>
              <a:rPr lang="en-US" b="0" i="0" u="none" strike="noStrike" baseline="0" dirty="0">
                <a:latin typeface="TimesTen-Roman"/>
              </a:rPr>
              <a:t>, </a:t>
            </a:r>
            <a:r>
              <a:rPr lang="en-US" b="0" i="1" u="none" strike="noStrike" baseline="0" dirty="0">
                <a:latin typeface="TimesTen-Italic"/>
              </a:rPr>
              <a:t>virtual memory</a:t>
            </a:r>
            <a:r>
              <a:rPr lang="en-US" b="0" i="0" u="none" strike="noStrike" baseline="0" dirty="0">
                <a:latin typeface="TimesTen-Roman"/>
              </a:rPr>
              <a:t>, and </a:t>
            </a:r>
            <a:r>
              <a:rPr lang="en-US" b="0" i="1" u="none" strike="noStrike" baseline="0" dirty="0">
                <a:latin typeface="TimesTen-Italic"/>
              </a:rPr>
              <a:t>files</a:t>
            </a:r>
            <a:r>
              <a:rPr lang="en-US" b="0" i="0" u="none" strike="noStrike" baseline="0" dirty="0">
                <a:latin typeface="TimesTen-Roman"/>
              </a:rPr>
              <a:t>. </a:t>
            </a:r>
          </a:p>
          <a:p>
            <a:pPr lvl="1"/>
            <a:r>
              <a:rPr lang="en-US" sz="2100" dirty="0">
                <a:solidFill>
                  <a:srgbClr val="FF0000"/>
                </a:solidFill>
                <a:latin typeface="TimesTen-Roman"/>
              </a:rPr>
              <a:t>F</a:t>
            </a:r>
            <a:r>
              <a:rPr lang="en-US" sz="2100" b="0" i="0" u="none" strike="noStrike" baseline="0" dirty="0">
                <a:solidFill>
                  <a:srgbClr val="FF0000"/>
                </a:solidFill>
                <a:latin typeface="TimesTen-Roman"/>
              </a:rPr>
              <a:t>iles</a:t>
            </a:r>
            <a:r>
              <a:rPr lang="en-US" sz="2100" b="0" i="0" u="none" strike="noStrike" baseline="0" dirty="0">
                <a:latin typeface="TimesTen-Roman"/>
              </a:rPr>
              <a:t> are abstractions for I/O devices </a:t>
            </a:r>
          </a:p>
          <a:p>
            <a:pPr lvl="1"/>
            <a:r>
              <a:rPr lang="en-US" sz="2100" dirty="0">
                <a:solidFill>
                  <a:srgbClr val="FF0000"/>
                </a:solidFill>
                <a:latin typeface="TimesTen-Roman"/>
              </a:rPr>
              <a:t>V</a:t>
            </a:r>
            <a:r>
              <a:rPr lang="en-US" sz="2100" b="0" i="0" u="none" strike="noStrike" baseline="0" dirty="0">
                <a:solidFill>
                  <a:srgbClr val="FF0000"/>
                </a:solidFill>
                <a:latin typeface="TimesTen-Roman"/>
              </a:rPr>
              <a:t>irtual memory </a:t>
            </a:r>
            <a:r>
              <a:rPr lang="en-US" sz="2100" b="0" i="0" u="none" strike="noStrike" baseline="0" dirty="0">
                <a:latin typeface="TimesTen-Roman"/>
              </a:rPr>
              <a:t>is an abstraction for both the main memory and disk I/O devices </a:t>
            </a:r>
          </a:p>
          <a:p>
            <a:pPr lvl="1"/>
            <a:r>
              <a:rPr lang="en-US" sz="2100" b="0" i="0" u="none" strike="noStrike" baseline="0" dirty="0">
                <a:solidFill>
                  <a:srgbClr val="FF0000"/>
                </a:solidFill>
                <a:latin typeface="TimesTen-Roman"/>
              </a:rPr>
              <a:t>Processes</a:t>
            </a:r>
            <a:r>
              <a:rPr lang="en-US" sz="2100" dirty="0">
                <a:latin typeface="TimesTen-Roman"/>
              </a:rPr>
              <a:t> </a:t>
            </a:r>
            <a:r>
              <a:rPr lang="en-US" sz="2100" b="0" i="0" u="none" strike="noStrike" baseline="0" dirty="0">
                <a:latin typeface="TimesTen-Roman"/>
              </a:rPr>
              <a:t>are abstractions for the processor, main memory, and I/O devices.</a:t>
            </a:r>
            <a:endParaRPr lang="en-US" sz="2100" kern="0" dirty="0">
              <a:solidFill>
                <a:srgbClr val="FF0000"/>
              </a:solidFill>
            </a:endParaRPr>
          </a:p>
        </p:txBody>
      </p:sp>
      <p:pic>
        <p:nvPicPr>
          <p:cNvPr id="5" name="Picture 4">
            <a:extLst>
              <a:ext uri="{FF2B5EF4-FFF2-40B4-BE49-F238E27FC236}">
                <a16:creationId xmlns:a16="http://schemas.microsoft.com/office/drawing/2014/main" id="{BA618177-E128-42D1-A8A9-99ADEDD47A79}"/>
              </a:ext>
            </a:extLst>
          </p:cNvPr>
          <p:cNvPicPr>
            <a:picLocks noChangeAspect="1"/>
          </p:cNvPicPr>
          <p:nvPr/>
        </p:nvPicPr>
        <p:blipFill>
          <a:blip r:embed="rId3"/>
          <a:stretch>
            <a:fillRect/>
          </a:stretch>
        </p:blipFill>
        <p:spPr>
          <a:xfrm>
            <a:off x="1521619" y="714375"/>
            <a:ext cx="6015037" cy="1428750"/>
          </a:xfrm>
          <a:prstGeom prst="rect">
            <a:avLst/>
          </a:prstGeom>
        </p:spPr>
      </p:pic>
      <p:sp>
        <p:nvSpPr>
          <p:cNvPr id="3" name="TextBox 2">
            <a:extLst>
              <a:ext uri="{FF2B5EF4-FFF2-40B4-BE49-F238E27FC236}">
                <a16:creationId xmlns:a16="http://schemas.microsoft.com/office/drawing/2014/main" id="{2E8FC876-0466-4844-A608-390535EDE926}"/>
              </a:ext>
            </a:extLst>
          </p:cNvPr>
          <p:cNvSpPr txBox="1"/>
          <p:nvPr/>
        </p:nvSpPr>
        <p:spPr>
          <a:xfrm>
            <a:off x="2023723" y="2663934"/>
            <a:ext cx="6793707" cy="1815882"/>
          </a:xfrm>
          <a:prstGeom prst="rect">
            <a:avLst/>
          </a:prstGeom>
          <a:solidFill>
            <a:srgbClr val="FFFF00"/>
          </a:solidFill>
          <a:ln>
            <a:solidFill>
              <a:schemeClr val="accent2"/>
            </a:solidFill>
          </a:ln>
        </p:spPr>
        <p:txBody>
          <a:bodyPr wrap="square" rtlCol="0" anchor="ctr" anchorCtr="1">
            <a:spAutoFit/>
          </a:bodyPr>
          <a:lstStyle/>
          <a:p>
            <a:r>
              <a:rPr lang="en-US" sz="1600" dirty="0">
                <a:solidFill>
                  <a:srgbClr val="FF0000"/>
                </a:solidFill>
                <a:ea typeface="標楷體" pitchFamily="65" charset="-120"/>
                <a:cs typeface="Calibri" panose="020F07020304040A0204" pitchFamily="34" charset="0"/>
              </a:rPr>
              <a:t>Virtualization</a:t>
            </a:r>
            <a:r>
              <a:rPr lang="en-US" sz="1600" dirty="0">
                <a:ea typeface="標楷體" pitchFamily="65" charset="-120"/>
                <a:cs typeface="Calibri" panose="020F07020304040A0204" pitchFamily="34" charset="0"/>
              </a:rPr>
              <a:t>: often related to multiplicity, fake versions, and sharing</a:t>
            </a:r>
          </a:p>
          <a:p>
            <a:r>
              <a:rPr lang="en-US" sz="1600" dirty="0">
                <a:ea typeface="標楷體" pitchFamily="65" charset="-120"/>
                <a:cs typeface="Calibri" panose="020F07020304040A0204" pitchFamily="34" charset="0"/>
              </a:rPr>
              <a:t>For example: </a:t>
            </a:r>
          </a:p>
          <a:p>
            <a:pPr marL="342900" indent="-342900">
              <a:buAutoNum type="arabicParenR"/>
            </a:pPr>
            <a:r>
              <a:rPr lang="en-US" sz="1600" dirty="0">
                <a:ea typeface="標楷體" pitchFamily="65" charset="-120"/>
                <a:cs typeface="Calibri" panose="020F07020304040A0204" pitchFamily="34" charset="0"/>
              </a:rPr>
              <a:t>Only one physical memory, but it can be shared by many virtual address spaces (Virtual Memory)</a:t>
            </a:r>
          </a:p>
          <a:p>
            <a:pPr marL="342900" indent="-342900">
              <a:buAutoNum type="arabicParenR"/>
            </a:pPr>
            <a:r>
              <a:rPr lang="en-US" sz="1600" dirty="0">
                <a:ea typeface="標楷體" pitchFamily="65" charset="-120"/>
                <a:cs typeface="Calibri" panose="020F07020304040A0204" pitchFamily="34" charset="0"/>
              </a:rPr>
              <a:t>Only one CPU, but it can be shared by many processes</a:t>
            </a:r>
          </a:p>
          <a:p>
            <a:pPr marL="342900" indent="-342900">
              <a:buAutoNum type="arabicParenR"/>
            </a:pPr>
            <a:r>
              <a:rPr lang="en-US" sz="1600" dirty="0">
                <a:ea typeface="標楷體" pitchFamily="65" charset="-120"/>
                <a:cs typeface="Calibri" panose="020F07020304040A0204" pitchFamily="34" charset="0"/>
              </a:rPr>
              <a:t>Only one machine, but it can be shared by multiple OSes at the same time. (Virtual Machines)</a:t>
            </a:r>
          </a:p>
        </p:txBody>
      </p:sp>
    </p:spTree>
    <p:extLst>
      <p:ext uri="{BB962C8B-B14F-4D97-AF65-F5344CB8AC3E}">
        <p14:creationId xmlns:p14="http://schemas.microsoft.com/office/powerpoint/2010/main" val="2018301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74171" y="714375"/>
            <a:ext cx="8795657" cy="3986211"/>
          </a:xfrm>
        </p:spPr>
        <p:txBody>
          <a:bodyPr/>
          <a:lstStyle/>
          <a:p>
            <a:pPr marL="0" indent="0" algn="l">
              <a:buNone/>
            </a:pPr>
            <a:r>
              <a:rPr lang="en-US" sz="2000" b="0" i="0" u="none" strike="noStrike" baseline="0" dirty="0">
                <a:latin typeface="TimesTen-Roman"/>
              </a:rPr>
              <a:t>    </a:t>
            </a:r>
          </a:p>
        </p:txBody>
      </p:sp>
      <p:sp>
        <p:nvSpPr>
          <p:cNvPr id="2" name="灯片编号占位符 1"/>
          <p:cNvSpPr>
            <a:spLocks noGrp="1"/>
          </p:cNvSpPr>
          <p:nvPr>
            <p:ph type="sldNum" sz="quarter" idx="10"/>
          </p:nvPr>
        </p:nvSpPr>
        <p:spPr/>
        <p:txBody>
          <a:bodyPr/>
          <a:lstStyle/>
          <a:p>
            <a:fld id="{D9B6BDF2-6896-4B98-8776-C18582F63BA5}" type="slidenum">
              <a:rPr lang="zh-TW" altLang="en-US" smtClean="0"/>
              <a:t>25</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771525" y="107950"/>
            <a:ext cx="8122444"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1.7.0 Three OS Abstractions (Virtualization) </a:t>
            </a:r>
          </a:p>
        </p:txBody>
      </p:sp>
      <p:sp>
        <p:nvSpPr>
          <p:cNvPr id="7" name="Content Placeholder 7">
            <a:extLst>
              <a:ext uri="{FF2B5EF4-FFF2-40B4-BE49-F238E27FC236}">
                <a16:creationId xmlns:a16="http://schemas.microsoft.com/office/drawing/2014/main" id="{5B628818-E06A-48D3-972B-384C202BB3BB}"/>
              </a:ext>
            </a:extLst>
          </p:cNvPr>
          <p:cNvSpPr txBox="1">
            <a:spLocks/>
          </p:cNvSpPr>
          <p:nvPr/>
        </p:nvSpPr>
        <p:spPr bwMode="auto">
          <a:xfrm>
            <a:off x="326570" y="2143125"/>
            <a:ext cx="8795657" cy="2339332"/>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endParaRPr lang="en-US" sz="2000" i="1" kern="0" dirty="0">
              <a:solidFill>
                <a:srgbClr val="FF0000"/>
              </a:solidFill>
              <a:latin typeface="TimesTen-Italic"/>
            </a:endParaRPr>
          </a:p>
          <a:p>
            <a:endParaRPr lang="en-US" sz="2000" kern="0" dirty="0">
              <a:solidFill>
                <a:srgbClr val="FF0000"/>
              </a:solidFill>
            </a:endParaRPr>
          </a:p>
        </p:txBody>
      </p:sp>
      <p:sp>
        <p:nvSpPr>
          <p:cNvPr id="9" name="Content Placeholder 7">
            <a:extLst>
              <a:ext uri="{FF2B5EF4-FFF2-40B4-BE49-F238E27FC236}">
                <a16:creationId xmlns:a16="http://schemas.microsoft.com/office/drawing/2014/main" id="{EB5B0796-7C98-4612-998C-8602E87EB120}"/>
              </a:ext>
            </a:extLst>
          </p:cNvPr>
          <p:cNvSpPr txBox="1">
            <a:spLocks/>
          </p:cNvSpPr>
          <p:nvPr/>
        </p:nvSpPr>
        <p:spPr bwMode="auto">
          <a:xfrm>
            <a:off x="21772" y="2143125"/>
            <a:ext cx="8948056" cy="2339332"/>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algn="l"/>
            <a:r>
              <a:rPr lang="en-US" b="0" i="0" u="none" strike="noStrike" baseline="0" dirty="0">
                <a:latin typeface="TimesTen-Roman"/>
              </a:rPr>
              <a:t>The operating system offers three fundamental abstractions shown in Figure 1.11: </a:t>
            </a:r>
            <a:r>
              <a:rPr lang="en-US" b="0" i="1" u="none" strike="noStrike" baseline="0" dirty="0">
                <a:latin typeface="TimesTen-Italic"/>
              </a:rPr>
              <a:t>processes</a:t>
            </a:r>
            <a:r>
              <a:rPr lang="en-US" b="0" i="0" u="none" strike="noStrike" baseline="0" dirty="0">
                <a:latin typeface="TimesTen-Roman"/>
              </a:rPr>
              <a:t>, </a:t>
            </a:r>
            <a:r>
              <a:rPr lang="en-US" b="0" i="1" u="none" strike="noStrike" baseline="0" dirty="0">
                <a:latin typeface="TimesTen-Italic"/>
              </a:rPr>
              <a:t>virtual memory</a:t>
            </a:r>
            <a:r>
              <a:rPr lang="en-US" b="0" i="0" u="none" strike="noStrike" baseline="0" dirty="0">
                <a:latin typeface="TimesTen-Roman"/>
              </a:rPr>
              <a:t>, and </a:t>
            </a:r>
            <a:r>
              <a:rPr lang="en-US" b="0" i="1" u="none" strike="noStrike" baseline="0" dirty="0">
                <a:latin typeface="TimesTen-Italic"/>
              </a:rPr>
              <a:t>files</a:t>
            </a:r>
            <a:r>
              <a:rPr lang="en-US" b="0" i="0" u="none" strike="noStrike" baseline="0" dirty="0">
                <a:latin typeface="TimesTen-Roman"/>
              </a:rPr>
              <a:t>. </a:t>
            </a:r>
          </a:p>
          <a:p>
            <a:pPr lvl="1"/>
            <a:r>
              <a:rPr lang="en-US" sz="2100" dirty="0">
                <a:solidFill>
                  <a:srgbClr val="FF0000"/>
                </a:solidFill>
                <a:latin typeface="TimesTen-Roman"/>
              </a:rPr>
              <a:t>F</a:t>
            </a:r>
            <a:r>
              <a:rPr lang="en-US" sz="2100" b="0" i="0" u="none" strike="noStrike" baseline="0" dirty="0">
                <a:solidFill>
                  <a:srgbClr val="FF0000"/>
                </a:solidFill>
                <a:latin typeface="TimesTen-Roman"/>
              </a:rPr>
              <a:t>iles</a:t>
            </a:r>
            <a:r>
              <a:rPr lang="en-US" sz="2100" b="0" i="0" u="none" strike="noStrike" baseline="0" dirty="0">
                <a:latin typeface="TimesTen-Roman"/>
              </a:rPr>
              <a:t> are abstractions for I/O devices </a:t>
            </a:r>
          </a:p>
          <a:p>
            <a:pPr lvl="1"/>
            <a:r>
              <a:rPr lang="en-US" sz="2100" dirty="0">
                <a:solidFill>
                  <a:srgbClr val="FF0000"/>
                </a:solidFill>
                <a:latin typeface="TimesTen-Roman"/>
              </a:rPr>
              <a:t>V</a:t>
            </a:r>
            <a:r>
              <a:rPr lang="en-US" sz="2100" b="0" i="0" u="none" strike="noStrike" baseline="0" dirty="0">
                <a:solidFill>
                  <a:srgbClr val="FF0000"/>
                </a:solidFill>
                <a:latin typeface="TimesTen-Roman"/>
              </a:rPr>
              <a:t>irtual memory </a:t>
            </a:r>
            <a:r>
              <a:rPr lang="en-US" sz="2100" b="0" i="0" u="none" strike="noStrike" baseline="0" dirty="0">
                <a:latin typeface="TimesTen-Roman"/>
              </a:rPr>
              <a:t>is an abstraction for both the main memory and disk I/O devices </a:t>
            </a:r>
          </a:p>
          <a:p>
            <a:pPr lvl="1"/>
            <a:r>
              <a:rPr lang="en-US" sz="2100" b="0" i="0" u="none" strike="noStrike" baseline="0" dirty="0">
                <a:solidFill>
                  <a:srgbClr val="FF0000"/>
                </a:solidFill>
                <a:latin typeface="TimesTen-Roman"/>
              </a:rPr>
              <a:t>Processes</a:t>
            </a:r>
            <a:r>
              <a:rPr lang="en-US" sz="2100" dirty="0">
                <a:latin typeface="TimesTen-Roman"/>
              </a:rPr>
              <a:t> </a:t>
            </a:r>
            <a:r>
              <a:rPr lang="en-US" sz="2100" b="0" i="0" u="none" strike="noStrike" baseline="0" dirty="0">
                <a:latin typeface="TimesTen-Roman"/>
              </a:rPr>
              <a:t>are abstractions for the processor, main memory, and I/O devices.</a:t>
            </a:r>
            <a:endParaRPr lang="en-US" sz="2100" kern="0" dirty="0">
              <a:solidFill>
                <a:srgbClr val="FF0000"/>
              </a:solidFill>
            </a:endParaRPr>
          </a:p>
        </p:txBody>
      </p:sp>
      <p:pic>
        <p:nvPicPr>
          <p:cNvPr id="5" name="Picture 4">
            <a:extLst>
              <a:ext uri="{FF2B5EF4-FFF2-40B4-BE49-F238E27FC236}">
                <a16:creationId xmlns:a16="http://schemas.microsoft.com/office/drawing/2014/main" id="{BA618177-E128-42D1-A8A9-99ADEDD47A79}"/>
              </a:ext>
            </a:extLst>
          </p:cNvPr>
          <p:cNvPicPr>
            <a:picLocks noChangeAspect="1"/>
          </p:cNvPicPr>
          <p:nvPr/>
        </p:nvPicPr>
        <p:blipFill>
          <a:blip r:embed="rId3"/>
          <a:stretch>
            <a:fillRect/>
          </a:stretch>
        </p:blipFill>
        <p:spPr>
          <a:xfrm>
            <a:off x="1521619" y="714375"/>
            <a:ext cx="6015037" cy="1428750"/>
          </a:xfrm>
          <a:prstGeom prst="rect">
            <a:avLst/>
          </a:prstGeom>
        </p:spPr>
      </p:pic>
    </p:spTree>
    <p:extLst>
      <p:ext uri="{BB962C8B-B14F-4D97-AF65-F5344CB8AC3E}">
        <p14:creationId xmlns:p14="http://schemas.microsoft.com/office/powerpoint/2010/main" val="5519541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74171" y="714375"/>
            <a:ext cx="8795657" cy="3986211"/>
          </a:xfrm>
        </p:spPr>
        <p:txBody>
          <a:bodyPr/>
          <a:lstStyle/>
          <a:p>
            <a:pPr marL="0" indent="0" algn="l">
              <a:buNone/>
            </a:pPr>
            <a:r>
              <a:rPr lang="en-US" sz="2000" b="0" i="0" u="none" strike="noStrike" baseline="0" dirty="0">
                <a:latin typeface="TimesTen-Roman"/>
              </a:rPr>
              <a:t>    </a:t>
            </a:r>
          </a:p>
        </p:txBody>
      </p:sp>
      <p:sp>
        <p:nvSpPr>
          <p:cNvPr id="2" name="灯片编号占位符 1"/>
          <p:cNvSpPr>
            <a:spLocks noGrp="1"/>
          </p:cNvSpPr>
          <p:nvPr>
            <p:ph type="sldNum" sz="quarter" idx="10"/>
          </p:nvPr>
        </p:nvSpPr>
        <p:spPr/>
        <p:txBody>
          <a:bodyPr/>
          <a:lstStyle/>
          <a:p>
            <a:fld id="{D9B6BDF2-6896-4B98-8776-C18582F63BA5}" type="slidenum">
              <a:rPr lang="zh-TW" altLang="en-US" smtClean="0"/>
              <a:t>26</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771525" y="107950"/>
            <a:ext cx="8122444"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1.7.1 Processes </a:t>
            </a:r>
          </a:p>
        </p:txBody>
      </p:sp>
      <p:sp>
        <p:nvSpPr>
          <p:cNvPr id="7" name="Content Placeholder 7">
            <a:extLst>
              <a:ext uri="{FF2B5EF4-FFF2-40B4-BE49-F238E27FC236}">
                <a16:creationId xmlns:a16="http://schemas.microsoft.com/office/drawing/2014/main" id="{5B628818-E06A-48D3-972B-384C202BB3BB}"/>
              </a:ext>
            </a:extLst>
          </p:cNvPr>
          <p:cNvSpPr txBox="1">
            <a:spLocks/>
          </p:cNvSpPr>
          <p:nvPr/>
        </p:nvSpPr>
        <p:spPr bwMode="auto">
          <a:xfrm>
            <a:off x="326570" y="2143125"/>
            <a:ext cx="8795657" cy="2339332"/>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endParaRPr lang="en-US" sz="2000" i="1" kern="0" dirty="0">
              <a:solidFill>
                <a:srgbClr val="FF0000"/>
              </a:solidFill>
              <a:latin typeface="TimesTen-Italic"/>
            </a:endParaRPr>
          </a:p>
          <a:p>
            <a:endParaRPr lang="en-US" sz="2000" kern="0" dirty="0">
              <a:solidFill>
                <a:srgbClr val="FF0000"/>
              </a:solidFill>
            </a:endParaRPr>
          </a:p>
        </p:txBody>
      </p:sp>
      <p:sp>
        <p:nvSpPr>
          <p:cNvPr id="9" name="Content Placeholder 7">
            <a:extLst>
              <a:ext uri="{FF2B5EF4-FFF2-40B4-BE49-F238E27FC236}">
                <a16:creationId xmlns:a16="http://schemas.microsoft.com/office/drawing/2014/main" id="{EB5B0796-7C98-4612-998C-8602E87EB120}"/>
              </a:ext>
            </a:extLst>
          </p:cNvPr>
          <p:cNvSpPr txBox="1">
            <a:spLocks/>
          </p:cNvSpPr>
          <p:nvPr/>
        </p:nvSpPr>
        <p:spPr bwMode="auto">
          <a:xfrm>
            <a:off x="21772" y="819948"/>
            <a:ext cx="8948056" cy="3662509"/>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algn="l"/>
            <a:r>
              <a:rPr lang="en-US" sz="2200" b="0" i="0" u="none" strike="noStrike" baseline="0" dirty="0">
                <a:latin typeface="TimesTen-Roman"/>
              </a:rPr>
              <a:t>A </a:t>
            </a:r>
            <a:r>
              <a:rPr lang="en-US" sz="2200" b="0" i="1" u="none" strike="noStrike" baseline="0" dirty="0">
                <a:latin typeface="TimesTen-Italic"/>
              </a:rPr>
              <a:t>process </a:t>
            </a:r>
            <a:r>
              <a:rPr lang="en-US" sz="2200" b="0" i="0" u="none" strike="noStrike" baseline="0" dirty="0">
                <a:latin typeface="TimesTen-Roman"/>
              </a:rPr>
              <a:t>is the operating system’s abstraction for a running program. Multiple processes can run </a:t>
            </a:r>
            <a:r>
              <a:rPr lang="en-US" sz="2200" b="0" i="1" u="none" strike="noStrike" baseline="0" dirty="0">
                <a:solidFill>
                  <a:srgbClr val="FF0000"/>
                </a:solidFill>
                <a:latin typeface="TimesTen-Roman"/>
              </a:rPr>
              <a:t>concurrently</a:t>
            </a:r>
            <a:r>
              <a:rPr lang="en-US" sz="2200" b="0" i="0" u="none" strike="noStrike" baseline="0" dirty="0">
                <a:latin typeface="TimesTen-Roman"/>
              </a:rPr>
              <a:t> on the same system, and each process appears to have exclusive use of the hardware. </a:t>
            </a:r>
          </a:p>
          <a:p>
            <a:pPr algn="l"/>
            <a:r>
              <a:rPr lang="en-US" sz="2200" kern="0" dirty="0">
                <a:latin typeface="TimesTen-Roman"/>
              </a:rPr>
              <a:t>A single-core (CPU) system </a:t>
            </a:r>
            <a:r>
              <a:rPr lang="en-US" sz="2200" b="0" i="0" u="none" strike="noStrike" baseline="0" dirty="0">
                <a:latin typeface="TimesTen-Roman"/>
              </a:rPr>
              <a:t>only executes one program at a time, while newer </a:t>
            </a:r>
            <a:r>
              <a:rPr lang="en-US" sz="2200" b="0" i="1" u="none" strike="noStrike" baseline="0" dirty="0">
                <a:latin typeface="TimesTen-Italic"/>
              </a:rPr>
              <a:t>multicore systems </a:t>
            </a:r>
            <a:r>
              <a:rPr lang="en-US" sz="2200" b="0" i="0" u="none" strike="noStrike" baseline="0" dirty="0">
                <a:latin typeface="TimesTen-Roman"/>
              </a:rPr>
              <a:t>can execute several programs simultaneously.</a:t>
            </a:r>
          </a:p>
          <a:p>
            <a:pPr algn="l"/>
            <a:r>
              <a:rPr lang="en-US" sz="2200" dirty="0">
                <a:latin typeface="TimesTen-Roman"/>
              </a:rPr>
              <a:t>A </a:t>
            </a:r>
            <a:r>
              <a:rPr lang="en-US" sz="2200" b="0" i="0" u="none" strike="noStrike" baseline="0" dirty="0">
                <a:latin typeface="TimesTen-Roman"/>
              </a:rPr>
              <a:t>single-core can appear to execute multiple processes concurrently by having the processor switch among them. The OS performs this interleaving with a mechanism known as </a:t>
            </a:r>
            <a:r>
              <a:rPr lang="en-US" sz="2200" b="0" i="1" u="none" strike="noStrike" baseline="0" dirty="0">
                <a:solidFill>
                  <a:srgbClr val="FF0000"/>
                </a:solidFill>
                <a:latin typeface="TimesTen-Italic"/>
              </a:rPr>
              <a:t>context switching</a:t>
            </a:r>
            <a:r>
              <a:rPr lang="en-US" sz="2200" b="0" i="0" u="none" strike="noStrike" baseline="0" dirty="0">
                <a:latin typeface="TimesTen-Roman"/>
              </a:rPr>
              <a:t>.</a:t>
            </a:r>
          </a:p>
          <a:p>
            <a:pPr algn="l"/>
            <a:r>
              <a:rPr lang="en-US" sz="2200" b="0" i="0" u="none" strike="noStrike" baseline="0" dirty="0">
                <a:latin typeface="TimesTen-Roman"/>
              </a:rPr>
              <a:t>The OS keeps track of all the </a:t>
            </a:r>
            <a:r>
              <a:rPr lang="en-US" sz="2200" b="0" i="1" u="none" strike="noStrike" baseline="0" dirty="0">
                <a:solidFill>
                  <a:srgbClr val="FF0000"/>
                </a:solidFill>
                <a:latin typeface="TimesTen-Roman"/>
              </a:rPr>
              <a:t>state information </a:t>
            </a:r>
            <a:r>
              <a:rPr lang="en-US" sz="2200" b="0" i="0" u="none" strike="noStrike" baseline="0" dirty="0">
                <a:latin typeface="TimesTen-Roman"/>
              </a:rPr>
              <a:t>that the process needs to run. This state, which is known as the </a:t>
            </a:r>
            <a:r>
              <a:rPr lang="en-US" sz="2200" b="0" i="1" u="none" strike="noStrike" baseline="0" dirty="0">
                <a:solidFill>
                  <a:srgbClr val="FF0000"/>
                </a:solidFill>
                <a:latin typeface="TimesTen-Italic"/>
              </a:rPr>
              <a:t>context </a:t>
            </a:r>
            <a:r>
              <a:rPr lang="en-US" sz="2200" b="0" u="none" strike="noStrike" baseline="0" dirty="0">
                <a:latin typeface="TimesTen-Italic"/>
              </a:rPr>
              <a:t>(e.g., PC, registers, flags).</a:t>
            </a:r>
            <a:endParaRPr lang="en-US" sz="2200" kern="0" dirty="0"/>
          </a:p>
        </p:txBody>
      </p:sp>
      <p:sp>
        <p:nvSpPr>
          <p:cNvPr id="10" name="TextBox 9">
            <a:extLst>
              <a:ext uri="{FF2B5EF4-FFF2-40B4-BE49-F238E27FC236}">
                <a16:creationId xmlns:a16="http://schemas.microsoft.com/office/drawing/2014/main" id="{35C65468-023A-4CBE-8DA7-CBD287D41F01}"/>
              </a:ext>
            </a:extLst>
          </p:cNvPr>
          <p:cNvSpPr txBox="1"/>
          <p:nvPr/>
        </p:nvSpPr>
        <p:spPr>
          <a:xfrm>
            <a:off x="6342858" y="112513"/>
            <a:ext cx="2621755" cy="892552"/>
          </a:xfrm>
          <a:prstGeom prst="rect">
            <a:avLst/>
          </a:prstGeom>
          <a:solidFill>
            <a:srgbClr val="FFFF00"/>
          </a:solidFill>
          <a:ln>
            <a:solidFill>
              <a:schemeClr val="accent2"/>
            </a:solidFill>
          </a:ln>
        </p:spPr>
        <p:txBody>
          <a:bodyPr wrap="square" rtlCol="0" anchor="ctr" anchorCtr="1">
            <a:spAutoFit/>
          </a:bodyPr>
          <a:lstStyle/>
          <a:p>
            <a:r>
              <a:rPr lang="en-US" dirty="0">
                <a:ea typeface="標楷體" pitchFamily="65" charset="-120"/>
                <a:cs typeface="Calibri" panose="020F07020304040A0204" pitchFamily="34" charset="0"/>
              </a:rPr>
              <a:t>Program: </a:t>
            </a:r>
            <a:r>
              <a:rPr lang="en-US" sz="1600" dirty="0">
                <a:ea typeface="標楷體" pitchFamily="65" charset="-120"/>
                <a:cs typeface="Calibri" panose="020F07020304040A0204" pitchFamily="34" charset="0"/>
              </a:rPr>
              <a:t>A passive file.</a:t>
            </a:r>
          </a:p>
          <a:p>
            <a:r>
              <a:rPr lang="en-US" dirty="0">
                <a:ea typeface="標楷體" pitchFamily="65" charset="-120"/>
                <a:cs typeface="Calibri" panose="020F07020304040A0204" pitchFamily="34" charset="0"/>
              </a:rPr>
              <a:t>Process: </a:t>
            </a:r>
            <a:r>
              <a:rPr lang="en-US" sz="1600" dirty="0">
                <a:ea typeface="標楷體" pitchFamily="65" charset="-120"/>
                <a:cs typeface="Calibri" panose="020F07020304040A0204" pitchFamily="34" charset="0"/>
              </a:rPr>
              <a:t>An active execution of a program</a:t>
            </a:r>
          </a:p>
        </p:txBody>
      </p:sp>
    </p:spTree>
    <p:extLst>
      <p:ext uri="{BB962C8B-B14F-4D97-AF65-F5344CB8AC3E}">
        <p14:creationId xmlns:p14="http://schemas.microsoft.com/office/powerpoint/2010/main" val="3123654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74171" y="714375"/>
            <a:ext cx="8795657" cy="3986211"/>
          </a:xfrm>
        </p:spPr>
        <p:txBody>
          <a:bodyPr/>
          <a:lstStyle/>
          <a:p>
            <a:pPr marL="0" indent="0" algn="l">
              <a:buNone/>
            </a:pPr>
            <a:r>
              <a:rPr lang="en-US" sz="2000" b="0" i="0" u="none" strike="noStrike" baseline="0" dirty="0">
                <a:latin typeface="TimesTen-Roman"/>
              </a:rPr>
              <a:t>    </a:t>
            </a:r>
          </a:p>
        </p:txBody>
      </p:sp>
      <p:sp>
        <p:nvSpPr>
          <p:cNvPr id="2" name="灯片编号占位符 1"/>
          <p:cNvSpPr>
            <a:spLocks noGrp="1"/>
          </p:cNvSpPr>
          <p:nvPr>
            <p:ph type="sldNum" sz="quarter" idx="10"/>
          </p:nvPr>
        </p:nvSpPr>
        <p:spPr/>
        <p:txBody>
          <a:bodyPr/>
          <a:lstStyle/>
          <a:p>
            <a:fld id="{D9B6BDF2-6896-4B98-8776-C18582F63BA5}" type="slidenum">
              <a:rPr lang="zh-TW" altLang="en-US" smtClean="0"/>
              <a:t>27</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771525" y="107950"/>
            <a:ext cx="8122444"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1.7.1 Process Context Switching</a:t>
            </a:r>
          </a:p>
        </p:txBody>
      </p:sp>
      <p:sp>
        <p:nvSpPr>
          <p:cNvPr id="7" name="Content Placeholder 7">
            <a:extLst>
              <a:ext uri="{FF2B5EF4-FFF2-40B4-BE49-F238E27FC236}">
                <a16:creationId xmlns:a16="http://schemas.microsoft.com/office/drawing/2014/main" id="{5B628818-E06A-48D3-972B-384C202BB3BB}"/>
              </a:ext>
            </a:extLst>
          </p:cNvPr>
          <p:cNvSpPr txBox="1">
            <a:spLocks/>
          </p:cNvSpPr>
          <p:nvPr/>
        </p:nvSpPr>
        <p:spPr bwMode="auto">
          <a:xfrm>
            <a:off x="326570" y="2143125"/>
            <a:ext cx="8795657" cy="2339332"/>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endParaRPr lang="en-US" sz="2000" i="1" kern="0" dirty="0">
              <a:solidFill>
                <a:srgbClr val="FF0000"/>
              </a:solidFill>
              <a:latin typeface="TimesTen-Italic"/>
            </a:endParaRPr>
          </a:p>
          <a:p>
            <a:endParaRPr lang="en-US" sz="2000" kern="0" dirty="0">
              <a:solidFill>
                <a:srgbClr val="FF0000"/>
              </a:solidFill>
            </a:endParaRPr>
          </a:p>
        </p:txBody>
      </p:sp>
      <p:sp>
        <p:nvSpPr>
          <p:cNvPr id="9" name="Content Placeholder 7">
            <a:extLst>
              <a:ext uri="{FF2B5EF4-FFF2-40B4-BE49-F238E27FC236}">
                <a16:creationId xmlns:a16="http://schemas.microsoft.com/office/drawing/2014/main" id="{EB5B0796-7C98-4612-998C-8602E87EB120}"/>
              </a:ext>
            </a:extLst>
          </p:cNvPr>
          <p:cNvSpPr txBox="1">
            <a:spLocks/>
          </p:cNvSpPr>
          <p:nvPr/>
        </p:nvSpPr>
        <p:spPr bwMode="auto">
          <a:xfrm>
            <a:off x="97973" y="2367910"/>
            <a:ext cx="8948056" cy="2271710"/>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algn="l"/>
            <a:r>
              <a:rPr lang="en-US" sz="2000" b="0" i="0" u="none" strike="noStrike" baseline="0" dirty="0">
                <a:latin typeface="TimesTen-Roman"/>
              </a:rPr>
              <a:t>There are two concurrent processes in our example scenario: the shell process and the </a:t>
            </a:r>
            <a:r>
              <a:rPr lang="en-US" sz="2000" b="0" i="0" u="none" strike="noStrike" baseline="0" dirty="0">
                <a:latin typeface="ZztexMono-Regular"/>
              </a:rPr>
              <a:t>hello </a:t>
            </a:r>
            <a:r>
              <a:rPr lang="en-US" sz="2000" b="0" i="0" u="none" strike="noStrike" baseline="0" dirty="0">
                <a:latin typeface="TimesTen-Roman"/>
              </a:rPr>
              <a:t>process. </a:t>
            </a:r>
          </a:p>
          <a:p>
            <a:pPr algn="l"/>
            <a:r>
              <a:rPr lang="en-US" sz="2000" b="0" i="0" u="none" strike="noStrike" baseline="0" dirty="0">
                <a:latin typeface="TimesTen-Roman"/>
              </a:rPr>
              <a:t>Initially, the shell process is running alone, waiting for input on the command line. When we ask it to run the </a:t>
            </a:r>
            <a:r>
              <a:rPr lang="en-US" sz="2000" b="0" i="0" u="none" strike="noStrike" baseline="0" dirty="0">
                <a:latin typeface="ZztexMono-Regular"/>
              </a:rPr>
              <a:t>hello </a:t>
            </a:r>
            <a:r>
              <a:rPr lang="en-US" sz="2000" b="0" i="0" u="none" strike="noStrike" baseline="0" dirty="0">
                <a:latin typeface="TimesTen-Roman"/>
              </a:rPr>
              <a:t>program, the shell carries out our request by invoking a </a:t>
            </a:r>
            <a:r>
              <a:rPr lang="en-US" sz="2000" b="0" i="1" u="none" strike="noStrike" baseline="0" dirty="0">
                <a:latin typeface="TimesTen-Italic"/>
              </a:rPr>
              <a:t>system call </a:t>
            </a:r>
            <a:r>
              <a:rPr lang="en-US" sz="2000" b="0" i="0" u="none" strike="noStrike" baseline="0" dirty="0">
                <a:latin typeface="TimesTen-Roman"/>
              </a:rPr>
              <a:t>that passes control to the OS. </a:t>
            </a:r>
          </a:p>
          <a:p>
            <a:pPr algn="l"/>
            <a:r>
              <a:rPr lang="en-US" sz="2000" b="0" i="0" u="none" strike="noStrike" baseline="0" dirty="0">
                <a:latin typeface="TimesTen-Roman"/>
              </a:rPr>
              <a:t>The OS saves the shell’s context, creates a new </a:t>
            </a:r>
            <a:r>
              <a:rPr lang="en-US" sz="2000" b="0" i="0" u="none" strike="noStrike" baseline="0" dirty="0">
                <a:latin typeface="ZztexMono-Regular"/>
              </a:rPr>
              <a:t>hello </a:t>
            </a:r>
            <a:r>
              <a:rPr lang="en-US" sz="2000" b="0" i="0" u="none" strike="noStrike" baseline="0" dirty="0">
                <a:latin typeface="TimesTen-Roman"/>
              </a:rPr>
              <a:t>process, and then passes control to the new </a:t>
            </a:r>
            <a:r>
              <a:rPr lang="en-US" sz="2000" b="0" i="0" u="none" strike="noStrike" baseline="0" dirty="0">
                <a:latin typeface="ZztexMono-Regular"/>
              </a:rPr>
              <a:t>hello </a:t>
            </a:r>
            <a:r>
              <a:rPr lang="en-US" sz="2000" b="0" i="0" u="none" strike="noStrike" baseline="0" dirty="0">
                <a:latin typeface="TimesTen-Roman"/>
              </a:rPr>
              <a:t>process.</a:t>
            </a:r>
          </a:p>
        </p:txBody>
      </p:sp>
      <p:pic>
        <p:nvPicPr>
          <p:cNvPr id="4" name="Picture 3">
            <a:extLst>
              <a:ext uri="{FF2B5EF4-FFF2-40B4-BE49-F238E27FC236}">
                <a16:creationId xmlns:a16="http://schemas.microsoft.com/office/drawing/2014/main" id="{F044E555-EF3D-4260-B2D4-D6CFAD5A18B4}"/>
              </a:ext>
            </a:extLst>
          </p:cNvPr>
          <p:cNvPicPr>
            <a:picLocks noChangeAspect="1"/>
          </p:cNvPicPr>
          <p:nvPr/>
        </p:nvPicPr>
        <p:blipFill>
          <a:blip r:embed="rId3"/>
          <a:stretch>
            <a:fillRect/>
          </a:stretch>
        </p:blipFill>
        <p:spPr>
          <a:xfrm>
            <a:off x="4163343" y="928598"/>
            <a:ext cx="4801270" cy="1286054"/>
          </a:xfrm>
          <a:prstGeom prst="rect">
            <a:avLst/>
          </a:prstGeom>
        </p:spPr>
      </p:pic>
      <p:sp>
        <p:nvSpPr>
          <p:cNvPr id="10" name="Content Placeholder 7">
            <a:extLst>
              <a:ext uri="{FF2B5EF4-FFF2-40B4-BE49-F238E27FC236}">
                <a16:creationId xmlns:a16="http://schemas.microsoft.com/office/drawing/2014/main" id="{406FF8B5-923E-48F3-A830-9893698ED8C4}"/>
              </a:ext>
            </a:extLst>
          </p:cNvPr>
          <p:cNvSpPr txBox="1">
            <a:spLocks/>
          </p:cNvSpPr>
          <p:nvPr/>
        </p:nvSpPr>
        <p:spPr bwMode="auto">
          <a:xfrm>
            <a:off x="97971" y="775340"/>
            <a:ext cx="4295435" cy="1709098"/>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algn="l"/>
            <a:r>
              <a:rPr lang="en-US" sz="2000" dirty="0">
                <a:latin typeface="TimesTen-Roman"/>
              </a:rPr>
              <a:t>The OS kernel manages the transition from one process to another.</a:t>
            </a:r>
            <a:r>
              <a:rPr lang="en-US" sz="2000" b="0" i="0" u="none" strike="noStrike" baseline="0" dirty="0">
                <a:latin typeface="TimesTen-Roman"/>
              </a:rPr>
              <a:t> </a:t>
            </a:r>
          </a:p>
          <a:p>
            <a:pPr algn="l"/>
            <a:r>
              <a:rPr lang="en-US" sz="2000" dirty="0">
                <a:latin typeface="TimesTen-Roman"/>
              </a:rPr>
              <a:t>The kernel is the heart of the OS; it serves applications’ requests and manages HW resources.</a:t>
            </a:r>
            <a:endParaRPr lang="en-US" sz="2000" b="0" i="0" u="none" strike="noStrike" baseline="0" dirty="0">
              <a:latin typeface="TimesTen-Roman"/>
            </a:endParaRPr>
          </a:p>
        </p:txBody>
      </p:sp>
    </p:spTree>
    <p:extLst>
      <p:ext uri="{BB962C8B-B14F-4D97-AF65-F5344CB8AC3E}">
        <p14:creationId xmlns:p14="http://schemas.microsoft.com/office/powerpoint/2010/main" val="19843791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74171" y="714375"/>
            <a:ext cx="8795657" cy="3986211"/>
          </a:xfrm>
        </p:spPr>
        <p:txBody>
          <a:bodyPr/>
          <a:lstStyle/>
          <a:p>
            <a:pPr marL="0" indent="0" algn="l">
              <a:buNone/>
            </a:pPr>
            <a:r>
              <a:rPr lang="en-US" sz="2000" b="0" i="0" u="none" strike="noStrike" baseline="0" dirty="0">
                <a:latin typeface="TimesTen-Roman"/>
              </a:rPr>
              <a:t>    </a:t>
            </a:r>
          </a:p>
        </p:txBody>
      </p:sp>
      <p:sp>
        <p:nvSpPr>
          <p:cNvPr id="2" name="灯片编号占位符 1"/>
          <p:cNvSpPr>
            <a:spLocks noGrp="1"/>
          </p:cNvSpPr>
          <p:nvPr>
            <p:ph type="sldNum" sz="quarter" idx="10"/>
          </p:nvPr>
        </p:nvSpPr>
        <p:spPr/>
        <p:txBody>
          <a:bodyPr/>
          <a:lstStyle/>
          <a:p>
            <a:fld id="{D9B6BDF2-6896-4B98-8776-C18582F63BA5}" type="slidenum">
              <a:rPr lang="zh-TW" altLang="en-US" smtClean="0"/>
              <a:t>28</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771525" y="107950"/>
            <a:ext cx="8122444"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1.7.2 Threads</a:t>
            </a:r>
          </a:p>
        </p:txBody>
      </p:sp>
      <p:sp>
        <p:nvSpPr>
          <p:cNvPr id="7" name="Content Placeholder 7">
            <a:extLst>
              <a:ext uri="{FF2B5EF4-FFF2-40B4-BE49-F238E27FC236}">
                <a16:creationId xmlns:a16="http://schemas.microsoft.com/office/drawing/2014/main" id="{5B628818-E06A-48D3-972B-384C202BB3BB}"/>
              </a:ext>
            </a:extLst>
          </p:cNvPr>
          <p:cNvSpPr txBox="1">
            <a:spLocks/>
          </p:cNvSpPr>
          <p:nvPr/>
        </p:nvSpPr>
        <p:spPr bwMode="auto">
          <a:xfrm>
            <a:off x="326570" y="2143125"/>
            <a:ext cx="8795657" cy="2339332"/>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endParaRPr lang="en-US" sz="2000" i="1" kern="0" dirty="0">
              <a:solidFill>
                <a:srgbClr val="FF0000"/>
              </a:solidFill>
              <a:latin typeface="TimesTen-Italic"/>
            </a:endParaRPr>
          </a:p>
          <a:p>
            <a:endParaRPr lang="en-US" sz="2000" kern="0" dirty="0">
              <a:solidFill>
                <a:srgbClr val="FF0000"/>
              </a:solidFill>
            </a:endParaRPr>
          </a:p>
        </p:txBody>
      </p:sp>
      <p:sp>
        <p:nvSpPr>
          <p:cNvPr id="10" name="Content Placeholder 7">
            <a:extLst>
              <a:ext uri="{FF2B5EF4-FFF2-40B4-BE49-F238E27FC236}">
                <a16:creationId xmlns:a16="http://schemas.microsoft.com/office/drawing/2014/main" id="{406FF8B5-923E-48F3-A830-9893698ED8C4}"/>
              </a:ext>
            </a:extLst>
          </p:cNvPr>
          <p:cNvSpPr txBox="1">
            <a:spLocks/>
          </p:cNvSpPr>
          <p:nvPr/>
        </p:nvSpPr>
        <p:spPr bwMode="auto">
          <a:xfrm>
            <a:off x="97971" y="775339"/>
            <a:ext cx="8866642" cy="3818091"/>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algn="l"/>
            <a:r>
              <a:rPr lang="en-US" sz="2000" dirty="0">
                <a:latin typeface="Times New Roman" panose="02020603050405020304" pitchFamily="18" charset="0"/>
                <a:cs typeface="Times New Roman" panose="02020603050405020304" pitchFamily="18" charset="0"/>
              </a:rPr>
              <a:t>A process can actually consist of multiple execution units, called threads, each running in the context of the process and </a:t>
            </a:r>
            <a:r>
              <a:rPr lang="en-US" sz="2000" i="1" dirty="0">
                <a:solidFill>
                  <a:srgbClr val="FF0000"/>
                </a:solidFill>
                <a:latin typeface="Times New Roman" panose="02020603050405020304" pitchFamily="18" charset="0"/>
                <a:cs typeface="Times New Roman" panose="02020603050405020304" pitchFamily="18" charset="0"/>
              </a:rPr>
              <a:t>sharing the same code and global data</a:t>
            </a:r>
            <a:r>
              <a:rPr lang="en-US" sz="2000" dirty="0">
                <a:latin typeface="Times New Roman" panose="02020603050405020304" pitchFamily="18" charset="0"/>
                <a:cs typeface="Times New Roman" panose="02020603050405020304" pitchFamily="18" charset="0"/>
              </a:rPr>
              <a:t>.</a:t>
            </a:r>
          </a:p>
          <a:p>
            <a:pPr algn="l"/>
            <a:r>
              <a:rPr lang="en-US" sz="2000" b="0" i="0" u="none" strike="noStrike" baseline="0" dirty="0">
                <a:latin typeface="Times New Roman" panose="02020603050405020304" pitchFamily="18" charset="0"/>
                <a:cs typeface="Times New Roman" panose="02020603050405020304" pitchFamily="18" charset="0"/>
              </a:rPr>
              <a:t>A thread is a light</a:t>
            </a:r>
            <a:r>
              <a:rPr lang="en-US" sz="2000" dirty="0">
                <a:latin typeface="Times New Roman" panose="02020603050405020304" pitchFamily="18" charset="0"/>
                <a:cs typeface="Times New Roman" panose="02020603050405020304" pitchFamily="18" charset="0"/>
              </a:rPr>
              <a:t>-</a:t>
            </a:r>
            <a:r>
              <a:rPr lang="en-US" sz="2000" b="0" i="0" u="none" strike="noStrike" baseline="0" dirty="0">
                <a:latin typeface="Times New Roman" panose="02020603050405020304" pitchFamily="18" charset="0"/>
                <a:cs typeface="Times New Roman" panose="02020603050405020304" pitchFamily="18" charset="0"/>
              </a:rPr>
              <a:t>weight process: </a:t>
            </a:r>
          </a:p>
          <a:p>
            <a:pPr marL="0" indent="0" algn="l">
              <a:buNone/>
            </a:pPr>
            <a:r>
              <a:rPr lang="en-US" sz="2000" dirty="0">
                <a:solidFill>
                  <a:srgbClr val="111827"/>
                </a:solidFill>
                <a:effectLst/>
                <a:latin typeface="Times New Roman" panose="02020603050405020304" pitchFamily="18" charset="0"/>
                <a:cs typeface="Times New Roman" panose="02020603050405020304" pitchFamily="18" charset="0"/>
              </a:rPr>
              <a:t>	</a:t>
            </a:r>
            <a:r>
              <a:rPr lang="en-US" sz="1800" i="0" dirty="0">
                <a:solidFill>
                  <a:srgbClr val="111827"/>
                </a:solidFill>
                <a:effectLst/>
                <a:latin typeface="Times New Roman" panose="02020603050405020304" pitchFamily="18" charset="0"/>
                <a:cs typeface="Times New Roman" panose="02020603050405020304" pitchFamily="18" charset="0"/>
              </a:rPr>
              <a:t>A process switch is like moving to a new house. </a:t>
            </a:r>
          </a:p>
          <a:p>
            <a:pPr marL="0" indent="0" algn="l">
              <a:buNone/>
            </a:pPr>
            <a:r>
              <a:rPr lang="en-US" sz="1800" dirty="0">
                <a:solidFill>
                  <a:srgbClr val="111827"/>
                </a:solidFill>
                <a:latin typeface="Times New Roman" panose="02020603050405020304" pitchFamily="18" charset="0"/>
                <a:cs typeface="Times New Roman" panose="02020603050405020304" pitchFamily="18" charset="0"/>
              </a:rPr>
              <a:t>	</a:t>
            </a:r>
            <a:r>
              <a:rPr lang="en-US" sz="1800" i="0" dirty="0">
                <a:solidFill>
                  <a:srgbClr val="111827"/>
                </a:solidFill>
                <a:effectLst/>
                <a:latin typeface="Times New Roman" panose="02020603050405020304" pitchFamily="18" charset="0"/>
                <a:cs typeface="Times New Roman" panose="02020603050405020304" pitchFamily="18" charset="0"/>
              </a:rPr>
              <a:t>A thread switch is like changing which chore you are doing in the same house</a:t>
            </a:r>
          </a:p>
          <a:p>
            <a:pPr marL="0" indent="0" algn="l">
              <a:buSzPct val="150000"/>
              <a:buNone/>
            </a:pPr>
            <a:endParaRPr lang="en-US" sz="1800" i="0" u="none" strike="noStrike" baseline="0" dirty="0">
              <a:latin typeface="Times New Roman" panose="02020603050405020304" pitchFamily="18" charset="0"/>
              <a:cs typeface="Times New Roman" panose="02020603050405020304" pitchFamily="18" charset="0"/>
            </a:endParaRPr>
          </a:p>
        </p:txBody>
      </p:sp>
      <p:graphicFrame>
        <p:nvGraphicFramePr>
          <p:cNvPr id="3" name="Table 4">
            <a:extLst>
              <a:ext uri="{FF2B5EF4-FFF2-40B4-BE49-F238E27FC236}">
                <a16:creationId xmlns:a16="http://schemas.microsoft.com/office/drawing/2014/main" id="{C0390DB5-27E6-47BF-8B26-64295DCC0412}"/>
              </a:ext>
            </a:extLst>
          </p:cNvPr>
          <p:cNvGraphicFramePr>
            <a:graphicFrameLocks noGrp="1"/>
          </p:cNvGraphicFramePr>
          <p:nvPr>
            <p:extLst>
              <p:ext uri="{D42A27DB-BD31-4B8C-83A1-F6EECF244321}">
                <p14:modId xmlns:p14="http://schemas.microsoft.com/office/powerpoint/2010/main" val="3426446411"/>
              </p:ext>
            </p:extLst>
          </p:nvPr>
        </p:nvGraphicFramePr>
        <p:xfrm>
          <a:off x="1173956" y="2707480"/>
          <a:ext cx="5555456" cy="1483360"/>
        </p:xfrm>
        <a:graphic>
          <a:graphicData uri="http://schemas.openxmlformats.org/drawingml/2006/table">
            <a:tbl>
              <a:tblPr firstRow="1" bandRow="1">
                <a:tableStyleId>{5C22544A-7EE6-4342-B048-85BDC9FD1C3A}</a:tableStyleId>
              </a:tblPr>
              <a:tblGrid>
                <a:gridCol w="1228277">
                  <a:extLst>
                    <a:ext uri="{9D8B030D-6E8A-4147-A177-3AD203B41FA5}">
                      <a16:colId xmlns:a16="http://schemas.microsoft.com/office/drawing/2014/main" val="227215185"/>
                    </a:ext>
                  </a:extLst>
                </a:gridCol>
                <a:gridCol w="2083296">
                  <a:extLst>
                    <a:ext uri="{9D8B030D-6E8A-4147-A177-3AD203B41FA5}">
                      <a16:colId xmlns:a16="http://schemas.microsoft.com/office/drawing/2014/main" val="1891836248"/>
                    </a:ext>
                  </a:extLst>
                </a:gridCol>
                <a:gridCol w="2243883">
                  <a:extLst>
                    <a:ext uri="{9D8B030D-6E8A-4147-A177-3AD203B41FA5}">
                      <a16:colId xmlns:a16="http://schemas.microsoft.com/office/drawing/2014/main" val="3868788901"/>
                    </a:ext>
                  </a:extLst>
                </a:gridCol>
              </a:tblGrid>
              <a:tr h="370840">
                <a:tc>
                  <a:txBody>
                    <a:bodyPr/>
                    <a:lstStyle/>
                    <a:p>
                      <a:r>
                        <a:rPr lang="en-US" dirty="0"/>
                        <a:t>Pros</a:t>
                      </a:r>
                    </a:p>
                  </a:txBody>
                  <a:tcPr/>
                </a:tc>
                <a:tc>
                  <a:txBody>
                    <a:bodyPr/>
                    <a:lstStyle/>
                    <a:p>
                      <a:r>
                        <a:rPr lang="en-US" dirty="0"/>
                        <a:t>Processes</a:t>
                      </a:r>
                    </a:p>
                  </a:txBody>
                  <a:tcPr/>
                </a:tc>
                <a:tc>
                  <a:txBody>
                    <a:bodyPr/>
                    <a:lstStyle/>
                    <a:p>
                      <a:r>
                        <a:rPr lang="en-US" dirty="0"/>
                        <a:t>Threads</a:t>
                      </a:r>
                    </a:p>
                  </a:txBody>
                  <a:tcPr/>
                </a:tc>
                <a:extLst>
                  <a:ext uri="{0D108BD9-81ED-4DB2-BD59-A6C34878D82A}">
                    <a16:rowId xmlns:a16="http://schemas.microsoft.com/office/drawing/2014/main" val="2447194063"/>
                  </a:ext>
                </a:extLst>
              </a:tr>
              <a:tr h="370840">
                <a:tc>
                  <a:txBody>
                    <a:bodyPr/>
                    <a:lstStyle/>
                    <a:p>
                      <a:endParaRPr lang="en-US" dirty="0"/>
                    </a:p>
                  </a:txBody>
                  <a:tcPr/>
                </a:tc>
                <a:tc>
                  <a:txBody>
                    <a:bodyPr/>
                    <a:lstStyle/>
                    <a:p>
                      <a:r>
                        <a:rPr lang="en-US" dirty="0"/>
                        <a:t>High isolation</a:t>
                      </a:r>
                    </a:p>
                  </a:txBody>
                  <a:tcPr/>
                </a:tc>
                <a:tc>
                  <a:txBody>
                    <a:bodyPr/>
                    <a:lstStyle/>
                    <a:p>
                      <a:r>
                        <a:rPr lang="en-US" dirty="0"/>
                        <a:t>Low overhead</a:t>
                      </a:r>
                    </a:p>
                  </a:txBody>
                  <a:tcPr/>
                </a:tc>
                <a:extLst>
                  <a:ext uri="{0D108BD9-81ED-4DB2-BD59-A6C34878D82A}">
                    <a16:rowId xmlns:a16="http://schemas.microsoft.com/office/drawing/2014/main" val="516570314"/>
                  </a:ext>
                </a:extLst>
              </a:tr>
              <a:tr h="370840">
                <a:tc>
                  <a:txBody>
                    <a:bodyPr/>
                    <a:lstStyle/>
                    <a:p>
                      <a:endParaRPr lang="en-US"/>
                    </a:p>
                  </a:txBody>
                  <a:tcPr/>
                </a:tc>
                <a:tc>
                  <a:txBody>
                    <a:bodyPr/>
                    <a:lstStyle/>
                    <a:p>
                      <a:r>
                        <a:rPr lang="en-US" dirty="0"/>
                        <a:t>More secured</a:t>
                      </a:r>
                    </a:p>
                  </a:txBody>
                  <a:tcPr/>
                </a:tc>
                <a:tc>
                  <a:txBody>
                    <a:bodyPr/>
                    <a:lstStyle/>
                    <a:p>
                      <a:r>
                        <a:rPr lang="en-US" dirty="0"/>
                        <a:t>Fast communication</a:t>
                      </a:r>
                    </a:p>
                  </a:txBody>
                  <a:tcPr/>
                </a:tc>
                <a:extLst>
                  <a:ext uri="{0D108BD9-81ED-4DB2-BD59-A6C34878D82A}">
                    <a16:rowId xmlns:a16="http://schemas.microsoft.com/office/drawing/2014/main" val="1391253172"/>
                  </a:ext>
                </a:extLst>
              </a:tr>
              <a:tr h="370840">
                <a:tc>
                  <a:txBody>
                    <a:bodyPr/>
                    <a:lstStyle/>
                    <a:p>
                      <a:endParaRPr lang="en-US"/>
                    </a:p>
                  </a:txBody>
                  <a:tcPr/>
                </a:tc>
                <a:tc>
                  <a:txBody>
                    <a:bodyPr/>
                    <a:lstStyle/>
                    <a:p>
                      <a:r>
                        <a:rPr lang="en-US" dirty="0"/>
                        <a:t>Scalable</a:t>
                      </a:r>
                    </a:p>
                  </a:txBody>
                  <a:tcPr/>
                </a:tc>
                <a:tc>
                  <a:txBody>
                    <a:bodyPr/>
                    <a:lstStyle/>
                    <a:p>
                      <a:r>
                        <a:rPr lang="en-US" dirty="0"/>
                        <a:t>Efficient</a:t>
                      </a:r>
                    </a:p>
                  </a:txBody>
                  <a:tcPr/>
                </a:tc>
                <a:extLst>
                  <a:ext uri="{0D108BD9-81ED-4DB2-BD59-A6C34878D82A}">
                    <a16:rowId xmlns:a16="http://schemas.microsoft.com/office/drawing/2014/main" val="1205869222"/>
                  </a:ext>
                </a:extLst>
              </a:tr>
            </a:tbl>
          </a:graphicData>
        </a:graphic>
      </p:graphicFrame>
    </p:spTree>
    <p:extLst>
      <p:ext uri="{BB962C8B-B14F-4D97-AF65-F5344CB8AC3E}">
        <p14:creationId xmlns:p14="http://schemas.microsoft.com/office/powerpoint/2010/main" val="23896368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74171" y="714375"/>
            <a:ext cx="8795657" cy="3986211"/>
          </a:xfrm>
        </p:spPr>
        <p:txBody>
          <a:bodyPr/>
          <a:lstStyle/>
          <a:p>
            <a:pPr marL="0" indent="0" algn="l">
              <a:buNone/>
            </a:pPr>
            <a:r>
              <a:rPr lang="en-US" sz="2000" b="0" i="0" u="none" strike="noStrike" baseline="0" dirty="0">
                <a:latin typeface="TimesTen-Roman"/>
              </a:rPr>
              <a:t>    </a:t>
            </a:r>
          </a:p>
        </p:txBody>
      </p:sp>
      <p:sp>
        <p:nvSpPr>
          <p:cNvPr id="2" name="灯片编号占位符 1"/>
          <p:cNvSpPr>
            <a:spLocks noGrp="1"/>
          </p:cNvSpPr>
          <p:nvPr>
            <p:ph type="sldNum" sz="quarter" idx="10"/>
          </p:nvPr>
        </p:nvSpPr>
        <p:spPr/>
        <p:txBody>
          <a:bodyPr/>
          <a:lstStyle/>
          <a:p>
            <a:fld id="{D9B6BDF2-6896-4B98-8776-C18582F63BA5}" type="slidenum">
              <a:rPr lang="zh-TW" altLang="en-US" smtClean="0"/>
              <a:t>29</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771525" y="107950"/>
            <a:ext cx="8122444"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1.7.3 Virtual Memory</a:t>
            </a:r>
          </a:p>
        </p:txBody>
      </p:sp>
      <p:sp>
        <p:nvSpPr>
          <p:cNvPr id="7" name="Content Placeholder 7">
            <a:extLst>
              <a:ext uri="{FF2B5EF4-FFF2-40B4-BE49-F238E27FC236}">
                <a16:creationId xmlns:a16="http://schemas.microsoft.com/office/drawing/2014/main" id="{5B628818-E06A-48D3-972B-384C202BB3BB}"/>
              </a:ext>
            </a:extLst>
          </p:cNvPr>
          <p:cNvSpPr txBox="1">
            <a:spLocks/>
          </p:cNvSpPr>
          <p:nvPr/>
        </p:nvSpPr>
        <p:spPr bwMode="auto">
          <a:xfrm>
            <a:off x="326570" y="2143125"/>
            <a:ext cx="8795657" cy="2339332"/>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endParaRPr lang="en-US" sz="2000" i="1" kern="0" dirty="0">
              <a:solidFill>
                <a:srgbClr val="FF0000"/>
              </a:solidFill>
              <a:latin typeface="TimesTen-Italic"/>
            </a:endParaRPr>
          </a:p>
          <a:p>
            <a:endParaRPr lang="en-US" sz="2000" kern="0" dirty="0">
              <a:solidFill>
                <a:srgbClr val="FF0000"/>
              </a:solidFill>
            </a:endParaRPr>
          </a:p>
        </p:txBody>
      </p:sp>
      <p:sp>
        <p:nvSpPr>
          <p:cNvPr id="10" name="Content Placeholder 7">
            <a:extLst>
              <a:ext uri="{FF2B5EF4-FFF2-40B4-BE49-F238E27FC236}">
                <a16:creationId xmlns:a16="http://schemas.microsoft.com/office/drawing/2014/main" id="{406FF8B5-923E-48F3-A830-9893698ED8C4}"/>
              </a:ext>
            </a:extLst>
          </p:cNvPr>
          <p:cNvSpPr txBox="1">
            <a:spLocks/>
          </p:cNvSpPr>
          <p:nvPr/>
        </p:nvSpPr>
        <p:spPr bwMode="auto">
          <a:xfrm>
            <a:off x="97971" y="775339"/>
            <a:ext cx="8866642" cy="3818091"/>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lgn="l">
              <a:buSzPct val="150000"/>
              <a:buNone/>
            </a:pPr>
            <a:endParaRPr lang="en-US" sz="1800" i="0" u="none" strike="noStrike" baseline="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C1E1128-6C49-4567-9EB7-4AB15E6C5AE1}"/>
              </a:ext>
            </a:extLst>
          </p:cNvPr>
          <p:cNvPicPr>
            <a:picLocks noChangeAspect="1"/>
          </p:cNvPicPr>
          <p:nvPr/>
        </p:nvPicPr>
        <p:blipFill>
          <a:blip r:embed="rId3"/>
          <a:stretch>
            <a:fillRect/>
          </a:stretch>
        </p:blipFill>
        <p:spPr>
          <a:xfrm>
            <a:off x="4014788" y="775337"/>
            <a:ext cx="5102223" cy="3653787"/>
          </a:xfrm>
          <a:prstGeom prst="rect">
            <a:avLst/>
          </a:prstGeom>
        </p:spPr>
      </p:pic>
      <p:sp>
        <p:nvSpPr>
          <p:cNvPr id="11" name="Content Placeholder 7">
            <a:extLst>
              <a:ext uri="{FF2B5EF4-FFF2-40B4-BE49-F238E27FC236}">
                <a16:creationId xmlns:a16="http://schemas.microsoft.com/office/drawing/2014/main" id="{77FEBC26-F276-45B5-BE75-BB2F8059057B}"/>
              </a:ext>
            </a:extLst>
          </p:cNvPr>
          <p:cNvSpPr txBox="1">
            <a:spLocks/>
          </p:cNvSpPr>
          <p:nvPr/>
        </p:nvSpPr>
        <p:spPr bwMode="auto">
          <a:xfrm>
            <a:off x="92756" y="775340"/>
            <a:ext cx="5607957" cy="3970492"/>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algn="l"/>
            <a:r>
              <a:rPr lang="en-US" sz="2000" b="0" i="1" u="none" strike="noStrike" baseline="0" dirty="0">
                <a:latin typeface="TimesTen-Italic"/>
              </a:rPr>
              <a:t>Virtual memory </a:t>
            </a:r>
            <a:r>
              <a:rPr lang="en-US" sz="2000" b="0" i="0" u="none" strike="noStrike" baseline="0" dirty="0">
                <a:latin typeface="TimesTen-Roman"/>
              </a:rPr>
              <a:t>is an abstraction </a:t>
            </a:r>
          </a:p>
          <a:p>
            <a:pPr marL="0" indent="0" algn="l">
              <a:buNone/>
            </a:pPr>
            <a:r>
              <a:rPr lang="en-US" sz="2000" b="0" i="0" u="none" strike="noStrike" baseline="0" dirty="0">
                <a:latin typeface="TimesTen-Roman"/>
              </a:rPr>
              <a:t>that provides each process with the </a:t>
            </a:r>
          </a:p>
          <a:p>
            <a:pPr marL="0" indent="0" algn="l">
              <a:buNone/>
            </a:pPr>
            <a:r>
              <a:rPr lang="en-US" sz="2000" b="0" i="0" u="none" strike="noStrike" baseline="0" dirty="0">
                <a:latin typeface="TimesTen-Roman"/>
              </a:rPr>
              <a:t>illusion that it has exclusive use of the main memory.</a:t>
            </a:r>
          </a:p>
          <a:p>
            <a:pPr algn="l"/>
            <a:r>
              <a:rPr lang="en-US" sz="1800" b="0" i="0" u="none" strike="noStrike" baseline="0" dirty="0">
                <a:latin typeface="TimesTen-Roman"/>
              </a:rPr>
              <a:t>Each process has its own </a:t>
            </a:r>
            <a:r>
              <a:rPr lang="en-US" sz="1800" b="0" i="1" u="none" strike="noStrike" baseline="0" dirty="0">
                <a:solidFill>
                  <a:srgbClr val="FF0000"/>
                </a:solidFill>
                <a:latin typeface="TimesTen-Italic"/>
              </a:rPr>
              <a:t>virtual address space</a:t>
            </a:r>
          </a:p>
          <a:p>
            <a:pPr algn="l"/>
            <a:r>
              <a:rPr lang="en-US" sz="2000" b="0" i="0" u="none" strike="noStrike" baseline="0" dirty="0">
                <a:latin typeface="TimesTen-Roman"/>
              </a:rPr>
              <a:t>The virtual address space for Linux processes is shown in Figure 1.13.</a:t>
            </a:r>
          </a:p>
          <a:p>
            <a:pPr algn="l"/>
            <a:r>
              <a:rPr lang="en-US" sz="2000" b="0" i="0" u="none" strike="noStrike" baseline="0" dirty="0">
                <a:latin typeface="Times New Roman" panose="02020603050405020304" pitchFamily="18" charset="0"/>
                <a:cs typeface="Times New Roman" panose="02020603050405020304" pitchFamily="18" charset="0"/>
              </a:rPr>
              <a:t>The highest address space is for the OS kernel.</a:t>
            </a:r>
          </a:p>
          <a:p>
            <a:pPr algn="l"/>
            <a:r>
              <a:rPr lang="en-US" sz="2000" b="0" i="0" u="none" strike="noStrike" baseline="0" dirty="0">
                <a:latin typeface="Times New Roman" panose="02020603050405020304" pitchFamily="18" charset="0"/>
                <a:cs typeface="Times New Roman" panose="02020603050405020304" pitchFamily="18" charset="0"/>
              </a:rPr>
              <a:t>The address 0’s page is not used. This is to prevent NULL pointer dereferences</a:t>
            </a:r>
            <a:r>
              <a:rPr lang="en-US" sz="2000" dirty="0">
                <a:latin typeface="Times New Roman" panose="02020603050405020304" pitchFamily="18" charset="0"/>
                <a:cs typeface="Times New Roman" panose="02020603050405020304" pitchFamily="18" charset="0"/>
              </a:rPr>
              <a:t>.</a:t>
            </a:r>
          </a:p>
          <a:p>
            <a:pPr algn="l"/>
            <a:r>
              <a:rPr lang="en-US" sz="2000" b="0" i="0" u="none" strike="noStrike" baseline="0" dirty="0">
                <a:latin typeface="Times New Roman" panose="02020603050405020304" pitchFamily="18" charset="0"/>
                <a:cs typeface="Times New Roman" panose="02020603050405020304" pitchFamily="18" charset="0"/>
              </a:rPr>
              <a:t>The heap </a:t>
            </a:r>
            <a:r>
              <a:rPr lang="en-US" sz="2000" dirty="0">
                <a:latin typeface="Times New Roman" panose="02020603050405020304" pitchFamily="18" charset="0"/>
                <a:cs typeface="Times New Roman" panose="02020603050405020304" pitchFamily="18" charset="0"/>
              </a:rPr>
              <a:t>grows upwards, and the stack grows downwards.</a:t>
            </a:r>
            <a:endParaRPr lang="en-US" sz="2000" b="0" i="0" u="none" strike="noStrike" baseline="0" dirty="0">
              <a:latin typeface="Times New Roman" panose="02020603050405020304" pitchFamily="18" charset="0"/>
              <a:cs typeface="Times New Roman" panose="02020603050405020304" pitchFamily="18" charset="0"/>
            </a:endParaRPr>
          </a:p>
          <a:p>
            <a:pPr marL="0" indent="0" algn="l">
              <a:buNone/>
            </a:pPr>
            <a:r>
              <a:rPr lang="en-US" sz="2000" dirty="0">
                <a:solidFill>
                  <a:srgbClr val="111827"/>
                </a:solidFill>
                <a:effectLst/>
                <a:latin typeface="Times New Roman" panose="02020603050405020304" pitchFamily="18" charset="0"/>
                <a:cs typeface="Times New Roman" panose="02020603050405020304" pitchFamily="18" charset="0"/>
              </a:rPr>
              <a:t>	</a:t>
            </a:r>
            <a:endParaRPr lang="en-US" sz="1800" i="0" u="none" strike="noStrike" baseline="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69636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E827B42-81F1-419A-B5CE-AD6D2B46521D}"/>
              </a:ext>
            </a:extLst>
          </p:cNvPr>
          <p:cNvSpPr>
            <a:spLocks noGrp="1"/>
          </p:cNvSpPr>
          <p:nvPr>
            <p:ph type="body" idx="1"/>
          </p:nvPr>
        </p:nvSpPr>
        <p:spPr>
          <a:xfrm>
            <a:off x="685800" y="921545"/>
            <a:ext cx="7772400" cy="3664742"/>
          </a:xfrm>
        </p:spPr>
        <p:txBody>
          <a:bodyPr/>
          <a:lstStyle/>
          <a:p>
            <a:pPr>
              <a:buSzPct val="200000"/>
            </a:pPr>
            <a:endParaRPr lang="en-US" dirty="0"/>
          </a:p>
          <a:p>
            <a:pPr marL="457200" indent="-457200">
              <a:buSzPct val="160000"/>
              <a:buFont typeface="Arial" panose="020B0604020202020204" pitchFamily="34" charset="0"/>
              <a:buChar char="•"/>
            </a:pPr>
            <a:r>
              <a:rPr lang="en-US" sz="2400" dirty="0"/>
              <a:t>Program: executable object </a:t>
            </a:r>
          </a:p>
          <a:p>
            <a:pPr marL="457200" indent="-457200">
              <a:buSzPct val="160000"/>
              <a:buFont typeface="Arial" panose="020B0604020202020204" pitchFamily="34" charset="0"/>
              <a:buChar char="•"/>
            </a:pPr>
            <a:r>
              <a:rPr lang="en-US" sz="2400" dirty="0"/>
              <a:t>Process</a:t>
            </a:r>
          </a:p>
          <a:p>
            <a:pPr marL="457200" indent="-457200">
              <a:buSzPct val="160000"/>
              <a:buFont typeface="Arial" panose="020B0604020202020204" pitchFamily="34" charset="0"/>
              <a:buChar char="•"/>
            </a:pPr>
            <a:r>
              <a:rPr lang="en-US" sz="2400" dirty="0"/>
              <a:t>Thread</a:t>
            </a:r>
          </a:p>
          <a:p>
            <a:pPr marL="457200" indent="-457200">
              <a:buSzPct val="160000"/>
              <a:buFont typeface="Arial" panose="020B0604020202020204" pitchFamily="34" charset="0"/>
              <a:buChar char="•"/>
            </a:pPr>
            <a:r>
              <a:rPr lang="en-US" sz="2400" dirty="0"/>
              <a:t>OS manages all processes and threads</a:t>
            </a:r>
          </a:p>
          <a:p>
            <a:pPr marL="457200" indent="-457200">
              <a:buSzPct val="160000"/>
              <a:buFont typeface="Arial" panose="020B0604020202020204" pitchFamily="34" charset="0"/>
              <a:buChar char="•"/>
            </a:pPr>
            <a:r>
              <a:rPr lang="en-US" sz="2400" dirty="0"/>
              <a:t>Context Switch</a:t>
            </a:r>
          </a:p>
          <a:p>
            <a:pPr marL="800100" lvl="1" indent="-457200">
              <a:buSzPct val="160000"/>
              <a:buFont typeface="Wingdings" panose="05000000000000000000" pitchFamily="2" charset="2"/>
              <a:buChar char="Ø"/>
            </a:pPr>
            <a:r>
              <a:rPr lang="en-US" sz="1800" dirty="0"/>
              <a:t>Process context: container of a program. PCB (process control block)</a:t>
            </a:r>
          </a:p>
          <a:p>
            <a:pPr marL="800100" lvl="1" indent="-457200">
              <a:buSzPct val="160000"/>
              <a:buFont typeface="Wingdings" panose="05000000000000000000" pitchFamily="2" charset="2"/>
              <a:buChar char="Ø"/>
            </a:pPr>
            <a:r>
              <a:rPr lang="en-US" sz="1800" dirty="0"/>
              <a:t>Thread context: a line of execution. Architecture states (</a:t>
            </a:r>
            <a:r>
              <a:rPr lang="en-US" sz="1800" dirty="0" err="1"/>
              <a:t>PC+reg+flags</a:t>
            </a:r>
            <a:r>
              <a:rPr lang="en-US" sz="1800" dirty="0"/>
              <a:t>) </a:t>
            </a:r>
          </a:p>
          <a:p>
            <a:pPr marL="457200" indent="-457200">
              <a:buSzPct val="160000"/>
              <a:buFont typeface="Arial" panose="020B0604020202020204" pitchFamily="34" charset="0"/>
              <a:buChar char="•"/>
            </a:pPr>
            <a:r>
              <a:rPr lang="en-US" sz="2400" dirty="0"/>
              <a:t>Virtual memory</a:t>
            </a:r>
          </a:p>
          <a:p>
            <a:pPr marL="628650" lvl="1" indent="-285750">
              <a:buSzPct val="160000"/>
              <a:buFont typeface="Wingdings" panose="05000000000000000000" pitchFamily="2" charset="2"/>
              <a:buChar char="Ø"/>
            </a:pPr>
            <a:r>
              <a:rPr lang="en-US" sz="1600" dirty="0"/>
              <a:t> Virtual often implies multiplicity, a fake version, and sharing</a:t>
            </a:r>
          </a:p>
          <a:p>
            <a:pPr marL="800100" lvl="1" indent="-457200">
              <a:buSzPct val="16000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DD7C0689-8E28-4357-903A-88AE503B4421}"/>
              </a:ext>
            </a:extLst>
          </p:cNvPr>
          <p:cNvSpPr>
            <a:spLocks noGrp="1"/>
          </p:cNvSpPr>
          <p:nvPr>
            <p:ph type="sldNum" sz="quarter" idx="10"/>
          </p:nvPr>
        </p:nvSpPr>
        <p:spPr/>
        <p:txBody>
          <a:bodyPr/>
          <a:lstStyle/>
          <a:p>
            <a:fld id="{D9B6BDF2-6896-4B98-8776-C18582F63BA5}" type="slidenum">
              <a:rPr lang="zh-TW" altLang="en-US" smtClean="0"/>
              <a:t>30</a:t>
            </a:fld>
            <a:endParaRPr lang="zh-TW" altLang="en-US"/>
          </a:p>
        </p:txBody>
      </p:sp>
    </p:spTree>
    <p:extLst>
      <p:ext uri="{BB962C8B-B14F-4D97-AF65-F5344CB8AC3E}">
        <p14:creationId xmlns:p14="http://schemas.microsoft.com/office/powerpoint/2010/main" val="12325323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255587" y="3312791"/>
            <a:ext cx="8795657" cy="3986211"/>
          </a:xfrm>
        </p:spPr>
        <p:txBody>
          <a:bodyPr/>
          <a:lstStyle/>
          <a:p>
            <a:pPr marL="0" indent="0" algn="l">
              <a:buNone/>
            </a:pPr>
            <a:r>
              <a:rPr lang="en-US" sz="2000" b="0" i="0" u="none" strike="noStrike" baseline="0" dirty="0">
                <a:latin typeface="TimesTen-Roman"/>
              </a:rPr>
              <a:t>    </a:t>
            </a:r>
          </a:p>
        </p:txBody>
      </p:sp>
      <p:sp>
        <p:nvSpPr>
          <p:cNvPr id="2" name="灯片编号占位符 1"/>
          <p:cNvSpPr>
            <a:spLocks noGrp="1"/>
          </p:cNvSpPr>
          <p:nvPr>
            <p:ph type="sldNum" sz="quarter" idx="10"/>
          </p:nvPr>
        </p:nvSpPr>
        <p:spPr/>
        <p:txBody>
          <a:bodyPr/>
          <a:lstStyle/>
          <a:p>
            <a:fld id="{D9B6BDF2-6896-4B98-8776-C18582F63BA5}" type="slidenum">
              <a:rPr lang="zh-TW" altLang="en-US" smtClean="0"/>
              <a:t>31</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771525" y="107950"/>
            <a:ext cx="8122444"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1.7.3 Main Memory as a Cache for VM </a:t>
            </a:r>
          </a:p>
        </p:txBody>
      </p:sp>
      <p:sp>
        <p:nvSpPr>
          <p:cNvPr id="7" name="Content Placeholder 7">
            <a:extLst>
              <a:ext uri="{FF2B5EF4-FFF2-40B4-BE49-F238E27FC236}">
                <a16:creationId xmlns:a16="http://schemas.microsoft.com/office/drawing/2014/main" id="{5B628818-E06A-48D3-972B-384C202BB3BB}"/>
              </a:ext>
            </a:extLst>
          </p:cNvPr>
          <p:cNvSpPr txBox="1">
            <a:spLocks/>
          </p:cNvSpPr>
          <p:nvPr/>
        </p:nvSpPr>
        <p:spPr bwMode="auto">
          <a:xfrm>
            <a:off x="326570" y="2143125"/>
            <a:ext cx="8795657" cy="2339332"/>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endParaRPr lang="en-US" sz="2000" i="1" kern="0" dirty="0">
              <a:solidFill>
                <a:srgbClr val="FF0000"/>
              </a:solidFill>
              <a:latin typeface="TimesTen-Italic"/>
            </a:endParaRPr>
          </a:p>
          <a:p>
            <a:endParaRPr lang="en-US" sz="2000" kern="0" dirty="0">
              <a:solidFill>
                <a:srgbClr val="FF0000"/>
              </a:solidFill>
            </a:endParaRPr>
          </a:p>
        </p:txBody>
      </p:sp>
      <p:sp>
        <p:nvSpPr>
          <p:cNvPr id="11" name="Content Placeholder 7">
            <a:extLst>
              <a:ext uri="{FF2B5EF4-FFF2-40B4-BE49-F238E27FC236}">
                <a16:creationId xmlns:a16="http://schemas.microsoft.com/office/drawing/2014/main" id="{77FEBC26-F276-45B5-BE75-BB2F8059057B}"/>
              </a:ext>
            </a:extLst>
          </p:cNvPr>
          <p:cNvSpPr txBox="1">
            <a:spLocks/>
          </p:cNvSpPr>
          <p:nvPr/>
        </p:nvSpPr>
        <p:spPr bwMode="auto">
          <a:xfrm>
            <a:off x="92756" y="775340"/>
            <a:ext cx="5607957" cy="3970492"/>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algn="l"/>
            <a:r>
              <a:rPr lang="en-US" sz="1800" dirty="0">
                <a:latin typeface="Times New Roman" panose="02020603050405020304" pitchFamily="18" charset="0"/>
                <a:cs typeface="Times New Roman" panose="02020603050405020304" pitchFamily="18" charset="0"/>
              </a:rPr>
              <a:t>Virtual address space can be greater than the physical memory. All modern architectures support a 64-bit address space, but real machines support only a 48-bit physical address space. </a:t>
            </a:r>
          </a:p>
          <a:p>
            <a:pPr algn="l"/>
            <a:r>
              <a:rPr lang="en-US" sz="1800" dirty="0">
                <a:latin typeface="Times New Roman" panose="02020603050405020304" pitchFamily="18" charset="0"/>
                <a:cs typeface="Times New Roman" panose="02020603050405020304" pitchFamily="18" charset="0"/>
              </a:rPr>
              <a:t>Memory serves as a cache for virtual memory. Virtual address space is allocated on disk, and pages are dynamically moved to memory as needed.</a:t>
            </a:r>
          </a:p>
          <a:p>
            <a:pPr algn="l"/>
            <a:r>
              <a:rPr lang="en-US" sz="1800" i="0" u="none" strike="noStrike" baseline="0" dirty="0">
                <a:latin typeface="Times New Roman" panose="02020603050405020304" pitchFamily="18" charset="0"/>
                <a:cs typeface="Times New Roman" panose="02020603050405020304" pitchFamily="18" charset="0"/>
              </a:rPr>
              <a:t>Support multiprogramming: multiple processes can co-exist on the same system. When one process is doing I/O, the OS can schedule the CPU to a different process</a:t>
            </a:r>
          </a:p>
          <a:p>
            <a:pPr algn="l"/>
            <a:r>
              <a:rPr lang="en-US" sz="1800" dirty="0">
                <a:latin typeface="Times New Roman" panose="02020603050405020304" pitchFamily="18" charset="0"/>
                <a:cs typeface="Times New Roman" panose="02020603050405020304" pitchFamily="18" charset="0"/>
              </a:rPr>
              <a:t>Allow multiple processes to share data: map different virtual pages to the same physical page. For example, a shared library can be implemented that way.</a:t>
            </a:r>
            <a:endParaRPr lang="en-US" sz="1800" i="0" u="none" strike="noStrike" baseline="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514FF12-97AF-4F45-870F-36174C4FDBF6}"/>
              </a:ext>
            </a:extLst>
          </p:cNvPr>
          <p:cNvSpPr txBox="1"/>
          <p:nvPr/>
        </p:nvSpPr>
        <p:spPr>
          <a:xfrm>
            <a:off x="6015037" y="1005625"/>
            <a:ext cx="885825" cy="338554"/>
          </a:xfrm>
          <a:prstGeom prst="rect">
            <a:avLst/>
          </a:prstGeom>
          <a:solidFill>
            <a:srgbClr val="FFFF00"/>
          </a:solidFill>
          <a:ln>
            <a:solidFill>
              <a:srgbClr val="FF0000"/>
            </a:solidFill>
          </a:ln>
        </p:spPr>
        <p:txBody>
          <a:bodyPr wrap="square" rtlCol="0" anchor="ctr" anchorCtr="1">
            <a:spAutoFit/>
          </a:bodyPr>
          <a:lstStyle/>
          <a:p>
            <a:r>
              <a:rPr lang="en-US" sz="1600" dirty="0">
                <a:ea typeface="標楷體" pitchFamily="65" charset="-120"/>
                <a:cs typeface="Calibri" panose="020F07020304040A0204" pitchFamily="34" charset="0"/>
              </a:rPr>
              <a:t>VA1p1</a:t>
            </a:r>
          </a:p>
        </p:txBody>
      </p:sp>
      <p:sp>
        <p:nvSpPr>
          <p:cNvPr id="12" name="TextBox 11">
            <a:extLst>
              <a:ext uri="{FF2B5EF4-FFF2-40B4-BE49-F238E27FC236}">
                <a16:creationId xmlns:a16="http://schemas.microsoft.com/office/drawing/2014/main" id="{13C3BBB7-60CE-487F-AAF5-2EB88547EE9F}"/>
              </a:ext>
            </a:extLst>
          </p:cNvPr>
          <p:cNvSpPr txBox="1"/>
          <p:nvPr/>
        </p:nvSpPr>
        <p:spPr>
          <a:xfrm>
            <a:off x="6015037" y="1344179"/>
            <a:ext cx="885825" cy="338554"/>
          </a:xfrm>
          <a:prstGeom prst="rect">
            <a:avLst/>
          </a:prstGeom>
          <a:solidFill>
            <a:srgbClr val="FFFF00"/>
          </a:solidFill>
          <a:ln>
            <a:solidFill>
              <a:srgbClr val="FF0000"/>
            </a:solidFill>
          </a:ln>
        </p:spPr>
        <p:txBody>
          <a:bodyPr wrap="square" rtlCol="0" anchor="ctr" anchorCtr="1">
            <a:spAutoFit/>
          </a:bodyPr>
          <a:lstStyle/>
          <a:p>
            <a:r>
              <a:rPr lang="en-US" sz="1600" dirty="0">
                <a:ea typeface="標楷體" pitchFamily="65" charset="-120"/>
                <a:cs typeface="Calibri" panose="020F07020304040A0204" pitchFamily="34" charset="0"/>
              </a:rPr>
              <a:t>VA1p2</a:t>
            </a:r>
          </a:p>
        </p:txBody>
      </p:sp>
      <p:sp>
        <p:nvSpPr>
          <p:cNvPr id="14" name="TextBox 13">
            <a:extLst>
              <a:ext uri="{FF2B5EF4-FFF2-40B4-BE49-F238E27FC236}">
                <a16:creationId xmlns:a16="http://schemas.microsoft.com/office/drawing/2014/main" id="{6DA1BEDB-6FAC-45FB-B006-2C6DF2928E1D}"/>
              </a:ext>
            </a:extLst>
          </p:cNvPr>
          <p:cNvSpPr txBox="1"/>
          <p:nvPr/>
        </p:nvSpPr>
        <p:spPr>
          <a:xfrm>
            <a:off x="6015037" y="1682733"/>
            <a:ext cx="885825" cy="338554"/>
          </a:xfrm>
          <a:prstGeom prst="rect">
            <a:avLst/>
          </a:prstGeom>
          <a:solidFill>
            <a:srgbClr val="FFFF00"/>
          </a:solidFill>
          <a:ln>
            <a:solidFill>
              <a:srgbClr val="FF0000"/>
            </a:solidFill>
          </a:ln>
        </p:spPr>
        <p:txBody>
          <a:bodyPr wrap="square" rtlCol="0" anchor="ctr" anchorCtr="1">
            <a:spAutoFit/>
          </a:bodyPr>
          <a:lstStyle/>
          <a:p>
            <a:r>
              <a:rPr lang="en-US" sz="1600" dirty="0">
                <a:ea typeface="標楷體" pitchFamily="65" charset="-120"/>
                <a:cs typeface="Calibri" panose="020F07020304040A0204" pitchFamily="34" charset="0"/>
              </a:rPr>
              <a:t>VA1p3</a:t>
            </a:r>
          </a:p>
        </p:txBody>
      </p:sp>
      <p:sp>
        <p:nvSpPr>
          <p:cNvPr id="15" name="TextBox 14">
            <a:extLst>
              <a:ext uri="{FF2B5EF4-FFF2-40B4-BE49-F238E27FC236}">
                <a16:creationId xmlns:a16="http://schemas.microsoft.com/office/drawing/2014/main" id="{0A8D949C-1226-4536-B0D7-918E13F66E21}"/>
              </a:ext>
            </a:extLst>
          </p:cNvPr>
          <p:cNvSpPr txBox="1"/>
          <p:nvPr/>
        </p:nvSpPr>
        <p:spPr>
          <a:xfrm>
            <a:off x="6015037" y="2021287"/>
            <a:ext cx="885825" cy="338554"/>
          </a:xfrm>
          <a:prstGeom prst="rect">
            <a:avLst/>
          </a:prstGeom>
          <a:solidFill>
            <a:srgbClr val="FFFF00"/>
          </a:solidFill>
          <a:ln>
            <a:solidFill>
              <a:srgbClr val="FF0000"/>
            </a:solidFill>
          </a:ln>
        </p:spPr>
        <p:txBody>
          <a:bodyPr wrap="square" rtlCol="0" anchor="ctr" anchorCtr="1">
            <a:spAutoFit/>
          </a:bodyPr>
          <a:lstStyle/>
          <a:p>
            <a:r>
              <a:rPr lang="en-US" sz="1600" dirty="0">
                <a:ea typeface="標楷體" pitchFamily="65" charset="-120"/>
                <a:cs typeface="Calibri" panose="020F07020304040A0204" pitchFamily="34" charset="0"/>
              </a:rPr>
              <a:t>VA1p4</a:t>
            </a:r>
          </a:p>
        </p:txBody>
      </p:sp>
      <p:sp>
        <p:nvSpPr>
          <p:cNvPr id="16" name="TextBox 15">
            <a:extLst>
              <a:ext uri="{FF2B5EF4-FFF2-40B4-BE49-F238E27FC236}">
                <a16:creationId xmlns:a16="http://schemas.microsoft.com/office/drawing/2014/main" id="{04B966B5-AF41-4CEB-AA43-10841C2C0CD4}"/>
              </a:ext>
            </a:extLst>
          </p:cNvPr>
          <p:cNvSpPr txBox="1"/>
          <p:nvPr/>
        </p:nvSpPr>
        <p:spPr>
          <a:xfrm>
            <a:off x="6015037" y="2695738"/>
            <a:ext cx="885825" cy="338554"/>
          </a:xfrm>
          <a:prstGeom prst="rect">
            <a:avLst/>
          </a:prstGeom>
          <a:solidFill>
            <a:schemeClr val="accent3">
              <a:lumMod val="40000"/>
              <a:lumOff val="60000"/>
            </a:schemeClr>
          </a:solidFill>
          <a:ln>
            <a:solidFill>
              <a:srgbClr val="FF0000"/>
            </a:solidFill>
          </a:ln>
        </p:spPr>
        <p:txBody>
          <a:bodyPr wrap="square" rtlCol="0" anchor="ctr" anchorCtr="1">
            <a:spAutoFit/>
          </a:bodyPr>
          <a:lstStyle/>
          <a:p>
            <a:r>
              <a:rPr lang="en-US" sz="1600" dirty="0">
                <a:ea typeface="標楷體" pitchFamily="65" charset="-120"/>
                <a:cs typeface="Calibri" panose="020F07020304040A0204" pitchFamily="34" charset="0"/>
              </a:rPr>
              <a:t>VA2p1</a:t>
            </a:r>
          </a:p>
        </p:txBody>
      </p:sp>
      <p:sp>
        <p:nvSpPr>
          <p:cNvPr id="17" name="TextBox 16">
            <a:extLst>
              <a:ext uri="{FF2B5EF4-FFF2-40B4-BE49-F238E27FC236}">
                <a16:creationId xmlns:a16="http://schemas.microsoft.com/office/drawing/2014/main" id="{998ACF26-1940-4996-9580-771F27CCF082}"/>
              </a:ext>
            </a:extLst>
          </p:cNvPr>
          <p:cNvSpPr txBox="1"/>
          <p:nvPr/>
        </p:nvSpPr>
        <p:spPr>
          <a:xfrm>
            <a:off x="6015037" y="3034292"/>
            <a:ext cx="885825" cy="338554"/>
          </a:xfrm>
          <a:prstGeom prst="rect">
            <a:avLst/>
          </a:prstGeom>
          <a:solidFill>
            <a:schemeClr val="accent3">
              <a:lumMod val="40000"/>
              <a:lumOff val="60000"/>
            </a:schemeClr>
          </a:solidFill>
          <a:ln>
            <a:solidFill>
              <a:srgbClr val="FF0000"/>
            </a:solidFill>
          </a:ln>
        </p:spPr>
        <p:txBody>
          <a:bodyPr wrap="square" rtlCol="0" anchor="ctr" anchorCtr="1">
            <a:spAutoFit/>
          </a:bodyPr>
          <a:lstStyle/>
          <a:p>
            <a:r>
              <a:rPr lang="en-US" sz="1600" dirty="0">
                <a:ea typeface="標楷體" pitchFamily="65" charset="-120"/>
                <a:cs typeface="Calibri" panose="020F07020304040A0204" pitchFamily="34" charset="0"/>
              </a:rPr>
              <a:t>VA2p2</a:t>
            </a:r>
          </a:p>
        </p:txBody>
      </p:sp>
      <p:sp>
        <p:nvSpPr>
          <p:cNvPr id="18" name="TextBox 17">
            <a:extLst>
              <a:ext uri="{FF2B5EF4-FFF2-40B4-BE49-F238E27FC236}">
                <a16:creationId xmlns:a16="http://schemas.microsoft.com/office/drawing/2014/main" id="{DCF09087-F98F-4EEB-8697-672E0CD39F0A}"/>
              </a:ext>
            </a:extLst>
          </p:cNvPr>
          <p:cNvSpPr txBox="1"/>
          <p:nvPr/>
        </p:nvSpPr>
        <p:spPr>
          <a:xfrm>
            <a:off x="6015037" y="3372846"/>
            <a:ext cx="885825" cy="338554"/>
          </a:xfrm>
          <a:prstGeom prst="rect">
            <a:avLst/>
          </a:prstGeom>
          <a:solidFill>
            <a:schemeClr val="accent3">
              <a:lumMod val="40000"/>
              <a:lumOff val="60000"/>
            </a:schemeClr>
          </a:solidFill>
          <a:ln>
            <a:solidFill>
              <a:srgbClr val="FF0000"/>
            </a:solidFill>
          </a:ln>
        </p:spPr>
        <p:txBody>
          <a:bodyPr wrap="square" rtlCol="0" anchor="ctr" anchorCtr="1">
            <a:spAutoFit/>
          </a:bodyPr>
          <a:lstStyle/>
          <a:p>
            <a:r>
              <a:rPr lang="en-US" sz="1600" dirty="0">
                <a:ea typeface="標楷體" pitchFamily="65" charset="-120"/>
                <a:cs typeface="Calibri" panose="020F07020304040A0204" pitchFamily="34" charset="0"/>
              </a:rPr>
              <a:t>VA2p3</a:t>
            </a:r>
          </a:p>
        </p:txBody>
      </p:sp>
      <p:sp>
        <p:nvSpPr>
          <p:cNvPr id="19" name="TextBox 18">
            <a:extLst>
              <a:ext uri="{FF2B5EF4-FFF2-40B4-BE49-F238E27FC236}">
                <a16:creationId xmlns:a16="http://schemas.microsoft.com/office/drawing/2014/main" id="{19A07EDA-FA48-403B-AEF4-7970FAAC3A68}"/>
              </a:ext>
            </a:extLst>
          </p:cNvPr>
          <p:cNvSpPr txBox="1"/>
          <p:nvPr/>
        </p:nvSpPr>
        <p:spPr>
          <a:xfrm>
            <a:off x="6015037" y="3711400"/>
            <a:ext cx="885825" cy="338554"/>
          </a:xfrm>
          <a:prstGeom prst="rect">
            <a:avLst/>
          </a:prstGeom>
          <a:solidFill>
            <a:schemeClr val="accent3">
              <a:lumMod val="40000"/>
              <a:lumOff val="60000"/>
            </a:schemeClr>
          </a:solidFill>
          <a:ln>
            <a:solidFill>
              <a:srgbClr val="FF0000"/>
            </a:solidFill>
          </a:ln>
        </p:spPr>
        <p:txBody>
          <a:bodyPr wrap="square" rtlCol="0" anchor="ctr" anchorCtr="1">
            <a:spAutoFit/>
          </a:bodyPr>
          <a:lstStyle/>
          <a:p>
            <a:r>
              <a:rPr lang="en-US" sz="1600" dirty="0">
                <a:ea typeface="標楷體" pitchFamily="65" charset="-120"/>
                <a:cs typeface="Calibri" panose="020F07020304040A0204" pitchFamily="34" charset="0"/>
              </a:rPr>
              <a:t>VA2p4</a:t>
            </a:r>
          </a:p>
        </p:txBody>
      </p:sp>
      <p:sp>
        <p:nvSpPr>
          <p:cNvPr id="20" name="TextBox 19">
            <a:extLst>
              <a:ext uri="{FF2B5EF4-FFF2-40B4-BE49-F238E27FC236}">
                <a16:creationId xmlns:a16="http://schemas.microsoft.com/office/drawing/2014/main" id="{17BDE58E-3E7A-4AC4-BBEC-744DAFF6AD8C}"/>
              </a:ext>
            </a:extLst>
          </p:cNvPr>
          <p:cNvSpPr txBox="1"/>
          <p:nvPr/>
        </p:nvSpPr>
        <p:spPr>
          <a:xfrm>
            <a:off x="7824787" y="1457078"/>
            <a:ext cx="885825" cy="338554"/>
          </a:xfrm>
          <a:prstGeom prst="rect">
            <a:avLst/>
          </a:prstGeom>
          <a:solidFill>
            <a:srgbClr val="FFC000"/>
          </a:solidFill>
          <a:ln>
            <a:solidFill>
              <a:srgbClr val="FF0000"/>
            </a:solidFill>
          </a:ln>
        </p:spPr>
        <p:txBody>
          <a:bodyPr wrap="square" rtlCol="0" anchor="ctr" anchorCtr="1">
            <a:spAutoFit/>
          </a:bodyPr>
          <a:lstStyle/>
          <a:p>
            <a:r>
              <a:rPr lang="en-US" sz="1600" dirty="0">
                <a:ea typeface="標楷體" pitchFamily="65" charset="-120"/>
                <a:cs typeface="Calibri" panose="020F07020304040A0204" pitchFamily="34" charset="0"/>
              </a:rPr>
              <a:t>P1</a:t>
            </a:r>
          </a:p>
        </p:txBody>
      </p:sp>
      <p:sp>
        <p:nvSpPr>
          <p:cNvPr id="21" name="TextBox 20">
            <a:extLst>
              <a:ext uri="{FF2B5EF4-FFF2-40B4-BE49-F238E27FC236}">
                <a16:creationId xmlns:a16="http://schemas.microsoft.com/office/drawing/2014/main" id="{5A19F4BF-3025-42B8-A17C-DCABBB783023}"/>
              </a:ext>
            </a:extLst>
          </p:cNvPr>
          <p:cNvSpPr txBox="1"/>
          <p:nvPr/>
        </p:nvSpPr>
        <p:spPr>
          <a:xfrm>
            <a:off x="7824787" y="1795632"/>
            <a:ext cx="885825" cy="338554"/>
          </a:xfrm>
          <a:prstGeom prst="rect">
            <a:avLst/>
          </a:prstGeom>
          <a:solidFill>
            <a:srgbClr val="FFC000"/>
          </a:solidFill>
          <a:ln>
            <a:solidFill>
              <a:srgbClr val="FF0000"/>
            </a:solidFill>
          </a:ln>
        </p:spPr>
        <p:txBody>
          <a:bodyPr wrap="square" rtlCol="0" anchor="ctr" anchorCtr="1">
            <a:spAutoFit/>
          </a:bodyPr>
          <a:lstStyle/>
          <a:p>
            <a:r>
              <a:rPr lang="en-US" sz="1600" dirty="0">
                <a:ea typeface="標楷體" pitchFamily="65" charset="-120"/>
                <a:cs typeface="Calibri" panose="020F07020304040A0204" pitchFamily="34" charset="0"/>
              </a:rPr>
              <a:t>P2</a:t>
            </a:r>
          </a:p>
        </p:txBody>
      </p:sp>
      <p:sp>
        <p:nvSpPr>
          <p:cNvPr id="22" name="TextBox 21">
            <a:extLst>
              <a:ext uri="{FF2B5EF4-FFF2-40B4-BE49-F238E27FC236}">
                <a16:creationId xmlns:a16="http://schemas.microsoft.com/office/drawing/2014/main" id="{ADA6B925-A93D-419A-ACE4-8AF73DA01046}"/>
              </a:ext>
            </a:extLst>
          </p:cNvPr>
          <p:cNvSpPr txBox="1"/>
          <p:nvPr/>
        </p:nvSpPr>
        <p:spPr>
          <a:xfrm>
            <a:off x="7824787" y="2134186"/>
            <a:ext cx="885825" cy="338554"/>
          </a:xfrm>
          <a:prstGeom prst="rect">
            <a:avLst/>
          </a:prstGeom>
          <a:solidFill>
            <a:srgbClr val="FFC000"/>
          </a:solidFill>
          <a:ln>
            <a:solidFill>
              <a:srgbClr val="FF0000"/>
            </a:solidFill>
          </a:ln>
        </p:spPr>
        <p:txBody>
          <a:bodyPr wrap="square" rtlCol="0" anchor="ctr" anchorCtr="1">
            <a:spAutoFit/>
          </a:bodyPr>
          <a:lstStyle/>
          <a:p>
            <a:r>
              <a:rPr lang="en-US" sz="1600" dirty="0">
                <a:ea typeface="標楷體" pitchFamily="65" charset="-120"/>
                <a:cs typeface="Calibri" panose="020F07020304040A0204" pitchFamily="34" charset="0"/>
              </a:rPr>
              <a:t>P3</a:t>
            </a:r>
          </a:p>
        </p:txBody>
      </p:sp>
      <p:sp>
        <p:nvSpPr>
          <p:cNvPr id="23" name="TextBox 22">
            <a:extLst>
              <a:ext uri="{FF2B5EF4-FFF2-40B4-BE49-F238E27FC236}">
                <a16:creationId xmlns:a16="http://schemas.microsoft.com/office/drawing/2014/main" id="{14BF2F37-FCCD-4EDB-9FD3-84FC5820A374}"/>
              </a:ext>
            </a:extLst>
          </p:cNvPr>
          <p:cNvSpPr txBox="1"/>
          <p:nvPr/>
        </p:nvSpPr>
        <p:spPr>
          <a:xfrm>
            <a:off x="7824787" y="2472740"/>
            <a:ext cx="885825" cy="338554"/>
          </a:xfrm>
          <a:prstGeom prst="rect">
            <a:avLst/>
          </a:prstGeom>
          <a:solidFill>
            <a:srgbClr val="FFC000"/>
          </a:solidFill>
          <a:ln>
            <a:solidFill>
              <a:srgbClr val="FF0000"/>
            </a:solidFill>
          </a:ln>
        </p:spPr>
        <p:txBody>
          <a:bodyPr wrap="square" rtlCol="0" anchor="ctr" anchorCtr="1">
            <a:spAutoFit/>
          </a:bodyPr>
          <a:lstStyle/>
          <a:p>
            <a:r>
              <a:rPr lang="en-US" sz="1600" dirty="0">
                <a:ea typeface="標楷體" pitchFamily="65" charset="-120"/>
                <a:cs typeface="Calibri" panose="020F07020304040A0204" pitchFamily="34" charset="0"/>
              </a:rPr>
              <a:t>P4</a:t>
            </a:r>
          </a:p>
        </p:txBody>
      </p:sp>
      <p:sp>
        <p:nvSpPr>
          <p:cNvPr id="4" name="TextBox 3">
            <a:extLst>
              <a:ext uri="{FF2B5EF4-FFF2-40B4-BE49-F238E27FC236}">
                <a16:creationId xmlns:a16="http://schemas.microsoft.com/office/drawing/2014/main" id="{B17F8D8D-1AEB-4CE4-9845-7631486D71CA}"/>
              </a:ext>
            </a:extLst>
          </p:cNvPr>
          <p:cNvSpPr txBox="1"/>
          <p:nvPr/>
        </p:nvSpPr>
        <p:spPr>
          <a:xfrm>
            <a:off x="5852655" y="733130"/>
            <a:ext cx="1210588" cy="369332"/>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Process1 </a:t>
            </a:r>
          </a:p>
        </p:txBody>
      </p:sp>
      <p:sp>
        <p:nvSpPr>
          <p:cNvPr id="24" name="TextBox 23">
            <a:extLst>
              <a:ext uri="{FF2B5EF4-FFF2-40B4-BE49-F238E27FC236}">
                <a16:creationId xmlns:a16="http://schemas.microsoft.com/office/drawing/2014/main" id="{EEEA2AC6-027E-4F9E-B87F-E5E2E31A88B3}"/>
              </a:ext>
            </a:extLst>
          </p:cNvPr>
          <p:cNvSpPr txBox="1"/>
          <p:nvPr/>
        </p:nvSpPr>
        <p:spPr>
          <a:xfrm>
            <a:off x="5901748" y="2399371"/>
            <a:ext cx="1210588" cy="369332"/>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Process2 </a:t>
            </a:r>
          </a:p>
        </p:txBody>
      </p:sp>
      <p:cxnSp>
        <p:nvCxnSpPr>
          <p:cNvPr id="9" name="Straight Arrow Connector 8">
            <a:extLst>
              <a:ext uri="{FF2B5EF4-FFF2-40B4-BE49-F238E27FC236}">
                <a16:creationId xmlns:a16="http://schemas.microsoft.com/office/drawing/2014/main" id="{52E15352-EF87-4915-824D-596226BCA68A}"/>
              </a:ext>
            </a:extLst>
          </p:cNvPr>
          <p:cNvCxnSpPr>
            <a:stCxn id="3" idx="3"/>
          </p:cNvCxnSpPr>
          <p:nvPr/>
        </p:nvCxnSpPr>
        <p:spPr bwMode="auto">
          <a:xfrm>
            <a:off x="6900862" y="1174902"/>
            <a:ext cx="923925" cy="1193878"/>
          </a:xfrm>
          <a:prstGeom prst="straightConnector1">
            <a:avLst/>
          </a:prstGeom>
          <a:noFill/>
          <a:ln w="15875" cap="flat" cmpd="sng" algn="ctr">
            <a:solidFill>
              <a:srgbClr val="FF0000"/>
            </a:solidFill>
            <a:prstDash val="solid"/>
            <a:round/>
            <a:headEnd type="none" w="med" len="med"/>
            <a:tailEnd type="triangle"/>
          </a:ln>
        </p:spPr>
      </p:cxnSp>
      <p:cxnSp>
        <p:nvCxnSpPr>
          <p:cNvPr id="25" name="Straight Arrow Connector 24">
            <a:extLst>
              <a:ext uri="{FF2B5EF4-FFF2-40B4-BE49-F238E27FC236}">
                <a16:creationId xmlns:a16="http://schemas.microsoft.com/office/drawing/2014/main" id="{7031535C-A688-450F-8E04-467A4C948FCD}"/>
              </a:ext>
            </a:extLst>
          </p:cNvPr>
          <p:cNvCxnSpPr>
            <a:cxnSpLocks/>
            <a:endCxn id="20" idx="1"/>
          </p:cNvCxnSpPr>
          <p:nvPr/>
        </p:nvCxnSpPr>
        <p:spPr bwMode="auto">
          <a:xfrm flipV="1">
            <a:off x="6881812" y="1626355"/>
            <a:ext cx="942975" cy="564238"/>
          </a:xfrm>
          <a:prstGeom prst="straightConnector1">
            <a:avLst/>
          </a:prstGeom>
          <a:noFill/>
          <a:ln w="15875" cap="flat" cmpd="sng" algn="ctr">
            <a:solidFill>
              <a:srgbClr val="FF0000"/>
            </a:solidFill>
            <a:prstDash val="solid"/>
            <a:round/>
            <a:headEnd type="none" w="med" len="med"/>
            <a:tailEnd type="triangle"/>
          </a:ln>
        </p:spPr>
      </p:cxnSp>
      <p:cxnSp>
        <p:nvCxnSpPr>
          <p:cNvPr id="27" name="Straight Arrow Connector 26">
            <a:extLst>
              <a:ext uri="{FF2B5EF4-FFF2-40B4-BE49-F238E27FC236}">
                <a16:creationId xmlns:a16="http://schemas.microsoft.com/office/drawing/2014/main" id="{3DE12355-FFF9-470C-92F6-E68A5ECC0D66}"/>
              </a:ext>
            </a:extLst>
          </p:cNvPr>
          <p:cNvCxnSpPr>
            <a:cxnSpLocks/>
            <a:endCxn id="21" idx="1"/>
          </p:cNvCxnSpPr>
          <p:nvPr/>
        </p:nvCxnSpPr>
        <p:spPr bwMode="auto">
          <a:xfrm flipV="1">
            <a:off x="6917866" y="1964909"/>
            <a:ext cx="906921" cy="864016"/>
          </a:xfrm>
          <a:prstGeom prst="straightConnector1">
            <a:avLst/>
          </a:prstGeom>
          <a:noFill/>
          <a:ln w="15875" cap="flat" cmpd="sng" algn="ctr">
            <a:solidFill>
              <a:srgbClr val="FF0000"/>
            </a:solidFill>
            <a:prstDash val="solid"/>
            <a:round/>
            <a:headEnd type="none" w="med" len="med"/>
            <a:tailEnd type="triangle"/>
          </a:ln>
        </p:spPr>
      </p:cxnSp>
      <p:cxnSp>
        <p:nvCxnSpPr>
          <p:cNvPr id="29" name="Straight Arrow Connector 28">
            <a:extLst>
              <a:ext uri="{FF2B5EF4-FFF2-40B4-BE49-F238E27FC236}">
                <a16:creationId xmlns:a16="http://schemas.microsoft.com/office/drawing/2014/main" id="{CBC7E1AC-5443-4964-A3A8-21D63AD5C98D}"/>
              </a:ext>
            </a:extLst>
          </p:cNvPr>
          <p:cNvCxnSpPr>
            <a:cxnSpLocks/>
            <a:endCxn id="23" idx="1"/>
          </p:cNvCxnSpPr>
          <p:nvPr/>
        </p:nvCxnSpPr>
        <p:spPr bwMode="auto">
          <a:xfrm flipV="1">
            <a:off x="6881811" y="2642017"/>
            <a:ext cx="942976" cy="931938"/>
          </a:xfrm>
          <a:prstGeom prst="straightConnector1">
            <a:avLst/>
          </a:prstGeom>
          <a:noFill/>
          <a:ln w="15875" cap="flat" cmpd="sng" algn="ctr">
            <a:solidFill>
              <a:srgbClr val="FF0000"/>
            </a:solidFill>
            <a:prstDash val="solid"/>
            <a:round/>
            <a:headEnd type="none" w="med" len="med"/>
            <a:tailEnd type="triangle"/>
          </a:ln>
        </p:spPr>
      </p:cxnSp>
      <p:sp>
        <p:nvSpPr>
          <p:cNvPr id="31" name="TextBox 30">
            <a:extLst>
              <a:ext uri="{FF2B5EF4-FFF2-40B4-BE49-F238E27FC236}">
                <a16:creationId xmlns:a16="http://schemas.microsoft.com/office/drawing/2014/main" id="{B083235F-5751-4011-B4B0-47C82AEAD29B}"/>
              </a:ext>
            </a:extLst>
          </p:cNvPr>
          <p:cNvSpPr txBox="1"/>
          <p:nvPr/>
        </p:nvSpPr>
        <p:spPr>
          <a:xfrm>
            <a:off x="7391398" y="1175552"/>
            <a:ext cx="1646605" cy="369332"/>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Main Memory </a:t>
            </a:r>
          </a:p>
        </p:txBody>
      </p:sp>
      <p:sp>
        <p:nvSpPr>
          <p:cNvPr id="32" name="TextBox 31">
            <a:extLst>
              <a:ext uri="{FF2B5EF4-FFF2-40B4-BE49-F238E27FC236}">
                <a16:creationId xmlns:a16="http://schemas.microsoft.com/office/drawing/2014/main" id="{9DF94A18-21CD-4129-B1EA-70D299DD3A89}"/>
              </a:ext>
            </a:extLst>
          </p:cNvPr>
          <p:cNvSpPr txBox="1"/>
          <p:nvPr/>
        </p:nvSpPr>
        <p:spPr>
          <a:xfrm>
            <a:off x="6015037" y="4049954"/>
            <a:ext cx="885825" cy="338554"/>
          </a:xfrm>
          <a:prstGeom prst="rect">
            <a:avLst/>
          </a:prstGeom>
          <a:solidFill>
            <a:schemeClr val="accent3">
              <a:lumMod val="40000"/>
              <a:lumOff val="60000"/>
            </a:schemeClr>
          </a:solidFill>
          <a:ln>
            <a:solidFill>
              <a:srgbClr val="FF0000"/>
            </a:solidFill>
          </a:ln>
        </p:spPr>
        <p:txBody>
          <a:bodyPr wrap="square" rtlCol="0" anchor="ctr" anchorCtr="1">
            <a:spAutoFit/>
          </a:bodyPr>
          <a:lstStyle/>
          <a:p>
            <a:r>
              <a:rPr lang="en-US" sz="1600" dirty="0">
                <a:ea typeface="標楷體" pitchFamily="65" charset="-120"/>
                <a:cs typeface="Calibri" panose="020F07020304040A0204" pitchFamily="34" charset="0"/>
              </a:rPr>
              <a:t>VA2p5</a:t>
            </a:r>
          </a:p>
        </p:txBody>
      </p:sp>
      <p:sp>
        <p:nvSpPr>
          <p:cNvPr id="33" name="TextBox 32">
            <a:extLst>
              <a:ext uri="{FF2B5EF4-FFF2-40B4-BE49-F238E27FC236}">
                <a16:creationId xmlns:a16="http://schemas.microsoft.com/office/drawing/2014/main" id="{E15CC83E-FF81-4940-86BE-5CECCBF2ABB6}"/>
              </a:ext>
            </a:extLst>
          </p:cNvPr>
          <p:cNvSpPr txBox="1"/>
          <p:nvPr/>
        </p:nvSpPr>
        <p:spPr>
          <a:xfrm>
            <a:off x="6015036" y="4386183"/>
            <a:ext cx="885825" cy="338554"/>
          </a:xfrm>
          <a:prstGeom prst="rect">
            <a:avLst/>
          </a:prstGeom>
          <a:solidFill>
            <a:schemeClr val="accent3">
              <a:lumMod val="40000"/>
              <a:lumOff val="60000"/>
            </a:schemeClr>
          </a:solidFill>
          <a:ln>
            <a:solidFill>
              <a:srgbClr val="FF0000"/>
            </a:solidFill>
          </a:ln>
        </p:spPr>
        <p:txBody>
          <a:bodyPr wrap="square" rtlCol="0" anchor="ctr" anchorCtr="1">
            <a:spAutoFit/>
          </a:bodyPr>
          <a:lstStyle/>
          <a:p>
            <a:r>
              <a:rPr lang="en-US" sz="1600" dirty="0">
                <a:ea typeface="標楷體" pitchFamily="65" charset="-120"/>
                <a:cs typeface="Calibri" panose="020F07020304040A0204" pitchFamily="34" charset="0"/>
              </a:rPr>
              <a:t>VA2p6</a:t>
            </a:r>
          </a:p>
        </p:txBody>
      </p:sp>
      <p:sp>
        <p:nvSpPr>
          <p:cNvPr id="34" name="TextBox 33">
            <a:extLst>
              <a:ext uri="{FF2B5EF4-FFF2-40B4-BE49-F238E27FC236}">
                <a16:creationId xmlns:a16="http://schemas.microsoft.com/office/drawing/2014/main" id="{31775264-4720-4E2E-B83D-2A2252E56214}"/>
              </a:ext>
            </a:extLst>
          </p:cNvPr>
          <p:cNvSpPr txBox="1"/>
          <p:nvPr/>
        </p:nvSpPr>
        <p:spPr>
          <a:xfrm>
            <a:off x="7092636" y="3558378"/>
            <a:ext cx="2114681" cy="738664"/>
          </a:xfrm>
          <a:prstGeom prst="rect">
            <a:avLst/>
          </a:prstGeom>
          <a:noFill/>
          <a:ln>
            <a:solidFill>
              <a:srgbClr val="FF0000"/>
            </a:solidFill>
          </a:ln>
        </p:spPr>
        <p:txBody>
          <a:bodyPr wrap="none" rtlCol="0" anchor="ctr" anchorCtr="1">
            <a:spAutoFit/>
          </a:bodyPr>
          <a:lstStyle/>
          <a:p>
            <a:r>
              <a:rPr lang="en-US" sz="1400" dirty="0">
                <a:ea typeface="標楷體" pitchFamily="65" charset="-120"/>
                <a:cs typeface="Calibri" panose="020F07020304040A0204" pitchFamily="34" charset="0"/>
              </a:rPr>
              <a:t>Mapping multiple virtual </a:t>
            </a:r>
          </a:p>
          <a:p>
            <a:r>
              <a:rPr lang="en-US" sz="1400" dirty="0">
                <a:ea typeface="標楷體" pitchFamily="65" charset="-120"/>
                <a:cs typeface="Calibri" panose="020F07020304040A0204" pitchFamily="34" charset="0"/>
              </a:rPr>
              <a:t>address spaces to the</a:t>
            </a:r>
          </a:p>
          <a:p>
            <a:r>
              <a:rPr lang="en-US" sz="1400" dirty="0">
                <a:ea typeface="標楷體" pitchFamily="65" charset="-120"/>
                <a:cs typeface="Calibri" panose="020F07020304040A0204" pitchFamily="34" charset="0"/>
              </a:rPr>
              <a:t>memory </a:t>
            </a:r>
          </a:p>
        </p:txBody>
      </p:sp>
    </p:spTree>
    <p:extLst>
      <p:ext uri="{BB962C8B-B14F-4D97-AF65-F5344CB8AC3E}">
        <p14:creationId xmlns:p14="http://schemas.microsoft.com/office/powerpoint/2010/main" val="12460033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74171" y="714375"/>
            <a:ext cx="8795657" cy="3986211"/>
          </a:xfrm>
        </p:spPr>
        <p:txBody>
          <a:bodyPr/>
          <a:lstStyle/>
          <a:p>
            <a:pPr marL="0" indent="0" algn="l">
              <a:buNone/>
            </a:pPr>
            <a:r>
              <a:rPr lang="en-US" sz="2000" b="0" i="0" u="none" strike="noStrike" baseline="0" dirty="0">
                <a:latin typeface="TimesTen-Roman"/>
              </a:rPr>
              <a:t>    </a:t>
            </a:r>
          </a:p>
        </p:txBody>
      </p:sp>
      <p:sp>
        <p:nvSpPr>
          <p:cNvPr id="2" name="灯片编号占位符 1"/>
          <p:cNvSpPr>
            <a:spLocks noGrp="1"/>
          </p:cNvSpPr>
          <p:nvPr>
            <p:ph type="sldNum" sz="quarter" idx="10"/>
          </p:nvPr>
        </p:nvSpPr>
        <p:spPr/>
        <p:txBody>
          <a:bodyPr/>
          <a:lstStyle/>
          <a:p>
            <a:fld id="{D9B6BDF2-6896-4B98-8776-C18582F63BA5}" type="slidenum">
              <a:rPr lang="zh-TW" altLang="en-US" smtClean="0"/>
              <a:t>32</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771525" y="107950"/>
            <a:ext cx="8122444"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1.7.4 Files</a:t>
            </a:r>
          </a:p>
        </p:txBody>
      </p:sp>
      <p:sp>
        <p:nvSpPr>
          <p:cNvPr id="7" name="Content Placeholder 7">
            <a:extLst>
              <a:ext uri="{FF2B5EF4-FFF2-40B4-BE49-F238E27FC236}">
                <a16:creationId xmlns:a16="http://schemas.microsoft.com/office/drawing/2014/main" id="{5B628818-E06A-48D3-972B-384C202BB3BB}"/>
              </a:ext>
            </a:extLst>
          </p:cNvPr>
          <p:cNvSpPr txBox="1">
            <a:spLocks/>
          </p:cNvSpPr>
          <p:nvPr/>
        </p:nvSpPr>
        <p:spPr bwMode="auto">
          <a:xfrm>
            <a:off x="326570" y="2143125"/>
            <a:ext cx="8795657" cy="2339332"/>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endParaRPr lang="en-US" sz="2000" i="1" kern="0" dirty="0">
              <a:solidFill>
                <a:srgbClr val="FF0000"/>
              </a:solidFill>
              <a:latin typeface="TimesTen-Italic"/>
            </a:endParaRPr>
          </a:p>
          <a:p>
            <a:endParaRPr lang="en-US" sz="2000" kern="0" dirty="0">
              <a:solidFill>
                <a:srgbClr val="FF0000"/>
              </a:solidFill>
            </a:endParaRPr>
          </a:p>
        </p:txBody>
      </p:sp>
      <p:sp>
        <p:nvSpPr>
          <p:cNvPr id="10" name="Content Placeholder 7">
            <a:extLst>
              <a:ext uri="{FF2B5EF4-FFF2-40B4-BE49-F238E27FC236}">
                <a16:creationId xmlns:a16="http://schemas.microsoft.com/office/drawing/2014/main" id="{406FF8B5-923E-48F3-A830-9893698ED8C4}"/>
              </a:ext>
            </a:extLst>
          </p:cNvPr>
          <p:cNvSpPr txBox="1">
            <a:spLocks/>
          </p:cNvSpPr>
          <p:nvPr/>
        </p:nvSpPr>
        <p:spPr bwMode="auto">
          <a:xfrm>
            <a:off x="97971" y="935831"/>
            <a:ext cx="8866642" cy="3679030"/>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algn="l"/>
            <a:r>
              <a:rPr lang="en-US" sz="2200" b="0" i="0" u="none" strike="noStrike" baseline="0" dirty="0">
                <a:latin typeface="TimesTen-Roman"/>
              </a:rPr>
              <a:t>A </a:t>
            </a:r>
            <a:r>
              <a:rPr lang="en-US" sz="2200" b="0" i="1" u="none" strike="noStrike" baseline="0" dirty="0">
                <a:latin typeface="TimesTen-Italic"/>
              </a:rPr>
              <a:t>file </a:t>
            </a:r>
            <a:r>
              <a:rPr lang="en-US" sz="2200" b="0" i="0" u="none" strike="noStrike" baseline="0" dirty="0">
                <a:latin typeface="TimesTen-Roman"/>
              </a:rPr>
              <a:t>is a sequence of bytes, nothing more and nothing less. </a:t>
            </a:r>
          </a:p>
          <a:p>
            <a:pPr algn="l"/>
            <a:r>
              <a:rPr lang="en-US" sz="2200" b="0" i="0" u="none" strike="noStrike" baseline="0" dirty="0">
                <a:latin typeface="TimesTen-Roman"/>
              </a:rPr>
              <a:t>Every I/O device, including disks, keyboards, displays, and even networks, is modeled as a file. </a:t>
            </a:r>
          </a:p>
          <a:p>
            <a:pPr algn="l"/>
            <a:r>
              <a:rPr lang="en-US" sz="2200" b="0" i="0" u="none" strike="noStrike" baseline="0" dirty="0">
                <a:latin typeface="TimesTen-Roman"/>
              </a:rPr>
              <a:t>All</a:t>
            </a:r>
            <a:r>
              <a:rPr lang="en-US" sz="2200" dirty="0">
                <a:latin typeface="TimesTen-Roman"/>
              </a:rPr>
              <a:t> </a:t>
            </a:r>
            <a:r>
              <a:rPr lang="en-US" sz="2200" b="0" i="0" u="none" strike="noStrike" baseline="0" dirty="0">
                <a:latin typeface="TimesTen-Roman"/>
              </a:rPr>
              <a:t>input and output in the system is performed by reading and writing files, using a small set of system calls known as </a:t>
            </a:r>
            <a:r>
              <a:rPr lang="en-US" sz="2200" b="0" i="1" u="none" strike="noStrike" baseline="0" dirty="0">
                <a:latin typeface="TimesTen-Italic"/>
              </a:rPr>
              <a:t>Unix I/O</a:t>
            </a:r>
            <a:r>
              <a:rPr lang="en-US" sz="2200" b="0" i="0" u="none" strike="noStrike" baseline="0" dirty="0">
                <a:latin typeface="TimesTen-Roman"/>
              </a:rPr>
              <a:t>.</a:t>
            </a:r>
          </a:p>
          <a:p>
            <a:pPr lvl="1"/>
            <a:r>
              <a:rPr lang="en-US" dirty="0">
                <a:latin typeface="TimesTen-Roman"/>
              </a:rPr>
              <a:t>Basic operations: </a:t>
            </a:r>
            <a:r>
              <a:rPr lang="en-US" sz="1800" b="1" dirty="0">
                <a:latin typeface="TimesTen-Roman"/>
              </a:rPr>
              <a:t>Open(), Close(), Read(), Write(), </a:t>
            </a:r>
            <a:r>
              <a:rPr lang="en-US" sz="1800" b="1" dirty="0" err="1">
                <a:latin typeface="TimesTen-Roman"/>
              </a:rPr>
              <a:t>Lseek</a:t>
            </a:r>
            <a:r>
              <a:rPr lang="en-US" sz="1800" b="1" dirty="0">
                <a:latin typeface="TimesTen-Roman"/>
              </a:rPr>
              <a:t>()</a:t>
            </a:r>
            <a:endParaRPr lang="en-US" sz="1800" b="1" i="0" u="none" strike="noStrike" baseline="0" dirty="0">
              <a:latin typeface="TimesTen-Roman"/>
            </a:endParaRPr>
          </a:p>
          <a:p>
            <a:pPr algn="l"/>
            <a:r>
              <a:rPr lang="en-US" sz="2000" b="0" i="0" u="none" strike="noStrike" baseline="0" dirty="0">
                <a:latin typeface="TimesTen-Roman"/>
              </a:rPr>
              <a:t>This simple abstraction is very powerful because it provides applications with a uniform view of all the varied I/O devices that might be contained in the system.  For example, reading disk files does not require knowledge of the specific disk technology.</a:t>
            </a:r>
            <a:endParaRPr lang="en-US" sz="2000" i="0" u="none" strike="noStrike" baseline="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59769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FD76465-1D06-4DAF-B1F7-682D573E16AA}"/>
              </a:ext>
            </a:extLst>
          </p:cNvPr>
          <p:cNvPicPr>
            <a:picLocks noChangeAspect="1"/>
          </p:cNvPicPr>
          <p:nvPr/>
        </p:nvPicPr>
        <p:blipFill>
          <a:blip r:embed="rId3"/>
          <a:stretch>
            <a:fillRect/>
          </a:stretch>
        </p:blipFill>
        <p:spPr>
          <a:xfrm>
            <a:off x="97972" y="3162335"/>
            <a:ext cx="7500597" cy="1602685"/>
          </a:xfrm>
          <a:prstGeom prst="rect">
            <a:avLst/>
          </a:prstGeom>
        </p:spPr>
      </p:pic>
      <p:sp>
        <p:nvSpPr>
          <p:cNvPr id="8" name="Content Placeholder 7"/>
          <p:cNvSpPr>
            <a:spLocks noGrp="1"/>
          </p:cNvSpPr>
          <p:nvPr>
            <p:ph idx="1"/>
          </p:nvPr>
        </p:nvSpPr>
        <p:spPr>
          <a:xfrm>
            <a:off x="174171" y="714375"/>
            <a:ext cx="8795657" cy="3986211"/>
          </a:xfrm>
        </p:spPr>
        <p:txBody>
          <a:bodyPr/>
          <a:lstStyle/>
          <a:p>
            <a:pPr marL="0" indent="0" algn="l">
              <a:buNone/>
            </a:pPr>
            <a:r>
              <a:rPr lang="en-US" sz="2000" b="0" i="0" u="none" strike="noStrike" baseline="0" dirty="0">
                <a:latin typeface="TimesTen-Roman"/>
              </a:rPr>
              <a:t>    </a:t>
            </a:r>
          </a:p>
        </p:txBody>
      </p:sp>
      <p:sp>
        <p:nvSpPr>
          <p:cNvPr id="2" name="灯片编号占位符 1"/>
          <p:cNvSpPr>
            <a:spLocks noGrp="1"/>
          </p:cNvSpPr>
          <p:nvPr>
            <p:ph type="sldNum" sz="quarter" idx="10"/>
          </p:nvPr>
        </p:nvSpPr>
        <p:spPr/>
        <p:txBody>
          <a:bodyPr/>
          <a:lstStyle/>
          <a:p>
            <a:fld id="{D9B6BDF2-6896-4B98-8776-C18582F63BA5}" type="slidenum">
              <a:rPr lang="zh-TW" altLang="en-US" smtClean="0"/>
              <a:t>33</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771525" y="107950"/>
            <a:ext cx="8122444"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1.8 Systems Communicate with Networks</a:t>
            </a:r>
          </a:p>
        </p:txBody>
      </p:sp>
      <p:sp>
        <p:nvSpPr>
          <p:cNvPr id="10" name="Content Placeholder 7">
            <a:extLst>
              <a:ext uri="{FF2B5EF4-FFF2-40B4-BE49-F238E27FC236}">
                <a16:creationId xmlns:a16="http://schemas.microsoft.com/office/drawing/2014/main" id="{406FF8B5-923E-48F3-A830-9893698ED8C4}"/>
              </a:ext>
            </a:extLst>
          </p:cNvPr>
          <p:cNvSpPr txBox="1">
            <a:spLocks/>
          </p:cNvSpPr>
          <p:nvPr/>
        </p:nvSpPr>
        <p:spPr bwMode="auto">
          <a:xfrm>
            <a:off x="-15662" y="842299"/>
            <a:ext cx="4238285" cy="1865181"/>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algn="l"/>
            <a:r>
              <a:rPr lang="en-US" sz="2000" dirty="0">
                <a:latin typeface="TimesTen-Roman"/>
              </a:rPr>
              <a:t>M</a:t>
            </a:r>
            <a:r>
              <a:rPr lang="en-US" sz="2000" b="0" i="0" u="none" strike="noStrike" baseline="0" dirty="0">
                <a:latin typeface="TimesTen-Roman"/>
              </a:rPr>
              <a:t>odern systems are often linked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Ten-Roman"/>
                <a:ea typeface="新細明體"/>
                <a:cs typeface="+mn-cs"/>
              </a:rPr>
              <a:t>to other systems by networks</a:t>
            </a:r>
          </a:p>
          <a:p>
            <a:pPr algn="l"/>
            <a:r>
              <a:rPr lang="en-US" sz="2000" dirty="0">
                <a:latin typeface="TimesTen-Roman"/>
              </a:rPr>
              <a:t>We may run the “hello” program remotely. L</a:t>
            </a:r>
            <a:r>
              <a:rPr lang="en-US" sz="2000" b="0" i="0" u="none" strike="noStrike" baseline="0" dirty="0">
                <a:latin typeface="TimesTen-Roman"/>
              </a:rPr>
              <a:t>og in to the remote machine and run a shell, then the 5 steps in Figure 1.15 will be </a:t>
            </a:r>
          </a:p>
          <a:p>
            <a:pPr marL="0" indent="0" algn="l">
              <a:buNone/>
            </a:pPr>
            <a:r>
              <a:rPr lang="en-US" sz="2000" dirty="0">
                <a:latin typeface="TimesTen-Roman"/>
              </a:rPr>
              <a:t>    </a:t>
            </a:r>
            <a:r>
              <a:rPr lang="en-US" sz="2000" b="0" i="0" u="none" strike="noStrike" baseline="0" dirty="0">
                <a:latin typeface="TimesTen-Roman"/>
              </a:rPr>
              <a:t>involved.</a:t>
            </a:r>
          </a:p>
          <a:p>
            <a:pPr marL="0" indent="0" algn="l">
              <a:buNone/>
            </a:pPr>
            <a:r>
              <a:rPr lang="en-US" sz="2000" dirty="0">
                <a:latin typeface="TimesTen-Roman"/>
              </a:rPr>
              <a:t>   </a:t>
            </a:r>
            <a:endParaRPr lang="en-US" sz="2000" b="0" i="0" u="none" strike="noStrike" baseline="0" dirty="0">
              <a:latin typeface="TimesTen-Roman"/>
            </a:endParaRPr>
          </a:p>
          <a:p>
            <a:pPr algn="l"/>
            <a:endParaRPr lang="en-US" sz="2000" i="0" u="none" strike="noStrike" baseline="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C377162-609D-4E9D-B253-9B3242C39293}"/>
              </a:ext>
            </a:extLst>
          </p:cNvPr>
          <p:cNvPicPr>
            <a:picLocks noChangeAspect="1"/>
          </p:cNvPicPr>
          <p:nvPr/>
        </p:nvPicPr>
        <p:blipFill>
          <a:blip r:embed="rId4"/>
          <a:stretch>
            <a:fillRect/>
          </a:stretch>
        </p:blipFill>
        <p:spPr>
          <a:xfrm>
            <a:off x="3978020" y="649940"/>
            <a:ext cx="5068007" cy="2607610"/>
          </a:xfrm>
          <a:prstGeom prst="rect">
            <a:avLst/>
          </a:prstGeom>
        </p:spPr>
      </p:pic>
      <p:sp>
        <p:nvSpPr>
          <p:cNvPr id="9" name="TextBox 8">
            <a:extLst>
              <a:ext uri="{FF2B5EF4-FFF2-40B4-BE49-F238E27FC236}">
                <a16:creationId xmlns:a16="http://schemas.microsoft.com/office/drawing/2014/main" id="{9A3644C1-0902-4E08-AAB6-DDF73716F24C}"/>
              </a:ext>
            </a:extLst>
          </p:cNvPr>
          <p:cNvSpPr txBox="1"/>
          <p:nvPr/>
        </p:nvSpPr>
        <p:spPr>
          <a:xfrm>
            <a:off x="6147995" y="798236"/>
            <a:ext cx="3038909" cy="553998"/>
          </a:xfrm>
          <a:prstGeom prst="rect">
            <a:avLst/>
          </a:prstGeom>
          <a:noFill/>
        </p:spPr>
        <p:txBody>
          <a:bodyPr wrap="none" rtlCol="0" anchor="ctr" anchorCtr="1">
            <a:spAutoFit/>
          </a:bodyPr>
          <a:lstStyle/>
          <a:p>
            <a:r>
              <a:rPr lang="en-US" sz="1500" b="1" dirty="0">
                <a:ea typeface="標楷體" pitchFamily="65" charset="-120"/>
                <a:cs typeface="Calibri" panose="020F07020304040A0204" pitchFamily="34" charset="0"/>
              </a:rPr>
              <a:t>Figure 1.14</a:t>
            </a:r>
          </a:p>
          <a:p>
            <a:r>
              <a:rPr lang="en-US" sz="1500" b="1" dirty="0">
                <a:ea typeface="標楷體" pitchFamily="65" charset="-120"/>
                <a:cs typeface="Calibri" panose="020F07020304040A0204" pitchFamily="34" charset="0"/>
              </a:rPr>
              <a:t>A network is another I/O device</a:t>
            </a:r>
          </a:p>
        </p:txBody>
      </p:sp>
    </p:spTree>
    <p:extLst>
      <p:ext uri="{BB962C8B-B14F-4D97-AF65-F5344CB8AC3E}">
        <p14:creationId xmlns:p14="http://schemas.microsoft.com/office/powerpoint/2010/main" val="9108241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FD76465-1D06-4DAF-B1F7-682D573E16AA}"/>
              </a:ext>
            </a:extLst>
          </p:cNvPr>
          <p:cNvPicPr>
            <a:picLocks noChangeAspect="1"/>
          </p:cNvPicPr>
          <p:nvPr/>
        </p:nvPicPr>
        <p:blipFill>
          <a:blip r:embed="rId3"/>
          <a:stretch>
            <a:fillRect/>
          </a:stretch>
        </p:blipFill>
        <p:spPr>
          <a:xfrm>
            <a:off x="97972" y="3162335"/>
            <a:ext cx="7500597" cy="1602685"/>
          </a:xfrm>
          <a:prstGeom prst="rect">
            <a:avLst/>
          </a:prstGeom>
        </p:spPr>
      </p:pic>
      <p:sp>
        <p:nvSpPr>
          <p:cNvPr id="8" name="Content Placeholder 7"/>
          <p:cNvSpPr>
            <a:spLocks noGrp="1"/>
          </p:cNvSpPr>
          <p:nvPr>
            <p:ph idx="1"/>
          </p:nvPr>
        </p:nvSpPr>
        <p:spPr>
          <a:xfrm>
            <a:off x="174171" y="714375"/>
            <a:ext cx="8795657" cy="3986211"/>
          </a:xfrm>
        </p:spPr>
        <p:txBody>
          <a:bodyPr/>
          <a:lstStyle/>
          <a:p>
            <a:pPr marL="0" indent="0" algn="l">
              <a:buNone/>
            </a:pPr>
            <a:r>
              <a:rPr lang="en-US" sz="2000" b="0" i="0" u="none" strike="noStrike" baseline="0" dirty="0">
                <a:latin typeface="TimesTen-Roman"/>
              </a:rPr>
              <a:t>    </a:t>
            </a:r>
          </a:p>
        </p:txBody>
      </p:sp>
      <p:sp>
        <p:nvSpPr>
          <p:cNvPr id="2" name="灯片编号占位符 1"/>
          <p:cNvSpPr>
            <a:spLocks noGrp="1"/>
          </p:cNvSpPr>
          <p:nvPr>
            <p:ph type="sldNum" sz="quarter" idx="10"/>
          </p:nvPr>
        </p:nvSpPr>
        <p:spPr/>
        <p:txBody>
          <a:bodyPr/>
          <a:lstStyle/>
          <a:p>
            <a:fld id="{D9B6BDF2-6896-4B98-8776-C18582F63BA5}" type="slidenum">
              <a:rPr lang="zh-TW" altLang="en-US" smtClean="0"/>
              <a:t>34</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771525" y="107950"/>
            <a:ext cx="8122444"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1.8 Systems Communicate with Networks</a:t>
            </a:r>
          </a:p>
        </p:txBody>
      </p:sp>
      <p:sp>
        <p:nvSpPr>
          <p:cNvPr id="10" name="Content Placeholder 7">
            <a:extLst>
              <a:ext uri="{FF2B5EF4-FFF2-40B4-BE49-F238E27FC236}">
                <a16:creationId xmlns:a16="http://schemas.microsoft.com/office/drawing/2014/main" id="{406FF8B5-923E-48F3-A830-9893698ED8C4}"/>
              </a:ext>
            </a:extLst>
          </p:cNvPr>
          <p:cNvSpPr txBox="1">
            <a:spLocks/>
          </p:cNvSpPr>
          <p:nvPr/>
        </p:nvSpPr>
        <p:spPr bwMode="auto">
          <a:xfrm>
            <a:off x="-15662" y="842299"/>
            <a:ext cx="4238285" cy="1865181"/>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algn="l"/>
            <a:r>
              <a:rPr lang="en-US" sz="2000" dirty="0">
                <a:latin typeface="TimesTen-Roman"/>
              </a:rPr>
              <a:t>M</a:t>
            </a:r>
            <a:r>
              <a:rPr lang="en-US" sz="2000" b="0" i="0" u="none" strike="noStrike" baseline="0" dirty="0">
                <a:latin typeface="TimesTen-Roman"/>
              </a:rPr>
              <a:t>odern systems are often linked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Ten-Roman"/>
                <a:ea typeface="新細明體"/>
                <a:cs typeface="+mn-cs"/>
              </a:rPr>
              <a:t>to other systems by networks</a:t>
            </a:r>
          </a:p>
          <a:p>
            <a:pPr algn="l"/>
            <a:r>
              <a:rPr lang="en-US" sz="2000" dirty="0">
                <a:latin typeface="TimesTen-Roman"/>
              </a:rPr>
              <a:t>We may run the “hello” program remotely. L</a:t>
            </a:r>
            <a:r>
              <a:rPr lang="en-US" sz="2000" b="0" i="0" u="none" strike="noStrike" baseline="0" dirty="0">
                <a:latin typeface="TimesTen-Roman"/>
              </a:rPr>
              <a:t>og in to the remote machine and run a shell, then the 5 steps in Figure 1.15 will be </a:t>
            </a:r>
          </a:p>
          <a:p>
            <a:pPr marL="0" indent="0" algn="l">
              <a:buNone/>
            </a:pPr>
            <a:r>
              <a:rPr lang="en-US" sz="2000" dirty="0">
                <a:latin typeface="TimesTen-Roman"/>
              </a:rPr>
              <a:t>    </a:t>
            </a:r>
            <a:r>
              <a:rPr lang="en-US" sz="2000" b="0" i="0" u="none" strike="noStrike" baseline="0" dirty="0">
                <a:latin typeface="TimesTen-Roman"/>
              </a:rPr>
              <a:t>involved.</a:t>
            </a:r>
          </a:p>
          <a:p>
            <a:pPr marL="0" indent="0" algn="l">
              <a:buNone/>
            </a:pPr>
            <a:r>
              <a:rPr lang="en-US" sz="2000" dirty="0">
                <a:latin typeface="TimesTen-Roman"/>
              </a:rPr>
              <a:t>   </a:t>
            </a:r>
            <a:endParaRPr lang="en-US" sz="2000" b="0" i="0" u="none" strike="noStrike" baseline="0" dirty="0">
              <a:latin typeface="TimesTen-Roman"/>
            </a:endParaRPr>
          </a:p>
          <a:p>
            <a:pPr algn="l"/>
            <a:endParaRPr lang="en-US" sz="2000" i="0" u="none" strike="noStrike" baseline="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C377162-609D-4E9D-B253-9B3242C39293}"/>
              </a:ext>
            </a:extLst>
          </p:cNvPr>
          <p:cNvPicPr>
            <a:picLocks noChangeAspect="1"/>
          </p:cNvPicPr>
          <p:nvPr/>
        </p:nvPicPr>
        <p:blipFill>
          <a:blip r:embed="rId4"/>
          <a:stretch>
            <a:fillRect/>
          </a:stretch>
        </p:blipFill>
        <p:spPr>
          <a:xfrm>
            <a:off x="3978020" y="649940"/>
            <a:ext cx="5068007" cy="2607610"/>
          </a:xfrm>
          <a:prstGeom prst="rect">
            <a:avLst/>
          </a:prstGeom>
        </p:spPr>
      </p:pic>
      <p:sp>
        <p:nvSpPr>
          <p:cNvPr id="9" name="TextBox 8">
            <a:extLst>
              <a:ext uri="{FF2B5EF4-FFF2-40B4-BE49-F238E27FC236}">
                <a16:creationId xmlns:a16="http://schemas.microsoft.com/office/drawing/2014/main" id="{9A3644C1-0902-4E08-AAB6-DDF73716F24C}"/>
              </a:ext>
            </a:extLst>
          </p:cNvPr>
          <p:cNvSpPr txBox="1"/>
          <p:nvPr/>
        </p:nvSpPr>
        <p:spPr>
          <a:xfrm>
            <a:off x="6147995" y="798236"/>
            <a:ext cx="3038909" cy="553998"/>
          </a:xfrm>
          <a:prstGeom prst="rect">
            <a:avLst/>
          </a:prstGeom>
          <a:noFill/>
        </p:spPr>
        <p:txBody>
          <a:bodyPr wrap="none" rtlCol="0" anchor="ctr" anchorCtr="1">
            <a:spAutoFit/>
          </a:bodyPr>
          <a:lstStyle/>
          <a:p>
            <a:r>
              <a:rPr lang="en-US" sz="1500" b="1" dirty="0">
                <a:ea typeface="標楷體" pitchFamily="65" charset="-120"/>
                <a:cs typeface="Calibri" panose="020F07020304040A0204" pitchFamily="34" charset="0"/>
              </a:rPr>
              <a:t>Figure 1.14</a:t>
            </a:r>
          </a:p>
          <a:p>
            <a:r>
              <a:rPr lang="en-US" sz="1500" b="1" dirty="0">
                <a:ea typeface="標楷體" pitchFamily="65" charset="-120"/>
                <a:cs typeface="Calibri" panose="020F07020304040A0204" pitchFamily="34" charset="0"/>
              </a:rPr>
              <a:t>A network is another I/O device</a:t>
            </a:r>
          </a:p>
        </p:txBody>
      </p:sp>
      <p:sp>
        <p:nvSpPr>
          <p:cNvPr id="11" name="TextBox 10">
            <a:extLst>
              <a:ext uri="{FF2B5EF4-FFF2-40B4-BE49-F238E27FC236}">
                <a16:creationId xmlns:a16="http://schemas.microsoft.com/office/drawing/2014/main" id="{59C3EBA5-D4EA-4FAE-B63D-9F0D2F9DE118}"/>
              </a:ext>
            </a:extLst>
          </p:cNvPr>
          <p:cNvSpPr txBox="1"/>
          <p:nvPr/>
        </p:nvSpPr>
        <p:spPr>
          <a:xfrm>
            <a:off x="1808826" y="3344862"/>
            <a:ext cx="3334674" cy="954107"/>
          </a:xfrm>
          <a:prstGeom prst="rect">
            <a:avLst/>
          </a:prstGeom>
          <a:solidFill>
            <a:srgbClr val="FFFF00"/>
          </a:solidFill>
          <a:ln>
            <a:solidFill>
              <a:srgbClr val="FF0000"/>
            </a:solidFill>
          </a:ln>
        </p:spPr>
        <p:txBody>
          <a:bodyPr wrap="square" rtlCol="0" anchor="ctr" anchorCtr="1">
            <a:spAutoFit/>
          </a:bodyPr>
          <a:lstStyle/>
          <a:p>
            <a:r>
              <a:rPr lang="en-US" sz="1400" dirty="0">
                <a:ea typeface="標楷體" pitchFamily="65" charset="-120"/>
                <a:cs typeface="Calibri" panose="020F07020304040A0204" pitchFamily="34" charset="0"/>
              </a:rPr>
              <a:t>Telnet has been replaced by SSH due to security requirements. SSH uses </a:t>
            </a:r>
            <a:r>
              <a:rPr lang="en-US" sz="1400" b="0" i="0" dirty="0">
                <a:solidFill>
                  <a:srgbClr val="374151"/>
                </a:solidFill>
                <a:effectLst/>
                <a:latin typeface="ui-sans-serif"/>
              </a:rPr>
              <a:t>encryption to create a secure tunnel, so all the SSH sessions are secure.</a:t>
            </a:r>
            <a:endParaRPr lang="en-US" sz="1400" dirty="0">
              <a:ea typeface="標楷體" pitchFamily="65" charset="-120"/>
              <a:cs typeface="Calibri" panose="020F07020304040A0204" pitchFamily="34" charset="0"/>
            </a:endParaRPr>
          </a:p>
        </p:txBody>
      </p:sp>
    </p:spTree>
    <p:extLst>
      <p:ext uri="{BB962C8B-B14F-4D97-AF65-F5344CB8AC3E}">
        <p14:creationId xmlns:p14="http://schemas.microsoft.com/office/powerpoint/2010/main" val="1670657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74171" y="714375"/>
            <a:ext cx="8795657" cy="3986211"/>
          </a:xfrm>
        </p:spPr>
        <p:txBody>
          <a:bodyPr/>
          <a:lstStyle/>
          <a:p>
            <a:pPr marL="0" indent="0" algn="l">
              <a:buNone/>
            </a:pPr>
            <a:r>
              <a:rPr lang="en-US" sz="2000" b="0" i="0" u="none" strike="noStrike" baseline="0" dirty="0">
                <a:latin typeface="TimesTen-Roman"/>
              </a:rPr>
              <a:t>    </a:t>
            </a:r>
          </a:p>
        </p:txBody>
      </p:sp>
      <p:sp>
        <p:nvSpPr>
          <p:cNvPr id="2" name="灯片编号占位符 1"/>
          <p:cNvSpPr>
            <a:spLocks noGrp="1"/>
          </p:cNvSpPr>
          <p:nvPr>
            <p:ph type="sldNum" sz="quarter" idx="10"/>
          </p:nvPr>
        </p:nvSpPr>
        <p:spPr/>
        <p:txBody>
          <a:bodyPr/>
          <a:lstStyle/>
          <a:p>
            <a:fld id="{D9B6BDF2-6896-4B98-8776-C18582F63BA5}" type="slidenum">
              <a:rPr lang="zh-TW" altLang="en-US" smtClean="0"/>
              <a:t>35</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771525" y="107950"/>
            <a:ext cx="8122444"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1.9 Important Themes</a:t>
            </a:r>
          </a:p>
        </p:txBody>
      </p:sp>
      <p:sp>
        <p:nvSpPr>
          <p:cNvPr id="7" name="Content Placeholder 7">
            <a:extLst>
              <a:ext uri="{FF2B5EF4-FFF2-40B4-BE49-F238E27FC236}">
                <a16:creationId xmlns:a16="http://schemas.microsoft.com/office/drawing/2014/main" id="{5B628818-E06A-48D3-972B-384C202BB3BB}"/>
              </a:ext>
            </a:extLst>
          </p:cNvPr>
          <p:cNvSpPr txBox="1">
            <a:spLocks/>
          </p:cNvSpPr>
          <p:nvPr/>
        </p:nvSpPr>
        <p:spPr bwMode="auto">
          <a:xfrm>
            <a:off x="326570" y="2143125"/>
            <a:ext cx="8795657" cy="2339332"/>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endParaRPr lang="en-US" sz="2000" i="1" kern="0" dirty="0">
              <a:solidFill>
                <a:srgbClr val="FF0000"/>
              </a:solidFill>
              <a:latin typeface="TimesTen-Italic"/>
            </a:endParaRPr>
          </a:p>
          <a:p>
            <a:endParaRPr lang="en-US" sz="2000" kern="0" dirty="0">
              <a:solidFill>
                <a:srgbClr val="FF0000"/>
              </a:solidFill>
            </a:endParaRPr>
          </a:p>
        </p:txBody>
      </p:sp>
      <p:sp>
        <p:nvSpPr>
          <p:cNvPr id="10" name="Content Placeholder 7">
            <a:extLst>
              <a:ext uri="{FF2B5EF4-FFF2-40B4-BE49-F238E27FC236}">
                <a16:creationId xmlns:a16="http://schemas.microsoft.com/office/drawing/2014/main" id="{406FF8B5-923E-48F3-A830-9893698ED8C4}"/>
              </a:ext>
            </a:extLst>
          </p:cNvPr>
          <p:cNvSpPr txBox="1">
            <a:spLocks/>
          </p:cNvSpPr>
          <p:nvPr/>
        </p:nvSpPr>
        <p:spPr bwMode="auto">
          <a:xfrm>
            <a:off x="97971" y="935831"/>
            <a:ext cx="8866642" cy="3679030"/>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algn="l"/>
            <a:r>
              <a:rPr lang="en-US" sz="2000" dirty="0">
                <a:latin typeface="TimesTen-Roman"/>
              </a:rPr>
              <a:t>A system is a </a:t>
            </a:r>
            <a:r>
              <a:rPr lang="en-US" sz="2000" b="0" i="0" u="none" strike="noStrike" baseline="0" dirty="0">
                <a:latin typeface="TimesTen-Roman"/>
              </a:rPr>
              <a:t>collection of intertwined hardware and system software that must cooperate to achieve the goal of running application programs. </a:t>
            </a:r>
          </a:p>
          <a:p>
            <a:pPr algn="l"/>
            <a:r>
              <a:rPr lang="en-US" sz="2000" dirty="0">
                <a:latin typeface="TimesTen-Roman"/>
                <a:cs typeface="Times New Roman" panose="02020603050405020304" pitchFamily="18" charset="0"/>
              </a:rPr>
              <a:t>By knowing </a:t>
            </a:r>
            <a:r>
              <a:rPr lang="en-US" sz="2000" b="0" i="0" u="none" strike="noStrike" baseline="0" dirty="0">
                <a:latin typeface="TimesTen-Roman"/>
              </a:rPr>
              <a:t>the details of a system, you can write faster, more reliable, and more secure programs.</a:t>
            </a:r>
          </a:p>
          <a:p>
            <a:pPr algn="l"/>
            <a:r>
              <a:rPr lang="en-US" sz="2000" dirty="0">
                <a:latin typeface="TimesTen-Roman"/>
              </a:rPr>
              <a:t>S</a:t>
            </a:r>
            <a:r>
              <a:rPr lang="en-US" sz="2000" b="0" i="0" u="none" strike="noStrike" baseline="0" dirty="0">
                <a:latin typeface="TimesTen-Roman"/>
              </a:rPr>
              <a:t>everal important concepts that cut across all aspects of computer systems</a:t>
            </a:r>
          </a:p>
          <a:p>
            <a:pPr lvl="1"/>
            <a:r>
              <a:rPr lang="en-US" sz="1800" i="0" u="none" strike="noStrike" baseline="0" dirty="0">
                <a:latin typeface="Times New Roman" panose="02020603050405020304" pitchFamily="18" charset="0"/>
                <a:cs typeface="Times New Roman" panose="02020603050405020304" pitchFamily="18" charset="0"/>
              </a:rPr>
              <a:t>Amdahl’s Law</a:t>
            </a:r>
          </a:p>
          <a:p>
            <a:pPr lvl="1"/>
            <a:r>
              <a:rPr lang="en-US" sz="1800" dirty="0">
                <a:latin typeface="Times New Roman" panose="02020603050405020304" pitchFamily="18" charset="0"/>
                <a:cs typeface="Times New Roman" panose="02020603050405020304" pitchFamily="18" charset="0"/>
              </a:rPr>
              <a:t>Concurrency and Parallelism</a:t>
            </a:r>
          </a:p>
          <a:p>
            <a:pPr lvl="1"/>
            <a:r>
              <a:rPr lang="en-US" sz="1800" b="0" i="0" u="none" strike="noStrike" baseline="0" dirty="0">
                <a:latin typeface="StoneSans"/>
              </a:rPr>
              <a:t>Instruction-Level Parallelism</a:t>
            </a:r>
          </a:p>
          <a:p>
            <a:pPr lvl="1"/>
            <a:r>
              <a:rPr lang="en-US" sz="1800" b="0" i="0" u="none" strike="noStrike" baseline="0" dirty="0">
                <a:latin typeface="StoneSans"/>
              </a:rPr>
              <a:t>Single-Instruction, Multiple-Data (SIMD) Parallelism</a:t>
            </a:r>
          </a:p>
          <a:p>
            <a:pPr lvl="1"/>
            <a:r>
              <a:rPr lang="en-US" sz="1800" dirty="0">
                <a:latin typeface="StoneSans"/>
                <a:cs typeface="Times New Roman" panose="02020603050405020304" pitchFamily="18" charset="0"/>
              </a:rPr>
              <a:t>Abstractions</a:t>
            </a:r>
            <a:endParaRPr lang="en-US" sz="1800" i="0" u="none" strike="noStrike" baseline="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35496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74171" y="714375"/>
            <a:ext cx="8795657" cy="3986211"/>
          </a:xfrm>
        </p:spPr>
        <p:txBody>
          <a:bodyPr/>
          <a:lstStyle/>
          <a:p>
            <a:pPr marL="0" indent="0" algn="l">
              <a:buNone/>
            </a:pPr>
            <a:r>
              <a:rPr lang="en-US" sz="2000" b="0" i="0" u="none" strike="noStrike" baseline="0" dirty="0">
                <a:latin typeface="TimesTen-Roman"/>
              </a:rPr>
              <a:t>    </a:t>
            </a:r>
          </a:p>
        </p:txBody>
      </p:sp>
      <p:sp>
        <p:nvSpPr>
          <p:cNvPr id="2" name="灯片编号占位符 1"/>
          <p:cNvSpPr>
            <a:spLocks noGrp="1"/>
          </p:cNvSpPr>
          <p:nvPr>
            <p:ph type="sldNum" sz="quarter" idx="10"/>
          </p:nvPr>
        </p:nvSpPr>
        <p:spPr/>
        <p:txBody>
          <a:bodyPr/>
          <a:lstStyle/>
          <a:p>
            <a:fld id="{D9B6BDF2-6896-4B98-8776-C18582F63BA5}" type="slidenum">
              <a:rPr lang="zh-TW" altLang="en-US" smtClean="0"/>
              <a:t>36</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771525" y="107950"/>
            <a:ext cx="8122444"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1.9.1 Amdahl’s Law</a:t>
            </a:r>
          </a:p>
        </p:txBody>
      </p:sp>
      <p:sp>
        <p:nvSpPr>
          <p:cNvPr id="7" name="Content Placeholder 7">
            <a:extLst>
              <a:ext uri="{FF2B5EF4-FFF2-40B4-BE49-F238E27FC236}">
                <a16:creationId xmlns:a16="http://schemas.microsoft.com/office/drawing/2014/main" id="{5B628818-E06A-48D3-972B-384C202BB3BB}"/>
              </a:ext>
            </a:extLst>
          </p:cNvPr>
          <p:cNvSpPr txBox="1">
            <a:spLocks/>
          </p:cNvSpPr>
          <p:nvPr/>
        </p:nvSpPr>
        <p:spPr bwMode="auto">
          <a:xfrm>
            <a:off x="326570" y="2659062"/>
            <a:ext cx="8795657" cy="1119982"/>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endParaRPr lang="en-US" sz="2000" i="1" kern="0" dirty="0">
              <a:solidFill>
                <a:srgbClr val="FF0000"/>
              </a:solidFill>
              <a:latin typeface="TimesTen-Italic"/>
            </a:endParaRPr>
          </a:p>
          <a:p>
            <a:endParaRPr lang="en-US" sz="2000" kern="0" dirty="0">
              <a:solidFill>
                <a:srgbClr val="FF0000"/>
              </a:solidFill>
            </a:endParaRPr>
          </a:p>
        </p:txBody>
      </p:sp>
      <mc:AlternateContent xmlns:mc="http://schemas.openxmlformats.org/markup-compatibility/2006" xmlns:a14="http://schemas.microsoft.com/office/drawing/2010/main">
        <mc:Choice Requires="a14">
          <p:sp>
            <p:nvSpPr>
              <p:cNvPr id="10" name="Content Placeholder 7">
                <a:extLst>
                  <a:ext uri="{FF2B5EF4-FFF2-40B4-BE49-F238E27FC236}">
                    <a16:creationId xmlns:a16="http://schemas.microsoft.com/office/drawing/2014/main" id="{406FF8B5-923E-48F3-A830-9893698ED8C4}"/>
                  </a:ext>
                </a:extLst>
              </p:cNvPr>
              <p:cNvSpPr txBox="1">
                <a:spLocks/>
              </p:cNvSpPr>
              <p:nvPr/>
            </p:nvSpPr>
            <p:spPr bwMode="auto">
              <a:xfrm>
                <a:off x="1169534" y="2371254"/>
                <a:ext cx="6209960" cy="488307"/>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457176" lvl="1" indent="0">
                  <a:buClr>
                    <a:srgbClr val="0000FF"/>
                  </a:buClr>
                  <a:buNone/>
                  <a:defRPr/>
                </a:pPr>
                <a14:m>
                  <m:oMath xmlns:m="http://schemas.openxmlformats.org/officeDocument/2006/math">
                    <m:sSub>
                      <m:sSubPr>
                        <m:ctrlPr>
                          <a:rPr kumimoji="0" lang="pt-BR" sz="2400" i="1" smtClean="0">
                            <a:solidFill>
                              <a:srgbClr val="FF0000"/>
                            </a:solidFill>
                            <a:latin typeface="Cambria Math" panose="02040503050406030204" pitchFamily="18" charset="0"/>
                            <a:cs typeface="Calibri" panose="020F0502020204030204" pitchFamily="34" charset="0"/>
                          </a:rPr>
                        </m:ctrlPr>
                      </m:sSubPr>
                      <m:e>
                        <m:r>
                          <a:rPr kumimoji="0" lang="en-US" sz="2400" i="1">
                            <a:solidFill>
                              <a:srgbClr val="FF0000"/>
                            </a:solidFill>
                            <a:latin typeface="Cambria Math" panose="02040503050406030204" pitchFamily="18" charset="0"/>
                            <a:cs typeface="Calibri" panose="020F0502020204030204" pitchFamily="34" charset="0"/>
                          </a:rPr>
                          <m:t>𝑇</m:t>
                        </m:r>
                      </m:e>
                      <m:sub>
                        <m:r>
                          <a:rPr kumimoji="0" lang="en-US" sz="2400" b="0" i="1" smtClean="0">
                            <a:solidFill>
                              <a:srgbClr val="FF0000"/>
                            </a:solidFill>
                            <a:latin typeface="Cambria Math" panose="02040503050406030204" pitchFamily="18" charset="0"/>
                            <a:cs typeface="Calibri" panose="020F0502020204030204" pitchFamily="34" charset="0"/>
                          </a:rPr>
                          <m:t>𝑛𝑒𝑤</m:t>
                        </m:r>
                        <m:r>
                          <a:rPr kumimoji="0" lang="en-US" sz="2400" b="0" i="1" smtClean="0">
                            <a:solidFill>
                              <a:srgbClr val="FF0000"/>
                            </a:solidFill>
                            <a:latin typeface="Cambria Math" panose="02040503050406030204" pitchFamily="18" charset="0"/>
                            <a:cs typeface="Calibri" panose="020F0502020204030204" pitchFamily="34" charset="0"/>
                          </a:rPr>
                          <m:t>  </m:t>
                        </m:r>
                      </m:sub>
                    </m:sSub>
                  </m:oMath>
                </a14:m>
                <a:r>
                  <a:rPr kumimoji="1" lang="en-US" sz="2400" b="0" i="1" u="none" strike="noStrike" kern="0" cap="none" spc="0" normalizeH="0" baseline="0" noProof="0" dirty="0">
                    <a:ln>
                      <a:noFill/>
                    </a:ln>
                    <a:solidFill>
                      <a:srgbClr val="FF0000"/>
                    </a:solidFill>
                    <a:effectLst/>
                    <a:uLnTx/>
                    <a:uFillTx/>
                    <a:cs typeface="Calibri" panose="020F0502020204030204" pitchFamily="34" charset="0"/>
                  </a:rPr>
                  <a:t>=  </a:t>
                </a:r>
                <a14:m>
                  <m:oMath xmlns:m="http://schemas.openxmlformats.org/officeDocument/2006/math">
                    <m:d>
                      <m:dPr>
                        <m:ctrlPr>
                          <a:rPr kumimoji="0" lang="en-US" sz="2400" b="0" i="1" smtClean="0">
                            <a:solidFill>
                              <a:srgbClr val="FF0000"/>
                            </a:solidFill>
                            <a:latin typeface="Cambria Math" panose="02040503050406030204" pitchFamily="18" charset="0"/>
                            <a:cs typeface="Calibri" panose="020F0502020204030204" pitchFamily="34" charset="0"/>
                          </a:rPr>
                        </m:ctrlPr>
                      </m:dPr>
                      <m:e>
                        <m:r>
                          <a:rPr kumimoji="0" lang="en-US" sz="2400" b="0" i="1" smtClean="0">
                            <a:solidFill>
                              <a:srgbClr val="FF0000"/>
                            </a:solidFill>
                            <a:latin typeface="Cambria Math" panose="02040503050406030204" pitchFamily="18" charset="0"/>
                            <a:cs typeface="Calibri" panose="020F0502020204030204" pitchFamily="34" charset="0"/>
                          </a:rPr>
                          <m:t>1−</m:t>
                        </m:r>
                        <m:r>
                          <m:rPr>
                            <m:nor/>
                          </m:rPr>
                          <a:rPr lang="en-US" sz="2400" i="1" kern="0" dirty="0">
                            <a:solidFill>
                              <a:srgbClr val="FF0000"/>
                            </a:solidFill>
                            <a:latin typeface="Symbol" panose="05050102010706020507" pitchFamily="18" charset="2"/>
                            <a:ea typeface="新細明體"/>
                            <a:cs typeface="Calibri" panose="020F0502020204030204" pitchFamily="34" charset="0"/>
                          </a:rPr>
                          <m:t>a</m:t>
                        </m:r>
                      </m:e>
                    </m:d>
                    <m:sSub>
                      <m:sSubPr>
                        <m:ctrlPr>
                          <a:rPr kumimoji="0" lang="pt-BR" sz="2400" i="1">
                            <a:solidFill>
                              <a:srgbClr val="FF0000"/>
                            </a:solidFill>
                            <a:latin typeface="Cambria Math" panose="02040503050406030204" pitchFamily="18" charset="0"/>
                            <a:cs typeface="Calibri" panose="020F0502020204030204" pitchFamily="34" charset="0"/>
                          </a:rPr>
                        </m:ctrlPr>
                      </m:sSubPr>
                      <m:e>
                        <m:r>
                          <a:rPr kumimoji="0" lang="en-US" sz="2400" b="0" i="1" smtClean="0">
                            <a:solidFill>
                              <a:srgbClr val="FF0000"/>
                            </a:solidFill>
                            <a:latin typeface="Cambria Math" panose="02040503050406030204" pitchFamily="18" charset="0"/>
                            <a:cs typeface="Calibri" panose="020F0502020204030204" pitchFamily="34" charset="0"/>
                          </a:rPr>
                          <m:t> </m:t>
                        </m:r>
                        <m:r>
                          <a:rPr kumimoji="0" lang="en-US" sz="2400" i="1">
                            <a:solidFill>
                              <a:srgbClr val="FF0000"/>
                            </a:solidFill>
                            <a:latin typeface="Cambria Math" panose="02040503050406030204" pitchFamily="18" charset="0"/>
                            <a:cs typeface="Calibri" panose="020F0502020204030204" pitchFamily="34" charset="0"/>
                          </a:rPr>
                          <m:t>𝑇</m:t>
                        </m:r>
                      </m:e>
                      <m:sub>
                        <m:r>
                          <a:rPr kumimoji="0" lang="en-US" sz="2400" b="0" i="1" smtClean="0">
                            <a:solidFill>
                              <a:srgbClr val="FF0000"/>
                            </a:solidFill>
                            <a:latin typeface="Cambria Math" panose="02040503050406030204" pitchFamily="18" charset="0"/>
                            <a:cs typeface="Calibri" panose="020F0502020204030204" pitchFamily="34" charset="0"/>
                          </a:rPr>
                          <m:t>𝑜𝑙𝑑</m:t>
                        </m:r>
                        <m:r>
                          <a:rPr kumimoji="0" lang="en-US" sz="2400" b="0" i="1" smtClean="0">
                            <a:solidFill>
                              <a:srgbClr val="FF0000"/>
                            </a:solidFill>
                            <a:latin typeface="Cambria Math" panose="02040503050406030204" pitchFamily="18" charset="0"/>
                            <a:cs typeface="Calibri" panose="020F0502020204030204" pitchFamily="34" charset="0"/>
                          </a:rPr>
                          <m:t>   </m:t>
                        </m:r>
                      </m:sub>
                    </m:sSub>
                  </m:oMath>
                </a14:m>
                <a:r>
                  <a:rPr kumimoji="1" lang="en-US" sz="2400" b="0" i="1" u="none" strike="noStrike" kern="0" cap="none" spc="0" normalizeH="0" baseline="0" noProof="0" dirty="0">
                    <a:ln>
                      <a:noFill/>
                    </a:ln>
                    <a:solidFill>
                      <a:srgbClr val="FF0000"/>
                    </a:solidFill>
                    <a:effectLst/>
                    <a:uLnTx/>
                    <a:uFillTx/>
                    <a:cs typeface="Calibri" panose="020F0502020204030204" pitchFamily="34" charset="0"/>
                  </a:rPr>
                  <a:t>+ </a:t>
                </a:r>
                <a:r>
                  <a:rPr lang="en-US" sz="2400" i="1" kern="0" dirty="0">
                    <a:solidFill>
                      <a:srgbClr val="FF0000"/>
                    </a:solidFill>
                    <a:latin typeface="Symbol" panose="05050102010706020507" pitchFamily="18" charset="2"/>
                    <a:ea typeface="新細明體"/>
                    <a:cs typeface="Calibri" panose="020F0502020204030204" pitchFamily="34" charset="0"/>
                  </a:rPr>
                  <a:t>a</a:t>
                </a:r>
                <a:r>
                  <a:rPr lang="en-US" sz="2400" i="1" kern="0" dirty="0">
                    <a:solidFill>
                      <a:srgbClr val="FF0000"/>
                    </a:solidFill>
                    <a:latin typeface="+mn-lt"/>
                    <a:ea typeface="新細明體"/>
                    <a:cs typeface="Calibri" panose="020F0502020204030204" pitchFamily="34" charset="0"/>
                  </a:rPr>
                  <a:t>(</a:t>
                </a:r>
                <a14:m>
                  <m:oMath xmlns:m="http://schemas.openxmlformats.org/officeDocument/2006/math">
                    <m:sSub>
                      <m:sSubPr>
                        <m:ctrlPr>
                          <a:rPr kumimoji="0" lang="pt-BR" sz="2400" i="1" smtClean="0">
                            <a:solidFill>
                              <a:srgbClr val="FF0000"/>
                            </a:solidFill>
                            <a:latin typeface="Cambria Math" panose="02040503050406030204" pitchFamily="18" charset="0"/>
                            <a:cs typeface="Calibri" panose="020F0502020204030204" pitchFamily="34" charset="0"/>
                          </a:rPr>
                        </m:ctrlPr>
                      </m:sSubPr>
                      <m:e>
                        <m:r>
                          <a:rPr kumimoji="0" lang="en-US" sz="2400" i="1">
                            <a:solidFill>
                              <a:srgbClr val="FF0000"/>
                            </a:solidFill>
                            <a:latin typeface="Cambria Math" panose="02040503050406030204" pitchFamily="18" charset="0"/>
                            <a:cs typeface="Calibri" panose="020F0502020204030204" pitchFamily="34" charset="0"/>
                          </a:rPr>
                          <m:t> </m:t>
                        </m:r>
                        <m:r>
                          <a:rPr kumimoji="0" lang="en-US" sz="2400" i="1">
                            <a:solidFill>
                              <a:srgbClr val="FF0000"/>
                            </a:solidFill>
                            <a:latin typeface="Cambria Math" panose="02040503050406030204" pitchFamily="18" charset="0"/>
                            <a:cs typeface="Calibri" panose="020F0502020204030204" pitchFamily="34" charset="0"/>
                          </a:rPr>
                          <m:t>𝑇</m:t>
                        </m:r>
                      </m:e>
                      <m:sub>
                        <m:r>
                          <a:rPr kumimoji="0" lang="en-US" sz="2400" i="1">
                            <a:solidFill>
                              <a:srgbClr val="FF0000"/>
                            </a:solidFill>
                            <a:latin typeface="Cambria Math" panose="02040503050406030204" pitchFamily="18" charset="0"/>
                            <a:cs typeface="Calibri" panose="020F0502020204030204" pitchFamily="34" charset="0"/>
                          </a:rPr>
                          <m:t>𝑜𝑙𝑑</m:t>
                        </m:r>
                        <m:r>
                          <a:rPr kumimoji="0" lang="en-US" sz="2400" i="1">
                            <a:solidFill>
                              <a:srgbClr val="FF0000"/>
                            </a:solidFill>
                            <a:latin typeface="Cambria Math" panose="02040503050406030204" pitchFamily="18" charset="0"/>
                            <a:cs typeface="Calibri" panose="020F0502020204030204" pitchFamily="34" charset="0"/>
                          </a:rPr>
                          <m:t>   </m:t>
                        </m:r>
                      </m:sub>
                    </m:sSub>
                  </m:oMath>
                </a14:m>
                <a:r>
                  <a:rPr kumimoji="1" lang="en-US" sz="2400" b="0" i="1" u="none" strike="noStrike" kern="0" cap="none" spc="0" normalizeH="0" baseline="0" noProof="0" dirty="0">
                    <a:ln>
                      <a:noFill/>
                    </a:ln>
                    <a:solidFill>
                      <a:srgbClr val="FF0000"/>
                    </a:solidFill>
                    <a:effectLst/>
                    <a:uLnTx/>
                    <a:uFillTx/>
                    <a:latin typeface="+mn-lt"/>
                    <a:cs typeface="Calibri" panose="020F0502020204030204" pitchFamily="34" charset="0"/>
                  </a:rPr>
                  <a:t>)/</a:t>
                </a:r>
                <a:r>
                  <a:rPr kumimoji="1" lang="en-US" sz="2400" b="0" u="none" strike="noStrike" kern="0" cap="none" spc="0" normalizeH="0" baseline="0" noProof="0" dirty="0">
                    <a:ln>
                      <a:noFill/>
                    </a:ln>
                    <a:solidFill>
                      <a:srgbClr val="FF0000"/>
                    </a:solidFill>
                    <a:effectLst/>
                    <a:uLnTx/>
                    <a:uFillTx/>
                    <a:latin typeface="+mn-lt"/>
                    <a:cs typeface="Calibri" panose="020F0502020204030204" pitchFamily="34" charset="0"/>
                  </a:rPr>
                  <a:t>k</a:t>
                </a:r>
                <a:r>
                  <a:rPr kumimoji="1" lang="en-US" sz="2400" b="0" i="1" u="none" strike="noStrike" kern="0" cap="none" spc="0" normalizeH="0" baseline="0" noProof="0" dirty="0">
                    <a:ln>
                      <a:noFill/>
                    </a:ln>
                    <a:solidFill>
                      <a:srgbClr val="FF0000"/>
                    </a:solidFill>
                    <a:effectLst/>
                    <a:uLnTx/>
                    <a:uFillTx/>
                    <a:latin typeface="+mn-lt"/>
                    <a:cs typeface="Calibri" panose="020F0502020204030204" pitchFamily="34" charset="0"/>
                  </a:rPr>
                  <a:t> </a:t>
                </a:r>
                <a:endParaRPr lang="en-US" sz="2400" i="1" kern="0" dirty="0">
                  <a:solidFill>
                    <a:prstClr val="black"/>
                  </a:solidFill>
                  <a:latin typeface="+mn-lt"/>
                  <a:cs typeface="Calibri" panose="020F0502020204030204" pitchFamily="34" charset="0"/>
                </a:endParaRPr>
              </a:p>
            </p:txBody>
          </p:sp>
        </mc:Choice>
        <mc:Fallback xmlns="">
          <p:sp>
            <p:nvSpPr>
              <p:cNvPr id="10" name="Content Placeholder 7">
                <a:extLst>
                  <a:ext uri="{FF2B5EF4-FFF2-40B4-BE49-F238E27FC236}">
                    <a16:creationId xmlns:a16="http://schemas.microsoft.com/office/drawing/2014/main" id="{406FF8B5-923E-48F3-A830-9893698ED8C4}"/>
                  </a:ext>
                </a:extLst>
              </p:cNvPr>
              <p:cNvSpPr txBox="1">
                <a:spLocks noRot="1" noChangeAspect="1" noMove="1" noResize="1" noEditPoints="1" noAdjustHandles="1" noChangeArrowheads="1" noChangeShapeType="1" noTextEdit="1"/>
              </p:cNvSpPr>
              <p:nvPr/>
            </p:nvSpPr>
            <p:spPr bwMode="auto">
              <a:xfrm>
                <a:off x="1169534" y="2371254"/>
                <a:ext cx="6209960" cy="488307"/>
              </a:xfrm>
              <a:prstGeom prst="rect">
                <a:avLst/>
              </a:prstGeom>
              <a:blipFill>
                <a:blip r:embed="rId3"/>
                <a:stretch>
                  <a:fillRect t="-12500" b="-22500"/>
                </a:stretch>
              </a:blipFill>
              <a:ln w="9525">
                <a:noFill/>
                <a:miter lim="800000"/>
              </a:ln>
            </p:spPr>
            <p:txBody>
              <a:bodyPr/>
              <a:lstStyle/>
              <a:p>
                <a:r>
                  <a:rPr lang="en-US">
                    <a:noFill/>
                  </a:rPr>
                  <a:t> </a:t>
                </a:r>
              </a:p>
            </p:txBody>
          </p:sp>
        </mc:Fallback>
      </mc:AlternateContent>
      <p:sp>
        <p:nvSpPr>
          <p:cNvPr id="9" name="Content Placeholder 7">
            <a:extLst>
              <a:ext uri="{FF2B5EF4-FFF2-40B4-BE49-F238E27FC236}">
                <a16:creationId xmlns:a16="http://schemas.microsoft.com/office/drawing/2014/main" id="{0E4BDC23-6201-4FF0-B2AA-716DD18F9074}"/>
              </a:ext>
            </a:extLst>
          </p:cNvPr>
          <p:cNvSpPr txBox="1">
            <a:spLocks/>
          </p:cNvSpPr>
          <p:nvPr/>
        </p:nvSpPr>
        <p:spPr bwMode="auto">
          <a:xfrm>
            <a:off x="138678" y="726675"/>
            <a:ext cx="8866642" cy="1635919"/>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algn="l"/>
            <a:r>
              <a:rPr lang="en-US" sz="2000" b="0" i="0" u="none" strike="noStrike" baseline="0" dirty="0">
                <a:latin typeface="TimesTen-Roman"/>
              </a:rPr>
              <a:t>Gene Amdahl made </a:t>
            </a:r>
            <a:r>
              <a:rPr lang="en-US" sz="2000" dirty="0">
                <a:latin typeface="TimesTen-Roman"/>
              </a:rPr>
              <a:t>a simple but insightful observation about the effectiveness of improving the performance of one part of a system.</a:t>
            </a:r>
          </a:p>
          <a:p>
            <a:pPr algn="l"/>
            <a:r>
              <a:rPr lang="en-US" sz="2000" dirty="0">
                <a:latin typeface="TimesTen-Roman"/>
              </a:rPr>
              <a:t> </a:t>
            </a:r>
            <a:r>
              <a:rPr lang="en-US" sz="2000" b="0" i="0" u="none" strike="noStrike" baseline="0" dirty="0">
                <a:latin typeface="TimesTen-Roman"/>
              </a:rPr>
              <a:t>Consider a system in which executing some application requires time </a:t>
            </a:r>
            <a:r>
              <a:rPr lang="en-US" sz="2000" b="0" i="1" u="none" strike="noStrike" baseline="0" dirty="0">
                <a:latin typeface="MTMIZ"/>
              </a:rPr>
              <a:t>T</a:t>
            </a:r>
            <a:r>
              <a:rPr lang="en-US" sz="2000" b="0" i="0" u="none" strike="noStrike" baseline="0" dirty="0">
                <a:latin typeface="TimesTen-Roman"/>
              </a:rPr>
              <a:t>old. Suppose some part of the system requires a fraction </a:t>
            </a:r>
            <a:r>
              <a:rPr lang="en-US" sz="2000" b="0" i="1" u="none" strike="noStrike" baseline="0" dirty="0">
                <a:latin typeface="MTMIZ"/>
              </a:rPr>
              <a:t>α </a:t>
            </a:r>
            <a:r>
              <a:rPr lang="en-US" sz="2000" b="0" i="0" u="none" strike="noStrike" baseline="0" dirty="0">
                <a:latin typeface="TimesTen-Roman"/>
              </a:rPr>
              <a:t>of this time, and that we improve its performance by a factor of </a:t>
            </a:r>
            <a:r>
              <a:rPr lang="en-US" sz="2000" b="0" i="1" u="none" strike="noStrike" baseline="0" dirty="0">
                <a:latin typeface="MTMIZ"/>
              </a:rPr>
              <a:t>k</a:t>
            </a:r>
            <a:r>
              <a:rPr lang="en-US" sz="2000" b="0" i="0" u="none" strike="noStrike" baseline="0" dirty="0">
                <a:latin typeface="TimesTen-Roman"/>
              </a:rPr>
              <a:t>. The new time would be: </a:t>
            </a:r>
          </a:p>
        </p:txBody>
      </p:sp>
      <mc:AlternateContent xmlns:mc="http://schemas.openxmlformats.org/markup-compatibility/2006" xmlns:a14="http://schemas.microsoft.com/office/drawing/2010/main">
        <mc:Choice Requires="a14">
          <p:sp>
            <p:nvSpPr>
              <p:cNvPr id="11" name="Content Placeholder 7">
                <a:extLst>
                  <a:ext uri="{FF2B5EF4-FFF2-40B4-BE49-F238E27FC236}">
                    <a16:creationId xmlns:a16="http://schemas.microsoft.com/office/drawing/2014/main" id="{84D72465-77D1-4C74-85E9-81D035C6FE96}"/>
                  </a:ext>
                </a:extLst>
              </p:cNvPr>
              <p:cNvSpPr txBox="1">
                <a:spLocks/>
              </p:cNvSpPr>
              <p:nvPr/>
            </p:nvSpPr>
            <p:spPr bwMode="auto">
              <a:xfrm>
                <a:off x="771525" y="2759866"/>
                <a:ext cx="7365206" cy="541338"/>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457176" lvl="1" indent="0">
                  <a:buClr>
                    <a:srgbClr val="0000FF"/>
                  </a:buClr>
                  <a:buNone/>
                  <a:defRPr/>
                </a:pPr>
                <a:r>
                  <a:rPr kumimoji="1" lang="en-US" sz="2400" b="0" i="1" u="none" strike="noStrike" kern="0" cap="none" spc="0" normalizeH="0" baseline="0" noProof="0" dirty="0">
                    <a:ln>
                      <a:noFill/>
                    </a:ln>
                    <a:solidFill>
                      <a:srgbClr val="FF0000"/>
                    </a:solidFill>
                    <a:effectLst/>
                    <a:uLnTx/>
                    <a:uFillTx/>
                    <a:cs typeface="Calibri" panose="020F0502020204030204" pitchFamily="34" charset="0"/>
                  </a:rPr>
                  <a:t>Speedup</a:t>
                </a:r>
                <a:r>
                  <a:rPr kumimoji="1" lang="en-US" sz="2400" b="0" i="1" u="none" strike="noStrike" kern="0" cap="none" spc="0" normalizeH="0" noProof="0" dirty="0">
                    <a:ln>
                      <a:noFill/>
                    </a:ln>
                    <a:solidFill>
                      <a:srgbClr val="FF0000"/>
                    </a:solidFill>
                    <a:effectLst/>
                    <a:uLnTx/>
                    <a:uFillTx/>
                    <a:cs typeface="Calibri" panose="020F0502020204030204" pitchFamily="34" charset="0"/>
                  </a:rPr>
                  <a:t> </a:t>
                </a:r>
                <a:r>
                  <a:rPr kumimoji="1" lang="en-US" sz="2400" b="0" i="1" u="none" strike="noStrike" kern="0" cap="none" spc="0" normalizeH="0" baseline="0" noProof="0" dirty="0">
                    <a:ln>
                      <a:noFill/>
                    </a:ln>
                    <a:solidFill>
                      <a:srgbClr val="FF0000"/>
                    </a:solidFill>
                    <a:effectLst/>
                    <a:uLnTx/>
                    <a:uFillTx/>
                    <a:cs typeface="Calibri" panose="020F0502020204030204" pitchFamily="34" charset="0"/>
                  </a:rPr>
                  <a:t>= </a:t>
                </a:r>
                <a14:m>
                  <m:oMath xmlns:m="http://schemas.openxmlformats.org/officeDocument/2006/math">
                    <m:sSub>
                      <m:sSubPr>
                        <m:ctrlPr>
                          <a:rPr kumimoji="0" lang="pt-BR" sz="2400" i="1">
                            <a:solidFill>
                              <a:srgbClr val="FF0000"/>
                            </a:solidFill>
                            <a:latin typeface="Cambria Math" panose="02040503050406030204" pitchFamily="18" charset="0"/>
                            <a:cs typeface="Calibri" panose="020F0502020204030204" pitchFamily="34" charset="0"/>
                          </a:rPr>
                        </m:ctrlPr>
                      </m:sSubPr>
                      <m:e>
                        <m:r>
                          <a:rPr kumimoji="0" lang="en-US" sz="2400" i="1">
                            <a:solidFill>
                              <a:srgbClr val="FF0000"/>
                            </a:solidFill>
                            <a:latin typeface="Cambria Math" panose="02040503050406030204" pitchFamily="18" charset="0"/>
                            <a:cs typeface="Calibri" panose="020F0502020204030204" pitchFamily="34" charset="0"/>
                          </a:rPr>
                          <m:t> </m:t>
                        </m:r>
                        <m:r>
                          <a:rPr kumimoji="0" lang="en-US" sz="2400" i="1">
                            <a:solidFill>
                              <a:srgbClr val="FF0000"/>
                            </a:solidFill>
                            <a:latin typeface="Cambria Math" panose="02040503050406030204" pitchFamily="18" charset="0"/>
                            <a:cs typeface="Calibri" panose="020F0502020204030204" pitchFamily="34" charset="0"/>
                          </a:rPr>
                          <m:t>𝑇</m:t>
                        </m:r>
                      </m:e>
                      <m:sub>
                        <m:r>
                          <a:rPr kumimoji="0" lang="en-US" sz="2400" i="1">
                            <a:solidFill>
                              <a:srgbClr val="FF0000"/>
                            </a:solidFill>
                            <a:latin typeface="Cambria Math" panose="02040503050406030204" pitchFamily="18" charset="0"/>
                            <a:cs typeface="Calibri" panose="020F0502020204030204" pitchFamily="34" charset="0"/>
                          </a:rPr>
                          <m:t>𝑜𝑙𝑑</m:t>
                        </m:r>
                        <m:r>
                          <a:rPr kumimoji="0" lang="en-US" sz="2400" i="1">
                            <a:solidFill>
                              <a:srgbClr val="FF0000"/>
                            </a:solidFill>
                            <a:latin typeface="Cambria Math" panose="02040503050406030204" pitchFamily="18" charset="0"/>
                            <a:cs typeface="Calibri" panose="020F0502020204030204" pitchFamily="34" charset="0"/>
                          </a:rPr>
                          <m:t>   </m:t>
                        </m:r>
                      </m:sub>
                    </m:sSub>
                    <m:r>
                      <a:rPr kumimoji="0" lang="en-US" sz="2400" i="1">
                        <a:solidFill>
                          <a:srgbClr val="FF0000"/>
                        </a:solidFill>
                        <a:latin typeface="Cambria Math" panose="02040503050406030204" pitchFamily="18" charset="0"/>
                        <a:cs typeface="Calibri" panose="020F0502020204030204" pitchFamily="34" charset="0"/>
                      </a:rPr>
                      <m:t> </m:t>
                    </m:r>
                  </m:oMath>
                </a14:m>
                <a:r>
                  <a:rPr kumimoji="1" lang="en-US" sz="2400" b="0" i="1" u="none" strike="noStrike" kern="0" cap="none" spc="0" normalizeH="0" baseline="0" noProof="0" dirty="0">
                    <a:ln>
                      <a:noFill/>
                    </a:ln>
                    <a:solidFill>
                      <a:srgbClr val="FF0000"/>
                    </a:solidFill>
                    <a:effectLst/>
                    <a:uLnTx/>
                    <a:uFillTx/>
                    <a:cs typeface="Calibri" panose="020F0502020204030204" pitchFamily="34" charset="0"/>
                  </a:rPr>
                  <a:t>/ </a:t>
                </a:r>
                <a14:m>
                  <m:oMath xmlns:m="http://schemas.openxmlformats.org/officeDocument/2006/math">
                    <m:sSub>
                      <m:sSubPr>
                        <m:ctrlPr>
                          <a:rPr kumimoji="0" lang="pt-BR" sz="2400" b="0" i="1" u="none" strike="noStrike" kern="1200" cap="none" spc="0" normalizeH="0" baseline="0" noProof="0" smtClean="0">
                            <a:ln>
                              <a:noFill/>
                            </a:ln>
                            <a:solidFill>
                              <a:srgbClr val="FF0000"/>
                            </a:solidFill>
                            <a:effectLst/>
                            <a:uLnTx/>
                            <a:uFillTx/>
                            <a:latin typeface="Cambria Math" panose="02040503050406030204" pitchFamily="18" charset="0"/>
                            <a:cs typeface="Calibri" panose="020F0502020204030204" pitchFamily="34" charset="0"/>
                          </a:rPr>
                        </m:ctrlPr>
                      </m:sSubPr>
                      <m:e>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Calibri" panose="020F0502020204030204" pitchFamily="34" charset="0"/>
                          </a:rPr>
                          <m:t>𝑇</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cs typeface="Calibri" panose="020F0502020204030204" pitchFamily="34" charset="0"/>
                          </a:rPr>
                          <m:t>𝑛𝑒𝑤</m:t>
                        </m:r>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cs typeface="Calibri" panose="020F0502020204030204" pitchFamily="34" charset="0"/>
                          </a:rPr>
                          <m:t>  </m:t>
                        </m:r>
                      </m:sub>
                    </m:sSub>
                  </m:oMath>
                </a14:m>
                <a:r>
                  <a:rPr kumimoji="1" lang="en-US" sz="2400" b="0" i="1" u="none" strike="noStrike" kern="0" cap="none" spc="0" normalizeH="0" baseline="0" noProof="0" dirty="0">
                    <a:ln>
                      <a:noFill/>
                    </a:ln>
                    <a:solidFill>
                      <a:srgbClr val="FF0000"/>
                    </a:solidFill>
                    <a:effectLst/>
                    <a:uLnTx/>
                    <a:uFillTx/>
                    <a:cs typeface="Calibri" panose="020F0502020204030204" pitchFamily="34" charset="0"/>
                  </a:rPr>
                  <a:t>= 1 /</a:t>
                </a:r>
                <a:r>
                  <a:rPr kumimoji="0" lang="en-US" sz="2400" dirty="0">
                    <a:solidFill>
                      <a:srgbClr val="FF0000"/>
                    </a:solidFill>
                    <a:latin typeface="Arial"/>
                    <a:ea typeface="新細明體"/>
                    <a:cs typeface="Calibri" panose="020F0502020204030204" pitchFamily="34" charset="0"/>
                  </a:rPr>
                  <a:t> (</a:t>
                </a:r>
                <a14:m>
                  <m:oMath xmlns:m="http://schemas.openxmlformats.org/officeDocument/2006/math">
                    <m:d>
                      <m:dPr>
                        <m:ctrlPr>
                          <a:rPr kumimoji="0" lang="en-US" sz="2400" i="1">
                            <a:solidFill>
                              <a:srgbClr val="FF0000"/>
                            </a:solidFill>
                            <a:latin typeface="Cambria Math" panose="02040503050406030204" pitchFamily="18" charset="0"/>
                            <a:cs typeface="Calibri" panose="020F0502020204030204" pitchFamily="34" charset="0"/>
                          </a:rPr>
                        </m:ctrlPr>
                      </m:dPr>
                      <m:e>
                        <m:r>
                          <a:rPr kumimoji="0" lang="en-US" sz="2400" i="1">
                            <a:solidFill>
                              <a:srgbClr val="FF0000"/>
                            </a:solidFill>
                            <a:latin typeface="Cambria Math" panose="02040503050406030204" pitchFamily="18" charset="0"/>
                            <a:cs typeface="Calibri" panose="020F0502020204030204" pitchFamily="34" charset="0"/>
                          </a:rPr>
                          <m:t>1−</m:t>
                        </m:r>
                        <m:r>
                          <m:rPr>
                            <m:nor/>
                          </m:rPr>
                          <a:rPr kumimoji="0" lang="en-US" sz="2400" i="1" kern="0" dirty="0">
                            <a:solidFill>
                              <a:srgbClr val="FF0000"/>
                            </a:solidFill>
                            <a:latin typeface="Symbol" panose="05050102010706020507" pitchFamily="18" charset="2"/>
                            <a:ea typeface="新細明體"/>
                            <a:cs typeface="Calibri" panose="020F0502020204030204" pitchFamily="34" charset="0"/>
                          </a:rPr>
                          <m:t>a</m:t>
                        </m:r>
                      </m:e>
                    </m:d>
                  </m:oMath>
                </a14:m>
                <a:r>
                  <a:rPr kumimoji="1" lang="en-US" sz="2400" b="0" i="1" u="none" strike="noStrike" kern="0" cap="none" spc="0" normalizeH="0" baseline="0" noProof="0" dirty="0">
                    <a:ln>
                      <a:noFill/>
                    </a:ln>
                    <a:solidFill>
                      <a:srgbClr val="FF0000"/>
                    </a:solidFill>
                    <a:effectLst/>
                    <a:uLnTx/>
                    <a:uFillTx/>
                    <a:cs typeface="Calibri" panose="020F0502020204030204" pitchFamily="34" charset="0"/>
                  </a:rPr>
                  <a:t>+ </a:t>
                </a:r>
                <a:r>
                  <a:rPr kumimoji="0" lang="en-US" sz="2400" i="1" kern="0" dirty="0">
                    <a:solidFill>
                      <a:srgbClr val="FF0000"/>
                    </a:solidFill>
                    <a:latin typeface="Symbol" panose="05050102010706020507" pitchFamily="18" charset="2"/>
                    <a:ea typeface="新細明體"/>
                    <a:cs typeface="Calibri" panose="020F0502020204030204" pitchFamily="34" charset="0"/>
                  </a:rPr>
                  <a:t>a </a:t>
                </a:r>
                <a:r>
                  <a:rPr lang="en-US" sz="2400" i="1" kern="0" dirty="0">
                    <a:solidFill>
                      <a:srgbClr val="FF0000"/>
                    </a:solidFill>
                    <a:latin typeface="Arial"/>
                    <a:ea typeface="新細明體"/>
                    <a:cs typeface="Calibri" panose="020F0502020204030204" pitchFamily="34" charset="0"/>
                  </a:rPr>
                  <a:t>/ </a:t>
                </a:r>
                <a:r>
                  <a:rPr lang="en-US" sz="2400" kern="0" dirty="0">
                    <a:solidFill>
                      <a:srgbClr val="FF0000"/>
                    </a:solidFill>
                    <a:latin typeface="Arial"/>
                    <a:ea typeface="新細明體"/>
                    <a:cs typeface="Calibri" panose="020F0502020204030204" pitchFamily="34" charset="0"/>
                  </a:rPr>
                  <a:t>k)</a:t>
                </a:r>
                <a:r>
                  <a:rPr lang="en-US" sz="2400" i="1" kern="0" dirty="0">
                    <a:solidFill>
                      <a:srgbClr val="FF0000"/>
                    </a:solidFill>
                    <a:latin typeface="Arial"/>
                    <a:ea typeface="新細明體"/>
                    <a:cs typeface="Calibri" panose="020F0502020204030204" pitchFamily="34" charset="0"/>
                  </a:rPr>
                  <a:t> </a:t>
                </a:r>
                <a:endParaRPr kumimoji="1" lang="en-US" sz="2400" b="0" i="1" u="none" strike="noStrike" kern="0" cap="none" spc="0" normalizeH="0" baseline="0" noProof="0" dirty="0">
                  <a:ln>
                    <a:noFill/>
                  </a:ln>
                  <a:solidFill>
                    <a:srgbClr val="FF0000"/>
                  </a:solidFill>
                  <a:effectLst/>
                  <a:uLnTx/>
                  <a:uFillTx/>
                  <a:cs typeface="Calibri" panose="020F0502020204030204" pitchFamily="34" charset="0"/>
                </a:endParaRPr>
              </a:p>
            </p:txBody>
          </p:sp>
        </mc:Choice>
        <mc:Fallback xmlns="">
          <p:sp>
            <p:nvSpPr>
              <p:cNvPr id="11" name="Content Placeholder 7">
                <a:extLst>
                  <a:ext uri="{FF2B5EF4-FFF2-40B4-BE49-F238E27FC236}">
                    <a16:creationId xmlns:a16="http://schemas.microsoft.com/office/drawing/2014/main" id="{84D72465-77D1-4C74-85E9-81D035C6FE96}"/>
                  </a:ext>
                </a:extLst>
              </p:cNvPr>
              <p:cNvSpPr txBox="1">
                <a:spLocks noRot="1" noChangeAspect="1" noMove="1" noResize="1" noEditPoints="1" noAdjustHandles="1" noChangeArrowheads="1" noChangeShapeType="1" noTextEdit="1"/>
              </p:cNvSpPr>
              <p:nvPr/>
            </p:nvSpPr>
            <p:spPr bwMode="auto">
              <a:xfrm>
                <a:off x="771525" y="2759866"/>
                <a:ext cx="7365206" cy="541338"/>
              </a:xfrm>
              <a:prstGeom prst="rect">
                <a:avLst/>
              </a:prstGeom>
              <a:blipFill>
                <a:blip r:embed="rId4"/>
                <a:stretch>
                  <a:fillRect t="-11236" b="-10112"/>
                </a:stretch>
              </a:blipFill>
              <a:ln w="9525">
                <a:noFill/>
                <a:miter lim="800000"/>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ontent Placeholder 7">
                <a:extLst>
                  <a:ext uri="{FF2B5EF4-FFF2-40B4-BE49-F238E27FC236}">
                    <a16:creationId xmlns:a16="http://schemas.microsoft.com/office/drawing/2014/main" id="{D5FB0DFD-EB3C-4EA6-9E95-9C2D14D18A8B}"/>
                  </a:ext>
                </a:extLst>
              </p:cNvPr>
              <p:cNvSpPr txBox="1">
                <a:spLocks/>
              </p:cNvSpPr>
              <p:nvPr/>
            </p:nvSpPr>
            <p:spPr bwMode="auto">
              <a:xfrm>
                <a:off x="291077" y="3301204"/>
                <a:ext cx="8866642" cy="1500186"/>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algn="l"/>
                <a:r>
                  <a:rPr lang="en-US" sz="2000" dirty="0">
                    <a:latin typeface="TimesTen-Roman"/>
                  </a:rPr>
                  <a:t>If </a:t>
                </a:r>
                <a:r>
                  <a:rPr lang="en-US" sz="2000" dirty="0">
                    <a:latin typeface="Symbol" panose="05050102010706020507" pitchFamily="18" charset="2"/>
                  </a:rPr>
                  <a:t>a</a:t>
                </a:r>
                <a:r>
                  <a:rPr lang="en-US" sz="2000" dirty="0">
                    <a:latin typeface="TimesTen-Roman"/>
                  </a:rPr>
                  <a:t> is 10%, even if that part is sped up by 10 times, the speed up is only 1.10.</a:t>
                </a:r>
              </a:p>
              <a:p>
                <a:r>
                  <a:rPr lang="en-US" sz="2000" dirty="0">
                    <a:latin typeface="TimesTen-Roman"/>
                  </a:rPr>
                  <a:t>Two implications: a) </a:t>
                </a:r>
                <a:r>
                  <a:rPr lang="en-US" sz="2000" dirty="0">
                    <a:solidFill>
                      <a:srgbClr val="FF0000"/>
                    </a:solidFill>
                    <a:latin typeface="TimesTen-Roman"/>
                  </a:rPr>
                  <a:t>focus optimizations on the most time-consuming part</a:t>
                </a:r>
                <a:r>
                  <a:rPr lang="en-US" sz="2000" dirty="0">
                    <a:latin typeface="TimesTen-Roman"/>
                  </a:rPr>
                  <a:t>, b) </a:t>
                </a:r>
                <a:r>
                  <a:rPr lang="en-US" sz="2000" dirty="0">
                    <a:solidFill>
                      <a:srgbClr val="FF0000"/>
                    </a:solidFill>
                    <a:latin typeface="TimesTen-Roman"/>
                  </a:rPr>
                  <a:t>if there is a significant fraction of time (say, </a:t>
                </a:r>
                <a:r>
                  <a:rPr lang="en-US" sz="2000" dirty="0">
                    <a:solidFill>
                      <a:srgbClr val="0000FF"/>
                    </a:solidFill>
                    <a:latin typeface="Symbol" panose="05050102010706020507" pitchFamily="18" charset="2"/>
                  </a:rPr>
                  <a:t>b</a:t>
                </a:r>
                <a:r>
                  <a:rPr lang="en-US" sz="2000" dirty="0">
                    <a:solidFill>
                      <a:srgbClr val="FF0000"/>
                    </a:solidFill>
                    <a:latin typeface="TimesTen-Roman"/>
                  </a:rPr>
                  <a:t>) on serial code</a:t>
                </a:r>
                <a:r>
                  <a:rPr lang="en-US" sz="2000" dirty="0">
                    <a:latin typeface="TimesTen-Roman"/>
                  </a:rPr>
                  <a:t>, </a:t>
                </a:r>
                <a:r>
                  <a:rPr lang="en-US" sz="2000" dirty="0">
                    <a:solidFill>
                      <a:srgbClr val="FF0000"/>
                    </a:solidFill>
                    <a:latin typeface="TimesTen-Roman"/>
                  </a:rPr>
                  <a:t>parallelization has little impact since the best speed up can be achieved is only </a:t>
                </a:r>
                <a:r>
                  <a:rPr lang="en-US" sz="2000" dirty="0">
                    <a:solidFill>
                      <a:srgbClr val="0000FF"/>
                    </a:solidFill>
                    <a:latin typeface="TimesTen-Roman"/>
                  </a:rPr>
                  <a:t>1/</a:t>
                </a:r>
                <a14:m>
                  <m:oMath xmlns:m="http://schemas.openxmlformats.org/officeDocument/2006/math">
                    <m:r>
                      <m:rPr>
                        <m:nor/>
                      </m:rPr>
                      <a:rPr kumimoji="0" lang="en-US" sz="2000" dirty="0" smtClean="0">
                        <a:solidFill>
                          <a:srgbClr val="0000FF"/>
                        </a:solidFill>
                        <a:latin typeface="Symbol" panose="05050102010706020507" pitchFamily="18" charset="2"/>
                        <a:ea typeface="新細明體"/>
                      </a:rPr>
                      <m:t>b</m:t>
                    </m:r>
                  </m:oMath>
                </a14:m>
                <a:r>
                  <a:rPr lang="en-US" sz="2000" dirty="0">
                    <a:latin typeface="TimesTen-Roman"/>
                  </a:rPr>
                  <a:t>. </a:t>
                </a:r>
              </a:p>
            </p:txBody>
          </p:sp>
        </mc:Choice>
        <mc:Fallback xmlns="">
          <p:sp>
            <p:nvSpPr>
              <p:cNvPr id="12" name="Content Placeholder 7">
                <a:extLst>
                  <a:ext uri="{FF2B5EF4-FFF2-40B4-BE49-F238E27FC236}">
                    <a16:creationId xmlns:a16="http://schemas.microsoft.com/office/drawing/2014/main" id="{D5FB0DFD-EB3C-4EA6-9E95-9C2D14D18A8B}"/>
                  </a:ext>
                </a:extLst>
              </p:cNvPr>
              <p:cNvSpPr txBox="1">
                <a:spLocks noRot="1" noChangeAspect="1" noMove="1" noResize="1" noEditPoints="1" noAdjustHandles="1" noChangeArrowheads="1" noChangeShapeType="1" noTextEdit="1"/>
              </p:cNvSpPr>
              <p:nvPr/>
            </p:nvSpPr>
            <p:spPr bwMode="auto">
              <a:xfrm>
                <a:off x="291077" y="3301204"/>
                <a:ext cx="8866642" cy="1500186"/>
              </a:xfrm>
              <a:prstGeom prst="rect">
                <a:avLst/>
              </a:prstGeom>
              <a:blipFill>
                <a:blip r:embed="rId5"/>
                <a:stretch>
                  <a:fillRect l="-275" t="-2846"/>
                </a:stretch>
              </a:blipFill>
              <a:ln w="9525">
                <a:noFill/>
                <a:miter lim="800000"/>
              </a:ln>
            </p:spPr>
            <p:txBody>
              <a:bodyPr/>
              <a:lstStyle/>
              <a:p>
                <a:r>
                  <a:rPr lang="en-US">
                    <a:noFill/>
                  </a:rPr>
                  <a:t> </a:t>
                </a:r>
              </a:p>
            </p:txBody>
          </p:sp>
        </mc:Fallback>
      </mc:AlternateContent>
    </p:spTree>
    <p:extLst>
      <p:ext uri="{BB962C8B-B14F-4D97-AF65-F5344CB8AC3E}">
        <p14:creationId xmlns:p14="http://schemas.microsoft.com/office/powerpoint/2010/main" val="4079434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74171" y="714375"/>
            <a:ext cx="8795657" cy="3986211"/>
          </a:xfrm>
        </p:spPr>
        <p:txBody>
          <a:bodyPr/>
          <a:lstStyle/>
          <a:p>
            <a:pPr marL="0" indent="0" algn="l">
              <a:buNone/>
            </a:pPr>
            <a:r>
              <a:rPr lang="en-US" sz="2000" b="0" i="0" u="none" strike="noStrike" baseline="0" dirty="0">
                <a:latin typeface="TimesTen-Roman"/>
              </a:rPr>
              <a:t>    </a:t>
            </a:r>
          </a:p>
        </p:txBody>
      </p:sp>
      <p:sp>
        <p:nvSpPr>
          <p:cNvPr id="2" name="灯片编号占位符 1"/>
          <p:cNvSpPr>
            <a:spLocks noGrp="1"/>
          </p:cNvSpPr>
          <p:nvPr>
            <p:ph type="sldNum" sz="quarter" idx="10"/>
          </p:nvPr>
        </p:nvSpPr>
        <p:spPr/>
        <p:txBody>
          <a:bodyPr/>
          <a:lstStyle/>
          <a:p>
            <a:fld id="{D9B6BDF2-6896-4B98-8776-C18582F63BA5}" type="slidenum">
              <a:rPr lang="zh-TW" altLang="en-US" smtClean="0"/>
              <a:t>37</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771525" y="107950"/>
            <a:ext cx="8122444"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1.9.1 Amdahl’s Law Example (problem 1.2)</a:t>
            </a:r>
          </a:p>
        </p:txBody>
      </p:sp>
      <p:sp>
        <p:nvSpPr>
          <p:cNvPr id="7" name="Content Placeholder 7">
            <a:extLst>
              <a:ext uri="{FF2B5EF4-FFF2-40B4-BE49-F238E27FC236}">
                <a16:creationId xmlns:a16="http://schemas.microsoft.com/office/drawing/2014/main" id="{5B628818-E06A-48D3-972B-384C202BB3BB}"/>
              </a:ext>
            </a:extLst>
          </p:cNvPr>
          <p:cNvSpPr txBox="1">
            <a:spLocks/>
          </p:cNvSpPr>
          <p:nvPr/>
        </p:nvSpPr>
        <p:spPr bwMode="auto">
          <a:xfrm>
            <a:off x="326570" y="2659062"/>
            <a:ext cx="8795657" cy="1119982"/>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endParaRPr lang="en-US" sz="2000" i="1" kern="0" dirty="0">
              <a:solidFill>
                <a:srgbClr val="FF0000"/>
              </a:solidFill>
              <a:latin typeface="TimesTen-Italic"/>
            </a:endParaRPr>
          </a:p>
          <a:p>
            <a:endParaRPr lang="en-US" sz="2000" kern="0" dirty="0">
              <a:solidFill>
                <a:srgbClr val="FF0000"/>
              </a:solidFill>
            </a:endParaRPr>
          </a:p>
        </p:txBody>
      </p:sp>
      <p:sp>
        <p:nvSpPr>
          <p:cNvPr id="9" name="Content Placeholder 7">
            <a:extLst>
              <a:ext uri="{FF2B5EF4-FFF2-40B4-BE49-F238E27FC236}">
                <a16:creationId xmlns:a16="http://schemas.microsoft.com/office/drawing/2014/main" id="{0E4BDC23-6201-4FF0-B2AA-716DD18F9074}"/>
              </a:ext>
            </a:extLst>
          </p:cNvPr>
          <p:cNvSpPr txBox="1">
            <a:spLocks/>
          </p:cNvSpPr>
          <p:nvPr/>
        </p:nvSpPr>
        <p:spPr bwMode="auto">
          <a:xfrm>
            <a:off x="138678" y="726675"/>
            <a:ext cx="8683853" cy="1757763"/>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algn="l"/>
            <a:r>
              <a:rPr lang="en-US" sz="2000" b="0" i="0" u="none" strike="noStrike" baseline="0" dirty="0">
                <a:latin typeface="TimesTen-Roman"/>
              </a:rPr>
              <a:t>A car company has promised its customers that the next release</a:t>
            </a:r>
            <a:r>
              <a:rPr lang="en-US" sz="2000" b="0" i="0" u="none" strike="noStrike" dirty="0">
                <a:latin typeface="TimesTen-Roman"/>
              </a:rPr>
              <a:t> </a:t>
            </a:r>
            <a:r>
              <a:rPr lang="en-US" sz="2000" b="0" i="0" u="none" strike="noStrike" baseline="0" dirty="0">
                <a:latin typeface="TimesTen-Roman"/>
              </a:rPr>
              <a:t>of a new engine will show a 4</a:t>
            </a:r>
            <a:r>
              <a:rPr lang="en-US" sz="2000" dirty="0">
                <a:latin typeface="MTSYN"/>
              </a:rPr>
              <a:t>X</a:t>
            </a:r>
            <a:r>
              <a:rPr lang="en-US" sz="2000" b="0" i="0" u="none" strike="noStrike" baseline="0" dirty="0">
                <a:latin typeface="MTSYN"/>
              </a:rPr>
              <a:t> </a:t>
            </a:r>
            <a:r>
              <a:rPr lang="en-US" sz="2000" b="0" i="0" u="none" strike="noStrike" baseline="0" dirty="0">
                <a:latin typeface="TimesTen-Roman"/>
              </a:rPr>
              <a:t>performance improvement. You have been assigned the task of delivering on that promise. You have determined that only 90%</a:t>
            </a:r>
            <a:r>
              <a:rPr lang="en-US" sz="2000" b="0" i="0" u="none" strike="noStrike" dirty="0">
                <a:latin typeface="TimesTen-Roman"/>
              </a:rPr>
              <a:t> </a:t>
            </a:r>
            <a:r>
              <a:rPr lang="en-US" sz="2000" b="0" i="0" u="none" strike="noStrike" baseline="0" dirty="0">
                <a:latin typeface="TimesTen-Roman"/>
              </a:rPr>
              <a:t>of the engine can be improved. How much (i.e., what value of </a:t>
            </a:r>
            <a:r>
              <a:rPr lang="en-US" sz="2000" b="0" i="1" u="none" strike="noStrike" baseline="0" dirty="0">
                <a:latin typeface="MTMIZ"/>
              </a:rPr>
              <a:t>k</a:t>
            </a:r>
            <a:r>
              <a:rPr lang="en-US" sz="2000" b="0" i="0" u="none" strike="noStrike" baseline="0" dirty="0">
                <a:latin typeface="TimesTen-Roman"/>
              </a:rPr>
              <a:t>) would you need</a:t>
            </a:r>
            <a:r>
              <a:rPr lang="en-US" sz="2000" b="0" i="0" u="none" strike="noStrike" dirty="0">
                <a:latin typeface="TimesTen-Roman"/>
              </a:rPr>
              <a:t> </a:t>
            </a:r>
            <a:r>
              <a:rPr lang="en-US" sz="2000" b="0" i="0" u="none" strike="noStrike" baseline="0" dirty="0">
                <a:latin typeface="TimesTen-Roman"/>
              </a:rPr>
              <a:t>to improve this part to meet the overall performance target of the engine?</a:t>
            </a:r>
          </a:p>
        </p:txBody>
      </p:sp>
      <mc:AlternateContent xmlns:mc="http://schemas.openxmlformats.org/markup-compatibility/2006" xmlns:a14="http://schemas.microsoft.com/office/drawing/2010/main">
        <mc:Choice Requires="a14">
          <p:sp>
            <p:nvSpPr>
              <p:cNvPr id="11" name="Content Placeholder 7">
                <a:extLst>
                  <a:ext uri="{FF2B5EF4-FFF2-40B4-BE49-F238E27FC236}">
                    <a16:creationId xmlns:a16="http://schemas.microsoft.com/office/drawing/2014/main" id="{84D72465-77D1-4C74-85E9-81D035C6FE96}"/>
                  </a:ext>
                </a:extLst>
              </p:cNvPr>
              <p:cNvSpPr txBox="1">
                <a:spLocks/>
              </p:cNvSpPr>
              <p:nvPr/>
            </p:nvSpPr>
            <p:spPr bwMode="auto">
              <a:xfrm>
                <a:off x="532607" y="2571750"/>
                <a:ext cx="7365206" cy="541338"/>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457176" lvl="1" indent="0">
                  <a:buClr>
                    <a:srgbClr val="0000FF"/>
                  </a:buClr>
                  <a:buNone/>
                  <a:defRPr/>
                </a:pPr>
                <a:r>
                  <a:rPr kumimoji="1" lang="en-US" sz="2400" b="0" i="1" u="none" strike="noStrike" kern="0" cap="none" spc="0" normalizeH="0" baseline="0" noProof="0" dirty="0">
                    <a:ln>
                      <a:noFill/>
                    </a:ln>
                    <a:solidFill>
                      <a:srgbClr val="FF0000"/>
                    </a:solidFill>
                    <a:effectLst/>
                    <a:uLnTx/>
                    <a:uFillTx/>
                    <a:cs typeface="Calibri" panose="020F0502020204030204" pitchFamily="34" charset="0"/>
                  </a:rPr>
                  <a:t>Speedup</a:t>
                </a:r>
                <a:r>
                  <a:rPr kumimoji="1" lang="en-US" sz="2400" b="0" i="1" u="none" strike="noStrike" kern="0" cap="none" spc="0" normalizeH="0" noProof="0" dirty="0">
                    <a:ln>
                      <a:noFill/>
                    </a:ln>
                    <a:solidFill>
                      <a:srgbClr val="FF0000"/>
                    </a:solidFill>
                    <a:effectLst/>
                    <a:uLnTx/>
                    <a:uFillTx/>
                    <a:cs typeface="Calibri" panose="020F0502020204030204" pitchFamily="34" charset="0"/>
                  </a:rPr>
                  <a:t> </a:t>
                </a:r>
                <a:r>
                  <a:rPr kumimoji="1" lang="en-US" sz="2400" b="0" i="1" u="none" strike="noStrike" kern="0" cap="none" spc="0" normalizeH="0" baseline="0" noProof="0" dirty="0">
                    <a:ln>
                      <a:noFill/>
                    </a:ln>
                    <a:solidFill>
                      <a:srgbClr val="FF0000"/>
                    </a:solidFill>
                    <a:effectLst/>
                    <a:uLnTx/>
                    <a:uFillTx/>
                    <a:cs typeface="Calibri" panose="020F0502020204030204" pitchFamily="34" charset="0"/>
                  </a:rPr>
                  <a:t>=</a:t>
                </a:r>
                <a:r>
                  <a:rPr kumimoji="1" lang="en-US" sz="2400" b="0" i="1" u="none" strike="noStrike" kern="0" cap="none" spc="0" normalizeH="0" noProof="0" dirty="0">
                    <a:ln>
                      <a:noFill/>
                    </a:ln>
                    <a:solidFill>
                      <a:srgbClr val="FF0000"/>
                    </a:solidFill>
                    <a:effectLst/>
                    <a:uLnTx/>
                    <a:uFillTx/>
                    <a:cs typeface="Calibri" panose="020F0502020204030204" pitchFamily="34" charset="0"/>
                  </a:rPr>
                  <a:t> </a:t>
                </a:r>
                <a:r>
                  <a:rPr kumimoji="1" lang="en-US" sz="2400" b="0" i="1" u="none" strike="noStrike" kern="0" cap="none" spc="0" normalizeH="0" baseline="0" noProof="0" dirty="0">
                    <a:ln>
                      <a:noFill/>
                    </a:ln>
                    <a:solidFill>
                      <a:srgbClr val="FF0000"/>
                    </a:solidFill>
                    <a:effectLst/>
                    <a:uLnTx/>
                    <a:uFillTx/>
                    <a:cs typeface="Calibri" panose="020F0502020204030204" pitchFamily="34" charset="0"/>
                  </a:rPr>
                  <a:t>1 /</a:t>
                </a:r>
                <a:r>
                  <a:rPr kumimoji="0" lang="en-US" sz="2400" dirty="0">
                    <a:solidFill>
                      <a:srgbClr val="FF0000"/>
                    </a:solidFill>
                    <a:latin typeface="Arial"/>
                    <a:ea typeface="新細明體"/>
                    <a:cs typeface="Calibri" panose="020F0502020204030204" pitchFamily="34" charset="0"/>
                  </a:rPr>
                  <a:t> (</a:t>
                </a:r>
                <a14:m>
                  <m:oMath xmlns:m="http://schemas.openxmlformats.org/officeDocument/2006/math">
                    <m:d>
                      <m:dPr>
                        <m:ctrlPr>
                          <a:rPr kumimoji="0" lang="en-US" sz="2400" i="1">
                            <a:solidFill>
                              <a:srgbClr val="FF0000"/>
                            </a:solidFill>
                            <a:latin typeface="Cambria Math" panose="02040503050406030204" pitchFamily="18" charset="0"/>
                            <a:cs typeface="Calibri" panose="020F0502020204030204" pitchFamily="34" charset="0"/>
                          </a:rPr>
                        </m:ctrlPr>
                      </m:dPr>
                      <m:e>
                        <m:r>
                          <a:rPr kumimoji="0" lang="en-US" sz="2400" i="1">
                            <a:solidFill>
                              <a:srgbClr val="FF0000"/>
                            </a:solidFill>
                            <a:latin typeface="Cambria Math" panose="02040503050406030204" pitchFamily="18" charset="0"/>
                            <a:cs typeface="Calibri" panose="020F0502020204030204" pitchFamily="34" charset="0"/>
                          </a:rPr>
                          <m:t>1−</m:t>
                        </m:r>
                        <m:r>
                          <m:rPr>
                            <m:nor/>
                          </m:rPr>
                          <a:rPr kumimoji="0" lang="en-US" sz="2400" i="1" kern="0" dirty="0">
                            <a:solidFill>
                              <a:srgbClr val="FF0000"/>
                            </a:solidFill>
                            <a:latin typeface="Symbol" panose="05050102010706020507" pitchFamily="18" charset="2"/>
                            <a:ea typeface="新細明體"/>
                            <a:cs typeface="Calibri" panose="020F0502020204030204" pitchFamily="34" charset="0"/>
                          </a:rPr>
                          <m:t>a</m:t>
                        </m:r>
                      </m:e>
                    </m:d>
                  </m:oMath>
                </a14:m>
                <a:r>
                  <a:rPr kumimoji="1" lang="en-US" sz="2400" b="0" i="1" u="none" strike="noStrike" kern="0" cap="none" spc="0" normalizeH="0" baseline="0" noProof="0" dirty="0">
                    <a:ln>
                      <a:noFill/>
                    </a:ln>
                    <a:solidFill>
                      <a:srgbClr val="FF0000"/>
                    </a:solidFill>
                    <a:effectLst/>
                    <a:uLnTx/>
                    <a:uFillTx/>
                    <a:cs typeface="Calibri" panose="020F0502020204030204" pitchFamily="34" charset="0"/>
                  </a:rPr>
                  <a:t>+ </a:t>
                </a:r>
                <a:r>
                  <a:rPr kumimoji="0" lang="en-US" sz="2400" i="1" kern="0" dirty="0">
                    <a:solidFill>
                      <a:srgbClr val="FF0000"/>
                    </a:solidFill>
                    <a:latin typeface="Symbol" panose="05050102010706020507" pitchFamily="18" charset="2"/>
                    <a:ea typeface="新細明體"/>
                    <a:cs typeface="Calibri" panose="020F0502020204030204" pitchFamily="34" charset="0"/>
                  </a:rPr>
                  <a:t>a </a:t>
                </a:r>
                <a:r>
                  <a:rPr lang="en-US" sz="2400" i="1" kern="0" dirty="0">
                    <a:solidFill>
                      <a:srgbClr val="FF0000"/>
                    </a:solidFill>
                    <a:latin typeface="Arial"/>
                    <a:ea typeface="新細明體"/>
                    <a:cs typeface="Calibri" panose="020F0502020204030204" pitchFamily="34" charset="0"/>
                  </a:rPr>
                  <a:t>/ </a:t>
                </a:r>
                <a:r>
                  <a:rPr lang="en-US" sz="2400" kern="0" dirty="0">
                    <a:solidFill>
                      <a:srgbClr val="FF0000"/>
                    </a:solidFill>
                    <a:latin typeface="Arial"/>
                    <a:ea typeface="新細明體"/>
                    <a:cs typeface="Calibri" panose="020F0502020204030204" pitchFamily="34" charset="0"/>
                  </a:rPr>
                  <a:t>k)</a:t>
                </a:r>
                <a:r>
                  <a:rPr lang="en-US" sz="2400" i="1" kern="0" dirty="0">
                    <a:solidFill>
                      <a:srgbClr val="FF0000"/>
                    </a:solidFill>
                    <a:latin typeface="Arial"/>
                    <a:ea typeface="新細明體"/>
                    <a:cs typeface="Calibri" panose="020F0502020204030204" pitchFamily="34" charset="0"/>
                  </a:rPr>
                  <a:t> </a:t>
                </a:r>
                <a:endParaRPr kumimoji="1" lang="en-US" sz="2400" b="0" i="1" u="none" strike="noStrike" kern="0" cap="none" spc="0" normalizeH="0" baseline="0" noProof="0" dirty="0">
                  <a:ln>
                    <a:noFill/>
                  </a:ln>
                  <a:solidFill>
                    <a:srgbClr val="FF0000"/>
                  </a:solidFill>
                  <a:effectLst/>
                  <a:uLnTx/>
                  <a:uFillTx/>
                  <a:cs typeface="Calibri" panose="020F0502020204030204" pitchFamily="34" charset="0"/>
                </a:endParaRPr>
              </a:p>
            </p:txBody>
          </p:sp>
        </mc:Choice>
        <mc:Fallback xmlns="">
          <p:sp>
            <p:nvSpPr>
              <p:cNvPr id="11" name="Content Placeholder 7">
                <a:extLst>
                  <a:ext uri="{FF2B5EF4-FFF2-40B4-BE49-F238E27FC236}">
                    <a16:creationId xmlns:a16="http://schemas.microsoft.com/office/drawing/2014/main" id="{84D72465-77D1-4C74-85E9-81D035C6FE96}"/>
                  </a:ext>
                </a:extLst>
              </p:cNvPr>
              <p:cNvSpPr txBox="1">
                <a:spLocks noRot="1" noChangeAspect="1" noMove="1" noResize="1" noEditPoints="1" noAdjustHandles="1" noChangeArrowheads="1" noChangeShapeType="1" noTextEdit="1"/>
              </p:cNvSpPr>
              <p:nvPr/>
            </p:nvSpPr>
            <p:spPr bwMode="auto">
              <a:xfrm>
                <a:off x="532607" y="2571750"/>
                <a:ext cx="7365206" cy="541338"/>
              </a:xfrm>
              <a:prstGeom prst="rect">
                <a:avLst/>
              </a:prstGeom>
              <a:blipFill>
                <a:blip r:embed="rId3"/>
                <a:stretch>
                  <a:fillRect t="-11236" b="-10112"/>
                </a:stretch>
              </a:blipFill>
              <a:ln w="9525">
                <a:noFill/>
                <a:miter lim="800000"/>
              </a:ln>
            </p:spPr>
            <p:txBody>
              <a:bodyPr/>
              <a:lstStyle/>
              <a:p>
                <a:r>
                  <a:rPr lang="en-US">
                    <a:noFill/>
                  </a:rPr>
                  <a:t> </a:t>
                </a:r>
              </a:p>
            </p:txBody>
          </p:sp>
        </mc:Fallback>
      </mc:AlternateContent>
      <p:sp>
        <p:nvSpPr>
          <p:cNvPr id="12" name="Content Placeholder 7">
            <a:extLst>
              <a:ext uri="{FF2B5EF4-FFF2-40B4-BE49-F238E27FC236}">
                <a16:creationId xmlns:a16="http://schemas.microsoft.com/office/drawing/2014/main" id="{D5FB0DFD-EB3C-4EA6-9E95-9C2D14D18A8B}"/>
              </a:ext>
            </a:extLst>
          </p:cNvPr>
          <p:cNvSpPr txBox="1">
            <a:spLocks/>
          </p:cNvSpPr>
          <p:nvPr/>
        </p:nvSpPr>
        <p:spPr bwMode="auto">
          <a:xfrm>
            <a:off x="291077" y="3113088"/>
            <a:ext cx="8866642" cy="1688302"/>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algn="l"/>
            <a:endParaRPr lang="en-US" sz="2000" dirty="0">
              <a:latin typeface="TimesTen-Roman"/>
            </a:endParaRPr>
          </a:p>
        </p:txBody>
      </p:sp>
      <mc:AlternateContent xmlns:mc="http://schemas.openxmlformats.org/markup-compatibility/2006" xmlns:a14="http://schemas.microsoft.com/office/drawing/2010/main">
        <mc:Choice Requires="a14">
          <p:sp>
            <p:nvSpPr>
              <p:cNvPr id="14" name="Content Placeholder 7">
                <a:extLst>
                  <a:ext uri="{FF2B5EF4-FFF2-40B4-BE49-F238E27FC236}">
                    <a16:creationId xmlns:a16="http://schemas.microsoft.com/office/drawing/2014/main" id="{8627707A-EF3B-4B49-A650-78E6E331ED4C}"/>
                  </a:ext>
                </a:extLst>
              </p:cNvPr>
              <p:cNvSpPr txBox="1">
                <a:spLocks/>
              </p:cNvSpPr>
              <p:nvPr/>
            </p:nvSpPr>
            <p:spPr bwMode="auto">
              <a:xfrm>
                <a:off x="550353" y="3013078"/>
                <a:ext cx="7365206" cy="1273172"/>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457176" lvl="1" indent="0">
                  <a:buClr>
                    <a:srgbClr val="0000FF"/>
                  </a:buClr>
                  <a:buNone/>
                  <a:defRPr/>
                </a:pPr>
                <a:r>
                  <a:rPr lang="en-US" sz="2400" i="1" kern="0" dirty="0">
                    <a:solidFill>
                      <a:srgbClr val="FF0000"/>
                    </a:solidFill>
                    <a:cs typeface="Calibri" panose="020F0502020204030204" pitchFamily="34" charset="0"/>
                  </a:rPr>
                  <a:t>4</a:t>
                </a:r>
                <a:r>
                  <a:rPr kumimoji="1" lang="en-US" sz="2400" b="0" i="1" u="none" strike="noStrike" kern="0" cap="none" spc="0" normalizeH="0" noProof="0" dirty="0">
                    <a:ln>
                      <a:noFill/>
                    </a:ln>
                    <a:solidFill>
                      <a:srgbClr val="FF0000"/>
                    </a:solidFill>
                    <a:effectLst/>
                    <a:uLnTx/>
                    <a:uFillTx/>
                    <a:cs typeface="Calibri" panose="020F0502020204030204" pitchFamily="34" charset="0"/>
                  </a:rPr>
                  <a:t> </a:t>
                </a:r>
                <a:r>
                  <a:rPr kumimoji="1" lang="en-US" sz="2400" b="0" i="1" u="none" strike="noStrike" kern="0" cap="none" spc="0" normalizeH="0" baseline="0" noProof="0" dirty="0">
                    <a:ln>
                      <a:noFill/>
                    </a:ln>
                    <a:solidFill>
                      <a:srgbClr val="FF0000"/>
                    </a:solidFill>
                    <a:effectLst/>
                    <a:uLnTx/>
                    <a:uFillTx/>
                    <a:cs typeface="Calibri" panose="020F0502020204030204" pitchFamily="34" charset="0"/>
                  </a:rPr>
                  <a:t>=</a:t>
                </a:r>
                <a:r>
                  <a:rPr kumimoji="1" lang="en-US" sz="2400" b="0" i="1" u="none" strike="noStrike" kern="0" cap="none" spc="0" normalizeH="0" noProof="0" dirty="0">
                    <a:ln>
                      <a:noFill/>
                    </a:ln>
                    <a:solidFill>
                      <a:srgbClr val="FF0000"/>
                    </a:solidFill>
                    <a:effectLst/>
                    <a:uLnTx/>
                    <a:uFillTx/>
                    <a:cs typeface="Calibri" panose="020F0502020204030204" pitchFamily="34" charset="0"/>
                  </a:rPr>
                  <a:t> </a:t>
                </a:r>
                <a:r>
                  <a:rPr kumimoji="1" lang="en-US" sz="2400" b="0" i="1" u="none" strike="noStrike" kern="0" cap="none" spc="0" normalizeH="0" baseline="0" noProof="0" dirty="0">
                    <a:ln>
                      <a:noFill/>
                    </a:ln>
                    <a:solidFill>
                      <a:srgbClr val="FF0000"/>
                    </a:solidFill>
                    <a:effectLst/>
                    <a:uLnTx/>
                    <a:uFillTx/>
                    <a:cs typeface="Calibri" panose="020F0502020204030204" pitchFamily="34" charset="0"/>
                  </a:rPr>
                  <a:t>1 /</a:t>
                </a:r>
                <a:r>
                  <a:rPr kumimoji="0" lang="en-US" sz="2400" dirty="0">
                    <a:solidFill>
                      <a:srgbClr val="FF0000"/>
                    </a:solidFill>
                    <a:latin typeface="Arial"/>
                    <a:ea typeface="新細明體"/>
                    <a:cs typeface="Calibri" panose="020F0502020204030204" pitchFamily="34" charset="0"/>
                  </a:rPr>
                  <a:t> (</a:t>
                </a:r>
                <a14:m>
                  <m:oMath xmlns:m="http://schemas.openxmlformats.org/officeDocument/2006/math">
                    <m:d>
                      <m:dPr>
                        <m:ctrlPr>
                          <a:rPr kumimoji="0" lang="en-US" sz="2400" i="1">
                            <a:solidFill>
                              <a:srgbClr val="FF0000"/>
                            </a:solidFill>
                            <a:latin typeface="Cambria Math" panose="02040503050406030204" pitchFamily="18" charset="0"/>
                            <a:cs typeface="Calibri" panose="020F0502020204030204" pitchFamily="34" charset="0"/>
                          </a:rPr>
                        </m:ctrlPr>
                      </m:dPr>
                      <m:e>
                        <m:r>
                          <a:rPr kumimoji="0" lang="en-US" sz="2400" i="0">
                            <a:solidFill>
                              <a:srgbClr val="FF0000"/>
                            </a:solidFill>
                            <a:latin typeface="Cambria Math" panose="02040503050406030204" pitchFamily="18" charset="0"/>
                            <a:cs typeface="Calibri" panose="020F0502020204030204" pitchFamily="34" charset="0"/>
                          </a:rPr>
                          <m:t>1−</m:t>
                        </m:r>
                        <m:r>
                          <m:rPr>
                            <m:nor/>
                          </m:rPr>
                          <a:rPr kumimoji="0" lang="en-US" sz="2400" b="0" smtClean="0">
                            <a:solidFill>
                              <a:srgbClr val="FF0000"/>
                            </a:solidFill>
                            <a:latin typeface="Cambria Math" panose="02040503050406030204" pitchFamily="18" charset="0"/>
                            <a:cs typeface="Calibri" panose="020F0502020204030204" pitchFamily="34" charset="0"/>
                          </a:rPr>
                          <m:t>0.9</m:t>
                        </m:r>
                      </m:e>
                    </m:d>
                  </m:oMath>
                </a14:m>
                <a:r>
                  <a:rPr kumimoji="1" lang="en-US" sz="2400" b="0" i="1" u="none" strike="noStrike" kern="0" cap="none" spc="0" normalizeH="0" baseline="0" noProof="0" dirty="0">
                    <a:ln>
                      <a:noFill/>
                    </a:ln>
                    <a:solidFill>
                      <a:srgbClr val="FF0000"/>
                    </a:solidFill>
                    <a:effectLst/>
                    <a:uLnTx/>
                    <a:uFillTx/>
                    <a:cs typeface="Calibri" panose="020F0502020204030204" pitchFamily="34" charset="0"/>
                  </a:rPr>
                  <a:t>+ </a:t>
                </a:r>
                <a:r>
                  <a:rPr kumimoji="0" lang="en-US" sz="2400" kern="0" noProof="0" dirty="0">
                    <a:solidFill>
                      <a:srgbClr val="FF0000"/>
                    </a:solidFill>
                    <a:latin typeface="Symbol" panose="05050102010706020507" pitchFamily="18" charset="2"/>
                    <a:ea typeface="新細明體"/>
                    <a:cs typeface="Calibri" panose="020F0502020204030204" pitchFamily="34" charset="0"/>
                  </a:rPr>
                  <a:t>0.9</a:t>
                </a:r>
                <a:r>
                  <a:rPr kumimoji="0" lang="en-US" sz="2400" kern="0" dirty="0">
                    <a:solidFill>
                      <a:srgbClr val="FF0000"/>
                    </a:solidFill>
                    <a:latin typeface="Symbol" panose="05050102010706020507" pitchFamily="18" charset="2"/>
                    <a:ea typeface="新細明體"/>
                    <a:cs typeface="Calibri" panose="020F0502020204030204" pitchFamily="34" charset="0"/>
                  </a:rPr>
                  <a:t> </a:t>
                </a:r>
                <a:r>
                  <a:rPr lang="en-US" sz="2400" i="1" kern="0" dirty="0">
                    <a:solidFill>
                      <a:srgbClr val="FF0000"/>
                    </a:solidFill>
                    <a:latin typeface="Arial"/>
                    <a:ea typeface="新細明體"/>
                    <a:cs typeface="Calibri" panose="020F0502020204030204" pitchFamily="34" charset="0"/>
                  </a:rPr>
                  <a:t>/ </a:t>
                </a:r>
                <a:r>
                  <a:rPr lang="en-US" sz="2400" kern="0" dirty="0">
                    <a:solidFill>
                      <a:srgbClr val="FF0000"/>
                    </a:solidFill>
                    <a:latin typeface="Arial"/>
                    <a:ea typeface="新細明體"/>
                    <a:cs typeface="Calibri" panose="020F0502020204030204" pitchFamily="34" charset="0"/>
                  </a:rPr>
                  <a:t>k) = 1/ (0.1 +0.9/k)</a:t>
                </a:r>
              </a:p>
              <a:p>
                <a:pPr marL="457176" lvl="1" indent="0">
                  <a:buClr>
                    <a:srgbClr val="0000FF"/>
                  </a:buClr>
                  <a:buNone/>
                  <a:defRPr/>
                </a:pPr>
                <a:r>
                  <a:rPr lang="en-US" sz="2400" i="1" kern="0" dirty="0">
                    <a:solidFill>
                      <a:srgbClr val="FF0000"/>
                    </a:solidFill>
                    <a:latin typeface="Arial"/>
                    <a:ea typeface="新細明體"/>
                    <a:cs typeface="Calibri" panose="020F0502020204030204" pitchFamily="34" charset="0"/>
                  </a:rPr>
                  <a:t>0.4+3.6/</a:t>
                </a:r>
                <a:r>
                  <a:rPr lang="en-US" sz="2400" kern="0" dirty="0">
                    <a:solidFill>
                      <a:srgbClr val="FF0000"/>
                    </a:solidFill>
                    <a:latin typeface="Arial"/>
                    <a:ea typeface="新細明體"/>
                    <a:cs typeface="Calibri" panose="020F0502020204030204" pitchFamily="34" charset="0"/>
                  </a:rPr>
                  <a:t>k</a:t>
                </a:r>
                <a:r>
                  <a:rPr lang="en-US" sz="2400" i="1" kern="0" dirty="0">
                    <a:solidFill>
                      <a:srgbClr val="FF0000"/>
                    </a:solidFill>
                    <a:latin typeface="Arial"/>
                    <a:ea typeface="新細明體"/>
                    <a:cs typeface="Calibri" panose="020F0502020204030204" pitchFamily="34" charset="0"/>
                  </a:rPr>
                  <a:t> = 1</a:t>
                </a:r>
              </a:p>
              <a:p>
                <a:pPr marL="457176" lvl="1" indent="0">
                  <a:buClr>
                    <a:srgbClr val="0000FF"/>
                  </a:buClr>
                  <a:buNone/>
                  <a:defRPr/>
                </a:pPr>
                <a:r>
                  <a:rPr lang="en-US" sz="2400" i="1" kern="0" dirty="0">
                    <a:solidFill>
                      <a:srgbClr val="FF0000"/>
                    </a:solidFill>
                    <a:latin typeface="Arial"/>
                    <a:ea typeface="新細明體"/>
                    <a:cs typeface="Calibri" panose="020F0502020204030204" pitchFamily="34" charset="0"/>
                  </a:rPr>
                  <a:t>So </a:t>
                </a:r>
                <a:r>
                  <a:rPr lang="en-US" sz="2400" kern="0" dirty="0">
                    <a:solidFill>
                      <a:srgbClr val="FF0000"/>
                    </a:solidFill>
                    <a:latin typeface="Arial"/>
                    <a:ea typeface="新細明體"/>
                    <a:cs typeface="Calibri" panose="020F0502020204030204" pitchFamily="34" charset="0"/>
                  </a:rPr>
                  <a:t>k </a:t>
                </a:r>
                <a:r>
                  <a:rPr lang="en-US" sz="2400" i="1" kern="0" dirty="0">
                    <a:solidFill>
                      <a:srgbClr val="FF0000"/>
                    </a:solidFill>
                    <a:latin typeface="Arial"/>
                    <a:ea typeface="新細明體"/>
                    <a:cs typeface="Calibri" panose="020F0502020204030204" pitchFamily="34" charset="0"/>
                  </a:rPr>
                  <a:t>= 6  </a:t>
                </a:r>
                <a:endParaRPr kumimoji="1" lang="en-US" sz="2400" b="0" i="1" u="none" strike="noStrike" kern="0" cap="none" spc="0" normalizeH="0" baseline="0" noProof="0" dirty="0">
                  <a:ln>
                    <a:noFill/>
                  </a:ln>
                  <a:solidFill>
                    <a:srgbClr val="FF0000"/>
                  </a:solidFill>
                  <a:effectLst/>
                  <a:uLnTx/>
                  <a:uFillTx/>
                  <a:cs typeface="Calibri" panose="020F0502020204030204" pitchFamily="34" charset="0"/>
                </a:endParaRPr>
              </a:p>
            </p:txBody>
          </p:sp>
        </mc:Choice>
        <mc:Fallback xmlns="">
          <p:sp>
            <p:nvSpPr>
              <p:cNvPr id="14" name="Content Placeholder 7">
                <a:extLst>
                  <a:ext uri="{FF2B5EF4-FFF2-40B4-BE49-F238E27FC236}">
                    <a16:creationId xmlns:a16="http://schemas.microsoft.com/office/drawing/2014/main" id="{8627707A-EF3B-4B49-A650-78E6E331ED4C}"/>
                  </a:ext>
                </a:extLst>
              </p:cNvPr>
              <p:cNvSpPr txBox="1">
                <a:spLocks noRot="1" noChangeAspect="1" noMove="1" noResize="1" noEditPoints="1" noAdjustHandles="1" noChangeArrowheads="1" noChangeShapeType="1" noTextEdit="1"/>
              </p:cNvSpPr>
              <p:nvPr/>
            </p:nvSpPr>
            <p:spPr bwMode="auto">
              <a:xfrm>
                <a:off x="550353" y="3013078"/>
                <a:ext cx="7365206" cy="1273172"/>
              </a:xfrm>
              <a:prstGeom prst="rect">
                <a:avLst/>
              </a:prstGeom>
              <a:blipFill>
                <a:blip r:embed="rId4"/>
                <a:stretch>
                  <a:fillRect t="-4785" b="-15311"/>
                </a:stretch>
              </a:blipFill>
              <a:ln w="9525">
                <a:noFill/>
                <a:miter lim="800000"/>
              </a:ln>
            </p:spPr>
            <p:txBody>
              <a:bodyPr/>
              <a:lstStyle/>
              <a:p>
                <a:r>
                  <a:rPr lang="en-US">
                    <a:noFill/>
                  </a:rPr>
                  <a:t> </a:t>
                </a:r>
              </a:p>
            </p:txBody>
          </p:sp>
        </mc:Fallback>
      </mc:AlternateContent>
    </p:spTree>
    <p:extLst>
      <p:ext uri="{BB962C8B-B14F-4D97-AF65-F5344CB8AC3E}">
        <p14:creationId xmlns:p14="http://schemas.microsoft.com/office/powerpoint/2010/main" val="1219481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74171" y="714375"/>
            <a:ext cx="8795657" cy="3986211"/>
          </a:xfrm>
        </p:spPr>
        <p:txBody>
          <a:bodyPr/>
          <a:lstStyle/>
          <a:p>
            <a:pPr marL="0" indent="0" algn="l">
              <a:buNone/>
            </a:pPr>
            <a:r>
              <a:rPr lang="en-US" sz="2000" b="0" i="0" u="none" strike="noStrike" baseline="0" dirty="0">
                <a:latin typeface="TimesTen-Roman"/>
              </a:rPr>
              <a:t>    </a:t>
            </a:r>
          </a:p>
        </p:txBody>
      </p:sp>
      <p:sp>
        <p:nvSpPr>
          <p:cNvPr id="2" name="灯片编号占位符 1"/>
          <p:cNvSpPr>
            <a:spLocks noGrp="1"/>
          </p:cNvSpPr>
          <p:nvPr>
            <p:ph type="sldNum" sz="quarter" idx="10"/>
          </p:nvPr>
        </p:nvSpPr>
        <p:spPr/>
        <p:txBody>
          <a:bodyPr/>
          <a:lstStyle/>
          <a:p>
            <a:fld id="{D9B6BDF2-6896-4B98-8776-C18582F63BA5}" type="slidenum">
              <a:rPr lang="zh-TW" altLang="en-US" smtClean="0"/>
              <a:t>38</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771525" y="107950"/>
            <a:ext cx="8122444"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1.9.2 Concurrency and Parallelism</a:t>
            </a:r>
          </a:p>
        </p:txBody>
      </p:sp>
      <p:sp>
        <p:nvSpPr>
          <p:cNvPr id="7" name="Content Placeholder 7">
            <a:extLst>
              <a:ext uri="{FF2B5EF4-FFF2-40B4-BE49-F238E27FC236}">
                <a16:creationId xmlns:a16="http://schemas.microsoft.com/office/drawing/2014/main" id="{5B628818-E06A-48D3-972B-384C202BB3BB}"/>
              </a:ext>
            </a:extLst>
          </p:cNvPr>
          <p:cNvSpPr txBox="1">
            <a:spLocks/>
          </p:cNvSpPr>
          <p:nvPr/>
        </p:nvSpPr>
        <p:spPr bwMode="auto">
          <a:xfrm>
            <a:off x="326570" y="2143125"/>
            <a:ext cx="8795657" cy="2339332"/>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endParaRPr lang="en-US" sz="2000" i="1" kern="0" dirty="0">
              <a:solidFill>
                <a:srgbClr val="FF0000"/>
              </a:solidFill>
              <a:latin typeface="TimesTen-Italic"/>
            </a:endParaRPr>
          </a:p>
          <a:p>
            <a:endParaRPr lang="en-US" sz="2000" kern="0" dirty="0">
              <a:solidFill>
                <a:srgbClr val="FF0000"/>
              </a:solidFill>
            </a:endParaRPr>
          </a:p>
        </p:txBody>
      </p:sp>
      <p:sp>
        <p:nvSpPr>
          <p:cNvPr id="10" name="Content Placeholder 7">
            <a:extLst>
              <a:ext uri="{FF2B5EF4-FFF2-40B4-BE49-F238E27FC236}">
                <a16:creationId xmlns:a16="http://schemas.microsoft.com/office/drawing/2014/main" id="{406FF8B5-923E-48F3-A830-9893698ED8C4}"/>
              </a:ext>
            </a:extLst>
          </p:cNvPr>
          <p:cNvSpPr txBox="1">
            <a:spLocks/>
          </p:cNvSpPr>
          <p:nvPr/>
        </p:nvSpPr>
        <p:spPr bwMode="auto">
          <a:xfrm>
            <a:off x="97970" y="935831"/>
            <a:ext cx="8946017" cy="3679030"/>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algn="l"/>
            <a:r>
              <a:rPr lang="en-US" sz="2000" i="1" dirty="0">
                <a:latin typeface="TimesTen-Italic"/>
              </a:rPr>
              <a:t>C</a:t>
            </a:r>
            <a:r>
              <a:rPr lang="en-US" sz="2000" b="0" i="1" u="none" strike="noStrike" baseline="0" dirty="0">
                <a:latin typeface="TimesTen-Italic"/>
              </a:rPr>
              <a:t>oncurrency </a:t>
            </a:r>
            <a:r>
              <a:rPr lang="en-US" sz="2000" b="0" i="0" u="none" strike="noStrike" baseline="0" dirty="0">
                <a:latin typeface="TimesTen-Roman"/>
              </a:rPr>
              <a:t>refers to the general concept of a system with multiple, simultaneous activities.</a:t>
            </a:r>
          </a:p>
          <a:p>
            <a:pPr marL="0" indent="0" algn="l">
              <a:buNone/>
            </a:pPr>
            <a:r>
              <a:rPr lang="en-US" sz="2000" dirty="0">
                <a:latin typeface="TimesTen-Roman"/>
              </a:rPr>
              <a:t>     Example:</a:t>
            </a:r>
          </a:p>
          <a:p>
            <a:pPr marL="0" indent="0" algn="l">
              <a:buNone/>
            </a:pPr>
            <a:r>
              <a:rPr lang="en-US" sz="2000" b="0" i="0" u="none" strike="noStrike" baseline="0" dirty="0">
                <a:latin typeface="TimesTen-Roman"/>
              </a:rPr>
              <a:t>	A time-sharing system: </a:t>
            </a:r>
            <a:r>
              <a:rPr lang="en-US" sz="2000" dirty="0">
                <a:latin typeface="TimesTen-Roman"/>
              </a:rPr>
              <a:t>m</a:t>
            </a:r>
            <a:r>
              <a:rPr lang="en-US" sz="2000" b="0" i="0" u="none" strike="noStrike" baseline="0" dirty="0">
                <a:latin typeface="TimesTen-Roman"/>
              </a:rPr>
              <a:t>ultiple users are using the same system.</a:t>
            </a:r>
          </a:p>
          <a:p>
            <a:pPr marL="0" indent="0" algn="l">
              <a:buNone/>
            </a:pPr>
            <a:r>
              <a:rPr lang="en-US" sz="2000" dirty="0">
                <a:latin typeface="TimesTen-Roman"/>
              </a:rPr>
              <a:t>	Multiprogramming: On a single-core system, multiple programs coexist in 	memory at the same time, but only one can run on the CPU. </a:t>
            </a:r>
            <a:endParaRPr lang="en-US" sz="2000" b="0" i="0" u="none" strike="noStrike" baseline="0" dirty="0">
              <a:latin typeface="TimesTen-Roman"/>
            </a:endParaRPr>
          </a:p>
          <a:p>
            <a:pPr algn="l"/>
            <a:r>
              <a:rPr lang="en-US" sz="2000" i="1" dirty="0">
                <a:latin typeface="TimesTen-Italic"/>
              </a:rPr>
              <a:t>P</a:t>
            </a:r>
            <a:r>
              <a:rPr lang="en-US" sz="2000" b="0" i="1" u="none" strike="noStrike" baseline="0" dirty="0">
                <a:latin typeface="TimesTen-Italic"/>
              </a:rPr>
              <a:t>arallelism </a:t>
            </a:r>
            <a:r>
              <a:rPr lang="en-US" sz="2000" b="0" i="0" u="none" strike="noStrike" baseline="0" dirty="0">
                <a:latin typeface="TimesTen-Roman"/>
              </a:rPr>
              <a:t>refers to the use of concurrency to make a system run faster.</a:t>
            </a:r>
          </a:p>
          <a:p>
            <a:pPr marL="0" indent="0" algn="l">
              <a:buNone/>
            </a:pPr>
            <a:r>
              <a:rPr kumimoji="0" lang="en-US" sz="2000" b="0" i="0" u="none" strike="noStrike" kern="0" baseline="0" dirty="0">
                <a:solidFill>
                  <a:srgbClr val="374151"/>
                </a:solidFill>
                <a:latin typeface="TimesTen-Roman"/>
                <a:ea typeface="新細明體"/>
              </a:rPr>
              <a:t>    </a:t>
            </a:r>
            <a:r>
              <a:rPr kumimoji="0" lang="en-US" sz="2000" b="0" i="0" u="none" strike="noStrike" kern="0" cap="none" spc="0" normalizeH="0" baseline="0" noProof="0" dirty="0">
                <a:ln>
                  <a:noFill/>
                </a:ln>
                <a:solidFill>
                  <a:srgbClr val="374151"/>
                </a:solidFill>
                <a:effectLst/>
                <a:uLnTx/>
                <a:uFillTx/>
                <a:latin typeface="Times New Roman" panose="02020603050405020304" pitchFamily="18" charset="0"/>
                <a:ea typeface="新細明體"/>
                <a:cs typeface="Times New Roman" panose="02020603050405020304" pitchFamily="18" charset="0"/>
              </a:rPr>
              <a:t>Example:  </a:t>
            </a:r>
          </a:p>
          <a:p>
            <a:pPr marL="0" indent="0" algn="l">
              <a:buNone/>
            </a:pPr>
            <a:r>
              <a:rPr kumimoji="0" lang="en-US" sz="2000" kern="0" dirty="0">
                <a:solidFill>
                  <a:srgbClr val="374151"/>
                </a:solidFill>
                <a:latin typeface="Times New Roman" panose="02020603050405020304" pitchFamily="18" charset="0"/>
                <a:ea typeface="新細明體"/>
                <a:cs typeface="Times New Roman" panose="02020603050405020304" pitchFamily="18" charset="0"/>
              </a:rPr>
              <a:t>	</a:t>
            </a:r>
            <a:r>
              <a:rPr kumimoji="0" lang="en-US" sz="2000" b="0" i="0" u="none" strike="noStrike" kern="0" cap="none" spc="0" normalizeH="0" baseline="0" noProof="0" dirty="0">
                <a:ln>
                  <a:noFill/>
                </a:ln>
                <a:solidFill>
                  <a:srgbClr val="374151"/>
                </a:solidFill>
                <a:effectLst/>
                <a:uLnTx/>
                <a:uFillTx/>
                <a:latin typeface="Times New Roman" panose="02020603050405020304" pitchFamily="18" charset="0"/>
                <a:ea typeface="新細明體"/>
                <a:cs typeface="Times New Roman" panose="02020603050405020304" pitchFamily="18" charset="0"/>
              </a:rPr>
              <a:t>Using 4 CPU cores to process 4 parts of an image at the same time. </a:t>
            </a:r>
          </a:p>
          <a:p>
            <a:pPr marL="0" indent="0" algn="l">
              <a:buNone/>
            </a:pPr>
            <a:r>
              <a:rPr kumimoji="0" lang="en-US" sz="2000" kern="0" dirty="0">
                <a:solidFill>
                  <a:srgbClr val="374151"/>
                </a:solidFill>
                <a:latin typeface="Times New Roman" panose="02020603050405020304" pitchFamily="18" charset="0"/>
                <a:ea typeface="新細明體"/>
                <a:cs typeface="Times New Roman" panose="02020603050405020304" pitchFamily="18" charset="0"/>
              </a:rPr>
              <a:t>	Here, we have sufficient resources to support simultaneous execution.</a:t>
            </a:r>
            <a:endParaRPr lang="en-US" sz="1800" i="0" u="none" strike="noStrike" baseline="0" dirty="0">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300D8473-3066-4AE0-974B-7503758B2DA7}"/>
              </a:ext>
            </a:extLst>
          </p:cNvPr>
          <p:cNvSpPr txBox="1">
            <a:spLocks/>
          </p:cNvSpPr>
          <p:nvPr/>
        </p:nvSpPr>
        <p:spPr bwMode="auto">
          <a:xfrm>
            <a:off x="0" y="4557713"/>
            <a:ext cx="10792155" cy="2923055"/>
          </a:xfrm>
          <a:prstGeom prst="rect">
            <a:avLst/>
          </a:prstGeom>
          <a:noFill/>
          <a:ln w="9525">
            <a:noFill/>
            <a:miter lim="800000"/>
          </a:ln>
        </p:spPr>
        <p:txBody>
          <a:bodyPr vert="horz" wrap="square" lIns="91440" tIns="45720" rIns="91440" bIns="45720" numCol="1" anchor="t" anchorCtr="0" compatLnSpc="1">
            <a:noAutofit/>
          </a:bodyPr>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685800" lvl="2" indent="0">
              <a:buSzPct val="120000"/>
              <a:buNone/>
            </a:pPr>
            <a:endParaRPr lang="en-US" sz="2000" kern="0" dirty="0">
              <a:solidFill>
                <a:srgbClr val="374151"/>
              </a:solidFill>
              <a:latin typeface="ui-sans-serif"/>
            </a:endParaRPr>
          </a:p>
        </p:txBody>
      </p:sp>
    </p:spTree>
    <p:extLst>
      <p:ext uri="{BB962C8B-B14F-4D97-AF65-F5344CB8AC3E}">
        <p14:creationId xmlns:p14="http://schemas.microsoft.com/office/powerpoint/2010/main" val="12899574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74171" y="714375"/>
            <a:ext cx="8795657" cy="3986211"/>
          </a:xfrm>
        </p:spPr>
        <p:txBody>
          <a:bodyPr/>
          <a:lstStyle/>
          <a:p>
            <a:pPr marL="0" indent="0" algn="l">
              <a:buNone/>
            </a:pPr>
            <a:r>
              <a:rPr lang="en-US" sz="2000" b="0" i="0" u="none" strike="noStrike" baseline="0" dirty="0">
                <a:latin typeface="TimesTen-Roman"/>
              </a:rPr>
              <a:t>    </a:t>
            </a:r>
          </a:p>
        </p:txBody>
      </p:sp>
      <p:sp>
        <p:nvSpPr>
          <p:cNvPr id="2" name="灯片编号占位符 1"/>
          <p:cNvSpPr>
            <a:spLocks noGrp="1"/>
          </p:cNvSpPr>
          <p:nvPr>
            <p:ph type="sldNum" sz="quarter" idx="10"/>
          </p:nvPr>
        </p:nvSpPr>
        <p:spPr/>
        <p:txBody>
          <a:bodyPr/>
          <a:lstStyle/>
          <a:p>
            <a:fld id="{D9B6BDF2-6896-4B98-8776-C18582F63BA5}" type="slidenum">
              <a:rPr lang="zh-TW" altLang="en-US" smtClean="0"/>
              <a:t>39</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771525" y="107950"/>
            <a:ext cx="8122444"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1.9.2 ILP and DLP</a:t>
            </a:r>
          </a:p>
        </p:txBody>
      </p:sp>
      <p:sp>
        <p:nvSpPr>
          <p:cNvPr id="7" name="Content Placeholder 7">
            <a:extLst>
              <a:ext uri="{FF2B5EF4-FFF2-40B4-BE49-F238E27FC236}">
                <a16:creationId xmlns:a16="http://schemas.microsoft.com/office/drawing/2014/main" id="{5B628818-E06A-48D3-972B-384C202BB3BB}"/>
              </a:ext>
            </a:extLst>
          </p:cNvPr>
          <p:cNvSpPr txBox="1">
            <a:spLocks/>
          </p:cNvSpPr>
          <p:nvPr/>
        </p:nvSpPr>
        <p:spPr bwMode="auto">
          <a:xfrm>
            <a:off x="326570" y="2143125"/>
            <a:ext cx="8795657" cy="2339332"/>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endParaRPr lang="en-US" sz="2000" i="1" kern="0" dirty="0">
              <a:solidFill>
                <a:srgbClr val="FF0000"/>
              </a:solidFill>
              <a:latin typeface="TimesTen-Italic"/>
            </a:endParaRPr>
          </a:p>
          <a:p>
            <a:endParaRPr lang="en-US" sz="2000" kern="0" dirty="0">
              <a:solidFill>
                <a:srgbClr val="FF0000"/>
              </a:solidFill>
            </a:endParaRPr>
          </a:p>
        </p:txBody>
      </p:sp>
      <mc:AlternateContent xmlns:mc="http://schemas.openxmlformats.org/markup-compatibility/2006" xmlns:a14="http://schemas.microsoft.com/office/drawing/2010/main">
        <mc:Choice Requires="a14">
          <p:sp>
            <p:nvSpPr>
              <p:cNvPr id="10" name="Content Placeholder 7">
                <a:extLst>
                  <a:ext uri="{FF2B5EF4-FFF2-40B4-BE49-F238E27FC236}">
                    <a16:creationId xmlns:a16="http://schemas.microsoft.com/office/drawing/2014/main" id="{406FF8B5-923E-48F3-A830-9893698ED8C4}"/>
                  </a:ext>
                </a:extLst>
              </p:cNvPr>
              <p:cNvSpPr txBox="1">
                <a:spLocks/>
              </p:cNvSpPr>
              <p:nvPr/>
            </p:nvSpPr>
            <p:spPr bwMode="auto">
              <a:xfrm>
                <a:off x="97970" y="935831"/>
                <a:ext cx="8946017" cy="3679030"/>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algn="l"/>
                <a:r>
                  <a:rPr lang="en-US" sz="2000" dirty="0">
                    <a:latin typeface="TimesTen-Roman"/>
                  </a:rPr>
                  <a:t>M</a:t>
                </a:r>
                <a:r>
                  <a:rPr lang="en-US" sz="2000" b="0" i="0" u="none" strike="noStrike" baseline="0" dirty="0">
                    <a:latin typeface="TimesTen-Roman"/>
                  </a:rPr>
                  <a:t>odern processors can execute multiple instructions at one time, a property known as </a:t>
                </a:r>
                <a:r>
                  <a:rPr lang="en-US" sz="2000" b="0" i="1" u="none" strike="noStrike" baseline="0" dirty="0">
                    <a:latin typeface="TimesTen-Italic"/>
                  </a:rPr>
                  <a:t>instruction-level parallelism (</a:t>
                </a:r>
                <a:r>
                  <a:rPr lang="en-US" sz="2000" b="0" i="1" u="none" strike="noStrike" baseline="0" dirty="0">
                    <a:solidFill>
                      <a:srgbClr val="FF0000"/>
                    </a:solidFill>
                    <a:latin typeface="TimesTen-Italic"/>
                  </a:rPr>
                  <a:t>ILP</a:t>
                </a:r>
                <a:r>
                  <a:rPr lang="en-US" sz="2000" b="0" i="1" u="none" strike="noStrike" baseline="0" dirty="0">
                    <a:latin typeface="TimesTen-Italic"/>
                  </a:rPr>
                  <a:t>)</a:t>
                </a:r>
                <a:r>
                  <a:rPr lang="en-US" sz="2000" b="0" i="0" u="none" strike="noStrike" baseline="0" dirty="0">
                    <a:latin typeface="TimesTen-Roman"/>
                  </a:rPr>
                  <a:t>.</a:t>
                </a:r>
              </a:p>
              <a:p>
                <a:pPr algn="l"/>
                <a:r>
                  <a:rPr lang="en-US" sz="2000" dirty="0">
                    <a:latin typeface="TimesTen-Roman"/>
                    <a:cs typeface="Times New Roman" panose="02020603050405020304" pitchFamily="18" charset="0"/>
                  </a:rPr>
                  <a:t>Micro-architecture techniques such as pipelining, superscalar, and out-of-order execution exploit ILP to speed up instruction processing.</a:t>
                </a:r>
              </a:p>
              <a:p>
                <a:r>
                  <a:rPr lang="en-US" sz="2000" i="0" u="none" strike="noStrike" baseline="0" dirty="0">
                    <a:latin typeface="TimesTen-Roman"/>
                    <a:cs typeface="Times New Roman" panose="02020603050405020304" pitchFamily="18" charset="0"/>
                  </a:rPr>
                  <a:t>Another type of parallelism is </a:t>
                </a:r>
                <a:r>
                  <a:rPr lang="en-US" sz="2000" i="1" u="none" strike="noStrike" baseline="0" dirty="0">
                    <a:latin typeface="TimesTen-Roman"/>
                    <a:cs typeface="Times New Roman" panose="02020603050405020304" pitchFamily="18" charset="0"/>
                  </a:rPr>
                  <a:t>data-level parallelism (</a:t>
                </a:r>
                <a:r>
                  <a:rPr lang="en-US" sz="2000" i="1" u="none" strike="noStrike" baseline="0" dirty="0">
                    <a:solidFill>
                      <a:srgbClr val="FF0000"/>
                    </a:solidFill>
                    <a:latin typeface="TimesTen-Roman"/>
                    <a:cs typeface="Times New Roman" panose="02020603050405020304" pitchFamily="18" charset="0"/>
                  </a:rPr>
                  <a:t>DLP</a:t>
                </a:r>
                <a:r>
                  <a:rPr lang="en-US" sz="2000" i="1" u="none" strike="noStrike" baseline="0" dirty="0">
                    <a:latin typeface="TimesTen-Roman"/>
                    <a:cs typeface="Times New Roman" panose="02020603050405020304" pitchFamily="18" charset="0"/>
                  </a:rPr>
                  <a:t>), </a:t>
                </a:r>
                <a:r>
                  <a:rPr lang="en-US" sz="2000" u="none" strike="noStrike" baseline="0" dirty="0">
                    <a:latin typeface="TimesTen-Roman"/>
                    <a:cs typeface="Times New Roman" panose="02020603050405020304" pitchFamily="18" charset="0"/>
                  </a:rPr>
                  <a:t>where one instruction can process multiple data. For example, an instruction A+B can process </a:t>
                </a:r>
                <a14:m>
                  <m:oMath xmlns:m="http://schemas.openxmlformats.org/officeDocument/2006/math">
                    <m:sSub>
                      <m:sSubPr>
                        <m:ctrlPr>
                          <a:rPr lang="pt-BR" sz="2000" i="1" u="none" strike="noStrike" baseline="0" smtClean="0">
                            <a:latin typeface="Cambria Math" panose="02040503050406030204" pitchFamily="18" charset="0"/>
                            <a:cs typeface="Times New Roman" panose="02020603050405020304" pitchFamily="18" charset="0"/>
                          </a:rPr>
                        </m:ctrlPr>
                      </m:sSubPr>
                      <m:e>
                        <m:r>
                          <a:rPr lang="en-US" sz="2000" b="0" i="1" u="none" strike="noStrike" baseline="0" smtClean="0">
                            <a:latin typeface="Cambria Math" panose="02040503050406030204" pitchFamily="18" charset="0"/>
                            <a:cs typeface="Times New Roman" panose="02020603050405020304" pitchFamily="18" charset="0"/>
                          </a:rPr>
                          <m:t>𝐴</m:t>
                        </m:r>
                      </m:e>
                      <m:sub>
                        <m:r>
                          <a:rPr lang="en-US" sz="2000" b="0" i="1" u="none" strike="noStrike" baseline="0" smtClean="0">
                            <a:latin typeface="Cambria Math" panose="02040503050406030204" pitchFamily="18" charset="0"/>
                            <a:cs typeface="Times New Roman" panose="02020603050405020304" pitchFamily="18" charset="0"/>
                          </a:rPr>
                          <m:t>1</m:t>
                        </m:r>
                      </m:sub>
                    </m:sSub>
                    <m:sSub>
                      <m:sSubPr>
                        <m:ctrlPr>
                          <a:rPr lang="pt-BR" sz="2000" i="1">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m:t>
                        </m:r>
                        <m:r>
                          <a:rPr lang="en-US" sz="2000" b="0" i="1" smtClean="0">
                            <a:latin typeface="Cambria Math" panose="02040503050406030204" pitchFamily="18" charset="0"/>
                            <a:cs typeface="Times New Roman" panose="02020603050405020304" pitchFamily="18" charset="0"/>
                          </a:rPr>
                          <m:t>𝐵</m:t>
                        </m:r>
                      </m:e>
                      <m:sub>
                        <m:r>
                          <a:rPr lang="en-US" sz="2000" b="0" i="1" smtClean="0">
                            <a:latin typeface="Cambria Math" panose="02040503050406030204" pitchFamily="18" charset="0"/>
                            <a:cs typeface="Times New Roman" panose="02020603050405020304" pitchFamily="18" charset="0"/>
                          </a:rPr>
                          <m:t>1</m:t>
                        </m:r>
                      </m:sub>
                    </m:sSub>
                  </m:oMath>
                </a14:m>
                <a:r>
                  <a:rPr lang="en-US" sz="2000" u="none" strike="noStrike" baseline="0" dirty="0">
                    <a:latin typeface="Times New Roman" panose="02020603050405020304" pitchFamily="18" charset="0"/>
                    <a:cs typeface="Times New Roman" panose="02020603050405020304" pitchFamily="18" charset="0"/>
                  </a:rPr>
                  <a:t>, </a:t>
                </a:r>
                <a14:m>
                  <m:oMath xmlns:m="http://schemas.openxmlformats.org/officeDocument/2006/math">
                    <m:sSub>
                      <m:sSubPr>
                        <m:ctrlPr>
                          <a:rPr kumimoji="0" lang="pt-BR" sz="2000" i="1">
                            <a:solidFill>
                              <a:prstClr val="black"/>
                            </a:solidFill>
                            <a:latin typeface="Cambria Math" panose="02040503050406030204" pitchFamily="18" charset="0"/>
                            <a:cs typeface="Times New Roman" panose="02020603050405020304" pitchFamily="18" charset="0"/>
                          </a:rPr>
                        </m:ctrlPr>
                      </m:sSubPr>
                      <m:e>
                        <m:r>
                          <a:rPr kumimoji="0" lang="en-US" sz="2000" i="1">
                            <a:solidFill>
                              <a:prstClr val="black"/>
                            </a:solidFill>
                            <a:latin typeface="Cambria Math" panose="02040503050406030204" pitchFamily="18" charset="0"/>
                            <a:cs typeface="Times New Roman" panose="02020603050405020304" pitchFamily="18" charset="0"/>
                          </a:rPr>
                          <m:t>𝐴</m:t>
                        </m:r>
                      </m:e>
                      <m:sub>
                        <m:r>
                          <a:rPr kumimoji="0" lang="en-US" sz="2000" b="0" i="1" smtClean="0">
                            <a:solidFill>
                              <a:prstClr val="black"/>
                            </a:solidFill>
                            <a:latin typeface="Cambria Math" panose="02040503050406030204" pitchFamily="18" charset="0"/>
                            <a:cs typeface="Times New Roman" panose="02020603050405020304" pitchFamily="18" charset="0"/>
                          </a:rPr>
                          <m:t>2</m:t>
                        </m:r>
                      </m:sub>
                    </m:sSub>
                    <m:sSub>
                      <m:sSubPr>
                        <m:ctrlPr>
                          <a:rPr kumimoji="0" lang="pt-BR" sz="2000" i="1">
                            <a:solidFill>
                              <a:prstClr val="black"/>
                            </a:solidFill>
                            <a:latin typeface="Cambria Math" panose="02040503050406030204" pitchFamily="18" charset="0"/>
                            <a:cs typeface="Times New Roman" panose="02020603050405020304" pitchFamily="18" charset="0"/>
                          </a:rPr>
                        </m:ctrlPr>
                      </m:sSubPr>
                      <m:e>
                        <m:r>
                          <a:rPr kumimoji="0" lang="en-US" sz="2000" i="1">
                            <a:solidFill>
                              <a:prstClr val="black"/>
                            </a:solidFill>
                            <a:latin typeface="Cambria Math" panose="02040503050406030204" pitchFamily="18" charset="0"/>
                            <a:cs typeface="Times New Roman" panose="02020603050405020304" pitchFamily="18" charset="0"/>
                          </a:rPr>
                          <m:t>+</m:t>
                        </m:r>
                        <m:r>
                          <a:rPr kumimoji="0" lang="en-US" sz="2000" i="1">
                            <a:solidFill>
                              <a:prstClr val="black"/>
                            </a:solidFill>
                            <a:latin typeface="Cambria Math" panose="02040503050406030204" pitchFamily="18" charset="0"/>
                            <a:cs typeface="Times New Roman" panose="02020603050405020304" pitchFamily="18" charset="0"/>
                          </a:rPr>
                          <m:t>𝐵</m:t>
                        </m:r>
                      </m:e>
                      <m:sub>
                        <m:r>
                          <a:rPr kumimoji="0" lang="en-US" sz="2000" b="0" i="1" smtClean="0">
                            <a:solidFill>
                              <a:prstClr val="black"/>
                            </a:solidFill>
                            <a:latin typeface="Cambria Math" panose="02040503050406030204" pitchFamily="18" charset="0"/>
                            <a:cs typeface="Times New Roman" panose="02020603050405020304" pitchFamily="18" charset="0"/>
                          </a:rPr>
                          <m:t>2</m:t>
                        </m:r>
                      </m:sub>
                    </m:sSub>
                  </m:oMath>
                </a14:m>
                <a:r>
                  <a:rPr lang="en-US" sz="2000" u="none" strike="noStrike" baseline="0" dirty="0">
                    <a:latin typeface="Times New Roman" panose="02020603050405020304" pitchFamily="18" charset="0"/>
                    <a:cs typeface="Times New Roman" panose="02020603050405020304" pitchFamily="18" charset="0"/>
                  </a:rPr>
                  <a:t>, </a:t>
                </a:r>
                <a14:m>
                  <m:oMath xmlns:m="http://schemas.openxmlformats.org/officeDocument/2006/math">
                    <m:sSub>
                      <m:sSubPr>
                        <m:ctrlPr>
                          <a:rPr kumimoji="0" lang="pt-BR" sz="2000" i="1">
                            <a:solidFill>
                              <a:prstClr val="black"/>
                            </a:solidFill>
                            <a:latin typeface="Cambria Math" panose="02040503050406030204" pitchFamily="18" charset="0"/>
                            <a:cs typeface="Times New Roman" panose="02020603050405020304" pitchFamily="18" charset="0"/>
                          </a:rPr>
                        </m:ctrlPr>
                      </m:sSubPr>
                      <m:e>
                        <m:r>
                          <a:rPr kumimoji="0" lang="en-US" sz="2000" i="1">
                            <a:solidFill>
                              <a:prstClr val="black"/>
                            </a:solidFill>
                            <a:latin typeface="Cambria Math" panose="02040503050406030204" pitchFamily="18" charset="0"/>
                            <a:cs typeface="Times New Roman" panose="02020603050405020304" pitchFamily="18" charset="0"/>
                          </a:rPr>
                          <m:t>𝐴</m:t>
                        </m:r>
                      </m:e>
                      <m:sub>
                        <m:r>
                          <a:rPr kumimoji="0" lang="en-US" sz="2000" b="0" i="1" smtClean="0">
                            <a:solidFill>
                              <a:prstClr val="black"/>
                            </a:solidFill>
                            <a:latin typeface="Cambria Math" panose="02040503050406030204" pitchFamily="18" charset="0"/>
                            <a:cs typeface="Times New Roman" panose="02020603050405020304" pitchFamily="18" charset="0"/>
                          </a:rPr>
                          <m:t>3</m:t>
                        </m:r>
                      </m:sub>
                    </m:sSub>
                    <m:sSub>
                      <m:sSubPr>
                        <m:ctrlPr>
                          <a:rPr kumimoji="0" lang="pt-BR" sz="2000" i="1">
                            <a:solidFill>
                              <a:prstClr val="black"/>
                            </a:solidFill>
                            <a:latin typeface="Cambria Math" panose="02040503050406030204" pitchFamily="18" charset="0"/>
                            <a:cs typeface="Times New Roman" panose="02020603050405020304" pitchFamily="18" charset="0"/>
                          </a:rPr>
                        </m:ctrlPr>
                      </m:sSubPr>
                      <m:e>
                        <m:r>
                          <a:rPr kumimoji="0" lang="en-US" sz="2000" i="1">
                            <a:solidFill>
                              <a:prstClr val="black"/>
                            </a:solidFill>
                            <a:latin typeface="Cambria Math" panose="02040503050406030204" pitchFamily="18" charset="0"/>
                            <a:cs typeface="Times New Roman" panose="02020603050405020304" pitchFamily="18" charset="0"/>
                          </a:rPr>
                          <m:t>+</m:t>
                        </m:r>
                        <m:r>
                          <a:rPr kumimoji="0" lang="en-US" sz="2000" i="1">
                            <a:solidFill>
                              <a:prstClr val="black"/>
                            </a:solidFill>
                            <a:latin typeface="Cambria Math" panose="02040503050406030204" pitchFamily="18" charset="0"/>
                            <a:cs typeface="Times New Roman" panose="02020603050405020304" pitchFamily="18" charset="0"/>
                          </a:rPr>
                          <m:t>𝐵</m:t>
                        </m:r>
                      </m:e>
                      <m:sub>
                        <m:r>
                          <a:rPr kumimoji="0" lang="en-US" sz="2000" b="0" i="1" smtClean="0">
                            <a:solidFill>
                              <a:prstClr val="black"/>
                            </a:solidFill>
                            <a:latin typeface="Cambria Math" panose="02040503050406030204" pitchFamily="18" charset="0"/>
                            <a:cs typeface="Times New Roman" panose="02020603050405020304" pitchFamily="18" charset="0"/>
                          </a:rPr>
                          <m:t>3</m:t>
                        </m:r>
                      </m:sub>
                    </m:sSub>
                  </m:oMath>
                </a14:m>
                <a:r>
                  <a:rPr kumimoji="0" lang="en-US" sz="2000" dirty="0">
                    <a:solidFill>
                      <a:prstClr val="black"/>
                    </a:solidFill>
                    <a:latin typeface="Times New Roman" panose="02020603050405020304" pitchFamily="18" charset="0"/>
                    <a:ea typeface="新細明體"/>
                    <a:cs typeface="Times New Roman" panose="02020603050405020304" pitchFamily="18" charset="0"/>
                  </a:rPr>
                  <a:t>, </a:t>
                </a:r>
                <a14:m>
                  <m:oMath xmlns:m="http://schemas.openxmlformats.org/officeDocument/2006/math">
                    <m:sSub>
                      <m:sSubPr>
                        <m:ctrlPr>
                          <a:rPr kumimoji="0" lang="pt-BR" sz="2000" i="1">
                            <a:solidFill>
                              <a:prstClr val="black"/>
                            </a:solidFill>
                            <a:latin typeface="Cambria Math" panose="02040503050406030204" pitchFamily="18" charset="0"/>
                            <a:cs typeface="Times New Roman" panose="02020603050405020304" pitchFamily="18" charset="0"/>
                          </a:rPr>
                        </m:ctrlPr>
                      </m:sSubPr>
                      <m:e>
                        <m:r>
                          <a:rPr kumimoji="0" lang="en-US" sz="2000" i="1">
                            <a:solidFill>
                              <a:prstClr val="black"/>
                            </a:solidFill>
                            <a:latin typeface="Cambria Math" panose="02040503050406030204" pitchFamily="18" charset="0"/>
                            <a:cs typeface="Times New Roman" panose="02020603050405020304" pitchFamily="18" charset="0"/>
                          </a:rPr>
                          <m:t>𝐴</m:t>
                        </m:r>
                      </m:e>
                      <m:sub>
                        <m:r>
                          <a:rPr kumimoji="0" lang="en-US" sz="2000" b="0" i="1" smtClean="0">
                            <a:solidFill>
                              <a:prstClr val="black"/>
                            </a:solidFill>
                            <a:latin typeface="Cambria Math" panose="02040503050406030204" pitchFamily="18" charset="0"/>
                            <a:cs typeface="Times New Roman" panose="02020603050405020304" pitchFamily="18" charset="0"/>
                          </a:rPr>
                          <m:t>4</m:t>
                        </m:r>
                      </m:sub>
                    </m:sSub>
                    <m:sSub>
                      <m:sSubPr>
                        <m:ctrlPr>
                          <a:rPr kumimoji="0" lang="pt-BR" sz="2000" i="1">
                            <a:solidFill>
                              <a:prstClr val="black"/>
                            </a:solidFill>
                            <a:latin typeface="Cambria Math" panose="02040503050406030204" pitchFamily="18" charset="0"/>
                            <a:cs typeface="Times New Roman" panose="02020603050405020304" pitchFamily="18" charset="0"/>
                          </a:rPr>
                        </m:ctrlPr>
                      </m:sSubPr>
                      <m:e>
                        <m:r>
                          <a:rPr kumimoji="0" lang="en-US" sz="2000" i="1">
                            <a:solidFill>
                              <a:prstClr val="black"/>
                            </a:solidFill>
                            <a:latin typeface="Cambria Math" panose="02040503050406030204" pitchFamily="18" charset="0"/>
                            <a:cs typeface="Times New Roman" panose="02020603050405020304" pitchFamily="18" charset="0"/>
                          </a:rPr>
                          <m:t>+</m:t>
                        </m:r>
                        <m:r>
                          <a:rPr kumimoji="0" lang="en-US" sz="2000" i="1">
                            <a:solidFill>
                              <a:prstClr val="black"/>
                            </a:solidFill>
                            <a:latin typeface="Cambria Math" panose="02040503050406030204" pitchFamily="18" charset="0"/>
                            <a:cs typeface="Times New Roman" panose="02020603050405020304" pitchFamily="18" charset="0"/>
                          </a:rPr>
                          <m:t>𝐵</m:t>
                        </m:r>
                      </m:e>
                      <m:sub>
                        <m:r>
                          <a:rPr kumimoji="0" lang="en-US" sz="2000" b="0" i="1" smtClean="0">
                            <a:solidFill>
                              <a:prstClr val="black"/>
                            </a:solidFill>
                            <a:latin typeface="Cambria Math" panose="02040503050406030204" pitchFamily="18" charset="0"/>
                            <a:cs typeface="Times New Roman" panose="02020603050405020304" pitchFamily="18" charset="0"/>
                          </a:rPr>
                          <m:t>4</m:t>
                        </m:r>
                      </m:sub>
                    </m:sSub>
                    <m:r>
                      <a:rPr kumimoji="0" lang="en-US" sz="2000" b="0" i="0" smtClean="0">
                        <a:solidFill>
                          <a:prstClr val="black"/>
                        </a:solidFill>
                        <a:latin typeface="Cambria Math" panose="02040503050406030204" pitchFamily="18" charset="0"/>
                        <a:cs typeface="Times New Roman" panose="02020603050405020304" pitchFamily="18" charset="0"/>
                      </a:rPr>
                      <m:t> </m:t>
                    </m:r>
                    <m:r>
                      <m:rPr>
                        <m:sty m:val="p"/>
                      </m:rPr>
                      <a:rPr kumimoji="0" lang="en-US" sz="2000" b="0" i="0" smtClean="0">
                        <a:solidFill>
                          <a:prstClr val="black"/>
                        </a:solidFill>
                        <a:latin typeface="Cambria Math" panose="02040503050406030204" pitchFamily="18" charset="0"/>
                        <a:cs typeface="Times New Roman" panose="02020603050405020304" pitchFamily="18" charset="0"/>
                      </a:rPr>
                      <m:t>at</m:t>
                    </m:r>
                    <m:r>
                      <a:rPr kumimoji="0" lang="en-US" sz="2000" b="0" i="0" smtClean="0">
                        <a:solidFill>
                          <a:prstClr val="black"/>
                        </a:solidFill>
                        <a:latin typeface="Cambria Math" panose="02040503050406030204" pitchFamily="18" charset="0"/>
                        <a:cs typeface="Times New Roman" panose="02020603050405020304" pitchFamily="18" charset="0"/>
                      </a:rPr>
                      <m:t> </m:t>
                    </m:r>
                    <m:r>
                      <m:rPr>
                        <m:sty m:val="p"/>
                      </m:rPr>
                      <a:rPr kumimoji="0" lang="en-US" sz="2000" b="0" i="0" smtClean="0">
                        <a:solidFill>
                          <a:prstClr val="black"/>
                        </a:solidFill>
                        <a:latin typeface="Cambria Math" panose="02040503050406030204" pitchFamily="18" charset="0"/>
                        <a:cs typeface="Times New Roman" panose="02020603050405020304" pitchFamily="18" charset="0"/>
                      </a:rPr>
                      <m:t>the</m:t>
                    </m:r>
                    <m:r>
                      <a:rPr kumimoji="0" lang="en-US" sz="2000" b="0" i="0" smtClean="0">
                        <a:solidFill>
                          <a:prstClr val="black"/>
                        </a:solidFill>
                        <a:latin typeface="Cambria Math" panose="02040503050406030204" pitchFamily="18" charset="0"/>
                        <a:cs typeface="Times New Roman" panose="02020603050405020304" pitchFamily="18" charset="0"/>
                      </a:rPr>
                      <m:t> </m:t>
                    </m:r>
                    <m:r>
                      <m:rPr>
                        <m:sty m:val="p"/>
                      </m:rPr>
                      <a:rPr kumimoji="0" lang="en-US" sz="2000" b="0" i="0" smtClean="0">
                        <a:solidFill>
                          <a:prstClr val="black"/>
                        </a:solidFill>
                        <a:latin typeface="Cambria Math" panose="02040503050406030204" pitchFamily="18" charset="0"/>
                        <a:cs typeface="Times New Roman" panose="02020603050405020304" pitchFamily="18" charset="0"/>
                      </a:rPr>
                      <m:t>same</m:t>
                    </m:r>
                    <m:r>
                      <a:rPr kumimoji="0" lang="en-US" sz="2000" b="0" i="0" smtClean="0">
                        <a:solidFill>
                          <a:prstClr val="black"/>
                        </a:solidFill>
                        <a:latin typeface="Cambria Math" panose="02040503050406030204" pitchFamily="18" charset="0"/>
                        <a:cs typeface="Times New Roman" panose="02020603050405020304" pitchFamily="18" charset="0"/>
                      </a:rPr>
                      <m:t> </m:t>
                    </m:r>
                    <m:r>
                      <m:rPr>
                        <m:sty m:val="p"/>
                      </m:rPr>
                      <a:rPr kumimoji="0" lang="en-US" sz="2000" b="0" i="0" smtClean="0">
                        <a:solidFill>
                          <a:prstClr val="black"/>
                        </a:solidFill>
                        <a:latin typeface="Cambria Math" panose="02040503050406030204" pitchFamily="18" charset="0"/>
                        <a:cs typeface="Times New Roman" panose="02020603050405020304" pitchFamily="18" charset="0"/>
                      </a:rPr>
                      <m:t>time</m:t>
                    </m:r>
                    <m:r>
                      <a:rPr kumimoji="0" lang="en-US" sz="2000" b="0" i="0" smtClean="0">
                        <a:solidFill>
                          <a:prstClr val="black"/>
                        </a:solidFill>
                        <a:latin typeface="Cambria Math" panose="02040503050406030204" pitchFamily="18" charset="0"/>
                        <a:cs typeface="Times New Roman" panose="02020603050405020304" pitchFamily="18" charset="0"/>
                      </a:rPr>
                      <m:t>. </m:t>
                    </m:r>
                  </m:oMath>
                </a14:m>
                <a:endParaRPr lang="en-US" sz="2000" u="none" strike="noStrike" baseline="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SIMD (Single Instruction Multiple Data) and Vector instructions exploit DLP.</a:t>
                </a:r>
              </a:p>
              <a:p>
                <a:r>
                  <a:rPr lang="en-US" sz="2000" u="none" strike="noStrike" baseline="0" dirty="0">
                    <a:latin typeface="Times New Roman" panose="02020603050405020304" pitchFamily="18" charset="0"/>
                    <a:cs typeface="Times New Roman" panose="02020603050405020304" pitchFamily="18" charset="0"/>
                  </a:rPr>
                  <a:t>GPU (e.g., NVIDIA GPU) is another type of DLP machines.</a:t>
                </a:r>
              </a:p>
            </p:txBody>
          </p:sp>
        </mc:Choice>
        <mc:Fallback xmlns="">
          <p:sp>
            <p:nvSpPr>
              <p:cNvPr id="10" name="Content Placeholder 7">
                <a:extLst>
                  <a:ext uri="{FF2B5EF4-FFF2-40B4-BE49-F238E27FC236}">
                    <a16:creationId xmlns:a16="http://schemas.microsoft.com/office/drawing/2014/main" id="{406FF8B5-923E-48F3-A830-9893698ED8C4}"/>
                  </a:ext>
                </a:extLst>
              </p:cNvPr>
              <p:cNvSpPr txBox="1">
                <a:spLocks noRot="1" noChangeAspect="1" noMove="1" noResize="1" noEditPoints="1" noAdjustHandles="1" noChangeArrowheads="1" noChangeShapeType="1" noTextEdit="1"/>
              </p:cNvSpPr>
              <p:nvPr/>
            </p:nvSpPr>
            <p:spPr bwMode="auto">
              <a:xfrm>
                <a:off x="97970" y="935831"/>
                <a:ext cx="8946017" cy="3679030"/>
              </a:xfrm>
              <a:prstGeom prst="rect">
                <a:avLst/>
              </a:prstGeom>
              <a:blipFill>
                <a:blip r:embed="rId3"/>
                <a:stretch>
                  <a:fillRect l="-272" t="-995" r="-749"/>
                </a:stretch>
              </a:blipFill>
              <a:ln w="9525">
                <a:noFill/>
                <a:miter lim="800000"/>
              </a:ln>
            </p:spPr>
            <p:txBody>
              <a:bodyPr/>
              <a:lstStyle/>
              <a:p>
                <a:r>
                  <a:rPr lang="en-US">
                    <a:noFill/>
                  </a:rPr>
                  <a:t> </a:t>
                </a:r>
              </a:p>
            </p:txBody>
          </p:sp>
        </mc:Fallback>
      </mc:AlternateContent>
      <p:sp>
        <p:nvSpPr>
          <p:cNvPr id="9" name="Content Placeholder 2">
            <a:extLst>
              <a:ext uri="{FF2B5EF4-FFF2-40B4-BE49-F238E27FC236}">
                <a16:creationId xmlns:a16="http://schemas.microsoft.com/office/drawing/2014/main" id="{300D8473-3066-4AE0-974B-7503758B2DA7}"/>
              </a:ext>
            </a:extLst>
          </p:cNvPr>
          <p:cNvSpPr txBox="1">
            <a:spLocks/>
          </p:cNvSpPr>
          <p:nvPr/>
        </p:nvSpPr>
        <p:spPr bwMode="auto">
          <a:xfrm>
            <a:off x="0" y="4557713"/>
            <a:ext cx="10792155" cy="2923055"/>
          </a:xfrm>
          <a:prstGeom prst="rect">
            <a:avLst/>
          </a:prstGeom>
          <a:noFill/>
          <a:ln w="9525">
            <a:noFill/>
            <a:miter lim="800000"/>
          </a:ln>
        </p:spPr>
        <p:txBody>
          <a:bodyPr vert="horz" wrap="square" lIns="91440" tIns="45720" rIns="91440" bIns="45720" numCol="1" anchor="t" anchorCtr="0" compatLnSpc="1">
            <a:noAutofit/>
          </a:bodyPr>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685800" lvl="2" indent="0">
              <a:buSzPct val="120000"/>
              <a:buNone/>
            </a:pPr>
            <a:endParaRPr lang="en-US" sz="2000" kern="0" dirty="0">
              <a:solidFill>
                <a:srgbClr val="374151"/>
              </a:solidFill>
              <a:latin typeface="ui-sans-serif"/>
            </a:endParaRPr>
          </a:p>
        </p:txBody>
      </p:sp>
    </p:spTree>
    <p:extLst>
      <p:ext uri="{BB962C8B-B14F-4D97-AF65-F5344CB8AC3E}">
        <p14:creationId xmlns:p14="http://schemas.microsoft.com/office/powerpoint/2010/main" val="7729031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74171" y="714375"/>
            <a:ext cx="8795657" cy="3986211"/>
          </a:xfrm>
        </p:spPr>
        <p:txBody>
          <a:bodyPr/>
          <a:lstStyle/>
          <a:p>
            <a:pPr marL="0" indent="0" algn="l">
              <a:buNone/>
            </a:pPr>
            <a:r>
              <a:rPr lang="en-US" sz="2000" b="0" i="0" u="none" strike="noStrike" baseline="0" dirty="0">
                <a:latin typeface="TimesTen-Roman"/>
              </a:rPr>
              <a:t>    </a:t>
            </a:r>
          </a:p>
        </p:txBody>
      </p:sp>
      <p:sp>
        <p:nvSpPr>
          <p:cNvPr id="2" name="灯片编号占位符 1"/>
          <p:cNvSpPr>
            <a:spLocks noGrp="1"/>
          </p:cNvSpPr>
          <p:nvPr>
            <p:ph type="sldNum" sz="quarter" idx="10"/>
          </p:nvPr>
        </p:nvSpPr>
        <p:spPr/>
        <p:txBody>
          <a:bodyPr/>
          <a:lstStyle/>
          <a:p>
            <a:fld id="{D9B6BDF2-6896-4B98-8776-C18582F63BA5}" type="slidenum">
              <a:rPr lang="zh-TW" altLang="en-US" smtClean="0"/>
              <a:t>40</a:t>
            </a:fld>
            <a:endParaRPr lang="zh-TW" altLang="en-US"/>
          </a:p>
        </p:txBody>
      </p:sp>
      <p:sp>
        <p:nvSpPr>
          <p:cNvPr id="13" name="Title 1">
            <a:extLst>
              <a:ext uri="{FF2B5EF4-FFF2-40B4-BE49-F238E27FC236}">
                <a16:creationId xmlns:a16="http://schemas.microsoft.com/office/drawing/2014/main" id="{30751E8A-D40C-4565-B86E-83C5DC09635D}"/>
              </a:ext>
            </a:extLst>
          </p:cNvPr>
          <p:cNvSpPr>
            <a:spLocks noGrp="1"/>
          </p:cNvSpPr>
          <p:nvPr>
            <p:ph type="title"/>
          </p:nvPr>
        </p:nvSpPr>
        <p:spPr>
          <a:xfrm>
            <a:off x="771525" y="107950"/>
            <a:ext cx="8122444" cy="519113"/>
          </a:xfrm>
        </p:spPr>
        <p:txBody>
          <a:bodyPr/>
          <a:lstStyle/>
          <a:p>
            <a:pPr marL="342900" marR="0" lvl="1" indent="0" defTabSz="914400" rtl="0" eaLnBrk="1" fontAlgn="base" latinLnBrk="0" hangingPunct="1">
              <a:lnSpc>
                <a:spcPct val="100000"/>
              </a:lnSpc>
              <a:spcBef>
                <a:spcPct val="20000"/>
              </a:spcBef>
              <a:spcAft>
                <a:spcPct val="0"/>
              </a:spcAft>
              <a:tabLst/>
              <a:defRPr/>
            </a:pPr>
            <a:r>
              <a:rPr lang="en-US" sz="3200" dirty="0">
                <a:latin typeface="Calibri" panose="020F0502020204030204" pitchFamily="34" charset="0"/>
                <a:ea typeface="Calibri" panose="020F0502020204030204" pitchFamily="34" charset="0"/>
                <a:cs typeface="Calibri" panose="020F0502020204030204" pitchFamily="34" charset="0"/>
              </a:rPr>
              <a:t>1.10  Summary</a:t>
            </a:r>
          </a:p>
        </p:txBody>
      </p:sp>
      <p:sp>
        <p:nvSpPr>
          <p:cNvPr id="7" name="Content Placeholder 7">
            <a:extLst>
              <a:ext uri="{FF2B5EF4-FFF2-40B4-BE49-F238E27FC236}">
                <a16:creationId xmlns:a16="http://schemas.microsoft.com/office/drawing/2014/main" id="{5B628818-E06A-48D3-972B-384C202BB3BB}"/>
              </a:ext>
            </a:extLst>
          </p:cNvPr>
          <p:cNvSpPr txBox="1">
            <a:spLocks/>
          </p:cNvSpPr>
          <p:nvPr/>
        </p:nvSpPr>
        <p:spPr bwMode="auto">
          <a:xfrm>
            <a:off x="326570" y="2143125"/>
            <a:ext cx="8795657" cy="2339332"/>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endParaRPr lang="en-US" sz="2000" i="1" kern="0" dirty="0">
              <a:solidFill>
                <a:srgbClr val="FF0000"/>
              </a:solidFill>
              <a:latin typeface="TimesTen-Italic"/>
            </a:endParaRPr>
          </a:p>
          <a:p>
            <a:endParaRPr lang="en-US" sz="2000" kern="0" dirty="0">
              <a:solidFill>
                <a:srgbClr val="FF0000"/>
              </a:solidFill>
            </a:endParaRPr>
          </a:p>
        </p:txBody>
      </p:sp>
      <p:sp>
        <p:nvSpPr>
          <p:cNvPr id="10" name="Content Placeholder 7">
            <a:extLst>
              <a:ext uri="{FF2B5EF4-FFF2-40B4-BE49-F238E27FC236}">
                <a16:creationId xmlns:a16="http://schemas.microsoft.com/office/drawing/2014/main" id="{406FF8B5-923E-48F3-A830-9893698ED8C4}"/>
              </a:ext>
            </a:extLst>
          </p:cNvPr>
          <p:cNvSpPr txBox="1">
            <a:spLocks/>
          </p:cNvSpPr>
          <p:nvPr/>
        </p:nvSpPr>
        <p:spPr bwMode="auto">
          <a:xfrm>
            <a:off x="97971" y="935831"/>
            <a:ext cx="8866642" cy="3679030"/>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A0204" pitchFamily="34" charset="0"/>
                <a:ea typeface="標楷體" pitchFamily="65" charset="-120"/>
                <a:cs typeface="Calibri" panose="020F07020304040A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A0204" pitchFamily="34" charset="0"/>
                <a:ea typeface="標楷體" pitchFamily="65" charset="-120"/>
                <a:cs typeface="Calibri" panose="020F07020304040A0204" pitchFamily="34" charset="0"/>
              </a:defRPr>
            </a:lvl4pPr>
            <a:lvl5pPr marL="1543050" indent="-171450" algn="l" rtl="0" eaLnBrk="1" fontAlgn="base" hangingPunct="1">
              <a:spcBef>
                <a:spcPct val="20000"/>
              </a:spcBef>
              <a:spcAft>
                <a:spcPct val="0"/>
              </a:spcAft>
              <a:buChar char="»"/>
              <a:defRPr kumimoji="1" sz="1200">
                <a:solidFill>
                  <a:schemeClr val="tx1"/>
                </a:solidFill>
                <a:latin typeface="Calibri" panose="020F07020304040A0204" pitchFamily="34" charset="0"/>
                <a:ea typeface="標楷體" pitchFamily="65" charset="-120"/>
                <a:cs typeface="Calibri" panose="020F07020304040A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algn="l"/>
            <a:r>
              <a:rPr lang="en-US" sz="2000" b="0" i="0" u="none" strike="noStrike" baseline="0" dirty="0">
                <a:latin typeface="TimesTen-Roman"/>
              </a:rPr>
              <a:t>A computer system consists of hardware and system software. </a:t>
            </a:r>
          </a:p>
          <a:p>
            <a:pPr algn="l"/>
            <a:r>
              <a:rPr lang="en-US" sz="2000" b="0" i="0" u="none" strike="noStrike" baseline="0" dirty="0">
                <a:latin typeface="TimesTen-Roman"/>
              </a:rPr>
              <a:t>Information inside the computer is represented as groups of bits.</a:t>
            </a:r>
          </a:p>
          <a:p>
            <a:pPr algn="l"/>
            <a:r>
              <a:rPr lang="en-US" sz="2000" b="0" i="0" u="none" strike="noStrike" baseline="0" dirty="0">
                <a:latin typeface="TimesTen-Roman"/>
              </a:rPr>
              <a:t>Programs are compiled into machine instructions in a binary executable.</a:t>
            </a:r>
          </a:p>
          <a:p>
            <a:pPr algn="l"/>
            <a:r>
              <a:rPr lang="en-US" sz="2000" b="0" i="0" u="none" strike="noStrike" baseline="0" dirty="0">
                <a:latin typeface="TimesTen-Roman"/>
              </a:rPr>
              <a:t>Processors read and interpret binary instructions</a:t>
            </a:r>
          </a:p>
          <a:p>
            <a:pPr algn="l"/>
            <a:r>
              <a:rPr lang="en-US" sz="2000" dirty="0">
                <a:latin typeface="TimesTen-Roman"/>
              </a:rPr>
              <a:t>C</a:t>
            </a:r>
            <a:r>
              <a:rPr lang="en-US" sz="2000" b="0" i="0" u="none" strike="noStrike" baseline="0" dirty="0">
                <a:latin typeface="TimesTen-Roman"/>
              </a:rPr>
              <a:t>omputers spend most of the time copying data, so the memory/storage hierarchy is critical to performance.</a:t>
            </a:r>
          </a:p>
          <a:p>
            <a:pPr algn="l"/>
            <a:r>
              <a:rPr lang="en-US" sz="2000" b="0" i="0" u="none" strike="noStrike" baseline="0" dirty="0">
                <a:latin typeface="TimesTen-Roman"/>
              </a:rPr>
              <a:t>The OS kernel serves as an intermediary between the application</a:t>
            </a:r>
            <a:r>
              <a:rPr lang="en-US" sz="2000" dirty="0">
                <a:latin typeface="TimesTen-Roman"/>
              </a:rPr>
              <a:t> </a:t>
            </a:r>
            <a:r>
              <a:rPr lang="en-US" sz="2000" b="0" i="0" u="none" strike="noStrike" baseline="0" dirty="0">
                <a:latin typeface="TimesTen-Roman"/>
              </a:rPr>
              <a:t>and the hardware. It provides three abstractions: (1) Files, (2) Virtual memory, and (3) Processes.</a:t>
            </a:r>
          </a:p>
          <a:p>
            <a:pPr algn="l"/>
            <a:r>
              <a:rPr lang="en-US" sz="2000" dirty="0">
                <a:latin typeface="TimesTen-Roman"/>
              </a:rPr>
              <a:t>N</a:t>
            </a:r>
            <a:r>
              <a:rPr lang="en-US" sz="2000" b="0" i="0" u="none" strike="noStrike" baseline="0" dirty="0">
                <a:latin typeface="TimesTen-Roman"/>
              </a:rPr>
              <a:t>etworks provide ways for computer systems to communicate with one another.</a:t>
            </a:r>
          </a:p>
          <a:p>
            <a:pPr algn="l"/>
            <a:endParaRPr lang="en-US" sz="2000" b="0" i="0" u="none" strike="noStrike" baseline="0" dirty="0">
              <a:latin typeface="TimesTen-Roman"/>
            </a:endParaRPr>
          </a:p>
          <a:p>
            <a:pPr marL="0" indent="0" algn="l">
              <a:buNone/>
            </a:pPr>
            <a:endParaRPr lang="en-US" sz="2000" i="0" u="none" strike="noStrike" baseline="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05702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Review Example</a:t>
            </a:r>
          </a:p>
        </p:txBody>
      </p:sp>
      <p:sp>
        <p:nvSpPr>
          <p:cNvPr id="3" name="Content Placeholder 2"/>
          <p:cNvSpPr>
            <a:spLocks noGrp="1"/>
          </p:cNvSpPr>
          <p:nvPr>
            <p:ph idx="1"/>
          </p:nvPr>
        </p:nvSpPr>
        <p:spPr>
          <a:xfrm>
            <a:off x="160507" y="907256"/>
            <a:ext cx="8804106" cy="3681767"/>
          </a:xfrm>
        </p:spPr>
        <p:txBody>
          <a:bodyPr/>
          <a:lstStyle/>
          <a:p>
            <a:pPr marL="0" indent="0">
              <a:buNone/>
            </a:pPr>
            <a:r>
              <a:rPr lang="en-US" sz="2400">
                <a:latin typeface="Times New Roman" panose="02020603050405020304" pitchFamily="18" charset="0"/>
                <a:cs typeface="Times New Roman" panose="02020603050405020304" pitchFamily="18" charset="0"/>
              </a:rPr>
              <a:t>What </a:t>
            </a:r>
            <a:r>
              <a:rPr lang="en-US" sz="2400" dirty="0">
                <a:latin typeface="Times New Roman" panose="02020603050405020304" pitchFamily="18" charset="0"/>
                <a:cs typeface="Times New Roman" panose="02020603050405020304" pitchFamily="18" charset="0"/>
              </a:rPr>
              <a:t>is a computer system?</a:t>
            </a:r>
          </a:p>
          <a:p>
            <a:pPr marL="342882" lvl="1" indent="0">
              <a:buNone/>
            </a:pPr>
            <a:r>
              <a:rPr kumimoji="0" lang="en-US" sz="200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a)</a:t>
            </a:r>
            <a:r>
              <a:rPr kumimoji="0" lang="en-US" sz="2000" b="0" i="0" u="none" strike="noStrike" kern="1200" cap="none" spc="0" normalizeH="0" baseline="0" noProof="0" dirty="0">
                <a:ln>
                  <a:noFill/>
                </a:ln>
                <a:solidFill>
                  <a:prstClr val="black"/>
                </a:solidFill>
                <a:effectLst/>
                <a:uLnTx/>
                <a:uFillTx/>
                <a:latin typeface="+mn-lt"/>
                <a:ea typeface="Calibri" panose="020F0502020204030204" pitchFamily="34" charset="0"/>
                <a:cs typeface="Calibri" panose="020F0502020204030204" pitchFamily="34" charset="0"/>
              </a:rPr>
              <a:t> </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A</a:t>
            </a:r>
            <a:r>
              <a:rPr kumimoji="0" lang="en-US" sz="2000" b="0" i="0" u="none" strike="noStrike" kern="1200" cap="none" spc="0" normalizeH="0" baseline="0" noProof="0" dirty="0">
                <a:ln>
                  <a:noFill/>
                </a:ln>
                <a:solidFill>
                  <a:srgbClr val="00FFFF"/>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en-US" sz="2000" b="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rPr>
              <a:t>computer system </a:t>
            </a:r>
            <a:r>
              <a:rPr kumimoji="0" 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rPr>
              <a:t>consists of </a:t>
            </a:r>
            <a:r>
              <a:rPr kumimoji="0" lang="en-US" sz="2000" b="0" i="0" u="none" strike="noStrike" kern="1200" cap="none" spc="0" normalizeH="0" baseline="0" noProof="0" dirty="0">
                <a:ln>
                  <a:noFill/>
                </a:ln>
                <a:effectLst/>
                <a:uLnTx/>
                <a:uFillTx/>
                <a:latin typeface="Times New Roman" panose="02020603050405020304" pitchFamily="18" charset="0"/>
                <a:ea typeface="Calibri" panose="020F0502020204030204" pitchFamily="34" charset="0"/>
                <a:cs typeface="Times New Roman" panose="02020603050405020304" pitchFamily="18" charset="0"/>
              </a:rPr>
              <a:t>hardware</a:t>
            </a:r>
            <a:r>
              <a:rPr kumimoji="0" 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rPr>
              <a:t> and </a:t>
            </a:r>
            <a:r>
              <a:rPr kumimoji="0" lang="en-US" sz="2000" b="0" i="0" u="none" strike="noStrike" kern="1200" cap="none" spc="0" normalizeH="0" baseline="0" noProof="0" dirty="0">
                <a:ln>
                  <a:noFill/>
                </a:ln>
                <a:effectLst/>
                <a:uLnTx/>
                <a:uFillTx/>
                <a:latin typeface="Times New Roman" panose="02020603050405020304" pitchFamily="18" charset="0"/>
                <a:ea typeface="Calibri" panose="020F0502020204030204" pitchFamily="34" charset="0"/>
                <a:cs typeface="Times New Roman" panose="02020603050405020304" pitchFamily="18" charset="0"/>
              </a:rPr>
              <a:t>system software </a:t>
            </a:r>
            <a:r>
              <a:rPr kumimoji="0" 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rPr>
              <a:t>that work together to run application programs </a:t>
            </a:r>
            <a:endParaRPr lang="en-US" sz="2000" dirty="0">
              <a:solidFill>
                <a:prstClr val="black"/>
              </a:solidFill>
              <a:latin typeface="Times New Roman" panose="02020603050405020304" pitchFamily="18" charset="0"/>
              <a:cs typeface="Times New Roman" panose="02020603050405020304" pitchFamily="18" charset="0"/>
            </a:endParaRPr>
          </a:p>
          <a:p>
            <a:pPr marL="342882" marR="0" lvl="1" indent="0" algn="l" defTabSz="914400" rtl="0" eaLnBrk="1" fontAlgn="base" latinLnBrk="0" hangingPunct="1">
              <a:lnSpc>
                <a:spcPct val="100000"/>
              </a:lnSpc>
              <a:spcBef>
                <a:spcPct val="20000"/>
              </a:spcBef>
              <a:spcAft>
                <a:spcPct val="0"/>
              </a:spcAft>
              <a:buClr>
                <a:srgbClr val="0000FF"/>
              </a:buClr>
              <a:buSzPct val="90000"/>
              <a:buNone/>
              <a:tabLst/>
              <a:defRPr/>
            </a:pPr>
            <a:r>
              <a:rPr kumimoji="1" lang="en-US" sz="2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b) </a:t>
            </a:r>
            <a:r>
              <a:rPr lang="en-US" sz="2000" i="0" dirty="0">
                <a:solidFill>
                  <a:srgbClr val="111827"/>
                </a:solidFill>
                <a:effectLst/>
                <a:latin typeface="Times New Roman" panose="02020603050405020304" pitchFamily="18" charset="0"/>
                <a:cs typeface="Times New Roman" panose="02020603050405020304" pitchFamily="18" charset="0"/>
              </a:rPr>
              <a:t>A computer system is a machine that stores information</a:t>
            </a:r>
          </a:p>
          <a:p>
            <a:pPr marL="342882" marR="0" lvl="1" indent="0" algn="l" defTabSz="914400" rtl="0" eaLnBrk="1" fontAlgn="base" latinLnBrk="0" hangingPunct="1">
              <a:lnSpc>
                <a:spcPct val="100000"/>
              </a:lnSpc>
              <a:spcBef>
                <a:spcPct val="20000"/>
              </a:spcBef>
              <a:spcAft>
                <a:spcPct val="0"/>
              </a:spcAft>
              <a:buClr>
                <a:srgbClr val="0000FF"/>
              </a:buClr>
              <a:buSzPct val="90000"/>
              <a:buNone/>
              <a:tabLst/>
              <a:defRPr/>
            </a:pPr>
            <a:r>
              <a:rPr kumimoji="1" lang="en-US" sz="2000" u="none" strike="noStrike" kern="0" cap="none" spc="0" normalizeH="0" baseline="0" noProof="0" dirty="0">
                <a:ln>
                  <a:noFill/>
                </a:ln>
                <a:solidFill>
                  <a:srgbClr val="111827"/>
                </a:solidFill>
                <a:uLnTx/>
                <a:uFillTx/>
                <a:latin typeface="Times New Roman" panose="02020603050405020304" pitchFamily="18" charset="0"/>
                <a:cs typeface="Times New Roman" panose="02020603050405020304" pitchFamily="18" charset="0"/>
              </a:rPr>
              <a:t>c) </a:t>
            </a:r>
            <a:r>
              <a:rPr lang="en-US" sz="2000" i="0" dirty="0">
                <a:solidFill>
                  <a:srgbClr val="111827"/>
                </a:solidFill>
                <a:effectLst/>
                <a:latin typeface="Times New Roman" panose="02020603050405020304" pitchFamily="18" charset="0"/>
                <a:cs typeface="Times New Roman" panose="02020603050405020304" pitchFamily="18" charset="0"/>
              </a:rPr>
              <a:t>A computer system is a computer with the internet.</a:t>
            </a:r>
          </a:p>
          <a:p>
            <a:pPr marL="342882" marR="0" lvl="1" indent="0" algn="l" defTabSz="914400" rtl="0" eaLnBrk="1" fontAlgn="base" latinLnBrk="0" hangingPunct="1">
              <a:lnSpc>
                <a:spcPct val="100000"/>
              </a:lnSpc>
              <a:spcBef>
                <a:spcPct val="20000"/>
              </a:spcBef>
              <a:spcAft>
                <a:spcPct val="0"/>
              </a:spcAft>
              <a:buClr>
                <a:srgbClr val="0000FF"/>
              </a:buClr>
              <a:buSzPct val="90000"/>
              <a:buNone/>
              <a:tabLst/>
              <a:defRPr/>
            </a:pPr>
            <a:r>
              <a:rPr kumimoji="1" lang="en-US" sz="2000" u="none" strike="noStrike" kern="0" cap="none" spc="0" normalizeH="0" baseline="0" noProof="0" dirty="0">
                <a:ln>
                  <a:noFill/>
                </a:ln>
                <a:solidFill>
                  <a:srgbClr val="111827"/>
                </a:solidFill>
                <a:uLnTx/>
                <a:uFillTx/>
                <a:latin typeface="Times New Roman" panose="02020603050405020304" pitchFamily="18" charset="0"/>
                <a:cs typeface="Times New Roman" panose="02020603050405020304" pitchFamily="18" charset="0"/>
              </a:rPr>
              <a:t>d) </a:t>
            </a:r>
            <a:r>
              <a:rPr lang="en-US" sz="2000" i="0" dirty="0">
                <a:solidFill>
                  <a:srgbClr val="111827"/>
                </a:solidFill>
                <a:effectLst/>
                <a:latin typeface="Times New Roman" panose="02020603050405020304" pitchFamily="18" charset="0"/>
                <a:cs typeface="Times New Roman" panose="02020603050405020304" pitchFamily="18" charset="0"/>
              </a:rPr>
              <a:t>A computer system is software that runs programs</a:t>
            </a:r>
            <a:r>
              <a:rPr lang="en-US" sz="2000" b="1" i="0" dirty="0">
                <a:solidFill>
                  <a:srgbClr val="111827"/>
                </a:solidFill>
                <a:effectLst/>
                <a:latin typeface="ui-sans-serif"/>
              </a:rPr>
              <a:t>.</a:t>
            </a:r>
            <a:endParaRPr kumimoji="1" lang="en-US" sz="200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882" lvl="1" indent="0">
              <a:buNone/>
            </a:pPr>
            <a:endParaRPr lang="en-US" sz="2200" dirty="0">
              <a:solidFill>
                <a:prstClr val="black"/>
              </a:solidFill>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pPr defTabSz="685800">
              <a:defRPr/>
            </a:pPr>
            <a:r>
              <a:rPr lang="en-US">
                <a:solidFill>
                  <a:prstClr val="white"/>
                </a:solidFill>
              </a:rPr>
              <a:t>September 27, 2017</a:t>
            </a:r>
            <a:endParaRPr lang="en-US" dirty="0">
              <a:solidFill>
                <a:prstClr val="white"/>
              </a:solidFill>
            </a:endParaRPr>
          </a:p>
        </p:txBody>
      </p:sp>
      <p:sp>
        <p:nvSpPr>
          <p:cNvPr id="8" name="Footer Placeholder 7"/>
          <p:cNvSpPr>
            <a:spLocks noGrp="1"/>
          </p:cNvSpPr>
          <p:nvPr>
            <p:ph type="ftr" sz="quarter" idx="12"/>
          </p:nvPr>
        </p:nvSpPr>
        <p:spPr bwMode="auto">
          <a:xfrm>
            <a:off x="3070448" y="6400800"/>
            <a:ext cx="3018465"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200" kern="1200">
                <a:solidFill>
                  <a:schemeClr val="tx1"/>
                </a:solidFill>
                <a:latin typeface="+mn-lt"/>
                <a:ea typeface="+mn-ea"/>
                <a:cs typeface="+mn-cs"/>
              </a:defRPr>
            </a:lvl1pPr>
            <a:lvl2pPr marL="457189" algn="l" rtl="0" fontAlgn="base">
              <a:spcBef>
                <a:spcPct val="0"/>
              </a:spcBef>
              <a:spcAft>
                <a:spcPct val="0"/>
              </a:spcAft>
              <a:defRPr sz="2000" kern="1200">
                <a:solidFill>
                  <a:schemeClr val="tx1"/>
                </a:solidFill>
                <a:latin typeface="Verdana" pitchFamily="34" charset="0"/>
                <a:ea typeface="+mn-ea"/>
                <a:cs typeface="+mn-cs"/>
              </a:defRPr>
            </a:lvl2pPr>
            <a:lvl3pPr marL="914378" algn="l" rtl="0" fontAlgn="base">
              <a:spcBef>
                <a:spcPct val="0"/>
              </a:spcBef>
              <a:spcAft>
                <a:spcPct val="0"/>
              </a:spcAft>
              <a:defRPr sz="2000" kern="1200">
                <a:solidFill>
                  <a:schemeClr val="tx1"/>
                </a:solidFill>
                <a:latin typeface="Verdana" pitchFamily="34" charset="0"/>
                <a:ea typeface="+mn-ea"/>
                <a:cs typeface="+mn-cs"/>
              </a:defRPr>
            </a:lvl3pPr>
            <a:lvl4pPr marL="1371566" algn="l" rtl="0" fontAlgn="base">
              <a:spcBef>
                <a:spcPct val="0"/>
              </a:spcBef>
              <a:spcAft>
                <a:spcPct val="0"/>
              </a:spcAft>
              <a:defRPr sz="2000" kern="1200">
                <a:solidFill>
                  <a:schemeClr val="tx1"/>
                </a:solidFill>
                <a:latin typeface="Verdana" pitchFamily="34" charset="0"/>
                <a:ea typeface="+mn-ea"/>
                <a:cs typeface="+mn-cs"/>
              </a:defRPr>
            </a:lvl4pPr>
            <a:lvl5pPr marL="1828754" algn="l" rtl="0" fontAlgn="base">
              <a:spcBef>
                <a:spcPct val="0"/>
              </a:spcBef>
              <a:spcAft>
                <a:spcPct val="0"/>
              </a:spcAft>
              <a:defRPr sz="2000" kern="1200">
                <a:solidFill>
                  <a:schemeClr val="tx1"/>
                </a:solidFill>
                <a:latin typeface="Verdana" pitchFamily="34" charset="0"/>
                <a:ea typeface="+mn-ea"/>
                <a:cs typeface="+mn-cs"/>
              </a:defRPr>
            </a:lvl5pPr>
            <a:lvl6pPr marL="2285943" algn="l" defTabSz="914378" rtl="0" eaLnBrk="1" latinLnBrk="0" hangingPunct="1">
              <a:defRPr sz="2000" kern="1200">
                <a:solidFill>
                  <a:schemeClr val="tx1"/>
                </a:solidFill>
                <a:latin typeface="Verdana" pitchFamily="34" charset="0"/>
                <a:ea typeface="+mn-ea"/>
                <a:cs typeface="+mn-cs"/>
              </a:defRPr>
            </a:lvl6pPr>
            <a:lvl7pPr marL="2743132" algn="l" defTabSz="914378" rtl="0" eaLnBrk="1" latinLnBrk="0" hangingPunct="1">
              <a:defRPr sz="2000" kern="1200">
                <a:solidFill>
                  <a:schemeClr val="tx1"/>
                </a:solidFill>
                <a:latin typeface="Verdana" pitchFamily="34" charset="0"/>
                <a:ea typeface="+mn-ea"/>
                <a:cs typeface="+mn-cs"/>
              </a:defRPr>
            </a:lvl7pPr>
            <a:lvl8pPr marL="3200320" algn="l" defTabSz="914378" rtl="0" eaLnBrk="1" latinLnBrk="0" hangingPunct="1">
              <a:defRPr sz="2000" kern="1200">
                <a:solidFill>
                  <a:schemeClr val="tx1"/>
                </a:solidFill>
                <a:latin typeface="Verdana" pitchFamily="34" charset="0"/>
                <a:ea typeface="+mn-ea"/>
                <a:cs typeface="+mn-cs"/>
              </a:defRPr>
            </a:lvl8pPr>
            <a:lvl9pPr marL="3657509" algn="l" defTabSz="914378" rtl="0" eaLnBrk="1" latinLnBrk="0" hangingPunct="1">
              <a:defRPr sz="2000" kern="1200">
                <a:solidFill>
                  <a:schemeClr val="tx1"/>
                </a:solidFill>
                <a:latin typeface="Verdana" pitchFamily="34" charset="0"/>
                <a:ea typeface="+mn-ea"/>
                <a:cs typeface="+mn-cs"/>
              </a:defRPr>
            </a:lvl9pPr>
          </a:lstStyle>
          <a:p>
            <a:pPr defTabSz="685800">
              <a:defRPr/>
            </a:pPr>
            <a:r>
              <a:rPr lang="en-US">
                <a:solidFill>
                  <a:prstClr val="black"/>
                </a:solidFill>
                <a:latin typeface="Arial"/>
                <a:ea typeface="新細明體"/>
              </a:rPr>
              <a:t>http://csg.csail.mit.edu/6.175</a:t>
            </a:r>
            <a:endParaRPr lang="en-US" dirty="0">
              <a:solidFill>
                <a:prstClr val="black"/>
              </a:solidFill>
              <a:latin typeface="Arial"/>
              <a:ea typeface="新細明體"/>
            </a:endParaRPr>
          </a:p>
        </p:txBody>
      </p:sp>
      <p:sp>
        <p:nvSpPr>
          <p:cNvPr id="9" name="Slide Number Placeholder 8"/>
          <p:cNvSpPr>
            <a:spLocks noGrp="1"/>
          </p:cNvSpPr>
          <p:nvPr>
            <p:ph type="sldNum" sz="quarter" idx="11"/>
          </p:nvPr>
        </p:nvSpPr>
        <p:spPr bwMode="auto">
          <a:xfrm>
            <a:off x="723900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200" kern="1200">
                <a:solidFill>
                  <a:schemeClr val="tx1"/>
                </a:solidFill>
                <a:latin typeface="+mn-lt"/>
                <a:ea typeface="+mn-ea"/>
                <a:cs typeface="+mn-cs"/>
              </a:defRPr>
            </a:lvl1pPr>
            <a:lvl2pPr marL="457189" algn="l" rtl="0" fontAlgn="base">
              <a:spcBef>
                <a:spcPct val="0"/>
              </a:spcBef>
              <a:spcAft>
                <a:spcPct val="0"/>
              </a:spcAft>
              <a:defRPr sz="2000" kern="1200">
                <a:solidFill>
                  <a:schemeClr val="tx1"/>
                </a:solidFill>
                <a:latin typeface="Verdana" pitchFamily="34" charset="0"/>
                <a:ea typeface="+mn-ea"/>
                <a:cs typeface="+mn-cs"/>
              </a:defRPr>
            </a:lvl2pPr>
            <a:lvl3pPr marL="914378" algn="l" rtl="0" fontAlgn="base">
              <a:spcBef>
                <a:spcPct val="0"/>
              </a:spcBef>
              <a:spcAft>
                <a:spcPct val="0"/>
              </a:spcAft>
              <a:defRPr sz="2000" kern="1200">
                <a:solidFill>
                  <a:schemeClr val="tx1"/>
                </a:solidFill>
                <a:latin typeface="Verdana" pitchFamily="34" charset="0"/>
                <a:ea typeface="+mn-ea"/>
                <a:cs typeface="+mn-cs"/>
              </a:defRPr>
            </a:lvl3pPr>
            <a:lvl4pPr marL="1371566" algn="l" rtl="0" fontAlgn="base">
              <a:spcBef>
                <a:spcPct val="0"/>
              </a:spcBef>
              <a:spcAft>
                <a:spcPct val="0"/>
              </a:spcAft>
              <a:defRPr sz="2000" kern="1200">
                <a:solidFill>
                  <a:schemeClr val="tx1"/>
                </a:solidFill>
                <a:latin typeface="Verdana" pitchFamily="34" charset="0"/>
                <a:ea typeface="+mn-ea"/>
                <a:cs typeface="+mn-cs"/>
              </a:defRPr>
            </a:lvl4pPr>
            <a:lvl5pPr marL="1828754" algn="l" rtl="0" fontAlgn="base">
              <a:spcBef>
                <a:spcPct val="0"/>
              </a:spcBef>
              <a:spcAft>
                <a:spcPct val="0"/>
              </a:spcAft>
              <a:defRPr sz="2000" kern="1200">
                <a:solidFill>
                  <a:schemeClr val="tx1"/>
                </a:solidFill>
                <a:latin typeface="Verdana" pitchFamily="34" charset="0"/>
                <a:ea typeface="+mn-ea"/>
                <a:cs typeface="+mn-cs"/>
              </a:defRPr>
            </a:lvl5pPr>
            <a:lvl6pPr marL="2285943" algn="l" defTabSz="914378" rtl="0" eaLnBrk="1" latinLnBrk="0" hangingPunct="1">
              <a:defRPr sz="2000" kern="1200">
                <a:solidFill>
                  <a:schemeClr val="tx1"/>
                </a:solidFill>
                <a:latin typeface="Verdana" pitchFamily="34" charset="0"/>
                <a:ea typeface="+mn-ea"/>
                <a:cs typeface="+mn-cs"/>
              </a:defRPr>
            </a:lvl6pPr>
            <a:lvl7pPr marL="2743132" algn="l" defTabSz="914378" rtl="0" eaLnBrk="1" latinLnBrk="0" hangingPunct="1">
              <a:defRPr sz="2000" kern="1200">
                <a:solidFill>
                  <a:schemeClr val="tx1"/>
                </a:solidFill>
                <a:latin typeface="Verdana" pitchFamily="34" charset="0"/>
                <a:ea typeface="+mn-ea"/>
                <a:cs typeface="+mn-cs"/>
              </a:defRPr>
            </a:lvl7pPr>
            <a:lvl8pPr marL="3200320" algn="l" defTabSz="914378" rtl="0" eaLnBrk="1" latinLnBrk="0" hangingPunct="1">
              <a:defRPr sz="2000" kern="1200">
                <a:solidFill>
                  <a:schemeClr val="tx1"/>
                </a:solidFill>
                <a:latin typeface="Verdana" pitchFamily="34" charset="0"/>
                <a:ea typeface="+mn-ea"/>
                <a:cs typeface="+mn-cs"/>
              </a:defRPr>
            </a:lvl8pPr>
            <a:lvl9pPr marL="3657509" algn="l" defTabSz="914378" rtl="0" eaLnBrk="1" latinLnBrk="0" hangingPunct="1">
              <a:defRPr sz="2000" kern="1200">
                <a:solidFill>
                  <a:schemeClr val="tx1"/>
                </a:solidFill>
                <a:latin typeface="Verdana" pitchFamily="34" charset="0"/>
                <a:ea typeface="+mn-ea"/>
                <a:cs typeface="+mn-cs"/>
              </a:defRPr>
            </a:lvl9pPr>
          </a:lstStyle>
          <a:p>
            <a:pPr defTabSz="685800">
              <a:defRPr/>
            </a:pPr>
            <a:r>
              <a:rPr lang="en-US">
                <a:solidFill>
                  <a:prstClr val="black"/>
                </a:solidFill>
                <a:latin typeface="Arial"/>
                <a:ea typeface="新細明體"/>
              </a:rPr>
              <a:t>L09-</a:t>
            </a:r>
            <a:fld id="{D02EE386-C9BD-4FB7-9577-6096B5320EC4}" type="slidenum">
              <a:rPr lang="en-US">
                <a:solidFill>
                  <a:prstClr val="black"/>
                </a:solidFill>
                <a:latin typeface="Arial"/>
                <a:ea typeface="新細明體"/>
              </a:rPr>
              <a:pPr defTabSz="685800">
                <a:defRPr/>
              </a:pPr>
              <a:t>41</a:t>
            </a:fld>
            <a:endParaRPr lang="en-US" dirty="0">
              <a:solidFill>
                <a:prstClr val="black"/>
              </a:solidFill>
              <a:latin typeface="Arial"/>
              <a:ea typeface="新細明體"/>
            </a:endParaRPr>
          </a:p>
        </p:txBody>
      </p:sp>
      <p:sp>
        <p:nvSpPr>
          <p:cNvPr id="10" name="TextBox 9">
            <a:extLst>
              <a:ext uri="{FF2B5EF4-FFF2-40B4-BE49-F238E27FC236}">
                <a16:creationId xmlns:a16="http://schemas.microsoft.com/office/drawing/2014/main" id="{6CEDA7A9-DD2C-42A4-8C9B-9A56DF041136}"/>
              </a:ext>
            </a:extLst>
          </p:cNvPr>
          <p:cNvSpPr txBox="1"/>
          <p:nvPr/>
        </p:nvSpPr>
        <p:spPr>
          <a:xfrm>
            <a:off x="5877522" y="3913079"/>
            <a:ext cx="1223476" cy="369332"/>
          </a:xfrm>
          <a:prstGeom prst="rect">
            <a:avLst/>
          </a:prstGeom>
          <a:noFill/>
        </p:spPr>
        <p:txBody>
          <a:bodyPr wrap="none" rtlCol="0" anchor="ctr" anchorCtr="1">
            <a:spAutoFit/>
          </a:bodyPr>
          <a:lstStyle/>
          <a:p>
            <a:pPr defTabSz="685800"/>
            <a:r>
              <a:rPr lang="en-US" dirty="0">
                <a:solidFill>
                  <a:prstClr val="black"/>
                </a:solidFill>
                <a:latin typeface="Arial"/>
                <a:ea typeface="標楷體" pitchFamily="65" charset="-120"/>
                <a:cs typeface="Calibri" panose="020F07020304040A0204" pitchFamily="34" charset="0"/>
              </a:rPr>
              <a:t>Answer: A</a:t>
            </a:r>
          </a:p>
        </p:txBody>
      </p:sp>
    </p:spTree>
    <p:extLst>
      <p:ext uri="{BB962C8B-B14F-4D97-AF65-F5344CB8AC3E}">
        <p14:creationId xmlns:p14="http://schemas.microsoft.com/office/powerpoint/2010/main" val="102022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Review</a:t>
            </a:r>
          </a:p>
        </p:txBody>
      </p:sp>
      <p:sp>
        <p:nvSpPr>
          <p:cNvPr id="3" name="Content Placeholder 2"/>
          <p:cNvSpPr>
            <a:spLocks noGrp="1"/>
          </p:cNvSpPr>
          <p:nvPr>
            <p:ph idx="1"/>
          </p:nvPr>
        </p:nvSpPr>
        <p:spPr>
          <a:xfrm>
            <a:off x="160507" y="907256"/>
            <a:ext cx="8804106" cy="3681767"/>
          </a:xfrm>
        </p:spPr>
        <p:txBody>
          <a:bodyPr/>
          <a:lstStyle/>
          <a:p>
            <a:pPr marL="0" indent="0">
              <a:buNone/>
            </a:pPr>
            <a:r>
              <a:rPr lang="en-US" sz="2100" dirty="0">
                <a:latin typeface="Times New Roman" panose="02020603050405020304" pitchFamily="18" charset="0"/>
                <a:cs typeface="Times New Roman" panose="02020603050405020304" pitchFamily="18" charset="0"/>
              </a:rPr>
              <a:t>1) </a:t>
            </a:r>
            <a:r>
              <a:rPr lang="en-US" sz="2400" dirty="0">
                <a:latin typeface="Times New Roman" panose="02020603050405020304" pitchFamily="18" charset="0"/>
                <a:cs typeface="Times New Roman" panose="02020603050405020304" pitchFamily="18" charset="0"/>
              </a:rPr>
              <a:t>Why do caches work?</a:t>
            </a:r>
          </a:p>
          <a:p>
            <a:pPr marL="800082" lvl="1" indent="-457200">
              <a:buAutoNum type="alphaLcParenR"/>
            </a:pPr>
            <a:r>
              <a:rPr lang="en-US" sz="2200" dirty="0">
                <a:solidFill>
                  <a:prstClr val="black"/>
                </a:solidFill>
                <a:latin typeface="Times New Roman" panose="02020603050405020304" pitchFamily="18" charset="0"/>
                <a:cs typeface="Times New Roman" panose="02020603050405020304" pitchFamily="18" charset="0"/>
              </a:rPr>
              <a:t>Programs exhibit spatial locality</a:t>
            </a:r>
          </a:p>
          <a:p>
            <a:pPr marL="800082" lvl="1" indent="-457200">
              <a:buAutoNum type="alphaLcParenR"/>
            </a:pPr>
            <a:r>
              <a:rPr lang="en-US" sz="2200" dirty="0">
                <a:solidFill>
                  <a:prstClr val="black"/>
                </a:solidFill>
                <a:latin typeface="Times New Roman" panose="02020603050405020304" pitchFamily="18" charset="0"/>
                <a:cs typeface="Times New Roman" panose="02020603050405020304" pitchFamily="18" charset="0"/>
              </a:rPr>
              <a:t>Programs exhibit structural locality</a:t>
            </a:r>
          </a:p>
          <a:p>
            <a:pPr marL="800082" marR="0" lvl="1" indent="-457200" algn="l" defTabSz="914400" rtl="0" eaLnBrk="1" fontAlgn="base" latinLnBrk="0" hangingPunct="1">
              <a:lnSpc>
                <a:spcPct val="100000"/>
              </a:lnSpc>
              <a:spcBef>
                <a:spcPct val="20000"/>
              </a:spcBef>
              <a:spcAft>
                <a:spcPct val="0"/>
              </a:spcAft>
              <a:buClr>
                <a:srgbClr val="0000FF"/>
              </a:buClr>
              <a:buSzPct val="90000"/>
              <a:buFont typeface="Arial" charset="0"/>
              <a:buAutoNum type="alphaLcParenR"/>
              <a:tabLst/>
              <a:defRPr/>
            </a:pPr>
            <a:r>
              <a:rPr kumimoji="1" lang="en-US" sz="2200" b="0" i="0" u="none" strike="noStrike" kern="0" cap="none" spc="0" normalizeH="0" baseline="0" noProof="0" dirty="0">
                <a:ln>
                  <a:noFill/>
                </a:ln>
                <a:solidFill>
                  <a:prstClr val="black"/>
                </a:solidFill>
                <a:effectLst/>
                <a:uLnTx/>
                <a:uFillTx/>
                <a:latin typeface="Times New Roman" panose="02020603050405020304" pitchFamily="18" charset="0"/>
                <a:ea typeface="標楷體" pitchFamily="65" charset="-120"/>
                <a:cs typeface="Times New Roman" panose="02020603050405020304" pitchFamily="18" charset="0"/>
              </a:rPr>
              <a:t>Programs exhibit temporal locality</a:t>
            </a:r>
          </a:p>
          <a:p>
            <a:pPr marL="800082" marR="0" lvl="1" indent="-457200" algn="l" defTabSz="914400" rtl="0" eaLnBrk="1" fontAlgn="base" latinLnBrk="0" hangingPunct="1">
              <a:lnSpc>
                <a:spcPct val="100000"/>
              </a:lnSpc>
              <a:spcBef>
                <a:spcPct val="20000"/>
              </a:spcBef>
              <a:spcAft>
                <a:spcPct val="0"/>
              </a:spcAft>
              <a:buClr>
                <a:srgbClr val="0000FF"/>
              </a:buClr>
              <a:buSzPct val="90000"/>
              <a:buFont typeface="Arial" charset="0"/>
              <a:buAutoNum type="alphaLcParenR"/>
              <a:tabLst/>
              <a:defRPr/>
            </a:pPr>
            <a:r>
              <a:rPr kumimoji="1" lang="en-US" sz="2200" b="0" i="0" u="none" strike="noStrike" kern="0" cap="none" spc="0" normalizeH="0" baseline="0" noProof="0" dirty="0">
                <a:ln>
                  <a:noFill/>
                </a:ln>
                <a:solidFill>
                  <a:prstClr val="black"/>
                </a:solidFill>
                <a:effectLst/>
                <a:uLnTx/>
                <a:uFillTx/>
                <a:latin typeface="Times New Roman" panose="02020603050405020304" pitchFamily="18" charset="0"/>
                <a:ea typeface="標楷體" pitchFamily="65" charset="-120"/>
                <a:cs typeface="Times New Roman" panose="02020603050405020304" pitchFamily="18" charset="0"/>
              </a:rPr>
              <a:t>Programs exhibit special locality</a:t>
            </a:r>
          </a:p>
          <a:p>
            <a:pPr marL="342882" marR="0" lvl="1" indent="0" algn="l" defTabSz="914400" rtl="0" eaLnBrk="1" fontAlgn="base" latinLnBrk="0" hangingPunct="1">
              <a:lnSpc>
                <a:spcPct val="100000"/>
              </a:lnSpc>
              <a:spcBef>
                <a:spcPct val="20000"/>
              </a:spcBef>
              <a:spcAft>
                <a:spcPct val="0"/>
              </a:spcAft>
              <a:buClr>
                <a:srgbClr val="0000FF"/>
              </a:buClr>
              <a:buSzPct val="90000"/>
              <a:buNone/>
              <a:tabLst/>
              <a:defRPr/>
            </a:pPr>
            <a:endParaRPr kumimoji="1" lang="en-US" sz="2200" b="0" i="0" u="none" strike="noStrike" kern="0" cap="none" spc="0" normalizeH="0" baseline="0" noProof="0" dirty="0">
              <a:ln>
                <a:noFill/>
              </a:ln>
              <a:solidFill>
                <a:prstClr val="black"/>
              </a:solidFill>
              <a:effectLst/>
              <a:uLnTx/>
              <a:uFillTx/>
              <a:latin typeface="Times New Roman" panose="02020603050405020304" pitchFamily="18" charset="0"/>
              <a:ea typeface="標楷體" pitchFamily="65" charset="-120"/>
              <a:cs typeface="Times New Roman" panose="02020603050405020304" pitchFamily="18" charset="0"/>
            </a:endParaRPr>
          </a:p>
          <a:p>
            <a:pPr marL="800082" lvl="1" indent="-457200">
              <a:buAutoNum type="alphaLcParenR"/>
            </a:pPr>
            <a:endParaRPr lang="en-US" sz="2200" dirty="0">
              <a:solidFill>
                <a:prstClr val="black"/>
              </a:solidFill>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pPr defTabSz="685800">
              <a:defRPr/>
            </a:pPr>
            <a:r>
              <a:rPr lang="en-US">
                <a:solidFill>
                  <a:prstClr val="white"/>
                </a:solidFill>
              </a:rPr>
              <a:t>September 27, 2017</a:t>
            </a:r>
            <a:endParaRPr lang="en-US" dirty="0">
              <a:solidFill>
                <a:prstClr val="white"/>
              </a:solidFill>
            </a:endParaRPr>
          </a:p>
        </p:txBody>
      </p:sp>
      <p:sp>
        <p:nvSpPr>
          <p:cNvPr id="8" name="Footer Placeholder 7"/>
          <p:cNvSpPr>
            <a:spLocks noGrp="1"/>
          </p:cNvSpPr>
          <p:nvPr>
            <p:ph type="ftr" sz="quarter" idx="12"/>
          </p:nvPr>
        </p:nvSpPr>
        <p:spPr bwMode="auto">
          <a:xfrm>
            <a:off x="3070448" y="6400800"/>
            <a:ext cx="3018465"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200" kern="1200">
                <a:solidFill>
                  <a:schemeClr val="tx1"/>
                </a:solidFill>
                <a:latin typeface="+mn-lt"/>
                <a:ea typeface="+mn-ea"/>
                <a:cs typeface="+mn-cs"/>
              </a:defRPr>
            </a:lvl1pPr>
            <a:lvl2pPr marL="457189" algn="l" rtl="0" fontAlgn="base">
              <a:spcBef>
                <a:spcPct val="0"/>
              </a:spcBef>
              <a:spcAft>
                <a:spcPct val="0"/>
              </a:spcAft>
              <a:defRPr sz="2000" kern="1200">
                <a:solidFill>
                  <a:schemeClr val="tx1"/>
                </a:solidFill>
                <a:latin typeface="Verdana" pitchFamily="34" charset="0"/>
                <a:ea typeface="+mn-ea"/>
                <a:cs typeface="+mn-cs"/>
              </a:defRPr>
            </a:lvl2pPr>
            <a:lvl3pPr marL="914378" algn="l" rtl="0" fontAlgn="base">
              <a:spcBef>
                <a:spcPct val="0"/>
              </a:spcBef>
              <a:spcAft>
                <a:spcPct val="0"/>
              </a:spcAft>
              <a:defRPr sz="2000" kern="1200">
                <a:solidFill>
                  <a:schemeClr val="tx1"/>
                </a:solidFill>
                <a:latin typeface="Verdana" pitchFamily="34" charset="0"/>
                <a:ea typeface="+mn-ea"/>
                <a:cs typeface="+mn-cs"/>
              </a:defRPr>
            </a:lvl3pPr>
            <a:lvl4pPr marL="1371566" algn="l" rtl="0" fontAlgn="base">
              <a:spcBef>
                <a:spcPct val="0"/>
              </a:spcBef>
              <a:spcAft>
                <a:spcPct val="0"/>
              </a:spcAft>
              <a:defRPr sz="2000" kern="1200">
                <a:solidFill>
                  <a:schemeClr val="tx1"/>
                </a:solidFill>
                <a:latin typeface="Verdana" pitchFamily="34" charset="0"/>
                <a:ea typeface="+mn-ea"/>
                <a:cs typeface="+mn-cs"/>
              </a:defRPr>
            </a:lvl4pPr>
            <a:lvl5pPr marL="1828754" algn="l" rtl="0" fontAlgn="base">
              <a:spcBef>
                <a:spcPct val="0"/>
              </a:spcBef>
              <a:spcAft>
                <a:spcPct val="0"/>
              </a:spcAft>
              <a:defRPr sz="2000" kern="1200">
                <a:solidFill>
                  <a:schemeClr val="tx1"/>
                </a:solidFill>
                <a:latin typeface="Verdana" pitchFamily="34" charset="0"/>
                <a:ea typeface="+mn-ea"/>
                <a:cs typeface="+mn-cs"/>
              </a:defRPr>
            </a:lvl5pPr>
            <a:lvl6pPr marL="2285943" algn="l" defTabSz="914378" rtl="0" eaLnBrk="1" latinLnBrk="0" hangingPunct="1">
              <a:defRPr sz="2000" kern="1200">
                <a:solidFill>
                  <a:schemeClr val="tx1"/>
                </a:solidFill>
                <a:latin typeface="Verdana" pitchFamily="34" charset="0"/>
                <a:ea typeface="+mn-ea"/>
                <a:cs typeface="+mn-cs"/>
              </a:defRPr>
            </a:lvl6pPr>
            <a:lvl7pPr marL="2743132" algn="l" defTabSz="914378" rtl="0" eaLnBrk="1" latinLnBrk="0" hangingPunct="1">
              <a:defRPr sz="2000" kern="1200">
                <a:solidFill>
                  <a:schemeClr val="tx1"/>
                </a:solidFill>
                <a:latin typeface="Verdana" pitchFamily="34" charset="0"/>
                <a:ea typeface="+mn-ea"/>
                <a:cs typeface="+mn-cs"/>
              </a:defRPr>
            </a:lvl7pPr>
            <a:lvl8pPr marL="3200320" algn="l" defTabSz="914378" rtl="0" eaLnBrk="1" latinLnBrk="0" hangingPunct="1">
              <a:defRPr sz="2000" kern="1200">
                <a:solidFill>
                  <a:schemeClr val="tx1"/>
                </a:solidFill>
                <a:latin typeface="Verdana" pitchFamily="34" charset="0"/>
                <a:ea typeface="+mn-ea"/>
                <a:cs typeface="+mn-cs"/>
              </a:defRPr>
            </a:lvl8pPr>
            <a:lvl9pPr marL="3657509" algn="l" defTabSz="914378" rtl="0" eaLnBrk="1" latinLnBrk="0" hangingPunct="1">
              <a:defRPr sz="2000" kern="1200">
                <a:solidFill>
                  <a:schemeClr val="tx1"/>
                </a:solidFill>
                <a:latin typeface="Verdana" pitchFamily="34" charset="0"/>
                <a:ea typeface="+mn-ea"/>
                <a:cs typeface="+mn-cs"/>
              </a:defRPr>
            </a:lvl9pPr>
          </a:lstStyle>
          <a:p>
            <a:pPr defTabSz="685800">
              <a:defRPr/>
            </a:pPr>
            <a:r>
              <a:rPr lang="en-US">
                <a:solidFill>
                  <a:prstClr val="black"/>
                </a:solidFill>
                <a:latin typeface="Arial"/>
                <a:ea typeface="新細明體"/>
              </a:rPr>
              <a:t>http://csg.csail.mit.edu/6.175</a:t>
            </a:r>
            <a:endParaRPr lang="en-US" dirty="0">
              <a:solidFill>
                <a:prstClr val="black"/>
              </a:solidFill>
              <a:latin typeface="Arial"/>
              <a:ea typeface="新細明體"/>
            </a:endParaRPr>
          </a:p>
        </p:txBody>
      </p:sp>
      <p:sp>
        <p:nvSpPr>
          <p:cNvPr id="9" name="Slide Number Placeholder 8"/>
          <p:cNvSpPr>
            <a:spLocks noGrp="1"/>
          </p:cNvSpPr>
          <p:nvPr>
            <p:ph type="sldNum" sz="quarter" idx="11"/>
          </p:nvPr>
        </p:nvSpPr>
        <p:spPr bwMode="auto">
          <a:xfrm>
            <a:off x="723900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200" kern="1200">
                <a:solidFill>
                  <a:schemeClr val="tx1"/>
                </a:solidFill>
                <a:latin typeface="+mn-lt"/>
                <a:ea typeface="+mn-ea"/>
                <a:cs typeface="+mn-cs"/>
              </a:defRPr>
            </a:lvl1pPr>
            <a:lvl2pPr marL="457189" algn="l" rtl="0" fontAlgn="base">
              <a:spcBef>
                <a:spcPct val="0"/>
              </a:spcBef>
              <a:spcAft>
                <a:spcPct val="0"/>
              </a:spcAft>
              <a:defRPr sz="2000" kern="1200">
                <a:solidFill>
                  <a:schemeClr val="tx1"/>
                </a:solidFill>
                <a:latin typeface="Verdana" pitchFamily="34" charset="0"/>
                <a:ea typeface="+mn-ea"/>
                <a:cs typeface="+mn-cs"/>
              </a:defRPr>
            </a:lvl2pPr>
            <a:lvl3pPr marL="914378" algn="l" rtl="0" fontAlgn="base">
              <a:spcBef>
                <a:spcPct val="0"/>
              </a:spcBef>
              <a:spcAft>
                <a:spcPct val="0"/>
              </a:spcAft>
              <a:defRPr sz="2000" kern="1200">
                <a:solidFill>
                  <a:schemeClr val="tx1"/>
                </a:solidFill>
                <a:latin typeface="Verdana" pitchFamily="34" charset="0"/>
                <a:ea typeface="+mn-ea"/>
                <a:cs typeface="+mn-cs"/>
              </a:defRPr>
            </a:lvl3pPr>
            <a:lvl4pPr marL="1371566" algn="l" rtl="0" fontAlgn="base">
              <a:spcBef>
                <a:spcPct val="0"/>
              </a:spcBef>
              <a:spcAft>
                <a:spcPct val="0"/>
              </a:spcAft>
              <a:defRPr sz="2000" kern="1200">
                <a:solidFill>
                  <a:schemeClr val="tx1"/>
                </a:solidFill>
                <a:latin typeface="Verdana" pitchFamily="34" charset="0"/>
                <a:ea typeface="+mn-ea"/>
                <a:cs typeface="+mn-cs"/>
              </a:defRPr>
            </a:lvl4pPr>
            <a:lvl5pPr marL="1828754" algn="l" rtl="0" fontAlgn="base">
              <a:spcBef>
                <a:spcPct val="0"/>
              </a:spcBef>
              <a:spcAft>
                <a:spcPct val="0"/>
              </a:spcAft>
              <a:defRPr sz="2000" kern="1200">
                <a:solidFill>
                  <a:schemeClr val="tx1"/>
                </a:solidFill>
                <a:latin typeface="Verdana" pitchFamily="34" charset="0"/>
                <a:ea typeface="+mn-ea"/>
                <a:cs typeface="+mn-cs"/>
              </a:defRPr>
            </a:lvl5pPr>
            <a:lvl6pPr marL="2285943" algn="l" defTabSz="914378" rtl="0" eaLnBrk="1" latinLnBrk="0" hangingPunct="1">
              <a:defRPr sz="2000" kern="1200">
                <a:solidFill>
                  <a:schemeClr val="tx1"/>
                </a:solidFill>
                <a:latin typeface="Verdana" pitchFamily="34" charset="0"/>
                <a:ea typeface="+mn-ea"/>
                <a:cs typeface="+mn-cs"/>
              </a:defRPr>
            </a:lvl6pPr>
            <a:lvl7pPr marL="2743132" algn="l" defTabSz="914378" rtl="0" eaLnBrk="1" latinLnBrk="0" hangingPunct="1">
              <a:defRPr sz="2000" kern="1200">
                <a:solidFill>
                  <a:schemeClr val="tx1"/>
                </a:solidFill>
                <a:latin typeface="Verdana" pitchFamily="34" charset="0"/>
                <a:ea typeface="+mn-ea"/>
                <a:cs typeface="+mn-cs"/>
              </a:defRPr>
            </a:lvl7pPr>
            <a:lvl8pPr marL="3200320" algn="l" defTabSz="914378" rtl="0" eaLnBrk="1" latinLnBrk="0" hangingPunct="1">
              <a:defRPr sz="2000" kern="1200">
                <a:solidFill>
                  <a:schemeClr val="tx1"/>
                </a:solidFill>
                <a:latin typeface="Verdana" pitchFamily="34" charset="0"/>
                <a:ea typeface="+mn-ea"/>
                <a:cs typeface="+mn-cs"/>
              </a:defRPr>
            </a:lvl8pPr>
            <a:lvl9pPr marL="3657509" algn="l" defTabSz="914378" rtl="0" eaLnBrk="1" latinLnBrk="0" hangingPunct="1">
              <a:defRPr sz="2000" kern="1200">
                <a:solidFill>
                  <a:schemeClr val="tx1"/>
                </a:solidFill>
                <a:latin typeface="Verdana" pitchFamily="34" charset="0"/>
                <a:ea typeface="+mn-ea"/>
                <a:cs typeface="+mn-cs"/>
              </a:defRPr>
            </a:lvl9pPr>
          </a:lstStyle>
          <a:p>
            <a:pPr defTabSz="685800">
              <a:defRPr/>
            </a:pPr>
            <a:r>
              <a:rPr lang="en-US">
                <a:solidFill>
                  <a:prstClr val="black"/>
                </a:solidFill>
                <a:latin typeface="Arial"/>
                <a:ea typeface="新細明體"/>
              </a:rPr>
              <a:t>L09-</a:t>
            </a:r>
            <a:fld id="{D02EE386-C9BD-4FB7-9577-6096B5320EC4}" type="slidenum">
              <a:rPr lang="en-US">
                <a:solidFill>
                  <a:prstClr val="black"/>
                </a:solidFill>
                <a:latin typeface="Arial"/>
                <a:ea typeface="新細明體"/>
              </a:rPr>
              <a:pPr defTabSz="685800">
                <a:defRPr/>
              </a:pPr>
              <a:t>42</a:t>
            </a:fld>
            <a:endParaRPr lang="en-US" dirty="0">
              <a:solidFill>
                <a:prstClr val="black"/>
              </a:solidFill>
              <a:latin typeface="Arial"/>
              <a:ea typeface="新細明體"/>
            </a:endParaRPr>
          </a:p>
        </p:txBody>
      </p:sp>
      <p:sp>
        <p:nvSpPr>
          <p:cNvPr id="10" name="TextBox 9">
            <a:extLst>
              <a:ext uri="{FF2B5EF4-FFF2-40B4-BE49-F238E27FC236}">
                <a16:creationId xmlns:a16="http://schemas.microsoft.com/office/drawing/2014/main" id="{6CEDA7A9-DD2C-42A4-8C9B-9A56DF041136}"/>
              </a:ext>
            </a:extLst>
          </p:cNvPr>
          <p:cNvSpPr txBox="1"/>
          <p:nvPr/>
        </p:nvSpPr>
        <p:spPr>
          <a:xfrm>
            <a:off x="5877522" y="3913079"/>
            <a:ext cx="1518429" cy="369332"/>
          </a:xfrm>
          <a:prstGeom prst="rect">
            <a:avLst/>
          </a:prstGeom>
          <a:noFill/>
        </p:spPr>
        <p:txBody>
          <a:bodyPr wrap="none" rtlCol="0" anchor="ctr" anchorCtr="1">
            <a:spAutoFit/>
          </a:bodyPr>
          <a:lstStyle/>
          <a:p>
            <a:pPr defTabSz="685800"/>
            <a:r>
              <a:rPr lang="en-US" dirty="0">
                <a:solidFill>
                  <a:prstClr val="black"/>
                </a:solidFill>
                <a:latin typeface="Arial"/>
                <a:ea typeface="標楷體" pitchFamily="65" charset="-120"/>
                <a:cs typeface="Calibri" panose="020F07020304040A0204" pitchFamily="34" charset="0"/>
              </a:rPr>
              <a:t>Answer: A, C</a:t>
            </a:r>
          </a:p>
        </p:txBody>
      </p:sp>
    </p:spTree>
    <p:extLst>
      <p:ext uri="{BB962C8B-B14F-4D97-AF65-F5344CB8AC3E}">
        <p14:creationId xmlns:p14="http://schemas.microsoft.com/office/powerpoint/2010/main" val="2276463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Review</a:t>
            </a:r>
          </a:p>
        </p:txBody>
      </p:sp>
      <p:sp>
        <p:nvSpPr>
          <p:cNvPr id="3" name="Content Placeholder 2"/>
          <p:cNvSpPr>
            <a:spLocks noGrp="1"/>
          </p:cNvSpPr>
          <p:nvPr>
            <p:ph idx="1"/>
          </p:nvPr>
        </p:nvSpPr>
        <p:spPr>
          <a:xfrm>
            <a:off x="160507" y="907256"/>
            <a:ext cx="8804106" cy="3681767"/>
          </a:xfrm>
        </p:spPr>
        <p:txBody>
          <a:bodyPr/>
          <a:lstStyle/>
          <a:p>
            <a:pPr marL="0" indent="0">
              <a:buNone/>
            </a:pPr>
            <a:r>
              <a:rPr lang="en-US" sz="2100" dirty="0">
                <a:latin typeface="Times New Roman" panose="02020603050405020304" pitchFamily="18" charset="0"/>
                <a:cs typeface="Times New Roman" panose="02020603050405020304" pitchFamily="18" charset="0"/>
              </a:rPr>
              <a:t>2) In the command "</a:t>
            </a:r>
            <a:r>
              <a:rPr lang="en-US" sz="2100" i="1" dirty="0" err="1">
                <a:latin typeface="Times New Roman" panose="02020603050405020304" pitchFamily="18" charset="0"/>
                <a:cs typeface="Times New Roman" panose="02020603050405020304" pitchFamily="18" charset="0"/>
              </a:rPr>
              <a:t>gcc</a:t>
            </a:r>
            <a:r>
              <a:rPr lang="en-US" sz="2100" i="1" dirty="0">
                <a:latin typeface="Times New Roman" panose="02020603050405020304" pitchFamily="18" charset="0"/>
                <a:cs typeface="Times New Roman" panose="02020603050405020304" pitchFamily="18" charset="0"/>
              </a:rPr>
              <a:t> -o hello </a:t>
            </a:r>
            <a:r>
              <a:rPr lang="en-US" sz="2100" i="1" dirty="0" err="1">
                <a:latin typeface="Times New Roman" panose="02020603050405020304" pitchFamily="18" charset="0"/>
                <a:cs typeface="Times New Roman" panose="02020603050405020304" pitchFamily="18" charset="0"/>
              </a:rPr>
              <a:t>hello.c</a:t>
            </a:r>
            <a:r>
              <a:rPr lang="en-US" sz="2100" dirty="0">
                <a:latin typeface="Times New Roman" panose="02020603050405020304" pitchFamily="18" charset="0"/>
                <a:cs typeface="Times New Roman" panose="02020603050405020304" pitchFamily="18" charset="0"/>
              </a:rPr>
              <a:t>“, </a:t>
            </a:r>
            <a:r>
              <a:rPr lang="en-US" sz="2100" i="1" dirty="0" err="1">
                <a:latin typeface="Times New Roman" panose="02020603050405020304" pitchFamily="18" charset="0"/>
                <a:cs typeface="Times New Roman" panose="02020603050405020304" pitchFamily="18" charset="0"/>
              </a:rPr>
              <a:t>gcc</a:t>
            </a:r>
            <a:r>
              <a:rPr lang="en-US" sz="2100" dirty="0">
                <a:latin typeface="Times New Roman" panose="02020603050405020304" pitchFamily="18" charset="0"/>
                <a:cs typeface="Times New Roman" panose="02020603050405020304" pitchFamily="18" charset="0"/>
              </a:rPr>
              <a:t> serves as a driver. What processing does it initiate? </a:t>
            </a:r>
          </a:p>
          <a:p>
            <a:pPr marL="0" indent="0">
              <a:buNone/>
            </a:pPr>
            <a:r>
              <a:rPr lang="en-US" sz="2100" dirty="0">
                <a:latin typeface="Times New Roman" panose="02020603050405020304" pitchFamily="18" charset="0"/>
                <a:cs typeface="Times New Roman" panose="02020603050405020304" pitchFamily="18" charset="0"/>
              </a:rPr>
              <a:t>	a) </a:t>
            </a:r>
            <a:r>
              <a:rPr kumimoji="1" lang="en-US" sz="2100" b="0" i="0" u="none" strike="noStrike" kern="0" cap="none" spc="0" normalizeH="0" baseline="0" noProof="0" dirty="0">
                <a:ln>
                  <a:noFill/>
                </a:ln>
                <a:solidFill>
                  <a:prstClr val="black"/>
                </a:solidFill>
                <a:effectLst/>
                <a:uLnTx/>
                <a:uFillTx/>
                <a:latin typeface="Times New Roman" panose="02020603050405020304" pitchFamily="18" charset="0"/>
                <a:ea typeface="標楷體" pitchFamily="65" charset="-120"/>
                <a:cs typeface="Times New Roman" panose="02020603050405020304" pitchFamily="18" charset="0"/>
              </a:rPr>
              <a:t>Executing </a:t>
            </a:r>
            <a:r>
              <a:rPr kumimoji="1" lang="en-US" sz="2100" b="1" i="1" u="none" strike="noStrike" kern="0" cap="none" spc="0" normalizeH="0" baseline="0" noProof="0" dirty="0">
                <a:ln>
                  <a:noFill/>
                </a:ln>
                <a:solidFill>
                  <a:prstClr val="black"/>
                </a:solidFill>
                <a:effectLst/>
                <a:uLnTx/>
                <a:uFillTx/>
                <a:latin typeface="Times New Roman" panose="02020603050405020304" pitchFamily="18" charset="0"/>
                <a:ea typeface="標楷體" pitchFamily="65" charset="-120"/>
                <a:cs typeface="Times New Roman" panose="02020603050405020304" pitchFamily="18" charset="0"/>
              </a:rPr>
              <a:t>hello </a:t>
            </a:r>
          </a:p>
          <a:p>
            <a:pPr marL="0" indent="0">
              <a:buNone/>
            </a:pPr>
            <a:r>
              <a:rPr lang="en-US" sz="2100" b="1" i="1" dirty="0">
                <a:solidFill>
                  <a:prstClr val="black"/>
                </a:solidFill>
                <a:latin typeface="Times New Roman" panose="02020603050405020304" pitchFamily="18" charset="0"/>
                <a:cs typeface="Times New Roman" panose="02020603050405020304" pitchFamily="18" charset="0"/>
              </a:rPr>
              <a:t>	</a:t>
            </a:r>
            <a:r>
              <a:rPr lang="en-US" sz="2100" dirty="0">
                <a:solidFill>
                  <a:prstClr val="black"/>
                </a:solidFill>
                <a:latin typeface="Times New Roman" panose="02020603050405020304" pitchFamily="18" charset="0"/>
                <a:cs typeface="Times New Roman" panose="02020603050405020304" pitchFamily="18" charset="0"/>
              </a:rPr>
              <a:t>b)</a:t>
            </a:r>
            <a:r>
              <a:rPr lang="en-US" sz="2100" b="1" i="1" dirty="0">
                <a:solidFill>
                  <a:prstClr val="black"/>
                </a:solidFill>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Linking </a:t>
            </a:r>
            <a:r>
              <a:rPr lang="en-US" sz="2100" dirty="0" err="1">
                <a:latin typeface="Times New Roman" panose="02020603050405020304" pitchFamily="18" charset="0"/>
                <a:cs typeface="Times New Roman" panose="02020603050405020304" pitchFamily="18" charset="0"/>
              </a:rPr>
              <a:t>hello.o</a:t>
            </a:r>
            <a:r>
              <a:rPr lang="en-US" sz="2100" dirty="0">
                <a:latin typeface="Times New Roman" panose="02020603050405020304" pitchFamily="18" charset="0"/>
                <a:cs typeface="Times New Roman" panose="02020603050405020304" pitchFamily="18" charset="0"/>
              </a:rPr>
              <a:t> with </a:t>
            </a:r>
            <a:r>
              <a:rPr lang="en-US" sz="2100" dirty="0" err="1">
                <a:latin typeface="Times New Roman" panose="02020603050405020304" pitchFamily="18" charset="0"/>
                <a:cs typeface="Times New Roman" panose="02020603050405020304" pitchFamily="18" charset="0"/>
              </a:rPr>
              <a:t>stdio</a:t>
            </a:r>
            <a:r>
              <a:rPr lang="en-US" sz="2100" dirty="0">
                <a:latin typeface="Times New Roman" panose="02020603050405020304" pitchFamily="18" charset="0"/>
                <a:cs typeface="Times New Roman" panose="02020603050405020304" pitchFamily="18" charset="0"/>
              </a:rPr>
              <a:t> library</a:t>
            </a:r>
          </a:p>
          <a:p>
            <a:pPr marL="0" indent="0">
              <a:buNone/>
            </a:pPr>
            <a:r>
              <a:rPr lang="en-US" sz="2100" dirty="0">
                <a:latin typeface="Times New Roman" panose="02020603050405020304" pitchFamily="18" charset="0"/>
                <a:cs typeface="Times New Roman" panose="02020603050405020304" pitchFamily="18" charset="0"/>
              </a:rPr>
              <a:t>	c) Compiling </a:t>
            </a:r>
            <a:r>
              <a:rPr lang="en-US" sz="2100" dirty="0" err="1">
                <a:latin typeface="Times New Roman" panose="02020603050405020304" pitchFamily="18" charset="0"/>
                <a:cs typeface="Times New Roman" panose="02020603050405020304" pitchFamily="18" charset="0"/>
              </a:rPr>
              <a:t>hello.i</a:t>
            </a:r>
            <a:r>
              <a:rPr lang="en-US" sz="2100" dirty="0">
                <a:latin typeface="Times New Roman" panose="02020603050405020304" pitchFamily="18" charset="0"/>
                <a:cs typeface="Times New Roman" panose="02020603050405020304" pitchFamily="18" charset="0"/>
              </a:rPr>
              <a:t> to </a:t>
            </a:r>
            <a:r>
              <a:rPr lang="en-US" sz="2100" dirty="0" err="1">
                <a:latin typeface="Times New Roman" panose="02020603050405020304" pitchFamily="18" charset="0"/>
                <a:cs typeface="Times New Roman" panose="02020603050405020304" pitchFamily="18" charset="0"/>
              </a:rPr>
              <a:t>hello.s</a:t>
            </a:r>
            <a:endParaRPr lang="en-US" sz="2100" dirty="0">
              <a:latin typeface="Times New Roman" panose="02020603050405020304" pitchFamily="18" charset="0"/>
              <a:cs typeface="Times New Roman" panose="02020603050405020304" pitchFamily="18" charset="0"/>
            </a:endParaRPr>
          </a:p>
          <a:p>
            <a:pPr marL="0" indent="0">
              <a:buNone/>
            </a:pPr>
            <a:r>
              <a:rPr lang="en-US" sz="2100" dirty="0">
                <a:latin typeface="Times New Roman" panose="02020603050405020304" pitchFamily="18" charset="0"/>
                <a:cs typeface="Times New Roman" panose="02020603050405020304" pitchFamily="18" charset="0"/>
              </a:rPr>
              <a:t>	d) Preprocessing </a:t>
            </a:r>
            <a:r>
              <a:rPr lang="en-US" sz="2100" dirty="0" err="1">
                <a:latin typeface="Times New Roman" panose="02020603050405020304" pitchFamily="18" charset="0"/>
                <a:cs typeface="Times New Roman" panose="02020603050405020304" pitchFamily="18" charset="0"/>
              </a:rPr>
              <a:t>hello.c</a:t>
            </a:r>
            <a:r>
              <a:rPr lang="en-US" sz="2100" dirty="0">
                <a:latin typeface="Times New Roman" panose="02020603050405020304" pitchFamily="18" charset="0"/>
                <a:cs typeface="Times New Roman" panose="02020603050405020304" pitchFamily="18" charset="0"/>
              </a:rPr>
              <a:t> to </a:t>
            </a:r>
            <a:r>
              <a:rPr lang="en-US" sz="2100" dirty="0" err="1">
                <a:latin typeface="Times New Roman" panose="02020603050405020304" pitchFamily="18" charset="0"/>
                <a:cs typeface="Times New Roman" panose="02020603050405020304" pitchFamily="18" charset="0"/>
              </a:rPr>
              <a:t>hello.i</a:t>
            </a:r>
            <a:endParaRPr lang="en-US" sz="2100" dirty="0">
              <a:latin typeface="Times New Roman" panose="02020603050405020304" pitchFamily="18" charset="0"/>
              <a:cs typeface="Times New Roman" panose="02020603050405020304" pitchFamily="18" charset="0"/>
            </a:endParaRPr>
          </a:p>
          <a:p>
            <a:pPr marL="0" indent="0">
              <a:buNone/>
            </a:pPr>
            <a:r>
              <a:rPr lang="en-US" sz="2100" dirty="0">
                <a:latin typeface="Times New Roman" panose="02020603050405020304" pitchFamily="18" charset="0"/>
                <a:cs typeface="Times New Roman" panose="02020603050405020304" pitchFamily="18" charset="0"/>
              </a:rPr>
              <a:t>	e) Assembling </a:t>
            </a:r>
            <a:r>
              <a:rPr lang="en-US" sz="2100" dirty="0" err="1">
                <a:latin typeface="Times New Roman" panose="02020603050405020304" pitchFamily="18" charset="0"/>
                <a:cs typeface="Times New Roman" panose="02020603050405020304" pitchFamily="18" charset="0"/>
              </a:rPr>
              <a:t>hello.s</a:t>
            </a:r>
            <a:r>
              <a:rPr lang="en-US" sz="2100" dirty="0">
                <a:latin typeface="Times New Roman" panose="02020603050405020304" pitchFamily="18" charset="0"/>
                <a:cs typeface="Times New Roman" panose="02020603050405020304" pitchFamily="18" charset="0"/>
              </a:rPr>
              <a:t> to </a:t>
            </a:r>
            <a:r>
              <a:rPr lang="en-US" sz="2100" dirty="0" err="1">
                <a:latin typeface="Times New Roman" panose="02020603050405020304" pitchFamily="18" charset="0"/>
                <a:cs typeface="Times New Roman" panose="02020603050405020304" pitchFamily="18" charset="0"/>
              </a:rPr>
              <a:t>hello.s</a:t>
            </a:r>
            <a:endParaRPr lang="en-US" sz="2100" dirty="0">
              <a:latin typeface="Times New Roman" panose="02020603050405020304" pitchFamily="18" charset="0"/>
              <a:cs typeface="Times New Roman" panose="02020603050405020304" pitchFamily="18" charset="0"/>
            </a:endParaRPr>
          </a:p>
          <a:p>
            <a:pPr marL="0" indent="0">
              <a:buNone/>
            </a:pPr>
            <a:r>
              <a:rPr lang="en-US" sz="2100" dirty="0">
                <a:latin typeface="Times New Roman" panose="02020603050405020304" pitchFamily="18" charset="0"/>
                <a:cs typeface="Times New Roman" panose="02020603050405020304" pitchFamily="18" charset="0"/>
              </a:rPr>
              <a:t>	</a:t>
            </a:r>
            <a:endParaRPr lang="en-US" sz="2100" b="1" i="1" dirty="0">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pPr defTabSz="685800">
              <a:defRPr/>
            </a:pPr>
            <a:r>
              <a:rPr lang="en-US" dirty="0">
                <a:solidFill>
                  <a:prstClr val="white"/>
                </a:solidFill>
              </a:rPr>
              <a:t>Feb  17, 2025</a:t>
            </a:r>
          </a:p>
        </p:txBody>
      </p:sp>
      <p:sp>
        <p:nvSpPr>
          <p:cNvPr id="8" name="Footer Placeholder 7"/>
          <p:cNvSpPr>
            <a:spLocks noGrp="1"/>
          </p:cNvSpPr>
          <p:nvPr>
            <p:ph type="ftr" sz="quarter" idx="12"/>
          </p:nvPr>
        </p:nvSpPr>
        <p:spPr bwMode="auto">
          <a:xfrm>
            <a:off x="3070448" y="6400800"/>
            <a:ext cx="3018465"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200" kern="1200">
                <a:solidFill>
                  <a:schemeClr val="tx1"/>
                </a:solidFill>
                <a:latin typeface="+mn-lt"/>
                <a:ea typeface="+mn-ea"/>
                <a:cs typeface="+mn-cs"/>
              </a:defRPr>
            </a:lvl1pPr>
            <a:lvl2pPr marL="457189" algn="l" rtl="0" fontAlgn="base">
              <a:spcBef>
                <a:spcPct val="0"/>
              </a:spcBef>
              <a:spcAft>
                <a:spcPct val="0"/>
              </a:spcAft>
              <a:defRPr sz="2000" kern="1200">
                <a:solidFill>
                  <a:schemeClr val="tx1"/>
                </a:solidFill>
                <a:latin typeface="Verdana" pitchFamily="34" charset="0"/>
                <a:ea typeface="+mn-ea"/>
                <a:cs typeface="+mn-cs"/>
              </a:defRPr>
            </a:lvl2pPr>
            <a:lvl3pPr marL="914378" algn="l" rtl="0" fontAlgn="base">
              <a:spcBef>
                <a:spcPct val="0"/>
              </a:spcBef>
              <a:spcAft>
                <a:spcPct val="0"/>
              </a:spcAft>
              <a:defRPr sz="2000" kern="1200">
                <a:solidFill>
                  <a:schemeClr val="tx1"/>
                </a:solidFill>
                <a:latin typeface="Verdana" pitchFamily="34" charset="0"/>
                <a:ea typeface="+mn-ea"/>
                <a:cs typeface="+mn-cs"/>
              </a:defRPr>
            </a:lvl3pPr>
            <a:lvl4pPr marL="1371566" algn="l" rtl="0" fontAlgn="base">
              <a:spcBef>
                <a:spcPct val="0"/>
              </a:spcBef>
              <a:spcAft>
                <a:spcPct val="0"/>
              </a:spcAft>
              <a:defRPr sz="2000" kern="1200">
                <a:solidFill>
                  <a:schemeClr val="tx1"/>
                </a:solidFill>
                <a:latin typeface="Verdana" pitchFamily="34" charset="0"/>
                <a:ea typeface="+mn-ea"/>
                <a:cs typeface="+mn-cs"/>
              </a:defRPr>
            </a:lvl4pPr>
            <a:lvl5pPr marL="1828754" algn="l" rtl="0" fontAlgn="base">
              <a:spcBef>
                <a:spcPct val="0"/>
              </a:spcBef>
              <a:spcAft>
                <a:spcPct val="0"/>
              </a:spcAft>
              <a:defRPr sz="2000" kern="1200">
                <a:solidFill>
                  <a:schemeClr val="tx1"/>
                </a:solidFill>
                <a:latin typeface="Verdana" pitchFamily="34" charset="0"/>
                <a:ea typeface="+mn-ea"/>
                <a:cs typeface="+mn-cs"/>
              </a:defRPr>
            </a:lvl5pPr>
            <a:lvl6pPr marL="2285943" algn="l" defTabSz="914378" rtl="0" eaLnBrk="1" latinLnBrk="0" hangingPunct="1">
              <a:defRPr sz="2000" kern="1200">
                <a:solidFill>
                  <a:schemeClr val="tx1"/>
                </a:solidFill>
                <a:latin typeface="Verdana" pitchFamily="34" charset="0"/>
                <a:ea typeface="+mn-ea"/>
                <a:cs typeface="+mn-cs"/>
              </a:defRPr>
            </a:lvl6pPr>
            <a:lvl7pPr marL="2743132" algn="l" defTabSz="914378" rtl="0" eaLnBrk="1" latinLnBrk="0" hangingPunct="1">
              <a:defRPr sz="2000" kern="1200">
                <a:solidFill>
                  <a:schemeClr val="tx1"/>
                </a:solidFill>
                <a:latin typeface="Verdana" pitchFamily="34" charset="0"/>
                <a:ea typeface="+mn-ea"/>
                <a:cs typeface="+mn-cs"/>
              </a:defRPr>
            </a:lvl7pPr>
            <a:lvl8pPr marL="3200320" algn="l" defTabSz="914378" rtl="0" eaLnBrk="1" latinLnBrk="0" hangingPunct="1">
              <a:defRPr sz="2000" kern="1200">
                <a:solidFill>
                  <a:schemeClr val="tx1"/>
                </a:solidFill>
                <a:latin typeface="Verdana" pitchFamily="34" charset="0"/>
                <a:ea typeface="+mn-ea"/>
                <a:cs typeface="+mn-cs"/>
              </a:defRPr>
            </a:lvl8pPr>
            <a:lvl9pPr marL="3657509" algn="l" defTabSz="914378" rtl="0" eaLnBrk="1" latinLnBrk="0" hangingPunct="1">
              <a:defRPr sz="2000" kern="1200">
                <a:solidFill>
                  <a:schemeClr val="tx1"/>
                </a:solidFill>
                <a:latin typeface="Verdana" pitchFamily="34" charset="0"/>
                <a:ea typeface="+mn-ea"/>
                <a:cs typeface="+mn-cs"/>
              </a:defRPr>
            </a:lvl9pPr>
          </a:lstStyle>
          <a:p>
            <a:pPr defTabSz="685800">
              <a:defRPr/>
            </a:pPr>
            <a:r>
              <a:rPr lang="en-US">
                <a:solidFill>
                  <a:prstClr val="black"/>
                </a:solidFill>
                <a:latin typeface="Arial"/>
                <a:ea typeface="新細明體"/>
              </a:rPr>
              <a:t>http://csg.csail.mit.edu/6.175</a:t>
            </a:r>
            <a:endParaRPr lang="en-US" dirty="0">
              <a:solidFill>
                <a:prstClr val="black"/>
              </a:solidFill>
              <a:latin typeface="Arial"/>
              <a:ea typeface="新細明體"/>
            </a:endParaRPr>
          </a:p>
        </p:txBody>
      </p:sp>
      <p:sp>
        <p:nvSpPr>
          <p:cNvPr id="9" name="Slide Number Placeholder 8"/>
          <p:cNvSpPr>
            <a:spLocks noGrp="1"/>
          </p:cNvSpPr>
          <p:nvPr>
            <p:ph type="sldNum" sz="quarter" idx="11"/>
          </p:nvPr>
        </p:nvSpPr>
        <p:spPr bwMode="auto">
          <a:xfrm>
            <a:off x="723900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200" kern="1200">
                <a:solidFill>
                  <a:schemeClr val="tx1"/>
                </a:solidFill>
                <a:latin typeface="+mn-lt"/>
                <a:ea typeface="+mn-ea"/>
                <a:cs typeface="+mn-cs"/>
              </a:defRPr>
            </a:lvl1pPr>
            <a:lvl2pPr marL="457189" algn="l" rtl="0" fontAlgn="base">
              <a:spcBef>
                <a:spcPct val="0"/>
              </a:spcBef>
              <a:spcAft>
                <a:spcPct val="0"/>
              </a:spcAft>
              <a:defRPr sz="2000" kern="1200">
                <a:solidFill>
                  <a:schemeClr val="tx1"/>
                </a:solidFill>
                <a:latin typeface="Verdana" pitchFamily="34" charset="0"/>
                <a:ea typeface="+mn-ea"/>
                <a:cs typeface="+mn-cs"/>
              </a:defRPr>
            </a:lvl2pPr>
            <a:lvl3pPr marL="914378" algn="l" rtl="0" fontAlgn="base">
              <a:spcBef>
                <a:spcPct val="0"/>
              </a:spcBef>
              <a:spcAft>
                <a:spcPct val="0"/>
              </a:spcAft>
              <a:defRPr sz="2000" kern="1200">
                <a:solidFill>
                  <a:schemeClr val="tx1"/>
                </a:solidFill>
                <a:latin typeface="Verdana" pitchFamily="34" charset="0"/>
                <a:ea typeface="+mn-ea"/>
                <a:cs typeface="+mn-cs"/>
              </a:defRPr>
            </a:lvl3pPr>
            <a:lvl4pPr marL="1371566" algn="l" rtl="0" fontAlgn="base">
              <a:spcBef>
                <a:spcPct val="0"/>
              </a:spcBef>
              <a:spcAft>
                <a:spcPct val="0"/>
              </a:spcAft>
              <a:defRPr sz="2000" kern="1200">
                <a:solidFill>
                  <a:schemeClr val="tx1"/>
                </a:solidFill>
                <a:latin typeface="Verdana" pitchFamily="34" charset="0"/>
                <a:ea typeface="+mn-ea"/>
                <a:cs typeface="+mn-cs"/>
              </a:defRPr>
            </a:lvl4pPr>
            <a:lvl5pPr marL="1828754" algn="l" rtl="0" fontAlgn="base">
              <a:spcBef>
                <a:spcPct val="0"/>
              </a:spcBef>
              <a:spcAft>
                <a:spcPct val="0"/>
              </a:spcAft>
              <a:defRPr sz="2000" kern="1200">
                <a:solidFill>
                  <a:schemeClr val="tx1"/>
                </a:solidFill>
                <a:latin typeface="Verdana" pitchFamily="34" charset="0"/>
                <a:ea typeface="+mn-ea"/>
                <a:cs typeface="+mn-cs"/>
              </a:defRPr>
            </a:lvl5pPr>
            <a:lvl6pPr marL="2285943" algn="l" defTabSz="914378" rtl="0" eaLnBrk="1" latinLnBrk="0" hangingPunct="1">
              <a:defRPr sz="2000" kern="1200">
                <a:solidFill>
                  <a:schemeClr val="tx1"/>
                </a:solidFill>
                <a:latin typeface="Verdana" pitchFamily="34" charset="0"/>
                <a:ea typeface="+mn-ea"/>
                <a:cs typeface="+mn-cs"/>
              </a:defRPr>
            </a:lvl6pPr>
            <a:lvl7pPr marL="2743132" algn="l" defTabSz="914378" rtl="0" eaLnBrk="1" latinLnBrk="0" hangingPunct="1">
              <a:defRPr sz="2000" kern="1200">
                <a:solidFill>
                  <a:schemeClr val="tx1"/>
                </a:solidFill>
                <a:latin typeface="Verdana" pitchFamily="34" charset="0"/>
                <a:ea typeface="+mn-ea"/>
                <a:cs typeface="+mn-cs"/>
              </a:defRPr>
            </a:lvl7pPr>
            <a:lvl8pPr marL="3200320" algn="l" defTabSz="914378" rtl="0" eaLnBrk="1" latinLnBrk="0" hangingPunct="1">
              <a:defRPr sz="2000" kern="1200">
                <a:solidFill>
                  <a:schemeClr val="tx1"/>
                </a:solidFill>
                <a:latin typeface="Verdana" pitchFamily="34" charset="0"/>
                <a:ea typeface="+mn-ea"/>
                <a:cs typeface="+mn-cs"/>
              </a:defRPr>
            </a:lvl8pPr>
            <a:lvl9pPr marL="3657509" algn="l" defTabSz="914378" rtl="0" eaLnBrk="1" latinLnBrk="0" hangingPunct="1">
              <a:defRPr sz="2000" kern="1200">
                <a:solidFill>
                  <a:schemeClr val="tx1"/>
                </a:solidFill>
                <a:latin typeface="Verdana" pitchFamily="34" charset="0"/>
                <a:ea typeface="+mn-ea"/>
                <a:cs typeface="+mn-cs"/>
              </a:defRPr>
            </a:lvl9pPr>
          </a:lstStyle>
          <a:p>
            <a:pPr defTabSz="685800">
              <a:defRPr/>
            </a:pPr>
            <a:r>
              <a:rPr lang="en-US">
                <a:solidFill>
                  <a:prstClr val="black"/>
                </a:solidFill>
                <a:latin typeface="Arial"/>
                <a:ea typeface="新細明體"/>
              </a:rPr>
              <a:t>L09-</a:t>
            </a:r>
            <a:fld id="{D02EE386-C9BD-4FB7-9577-6096B5320EC4}" type="slidenum">
              <a:rPr lang="en-US">
                <a:solidFill>
                  <a:prstClr val="black"/>
                </a:solidFill>
                <a:latin typeface="Arial"/>
                <a:ea typeface="新細明體"/>
              </a:rPr>
              <a:pPr defTabSz="685800">
                <a:defRPr/>
              </a:pPr>
              <a:t>43</a:t>
            </a:fld>
            <a:endParaRPr lang="en-US" dirty="0">
              <a:solidFill>
                <a:prstClr val="black"/>
              </a:solidFill>
              <a:latin typeface="Arial"/>
              <a:ea typeface="新細明體"/>
            </a:endParaRPr>
          </a:p>
        </p:txBody>
      </p:sp>
      <p:sp>
        <p:nvSpPr>
          <p:cNvPr id="10" name="TextBox 9">
            <a:extLst>
              <a:ext uri="{FF2B5EF4-FFF2-40B4-BE49-F238E27FC236}">
                <a16:creationId xmlns:a16="http://schemas.microsoft.com/office/drawing/2014/main" id="{595C2B26-B7CF-4E20-BAE1-91C24BA4E906}"/>
              </a:ext>
            </a:extLst>
          </p:cNvPr>
          <p:cNvSpPr txBox="1"/>
          <p:nvPr/>
        </p:nvSpPr>
        <p:spPr>
          <a:xfrm>
            <a:off x="5877521" y="3913079"/>
            <a:ext cx="1915909" cy="369332"/>
          </a:xfrm>
          <a:prstGeom prst="rect">
            <a:avLst/>
          </a:prstGeom>
          <a:noFill/>
        </p:spPr>
        <p:txBody>
          <a:bodyPr wrap="none" rtlCol="0" anchor="ctr" anchorCtr="1">
            <a:spAutoFit/>
          </a:bodyPr>
          <a:lstStyle/>
          <a:p>
            <a:pPr defTabSz="685800"/>
            <a:r>
              <a:rPr lang="en-US" dirty="0">
                <a:solidFill>
                  <a:prstClr val="black"/>
                </a:solidFill>
                <a:latin typeface="Arial"/>
                <a:ea typeface="標楷體" pitchFamily="65" charset="-120"/>
                <a:cs typeface="Calibri" panose="020F07020304040A0204" pitchFamily="34" charset="0"/>
              </a:rPr>
              <a:t>Answer: B,C,D,E</a:t>
            </a:r>
          </a:p>
        </p:txBody>
      </p:sp>
    </p:spTree>
    <p:extLst>
      <p:ext uri="{BB962C8B-B14F-4D97-AF65-F5344CB8AC3E}">
        <p14:creationId xmlns:p14="http://schemas.microsoft.com/office/powerpoint/2010/main" val="805662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Review</a:t>
            </a:r>
          </a:p>
        </p:txBody>
      </p:sp>
      <p:sp>
        <p:nvSpPr>
          <p:cNvPr id="3" name="Content Placeholder 2"/>
          <p:cNvSpPr>
            <a:spLocks noGrp="1"/>
          </p:cNvSpPr>
          <p:nvPr>
            <p:ph idx="1"/>
          </p:nvPr>
        </p:nvSpPr>
        <p:spPr>
          <a:xfrm>
            <a:off x="160507" y="907256"/>
            <a:ext cx="8804106" cy="3681767"/>
          </a:xfrm>
        </p:spPr>
        <p:txBody>
          <a:bodyPr/>
          <a:lstStyle/>
          <a:p>
            <a:pPr marL="0" indent="0">
              <a:buNone/>
            </a:pPr>
            <a:r>
              <a:rPr lang="en-US" sz="2100" dirty="0">
                <a:latin typeface="Times New Roman" panose="02020603050405020304" pitchFamily="18" charset="0"/>
                <a:cs typeface="Times New Roman" panose="02020603050405020304" pitchFamily="18" charset="0"/>
              </a:rPr>
              <a:t>3) A program has 80% of its code that can be parallelized. If you are given 1000 processors, what is the maximum speedup you can achieve for your program?</a:t>
            </a:r>
          </a:p>
          <a:p>
            <a:pPr marL="0" indent="0">
              <a:buNone/>
            </a:pPr>
            <a:endParaRPr lang="en-US" sz="2100" dirty="0">
              <a:latin typeface="Times New Roman" panose="02020603050405020304" pitchFamily="18" charset="0"/>
              <a:cs typeface="Times New Roman" panose="02020603050405020304" pitchFamily="18" charset="0"/>
            </a:endParaRPr>
          </a:p>
          <a:p>
            <a:pPr marL="457200" indent="-457200">
              <a:buAutoNum type="alphaLcParenR"/>
            </a:pPr>
            <a:r>
              <a:rPr lang="en-US" sz="2100" dirty="0">
                <a:latin typeface="Times New Roman" panose="02020603050405020304" pitchFamily="18" charset="0"/>
                <a:cs typeface="Times New Roman" panose="02020603050405020304" pitchFamily="18" charset="0"/>
              </a:rPr>
              <a:t>800 X</a:t>
            </a:r>
          </a:p>
          <a:p>
            <a:pPr marL="457200" indent="-457200">
              <a:buAutoNum type="alphaLcParenR"/>
            </a:pPr>
            <a:r>
              <a:rPr lang="en-US" sz="2100" dirty="0">
                <a:latin typeface="Times New Roman" panose="02020603050405020304" pitchFamily="18" charset="0"/>
                <a:cs typeface="Times New Roman" panose="02020603050405020304" pitchFamily="18" charset="0"/>
              </a:rPr>
              <a:t>200 X</a:t>
            </a:r>
          </a:p>
          <a:p>
            <a:pPr marL="457200" indent="-457200">
              <a:buAutoNum type="alphaLcParenR"/>
            </a:pPr>
            <a:r>
              <a:rPr lang="en-US" sz="2100" dirty="0">
                <a:latin typeface="Times New Roman" panose="02020603050405020304" pitchFamily="18" charset="0"/>
                <a:cs typeface="Times New Roman" panose="02020603050405020304" pitchFamily="18" charset="0"/>
              </a:rPr>
              <a:t>20 X</a:t>
            </a:r>
          </a:p>
          <a:p>
            <a:pPr marL="457200" indent="-457200">
              <a:buAutoNum type="alphaLcParenR"/>
            </a:pPr>
            <a:r>
              <a:rPr lang="en-US" sz="2100" dirty="0">
                <a:latin typeface="Times New Roman" panose="02020603050405020304" pitchFamily="18" charset="0"/>
                <a:cs typeface="Times New Roman" panose="02020603050405020304" pitchFamily="18" charset="0"/>
              </a:rPr>
              <a:t>5 X</a:t>
            </a:r>
          </a:p>
        </p:txBody>
      </p:sp>
      <p:sp>
        <p:nvSpPr>
          <p:cNvPr id="7" name="Date Placeholder 6"/>
          <p:cNvSpPr>
            <a:spLocks noGrp="1"/>
          </p:cNvSpPr>
          <p:nvPr>
            <p:ph type="dt" sz="half" idx="10"/>
          </p:nvPr>
        </p:nvSpPr>
        <p:spPr/>
        <p:txBody>
          <a:bodyPr/>
          <a:lstStyle/>
          <a:p>
            <a:pPr defTabSz="685800">
              <a:defRPr/>
            </a:pPr>
            <a:r>
              <a:rPr lang="en-US" dirty="0">
                <a:solidFill>
                  <a:prstClr val="white"/>
                </a:solidFill>
              </a:rPr>
              <a:t>Feb  17, 2025</a:t>
            </a:r>
          </a:p>
        </p:txBody>
      </p:sp>
      <p:sp>
        <p:nvSpPr>
          <p:cNvPr id="8" name="Footer Placeholder 7"/>
          <p:cNvSpPr>
            <a:spLocks noGrp="1"/>
          </p:cNvSpPr>
          <p:nvPr>
            <p:ph type="ftr" sz="quarter" idx="12"/>
          </p:nvPr>
        </p:nvSpPr>
        <p:spPr bwMode="auto">
          <a:xfrm>
            <a:off x="3070448" y="6400800"/>
            <a:ext cx="3018465"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200" kern="1200">
                <a:solidFill>
                  <a:schemeClr val="tx1"/>
                </a:solidFill>
                <a:latin typeface="+mn-lt"/>
                <a:ea typeface="+mn-ea"/>
                <a:cs typeface="+mn-cs"/>
              </a:defRPr>
            </a:lvl1pPr>
            <a:lvl2pPr marL="457189" algn="l" rtl="0" fontAlgn="base">
              <a:spcBef>
                <a:spcPct val="0"/>
              </a:spcBef>
              <a:spcAft>
                <a:spcPct val="0"/>
              </a:spcAft>
              <a:defRPr sz="2000" kern="1200">
                <a:solidFill>
                  <a:schemeClr val="tx1"/>
                </a:solidFill>
                <a:latin typeface="Verdana" pitchFamily="34" charset="0"/>
                <a:ea typeface="+mn-ea"/>
                <a:cs typeface="+mn-cs"/>
              </a:defRPr>
            </a:lvl2pPr>
            <a:lvl3pPr marL="914378" algn="l" rtl="0" fontAlgn="base">
              <a:spcBef>
                <a:spcPct val="0"/>
              </a:spcBef>
              <a:spcAft>
                <a:spcPct val="0"/>
              </a:spcAft>
              <a:defRPr sz="2000" kern="1200">
                <a:solidFill>
                  <a:schemeClr val="tx1"/>
                </a:solidFill>
                <a:latin typeface="Verdana" pitchFamily="34" charset="0"/>
                <a:ea typeface="+mn-ea"/>
                <a:cs typeface="+mn-cs"/>
              </a:defRPr>
            </a:lvl3pPr>
            <a:lvl4pPr marL="1371566" algn="l" rtl="0" fontAlgn="base">
              <a:spcBef>
                <a:spcPct val="0"/>
              </a:spcBef>
              <a:spcAft>
                <a:spcPct val="0"/>
              </a:spcAft>
              <a:defRPr sz="2000" kern="1200">
                <a:solidFill>
                  <a:schemeClr val="tx1"/>
                </a:solidFill>
                <a:latin typeface="Verdana" pitchFamily="34" charset="0"/>
                <a:ea typeface="+mn-ea"/>
                <a:cs typeface="+mn-cs"/>
              </a:defRPr>
            </a:lvl4pPr>
            <a:lvl5pPr marL="1828754" algn="l" rtl="0" fontAlgn="base">
              <a:spcBef>
                <a:spcPct val="0"/>
              </a:spcBef>
              <a:spcAft>
                <a:spcPct val="0"/>
              </a:spcAft>
              <a:defRPr sz="2000" kern="1200">
                <a:solidFill>
                  <a:schemeClr val="tx1"/>
                </a:solidFill>
                <a:latin typeface="Verdana" pitchFamily="34" charset="0"/>
                <a:ea typeface="+mn-ea"/>
                <a:cs typeface="+mn-cs"/>
              </a:defRPr>
            </a:lvl5pPr>
            <a:lvl6pPr marL="2285943" algn="l" defTabSz="914378" rtl="0" eaLnBrk="1" latinLnBrk="0" hangingPunct="1">
              <a:defRPr sz="2000" kern="1200">
                <a:solidFill>
                  <a:schemeClr val="tx1"/>
                </a:solidFill>
                <a:latin typeface="Verdana" pitchFamily="34" charset="0"/>
                <a:ea typeface="+mn-ea"/>
                <a:cs typeface="+mn-cs"/>
              </a:defRPr>
            </a:lvl6pPr>
            <a:lvl7pPr marL="2743132" algn="l" defTabSz="914378" rtl="0" eaLnBrk="1" latinLnBrk="0" hangingPunct="1">
              <a:defRPr sz="2000" kern="1200">
                <a:solidFill>
                  <a:schemeClr val="tx1"/>
                </a:solidFill>
                <a:latin typeface="Verdana" pitchFamily="34" charset="0"/>
                <a:ea typeface="+mn-ea"/>
                <a:cs typeface="+mn-cs"/>
              </a:defRPr>
            </a:lvl7pPr>
            <a:lvl8pPr marL="3200320" algn="l" defTabSz="914378" rtl="0" eaLnBrk="1" latinLnBrk="0" hangingPunct="1">
              <a:defRPr sz="2000" kern="1200">
                <a:solidFill>
                  <a:schemeClr val="tx1"/>
                </a:solidFill>
                <a:latin typeface="Verdana" pitchFamily="34" charset="0"/>
                <a:ea typeface="+mn-ea"/>
                <a:cs typeface="+mn-cs"/>
              </a:defRPr>
            </a:lvl8pPr>
            <a:lvl9pPr marL="3657509" algn="l" defTabSz="914378" rtl="0" eaLnBrk="1" latinLnBrk="0" hangingPunct="1">
              <a:defRPr sz="2000" kern="1200">
                <a:solidFill>
                  <a:schemeClr val="tx1"/>
                </a:solidFill>
                <a:latin typeface="Verdana" pitchFamily="34" charset="0"/>
                <a:ea typeface="+mn-ea"/>
                <a:cs typeface="+mn-cs"/>
              </a:defRPr>
            </a:lvl9pPr>
          </a:lstStyle>
          <a:p>
            <a:pPr defTabSz="685800">
              <a:defRPr/>
            </a:pPr>
            <a:r>
              <a:rPr lang="en-US">
                <a:solidFill>
                  <a:prstClr val="black"/>
                </a:solidFill>
                <a:latin typeface="Arial"/>
                <a:ea typeface="新細明體"/>
              </a:rPr>
              <a:t>http://csg.csail.mit.edu/6.175</a:t>
            </a:r>
            <a:endParaRPr lang="en-US" dirty="0">
              <a:solidFill>
                <a:prstClr val="black"/>
              </a:solidFill>
              <a:latin typeface="Arial"/>
              <a:ea typeface="新細明體"/>
            </a:endParaRPr>
          </a:p>
        </p:txBody>
      </p:sp>
      <p:sp>
        <p:nvSpPr>
          <p:cNvPr id="9" name="Slide Number Placeholder 8"/>
          <p:cNvSpPr>
            <a:spLocks noGrp="1"/>
          </p:cNvSpPr>
          <p:nvPr>
            <p:ph type="sldNum" sz="quarter" idx="11"/>
          </p:nvPr>
        </p:nvSpPr>
        <p:spPr bwMode="auto">
          <a:xfrm>
            <a:off x="723900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200" kern="1200">
                <a:solidFill>
                  <a:schemeClr val="tx1"/>
                </a:solidFill>
                <a:latin typeface="+mn-lt"/>
                <a:ea typeface="+mn-ea"/>
                <a:cs typeface="+mn-cs"/>
              </a:defRPr>
            </a:lvl1pPr>
            <a:lvl2pPr marL="457189" algn="l" rtl="0" fontAlgn="base">
              <a:spcBef>
                <a:spcPct val="0"/>
              </a:spcBef>
              <a:spcAft>
                <a:spcPct val="0"/>
              </a:spcAft>
              <a:defRPr sz="2000" kern="1200">
                <a:solidFill>
                  <a:schemeClr val="tx1"/>
                </a:solidFill>
                <a:latin typeface="Verdana" pitchFamily="34" charset="0"/>
                <a:ea typeface="+mn-ea"/>
                <a:cs typeface="+mn-cs"/>
              </a:defRPr>
            </a:lvl2pPr>
            <a:lvl3pPr marL="914378" algn="l" rtl="0" fontAlgn="base">
              <a:spcBef>
                <a:spcPct val="0"/>
              </a:spcBef>
              <a:spcAft>
                <a:spcPct val="0"/>
              </a:spcAft>
              <a:defRPr sz="2000" kern="1200">
                <a:solidFill>
                  <a:schemeClr val="tx1"/>
                </a:solidFill>
                <a:latin typeface="Verdana" pitchFamily="34" charset="0"/>
                <a:ea typeface="+mn-ea"/>
                <a:cs typeface="+mn-cs"/>
              </a:defRPr>
            </a:lvl3pPr>
            <a:lvl4pPr marL="1371566" algn="l" rtl="0" fontAlgn="base">
              <a:spcBef>
                <a:spcPct val="0"/>
              </a:spcBef>
              <a:spcAft>
                <a:spcPct val="0"/>
              </a:spcAft>
              <a:defRPr sz="2000" kern="1200">
                <a:solidFill>
                  <a:schemeClr val="tx1"/>
                </a:solidFill>
                <a:latin typeface="Verdana" pitchFamily="34" charset="0"/>
                <a:ea typeface="+mn-ea"/>
                <a:cs typeface="+mn-cs"/>
              </a:defRPr>
            </a:lvl4pPr>
            <a:lvl5pPr marL="1828754" algn="l" rtl="0" fontAlgn="base">
              <a:spcBef>
                <a:spcPct val="0"/>
              </a:spcBef>
              <a:spcAft>
                <a:spcPct val="0"/>
              </a:spcAft>
              <a:defRPr sz="2000" kern="1200">
                <a:solidFill>
                  <a:schemeClr val="tx1"/>
                </a:solidFill>
                <a:latin typeface="Verdana" pitchFamily="34" charset="0"/>
                <a:ea typeface="+mn-ea"/>
                <a:cs typeface="+mn-cs"/>
              </a:defRPr>
            </a:lvl5pPr>
            <a:lvl6pPr marL="2285943" algn="l" defTabSz="914378" rtl="0" eaLnBrk="1" latinLnBrk="0" hangingPunct="1">
              <a:defRPr sz="2000" kern="1200">
                <a:solidFill>
                  <a:schemeClr val="tx1"/>
                </a:solidFill>
                <a:latin typeface="Verdana" pitchFamily="34" charset="0"/>
                <a:ea typeface="+mn-ea"/>
                <a:cs typeface="+mn-cs"/>
              </a:defRPr>
            </a:lvl6pPr>
            <a:lvl7pPr marL="2743132" algn="l" defTabSz="914378" rtl="0" eaLnBrk="1" latinLnBrk="0" hangingPunct="1">
              <a:defRPr sz="2000" kern="1200">
                <a:solidFill>
                  <a:schemeClr val="tx1"/>
                </a:solidFill>
                <a:latin typeface="Verdana" pitchFamily="34" charset="0"/>
                <a:ea typeface="+mn-ea"/>
                <a:cs typeface="+mn-cs"/>
              </a:defRPr>
            </a:lvl7pPr>
            <a:lvl8pPr marL="3200320" algn="l" defTabSz="914378" rtl="0" eaLnBrk="1" latinLnBrk="0" hangingPunct="1">
              <a:defRPr sz="2000" kern="1200">
                <a:solidFill>
                  <a:schemeClr val="tx1"/>
                </a:solidFill>
                <a:latin typeface="Verdana" pitchFamily="34" charset="0"/>
                <a:ea typeface="+mn-ea"/>
                <a:cs typeface="+mn-cs"/>
              </a:defRPr>
            </a:lvl8pPr>
            <a:lvl9pPr marL="3657509" algn="l" defTabSz="914378" rtl="0" eaLnBrk="1" latinLnBrk="0" hangingPunct="1">
              <a:defRPr sz="2000" kern="1200">
                <a:solidFill>
                  <a:schemeClr val="tx1"/>
                </a:solidFill>
                <a:latin typeface="Verdana" pitchFamily="34" charset="0"/>
                <a:ea typeface="+mn-ea"/>
                <a:cs typeface="+mn-cs"/>
              </a:defRPr>
            </a:lvl9pPr>
          </a:lstStyle>
          <a:p>
            <a:pPr defTabSz="685800">
              <a:defRPr/>
            </a:pPr>
            <a:r>
              <a:rPr lang="en-US">
                <a:solidFill>
                  <a:prstClr val="black"/>
                </a:solidFill>
                <a:latin typeface="Arial"/>
                <a:ea typeface="新細明體"/>
              </a:rPr>
              <a:t>L09-</a:t>
            </a:r>
            <a:fld id="{D02EE386-C9BD-4FB7-9577-6096B5320EC4}" type="slidenum">
              <a:rPr lang="en-US">
                <a:solidFill>
                  <a:prstClr val="black"/>
                </a:solidFill>
                <a:latin typeface="Arial"/>
                <a:ea typeface="新細明體"/>
              </a:rPr>
              <a:pPr defTabSz="685800">
                <a:defRPr/>
              </a:pPr>
              <a:t>44</a:t>
            </a:fld>
            <a:endParaRPr lang="en-US" dirty="0">
              <a:solidFill>
                <a:prstClr val="black"/>
              </a:solidFill>
              <a:latin typeface="Arial"/>
              <a:ea typeface="新細明體"/>
            </a:endParaRPr>
          </a:p>
        </p:txBody>
      </p:sp>
      <p:sp>
        <p:nvSpPr>
          <p:cNvPr id="10" name="TextBox 9">
            <a:extLst>
              <a:ext uri="{FF2B5EF4-FFF2-40B4-BE49-F238E27FC236}">
                <a16:creationId xmlns:a16="http://schemas.microsoft.com/office/drawing/2014/main" id="{595C2B26-B7CF-4E20-BAE1-91C24BA4E906}"/>
              </a:ext>
            </a:extLst>
          </p:cNvPr>
          <p:cNvSpPr txBox="1"/>
          <p:nvPr/>
        </p:nvSpPr>
        <p:spPr>
          <a:xfrm>
            <a:off x="5877522" y="3913079"/>
            <a:ext cx="1249060" cy="369332"/>
          </a:xfrm>
          <a:prstGeom prst="rect">
            <a:avLst/>
          </a:prstGeom>
          <a:noFill/>
        </p:spPr>
        <p:txBody>
          <a:bodyPr wrap="none" rtlCol="0" anchor="ctr" anchorCtr="1">
            <a:spAutoFit/>
          </a:bodyPr>
          <a:lstStyle/>
          <a:p>
            <a:pPr defTabSz="685800"/>
            <a:r>
              <a:rPr lang="en-US" dirty="0">
                <a:solidFill>
                  <a:prstClr val="black"/>
                </a:solidFill>
                <a:latin typeface="Arial"/>
                <a:ea typeface="標楷體" pitchFamily="65" charset="-120"/>
                <a:cs typeface="Calibri" panose="020F07020304040A0204" pitchFamily="34" charset="0"/>
              </a:rPr>
              <a:t>Answer: D</a:t>
            </a:r>
          </a:p>
        </p:txBody>
      </p:sp>
    </p:spTree>
    <p:extLst>
      <p:ext uri="{BB962C8B-B14F-4D97-AF65-F5344CB8AC3E}">
        <p14:creationId xmlns:p14="http://schemas.microsoft.com/office/powerpoint/2010/main" val="1687028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Review</a:t>
            </a:r>
          </a:p>
        </p:txBody>
      </p:sp>
      <p:sp>
        <p:nvSpPr>
          <p:cNvPr id="3" name="Content Placeholder 2"/>
          <p:cNvSpPr>
            <a:spLocks noGrp="1"/>
          </p:cNvSpPr>
          <p:nvPr>
            <p:ph idx="1"/>
          </p:nvPr>
        </p:nvSpPr>
        <p:spPr>
          <a:xfrm>
            <a:off x="160507" y="907256"/>
            <a:ext cx="8804106" cy="3681767"/>
          </a:xfrm>
        </p:spPr>
        <p:txBody>
          <a:bodyPr/>
          <a:lstStyle/>
          <a:p>
            <a:pPr marL="0" indent="0">
              <a:buNone/>
            </a:pPr>
            <a:r>
              <a:rPr lang="en-US" sz="2100" dirty="0">
                <a:latin typeface="Times New Roman" panose="02020603050405020304" pitchFamily="18" charset="0"/>
                <a:cs typeface="Times New Roman" panose="02020603050405020304" pitchFamily="18" charset="0"/>
              </a:rPr>
              <a:t>4) What computer architecture will be used as a reference in this course?</a:t>
            </a:r>
          </a:p>
          <a:p>
            <a:pPr marL="728645" lvl="1" indent="-385763">
              <a:buAutoNum type="alphaLcParenR"/>
            </a:pPr>
            <a:r>
              <a:rPr lang="en-US" sz="2100" dirty="0">
                <a:solidFill>
                  <a:prstClr val="black"/>
                </a:solidFill>
                <a:latin typeface="Times New Roman" panose="02020603050405020304" pitchFamily="18" charset="0"/>
                <a:cs typeface="Times New Roman" panose="02020603050405020304" pitchFamily="18" charset="0"/>
              </a:rPr>
              <a:t>ARM</a:t>
            </a:r>
          </a:p>
          <a:p>
            <a:pPr marL="728645" lvl="1" indent="-385763">
              <a:buAutoNum type="alphaLcParenR"/>
            </a:pPr>
            <a:r>
              <a:rPr lang="en-US" sz="2100" dirty="0">
                <a:solidFill>
                  <a:prstClr val="black"/>
                </a:solidFill>
                <a:latin typeface="Times New Roman" panose="02020603050405020304" pitchFamily="18" charset="0"/>
                <a:cs typeface="Times New Roman" panose="02020603050405020304" pitchFamily="18" charset="0"/>
              </a:rPr>
              <a:t>Intel x86-64 </a:t>
            </a:r>
          </a:p>
          <a:p>
            <a:pPr marL="728645" lvl="1" indent="-385763">
              <a:buAutoNum type="alphaLcParenR"/>
            </a:pPr>
            <a:r>
              <a:rPr lang="en-US" sz="2100" dirty="0">
                <a:latin typeface="Times New Roman" panose="02020603050405020304" pitchFamily="18" charset="0"/>
                <a:cs typeface="Times New Roman" panose="02020603050405020304" pitchFamily="18" charset="0"/>
              </a:rPr>
              <a:t>RISC-V</a:t>
            </a:r>
          </a:p>
          <a:p>
            <a:pPr marL="728645" lvl="1" indent="-385763">
              <a:buAutoNum type="alphaLcParenR"/>
            </a:pPr>
            <a:r>
              <a:rPr lang="en-US" sz="2100" dirty="0">
                <a:latin typeface="Times New Roman" panose="02020603050405020304" pitchFamily="18" charset="0"/>
                <a:cs typeface="Times New Roman" panose="02020603050405020304" pitchFamily="18" charset="0"/>
              </a:rPr>
              <a:t>IBM PC</a:t>
            </a:r>
          </a:p>
          <a:p>
            <a:pPr marL="728645" lvl="1" indent="-385763">
              <a:buAutoNum type="alphaLcParenR"/>
            </a:pPr>
            <a:r>
              <a:rPr lang="en-US" sz="2100" dirty="0">
                <a:latin typeface="Times New Roman" panose="02020603050405020304" pitchFamily="18" charset="0"/>
                <a:cs typeface="Times New Roman" panose="02020603050405020304" pitchFamily="18" charset="0"/>
              </a:rPr>
              <a:t>NVIDIA GPU</a:t>
            </a:r>
          </a:p>
        </p:txBody>
      </p:sp>
      <p:sp>
        <p:nvSpPr>
          <p:cNvPr id="7" name="Date Placeholder 6"/>
          <p:cNvSpPr>
            <a:spLocks noGrp="1"/>
          </p:cNvSpPr>
          <p:nvPr>
            <p:ph type="dt" sz="half" idx="10"/>
          </p:nvPr>
        </p:nvSpPr>
        <p:spPr/>
        <p:txBody>
          <a:bodyPr/>
          <a:lstStyle/>
          <a:p>
            <a:pPr defTabSz="685800">
              <a:defRPr/>
            </a:pPr>
            <a:r>
              <a:rPr lang="en-US" dirty="0">
                <a:solidFill>
                  <a:prstClr val="white"/>
                </a:solidFill>
              </a:rPr>
              <a:t>Feb  17, 2025</a:t>
            </a:r>
          </a:p>
        </p:txBody>
      </p:sp>
      <p:sp>
        <p:nvSpPr>
          <p:cNvPr id="8" name="Footer Placeholder 7"/>
          <p:cNvSpPr>
            <a:spLocks noGrp="1"/>
          </p:cNvSpPr>
          <p:nvPr>
            <p:ph type="ftr" sz="quarter" idx="12"/>
          </p:nvPr>
        </p:nvSpPr>
        <p:spPr bwMode="auto">
          <a:xfrm>
            <a:off x="3070448" y="6400800"/>
            <a:ext cx="3018465"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200" kern="1200">
                <a:solidFill>
                  <a:schemeClr val="tx1"/>
                </a:solidFill>
                <a:latin typeface="+mn-lt"/>
                <a:ea typeface="+mn-ea"/>
                <a:cs typeface="+mn-cs"/>
              </a:defRPr>
            </a:lvl1pPr>
            <a:lvl2pPr marL="457189" algn="l" rtl="0" fontAlgn="base">
              <a:spcBef>
                <a:spcPct val="0"/>
              </a:spcBef>
              <a:spcAft>
                <a:spcPct val="0"/>
              </a:spcAft>
              <a:defRPr sz="2000" kern="1200">
                <a:solidFill>
                  <a:schemeClr val="tx1"/>
                </a:solidFill>
                <a:latin typeface="Verdana" pitchFamily="34" charset="0"/>
                <a:ea typeface="+mn-ea"/>
                <a:cs typeface="+mn-cs"/>
              </a:defRPr>
            </a:lvl2pPr>
            <a:lvl3pPr marL="914378" algn="l" rtl="0" fontAlgn="base">
              <a:spcBef>
                <a:spcPct val="0"/>
              </a:spcBef>
              <a:spcAft>
                <a:spcPct val="0"/>
              </a:spcAft>
              <a:defRPr sz="2000" kern="1200">
                <a:solidFill>
                  <a:schemeClr val="tx1"/>
                </a:solidFill>
                <a:latin typeface="Verdana" pitchFamily="34" charset="0"/>
                <a:ea typeface="+mn-ea"/>
                <a:cs typeface="+mn-cs"/>
              </a:defRPr>
            </a:lvl3pPr>
            <a:lvl4pPr marL="1371566" algn="l" rtl="0" fontAlgn="base">
              <a:spcBef>
                <a:spcPct val="0"/>
              </a:spcBef>
              <a:spcAft>
                <a:spcPct val="0"/>
              </a:spcAft>
              <a:defRPr sz="2000" kern="1200">
                <a:solidFill>
                  <a:schemeClr val="tx1"/>
                </a:solidFill>
                <a:latin typeface="Verdana" pitchFamily="34" charset="0"/>
                <a:ea typeface="+mn-ea"/>
                <a:cs typeface="+mn-cs"/>
              </a:defRPr>
            </a:lvl4pPr>
            <a:lvl5pPr marL="1828754" algn="l" rtl="0" fontAlgn="base">
              <a:spcBef>
                <a:spcPct val="0"/>
              </a:spcBef>
              <a:spcAft>
                <a:spcPct val="0"/>
              </a:spcAft>
              <a:defRPr sz="2000" kern="1200">
                <a:solidFill>
                  <a:schemeClr val="tx1"/>
                </a:solidFill>
                <a:latin typeface="Verdana" pitchFamily="34" charset="0"/>
                <a:ea typeface="+mn-ea"/>
                <a:cs typeface="+mn-cs"/>
              </a:defRPr>
            </a:lvl5pPr>
            <a:lvl6pPr marL="2285943" algn="l" defTabSz="914378" rtl="0" eaLnBrk="1" latinLnBrk="0" hangingPunct="1">
              <a:defRPr sz="2000" kern="1200">
                <a:solidFill>
                  <a:schemeClr val="tx1"/>
                </a:solidFill>
                <a:latin typeface="Verdana" pitchFamily="34" charset="0"/>
                <a:ea typeface="+mn-ea"/>
                <a:cs typeface="+mn-cs"/>
              </a:defRPr>
            </a:lvl6pPr>
            <a:lvl7pPr marL="2743132" algn="l" defTabSz="914378" rtl="0" eaLnBrk="1" latinLnBrk="0" hangingPunct="1">
              <a:defRPr sz="2000" kern="1200">
                <a:solidFill>
                  <a:schemeClr val="tx1"/>
                </a:solidFill>
                <a:latin typeface="Verdana" pitchFamily="34" charset="0"/>
                <a:ea typeface="+mn-ea"/>
                <a:cs typeface="+mn-cs"/>
              </a:defRPr>
            </a:lvl7pPr>
            <a:lvl8pPr marL="3200320" algn="l" defTabSz="914378" rtl="0" eaLnBrk="1" latinLnBrk="0" hangingPunct="1">
              <a:defRPr sz="2000" kern="1200">
                <a:solidFill>
                  <a:schemeClr val="tx1"/>
                </a:solidFill>
                <a:latin typeface="Verdana" pitchFamily="34" charset="0"/>
                <a:ea typeface="+mn-ea"/>
                <a:cs typeface="+mn-cs"/>
              </a:defRPr>
            </a:lvl8pPr>
            <a:lvl9pPr marL="3657509" algn="l" defTabSz="914378" rtl="0" eaLnBrk="1" latinLnBrk="0" hangingPunct="1">
              <a:defRPr sz="2000" kern="1200">
                <a:solidFill>
                  <a:schemeClr val="tx1"/>
                </a:solidFill>
                <a:latin typeface="Verdana" pitchFamily="34" charset="0"/>
                <a:ea typeface="+mn-ea"/>
                <a:cs typeface="+mn-cs"/>
              </a:defRPr>
            </a:lvl9pPr>
          </a:lstStyle>
          <a:p>
            <a:pPr defTabSz="685800">
              <a:defRPr/>
            </a:pPr>
            <a:r>
              <a:rPr lang="en-US">
                <a:solidFill>
                  <a:prstClr val="black"/>
                </a:solidFill>
                <a:latin typeface="Arial"/>
                <a:ea typeface="新細明體"/>
              </a:rPr>
              <a:t>http://csg.csail.mit.edu/6.175</a:t>
            </a:r>
            <a:endParaRPr lang="en-US" dirty="0">
              <a:solidFill>
                <a:prstClr val="black"/>
              </a:solidFill>
              <a:latin typeface="Arial"/>
              <a:ea typeface="新細明體"/>
            </a:endParaRPr>
          </a:p>
        </p:txBody>
      </p:sp>
      <p:sp>
        <p:nvSpPr>
          <p:cNvPr id="9" name="Slide Number Placeholder 8"/>
          <p:cNvSpPr>
            <a:spLocks noGrp="1"/>
          </p:cNvSpPr>
          <p:nvPr>
            <p:ph type="sldNum" sz="quarter" idx="11"/>
          </p:nvPr>
        </p:nvSpPr>
        <p:spPr bwMode="auto">
          <a:xfrm>
            <a:off x="723900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200" kern="1200">
                <a:solidFill>
                  <a:schemeClr val="tx1"/>
                </a:solidFill>
                <a:latin typeface="+mn-lt"/>
                <a:ea typeface="+mn-ea"/>
                <a:cs typeface="+mn-cs"/>
              </a:defRPr>
            </a:lvl1pPr>
            <a:lvl2pPr marL="457189" algn="l" rtl="0" fontAlgn="base">
              <a:spcBef>
                <a:spcPct val="0"/>
              </a:spcBef>
              <a:spcAft>
                <a:spcPct val="0"/>
              </a:spcAft>
              <a:defRPr sz="2000" kern="1200">
                <a:solidFill>
                  <a:schemeClr val="tx1"/>
                </a:solidFill>
                <a:latin typeface="Verdana" pitchFamily="34" charset="0"/>
                <a:ea typeface="+mn-ea"/>
                <a:cs typeface="+mn-cs"/>
              </a:defRPr>
            </a:lvl2pPr>
            <a:lvl3pPr marL="914378" algn="l" rtl="0" fontAlgn="base">
              <a:spcBef>
                <a:spcPct val="0"/>
              </a:spcBef>
              <a:spcAft>
                <a:spcPct val="0"/>
              </a:spcAft>
              <a:defRPr sz="2000" kern="1200">
                <a:solidFill>
                  <a:schemeClr val="tx1"/>
                </a:solidFill>
                <a:latin typeface="Verdana" pitchFamily="34" charset="0"/>
                <a:ea typeface="+mn-ea"/>
                <a:cs typeface="+mn-cs"/>
              </a:defRPr>
            </a:lvl3pPr>
            <a:lvl4pPr marL="1371566" algn="l" rtl="0" fontAlgn="base">
              <a:spcBef>
                <a:spcPct val="0"/>
              </a:spcBef>
              <a:spcAft>
                <a:spcPct val="0"/>
              </a:spcAft>
              <a:defRPr sz="2000" kern="1200">
                <a:solidFill>
                  <a:schemeClr val="tx1"/>
                </a:solidFill>
                <a:latin typeface="Verdana" pitchFamily="34" charset="0"/>
                <a:ea typeface="+mn-ea"/>
                <a:cs typeface="+mn-cs"/>
              </a:defRPr>
            </a:lvl4pPr>
            <a:lvl5pPr marL="1828754" algn="l" rtl="0" fontAlgn="base">
              <a:spcBef>
                <a:spcPct val="0"/>
              </a:spcBef>
              <a:spcAft>
                <a:spcPct val="0"/>
              </a:spcAft>
              <a:defRPr sz="2000" kern="1200">
                <a:solidFill>
                  <a:schemeClr val="tx1"/>
                </a:solidFill>
                <a:latin typeface="Verdana" pitchFamily="34" charset="0"/>
                <a:ea typeface="+mn-ea"/>
                <a:cs typeface="+mn-cs"/>
              </a:defRPr>
            </a:lvl5pPr>
            <a:lvl6pPr marL="2285943" algn="l" defTabSz="914378" rtl="0" eaLnBrk="1" latinLnBrk="0" hangingPunct="1">
              <a:defRPr sz="2000" kern="1200">
                <a:solidFill>
                  <a:schemeClr val="tx1"/>
                </a:solidFill>
                <a:latin typeface="Verdana" pitchFamily="34" charset="0"/>
                <a:ea typeface="+mn-ea"/>
                <a:cs typeface="+mn-cs"/>
              </a:defRPr>
            </a:lvl6pPr>
            <a:lvl7pPr marL="2743132" algn="l" defTabSz="914378" rtl="0" eaLnBrk="1" latinLnBrk="0" hangingPunct="1">
              <a:defRPr sz="2000" kern="1200">
                <a:solidFill>
                  <a:schemeClr val="tx1"/>
                </a:solidFill>
                <a:latin typeface="Verdana" pitchFamily="34" charset="0"/>
                <a:ea typeface="+mn-ea"/>
                <a:cs typeface="+mn-cs"/>
              </a:defRPr>
            </a:lvl7pPr>
            <a:lvl8pPr marL="3200320" algn="l" defTabSz="914378" rtl="0" eaLnBrk="1" latinLnBrk="0" hangingPunct="1">
              <a:defRPr sz="2000" kern="1200">
                <a:solidFill>
                  <a:schemeClr val="tx1"/>
                </a:solidFill>
                <a:latin typeface="Verdana" pitchFamily="34" charset="0"/>
                <a:ea typeface="+mn-ea"/>
                <a:cs typeface="+mn-cs"/>
              </a:defRPr>
            </a:lvl8pPr>
            <a:lvl9pPr marL="3657509" algn="l" defTabSz="914378" rtl="0" eaLnBrk="1" latinLnBrk="0" hangingPunct="1">
              <a:defRPr sz="2000" kern="1200">
                <a:solidFill>
                  <a:schemeClr val="tx1"/>
                </a:solidFill>
                <a:latin typeface="Verdana" pitchFamily="34" charset="0"/>
                <a:ea typeface="+mn-ea"/>
                <a:cs typeface="+mn-cs"/>
              </a:defRPr>
            </a:lvl9pPr>
          </a:lstStyle>
          <a:p>
            <a:pPr defTabSz="685800">
              <a:defRPr/>
            </a:pPr>
            <a:r>
              <a:rPr lang="en-US">
                <a:solidFill>
                  <a:prstClr val="black"/>
                </a:solidFill>
                <a:latin typeface="Arial"/>
                <a:ea typeface="新細明體"/>
              </a:rPr>
              <a:t>L09-</a:t>
            </a:r>
            <a:fld id="{D02EE386-C9BD-4FB7-9577-6096B5320EC4}" type="slidenum">
              <a:rPr lang="en-US">
                <a:solidFill>
                  <a:prstClr val="black"/>
                </a:solidFill>
                <a:latin typeface="Arial"/>
                <a:ea typeface="新細明體"/>
              </a:rPr>
              <a:pPr defTabSz="685800">
                <a:defRPr/>
              </a:pPr>
              <a:t>45</a:t>
            </a:fld>
            <a:endParaRPr lang="en-US" dirty="0">
              <a:solidFill>
                <a:prstClr val="black"/>
              </a:solidFill>
              <a:latin typeface="Arial"/>
              <a:ea typeface="新細明體"/>
            </a:endParaRPr>
          </a:p>
        </p:txBody>
      </p:sp>
      <p:sp>
        <p:nvSpPr>
          <p:cNvPr id="10" name="TextBox 9">
            <a:extLst>
              <a:ext uri="{FF2B5EF4-FFF2-40B4-BE49-F238E27FC236}">
                <a16:creationId xmlns:a16="http://schemas.microsoft.com/office/drawing/2014/main" id="{595C2B26-B7CF-4E20-BAE1-91C24BA4E906}"/>
              </a:ext>
            </a:extLst>
          </p:cNvPr>
          <p:cNvSpPr txBox="1"/>
          <p:nvPr/>
        </p:nvSpPr>
        <p:spPr>
          <a:xfrm>
            <a:off x="5877521" y="3913079"/>
            <a:ext cx="1249060" cy="369332"/>
          </a:xfrm>
          <a:prstGeom prst="rect">
            <a:avLst/>
          </a:prstGeom>
          <a:noFill/>
        </p:spPr>
        <p:txBody>
          <a:bodyPr wrap="none" rtlCol="0" anchor="ctr" anchorCtr="1">
            <a:spAutoFit/>
          </a:bodyPr>
          <a:lstStyle/>
          <a:p>
            <a:pPr defTabSz="685800"/>
            <a:r>
              <a:rPr lang="en-US" dirty="0">
                <a:solidFill>
                  <a:prstClr val="black"/>
                </a:solidFill>
                <a:latin typeface="Arial"/>
                <a:ea typeface="標楷體" pitchFamily="65" charset="-120"/>
                <a:cs typeface="Calibri" panose="020F07020304040A0204" pitchFamily="34" charset="0"/>
              </a:rPr>
              <a:t>Answer: C</a:t>
            </a:r>
          </a:p>
        </p:txBody>
      </p:sp>
    </p:spTree>
    <p:extLst>
      <p:ext uri="{BB962C8B-B14F-4D97-AF65-F5344CB8AC3E}">
        <p14:creationId xmlns:p14="http://schemas.microsoft.com/office/powerpoint/2010/main" val="1807042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Review</a:t>
            </a:r>
          </a:p>
        </p:txBody>
      </p:sp>
      <p:sp>
        <p:nvSpPr>
          <p:cNvPr id="3" name="Content Placeholder 2"/>
          <p:cNvSpPr>
            <a:spLocks noGrp="1"/>
          </p:cNvSpPr>
          <p:nvPr>
            <p:ph idx="1"/>
          </p:nvPr>
        </p:nvSpPr>
        <p:spPr>
          <a:xfrm>
            <a:off x="160507" y="907256"/>
            <a:ext cx="8804106" cy="3681767"/>
          </a:xfrm>
        </p:spPr>
        <p:txBody>
          <a:bodyPr/>
          <a:lstStyle/>
          <a:p>
            <a:pPr marL="0" indent="0">
              <a:buNone/>
            </a:pPr>
            <a:r>
              <a:rPr lang="en-US" sz="2100" dirty="0">
                <a:latin typeface="Times New Roman" panose="02020603050405020304" pitchFamily="18" charset="0"/>
                <a:cs typeface="Times New Roman" panose="02020603050405020304" pitchFamily="18" charset="0"/>
              </a:rPr>
              <a:t>5) Which of the following statements about virtual memory is correct?</a:t>
            </a:r>
          </a:p>
          <a:p>
            <a:pPr marL="728645" lvl="1" indent="-385763">
              <a:buAutoNum type="alphaLcParenR"/>
            </a:pPr>
            <a:r>
              <a:rPr lang="en-US" sz="2100" dirty="0">
                <a:solidFill>
                  <a:prstClr val="black"/>
                </a:solidFill>
                <a:latin typeface="Times New Roman" panose="02020603050405020304" pitchFamily="18" charset="0"/>
                <a:cs typeface="Times New Roman" panose="02020603050405020304" pitchFamily="18" charset="0"/>
              </a:rPr>
              <a:t>Every program has its own virtual address space.</a:t>
            </a:r>
          </a:p>
          <a:p>
            <a:pPr marL="728645" lvl="1" indent="-385763">
              <a:buAutoNum type="alphaLcParenR"/>
            </a:pPr>
            <a:r>
              <a:rPr lang="en-US" sz="2100" dirty="0">
                <a:solidFill>
                  <a:prstClr val="black"/>
                </a:solidFill>
                <a:latin typeface="Times New Roman" panose="02020603050405020304" pitchFamily="18" charset="0"/>
                <a:cs typeface="Times New Roman" panose="02020603050405020304" pitchFamily="18" charset="0"/>
              </a:rPr>
              <a:t>The size of a virtual address space should be smaller than the physical memory size </a:t>
            </a:r>
          </a:p>
          <a:p>
            <a:pPr marL="728645" lvl="1" indent="-385763">
              <a:buAutoNum type="alphaLcParenR"/>
            </a:pPr>
            <a:r>
              <a:rPr lang="en-US" sz="2100" dirty="0">
                <a:latin typeface="Times New Roman" panose="02020603050405020304" pitchFamily="18" charset="0"/>
                <a:cs typeface="Times New Roman" panose="02020603050405020304" pitchFamily="18" charset="0"/>
              </a:rPr>
              <a:t>The OS is responsible for protecting the privacy and security of each virtual address space.</a:t>
            </a:r>
          </a:p>
          <a:p>
            <a:pPr marL="728645" lvl="1" indent="-385763">
              <a:buAutoNum type="alphaLcParenR"/>
            </a:pPr>
            <a:r>
              <a:rPr lang="en-US" sz="2100" dirty="0">
                <a:latin typeface="Times New Roman" panose="02020603050405020304" pitchFamily="18" charset="0"/>
                <a:cs typeface="Times New Roman" panose="02020603050405020304" pitchFamily="18" charset="0"/>
              </a:rPr>
              <a:t>The compiler is responsible for mapping virtual memory to physical memory </a:t>
            </a:r>
          </a:p>
          <a:p>
            <a:pPr marL="728645" lvl="1" indent="-385763">
              <a:buAutoNum type="alphaLcParenR"/>
            </a:pPr>
            <a:endParaRPr lang="en-US" sz="2100" dirty="0">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pPr defTabSz="685800">
              <a:defRPr/>
            </a:pPr>
            <a:r>
              <a:rPr lang="en-US" dirty="0">
                <a:solidFill>
                  <a:prstClr val="white"/>
                </a:solidFill>
              </a:rPr>
              <a:t>Feb  17, 2025</a:t>
            </a:r>
          </a:p>
        </p:txBody>
      </p:sp>
      <p:sp>
        <p:nvSpPr>
          <p:cNvPr id="8" name="Footer Placeholder 7"/>
          <p:cNvSpPr>
            <a:spLocks noGrp="1"/>
          </p:cNvSpPr>
          <p:nvPr>
            <p:ph type="ftr" sz="quarter" idx="12"/>
          </p:nvPr>
        </p:nvSpPr>
        <p:spPr bwMode="auto">
          <a:xfrm>
            <a:off x="3070448" y="6400800"/>
            <a:ext cx="3018465"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200" kern="1200">
                <a:solidFill>
                  <a:schemeClr val="tx1"/>
                </a:solidFill>
                <a:latin typeface="+mn-lt"/>
                <a:ea typeface="+mn-ea"/>
                <a:cs typeface="+mn-cs"/>
              </a:defRPr>
            </a:lvl1pPr>
            <a:lvl2pPr marL="457189" algn="l" rtl="0" fontAlgn="base">
              <a:spcBef>
                <a:spcPct val="0"/>
              </a:spcBef>
              <a:spcAft>
                <a:spcPct val="0"/>
              </a:spcAft>
              <a:defRPr sz="2000" kern="1200">
                <a:solidFill>
                  <a:schemeClr val="tx1"/>
                </a:solidFill>
                <a:latin typeface="Verdana" pitchFamily="34" charset="0"/>
                <a:ea typeface="+mn-ea"/>
                <a:cs typeface="+mn-cs"/>
              </a:defRPr>
            </a:lvl2pPr>
            <a:lvl3pPr marL="914378" algn="l" rtl="0" fontAlgn="base">
              <a:spcBef>
                <a:spcPct val="0"/>
              </a:spcBef>
              <a:spcAft>
                <a:spcPct val="0"/>
              </a:spcAft>
              <a:defRPr sz="2000" kern="1200">
                <a:solidFill>
                  <a:schemeClr val="tx1"/>
                </a:solidFill>
                <a:latin typeface="Verdana" pitchFamily="34" charset="0"/>
                <a:ea typeface="+mn-ea"/>
                <a:cs typeface="+mn-cs"/>
              </a:defRPr>
            </a:lvl3pPr>
            <a:lvl4pPr marL="1371566" algn="l" rtl="0" fontAlgn="base">
              <a:spcBef>
                <a:spcPct val="0"/>
              </a:spcBef>
              <a:spcAft>
                <a:spcPct val="0"/>
              </a:spcAft>
              <a:defRPr sz="2000" kern="1200">
                <a:solidFill>
                  <a:schemeClr val="tx1"/>
                </a:solidFill>
                <a:latin typeface="Verdana" pitchFamily="34" charset="0"/>
                <a:ea typeface="+mn-ea"/>
                <a:cs typeface="+mn-cs"/>
              </a:defRPr>
            </a:lvl4pPr>
            <a:lvl5pPr marL="1828754" algn="l" rtl="0" fontAlgn="base">
              <a:spcBef>
                <a:spcPct val="0"/>
              </a:spcBef>
              <a:spcAft>
                <a:spcPct val="0"/>
              </a:spcAft>
              <a:defRPr sz="2000" kern="1200">
                <a:solidFill>
                  <a:schemeClr val="tx1"/>
                </a:solidFill>
                <a:latin typeface="Verdana" pitchFamily="34" charset="0"/>
                <a:ea typeface="+mn-ea"/>
                <a:cs typeface="+mn-cs"/>
              </a:defRPr>
            </a:lvl5pPr>
            <a:lvl6pPr marL="2285943" algn="l" defTabSz="914378" rtl="0" eaLnBrk="1" latinLnBrk="0" hangingPunct="1">
              <a:defRPr sz="2000" kern="1200">
                <a:solidFill>
                  <a:schemeClr val="tx1"/>
                </a:solidFill>
                <a:latin typeface="Verdana" pitchFamily="34" charset="0"/>
                <a:ea typeface="+mn-ea"/>
                <a:cs typeface="+mn-cs"/>
              </a:defRPr>
            </a:lvl6pPr>
            <a:lvl7pPr marL="2743132" algn="l" defTabSz="914378" rtl="0" eaLnBrk="1" latinLnBrk="0" hangingPunct="1">
              <a:defRPr sz="2000" kern="1200">
                <a:solidFill>
                  <a:schemeClr val="tx1"/>
                </a:solidFill>
                <a:latin typeface="Verdana" pitchFamily="34" charset="0"/>
                <a:ea typeface="+mn-ea"/>
                <a:cs typeface="+mn-cs"/>
              </a:defRPr>
            </a:lvl7pPr>
            <a:lvl8pPr marL="3200320" algn="l" defTabSz="914378" rtl="0" eaLnBrk="1" latinLnBrk="0" hangingPunct="1">
              <a:defRPr sz="2000" kern="1200">
                <a:solidFill>
                  <a:schemeClr val="tx1"/>
                </a:solidFill>
                <a:latin typeface="Verdana" pitchFamily="34" charset="0"/>
                <a:ea typeface="+mn-ea"/>
                <a:cs typeface="+mn-cs"/>
              </a:defRPr>
            </a:lvl8pPr>
            <a:lvl9pPr marL="3657509" algn="l" defTabSz="914378" rtl="0" eaLnBrk="1" latinLnBrk="0" hangingPunct="1">
              <a:defRPr sz="2000" kern="1200">
                <a:solidFill>
                  <a:schemeClr val="tx1"/>
                </a:solidFill>
                <a:latin typeface="Verdana" pitchFamily="34" charset="0"/>
                <a:ea typeface="+mn-ea"/>
                <a:cs typeface="+mn-cs"/>
              </a:defRPr>
            </a:lvl9pPr>
          </a:lstStyle>
          <a:p>
            <a:pPr defTabSz="685800">
              <a:defRPr/>
            </a:pPr>
            <a:r>
              <a:rPr lang="en-US">
                <a:solidFill>
                  <a:prstClr val="black"/>
                </a:solidFill>
                <a:latin typeface="Arial"/>
                <a:ea typeface="新細明體"/>
              </a:rPr>
              <a:t>http://csg.csail.mit.edu/6.175</a:t>
            </a:r>
            <a:endParaRPr lang="en-US" dirty="0">
              <a:solidFill>
                <a:prstClr val="black"/>
              </a:solidFill>
              <a:latin typeface="Arial"/>
              <a:ea typeface="新細明體"/>
            </a:endParaRPr>
          </a:p>
        </p:txBody>
      </p:sp>
      <p:sp>
        <p:nvSpPr>
          <p:cNvPr id="9" name="Slide Number Placeholder 8"/>
          <p:cNvSpPr>
            <a:spLocks noGrp="1"/>
          </p:cNvSpPr>
          <p:nvPr>
            <p:ph type="sldNum" sz="quarter" idx="11"/>
          </p:nvPr>
        </p:nvSpPr>
        <p:spPr bwMode="auto">
          <a:xfrm>
            <a:off x="723900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200" kern="1200">
                <a:solidFill>
                  <a:schemeClr val="tx1"/>
                </a:solidFill>
                <a:latin typeface="+mn-lt"/>
                <a:ea typeface="+mn-ea"/>
                <a:cs typeface="+mn-cs"/>
              </a:defRPr>
            </a:lvl1pPr>
            <a:lvl2pPr marL="457189" algn="l" rtl="0" fontAlgn="base">
              <a:spcBef>
                <a:spcPct val="0"/>
              </a:spcBef>
              <a:spcAft>
                <a:spcPct val="0"/>
              </a:spcAft>
              <a:defRPr sz="2000" kern="1200">
                <a:solidFill>
                  <a:schemeClr val="tx1"/>
                </a:solidFill>
                <a:latin typeface="Verdana" pitchFamily="34" charset="0"/>
                <a:ea typeface="+mn-ea"/>
                <a:cs typeface="+mn-cs"/>
              </a:defRPr>
            </a:lvl2pPr>
            <a:lvl3pPr marL="914378" algn="l" rtl="0" fontAlgn="base">
              <a:spcBef>
                <a:spcPct val="0"/>
              </a:spcBef>
              <a:spcAft>
                <a:spcPct val="0"/>
              </a:spcAft>
              <a:defRPr sz="2000" kern="1200">
                <a:solidFill>
                  <a:schemeClr val="tx1"/>
                </a:solidFill>
                <a:latin typeface="Verdana" pitchFamily="34" charset="0"/>
                <a:ea typeface="+mn-ea"/>
                <a:cs typeface="+mn-cs"/>
              </a:defRPr>
            </a:lvl3pPr>
            <a:lvl4pPr marL="1371566" algn="l" rtl="0" fontAlgn="base">
              <a:spcBef>
                <a:spcPct val="0"/>
              </a:spcBef>
              <a:spcAft>
                <a:spcPct val="0"/>
              </a:spcAft>
              <a:defRPr sz="2000" kern="1200">
                <a:solidFill>
                  <a:schemeClr val="tx1"/>
                </a:solidFill>
                <a:latin typeface="Verdana" pitchFamily="34" charset="0"/>
                <a:ea typeface="+mn-ea"/>
                <a:cs typeface="+mn-cs"/>
              </a:defRPr>
            </a:lvl4pPr>
            <a:lvl5pPr marL="1828754" algn="l" rtl="0" fontAlgn="base">
              <a:spcBef>
                <a:spcPct val="0"/>
              </a:spcBef>
              <a:spcAft>
                <a:spcPct val="0"/>
              </a:spcAft>
              <a:defRPr sz="2000" kern="1200">
                <a:solidFill>
                  <a:schemeClr val="tx1"/>
                </a:solidFill>
                <a:latin typeface="Verdana" pitchFamily="34" charset="0"/>
                <a:ea typeface="+mn-ea"/>
                <a:cs typeface="+mn-cs"/>
              </a:defRPr>
            </a:lvl5pPr>
            <a:lvl6pPr marL="2285943" algn="l" defTabSz="914378" rtl="0" eaLnBrk="1" latinLnBrk="0" hangingPunct="1">
              <a:defRPr sz="2000" kern="1200">
                <a:solidFill>
                  <a:schemeClr val="tx1"/>
                </a:solidFill>
                <a:latin typeface="Verdana" pitchFamily="34" charset="0"/>
                <a:ea typeface="+mn-ea"/>
                <a:cs typeface="+mn-cs"/>
              </a:defRPr>
            </a:lvl6pPr>
            <a:lvl7pPr marL="2743132" algn="l" defTabSz="914378" rtl="0" eaLnBrk="1" latinLnBrk="0" hangingPunct="1">
              <a:defRPr sz="2000" kern="1200">
                <a:solidFill>
                  <a:schemeClr val="tx1"/>
                </a:solidFill>
                <a:latin typeface="Verdana" pitchFamily="34" charset="0"/>
                <a:ea typeface="+mn-ea"/>
                <a:cs typeface="+mn-cs"/>
              </a:defRPr>
            </a:lvl7pPr>
            <a:lvl8pPr marL="3200320" algn="l" defTabSz="914378" rtl="0" eaLnBrk="1" latinLnBrk="0" hangingPunct="1">
              <a:defRPr sz="2000" kern="1200">
                <a:solidFill>
                  <a:schemeClr val="tx1"/>
                </a:solidFill>
                <a:latin typeface="Verdana" pitchFamily="34" charset="0"/>
                <a:ea typeface="+mn-ea"/>
                <a:cs typeface="+mn-cs"/>
              </a:defRPr>
            </a:lvl8pPr>
            <a:lvl9pPr marL="3657509" algn="l" defTabSz="914378" rtl="0" eaLnBrk="1" latinLnBrk="0" hangingPunct="1">
              <a:defRPr sz="2000" kern="1200">
                <a:solidFill>
                  <a:schemeClr val="tx1"/>
                </a:solidFill>
                <a:latin typeface="Verdana" pitchFamily="34" charset="0"/>
                <a:ea typeface="+mn-ea"/>
                <a:cs typeface="+mn-cs"/>
              </a:defRPr>
            </a:lvl9pPr>
          </a:lstStyle>
          <a:p>
            <a:pPr defTabSz="685800">
              <a:defRPr/>
            </a:pPr>
            <a:r>
              <a:rPr lang="en-US">
                <a:solidFill>
                  <a:prstClr val="black"/>
                </a:solidFill>
                <a:latin typeface="Arial"/>
                <a:ea typeface="新細明體"/>
              </a:rPr>
              <a:t>L09-</a:t>
            </a:r>
            <a:fld id="{D02EE386-C9BD-4FB7-9577-6096B5320EC4}" type="slidenum">
              <a:rPr lang="en-US">
                <a:solidFill>
                  <a:prstClr val="black"/>
                </a:solidFill>
                <a:latin typeface="Arial"/>
                <a:ea typeface="新細明體"/>
              </a:rPr>
              <a:pPr defTabSz="685800">
                <a:defRPr/>
              </a:pPr>
              <a:t>46</a:t>
            </a:fld>
            <a:endParaRPr lang="en-US" dirty="0">
              <a:solidFill>
                <a:prstClr val="black"/>
              </a:solidFill>
              <a:latin typeface="Arial"/>
              <a:ea typeface="新細明體"/>
            </a:endParaRPr>
          </a:p>
        </p:txBody>
      </p:sp>
      <p:sp>
        <p:nvSpPr>
          <p:cNvPr id="10" name="TextBox 9">
            <a:extLst>
              <a:ext uri="{FF2B5EF4-FFF2-40B4-BE49-F238E27FC236}">
                <a16:creationId xmlns:a16="http://schemas.microsoft.com/office/drawing/2014/main" id="{595C2B26-B7CF-4E20-BAE1-91C24BA4E906}"/>
              </a:ext>
            </a:extLst>
          </p:cNvPr>
          <p:cNvSpPr txBox="1"/>
          <p:nvPr/>
        </p:nvSpPr>
        <p:spPr>
          <a:xfrm>
            <a:off x="5877521" y="3913079"/>
            <a:ext cx="1518429" cy="369332"/>
          </a:xfrm>
          <a:prstGeom prst="rect">
            <a:avLst/>
          </a:prstGeom>
          <a:noFill/>
        </p:spPr>
        <p:txBody>
          <a:bodyPr wrap="none" rtlCol="0" anchor="ctr" anchorCtr="1">
            <a:spAutoFit/>
          </a:bodyPr>
          <a:lstStyle/>
          <a:p>
            <a:pPr defTabSz="685800"/>
            <a:r>
              <a:rPr lang="en-US" dirty="0">
                <a:solidFill>
                  <a:prstClr val="black"/>
                </a:solidFill>
                <a:latin typeface="Arial"/>
                <a:ea typeface="標楷體" pitchFamily="65" charset="-120"/>
                <a:cs typeface="Calibri" panose="020F07020304040A0204" pitchFamily="34" charset="0"/>
              </a:rPr>
              <a:t>Answer</a:t>
            </a:r>
            <a:r>
              <a:rPr lang="en-US">
                <a:solidFill>
                  <a:prstClr val="black"/>
                </a:solidFill>
                <a:latin typeface="Arial"/>
                <a:ea typeface="標楷體" pitchFamily="65" charset="-120"/>
                <a:cs typeface="Calibri" panose="020F07020304040A0204" pitchFamily="34" charset="0"/>
              </a:rPr>
              <a:t>: A, C</a:t>
            </a:r>
            <a:endParaRPr lang="en-US" dirty="0">
              <a:solidFill>
                <a:prstClr val="black"/>
              </a:solidFill>
              <a:latin typeface="Arial"/>
              <a:ea typeface="標楷體" pitchFamily="65" charset="-120"/>
              <a:cs typeface="Calibri" panose="020F07020304040A0204" pitchFamily="34" charset="0"/>
            </a:endParaRPr>
          </a:p>
        </p:txBody>
      </p:sp>
    </p:spTree>
    <p:extLst>
      <p:ext uri="{BB962C8B-B14F-4D97-AF65-F5344CB8AC3E}">
        <p14:creationId xmlns:p14="http://schemas.microsoft.com/office/powerpoint/2010/main" val="3314290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90204" pitchFamily="34" charset="0"/>
            <a:ea typeface="新細明體" panose="02020500000000000000"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90204" pitchFamily="34" charset="0"/>
            <a:ea typeface="新細明體" panose="02020500000000000000" pitchFamily="18" charset="-120"/>
          </a:defRPr>
        </a:defPPr>
      </a:lstStyle>
    </a:lnDef>
    <a:txDef>
      <a:spPr>
        <a:noFill/>
      </a:spPr>
      <a:bodyPr wrap="none" rtlCol="0" anchor="ctr" anchorCtr="1">
        <a:spAutoFit/>
      </a:bodyPr>
      <a:lstStyle>
        <a:defPPr>
          <a:defRPr dirty="0" smtClean="0">
            <a:ea typeface="標楷體" pitchFamily="65" charset="-120"/>
            <a:cs typeface="Calibri" panose="020F07020304040A0204"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3.xml><?xml version="1.0" encoding="utf-8"?>
<a:theme xmlns:a="http://schemas.openxmlformats.org/drawingml/2006/main" name="2_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28589</TotalTime>
  <Words>4566</Words>
  <Application>Microsoft Office PowerPoint</Application>
  <PresentationFormat>On-screen Show (16:9)</PresentationFormat>
  <Paragraphs>530</Paragraphs>
  <Slides>46</Slides>
  <Notes>29</Notes>
  <HiddenSlides>0</HiddenSlides>
  <MMClips>0</MMClips>
  <ScaleCrop>false</ScaleCrop>
  <HeadingPairs>
    <vt:vector size="6" baseType="variant">
      <vt:variant>
        <vt:lpstr>Fonts Used</vt:lpstr>
      </vt:variant>
      <vt:variant>
        <vt:i4>17</vt:i4>
      </vt:variant>
      <vt:variant>
        <vt:lpstr>Theme</vt:lpstr>
      </vt:variant>
      <vt:variant>
        <vt:i4>3</vt:i4>
      </vt:variant>
      <vt:variant>
        <vt:lpstr>Slide Titles</vt:lpstr>
      </vt:variant>
      <vt:variant>
        <vt:i4>46</vt:i4>
      </vt:variant>
    </vt:vector>
  </HeadingPairs>
  <TitlesOfParts>
    <vt:vector size="66" baseType="lpstr">
      <vt:lpstr>MS Sans Serif</vt:lpstr>
      <vt:lpstr>MTMIZ</vt:lpstr>
      <vt:lpstr>MTSYN</vt:lpstr>
      <vt:lpstr>Söhne</vt:lpstr>
      <vt:lpstr>StoneSans</vt:lpstr>
      <vt:lpstr>TimesTen-Italic</vt:lpstr>
      <vt:lpstr>TimesTen-Roman</vt:lpstr>
      <vt:lpstr>ui-sans-serif</vt:lpstr>
      <vt:lpstr>ZztexMono-Italic</vt:lpstr>
      <vt:lpstr>ZztexMono-Regular</vt:lpstr>
      <vt:lpstr>华文楷体</vt:lpstr>
      <vt:lpstr>Arial</vt:lpstr>
      <vt:lpstr>Calibri</vt:lpstr>
      <vt:lpstr>Cambria Math</vt:lpstr>
      <vt:lpstr>Symbol</vt:lpstr>
      <vt:lpstr>Times New Roman</vt:lpstr>
      <vt:lpstr>Wingdings</vt:lpstr>
      <vt:lpstr>NTHU UniCloud</vt:lpstr>
      <vt:lpstr>1_NTHU UniCloud</vt:lpstr>
      <vt:lpstr>2_NTHU UniCloud</vt:lpstr>
      <vt:lpstr>CSC3060 – Computer Systems </vt:lpstr>
      <vt:lpstr> Technological Advancements Driven by Computers</vt:lpstr>
      <vt:lpstr>Driving Force behind Information Revolution</vt:lpstr>
      <vt:lpstr>More Transistors  Higher Performance</vt:lpstr>
      <vt:lpstr>Driving Force behind Information Revolution</vt:lpstr>
      <vt:lpstr>Classes of Computers </vt:lpstr>
      <vt:lpstr>What is a Computer System?</vt:lpstr>
      <vt:lpstr>Tracing the Lifetime of “Hello”</vt:lpstr>
      <vt:lpstr>1.1 Information is bits + context</vt:lpstr>
      <vt:lpstr>Bits can Represent Any Information  </vt:lpstr>
      <vt:lpstr>Interpretation of the “Hello” File</vt:lpstr>
      <vt:lpstr>1.2 Program Compilation</vt:lpstr>
      <vt:lpstr>1.2 Program Compilation</vt:lpstr>
      <vt:lpstr>1.2 Program Compilation</vt:lpstr>
      <vt:lpstr>1.3 It Pays to Understand How Compilation Systems Work </vt:lpstr>
      <vt:lpstr>1.4 Processors Read and Interpret Insts Stored in Memory</vt:lpstr>
      <vt:lpstr>1.4.2 Running the “Hello” Program</vt:lpstr>
      <vt:lpstr>1.4.2 Running “Hello” (cont.)</vt:lpstr>
      <vt:lpstr>1.5  Caches Matter</vt:lpstr>
      <vt:lpstr>1.5  Caches Matter (cont.)</vt:lpstr>
      <vt:lpstr>1.6  Storage Devices Form a Hierarchy</vt:lpstr>
      <vt:lpstr>1.7  OS Manages the Hardware</vt:lpstr>
      <vt:lpstr>1.7.0 Three OS Abstractions (Virtualization) </vt:lpstr>
      <vt:lpstr>1.7.0 Three OS Abstractions (Virtualization) </vt:lpstr>
      <vt:lpstr>1.7.0 Three OS Abstractions (Virtualization) </vt:lpstr>
      <vt:lpstr>1.7.1 Processes </vt:lpstr>
      <vt:lpstr>1.7.1 Process Context Switching</vt:lpstr>
      <vt:lpstr>1.7.2 Threads</vt:lpstr>
      <vt:lpstr>1.7.3 Virtual Memory</vt:lpstr>
      <vt:lpstr>PowerPoint Presentation</vt:lpstr>
      <vt:lpstr>1.7.3 Main Memory as a Cache for VM </vt:lpstr>
      <vt:lpstr>1.7.4 Files</vt:lpstr>
      <vt:lpstr>1.8 Systems Communicate with Networks</vt:lpstr>
      <vt:lpstr>1.8 Systems Communicate with Networks</vt:lpstr>
      <vt:lpstr>1.9 Important Themes</vt:lpstr>
      <vt:lpstr>1.9.1 Amdahl’s Law</vt:lpstr>
      <vt:lpstr>1.9.1 Amdahl’s Law Example (problem 1.2)</vt:lpstr>
      <vt:lpstr>1.9.2 Concurrency and Parallelism</vt:lpstr>
      <vt:lpstr>1.9.2 ILP and DLP</vt:lpstr>
      <vt:lpstr>1.10  Summary</vt:lpstr>
      <vt:lpstr>Quick Review Example</vt:lpstr>
      <vt:lpstr>Quick Review</vt:lpstr>
      <vt:lpstr>Quick Review</vt:lpstr>
      <vt:lpstr>Quick Review</vt:lpstr>
      <vt:lpstr>Quick Review</vt:lpstr>
      <vt:lpstr>Quick 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Prof. HSU Wei-Chung (SDS)</cp:lastModifiedBy>
  <cp:revision>576</cp:revision>
  <dcterms:created xsi:type="dcterms:W3CDTF">2021-01-11T16:17:04Z</dcterms:created>
  <dcterms:modified xsi:type="dcterms:W3CDTF">2026-01-13T02:17:01Z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2052-3.0.0.4824</vt:lpwstr>
  </property>
</Properties>
</file>