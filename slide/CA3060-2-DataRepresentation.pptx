
<file path=[Content_Types].xml><?xml version="1.0" encoding="utf-8"?>
<Types xmlns="http://schemas.openxmlformats.org/package/2006/content-types">
  <Default Extension="bin" ContentType="application/vnd.openxmlformats-officedocument.oleObject"/>
  <Default Extension="jpeg" ContentType="image/jpeg"/>
  <Default Extension="png" ContentType="image/png"/>
  <Default Extension="rels" ContentType="application/vnd.openxmlformats-package.relationships+xml"/>
  <Default Extension="vml" ContentType="application/vnd.openxmlformats-officedocument.vmlDrawing"/>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tags/tag1.xml" ContentType="application/vnd.openxmlformats-officedocument.presentationml.tags+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39"/>
  </p:notesMasterIdLst>
  <p:handoutMasterIdLst>
    <p:handoutMasterId r:id="rId40"/>
  </p:handoutMasterIdLst>
  <p:sldIdLst>
    <p:sldId id="295" r:id="rId2"/>
    <p:sldId id="469" r:id="rId3"/>
    <p:sldId id="461" r:id="rId4"/>
    <p:sldId id="450" r:id="rId5"/>
    <p:sldId id="326" r:id="rId6"/>
    <p:sldId id="328" r:id="rId7"/>
    <p:sldId id="472" r:id="rId8"/>
    <p:sldId id="470" r:id="rId9"/>
    <p:sldId id="457" r:id="rId10"/>
    <p:sldId id="332" r:id="rId11"/>
    <p:sldId id="440" r:id="rId12"/>
    <p:sldId id="473" r:id="rId13"/>
    <p:sldId id="474" r:id="rId14"/>
    <p:sldId id="471" r:id="rId15"/>
    <p:sldId id="476" r:id="rId16"/>
    <p:sldId id="475" r:id="rId17"/>
    <p:sldId id="479" r:id="rId18"/>
    <p:sldId id="464" r:id="rId19"/>
    <p:sldId id="481" r:id="rId20"/>
    <p:sldId id="480" r:id="rId21"/>
    <p:sldId id="482" r:id="rId22"/>
    <p:sldId id="483" r:id="rId23"/>
    <p:sldId id="484" r:id="rId24"/>
    <p:sldId id="489" r:id="rId25"/>
    <p:sldId id="485" r:id="rId26"/>
    <p:sldId id="486" r:id="rId27"/>
    <p:sldId id="491" r:id="rId28"/>
    <p:sldId id="490" r:id="rId29"/>
    <p:sldId id="487" r:id="rId30"/>
    <p:sldId id="477" r:id="rId31"/>
    <p:sldId id="478" r:id="rId32"/>
    <p:sldId id="466" r:id="rId33"/>
    <p:sldId id="458" r:id="rId34"/>
    <p:sldId id="441" r:id="rId35"/>
    <p:sldId id="456" r:id="rId36"/>
    <p:sldId id="442" r:id="rId37"/>
    <p:sldId id="465" r:id="rId38"/>
  </p:sldIdLst>
  <p:sldSz cx="9144000" cy="5143500" type="screen16x9"/>
  <p:notesSz cx="6858000" cy="9144000"/>
  <p:defaultText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24">
          <p15:clr>
            <a:srgbClr val="A4A3A4"/>
          </p15:clr>
        </p15:guide>
        <p15:guide id="2" pos="2888">
          <p15:clr>
            <a:srgbClr val="A4A3A4"/>
          </p15:clr>
        </p15:guide>
        <p15:guide id="3" orient="horz" pos="1620">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FF"/>
    <a:srgbClr val="633869"/>
    <a:srgbClr val="4F81BD"/>
    <a:srgbClr val="8064A2"/>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snapToGrid="0">
      <p:cViewPr varScale="1">
        <p:scale>
          <a:sx n="132" d="100"/>
          <a:sy n="132" d="100"/>
        </p:scale>
        <p:origin x="870" y="102"/>
      </p:cViewPr>
      <p:guideLst>
        <p:guide orient="horz" pos="2124"/>
        <p:guide pos="2888"/>
        <p:guide orient="horz" pos="1620"/>
      </p:guideLst>
    </p:cSldViewPr>
  </p:slideViewPr>
  <p:notesTextViewPr>
    <p:cViewPr>
      <p:scale>
        <a:sx n="1" d="1"/>
        <a:sy n="1" d="1"/>
      </p:scale>
      <p:origin x="0" y="0"/>
    </p:cViewPr>
  </p:notesTextViewPr>
  <p:sorterViewPr>
    <p:cViewPr>
      <p:scale>
        <a:sx n="66" d="100"/>
        <a:sy n="66" d="100"/>
      </p:scale>
      <p:origin x="0" y="0"/>
    </p:cViewPr>
  </p:sorterViewPr>
  <p:notesViewPr>
    <p:cSldViewPr snapToGrid="0">
      <p:cViewPr varScale="1">
        <p:scale>
          <a:sx n="65" d="100"/>
          <a:sy n="65" d="100"/>
        </p:scale>
        <p:origin x="3082" y="48"/>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notesMaster" Target="notesMasters/notesMaster1.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handoutMaster" Target="handoutMasters/handout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theme" Target="theme/theme1.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s>
</file>

<file path=ppt/drawings/_rels/vmlDrawing1.vml.rels><?xml version="1.0" encoding="UTF-8" standalone="yes"?>
<Relationships xmlns="http://schemas.openxmlformats.org/package/2006/relationships"><Relationship Id="rId2" Type="http://schemas.openxmlformats.org/officeDocument/2006/relationships/image" Target="../media/image5.wmf"/><Relationship Id="rId1" Type="http://schemas.openxmlformats.org/officeDocument/2006/relationships/image" Target="../media/image4.w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TW" altLang="en-US"/>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45BDCE37-E9BE-4280-8D68-34E43D66CEDB}" type="datetimeFigureOut">
              <a:rPr lang="zh-TW" altLang="en-US" smtClean="0"/>
              <a:t>2026/1/14</a:t>
            </a:fld>
            <a:endParaRPr lang="zh-TW" altLang="en-US"/>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zh-TW" altLang="en-US"/>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32BED679-6CF9-4493-8C9A-6F31F985AAEA}" type="slidenum">
              <a:rPr lang="zh-TW" altLang="en-US" smtClean="0"/>
              <a:t>‹#›</a:t>
            </a:fld>
            <a:endParaRPr lang="zh-TW" altLang="en-US"/>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TW" alt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BFBA883-381C-409E-9635-BB54B21745E4}" type="datetimeFigureOut">
              <a:rPr lang="zh-TW" altLang="en-US" smtClean="0"/>
              <a:t>2026/1/14</a:t>
            </a:fld>
            <a:endParaRPr lang="zh-TW" alt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TW" alt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ltLang="zh-TW"/>
              <a:t>Click to edit Master text styles</a:t>
            </a:r>
          </a:p>
          <a:p>
            <a:pPr lvl="1"/>
            <a:r>
              <a:rPr lang="en-US" altLang="zh-TW"/>
              <a:t>Second level</a:t>
            </a:r>
          </a:p>
          <a:p>
            <a:pPr lvl="2"/>
            <a:r>
              <a:rPr lang="en-US" altLang="zh-TW"/>
              <a:t>Third level</a:t>
            </a:r>
          </a:p>
          <a:p>
            <a:pPr lvl="3"/>
            <a:r>
              <a:rPr lang="en-US" altLang="zh-TW"/>
              <a:t>Fourth level</a:t>
            </a:r>
          </a:p>
          <a:p>
            <a:pPr lvl="4"/>
            <a:r>
              <a:rPr lang="en-US" altLang="zh-TW"/>
              <a:t>Fifth level</a:t>
            </a:r>
            <a:endParaRPr lang="zh-TW" alt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TW" alt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86C40E4-B9C8-417B-AB00-3BF7F8038A2D}" type="slidenum">
              <a:rPr lang="zh-TW" altLang="en-US" smtClean="0"/>
              <a:t>‹#›</a:t>
            </a:fld>
            <a:endParaRPr lang="zh-TW"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en-US" altLang="zh-CN"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C, non-zero is true</a:t>
            </a:r>
          </a:p>
          <a:p>
            <a:r>
              <a:rPr lang="en-US" dirty="0"/>
              <a:t>This course only require students to do RVI32 machines</a:t>
            </a:r>
          </a:p>
        </p:txBody>
      </p:sp>
      <p:sp>
        <p:nvSpPr>
          <p:cNvPr id="4" name="Slide Number Placeholder 3"/>
          <p:cNvSpPr>
            <a:spLocks noGrp="1"/>
          </p:cNvSpPr>
          <p:nvPr>
            <p:ph type="sldNum" sz="quarter" idx="5"/>
          </p:nvPr>
        </p:nvSpPr>
        <p:spPr/>
        <p:txBody>
          <a:bodyPr/>
          <a:lstStyle/>
          <a:p>
            <a:fld id="{286C40E4-B9C8-417B-AB00-3BF7F8038A2D}" type="slidenum">
              <a:rPr lang="zh-TW" altLang="en-US" smtClean="0"/>
              <a:t>2</a:t>
            </a:fld>
            <a:endParaRPr lang="zh-TW" altLang="en-US"/>
          </a:p>
        </p:txBody>
      </p:sp>
    </p:spTree>
    <p:extLst>
      <p:ext uri="{BB962C8B-B14F-4D97-AF65-F5344CB8AC3E}">
        <p14:creationId xmlns:p14="http://schemas.microsoft.com/office/powerpoint/2010/main" val="192728702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C, non-zero is true</a:t>
            </a:r>
          </a:p>
          <a:p>
            <a:r>
              <a:rPr lang="en-US" dirty="0"/>
              <a:t>This course only require students to do RVI32 machines</a:t>
            </a:r>
          </a:p>
        </p:txBody>
      </p:sp>
      <p:sp>
        <p:nvSpPr>
          <p:cNvPr id="4" name="Slide Number Placeholder 3"/>
          <p:cNvSpPr>
            <a:spLocks noGrp="1"/>
          </p:cNvSpPr>
          <p:nvPr>
            <p:ph type="sldNum" sz="quarter" idx="5"/>
          </p:nvPr>
        </p:nvSpPr>
        <p:spPr/>
        <p:txBody>
          <a:bodyPr/>
          <a:lstStyle/>
          <a:p>
            <a:fld id="{286C40E4-B9C8-417B-AB00-3BF7F8038A2D}" type="slidenum">
              <a:rPr lang="zh-TW" altLang="en-US" smtClean="0"/>
              <a:t>3</a:t>
            </a:fld>
            <a:endParaRPr lang="zh-TW" altLang="en-US"/>
          </a:p>
        </p:txBody>
      </p:sp>
    </p:spTree>
    <p:extLst>
      <p:ext uri="{BB962C8B-B14F-4D97-AF65-F5344CB8AC3E}">
        <p14:creationId xmlns:p14="http://schemas.microsoft.com/office/powerpoint/2010/main" val="328057577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Base two only allows 0 and 1 two digits, base 10 allows 0 to 9, 10 digits</a:t>
            </a:r>
          </a:p>
        </p:txBody>
      </p:sp>
      <p:sp>
        <p:nvSpPr>
          <p:cNvPr id="4" name="Slide Number Placeholder 3"/>
          <p:cNvSpPr>
            <a:spLocks noGrp="1"/>
          </p:cNvSpPr>
          <p:nvPr>
            <p:ph type="sldNum" sz="quarter" idx="5"/>
          </p:nvPr>
        </p:nvSpPr>
        <p:spPr/>
        <p:txBody>
          <a:bodyPr/>
          <a:lstStyle/>
          <a:p>
            <a:fld id="{286C40E4-B9C8-417B-AB00-3BF7F8038A2D}" type="slidenum">
              <a:rPr lang="zh-TW" altLang="en-US" smtClean="0"/>
              <a:t>4</a:t>
            </a:fld>
            <a:endParaRPr lang="zh-TW" altLang="en-US"/>
          </a:p>
        </p:txBody>
      </p:sp>
    </p:spTree>
    <p:extLst>
      <p:ext uri="{BB962C8B-B14F-4D97-AF65-F5344CB8AC3E}">
        <p14:creationId xmlns:p14="http://schemas.microsoft.com/office/powerpoint/2010/main" val="265211780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Oct and Hex numbers are easier to read, reducing possible errors.</a:t>
            </a:r>
          </a:p>
        </p:txBody>
      </p:sp>
      <p:sp>
        <p:nvSpPr>
          <p:cNvPr id="4" name="Slide Number Placeholder 3"/>
          <p:cNvSpPr>
            <a:spLocks noGrp="1"/>
          </p:cNvSpPr>
          <p:nvPr>
            <p:ph type="sldNum" sz="quarter" idx="5"/>
          </p:nvPr>
        </p:nvSpPr>
        <p:spPr/>
        <p:txBody>
          <a:bodyPr/>
          <a:lstStyle/>
          <a:p>
            <a:fld id="{286C40E4-B9C8-417B-AB00-3BF7F8038A2D}" type="slidenum">
              <a:rPr lang="zh-TW" altLang="en-US" smtClean="0"/>
              <a:t>5</a:t>
            </a:fld>
            <a:endParaRPr lang="zh-TW" altLang="en-US"/>
          </a:p>
        </p:txBody>
      </p:sp>
    </p:spTree>
    <p:extLst>
      <p:ext uri="{BB962C8B-B14F-4D97-AF65-F5344CB8AC3E}">
        <p14:creationId xmlns:p14="http://schemas.microsoft.com/office/powerpoint/2010/main" val="193579326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r>
              <a:rPr lang="en-US" altLang="zh-CN"/>
              <a:t>10</a:t>
            </a:r>
            <a:r>
              <a:rPr lang="zh-CN" altLang="en-US"/>
              <a:t>的</a:t>
            </a:r>
            <a:r>
              <a:rPr lang="en-US" altLang="zh-CN"/>
              <a:t>3</a:t>
            </a:r>
            <a:r>
              <a:rPr lang="zh-CN" altLang="en-US"/>
              <a:t>次幂： </a:t>
            </a:r>
            <a:r>
              <a:rPr lang="en-US" altLang="zh-CN"/>
              <a:t>ten to the power of three</a:t>
            </a:r>
          </a:p>
          <a:p>
            <a:r>
              <a:rPr lang="zh-CN" altLang="en-US"/>
              <a:t>乘以： </a:t>
            </a:r>
            <a:r>
              <a:rPr lang="en-US" altLang="zh-CN"/>
              <a:t>multiply</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r>
              <a:rPr lang="en-US" altLang="zh-CN"/>
              <a:t>10</a:t>
            </a:r>
            <a:r>
              <a:rPr lang="zh-CN" altLang="en-US"/>
              <a:t>的</a:t>
            </a:r>
            <a:r>
              <a:rPr lang="en-US" altLang="zh-CN"/>
              <a:t>3</a:t>
            </a:r>
            <a:r>
              <a:rPr lang="zh-CN" altLang="en-US"/>
              <a:t>次幂： </a:t>
            </a:r>
            <a:r>
              <a:rPr lang="en-US" altLang="zh-CN"/>
              <a:t>ten to the power of three</a:t>
            </a:r>
          </a:p>
          <a:p>
            <a:r>
              <a:rPr lang="zh-CN" altLang="en-US"/>
              <a:t>乘以： </a:t>
            </a:r>
            <a:r>
              <a:rPr lang="en-US" altLang="zh-CN"/>
              <a:t>multiply</a:t>
            </a:r>
          </a:p>
        </p:txBody>
      </p:sp>
    </p:spTree>
    <p:extLst>
      <p:ext uri="{BB962C8B-B14F-4D97-AF65-F5344CB8AC3E}">
        <p14:creationId xmlns:p14="http://schemas.microsoft.com/office/powerpoint/2010/main" val="342983879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36</a:t>
            </a:r>
            <a:r>
              <a:rPr lang="en-US" baseline="-25000" dirty="0"/>
              <a:t>8</a:t>
            </a:r>
            <a:r>
              <a:rPr lang="en-US" baseline="0" dirty="0"/>
              <a:t>=011 110</a:t>
            </a:r>
            <a:r>
              <a:rPr lang="en-US" baseline="-25000" dirty="0"/>
              <a:t>2</a:t>
            </a:r>
            <a:endParaRPr lang="en-US" baseline="0" dirty="0"/>
          </a:p>
          <a:p>
            <a:r>
              <a:rPr lang="en-US" baseline="0" dirty="0"/>
              <a:t>36</a:t>
            </a:r>
            <a:r>
              <a:rPr lang="en-US" baseline="-25000" dirty="0"/>
              <a:t>10</a:t>
            </a:r>
            <a:r>
              <a:rPr lang="en-US" baseline="0" dirty="0"/>
              <a:t>=100100</a:t>
            </a:r>
            <a:r>
              <a:rPr lang="en-US" baseline="-25000" dirty="0"/>
              <a:t>2</a:t>
            </a:r>
          </a:p>
        </p:txBody>
      </p:sp>
    </p:spTree>
    <p:extLst>
      <p:ext uri="{BB962C8B-B14F-4D97-AF65-F5344CB8AC3E}">
        <p14:creationId xmlns:p14="http://schemas.microsoft.com/office/powerpoint/2010/main" val="213869781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36</a:t>
            </a:r>
            <a:r>
              <a:rPr lang="en-US" baseline="-25000" dirty="0"/>
              <a:t>8</a:t>
            </a:r>
            <a:r>
              <a:rPr lang="en-US" baseline="0" dirty="0"/>
              <a:t>=011 110</a:t>
            </a:r>
            <a:r>
              <a:rPr lang="en-US" baseline="-25000" dirty="0"/>
              <a:t>2</a:t>
            </a:r>
            <a:endParaRPr lang="en-US" baseline="0" dirty="0"/>
          </a:p>
          <a:p>
            <a:r>
              <a:rPr lang="en-US" baseline="0" dirty="0"/>
              <a:t>36</a:t>
            </a:r>
            <a:r>
              <a:rPr lang="en-US" baseline="-25000" dirty="0"/>
              <a:t>10</a:t>
            </a:r>
            <a:r>
              <a:rPr lang="en-US" baseline="0" dirty="0"/>
              <a:t>=100100</a:t>
            </a:r>
            <a:r>
              <a:rPr lang="en-US" baseline="-25000" dirty="0"/>
              <a:t>2</a:t>
            </a:r>
          </a:p>
        </p:txBody>
      </p:sp>
    </p:spTree>
    <p:extLst>
      <p:ext uri="{BB962C8B-B14F-4D97-AF65-F5344CB8AC3E}">
        <p14:creationId xmlns:p14="http://schemas.microsoft.com/office/powerpoint/2010/main" val="388868254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Address range of 32b? 1-4GB</a:t>
            </a:r>
          </a:p>
        </p:txBody>
      </p:sp>
      <p:sp>
        <p:nvSpPr>
          <p:cNvPr id="4" name="Slide Number Placeholder 3"/>
          <p:cNvSpPr>
            <a:spLocks noGrp="1"/>
          </p:cNvSpPr>
          <p:nvPr>
            <p:ph type="sldNum" sz="quarter" idx="5"/>
          </p:nvPr>
        </p:nvSpPr>
        <p:spPr/>
        <p:txBody>
          <a:bodyPr/>
          <a:lstStyle/>
          <a:p>
            <a:fld id="{286C40E4-B9C8-417B-AB00-3BF7F8038A2D}" type="slidenum">
              <a:rPr lang="zh-TW" altLang="en-US" smtClean="0"/>
              <a:t>10</a:t>
            </a:fld>
            <a:endParaRPr lang="zh-TW" altLang="en-US"/>
          </a:p>
        </p:txBody>
      </p:sp>
    </p:spTree>
    <p:extLst>
      <p:ext uri="{BB962C8B-B14F-4D97-AF65-F5344CB8AC3E}">
        <p14:creationId xmlns:p14="http://schemas.microsoft.com/office/powerpoint/2010/main" val="421474779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dirty="0"/>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dirty="0"/>
          </a:p>
        </p:txBody>
      </p:sp>
    </p:spTree>
    <p:extLst>
      <p:ext uri="{BB962C8B-B14F-4D97-AF65-F5344CB8AC3E}">
        <p14:creationId xmlns:p14="http://schemas.microsoft.com/office/powerpoint/2010/main" val="214044272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dirty="0"/>
          </a:p>
        </p:txBody>
      </p:sp>
    </p:spTree>
    <p:extLst>
      <p:ext uri="{BB962C8B-B14F-4D97-AF65-F5344CB8AC3E}">
        <p14:creationId xmlns:p14="http://schemas.microsoft.com/office/powerpoint/2010/main" val="405996753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dirty="0"/>
          </a:p>
        </p:txBody>
      </p:sp>
    </p:spTree>
    <p:extLst>
      <p:ext uri="{BB962C8B-B14F-4D97-AF65-F5344CB8AC3E}">
        <p14:creationId xmlns:p14="http://schemas.microsoft.com/office/powerpoint/2010/main" val="330691564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dirty="0"/>
          </a:p>
        </p:txBody>
      </p:sp>
    </p:spTree>
    <p:extLst>
      <p:ext uri="{BB962C8B-B14F-4D97-AF65-F5344CB8AC3E}">
        <p14:creationId xmlns:p14="http://schemas.microsoft.com/office/powerpoint/2010/main" val="2521895123"/>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dirty="0"/>
          </a:p>
          <a:p>
            <a:endParaRPr lang="zh-CN" altLang="en-US" dirty="0"/>
          </a:p>
        </p:txBody>
      </p:sp>
    </p:spTree>
    <p:extLst>
      <p:ext uri="{BB962C8B-B14F-4D97-AF65-F5344CB8AC3E}">
        <p14:creationId xmlns:p14="http://schemas.microsoft.com/office/powerpoint/2010/main" val="1909413973"/>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dirty="0"/>
          </a:p>
          <a:p>
            <a:endParaRPr lang="zh-CN" altLang="en-US" dirty="0"/>
          </a:p>
        </p:txBody>
      </p:sp>
    </p:spTree>
    <p:extLst>
      <p:ext uri="{BB962C8B-B14F-4D97-AF65-F5344CB8AC3E}">
        <p14:creationId xmlns:p14="http://schemas.microsoft.com/office/powerpoint/2010/main" val="3717421046"/>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dirty="0"/>
          </a:p>
        </p:txBody>
      </p:sp>
    </p:spTree>
    <p:extLst>
      <p:ext uri="{BB962C8B-B14F-4D97-AF65-F5344CB8AC3E}">
        <p14:creationId xmlns:p14="http://schemas.microsoft.com/office/powerpoint/2010/main" val="189284016"/>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dirty="0"/>
          </a:p>
        </p:txBody>
      </p:sp>
    </p:spTree>
    <p:extLst>
      <p:ext uri="{BB962C8B-B14F-4D97-AF65-F5344CB8AC3E}">
        <p14:creationId xmlns:p14="http://schemas.microsoft.com/office/powerpoint/2010/main" val="3465957853"/>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dirty="0"/>
          </a:p>
        </p:txBody>
      </p:sp>
    </p:spTree>
    <p:extLst>
      <p:ext uri="{BB962C8B-B14F-4D97-AF65-F5344CB8AC3E}">
        <p14:creationId xmlns:p14="http://schemas.microsoft.com/office/powerpoint/2010/main" val="40204775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dirty="0"/>
          </a:p>
        </p:txBody>
      </p:sp>
    </p:spTree>
    <p:extLst>
      <p:ext uri="{BB962C8B-B14F-4D97-AF65-F5344CB8AC3E}">
        <p14:creationId xmlns:p14="http://schemas.microsoft.com/office/powerpoint/2010/main" val="4276023533"/>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dirty="0"/>
          </a:p>
        </p:txBody>
      </p:sp>
    </p:spTree>
    <p:extLst>
      <p:ext uri="{BB962C8B-B14F-4D97-AF65-F5344CB8AC3E}">
        <p14:creationId xmlns:p14="http://schemas.microsoft.com/office/powerpoint/2010/main" val="2010509005"/>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dirty="0"/>
          </a:p>
        </p:txBody>
      </p:sp>
    </p:spTree>
    <p:extLst>
      <p:ext uri="{BB962C8B-B14F-4D97-AF65-F5344CB8AC3E}">
        <p14:creationId xmlns:p14="http://schemas.microsoft.com/office/powerpoint/2010/main" val="1588641214"/>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36</a:t>
            </a:r>
            <a:r>
              <a:rPr lang="en-US" baseline="-25000" dirty="0"/>
              <a:t>8</a:t>
            </a:r>
            <a:r>
              <a:rPr lang="en-US" baseline="0" dirty="0"/>
              <a:t>=011 110</a:t>
            </a:r>
            <a:r>
              <a:rPr lang="en-US" baseline="-25000" dirty="0"/>
              <a:t>2</a:t>
            </a:r>
            <a:endParaRPr lang="en-US" baseline="0" dirty="0"/>
          </a:p>
          <a:p>
            <a:r>
              <a:rPr lang="en-US" baseline="0" dirty="0"/>
              <a:t>36</a:t>
            </a:r>
            <a:r>
              <a:rPr lang="en-US" baseline="-25000" dirty="0"/>
              <a:t>10</a:t>
            </a:r>
            <a:r>
              <a:rPr lang="en-US" baseline="0" dirty="0"/>
              <a:t>=100100</a:t>
            </a:r>
            <a:r>
              <a:rPr lang="en-US" baseline="-25000" dirty="0"/>
              <a:t>2</a:t>
            </a:r>
          </a:p>
        </p:txBody>
      </p:sp>
    </p:spTree>
    <p:extLst>
      <p:ext uri="{BB962C8B-B14F-4D97-AF65-F5344CB8AC3E}">
        <p14:creationId xmlns:p14="http://schemas.microsoft.com/office/powerpoint/2010/main" val="4164412072"/>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dirty="0"/>
          </a:p>
        </p:txBody>
      </p:sp>
    </p:spTree>
    <p:extLst>
      <p:ext uri="{BB962C8B-B14F-4D97-AF65-F5344CB8AC3E}">
        <p14:creationId xmlns:p14="http://schemas.microsoft.com/office/powerpoint/2010/main" val="3927619987"/>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dirty="0"/>
          </a:p>
        </p:txBody>
      </p:sp>
    </p:spTree>
    <p:extLst>
      <p:ext uri="{BB962C8B-B14F-4D97-AF65-F5344CB8AC3E}">
        <p14:creationId xmlns:p14="http://schemas.microsoft.com/office/powerpoint/2010/main" val="4266286889"/>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dirty="0"/>
          </a:p>
        </p:txBody>
      </p:sp>
    </p:spTree>
    <p:extLst>
      <p:ext uri="{BB962C8B-B14F-4D97-AF65-F5344CB8AC3E}">
        <p14:creationId xmlns:p14="http://schemas.microsoft.com/office/powerpoint/2010/main" val="4097453984"/>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dirty="0"/>
          </a:p>
        </p:txBody>
      </p:sp>
    </p:spTree>
    <p:extLst>
      <p:ext uri="{BB962C8B-B14F-4D97-AF65-F5344CB8AC3E}">
        <p14:creationId xmlns:p14="http://schemas.microsoft.com/office/powerpoint/2010/main" val="2296486035"/>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dirty="0"/>
          </a:p>
        </p:txBody>
      </p:sp>
    </p:spTree>
    <p:extLst>
      <p:ext uri="{BB962C8B-B14F-4D97-AF65-F5344CB8AC3E}">
        <p14:creationId xmlns:p14="http://schemas.microsoft.com/office/powerpoint/2010/main" val="3235538059"/>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dirty="0"/>
          </a:p>
        </p:txBody>
      </p:sp>
    </p:spTree>
    <p:extLst>
      <p:ext uri="{BB962C8B-B14F-4D97-AF65-F5344CB8AC3E}">
        <p14:creationId xmlns:p14="http://schemas.microsoft.com/office/powerpoint/2010/main" val="3561691154"/>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dirty="0"/>
          </a:p>
        </p:txBody>
      </p:sp>
    </p:spTree>
    <p:extLst>
      <p:ext uri="{BB962C8B-B14F-4D97-AF65-F5344CB8AC3E}">
        <p14:creationId xmlns:p14="http://schemas.microsoft.com/office/powerpoint/2010/main" val="118345633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r>
              <a:rPr lang="en-US" altLang="zh-CN" dirty="0"/>
              <a:t>In 2’s complement, the carry out is not an overflow. Overflow is only considered when the two signs are equal.</a:t>
            </a:r>
            <a:endParaRPr lang="zh-CN" altLang="en-US" dirty="0"/>
          </a:p>
        </p:txBody>
      </p:sp>
    </p:spTree>
    <p:extLst>
      <p:ext uri="{BB962C8B-B14F-4D97-AF65-F5344CB8AC3E}">
        <p14:creationId xmlns:p14="http://schemas.microsoft.com/office/powerpoint/2010/main" val="893083888"/>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r>
              <a:rPr lang="en-US" altLang="zh-CN" dirty="0"/>
              <a:t>In 2’s complement, the carry out is not an overflow. Overflow is only considered when the two signs are equal.</a:t>
            </a:r>
            <a:endParaRPr lang="zh-CN" altLang="en-US" dirty="0"/>
          </a:p>
        </p:txBody>
      </p:sp>
    </p:spTree>
    <p:extLst>
      <p:ext uri="{BB962C8B-B14F-4D97-AF65-F5344CB8AC3E}">
        <p14:creationId xmlns:p14="http://schemas.microsoft.com/office/powerpoint/2010/main" val="3386428690"/>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altLang="en-US" baseline="-25000" dirty="0"/>
              <a:t>最大的数是</a:t>
            </a:r>
            <a:r>
              <a:rPr lang="en-US" altLang="zh-CN" baseline="-25000" dirty="0"/>
              <a:t>2</a:t>
            </a:r>
            <a:r>
              <a:rPr lang="zh-CN" altLang="en-US" baseline="-25000" dirty="0"/>
              <a:t>的</a:t>
            </a:r>
            <a:r>
              <a:rPr lang="en-US" altLang="zh-CN" baseline="-25000" dirty="0"/>
              <a:t>n</a:t>
            </a:r>
            <a:r>
              <a:rPr lang="zh-CN" altLang="en-US" baseline="-25000" dirty="0"/>
              <a:t>次方</a:t>
            </a:r>
            <a:r>
              <a:rPr lang="en-US" altLang="zh-CN" baseline="-25000" dirty="0"/>
              <a:t>-1</a:t>
            </a:r>
            <a:r>
              <a:rPr lang="zh-CN" altLang="en-US" baseline="-25000" dirty="0"/>
              <a:t>，最小的数是</a:t>
            </a:r>
            <a:r>
              <a:rPr lang="en-US" altLang="zh-CN" baseline="-25000" dirty="0"/>
              <a:t>-2</a:t>
            </a:r>
            <a:r>
              <a:rPr lang="zh-CN" altLang="en-US" baseline="-25000" dirty="0"/>
              <a:t>的</a:t>
            </a:r>
            <a:r>
              <a:rPr lang="en-US" altLang="zh-CN" baseline="-25000" dirty="0"/>
              <a:t>n</a:t>
            </a:r>
            <a:r>
              <a:rPr lang="zh-CN" altLang="en-US" baseline="-25000" dirty="0"/>
              <a:t>次方</a:t>
            </a: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altLang="en-US" baseline="-25000" dirty="0"/>
              <a:t>最大的数是</a:t>
            </a:r>
            <a:r>
              <a:rPr lang="en-US" altLang="zh-CN" baseline="-25000" dirty="0"/>
              <a:t>2</a:t>
            </a:r>
            <a:r>
              <a:rPr lang="zh-CN" altLang="en-US" baseline="-25000" dirty="0"/>
              <a:t>的</a:t>
            </a:r>
            <a:r>
              <a:rPr lang="en-US" altLang="zh-CN" baseline="-25000" dirty="0"/>
              <a:t>n</a:t>
            </a:r>
            <a:r>
              <a:rPr lang="zh-CN" altLang="en-US" baseline="-25000" dirty="0"/>
              <a:t>次方</a:t>
            </a:r>
            <a:r>
              <a:rPr lang="en-US" altLang="zh-CN" baseline="-25000" dirty="0"/>
              <a:t>-1</a:t>
            </a:r>
            <a:r>
              <a:rPr lang="zh-CN" altLang="en-US" baseline="-25000" dirty="0"/>
              <a:t>，最小的数是</a:t>
            </a:r>
            <a:r>
              <a:rPr lang="en-US" altLang="zh-CN" baseline="-25000" dirty="0"/>
              <a:t>-2</a:t>
            </a:r>
            <a:r>
              <a:rPr lang="zh-CN" altLang="en-US" baseline="-25000" dirty="0"/>
              <a:t>的</a:t>
            </a:r>
            <a:r>
              <a:rPr lang="en-US" altLang="zh-CN" baseline="-25000" dirty="0"/>
              <a:t>n</a:t>
            </a:r>
            <a:r>
              <a:rPr lang="zh-CN" altLang="en-US" baseline="-25000" dirty="0"/>
              <a:t>次方</a:t>
            </a: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altLang="en-US" baseline="-25000" dirty="0"/>
              <a:t>最大的数是</a:t>
            </a:r>
            <a:r>
              <a:rPr lang="en-US" altLang="zh-CN" baseline="-25000" dirty="0"/>
              <a:t>2</a:t>
            </a:r>
            <a:r>
              <a:rPr lang="zh-CN" altLang="en-US" baseline="-25000" dirty="0"/>
              <a:t>的</a:t>
            </a:r>
            <a:r>
              <a:rPr lang="en-US" altLang="zh-CN" baseline="-25000" dirty="0"/>
              <a:t>n</a:t>
            </a:r>
            <a:r>
              <a:rPr lang="zh-CN" altLang="en-US" baseline="-25000" dirty="0"/>
              <a:t>次方</a:t>
            </a:r>
            <a:r>
              <a:rPr lang="en-US" altLang="zh-CN" baseline="-25000" dirty="0"/>
              <a:t>-1</a:t>
            </a:r>
            <a:r>
              <a:rPr lang="zh-CN" altLang="en-US" baseline="-25000" dirty="0"/>
              <a:t>，最小的数是</a:t>
            </a:r>
            <a:r>
              <a:rPr lang="en-US" altLang="zh-CN" baseline="-25000" dirty="0"/>
              <a:t>-2</a:t>
            </a:r>
            <a:r>
              <a:rPr lang="zh-CN" altLang="en-US" baseline="-25000" dirty="0"/>
              <a:t>的</a:t>
            </a:r>
            <a:r>
              <a:rPr lang="en-US" altLang="zh-CN" baseline="-25000" dirty="0"/>
              <a:t>n</a:t>
            </a:r>
            <a:r>
              <a:rPr lang="zh-CN" altLang="en-US" baseline="-25000" dirty="0"/>
              <a:t>次方</a:t>
            </a: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altLang="en-US" baseline="-25000" dirty="0"/>
              <a:t>最大的数是</a:t>
            </a:r>
            <a:r>
              <a:rPr lang="en-US" altLang="zh-CN" baseline="-25000" dirty="0"/>
              <a:t>2</a:t>
            </a:r>
            <a:r>
              <a:rPr lang="zh-CN" altLang="en-US" baseline="-25000" dirty="0"/>
              <a:t>的</a:t>
            </a:r>
            <a:r>
              <a:rPr lang="en-US" altLang="zh-CN" baseline="-25000" dirty="0"/>
              <a:t>n</a:t>
            </a:r>
            <a:r>
              <a:rPr lang="zh-CN" altLang="en-US" baseline="-25000" dirty="0"/>
              <a:t>次方</a:t>
            </a:r>
            <a:r>
              <a:rPr lang="en-US" altLang="zh-CN" baseline="-25000" dirty="0"/>
              <a:t>-1</a:t>
            </a:r>
            <a:r>
              <a:rPr lang="zh-CN" altLang="en-US" baseline="-25000" dirty="0"/>
              <a:t>，最小的数是</a:t>
            </a:r>
            <a:r>
              <a:rPr lang="en-US" altLang="zh-CN" baseline="-25000" dirty="0"/>
              <a:t>-2</a:t>
            </a:r>
            <a:r>
              <a:rPr lang="zh-CN" altLang="en-US" baseline="-25000" dirty="0"/>
              <a:t>的</a:t>
            </a:r>
            <a:r>
              <a:rPr lang="en-US" altLang="zh-CN" baseline="-25000" dirty="0"/>
              <a:t>n</a:t>
            </a:r>
            <a:r>
              <a:rPr lang="zh-CN" altLang="en-US" baseline="-25000" dirty="0"/>
              <a:t>次方</a:t>
            </a:r>
          </a:p>
        </p:txBody>
      </p:sp>
    </p:spTree>
    <p:extLst>
      <p:ext uri="{BB962C8B-B14F-4D97-AF65-F5344CB8AC3E}">
        <p14:creationId xmlns:p14="http://schemas.microsoft.com/office/powerpoint/2010/main" val="74977880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標題及物件">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a:t>Click to edit Master title style</a:t>
            </a:r>
            <a:endParaRPr lang="zh-TW" altLang="en-US" dirty="0"/>
          </a:p>
        </p:txBody>
      </p:sp>
      <p:sp>
        <p:nvSpPr>
          <p:cNvPr id="3" name="內容版面配置區 2"/>
          <p:cNvSpPr>
            <a:spLocks noGrp="1"/>
          </p:cNvSpPr>
          <p:nvPr>
            <p:ph idx="1"/>
          </p:nvPr>
        </p:nvSpPr>
        <p:spPr/>
        <p:txBody>
          <a:bodyPr/>
          <a:lstStyle>
            <a:lvl3pPr>
              <a:defRPr sz="2000">
                <a:latin typeface="Calibri" panose="020F0502020204030204" pitchFamily="34" charset="0"/>
                <a:ea typeface="標楷體" pitchFamily="65" charset="-120"/>
                <a:cs typeface="Calibri" panose="020F0502020204030204" pitchFamily="34" charset="0"/>
              </a:defRPr>
            </a:lvl3pPr>
            <a:lvl4pPr>
              <a:defRPr sz="1800">
                <a:latin typeface="Calibri" panose="020F0502020204030204" pitchFamily="34" charset="0"/>
                <a:ea typeface="標楷體" pitchFamily="65" charset="-120"/>
                <a:cs typeface="Calibri" panose="020F0502020204030204" pitchFamily="34" charset="0"/>
              </a:defRPr>
            </a:lvl4pPr>
            <a:lvl5pPr>
              <a:defRPr sz="1600">
                <a:latin typeface="Calibri" panose="020F0502020204030204" pitchFamily="34" charset="0"/>
                <a:ea typeface="標楷體" pitchFamily="65" charset="-120"/>
                <a:cs typeface="Calibri" panose="020F0502020204030204" pitchFamily="34" charset="0"/>
              </a:defRPr>
            </a:lvl5pPr>
          </a:lstStyle>
          <a:p>
            <a:pPr lvl="0"/>
            <a:r>
              <a:rPr lang="en-US" altLang="zh-TW" dirty="0"/>
              <a:t>Click to edit Master text styles</a:t>
            </a:r>
          </a:p>
          <a:p>
            <a:pPr lvl="1"/>
            <a:r>
              <a:rPr lang="en-US" altLang="zh-TW" dirty="0"/>
              <a:t>Second level</a:t>
            </a:r>
          </a:p>
          <a:p>
            <a:pPr lvl="2"/>
            <a:r>
              <a:rPr lang="en-US" altLang="zh-TW" dirty="0"/>
              <a:t>Third level</a:t>
            </a:r>
          </a:p>
          <a:p>
            <a:pPr lvl="3"/>
            <a:r>
              <a:rPr lang="en-US" altLang="zh-TW" dirty="0"/>
              <a:t>Fourth level</a:t>
            </a:r>
          </a:p>
          <a:p>
            <a:pPr lvl="4"/>
            <a:r>
              <a:rPr lang="en-US" altLang="zh-TW" dirty="0"/>
              <a:t>Fifth level</a:t>
            </a:r>
            <a:endParaRPr lang="zh-TW" altLang="en-US" dirty="0"/>
          </a:p>
        </p:txBody>
      </p:sp>
      <p:sp>
        <p:nvSpPr>
          <p:cNvPr id="4" name="Rectangle 19"/>
          <p:cNvSpPr>
            <a:spLocks noGrp="1" noChangeArrowheads="1"/>
          </p:cNvSpPr>
          <p:nvPr>
            <p:ph type="sldNum" sz="quarter" idx="10"/>
          </p:nvPr>
        </p:nvSpPr>
        <p:spPr/>
        <p:txBody>
          <a:bodyPr/>
          <a:lstStyle>
            <a:lvl1pPr>
              <a:defRPr/>
            </a:lvl1pPr>
          </a:lstStyle>
          <a:p>
            <a:fld id="{D9B6BDF2-6896-4B98-8776-C18582F63BA5}" type="slidenum">
              <a:rPr lang="zh-TW" altLang="en-US" smtClean="0"/>
              <a:t>‹#›</a:t>
            </a:fld>
            <a:endParaRPr lang="zh-TW"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secHead" preserve="1">
  <p:cSld name="區段標題">
    <p:spTree>
      <p:nvGrpSpPr>
        <p:cNvPr id="1" name=""/>
        <p:cNvGrpSpPr/>
        <p:nvPr/>
      </p:nvGrpSpPr>
      <p:grpSpPr>
        <a:xfrm>
          <a:off x="0" y="0"/>
          <a:ext cx="0" cy="0"/>
          <a:chOff x="0" y="0"/>
          <a:chExt cx="0" cy="0"/>
        </a:xfrm>
      </p:grpSpPr>
      <p:sp>
        <p:nvSpPr>
          <p:cNvPr id="2" name="標題 1"/>
          <p:cNvSpPr>
            <a:spLocks noGrp="1"/>
          </p:cNvSpPr>
          <p:nvPr>
            <p:ph type="title"/>
          </p:nvPr>
        </p:nvSpPr>
        <p:spPr>
          <a:xfrm>
            <a:off x="722313" y="3305177"/>
            <a:ext cx="7772400" cy="1021556"/>
          </a:xfrm>
        </p:spPr>
        <p:txBody>
          <a:bodyPr anchor="t"/>
          <a:lstStyle>
            <a:lvl1pPr algn="l">
              <a:defRPr sz="3200" b="1" cap="all"/>
            </a:lvl1pPr>
          </a:lstStyle>
          <a:p>
            <a:r>
              <a:rPr lang="en-US" altLang="zh-TW" dirty="0"/>
              <a:t>Click to edit Master title style</a:t>
            </a:r>
            <a:endParaRPr lang="zh-TW" altLang="en-US" dirty="0"/>
          </a:p>
        </p:txBody>
      </p:sp>
      <p:sp>
        <p:nvSpPr>
          <p:cNvPr id="3" name="文字版面配置區 2"/>
          <p:cNvSpPr>
            <a:spLocks noGrp="1"/>
          </p:cNvSpPr>
          <p:nvPr>
            <p:ph type="body" idx="1"/>
          </p:nvPr>
        </p:nvSpPr>
        <p:spPr>
          <a:xfrm>
            <a:off x="722313" y="2180035"/>
            <a:ext cx="7772400" cy="1125140"/>
          </a:xfrm>
        </p:spPr>
        <p:txBody>
          <a:bodyPr anchor="b"/>
          <a:lstStyle>
            <a:lvl1pPr marL="0" indent="0">
              <a:buNone/>
              <a:defRPr sz="2800"/>
            </a:lvl1pPr>
            <a:lvl2pPr marL="342900" indent="0">
              <a:buNone/>
              <a:defRPr sz="1350"/>
            </a:lvl2pPr>
            <a:lvl3pPr marL="685800" indent="0">
              <a:buNone/>
              <a:defRPr sz="1200"/>
            </a:lvl3pPr>
            <a:lvl4pPr marL="1028700" indent="0">
              <a:buNone/>
              <a:defRPr sz="1050"/>
            </a:lvl4pPr>
            <a:lvl5pPr marL="1371600" indent="0">
              <a:buNone/>
              <a:defRPr sz="1050"/>
            </a:lvl5pPr>
            <a:lvl6pPr marL="1714500" indent="0">
              <a:buNone/>
              <a:defRPr sz="1050"/>
            </a:lvl6pPr>
            <a:lvl7pPr marL="2057400" indent="0">
              <a:buNone/>
              <a:defRPr sz="1050"/>
            </a:lvl7pPr>
            <a:lvl8pPr marL="2400300" indent="0">
              <a:buNone/>
              <a:defRPr sz="1050"/>
            </a:lvl8pPr>
            <a:lvl9pPr marL="2743200" indent="0">
              <a:buNone/>
              <a:defRPr sz="1050"/>
            </a:lvl9pPr>
          </a:lstStyle>
          <a:p>
            <a:pPr lvl="0"/>
            <a:r>
              <a:rPr lang="en-US" altLang="zh-TW" dirty="0"/>
              <a:t>Click to edit Master text styles</a:t>
            </a:r>
          </a:p>
        </p:txBody>
      </p:sp>
      <p:sp>
        <p:nvSpPr>
          <p:cNvPr id="4" name="Rectangle 19"/>
          <p:cNvSpPr>
            <a:spLocks noGrp="1" noChangeArrowheads="1"/>
          </p:cNvSpPr>
          <p:nvPr>
            <p:ph type="sldNum" sz="quarter" idx="10"/>
          </p:nvPr>
        </p:nvSpPr>
        <p:spPr/>
        <p:txBody>
          <a:bodyPr/>
          <a:lstStyle>
            <a:lvl1pPr>
              <a:defRPr/>
            </a:lvl1pPr>
          </a:lstStyle>
          <a:p>
            <a:fld id="{D9B6BDF2-6896-4B98-8776-C18582F63BA5}" type="slidenum">
              <a:rPr lang="zh-TW" altLang="en-US" smtClean="0"/>
              <a:t>‹#›</a:t>
            </a:fld>
            <a:endParaRPr lang="zh-TW"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woObj" preserve="1">
  <p:cSld name="兩項物件">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a:t>Click to edit Master title style</a:t>
            </a:r>
            <a:endParaRPr lang="zh-TW" altLang="en-US" dirty="0"/>
          </a:p>
        </p:txBody>
      </p:sp>
      <p:sp>
        <p:nvSpPr>
          <p:cNvPr id="3" name="內容版面配置區 2"/>
          <p:cNvSpPr>
            <a:spLocks noGrp="1"/>
          </p:cNvSpPr>
          <p:nvPr>
            <p:ph sz="half" idx="1"/>
          </p:nvPr>
        </p:nvSpPr>
        <p:spPr>
          <a:xfrm>
            <a:off x="457200" y="844152"/>
            <a:ext cx="4038600" cy="3170774"/>
          </a:xfrm>
        </p:spPr>
        <p:txBody>
          <a:bodyPr/>
          <a:lstStyle>
            <a:lvl1pPr>
              <a:defRPr sz="2800"/>
            </a:lvl1pPr>
            <a:lvl2pPr>
              <a:defRPr sz="2400"/>
            </a:lvl2pPr>
            <a:lvl3pPr>
              <a:defRPr sz="1800"/>
            </a:lvl3pPr>
            <a:lvl4pPr>
              <a:defRPr sz="1600"/>
            </a:lvl4pPr>
            <a:lvl5pPr>
              <a:defRPr sz="1600"/>
            </a:lvl5pPr>
            <a:lvl6pPr>
              <a:defRPr sz="1350"/>
            </a:lvl6pPr>
            <a:lvl7pPr>
              <a:defRPr sz="1350"/>
            </a:lvl7pPr>
            <a:lvl8pPr>
              <a:defRPr sz="1350"/>
            </a:lvl8pPr>
            <a:lvl9pPr>
              <a:defRPr sz="1350"/>
            </a:lvl9pPr>
          </a:lstStyle>
          <a:p>
            <a:pPr lvl="0"/>
            <a:r>
              <a:rPr lang="en-US" altLang="zh-TW" dirty="0"/>
              <a:t>Click to edit Master text styles</a:t>
            </a:r>
          </a:p>
          <a:p>
            <a:pPr lvl="1"/>
            <a:r>
              <a:rPr lang="en-US" altLang="zh-TW" dirty="0"/>
              <a:t>Second level</a:t>
            </a:r>
          </a:p>
          <a:p>
            <a:pPr lvl="2"/>
            <a:r>
              <a:rPr lang="en-US" altLang="zh-TW" dirty="0"/>
              <a:t>Third level</a:t>
            </a:r>
          </a:p>
          <a:p>
            <a:pPr lvl="3"/>
            <a:r>
              <a:rPr lang="en-US" altLang="zh-TW" dirty="0"/>
              <a:t>Fourth level</a:t>
            </a:r>
          </a:p>
          <a:p>
            <a:pPr lvl="4"/>
            <a:r>
              <a:rPr lang="en-US" altLang="zh-TW" dirty="0"/>
              <a:t>Fifth level</a:t>
            </a:r>
            <a:endParaRPr lang="zh-TW" altLang="en-US" dirty="0"/>
          </a:p>
        </p:txBody>
      </p:sp>
      <p:sp>
        <p:nvSpPr>
          <p:cNvPr id="4" name="內容版面配置區 3"/>
          <p:cNvSpPr>
            <a:spLocks noGrp="1"/>
          </p:cNvSpPr>
          <p:nvPr>
            <p:ph sz="half" idx="2"/>
          </p:nvPr>
        </p:nvSpPr>
        <p:spPr>
          <a:xfrm>
            <a:off x="4648200" y="844152"/>
            <a:ext cx="4038600" cy="3170774"/>
          </a:xfrm>
        </p:spPr>
        <p:txBody>
          <a:bodyPr/>
          <a:lstStyle>
            <a:lvl1pPr>
              <a:defRPr sz="2800"/>
            </a:lvl1pPr>
            <a:lvl2pPr>
              <a:defRPr sz="2400"/>
            </a:lvl2pPr>
            <a:lvl3pPr>
              <a:defRPr sz="1800"/>
            </a:lvl3pPr>
            <a:lvl4pPr>
              <a:defRPr sz="1600"/>
            </a:lvl4pPr>
            <a:lvl5pPr>
              <a:defRPr sz="1600"/>
            </a:lvl5pPr>
            <a:lvl6pPr>
              <a:defRPr sz="1350"/>
            </a:lvl6pPr>
            <a:lvl7pPr>
              <a:defRPr sz="1350"/>
            </a:lvl7pPr>
            <a:lvl8pPr>
              <a:defRPr sz="1350"/>
            </a:lvl8pPr>
            <a:lvl9pPr>
              <a:defRPr sz="1350"/>
            </a:lvl9pPr>
          </a:lstStyle>
          <a:p>
            <a:pPr lvl="0"/>
            <a:r>
              <a:rPr lang="en-US" altLang="zh-TW" dirty="0"/>
              <a:t>Click to edit Master text styles</a:t>
            </a:r>
          </a:p>
          <a:p>
            <a:pPr lvl="1"/>
            <a:r>
              <a:rPr lang="en-US" altLang="zh-TW" dirty="0"/>
              <a:t>Second level</a:t>
            </a:r>
          </a:p>
          <a:p>
            <a:pPr lvl="2"/>
            <a:r>
              <a:rPr lang="en-US" altLang="zh-TW" dirty="0"/>
              <a:t>Third level</a:t>
            </a:r>
          </a:p>
          <a:p>
            <a:pPr lvl="3"/>
            <a:r>
              <a:rPr lang="en-US" altLang="zh-TW" dirty="0"/>
              <a:t>Fourth level</a:t>
            </a:r>
          </a:p>
          <a:p>
            <a:pPr lvl="4"/>
            <a:r>
              <a:rPr lang="en-US" altLang="zh-TW" dirty="0"/>
              <a:t>Fifth level</a:t>
            </a:r>
            <a:endParaRPr lang="zh-TW" altLang="en-US" dirty="0"/>
          </a:p>
        </p:txBody>
      </p:sp>
      <p:sp>
        <p:nvSpPr>
          <p:cNvPr id="5" name="Rectangle 19"/>
          <p:cNvSpPr>
            <a:spLocks noGrp="1" noChangeArrowheads="1"/>
          </p:cNvSpPr>
          <p:nvPr>
            <p:ph type="sldNum" sz="quarter" idx="10"/>
          </p:nvPr>
        </p:nvSpPr>
        <p:spPr/>
        <p:txBody>
          <a:bodyPr/>
          <a:lstStyle>
            <a:lvl1pPr>
              <a:defRPr/>
            </a:lvl1pPr>
          </a:lstStyle>
          <a:p>
            <a:fld id="{D9B6BDF2-6896-4B98-8776-C18582F63BA5}" type="slidenum">
              <a:rPr lang="zh-TW" altLang="en-US" smtClean="0"/>
              <a:t>‹#›</a:t>
            </a:fld>
            <a:endParaRPr lang="zh-TW"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比對">
    <p:spTree>
      <p:nvGrpSpPr>
        <p:cNvPr id="1" name=""/>
        <p:cNvGrpSpPr/>
        <p:nvPr/>
      </p:nvGrpSpPr>
      <p:grpSpPr>
        <a:xfrm>
          <a:off x="0" y="0"/>
          <a:ext cx="0" cy="0"/>
          <a:chOff x="0" y="0"/>
          <a:chExt cx="0" cy="0"/>
        </a:xfrm>
      </p:grpSpPr>
      <p:sp>
        <p:nvSpPr>
          <p:cNvPr id="3" name="文字版面配置區 2"/>
          <p:cNvSpPr>
            <a:spLocks noGrp="1"/>
          </p:cNvSpPr>
          <p:nvPr>
            <p:ph type="body" idx="1"/>
          </p:nvPr>
        </p:nvSpPr>
        <p:spPr>
          <a:xfrm>
            <a:off x="457201" y="951580"/>
            <a:ext cx="4040188" cy="479822"/>
          </a:xfrm>
        </p:spPr>
        <p:txBody>
          <a:bodyPr anchor="b"/>
          <a:lstStyle>
            <a:lvl1pPr marL="0" indent="0">
              <a:buNone/>
              <a:defRPr sz="20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ltLang="zh-TW"/>
              <a:t>Click to edit Master text styles</a:t>
            </a:r>
          </a:p>
        </p:txBody>
      </p:sp>
      <p:sp>
        <p:nvSpPr>
          <p:cNvPr id="4" name="內容版面配置區 3"/>
          <p:cNvSpPr>
            <a:spLocks noGrp="1"/>
          </p:cNvSpPr>
          <p:nvPr>
            <p:ph sz="half" idx="2"/>
          </p:nvPr>
        </p:nvSpPr>
        <p:spPr>
          <a:xfrm>
            <a:off x="457201" y="1431401"/>
            <a:ext cx="4040188" cy="2963466"/>
          </a:xfrm>
        </p:spPr>
        <p:txBody>
          <a:bodyPr/>
          <a:lstStyle>
            <a:lvl1pPr>
              <a:defRPr sz="2000"/>
            </a:lvl1pPr>
            <a:lvl2pPr>
              <a:defRPr sz="1600"/>
            </a:lvl2pPr>
            <a:lvl3pPr>
              <a:defRPr sz="1400"/>
            </a:lvl3pPr>
            <a:lvl4pPr>
              <a:defRPr sz="1400"/>
            </a:lvl4pPr>
            <a:lvl5pPr>
              <a:defRPr sz="1400"/>
            </a:lvl5pPr>
            <a:lvl6pPr>
              <a:defRPr sz="1200"/>
            </a:lvl6pPr>
            <a:lvl7pPr>
              <a:defRPr sz="1200"/>
            </a:lvl7pPr>
            <a:lvl8pPr>
              <a:defRPr sz="1200"/>
            </a:lvl8pPr>
            <a:lvl9pPr>
              <a:defRPr sz="1200"/>
            </a:lvl9pPr>
          </a:lstStyle>
          <a:p>
            <a:pPr lvl="0"/>
            <a:r>
              <a:rPr lang="en-US" altLang="zh-TW" dirty="0"/>
              <a:t>Click to edit Master text styles</a:t>
            </a:r>
          </a:p>
          <a:p>
            <a:pPr lvl="1"/>
            <a:r>
              <a:rPr lang="en-US" altLang="zh-TW" dirty="0"/>
              <a:t>Second level</a:t>
            </a:r>
          </a:p>
          <a:p>
            <a:pPr lvl="2"/>
            <a:r>
              <a:rPr lang="en-US" altLang="zh-TW" dirty="0"/>
              <a:t>Third level</a:t>
            </a:r>
          </a:p>
          <a:p>
            <a:pPr lvl="3"/>
            <a:r>
              <a:rPr lang="en-US" altLang="zh-TW" dirty="0"/>
              <a:t>Fourth level</a:t>
            </a:r>
          </a:p>
          <a:p>
            <a:pPr lvl="4"/>
            <a:r>
              <a:rPr lang="en-US" altLang="zh-TW" dirty="0"/>
              <a:t>Fifth level</a:t>
            </a:r>
            <a:endParaRPr lang="zh-TW" altLang="en-US" dirty="0"/>
          </a:p>
        </p:txBody>
      </p:sp>
      <p:sp>
        <p:nvSpPr>
          <p:cNvPr id="5" name="文字版面配置區 4"/>
          <p:cNvSpPr>
            <a:spLocks noGrp="1"/>
          </p:cNvSpPr>
          <p:nvPr>
            <p:ph type="body" sz="quarter" idx="3"/>
          </p:nvPr>
        </p:nvSpPr>
        <p:spPr>
          <a:xfrm>
            <a:off x="4645029" y="951580"/>
            <a:ext cx="4041775" cy="479822"/>
          </a:xfrm>
        </p:spPr>
        <p:txBody>
          <a:bodyPr anchor="b"/>
          <a:lstStyle>
            <a:lvl1pPr marL="0" indent="0">
              <a:buNone/>
              <a:defRPr sz="20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ltLang="zh-TW"/>
              <a:t>Click to edit Master text styles</a:t>
            </a:r>
          </a:p>
        </p:txBody>
      </p:sp>
      <p:sp>
        <p:nvSpPr>
          <p:cNvPr id="6" name="內容版面配置區 5"/>
          <p:cNvSpPr>
            <a:spLocks noGrp="1"/>
          </p:cNvSpPr>
          <p:nvPr>
            <p:ph sz="quarter" idx="4"/>
          </p:nvPr>
        </p:nvSpPr>
        <p:spPr>
          <a:xfrm>
            <a:off x="4645029" y="1431401"/>
            <a:ext cx="4041775" cy="2963466"/>
          </a:xfrm>
        </p:spPr>
        <p:txBody>
          <a:bodyPr/>
          <a:lstStyle>
            <a:lvl1pPr>
              <a:defRPr sz="2000"/>
            </a:lvl1pPr>
            <a:lvl2pPr>
              <a:defRPr sz="1600"/>
            </a:lvl2pPr>
            <a:lvl3pPr>
              <a:defRPr sz="1400"/>
            </a:lvl3pPr>
            <a:lvl4pPr>
              <a:defRPr sz="1400"/>
            </a:lvl4pPr>
            <a:lvl5pPr>
              <a:defRPr sz="1400"/>
            </a:lvl5pPr>
            <a:lvl6pPr>
              <a:defRPr sz="1200"/>
            </a:lvl6pPr>
            <a:lvl7pPr>
              <a:defRPr sz="1200"/>
            </a:lvl7pPr>
            <a:lvl8pPr>
              <a:defRPr sz="1200"/>
            </a:lvl8pPr>
            <a:lvl9pPr>
              <a:defRPr sz="1200"/>
            </a:lvl9pPr>
          </a:lstStyle>
          <a:p>
            <a:pPr lvl="0"/>
            <a:r>
              <a:rPr lang="en-US" altLang="zh-TW"/>
              <a:t>Click to edit Master text styles</a:t>
            </a:r>
          </a:p>
          <a:p>
            <a:pPr lvl="1"/>
            <a:r>
              <a:rPr lang="en-US" altLang="zh-TW"/>
              <a:t>Second level</a:t>
            </a:r>
          </a:p>
          <a:p>
            <a:pPr lvl="2"/>
            <a:r>
              <a:rPr lang="en-US" altLang="zh-TW"/>
              <a:t>Third level</a:t>
            </a:r>
          </a:p>
          <a:p>
            <a:pPr lvl="3"/>
            <a:r>
              <a:rPr lang="en-US" altLang="zh-TW"/>
              <a:t>Fourth level</a:t>
            </a:r>
          </a:p>
          <a:p>
            <a:pPr lvl="4"/>
            <a:r>
              <a:rPr lang="en-US" altLang="zh-TW"/>
              <a:t>Fifth level</a:t>
            </a:r>
            <a:endParaRPr lang="zh-TW" altLang="en-US"/>
          </a:p>
        </p:txBody>
      </p:sp>
      <p:sp>
        <p:nvSpPr>
          <p:cNvPr id="7" name="Rectangle 19"/>
          <p:cNvSpPr>
            <a:spLocks noGrp="1" noChangeArrowheads="1"/>
          </p:cNvSpPr>
          <p:nvPr>
            <p:ph type="sldNum" sz="quarter" idx="10"/>
          </p:nvPr>
        </p:nvSpPr>
        <p:spPr/>
        <p:txBody>
          <a:bodyPr/>
          <a:lstStyle>
            <a:lvl1pPr>
              <a:defRPr/>
            </a:lvl1pPr>
          </a:lstStyle>
          <a:p>
            <a:fld id="{D9B6BDF2-6896-4B98-8776-C18582F63BA5}" type="slidenum">
              <a:rPr lang="zh-TW" altLang="en-US" smtClean="0"/>
              <a:t>‹#›</a:t>
            </a:fld>
            <a:endParaRPr lang="zh-TW" altLang="en-US"/>
          </a:p>
        </p:txBody>
      </p:sp>
      <p:sp>
        <p:nvSpPr>
          <p:cNvPr id="8" name="標題 1"/>
          <p:cNvSpPr>
            <a:spLocks noGrp="1"/>
          </p:cNvSpPr>
          <p:nvPr>
            <p:ph type="title"/>
          </p:nvPr>
        </p:nvSpPr>
        <p:spPr>
          <a:xfrm>
            <a:off x="468315" y="108349"/>
            <a:ext cx="8207375" cy="519113"/>
          </a:xfrm>
        </p:spPr>
        <p:txBody>
          <a:bodyPr/>
          <a:lstStyle/>
          <a:p>
            <a:r>
              <a:rPr lang="en-US" altLang="zh-TW" dirty="0"/>
              <a:t>Click to edit Master title style</a:t>
            </a:r>
            <a:endParaRPr lang="zh-TW" alt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Only" preserve="1">
  <p:cSld name="只有標題">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a:t>Click to edit Master title style</a:t>
            </a:r>
            <a:endParaRPr lang="zh-TW" altLang="en-US"/>
          </a:p>
        </p:txBody>
      </p:sp>
      <p:sp>
        <p:nvSpPr>
          <p:cNvPr id="3" name="Rectangle 19"/>
          <p:cNvSpPr>
            <a:spLocks noGrp="1" noChangeArrowheads="1"/>
          </p:cNvSpPr>
          <p:nvPr>
            <p:ph type="sldNum" sz="quarter" idx="10"/>
          </p:nvPr>
        </p:nvSpPr>
        <p:spPr/>
        <p:txBody>
          <a:bodyPr/>
          <a:lstStyle>
            <a:lvl1pPr>
              <a:defRPr/>
            </a:lvl1pPr>
          </a:lstStyle>
          <a:p>
            <a:fld id="{D9B6BDF2-6896-4B98-8776-C18582F63BA5}" type="slidenum">
              <a:rPr lang="zh-TW" altLang="en-US" smtClean="0"/>
              <a:t>‹#›</a:t>
            </a:fld>
            <a:endParaRPr lang="zh-TW"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Rectangle 19"/>
          <p:cNvSpPr>
            <a:spLocks noGrp="1" noChangeArrowheads="1"/>
          </p:cNvSpPr>
          <p:nvPr>
            <p:ph type="sldNum" sz="quarter" idx="10"/>
          </p:nvPr>
        </p:nvSpPr>
        <p:spPr/>
        <p:txBody>
          <a:bodyPr/>
          <a:lstStyle>
            <a:lvl1pPr>
              <a:defRPr/>
            </a:lvl1pPr>
          </a:lstStyle>
          <a:p>
            <a:fld id="{D9B6BDF2-6896-4B98-8776-C18582F63BA5}" type="slidenum">
              <a:rPr lang="zh-TW" altLang="en-US" smtClean="0"/>
              <a:t>‹#›</a:t>
            </a:fld>
            <a:endParaRPr lang="zh-TW"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objTx" preserve="1">
  <p:cSld name="含標題的內容">
    <p:spTree>
      <p:nvGrpSpPr>
        <p:cNvPr id="1" name=""/>
        <p:cNvGrpSpPr/>
        <p:nvPr/>
      </p:nvGrpSpPr>
      <p:grpSpPr>
        <a:xfrm>
          <a:off x="0" y="0"/>
          <a:ext cx="0" cy="0"/>
          <a:chOff x="0" y="0"/>
          <a:chExt cx="0" cy="0"/>
        </a:xfrm>
      </p:grpSpPr>
      <p:sp>
        <p:nvSpPr>
          <p:cNvPr id="2" name="標題 1"/>
          <p:cNvSpPr>
            <a:spLocks noGrp="1"/>
          </p:cNvSpPr>
          <p:nvPr>
            <p:ph type="title"/>
          </p:nvPr>
        </p:nvSpPr>
        <p:spPr>
          <a:xfrm>
            <a:off x="457204" y="204787"/>
            <a:ext cx="3008313" cy="871538"/>
          </a:xfrm>
        </p:spPr>
        <p:txBody>
          <a:bodyPr anchor="b"/>
          <a:lstStyle>
            <a:lvl1pPr algn="l">
              <a:defRPr sz="1500" b="1"/>
            </a:lvl1pPr>
          </a:lstStyle>
          <a:p>
            <a:r>
              <a:rPr lang="en-US" altLang="zh-TW"/>
              <a:t>Click to edit Master title style</a:t>
            </a:r>
            <a:endParaRPr lang="zh-TW" altLang="en-US"/>
          </a:p>
        </p:txBody>
      </p:sp>
      <p:sp>
        <p:nvSpPr>
          <p:cNvPr id="3" name="內容版面配置區 2"/>
          <p:cNvSpPr>
            <a:spLocks noGrp="1"/>
          </p:cNvSpPr>
          <p:nvPr>
            <p:ph idx="1"/>
          </p:nvPr>
        </p:nvSpPr>
        <p:spPr>
          <a:xfrm>
            <a:off x="3575050" y="204791"/>
            <a:ext cx="5111751" cy="438983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ltLang="zh-TW"/>
              <a:t>Click to edit Master text styles</a:t>
            </a:r>
          </a:p>
          <a:p>
            <a:pPr lvl="1"/>
            <a:r>
              <a:rPr lang="en-US" altLang="zh-TW"/>
              <a:t>Second level</a:t>
            </a:r>
          </a:p>
          <a:p>
            <a:pPr lvl="2"/>
            <a:r>
              <a:rPr lang="en-US" altLang="zh-TW"/>
              <a:t>Third level</a:t>
            </a:r>
          </a:p>
          <a:p>
            <a:pPr lvl="3"/>
            <a:r>
              <a:rPr lang="en-US" altLang="zh-TW"/>
              <a:t>Fourth level</a:t>
            </a:r>
          </a:p>
          <a:p>
            <a:pPr lvl="4"/>
            <a:r>
              <a:rPr lang="en-US" altLang="zh-TW"/>
              <a:t>Fifth level</a:t>
            </a:r>
            <a:endParaRPr lang="zh-TW" altLang="en-US"/>
          </a:p>
        </p:txBody>
      </p:sp>
      <p:sp>
        <p:nvSpPr>
          <p:cNvPr id="4" name="文字版面配置區 3"/>
          <p:cNvSpPr>
            <a:spLocks noGrp="1"/>
          </p:cNvSpPr>
          <p:nvPr>
            <p:ph type="body" sz="half" idx="2"/>
          </p:nvPr>
        </p:nvSpPr>
        <p:spPr>
          <a:xfrm>
            <a:off x="457204" y="1076328"/>
            <a:ext cx="3008313" cy="351829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ltLang="zh-TW"/>
              <a:t>Click to edit Master text styles</a:t>
            </a:r>
          </a:p>
        </p:txBody>
      </p:sp>
      <p:sp>
        <p:nvSpPr>
          <p:cNvPr id="5" name="Rectangle 19"/>
          <p:cNvSpPr>
            <a:spLocks noGrp="1" noChangeArrowheads="1"/>
          </p:cNvSpPr>
          <p:nvPr>
            <p:ph type="sldNum" sz="quarter" idx="10"/>
          </p:nvPr>
        </p:nvSpPr>
        <p:spPr/>
        <p:txBody>
          <a:bodyPr/>
          <a:lstStyle>
            <a:lvl1pPr>
              <a:defRPr/>
            </a:lvl1pPr>
          </a:lstStyle>
          <a:p>
            <a:fld id="{D9B6BDF2-6896-4B98-8776-C18582F63BA5}" type="slidenum">
              <a:rPr lang="zh-TW" altLang="en-US" smtClean="0"/>
              <a:t>‹#›</a:t>
            </a:fld>
            <a:endParaRPr lang="zh-TW"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picTx" preserve="1">
  <p:cSld name="含標題的圖片">
    <p:spTree>
      <p:nvGrpSpPr>
        <p:cNvPr id="1" name=""/>
        <p:cNvGrpSpPr/>
        <p:nvPr/>
      </p:nvGrpSpPr>
      <p:grpSpPr>
        <a:xfrm>
          <a:off x="0" y="0"/>
          <a:ext cx="0" cy="0"/>
          <a:chOff x="0" y="0"/>
          <a:chExt cx="0" cy="0"/>
        </a:xfrm>
      </p:grpSpPr>
      <p:sp>
        <p:nvSpPr>
          <p:cNvPr id="2" name="標題 1"/>
          <p:cNvSpPr>
            <a:spLocks noGrp="1"/>
          </p:cNvSpPr>
          <p:nvPr>
            <p:ph type="title"/>
          </p:nvPr>
        </p:nvSpPr>
        <p:spPr>
          <a:xfrm>
            <a:off x="1792288" y="3600450"/>
            <a:ext cx="5486400" cy="425054"/>
          </a:xfrm>
        </p:spPr>
        <p:txBody>
          <a:bodyPr anchor="b"/>
          <a:lstStyle>
            <a:lvl1pPr algn="l">
              <a:defRPr sz="1500" b="1"/>
            </a:lvl1pPr>
          </a:lstStyle>
          <a:p>
            <a:r>
              <a:rPr lang="en-US" altLang="zh-TW"/>
              <a:t>Click to edit Master title style</a:t>
            </a:r>
            <a:endParaRPr lang="zh-TW" altLang="en-US"/>
          </a:p>
        </p:txBody>
      </p:sp>
      <p:sp>
        <p:nvSpPr>
          <p:cNvPr id="3" name="圖片版面配置區 2"/>
          <p:cNvSpPr>
            <a:spLocks noGrp="1"/>
          </p:cNvSpPr>
          <p:nvPr>
            <p:ph type="pic" idx="1"/>
          </p:nvPr>
        </p:nvSpPr>
        <p:spPr>
          <a:xfrm>
            <a:off x="1792288" y="459581"/>
            <a:ext cx="5486400" cy="308610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pPr lvl="0"/>
            <a:r>
              <a:rPr lang="en-US" altLang="zh-TW" noProof="0"/>
              <a:t>Click icon to add picture</a:t>
            </a:r>
            <a:endParaRPr lang="zh-TW" altLang="en-US" noProof="0"/>
          </a:p>
        </p:txBody>
      </p:sp>
      <p:sp>
        <p:nvSpPr>
          <p:cNvPr id="4" name="文字版面配置區 3"/>
          <p:cNvSpPr>
            <a:spLocks noGrp="1"/>
          </p:cNvSpPr>
          <p:nvPr>
            <p:ph type="body" sz="half" idx="2"/>
          </p:nvPr>
        </p:nvSpPr>
        <p:spPr>
          <a:xfrm>
            <a:off x="1792288" y="4025505"/>
            <a:ext cx="5486400" cy="60364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ltLang="zh-TW"/>
              <a:t>Click to edit Master text styles</a:t>
            </a:r>
          </a:p>
        </p:txBody>
      </p:sp>
      <p:sp>
        <p:nvSpPr>
          <p:cNvPr id="5" name="Rectangle 19"/>
          <p:cNvSpPr>
            <a:spLocks noGrp="1" noChangeArrowheads="1"/>
          </p:cNvSpPr>
          <p:nvPr>
            <p:ph type="sldNum" sz="quarter" idx="10"/>
          </p:nvPr>
        </p:nvSpPr>
        <p:spPr/>
        <p:txBody>
          <a:bodyPr/>
          <a:lstStyle>
            <a:lvl1pPr>
              <a:defRPr/>
            </a:lvl1pPr>
          </a:lstStyle>
          <a:p>
            <a:fld id="{D9B6BDF2-6896-4B98-8776-C18582F63BA5}" type="slidenum">
              <a:rPr lang="zh-TW" altLang="en-US" smtClean="0"/>
              <a:t>‹#›</a:t>
            </a:fld>
            <a:endParaRPr lang="zh-TW"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vertTx" preserve="1">
  <p:cSld name="標題及直排文字">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a:t>Click to edit Master title style</a:t>
            </a:r>
            <a:endParaRPr lang="zh-TW" altLang="en-US"/>
          </a:p>
        </p:txBody>
      </p:sp>
      <p:sp>
        <p:nvSpPr>
          <p:cNvPr id="3" name="直排文字版面配置區 2"/>
          <p:cNvSpPr>
            <a:spLocks noGrp="1"/>
          </p:cNvSpPr>
          <p:nvPr>
            <p:ph type="body" orient="vert" idx="1"/>
          </p:nvPr>
        </p:nvSpPr>
        <p:spPr/>
        <p:txBody>
          <a:bodyPr vert="eaVert"/>
          <a:lstStyle/>
          <a:p>
            <a:pPr lvl="0"/>
            <a:r>
              <a:rPr lang="en-US" altLang="zh-TW"/>
              <a:t>Click to edit Master text styles</a:t>
            </a:r>
          </a:p>
          <a:p>
            <a:pPr lvl="1"/>
            <a:r>
              <a:rPr lang="en-US" altLang="zh-TW"/>
              <a:t>Second level</a:t>
            </a:r>
          </a:p>
          <a:p>
            <a:pPr lvl="2"/>
            <a:r>
              <a:rPr lang="en-US" altLang="zh-TW"/>
              <a:t>Third level</a:t>
            </a:r>
          </a:p>
          <a:p>
            <a:pPr lvl="3"/>
            <a:r>
              <a:rPr lang="en-US" altLang="zh-TW"/>
              <a:t>Fourth level</a:t>
            </a:r>
          </a:p>
          <a:p>
            <a:pPr lvl="4"/>
            <a:r>
              <a:rPr lang="en-US" altLang="zh-TW"/>
              <a:t>Fifth level</a:t>
            </a:r>
            <a:endParaRPr lang="zh-TW" altLang="en-US"/>
          </a:p>
        </p:txBody>
      </p:sp>
      <p:sp>
        <p:nvSpPr>
          <p:cNvPr id="4" name="Rectangle 19"/>
          <p:cNvSpPr>
            <a:spLocks noGrp="1" noChangeArrowheads="1"/>
          </p:cNvSpPr>
          <p:nvPr>
            <p:ph type="sldNum" sz="quarter" idx="10"/>
          </p:nvPr>
        </p:nvSpPr>
        <p:spPr/>
        <p:txBody>
          <a:bodyPr/>
          <a:lstStyle>
            <a:lvl1pPr>
              <a:defRPr/>
            </a:lvl1pPr>
          </a:lstStyle>
          <a:p>
            <a:fld id="{D9B6BDF2-6896-4B98-8776-C18582F63BA5}" type="slidenum">
              <a:rPr lang="zh-TW" altLang="en-US" smtClean="0"/>
              <a:t>‹#›</a:t>
            </a:fld>
            <a:endParaRPr lang="zh-TW"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直排標題及文字">
    <p:spTree>
      <p:nvGrpSpPr>
        <p:cNvPr id="1" name=""/>
        <p:cNvGrpSpPr/>
        <p:nvPr/>
      </p:nvGrpSpPr>
      <p:grpSpPr>
        <a:xfrm>
          <a:off x="0" y="0"/>
          <a:ext cx="0" cy="0"/>
          <a:chOff x="0" y="0"/>
          <a:chExt cx="0" cy="0"/>
        </a:xfrm>
      </p:grpSpPr>
      <p:sp>
        <p:nvSpPr>
          <p:cNvPr id="4" name="Rectangle 19"/>
          <p:cNvSpPr>
            <a:spLocks noGrp="1" noChangeArrowheads="1"/>
          </p:cNvSpPr>
          <p:nvPr>
            <p:ph type="sldNum" sz="quarter" idx="10"/>
          </p:nvPr>
        </p:nvSpPr>
        <p:spPr/>
        <p:txBody>
          <a:bodyPr/>
          <a:lstStyle>
            <a:lvl1pPr>
              <a:defRPr/>
            </a:lvl1pPr>
          </a:lstStyle>
          <a:p>
            <a:fld id="{D9B6BDF2-6896-4B98-8776-C18582F63BA5}" type="slidenum">
              <a:rPr lang="zh-TW" altLang="en-US" smtClean="0"/>
              <a:t>‹#›</a:t>
            </a:fld>
            <a:endParaRPr lang="zh-TW"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objOnly" preserve="1">
  <p:cSld name="物件">
    <p:spTree>
      <p:nvGrpSpPr>
        <p:cNvPr id="1" name=""/>
        <p:cNvGrpSpPr/>
        <p:nvPr/>
      </p:nvGrpSpPr>
      <p:grpSpPr>
        <a:xfrm>
          <a:off x="0" y="0"/>
          <a:ext cx="0" cy="0"/>
          <a:chOff x="0" y="0"/>
          <a:chExt cx="0" cy="0"/>
        </a:xfrm>
      </p:grpSpPr>
      <p:sp>
        <p:nvSpPr>
          <p:cNvPr id="2" name="內容版面配置區 1"/>
          <p:cNvSpPr>
            <a:spLocks noGrp="1"/>
          </p:cNvSpPr>
          <p:nvPr>
            <p:ph/>
          </p:nvPr>
        </p:nvSpPr>
        <p:spPr>
          <a:xfrm>
            <a:off x="457200" y="54771"/>
            <a:ext cx="8229600" cy="1275160"/>
          </a:xfrm>
        </p:spPr>
        <p:txBody>
          <a:bodyPr/>
          <a:lstStyle/>
          <a:p>
            <a:pPr lvl="0"/>
            <a:r>
              <a:rPr lang="en-US" altLang="zh-TW"/>
              <a:t>Click to edit Master text styles</a:t>
            </a:r>
          </a:p>
          <a:p>
            <a:pPr lvl="1"/>
            <a:r>
              <a:rPr lang="en-US" altLang="zh-TW"/>
              <a:t>Second level</a:t>
            </a:r>
          </a:p>
          <a:p>
            <a:pPr lvl="2"/>
            <a:r>
              <a:rPr lang="en-US" altLang="zh-TW"/>
              <a:t>Third level</a:t>
            </a:r>
          </a:p>
          <a:p>
            <a:pPr lvl="3"/>
            <a:r>
              <a:rPr lang="en-US" altLang="zh-TW"/>
              <a:t>Fourth level</a:t>
            </a:r>
          </a:p>
          <a:p>
            <a:pPr lvl="4"/>
            <a:r>
              <a:rPr lang="en-US" altLang="zh-TW"/>
              <a:t>Fifth level</a:t>
            </a:r>
            <a:endParaRPr lang="zh-TW" altLang="en-US"/>
          </a:p>
        </p:txBody>
      </p:sp>
      <p:sp>
        <p:nvSpPr>
          <p:cNvPr id="3" name="Rectangle 19"/>
          <p:cNvSpPr>
            <a:spLocks noGrp="1" noChangeArrowheads="1"/>
          </p:cNvSpPr>
          <p:nvPr>
            <p:ph type="sldNum" sz="quarter" idx="10"/>
          </p:nvPr>
        </p:nvSpPr>
        <p:spPr/>
        <p:txBody>
          <a:bodyPr/>
          <a:lstStyle>
            <a:lvl1pPr>
              <a:defRPr/>
            </a:lvl1pPr>
          </a:lstStyle>
          <a:p>
            <a:fld id="{D9B6BDF2-6896-4B98-8776-C18582F63BA5}" type="slidenum">
              <a:rPr lang="zh-TW" altLang="en-US" smtClean="0"/>
              <a:t>‹#›</a:t>
            </a:fld>
            <a:endParaRPr lang="zh-TW" alt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標題及表格">
    <p:spTree>
      <p:nvGrpSpPr>
        <p:cNvPr id="1" name=""/>
        <p:cNvGrpSpPr/>
        <p:nvPr/>
      </p:nvGrpSpPr>
      <p:grpSpPr>
        <a:xfrm>
          <a:off x="0" y="0"/>
          <a:ext cx="0" cy="0"/>
          <a:chOff x="0" y="0"/>
          <a:chExt cx="0" cy="0"/>
        </a:xfrm>
      </p:grpSpPr>
      <p:sp>
        <p:nvSpPr>
          <p:cNvPr id="3" name="表格版面配置區 2"/>
          <p:cNvSpPr>
            <a:spLocks noGrp="1"/>
          </p:cNvSpPr>
          <p:nvPr>
            <p:ph type="tbl" idx="1" hasCustomPrompt="1"/>
          </p:nvPr>
        </p:nvSpPr>
        <p:spPr>
          <a:xfrm>
            <a:off x="457200" y="844156"/>
            <a:ext cx="8229600" cy="485775"/>
          </a:xfrm>
        </p:spPr>
        <p:txBody>
          <a:bodyPr/>
          <a:lstStyle/>
          <a:p>
            <a:pPr lvl="0"/>
            <a:r>
              <a:rPr lang="en-US" altLang="zh-TW" noProof="0"/>
              <a:t>Click icon to add table</a:t>
            </a:r>
            <a:endParaRPr lang="zh-TW" altLang="en-US" noProof="0"/>
          </a:p>
        </p:txBody>
      </p:sp>
      <p:sp>
        <p:nvSpPr>
          <p:cNvPr id="4" name="Rectangle 19"/>
          <p:cNvSpPr>
            <a:spLocks noGrp="1" noChangeArrowheads="1"/>
          </p:cNvSpPr>
          <p:nvPr>
            <p:ph type="sldNum" sz="quarter" idx="10"/>
          </p:nvPr>
        </p:nvSpPr>
        <p:spPr/>
        <p:txBody>
          <a:bodyPr/>
          <a:lstStyle>
            <a:lvl1pPr>
              <a:defRPr/>
            </a:lvl1pPr>
          </a:lstStyle>
          <a:p>
            <a:fld id="{D9B6BDF2-6896-4B98-8776-C18582F63BA5}" type="slidenum">
              <a:rPr lang="zh-TW" altLang="en-US" smtClean="0"/>
              <a:t>‹#›</a:t>
            </a:fld>
            <a:endParaRPr lang="zh-TW" altLang="en-US"/>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itle" preserve="1">
  <p:cSld name="1_標題投影片">
    <p:spTree>
      <p:nvGrpSpPr>
        <p:cNvPr id="1" name=""/>
        <p:cNvGrpSpPr/>
        <p:nvPr/>
      </p:nvGrpSpPr>
      <p:grpSpPr>
        <a:xfrm>
          <a:off x="0" y="0"/>
          <a:ext cx="0" cy="0"/>
          <a:chOff x="0" y="0"/>
          <a:chExt cx="0" cy="0"/>
        </a:xfrm>
      </p:grpSpPr>
      <p:sp>
        <p:nvSpPr>
          <p:cNvPr id="2" name="標題 1"/>
          <p:cNvSpPr>
            <a:spLocks noGrp="1"/>
          </p:cNvSpPr>
          <p:nvPr>
            <p:ph type="ctrTitle"/>
          </p:nvPr>
        </p:nvSpPr>
        <p:spPr>
          <a:xfrm>
            <a:off x="685800" y="1597823"/>
            <a:ext cx="7772400" cy="1102519"/>
          </a:xfrm>
        </p:spPr>
        <p:txBody>
          <a:bodyPr/>
          <a:lstStyle>
            <a:lvl1pPr algn="ctr">
              <a:defRPr sz="4000"/>
            </a:lvl1pPr>
          </a:lstStyle>
          <a:p>
            <a:r>
              <a:rPr lang="en-US" altLang="zh-TW"/>
              <a:t>Click to edit Master title style</a:t>
            </a:r>
            <a:endParaRPr lang="zh-TW" altLang="en-US"/>
          </a:p>
        </p:txBody>
      </p:sp>
      <p:sp>
        <p:nvSpPr>
          <p:cNvPr id="3" name="副標題 2"/>
          <p:cNvSpPr>
            <a:spLocks noGrp="1"/>
          </p:cNvSpPr>
          <p:nvPr>
            <p:ph type="subTitle" idx="1"/>
          </p:nvPr>
        </p:nvSpPr>
        <p:spPr>
          <a:xfrm>
            <a:off x="1371600" y="2914650"/>
            <a:ext cx="6400800" cy="1314450"/>
          </a:xfrm>
        </p:spPr>
        <p:txBody>
          <a:bodyPr/>
          <a:lstStyle>
            <a:lvl1pPr marL="0" indent="0" algn="ctr">
              <a:buNone/>
              <a:defRPr/>
            </a:lvl1pPr>
            <a:lvl2pPr marL="342900" indent="0" algn="ctr">
              <a:buNone/>
              <a:defRPr/>
            </a:lvl2pPr>
            <a:lvl3pPr marL="685800" indent="0" algn="ctr">
              <a:buNone/>
              <a:defRPr/>
            </a:lvl3pPr>
            <a:lvl4pPr marL="1028700" indent="0" algn="ctr">
              <a:buNone/>
              <a:defRPr/>
            </a:lvl4pPr>
            <a:lvl5pPr marL="1371600" indent="0" algn="ctr">
              <a:buNone/>
              <a:defRPr/>
            </a:lvl5pPr>
            <a:lvl6pPr marL="1714500" indent="0" algn="ctr">
              <a:buNone/>
              <a:defRPr/>
            </a:lvl6pPr>
            <a:lvl7pPr marL="2057400" indent="0" algn="ctr">
              <a:buNone/>
              <a:defRPr/>
            </a:lvl7pPr>
            <a:lvl8pPr marL="2400300" indent="0" algn="ctr">
              <a:buNone/>
              <a:defRPr/>
            </a:lvl8pPr>
            <a:lvl9pPr marL="2743200" indent="0" algn="ctr">
              <a:buNone/>
              <a:defRPr/>
            </a:lvl9pPr>
          </a:lstStyle>
          <a:p>
            <a:r>
              <a:rPr lang="en-US" altLang="zh-TW"/>
              <a:t>Click to edit Master subtitle style</a:t>
            </a:r>
            <a:endParaRPr lang="zh-TW" altLang="en-US"/>
          </a:p>
        </p:txBody>
      </p:sp>
      <p:sp>
        <p:nvSpPr>
          <p:cNvPr id="4" name="Rectangle 19"/>
          <p:cNvSpPr>
            <a:spLocks noGrp="1" noChangeArrowheads="1"/>
          </p:cNvSpPr>
          <p:nvPr>
            <p:ph type="sldNum" sz="quarter" idx="10"/>
          </p:nvPr>
        </p:nvSpPr>
        <p:spPr/>
        <p:txBody>
          <a:bodyPr/>
          <a:lstStyle>
            <a:lvl1pPr>
              <a:defRPr/>
            </a:lvl1pPr>
          </a:lstStyle>
          <a:p>
            <a:fld id="{D9B6BDF2-6896-4B98-8776-C18582F63BA5}" type="slidenum">
              <a:rPr lang="zh-TW" altLang="en-US" smtClean="0"/>
              <a:t>‹#›</a:t>
            </a:fld>
            <a:endParaRPr lang="zh-TW" alt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image" Target="../media/image3.png"/><Relationship Id="rId2" Type="http://schemas.openxmlformats.org/officeDocument/2006/relationships/slideLayout" Target="../slideLayouts/slideLayout2.xml"/><Relationship Id="rId16" Type="http://schemas.openxmlformats.org/officeDocument/2006/relationships/image" Target="../media/image2.jpe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1.pn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027" name="Rectangle 17"/>
          <p:cNvSpPr>
            <a:spLocks noGrp="1" noChangeArrowheads="1"/>
          </p:cNvSpPr>
          <p:nvPr>
            <p:ph type="title"/>
          </p:nvPr>
        </p:nvSpPr>
        <p:spPr bwMode="auto">
          <a:xfrm>
            <a:off x="787401" y="108349"/>
            <a:ext cx="7888289" cy="519113"/>
          </a:xfrm>
          <a:prstGeom prst="rect">
            <a:avLst/>
          </a:prstGeom>
          <a:noFill/>
          <a:ln w="9525">
            <a:noFill/>
            <a:miter lim="800000"/>
          </a:ln>
        </p:spPr>
        <p:txBody>
          <a:bodyPr vert="horz" wrap="square" lIns="91440" tIns="45720" rIns="91440" bIns="45720" numCol="1" anchor="ctr" anchorCtr="0" compatLnSpc="1"/>
          <a:lstStyle/>
          <a:p>
            <a:pPr lvl="0"/>
            <a:r>
              <a:rPr lang="zh-TW" altLang="en-US" dirty="0"/>
              <a:t>按一下以編輯母片標題樣式</a:t>
            </a:r>
          </a:p>
        </p:txBody>
      </p:sp>
      <p:sp>
        <p:nvSpPr>
          <p:cNvPr id="1028" name="Rectangle 18"/>
          <p:cNvSpPr>
            <a:spLocks noGrp="1" noChangeArrowheads="1"/>
          </p:cNvSpPr>
          <p:nvPr>
            <p:ph type="body" idx="1"/>
          </p:nvPr>
        </p:nvSpPr>
        <p:spPr bwMode="auto">
          <a:xfrm>
            <a:off x="457200" y="844153"/>
            <a:ext cx="8229600" cy="3671888"/>
          </a:xfrm>
          <a:prstGeom prst="rect">
            <a:avLst/>
          </a:prstGeom>
          <a:noFill/>
          <a:ln w="9525">
            <a:noFill/>
            <a:miter lim="800000"/>
          </a:ln>
        </p:spPr>
        <p:txBody>
          <a:bodyPr vert="horz" wrap="square" lIns="91440" tIns="45720" rIns="91440" bIns="45720" numCol="1" anchor="t" anchorCtr="0" compatLnSpc="1"/>
          <a:lstStyle/>
          <a:p>
            <a:pPr lvl="0"/>
            <a:r>
              <a:rPr lang="zh-TW" altLang="en-US" dirty="0"/>
              <a:t>按一下以編輯母片</a:t>
            </a:r>
          </a:p>
          <a:p>
            <a:pPr lvl="1"/>
            <a:r>
              <a:rPr lang="zh-TW" altLang="en-US" dirty="0"/>
              <a:t>按一下以編輯母片</a:t>
            </a:r>
          </a:p>
          <a:p>
            <a:pPr lvl="1"/>
            <a:endParaRPr lang="zh-TW" altLang="en-US" dirty="0"/>
          </a:p>
          <a:p>
            <a:pPr lvl="0"/>
            <a:endParaRPr lang="en-US" altLang="zh-TW" dirty="0"/>
          </a:p>
        </p:txBody>
      </p:sp>
      <p:pic>
        <p:nvPicPr>
          <p:cNvPr id="1029" name="Picture 25" descr="name"/>
          <p:cNvPicPr>
            <a:picLocks noChangeAspect="1" noChangeArrowheads="1"/>
          </p:cNvPicPr>
          <p:nvPr/>
        </p:nvPicPr>
        <p:blipFill>
          <a:blip r:embed="rId15" cstate="print"/>
          <a:srcRect/>
          <a:stretch>
            <a:fillRect/>
          </a:stretch>
        </p:blipFill>
        <p:spPr bwMode="auto">
          <a:xfrm>
            <a:off x="2" y="4768455"/>
            <a:ext cx="3833813" cy="148828"/>
          </a:xfrm>
          <a:prstGeom prst="rect">
            <a:avLst/>
          </a:prstGeom>
          <a:noFill/>
          <a:ln w="9525">
            <a:noFill/>
            <a:miter lim="800000"/>
            <a:headEnd/>
            <a:tailEnd/>
          </a:ln>
        </p:spPr>
      </p:pic>
      <p:sp>
        <p:nvSpPr>
          <p:cNvPr id="8" name="矩形 7"/>
          <p:cNvSpPr/>
          <p:nvPr/>
        </p:nvSpPr>
        <p:spPr>
          <a:xfrm>
            <a:off x="569246" y="4936332"/>
            <a:ext cx="2731837" cy="230832"/>
          </a:xfrm>
          <a:prstGeom prst="rect">
            <a:avLst/>
          </a:prstGeom>
        </p:spPr>
        <p:txBody>
          <a:bodyPr wrap="none">
            <a:spAutoFit/>
          </a:bodyPr>
          <a:lstStyle/>
          <a:p>
            <a:pPr algn="ctr">
              <a:defRPr/>
            </a:pPr>
            <a:r>
              <a:rPr lang="en-US" sz="900" b="1" dirty="0">
                <a:solidFill>
                  <a:schemeClr val="bg1"/>
                </a:solidFill>
                <a:latin typeface="Arial" panose="020B0604020202020204" pitchFamily="34" charset="0"/>
                <a:ea typeface="PMingLiU" panose="02020500000000000000" pitchFamily="18" charset="-120"/>
                <a:cs typeface="Arial" panose="020B0604020202020204" pitchFamily="34" charset="0"/>
              </a:rPr>
              <a:t>National Tsing Hua University ® copyright OIA</a:t>
            </a:r>
            <a:endParaRPr lang="zh-TW" altLang="en-US" sz="900" b="1" dirty="0">
              <a:solidFill>
                <a:schemeClr val="bg1"/>
              </a:solidFill>
              <a:latin typeface="Arial" panose="020B0604020202020204" pitchFamily="34" charset="0"/>
              <a:ea typeface="PMingLiU" panose="02020500000000000000" pitchFamily="18" charset="-120"/>
              <a:cs typeface="Arial" panose="020B0604020202020204" pitchFamily="34" charset="0"/>
            </a:endParaRPr>
          </a:p>
        </p:txBody>
      </p:sp>
      <p:sp>
        <p:nvSpPr>
          <p:cNvPr id="4105" name="Rectangle 9"/>
          <p:cNvSpPr>
            <a:spLocks noChangeArrowheads="1"/>
          </p:cNvSpPr>
          <p:nvPr/>
        </p:nvSpPr>
        <p:spPr bwMode="auto">
          <a:xfrm>
            <a:off x="0" y="681041"/>
            <a:ext cx="9144000" cy="108347"/>
          </a:xfrm>
          <a:prstGeom prst="rect">
            <a:avLst/>
          </a:prstGeom>
          <a:solidFill>
            <a:srgbClr val="633869"/>
          </a:solidFill>
          <a:ln w="15875">
            <a:noFill/>
            <a:miter lim="800000"/>
          </a:ln>
          <a:effectLst/>
        </p:spPr>
        <p:txBody>
          <a:bodyPr wrap="none" anchor="ctr"/>
          <a:lstStyle/>
          <a:p>
            <a:pPr>
              <a:defRPr/>
            </a:pPr>
            <a:endParaRPr lang="zh-TW" altLang="en-US" sz="1350">
              <a:ea typeface="PMingLiU" panose="02020500000000000000" pitchFamily="18" charset="-120"/>
            </a:endParaRPr>
          </a:p>
        </p:txBody>
      </p:sp>
      <p:sp>
        <p:nvSpPr>
          <p:cNvPr id="4106" name="Rectangle 10"/>
          <p:cNvSpPr>
            <a:spLocks noChangeArrowheads="1"/>
          </p:cNvSpPr>
          <p:nvPr userDrawn="1"/>
        </p:nvSpPr>
        <p:spPr bwMode="auto">
          <a:xfrm>
            <a:off x="0" y="4624387"/>
            <a:ext cx="9144000" cy="539354"/>
          </a:xfrm>
          <a:prstGeom prst="rect">
            <a:avLst/>
          </a:prstGeom>
          <a:solidFill>
            <a:srgbClr val="633869"/>
          </a:solidFill>
          <a:ln w="15875">
            <a:noFill/>
            <a:miter lim="800000"/>
          </a:ln>
          <a:effectLst/>
        </p:spPr>
        <p:txBody>
          <a:bodyPr wrap="none" anchor="ctr"/>
          <a:lstStyle/>
          <a:p>
            <a:pPr>
              <a:defRPr/>
            </a:pPr>
            <a:endParaRPr lang="zh-TW" altLang="en-US" sz="1350">
              <a:ea typeface="PMingLiU" panose="02020500000000000000" pitchFamily="18" charset="-120"/>
            </a:endParaRPr>
          </a:p>
        </p:txBody>
      </p:sp>
      <p:sp>
        <p:nvSpPr>
          <p:cNvPr id="1043" name="Rectangle 19"/>
          <p:cNvSpPr>
            <a:spLocks noGrp="1" noChangeArrowheads="1"/>
          </p:cNvSpPr>
          <p:nvPr>
            <p:ph type="sldNum" sz="quarter" idx="4"/>
          </p:nvPr>
        </p:nvSpPr>
        <p:spPr bwMode="auto">
          <a:xfrm>
            <a:off x="6831013" y="4893471"/>
            <a:ext cx="2133600" cy="254794"/>
          </a:xfrm>
          <a:prstGeom prst="rect">
            <a:avLst/>
          </a:prstGeom>
          <a:noFill/>
          <a:ln w="9525">
            <a:noFill/>
            <a:miter lim="800000"/>
          </a:ln>
          <a:effectLst/>
        </p:spPr>
        <p:txBody>
          <a:bodyPr vert="horz" wrap="square" lIns="91440" tIns="45720" rIns="91440" bIns="45720" numCol="1" anchor="t" anchorCtr="0" compatLnSpc="1"/>
          <a:lstStyle>
            <a:lvl1pPr algn="r">
              <a:defRPr sz="900">
                <a:solidFill>
                  <a:schemeClr val="bg1"/>
                </a:solidFill>
                <a:latin typeface="Arial" panose="020B0604020202020204" pitchFamily="34" charset="0"/>
                <a:ea typeface="PMingLiU" panose="02020500000000000000" pitchFamily="18" charset="-120"/>
              </a:defRPr>
            </a:lvl1pPr>
          </a:lstStyle>
          <a:p>
            <a:fld id="{D9B6BDF2-6896-4B98-8776-C18582F63BA5}" type="slidenum">
              <a:rPr lang="zh-TW" altLang="en-US" smtClean="0"/>
              <a:t>‹#›</a:t>
            </a:fld>
            <a:endParaRPr lang="zh-TW" altLang="en-US"/>
          </a:p>
        </p:txBody>
      </p:sp>
      <p:pic>
        <p:nvPicPr>
          <p:cNvPr id="7" name="圖片 6"/>
          <p:cNvPicPr>
            <a:picLocks noChangeAspect="1"/>
          </p:cNvPicPr>
          <p:nvPr userDrawn="1"/>
        </p:nvPicPr>
        <p:blipFill>
          <a:blip r:embed="rId16">
            <a:extLst>
              <a:ext uri="{28A0092B-C50C-407E-A947-70E740481C1C}">
                <a14:useLocalDpi xmlns:a14="http://schemas.microsoft.com/office/drawing/2010/main" val="0"/>
              </a:ext>
            </a:extLst>
          </a:blip>
          <a:stretch>
            <a:fillRect/>
          </a:stretch>
        </p:blipFill>
        <p:spPr>
          <a:xfrm>
            <a:off x="35060" y="96457"/>
            <a:ext cx="888965" cy="518914"/>
          </a:xfrm>
          <a:prstGeom prst="rect">
            <a:avLst/>
          </a:prstGeom>
        </p:spPr>
      </p:pic>
      <p:pic>
        <p:nvPicPr>
          <p:cNvPr id="12" name="圖片 11"/>
          <p:cNvPicPr>
            <a:picLocks noChangeAspect="1"/>
          </p:cNvPicPr>
          <p:nvPr userDrawn="1"/>
        </p:nvPicPr>
        <p:blipFill>
          <a:blip r:embed="rId17" cstate="print">
            <a:extLst>
              <a:ext uri="{28A0092B-C50C-407E-A947-70E740481C1C}">
                <a14:useLocalDpi xmlns:a14="http://schemas.microsoft.com/office/drawing/2010/main" val="0"/>
              </a:ext>
            </a:extLst>
          </a:blip>
          <a:stretch>
            <a:fillRect/>
          </a:stretch>
        </p:blipFill>
        <p:spPr>
          <a:xfrm>
            <a:off x="46309" y="4683590"/>
            <a:ext cx="741091" cy="427061"/>
          </a:xfrm>
          <a:prstGeom prst="rect">
            <a:avLst/>
          </a:prstGeom>
        </p:spPr>
      </p:pic>
      <p:sp>
        <p:nvSpPr>
          <p:cNvPr id="14" name="矩形 14">
            <a:extLst>
              <a:ext uri="{FF2B5EF4-FFF2-40B4-BE49-F238E27FC236}">
                <a16:creationId xmlns:a16="http://schemas.microsoft.com/office/drawing/2014/main" id="{562F709C-A922-4C31-9729-F430EF61FF0B}"/>
              </a:ext>
            </a:extLst>
          </p:cNvPr>
          <p:cNvSpPr/>
          <p:nvPr userDrawn="1"/>
        </p:nvSpPr>
        <p:spPr>
          <a:xfrm>
            <a:off x="694904" y="4678027"/>
            <a:ext cx="2731837" cy="430887"/>
          </a:xfrm>
          <a:prstGeom prst="rect">
            <a:avLst/>
          </a:prstGeom>
        </p:spPr>
        <p:txBody>
          <a:bodyPr wrap="square">
            <a:spAutoFit/>
          </a:bodyPr>
          <a:lstStyle/>
          <a:p>
            <a:pPr algn="ctr">
              <a:spcAft>
                <a:spcPts val="0"/>
              </a:spcAft>
            </a:pPr>
            <a:r>
              <a:rPr lang="zh-CN" altLang="zh-TW" sz="1200" kern="100" dirty="0">
                <a:solidFill>
                  <a:schemeClr val="bg1"/>
                </a:solidFill>
                <a:latin typeface="华文楷体" panose="02010600040101010101" pitchFamily="2" charset="-122"/>
                <a:ea typeface="华文楷体" panose="02010600040101010101" pitchFamily="2" charset="-122"/>
                <a:cs typeface="Times New Roman" panose="02020603050405020304" pitchFamily="18" charset="0"/>
              </a:rPr>
              <a:t>香港中文大学（深圳）数据科学</a:t>
            </a:r>
            <a:r>
              <a:rPr kumimoji="0" lang="zh-CN" altLang="zh-TW" sz="1200" b="0" i="0" u="none" strike="noStrike" kern="100" cap="none" spc="0" normalizeH="0" baseline="0" noProof="0" dirty="0">
                <a:ln>
                  <a:noFill/>
                </a:ln>
                <a:solidFill>
                  <a:prstClr val="white"/>
                </a:solidFill>
                <a:effectLst/>
                <a:uLnTx/>
                <a:uFillTx/>
                <a:latin typeface="华文楷体" panose="02010600040101010101" pitchFamily="2" charset="-122"/>
                <a:ea typeface="华文楷体" panose="02010600040101010101" pitchFamily="2" charset="-122"/>
                <a:cs typeface="Times New Roman" panose="02020603050405020304" pitchFamily="18" charset="0"/>
              </a:rPr>
              <a:t>学</a:t>
            </a:r>
            <a:r>
              <a:rPr lang="zh-CN" altLang="zh-TW" sz="1200" kern="100" dirty="0">
                <a:solidFill>
                  <a:schemeClr val="bg1"/>
                </a:solidFill>
                <a:latin typeface="华文楷体" panose="02010600040101010101" pitchFamily="2" charset="-122"/>
                <a:ea typeface="华文楷体" panose="02010600040101010101" pitchFamily="2" charset="-122"/>
                <a:cs typeface="Times New Roman" panose="02020603050405020304" pitchFamily="18" charset="0"/>
              </a:rPr>
              <a:t>院</a:t>
            </a:r>
            <a:endParaRPr lang="zh-TW" altLang="zh-TW" sz="1200" kern="100" dirty="0">
              <a:solidFill>
                <a:schemeClr val="bg1"/>
              </a:solidFill>
              <a:latin typeface="华文楷体" panose="02010600040101010101" pitchFamily="2" charset="-122"/>
              <a:ea typeface="华文楷体" panose="02010600040101010101" pitchFamily="2" charset="-122"/>
              <a:cs typeface="Times New Roman" panose="02020603050405020304" pitchFamily="18" charset="0"/>
            </a:endParaRPr>
          </a:p>
          <a:p>
            <a:pPr algn="ctr">
              <a:spcAft>
                <a:spcPts val="0"/>
              </a:spcAft>
            </a:pPr>
            <a:r>
              <a:rPr lang="en-US" altLang="zh-TW" sz="1000" kern="100" dirty="0">
                <a:solidFill>
                  <a:schemeClr val="bg1"/>
                </a:solidFill>
                <a:latin typeface="Times New Roman" panose="02020603050405020304" pitchFamily="18" charset="0"/>
                <a:ea typeface="標楷體" panose="03000509000000000000" pitchFamily="65" charset="-120"/>
                <a:cs typeface="Times New Roman" panose="02020603050405020304" pitchFamily="18" charset="0"/>
              </a:rPr>
              <a:t>CUHK</a:t>
            </a:r>
            <a:r>
              <a:rPr lang="en-US" altLang="zh-TW" sz="1000" kern="100" dirty="0">
                <a:solidFill>
                  <a:schemeClr val="bg1"/>
                </a:solidFill>
                <a:latin typeface="Times New Roman" panose="02020603050405020304" pitchFamily="18" charset="0"/>
                <a:ea typeface="DengXian"/>
                <a:cs typeface="Times New Roman" panose="02020603050405020304" pitchFamily="18" charset="0"/>
              </a:rPr>
              <a:t>-SZ Sc</a:t>
            </a:r>
            <a:r>
              <a:rPr lang="en-US" altLang="zh-TW" sz="1000" kern="100" dirty="0">
                <a:solidFill>
                  <a:schemeClr val="bg1"/>
                </a:solidFill>
                <a:latin typeface="Times New Roman" panose="02020603050405020304" pitchFamily="18" charset="0"/>
                <a:ea typeface="標楷體" panose="03000509000000000000" pitchFamily="65" charset="-120"/>
                <a:cs typeface="Times New Roman" panose="02020603050405020304" pitchFamily="18" charset="0"/>
              </a:rPr>
              <a:t>hool of Data Science</a:t>
            </a:r>
            <a:endParaRPr lang="zh-TW" altLang="zh-TW" sz="1000" kern="100" dirty="0">
              <a:solidFill>
                <a:schemeClr val="bg1"/>
              </a:solidFill>
              <a:latin typeface="Calibri" panose="020F0502020204030204" pitchFamily="34" charset="0"/>
              <a:ea typeface="新細明體" panose="02020500000000000000" pitchFamily="18" charset="-120"/>
              <a:cs typeface="Times New Roman" panose="02020603050405020304" pitchFamily="18" charset="0"/>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Lst>
  <p:hf hdr="0" ftr="0" dt="0"/>
  <p:txStyles>
    <p:titleStyle>
      <a:lvl1pPr algn="l" rtl="0" eaLnBrk="1" fontAlgn="base" hangingPunct="1">
        <a:spcBef>
          <a:spcPct val="0"/>
        </a:spcBef>
        <a:spcAft>
          <a:spcPct val="0"/>
        </a:spcAft>
        <a:defRPr kumimoji="1" sz="3600" b="1">
          <a:solidFill>
            <a:schemeClr val="tx2"/>
          </a:solidFill>
          <a:latin typeface="Calibri" panose="020F0502020204030204" pitchFamily="34" charset="0"/>
          <a:ea typeface="標楷體" pitchFamily="65" charset="-120"/>
          <a:cs typeface="+mj-cs"/>
        </a:defRPr>
      </a:lvl1pPr>
      <a:lvl2pPr algn="l" rtl="0" eaLnBrk="1" fontAlgn="base" hangingPunct="1">
        <a:spcBef>
          <a:spcPct val="0"/>
        </a:spcBef>
        <a:spcAft>
          <a:spcPct val="0"/>
        </a:spcAft>
        <a:defRPr kumimoji="1" sz="2700" b="1">
          <a:solidFill>
            <a:schemeClr val="tx2"/>
          </a:solidFill>
          <a:latin typeface="Calibri" panose="020F0502020204030204" pitchFamily="34" charset="0"/>
          <a:ea typeface="標楷體" pitchFamily="65" charset="-120"/>
          <a:cs typeface="MS Sans Serif"/>
        </a:defRPr>
      </a:lvl2pPr>
      <a:lvl3pPr algn="l" rtl="0" eaLnBrk="1" fontAlgn="base" hangingPunct="1">
        <a:spcBef>
          <a:spcPct val="0"/>
        </a:spcBef>
        <a:spcAft>
          <a:spcPct val="0"/>
        </a:spcAft>
        <a:defRPr kumimoji="1" sz="2700" b="1">
          <a:solidFill>
            <a:schemeClr val="tx2"/>
          </a:solidFill>
          <a:latin typeface="Calibri" panose="020F0502020204030204" pitchFamily="34" charset="0"/>
          <a:ea typeface="標楷體" pitchFamily="65" charset="-120"/>
          <a:cs typeface="MS Sans Serif"/>
        </a:defRPr>
      </a:lvl3pPr>
      <a:lvl4pPr algn="l" rtl="0" eaLnBrk="1" fontAlgn="base" hangingPunct="1">
        <a:spcBef>
          <a:spcPct val="0"/>
        </a:spcBef>
        <a:spcAft>
          <a:spcPct val="0"/>
        </a:spcAft>
        <a:defRPr kumimoji="1" sz="2700" b="1">
          <a:solidFill>
            <a:schemeClr val="tx2"/>
          </a:solidFill>
          <a:latin typeface="Calibri" panose="020F0502020204030204" pitchFamily="34" charset="0"/>
          <a:ea typeface="標楷體" pitchFamily="65" charset="-120"/>
          <a:cs typeface="MS Sans Serif"/>
        </a:defRPr>
      </a:lvl4pPr>
      <a:lvl5pPr algn="l" rtl="0" eaLnBrk="1" fontAlgn="base" hangingPunct="1">
        <a:spcBef>
          <a:spcPct val="0"/>
        </a:spcBef>
        <a:spcAft>
          <a:spcPct val="0"/>
        </a:spcAft>
        <a:defRPr kumimoji="1" sz="2700" b="1">
          <a:solidFill>
            <a:schemeClr val="tx2"/>
          </a:solidFill>
          <a:latin typeface="Calibri" panose="020F0502020204030204" pitchFamily="34" charset="0"/>
          <a:ea typeface="標楷體" pitchFamily="65" charset="-120"/>
          <a:cs typeface="MS Sans Serif"/>
        </a:defRPr>
      </a:lvl5pPr>
      <a:lvl6pPr marL="342900" algn="l" rtl="0" eaLnBrk="1" fontAlgn="base" hangingPunct="1">
        <a:spcBef>
          <a:spcPct val="0"/>
        </a:spcBef>
        <a:spcAft>
          <a:spcPct val="0"/>
        </a:spcAft>
        <a:defRPr kumimoji="1" sz="2250" b="1">
          <a:solidFill>
            <a:schemeClr val="tx2"/>
          </a:solidFill>
          <a:latin typeface="MS Sans Serif"/>
          <a:ea typeface="MS Sans Serif"/>
          <a:cs typeface="MS Sans Serif"/>
        </a:defRPr>
      </a:lvl6pPr>
      <a:lvl7pPr marL="685800" algn="l" rtl="0" eaLnBrk="1" fontAlgn="base" hangingPunct="1">
        <a:spcBef>
          <a:spcPct val="0"/>
        </a:spcBef>
        <a:spcAft>
          <a:spcPct val="0"/>
        </a:spcAft>
        <a:defRPr kumimoji="1" sz="2250" b="1">
          <a:solidFill>
            <a:schemeClr val="tx2"/>
          </a:solidFill>
          <a:latin typeface="MS Sans Serif"/>
          <a:ea typeface="MS Sans Serif"/>
          <a:cs typeface="MS Sans Serif"/>
        </a:defRPr>
      </a:lvl7pPr>
      <a:lvl8pPr marL="1028700" algn="l" rtl="0" eaLnBrk="1" fontAlgn="base" hangingPunct="1">
        <a:spcBef>
          <a:spcPct val="0"/>
        </a:spcBef>
        <a:spcAft>
          <a:spcPct val="0"/>
        </a:spcAft>
        <a:defRPr kumimoji="1" sz="2250" b="1">
          <a:solidFill>
            <a:schemeClr val="tx2"/>
          </a:solidFill>
          <a:latin typeface="MS Sans Serif"/>
          <a:ea typeface="MS Sans Serif"/>
          <a:cs typeface="MS Sans Serif"/>
        </a:defRPr>
      </a:lvl8pPr>
      <a:lvl9pPr marL="1371600" algn="l" rtl="0" eaLnBrk="1" fontAlgn="base" hangingPunct="1">
        <a:spcBef>
          <a:spcPct val="0"/>
        </a:spcBef>
        <a:spcAft>
          <a:spcPct val="0"/>
        </a:spcAft>
        <a:defRPr kumimoji="1" sz="2250" b="1">
          <a:solidFill>
            <a:schemeClr val="tx2"/>
          </a:solidFill>
          <a:latin typeface="MS Sans Serif"/>
          <a:ea typeface="MS Sans Serif"/>
          <a:cs typeface="MS Sans Serif"/>
        </a:defRPr>
      </a:lvl9pPr>
    </p:titleStyle>
    <p:bodyStyle>
      <a:lvl1pPr marL="257175" indent="-257175" algn="l" rtl="0" eaLnBrk="1" fontAlgn="base" hangingPunct="1">
        <a:spcBef>
          <a:spcPct val="20000"/>
        </a:spcBef>
        <a:spcAft>
          <a:spcPct val="0"/>
        </a:spcAft>
        <a:buClr>
          <a:srgbClr val="8064A2"/>
        </a:buClr>
        <a:buSzPct val="80000"/>
        <a:buFont typeface="Wingdings" panose="05000000000000000000" pitchFamily="2" charset="2"/>
        <a:buChar char="l"/>
        <a:defRPr kumimoji="1" sz="2800">
          <a:solidFill>
            <a:schemeClr val="tx1"/>
          </a:solidFill>
          <a:latin typeface="Calibri" panose="020F0502020204030204" pitchFamily="34" charset="0"/>
          <a:ea typeface="標楷體" pitchFamily="65" charset="-120"/>
          <a:cs typeface="+mn-cs"/>
        </a:defRPr>
      </a:lvl1pPr>
      <a:lvl2pPr marL="556895" indent="-213995" algn="l" rtl="0" eaLnBrk="1" fontAlgn="base" hangingPunct="1">
        <a:spcBef>
          <a:spcPct val="20000"/>
        </a:spcBef>
        <a:spcAft>
          <a:spcPct val="0"/>
        </a:spcAft>
        <a:buClr>
          <a:srgbClr val="8064A2"/>
        </a:buClr>
        <a:buSzPct val="90000"/>
        <a:buFont typeface="Arial" panose="020B0604020202020204" pitchFamily="34" charset="0"/>
        <a:buChar char="–"/>
        <a:defRPr kumimoji="1" sz="2400">
          <a:solidFill>
            <a:schemeClr val="tx1"/>
          </a:solidFill>
          <a:latin typeface="Calibri" panose="020F0502020204030204" pitchFamily="34" charset="0"/>
          <a:ea typeface="標楷體" pitchFamily="65" charset="-120"/>
        </a:defRPr>
      </a:lvl2pPr>
      <a:lvl3pPr marL="857250" indent="-171450" algn="l" rtl="0" eaLnBrk="1" fontAlgn="base" hangingPunct="1">
        <a:spcBef>
          <a:spcPct val="20000"/>
        </a:spcBef>
        <a:spcAft>
          <a:spcPct val="0"/>
        </a:spcAft>
        <a:buChar char="•"/>
        <a:defRPr kumimoji="1" sz="1800">
          <a:solidFill>
            <a:schemeClr val="tx1"/>
          </a:solidFill>
          <a:latin typeface="+mn-lt"/>
          <a:ea typeface="+mn-ea"/>
        </a:defRPr>
      </a:lvl3pPr>
      <a:lvl4pPr marL="1200150" indent="-171450" algn="l" rtl="0" eaLnBrk="1" fontAlgn="base" hangingPunct="1">
        <a:spcBef>
          <a:spcPct val="20000"/>
        </a:spcBef>
        <a:spcAft>
          <a:spcPct val="0"/>
        </a:spcAft>
        <a:buChar char="–"/>
        <a:defRPr kumimoji="1" sz="1500">
          <a:solidFill>
            <a:schemeClr val="tx1"/>
          </a:solidFill>
          <a:latin typeface="+mn-lt"/>
          <a:ea typeface="+mn-ea"/>
        </a:defRPr>
      </a:lvl4pPr>
      <a:lvl5pPr marL="1543050" indent="-171450" algn="l" rtl="0" eaLnBrk="1" fontAlgn="base" hangingPunct="1">
        <a:spcBef>
          <a:spcPct val="20000"/>
        </a:spcBef>
        <a:spcAft>
          <a:spcPct val="0"/>
        </a:spcAft>
        <a:buChar char="»"/>
        <a:defRPr kumimoji="1" sz="1500">
          <a:solidFill>
            <a:schemeClr val="tx1"/>
          </a:solidFill>
          <a:latin typeface="+mn-lt"/>
          <a:ea typeface="+mn-ea"/>
        </a:defRPr>
      </a:lvl5pPr>
      <a:lvl6pPr marL="1885950" indent="-171450" algn="l" rtl="0" eaLnBrk="1" fontAlgn="base" hangingPunct="1">
        <a:spcBef>
          <a:spcPct val="20000"/>
        </a:spcBef>
        <a:spcAft>
          <a:spcPct val="0"/>
        </a:spcAft>
        <a:buChar char="»"/>
        <a:defRPr kumimoji="1" sz="1500">
          <a:solidFill>
            <a:schemeClr val="tx1"/>
          </a:solidFill>
          <a:latin typeface="+mn-lt"/>
          <a:ea typeface="+mn-ea"/>
        </a:defRPr>
      </a:lvl6pPr>
      <a:lvl7pPr marL="2228850" indent="-171450" algn="l" rtl="0" eaLnBrk="1" fontAlgn="base" hangingPunct="1">
        <a:spcBef>
          <a:spcPct val="20000"/>
        </a:spcBef>
        <a:spcAft>
          <a:spcPct val="0"/>
        </a:spcAft>
        <a:buChar char="»"/>
        <a:defRPr kumimoji="1" sz="1500">
          <a:solidFill>
            <a:schemeClr val="tx1"/>
          </a:solidFill>
          <a:latin typeface="+mn-lt"/>
          <a:ea typeface="+mn-ea"/>
        </a:defRPr>
      </a:lvl7pPr>
      <a:lvl8pPr marL="2571750" indent="-171450" algn="l" rtl="0" eaLnBrk="1" fontAlgn="base" hangingPunct="1">
        <a:spcBef>
          <a:spcPct val="20000"/>
        </a:spcBef>
        <a:spcAft>
          <a:spcPct val="0"/>
        </a:spcAft>
        <a:buChar char="»"/>
        <a:defRPr kumimoji="1" sz="1500">
          <a:solidFill>
            <a:schemeClr val="tx1"/>
          </a:solidFill>
          <a:latin typeface="+mn-lt"/>
          <a:ea typeface="+mn-ea"/>
        </a:defRPr>
      </a:lvl8pPr>
      <a:lvl9pPr marL="2914650" indent="-171450" algn="l" rtl="0" eaLnBrk="1" fontAlgn="base" hangingPunct="1">
        <a:spcBef>
          <a:spcPct val="20000"/>
        </a:spcBef>
        <a:spcAft>
          <a:spcPct val="0"/>
        </a:spcAft>
        <a:buChar char="»"/>
        <a:defRPr kumimoji="1" sz="1500">
          <a:solidFill>
            <a:schemeClr val="tx1"/>
          </a:solidFill>
          <a:latin typeface="+mn-lt"/>
          <a:ea typeface="+mn-ea"/>
        </a:defRPr>
      </a:lvl9pPr>
    </p:bodyStyle>
    <p:otherStyle>
      <a:defPPr>
        <a:defRPr lang="zh-TW"/>
      </a:defPPr>
      <a:lvl1pPr marL="0" algn="l" defTabSz="685165" rtl="0" eaLnBrk="1" latinLnBrk="0" hangingPunct="1">
        <a:defRPr sz="1350" kern="1200">
          <a:solidFill>
            <a:schemeClr val="tx1"/>
          </a:solidFill>
          <a:latin typeface="+mn-lt"/>
          <a:ea typeface="+mn-ea"/>
          <a:cs typeface="+mn-cs"/>
        </a:defRPr>
      </a:lvl1pPr>
      <a:lvl2pPr marL="342900" algn="l" defTabSz="685165" rtl="0" eaLnBrk="1" latinLnBrk="0" hangingPunct="1">
        <a:defRPr sz="1350" kern="1200">
          <a:solidFill>
            <a:schemeClr val="tx1"/>
          </a:solidFill>
          <a:latin typeface="+mn-lt"/>
          <a:ea typeface="+mn-ea"/>
          <a:cs typeface="+mn-cs"/>
        </a:defRPr>
      </a:lvl2pPr>
      <a:lvl3pPr marL="685800" algn="l" defTabSz="685165" rtl="0" eaLnBrk="1" latinLnBrk="0" hangingPunct="1">
        <a:defRPr sz="1350" kern="1200">
          <a:solidFill>
            <a:schemeClr val="tx1"/>
          </a:solidFill>
          <a:latin typeface="+mn-lt"/>
          <a:ea typeface="+mn-ea"/>
          <a:cs typeface="+mn-cs"/>
        </a:defRPr>
      </a:lvl3pPr>
      <a:lvl4pPr marL="1028700" algn="l" defTabSz="685165" rtl="0" eaLnBrk="1" latinLnBrk="0" hangingPunct="1">
        <a:defRPr sz="1350" kern="1200">
          <a:solidFill>
            <a:schemeClr val="tx1"/>
          </a:solidFill>
          <a:latin typeface="+mn-lt"/>
          <a:ea typeface="+mn-ea"/>
          <a:cs typeface="+mn-cs"/>
        </a:defRPr>
      </a:lvl4pPr>
      <a:lvl5pPr marL="1371600" algn="l" defTabSz="685165" rtl="0" eaLnBrk="1" latinLnBrk="0" hangingPunct="1">
        <a:defRPr sz="1350" kern="1200">
          <a:solidFill>
            <a:schemeClr val="tx1"/>
          </a:solidFill>
          <a:latin typeface="+mn-lt"/>
          <a:ea typeface="+mn-ea"/>
          <a:cs typeface="+mn-cs"/>
        </a:defRPr>
      </a:lvl5pPr>
      <a:lvl6pPr marL="1714500" algn="l" defTabSz="685165" rtl="0" eaLnBrk="1" latinLnBrk="0" hangingPunct="1">
        <a:defRPr sz="1350" kern="1200">
          <a:solidFill>
            <a:schemeClr val="tx1"/>
          </a:solidFill>
          <a:latin typeface="+mn-lt"/>
          <a:ea typeface="+mn-ea"/>
          <a:cs typeface="+mn-cs"/>
        </a:defRPr>
      </a:lvl6pPr>
      <a:lvl7pPr marL="2057400" algn="l" defTabSz="685165" rtl="0" eaLnBrk="1" latinLnBrk="0" hangingPunct="1">
        <a:defRPr sz="1350" kern="1200">
          <a:solidFill>
            <a:schemeClr val="tx1"/>
          </a:solidFill>
          <a:latin typeface="+mn-lt"/>
          <a:ea typeface="+mn-ea"/>
          <a:cs typeface="+mn-cs"/>
        </a:defRPr>
      </a:lvl7pPr>
      <a:lvl8pPr marL="2400300" algn="l" defTabSz="685165" rtl="0" eaLnBrk="1" latinLnBrk="0" hangingPunct="1">
        <a:defRPr sz="1350" kern="1200">
          <a:solidFill>
            <a:schemeClr val="tx1"/>
          </a:solidFill>
          <a:latin typeface="+mn-lt"/>
          <a:ea typeface="+mn-ea"/>
          <a:cs typeface="+mn-cs"/>
        </a:defRPr>
      </a:lvl8pPr>
      <a:lvl9pPr marL="2743200" algn="l" defTabSz="685165"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3.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1.xml"/><Relationship Id="rId1" Type="http://schemas.openxmlformats.org/officeDocument/2006/relationships/tags" Target="../tags/tag1.xml"/></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6.xml"/><Relationship Id="rId7" Type="http://schemas.openxmlformats.org/officeDocument/2006/relationships/image" Target="../media/image5.wmf"/><Relationship Id="rId2" Type="http://schemas.openxmlformats.org/officeDocument/2006/relationships/slideLayout" Target="../slideLayouts/slideLayout1.xml"/><Relationship Id="rId1" Type="http://schemas.openxmlformats.org/officeDocument/2006/relationships/vmlDrawing" Target="../drawings/vmlDrawing1.vml"/><Relationship Id="rId6" Type="http://schemas.openxmlformats.org/officeDocument/2006/relationships/oleObject" Target="../embeddings/oleObject2.bin"/><Relationship Id="rId5" Type="http://schemas.openxmlformats.org/officeDocument/2006/relationships/image" Target="../media/image4.wmf"/><Relationship Id="rId4" Type="http://schemas.openxmlformats.org/officeDocument/2006/relationships/oleObject" Target="../embeddings/oleObject1.bin"/></Relationships>
</file>

<file path=ppt/slides/_rels/slide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7.xml"/><Relationship Id="rId1" Type="http://schemas.openxmlformats.org/officeDocument/2006/relationships/slideLayout" Target="../slideLayouts/slideLayout1.xml"/><Relationship Id="rId4" Type="http://schemas.openxmlformats.org/officeDocument/2006/relationships/image" Target="../media/image7.png"/></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9.xml"/><Relationship Id="rId1" Type="http://schemas.openxmlformats.org/officeDocument/2006/relationships/slideLayout" Target="../slideLayouts/slideLayout1.xml"/><Relationship Id="rId4" Type="http://schemas.openxmlformats.org/officeDocument/2006/relationships/image" Target="../media/image13.png"/></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21.xml"/><Relationship Id="rId1" Type="http://schemas.openxmlformats.org/officeDocument/2006/relationships/slideLayout" Target="../slideLayouts/slideLayout1.xml"/><Relationship Id="rId4" Type="http://schemas.openxmlformats.org/officeDocument/2006/relationships/image" Target="../media/image15.png"/></Relationships>
</file>

<file path=ppt/slides/_rels/slide22.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22.xml"/><Relationship Id="rId1" Type="http://schemas.openxmlformats.org/officeDocument/2006/relationships/slideLayout" Target="../slideLayouts/slideLayout1.xml"/><Relationship Id="rId4" Type="http://schemas.openxmlformats.org/officeDocument/2006/relationships/image" Target="../media/image17.png"/></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29.xml"/><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826534"/>
            <a:ext cx="7772400" cy="1307066"/>
          </a:xfrm>
        </p:spPr>
        <p:txBody>
          <a:bodyPr/>
          <a:lstStyle/>
          <a:p>
            <a:pPr algn="ctr"/>
            <a:r>
              <a:rPr lang="en-US" altLang="zh-TW" sz="3600" dirty="0"/>
              <a:t>CSC3060 – Computer Systems</a:t>
            </a:r>
            <a:br>
              <a:rPr lang="en-US" altLang="zh-TW" sz="3600" dirty="0">
                <a:effectLst>
                  <a:outerShdw blurRad="38100" dist="38100" dir="2700000" algn="tl">
                    <a:srgbClr val="000000">
                      <a:alpha val="43137"/>
                    </a:srgbClr>
                  </a:outerShdw>
                </a:effectLst>
              </a:rPr>
            </a:br>
            <a:endParaRPr lang="en-US" altLang="zh-TW" sz="3600" dirty="0">
              <a:effectLst>
                <a:outerShdw blurRad="38100" dist="38100" dir="2700000" algn="tl">
                  <a:srgbClr val="000000">
                    <a:alpha val="43137"/>
                  </a:srgbClr>
                </a:outerShdw>
              </a:effectLst>
            </a:endParaRPr>
          </a:p>
        </p:txBody>
      </p:sp>
      <p:sp>
        <p:nvSpPr>
          <p:cNvPr id="3" name="Subtitle 2"/>
          <p:cNvSpPr>
            <a:spLocks noGrp="1"/>
          </p:cNvSpPr>
          <p:nvPr>
            <p:ph type="subTitle" idx="1"/>
          </p:nvPr>
        </p:nvSpPr>
        <p:spPr>
          <a:xfrm>
            <a:off x="1371600" y="1736024"/>
            <a:ext cx="6400800" cy="1801796"/>
          </a:xfrm>
        </p:spPr>
        <p:txBody>
          <a:bodyPr/>
          <a:lstStyle/>
          <a:p>
            <a:r>
              <a:rPr lang="en-US" altLang="zh-TW" sz="3600" dirty="0"/>
              <a:t>Data Representations</a:t>
            </a:r>
          </a:p>
          <a:p>
            <a:endParaRPr lang="en-US" altLang="zh-TW" sz="2400" dirty="0"/>
          </a:p>
          <a:p>
            <a:r>
              <a:rPr lang="en-US" altLang="zh-TW" sz="2400" dirty="0"/>
              <a:t>Prof. Wei Chung Hsu</a:t>
            </a:r>
            <a:endParaRPr lang="en-US" altLang="zh-TW" sz="2400" dirty="0">
              <a:effectLst>
                <a:outerShdw blurRad="38100" dist="38100" dir="2700000" algn="tl">
                  <a:srgbClr val="000000">
                    <a:alpha val="43137"/>
                  </a:srgbClr>
                </a:outerShdw>
              </a:effectLst>
            </a:endParaRPr>
          </a:p>
          <a:p>
            <a:r>
              <a:rPr lang="en-US" altLang="zh-TW" sz="2400" dirty="0"/>
              <a:t>School of Data Science</a:t>
            </a:r>
          </a:p>
          <a:p>
            <a:r>
              <a:rPr lang="en-US" altLang="zh-TW" sz="2400" dirty="0"/>
              <a:t>Chinese University of Hong Kong, Shenzhen</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p:cNvSpPr>
            <a:spLocks noGrp="1"/>
          </p:cNvSpPr>
          <p:nvPr>
            <p:ph type="title"/>
          </p:nvPr>
        </p:nvSpPr>
        <p:spPr>
          <a:xfrm>
            <a:off x="1031846" y="108349"/>
            <a:ext cx="7643844" cy="519113"/>
          </a:xfrm>
        </p:spPr>
        <p:txBody>
          <a:bodyPr/>
          <a:lstStyle/>
          <a:p>
            <a:r>
              <a:rPr lang="en-US" sz="3200" dirty="0"/>
              <a:t>2.1 Information Storage</a:t>
            </a:r>
          </a:p>
        </p:txBody>
      </p:sp>
      <p:sp>
        <p:nvSpPr>
          <p:cNvPr id="8" name="Content Placeholder 7"/>
          <p:cNvSpPr>
            <a:spLocks noGrp="1"/>
          </p:cNvSpPr>
          <p:nvPr>
            <p:ph idx="1"/>
          </p:nvPr>
        </p:nvSpPr>
        <p:spPr>
          <a:xfrm>
            <a:off x="544095" y="823841"/>
            <a:ext cx="8131595" cy="3887504"/>
          </a:xfrm>
        </p:spPr>
        <p:txBody>
          <a:bodyPr/>
          <a:lstStyle/>
          <a:p>
            <a:pPr>
              <a:buSzPct val="150000"/>
              <a:buFont typeface="Arial" panose="020B0604020202020204" pitchFamily="34" charset="0"/>
              <a:buChar char="•"/>
            </a:pPr>
            <a:r>
              <a:rPr lang="en-US" sz="1800" dirty="0"/>
              <a:t>Byte: A group of 8 bits. It is </a:t>
            </a:r>
            <a:r>
              <a:rPr lang="en-US" sz="1800" b="0" i="0" dirty="0">
                <a:solidFill>
                  <a:srgbClr val="374151"/>
                </a:solidFill>
                <a:effectLst/>
                <a:latin typeface="ui-sans-serif"/>
              </a:rPr>
              <a:t>the smallest "addressable" unit of memory. </a:t>
            </a:r>
          </a:p>
          <a:p>
            <a:pPr>
              <a:buSzPct val="150000"/>
              <a:buFont typeface="Arial" panose="020B0604020202020204" pitchFamily="34" charset="0"/>
              <a:buChar char="•"/>
            </a:pPr>
            <a:r>
              <a:rPr lang="en-US" sz="1800" dirty="0">
                <a:solidFill>
                  <a:srgbClr val="374151"/>
                </a:solidFill>
                <a:latin typeface="ui-sans-serif"/>
              </a:rPr>
              <a:t>Address: </a:t>
            </a:r>
            <a:r>
              <a:rPr lang="en-US" sz="1800" b="0" i="0" dirty="0">
                <a:solidFill>
                  <a:srgbClr val="374151"/>
                </a:solidFill>
                <a:effectLst/>
                <a:latin typeface="ui-sans-serif"/>
              </a:rPr>
              <a:t> </a:t>
            </a:r>
            <a:r>
              <a:rPr lang="en-US" sz="1800" dirty="0">
                <a:solidFill>
                  <a:srgbClr val="111827"/>
                </a:solidFill>
                <a:latin typeface="ui-sans-serif"/>
              </a:rPr>
              <a:t>A</a:t>
            </a:r>
            <a:r>
              <a:rPr lang="en-US" sz="1800" b="0" i="0" dirty="0">
                <a:solidFill>
                  <a:srgbClr val="111827"/>
                </a:solidFill>
                <a:effectLst/>
                <a:latin typeface="ui-sans-serif"/>
              </a:rPr>
              <a:t> unique numerical identifier that points to a specific location in the computer’s memory.</a:t>
            </a:r>
          </a:p>
          <a:p>
            <a:pPr>
              <a:buSzPct val="150000"/>
              <a:buFont typeface="Arial" panose="020B0604020202020204" pitchFamily="34" charset="0"/>
              <a:buChar char="•"/>
            </a:pPr>
            <a:r>
              <a:rPr lang="en-US" sz="1800" dirty="0">
                <a:solidFill>
                  <a:srgbClr val="111827"/>
                </a:solidFill>
                <a:latin typeface="ui-sans-serif"/>
              </a:rPr>
              <a:t>Virtual address space: </a:t>
            </a:r>
            <a:r>
              <a:rPr lang="en-US" sz="1800" dirty="0">
                <a:solidFill>
                  <a:srgbClr val="111827"/>
                </a:solidFill>
                <a:latin typeface="TimesTen-Roman"/>
              </a:rPr>
              <a:t>T</a:t>
            </a:r>
            <a:r>
              <a:rPr lang="en-US" sz="1800" b="0" i="0" u="none" strike="noStrike" baseline="0" dirty="0">
                <a:latin typeface="TimesTen-Roman"/>
              </a:rPr>
              <a:t>he set of all possible addresses is known as the </a:t>
            </a:r>
            <a:r>
              <a:rPr lang="en-US" sz="1800" b="0" i="1" u="none" strike="noStrike" baseline="0" dirty="0">
                <a:latin typeface="TimesTen-Italic"/>
              </a:rPr>
              <a:t>virtual address space</a:t>
            </a:r>
          </a:p>
          <a:p>
            <a:pPr>
              <a:buSzPct val="150000"/>
              <a:buFont typeface="Arial" panose="020B0604020202020204" pitchFamily="34" charset="0"/>
              <a:buChar char="•"/>
            </a:pPr>
            <a:endParaRPr lang="en-US" sz="1800" i="1" dirty="0">
              <a:latin typeface="TimesTen-Italic"/>
            </a:endParaRPr>
          </a:p>
          <a:p>
            <a:pPr>
              <a:buSzPct val="150000"/>
              <a:buFont typeface="Arial" panose="020B0604020202020204" pitchFamily="34" charset="0"/>
              <a:buChar char="•"/>
            </a:pPr>
            <a:endParaRPr lang="en-US" sz="1800" i="1" dirty="0">
              <a:latin typeface="TimesTen-Italic"/>
            </a:endParaRPr>
          </a:p>
          <a:p>
            <a:pPr>
              <a:buSzPct val="150000"/>
              <a:buFont typeface="Arial" panose="020B0604020202020204" pitchFamily="34" charset="0"/>
              <a:buChar char="•"/>
            </a:pPr>
            <a:endParaRPr lang="en-US" sz="1800" i="1" dirty="0">
              <a:latin typeface="TimesTen-Italic"/>
            </a:endParaRPr>
          </a:p>
          <a:p>
            <a:pPr>
              <a:buSzPct val="150000"/>
              <a:buFont typeface="Arial" panose="020B0604020202020204" pitchFamily="34" charset="0"/>
              <a:buChar char="•"/>
            </a:pPr>
            <a:endParaRPr lang="en-US" sz="1800" i="1" dirty="0">
              <a:latin typeface="TimesTen-Italic"/>
            </a:endParaRPr>
          </a:p>
          <a:p>
            <a:pPr>
              <a:buSzPct val="150000"/>
              <a:buFont typeface="Arial" panose="020B0604020202020204" pitchFamily="34" charset="0"/>
              <a:buChar char="•"/>
            </a:pPr>
            <a:endParaRPr lang="en-US" sz="1800" i="1" dirty="0">
              <a:latin typeface="TimesTen-Italic"/>
            </a:endParaRPr>
          </a:p>
          <a:p>
            <a:pPr algn="l"/>
            <a:r>
              <a:rPr lang="en-US" sz="1800" b="0" i="0" u="none" strike="noStrike" baseline="0" dirty="0">
                <a:latin typeface="TimesTen-Roman"/>
              </a:rPr>
              <a:t>Pointer in C: It is the virtual address of the first byte of some block of storage</a:t>
            </a:r>
          </a:p>
          <a:p>
            <a:pPr algn="l"/>
            <a:r>
              <a:rPr lang="en-US" sz="1800" dirty="0">
                <a:latin typeface="TimesTen-Roman"/>
              </a:rPr>
              <a:t>Type of a pointer: determines how the content in a block of bytes is interpreted</a:t>
            </a:r>
          </a:p>
          <a:p>
            <a:pPr algn="l"/>
            <a:endParaRPr lang="en-US" sz="1800" dirty="0">
              <a:latin typeface="TimesTen-Roman"/>
            </a:endParaRPr>
          </a:p>
          <a:p>
            <a:pPr algn="l"/>
            <a:endParaRPr lang="en-US" sz="1800" dirty="0">
              <a:latin typeface="TimesTen-Roman"/>
            </a:endParaRPr>
          </a:p>
          <a:p>
            <a:pPr algn="l"/>
            <a:endParaRPr lang="en-US" sz="1800" dirty="0"/>
          </a:p>
          <a:p>
            <a:pPr>
              <a:buSzPct val="150000"/>
              <a:buFont typeface="Arial" panose="020B0604020202020204" pitchFamily="34" charset="0"/>
              <a:buChar char="•"/>
            </a:pPr>
            <a:endParaRPr lang="en-US" sz="1800" dirty="0"/>
          </a:p>
        </p:txBody>
      </p:sp>
      <p:sp>
        <p:nvSpPr>
          <p:cNvPr id="2" name="灯片编号占位符 1"/>
          <p:cNvSpPr>
            <a:spLocks noGrp="1"/>
          </p:cNvSpPr>
          <p:nvPr>
            <p:ph type="sldNum" sz="quarter" idx="10"/>
          </p:nvPr>
        </p:nvSpPr>
        <p:spPr/>
        <p:txBody>
          <a:bodyPr/>
          <a:lstStyle/>
          <a:p>
            <a:fld id="{D9B6BDF2-6896-4B98-8776-C18582F63BA5}" type="slidenum">
              <a:rPr lang="zh-TW" altLang="en-US" smtClean="0"/>
              <a:t>2</a:t>
            </a:fld>
            <a:endParaRPr lang="zh-TW" altLang="en-US"/>
          </a:p>
        </p:txBody>
      </p:sp>
      <p:graphicFrame>
        <p:nvGraphicFramePr>
          <p:cNvPr id="5" name="Table 3">
            <a:extLst>
              <a:ext uri="{FF2B5EF4-FFF2-40B4-BE49-F238E27FC236}">
                <a16:creationId xmlns:a16="http://schemas.microsoft.com/office/drawing/2014/main" id="{A9007E6D-C87D-427A-804B-78CCC4601BFF}"/>
              </a:ext>
            </a:extLst>
          </p:cNvPr>
          <p:cNvGraphicFramePr>
            <a:graphicFrameLocks noGrp="1"/>
          </p:cNvGraphicFramePr>
          <p:nvPr>
            <p:extLst>
              <p:ext uri="{D42A27DB-BD31-4B8C-83A1-F6EECF244321}">
                <p14:modId xmlns:p14="http://schemas.microsoft.com/office/powerpoint/2010/main" val="298319635"/>
              </p:ext>
            </p:extLst>
          </p:nvPr>
        </p:nvGraphicFramePr>
        <p:xfrm>
          <a:off x="1852610" y="2856991"/>
          <a:ext cx="4731660" cy="398567"/>
        </p:xfrm>
        <a:graphic>
          <a:graphicData uri="http://schemas.openxmlformats.org/drawingml/2006/table">
            <a:tbl>
              <a:tblPr firstRow="1" bandRow="1">
                <a:tableStyleId>{5C22544A-7EE6-4342-B048-85BDC9FD1C3A}</a:tableStyleId>
              </a:tblPr>
              <a:tblGrid>
                <a:gridCol w="473166">
                  <a:extLst>
                    <a:ext uri="{9D8B030D-6E8A-4147-A177-3AD203B41FA5}">
                      <a16:colId xmlns:a16="http://schemas.microsoft.com/office/drawing/2014/main" val="556322482"/>
                    </a:ext>
                  </a:extLst>
                </a:gridCol>
                <a:gridCol w="473166">
                  <a:extLst>
                    <a:ext uri="{9D8B030D-6E8A-4147-A177-3AD203B41FA5}">
                      <a16:colId xmlns:a16="http://schemas.microsoft.com/office/drawing/2014/main" val="1886084493"/>
                    </a:ext>
                  </a:extLst>
                </a:gridCol>
                <a:gridCol w="473166">
                  <a:extLst>
                    <a:ext uri="{9D8B030D-6E8A-4147-A177-3AD203B41FA5}">
                      <a16:colId xmlns:a16="http://schemas.microsoft.com/office/drawing/2014/main" val="930003307"/>
                    </a:ext>
                  </a:extLst>
                </a:gridCol>
                <a:gridCol w="473166">
                  <a:extLst>
                    <a:ext uri="{9D8B030D-6E8A-4147-A177-3AD203B41FA5}">
                      <a16:colId xmlns:a16="http://schemas.microsoft.com/office/drawing/2014/main" val="1065522681"/>
                    </a:ext>
                  </a:extLst>
                </a:gridCol>
                <a:gridCol w="473166">
                  <a:extLst>
                    <a:ext uri="{9D8B030D-6E8A-4147-A177-3AD203B41FA5}">
                      <a16:colId xmlns:a16="http://schemas.microsoft.com/office/drawing/2014/main" val="4010346805"/>
                    </a:ext>
                  </a:extLst>
                </a:gridCol>
                <a:gridCol w="473166">
                  <a:extLst>
                    <a:ext uri="{9D8B030D-6E8A-4147-A177-3AD203B41FA5}">
                      <a16:colId xmlns:a16="http://schemas.microsoft.com/office/drawing/2014/main" val="1018821338"/>
                    </a:ext>
                  </a:extLst>
                </a:gridCol>
                <a:gridCol w="473166">
                  <a:extLst>
                    <a:ext uri="{9D8B030D-6E8A-4147-A177-3AD203B41FA5}">
                      <a16:colId xmlns:a16="http://schemas.microsoft.com/office/drawing/2014/main" val="1830172307"/>
                    </a:ext>
                  </a:extLst>
                </a:gridCol>
                <a:gridCol w="473166">
                  <a:extLst>
                    <a:ext uri="{9D8B030D-6E8A-4147-A177-3AD203B41FA5}">
                      <a16:colId xmlns:a16="http://schemas.microsoft.com/office/drawing/2014/main" val="972158757"/>
                    </a:ext>
                  </a:extLst>
                </a:gridCol>
                <a:gridCol w="473166">
                  <a:extLst>
                    <a:ext uri="{9D8B030D-6E8A-4147-A177-3AD203B41FA5}">
                      <a16:colId xmlns:a16="http://schemas.microsoft.com/office/drawing/2014/main" val="494258196"/>
                    </a:ext>
                  </a:extLst>
                </a:gridCol>
                <a:gridCol w="473166">
                  <a:extLst>
                    <a:ext uri="{9D8B030D-6E8A-4147-A177-3AD203B41FA5}">
                      <a16:colId xmlns:a16="http://schemas.microsoft.com/office/drawing/2014/main" val="1667496769"/>
                    </a:ext>
                  </a:extLst>
                </a:gridCol>
              </a:tblGrid>
              <a:tr h="398567">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dirty="0"/>
                    </a:p>
                  </a:txBody>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dirty="0"/>
                    </a:p>
                  </a:txBody>
                  <a:tcPr/>
                </a:tc>
                <a:tc>
                  <a:txBody>
                    <a:bodyPr/>
                    <a:lstStyle/>
                    <a:p>
                      <a:endParaRPr lang="en-US" dirty="0"/>
                    </a:p>
                  </a:txBody>
                  <a:tcPr/>
                </a:tc>
                <a:extLst>
                  <a:ext uri="{0D108BD9-81ED-4DB2-BD59-A6C34878D82A}">
                    <a16:rowId xmlns:a16="http://schemas.microsoft.com/office/drawing/2014/main" val="3279399271"/>
                  </a:ext>
                </a:extLst>
              </a:tr>
            </a:tbl>
          </a:graphicData>
        </a:graphic>
      </p:graphicFrame>
      <p:graphicFrame>
        <p:nvGraphicFramePr>
          <p:cNvPr id="6" name="Table 3">
            <a:extLst>
              <a:ext uri="{FF2B5EF4-FFF2-40B4-BE49-F238E27FC236}">
                <a16:creationId xmlns:a16="http://schemas.microsoft.com/office/drawing/2014/main" id="{5884DFDC-8E02-4D74-9DF9-AFFE95CB9C5C}"/>
              </a:ext>
            </a:extLst>
          </p:cNvPr>
          <p:cNvGraphicFramePr>
            <a:graphicFrameLocks noGrp="1"/>
          </p:cNvGraphicFramePr>
          <p:nvPr>
            <p:extLst>
              <p:ext uri="{D42A27DB-BD31-4B8C-83A1-F6EECF244321}">
                <p14:modId xmlns:p14="http://schemas.microsoft.com/office/powerpoint/2010/main" val="1051920563"/>
              </p:ext>
            </p:extLst>
          </p:nvPr>
        </p:nvGraphicFramePr>
        <p:xfrm>
          <a:off x="1852610" y="3234092"/>
          <a:ext cx="4731660" cy="370840"/>
        </p:xfrm>
        <a:graphic>
          <a:graphicData uri="http://schemas.openxmlformats.org/drawingml/2006/table">
            <a:tbl>
              <a:tblPr firstRow="1" bandRow="1">
                <a:tableStyleId>{5C22544A-7EE6-4342-B048-85BDC9FD1C3A}</a:tableStyleId>
              </a:tblPr>
              <a:tblGrid>
                <a:gridCol w="473166">
                  <a:extLst>
                    <a:ext uri="{9D8B030D-6E8A-4147-A177-3AD203B41FA5}">
                      <a16:colId xmlns:a16="http://schemas.microsoft.com/office/drawing/2014/main" val="556322482"/>
                    </a:ext>
                  </a:extLst>
                </a:gridCol>
                <a:gridCol w="473166">
                  <a:extLst>
                    <a:ext uri="{9D8B030D-6E8A-4147-A177-3AD203B41FA5}">
                      <a16:colId xmlns:a16="http://schemas.microsoft.com/office/drawing/2014/main" val="1886084493"/>
                    </a:ext>
                  </a:extLst>
                </a:gridCol>
                <a:gridCol w="473166">
                  <a:extLst>
                    <a:ext uri="{9D8B030D-6E8A-4147-A177-3AD203B41FA5}">
                      <a16:colId xmlns:a16="http://schemas.microsoft.com/office/drawing/2014/main" val="930003307"/>
                    </a:ext>
                  </a:extLst>
                </a:gridCol>
                <a:gridCol w="473166">
                  <a:extLst>
                    <a:ext uri="{9D8B030D-6E8A-4147-A177-3AD203B41FA5}">
                      <a16:colId xmlns:a16="http://schemas.microsoft.com/office/drawing/2014/main" val="1065522681"/>
                    </a:ext>
                  </a:extLst>
                </a:gridCol>
                <a:gridCol w="473166">
                  <a:extLst>
                    <a:ext uri="{9D8B030D-6E8A-4147-A177-3AD203B41FA5}">
                      <a16:colId xmlns:a16="http://schemas.microsoft.com/office/drawing/2014/main" val="4010346805"/>
                    </a:ext>
                  </a:extLst>
                </a:gridCol>
                <a:gridCol w="473166">
                  <a:extLst>
                    <a:ext uri="{9D8B030D-6E8A-4147-A177-3AD203B41FA5}">
                      <a16:colId xmlns:a16="http://schemas.microsoft.com/office/drawing/2014/main" val="1018821338"/>
                    </a:ext>
                  </a:extLst>
                </a:gridCol>
                <a:gridCol w="473166">
                  <a:extLst>
                    <a:ext uri="{9D8B030D-6E8A-4147-A177-3AD203B41FA5}">
                      <a16:colId xmlns:a16="http://schemas.microsoft.com/office/drawing/2014/main" val="1830172307"/>
                    </a:ext>
                  </a:extLst>
                </a:gridCol>
                <a:gridCol w="473166">
                  <a:extLst>
                    <a:ext uri="{9D8B030D-6E8A-4147-A177-3AD203B41FA5}">
                      <a16:colId xmlns:a16="http://schemas.microsoft.com/office/drawing/2014/main" val="972158757"/>
                    </a:ext>
                  </a:extLst>
                </a:gridCol>
                <a:gridCol w="473166">
                  <a:extLst>
                    <a:ext uri="{9D8B030D-6E8A-4147-A177-3AD203B41FA5}">
                      <a16:colId xmlns:a16="http://schemas.microsoft.com/office/drawing/2014/main" val="494258196"/>
                    </a:ext>
                  </a:extLst>
                </a:gridCol>
                <a:gridCol w="473166">
                  <a:extLst>
                    <a:ext uri="{9D8B030D-6E8A-4147-A177-3AD203B41FA5}">
                      <a16:colId xmlns:a16="http://schemas.microsoft.com/office/drawing/2014/main" val="1667496769"/>
                    </a:ext>
                  </a:extLst>
                </a:gridCol>
              </a:tblGrid>
              <a:tr h="370840">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dirty="0"/>
                    </a:p>
                  </a:txBody>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dirty="0"/>
                    </a:p>
                  </a:txBody>
                  <a:tcPr/>
                </a:tc>
                <a:extLst>
                  <a:ext uri="{0D108BD9-81ED-4DB2-BD59-A6C34878D82A}">
                    <a16:rowId xmlns:a16="http://schemas.microsoft.com/office/drawing/2014/main" val="3279399271"/>
                  </a:ext>
                </a:extLst>
              </a:tr>
            </a:tbl>
          </a:graphicData>
        </a:graphic>
      </p:graphicFrame>
      <p:graphicFrame>
        <p:nvGraphicFramePr>
          <p:cNvPr id="9" name="Table 3">
            <a:extLst>
              <a:ext uri="{FF2B5EF4-FFF2-40B4-BE49-F238E27FC236}">
                <a16:creationId xmlns:a16="http://schemas.microsoft.com/office/drawing/2014/main" id="{798160EB-6DFE-4021-B162-7DE682AAD01F}"/>
              </a:ext>
            </a:extLst>
          </p:cNvPr>
          <p:cNvGraphicFramePr>
            <a:graphicFrameLocks noGrp="1"/>
          </p:cNvGraphicFramePr>
          <p:nvPr>
            <p:extLst>
              <p:ext uri="{D42A27DB-BD31-4B8C-83A1-F6EECF244321}">
                <p14:modId xmlns:p14="http://schemas.microsoft.com/office/powerpoint/2010/main" val="2342606043"/>
              </p:ext>
            </p:extLst>
          </p:nvPr>
        </p:nvGraphicFramePr>
        <p:xfrm>
          <a:off x="1852610" y="3595369"/>
          <a:ext cx="4731660" cy="370840"/>
        </p:xfrm>
        <a:graphic>
          <a:graphicData uri="http://schemas.openxmlformats.org/drawingml/2006/table">
            <a:tbl>
              <a:tblPr firstRow="1" bandRow="1">
                <a:tableStyleId>{5C22544A-7EE6-4342-B048-85BDC9FD1C3A}</a:tableStyleId>
              </a:tblPr>
              <a:tblGrid>
                <a:gridCol w="473166">
                  <a:extLst>
                    <a:ext uri="{9D8B030D-6E8A-4147-A177-3AD203B41FA5}">
                      <a16:colId xmlns:a16="http://schemas.microsoft.com/office/drawing/2014/main" val="556322482"/>
                    </a:ext>
                  </a:extLst>
                </a:gridCol>
                <a:gridCol w="473166">
                  <a:extLst>
                    <a:ext uri="{9D8B030D-6E8A-4147-A177-3AD203B41FA5}">
                      <a16:colId xmlns:a16="http://schemas.microsoft.com/office/drawing/2014/main" val="1886084493"/>
                    </a:ext>
                  </a:extLst>
                </a:gridCol>
                <a:gridCol w="473166">
                  <a:extLst>
                    <a:ext uri="{9D8B030D-6E8A-4147-A177-3AD203B41FA5}">
                      <a16:colId xmlns:a16="http://schemas.microsoft.com/office/drawing/2014/main" val="930003307"/>
                    </a:ext>
                  </a:extLst>
                </a:gridCol>
                <a:gridCol w="473166">
                  <a:extLst>
                    <a:ext uri="{9D8B030D-6E8A-4147-A177-3AD203B41FA5}">
                      <a16:colId xmlns:a16="http://schemas.microsoft.com/office/drawing/2014/main" val="1065522681"/>
                    </a:ext>
                  </a:extLst>
                </a:gridCol>
                <a:gridCol w="473166">
                  <a:extLst>
                    <a:ext uri="{9D8B030D-6E8A-4147-A177-3AD203B41FA5}">
                      <a16:colId xmlns:a16="http://schemas.microsoft.com/office/drawing/2014/main" val="4010346805"/>
                    </a:ext>
                  </a:extLst>
                </a:gridCol>
                <a:gridCol w="473166">
                  <a:extLst>
                    <a:ext uri="{9D8B030D-6E8A-4147-A177-3AD203B41FA5}">
                      <a16:colId xmlns:a16="http://schemas.microsoft.com/office/drawing/2014/main" val="1018821338"/>
                    </a:ext>
                  </a:extLst>
                </a:gridCol>
                <a:gridCol w="473166">
                  <a:extLst>
                    <a:ext uri="{9D8B030D-6E8A-4147-A177-3AD203B41FA5}">
                      <a16:colId xmlns:a16="http://schemas.microsoft.com/office/drawing/2014/main" val="1830172307"/>
                    </a:ext>
                  </a:extLst>
                </a:gridCol>
                <a:gridCol w="473166">
                  <a:extLst>
                    <a:ext uri="{9D8B030D-6E8A-4147-A177-3AD203B41FA5}">
                      <a16:colId xmlns:a16="http://schemas.microsoft.com/office/drawing/2014/main" val="972158757"/>
                    </a:ext>
                  </a:extLst>
                </a:gridCol>
                <a:gridCol w="473166">
                  <a:extLst>
                    <a:ext uri="{9D8B030D-6E8A-4147-A177-3AD203B41FA5}">
                      <a16:colId xmlns:a16="http://schemas.microsoft.com/office/drawing/2014/main" val="494258196"/>
                    </a:ext>
                  </a:extLst>
                </a:gridCol>
                <a:gridCol w="473166">
                  <a:extLst>
                    <a:ext uri="{9D8B030D-6E8A-4147-A177-3AD203B41FA5}">
                      <a16:colId xmlns:a16="http://schemas.microsoft.com/office/drawing/2014/main" val="1667496769"/>
                    </a:ext>
                  </a:extLst>
                </a:gridCol>
              </a:tblGrid>
              <a:tr h="370840">
                <a:tc>
                  <a:txBody>
                    <a:bodyPr/>
                    <a:lstStyle/>
                    <a:p>
                      <a:endParaRPr lang="en-US"/>
                    </a:p>
                  </a:txBody>
                  <a:tcPr/>
                </a:tc>
                <a:tc>
                  <a:txBody>
                    <a:bodyPr/>
                    <a:lstStyle/>
                    <a:p>
                      <a:endParaRPr lang="en-US"/>
                    </a:p>
                  </a:txBody>
                  <a:tcPr/>
                </a:tc>
                <a:tc>
                  <a:txBody>
                    <a:bodyPr/>
                    <a:lstStyle/>
                    <a:p>
                      <a:endParaRPr lang="en-US" dirty="0"/>
                    </a:p>
                  </a:txBody>
                  <a:tcPr/>
                </a:tc>
                <a:tc>
                  <a:txBody>
                    <a:bodyPr/>
                    <a:lstStyle/>
                    <a:p>
                      <a:endParaRPr lang="en-US"/>
                    </a:p>
                  </a:txBody>
                  <a:tcPr/>
                </a:tc>
                <a:tc>
                  <a:txBody>
                    <a:bodyPr/>
                    <a:lstStyle/>
                    <a:p>
                      <a:endParaRPr lang="en-US"/>
                    </a:p>
                  </a:txBody>
                  <a:tcPr/>
                </a:tc>
                <a:tc>
                  <a:txBody>
                    <a:bodyPr/>
                    <a:lstStyle/>
                    <a:p>
                      <a:endParaRPr lang="en-US" dirty="0"/>
                    </a:p>
                  </a:txBody>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dirty="0"/>
                    </a:p>
                  </a:txBody>
                  <a:tcPr/>
                </a:tc>
                <a:extLst>
                  <a:ext uri="{0D108BD9-81ED-4DB2-BD59-A6C34878D82A}">
                    <a16:rowId xmlns:a16="http://schemas.microsoft.com/office/drawing/2014/main" val="3279399271"/>
                  </a:ext>
                </a:extLst>
              </a:tr>
            </a:tbl>
          </a:graphicData>
        </a:graphic>
      </p:graphicFrame>
      <p:sp>
        <p:nvSpPr>
          <p:cNvPr id="10" name="TextBox 9">
            <a:extLst>
              <a:ext uri="{FF2B5EF4-FFF2-40B4-BE49-F238E27FC236}">
                <a16:creationId xmlns:a16="http://schemas.microsoft.com/office/drawing/2014/main" id="{B8DE1072-701E-4034-ABC0-A16C553A2FF6}"/>
              </a:ext>
            </a:extLst>
          </p:cNvPr>
          <p:cNvSpPr txBox="1"/>
          <p:nvPr/>
        </p:nvSpPr>
        <p:spPr>
          <a:xfrm>
            <a:off x="1748971" y="2579873"/>
            <a:ext cx="312906" cy="369332"/>
          </a:xfrm>
          <a:prstGeom prst="rect">
            <a:avLst/>
          </a:prstGeom>
          <a:noFill/>
        </p:spPr>
        <p:txBody>
          <a:bodyPr wrap="none" rtlCol="0" anchor="ctr" anchorCtr="1">
            <a:spAutoFit/>
          </a:bodyPr>
          <a:lstStyle/>
          <a:p>
            <a:r>
              <a:rPr lang="en-US" dirty="0">
                <a:ea typeface="標楷體" pitchFamily="65" charset="-120"/>
                <a:cs typeface="Calibri" panose="020F0502020204030204" pitchFamily="34" charset="0"/>
              </a:rPr>
              <a:t>0</a:t>
            </a:r>
          </a:p>
        </p:txBody>
      </p:sp>
      <p:sp>
        <p:nvSpPr>
          <p:cNvPr id="11" name="TextBox 10">
            <a:extLst>
              <a:ext uri="{FF2B5EF4-FFF2-40B4-BE49-F238E27FC236}">
                <a16:creationId xmlns:a16="http://schemas.microsoft.com/office/drawing/2014/main" id="{755043F4-FFDE-4F70-9246-B39FB22CB1DF}"/>
              </a:ext>
            </a:extLst>
          </p:cNvPr>
          <p:cNvSpPr txBox="1"/>
          <p:nvPr/>
        </p:nvSpPr>
        <p:spPr>
          <a:xfrm>
            <a:off x="2201801" y="2579873"/>
            <a:ext cx="312906" cy="369332"/>
          </a:xfrm>
          <a:prstGeom prst="rect">
            <a:avLst/>
          </a:prstGeom>
          <a:noFill/>
        </p:spPr>
        <p:txBody>
          <a:bodyPr wrap="none" rtlCol="0" anchor="ctr" anchorCtr="1">
            <a:spAutoFit/>
          </a:bodyPr>
          <a:lstStyle/>
          <a:p>
            <a:r>
              <a:rPr lang="en-US" dirty="0">
                <a:ea typeface="標楷體" pitchFamily="65" charset="-120"/>
                <a:cs typeface="Calibri" panose="020F0502020204030204" pitchFamily="34" charset="0"/>
              </a:rPr>
              <a:t>1</a:t>
            </a:r>
          </a:p>
        </p:txBody>
      </p:sp>
      <p:sp>
        <p:nvSpPr>
          <p:cNvPr id="12" name="TextBox 11">
            <a:extLst>
              <a:ext uri="{FF2B5EF4-FFF2-40B4-BE49-F238E27FC236}">
                <a16:creationId xmlns:a16="http://schemas.microsoft.com/office/drawing/2014/main" id="{5198E4F1-AD37-40A9-8E6D-EC717790FACF}"/>
              </a:ext>
            </a:extLst>
          </p:cNvPr>
          <p:cNvSpPr txBox="1"/>
          <p:nvPr/>
        </p:nvSpPr>
        <p:spPr>
          <a:xfrm>
            <a:off x="2686547" y="2571750"/>
            <a:ext cx="312906" cy="369332"/>
          </a:xfrm>
          <a:prstGeom prst="rect">
            <a:avLst/>
          </a:prstGeom>
          <a:noFill/>
        </p:spPr>
        <p:txBody>
          <a:bodyPr wrap="none" rtlCol="0" anchor="ctr" anchorCtr="1">
            <a:spAutoFit/>
          </a:bodyPr>
          <a:lstStyle/>
          <a:p>
            <a:r>
              <a:rPr lang="en-US" dirty="0">
                <a:ea typeface="標楷體" pitchFamily="65" charset="-120"/>
                <a:cs typeface="Calibri" panose="020F0502020204030204" pitchFamily="34" charset="0"/>
              </a:rPr>
              <a:t>2</a:t>
            </a:r>
          </a:p>
        </p:txBody>
      </p:sp>
      <p:sp>
        <p:nvSpPr>
          <p:cNvPr id="13" name="TextBox 12">
            <a:extLst>
              <a:ext uri="{FF2B5EF4-FFF2-40B4-BE49-F238E27FC236}">
                <a16:creationId xmlns:a16="http://schemas.microsoft.com/office/drawing/2014/main" id="{A03E7CDD-0232-4A61-A78D-B8951BF7F113}"/>
              </a:ext>
            </a:extLst>
          </p:cNvPr>
          <p:cNvSpPr txBox="1"/>
          <p:nvPr/>
        </p:nvSpPr>
        <p:spPr>
          <a:xfrm>
            <a:off x="3195952" y="2579873"/>
            <a:ext cx="312906" cy="369332"/>
          </a:xfrm>
          <a:prstGeom prst="rect">
            <a:avLst/>
          </a:prstGeom>
          <a:noFill/>
        </p:spPr>
        <p:txBody>
          <a:bodyPr wrap="none" rtlCol="0" anchor="ctr" anchorCtr="1">
            <a:spAutoFit/>
          </a:bodyPr>
          <a:lstStyle/>
          <a:p>
            <a:r>
              <a:rPr lang="en-US" dirty="0">
                <a:ea typeface="標楷體" pitchFamily="65" charset="-120"/>
                <a:cs typeface="Calibri" panose="020F0502020204030204" pitchFamily="34" charset="0"/>
              </a:rPr>
              <a:t>3</a:t>
            </a:r>
          </a:p>
        </p:txBody>
      </p:sp>
      <p:sp>
        <p:nvSpPr>
          <p:cNvPr id="14" name="TextBox 13">
            <a:extLst>
              <a:ext uri="{FF2B5EF4-FFF2-40B4-BE49-F238E27FC236}">
                <a16:creationId xmlns:a16="http://schemas.microsoft.com/office/drawing/2014/main" id="{00A5CE6A-E4FF-4542-AE65-55FBEA3320CC}"/>
              </a:ext>
            </a:extLst>
          </p:cNvPr>
          <p:cNvSpPr txBox="1"/>
          <p:nvPr/>
        </p:nvSpPr>
        <p:spPr>
          <a:xfrm>
            <a:off x="6691085" y="2384008"/>
            <a:ext cx="703943" cy="369332"/>
          </a:xfrm>
          <a:prstGeom prst="rect">
            <a:avLst/>
          </a:prstGeom>
          <a:noFill/>
        </p:spPr>
        <p:txBody>
          <a:bodyPr wrap="square" rtlCol="0" anchor="ctr" anchorCtr="1">
            <a:spAutoFit/>
          </a:bodyPr>
          <a:lstStyle/>
          <a:p>
            <a:r>
              <a:rPr lang="en-US" b="1" dirty="0">
                <a:ea typeface="標楷體" pitchFamily="65" charset="-120"/>
                <a:cs typeface="Calibri" panose="020F0502020204030204" pitchFamily="34" charset="0"/>
              </a:rPr>
              <a:t>byte</a:t>
            </a:r>
          </a:p>
        </p:txBody>
      </p:sp>
      <p:sp>
        <p:nvSpPr>
          <p:cNvPr id="15" name="TextBox 14">
            <a:extLst>
              <a:ext uri="{FF2B5EF4-FFF2-40B4-BE49-F238E27FC236}">
                <a16:creationId xmlns:a16="http://schemas.microsoft.com/office/drawing/2014/main" id="{41A34F99-CA7A-4F96-9C90-4113DE9C0E44}"/>
              </a:ext>
            </a:extLst>
          </p:cNvPr>
          <p:cNvSpPr txBox="1"/>
          <p:nvPr/>
        </p:nvSpPr>
        <p:spPr>
          <a:xfrm>
            <a:off x="6110515" y="2864760"/>
            <a:ext cx="45719" cy="369332"/>
          </a:xfrm>
          <a:prstGeom prst="rect">
            <a:avLst/>
          </a:prstGeom>
          <a:noFill/>
          <a:ln>
            <a:solidFill>
              <a:srgbClr val="FF0000"/>
            </a:solidFill>
          </a:ln>
        </p:spPr>
        <p:txBody>
          <a:bodyPr wrap="square" rtlCol="0" anchor="ctr" anchorCtr="1">
            <a:spAutoFit/>
          </a:bodyPr>
          <a:lstStyle/>
          <a:p>
            <a:endParaRPr lang="en-US" dirty="0">
              <a:ea typeface="標楷體" pitchFamily="65" charset="-120"/>
              <a:cs typeface="Calibri" panose="020F0502020204030204" pitchFamily="34" charset="0"/>
            </a:endParaRPr>
          </a:p>
        </p:txBody>
      </p:sp>
      <p:sp>
        <p:nvSpPr>
          <p:cNvPr id="16" name="TextBox 15">
            <a:extLst>
              <a:ext uri="{FF2B5EF4-FFF2-40B4-BE49-F238E27FC236}">
                <a16:creationId xmlns:a16="http://schemas.microsoft.com/office/drawing/2014/main" id="{B125C16D-838B-4CD6-9F02-6FCF031EFCB7}"/>
              </a:ext>
            </a:extLst>
          </p:cNvPr>
          <p:cNvSpPr txBox="1"/>
          <p:nvPr/>
        </p:nvSpPr>
        <p:spPr>
          <a:xfrm>
            <a:off x="6163855" y="2864760"/>
            <a:ext cx="45719" cy="369332"/>
          </a:xfrm>
          <a:prstGeom prst="rect">
            <a:avLst/>
          </a:prstGeom>
          <a:noFill/>
          <a:ln>
            <a:solidFill>
              <a:srgbClr val="FF0000"/>
            </a:solidFill>
          </a:ln>
        </p:spPr>
        <p:txBody>
          <a:bodyPr wrap="square" rtlCol="0" anchor="ctr" anchorCtr="1">
            <a:spAutoFit/>
          </a:bodyPr>
          <a:lstStyle/>
          <a:p>
            <a:endParaRPr lang="en-US" dirty="0">
              <a:ea typeface="標楷體" pitchFamily="65" charset="-120"/>
              <a:cs typeface="Calibri" panose="020F0502020204030204" pitchFamily="34" charset="0"/>
            </a:endParaRPr>
          </a:p>
        </p:txBody>
      </p:sp>
      <p:sp>
        <p:nvSpPr>
          <p:cNvPr id="17" name="TextBox 16">
            <a:extLst>
              <a:ext uri="{FF2B5EF4-FFF2-40B4-BE49-F238E27FC236}">
                <a16:creationId xmlns:a16="http://schemas.microsoft.com/office/drawing/2014/main" id="{2FDF9CEC-272A-47C2-9643-0D2479A064FC}"/>
              </a:ext>
            </a:extLst>
          </p:cNvPr>
          <p:cNvSpPr txBox="1"/>
          <p:nvPr/>
        </p:nvSpPr>
        <p:spPr>
          <a:xfrm>
            <a:off x="6217195" y="2864760"/>
            <a:ext cx="45719" cy="369332"/>
          </a:xfrm>
          <a:prstGeom prst="rect">
            <a:avLst/>
          </a:prstGeom>
          <a:noFill/>
          <a:ln>
            <a:solidFill>
              <a:srgbClr val="FF0000"/>
            </a:solidFill>
          </a:ln>
        </p:spPr>
        <p:txBody>
          <a:bodyPr wrap="square" rtlCol="0" anchor="ctr" anchorCtr="1">
            <a:spAutoFit/>
          </a:bodyPr>
          <a:lstStyle/>
          <a:p>
            <a:endParaRPr lang="en-US" dirty="0">
              <a:ea typeface="標楷體" pitchFamily="65" charset="-120"/>
              <a:cs typeface="Calibri" panose="020F0502020204030204" pitchFamily="34" charset="0"/>
            </a:endParaRPr>
          </a:p>
        </p:txBody>
      </p:sp>
      <p:sp>
        <p:nvSpPr>
          <p:cNvPr id="18" name="TextBox 17">
            <a:extLst>
              <a:ext uri="{FF2B5EF4-FFF2-40B4-BE49-F238E27FC236}">
                <a16:creationId xmlns:a16="http://schemas.microsoft.com/office/drawing/2014/main" id="{C58DF87A-4A06-424D-8259-A706A9290409}"/>
              </a:ext>
            </a:extLst>
          </p:cNvPr>
          <p:cNvSpPr txBox="1"/>
          <p:nvPr/>
        </p:nvSpPr>
        <p:spPr>
          <a:xfrm>
            <a:off x="6270535" y="2864760"/>
            <a:ext cx="45719" cy="369332"/>
          </a:xfrm>
          <a:prstGeom prst="rect">
            <a:avLst/>
          </a:prstGeom>
          <a:noFill/>
          <a:ln>
            <a:solidFill>
              <a:srgbClr val="FF0000"/>
            </a:solidFill>
          </a:ln>
        </p:spPr>
        <p:txBody>
          <a:bodyPr wrap="square" rtlCol="0" anchor="ctr" anchorCtr="1">
            <a:spAutoFit/>
          </a:bodyPr>
          <a:lstStyle/>
          <a:p>
            <a:endParaRPr lang="en-US" dirty="0">
              <a:ea typeface="標楷體" pitchFamily="65" charset="-120"/>
              <a:cs typeface="Calibri" panose="020F0502020204030204" pitchFamily="34" charset="0"/>
            </a:endParaRPr>
          </a:p>
        </p:txBody>
      </p:sp>
      <p:sp>
        <p:nvSpPr>
          <p:cNvPr id="19" name="TextBox 18">
            <a:extLst>
              <a:ext uri="{FF2B5EF4-FFF2-40B4-BE49-F238E27FC236}">
                <a16:creationId xmlns:a16="http://schemas.microsoft.com/office/drawing/2014/main" id="{405EF44F-727E-46F7-925A-BA8BFBA76328}"/>
              </a:ext>
            </a:extLst>
          </p:cNvPr>
          <p:cNvSpPr txBox="1"/>
          <p:nvPr/>
        </p:nvSpPr>
        <p:spPr>
          <a:xfrm>
            <a:off x="6323875" y="2864760"/>
            <a:ext cx="45719" cy="369332"/>
          </a:xfrm>
          <a:prstGeom prst="rect">
            <a:avLst/>
          </a:prstGeom>
          <a:noFill/>
          <a:ln>
            <a:solidFill>
              <a:srgbClr val="FF0000"/>
            </a:solidFill>
          </a:ln>
        </p:spPr>
        <p:txBody>
          <a:bodyPr wrap="square" rtlCol="0" anchor="ctr" anchorCtr="1">
            <a:spAutoFit/>
          </a:bodyPr>
          <a:lstStyle/>
          <a:p>
            <a:endParaRPr lang="en-US" dirty="0">
              <a:ea typeface="標楷體" pitchFamily="65" charset="-120"/>
              <a:cs typeface="Calibri" panose="020F0502020204030204" pitchFamily="34" charset="0"/>
            </a:endParaRPr>
          </a:p>
        </p:txBody>
      </p:sp>
      <p:sp>
        <p:nvSpPr>
          <p:cNvPr id="20" name="TextBox 19">
            <a:extLst>
              <a:ext uri="{FF2B5EF4-FFF2-40B4-BE49-F238E27FC236}">
                <a16:creationId xmlns:a16="http://schemas.microsoft.com/office/drawing/2014/main" id="{9A34F227-A156-4D4A-90C6-756FEE539666}"/>
              </a:ext>
            </a:extLst>
          </p:cNvPr>
          <p:cNvSpPr txBox="1"/>
          <p:nvPr/>
        </p:nvSpPr>
        <p:spPr>
          <a:xfrm>
            <a:off x="6377215" y="2864760"/>
            <a:ext cx="45719" cy="369332"/>
          </a:xfrm>
          <a:prstGeom prst="rect">
            <a:avLst/>
          </a:prstGeom>
          <a:noFill/>
          <a:ln>
            <a:solidFill>
              <a:srgbClr val="FF0000"/>
            </a:solidFill>
          </a:ln>
        </p:spPr>
        <p:txBody>
          <a:bodyPr wrap="square" rtlCol="0" anchor="ctr" anchorCtr="1">
            <a:spAutoFit/>
          </a:bodyPr>
          <a:lstStyle/>
          <a:p>
            <a:endParaRPr lang="en-US" dirty="0">
              <a:ea typeface="標楷體" pitchFamily="65" charset="-120"/>
              <a:cs typeface="Calibri" panose="020F0502020204030204" pitchFamily="34" charset="0"/>
            </a:endParaRPr>
          </a:p>
        </p:txBody>
      </p:sp>
      <p:sp>
        <p:nvSpPr>
          <p:cNvPr id="21" name="TextBox 20">
            <a:extLst>
              <a:ext uri="{FF2B5EF4-FFF2-40B4-BE49-F238E27FC236}">
                <a16:creationId xmlns:a16="http://schemas.microsoft.com/office/drawing/2014/main" id="{6DEA8D4C-217F-42A4-8996-538ADC10CE4D}"/>
              </a:ext>
            </a:extLst>
          </p:cNvPr>
          <p:cNvSpPr txBox="1"/>
          <p:nvPr/>
        </p:nvSpPr>
        <p:spPr>
          <a:xfrm>
            <a:off x="6430555" y="2864760"/>
            <a:ext cx="45719" cy="369332"/>
          </a:xfrm>
          <a:prstGeom prst="rect">
            <a:avLst/>
          </a:prstGeom>
          <a:noFill/>
          <a:ln>
            <a:solidFill>
              <a:srgbClr val="FF0000"/>
            </a:solidFill>
          </a:ln>
        </p:spPr>
        <p:txBody>
          <a:bodyPr wrap="square" rtlCol="0" anchor="ctr" anchorCtr="1">
            <a:spAutoFit/>
          </a:bodyPr>
          <a:lstStyle/>
          <a:p>
            <a:endParaRPr lang="en-US" dirty="0">
              <a:ea typeface="標楷體" pitchFamily="65" charset="-120"/>
              <a:cs typeface="Calibri" panose="020F0502020204030204" pitchFamily="34" charset="0"/>
            </a:endParaRPr>
          </a:p>
        </p:txBody>
      </p:sp>
      <p:sp>
        <p:nvSpPr>
          <p:cNvPr id="22" name="TextBox 21">
            <a:extLst>
              <a:ext uri="{FF2B5EF4-FFF2-40B4-BE49-F238E27FC236}">
                <a16:creationId xmlns:a16="http://schemas.microsoft.com/office/drawing/2014/main" id="{11CD29A5-5B2A-4659-B8CD-4A8995FE339B}"/>
              </a:ext>
            </a:extLst>
          </p:cNvPr>
          <p:cNvSpPr txBox="1"/>
          <p:nvPr/>
        </p:nvSpPr>
        <p:spPr>
          <a:xfrm>
            <a:off x="6483895" y="2864760"/>
            <a:ext cx="45719" cy="369332"/>
          </a:xfrm>
          <a:prstGeom prst="rect">
            <a:avLst/>
          </a:prstGeom>
          <a:noFill/>
          <a:ln>
            <a:solidFill>
              <a:srgbClr val="FF0000"/>
            </a:solidFill>
          </a:ln>
        </p:spPr>
        <p:txBody>
          <a:bodyPr wrap="square" rtlCol="0" anchor="ctr" anchorCtr="1">
            <a:spAutoFit/>
          </a:bodyPr>
          <a:lstStyle/>
          <a:p>
            <a:endParaRPr lang="en-US" dirty="0">
              <a:ea typeface="標楷體" pitchFamily="65" charset="-120"/>
              <a:cs typeface="Calibri" panose="020F0502020204030204" pitchFamily="34" charset="0"/>
            </a:endParaRPr>
          </a:p>
        </p:txBody>
      </p:sp>
      <p:cxnSp>
        <p:nvCxnSpPr>
          <p:cNvPr id="24" name="Straight Arrow Connector 23">
            <a:extLst>
              <a:ext uri="{FF2B5EF4-FFF2-40B4-BE49-F238E27FC236}">
                <a16:creationId xmlns:a16="http://schemas.microsoft.com/office/drawing/2014/main" id="{F6715955-7ACF-4EA3-811F-1D04D32781CD}"/>
              </a:ext>
            </a:extLst>
          </p:cNvPr>
          <p:cNvCxnSpPr>
            <a:cxnSpLocks/>
            <a:endCxn id="15" idx="0"/>
          </p:cNvCxnSpPr>
          <p:nvPr/>
        </p:nvCxnSpPr>
        <p:spPr bwMode="auto">
          <a:xfrm flipH="1">
            <a:off x="6133375" y="2579873"/>
            <a:ext cx="697638" cy="284887"/>
          </a:xfrm>
          <a:prstGeom prst="straightConnector1">
            <a:avLst/>
          </a:prstGeom>
          <a:noFill/>
          <a:ln w="15875" cap="flat" cmpd="sng" algn="ctr">
            <a:solidFill>
              <a:srgbClr val="FF0000"/>
            </a:solidFill>
            <a:prstDash val="solid"/>
            <a:round/>
            <a:headEnd type="none" w="med" len="med"/>
            <a:tailEnd type="triangle"/>
          </a:ln>
        </p:spPr>
      </p:cxnSp>
      <p:sp>
        <p:nvSpPr>
          <p:cNvPr id="29" name="TextBox 28">
            <a:extLst>
              <a:ext uri="{FF2B5EF4-FFF2-40B4-BE49-F238E27FC236}">
                <a16:creationId xmlns:a16="http://schemas.microsoft.com/office/drawing/2014/main" id="{2C69E217-A582-4DB0-B058-1DCFCDAF4A84}"/>
              </a:ext>
            </a:extLst>
          </p:cNvPr>
          <p:cNvSpPr txBox="1"/>
          <p:nvPr/>
        </p:nvSpPr>
        <p:spPr>
          <a:xfrm>
            <a:off x="5970267" y="2527396"/>
            <a:ext cx="312906" cy="369332"/>
          </a:xfrm>
          <a:prstGeom prst="rect">
            <a:avLst/>
          </a:prstGeom>
          <a:noFill/>
        </p:spPr>
        <p:txBody>
          <a:bodyPr wrap="none" rtlCol="0" anchor="ctr" anchorCtr="1">
            <a:spAutoFit/>
          </a:bodyPr>
          <a:lstStyle/>
          <a:p>
            <a:r>
              <a:rPr lang="en-US" dirty="0">
                <a:ea typeface="標楷體" pitchFamily="65" charset="-120"/>
                <a:cs typeface="Calibri" panose="020F0502020204030204" pitchFamily="34" charset="0"/>
              </a:rPr>
              <a:t>n</a:t>
            </a:r>
          </a:p>
        </p:txBody>
      </p:sp>
      <p:sp>
        <p:nvSpPr>
          <p:cNvPr id="30" name="TextBox 29">
            <a:extLst>
              <a:ext uri="{FF2B5EF4-FFF2-40B4-BE49-F238E27FC236}">
                <a16:creationId xmlns:a16="http://schemas.microsoft.com/office/drawing/2014/main" id="{D62B9604-45F7-4066-B5B0-BACD55678AB3}"/>
              </a:ext>
            </a:extLst>
          </p:cNvPr>
          <p:cNvSpPr txBox="1"/>
          <p:nvPr/>
        </p:nvSpPr>
        <p:spPr>
          <a:xfrm>
            <a:off x="1696157" y="3037487"/>
            <a:ext cx="575799" cy="369332"/>
          </a:xfrm>
          <a:prstGeom prst="rect">
            <a:avLst/>
          </a:prstGeom>
          <a:noFill/>
        </p:spPr>
        <p:txBody>
          <a:bodyPr wrap="none" rtlCol="0" anchor="ctr" anchorCtr="1">
            <a:spAutoFit/>
          </a:bodyPr>
          <a:lstStyle/>
          <a:p>
            <a:r>
              <a:rPr lang="en-US" dirty="0">
                <a:ea typeface="標楷體" pitchFamily="65" charset="-120"/>
                <a:cs typeface="Calibri" panose="020F0502020204030204" pitchFamily="34" charset="0"/>
              </a:rPr>
              <a:t>n+1</a:t>
            </a:r>
          </a:p>
        </p:txBody>
      </p:sp>
      <p:sp>
        <p:nvSpPr>
          <p:cNvPr id="31" name="TextBox 30">
            <a:extLst>
              <a:ext uri="{FF2B5EF4-FFF2-40B4-BE49-F238E27FC236}">
                <a16:creationId xmlns:a16="http://schemas.microsoft.com/office/drawing/2014/main" id="{EBA59BE2-7418-4A91-91C6-94E81A52BE0A}"/>
              </a:ext>
            </a:extLst>
          </p:cNvPr>
          <p:cNvSpPr txBox="1"/>
          <p:nvPr/>
        </p:nvSpPr>
        <p:spPr>
          <a:xfrm>
            <a:off x="320801" y="2587563"/>
            <a:ext cx="1064917" cy="369332"/>
          </a:xfrm>
          <a:prstGeom prst="rect">
            <a:avLst/>
          </a:prstGeom>
          <a:noFill/>
        </p:spPr>
        <p:txBody>
          <a:bodyPr wrap="square" rtlCol="0" anchor="ctr" anchorCtr="1">
            <a:spAutoFit/>
          </a:bodyPr>
          <a:lstStyle/>
          <a:p>
            <a:r>
              <a:rPr lang="en-US" b="1" dirty="0">
                <a:ea typeface="標楷體" pitchFamily="65" charset="-120"/>
                <a:cs typeface="Calibri" panose="020F0502020204030204" pitchFamily="34" charset="0"/>
              </a:rPr>
              <a:t>address</a:t>
            </a:r>
          </a:p>
        </p:txBody>
      </p:sp>
      <p:cxnSp>
        <p:nvCxnSpPr>
          <p:cNvPr id="33" name="Straight Arrow Connector 32">
            <a:extLst>
              <a:ext uri="{FF2B5EF4-FFF2-40B4-BE49-F238E27FC236}">
                <a16:creationId xmlns:a16="http://schemas.microsoft.com/office/drawing/2014/main" id="{7FACF306-243A-437E-AE57-A0D27D8B4878}"/>
              </a:ext>
            </a:extLst>
          </p:cNvPr>
          <p:cNvCxnSpPr>
            <a:cxnSpLocks/>
          </p:cNvCxnSpPr>
          <p:nvPr/>
        </p:nvCxnSpPr>
        <p:spPr bwMode="auto">
          <a:xfrm flipV="1">
            <a:off x="1226475" y="2753341"/>
            <a:ext cx="674229" cy="18888"/>
          </a:xfrm>
          <a:prstGeom prst="straightConnector1">
            <a:avLst/>
          </a:prstGeom>
          <a:noFill/>
          <a:ln w="15875" cap="flat" cmpd="sng" algn="ctr">
            <a:solidFill>
              <a:srgbClr val="FF0000"/>
            </a:solidFill>
            <a:prstDash val="solid"/>
            <a:round/>
            <a:headEnd type="none" w="med" len="med"/>
            <a:tailEnd type="triangle"/>
          </a:ln>
        </p:spPr>
      </p:cxnSp>
      <p:sp>
        <p:nvSpPr>
          <p:cNvPr id="36" name="Rectangle 2">
            <a:extLst>
              <a:ext uri="{FF2B5EF4-FFF2-40B4-BE49-F238E27FC236}">
                <a16:creationId xmlns:a16="http://schemas.microsoft.com/office/drawing/2014/main" id="{6CAF2212-3E59-48BB-848D-59749921E91C}"/>
              </a:ext>
            </a:extLst>
          </p:cNvPr>
          <p:cNvSpPr>
            <a:spLocks noChangeArrowheads="1"/>
          </p:cNvSpPr>
          <p:nvPr/>
        </p:nvSpPr>
        <p:spPr bwMode="auto">
          <a:xfrm>
            <a:off x="0" y="-4636"/>
            <a:ext cx="4152900" cy="0"/>
          </a:xfrm>
          <a:prstGeom prst="rect">
            <a:avLst/>
          </a:prstGeom>
          <a:solidFill>
            <a:srgbClr val="F3F4F6"/>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a:ln>
                  <a:noFill/>
                </a:ln>
                <a:solidFill>
                  <a:srgbClr val="111827"/>
                </a:solidFill>
                <a:effectLst/>
                <a:latin typeface="Arial" panose="020B0604020202020204" pitchFamily="34" charset="0"/>
                <a:ea typeface="ui-sans-serif"/>
              </a:rPr>
              <a:t>how the content in a block of bytes is interpreted</a:t>
            </a:r>
            <a:endParaRPr kumimoji="0" lang="en-US" altLang="en-US" sz="1800" b="0" i="0" u="none" strike="noStrike" cap="none" normalizeH="0" baseline="0">
              <a:ln>
                <a:noFill/>
              </a:ln>
              <a:solidFill>
                <a:srgbClr val="0A0A0A"/>
              </a:solidFill>
              <a:effectLst/>
              <a:latin typeface="Arial" panose="020B0604020202020204" pitchFamily="34" charset="0"/>
              <a:ea typeface="ui-sans-serif"/>
            </a:endParaRPr>
          </a:p>
          <a:p>
            <a:pPr marL="0" marR="0" lvl="0" indent="0" algn="l" defTabSz="914400" rtl="0" eaLnBrk="0" fontAlgn="base" latinLnBrk="0" hangingPunct="0">
              <a:lnSpc>
                <a:spcPct val="100000"/>
              </a:lnSpc>
              <a:spcBef>
                <a:spcPct val="0"/>
              </a:spcBef>
              <a:spcAft>
                <a:spcPct val="0"/>
              </a:spcAft>
              <a:buClrTx/>
              <a:buSzTx/>
              <a:buFontTx/>
              <a:buNone/>
              <a:tabLst/>
            </a:pPr>
            <a:br>
              <a:rPr kumimoji="0" lang="en-US" altLang="en-US" sz="1800" b="0" i="0" u="none" strike="noStrike" cap="none" normalizeH="0" baseline="0">
                <a:ln>
                  <a:noFill/>
                </a:ln>
                <a:solidFill>
                  <a:srgbClr val="374151"/>
                </a:solidFill>
                <a:effectLst/>
                <a:latin typeface="Arial" panose="020B0604020202020204" pitchFamily="34" charset="0"/>
                <a:ea typeface="ui-sans-serif"/>
              </a:rPr>
            </a:br>
            <a:endParaRPr kumimoji="0" lang="en-US" altLang="en-US" sz="1800" b="0" i="0" u="none" strike="noStrike" cap="none" normalizeH="0" baseline="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171228119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6"/>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9"/>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0"/>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1"/>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2"/>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3"/>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4"/>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29"/>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30"/>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3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11" grpId="0"/>
      <p:bldP spid="12" grpId="0"/>
      <p:bldP spid="13" grpId="0"/>
      <p:bldP spid="14" grpId="0"/>
      <p:bldP spid="29" grpId="0"/>
      <p:bldP spid="30" grpId="0"/>
      <p:bldP spid="31"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p:cNvSpPr>
            <a:spLocks noGrp="1"/>
          </p:cNvSpPr>
          <p:nvPr>
            <p:ph type="title"/>
          </p:nvPr>
        </p:nvSpPr>
        <p:spPr>
          <a:xfrm>
            <a:off x="1031846" y="108349"/>
            <a:ext cx="7643844" cy="519113"/>
          </a:xfrm>
        </p:spPr>
        <p:txBody>
          <a:bodyPr/>
          <a:lstStyle/>
          <a:p>
            <a:r>
              <a:rPr lang="en-US" sz="3200" dirty="0"/>
              <a:t>Bits can Represent Any Information </a:t>
            </a:r>
          </a:p>
        </p:txBody>
      </p:sp>
      <mc:AlternateContent xmlns:mc="http://schemas.openxmlformats.org/markup-compatibility/2006" xmlns:a14="http://schemas.microsoft.com/office/drawing/2010/main">
        <mc:Choice Requires="a14">
          <p:sp>
            <p:nvSpPr>
              <p:cNvPr id="8" name="Content Placeholder 7"/>
              <p:cNvSpPr>
                <a:spLocks noGrp="1"/>
              </p:cNvSpPr>
              <p:nvPr>
                <p:ph idx="1"/>
              </p:nvPr>
            </p:nvSpPr>
            <p:spPr>
              <a:xfrm>
                <a:off x="210457" y="764325"/>
                <a:ext cx="8465233" cy="3887504"/>
              </a:xfrm>
            </p:spPr>
            <p:txBody>
              <a:bodyPr/>
              <a:lstStyle/>
              <a:p>
                <a:r>
                  <a:rPr lang="en-US" sz="1800" dirty="0"/>
                  <a:t>Integer numbers</a:t>
                </a:r>
              </a:p>
              <a:p>
                <a:pPr lvl="1"/>
                <a:r>
                  <a:rPr lang="en-US" sz="1400" dirty="0"/>
                  <a:t>Binary numbers</a:t>
                </a:r>
              </a:p>
              <a:p>
                <a:pPr lvl="1"/>
                <a:r>
                  <a:rPr lang="en-US" sz="1400" dirty="0"/>
                  <a:t>Signed/Unsigned numbers</a:t>
                </a:r>
              </a:p>
              <a:p>
                <a:r>
                  <a:rPr lang="en-US" sz="1800" dirty="0"/>
                  <a:t>Floating pointer numbers</a:t>
                </a:r>
              </a:p>
              <a:p>
                <a:r>
                  <a:rPr lang="en-US" sz="1800" dirty="0"/>
                  <a:t>Memory locations (addresses)</a:t>
                </a:r>
              </a:p>
              <a:p>
                <a:pPr lvl="1"/>
                <a:r>
                  <a:rPr lang="en-US" sz="1400" dirty="0"/>
                  <a:t>In 32-bit machines, addresses are 32b, addressing up to 4GB</a:t>
                </a:r>
              </a:p>
              <a:p>
                <a:pPr lvl="1"/>
                <a:r>
                  <a:rPr lang="en-US" sz="1400" dirty="0"/>
                  <a:t>In 64-bit machines, addresses are 64b, up to 16ExaBytes  (</a:t>
                </a:r>
                <a:r>
                  <a:rPr lang="en-US" sz="1400" b="1" dirty="0" err="1"/>
                  <a:t>K</a:t>
                </a:r>
                <a:r>
                  <a:rPr lang="en-US" sz="1400" dirty="0" err="1"/>
                  <a:t>illo,</a:t>
                </a:r>
                <a:r>
                  <a:rPr lang="en-US" sz="1400" b="1" dirty="0" err="1"/>
                  <a:t>M</a:t>
                </a:r>
                <a:r>
                  <a:rPr lang="en-US" sz="1400" dirty="0" err="1"/>
                  <a:t>ega,</a:t>
                </a:r>
                <a:r>
                  <a:rPr lang="en-US" sz="1400" b="1" dirty="0" err="1"/>
                  <a:t>G</a:t>
                </a:r>
                <a:r>
                  <a:rPr lang="en-US" sz="1400" dirty="0" err="1"/>
                  <a:t>iga,</a:t>
                </a:r>
                <a:r>
                  <a:rPr lang="en-US" sz="1400" b="1" dirty="0" err="1"/>
                  <a:t>T</a:t>
                </a:r>
                <a:r>
                  <a:rPr lang="en-US" sz="1400" dirty="0" err="1"/>
                  <a:t>era,</a:t>
                </a:r>
                <a:r>
                  <a:rPr lang="en-US" sz="1400" b="1" dirty="0" err="1"/>
                  <a:t>P</a:t>
                </a:r>
                <a:r>
                  <a:rPr lang="en-US" sz="1400" dirty="0" err="1"/>
                  <a:t>eta,</a:t>
                </a:r>
                <a:r>
                  <a:rPr lang="en-US" sz="1400" b="1" dirty="0" err="1"/>
                  <a:t>E</a:t>
                </a:r>
                <a:r>
                  <a:rPr lang="en-US" sz="1400" dirty="0" err="1"/>
                  <a:t>xa,</a:t>
                </a:r>
                <a:r>
                  <a:rPr lang="en-US" sz="1400" b="1" dirty="0" err="1"/>
                  <a:t>Z</a:t>
                </a:r>
                <a:r>
                  <a:rPr lang="en-US" sz="1400" dirty="0" err="1"/>
                  <a:t>etta,</a:t>
                </a:r>
                <a:r>
                  <a:rPr lang="en-US" sz="1400" b="1" dirty="0" err="1"/>
                  <a:t>Y</a:t>
                </a:r>
                <a:r>
                  <a:rPr lang="en-US" sz="1400" dirty="0" err="1"/>
                  <a:t>otta</a:t>
                </a:r>
                <a:r>
                  <a:rPr lang="en-US" sz="1400" dirty="0"/>
                  <a:t>,…)</a:t>
                </a:r>
              </a:p>
              <a:p>
                <a:r>
                  <a:rPr lang="en-US" sz="1800" dirty="0">
                    <a:solidFill>
                      <a:srgbClr val="FF0000"/>
                    </a:solidFill>
                  </a:rPr>
                  <a:t>Computer Commands (Instructions) – cover in Chapter 3</a:t>
                </a:r>
              </a:p>
              <a:p>
                <a:pPr lvl="1"/>
                <a:r>
                  <a:rPr lang="en-US" sz="1400" dirty="0"/>
                  <a:t>0000000 00010 00010 000 00001 0110011    </a:t>
                </a:r>
              </a:p>
              <a:p>
                <a:r>
                  <a:rPr lang="en-US" sz="1800" dirty="0"/>
                  <a:t>Summary</a:t>
                </a:r>
              </a:p>
              <a:p>
                <a:pPr marL="0" indent="0">
                  <a:buNone/>
                </a:pPr>
                <a:r>
                  <a:rPr lang="en-US" sz="1800" dirty="0"/>
                  <a:t>	N bits can represent </a:t>
                </a:r>
                <a14:m>
                  <m:oMath xmlns:m="http://schemas.openxmlformats.org/officeDocument/2006/math">
                    <m:sSup>
                      <m:sSupPr>
                        <m:ctrlPr>
                          <a:rPr lang="en-US" sz="1800" i="1" smtClean="0">
                            <a:latin typeface="Cambria Math" panose="02040503050406030204" pitchFamily="18" charset="0"/>
                          </a:rPr>
                        </m:ctrlPr>
                      </m:sSupPr>
                      <m:e>
                        <m:r>
                          <a:rPr lang="en-US" sz="1800" b="0" i="1" smtClean="0">
                            <a:latin typeface="Cambria Math" panose="02040503050406030204" pitchFamily="18" charset="0"/>
                          </a:rPr>
                          <m:t>2</m:t>
                        </m:r>
                      </m:e>
                      <m:sup>
                        <m:r>
                          <a:rPr lang="en-US" sz="1800" b="0" i="1" smtClean="0">
                            <a:latin typeface="Cambria Math" panose="02040503050406030204" pitchFamily="18" charset="0"/>
                          </a:rPr>
                          <m:t>𝑁</m:t>
                        </m:r>
                      </m:sup>
                    </m:sSup>
                  </m:oMath>
                </a14:m>
                <a:r>
                  <a:rPr lang="en-US" sz="1800" dirty="0"/>
                  <a:t> different things</a:t>
                </a:r>
              </a:p>
            </p:txBody>
          </p:sp>
        </mc:Choice>
        <mc:Fallback xmlns="">
          <p:sp>
            <p:nvSpPr>
              <p:cNvPr id="8" name="Content Placeholder 7"/>
              <p:cNvSpPr>
                <a:spLocks noGrp="1" noRot="1" noChangeAspect="1" noMove="1" noResize="1" noEditPoints="1" noAdjustHandles="1" noChangeArrowheads="1" noChangeShapeType="1" noTextEdit="1"/>
              </p:cNvSpPr>
              <p:nvPr>
                <p:ph idx="1"/>
              </p:nvPr>
            </p:nvSpPr>
            <p:spPr>
              <a:xfrm>
                <a:off x="210457" y="764325"/>
                <a:ext cx="8465233" cy="3887504"/>
              </a:xfrm>
              <a:blipFill>
                <a:blip r:embed="rId3"/>
                <a:stretch>
                  <a:fillRect l="-144" t="-784"/>
                </a:stretch>
              </a:blipFill>
            </p:spPr>
            <p:txBody>
              <a:bodyPr/>
              <a:lstStyle/>
              <a:p>
                <a:r>
                  <a:rPr lang="en-US">
                    <a:noFill/>
                  </a:rPr>
                  <a:t> </a:t>
                </a:r>
              </a:p>
            </p:txBody>
          </p:sp>
        </mc:Fallback>
      </mc:AlternateContent>
      <p:sp>
        <p:nvSpPr>
          <p:cNvPr id="2" name="灯片编号占位符 1"/>
          <p:cNvSpPr>
            <a:spLocks noGrp="1"/>
          </p:cNvSpPr>
          <p:nvPr>
            <p:ph type="sldNum" sz="quarter" idx="10"/>
          </p:nvPr>
        </p:nvSpPr>
        <p:spPr/>
        <p:txBody>
          <a:bodyPr/>
          <a:lstStyle/>
          <a:p>
            <a:fld id="{D9B6BDF2-6896-4B98-8776-C18582F63BA5}" type="slidenum">
              <a:rPr lang="zh-TW" altLang="en-US" smtClean="0"/>
              <a:t>3</a:t>
            </a:fld>
            <a:endParaRPr lang="zh-TW" altLang="en-US"/>
          </a:p>
        </p:txBody>
      </p:sp>
    </p:spTree>
    <p:extLst>
      <p:ext uri="{BB962C8B-B14F-4D97-AF65-F5344CB8AC3E}">
        <p14:creationId xmlns:p14="http://schemas.microsoft.com/office/powerpoint/2010/main" val="386542300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p:cNvSpPr>
            <a:spLocks noGrp="1"/>
          </p:cNvSpPr>
          <p:nvPr>
            <p:ph type="title"/>
          </p:nvPr>
        </p:nvSpPr>
        <p:spPr>
          <a:xfrm>
            <a:off x="1031846" y="108349"/>
            <a:ext cx="7643844" cy="519113"/>
          </a:xfrm>
        </p:spPr>
        <p:txBody>
          <a:bodyPr/>
          <a:lstStyle/>
          <a:p>
            <a:r>
              <a:rPr lang="en-US" sz="3200" dirty="0"/>
              <a:t>Integer Representation: Radix or Base</a:t>
            </a:r>
          </a:p>
        </p:txBody>
      </p:sp>
      <p:sp>
        <p:nvSpPr>
          <p:cNvPr id="8" name="Content Placeholder 7"/>
          <p:cNvSpPr>
            <a:spLocks noGrp="1"/>
          </p:cNvSpPr>
          <p:nvPr>
            <p:ph idx="1"/>
          </p:nvPr>
        </p:nvSpPr>
        <p:spPr>
          <a:xfrm>
            <a:off x="922789" y="844153"/>
            <a:ext cx="7441035" cy="2612111"/>
          </a:xfrm>
        </p:spPr>
        <p:txBody>
          <a:bodyPr/>
          <a:lstStyle/>
          <a:p>
            <a:r>
              <a:rPr lang="en-US" sz="2400" dirty="0"/>
              <a:t>An ordered set of symbols, called digits, with relations defined for addition, subtraction, multiplication and division</a:t>
            </a:r>
          </a:p>
          <a:p>
            <a:endParaRPr lang="en-US" sz="2400" dirty="0"/>
          </a:p>
          <a:p>
            <a:r>
              <a:rPr lang="en-US" sz="2400" b="1" dirty="0">
                <a:solidFill>
                  <a:schemeClr val="accent1"/>
                </a:solidFill>
              </a:rPr>
              <a:t>Radix</a:t>
            </a:r>
            <a:r>
              <a:rPr lang="en-US" sz="2400" dirty="0">
                <a:solidFill>
                  <a:schemeClr val="accent1"/>
                </a:solidFill>
              </a:rPr>
              <a:t> </a:t>
            </a:r>
            <a:r>
              <a:rPr lang="en-US" sz="2400" dirty="0"/>
              <a:t>or </a:t>
            </a:r>
            <a:r>
              <a:rPr lang="en-US" sz="2400" b="1" dirty="0">
                <a:solidFill>
                  <a:schemeClr val="accent1"/>
                </a:solidFill>
              </a:rPr>
              <a:t>base</a:t>
            </a:r>
            <a:r>
              <a:rPr lang="en-US" sz="2400" dirty="0">
                <a:solidFill>
                  <a:schemeClr val="accent1"/>
                </a:solidFill>
              </a:rPr>
              <a:t> </a:t>
            </a:r>
            <a:r>
              <a:rPr lang="en-US" sz="2400" dirty="0"/>
              <a:t>of the number system is the total number of digits allowed in the number system</a:t>
            </a:r>
          </a:p>
        </p:txBody>
      </p:sp>
      <p:sp>
        <p:nvSpPr>
          <p:cNvPr id="2" name="灯片编号占位符 1"/>
          <p:cNvSpPr>
            <a:spLocks noGrp="1"/>
          </p:cNvSpPr>
          <p:nvPr>
            <p:ph type="sldNum" sz="quarter" idx="10"/>
          </p:nvPr>
        </p:nvSpPr>
        <p:spPr/>
        <p:txBody>
          <a:bodyPr/>
          <a:lstStyle/>
          <a:p>
            <a:fld id="{D9B6BDF2-6896-4B98-8776-C18582F63BA5}" type="slidenum">
              <a:rPr lang="zh-TW" altLang="en-US" smtClean="0"/>
              <a:t>4</a:t>
            </a:fld>
            <a:endParaRPr lang="zh-TW" altLang="en-US"/>
          </a:p>
        </p:txBody>
      </p:sp>
    </p:spTree>
    <p:extLst>
      <p:ext uri="{BB962C8B-B14F-4D97-AF65-F5344CB8AC3E}">
        <p14:creationId xmlns:p14="http://schemas.microsoft.com/office/powerpoint/2010/main" val="111185854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90569" y="108349"/>
            <a:ext cx="7585121" cy="519113"/>
          </a:xfrm>
        </p:spPr>
        <p:txBody>
          <a:bodyPr>
            <a:normAutofit fontScale="90000"/>
          </a:bodyPr>
          <a:lstStyle/>
          <a:p>
            <a:r>
              <a:rPr lang="en-US" dirty="0"/>
              <a:t>Decimal, Binary, Octal and Hexadecimal</a:t>
            </a:r>
          </a:p>
        </p:txBody>
      </p:sp>
      <p:graphicFrame>
        <p:nvGraphicFramePr>
          <p:cNvPr id="6" name="Content Placeholder 7"/>
          <p:cNvGraphicFramePr/>
          <p:nvPr>
            <p:custDataLst>
              <p:tags r:id="rId1"/>
            </p:custDataLst>
          </p:nvPr>
        </p:nvGraphicFramePr>
        <p:xfrm>
          <a:off x="1614488" y="816049"/>
          <a:ext cx="5915025" cy="3739276"/>
        </p:xfrm>
        <a:graphic>
          <a:graphicData uri="http://schemas.openxmlformats.org/drawingml/2006/table">
            <a:tbl>
              <a:tblPr firstRow="1" bandRow="1">
                <a:tableStyleId>{5C22544A-7EE6-4342-B048-85BDC9FD1C3A}</a:tableStyleId>
              </a:tblPr>
              <a:tblGrid>
                <a:gridCol w="1183005">
                  <a:extLst>
                    <a:ext uri="{9D8B030D-6E8A-4147-A177-3AD203B41FA5}">
                      <a16:colId xmlns:a16="http://schemas.microsoft.com/office/drawing/2014/main" val="20000"/>
                    </a:ext>
                  </a:extLst>
                </a:gridCol>
                <a:gridCol w="1183005">
                  <a:extLst>
                    <a:ext uri="{9D8B030D-6E8A-4147-A177-3AD203B41FA5}">
                      <a16:colId xmlns:a16="http://schemas.microsoft.com/office/drawing/2014/main" val="20001"/>
                    </a:ext>
                  </a:extLst>
                </a:gridCol>
                <a:gridCol w="1183005">
                  <a:extLst>
                    <a:ext uri="{9D8B030D-6E8A-4147-A177-3AD203B41FA5}">
                      <a16:colId xmlns:a16="http://schemas.microsoft.com/office/drawing/2014/main" val="20002"/>
                    </a:ext>
                  </a:extLst>
                </a:gridCol>
                <a:gridCol w="1183005">
                  <a:extLst>
                    <a:ext uri="{9D8B030D-6E8A-4147-A177-3AD203B41FA5}">
                      <a16:colId xmlns:a16="http://schemas.microsoft.com/office/drawing/2014/main" val="20003"/>
                    </a:ext>
                  </a:extLst>
                </a:gridCol>
                <a:gridCol w="1183005">
                  <a:extLst>
                    <a:ext uri="{9D8B030D-6E8A-4147-A177-3AD203B41FA5}">
                      <a16:colId xmlns:a16="http://schemas.microsoft.com/office/drawing/2014/main" val="20004"/>
                    </a:ext>
                  </a:extLst>
                </a:gridCol>
              </a:tblGrid>
              <a:tr h="196804">
                <a:tc>
                  <a:txBody>
                    <a:bodyPr/>
                    <a:lstStyle/>
                    <a:p>
                      <a:pPr algn="ctr"/>
                      <a:r>
                        <a:rPr lang="en-US" sz="900" dirty="0">
                          <a:latin typeface="+mn-lt"/>
                        </a:rPr>
                        <a:t>System Name</a:t>
                      </a:r>
                    </a:p>
                  </a:txBody>
                  <a:tcPr marL="27000" marR="27000" marT="27000" marB="27000" anchor="ctr"/>
                </a:tc>
                <a:tc>
                  <a:txBody>
                    <a:bodyPr/>
                    <a:lstStyle/>
                    <a:p>
                      <a:pPr algn="ctr"/>
                      <a:r>
                        <a:rPr lang="en-US" sz="900" dirty="0">
                          <a:latin typeface="+mn-lt"/>
                        </a:rPr>
                        <a:t>Decimal</a:t>
                      </a:r>
                    </a:p>
                  </a:txBody>
                  <a:tcPr marL="27000" marR="27000" marT="27000" marB="27000" anchor="ctr"/>
                </a:tc>
                <a:tc>
                  <a:txBody>
                    <a:bodyPr/>
                    <a:lstStyle/>
                    <a:p>
                      <a:pPr algn="ctr"/>
                      <a:r>
                        <a:rPr lang="en-US" sz="900" dirty="0">
                          <a:latin typeface="+mn-lt"/>
                        </a:rPr>
                        <a:t>Binary</a:t>
                      </a:r>
                    </a:p>
                  </a:txBody>
                  <a:tcPr marL="27000" marR="27000" marT="27000" marB="27000" anchor="ctr"/>
                </a:tc>
                <a:tc>
                  <a:txBody>
                    <a:bodyPr/>
                    <a:lstStyle/>
                    <a:p>
                      <a:pPr algn="ctr"/>
                      <a:r>
                        <a:rPr lang="en-US" sz="900" dirty="0">
                          <a:latin typeface="+mn-lt"/>
                        </a:rPr>
                        <a:t>Octal</a:t>
                      </a:r>
                    </a:p>
                  </a:txBody>
                  <a:tcPr marL="27000" marR="27000" marT="27000" marB="27000" anchor="ctr"/>
                </a:tc>
                <a:tc>
                  <a:txBody>
                    <a:bodyPr/>
                    <a:lstStyle/>
                    <a:p>
                      <a:pPr algn="ctr"/>
                      <a:r>
                        <a:rPr lang="en-US" sz="900" dirty="0">
                          <a:latin typeface="+mn-lt"/>
                        </a:rPr>
                        <a:t>Hexadecimal</a:t>
                      </a:r>
                    </a:p>
                  </a:txBody>
                  <a:tcPr marL="27000" marR="27000" marT="27000" marB="27000" anchor="ctr"/>
                </a:tc>
                <a:extLst>
                  <a:ext uri="{0D108BD9-81ED-4DB2-BD59-A6C34878D82A}">
                    <a16:rowId xmlns:a16="http://schemas.microsoft.com/office/drawing/2014/main" val="10000"/>
                  </a:ext>
                </a:extLst>
              </a:tr>
              <a:tr h="196804">
                <a:tc>
                  <a:txBody>
                    <a:bodyPr/>
                    <a:lstStyle/>
                    <a:p>
                      <a:pPr algn="ctr"/>
                      <a:r>
                        <a:rPr lang="en-US" sz="900" b="1" dirty="0">
                          <a:solidFill>
                            <a:schemeClr val="bg1"/>
                          </a:solidFill>
                          <a:latin typeface="+mn-lt"/>
                        </a:rPr>
                        <a:t>Radix</a:t>
                      </a:r>
                    </a:p>
                  </a:txBody>
                  <a:tcPr marL="27000" marR="27000" marT="27000" marB="27000" anchor="ctr">
                    <a:lnB w="28575" cap="flat" cmpd="sng" algn="ctr">
                      <a:solidFill>
                        <a:schemeClr val="bg1"/>
                      </a:solidFill>
                      <a:prstDash val="solid"/>
                      <a:round/>
                      <a:headEnd type="none" w="med" len="med"/>
                      <a:tailEnd type="none" w="med" len="med"/>
                    </a:lnB>
                    <a:solidFill>
                      <a:schemeClr val="accent4">
                        <a:lumMod val="60000"/>
                        <a:lumOff val="40000"/>
                      </a:schemeClr>
                    </a:solidFill>
                  </a:tcPr>
                </a:tc>
                <a:tc>
                  <a:txBody>
                    <a:bodyPr/>
                    <a:lstStyle/>
                    <a:p>
                      <a:pPr algn="ctr"/>
                      <a:r>
                        <a:rPr lang="en-US" sz="900" b="1" dirty="0">
                          <a:solidFill>
                            <a:schemeClr val="bg1"/>
                          </a:solidFill>
                          <a:latin typeface="+mn-lt"/>
                        </a:rPr>
                        <a:t>10</a:t>
                      </a:r>
                    </a:p>
                  </a:txBody>
                  <a:tcPr marL="27000" marR="27000" marT="27000" marB="27000" anchor="ctr">
                    <a:lnB w="28575" cap="flat" cmpd="sng" algn="ctr">
                      <a:solidFill>
                        <a:schemeClr val="bg1"/>
                      </a:solidFill>
                      <a:prstDash val="solid"/>
                      <a:round/>
                      <a:headEnd type="none" w="med" len="med"/>
                      <a:tailEnd type="none" w="med" len="med"/>
                    </a:lnB>
                    <a:solidFill>
                      <a:schemeClr val="accent4">
                        <a:lumMod val="60000"/>
                        <a:lumOff val="40000"/>
                      </a:schemeClr>
                    </a:solidFill>
                  </a:tcPr>
                </a:tc>
                <a:tc>
                  <a:txBody>
                    <a:bodyPr/>
                    <a:lstStyle/>
                    <a:p>
                      <a:pPr algn="ctr"/>
                      <a:r>
                        <a:rPr lang="en-US" sz="900" b="1" dirty="0">
                          <a:solidFill>
                            <a:schemeClr val="bg1"/>
                          </a:solidFill>
                          <a:latin typeface="+mn-lt"/>
                        </a:rPr>
                        <a:t>2</a:t>
                      </a:r>
                    </a:p>
                  </a:txBody>
                  <a:tcPr marL="27000" marR="27000" marT="27000" marB="27000" anchor="ctr">
                    <a:lnB w="28575" cap="flat" cmpd="sng" algn="ctr">
                      <a:solidFill>
                        <a:schemeClr val="bg1"/>
                      </a:solidFill>
                      <a:prstDash val="solid"/>
                      <a:round/>
                      <a:headEnd type="none" w="med" len="med"/>
                      <a:tailEnd type="none" w="med" len="med"/>
                    </a:lnB>
                    <a:solidFill>
                      <a:schemeClr val="accent4">
                        <a:lumMod val="60000"/>
                        <a:lumOff val="40000"/>
                      </a:schemeClr>
                    </a:solidFill>
                  </a:tcPr>
                </a:tc>
                <a:tc>
                  <a:txBody>
                    <a:bodyPr/>
                    <a:lstStyle/>
                    <a:p>
                      <a:pPr algn="ctr"/>
                      <a:r>
                        <a:rPr lang="en-US" sz="900" b="1" dirty="0">
                          <a:solidFill>
                            <a:schemeClr val="bg1"/>
                          </a:solidFill>
                          <a:latin typeface="+mn-lt"/>
                        </a:rPr>
                        <a:t>8</a:t>
                      </a:r>
                    </a:p>
                  </a:txBody>
                  <a:tcPr marL="27000" marR="27000" marT="27000" marB="27000" anchor="ctr">
                    <a:lnB w="28575" cap="flat" cmpd="sng" algn="ctr">
                      <a:solidFill>
                        <a:schemeClr val="bg1"/>
                      </a:solidFill>
                      <a:prstDash val="solid"/>
                      <a:round/>
                      <a:headEnd type="none" w="med" len="med"/>
                      <a:tailEnd type="none" w="med" len="med"/>
                    </a:lnB>
                    <a:solidFill>
                      <a:schemeClr val="accent4">
                        <a:lumMod val="60000"/>
                        <a:lumOff val="40000"/>
                      </a:schemeClr>
                    </a:solidFill>
                  </a:tcPr>
                </a:tc>
                <a:tc>
                  <a:txBody>
                    <a:bodyPr/>
                    <a:lstStyle/>
                    <a:p>
                      <a:pPr algn="ctr"/>
                      <a:r>
                        <a:rPr lang="en-US" sz="900" b="1" dirty="0">
                          <a:solidFill>
                            <a:schemeClr val="bg1"/>
                          </a:solidFill>
                          <a:latin typeface="+mn-lt"/>
                        </a:rPr>
                        <a:t>16</a:t>
                      </a:r>
                    </a:p>
                  </a:txBody>
                  <a:tcPr marL="27000" marR="27000" marT="27000" marB="27000" anchor="ctr">
                    <a:lnB w="28575" cap="flat" cmpd="sng" algn="ctr">
                      <a:solidFill>
                        <a:schemeClr val="bg1"/>
                      </a:solidFill>
                      <a:prstDash val="solid"/>
                      <a:round/>
                      <a:headEnd type="none" w="med" len="med"/>
                      <a:tailEnd type="none" w="med" len="med"/>
                    </a:lnB>
                    <a:solidFill>
                      <a:schemeClr val="accent4">
                        <a:lumMod val="60000"/>
                        <a:lumOff val="40000"/>
                      </a:schemeClr>
                    </a:solidFill>
                  </a:tcPr>
                </a:tc>
                <a:extLst>
                  <a:ext uri="{0D108BD9-81ED-4DB2-BD59-A6C34878D82A}">
                    <a16:rowId xmlns:a16="http://schemas.microsoft.com/office/drawing/2014/main" val="10001"/>
                  </a:ext>
                </a:extLst>
              </a:tr>
              <a:tr h="196804">
                <a:tc>
                  <a:txBody>
                    <a:bodyPr/>
                    <a:lstStyle/>
                    <a:p>
                      <a:pPr algn="ctr"/>
                      <a:endParaRPr lang="en-US" sz="900" dirty="0">
                        <a:latin typeface="+mn-lt"/>
                        <a:cs typeface="Times New Roman" panose="02020603050405020304" pitchFamily="18" charset="0"/>
                      </a:endParaRPr>
                    </a:p>
                  </a:txBody>
                  <a:tcPr marL="27000" marR="27000" marT="27000" marB="27000" anchor="ctr">
                    <a:lnT w="28575" cap="flat" cmpd="sng" algn="ctr">
                      <a:solidFill>
                        <a:schemeClr val="bg1"/>
                      </a:solidFill>
                      <a:prstDash val="solid"/>
                      <a:round/>
                      <a:headEnd type="none" w="med" len="med"/>
                      <a:tailEnd type="none" w="med" len="med"/>
                    </a:lnT>
                  </a:tcPr>
                </a:tc>
                <a:tc>
                  <a:txBody>
                    <a:bodyPr/>
                    <a:lstStyle/>
                    <a:p>
                      <a:pPr algn="ctr"/>
                      <a:r>
                        <a:rPr lang="en-US" sz="900" dirty="0">
                          <a:latin typeface="+mn-lt"/>
                          <a:cs typeface="Times New Roman" panose="02020603050405020304" pitchFamily="18" charset="0"/>
                        </a:rPr>
                        <a:t>0</a:t>
                      </a:r>
                    </a:p>
                  </a:txBody>
                  <a:tcPr marL="27000" marR="27000" marT="27000" marB="27000" anchor="ctr">
                    <a:lnT w="28575" cap="flat" cmpd="sng" algn="ctr">
                      <a:solidFill>
                        <a:schemeClr val="bg1"/>
                      </a:solidFill>
                      <a:prstDash val="solid"/>
                      <a:round/>
                      <a:headEnd type="none" w="med" len="med"/>
                      <a:tailEnd type="none" w="med" len="med"/>
                    </a:lnT>
                  </a:tcPr>
                </a:tc>
                <a:tc>
                  <a:txBody>
                    <a:bodyPr/>
                    <a:lstStyle/>
                    <a:p>
                      <a:pPr algn="ctr"/>
                      <a:r>
                        <a:rPr lang="en-US" sz="900" dirty="0">
                          <a:latin typeface="+mn-lt"/>
                          <a:cs typeface="Times New Roman" panose="02020603050405020304" pitchFamily="18" charset="0"/>
                        </a:rPr>
                        <a:t>0000</a:t>
                      </a:r>
                    </a:p>
                  </a:txBody>
                  <a:tcPr marL="27000" marR="27000" marT="27000" marB="27000" anchor="ctr">
                    <a:lnT w="28575" cap="flat" cmpd="sng" algn="ctr">
                      <a:solidFill>
                        <a:schemeClr val="bg1"/>
                      </a:solidFill>
                      <a:prstDash val="solid"/>
                      <a:round/>
                      <a:headEnd type="none" w="med" len="med"/>
                      <a:tailEnd type="none" w="med" len="med"/>
                    </a:lnT>
                  </a:tcPr>
                </a:tc>
                <a:tc>
                  <a:txBody>
                    <a:bodyPr/>
                    <a:lstStyle/>
                    <a:p>
                      <a:pPr algn="ctr"/>
                      <a:r>
                        <a:rPr lang="en-US" sz="900" dirty="0">
                          <a:latin typeface="+mn-lt"/>
                          <a:cs typeface="Times New Roman" panose="02020603050405020304" pitchFamily="18" charset="0"/>
                        </a:rPr>
                        <a:t>0</a:t>
                      </a:r>
                    </a:p>
                  </a:txBody>
                  <a:tcPr marL="27000" marR="27000" marT="27000" marB="27000" anchor="ctr">
                    <a:lnT w="28575" cap="flat" cmpd="sng" algn="ctr">
                      <a:solidFill>
                        <a:schemeClr val="bg1"/>
                      </a:solidFill>
                      <a:prstDash val="solid"/>
                      <a:round/>
                      <a:headEnd type="none" w="med" len="med"/>
                      <a:tailEnd type="none" w="med" len="med"/>
                    </a:lnT>
                  </a:tcPr>
                </a:tc>
                <a:tc>
                  <a:txBody>
                    <a:bodyPr/>
                    <a:lstStyle/>
                    <a:p>
                      <a:pPr algn="ctr"/>
                      <a:r>
                        <a:rPr lang="en-US" sz="900" dirty="0">
                          <a:latin typeface="+mn-lt"/>
                          <a:cs typeface="Times New Roman" panose="02020603050405020304" pitchFamily="18" charset="0"/>
                        </a:rPr>
                        <a:t>0</a:t>
                      </a:r>
                    </a:p>
                  </a:txBody>
                  <a:tcPr marL="27000" marR="27000" marT="27000" marB="27000" anchor="ctr">
                    <a:lnT w="28575" cap="flat" cmpd="sng" algn="ctr">
                      <a:solidFill>
                        <a:schemeClr val="bg1"/>
                      </a:solidFill>
                      <a:prstDash val="solid"/>
                      <a:round/>
                      <a:headEnd type="none" w="med" len="med"/>
                      <a:tailEnd type="none" w="med" len="med"/>
                    </a:lnT>
                  </a:tcPr>
                </a:tc>
                <a:extLst>
                  <a:ext uri="{0D108BD9-81ED-4DB2-BD59-A6C34878D82A}">
                    <a16:rowId xmlns:a16="http://schemas.microsoft.com/office/drawing/2014/main" val="10002"/>
                  </a:ext>
                </a:extLst>
              </a:tr>
              <a:tr h="196804">
                <a:tc>
                  <a:txBody>
                    <a:bodyPr/>
                    <a:lstStyle/>
                    <a:p>
                      <a:pPr algn="ctr"/>
                      <a:endParaRPr lang="en-US" sz="900" dirty="0">
                        <a:latin typeface="+mn-lt"/>
                        <a:cs typeface="Times New Roman" panose="02020603050405020304" pitchFamily="18" charset="0"/>
                      </a:endParaRPr>
                    </a:p>
                  </a:txBody>
                  <a:tcPr marL="27000" marR="27000" marT="27000" marB="27000" anchor="ctr"/>
                </a:tc>
                <a:tc>
                  <a:txBody>
                    <a:bodyPr/>
                    <a:lstStyle/>
                    <a:p>
                      <a:pPr algn="ctr"/>
                      <a:r>
                        <a:rPr lang="en-US" sz="900" dirty="0">
                          <a:latin typeface="+mn-lt"/>
                          <a:cs typeface="Times New Roman" panose="02020603050405020304" pitchFamily="18" charset="0"/>
                        </a:rPr>
                        <a:t>1</a:t>
                      </a:r>
                    </a:p>
                  </a:txBody>
                  <a:tcPr marL="27000" marR="27000" marT="27000" marB="27000" anchor="ctr"/>
                </a:tc>
                <a:tc>
                  <a:txBody>
                    <a:bodyPr/>
                    <a:lstStyle/>
                    <a:p>
                      <a:pPr algn="ctr"/>
                      <a:r>
                        <a:rPr lang="en-US" sz="900" dirty="0">
                          <a:latin typeface="+mn-lt"/>
                          <a:cs typeface="Times New Roman" panose="02020603050405020304" pitchFamily="18" charset="0"/>
                        </a:rPr>
                        <a:t>0001</a:t>
                      </a:r>
                    </a:p>
                  </a:txBody>
                  <a:tcPr marL="27000" marR="27000" marT="27000" marB="27000" anchor="ctr"/>
                </a:tc>
                <a:tc>
                  <a:txBody>
                    <a:bodyPr/>
                    <a:lstStyle/>
                    <a:p>
                      <a:pPr algn="ctr"/>
                      <a:r>
                        <a:rPr lang="en-US" sz="900" dirty="0">
                          <a:latin typeface="+mn-lt"/>
                          <a:cs typeface="Times New Roman" panose="02020603050405020304" pitchFamily="18" charset="0"/>
                        </a:rPr>
                        <a:t>1</a:t>
                      </a:r>
                    </a:p>
                  </a:txBody>
                  <a:tcPr marL="27000" marR="27000" marT="27000" marB="27000" anchor="ctr"/>
                </a:tc>
                <a:tc>
                  <a:txBody>
                    <a:bodyPr/>
                    <a:lstStyle/>
                    <a:p>
                      <a:pPr algn="ctr"/>
                      <a:r>
                        <a:rPr lang="en-US" sz="900" dirty="0">
                          <a:latin typeface="+mn-lt"/>
                          <a:cs typeface="Times New Roman" panose="02020603050405020304" pitchFamily="18" charset="0"/>
                        </a:rPr>
                        <a:t>1</a:t>
                      </a:r>
                    </a:p>
                  </a:txBody>
                  <a:tcPr marL="27000" marR="27000" marT="27000" marB="27000" anchor="ctr"/>
                </a:tc>
                <a:extLst>
                  <a:ext uri="{0D108BD9-81ED-4DB2-BD59-A6C34878D82A}">
                    <a16:rowId xmlns:a16="http://schemas.microsoft.com/office/drawing/2014/main" val="10003"/>
                  </a:ext>
                </a:extLst>
              </a:tr>
              <a:tr h="196804">
                <a:tc>
                  <a:txBody>
                    <a:bodyPr/>
                    <a:lstStyle/>
                    <a:p>
                      <a:pPr algn="ctr"/>
                      <a:endParaRPr lang="en-US" sz="900" dirty="0">
                        <a:latin typeface="+mn-lt"/>
                        <a:cs typeface="Times New Roman" panose="02020603050405020304" pitchFamily="18" charset="0"/>
                      </a:endParaRPr>
                    </a:p>
                  </a:txBody>
                  <a:tcPr marL="27000" marR="27000" marT="27000" marB="27000" anchor="ctr"/>
                </a:tc>
                <a:tc>
                  <a:txBody>
                    <a:bodyPr/>
                    <a:lstStyle/>
                    <a:p>
                      <a:pPr algn="ctr"/>
                      <a:r>
                        <a:rPr lang="en-US" sz="900" dirty="0">
                          <a:latin typeface="+mn-lt"/>
                          <a:cs typeface="Times New Roman" panose="02020603050405020304" pitchFamily="18" charset="0"/>
                        </a:rPr>
                        <a:t>2</a:t>
                      </a:r>
                    </a:p>
                  </a:txBody>
                  <a:tcPr marL="27000" marR="27000" marT="27000" marB="27000" anchor="ctr"/>
                </a:tc>
                <a:tc>
                  <a:txBody>
                    <a:bodyPr/>
                    <a:lstStyle/>
                    <a:p>
                      <a:pPr algn="ctr"/>
                      <a:r>
                        <a:rPr lang="en-US" sz="900" dirty="0">
                          <a:latin typeface="+mn-lt"/>
                          <a:cs typeface="Times New Roman" panose="02020603050405020304" pitchFamily="18" charset="0"/>
                        </a:rPr>
                        <a:t>0010</a:t>
                      </a:r>
                    </a:p>
                  </a:txBody>
                  <a:tcPr marL="27000" marR="27000" marT="27000" marB="27000" anchor="ctr"/>
                </a:tc>
                <a:tc>
                  <a:txBody>
                    <a:bodyPr/>
                    <a:lstStyle/>
                    <a:p>
                      <a:pPr algn="ctr"/>
                      <a:r>
                        <a:rPr lang="en-US" sz="900" dirty="0">
                          <a:latin typeface="+mn-lt"/>
                          <a:cs typeface="Times New Roman" panose="02020603050405020304" pitchFamily="18" charset="0"/>
                        </a:rPr>
                        <a:t>2</a:t>
                      </a:r>
                    </a:p>
                  </a:txBody>
                  <a:tcPr marL="27000" marR="27000" marT="27000" marB="27000" anchor="ctr"/>
                </a:tc>
                <a:tc>
                  <a:txBody>
                    <a:bodyPr/>
                    <a:lstStyle/>
                    <a:p>
                      <a:pPr algn="ctr"/>
                      <a:r>
                        <a:rPr lang="en-US" sz="900" dirty="0">
                          <a:latin typeface="+mn-lt"/>
                          <a:cs typeface="Times New Roman" panose="02020603050405020304" pitchFamily="18" charset="0"/>
                        </a:rPr>
                        <a:t>2</a:t>
                      </a:r>
                    </a:p>
                  </a:txBody>
                  <a:tcPr marL="27000" marR="27000" marT="27000" marB="27000" anchor="ctr"/>
                </a:tc>
                <a:extLst>
                  <a:ext uri="{0D108BD9-81ED-4DB2-BD59-A6C34878D82A}">
                    <a16:rowId xmlns:a16="http://schemas.microsoft.com/office/drawing/2014/main" val="10004"/>
                  </a:ext>
                </a:extLst>
              </a:tr>
              <a:tr h="196804">
                <a:tc>
                  <a:txBody>
                    <a:bodyPr/>
                    <a:lstStyle/>
                    <a:p>
                      <a:pPr algn="ctr"/>
                      <a:endParaRPr lang="en-US" sz="900" dirty="0">
                        <a:latin typeface="+mn-lt"/>
                        <a:cs typeface="Times New Roman" panose="02020603050405020304" pitchFamily="18" charset="0"/>
                      </a:endParaRPr>
                    </a:p>
                  </a:txBody>
                  <a:tcPr marL="27000" marR="27000" marT="27000" marB="27000" anchor="ctr"/>
                </a:tc>
                <a:tc>
                  <a:txBody>
                    <a:bodyPr/>
                    <a:lstStyle/>
                    <a:p>
                      <a:pPr algn="ctr"/>
                      <a:r>
                        <a:rPr lang="en-US" sz="900" dirty="0">
                          <a:latin typeface="+mn-lt"/>
                          <a:cs typeface="Times New Roman" panose="02020603050405020304" pitchFamily="18" charset="0"/>
                        </a:rPr>
                        <a:t>3</a:t>
                      </a:r>
                    </a:p>
                  </a:txBody>
                  <a:tcPr marL="27000" marR="27000" marT="27000" marB="27000" anchor="ctr"/>
                </a:tc>
                <a:tc>
                  <a:txBody>
                    <a:bodyPr/>
                    <a:lstStyle/>
                    <a:p>
                      <a:pPr algn="ctr"/>
                      <a:r>
                        <a:rPr lang="en-US" sz="900" dirty="0">
                          <a:latin typeface="+mn-lt"/>
                          <a:cs typeface="Times New Roman" panose="02020603050405020304" pitchFamily="18" charset="0"/>
                        </a:rPr>
                        <a:t>0011</a:t>
                      </a:r>
                    </a:p>
                  </a:txBody>
                  <a:tcPr marL="27000" marR="27000" marT="27000" marB="27000" anchor="ctr"/>
                </a:tc>
                <a:tc>
                  <a:txBody>
                    <a:bodyPr/>
                    <a:lstStyle/>
                    <a:p>
                      <a:pPr algn="ctr"/>
                      <a:r>
                        <a:rPr lang="en-US" sz="900" dirty="0">
                          <a:latin typeface="+mn-lt"/>
                          <a:cs typeface="Times New Roman" panose="02020603050405020304" pitchFamily="18" charset="0"/>
                        </a:rPr>
                        <a:t>3</a:t>
                      </a:r>
                    </a:p>
                  </a:txBody>
                  <a:tcPr marL="27000" marR="27000" marT="27000" marB="27000" anchor="ctr"/>
                </a:tc>
                <a:tc>
                  <a:txBody>
                    <a:bodyPr/>
                    <a:lstStyle/>
                    <a:p>
                      <a:pPr algn="ctr"/>
                      <a:r>
                        <a:rPr lang="en-US" sz="900" dirty="0">
                          <a:latin typeface="+mn-lt"/>
                          <a:cs typeface="Times New Roman" panose="02020603050405020304" pitchFamily="18" charset="0"/>
                        </a:rPr>
                        <a:t>3</a:t>
                      </a:r>
                    </a:p>
                  </a:txBody>
                  <a:tcPr marL="27000" marR="27000" marT="27000" marB="27000" anchor="ctr"/>
                </a:tc>
                <a:extLst>
                  <a:ext uri="{0D108BD9-81ED-4DB2-BD59-A6C34878D82A}">
                    <a16:rowId xmlns:a16="http://schemas.microsoft.com/office/drawing/2014/main" val="10005"/>
                  </a:ext>
                </a:extLst>
              </a:tr>
              <a:tr h="196804">
                <a:tc>
                  <a:txBody>
                    <a:bodyPr/>
                    <a:lstStyle/>
                    <a:p>
                      <a:pPr algn="ctr"/>
                      <a:endParaRPr lang="en-US" sz="900" dirty="0">
                        <a:latin typeface="+mn-lt"/>
                        <a:cs typeface="Times New Roman" panose="02020603050405020304" pitchFamily="18" charset="0"/>
                      </a:endParaRPr>
                    </a:p>
                  </a:txBody>
                  <a:tcPr marL="27000" marR="27000" marT="27000" marB="27000" anchor="ctr"/>
                </a:tc>
                <a:tc>
                  <a:txBody>
                    <a:bodyPr/>
                    <a:lstStyle/>
                    <a:p>
                      <a:pPr algn="ctr"/>
                      <a:r>
                        <a:rPr lang="en-US" sz="900" dirty="0">
                          <a:latin typeface="+mn-lt"/>
                          <a:cs typeface="Times New Roman" panose="02020603050405020304" pitchFamily="18" charset="0"/>
                        </a:rPr>
                        <a:t>4</a:t>
                      </a:r>
                    </a:p>
                  </a:txBody>
                  <a:tcPr marL="27000" marR="27000" marT="27000" marB="27000" anchor="ctr"/>
                </a:tc>
                <a:tc>
                  <a:txBody>
                    <a:bodyPr/>
                    <a:lstStyle/>
                    <a:p>
                      <a:pPr algn="ctr"/>
                      <a:r>
                        <a:rPr lang="en-US" sz="900" dirty="0">
                          <a:latin typeface="+mn-lt"/>
                          <a:cs typeface="Times New Roman" panose="02020603050405020304" pitchFamily="18" charset="0"/>
                        </a:rPr>
                        <a:t>0100</a:t>
                      </a:r>
                    </a:p>
                  </a:txBody>
                  <a:tcPr marL="27000" marR="27000" marT="27000" marB="27000" anchor="ctr"/>
                </a:tc>
                <a:tc>
                  <a:txBody>
                    <a:bodyPr/>
                    <a:lstStyle/>
                    <a:p>
                      <a:pPr algn="ctr"/>
                      <a:r>
                        <a:rPr lang="en-US" sz="900" dirty="0">
                          <a:latin typeface="+mn-lt"/>
                          <a:cs typeface="Times New Roman" panose="02020603050405020304" pitchFamily="18" charset="0"/>
                        </a:rPr>
                        <a:t>4</a:t>
                      </a:r>
                    </a:p>
                  </a:txBody>
                  <a:tcPr marL="27000" marR="27000" marT="27000" marB="27000" anchor="ctr"/>
                </a:tc>
                <a:tc>
                  <a:txBody>
                    <a:bodyPr/>
                    <a:lstStyle/>
                    <a:p>
                      <a:pPr algn="ctr"/>
                      <a:r>
                        <a:rPr lang="en-US" sz="900" dirty="0">
                          <a:latin typeface="+mn-lt"/>
                          <a:cs typeface="Times New Roman" panose="02020603050405020304" pitchFamily="18" charset="0"/>
                        </a:rPr>
                        <a:t>4</a:t>
                      </a:r>
                    </a:p>
                  </a:txBody>
                  <a:tcPr marL="27000" marR="27000" marT="27000" marB="27000" anchor="ctr"/>
                </a:tc>
                <a:extLst>
                  <a:ext uri="{0D108BD9-81ED-4DB2-BD59-A6C34878D82A}">
                    <a16:rowId xmlns:a16="http://schemas.microsoft.com/office/drawing/2014/main" val="10006"/>
                  </a:ext>
                </a:extLst>
              </a:tr>
              <a:tr h="196804">
                <a:tc>
                  <a:txBody>
                    <a:bodyPr/>
                    <a:lstStyle/>
                    <a:p>
                      <a:pPr algn="ctr"/>
                      <a:endParaRPr lang="en-US" sz="900" dirty="0">
                        <a:latin typeface="+mn-lt"/>
                        <a:cs typeface="Times New Roman" panose="02020603050405020304" pitchFamily="18" charset="0"/>
                      </a:endParaRPr>
                    </a:p>
                  </a:txBody>
                  <a:tcPr marL="27000" marR="27000" marT="27000" marB="27000" anchor="ctr"/>
                </a:tc>
                <a:tc>
                  <a:txBody>
                    <a:bodyPr/>
                    <a:lstStyle/>
                    <a:p>
                      <a:pPr algn="ctr"/>
                      <a:r>
                        <a:rPr lang="en-US" sz="900" dirty="0">
                          <a:latin typeface="+mn-lt"/>
                          <a:cs typeface="Times New Roman" panose="02020603050405020304" pitchFamily="18" charset="0"/>
                        </a:rPr>
                        <a:t>5</a:t>
                      </a:r>
                    </a:p>
                  </a:txBody>
                  <a:tcPr marL="27000" marR="27000" marT="27000" marB="27000" anchor="ctr"/>
                </a:tc>
                <a:tc>
                  <a:txBody>
                    <a:bodyPr/>
                    <a:lstStyle/>
                    <a:p>
                      <a:pPr algn="ctr"/>
                      <a:r>
                        <a:rPr lang="en-US" sz="900" dirty="0">
                          <a:latin typeface="+mn-lt"/>
                          <a:cs typeface="Times New Roman" panose="02020603050405020304" pitchFamily="18" charset="0"/>
                        </a:rPr>
                        <a:t>0101</a:t>
                      </a:r>
                    </a:p>
                  </a:txBody>
                  <a:tcPr marL="27000" marR="27000" marT="27000" marB="27000" anchor="ctr"/>
                </a:tc>
                <a:tc>
                  <a:txBody>
                    <a:bodyPr/>
                    <a:lstStyle/>
                    <a:p>
                      <a:pPr algn="ctr"/>
                      <a:r>
                        <a:rPr lang="en-US" sz="900" dirty="0">
                          <a:latin typeface="+mn-lt"/>
                          <a:cs typeface="Times New Roman" panose="02020603050405020304" pitchFamily="18" charset="0"/>
                        </a:rPr>
                        <a:t>5</a:t>
                      </a:r>
                    </a:p>
                  </a:txBody>
                  <a:tcPr marL="27000" marR="27000" marT="27000" marB="27000" anchor="ctr"/>
                </a:tc>
                <a:tc>
                  <a:txBody>
                    <a:bodyPr/>
                    <a:lstStyle/>
                    <a:p>
                      <a:pPr algn="ctr"/>
                      <a:r>
                        <a:rPr lang="en-US" sz="900" dirty="0">
                          <a:latin typeface="+mn-lt"/>
                          <a:cs typeface="Times New Roman" panose="02020603050405020304" pitchFamily="18" charset="0"/>
                        </a:rPr>
                        <a:t>5</a:t>
                      </a:r>
                    </a:p>
                  </a:txBody>
                  <a:tcPr marL="27000" marR="27000" marT="27000" marB="27000" anchor="ctr"/>
                </a:tc>
                <a:extLst>
                  <a:ext uri="{0D108BD9-81ED-4DB2-BD59-A6C34878D82A}">
                    <a16:rowId xmlns:a16="http://schemas.microsoft.com/office/drawing/2014/main" val="10007"/>
                  </a:ext>
                </a:extLst>
              </a:tr>
              <a:tr h="196804">
                <a:tc>
                  <a:txBody>
                    <a:bodyPr/>
                    <a:lstStyle/>
                    <a:p>
                      <a:pPr algn="ctr"/>
                      <a:endParaRPr lang="en-US" sz="900" dirty="0">
                        <a:latin typeface="+mn-lt"/>
                        <a:cs typeface="Times New Roman" panose="02020603050405020304" pitchFamily="18" charset="0"/>
                      </a:endParaRPr>
                    </a:p>
                  </a:txBody>
                  <a:tcPr marL="27000" marR="27000" marT="27000" marB="27000" anchor="ctr"/>
                </a:tc>
                <a:tc>
                  <a:txBody>
                    <a:bodyPr/>
                    <a:lstStyle/>
                    <a:p>
                      <a:pPr algn="ctr"/>
                      <a:r>
                        <a:rPr lang="en-US" sz="900" dirty="0">
                          <a:latin typeface="+mn-lt"/>
                          <a:cs typeface="Times New Roman" panose="02020603050405020304" pitchFamily="18" charset="0"/>
                        </a:rPr>
                        <a:t>6</a:t>
                      </a:r>
                    </a:p>
                  </a:txBody>
                  <a:tcPr marL="27000" marR="27000" marT="27000" marB="27000" anchor="ctr"/>
                </a:tc>
                <a:tc>
                  <a:txBody>
                    <a:bodyPr/>
                    <a:lstStyle/>
                    <a:p>
                      <a:pPr algn="ctr"/>
                      <a:r>
                        <a:rPr lang="en-US" sz="900" dirty="0">
                          <a:latin typeface="+mn-lt"/>
                          <a:cs typeface="Times New Roman" panose="02020603050405020304" pitchFamily="18" charset="0"/>
                        </a:rPr>
                        <a:t>0110</a:t>
                      </a:r>
                    </a:p>
                  </a:txBody>
                  <a:tcPr marL="27000" marR="27000" marT="27000" marB="27000" anchor="ctr"/>
                </a:tc>
                <a:tc>
                  <a:txBody>
                    <a:bodyPr/>
                    <a:lstStyle/>
                    <a:p>
                      <a:pPr algn="ctr"/>
                      <a:r>
                        <a:rPr lang="en-US" sz="900" dirty="0">
                          <a:latin typeface="+mn-lt"/>
                          <a:cs typeface="Times New Roman" panose="02020603050405020304" pitchFamily="18" charset="0"/>
                        </a:rPr>
                        <a:t>6</a:t>
                      </a:r>
                    </a:p>
                  </a:txBody>
                  <a:tcPr marL="27000" marR="27000" marT="27000" marB="27000" anchor="ctr"/>
                </a:tc>
                <a:tc>
                  <a:txBody>
                    <a:bodyPr/>
                    <a:lstStyle/>
                    <a:p>
                      <a:pPr algn="ctr"/>
                      <a:r>
                        <a:rPr lang="en-US" sz="900" dirty="0">
                          <a:latin typeface="+mn-lt"/>
                          <a:cs typeface="Times New Roman" panose="02020603050405020304" pitchFamily="18" charset="0"/>
                        </a:rPr>
                        <a:t>6</a:t>
                      </a:r>
                    </a:p>
                  </a:txBody>
                  <a:tcPr marL="27000" marR="27000" marT="27000" marB="27000" anchor="ctr"/>
                </a:tc>
                <a:extLst>
                  <a:ext uri="{0D108BD9-81ED-4DB2-BD59-A6C34878D82A}">
                    <a16:rowId xmlns:a16="http://schemas.microsoft.com/office/drawing/2014/main" val="10008"/>
                  </a:ext>
                </a:extLst>
              </a:tr>
              <a:tr h="196804">
                <a:tc>
                  <a:txBody>
                    <a:bodyPr/>
                    <a:lstStyle/>
                    <a:p>
                      <a:pPr algn="ctr"/>
                      <a:endParaRPr lang="en-US" sz="900" dirty="0">
                        <a:latin typeface="+mn-lt"/>
                        <a:cs typeface="Times New Roman" panose="02020603050405020304" pitchFamily="18" charset="0"/>
                      </a:endParaRPr>
                    </a:p>
                  </a:txBody>
                  <a:tcPr marL="27000" marR="27000" marT="27000" marB="27000" anchor="ctr"/>
                </a:tc>
                <a:tc>
                  <a:txBody>
                    <a:bodyPr/>
                    <a:lstStyle/>
                    <a:p>
                      <a:pPr algn="ctr"/>
                      <a:r>
                        <a:rPr lang="en-US" sz="900" dirty="0">
                          <a:latin typeface="+mn-lt"/>
                          <a:cs typeface="Times New Roman" panose="02020603050405020304" pitchFamily="18" charset="0"/>
                        </a:rPr>
                        <a:t>7</a:t>
                      </a:r>
                    </a:p>
                  </a:txBody>
                  <a:tcPr marL="27000" marR="27000" marT="27000" marB="27000" anchor="ctr"/>
                </a:tc>
                <a:tc>
                  <a:txBody>
                    <a:bodyPr/>
                    <a:lstStyle/>
                    <a:p>
                      <a:pPr algn="ctr"/>
                      <a:r>
                        <a:rPr lang="en-US" sz="900" dirty="0">
                          <a:latin typeface="+mn-lt"/>
                          <a:cs typeface="Times New Roman" panose="02020603050405020304" pitchFamily="18" charset="0"/>
                        </a:rPr>
                        <a:t>0111</a:t>
                      </a:r>
                    </a:p>
                  </a:txBody>
                  <a:tcPr marL="27000" marR="27000" marT="27000" marB="27000" anchor="ctr"/>
                </a:tc>
                <a:tc>
                  <a:txBody>
                    <a:bodyPr/>
                    <a:lstStyle/>
                    <a:p>
                      <a:pPr algn="ctr"/>
                      <a:r>
                        <a:rPr lang="en-US" sz="900" dirty="0">
                          <a:latin typeface="+mn-lt"/>
                          <a:cs typeface="Times New Roman" panose="02020603050405020304" pitchFamily="18" charset="0"/>
                        </a:rPr>
                        <a:t>7</a:t>
                      </a:r>
                    </a:p>
                  </a:txBody>
                  <a:tcPr marL="27000" marR="27000" marT="27000" marB="27000" anchor="ctr"/>
                </a:tc>
                <a:tc>
                  <a:txBody>
                    <a:bodyPr/>
                    <a:lstStyle/>
                    <a:p>
                      <a:pPr algn="ctr"/>
                      <a:r>
                        <a:rPr lang="en-US" sz="900" dirty="0">
                          <a:latin typeface="+mn-lt"/>
                          <a:cs typeface="Times New Roman" panose="02020603050405020304" pitchFamily="18" charset="0"/>
                        </a:rPr>
                        <a:t>7</a:t>
                      </a:r>
                    </a:p>
                  </a:txBody>
                  <a:tcPr marL="27000" marR="27000" marT="27000" marB="27000" anchor="ctr"/>
                </a:tc>
                <a:extLst>
                  <a:ext uri="{0D108BD9-81ED-4DB2-BD59-A6C34878D82A}">
                    <a16:rowId xmlns:a16="http://schemas.microsoft.com/office/drawing/2014/main" val="10009"/>
                  </a:ext>
                </a:extLst>
              </a:tr>
              <a:tr h="196804">
                <a:tc>
                  <a:txBody>
                    <a:bodyPr/>
                    <a:lstStyle/>
                    <a:p>
                      <a:pPr algn="ctr"/>
                      <a:endParaRPr lang="en-US" sz="900" dirty="0">
                        <a:latin typeface="+mn-lt"/>
                        <a:cs typeface="Times New Roman" panose="02020603050405020304" pitchFamily="18" charset="0"/>
                      </a:endParaRPr>
                    </a:p>
                  </a:txBody>
                  <a:tcPr marL="27000" marR="27000" marT="27000" marB="27000" anchor="ctr"/>
                </a:tc>
                <a:tc>
                  <a:txBody>
                    <a:bodyPr/>
                    <a:lstStyle/>
                    <a:p>
                      <a:pPr algn="ctr"/>
                      <a:r>
                        <a:rPr lang="en-US" sz="900" dirty="0">
                          <a:latin typeface="+mn-lt"/>
                          <a:cs typeface="Times New Roman" panose="02020603050405020304" pitchFamily="18" charset="0"/>
                        </a:rPr>
                        <a:t>8</a:t>
                      </a:r>
                    </a:p>
                  </a:txBody>
                  <a:tcPr marL="27000" marR="27000" marT="27000" marB="27000" anchor="ctr"/>
                </a:tc>
                <a:tc>
                  <a:txBody>
                    <a:bodyPr/>
                    <a:lstStyle/>
                    <a:p>
                      <a:pPr algn="ctr"/>
                      <a:r>
                        <a:rPr lang="en-US" sz="900" dirty="0">
                          <a:latin typeface="+mn-lt"/>
                          <a:cs typeface="Times New Roman" panose="02020603050405020304" pitchFamily="18" charset="0"/>
                        </a:rPr>
                        <a:t>1000</a:t>
                      </a:r>
                    </a:p>
                  </a:txBody>
                  <a:tcPr marL="27000" marR="27000" marT="27000" marB="27000" anchor="ctr"/>
                </a:tc>
                <a:tc>
                  <a:txBody>
                    <a:bodyPr/>
                    <a:lstStyle/>
                    <a:p>
                      <a:pPr algn="ctr"/>
                      <a:r>
                        <a:rPr lang="en-US" sz="900" dirty="0">
                          <a:latin typeface="+mn-lt"/>
                          <a:cs typeface="Times New Roman" panose="02020603050405020304" pitchFamily="18" charset="0"/>
                        </a:rPr>
                        <a:t>10</a:t>
                      </a:r>
                    </a:p>
                  </a:txBody>
                  <a:tcPr marL="27000" marR="27000" marT="27000" marB="27000" anchor="ctr"/>
                </a:tc>
                <a:tc>
                  <a:txBody>
                    <a:bodyPr/>
                    <a:lstStyle/>
                    <a:p>
                      <a:pPr algn="ctr"/>
                      <a:r>
                        <a:rPr lang="en-US" sz="900" dirty="0">
                          <a:latin typeface="+mn-lt"/>
                          <a:cs typeface="Times New Roman" panose="02020603050405020304" pitchFamily="18" charset="0"/>
                        </a:rPr>
                        <a:t>8</a:t>
                      </a:r>
                    </a:p>
                  </a:txBody>
                  <a:tcPr marL="27000" marR="27000" marT="27000" marB="27000" anchor="ctr"/>
                </a:tc>
                <a:extLst>
                  <a:ext uri="{0D108BD9-81ED-4DB2-BD59-A6C34878D82A}">
                    <a16:rowId xmlns:a16="http://schemas.microsoft.com/office/drawing/2014/main" val="10010"/>
                  </a:ext>
                </a:extLst>
              </a:tr>
              <a:tr h="196804">
                <a:tc>
                  <a:txBody>
                    <a:bodyPr/>
                    <a:lstStyle/>
                    <a:p>
                      <a:pPr algn="ctr"/>
                      <a:endParaRPr lang="en-US" sz="900" dirty="0">
                        <a:latin typeface="+mn-lt"/>
                        <a:cs typeface="Times New Roman" panose="02020603050405020304" pitchFamily="18" charset="0"/>
                      </a:endParaRPr>
                    </a:p>
                  </a:txBody>
                  <a:tcPr marL="27000" marR="27000" marT="27000" marB="27000" anchor="ctr"/>
                </a:tc>
                <a:tc>
                  <a:txBody>
                    <a:bodyPr/>
                    <a:lstStyle/>
                    <a:p>
                      <a:pPr algn="ctr"/>
                      <a:r>
                        <a:rPr lang="en-US" sz="900" dirty="0">
                          <a:latin typeface="+mn-lt"/>
                          <a:cs typeface="Times New Roman" panose="02020603050405020304" pitchFamily="18" charset="0"/>
                        </a:rPr>
                        <a:t>9</a:t>
                      </a:r>
                    </a:p>
                  </a:txBody>
                  <a:tcPr marL="27000" marR="27000" marT="27000" marB="27000" anchor="ctr"/>
                </a:tc>
                <a:tc>
                  <a:txBody>
                    <a:bodyPr/>
                    <a:lstStyle/>
                    <a:p>
                      <a:pPr algn="ctr"/>
                      <a:r>
                        <a:rPr lang="en-US" sz="900" dirty="0">
                          <a:latin typeface="+mn-lt"/>
                          <a:cs typeface="Times New Roman" panose="02020603050405020304" pitchFamily="18" charset="0"/>
                        </a:rPr>
                        <a:t>1001</a:t>
                      </a:r>
                    </a:p>
                  </a:txBody>
                  <a:tcPr marL="27000" marR="27000" marT="27000" marB="27000" anchor="ctr"/>
                </a:tc>
                <a:tc>
                  <a:txBody>
                    <a:bodyPr/>
                    <a:lstStyle/>
                    <a:p>
                      <a:pPr algn="ctr"/>
                      <a:r>
                        <a:rPr lang="en-US" sz="900" dirty="0">
                          <a:latin typeface="+mn-lt"/>
                          <a:cs typeface="Times New Roman" panose="02020603050405020304" pitchFamily="18" charset="0"/>
                        </a:rPr>
                        <a:t>11</a:t>
                      </a:r>
                    </a:p>
                  </a:txBody>
                  <a:tcPr marL="27000" marR="27000" marT="27000" marB="27000" anchor="ctr"/>
                </a:tc>
                <a:tc>
                  <a:txBody>
                    <a:bodyPr/>
                    <a:lstStyle/>
                    <a:p>
                      <a:pPr algn="ctr"/>
                      <a:r>
                        <a:rPr lang="en-US" sz="900" dirty="0">
                          <a:latin typeface="+mn-lt"/>
                          <a:cs typeface="Times New Roman" panose="02020603050405020304" pitchFamily="18" charset="0"/>
                        </a:rPr>
                        <a:t>9</a:t>
                      </a:r>
                    </a:p>
                  </a:txBody>
                  <a:tcPr marL="27000" marR="27000" marT="27000" marB="27000" anchor="ctr"/>
                </a:tc>
                <a:extLst>
                  <a:ext uri="{0D108BD9-81ED-4DB2-BD59-A6C34878D82A}">
                    <a16:rowId xmlns:a16="http://schemas.microsoft.com/office/drawing/2014/main" val="10011"/>
                  </a:ext>
                </a:extLst>
              </a:tr>
              <a:tr h="196804">
                <a:tc>
                  <a:txBody>
                    <a:bodyPr/>
                    <a:lstStyle/>
                    <a:p>
                      <a:pPr algn="ctr"/>
                      <a:endParaRPr lang="en-US" sz="900" dirty="0">
                        <a:latin typeface="+mn-lt"/>
                        <a:cs typeface="Times New Roman" panose="02020603050405020304" pitchFamily="18" charset="0"/>
                      </a:endParaRPr>
                    </a:p>
                  </a:txBody>
                  <a:tcPr marL="27000" marR="27000" marT="27000" marB="27000" anchor="ctr"/>
                </a:tc>
                <a:tc>
                  <a:txBody>
                    <a:bodyPr/>
                    <a:lstStyle/>
                    <a:p>
                      <a:pPr algn="ctr"/>
                      <a:r>
                        <a:rPr lang="en-US" sz="900" dirty="0">
                          <a:latin typeface="+mn-lt"/>
                          <a:cs typeface="Times New Roman" panose="02020603050405020304" pitchFamily="18" charset="0"/>
                        </a:rPr>
                        <a:t>10</a:t>
                      </a:r>
                    </a:p>
                  </a:txBody>
                  <a:tcPr marL="27000" marR="27000" marT="27000" marB="27000" anchor="ctr"/>
                </a:tc>
                <a:tc>
                  <a:txBody>
                    <a:bodyPr/>
                    <a:lstStyle/>
                    <a:p>
                      <a:pPr algn="ctr"/>
                      <a:r>
                        <a:rPr lang="en-US" sz="900" dirty="0">
                          <a:latin typeface="+mn-lt"/>
                          <a:cs typeface="Times New Roman" panose="02020603050405020304" pitchFamily="18" charset="0"/>
                        </a:rPr>
                        <a:t>1010</a:t>
                      </a:r>
                    </a:p>
                  </a:txBody>
                  <a:tcPr marL="27000" marR="27000" marT="27000" marB="27000" anchor="ctr"/>
                </a:tc>
                <a:tc>
                  <a:txBody>
                    <a:bodyPr/>
                    <a:lstStyle/>
                    <a:p>
                      <a:pPr algn="ctr"/>
                      <a:r>
                        <a:rPr lang="en-US" sz="900" dirty="0">
                          <a:latin typeface="+mn-lt"/>
                          <a:cs typeface="Times New Roman" panose="02020603050405020304" pitchFamily="18" charset="0"/>
                        </a:rPr>
                        <a:t>12</a:t>
                      </a:r>
                    </a:p>
                  </a:txBody>
                  <a:tcPr marL="27000" marR="27000" marT="27000" marB="27000" anchor="ctr"/>
                </a:tc>
                <a:tc>
                  <a:txBody>
                    <a:bodyPr/>
                    <a:lstStyle/>
                    <a:p>
                      <a:pPr algn="ctr"/>
                      <a:r>
                        <a:rPr lang="en-US" sz="900" dirty="0">
                          <a:latin typeface="+mn-lt"/>
                          <a:cs typeface="Times New Roman" panose="02020603050405020304" pitchFamily="18" charset="0"/>
                        </a:rPr>
                        <a:t>A</a:t>
                      </a:r>
                    </a:p>
                  </a:txBody>
                  <a:tcPr marL="27000" marR="27000" marT="27000" marB="27000" anchor="ctr"/>
                </a:tc>
                <a:extLst>
                  <a:ext uri="{0D108BD9-81ED-4DB2-BD59-A6C34878D82A}">
                    <a16:rowId xmlns:a16="http://schemas.microsoft.com/office/drawing/2014/main" val="10012"/>
                  </a:ext>
                </a:extLst>
              </a:tr>
              <a:tr h="196804">
                <a:tc>
                  <a:txBody>
                    <a:bodyPr/>
                    <a:lstStyle/>
                    <a:p>
                      <a:pPr algn="ctr"/>
                      <a:endParaRPr lang="en-US" sz="900" dirty="0">
                        <a:latin typeface="+mn-lt"/>
                        <a:cs typeface="Times New Roman" panose="02020603050405020304" pitchFamily="18" charset="0"/>
                      </a:endParaRPr>
                    </a:p>
                  </a:txBody>
                  <a:tcPr marL="27000" marR="27000" marT="27000" marB="27000" anchor="ctr"/>
                </a:tc>
                <a:tc>
                  <a:txBody>
                    <a:bodyPr/>
                    <a:lstStyle/>
                    <a:p>
                      <a:pPr algn="ctr"/>
                      <a:r>
                        <a:rPr lang="en-US" sz="900" dirty="0">
                          <a:latin typeface="+mn-lt"/>
                          <a:cs typeface="Times New Roman" panose="02020603050405020304" pitchFamily="18" charset="0"/>
                        </a:rPr>
                        <a:t>11</a:t>
                      </a:r>
                    </a:p>
                  </a:txBody>
                  <a:tcPr marL="27000" marR="27000" marT="27000" marB="27000" anchor="ctr"/>
                </a:tc>
                <a:tc>
                  <a:txBody>
                    <a:bodyPr/>
                    <a:lstStyle/>
                    <a:p>
                      <a:pPr algn="ctr"/>
                      <a:r>
                        <a:rPr lang="en-US" sz="900" dirty="0">
                          <a:latin typeface="+mn-lt"/>
                          <a:cs typeface="Times New Roman" panose="02020603050405020304" pitchFamily="18" charset="0"/>
                        </a:rPr>
                        <a:t>1011</a:t>
                      </a:r>
                    </a:p>
                  </a:txBody>
                  <a:tcPr marL="27000" marR="27000" marT="27000" marB="27000" anchor="ctr"/>
                </a:tc>
                <a:tc>
                  <a:txBody>
                    <a:bodyPr/>
                    <a:lstStyle/>
                    <a:p>
                      <a:pPr algn="ctr"/>
                      <a:r>
                        <a:rPr lang="en-US" sz="900" dirty="0">
                          <a:latin typeface="+mn-lt"/>
                          <a:cs typeface="Times New Roman" panose="02020603050405020304" pitchFamily="18" charset="0"/>
                        </a:rPr>
                        <a:t>13</a:t>
                      </a:r>
                    </a:p>
                  </a:txBody>
                  <a:tcPr marL="27000" marR="27000" marT="27000" marB="27000" anchor="ctr"/>
                </a:tc>
                <a:tc>
                  <a:txBody>
                    <a:bodyPr/>
                    <a:lstStyle/>
                    <a:p>
                      <a:pPr algn="ctr"/>
                      <a:r>
                        <a:rPr lang="en-US" sz="900" dirty="0">
                          <a:latin typeface="+mn-lt"/>
                          <a:cs typeface="Times New Roman" panose="02020603050405020304" pitchFamily="18" charset="0"/>
                        </a:rPr>
                        <a:t>B</a:t>
                      </a:r>
                    </a:p>
                  </a:txBody>
                  <a:tcPr marL="27000" marR="27000" marT="27000" marB="27000" anchor="ctr"/>
                </a:tc>
                <a:extLst>
                  <a:ext uri="{0D108BD9-81ED-4DB2-BD59-A6C34878D82A}">
                    <a16:rowId xmlns:a16="http://schemas.microsoft.com/office/drawing/2014/main" val="10013"/>
                  </a:ext>
                </a:extLst>
              </a:tr>
              <a:tr h="196804">
                <a:tc>
                  <a:txBody>
                    <a:bodyPr/>
                    <a:lstStyle/>
                    <a:p>
                      <a:pPr algn="ctr"/>
                      <a:endParaRPr lang="en-US" sz="900" dirty="0">
                        <a:latin typeface="+mn-lt"/>
                        <a:cs typeface="Times New Roman" panose="02020603050405020304" pitchFamily="18" charset="0"/>
                      </a:endParaRPr>
                    </a:p>
                  </a:txBody>
                  <a:tcPr marL="27000" marR="27000" marT="27000" marB="27000" anchor="ctr"/>
                </a:tc>
                <a:tc>
                  <a:txBody>
                    <a:bodyPr/>
                    <a:lstStyle/>
                    <a:p>
                      <a:pPr algn="ctr"/>
                      <a:r>
                        <a:rPr lang="en-US" sz="900" dirty="0">
                          <a:latin typeface="+mn-lt"/>
                          <a:cs typeface="Times New Roman" panose="02020603050405020304" pitchFamily="18" charset="0"/>
                        </a:rPr>
                        <a:t>12</a:t>
                      </a:r>
                    </a:p>
                  </a:txBody>
                  <a:tcPr marL="27000" marR="27000" marT="27000" marB="27000" anchor="ctr"/>
                </a:tc>
                <a:tc>
                  <a:txBody>
                    <a:bodyPr/>
                    <a:lstStyle/>
                    <a:p>
                      <a:pPr algn="ctr"/>
                      <a:r>
                        <a:rPr lang="en-US" sz="900" dirty="0">
                          <a:latin typeface="+mn-lt"/>
                          <a:cs typeface="Times New Roman" panose="02020603050405020304" pitchFamily="18" charset="0"/>
                        </a:rPr>
                        <a:t>1100</a:t>
                      </a:r>
                    </a:p>
                  </a:txBody>
                  <a:tcPr marL="27000" marR="27000" marT="27000" marB="27000" anchor="ctr"/>
                </a:tc>
                <a:tc>
                  <a:txBody>
                    <a:bodyPr/>
                    <a:lstStyle/>
                    <a:p>
                      <a:pPr algn="ctr"/>
                      <a:r>
                        <a:rPr lang="en-US" sz="900" dirty="0">
                          <a:latin typeface="+mn-lt"/>
                          <a:cs typeface="Times New Roman" panose="02020603050405020304" pitchFamily="18" charset="0"/>
                        </a:rPr>
                        <a:t>14</a:t>
                      </a:r>
                    </a:p>
                  </a:txBody>
                  <a:tcPr marL="27000" marR="27000" marT="27000" marB="27000" anchor="ctr"/>
                </a:tc>
                <a:tc>
                  <a:txBody>
                    <a:bodyPr/>
                    <a:lstStyle/>
                    <a:p>
                      <a:pPr algn="ctr"/>
                      <a:r>
                        <a:rPr lang="en-US" sz="900" dirty="0">
                          <a:latin typeface="+mn-lt"/>
                          <a:cs typeface="Times New Roman" panose="02020603050405020304" pitchFamily="18" charset="0"/>
                        </a:rPr>
                        <a:t>C</a:t>
                      </a:r>
                    </a:p>
                  </a:txBody>
                  <a:tcPr marL="27000" marR="27000" marT="27000" marB="27000" anchor="ctr"/>
                </a:tc>
                <a:extLst>
                  <a:ext uri="{0D108BD9-81ED-4DB2-BD59-A6C34878D82A}">
                    <a16:rowId xmlns:a16="http://schemas.microsoft.com/office/drawing/2014/main" val="10014"/>
                  </a:ext>
                </a:extLst>
              </a:tr>
              <a:tr h="196804">
                <a:tc>
                  <a:txBody>
                    <a:bodyPr/>
                    <a:lstStyle/>
                    <a:p>
                      <a:pPr algn="ctr"/>
                      <a:endParaRPr lang="en-US" sz="900" dirty="0">
                        <a:latin typeface="+mn-lt"/>
                        <a:cs typeface="Times New Roman" panose="02020603050405020304" pitchFamily="18" charset="0"/>
                      </a:endParaRPr>
                    </a:p>
                  </a:txBody>
                  <a:tcPr marL="27000" marR="27000" marT="27000" marB="27000" anchor="ctr"/>
                </a:tc>
                <a:tc>
                  <a:txBody>
                    <a:bodyPr/>
                    <a:lstStyle/>
                    <a:p>
                      <a:pPr algn="ctr"/>
                      <a:r>
                        <a:rPr lang="en-US" sz="900" dirty="0">
                          <a:latin typeface="+mn-lt"/>
                          <a:cs typeface="Times New Roman" panose="02020603050405020304" pitchFamily="18" charset="0"/>
                        </a:rPr>
                        <a:t>13</a:t>
                      </a:r>
                    </a:p>
                  </a:txBody>
                  <a:tcPr marL="27000" marR="27000" marT="27000" marB="27000" anchor="ctr"/>
                </a:tc>
                <a:tc>
                  <a:txBody>
                    <a:bodyPr/>
                    <a:lstStyle/>
                    <a:p>
                      <a:pPr algn="ctr"/>
                      <a:r>
                        <a:rPr lang="en-US" sz="900" dirty="0">
                          <a:latin typeface="+mn-lt"/>
                          <a:cs typeface="Times New Roman" panose="02020603050405020304" pitchFamily="18" charset="0"/>
                        </a:rPr>
                        <a:t>1101</a:t>
                      </a:r>
                    </a:p>
                  </a:txBody>
                  <a:tcPr marL="27000" marR="27000" marT="27000" marB="27000" anchor="ctr"/>
                </a:tc>
                <a:tc>
                  <a:txBody>
                    <a:bodyPr/>
                    <a:lstStyle/>
                    <a:p>
                      <a:pPr algn="ctr"/>
                      <a:r>
                        <a:rPr lang="en-US" sz="900" dirty="0">
                          <a:latin typeface="+mn-lt"/>
                          <a:cs typeface="Times New Roman" panose="02020603050405020304" pitchFamily="18" charset="0"/>
                        </a:rPr>
                        <a:t>15</a:t>
                      </a:r>
                    </a:p>
                  </a:txBody>
                  <a:tcPr marL="27000" marR="27000" marT="27000" marB="27000" anchor="ctr"/>
                </a:tc>
                <a:tc>
                  <a:txBody>
                    <a:bodyPr/>
                    <a:lstStyle/>
                    <a:p>
                      <a:pPr algn="ctr"/>
                      <a:r>
                        <a:rPr lang="en-US" sz="900" dirty="0">
                          <a:latin typeface="+mn-lt"/>
                          <a:cs typeface="Times New Roman" panose="02020603050405020304" pitchFamily="18" charset="0"/>
                        </a:rPr>
                        <a:t>D</a:t>
                      </a:r>
                    </a:p>
                  </a:txBody>
                  <a:tcPr marL="27000" marR="27000" marT="27000" marB="27000" anchor="ctr"/>
                </a:tc>
                <a:extLst>
                  <a:ext uri="{0D108BD9-81ED-4DB2-BD59-A6C34878D82A}">
                    <a16:rowId xmlns:a16="http://schemas.microsoft.com/office/drawing/2014/main" val="10015"/>
                  </a:ext>
                </a:extLst>
              </a:tr>
              <a:tr h="196804">
                <a:tc>
                  <a:txBody>
                    <a:bodyPr/>
                    <a:lstStyle/>
                    <a:p>
                      <a:pPr algn="ctr"/>
                      <a:endParaRPr lang="en-US" sz="900" dirty="0">
                        <a:latin typeface="+mn-lt"/>
                        <a:cs typeface="Times New Roman" panose="02020603050405020304" pitchFamily="18" charset="0"/>
                      </a:endParaRPr>
                    </a:p>
                  </a:txBody>
                  <a:tcPr marL="27000" marR="27000" marT="27000" marB="27000" anchor="ctr"/>
                </a:tc>
                <a:tc>
                  <a:txBody>
                    <a:bodyPr/>
                    <a:lstStyle/>
                    <a:p>
                      <a:pPr algn="ctr"/>
                      <a:r>
                        <a:rPr lang="en-US" sz="900" dirty="0">
                          <a:latin typeface="+mn-lt"/>
                          <a:cs typeface="Times New Roman" panose="02020603050405020304" pitchFamily="18" charset="0"/>
                        </a:rPr>
                        <a:t>14</a:t>
                      </a:r>
                    </a:p>
                  </a:txBody>
                  <a:tcPr marL="27000" marR="27000" marT="27000" marB="27000" anchor="ctr"/>
                </a:tc>
                <a:tc>
                  <a:txBody>
                    <a:bodyPr/>
                    <a:lstStyle/>
                    <a:p>
                      <a:pPr algn="ctr"/>
                      <a:r>
                        <a:rPr lang="en-US" sz="900" dirty="0">
                          <a:latin typeface="+mn-lt"/>
                          <a:cs typeface="Times New Roman" panose="02020603050405020304" pitchFamily="18" charset="0"/>
                        </a:rPr>
                        <a:t>1110</a:t>
                      </a:r>
                    </a:p>
                  </a:txBody>
                  <a:tcPr marL="27000" marR="27000" marT="27000" marB="27000" anchor="ctr"/>
                </a:tc>
                <a:tc>
                  <a:txBody>
                    <a:bodyPr/>
                    <a:lstStyle/>
                    <a:p>
                      <a:pPr algn="ctr"/>
                      <a:r>
                        <a:rPr lang="en-US" sz="900" dirty="0">
                          <a:latin typeface="+mn-lt"/>
                          <a:cs typeface="Times New Roman" panose="02020603050405020304" pitchFamily="18" charset="0"/>
                        </a:rPr>
                        <a:t>16</a:t>
                      </a:r>
                    </a:p>
                  </a:txBody>
                  <a:tcPr marL="27000" marR="27000" marT="27000" marB="27000" anchor="ctr"/>
                </a:tc>
                <a:tc>
                  <a:txBody>
                    <a:bodyPr/>
                    <a:lstStyle/>
                    <a:p>
                      <a:pPr algn="ctr"/>
                      <a:r>
                        <a:rPr lang="en-US" sz="900" dirty="0">
                          <a:latin typeface="+mn-lt"/>
                          <a:cs typeface="Times New Roman" panose="02020603050405020304" pitchFamily="18" charset="0"/>
                        </a:rPr>
                        <a:t>E</a:t>
                      </a:r>
                    </a:p>
                  </a:txBody>
                  <a:tcPr marL="27000" marR="27000" marT="27000" marB="27000" anchor="ctr"/>
                </a:tc>
                <a:extLst>
                  <a:ext uri="{0D108BD9-81ED-4DB2-BD59-A6C34878D82A}">
                    <a16:rowId xmlns:a16="http://schemas.microsoft.com/office/drawing/2014/main" val="10016"/>
                  </a:ext>
                </a:extLst>
              </a:tr>
              <a:tr h="196804">
                <a:tc>
                  <a:txBody>
                    <a:bodyPr/>
                    <a:lstStyle/>
                    <a:p>
                      <a:pPr algn="ctr"/>
                      <a:endParaRPr lang="en-US" sz="900" dirty="0">
                        <a:latin typeface="+mn-lt"/>
                        <a:cs typeface="Times New Roman" panose="02020603050405020304" pitchFamily="18" charset="0"/>
                      </a:endParaRPr>
                    </a:p>
                  </a:txBody>
                  <a:tcPr marL="27000" marR="27000" marT="27000" marB="27000" anchor="ctr"/>
                </a:tc>
                <a:tc>
                  <a:txBody>
                    <a:bodyPr/>
                    <a:lstStyle/>
                    <a:p>
                      <a:pPr algn="ctr"/>
                      <a:r>
                        <a:rPr lang="en-US" sz="900" dirty="0">
                          <a:latin typeface="+mn-lt"/>
                          <a:cs typeface="Times New Roman" panose="02020603050405020304" pitchFamily="18" charset="0"/>
                        </a:rPr>
                        <a:t>15</a:t>
                      </a:r>
                    </a:p>
                  </a:txBody>
                  <a:tcPr marL="27000" marR="27000" marT="27000" marB="27000" anchor="ctr"/>
                </a:tc>
                <a:tc>
                  <a:txBody>
                    <a:bodyPr/>
                    <a:lstStyle/>
                    <a:p>
                      <a:pPr algn="ctr"/>
                      <a:r>
                        <a:rPr lang="en-US" sz="900" dirty="0">
                          <a:latin typeface="+mn-lt"/>
                          <a:cs typeface="Times New Roman" panose="02020603050405020304" pitchFamily="18" charset="0"/>
                        </a:rPr>
                        <a:t>1111</a:t>
                      </a:r>
                    </a:p>
                  </a:txBody>
                  <a:tcPr marL="27000" marR="27000" marT="27000" marB="27000" anchor="ctr"/>
                </a:tc>
                <a:tc>
                  <a:txBody>
                    <a:bodyPr/>
                    <a:lstStyle/>
                    <a:p>
                      <a:pPr algn="ctr"/>
                      <a:r>
                        <a:rPr lang="en-US" sz="900" dirty="0">
                          <a:latin typeface="+mn-lt"/>
                          <a:cs typeface="Times New Roman" panose="02020603050405020304" pitchFamily="18" charset="0"/>
                        </a:rPr>
                        <a:t>17</a:t>
                      </a:r>
                    </a:p>
                  </a:txBody>
                  <a:tcPr marL="27000" marR="27000" marT="27000" marB="27000" anchor="ctr"/>
                </a:tc>
                <a:tc>
                  <a:txBody>
                    <a:bodyPr/>
                    <a:lstStyle/>
                    <a:p>
                      <a:pPr algn="ctr"/>
                      <a:r>
                        <a:rPr lang="en-US" sz="900" dirty="0">
                          <a:latin typeface="+mn-lt"/>
                          <a:cs typeface="Times New Roman" panose="02020603050405020304" pitchFamily="18" charset="0"/>
                        </a:rPr>
                        <a:t>F</a:t>
                      </a:r>
                    </a:p>
                  </a:txBody>
                  <a:tcPr marL="27000" marR="27000" marT="27000" marB="27000" anchor="ctr"/>
                </a:tc>
                <a:extLst>
                  <a:ext uri="{0D108BD9-81ED-4DB2-BD59-A6C34878D82A}">
                    <a16:rowId xmlns:a16="http://schemas.microsoft.com/office/drawing/2014/main" val="10017"/>
                  </a:ext>
                </a:extLst>
              </a:tr>
              <a:tr h="196804">
                <a:tc>
                  <a:txBody>
                    <a:bodyPr/>
                    <a:lstStyle/>
                    <a:p>
                      <a:pPr algn="ctr"/>
                      <a:endParaRPr lang="en-US" sz="900" dirty="0">
                        <a:latin typeface="+mn-lt"/>
                        <a:cs typeface="Times New Roman" panose="02020603050405020304" pitchFamily="18" charset="0"/>
                      </a:endParaRPr>
                    </a:p>
                  </a:txBody>
                  <a:tcPr marL="27000" marR="27000" marT="27000" marB="27000" anchor="ctr"/>
                </a:tc>
                <a:tc>
                  <a:txBody>
                    <a:bodyPr/>
                    <a:lstStyle/>
                    <a:p>
                      <a:pPr algn="ctr"/>
                      <a:r>
                        <a:rPr lang="en-US" sz="900" dirty="0">
                          <a:latin typeface="+mn-lt"/>
                          <a:cs typeface="Times New Roman" panose="02020603050405020304" pitchFamily="18" charset="0"/>
                        </a:rPr>
                        <a:t>16</a:t>
                      </a:r>
                    </a:p>
                  </a:txBody>
                  <a:tcPr marL="27000" marR="27000" marT="27000" marB="27000" anchor="ctr"/>
                </a:tc>
                <a:tc>
                  <a:txBody>
                    <a:bodyPr/>
                    <a:lstStyle/>
                    <a:p>
                      <a:pPr algn="ctr"/>
                      <a:r>
                        <a:rPr lang="en-US" sz="900" dirty="0">
                          <a:latin typeface="+mn-lt"/>
                          <a:cs typeface="Times New Roman" panose="02020603050405020304" pitchFamily="18" charset="0"/>
                        </a:rPr>
                        <a:t>10000</a:t>
                      </a:r>
                    </a:p>
                  </a:txBody>
                  <a:tcPr marL="27000" marR="27000" marT="27000" marB="27000" anchor="ctr"/>
                </a:tc>
                <a:tc>
                  <a:txBody>
                    <a:bodyPr/>
                    <a:lstStyle/>
                    <a:p>
                      <a:pPr algn="ctr"/>
                      <a:r>
                        <a:rPr lang="en-US" sz="900" dirty="0">
                          <a:latin typeface="+mn-lt"/>
                          <a:cs typeface="Times New Roman" panose="02020603050405020304" pitchFamily="18" charset="0"/>
                        </a:rPr>
                        <a:t>20</a:t>
                      </a:r>
                    </a:p>
                  </a:txBody>
                  <a:tcPr marL="27000" marR="27000" marT="27000" marB="27000" anchor="ctr"/>
                </a:tc>
                <a:tc>
                  <a:txBody>
                    <a:bodyPr/>
                    <a:lstStyle/>
                    <a:p>
                      <a:pPr algn="ctr"/>
                      <a:r>
                        <a:rPr lang="en-US" sz="900" dirty="0">
                          <a:latin typeface="+mn-lt"/>
                          <a:cs typeface="Times New Roman" panose="02020603050405020304" pitchFamily="18" charset="0"/>
                        </a:rPr>
                        <a:t>10</a:t>
                      </a:r>
                    </a:p>
                  </a:txBody>
                  <a:tcPr marL="27000" marR="27000" marT="27000" marB="27000" anchor="ctr"/>
                </a:tc>
                <a:extLst>
                  <a:ext uri="{0D108BD9-81ED-4DB2-BD59-A6C34878D82A}">
                    <a16:rowId xmlns:a16="http://schemas.microsoft.com/office/drawing/2014/main" val="10018"/>
                  </a:ext>
                </a:extLst>
              </a:tr>
            </a:tbl>
          </a:graphicData>
        </a:graphic>
      </p:graphicFrame>
      <p:sp>
        <p:nvSpPr>
          <p:cNvPr id="3" name="灯片编号占位符 2"/>
          <p:cNvSpPr>
            <a:spLocks noGrp="1"/>
          </p:cNvSpPr>
          <p:nvPr>
            <p:ph type="sldNum" sz="quarter" idx="10"/>
          </p:nvPr>
        </p:nvSpPr>
        <p:spPr/>
        <p:txBody>
          <a:bodyPr/>
          <a:lstStyle/>
          <a:p>
            <a:fld id="{D9B6BDF2-6896-4B98-8776-C18582F63BA5}" type="slidenum">
              <a:rPr lang="zh-TW" altLang="en-US" smtClean="0"/>
              <a:t>5</a:t>
            </a:fld>
            <a:endParaRPr lang="zh-TW" altLang="en-US"/>
          </a:p>
        </p:txBody>
      </p:sp>
      <p:sp>
        <p:nvSpPr>
          <p:cNvPr id="5" name="Oval 4">
            <a:extLst>
              <a:ext uri="{FF2B5EF4-FFF2-40B4-BE49-F238E27FC236}">
                <a16:creationId xmlns:a16="http://schemas.microsoft.com/office/drawing/2014/main" id="{70662142-0752-45B0-82FA-0E2BA38AB472}"/>
              </a:ext>
            </a:extLst>
          </p:cNvPr>
          <p:cNvSpPr/>
          <p:nvPr/>
        </p:nvSpPr>
        <p:spPr bwMode="auto">
          <a:xfrm>
            <a:off x="2738656" y="734941"/>
            <a:ext cx="1242874" cy="519112"/>
          </a:xfrm>
          <a:prstGeom prst="ellipse">
            <a:avLst/>
          </a:prstGeom>
          <a:noFill/>
          <a:ln w="38100" cap="flat" cmpd="sng" algn="ctr">
            <a:solidFill>
              <a:srgbClr val="FF0000"/>
            </a:solidFill>
            <a:prstDash val="solid"/>
            <a:round/>
            <a:headEnd type="none" w="med" len="med"/>
            <a:tailEnd type="none" w="med" len="med"/>
          </a:ln>
        </p:spPr>
        <p:txBody>
          <a:bodyPr vert="horz" wrap="none" lIns="91440" tIns="45720" rIns="91440" bIns="45720" numCol="1" rtlCol="0" anchor="ctr" anchorCtr="0" compatLnSpc="1"/>
          <a:lstStyle/>
          <a:p>
            <a:pPr marL="0" marR="0" indent="0" algn="ctr" defTabSz="914400" rtl="0" eaLnBrk="1" fontAlgn="base" latinLnBrk="0" hangingPunct="1">
              <a:lnSpc>
                <a:spcPct val="100000"/>
              </a:lnSpc>
              <a:spcBef>
                <a:spcPct val="0"/>
              </a:spcBef>
              <a:spcAft>
                <a:spcPct val="0"/>
              </a:spcAft>
              <a:buClrTx/>
              <a:buSzTx/>
              <a:buFontTx/>
              <a:buNone/>
            </a:pPr>
            <a:endParaRPr kumimoji="1" lang="en-US" sz="1800" b="1" i="0" u="none" strike="noStrike" cap="none" normalizeH="0" baseline="0">
              <a:ln>
                <a:noFill/>
              </a:ln>
              <a:solidFill>
                <a:schemeClr val="tx1"/>
              </a:solidFill>
              <a:effectLst/>
              <a:latin typeface="Arial" panose="020B0604020202020204" pitchFamily="34" charset="0"/>
              <a:ea typeface="PMingLiU" panose="02020500000000000000" pitchFamily="18" charset="-120"/>
            </a:endParaRPr>
          </a:p>
        </p:txBody>
      </p:sp>
      <p:sp>
        <p:nvSpPr>
          <p:cNvPr id="7" name="Oval 6">
            <a:extLst>
              <a:ext uri="{FF2B5EF4-FFF2-40B4-BE49-F238E27FC236}">
                <a16:creationId xmlns:a16="http://schemas.microsoft.com/office/drawing/2014/main" id="{16D513D0-60FD-48FA-8A82-216BD12F7198}"/>
              </a:ext>
            </a:extLst>
          </p:cNvPr>
          <p:cNvSpPr/>
          <p:nvPr/>
        </p:nvSpPr>
        <p:spPr bwMode="auto">
          <a:xfrm>
            <a:off x="3919598" y="707882"/>
            <a:ext cx="1242874" cy="519112"/>
          </a:xfrm>
          <a:prstGeom prst="ellipse">
            <a:avLst/>
          </a:prstGeom>
          <a:noFill/>
          <a:ln w="38100" cap="flat" cmpd="sng" algn="ctr">
            <a:solidFill>
              <a:srgbClr val="FF0000"/>
            </a:solidFill>
            <a:prstDash val="solid"/>
            <a:round/>
            <a:headEnd type="none" w="med" len="med"/>
            <a:tailEnd type="none" w="med" len="med"/>
          </a:ln>
        </p:spPr>
        <p:txBody>
          <a:bodyPr vert="horz" wrap="none" lIns="91440" tIns="45720" rIns="91440" bIns="45720" numCol="1" rtlCol="0" anchor="ctr" anchorCtr="0" compatLnSpc="1"/>
          <a:lstStyle/>
          <a:p>
            <a:pPr marL="0" marR="0" indent="0" algn="ctr" defTabSz="914400" rtl="0" eaLnBrk="1" fontAlgn="base" latinLnBrk="0" hangingPunct="1">
              <a:lnSpc>
                <a:spcPct val="100000"/>
              </a:lnSpc>
              <a:spcBef>
                <a:spcPct val="0"/>
              </a:spcBef>
              <a:spcAft>
                <a:spcPct val="0"/>
              </a:spcAft>
              <a:buClrTx/>
              <a:buSzTx/>
              <a:buFontTx/>
              <a:buNone/>
            </a:pPr>
            <a:endParaRPr kumimoji="1" lang="en-US" sz="1800" b="1" i="0" u="none" strike="noStrike" cap="none" normalizeH="0" baseline="0">
              <a:ln>
                <a:noFill/>
              </a:ln>
              <a:solidFill>
                <a:schemeClr val="tx1"/>
              </a:solidFill>
              <a:effectLst/>
              <a:latin typeface="Arial" panose="020B0604020202020204" pitchFamily="34" charset="0"/>
              <a:ea typeface="PMingLiU" panose="02020500000000000000" pitchFamily="18" charset="-120"/>
            </a:endParaRPr>
          </a:p>
        </p:txBody>
      </p:sp>
      <p:sp>
        <p:nvSpPr>
          <p:cNvPr id="8" name="Oval 7">
            <a:extLst>
              <a:ext uri="{FF2B5EF4-FFF2-40B4-BE49-F238E27FC236}">
                <a16:creationId xmlns:a16="http://schemas.microsoft.com/office/drawing/2014/main" id="{123155E3-ED32-41A2-BB6D-0EB4BEA77E55}"/>
              </a:ext>
            </a:extLst>
          </p:cNvPr>
          <p:cNvSpPr/>
          <p:nvPr/>
        </p:nvSpPr>
        <p:spPr bwMode="auto">
          <a:xfrm>
            <a:off x="5105698" y="721412"/>
            <a:ext cx="1242874" cy="519112"/>
          </a:xfrm>
          <a:prstGeom prst="ellipse">
            <a:avLst/>
          </a:prstGeom>
          <a:noFill/>
          <a:ln w="38100" cap="flat" cmpd="sng" algn="ctr">
            <a:solidFill>
              <a:srgbClr val="FF0000"/>
            </a:solidFill>
            <a:prstDash val="solid"/>
            <a:round/>
            <a:headEnd type="none" w="med" len="med"/>
            <a:tailEnd type="none" w="med" len="med"/>
          </a:ln>
        </p:spPr>
        <p:txBody>
          <a:bodyPr vert="horz" wrap="none" lIns="91440" tIns="45720" rIns="91440" bIns="45720" numCol="1" rtlCol="0" anchor="ctr" anchorCtr="0" compatLnSpc="1"/>
          <a:lstStyle/>
          <a:p>
            <a:pPr marL="0" marR="0" indent="0" algn="ctr" defTabSz="914400" rtl="0" eaLnBrk="1" fontAlgn="base" latinLnBrk="0" hangingPunct="1">
              <a:lnSpc>
                <a:spcPct val="100000"/>
              </a:lnSpc>
              <a:spcBef>
                <a:spcPct val="0"/>
              </a:spcBef>
              <a:spcAft>
                <a:spcPct val="0"/>
              </a:spcAft>
              <a:buClrTx/>
              <a:buSzTx/>
              <a:buFontTx/>
              <a:buNone/>
            </a:pPr>
            <a:endParaRPr kumimoji="1" lang="en-US" sz="1800" b="1" i="0" u="none" strike="noStrike" cap="none" normalizeH="0" baseline="0">
              <a:ln>
                <a:noFill/>
              </a:ln>
              <a:solidFill>
                <a:schemeClr val="tx1"/>
              </a:solidFill>
              <a:effectLst/>
              <a:latin typeface="Arial" panose="020B0604020202020204" pitchFamily="34" charset="0"/>
              <a:ea typeface="PMingLiU" panose="02020500000000000000" pitchFamily="18" charset="-120"/>
            </a:endParaRPr>
          </a:p>
        </p:txBody>
      </p:sp>
      <p:sp>
        <p:nvSpPr>
          <p:cNvPr id="9" name="Oval 8">
            <a:extLst>
              <a:ext uri="{FF2B5EF4-FFF2-40B4-BE49-F238E27FC236}">
                <a16:creationId xmlns:a16="http://schemas.microsoft.com/office/drawing/2014/main" id="{9CB68802-3AE4-461C-B630-3741C3B6A4B8}"/>
              </a:ext>
            </a:extLst>
          </p:cNvPr>
          <p:cNvSpPr/>
          <p:nvPr/>
        </p:nvSpPr>
        <p:spPr bwMode="auto">
          <a:xfrm>
            <a:off x="6343414" y="734941"/>
            <a:ext cx="1242874" cy="519112"/>
          </a:xfrm>
          <a:prstGeom prst="ellipse">
            <a:avLst/>
          </a:prstGeom>
          <a:noFill/>
          <a:ln w="38100" cap="flat" cmpd="sng" algn="ctr">
            <a:solidFill>
              <a:srgbClr val="FF0000"/>
            </a:solidFill>
            <a:prstDash val="solid"/>
            <a:round/>
            <a:headEnd type="none" w="med" len="med"/>
            <a:tailEnd type="none" w="med" len="med"/>
          </a:ln>
        </p:spPr>
        <p:txBody>
          <a:bodyPr vert="horz" wrap="none" lIns="91440" tIns="45720" rIns="91440" bIns="45720" numCol="1" rtlCol="0" anchor="ctr" anchorCtr="0" compatLnSpc="1"/>
          <a:lstStyle/>
          <a:p>
            <a:pPr marL="0" marR="0" indent="0" algn="ctr" defTabSz="914400" rtl="0" eaLnBrk="1" fontAlgn="base" latinLnBrk="0" hangingPunct="1">
              <a:lnSpc>
                <a:spcPct val="100000"/>
              </a:lnSpc>
              <a:spcBef>
                <a:spcPct val="0"/>
              </a:spcBef>
              <a:spcAft>
                <a:spcPct val="0"/>
              </a:spcAft>
              <a:buClrTx/>
              <a:buSzTx/>
              <a:buFontTx/>
              <a:buNone/>
            </a:pPr>
            <a:endParaRPr kumimoji="1" lang="en-US" sz="1800" b="1" i="0" u="none" strike="noStrike" cap="none" normalizeH="0" baseline="0">
              <a:ln>
                <a:noFill/>
              </a:ln>
              <a:solidFill>
                <a:schemeClr val="tx1"/>
              </a:solidFill>
              <a:effectLst/>
              <a:latin typeface="Arial" panose="020B0604020202020204" pitchFamily="34" charset="0"/>
              <a:ea typeface="PMingLiU" panose="02020500000000000000" pitchFamily="18" charset="-12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8"/>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7" grpId="0" animBg="1"/>
      <p:bldP spid="8" grpId="0" animBg="1"/>
      <p:bldP spid="9"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64734" y="108349"/>
            <a:ext cx="7710956" cy="519113"/>
          </a:xfrm>
        </p:spPr>
        <p:txBody>
          <a:bodyPr/>
          <a:lstStyle/>
          <a:p>
            <a:r>
              <a:rPr lang="en-US" altLang="en-US" sz="3200" dirty="0"/>
              <a:t>Number Systems</a:t>
            </a:r>
            <a:endParaRPr lang="en-US" sz="3200" dirty="0"/>
          </a:p>
        </p:txBody>
      </p:sp>
      <p:sp>
        <p:nvSpPr>
          <p:cNvPr id="3" name="Content Placeholder 2"/>
          <p:cNvSpPr>
            <a:spLocks noGrp="1"/>
          </p:cNvSpPr>
          <p:nvPr>
            <p:ph idx="1"/>
          </p:nvPr>
        </p:nvSpPr>
        <p:spPr>
          <a:xfrm>
            <a:off x="975844" y="844657"/>
            <a:ext cx="7710956" cy="2854888"/>
          </a:xfrm>
        </p:spPr>
        <p:txBody>
          <a:bodyPr/>
          <a:lstStyle/>
          <a:p>
            <a:r>
              <a:rPr lang="en-US" sz="2400" b="1" dirty="0">
                <a:solidFill>
                  <a:schemeClr val="accent1"/>
                </a:solidFill>
              </a:rPr>
              <a:t>Decimal numbers</a:t>
            </a:r>
          </a:p>
          <a:p>
            <a:endParaRPr lang="en-US" sz="2000" dirty="0"/>
          </a:p>
          <a:p>
            <a:endParaRPr lang="en-US" sz="2000" dirty="0"/>
          </a:p>
          <a:p>
            <a:pPr marL="0" indent="0">
              <a:buNone/>
            </a:pPr>
            <a:endParaRPr lang="en-US" sz="2000" dirty="0"/>
          </a:p>
          <a:p>
            <a:endParaRPr lang="en-US" sz="2400" b="1" dirty="0">
              <a:solidFill>
                <a:schemeClr val="accent1"/>
              </a:solidFill>
            </a:endParaRPr>
          </a:p>
          <a:p>
            <a:r>
              <a:rPr lang="en-US" sz="2400" b="1" dirty="0">
                <a:solidFill>
                  <a:schemeClr val="accent1"/>
                </a:solidFill>
              </a:rPr>
              <a:t>Binary numbers</a:t>
            </a:r>
          </a:p>
        </p:txBody>
      </p:sp>
      <p:grpSp>
        <p:nvGrpSpPr>
          <p:cNvPr id="9" name="Group 8"/>
          <p:cNvGrpSpPr/>
          <p:nvPr/>
        </p:nvGrpSpPr>
        <p:grpSpPr>
          <a:xfrm>
            <a:off x="3160675" y="1323493"/>
            <a:ext cx="4303434" cy="1640612"/>
            <a:chOff x="2130968" y="1777866"/>
            <a:chExt cx="5737912" cy="2187481"/>
          </a:xfrm>
        </p:grpSpPr>
        <p:graphicFrame>
          <p:nvGraphicFramePr>
            <p:cNvPr id="7" name="Object 6"/>
            <p:cNvGraphicFramePr>
              <a:graphicFrameLocks noChangeAspect="1"/>
            </p:cNvGraphicFramePr>
            <p:nvPr>
              <p:extLst>
                <p:ext uri="{D42A27DB-BD31-4B8C-83A1-F6EECF244321}">
                  <p14:modId xmlns:p14="http://schemas.microsoft.com/office/powerpoint/2010/main" val="948268322"/>
                </p:ext>
              </p:extLst>
            </p:nvPr>
          </p:nvGraphicFramePr>
          <p:xfrm>
            <a:off x="2156249" y="3067840"/>
            <a:ext cx="5712631" cy="540000"/>
          </p:xfrm>
          <a:graphic>
            <a:graphicData uri="http://schemas.openxmlformats.org/presentationml/2006/ole">
              <mc:AlternateContent xmlns:mc="http://schemas.openxmlformats.org/markup-compatibility/2006">
                <mc:Choice xmlns:v="urn:schemas-microsoft-com:vml" Requires="v">
                  <p:oleObj spid="_x0000_s1208" name="Equation" r:id="rId4" imgW="61264800" imgH="5791200" progId="Equation.3">
                    <p:embed/>
                  </p:oleObj>
                </mc:Choice>
                <mc:Fallback>
                  <p:oleObj name="Equation" r:id="rId4" imgW="61264800" imgH="5791200" progId="Equation.3">
                    <p:embed/>
                    <p:pic>
                      <p:nvPicPr>
                        <p:cNvPr id="0" name="Object 6"/>
                        <p:cNvPicPr/>
                        <p:nvPr/>
                      </p:nvPicPr>
                      <p:blipFill>
                        <a:blip r:embed="rId5"/>
                        <a:stretch>
                          <a:fillRect/>
                        </a:stretch>
                      </p:blipFill>
                      <p:spPr>
                        <a:xfrm>
                          <a:off x="2156249" y="3067840"/>
                          <a:ext cx="5712631" cy="540000"/>
                        </a:xfrm>
                        <a:prstGeom prst="rect">
                          <a:avLst/>
                        </a:prstGeom>
                      </p:spPr>
                    </p:pic>
                  </p:oleObj>
                </mc:Fallback>
              </mc:AlternateContent>
            </a:graphicData>
          </a:graphic>
        </p:graphicFrame>
        <p:sp>
          <p:nvSpPr>
            <p:cNvPr id="11" name="TextBox 10"/>
            <p:cNvSpPr txBox="1"/>
            <p:nvPr/>
          </p:nvSpPr>
          <p:spPr>
            <a:xfrm rot="5400000">
              <a:off x="1595779" y="2313055"/>
              <a:ext cx="1408933" cy="338555"/>
            </a:xfrm>
            <a:prstGeom prst="rect">
              <a:avLst/>
            </a:prstGeom>
            <a:noFill/>
          </p:spPr>
          <p:txBody>
            <a:bodyPr wrap="none" rtlCol="0">
              <a:spAutoFit/>
            </a:bodyPr>
            <a:lstStyle/>
            <a:p>
              <a:r>
                <a:rPr lang="en-US" sz="1050" dirty="0"/>
                <a:t>1000’s column</a:t>
              </a:r>
            </a:p>
          </p:txBody>
        </p:sp>
        <p:sp>
          <p:nvSpPr>
            <p:cNvPr id="12" name="TextBox 11"/>
            <p:cNvSpPr txBox="1"/>
            <p:nvPr/>
          </p:nvSpPr>
          <p:spPr>
            <a:xfrm rot="5400000">
              <a:off x="1826368" y="2263362"/>
              <a:ext cx="1308478" cy="338555"/>
            </a:xfrm>
            <a:prstGeom prst="rect">
              <a:avLst/>
            </a:prstGeom>
            <a:noFill/>
          </p:spPr>
          <p:txBody>
            <a:bodyPr wrap="none" rtlCol="0">
              <a:spAutoFit/>
            </a:bodyPr>
            <a:lstStyle/>
            <a:p>
              <a:r>
                <a:rPr lang="en-US" sz="1050" dirty="0"/>
                <a:t>100’s column</a:t>
              </a:r>
            </a:p>
          </p:txBody>
        </p:sp>
        <p:sp>
          <p:nvSpPr>
            <p:cNvPr id="13" name="TextBox 12"/>
            <p:cNvSpPr txBox="1"/>
            <p:nvPr/>
          </p:nvSpPr>
          <p:spPr>
            <a:xfrm rot="5400000">
              <a:off x="2056959" y="2213670"/>
              <a:ext cx="1208022" cy="338555"/>
            </a:xfrm>
            <a:prstGeom prst="rect">
              <a:avLst/>
            </a:prstGeom>
            <a:noFill/>
          </p:spPr>
          <p:txBody>
            <a:bodyPr wrap="none" rtlCol="0">
              <a:spAutoFit/>
            </a:bodyPr>
            <a:lstStyle/>
            <a:p>
              <a:r>
                <a:rPr lang="en-US" sz="1050" dirty="0"/>
                <a:t>10’s column</a:t>
              </a:r>
            </a:p>
          </p:txBody>
        </p:sp>
        <p:sp>
          <p:nvSpPr>
            <p:cNvPr id="14" name="TextBox 13"/>
            <p:cNvSpPr txBox="1"/>
            <p:nvPr/>
          </p:nvSpPr>
          <p:spPr>
            <a:xfrm rot="5400000">
              <a:off x="2287551" y="2163976"/>
              <a:ext cx="1107569" cy="338555"/>
            </a:xfrm>
            <a:prstGeom prst="rect">
              <a:avLst/>
            </a:prstGeom>
            <a:noFill/>
          </p:spPr>
          <p:txBody>
            <a:bodyPr wrap="none" rtlCol="0">
              <a:spAutoFit/>
            </a:bodyPr>
            <a:lstStyle/>
            <a:p>
              <a:r>
                <a:rPr lang="en-US" sz="1050" dirty="0"/>
                <a:t>1’s column</a:t>
              </a:r>
            </a:p>
          </p:txBody>
        </p:sp>
        <p:sp>
          <p:nvSpPr>
            <p:cNvPr id="15" name="TextBox 14"/>
            <p:cNvSpPr txBox="1"/>
            <p:nvPr/>
          </p:nvSpPr>
          <p:spPr>
            <a:xfrm>
              <a:off x="3274885" y="3411349"/>
              <a:ext cx="1077647" cy="553997"/>
            </a:xfrm>
            <a:prstGeom prst="rect">
              <a:avLst/>
            </a:prstGeom>
            <a:noFill/>
          </p:spPr>
          <p:txBody>
            <a:bodyPr wrap="none" rtlCol="0">
              <a:spAutoFit/>
            </a:bodyPr>
            <a:lstStyle/>
            <a:p>
              <a:pPr algn="ctr"/>
              <a:r>
                <a:rPr lang="en-US" sz="1050" dirty="0"/>
                <a:t>five</a:t>
              </a:r>
            </a:p>
            <a:p>
              <a:pPr algn="ctr"/>
              <a:r>
                <a:rPr lang="en-US" sz="1050" dirty="0"/>
                <a:t>thousands</a:t>
              </a:r>
            </a:p>
          </p:txBody>
        </p:sp>
        <p:sp>
          <p:nvSpPr>
            <p:cNvPr id="17" name="TextBox 16"/>
            <p:cNvSpPr txBox="1"/>
            <p:nvPr/>
          </p:nvSpPr>
          <p:spPr>
            <a:xfrm>
              <a:off x="4476672" y="3411350"/>
              <a:ext cx="998565" cy="553997"/>
            </a:xfrm>
            <a:prstGeom prst="rect">
              <a:avLst/>
            </a:prstGeom>
            <a:noFill/>
          </p:spPr>
          <p:txBody>
            <a:bodyPr wrap="none" rtlCol="0">
              <a:spAutoFit/>
            </a:bodyPr>
            <a:lstStyle/>
            <a:p>
              <a:pPr algn="ctr"/>
              <a:r>
                <a:rPr lang="en-US" sz="1050" dirty="0"/>
                <a:t>three</a:t>
              </a:r>
            </a:p>
            <a:p>
              <a:pPr algn="ctr"/>
              <a:r>
                <a:rPr lang="en-US" sz="1050" dirty="0"/>
                <a:t>hundreds</a:t>
              </a:r>
            </a:p>
          </p:txBody>
        </p:sp>
        <p:sp>
          <p:nvSpPr>
            <p:cNvPr id="18" name="TextBox 17"/>
            <p:cNvSpPr txBox="1"/>
            <p:nvPr/>
          </p:nvSpPr>
          <p:spPr>
            <a:xfrm>
              <a:off x="5772360" y="3411350"/>
              <a:ext cx="727123" cy="553997"/>
            </a:xfrm>
            <a:prstGeom prst="rect">
              <a:avLst/>
            </a:prstGeom>
            <a:noFill/>
          </p:spPr>
          <p:txBody>
            <a:bodyPr wrap="none" rtlCol="0">
              <a:spAutoFit/>
            </a:bodyPr>
            <a:lstStyle/>
            <a:p>
              <a:pPr algn="ctr"/>
              <a:r>
                <a:rPr lang="en-US" sz="1050" dirty="0"/>
                <a:t>seven</a:t>
              </a:r>
            </a:p>
            <a:p>
              <a:pPr algn="ctr"/>
              <a:r>
                <a:rPr lang="en-US" sz="1050" dirty="0"/>
                <a:t>tens</a:t>
              </a:r>
            </a:p>
          </p:txBody>
        </p:sp>
        <p:sp>
          <p:nvSpPr>
            <p:cNvPr id="19" name="TextBox 18"/>
            <p:cNvSpPr txBox="1"/>
            <p:nvPr/>
          </p:nvSpPr>
          <p:spPr>
            <a:xfrm>
              <a:off x="7034661" y="3411350"/>
              <a:ext cx="637355" cy="553997"/>
            </a:xfrm>
            <a:prstGeom prst="rect">
              <a:avLst/>
            </a:prstGeom>
            <a:noFill/>
          </p:spPr>
          <p:txBody>
            <a:bodyPr wrap="none" rtlCol="0">
              <a:spAutoFit/>
            </a:bodyPr>
            <a:lstStyle/>
            <a:p>
              <a:pPr algn="ctr"/>
              <a:r>
                <a:rPr lang="en-US" sz="1050" dirty="0"/>
                <a:t>four</a:t>
              </a:r>
            </a:p>
            <a:p>
              <a:pPr algn="ctr"/>
              <a:r>
                <a:rPr lang="en-US" sz="1050" dirty="0"/>
                <a:t>ones</a:t>
              </a:r>
            </a:p>
          </p:txBody>
        </p:sp>
      </p:grpSp>
      <p:grpSp>
        <p:nvGrpSpPr>
          <p:cNvPr id="10" name="Group 9"/>
          <p:cNvGrpSpPr/>
          <p:nvPr/>
        </p:nvGrpSpPr>
        <p:grpSpPr>
          <a:xfrm>
            <a:off x="3127119" y="3198082"/>
            <a:ext cx="4357817" cy="1403069"/>
            <a:chOff x="2130967" y="4403767"/>
            <a:chExt cx="5810422" cy="1870759"/>
          </a:xfrm>
        </p:grpSpPr>
        <p:graphicFrame>
          <p:nvGraphicFramePr>
            <p:cNvPr id="8" name="Object 7"/>
            <p:cNvGraphicFramePr>
              <a:graphicFrameLocks noChangeAspect="1"/>
            </p:cNvGraphicFramePr>
            <p:nvPr/>
          </p:nvGraphicFramePr>
          <p:xfrm>
            <a:off x="2200989" y="5331699"/>
            <a:ext cx="5740400" cy="539750"/>
          </p:xfrm>
          <a:graphic>
            <a:graphicData uri="http://schemas.openxmlformats.org/presentationml/2006/ole">
              <mc:AlternateContent xmlns:mc="http://schemas.openxmlformats.org/markup-compatibility/2006">
                <mc:Choice xmlns:v="urn:schemas-microsoft-com:vml" Requires="v">
                  <p:oleObj spid="_x0000_s1209" name="Equation" r:id="rId6" imgW="61569600" imgH="5791200" progId="Equation.3">
                    <p:embed/>
                  </p:oleObj>
                </mc:Choice>
                <mc:Fallback>
                  <p:oleObj name="Equation" r:id="rId6" imgW="61569600" imgH="5791200" progId="Equation.3">
                    <p:embed/>
                    <p:pic>
                      <p:nvPicPr>
                        <p:cNvPr id="0" name="Object 7"/>
                        <p:cNvPicPr/>
                        <p:nvPr/>
                      </p:nvPicPr>
                      <p:blipFill>
                        <a:blip r:embed="rId7"/>
                        <a:stretch>
                          <a:fillRect/>
                        </a:stretch>
                      </p:blipFill>
                      <p:spPr>
                        <a:xfrm>
                          <a:off x="2200989" y="5331699"/>
                          <a:ext cx="5740400" cy="539750"/>
                        </a:xfrm>
                        <a:prstGeom prst="rect">
                          <a:avLst/>
                        </a:prstGeom>
                      </p:spPr>
                    </p:pic>
                  </p:oleObj>
                </mc:Fallback>
              </mc:AlternateContent>
            </a:graphicData>
          </a:graphic>
        </p:graphicFrame>
        <p:sp>
          <p:nvSpPr>
            <p:cNvPr id="20" name="TextBox 19"/>
            <p:cNvSpPr txBox="1"/>
            <p:nvPr/>
          </p:nvSpPr>
          <p:spPr>
            <a:xfrm rot="5400000">
              <a:off x="1746460" y="4788274"/>
              <a:ext cx="1107570" cy="338555"/>
            </a:xfrm>
            <a:prstGeom prst="rect">
              <a:avLst/>
            </a:prstGeom>
            <a:noFill/>
          </p:spPr>
          <p:txBody>
            <a:bodyPr wrap="none" rtlCol="0">
              <a:spAutoFit/>
            </a:bodyPr>
            <a:lstStyle/>
            <a:p>
              <a:r>
                <a:rPr lang="en-US" sz="1050" dirty="0"/>
                <a:t>8’s column</a:t>
              </a:r>
            </a:p>
          </p:txBody>
        </p:sp>
        <p:sp>
          <p:nvSpPr>
            <p:cNvPr id="21" name="TextBox 20"/>
            <p:cNvSpPr txBox="1"/>
            <p:nvPr/>
          </p:nvSpPr>
          <p:spPr>
            <a:xfrm rot="5400000">
              <a:off x="1926824" y="4788274"/>
              <a:ext cx="1107570" cy="338555"/>
            </a:xfrm>
            <a:prstGeom prst="rect">
              <a:avLst/>
            </a:prstGeom>
            <a:noFill/>
          </p:spPr>
          <p:txBody>
            <a:bodyPr wrap="none" rtlCol="0">
              <a:spAutoFit/>
            </a:bodyPr>
            <a:lstStyle/>
            <a:p>
              <a:r>
                <a:rPr lang="en-US" sz="1050" dirty="0"/>
                <a:t>4’s column</a:t>
              </a:r>
            </a:p>
          </p:txBody>
        </p:sp>
        <p:sp>
          <p:nvSpPr>
            <p:cNvPr id="22" name="TextBox 21"/>
            <p:cNvSpPr txBox="1"/>
            <p:nvPr/>
          </p:nvSpPr>
          <p:spPr>
            <a:xfrm rot="5400000">
              <a:off x="2107187" y="4788274"/>
              <a:ext cx="1107570" cy="338555"/>
            </a:xfrm>
            <a:prstGeom prst="rect">
              <a:avLst/>
            </a:prstGeom>
            <a:noFill/>
          </p:spPr>
          <p:txBody>
            <a:bodyPr wrap="none" rtlCol="0">
              <a:spAutoFit/>
            </a:bodyPr>
            <a:lstStyle/>
            <a:p>
              <a:r>
                <a:rPr lang="en-US" sz="1050" dirty="0"/>
                <a:t>2’s column</a:t>
              </a:r>
            </a:p>
          </p:txBody>
        </p:sp>
        <p:sp>
          <p:nvSpPr>
            <p:cNvPr id="23" name="TextBox 22"/>
            <p:cNvSpPr txBox="1"/>
            <p:nvPr/>
          </p:nvSpPr>
          <p:spPr>
            <a:xfrm rot="5400000">
              <a:off x="2287551" y="4788274"/>
              <a:ext cx="1107570" cy="338555"/>
            </a:xfrm>
            <a:prstGeom prst="rect">
              <a:avLst/>
            </a:prstGeom>
            <a:noFill/>
          </p:spPr>
          <p:txBody>
            <a:bodyPr wrap="none" rtlCol="0">
              <a:spAutoFit/>
            </a:bodyPr>
            <a:lstStyle/>
            <a:p>
              <a:r>
                <a:rPr lang="en-US" sz="1050" dirty="0"/>
                <a:t>1’s column</a:t>
              </a:r>
            </a:p>
          </p:txBody>
        </p:sp>
        <p:sp>
          <p:nvSpPr>
            <p:cNvPr id="24" name="TextBox 23"/>
            <p:cNvSpPr txBox="1"/>
            <p:nvPr/>
          </p:nvSpPr>
          <p:spPr>
            <a:xfrm>
              <a:off x="3302084" y="5720529"/>
              <a:ext cx="637355" cy="553997"/>
            </a:xfrm>
            <a:prstGeom prst="rect">
              <a:avLst/>
            </a:prstGeom>
            <a:noFill/>
          </p:spPr>
          <p:txBody>
            <a:bodyPr wrap="none" rtlCol="0">
              <a:spAutoFit/>
            </a:bodyPr>
            <a:lstStyle/>
            <a:p>
              <a:pPr algn="ctr"/>
              <a:r>
                <a:rPr lang="en-US" sz="1050" dirty="0"/>
                <a:t>one</a:t>
              </a:r>
            </a:p>
            <a:p>
              <a:pPr algn="ctr"/>
              <a:r>
                <a:rPr lang="en-US" sz="1050" dirty="0"/>
                <a:t>eight</a:t>
              </a:r>
            </a:p>
          </p:txBody>
        </p:sp>
        <p:sp>
          <p:nvSpPr>
            <p:cNvPr id="25" name="TextBox 24"/>
            <p:cNvSpPr txBox="1"/>
            <p:nvPr/>
          </p:nvSpPr>
          <p:spPr>
            <a:xfrm>
              <a:off x="4345548" y="5720529"/>
              <a:ext cx="556136" cy="553997"/>
            </a:xfrm>
            <a:prstGeom prst="rect">
              <a:avLst/>
            </a:prstGeom>
            <a:noFill/>
          </p:spPr>
          <p:txBody>
            <a:bodyPr wrap="none" rtlCol="0">
              <a:spAutoFit/>
            </a:bodyPr>
            <a:lstStyle/>
            <a:p>
              <a:pPr algn="ctr"/>
              <a:r>
                <a:rPr lang="en-US" sz="1050" dirty="0"/>
                <a:t>one</a:t>
              </a:r>
            </a:p>
            <a:p>
              <a:pPr algn="ctr"/>
              <a:r>
                <a:rPr lang="en-US" sz="1050" dirty="0"/>
                <a:t>four</a:t>
              </a:r>
            </a:p>
          </p:txBody>
        </p:sp>
        <p:sp>
          <p:nvSpPr>
            <p:cNvPr id="26" name="TextBox 25"/>
            <p:cNvSpPr txBox="1"/>
            <p:nvPr/>
          </p:nvSpPr>
          <p:spPr>
            <a:xfrm>
              <a:off x="5350987" y="5720529"/>
              <a:ext cx="596744" cy="553997"/>
            </a:xfrm>
            <a:prstGeom prst="rect">
              <a:avLst/>
            </a:prstGeom>
            <a:noFill/>
          </p:spPr>
          <p:txBody>
            <a:bodyPr wrap="none" rtlCol="0">
              <a:spAutoFit/>
            </a:bodyPr>
            <a:lstStyle/>
            <a:p>
              <a:pPr algn="ctr"/>
              <a:r>
                <a:rPr lang="en-US" sz="1050" dirty="0"/>
                <a:t>zero</a:t>
              </a:r>
            </a:p>
            <a:p>
              <a:pPr algn="ctr"/>
              <a:r>
                <a:rPr lang="en-US" sz="1050" dirty="0"/>
                <a:t>two</a:t>
              </a:r>
            </a:p>
          </p:txBody>
        </p:sp>
        <p:sp>
          <p:nvSpPr>
            <p:cNvPr id="27" name="TextBox 26"/>
            <p:cNvSpPr txBox="1"/>
            <p:nvPr/>
          </p:nvSpPr>
          <p:spPr>
            <a:xfrm>
              <a:off x="6341315" y="5720529"/>
              <a:ext cx="547587" cy="553997"/>
            </a:xfrm>
            <a:prstGeom prst="rect">
              <a:avLst/>
            </a:prstGeom>
            <a:noFill/>
          </p:spPr>
          <p:txBody>
            <a:bodyPr wrap="none" rtlCol="0">
              <a:spAutoFit/>
            </a:bodyPr>
            <a:lstStyle/>
            <a:p>
              <a:pPr algn="ctr"/>
              <a:r>
                <a:rPr lang="en-US" sz="1050" dirty="0"/>
                <a:t>one</a:t>
              </a:r>
            </a:p>
            <a:p>
              <a:pPr algn="ctr"/>
              <a:r>
                <a:rPr lang="en-US" sz="1050" dirty="0"/>
                <a:t>one</a:t>
              </a:r>
            </a:p>
          </p:txBody>
        </p:sp>
      </p:grpSp>
      <p:sp>
        <p:nvSpPr>
          <p:cNvPr id="4" name="灯片编号占位符 3"/>
          <p:cNvSpPr>
            <a:spLocks noGrp="1"/>
          </p:cNvSpPr>
          <p:nvPr>
            <p:ph type="sldNum" sz="quarter" idx="10"/>
          </p:nvPr>
        </p:nvSpPr>
        <p:spPr/>
        <p:txBody>
          <a:bodyPr/>
          <a:lstStyle/>
          <a:p>
            <a:fld id="{D9B6BDF2-6896-4B98-8776-C18582F63BA5}" type="slidenum">
              <a:rPr lang="zh-TW" altLang="en-US" smtClean="0"/>
              <a:t>6</a:t>
            </a:fld>
            <a:endParaRPr lang="zh-TW" alt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64734" y="108349"/>
            <a:ext cx="7710956" cy="519113"/>
          </a:xfrm>
        </p:spPr>
        <p:txBody>
          <a:bodyPr/>
          <a:lstStyle/>
          <a:p>
            <a:r>
              <a:rPr lang="en-US" altLang="en-US" sz="3200" dirty="0"/>
              <a:t>Number Systems (II)</a:t>
            </a:r>
            <a:endParaRPr lang="en-US" sz="3200" dirty="0"/>
          </a:p>
        </p:txBody>
      </p:sp>
      <p:sp>
        <p:nvSpPr>
          <p:cNvPr id="3" name="Content Placeholder 2"/>
          <p:cNvSpPr>
            <a:spLocks noGrp="1"/>
          </p:cNvSpPr>
          <p:nvPr>
            <p:ph idx="1"/>
          </p:nvPr>
        </p:nvSpPr>
        <p:spPr>
          <a:xfrm>
            <a:off x="975844" y="844657"/>
            <a:ext cx="7710956" cy="2854888"/>
          </a:xfrm>
        </p:spPr>
        <p:txBody>
          <a:bodyPr/>
          <a:lstStyle/>
          <a:p>
            <a:r>
              <a:rPr lang="en-US" sz="2400" b="1" dirty="0">
                <a:solidFill>
                  <a:schemeClr val="accent1"/>
                </a:solidFill>
              </a:rPr>
              <a:t>Octal numbers</a:t>
            </a:r>
          </a:p>
          <a:p>
            <a:endParaRPr lang="en-US" sz="2000" dirty="0"/>
          </a:p>
          <a:p>
            <a:endParaRPr lang="en-US" sz="2000" dirty="0"/>
          </a:p>
          <a:p>
            <a:pPr marL="0" indent="0">
              <a:buNone/>
            </a:pPr>
            <a:endParaRPr lang="en-US" sz="2000" dirty="0"/>
          </a:p>
          <a:p>
            <a:endParaRPr lang="en-US" sz="2400" b="1" dirty="0">
              <a:solidFill>
                <a:schemeClr val="accent1"/>
              </a:solidFill>
            </a:endParaRPr>
          </a:p>
          <a:p>
            <a:r>
              <a:rPr lang="en-US" sz="2400" b="1" dirty="0">
                <a:solidFill>
                  <a:schemeClr val="accent1"/>
                </a:solidFill>
              </a:rPr>
              <a:t>Hexadecimal numbers</a:t>
            </a:r>
          </a:p>
        </p:txBody>
      </p:sp>
      <p:grpSp>
        <p:nvGrpSpPr>
          <p:cNvPr id="9" name="Group 8"/>
          <p:cNvGrpSpPr/>
          <p:nvPr/>
        </p:nvGrpSpPr>
        <p:grpSpPr>
          <a:xfrm>
            <a:off x="3160676" y="1324694"/>
            <a:ext cx="659734" cy="1017827"/>
            <a:chOff x="2130968" y="1779469"/>
            <a:chExt cx="879645" cy="1357102"/>
          </a:xfrm>
        </p:grpSpPr>
        <p:sp>
          <p:nvSpPr>
            <p:cNvPr id="11" name="TextBox 10"/>
            <p:cNvSpPr txBox="1"/>
            <p:nvPr/>
          </p:nvSpPr>
          <p:spPr>
            <a:xfrm rot="5400000">
              <a:off x="1646007" y="2313055"/>
              <a:ext cx="1308477" cy="338555"/>
            </a:xfrm>
            <a:prstGeom prst="rect">
              <a:avLst/>
            </a:prstGeom>
            <a:noFill/>
          </p:spPr>
          <p:txBody>
            <a:bodyPr wrap="none" rtlCol="0">
              <a:spAutoFit/>
            </a:bodyPr>
            <a:lstStyle/>
            <a:p>
              <a:r>
                <a:rPr lang="en-US" sz="1050" dirty="0"/>
                <a:t>512’s column</a:t>
              </a:r>
            </a:p>
          </p:txBody>
        </p:sp>
        <p:sp>
          <p:nvSpPr>
            <p:cNvPr id="12" name="TextBox 11"/>
            <p:cNvSpPr txBox="1"/>
            <p:nvPr/>
          </p:nvSpPr>
          <p:spPr>
            <a:xfrm rot="5400000">
              <a:off x="1876596" y="2263362"/>
              <a:ext cx="1208022" cy="338555"/>
            </a:xfrm>
            <a:prstGeom prst="rect">
              <a:avLst/>
            </a:prstGeom>
            <a:noFill/>
          </p:spPr>
          <p:txBody>
            <a:bodyPr wrap="none" rtlCol="0">
              <a:spAutoFit/>
            </a:bodyPr>
            <a:lstStyle/>
            <a:p>
              <a:r>
                <a:rPr lang="en-US" sz="1050" dirty="0"/>
                <a:t>64’s column</a:t>
              </a:r>
            </a:p>
          </p:txBody>
        </p:sp>
        <p:sp>
          <p:nvSpPr>
            <p:cNvPr id="13" name="TextBox 12"/>
            <p:cNvSpPr txBox="1"/>
            <p:nvPr/>
          </p:nvSpPr>
          <p:spPr>
            <a:xfrm rot="5400000">
              <a:off x="2107186" y="2213670"/>
              <a:ext cx="1107568" cy="338555"/>
            </a:xfrm>
            <a:prstGeom prst="rect">
              <a:avLst/>
            </a:prstGeom>
            <a:noFill/>
          </p:spPr>
          <p:txBody>
            <a:bodyPr wrap="none" rtlCol="0">
              <a:spAutoFit/>
            </a:bodyPr>
            <a:lstStyle/>
            <a:p>
              <a:r>
                <a:rPr lang="en-US" sz="1050" dirty="0"/>
                <a:t>8’s column</a:t>
              </a:r>
            </a:p>
          </p:txBody>
        </p:sp>
        <p:sp>
          <p:nvSpPr>
            <p:cNvPr id="14" name="TextBox 13"/>
            <p:cNvSpPr txBox="1"/>
            <p:nvPr/>
          </p:nvSpPr>
          <p:spPr>
            <a:xfrm rot="5400000">
              <a:off x="2287551" y="2163976"/>
              <a:ext cx="1107569" cy="338555"/>
            </a:xfrm>
            <a:prstGeom prst="rect">
              <a:avLst/>
            </a:prstGeom>
            <a:noFill/>
          </p:spPr>
          <p:txBody>
            <a:bodyPr wrap="none" rtlCol="0">
              <a:spAutoFit/>
            </a:bodyPr>
            <a:lstStyle/>
            <a:p>
              <a:r>
                <a:rPr lang="en-US" sz="1050" dirty="0"/>
                <a:t>1’s column</a:t>
              </a:r>
            </a:p>
          </p:txBody>
        </p:sp>
      </p:grpSp>
      <p:sp>
        <p:nvSpPr>
          <p:cNvPr id="4" name="灯片编号占位符 3"/>
          <p:cNvSpPr>
            <a:spLocks noGrp="1"/>
          </p:cNvSpPr>
          <p:nvPr>
            <p:ph type="sldNum" sz="quarter" idx="10"/>
          </p:nvPr>
        </p:nvSpPr>
        <p:spPr/>
        <p:txBody>
          <a:bodyPr/>
          <a:lstStyle/>
          <a:p>
            <a:fld id="{D9B6BDF2-6896-4B98-8776-C18582F63BA5}" type="slidenum">
              <a:rPr lang="zh-TW" altLang="en-US" smtClean="0"/>
              <a:t>7</a:t>
            </a:fld>
            <a:endParaRPr lang="zh-TW" altLang="en-US"/>
          </a:p>
        </p:txBody>
      </p:sp>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4A5073C9-7A39-4950-A83D-709E4FE4150B}"/>
                  </a:ext>
                </a:extLst>
              </p:cNvPr>
              <p:cNvSpPr txBox="1"/>
              <p:nvPr/>
            </p:nvSpPr>
            <p:spPr>
              <a:xfrm>
                <a:off x="3116363" y="2167675"/>
                <a:ext cx="4781450" cy="369332"/>
              </a:xfrm>
              <a:prstGeom prst="rect">
                <a:avLst/>
              </a:prstGeom>
              <a:noFill/>
            </p:spPr>
            <p:txBody>
              <a:bodyPr wrap="square" rtlCol="0" anchor="ctr" anchorCtr="1">
                <a:spAutoFit/>
              </a:bodyPr>
              <a:lstStyle/>
              <a:p>
                <a14:m>
                  <m:oMath xmlns:m="http://schemas.openxmlformats.org/officeDocument/2006/math">
                    <m:sSub>
                      <m:sSubPr>
                        <m:ctrlPr>
                          <a:rPr lang="pt-BR" i="1" smtClean="0">
                            <a:latin typeface="Cambria Math" panose="02040503050406030204" pitchFamily="18" charset="0"/>
                            <a:ea typeface="標楷體" pitchFamily="65" charset="-120"/>
                            <a:cs typeface="Calibri" panose="020F0502020204030204" pitchFamily="34" charset="0"/>
                          </a:rPr>
                        </m:ctrlPr>
                      </m:sSubPr>
                      <m:e>
                        <m:r>
                          <a:rPr lang="en-US" b="0" i="1" smtClean="0">
                            <a:latin typeface="Cambria Math" panose="02040503050406030204" pitchFamily="18" charset="0"/>
                            <a:ea typeface="標楷體" pitchFamily="65" charset="-120"/>
                            <a:cs typeface="Calibri" panose="020F0502020204030204" pitchFamily="34" charset="0"/>
                          </a:rPr>
                          <m:t>1234</m:t>
                        </m:r>
                      </m:e>
                      <m:sub>
                        <m:r>
                          <a:rPr lang="en-US" b="0" i="1" smtClean="0">
                            <a:latin typeface="Cambria Math" panose="02040503050406030204" pitchFamily="18" charset="0"/>
                            <a:ea typeface="標楷體" pitchFamily="65" charset="-120"/>
                            <a:cs typeface="Calibri" panose="020F0502020204030204" pitchFamily="34" charset="0"/>
                          </a:rPr>
                          <m:t>8</m:t>
                        </m:r>
                      </m:sub>
                    </m:sSub>
                    <m:r>
                      <a:rPr lang="en-US" b="0" i="1" smtClean="0">
                        <a:latin typeface="Cambria Math" panose="02040503050406030204" pitchFamily="18" charset="0"/>
                        <a:ea typeface="標楷體" pitchFamily="65" charset="-120"/>
                        <a:cs typeface="Calibri" panose="020F0502020204030204" pitchFamily="34" charset="0"/>
                      </a:rPr>
                      <m:t>=1 </m:t>
                    </m:r>
                    <m:r>
                      <m:rPr>
                        <m:sty m:val="p"/>
                      </m:rPr>
                      <a:rPr lang="en-US" b="0" i="0" smtClean="0">
                        <a:latin typeface="Cambria Math" panose="02040503050406030204" pitchFamily="18" charset="0"/>
                        <a:ea typeface="標楷體" pitchFamily="65" charset="-120"/>
                        <a:cs typeface="Calibri" panose="020F0502020204030204" pitchFamily="34" charset="0"/>
                      </a:rPr>
                      <m:t>x</m:t>
                    </m:r>
                  </m:oMath>
                </a14:m>
                <a:r>
                  <a:rPr lang="en-US" dirty="0">
                    <a:latin typeface="Calibri" panose="020F0502020204030204" pitchFamily="34" charset="0"/>
                    <a:ea typeface="Calibri" panose="020F0502020204030204" pitchFamily="34" charset="0"/>
                    <a:cs typeface="Calibri" panose="020F0502020204030204" pitchFamily="34" charset="0"/>
                  </a:rPr>
                  <a:t> </a:t>
                </a:r>
                <a14:m>
                  <m:oMath xmlns:m="http://schemas.openxmlformats.org/officeDocument/2006/math">
                    <m:sSup>
                      <m:sSupPr>
                        <m:ctrlPr>
                          <a:rPr lang="en-US" i="1" dirty="0" smtClean="0">
                            <a:latin typeface="Cambria Math" panose="02040503050406030204" pitchFamily="18" charset="0"/>
                            <a:ea typeface="Calibri" panose="020F0502020204030204" pitchFamily="34" charset="0"/>
                            <a:cs typeface="Calibri" panose="020F0502020204030204" pitchFamily="34" charset="0"/>
                          </a:rPr>
                        </m:ctrlPr>
                      </m:sSupPr>
                      <m:e>
                        <m:r>
                          <a:rPr lang="en-US" b="0" i="1" dirty="0" smtClean="0">
                            <a:latin typeface="Cambria Math" panose="02040503050406030204" pitchFamily="18" charset="0"/>
                            <a:ea typeface="Calibri" panose="020F0502020204030204" pitchFamily="34" charset="0"/>
                            <a:cs typeface="Calibri" panose="020F0502020204030204" pitchFamily="34" charset="0"/>
                          </a:rPr>
                          <m:t>8</m:t>
                        </m:r>
                      </m:e>
                      <m:sup>
                        <m:r>
                          <a:rPr lang="en-US" b="0" i="1" dirty="0" smtClean="0">
                            <a:latin typeface="Cambria Math" panose="02040503050406030204" pitchFamily="18" charset="0"/>
                            <a:ea typeface="Calibri" panose="020F0502020204030204" pitchFamily="34" charset="0"/>
                            <a:cs typeface="Calibri" panose="020F0502020204030204" pitchFamily="34" charset="0"/>
                          </a:rPr>
                          <m:t>3</m:t>
                        </m:r>
                      </m:sup>
                    </m:sSup>
                    <m:r>
                      <a:rPr lang="en-US" b="0" i="0" dirty="0" smtClean="0">
                        <a:latin typeface="Cambria Math" panose="02040503050406030204" pitchFamily="18" charset="0"/>
                        <a:ea typeface="Calibri" panose="020F0502020204030204" pitchFamily="34" charset="0"/>
                        <a:cs typeface="Calibri" panose="020F0502020204030204" pitchFamily="34" charset="0"/>
                      </a:rPr>
                      <m:t>+2 </m:t>
                    </m:r>
                    <m:r>
                      <m:rPr>
                        <m:sty m:val="p"/>
                      </m:rPr>
                      <a:rPr lang="en-US" b="0" i="0" dirty="0" smtClean="0">
                        <a:latin typeface="Cambria Math" panose="02040503050406030204" pitchFamily="18" charset="0"/>
                        <a:ea typeface="Calibri" panose="020F0502020204030204" pitchFamily="34" charset="0"/>
                        <a:cs typeface="Calibri" panose="020F0502020204030204" pitchFamily="34" charset="0"/>
                      </a:rPr>
                      <m:t>x</m:t>
                    </m:r>
                    <m:sSup>
                      <m:sSupPr>
                        <m:ctrlPr>
                          <a:rPr lang="en-US" i="1" dirty="0">
                            <a:latin typeface="Cambria Math" panose="02040503050406030204" pitchFamily="18" charset="0"/>
                            <a:ea typeface="Calibri" panose="020F0502020204030204" pitchFamily="34" charset="0"/>
                            <a:cs typeface="Calibri" panose="020F0502020204030204" pitchFamily="34" charset="0"/>
                          </a:rPr>
                        </m:ctrlPr>
                      </m:sSupPr>
                      <m:e>
                        <m:r>
                          <a:rPr lang="en-US" b="0" i="1" dirty="0" smtClean="0">
                            <a:latin typeface="Cambria Math" panose="02040503050406030204" pitchFamily="18" charset="0"/>
                            <a:ea typeface="Calibri" panose="020F0502020204030204" pitchFamily="34" charset="0"/>
                            <a:cs typeface="Calibri" panose="020F0502020204030204" pitchFamily="34" charset="0"/>
                          </a:rPr>
                          <m:t> </m:t>
                        </m:r>
                        <m:r>
                          <a:rPr lang="en-US" i="1" dirty="0">
                            <a:latin typeface="Cambria Math" panose="02040503050406030204" pitchFamily="18" charset="0"/>
                            <a:ea typeface="Calibri" panose="020F0502020204030204" pitchFamily="34" charset="0"/>
                            <a:cs typeface="Calibri" panose="020F0502020204030204" pitchFamily="34" charset="0"/>
                          </a:rPr>
                          <m:t>8</m:t>
                        </m:r>
                      </m:e>
                      <m:sup>
                        <m:r>
                          <a:rPr lang="en-US" b="0" i="1" dirty="0" smtClean="0">
                            <a:latin typeface="Cambria Math" panose="02040503050406030204" pitchFamily="18" charset="0"/>
                            <a:ea typeface="Calibri" panose="020F0502020204030204" pitchFamily="34" charset="0"/>
                            <a:cs typeface="Calibri" panose="020F0502020204030204" pitchFamily="34" charset="0"/>
                          </a:rPr>
                          <m:t>2</m:t>
                        </m:r>
                      </m:sup>
                    </m:sSup>
                  </m:oMath>
                </a14:m>
                <a:r>
                  <a:rPr lang="en-US" dirty="0">
                    <a:latin typeface="Calibri" panose="020F0502020204030204" pitchFamily="34" charset="0"/>
                    <a:ea typeface="Calibri" panose="020F0502020204030204" pitchFamily="34" charset="0"/>
                    <a:cs typeface="Calibri" panose="020F0502020204030204" pitchFamily="34" charset="0"/>
                  </a:rPr>
                  <a:t> </a:t>
                </a:r>
                <a14:m>
                  <m:oMath xmlns:m="http://schemas.openxmlformats.org/officeDocument/2006/math">
                    <m:r>
                      <a:rPr lang="en-US" dirty="0">
                        <a:solidFill>
                          <a:prstClr val="black"/>
                        </a:solidFill>
                        <a:latin typeface="Cambria Math" panose="02040503050406030204" pitchFamily="18" charset="0"/>
                        <a:ea typeface="Calibri" panose="020F0502020204030204" pitchFamily="34" charset="0"/>
                        <a:cs typeface="Calibri" panose="020F0502020204030204" pitchFamily="34" charset="0"/>
                      </a:rPr>
                      <m:t>+</m:t>
                    </m:r>
                    <m:r>
                      <a:rPr lang="en-US" b="0" i="0" dirty="0" smtClean="0">
                        <a:solidFill>
                          <a:prstClr val="black"/>
                        </a:solidFill>
                        <a:latin typeface="Cambria Math" panose="02040503050406030204" pitchFamily="18" charset="0"/>
                        <a:ea typeface="Calibri" panose="020F0502020204030204" pitchFamily="34" charset="0"/>
                        <a:cs typeface="Calibri" panose="020F0502020204030204" pitchFamily="34" charset="0"/>
                      </a:rPr>
                      <m:t>3</m:t>
                    </m:r>
                    <m:r>
                      <a:rPr lang="en-US" dirty="0">
                        <a:solidFill>
                          <a:prstClr val="black"/>
                        </a:solidFill>
                        <a:latin typeface="Cambria Math" panose="02040503050406030204" pitchFamily="18" charset="0"/>
                        <a:ea typeface="Calibri" panose="020F0502020204030204" pitchFamily="34" charset="0"/>
                        <a:cs typeface="Calibri" panose="020F0502020204030204" pitchFamily="34" charset="0"/>
                      </a:rPr>
                      <m:t> </m:t>
                    </m:r>
                    <m:r>
                      <m:rPr>
                        <m:sty m:val="p"/>
                      </m:rPr>
                      <a:rPr lang="en-US" dirty="0">
                        <a:solidFill>
                          <a:prstClr val="black"/>
                        </a:solidFill>
                        <a:latin typeface="Cambria Math" panose="02040503050406030204" pitchFamily="18" charset="0"/>
                        <a:ea typeface="Calibri" panose="020F0502020204030204" pitchFamily="34" charset="0"/>
                        <a:cs typeface="Calibri" panose="020F0502020204030204" pitchFamily="34" charset="0"/>
                      </a:rPr>
                      <m:t>x</m:t>
                    </m:r>
                    <m:sSup>
                      <m:sSupPr>
                        <m:ctrlPr>
                          <a:rPr lang="en-US" i="1" dirty="0">
                            <a:solidFill>
                              <a:prstClr val="black"/>
                            </a:solidFill>
                            <a:latin typeface="Cambria Math" panose="02040503050406030204" pitchFamily="18" charset="0"/>
                            <a:ea typeface="Calibri" panose="020F0502020204030204" pitchFamily="34" charset="0"/>
                            <a:cs typeface="Calibri" panose="020F0502020204030204" pitchFamily="34" charset="0"/>
                          </a:rPr>
                        </m:ctrlPr>
                      </m:sSupPr>
                      <m:e>
                        <m:r>
                          <a:rPr lang="en-US" i="1" dirty="0">
                            <a:solidFill>
                              <a:prstClr val="black"/>
                            </a:solidFill>
                            <a:latin typeface="Cambria Math" panose="02040503050406030204" pitchFamily="18" charset="0"/>
                            <a:ea typeface="Calibri" panose="020F0502020204030204" pitchFamily="34" charset="0"/>
                            <a:cs typeface="Calibri" panose="020F0502020204030204" pitchFamily="34" charset="0"/>
                          </a:rPr>
                          <m:t> 8</m:t>
                        </m:r>
                      </m:e>
                      <m:sup>
                        <m:r>
                          <a:rPr lang="en-US" b="0" i="1" dirty="0" smtClean="0">
                            <a:solidFill>
                              <a:prstClr val="black"/>
                            </a:solidFill>
                            <a:latin typeface="Cambria Math" panose="02040503050406030204" pitchFamily="18" charset="0"/>
                            <a:ea typeface="Calibri" panose="020F0502020204030204" pitchFamily="34" charset="0"/>
                            <a:cs typeface="Calibri" panose="020F0502020204030204" pitchFamily="34" charset="0"/>
                          </a:rPr>
                          <m:t>1 </m:t>
                        </m:r>
                      </m:sup>
                    </m:sSup>
                  </m:oMath>
                </a14:m>
                <a:r>
                  <a:rPr lang="en-US" dirty="0">
                    <a:latin typeface="Calibri" panose="020F0502020204030204" pitchFamily="34" charset="0"/>
                    <a:ea typeface="Calibri" panose="020F0502020204030204" pitchFamily="34" charset="0"/>
                    <a:cs typeface="Calibri" panose="020F0502020204030204" pitchFamily="34" charset="0"/>
                  </a:rPr>
                  <a:t> </a:t>
                </a:r>
                <a14:m>
                  <m:oMath xmlns:m="http://schemas.openxmlformats.org/officeDocument/2006/math">
                    <m:r>
                      <a:rPr lang="en-US" dirty="0">
                        <a:latin typeface="Cambria Math" panose="02040503050406030204" pitchFamily="18" charset="0"/>
                        <a:ea typeface="Calibri" panose="020F0502020204030204" pitchFamily="34" charset="0"/>
                        <a:cs typeface="Calibri" panose="020F0502020204030204" pitchFamily="34" charset="0"/>
                      </a:rPr>
                      <m:t>+</m:t>
                    </m:r>
                    <m:r>
                      <a:rPr lang="en-US" b="0" i="0" dirty="0" smtClean="0">
                        <a:latin typeface="Cambria Math" panose="02040503050406030204" pitchFamily="18" charset="0"/>
                        <a:ea typeface="Calibri" panose="020F0502020204030204" pitchFamily="34" charset="0"/>
                        <a:cs typeface="Calibri" panose="020F0502020204030204" pitchFamily="34" charset="0"/>
                      </a:rPr>
                      <m:t>4</m:t>
                    </m:r>
                    <m:r>
                      <a:rPr lang="en-US" dirty="0">
                        <a:latin typeface="Cambria Math" panose="02040503050406030204" pitchFamily="18" charset="0"/>
                        <a:ea typeface="Calibri" panose="020F0502020204030204" pitchFamily="34" charset="0"/>
                        <a:cs typeface="Calibri" panose="020F0502020204030204" pitchFamily="34" charset="0"/>
                      </a:rPr>
                      <m:t> </m:t>
                    </m:r>
                    <m:r>
                      <m:rPr>
                        <m:sty m:val="p"/>
                      </m:rPr>
                      <a:rPr lang="en-US" dirty="0">
                        <a:latin typeface="Cambria Math" panose="02040503050406030204" pitchFamily="18" charset="0"/>
                        <a:ea typeface="Calibri" panose="020F0502020204030204" pitchFamily="34" charset="0"/>
                        <a:cs typeface="Calibri" panose="020F0502020204030204" pitchFamily="34" charset="0"/>
                      </a:rPr>
                      <m:t>x</m:t>
                    </m:r>
                    <m:sSup>
                      <m:sSupPr>
                        <m:ctrlPr>
                          <a:rPr lang="en-US" i="1" dirty="0">
                            <a:latin typeface="Cambria Math" panose="02040503050406030204" pitchFamily="18" charset="0"/>
                            <a:ea typeface="Calibri" panose="020F0502020204030204" pitchFamily="34" charset="0"/>
                            <a:cs typeface="Calibri" panose="020F0502020204030204" pitchFamily="34" charset="0"/>
                          </a:rPr>
                        </m:ctrlPr>
                      </m:sSupPr>
                      <m:e>
                        <m:r>
                          <a:rPr lang="en-US" i="1" dirty="0">
                            <a:latin typeface="Cambria Math" panose="02040503050406030204" pitchFamily="18" charset="0"/>
                            <a:ea typeface="Calibri" panose="020F0502020204030204" pitchFamily="34" charset="0"/>
                            <a:cs typeface="Calibri" panose="020F0502020204030204" pitchFamily="34" charset="0"/>
                          </a:rPr>
                          <m:t> 8</m:t>
                        </m:r>
                      </m:e>
                      <m:sup>
                        <m:r>
                          <a:rPr lang="en-US" b="0" i="1" dirty="0" smtClean="0">
                            <a:latin typeface="Cambria Math" panose="02040503050406030204" pitchFamily="18" charset="0"/>
                            <a:ea typeface="Calibri" panose="020F0502020204030204" pitchFamily="34" charset="0"/>
                            <a:cs typeface="Calibri" panose="020F0502020204030204" pitchFamily="34" charset="0"/>
                          </a:rPr>
                          <m:t>0  </m:t>
                        </m:r>
                      </m:sup>
                    </m:sSup>
                  </m:oMath>
                </a14:m>
                <a:r>
                  <a:rPr lang="en-US" dirty="0">
                    <a:latin typeface="Calibri" panose="020F0502020204030204" pitchFamily="34" charset="0"/>
                    <a:ea typeface="Calibri" panose="020F0502020204030204" pitchFamily="34" charset="0"/>
                    <a:cs typeface="Calibri" panose="020F0502020204030204" pitchFamily="34" charset="0"/>
                  </a:rPr>
                  <a:t>= 668</a:t>
                </a:r>
              </a:p>
            </p:txBody>
          </p:sp>
        </mc:Choice>
        <mc:Fallback xmlns="">
          <p:sp>
            <p:nvSpPr>
              <p:cNvPr id="5" name="TextBox 4">
                <a:extLst>
                  <a:ext uri="{FF2B5EF4-FFF2-40B4-BE49-F238E27FC236}">
                    <a16:creationId xmlns:a16="http://schemas.microsoft.com/office/drawing/2014/main" id="{4A5073C9-7A39-4950-A83D-709E4FE4150B}"/>
                  </a:ext>
                </a:extLst>
              </p:cNvPr>
              <p:cNvSpPr txBox="1">
                <a:spLocks noRot="1" noChangeAspect="1" noMove="1" noResize="1" noEditPoints="1" noAdjustHandles="1" noChangeArrowheads="1" noChangeShapeType="1" noTextEdit="1"/>
              </p:cNvSpPr>
              <p:nvPr/>
            </p:nvSpPr>
            <p:spPr>
              <a:xfrm>
                <a:off x="3116363" y="2167675"/>
                <a:ext cx="4781450" cy="369332"/>
              </a:xfrm>
              <a:prstGeom prst="rect">
                <a:avLst/>
              </a:prstGeom>
              <a:blipFill>
                <a:blip r:embed="rId3"/>
                <a:stretch>
                  <a:fillRect t="-10000" r="-382" b="-26667"/>
                </a:stretch>
              </a:blipFill>
            </p:spPr>
            <p:txBody>
              <a:bodyPr/>
              <a:lstStyle/>
              <a:p>
                <a:r>
                  <a:rPr lang="en-US">
                    <a:noFill/>
                  </a:rPr>
                  <a:t> </a:t>
                </a:r>
              </a:p>
            </p:txBody>
          </p:sp>
        </mc:Fallback>
      </mc:AlternateContent>
      <p:grpSp>
        <p:nvGrpSpPr>
          <p:cNvPr id="30" name="Group 29">
            <a:extLst>
              <a:ext uri="{FF2B5EF4-FFF2-40B4-BE49-F238E27FC236}">
                <a16:creationId xmlns:a16="http://schemas.microsoft.com/office/drawing/2014/main" id="{C05DEA5F-69A0-4788-8F15-B4AD329E94F9}"/>
              </a:ext>
            </a:extLst>
          </p:cNvPr>
          <p:cNvGrpSpPr/>
          <p:nvPr/>
        </p:nvGrpSpPr>
        <p:grpSpPr>
          <a:xfrm>
            <a:off x="3120286" y="3160554"/>
            <a:ext cx="659735" cy="1056700"/>
            <a:chOff x="2130967" y="1777867"/>
            <a:chExt cx="879646" cy="1408932"/>
          </a:xfrm>
        </p:grpSpPr>
        <p:sp>
          <p:nvSpPr>
            <p:cNvPr id="31" name="TextBox 30">
              <a:extLst>
                <a:ext uri="{FF2B5EF4-FFF2-40B4-BE49-F238E27FC236}">
                  <a16:creationId xmlns:a16="http://schemas.microsoft.com/office/drawing/2014/main" id="{38F33499-F7B4-49CA-AC68-F761EE64DAE8}"/>
                </a:ext>
              </a:extLst>
            </p:cNvPr>
            <p:cNvSpPr txBox="1"/>
            <p:nvPr/>
          </p:nvSpPr>
          <p:spPr>
            <a:xfrm rot="5400000">
              <a:off x="1595779" y="2313055"/>
              <a:ext cx="1408932" cy="338555"/>
            </a:xfrm>
            <a:prstGeom prst="rect">
              <a:avLst/>
            </a:prstGeom>
            <a:noFill/>
          </p:spPr>
          <p:txBody>
            <a:bodyPr wrap="none" rtlCol="0">
              <a:spAutoFit/>
            </a:bodyPr>
            <a:lstStyle/>
            <a:p>
              <a:r>
                <a:rPr lang="en-US" sz="1050" dirty="0"/>
                <a:t>4096’s column</a:t>
              </a:r>
            </a:p>
          </p:txBody>
        </p:sp>
        <p:sp>
          <p:nvSpPr>
            <p:cNvPr id="32" name="TextBox 31">
              <a:extLst>
                <a:ext uri="{FF2B5EF4-FFF2-40B4-BE49-F238E27FC236}">
                  <a16:creationId xmlns:a16="http://schemas.microsoft.com/office/drawing/2014/main" id="{9CC13BB0-24F1-44B4-8B8F-997F35CF96D7}"/>
                </a:ext>
              </a:extLst>
            </p:cNvPr>
            <p:cNvSpPr txBox="1"/>
            <p:nvPr/>
          </p:nvSpPr>
          <p:spPr>
            <a:xfrm rot="5400000">
              <a:off x="1837452" y="2262829"/>
              <a:ext cx="1308478" cy="338555"/>
            </a:xfrm>
            <a:prstGeom prst="rect">
              <a:avLst/>
            </a:prstGeom>
            <a:noFill/>
          </p:spPr>
          <p:txBody>
            <a:bodyPr wrap="none" rtlCol="0">
              <a:spAutoFit/>
            </a:bodyPr>
            <a:lstStyle/>
            <a:p>
              <a:r>
                <a:rPr lang="en-US" sz="1050" dirty="0"/>
                <a:t>256’s column</a:t>
              </a:r>
            </a:p>
          </p:txBody>
        </p:sp>
        <p:sp>
          <p:nvSpPr>
            <p:cNvPr id="33" name="TextBox 32">
              <a:extLst>
                <a:ext uri="{FF2B5EF4-FFF2-40B4-BE49-F238E27FC236}">
                  <a16:creationId xmlns:a16="http://schemas.microsoft.com/office/drawing/2014/main" id="{92F494F2-FE57-4C95-A227-A114EF58E7FA}"/>
                </a:ext>
              </a:extLst>
            </p:cNvPr>
            <p:cNvSpPr txBox="1"/>
            <p:nvPr/>
          </p:nvSpPr>
          <p:spPr>
            <a:xfrm rot="5400000">
              <a:off x="2056959" y="2213670"/>
              <a:ext cx="1208022" cy="338555"/>
            </a:xfrm>
            <a:prstGeom prst="rect">
              <a:avLst/>
            </a:prstGeom>
            <a:noFill/>
          </p:spPr>
          <p:txBody>
            <a:bodyPr wrap="none" rtlCol="0">
              <a:spAutoFit/>
            </a:bodyPr>
            <a:lstStyle/>
            <a:p>
              <a:r>
                <a:rPr lang="en-US" sz="1050" dirty="0"/>
                <a:t>16’s column</a:t>
              </a:r>
            </a:p>
          </p:txBody>
        </p:sp>
        <p:sp>
          <p:nvSpPr>
            <p:cNvPr id="34" name="TextBox 33">
              <a:extLst>
                <a:ext uri="{FF2B5EF4-FFF2-40B4-BE49-F238E27FC236}">
                  <a16:creationId xmlns:a16="http://schemas.microsoft.com/office/drawing/2014/main" id="{FACBF0B1-65B2-4358-B3AD-3B91731C274D}"/>
                </a:ext>
              </a:extLst>
            </p:cNvPr>
            <p:cNvSpPr txBox="1"/>
            <p:nvPr/>
          </p:nvSpPr>
          <p:spPr>
            <a:xfrm rot="5400000">
              <a:off x="2287551" y="2163976"/>
              <a:ext cx="1107569" cy="338555"/>
            </a:xfrm>
            <a:prstGeom prst="rect">
              <a:avLst/>
            </a:prstGeom>
            <a:noFill/>
          </p:spPr>
          <p:txBody>
            <a:bodyPr wrap="none" rtlCol="0">
              <a:spAutoFit/>
            </a:bodyPr>
            <a:lstStyle/>
            <a:p>
              <a:r>
                <a:rPr lang="en-US" sz="1050" dirty="0"/>
                <a:t>1’s column</a:t>
              </a:r>
            </a:p>
          </p:txBody>
        </p:sp>
      </p:grpSp>
      <mc:AlternateContent xmlns:mc="http://schemas.openxmlformats.org/markup-compatibility/2006" xmlns:a14="http://schemas.microsoft.com/office/drawing/2010/main">
        <mc:Choice Requires="a14">
          <p:sp>
            <p:nvSpPr>
              <p:cNvPr id="35" name="TextBox 34">
                <a:extLst>
                  <a:ext uri="{FF2B5EF4-FFF2-40B4-BE49-F238E27FC236}">
                    <a16:creationId xmlns:a16="http://schemas.microsoft.com/office/drawing/2014/main" id="{6F52E8A5-E590-4F56-8BA5-A545E9CDEAA3}"/>
                  </a:ext>
                </a:extLst>
              </p:cNvPr>
              <p:cNvSpPr txBox="1"/>
              <p:nvPr/>
            </p:nvSpPr>
            <p:spPr>
              <a:xfrm>
                <a:off x="2695449" y="4043688"/>
                <a:ext cx="6644494" cy="369332"/>
              </a:xfrm>
              <a:prstGeom prst="rect">
                <a:avLst/>
              </a:prstGeom>
              <a:noFill/>
            </p:spPr>
            <p:txBody>
              <a:bodyPr wrap="square" rtlCol="0" anchor="ctr" anchorCtr="1">
                <a:spAutoFit/>
              </a:bodyPr>
              <a:lstStyle/>
              <a:p>
                <a14:m>
                  <m:oMath xmlns:m="http://schemas.openxmlformats.org/officeDocument/2006/math">
                    <m:sSub>
                      <m:sSubPr>
                        <m:ctrlPr>
                          <a:rPr lang="pt-BR" i="1" smtClean="0">
                            <a:latin typeface="Cambria Math" panose="02040503050406030204" pitchFamily="18" charset="0"/>
                            <a:ea typeface="標楷體" pitchFamily="65" charset="-120"/>
                            <a:cs typeface="Calibri" panose="020F0502020204030204" pitchFamily="34" charset="0"/>
                          </a:rPr>
                        </m:ctrlPr>
                      </m:sSubPr>
                      <m:e>
                        <m:r>
                          <a:rPr lang="en-US" b="0" i="1" smtClean="0">
                            <a:latin typeface="Cambria Math" panose="02040503050406030204" pitchFamily="18" charset="0"/>
                            <a:ea typeface="標楷體" pitchFamily="65" charset="-120"/>
                            <a:cs typeface="Calibri" panose="020F0502020204030204" pitchFamily="34" charset="0"/>
                          </a:rPr>
                          <m:t>𝐴𝐵</m:t>
                        </m:r>
                        <m:r>
                          <a:rPr lang="en-US" b="0" i="1" smtClean="0">
                            <a:latin typeface="Cambria Math" panose="02040503050406030204" pitchFamily="18" charset="0"/>
                            <a:ea typeface="標楷體" pitchFamily="65" charset="-120"/>
                            <a:cs typeface="Calibri" panose="020F0502020204030204" pitchFamily="34" charset="0"/>
                          </a:rPr>
                          <m:t>01</m:t>
                        </m:r>
                      </m:e>
                      <m:sub>
                        <m:r>
                          <a:rPr lang="en-US" b="0" i="1" smtClean="0">
                            <a:latin typeface="Cambria Math" panose="02040503050406030204" pitchFamily="18" charset="0"/>
                            <a:ea typeface="標楷體" pitchFamily="65" charset="-120"/>
                            <a:cs typeface="Calibri" panose="020F0502020204030204" pitchFamily="34" charset="0"/>
                          </a:rPr>
                          <m:t>16</m:t>
                        </m:r>
                      </m:sub>
                    </m:sSub>
                    <m:r>
                      <a:rPr lang="en-US" b="0" i="1" smtClean="0">
                        <a:latin typeface="Cambria Math" panose="02040503050406030204" pitchFamily="18" charset="0"/>
                        <a:ea typeface="標楷體" pitchFamily="65" charset="-120"/>
                        <a:cs typeface="Calibri" panose="020F0502020204030204" pitchFamily="34" charset="0"/>
                      </a:rPr>
                      <m:t>=10 </m:t>
                    </m:r>
                    <m:r>
                      <m:rPr>
                        <m:sty m:val="p"/>
                      </m:rPr>
                      <a:rPr lang="en-US" b="0" i="0" smtClean="0">
                        <a:latin typeface="Cambria Math" panose="02040503050406030204" pitchFamily="18" charset="0"/>
                        <a:ea typeface="標楷體" pitchFamily="65" charset="-120"/>
                        <a:cs typeface="Calibri" panose="020F0502020204030204" pitchFamily="34" charset="0"/>
                      </a:rPr>
                      <m:t>x</m:t>
                    </m:r>
                  </m:oMath>
                </a14:m>
                <a:r>
                  <a:rPr lang="en-US" dirty="0">
                    <a:latin typeface="Calibri" panose="020F0502020204030204" pitchFamily="34" charset="0"/>
                    <a:ea typeface="Calibri" panose="020F0502020204030204" pitchFamily="34" charset="0"/>
                    <a:cs typeface="Calibri" panose="020F0502020204030204" pitchFamily="34" charset="0"/>
                  </a:rPr>
                  <a:t> </a:t>
                </a:r>
                <a14:m>
                  <m:oMath xmlns:m="http://schemas.openxmlformats.org/officeDocument/2006/math">
                    <m:sSup>
                      <m:sSupPr>
                        <m:ctrlPr>
                          <a:rPr lang="en-US" i="1" dirty="0" smtClean="0">
                            <a:latin typeface="Cambria Math" panose="02040503050406030204" pitchFamily="18" charset="0"/>
                            <a:ea typeface="Calibri" panose="020F0502020204030204" pitchFamily="34" charset="0"/>
                            <a:cs typeface="Calibri" panose="020F0502020204030204" pitchFamily="34" charset="0"/>
                          </a:rPr>
                        </m:ctrlPr>
                      </m:sSupPr>
                      <m:e>
                        <m:r>
                          <a:rPr lang="en-US" b="0" i="1" dirty="0" smtClean="0">
                            <a:latin typeface="Cambria Math" panose="02040503050406030204" pitchFamily="18" charset="0"/>
                            <a:ea typeface="Calibri" panose="020F0502020204030204" pitchFamily="34" charset="0"/>
                            <a:cs typeface="Calibri" panose="020F0502020204030204" pitchFamily="34" charset="0"/>
                          </a:rPr>
                          <m:t>16</m:t>
                        </m:r>
                      </m:e>
                      <m:sup>
                        <m:r>
                          <a:rPr lang="en-US" b="0" i="1" dirty="0" smtClean="0">
                            <a:latin typeface="Cambria Math" panose="02040503050406030204" pitchFamily="18" charset="0"/>
                            <a:ea typeface="Calibri" panose="020F0502020204030204" pitchFamily="34" charset="0"/>
                            <a:cs typeface="Calibri" panose="020F0502020204030204" pitchFamily="34" charset="0"/>
                          </a:rPr>
                          <m:t>3</m:t>
                        </m:r>
                      </m:sup>
                    </m:sSup>
                    <m:r>
                      <a:rPr lang="en-US" b="0" i="0" dirty="0" smtClean="0">
                        <a:latin typeface="Cambria Math" panose="02040503050406030204" pitchFamily="18" charset="0"/>
                        <a:ea typeface="Calibri" panose="020F0502020204030204" pitchFamily="34" charset="0"/>
                        <a:cs typeface="Calibri" panose="020F0502020204030204" pitchFamily="34" charset="0"/>
                      </a:rPr>
                      <m:t>+11 </m:t>
                    </m:r>
                    <m:r>
                      <m:rPr>
                        <m:sty m:val="p"/>
                      </m:rPr>
                      <a:rPr lang="en-US" b="0" i="0" dirty="0" smtClean="0">
                        <a:latin typeface="Cambria Math" panose="02040503050406030204" pitchFamily="18" charset="0"/>
                        <a:ea typeface="Calibri" panose="020F0502020204030204" pitchFamily="34" charset="0"/>
                        <a:cs typeface="Calibri" panose="020F0502020204030204" pitchFamily="34" charset="0"/>
                      </a:rPr>
                      <m:t>x</m:t>
                    </m:r>
                    <m:sSup>
                      <m:sSupPr>
                        <m:ctrlPr>
                          <a:rPr lang="en-US" i="1" dirty="0">
                            <a:latin typeface="Cambria Math" panose="02040503050406030204" pitchFamily="18" charset="0"/>
                            <a:ea typeface="Calibri" panose="020F0502020204030204" pitchFamily="34" charset="0"/>
                            <a:cs typeface="Calibri" panose="020F0502020204030204" pitchFamily="34" charset="0"/>
                          </a:rPr>
                        </m:ctrlPr>
                      </m:sSupPr>
                      <m:e>
                        <m:r>
                          <a:rPr lang="en-US" b="0" i="1" dirty="0" smtClean="0">
                            <a:latin typeface="Cambria Math" panose="02040503050406030204" pitchFamily="18" charset="0"/>
                            <a:ea typeface="Calibri" panose="020F0502020204030204" pitchFamily="34" charset="0"/>
                            <a:cs typeface="Calibri" panose="020F0502020204030204" pitchFamily="34" charset="0"/>
                          </a:rPr>
                          <m:t> 16</m:t>
                        </m:r>
                      </m:e>
                      <m:sup>
                        <m:r>
                          <a:rPr lang="en-US" b="0" i="1" dirty="0" smtClean="0">
                            <a:latin typeface="Cambria Math" panose="02040503050406030204" pitchFamily="18" charset="0"/>
                            <a:ea typeface="Calibri" panose="020F0502020204030204" pitchFamily="34" charset="0"/>
                            <a:cs typeface="Calibri" panose="020F0502020204030204" pitchFamily="34" charset="0"/>
                          </a:rPr>
                          <m:t>2</m:t>
                        </m:r>
                      </m:sup>
                    </m:sSup>
                  </m:oMath>
                </a14:m>
                <a:r>
                  <a:rPr lang="en-US" dirty="0">
                    <a:latin typeface="Calibri" panose="020F0502020204030204" pitchFamily="34" charset="0"/>
                    <a:ea typeface="Calibri" panose="020F0502020204030204" pitchFamily="34" charset="0"/>
                    <a:cs typeface="Calibri" panose="020F0502020204030204" pitchFamily="34" charset="0"/>
                  </a:rPr>
                  <a:t> </a:t>
                </a:r>
                <a14:m>
                  <m:oMath xmlns:m="http://schemas.openxmlformats.org/officeDocument/2006/math">
                    <m:r>
                      <a:rPr lang="en-US" dirty="0">
                        <a:solidFill>
                          <a:prstClr val="black"/>
                        </a:solidFill>
                        <a:latin typeface="Cambria Math" panose="02040503050406030204" pitchFamily="18" charset="0"/>
                        <a:ea typeface="Calibri" panose="020F0502020204030204" pitchFamily="34" charset="0"/>
                        <a:cs typeface="Calibri" panose="020F0502020204030204" pitchFamily="34" charset="0"/>
                      </a:rPr>
                      <m:t>+</m:t>
                    </m:r>
                    <m:r>
                      <a:rPr lang="en-US" b="0" i="0" dirty="0" smtClean="0">
                        <a:solidFill>
                          <a:prstClr val="black"/>
                        </a:solidFill>
                        <a:latin typeface="Cambria Math" panose="02040503050406030204" pitchFamily="18" charset="0"/>
                        <a:ea typeface="Calibri" panose="020F0502020204030204" pitchFamily="34" charset="0"/>
                        <a:cs typeface="Calibri" panose="020F0502020204030204" pitchFamily="34" charset="0"/>
                      </a:rPr>
                      <m:t>0</m:t>
                    </m:r>
                    <m:r>
                      <a:rPr lang="en-US" dirty="0">
                        <a:solidFill>
                          <a:prstClr val="black"/>
                        </a:solidFill>
                        <a:latin typeface="Cambria Math" panose="02040503050406030204" pitchFamily="18" charset="0"/>
                        <a:ea typeface="Calibri" panose="020F0502020204030204" pitchFamily="34" charset="0"/>
                        <a:cs typeface="Calibri" panose="020F0502020204030204" pitchFamily="34" charset="0"/>
                      </a:rPr>
                      <m:t> </m:t>
                    </m:r>
                    <m:r>
                      <m:rPr>
                        <m:sty m:val="p"/>
                      </m:rPr>
                      <a:rPr lang="en-US" dirty="0">
                        <a:solidFill>
                          <a:prstClr val="black"/>
                        </a:solidFill>
                        <a:latin typeface="Cambria Math" panose="02040503050406030204" pitchFamily="18" charset="0"/>
                        <a:ea typeface="Calibri" panose="020F0502020204030204" pitchFamily="34" charset="0"/>
                        <a:cs typeface="Calibri" panose="020F0502020204030204" pitchFamily="34" charset="0"/>
                      </a:rPr>
                      <m:t>x</m:t>
                    </m:r>
                    <m:sSup>
                      <m:sSupPr>
                        <m:ctrlPr>
                          <a:rPr lang="en-US" i="1" dirty="0">
                            <a:solidFill>
                              <a:prstClr val="black"/>
                            </a:solidFill>
                            <a:latin typeface="Cambria Math" panose="02040503050406030204" pitchFamily="18" charset="0"/>
                            <a:ea typeface="Calibri" panose="020F0502020204030204" pitchFamily="34" charset="0"/>
                            <a:cs typeface="Calibri" panose="020F0502020204030204" pitchFamily="34" charset="0"/>
                          </a:rPr>
                        </m:ctrlPr>
                      </m:sSupPr>
                      <m:e>
                        <m:r>
                          <a:rPr lang="en-US" i="1" dirty="0">
                            <a:solidFill>
                              <a:prstClr val="black"/>
                            </a:solidFill>
                            <a:latin typeface="Cambria Math" panose="02040503050406030204" pitchFamily="18" charset="0"/>
                            <a:ea typeface="Calibri" panose="020F0502020204030204" pitchFamily="34" charset="0"/>
                            <a:cs typeface="Calibri" panose="020F0502020204030204" pitchFamily="34" charset="0"/>
                          </a:rPr>
                          <m:t> </m:t>
                        </m:r>
                        <m:r>
                          <a:rPr lang="en-US" b="0" i="1" dirty="0" smtClean="0">
                            <a:solidFill>
                              <a:prstClr val="black"/>
                            </a:solidFill>
                            <a:latin typeface="Cambria Math" panose="02040503050406030204" pitchFamily="18" charset="0"/>
                            <a:ea typeface="Calibri" panose="020F0502020204030204" pitchFamily="34" charset="0"/>
                            <a:cs typeface="Calibri" panose="020F0502020204030204" pitchFamily="34" charset="0"/>
                          </a:rPr>
                          <m:t>16</m:t>
                        </m:r>
                      </m:e>
                      <m:sup>
                        <m:r>
                          <a:rPr lang="en-US" b="0" i="1" dirty="0" smtClean="0">
                            <a:solidFill>
                              <a:prstClr val="black"/>
                            </a:solidFill>
                            <a:latin typeface="Cambria Math" panose="02040503050406030204" pitchFamily="18" charset="0"/>
                            <a:ea typeface="Calibri" panose="020F0502020204030204" pitchFamily="34" charset="0"/>
                            <a:cs typeface="Calibri" panose="020F0502020204030204" pitchFamily="34" charset="0"/>
                          </a:rPr>
                          <m:t>1 </m:t>
                        </m:r>
                      </m:sup>
                    </m:sSup>
                  </m:oMath>
                </a14:m>
                <a:r>
                  <a:rPr lang="en-US" dirty="0">
                    <a:latin typeface="Calibri" panose="020F0502020204030204" pitchFamily="34" charset="0"/>
                    <a:ea typeface="Calibri" panose="020F0502020204030204" pitchFamily="34" charset="0"/>
                    <a:cs typeface="Calibri" panose="020F0502020204030204" pitchFamily="34" charset="0"/>
                  </a:rPr>
                  <a:t> </a:t>
                </a:r>
                <a14:m>
                  <m:oMath xmlns:m="http://schemas.openxmlformats.org/officeDocument/2006/math">
                    <m:r>
                      <a:rPr lang="en-US" dirty="0">
                        <a:latin typeface="Cambria Math" panose="02040503050406030204" pitchFamily="18" charset="0"/>
                        <a:ea typeface="Calibri" panose="020F0502020204030204" pitchFamily="34" charset="0"/>
                        <a:cs typeface="Calibri" panose="020F0502020204030204" pitchFamily="34" charset="0"/>
                      </a:rPr>
                      <m:t>+</m:t>
                    </m:r>
                    <m:r>
                      <a:rPr lang="en-US" b="0" i="0" dirty="0" smtClean="0">
                        <a:latin typeface="Cambria Math" panose="02040503050406030204" pitchFamily="18" charset="0"/>
                        <a:ea typeface="Calibri" panose="020F0502020204030204" pitchFamily="34" charset="0"/>
                        <a:cs typeface="Calibri" panose="020F0502020204030204" pitchFamily="34" charset="0"/>
                      </a:rPr>
                      <m:t>1</m:t>
                    </m:r>
                    <m:r>
                      <a:rPr lang="en-US" dirty="0">
                        <a:latin typeface="Cambria Math" panose="02040503050406030204" pitchFamily="18" charset="0"/>
                        <a:ea typeface="Calibri" panose="020F0502020204030204" pitchFamily="34" charset="0"/>
                        <a:cs typeface="Calibri" panose="020F0502020204030204" pitchFamily="34" charset="0"/>
                      </a:rPr>
                      <m:t> </m:t>
                    </m:r>
                    <m:r>
                      <m:rPr>
                        <m:sty m:val="p"/>
                      </m:rPr>
                      <a:rPr lang="en-US" dirty="0">
                        <a:latin typeface="Cambria Math" panose="02040503050406030204" pitchFamily="18" charset="0"/>
                        <a:ea typeface="Calibri" panose="020F0502020204030204" pitchFamily="34" charset="0"/>
                        <a:cs typeface="Calibri" panose="020F0502020204030204" pitchFamily="34" charset="0"/>
                      </a:rPr>
                      <m:t>x</m:t>
                    </m:r>
                    <m:sSup>
                      <m:sSupPr>
                        <m:ctrlPr>
                          <a:rPr lang="en-US" i="1" dirty="0">
                            <a:latin typeface="Cambria Math" panose="02040503050406030204" pitchFamily="18" charset="0"/>
                            <a:ea typeface="Calibri" panose="020F0502020204030204" pitchFamily="34" charset="0"/>
                            <a:cs typeface="Calibri" panose="020F0502020204030204" pitchFamily="34" charset="0"/>
                          </a:rPr>
                        </m:ctrlPr>
                      </m:sSupPr>
                      <m:e>
                        <m:r>
                          <a:rPr lang="en-US" i="1" dirty="0">
                            <a:latin typeface="Cambria Math" panose="02040503050406030204" pitchFamily="18" charset="0"/>
                            <a:ea typeface="Calibri" panose="020F0502020204030204" pitchFamily="34" charset="0"/>
                            <a:cs typeface="Calibri" panose="020F0502020204030204" pitchFamily="34" charset="0"/>
                          </a:rPr>
                          <m:t> </m:t>
                        </m:r>
                        <m:r>
                          <a:rPr lang="en-US" b="0" i="1" dirty="0" smtClean="0">
                            <a:latin typeface="Cambria Math" panose="02040503050406030204" pitchFamily="18" charset="0"/>
                            <a:ea typeface="Calibri" panose="020F0502020204030204" pitchFamily="34" charset="0"/>
                            <a:cs typeface="Calibri" panose="020F0502020204030204" pitchFamily="34" charset="0"/>
                          </a:rPr>
                          <m:t>16</m:t>
                        </m:r>
                      </m:e>
                      <m:sup>
                        <m:r>
                          <a:rPr lang="en-US" b="0" i="1" dirty="0" smtClean="0">
                            <a:latin typeface="Cambria Math" panose="02040503050406030204" pitchFamily="18" charset="0"/>
                            <a:ea typeface="Calibri" panose="020F0502020204030204" pitchFamily="34" charset="0"/>
                            <a:cs typeface="Calibri" panose="020F0502020204030204" pitchFamily="34" charset="0"/>
                          </a:rPr>
                          <m:t>0  </m:t>
                        </m:r>
                      </m:sup>
                    </m:sSup>
                  </m:oMath>
                </a14:m>
                <a:r>
                  <a:rPr lang="en-US" dirty="0">
                    <a:latin typeface="Calibri" panose="020F0502020204030204" pitchFamily="34" charset="0"/>
                    <a:ea typeface="Calibri" panose="020F0502020204030204" pitchFamily="34" charset="0"/>
                    <a:cs typeface="Calibri" panose="020F0502020204030204" pitchFamily="34" charset="0"/>
                  </a:rPr>
                  <a:t>= 43777</a:t>
                </a:r>
              </a:p>
            </p:txBody>
          </p:sp>
        </mc:Choice>
        <mc:Fallback xmlns="">
          <p:sp>
            <p:nvSpPr>
              <p:cNvPr id="35" name="TextBox 34">
                <a:extLst>
                  <a:ext uri="{FF2B5EF4-FFF2-40B4-BE49-F238E27FC236}">
                    <a16:creationId xmlns:a16="http://schemas.microsoft.com/office/drawing/2014/main" id="{6F52E8A5-E590-4F56-8BA5-A545E9CDEAA3}"/>
                  </a:ext>
                </a:extLst>
              </p:cNvPr>
              <p:cNvSpPr txBox="1">
                <a:spLocks noRot="1" noChangeAspect="1" noMove="1" noResize="1" noEditPoints="1" noAdjustHandles="1" noChangeArrowheads="1" noChangeShapeType="1" noTextEdit="1"/>
              </p:cNvSpPr>
              <p:nvPr/>
            </p:nvSpPr>
            <p:spPr>
              <a:xfrm>
                <a:off x="2695449" y="4043688"/>
                <a:ext cx="6644494" cy="369332"/>
              </a:xfrm>
              <a:prstGeom prst="rect">
                <a:avLst/>
              </a:prstGeom>
              <a:blipFill>
                <a:blip r:embed="rId4"/>
                <a:stretch>
                  <a:fillRect t="-8197" b="-26230"/>
                </a:stretch>
              </a:blipFill>
            </p:spPr>
            <p:txBody>
              <a:bodyPr/>
              <a:lstStyle/>
              <a:p>
                <a:r>
                  <a:rPr lang="en-US">
                    <a:noFill/>
                  </a:rPr>
                  <a:t> </a:t>
                </a:r>
              </a:p>
            </p:txBody>
          </p:sp>
        </mc:Fallback>
      </mc:AlternateContent>
    </p:spTree>
    <p:extLst>
      <p:ext uri="{BB962C8B-B14F-4D97-AF65-F5344CB8AC3E}">
        <p14:creationId xmlns:p14="http://schemas.microsoft.com/office/powerpoint/2010/main" val="160422297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15068" y="108349"/>
            <a:ext cx="7660622" cy="519113"/>
          </a:xfrm>
        </p:spPr>
        <p:txBody>
          <a:bodyPr/>
          <a:lstStyle/>
          <a:p>
            <a:r>
              <a:rPr lang="en-US" dirty="0"/>
              <a:t>Exercise </a:t>
            </a:r>
            <a:r>
              <a:rPr lang="en-US" sz="2800" dirty="0"/>
              <a:t>(practice problem 2.1) </a:t>
            </a:r>
          </a:p>
        </p:txBody>
      </p:sp>
      <p:sp>
        <p:nvSpPr>
          <p:cNvPr id="3" name="Content Placeholder 2"/>
          <p:cNvSpPr>
            <a:spLocks noGrp="1"/>
          </p:cNvSpPr>
          <p:nvPr>
            <p:ph idx="1"/>
          </p:nvPr>
        </p:nvSpPr>
        <p:spPr>
          <a:xfrm>
            <a:off x="1115736" y="844153"/>
            <a:ext cx="7571064" cy="3671888"/>
          </a:xfrm>
        </p:spPr>
        <p:txBody>
          <a:bodyPr/>
          <a:lstStyle/>
          <a:p>
            <a:r>
              <a:rPr lang="en-US" sz="2400" b="1" dirty="0">
                <a:solidFill>
                  <a:schemeClr val="accent6"/>
                </a:solidFill>
              </a:rPr>
              <a:t>Ex : </a:t>
            </a:r>
            <a:r>
              <a:rPr lang="en-US" sz="2400" b="1" dirty="0"/>
              <a:t>Converting</a:t>
            </a:r>
            <a:r>
              <a:rPr lang="en-US" sz="2400" b="1" dirty="0">
                <a:solidFill>
                  <a:schemeClr val="accent6"/>
                </a:solidFill>
              </a:rPr>
              <a:t> </a:t>
            </a:r>
            <a:r>
              <a:rPr lang="en-US" sz="2400" dirty="0">
                <a:latin typeface="ZztexMono-Regular"/>
              </a:rPr>
              <a:t>0</a:t>
            </a:r>
            <a:r>
              <a:rPr lang="en-US" sz="2400" b="1" dirty="0">
                <a:solidFill>
                  <a:srgbClr val="FF0000"/>
                </a:solidFill>
                <a:latin typeface="ZztexMono-Regular"/>
              </a:rPr>
              <a:t>x</a:t>
            </a:r>
            <a:r>
              <a:rPr lang="en-US" sz="2400" dirty="0">
                <a:latin typeface="ZztexMono-Regular"/>
              </a:rPr>
              <a:t>25B9D2 to binary</a:t>
            </a:r>
          </a:p>
          <a:p>
            <a:pPr marL="0" indent="0">
              <a:buNone/>
            </a:pPr>
            <a:r>
              <a:rPr lang="en-US" sz="2400" dirty="0">
                <a:latin typeface="ZztexMono-Regular"/>
              </a:rPr>
              <a:t>0</a:t>
            </a:r>
            <a:r>
              <a:rPr lang="en-US" sz="2400" b="1" dirty="0">
                <a:solidFill>
                  <a:srgbClr val="FF0000"/>
                </a:solidFill>
                <a:latin typeface="ZztexMono-Regular"/>
              </a:rPr>
              <a:t>b</a:t>
            </a:r>
            <a:r>
              <a:rPr lang="en-US" sz="2400" dirty="0">
                <a:latin typeface="ZztexMono-Regular"/>
              </a:rPr>
              <a:t>0010 0101 1011 1001 1101 0010</a:t>
            </a:r>
          </a:p>
          <a:p>
            <a:pPr marL="0" indent="0">
              <a:buNone/>
            </a:pPr>
            <a:endParaRPr lang="en-US" sz="2400" dirty="0"/>
          </a:p>
          <a:p>
            <a:pPr lvl="0"/>
            <a:r>
              <a:rPr lang="en-US" sz="2400" b="1" dirty="0">
                <a:solidFill>
                  <a:srgbClr val="F79646"/>
                </a:solidFill>
              </a:rPr>
              <a:t>Ex : </a:t>
            </a:r>
            <a:r>
              <a:rPr lang="en-US" sz="2400" b="1" dirty="0"/>
              <a:t>Converting </a:t>
            </a:r>
            <a:r>
              <a:rPr lang="en-US" sz="2400" dirty="0"/>
              <a:t>1010111001001001</a:t>
            </a:r>
            <a:r>
              <a:rPr lang="en-US" dirty="0"/>
              <a:t> to hexadecimal</a:t>
            </a:r>
          </a:p>
          <a:p>
            <a:pPr marL="0" lvl="0" indent="0">
              <a:buNone/>
            </a:pPr>
            <a:r>
              <a:rPr lang="en-US" sz="2400" dirty="0">
                <a:solidFill>
                  <a:prstClr val="black"/>
                </a:solidFill>
              </a:rPr>
              <a:t>1010 	1110 	0100 	1001</a:t>
            </a:r>
          </a:p>
          <a:p>
            <a:pPr marL="0" lvl="0" indent="0">
              <a:buNone/>
            </a:pPr>
            <a:r>
              <a:rPr lang="en-US" sz="2400" dirty="0">
                <a:solidFill>
                  <a:prstClr val="black"/>
                </a:solidFill>
              </a:rPr>
              <a:t>A	E	4	9</a:t>
            </a:r>
            <a:endParaRPr lang="en-US" dirty="0"/>
          </a:p>
        </p:txBody>
      </p:sp>
      <p:sp>
        <p:nvSpPr>
          <p:cNvPr id="4" name="灯片编号占位符 3"/>
          <p:cNvSpPr>
            <a:spLocks noGrp="1"/>
          </p:cNvSpPr>
          <p:nvPr>
            <p:ph type="sldNum" sz="quarter" idx="10"/>
          </p:nvPr>
        </p:nvSpPr>
        <p:spPr/>
        <p:txBody>
          <a:bodyPr/>
          <a:lstStyle/>
          <a:p>
            <a:fld id="{D9B6BDF2-6896-4B98-8776-C18582F63BA5}" type="slidenum">
              <a:rPr lang="zh-TW" altLang="en-US" smtClean="0"/>
              <a:t>8</a:t>
            </a:fld>
            <a:endParaRPr lang="zh-TW" altLang="en-US"/>
          </a:p>
        </p:txBody>
      </p:sp>
    </p:spTree>
    <p:extLst>
      <p:ext uri="{BB962C8B-B14F-4D97-AF65-F5344CB8AC3E}">
        <p14:creationId xmlns:p14="http://schemas.microsoft.com/office/powerpoint/2010/main" val="412847564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15068" y="108349"/>
            <a:ext cx="7660622" cy="519113"/>
          </a:xfrm>
        </p:spPr>
        <p:txBody>
          <a:bodyPr/>
          <a:lstStyle/>
          <a:p>
            <a:r>
              <a:rPr lang="en-US" dirty="0"/>
              <a:t>Exercise: conversion to decimal values </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1115736" y="844153"/>
                <a:ext cx="7571064" cy="3671888"/>
              </a:xfrm>
            </p:spPr>
            <p:txBody>
              <a:bodyPr/>
              <a:lstStyle/>
              <a:p>
                <a:r>
                  <a:rPr lang="en-US" sz="2400" b="1" dirty="0">
                    <a:solidFill>
                      <a:schemeClr val="accent6"/>
                    </a:solidFill>
                  </a:rPr>
                  <a:t>Ex : </a:t>
                </a:r>
                <a:r>
                  <a:rPr lang="en-US" sz="2400" b="1" dirty="0"/>
                  <a:t>What decimal value is  </a:t>
                </a:r>
                <a:r>
                  <a:rPr kumimoji="1" lang="en-US" sz="2400" b="0" i="0" u="none" strike="noStrike" kern="0" cap="none" spc="0" normalizeH="0" baseline="0" noProof="0" dirty="0">
                    <a:ln>
                      <a:noFill/>
                    </a:ln>
                    <a:solidFill>
                      <a:prstClr val="black"/>
                    </a:solidFill>
                    <a:effectLst/>
                    <a:uLnTx/>
                    <a:uFillTx/>
                    <a:latin typeface="Calibri" panose="020F0502020204030204" pitchFamily="34" charset="0"/>
                    <a:ea typeface="標楷體" pitchFamily="65" charset="-120"/>
                    <a:cs typeface="+mn-cs"/>
                  </a:rPr>
                  <a:t>36</a:t>
                </a:r>
                <a:r>
                  <a:rPr kumimoji="1" lang="en-US" sz="2400" b="0" i="0" u="none" strike="noStrike" kern="0" cap="none" spc="0" normalizeH="0" baseline="-25000" noProof="0" dirty="0">
                    <a:ln>
                      <a:noFill/>
                    </a:ln>
                    <a:solidFill>
                      <a:prstClr val="black"/>
                    </a:solidFill>
                    <a:effectLst/>
                    <a:uLnTx/>
                    <a:uFillTx/>
                    <a:latin typeface="Calibri" panose="020F0502020204030204" pitchFamily="34" charset="0"/>
                    <a:ea typeface="標楷體" pitchFamily="65" charset="-120"/>
                    <a:cs typeface="+mn-cs"/>
                  </a:rPr>
                  <a:t>16 </a:t>
                </a:r>
                <a:r>
                  <a:rPr kumimoji="1" lang="en-US" sz="2400" b="0" i="0" u="none" strike="noStrike" kern="0" cap="none" spc="0" normalizeH="0" baseline="0" noProof="0" dirty="0">
                    <a:ln>
                      <a:noFill/>
                    </a:ln>
                    <a:solidFill>
                      <a:prstClr val="black"/>
                    </a:solidFill>
                    <a:effectLst/>
                    <a:uLnTx/>
                    <a:uFillTx/>
                    <a:latin typeface="Calibri" panose="020F0502020204030204" pitchFamily="34" charset="0"/>
                    <a:ea typeface="標楷體" pitchFamily="65" charset="-120"/>
                    <a:cs typeface="+mn-cs"/>
                  </a:rPr>
                  <a:t>and AAA</a:t>
                </a:r>
                <a:r>
                  <a:rPr kumimoji="1" lang="en-US" sz="2400" b="0" i="0" u="none" strike="noStrike" kern="0" cap="none" spc="0" normalizeH="0" baseline="-25000" noProof="0" dirty="0">
                    <a:ln>
                      <a:noFill/>
                    </a:ln>
                    <a:solidFill>
                      <a:prstClr val="black"/>
                    </a:solidFill>
                    <a:effectLst/>
                    <a:uLnTx/>
                    <a:uFillTx/>
                    <a:latin typeface="Calibri" panose="020F0502020204030204" pitchFamily="34" charset="0"/>
                    <a:ea typeface="標楷體" pitchFamily="65" charset="-120"/>
                    <a:cs typeface="+mn-cs"/>
                  </a:rPr>
                  <a:t>16</a:t>
                </a:r>
                <a:endParaRPr lang="en-US" sz="2400" dirty="0"/>
              </a:p>
              <a:p>
                <a:pPr marL="0" indent="0">
                  <a:buNone/>
                </a:pPr>
                <a:r>
                  <a:rPr kumimoji="1" lang="en-US" sz="2400" b="0" i="0" u="none" strike="noStrike" kern="0" cap="none" spc="0" normalizeH="0" baseline="0" noProof="0" dirty="0">
                    <a:ln>
                      <a:noFill/>
                    </a:ln>
                    <a:solidFill>
                      <a:prstClr val="black"/>
                    </a:solidFill>
                    <a:effectLst/>
                    <a:uLnTx/>
                    <a:uFillTx/>
                    <a:latin typeface="Calibri" panose="020F0502020204030204" pitchFamily="34" charset="0"/>
                    <a:ea typeface="標楷體" pitchFamily="65" charset="-120"/>
                    <a:cs typeface="+mn-cs"/>
                  </a:rPr>
                  <a:t>36</a:t>
                </a:r>
                <a:r>
                  <a:rPr kumimoji="1" lang="en-US" sz="2400" b="0" i="0" u="none" strike="noStrike" kern="0" cap="none" spc="0" normalizeH="0" baseline="-25000" noProof="0" dirty="0">
                    <a:ln>
                      <a:noFill/>
                    </a:ln>
                    <a:solidFill>
                      <a:prstClr val="black"/>
                    </a:solidFill>
                    <a:effectLst/>
                    <a:uLnTx/>
                    <a:uFillTx/>
                    <a:latin typeface="Calibri" panose="020F0502020204030204" pitchFamily="34" charset="0"/>
                    <a:ea typeface="標楷體" pitchFamily="65" charset="-120"/>
                    <a:cs typeface="+mn-cs"/>
                  </a:rPr>
                  <a:t>16 </a:t>
                </a:r>
                <a:r>
                  <a:rPr lang="en-US" sz="2400" dirty="0">
                    <a:solidFill>
                      <a:prstClr val="black"/>
                    </a:solidFill>
                  </a:rPr>
                  <a:t> = </a:t>
                </a:r>
                <a:r>
                  <a:rPr lang="en-US" sz="2400" dirty="0"/>
                  <a:t>3x16 + 6 = 54</a:t>
                </a:r>
              </a:p>
              <a:p>
                <a:pPr marL="0" indent="0">
                  <a:buNone/>
                </a:pPr>
                <a:r>
                  <a:rPr kumimoji="1" lang="en-US" sz="2400" b="0" i="0" u="none" strike="noStrike" kern="0" cap="none" spc="0" normalizeH="0" baseline="0" noProof="0" dirty="0">
                    <a:ln>
                      <a:noFill/>
                    </a:ln>
                    <a:solidFill>
                      <a:prstClr val="black"/>
                    </a:solidFill>
                    <a:effectLst/>
                    <a:uLnTx/>
                    <a:uFillTx/>
                    <a:latin typeface="Calibri" panose="020F0502020204030204" pitchFamily="34" charset="0"/>
                    <a:ea typeface="標楷體" pitchFamily="65" charset="-120"/>
                    <a:cs typeface="+mn-cs"/>
                  </a:rPr>
                  <a:t>AAA</a:t>
                </a:r>
                <a:r>
                  <a:rPr kumimoji="1" lang="en-US" sz="2400" b="0" i="0" u="none" strike="noStrike" kern="0" cap="none" spc="0" normalizeH="0" baseline="-25000" noProof="0" dirty="0">
                    <a:ln>
                      <a:noFill/>
                    </a:ln>
                    <a:solidFill>
                      <a:prstClr val="black"/>
                    </a:solidFill>
                    <a:effectLst/>
                    <a:uLnTx/>
                    <a:uFillTx/>
                    <a:latin typeface="Calibri" panose="020F0502020204030204" pitchFamily="34" charset="0"/>
                    <a:ea typeface="標楷體" pitchFamily="65" charset="-120"/>
                    <a:cs typeface="+mn-cs"/>
                  </a:rPr>
                  <a:t>16</a:t>
                </a:r>
                <a:r>
                  <a:rPr kumimoji="1" lang="en-US" sz="2400" b="0" i="0" u="none" strike="noStrike" kern="0" cap="none" spc="0" normalizeH="0" baseline="0" noProof="0" dirty="0">
                    <a:ln>
                      <a:noFill/>
                    </a:ln>
                    <a:solidFill>
                      <a:prstClr val="black"/>
                    </a:solidFill>
                    <a:effectLst/>
                    <a:uLnTx/>
                    <a:uFillTx/>
                    <a:latin typeface="Calibri" panose="020F0502020204030204" pitchFamily="34" charset="0"/>
                    <a:ea typeface="標楷體" pitchFamily="65" charset="-120"/>
                    <a:cs typeface="+mn-cs"/>
                  </a:rPr>
                  <a:t> = 10x</a:t>
                </a:r>
                <a14:m>
                  <m:oMath xmlns:m="http://schemas.openxmlformats.org/officeDocument/2006/math">
                    <m:sSup>
                      <m:sSupPr>
                        <m:ctrlPr>
                          <a:rPr kumimoji="1" lang="en-US" sz="2400" b="0" i="1" u="none" strike="noStrike" kern="0" cap="none" spc="0" normalizeH="0" baseline="0" noProof="0" smtClean="0">
                            <a:ln>
                              <a:noFill/>
                            </a:ln>
                            <a:solidFill>
                              <a:prstClr val="black"/>
                            </a:solidFill>
                            <a:effectLst/>
                            <a:uLnTx/>
                            <a:uFillTx/>
                            <a:latin typeface="Cambria Math" panose="02040503050406030204" pitchFamily="18" charset="0"/>
                            <a:ea typeface="標楷體" pitchFamily="65" charset="-120"/>
                            <a:cs typeface="+mn-cs"/>
                          </a:rPr>
                        </m:ctrlPr>
                      </m:sSupPr>
                      <m:e>
                        <m:r>
                          <a:rPr kumimoji="1" lang="en-US" sz="2400" b="0" i="1" u="none" strike="noStrike" kern="0" cap="none" spc="0" normalizeH="0" baseline="0" noProof="0" smtClean="0">
                            <a:ln>
                              <a:noFill/>
                            </a:ln>
                            <a:solidFill>
                              <a:prstClr val="black"/>
                            </a:solidFill>
                            <a:effectLst/>
                            <a:uLnTx/>
                            <a:uFillTx/>
                            <a:latin typeface="Cambria Math" panose="02040503050406030204" pitchFamily="18" charset="0"/>
                            <a:ea typeface="標楷體" pitchFamily="65" charset="-120"/>
                            <a:cs typeface="+mn-cs"/>
                          </a:rPr>
                          <m:t>16</m:t>
                        </m:r>
                      </m:e>
                      <m:sup>
                        <m:r>
                          <a:rPr kumimoji="1" lang="en-US" sz="2400" b="0" i="1" u="none" strike="noStrike" kern="0" cap="none" spc="0" normalizeH="0" baseline="0" noProof="0" smtClean="0">
                            <a:ln>
                              <a:noFill/>
                            </a:ln>
                            <a:solidFill>
                              <a:prstClr val="black"/>
                            </a:solidFill>
                            <a:effectLst/>
                            <a:uLnTx/>
                            <a:uFillTx/>
                            <a:latin typeface="Cambria Math" panose="02040503050406030204" pitchFamily="18" charset="0"/>
                            <a:ea typeface="標楷體" pitchFamily="65" charset="-120"/>
                            <a:cs typeface="+mn-cs"/>
                          </a:rPr>
                          <m:t>2</m:t>
                        </m:r>
                      </m:sup>
                    </m:sSup>
                    <m:r>
                      <a:rPr kumimoji="1" lang="en-US" sz="2400" b="0" i="0" u="none" strike="noStrike" kern="0" cap="none" spc="0" normalizeH="0" baseline="0" noProof="0" smtClean="0">
                        <a:ln>
                          <a:noFill/>
                        </a:ln>
                        <a:solidFill>
                          <a:prstClr val="black"/>
                        </a:solidFill>
                        <a:effectLst/>
                        <a:uLnTx/>
                        <a:uFillTx/>
                        <a:latin typeface="Cambria Math" panose="02040503050406030204" pitchFamily="18" charset="0"/>
                        <a:ea typeface="標楷體" pitchFamily="65" charset="-120"/>
                        <a:cs typeface="+mn-cs"/>
                      </a:rPr>
                      <m:t>+</m:t>
                    </m:r>
                  </m:oMath>
                </a14:m>
                <a:r>
                  <a:rPr kumimoji="1" lang="en-US" sz="2400" b="0" i="0" u="none" strike="noStrike" kern="0" cap="none" spc="0" normalizeH="0" baseline="0" noProof="0" dirty="0">
                    <a:ln>
                      <a:noFill/>
                    </a:ln>
                    <a:solidFill>
                      <a:prstClr val="black"/>
                    </a:solidFill>
                    <a:effectLst/>
                    <a:uLnTx/>
                    <a:uFillTx/>
                    <a:latin typeface="Calibri" panose="020F0502020204030204" pitchFamily="34" charset="0"/>
                    <a:ea typeface="標楷體" pitchFamily="65" charset="-120"/>
                    <a:cs typeface="+mn-cs"/>
                  </a:rPr>
                  <a:t>10x16 + 10 = </a:t>
                </a:r>
                <a:r>
                  <a:rPr lang="en-US" sz="2400" dirty="0">
                    <a:solidFill>
                      <a:prstClr val="black"/>
                    </a:solidFill>
                  </a:rPr>
                  <a:t>2730</a:t>
                </a:r>
                <a:endParaRPr lang="en-US" sz="2400" dirty="0"/>
              </a:p>
              <a:p>
                <a:pPr lvl="0"/>
                <a:r>
                  <a:rPr lang="en-US" sz="2400" b="1" dirty="0">
                    <a:solidFill>
                      <a:srgbClr val="F79646"/>
                    </a:solidFill>
                  </a:rPr>
                  <a:t>Ex : </a:t>
                </a:r>
                <a:r>
                  <a:rPr lang="en-US" sz="2400" b="1" dirty="0">
                    <a:solidFill>
                      <a:prstClr val="black"/>
                    </a:solidFill>
                  </a:rPr>
                  <a:t>What decimal value is  </a:t>
                </a:r>
                <a:r>
                  <a:rPr lang="en-US" sz="2400" dirty="0">
                    <a:solidFill>
                      <a:prstClr val="black"/>
                    </a:solidFill>
                  </a:rPr>
                  <a:t>10000001</a:t>
                </a:r>
                <a:r>
                  <a:rPr lang="en-US" sz="2400" baseline="-25000" dirty="0">
                    <a:solidFill>
                      <a:prstClr val="black"/>
                    </a:solidFill>
                  </a:rPr>
                  <a:t>2 </a:t>
                </a:r>
                <a:r>
                  <a:rPr lang="en-US" sz="2400" dirty="0">
                    <a:solidFill>
                      <a:prstClr val="black"/>
                    </a:solidFill>
                  </a:rPr>
                  <a:t>and 11110000</a:t>
                </a:r>
                <a:r>
                  <a:rPr lang="en-US" sz="2400" baseline="-25000" dirty="0">
                    <a:solidFill>
                      <a:prstClr val="black"/>
                    </a:solidFill>
                  </a:rPr>
                  <a:t>2</a:t>
                </a:r>
                <a:endParaRPr lang="en-US" sz="2400" dirty="0">
                  <a:solidFill>
                    <a:prstClr val="black"/>
                  </a:solidFill>
                </a:endParaRPr>
              </a:p>
              <a:p>
                <a:pPr marL="0" indent="0">
                  <a:buNone/>
                </a:pPr>
                <a:r>
                  <a:rPr lang="en-US" sz="2400" dirty="0">
                    <a:solidFill>
                      <a:prstClr val="black"/>
                    </a:solidFill>
                  </a:rPr>
                  <a:t>10000001</a:t>
                </a:r>
                <a:r>
                  <a:rPr lang="en-US" sz="2400" baseline="-25000" dirty="0">
                    <a:solidFill>
                      <a:prstClr val="black"/>
                    </a:solidFill>
                  </a:rPr>
                  <a:t>2 </a:t>
                </a:r>
                <a:r>
                  <a:rPr lang="en-US" sz="2400" dirty="0">
                    <a:solidFill>
                      <a:prstClr val="black"/>
                    </a:solidFill>
                  </a:rPr>
                  <a:t>= 81</a:t>
                </a:r>
                <a:r>
                  <a:rPr lang="en-US" sz="2400" baseline="-25000" dirty="0">
                    <a:solidFill>
                      <a:prstClr val="black"/>
                    </a:solidFill>
                  </a:rPr>
                  <a:t>16 </a:t>
                </a:r>
                <a:r>
                  <a:rPr lang="en-US" sz="2400" dirty="0">
                    <a:solidFill>
                      <a:prstClr val="black"/>
                    </a:solidFill>
                  </a:rPr>
                  <a:t>= 8x16+1=128 + 1 = 129</a:t>
                </a:r>
              </a:p>
              <a:p>
                <a:pPr marL="0" indent="0">
                  <a:buNone/>
                </a:pPr>
                <a:r>
                  <a:rPr lang="en-US" sz="2400" dirty="0">
                    <a:solidFill>
                      <a:prstClr val="black"/>
                    </a:solidFill>
                  </a:rPr>
                  <a:t>11110000</a:t>
                </a:r>
                <a:r>
                  <a:rPr lang="en-US" sz="2400" baseline="-25000" dirty="0">
                    <a:solidFill>
                      <a:prstClr val="black"/>
                    </a:solidFill>
                  </a:rPr>
                  <a:t>2 </a:t>
                </a:r>
                <a:r>
                  <a:rPr lang="en-US" sz="2400" dirty="0">
                    <a:solidFill>
                      <a:prstClr val="black"/>
                    </a:solidFill>
                  </a:rPr>
                  <a:t>= F0</a:t>
                </a:r>
                <a:r>
                  <a:rPr lang="en-US" sz="2400" baseline="-25000" dirty="0">
                    <a:solidFill>
                      <a:prstClr val="black"/>
                    </a:solidFill>
                  </a:rPr>
                  <a:t>16 </a:t>
                </a:r>
                <a:r>
                  <a:rPr lang="en-US" sz="2400" dirty="0">
                    <a:solidFill>
                      <a:prstClr val="black"/>
                    </a:solidFill>
                  </a:rPr>
                  <a:t>=15x16 + 0 = 2408</a:t>
                </a:r>
                <a:endParaRPr lang="en-US" sz="2400"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1115736" y="844153"/>
                <a:ext cx="7571064" cy="3671888"/>
              </a:xfrm>
              <a:blipFill>
                <a:blip r:embed="rId3"/>
                <a:stretch>
                  <a:fillRect l="-1208" t="-1327"/>
                </a:stretch>
              </a:blipFill>
            </p:spPr>
            <p:txBody>
              <a:bodyPr/>
              <a:lstStyle/>
              <a:p>
                <a:r>
                  <a:rPr lang="en-US">
                    <a:noFill/>
                  </a:rPr>
                  <a:t> </a:t>
                </a:r>
              </a:p>
            </p:txBody>
          </p:sp>
        </mc:Fallback>
      </mc:AlternateContent>
      <p:sp>
        <p:nvSpPr>
          <p:cNvPr id="4" name="灯片编号占位符 3"/>
          <p:cNvSpPr>
            <a:spLocks noGrp="1"/>
          </p:cNvSpPr>
          <p:nvPr>
            <p:ph type="sldNum" sz="quarter" idx="10"/>
          </p:nvPr>
        </p:nvSpPr>
        <p:spPr/>
        <p:txBody>
          <a:bodyPr/>
          <a:lstStyle/>
          <a:p>
            <a:fld id="{D9B6BDF2-6896-4B98-8776-C18582F63BA5}" type="slidenum">
              <a:rPr lang="zh-TW" altLang="en-US" smtClean="0"/>
              <a:t>9</a:t>
            </a:fld>
            <a:endParaRPr lang="zh-TW" altLang="en-US"/>
          </a:p>
        </p:txBody>
      </p:sp>
    </p:spTree>
    <p:extLst>
      <p:ext uri="{BB962C8B-B14F-4D97-AF65-F5344CB8AC3E}">
        <p14:creationId xmlns:p14="http://schemas.microsoft.com/office/powerpoint/2010/main" val="414967632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p:cNvSpPr>
            <a:spLocks noGrp="1"/>
          </p:cNvSpPr>
          <p:nvPr>
            <p:ph type="title"/>
          </p:nvPr>
        </p:nvSpPr>
        <p:spPr>
          <a:xfrm>
            <a:off x="973123" y="108349"/>
            <a:ext cx="7702567" cy="519113"/>
          </a:xfrm>
        </p:spPr>
        <p:txBody>
          <a:bodyPr/>
          <a:lstStyle/>
          <a:p>
            <a:r>
              <a:rPr lang="en-US" altLang="en-US" sz="3200" dirty="0"/>
              <a:t>Converting Decimal to Binary </a:t>
            </a:r>
            <a:endParaRPr lang="en-US" sz="3200" dirty="0"/>
          </a:p>
        </p:txBody>
      </p:sp>
      <p:sp>
        <p:nvSpPr>
          <p:cNvPr id="9" name="Content Placeholder 8"/>
          <p:cNvSpPr>
            <a:spLocks noGrp="1"/>
          </p:cNvSpPr>
          <p:nvPr>
            <p:ph idx="1"/>
          </p:nvPr>
        </p:nvSpPr>
        <p:spPr>
          <a:xfrm>
            <a:off x="1065402" y="844153"/>
            <a:ext cx="7621398" cy="3671888"/>
          </a:xfrm>
        </p:spPr>
        <p:txBody>
          <a:bodyPr>
            <a:noAutofit/>
          </a:bodyPr>
          <a:lstStyle/>
          <a:p>
            <a:r>
              <a:rPr lang="en-US" sz="1600" dirty="0"/>
              <a:t>Binary to decimal conversion:</a:t>
            </a:r>
          </a:p>
          <a:p>
            <a:pPr lvl="1"/>
            <a:r>
              <a:rPr lang="en-US" sz="1600" dirty="0"/>
              <a:t>Convert </a:t>
            </a:r>
            <a:r>
              <a:rPr lang="en-US" sz="1600" b="1" dirty="0">
                <a:solidFill>
                  <a:schemeClr val="accent1"/>
                </a:solidFill>
                <a:cs typeface="Times New Roman" panose="02020603050405020304" pitchFamily="18" charset="0"/>
              </a:rPr>
              <a:t>10011</a:t>
            </a:r>
            <a:r>
              <a:rPr lang="en-US" sz="1600" baseline="-25000" dirty="0">
                <a:cs typeface="Times New Roman" panose="02020603050405020304" pitchFamily="18" charset="0"/>
              </a:rPr>
              <a:t>2</a:t>
            </a:r>
            <a:r>
              <a:rPr lang="en-US" sz="1600" dirty="0"/>
              <a:t> to decimal</a:t>
            </a:r>
          </a:p>
          <a:p>
            <a:pPr lvl="1"/>
            <a:r>
              <a:rPr lang="en-US" sz="1600" dirty="0">
                <a:cs typeface="Times New Roman" panose="02020603050405020304" pitchFamily="18" charset="0"/>
              </a:rPr>
              <a:t>16×</a:t>
            </a:r>
            <a:r>
              <a:rPr lang="en-US" sz="1600" b="1" dirty="0">
                <a:solidFill>
                  <a:schemeClr val="accent1"/>
                </a:solidFill>
                <a:cs typeface="Times New Roman" panose="02020603050405020304" pitchFamily="18" charset="0"/>
              </a:rPr>
              <a:t>1</a:t>
            </a:r>
            <a:r>
              <a:rPr lang="en-US" sz="1600" dirty="0">
                <a:cs typeface="Times New Roman" panose="02020603050405020304" pitchFamily="18" charset="0"/>
              </a:rPr>
              <a:t> + 8×</a:t>
            </a:r>
            <a:r>
              <a:rPr lang="en-US" sz="1600" b="1" dirty="0">
                <a:solidFill>
                  <a:schemeClr val="accent1"/>
                </a:solidFill>
                <a:cs typeface="Times New Roman" panose="02020603050405020304" pitchFamily="18" charset="0"/>
              </a:rPr>
              <a:t>0</a:t>
            </a:r>
            <a:r>
              <a:rPr lang="en-US" sz="1600" dirty="0">
                <a:cs typeface="Times New Roman" panose="02020603050405020304" pitchFamily="18" charset="0"/>
              </a:rPr>
              <a:t> + 4×</a:t>
            </a:r>
            <a:r>
              <a:rPr lang="en-US" sz="1600" b="1" dirty="0">
                <a:solidFill>
                  <a:schemeClr val="accent1"/>
                </a:solidFill>
                <a:cs typeface="Times New Roman" panose="02020603050405020304" pitchFamily="18" charset="0"/>
              </a:rPr>
              <a:t>0</a:t>
            </a:r>
            <a:r>
              <a:rPr lang="en-US" sz="1600" dirty="0">
                <a:cs typeface="Times New Roman" panose="02020603050405020304" pitchFamily="18" charset="0"/>
              </a:rPr>
              <a:t> + 2×</a:t>
            </a:r>
            <a:r>
              <a:rPr lang="en-US" sz="1600" b="1" dirty="0">
                <a:solidFill>
                  <a:schemeClr val="accent1"/>
                </a:solidFill>
                <a:cs typeface="Times New Roman" panose="02020603050405020304" pitchFamily="18" charset="0"/>
              </a:rPr>
              <a:t>1</a:t>
            </a:r>
            <a:r>
              <a:rPr lang="en-US" sz="1600" dirty="0">
                <a:cs typeface="Times New Roman" panose="02020603050405020304" pitchFamily="18" charset="0"/>
              </a:rPr>
              <a:t> + 1×</a:t>
            </a:r>
            <a:r>
              <a:rPr lang="en-US" sz="1600" b="1" dirty="0">
                <a:solidFill>
                  <a:schemeClr val="accent1"/>
                </a:solidFill>
                <a:cs typeface="Times New Roman" panose="02020603050405020304" pitchFamily="18" charset="0"/>
              </a:rPr>
              <a:t>1</a:t>
            </a:r>
            <a:r>
              <a:rPr lang="en-US" sz="1600" dirty="0">
                <a:cs typeface="Times New Roman" panose="02020603050405020304" pitchFamily="18" charset="0"/>
              </a:rPr>
              <a:t> = 19</a:t>
            </a:r>
            <a:r>
              <a:rPr lang="en-US" sz="1600" baseline="-25000" dirty="0">
                <a:cs typeface="Times New Roman" panose="02020603050405020304" pitchFamily="18" charset="0"/>
              </a:rPr>
              <a:t>10</a:t>
            </a:r>
          </a:p>
          <a:p>
            <a:r>
              <a:rPr lang="en-US" sz="1600" dirty="0"/>
              <a:t>Decimal to binary conversion:</a:t>
            </a:r>
          </a:p>
          <a:p>
            <a:pPr lvl="1"/>
            <a:r>
              <a:rPr lang="en-US" sz="1600" dirty="0"/>
              <a:t>Convert </a:t>
            </a:r>
            <a:r>
              <a:rPr lang="en-US" sz="1600" dirty="0">
                <a:cs typeface="Times New Roman" panose="02020603050405020304" pitchFamily="18" charset="0"/>
              </a:rPr>
              <a:t>47</a:t>
            </a:r>
            <a:r>
              <a:rPr lang="en-US" sz="1600" baseline="-25000" dirty="0">
                <a:cs typeface="Times New Roman" panose="02020603050405020304" pitchFamily="18" charset="0"/>
              </a:rPr>
              <a:t>10</a:t>
            </a:r>
            <a:r>
              <a:rPr lang="en-US" sz="1600" dirty="0"/>
              <a:t> to binary</a:t>
            </a:r>
          </a:p>
          <a:p>
            <a:pPr lvl="1"/>
            <a:r>
              <a:rPr lang="en-US" sz="1600" dirty="0">
                <a:cs typeface="Times New Roman" panose="02020603050405020304" pitchFamily="18" charset="0"/>
              </a:rPr>
              <a:t>32×</a:t>
            </a:r>
            <a:r>
              <a:rPr lang="en-US" sz="1600" b="1" dirty="0">
                <a:solidFill>
                  <a:schemeClr val="accent1"/>
                </a:solidFill>
                <a:cs typeface="Times New Roman" panose="02020603050405020304" pitchFamily="18" charset="0"/>
              </a:rPr>
              <a:t>1</a:t>
            </a:r>
            <a:r>
              <a:rPr lang="en-US" sz="1600" dirty="0">
                <a:cs typeface="Times New Roman" panose="02020603050405020304" pitchFamily="18" charset="0"/>
              </a:rPr>
              <a:t> + 16×</a:t>
            </a:r>
            <a:r>
              <a:rPr lang="en-US" sz="1600" b="1" dirty="0">
                <a:solidFill>
                  <a:schemeClr val="accent1"/>
                </a:solidFill>
                <a:cs typeface="Times New Roman" panose="02020603050405020304" pitchFamily="18" charset="0"/>
              </a:rPr>
              <a:t>0</a:t>
            </a:r>
            <a:r>
              <a:rPr lang="en-US" sz="1600" dirty="0">
                <a:cs typeface="Times New Roman" panose="02020603050405020304" pitchFamily="18" charset="0"/>
              </a:rPr>
              <a:t> + 8×</a:t>
            </a:r>
            <a:r>
              <a:rPr lang="en-US" sz="1600" b="1" dirty="0">
                <a:solidFill>
                  <a:schemeClr val="accent1"/>
                </a:solidFill>
                <a:cs typeface="Times New Roman" panose="02020603050405020304" pitchFamily="18" charset="0"/>
              </a:rPr>
              <a:t>1</a:t>
            </a:r>
            <a:r>
              <a:rPr lang="en-US" sz="1600" dirty="0">
                <a:cs typeface="Times New Roman" panose="02020603050405020304" pitchFamily="18" charset="0"/>
              </a:rPr>
              <a:t> + 4×</a:t>
            </a:r>
            <a:r>
              <a:rPr lang="en-US" sz="1600" b="1" dirty="0">
                <a:solidFill>
                  <a:schemeClr val="accent1"/>
                </a:solidFill>
                <a:cs typeface="Times New Roman" panose="02020603050405020304" pitchFamily="18" charset="0"/>
              </a:rPr>
              <a:t>1</a:t>
            </a:r>
            <a:r>
              <a:rPr lang="en-US" sz="1600" dirty="0">
                <a:cs typeface="Times New Roman" panose="02020603050405020304" pitchFamily="18" charset="0"/>
              </a:rPr>
              <a:t> + 2×</a:t>
            </a:r>
            <a:r>
              <a:rPr lang="en-US" sz="1600" b="1" dirty="0">
                <a:solidFill>
                  <a:schemeClr val="accent1"/>
                </a:solidFill>
                <a:cs typeface="Times New Roman" panose="02020603050405020304" pitchFamily="18" charset="0"/>
              </a:rPr>
              <a:t>1</a:t>
            </a:r>
            <a:r>
              <a:rPr lang="en-US" sz="1600" dirty="0">
                <a:cs typeface="Times New Roman" panose="02020603050405020304" pitchFamily="18" charset="0"/>
              </a:rPr>
              <a:t> + 1×</a:t>
            </a:r>
            <a:r>
              <a:rPr lang="en-US" sz="1600" b="1" dirty="0">
                <a:solidFill>
                  <a:schemeClr val="accent1"/>
                </a:solidFill>
                <a:cs typeface="Times New Roman" panose="02020603050405020304" pitchFamily="18" charset="0"/>
              </a:rPr>
              <a:t>1</a:t>
            </a:r>
            <a:r>
              <a:rPr lang="en-US" sz="1600" dirty="0">
                <a:cs typeface="Times New Roman" panose="02020603050405020304" pitchFamily="18" charset="0"/>
              </a:rPr>
              <a:t> = </a:t>
            </a:r>
            <a:r>
              <a:rPr lang="en-US" sz="1600" b="1" dirty="0">
                <a:solidFill>
                  <a:schemeClr val="accent1"/>
                </a:solidFill>
                <a:cs typeface="Times New Roman" panose="02020603050405020304" pitchFamily="18" charset="0"/>
              </a:rPr>
              <a:t>101111</a:t>
            </a:r>
            <a:r>
              <a:rPr lang="en-US" sz="1600" baseline="-25000" dirty="0">
                <a:cs typeface="Times New Roman" panose="02020603050405020304" pitchFamily="18" charset="0"/>
              </a:rPr>
              <a:t>2</a:t>
            </a:r>
          </a:p>
          <a:p>
            <a:pPr lvl="1"/>
            <a:endParaRPr lang="en-US" sz="1200" dirty="0"/>
          </a:p>
          <a:p>
            <a:pPr lvl="1"/>
            <a:endParaRPr lang="en-US" sz="1200" dirty="0"/>
          </a:p>
          <a:p>
            <a:endParaRPr lang="en-US" sz="1350" dirty="0"/>
          </a:p>
        </p:txBody>
      </p:sp>
      <p:sp>
        <p:nvSpPr>
          <p:cNvPr id="2" name="灯片编号占位符 1"/>
          <p:cNvSpPr>
            <a:spLocks noGrp="1"/>
          </p:cNvSpPr>
          <p:nvPr>
            <p:ph type="sldNum" sz="quarter" idx="10"/>
          </p:nvPr>
        </p:nvSpPr>
        <p:spPr/>
        <p:txBody>
          <a:bodyPr/>
          <a:lstStyle/>
          <a:p>
            <a:fld id="{D9B6BDF2-6896-4B98-8776-C18582F63BA5}" type="slidenum">
              <a:rPr lang="zh-TW" altLang="en-US" smtClean="0"/>
              <a:t>10</a:t>
            </a:fld>
            <a:endParaRPr lang="zh-TW" altLang="en-US"/>
          </a:p>
        </p:txBody>
      </p:sp>
      <p:sp>
        <p:nvSpPr>
          <p:cNvPr id="3" name="TextBox 2">
            <a:extLst>
              <a:ext uri="{FF2B5EF4-FFF2-40B4-BE49-F238E27FC236}">
                <a16:creationId xmlns:a16="http://schemas.microsoft.com/office/drawing/2014/main" id="{A760E903-4D55-4C8A-AA52-C258FBF018CD}"/>
              </a:ext>
            </a:extLst>
          </p:cNvPr>
          <p:cNvSpPr txBox="1"/>
          <p:nvPr/>
        </p:nvSpPr>
        <p:spPr>
          <a:xfrm>
            <a:off x="6248400" y="864553"/>
            <a:ext cx="2071401" cy="1754326"/>
          </a:xfrm>
          <a:prstGeom prst="rect">
            <a:avLst/>
          </a:prstGeom>
          <a:noFill/>
        </p:spPr>
        <p:txBody>
          <a:bodyPr wrap="none" rtlCol="0" anchor="ctr" anchorCtr="1">
            <a:spAutoFit/>
          </a:bodyPr>
          <a:lstStyle/>
          <a:p>
            <a:r>
              <a:rPr lang="en-US" dirty="0">
                <a:solidFill>
                  <a:srgbClr val="0000FF"/>
                </a:solidFill>
                <a:ea typeface="標楷體" pitchFamily="65" charset="-120"/>
                <a:cs typeface="Calibri" panose="020F0502020204030204" pitchFamily="34" charset="0"/>
              </a:rPr>
              <a:t>47 / 2    </a:t>
            </a:r>
            <a:r>
              <a:rPr lang="en-US" sz="1400" dirty="0">
                <a:solidFill>
                  <a:srgbClr val="0000FF"/>
                </a:solidFill>
                <a:ea typeface="標楷體" pitchFamily="65" charset="-120"/>
                <a:cs typeface="Calibri" panose="020F0502020204030204" pitchFamily="34" charset="0"/>
              </a:rPr>
              <a:t>remainder</a:t>
            </a:r>
            <a:r>
              <a:rPr lang="en-US" dirty="0">
                <a:solidFill>
                  <a:srgbClr val="0000FF"/>
                </a:solidFill>
                <a:ea typeface="標楷體" pitchFamily="65" charset="-120"/>
                <a:cs typeface="Calibri" panose="020F0502020204030204" pitchFamily="34" charset="0"/>
              </a:rPr>
              <a:t>  </a:t>
            </a:r>
            <a:r>
              <a:rPr lang="en-US" sz="1400" dirty="0">
                <a:solidFill>
                  <a:srgbClr val="0000FF"/>
                </a:solidFill>
                <a:ea typeface="標楷體" pitchFamily="65" charset="-120"/>
                <a:cs typeface="Calibri" panose="020F0502020204030204" pitchFamily="34" charset="0"/>
              </a:rPr>
              <a:t>1</a:t>
            </a:r>
          </a:p>
          <a:p>
            <a:r>
              <a:rPr lang="en-US" dirty="0">
                <a:solidFill>
                  <a:srgbClr val="0000FF"/>
                </a:solidFill>
                <a:ea typeface="標楷體" pitchFamily="65" charset="-120"/>
                <a:cs typeface="Calibri" panose="020F0502020204030204" pitchFamily="34" charset="0"/>
              </a:rPr>
              <a:t>23 / 2    </a:t>
            </a:r>
            <a:r>
              <a:rPr lang="en-US" sz="1400" dirty="0">
                <a:solidFill>
                  <a:srgbClr val="0000FF"/>
                </a:solidFill>
                <a:ea typeface="標楷體" pitchFamily="65" charset="-120"/>
                <a:cs typeface="Calibri" panose="020F0502020204030204" pitchFamily="34" charset="0"/>
              </a:rPr>
              <a:t>remainder   1</a:t>
            </a:r>
          </a:p>
          <a:p>
            <a:r>
              <a:rPr lang="en-US" dirty="0">
                <a:solidFill>
                  <a:srgbClr val="0000FF"/>
                </a:solidFill>
                <a:ea typeface="標楷體" pitchFamily="65" charset="-120"/>
                <a:cs typeface="Calibri" panose="020F0502020204030204" pitchFamily="34" charset="0"/>
              </a:rPr>
              <a:t>11 / 2    </a:t>
            </a:r>
            <a:r>
              <a:rPr kumimoji="0" lang="en-US" sz="1400" b="0" i="0" u="none" strike="noStrike" kern="1200" cap="none" spc="0" normalizeH="0" baseline="0" noProof="0" dirty="0">
                <a:ln>
                  <a:noFill/>
                </a:ln>
                <a:solidFill>
                  <a:srgbClr val="0000FF"/>
                </a:solidFill>
                <a:effectLst/>
                <a:uLnTx/>
                <a:uFillTx/>
                <a:latin typeface="Arial"/>
                <a:ea typeface="標楷體" pitchFamily="65" charset="-120"/>
                <a:cs typeface="Calibri" panose="020F0502020204030204" pitchFamily="34" charset="0"/>
              </a:rPr>
              <a:t>remainder   1</a:t>
            </a:r>
          </a:p>
          <a:p>
            <a:r>
              <a:rPr lang="en-US" dirty="0">
                <a:solidFill>
                  <a:srgbClr val="0000FF"/>
                </a:solidFill>
                <a:latin typeface="Arial"/>
                <a:ea typeface="標楷體" pitchFamily="65" charset="-120"/>
                <a:cs typeface="Calibri" panose="020F0502020204030204" pitchFamily="34" charset="0"/>
              </a:rPr>
              <a:t>5 / 2      </a:t>
            </a:r>
            <a:r>
              <a:rPr kumimoji="0" lang="en-US" sz="1400" b="0" i="0" u="none" strike="noStrike" kern="1200" cap="none" spc="0" normalizeH="0" baseline="0" noProof="0" dirty="0">
                <a:ln>
                  <a:noFill/>
                </a:ln>
                <a:solidFill>
                  <a:srgbClr val="0000FF"/>
                </a:solidFill>
                <a:effectLst/>
                <a:uLnTx/>
                <a:uFillTx/>
                <a:latin typeface="Arial"/>
                <a:ea typeface="標楷體" pitchFamily="65" charset="-120"/>
                <a:cs typeface="Calibri" panose="020F0502020204030204" pitchFamily="34" charset="0"/>
              </a:rPr>
              <a:t>remainder   1</a:t>
            </a:r>
          </a:p>
          <a:p>
            <a:r>
              <a:rPr lang="en-US" dirty="0">
                <a:solidFill>
                  <a:srgbClr val="0000FF"/>
                </a:solidFill>
                <a:latin typeface="Arial"/>
                <a:ea typeface="標楷體" pitchFamily="65" charset="-120"/>
                <a:cs typeface="Calibri" panose="020F0502020204030204" pitchFamily="34" charset="0"/>
              </a:rPr>
              <a:t>2 / 2      </a:t>
            </a:r>
            <a:r>
              <a:rPr kumimoji="0" lang="en-US" sz="1400" b="0" i="0" u="none" strike="noStrike" kern="1200" cap="none" spc="0" normalizeH="0" baseline="0" noProof="0" dirty="0">
                <a:ln>
                  <a:noFill/>
                </a:ln>
                <a:solidFill>
                  <a:srgbClr val="0000FF"/>
                </a:solidFill>
                <a:effectLst/>
                <a:uLnTx/>
                <a:uFillTx/>
                <a:latin typeface="Arial"/>
                <a:ea typeface="標楷體" pitchFamily="65" charset="-120"/>
                <a:cs typeface="Calibri" panose="020F0502020204030204" pitchFamily="34" charset="0"/>
              </a:rPr>
              <a:t>remainder   0</a:t>
            </a:r>
          </a:p>
          <a:p>
            <a:r>
              <a:rPr lang="en-US" dirty="0">
                <a:solidFill>
                  <a:srgbClr val="0000FF"/>
                </a:solidFill>
                <a:latin typeface="Arial"/>
                <a:ea typeface="標楷體" pitchFamily="65" charset="-120"/>
                <a:cs typeface="Calibri" panose="020F0502020204030204" pitchFamily="34" charset="0"/>
              </a:rPr>
              <a:t>1 / 2      </a:t>
            </a:r>
            <a:r>
              <a:rPr kumimoji="0" lang="en-US" sz="1400" b="0" i="0" u="none" strike="noStrike" kern="1200" cap="none" spc="0" normalizeH="0" baseline="0" noProof="0" dirty="0">
                <a:ln>
                  <a:noFill/>
                </a:ln>
                <a:solidFill>
                  <a:srgbClr val="0000FF"/>
                </a:solidFill>
                <a:effectLst/>
                <a:uLnTx/>
                <a:uFillTx/>
                <a:latin typeface="Arial"/>
                <a:ea typeface="標楷體" pitchFamily="65" charset="-120"/>
                <a:cs typeface="Calibri" panose="020F0502020204030204" pitchFamily="34" charset="0"/>
              </a:rPr>
              <a:t>remainder   1</a:t>
            </a:r>
            <a:endParaRPr lang="en-US" dirty="0">
              <a:solidFill>
                <a:srgbClr val="0000FF"/>
              </a:solidFill>
              <a:ea typeface="標楷體" pitchFamily="65" charset="-120"/>
              <a:cs typeface="Calibri" panose="020F0502020204030204" pitchFamily="34" charset="0"/>
            </a:endParaRPr>
          </a:p>
        </p:txBody>
      </p:sp>
      <p:cxnSp>
        <p:nvCxnSpPr>
          <p:cNvPr id="5" name="Straight Arrow Connector 4">
            <a:extLst>
              <a:ext uri="{FF2B5EF4-FFF2-40B4-BE49-F238E27FC236}">
                <a16:creationId xmlns:a16="http://schemas.microsoft.com/office/drawing/2014/main" id="{2E68EEE7-FB8F-4211-A783-40BC2C061256}"/>
              </a:ext>
            </a:extLst>
          </p:cNvPr>
          <p:cNvCxnSpPr/>
          <p:nvPr/>
        </p:nvCxnSpPr>
        <p:spPr bwMode="auto">
          <a:xfrm flipV="1">
            <a:off x="8411029" y="994229"/>
            <a:ext cx="0" cy="1577521"/>
          </a:xfrm>
          <a:prstGeom prst="straightConnector1">
            <a:avLst/>
          </a:prstGeom>
          <a:noFill/>
          <a:ln w="15875" cap="flat" cmpd="sng" algn="ctr">
            <a:solidFill>
              <a:srgbClr val="FF0000"/>
            </a:solidFill>
            <a:prstDash val="solid"/>
            <a:round/>
            <a:headEnd type="none" w="med" len="med"/>
            <a:tailEnd type="triangle"/>
          </a:ln>
        </p:spPr>
      </p:cxnSp>
      <p:sp>
        <p:nvSpPr>
          <p:cNvPr id="6" name="TextBox 5">
            <a:extLst>
              <a:ext uri="{FF2B5EF4-FFF2-40B4-BE49-F238E27FC236}">
                <a16:creationId xmlns:a16="http://schemas.microsoft.com/office/drawing/2014/main" id="{383ABCEE-CB4F-49B4-98F7-9599FEE1FDCE}"/>
              </a:ext>
            </a:extLst>
          </p:cNvPr>
          <p:cNvSpPr txBox="1"/>
          <p:nvPr/>
        </p:nvSpPr>
        <p:spPr>
          <a:xfrm>
            <a:off x="6203428" y="2691037"/>
            <a:ext cx="2483372" cy="523220"/>
          </a:xfrm>
          <a:prstGeom prst="rect">
            <a:avLst/>
          </a:prstGeom>
          <a:noFill/>
        </p:spPr>
        <p:txBody>
          <a:bodyPr wrap="none" rtlCol="0" anchor="ctr" anchorCtr="1">
            <a:spAutoFit/>
          </a:bodyPr>
          <a:lstStyle/>
          <a:p>
            <a:r>
              <a:rPr lang="en-US" sz="1400" dirty="0">
                <a:solidFill>
                  <a:srgbClr val="0000FF"/>
                </a:solidFill>
                <a:ea typeface="標楷體" pitchFamily="65" charset="-120"/>
                <a:cs typeface="Calibri" panose="020F0502020204030204" pitchFamily="34" charset="0"/>
              </a:rPr>
              <a:t>Decimal to binary conversion</a:t>
            </a:r>
          </a:p>
          <a:p>
            <a:r>
              <a:rPr lang="en-US" sz="1400" dirty="0">
                <a:solidFill>
                  <a:srgbClr val="0000FF"/>
                </a:solidFill>
                <a:ea typeface="標楷體" pitchFamily="65" charset="-120"/>
                <a:cs typeface="Calibri" panose="020F0502020204030204" pitchFamily="34" charset="0"/>
              </a:rPr>
              <a:t>Answer is 101111</a:t>
            </a:r>
          </a:p>
        </p:txBody>
      </p:sp>
      <p:sp>
        <p:nvSpPr>
          <p:cNvPr id="7" name="Arrow: Right 6">
            <a:extLst>
              <a:ext uri="{FF2B5EF4-FFF2-40B4-BE49-F238E27FC236}">
                <a16:creationId xmlns:a16="http://schemas.microsoft.com/office/drawing/2014/main" id="{17651FED-870C-4C0D-931C-80DE73C5BA9F}"/>
              </a:ext>
            </a:extLst>
          </p:cNvPr>
          <p:cNvSpPr/>
          <p:nvPr/>
        </p:nvSpPr>
        <p:spPr bwMode="auto">
          <a:xfrm>
            <a:off x="5001479" y="1741716"/>
            <a:ext cx="978408" cy="347279"/>
          </a:xfrm>
          <a:prstGeom prst="rightArrow">
            <a:avLst/>
          </a:prstGeom>
          <a:noFill/>
          <a:ln w="15875" cap="flat" cmpd="sng" algn="ctr">
            <a:solidFill>
              <a:srgbClr val="FF0000"/>
            </a:solidFill>
            <a:prstDash val="solid"/>
            <a:round/>
            <a:headEnd type="none" w="med" len="med"/>
            <a:tailEnd type="none" w="med" len="med"/>
          </a:ln>
        </p:spPr>
        <p:txBody>
          <a:bodyPr vert="horz" wrap="none" lIns="91440" tIns="45720" rIns="91440" bIns="45720" numCol="1" rtlCol="0" anchor="ctr" anchorCtr="0" compatLnSpc="1"/>
          <a:lstStyle/>
          <a:p>
            <a:pPr marL="0" marR="0" indent="0" algn="ctr" defTabSz="914400" rtl="0" eaLnBrk="1" fontAlgn="base" latinLnBrk="0" hangingPunct="1">
              <a:lnSpc>
                <a:spcPct val="100000"/>
              </a:lnSpc>
              <a:spcBef>
                <a:spcPct val="0"/>
              </a:spcBef>
              <a:spcAft>
                <a:spcPct val="0"/>
              </a:spcAft>
              <a:buClrTx/>
              <a:buSzTx/>
              <a:buFontTx/>
              <a:buNone/>
            </a:pPr>
            <a:endParaRPr kumimoji="1" lang="en-US" sz="1800" b="1" i="0" u="none" strike="noStrike" cap="none" normalizeH="0" baseline="0">
              <a:ln>
                <a:noFill/>
              </a:ln>
              <a:solidFill>
                <a:schemeClr val="tx1"/>
              </a:solidFill>
              <a:effectLst/>
              <a:latin typeface="Arial" panose="020B0604020202020204" pitchFamily="34" charset="0"/>
              <a:ea typeface="PMingLiU" panose="02020500000000000000" pitchFamily="18" charset="-120"/>
            </a:endParaRPr>
          </a:p>
        </p:txBody>
      </p:sp>
      <p:sp>
        <p:nvSpPr>
          <p:cNvPr id="4" name="TextBox 3">
            <a:extLst>
              <a:ext uri="{FF2B5EF4-FFF2-40B4-BE49-F238E27FC236}">
                <a16:creationId xmlns:a16="http://schemas.microsoft.com/office/drawing/2014/main" id="{FB39D2E8-3D23-4B85-AFE4-D7505E033C99}"/>
              </a:ext>
            </a:extLst>
          </p:cNvPr>
          <p:cNvSpPr txBox="1"/>
          <p:nvPr/>
        </p:nvSpPr>
        <p:spPr>
          <a:xfrm>
            <a:off x="6253377" y="3345670"/>
            <a:ext cx="2351926" cy="830997"/>
          </a:xfrm>
          <a:prstGeom prst="rect">
            <a:avLst/>
          </a:prstGeom>
          <a:noFill/>
        </p:spPr>
        <p:txBody>
          <a:bodyPr wrap="none" rtlCol="0" anchor="ctr" anchorCtr="1">
            <a:spAutoFit/>
          </a:bodyPr>
          <a:lstStyle/>
          <a:p>
            <a:r>
              <a:rPr lang="en-US" sz="1600" dirty="0">
                <a:ea typeface="標楷體" pitchFamily="65" charset="-120"/>
                <a:cs typeface="Calibri" panose="020F0502020204030204" pitchFamily="34" charset="0"/>
              </a:rPr>
              <a:t>If divide by 2 is too slow</a:t>
            </a:r>
          </a:p>
          <a:p>
            <a:r>
              <a:rPr lang="en-US" sz="1600" dirty="0">
                <a:ea typeface="標楷體" pitchFamily="65" charset="-120"/>
                <a:cs typeface="Calibri" panose="020F0502020204030204" pitchFamily="34" charset="0"/>
              </a:rPr>
              <a:t>try going thru Octal or </a:t>
            </a:r>
          </a:p>
          <a:p>
            <a:r>
              <a:rPr lang="en-US" sz="1600" dirty="0">
                <a:ea typeface="標楷體" pitchFamily="65" charset="-120"/>
                <a:cs typeface="Calibri" panose="020F0502020204030204" pitchFamily="34" charset="0"/>
              </a:rPr>
              <a:t>Hexadecimal indirectly.</a:t>
            </a:r>
          </a:p>
        </p:txBody>
      </p:sp>
      <p:sp>
        <p:nvSpPr>
          <p:cNvPr id="10" name="TextBox 9">
            <a:extLst>
              <a:ext uri="{FF2B5EF4-FFF2-40B4-BE49-F238E27FC236}">
                <a16:creationId xmlns:a16="http://schemas.microsoft.com/office/drawing/2014/main" id="{6575A1BA-7D00-4F16-B77F-511A4A8C92A2}"/>
              </a:ext>
            </a:extLst>
          </p:cNvPr>
          <p:cNvSpPr txBox="1"/>
          <p:nvPr/>
        </p:nvSpPr>
        <p:spPr>
          <a:xfrm>
            <a:off x="291673" y="2889367"/>
            <a:ext cx="2228495" cy="1538883"/>
          </a:xfrm>
          <a:prstGeom prst="rect">
            <a:avLst/>
          </a:prstGeom>
          <a:noFill/>
        </p:spPr>
        <p:txBody>
          <a:bodyPr wrap="none" rtlCol="0" anchor="ctr" anchorCtr="1">
            <a:spAutoFit/>
          </a:bodyPr>
          <a:lstStyle/>
          <a:p>
            <a:r>
              <a:rPr lang="en-US" dirty="0">
                <a:solidFill>
                  <a:srgbClr val="0000FF"/>
                </a:solidFill>
                <a:ea typeface="標楷體" pitchFamily="65" charset="-120"/>
                <a:cs typeface="Calibri" panose="020F0502020204030204" pitchFamily="34" charset="0"/>
              </a:rPr>
              <a:t>Decimal to Octal</a:t>
            </a:r>
          </a:p>
          <a:p>
            <a:r>
              <a:rPr lang="en-US" dirty="0">
                <a:solidFill>
                  <a:srgbClr val="0000FF"/>
                </a:solidFill>
                <a:ea typeface="標楷體" pitchFamily="65" charset="-120"/>
                <a:cs typeface="Calibri" panose="020F0502020204030204" pitchFamily="34" charset="0"/>
              </a:rPr>
              <a:t>47 / 8    </a:t>
            </a:r>
            <a:r>
              <a:rPr lang="en-US" sz="1600" dirty="0">
                <a:solidFill>
                  <a:srgbClr val="0000FF"/>
                </a:solidFill>
                <a:ea typeface="標楷體" pitchFamily="65" charset="-120"/>
                <a:cs typeface="Calibri" panose="020F0502020204030204" pitchFamily="34" charset="0"/>
              </a:rPr>
              <a:t>remainder   7</a:t>
            </a:r>
          </a:p>
          <a:p>
            <a:r>
              <a:rPr lang="en-US" dirty="0">
                <a:solidFill>
                  <a:srgbClr val="0000FF"/>
                </a:solidFill>
                <a:ea typeface="標楷體" pitchFamily="65" charset="-120"/>
                <a:cs typeface="Calibri" panose="020F0502020204030204" pitchFamily="34" charset="0"/>
              </a:rPr>
              <a:t>5   / 8    </a:t>
            </a:r>
            <a:r>
              <a:rPr lang="en-US" sz="1600" dirty="0">
                <a:solidFill>
                  <a:srgbClr val="0000FF"/>
                </a:solidFill>
                <a:ea typeface="標楷體" pitchFamily="65" charset="-120"/>
                <a:cs typeface="Calibri" panose="020F0502020204030204" pitchFamily="34" charset="0"/>
              </a:rPr>
              <a:t>remainder   5</a:t>
            </a:r>
          </a:p>
          <a:p>
            <a:r>
              <a:rPr kumimoji="1" lang="en-US" sz="2000" kern="0" dirty="0">
                <a:solidFill>
                  <a:srgbClr val="0000FF"/>
                </a:solidFill>
                <a:latin typeface="Calibri" panose="020F0502020204030204" pitchFamily="34" charset="0"/>
                <a:ea typeface="標楷體" pitchFamily="65" charset="-120"/>
              </a:rPr>
              <a:t>57</a:t>
            </a:r>
            <a:r>
              <a:rPr kumimoji="1" lang="en-US" sz="2000" kern="0" baseline="-25000" dirty="0">
                <a:solidFill>
                  <a:srgbClr val="0000FF"/>
                </a:solidFill>
                <a:latin typeface="Calibri" panose="020F0502020204030204" pitchFamily="34" charset="0"/>
                <a:ea typeface="標楷體" pitchFamily="65" charset="-120"/>
              </a:rPr>
              <a:t>8</a:t>
            </a:r>
            <a:r>
              <a:rPr kumimoji="1" lang="en-US" sz="2000" kern="0" dirty="0">
                <a:solidFill>
                  <a:srgbClr val="0000FF"/>
                </a:solidFill>
                <a:latin typeface="Calibri" panose="020F0502020204030204" pitchFamily="34" charset="0"/>
                <a:ea typeface="標楷體" pitchFamily="65" charset="-120"/>
              </a:rPr>
              <a:t> </a:t>
            </a:r>
          </a:p>
          <a:p>
            <a:r>
              <a:rPr kumimoji="1" lang="en-US" sz="2000" kern="0" dirty="0">
                <a:solidFill>
                  <a:srgbClr val="0000FF"/>
                </a:solidFill>
                <a:latin typeface="Calibri" panose="020F0502020204030204" pitchFamily="34" charset="0"/>
                <a:ea typeface="標楷體" pitchFamily="65" charset="-120"/>
                <a:cs typeface="Calibri" panose="020F0502020204030204" pitchFamily="34" charset="0"/>
              </a:rPr>
              <a:t>= 101 111</a:t>
            </a:r>
            <a:endParaRPr lang="en-US" sz="2000" dirty="0">
              <a:solidFill>
                <a:srgbClr val="0000FF"/>
              </a:solidFill>
              <a:ea typeface="標楷體" pitchFamily="65" charset="-120"/>
              <a:cs typeface="Calibri" panose="020F0502020204030204" pitchFamily="34" charset="0"/>
            </a:endParaRPr>
          </a:p>
        </p:txBody>
      </p:sp>
      <p:cxnSp>
        <p:nvCxnSpPr>
          <p:cNvPr id="11" name="Straight Arrow Connector 10">
            <a:extLst>
              <a:ext uri="{FF2B5EF4-FFF2-40B4-BE49-F238E27FC236}">
                <a16:creationId xmlns:a16="http://schemas.microsoft.com/office/drawing/2014/main" id="{CB2B5E04-4B9E-4AC4-A003-60ABBD7CCF4B}"/>
              </a:ext>
            </a:extLst>
          </p:cNvPr>
          <p:cNvCxnSpPr>
            <a:cxnSpLocks/>
          </p:cNvCxnSpPr>
          <p:nvPr/>
        </p:nvCxnSpPr>
        <p:spPr bwMode="auto">
          <a:xfrm flipV="1">
            <a:off x="2541940" y="3190753"/>
            <a:ext cx="0" cy="747485"/>
          </a:xfrm>
          <a:prstGeom prst="straightConnector1">
            <a:avLst/>
          </a:prstGeom>
          <a:noFill/>
          <a:ln w="15875" cap="flat" cmpd="sng" algn="ctr">
            <a:solidFill>
              <a:srgbClr val="FF0000"/>
            </a:solidFill>
            <a:prstDash val="solid"/>
            <a:round/>
            <a:headEnd type="none" w="med" len="med"/>
            <a:tailEnd type="triangle"/>
          </a:ln>
        </p:spPr>
      </p:cxnSp>
      <p:sp>
        <p:nvSpPr>
          <p:cNvPr id="12" name="TextBox 11">
            <a:extLst>
              <a:ext uri="{FF2B5EF4-FFF2-40B4-BE49-F238E27FC236}">
                <a16:creationId xmlns:a16="http://schemas.microsoft.com/office/drawing/2014/main" id="{7535AFE7-ADCA-4B9B-8A94-3C7CB42AA09A}"/>
              </a:ext>
            </a:extLst>
          </p:cNvPr>
          <p:cNvSpPr txBox="1"/>
          <p:nvPr/>
        </p:nvSpPr>
        <p:spPr>
          <a:xfrm>
            <a:off x="2895601" y="2906603"/>
            <a:ext cx="2672526" cy="1538883"/>
          </a:xfrm>
          <a:prstGeom prst="rect">
            <a:avLst/>
          </a:prstGeom>
          <a:noFill/>
        </p:spPr>
        <p:txBody>
          <a:bodyPr wrap="none" rtlCol="0" anchor="ctr" anchorCtr="1">
            <a:spAutoFit/>
          </a:bodyPr>
          <a:lstStyle/>
          <a:p>
            <a:r>
              <a:rPr lang="en-US" dirty="0">
                <a:solidFill>
                  <a:srgbClr val="0000FF"/>
                </a:solidFill>
                <a:ea typeface="標楷體" pitchFamily="65" charset="-120"/>
                <a:cs typeface="Calibri" panose="020F0502020204030204" pitchFamily="34" charset="0"/>
              </a:rPr>
              <a:t>Decimal to Hexadecimal</a:t>
            </a:r>
          </a:p>
          <a:p>
            <a:r>
              <a:rPr lang="en-US" dirty="0">
                <a:solidFill>
                  <a:srgbClr val="0000FF"/>
                </a:solidFill>
                <a:ea typeface="標楷體" pitchFamily="65" charset="-120"/>
                <a:cs typeface="Calibri" panose="020F0502020204030204" pitchFamily="34" charset="0"/>
              </a:rPr>
              <a:t>47 / 16    </a:t>
            </a:r>
            <a:r>
              <a:rPr lang="en-US" sz="1600" dirty="0">
                <a:solidFill>
                  <a:srgbClr val="0000FF"/>
                </a:solidFill>
                <a:ea typeface="標楷體" pitchFamily="65" charset="-120"/>
                <a:cs typeface="Calibri" panose="020F0502020204030204" pitchFamily="34" charset="0"/>
              </a:rPr>
              <a:t>remainder  15</a:t>
            </a:r>
          </a:p>
          <a:p>
            <a:r>
              <a:rPr lang="en-US" dirty="0">
                <a:solidFill>
                  <a:srgbClr val="0000FF"/>
                </a:solidFill>
                <a:ea typeface="標楷體" pitchFamily="65" charset="-120"/>
                <a:cs typeface="Calibri" panose="020F0502020204030204" pitchFamily="34" charset="0"/>
              </a:rPr>
              <a:t>2   / 16    </a:t>
            </a:r>
            <a:r>
              <a:rPr lang="en-US" sz="1600" dirty="0">
                <a:solidFill>
                  <a:srgbClr val="0000FF"/>
                </a:solidFill>
                <a:ea typeface="標楷體" pitchFamily="65" charset="-120"/>
                <a:cs typeface="Calibri" panose="020F0502020204030204" pitchFamily="34" charset="0"/>
              </a:rPr>
              <a:t>remainder   2</a:t>
            </a:r>
          </a:p>
          <a:p>
            <a:r>
              <a:rPr kumimoji="1" lang="en-US" sz="2000" kern="0" dirty="0">
                <a:solidFill>
                  <a:srgbClr val="0000FF"/>
                </a:solidFill>
                <a:latin typeface="Calibri" panose="020F0502020204030204" pitchFamily="34" charset="0"/>
                <a:ea typeface="標楷體" pitchFamily="65" charset="-120"/>
              </a:rPr>
              <a:t>2F</a:t>
            </a:r>
            <a:r>
              <a:rPr kumimoji="1" lang="en-US" sz="2000" kern="0" baseline="-25000" dirty="0">
                <a:solidFill>
                  <a:srgbClr val="0000FF"/>
                </a:solidFill>
                <a:latin typeface="Calibri" panose="020F0502020204030204" pitchFamily="34" charset="0"/>
                <a:ea typeface="標楷體" pitchFamily="65" charset="-120"/>
              </a:rPr>
              <a:t>16</a:t>
            </a:r>
            <a:r>
              <a:rPr kumimoji="1" lang="en-US" sz="2000" kern="0" dirty="0">
                <a:solidFill>
                  <a:srgbClr val="0000FF"/>
                </a:solidFill>
                <a:latin typeface="Calibri" panose="020F0502020204030204" pitchFamily="34" charset="0"/>
                <a:ea typeface="標楷體" pitchFamily="65" charset="-120"/>
              </a:rPr>
              <a:t> </a:t>
            </a:r>
          </a:p>
          <a:p>
            <a:r>
              <a:rPr kumimoji="1" lang="en-US" sz="2000" kern="0" dirty="0">
                <a:solidFill>
                  <a:srgbClr val="0000FF"/>
                </a:solidFill>
                <a:latin typeface="Calibri" panose="020F0502020204030204" pitchFamily="34" charset="0"/>
                <a:ea typeface="標楷體" pitchFamily="65" charset="-120"/>
                <a:cs typeface="Calibri" panose="020F0502020204030204" pitchFamily="34" charset="0"/>
              </a:rPr>
              <a:t>= 10 1111</a:t>
            </a:r>
            <a:endParaRPr lang="en-US" sz="2000" dirty="0">
              <a:solidFill>
                <a:srgbClr val="0000FF"/>
              </a:solidFill>
              <a:ea typeface="標楷體" pitchFamily="65" charset="-120"/>
              <a:cs typeface="Calibri" panose="020F0502020204030204" pitchFamily="34" charset="0"/>
            </a:endParaRPr>
          </a:p>
        </p:txBody>
      </p:sp>
      <p:cxnSp>
        <p:nvCxnSpPr>
          <p:cNvPr id="13" name="Straight Arrow Connector 12">
            <a:extLst>
              <a:ext uri="{FF2B5EF4-FFF2-40B4-BE49-F238E27FC236}">
                <a16:creationId xmlns:a16="http://schemas.microsoft.com/office/drawing/2014/main" id="{52D03E1A-35D0-41CA-9FB9-8B4F20837052}"/>
              </a:ext>
            </a:extLst>
          </p:cNvPr>
          <p:cNvCxnSpPr>
            <a:cxnSpLocks/>
          </p:cNvCxnSpPr>
          <p:nvPr/>
        </p:nvCxnSpPr>
        <p:spPr bwMode="auto">
          <a:xfrm flipV="1">
            <a:off x="5370286" y="3263326"/>
            <a:ext cx="0" cy="602339"/>
          </a:xfrm>
          <a:prstGeom prst="straightConnector1">
            <a:avLst/>
          </a:prstGeom>
          <a:noFill/>
          <a:ln w="15875" cap="flat" cmpd="sng" algn="ctr">
            <a:solidFill>
              <a:srgbClr val="FF0000"/>
            </a:solidFill>
            <a:prstDash val="solid"/>
            <a:round/>
            <a:headEnd type="none" w="med" len="med"/>
            <a:tailEnd type="triangle"/>
          </a:ln>
        </p:spPr>
      </p:cxnSp>
      <p:sp>
        <p:nvSpPr>
          <p:cNvPr id="17" name="Arrow: Right 16">
            <a:extLst>
              <a:ext uri="{FF2B5EF4-FFF2-40B4-BE49-F238E27FC236}">
                <a16:creationId xmlns:a16="http://schemas.microsoft.com/office/drawing/2014/main" id="{BF8433C8-C9F9-4EA6-88D9-8B57922CEDB9}"/>
              </a:ext>
            </a:extLst>
          </p:cNvPr>
          <p:cNvSpPr/>
          <p:nvPr/>
        </p:nvSpPr>
        <p:spPr bwMode="auto">
          <a:xfrm flipH="1">
            <a:off x="5710620" y="3633065"/>
            <a:ext cx="566057" cy="302814"/>
          </a:xfrm>
          <a:prstGeom prst="rightArrow">
            <a:avLst/>
          </a:prstGeom>
          <a:noFill/>
          <a:ln w="15875" cap="flat" cmpd="sng" algn="ctr">
            <a:solidFill>
              <a:srgbClr val="FF0000"/>
            </a:solidFill>
            <a:prstDash val="solid"/>
            <a:round/>
            <a:headEnd type="none" w="med" len="med"/>
            <a:tailEnd type="none" w="med" len="med"/>
          </a:ln>
        </p:spPr>
        <p:txBody>
          <a:bodyPr vert="horz" wrap="none" lIns="91440" tIns="45720" rIns="91440" bIns="45720" numCol="1" rtlCol="0" anchor="ctr" anchorCtr="0" compatLnSpc="1"/>
          <a:lstStyle/>
          <a:p>
            <a:pPr marL="0" marR="0" indent="0" algn="ctr" defTabSz="914400" rtl="0" eaLnBrk="1" fontAlgn="base" latinLnBrk="0" hangingPunct="1">
              <a:lnSpc>
                <a:spcPct val="100000"/>
              </a:lnSpc>
              <a:spcBef>
                <a:spcPct val="0"/>
              </a:spcBef>
              <a:spcAft>
                <a:spcPct val="0"/>
              </a:spcAft>
              <a:buClrTx/>
              <a:buSzTx/>
              <a:buFontTx/>
              <a:buNone/>
            </a:pPr>
            <a:endParaRPr kumimoji="1" lang="en-US" sz="1800" b="1" i="0" u="none" strike="noStrike" cap="none" normalizeH="0" baseline="0">
              <a:ln>
                <a:noFill/>
              </a:ln>
              <a:solidFill>
                <a:schemeClr val="tx1"/>
              </a:solidFill>
              <a:effectLst/>
              <a:latin typeface="Arial" panose="020B0604020202020204" pitchFamily="34" charset="0"/>
              <a:ea typeface="PMingLiU" panose="02020500000000000000" pitchFamily="18" charset="-12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5"/>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6"/>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4"/>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7"/>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0"/>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11"/>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12"/>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6" grpId="0"/>
      <p:bldP spid="7" grpId="0" animBg="1"/>
      <p:bldP spid="4" grpId="0"/>
      <p:bldP spid="10" grpId="0"/>
      <p:bldP spid="12" grpId="0"/>
      <p:bldP spid="17"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p:cNvSpPr>
            <a:spLocks noGrp="1"/>
          </p:cNvSpPr>
          <p:nvPr>
            <p:ph type="title"/>
          </p:nvPr>
        </p:nvSpPr>
        <p:spPr/>
        <p:txBody>
          <a:bodyPr/>
          <a:lstStyle/>
          <a:p>
            <a:r>
              <a:rPr lang="en-US" sz="3200" dirty="0">
                <a:sym typeface="+mn-ea"/>
              </a:rPr>
              <a:t>2.1.2 Data Sizes and </a:t>
            </a:r>
            <a:r>
              <a:rPr lang="en-US" sz="3200">
                <a:sym typeface="+mn-ea"/>
              </a:rPr>
              <a:t>Pointer Sizes</a:t>
            </a:r>
            <a:endParaRPr lang="en-US" altLang="zh-CN" sz="3200" dirty="0"/>
          </a:p>
        </p:txBody>
      </p:sp>
      <mc:AlternateContent xmlns:mc="http://schemas.openxmlformats.org/markup-compatibility/2006" xmlns:a14="http://schemas.microsoft.com/office/drawing/2010/main">
        <mc:Choice Requires="a14">
          <p:sp>
            <p:nvSpPr>
              <p:cNvPr id="6" name="内容占位符 5"/>
              <p:cNvSpPr>
                <a:spLocks noGrp="1"/>
              </p:cNvSpPr>
              <p:nvPr>
                <p:ph idx="1"/>
              </p:nvPr>
            </p:nvSpPr>
            <p:spPr>
              <a:xfrm>
                <a:off x="145143" y="844153"/>
                <a:ext cx="8541657" cy="3671888"/>
              </a:xfrm>
            </p:spPr>
            <p:txBody>
              <a:bodyPr/>
              <a:lstStyle/>
              <a:p>
                <a:r>
                  <a:rPr lang="en-US" altLang="zh-CN" sz="2000" dirty="0">
                    <a:sym typeface="+mn-ea"/>
                  </a:rPr>
                  <a:t>Modern computers have a word size, indicating the nominal size of pointer data. Usually, the word size </a:t>
                </a:r>
                <a:r>
                  <a:rPr lang="en-US" sz="2000" b="0" i="0" dirty="0">
                    <a:solidFill>
                      <a:srgbClr val="111827"/>
                    </a:solidFill>
                    <a:effectLst/>
                    <a:latin typeface="ui-sans-serif"/>
                  </a:rPr>
                  <a:t>refers to the fixed-sized datum handled as a unit by the instruction set or the processor's hardware (i.e., </a:t>
                </a:r>
                <a:r>
                  <a:rPr lang="en-US" altLang="zh-CN" sz="2000" dirty="0">
                    <a:sym typeface="+mn-ea"/>
                  </a:rPr>
                  <a:t>the general-purpose register size). </a:t>
                </a:r>
              </a:p>
              <a:p>
                <a:r>
                  <a:rPr lang="en-US" altLang="zh-CN" sz="2000" dirty="0">
                    <a:sym typeface="+mn-ea"/>
                  </a:rPr>
                  <a:t>For example, today’s computers have a word size of 64 bits, which means they can have pointers at the 64-bit size. </a:t>
                </a:r>
              </a:p>
              <a:p>
                <a:r>
                  <a:rPr lang="en-US" altLang="zh-CN" sz="2000" dirty="0">
                    <a:sym typeface="+mn-ea"/>
                  </a:rPr>
                  <a:t>For a machine with </a:t>
                </a:r>
                <a:r>
                  <a:rPr lang="en-US" sz="2000" dirty="0">
                    <a:latin typeface="TimesTen-Roman"/>
                  </a:rPr>
                  <a:t>a </a:t>
                </a:r>
                <a:r>
                  <a:rPr lang="en-US" sz="2000" i="1" dirty="0">
                    <a:latin typeface="MTMIZ"/>
                  </a:rPr>
                  <a:t>w</a:t>
                </a:r>
                <a:r>
                  <a:rPr lang="en-US" sz="2000" dirty="0">
                    <a:latin typeface="TimesTen-Roman"/>
                  </a:rPr>
                  <a:t>-bit word size, the address range is from 0 to </a:t>
                </a:r>
                <a14:m>
                  <m:oMath xmlns:m="http://schemas.openxmlformats.org/officeDocument/2006/math">
                    <m:sSup>
                      <m:sSupPr>
                        <m:ctrlPr>
                          <a:rPr lang="en-US" sz="1800" i="1">
                            <a:solidFill>
                              <a:prstClr val="black"/>
                            </a:solidFill>
                            <a:latin typeface="Cambria Math" panose="02040503050406030204" pitchFamily="18" charset="0"/>
                          </a:rPr>
                        </m:ctrlPr>
                      </m:sSupPr>
                      <m:e>
                        <m:r>
                          <a:rPr lang="en-US" sz="1800" i="1">
                            <a:solidFill>
                              <a:prstClr val="black"/>
                            </a:solidFill>
                            <a:latin typeface="Cambria Math" panose="02040503050406030204" pitchFamily="18" charset="0"/>
                          </a:rPr>
                          <m:t>2</m:t>
                        </m:r>
                      </m:e>
                      <m:sup>
                        <m:r>
                          <a:rPr lang="en-US" sz="1800" i="1">
                            <a:solidFill>
                              <a:prstClr val="black"/>
                            </a:solidFill>
                            <a:latin typeface="Cambria Math" panose="02040503050406030204" pitchFamily="18" charset="0"/>
                          </a:rPr>
                          <m:t>𝑤</m:t>
                        </m:r>
                      </m:sup>
                    </m:sSup>
                    <m:r>
                      <a:rPr lang="en-US" sz="1800" i="1">
                        <a:solidFill>
                          <a:prstClr val="black"/>
                        </a:solidFill>
                        <a:latin typeface="Cambria Math" panose="02040503050406030204" pitchFamily="18" charset="0"/>
                      </a:rPr>
                      <m:t> </m:t>
                    </m:r>
                  </m:oMath>
                </a14:m>
                <a:r>
                  <a:rPr lang="en-US" altLang="zh-CN" sz="2000" dirty="0">
                    <a:sym typeface="+mn-ea"/>
                  </a:rPr>
                  <a:t>- 1.</a:t>
                </a:r>
              </a:p>
              <a:p>
                <a:r>
                  <a:rPr lang="en-US" altLang="zh-CN" sz="2000" dirty="0">
                    <a:sym typeface="+mn-ea"/>
                  </a:rPr>
                  <a:t>Older machines may use 32-bit words and can handle 32-bit pointers. They can only address up to </a:t>
                </a:r>
                <a14:m>
                  <m:oMath xmlns:m="http://schemas.openxmlformats.org/officeDocument/2006/math">
                    <m:sSup>
                      <m:sSupPr>
                        <m:ctrlPr>
                          <a:rPr kumimoji="1" lang="en-US" sz="1800" b="0" i="1" u="none" strike="noStrike" kern="0" cap="none" spc="0" normalizeH="0" baseline="0" noProof="0" smtClean="0">
                            <a:ln>
                              <a:noFill/>
                            </a:ln>
                            <a:solidFill>
                              <a:prstClr val="black"/>
                            </a:solidFill>
                            <a:effectLst/>
                            <a:uLnTx/>
                            <a:uFillTx/>
                            <a:latin typeface="Cambria Math" panose="02040503050406030204" pitchFamily="18" charset="0"/>
                            <a:cs typeface="+mn-cs"/>
                          </a:rPr>
                        </m:ctrlPr>
                      </m:sSupPr>
                      <m:e>
                        <m:r>
                          <a:rPr kumimoji="1" lang="en-US" sz="1800" b="0" i="1" u="none" strike="noStrike" kern="0" cap="none" spc="0" normalizeH="0" baseline="0" noProof="0">
                            <a:ln>
                              <a:noFill/>
                            </a:ln>
                            <a:solidFill>
                              <a:prstClr val="black"/>
                            </a:solidFill>
                            <a:effectLst/>
                            <a:uLnTx/>
                            <a:uFillTx/>
                            <a:latin typeface="Cambria Math" panose="02040503050406030204" pitchFamily="18" charset="0"/>
                            <a:cs typeface="+mn-cs"/>
                          </a:rPr>
                          <m:t>2</m:t>
                        </m:r>
                      </m:e>
                      <m:sup>
                        <m:r>
                          <a:rPr kumimoji="1" lang="en-US" sz="1800" b="0" i="1" u="none" strike="noStrike" kern="0" cap="none" spc="0" normalizeH="0" baseline="0" noProof="0" smtClean="0">
                            <a:ln>
                              <a:noFill/>
                            </a:ln>
                            <a:solidFill>
                              <a:prstClr val="black"/>
                            </a:solidFill>
                            <a:effectLst/>
                            <a:uLnTx/>
                            <a:uFillTx/>
                            <a:latin typeface="Cambria Math" panose="02040503050406030204" pitchFamily="18" charset="0"/>
                            <a:cs typeface="+mn-cs"/>
                          </a:rPr>
                          <m:t>32</m:t>
                        </m:r>
                      </m:sup>
                    </m:sSup>
                    <m:r>
                      <a:rPr kumimoji="1" lang="en-US" sz="1800" b="0" i="1" u="none" strike="noStrike" kern="0" cap="none" spc="0" normalizeH="0" baseline="0" noProof="0">
                        <a:ln>
                          <a:noFill/>
                        </a:ln>
                        <a:solidFill>
                          <a:prstClr val="black"/>
                        </a:solidFill>
                        <a:effectLst/>
                        <a:uLnTx/>
                        <a:uFillTx/>
                        <a:latin typeface="Cambria Math" panose="02040503050406030204" pitchFamily="18" charset="0"/>
                        <a:cs typeface="+mn-cs"/>
                      </a:rPr>
                      <m:t> </m:t>
                    </m:r>
                  </m:oMath>
                </a14:m>
                <a:r>
                  <a:rPr lang="en-US" altLang="zh-CN" sz="2000" dirty="0">
                    <a:sym typeface="+mn-ea"/>
                  </a:rPr>
                  <a:t>bytes, that  is, 4GB.</a:t>
                </a:r>
              </a:p>
              <a:p>
                <a:pPr marL="257175" marR="0" lvl="0" indent="-257175" algn="l" defTabSz="914400" rtl="0" eaLnBrk="1" fontAlgn="base" latinLnBrk="0" hangingPunct="1">
                  <a:lnSpc>
                    <a:spcPct val="100000"/>
                  </a:lnSpc>
                  <a:spcBef>
                    <a:spcPct val="20000"/>
                  </a:spcBef>
                  <a:spcAft>
                    <a:spcPct val="0"/>
                  </a:spcAft>
                  <a:buClr>
                    <a:srgbClr val="8064A2"/>
                  </a:buClr>
                  <a:buSzPct val="80000"/>
                  <a:buFont typeface="Wingdings" panose="05000000000000000000" pitchFamily="2" charset="2"/>
                  <a:buChar char="l"/>
                  <a:tabLst/>
                  <a:defRPr/>
                </a:pPr>
                <a:r>
                  <a:rPr lang="en-US" altLang="zh-CN" sz="2000" noProof="0" dirty="0">
                    <a:solidFill>
                      <a:prstClr val="black"/>
                    </a:solidFill>
                    <a:sym typeface="+mn-ea"/>
                  </a:rPr>
                  <a:t>Current</a:t>
                </a:r>
                <a:r>
                  <a:rPr kumimoji="1" lang="en-US" altLang="zh-CN" sz="2000" b="0" i="0" u="none" strike="noStrike" kern="0" cap="none" spc="0" normalizeH="0" baseline="0" noProof="0" dirty="0">
                    <a:ln>
                      <a:noFill/>
                    </a:ln>
                    <a:solidFill>
                      <a:prstClr val="black"/>
                    </a:solidFill>
                    <a:effectLst/>
                    <a:uLnTx/>
                    <a:uFillTx/>
                    <a:latin typeface="Calibri" panose="020F0502020204030204" pitchFamily="34" charset="0"/>
                    <a:ea typeface="標楷體" pitchFamily="65" charset="-120"/>
                    <a:cs typeface="+mn-cs"/>
                    <a:sym typeface="+mn-ea"/>
                  </a:rPr>
                  <a:t> machines use 64-bit words and can handle 64-bit pointers. They can only address up to </a:t>
                </a:r>
                <a14:m>
                  <m:oMath xmlns:m="http://schemas.openxmlformats.org/officeDocument/2006/math">
                    <m:sSup>
                      <m:sSupPr>
                        <m:ctrlPr>
                          <a:rPr kumimoji="1" lang="en-US" sz="1800" b="0" i="1" u="none" strike="noStrike" kern="0" cap="none" spc="0" normalizeH="0" baseline="0" noProof="0" smtClean="0">
                            <a:ln>
                              <a:noFill/>
                            </a:ln>
                            <a:solidFill>
                              <a:prstClr val="black"/>
                            </a:solidFill>
                            <a:effectLst/>
                            <a:uLnTx/>
                            <a:uFillTx/>
                            <a:latin typeface="Cambria Math" panose="02040503050406030204" pitchFamily="18" charset="0"/>
                            <a:cs typeface="+mn-cs"/>
                          </a:rPr>
                        </m:ctrlPr>
                      </m:sSupPr>
                      <m:e>
                        <m:r>
                          <a:rPr kumimoji="1" lang="en-US" sz="1800" b="0" i="1" u="none" strike="noStrike" kern="0" cap="none" spc="0" normalizeH="0" baseline="0" noProof="0">
                            <a:ln>
                              <a:noFill/>
                            </a:ln>
                            <a:solidFill>
                              <a:prstClr val="black"/>
                            </a:solidFill>
                            <a:effectLst/>
                            <a:uLnTx/>
                            <a:uFillTx/>
                            <a:latin typeface="Cambria Math" panose="02040503050406030204" pitchFamily="18" charset="0"/>
                            <a:cs typeface="+mn-cs"/>
                          </a:rPr>
                          <m:t>2</m:t>
                        </m:r>
                      </m:e>
                      <m:sup>
                        <m:r>
                          <a:rPr kumimoji="1" lang="en-US" sz="1800" b="0" i="1" u="none" strike="noStrike" kern="0" cap="none" spc="0" normalizeH="0" baseline="0" noProof="0" smtClean="0">
                            <a:ln>
                              <a:noFill/>
                            </a:ln>
                            <a:solidFill>
                              <a:prstClr val="black"/>
                            </a:solidFill>
                            <a:effectLst/>
                            <a:uLnTx/>
                            <a:uFillTx/>
                            <a:latin typeface="Cambria Math" panose="02040503050406030204" pitchFamily="18" charset="0"/>
                            <a:cs typeface="+mn-cs"/>
                          </a:rPr>
                          <m:t>64</m:t>
                        </m:r>
                      </m:sup>
                    </m:sSup>
                    <m:r>
                      <a:rPr kumimoji="1" lang="en-US" sz="1800" b="0" i="1" u="none" strike="noStrike" kern="0" cap="none" spc="0" normalizeH="0" baseline="0" noProof="0">
                        <a:ln>
                          <a:noFill/>
                        </a:ln>
                        <a:solidFill>
                          <a:prstClr val="black"/>
                        </a:solidFill>
                        <a:effectLst/>
                        <a:uLnTx/>
                        <a:uFillTx/>
                        <a:latin typeface="Cambria Math" panose="02040503050406030204" pitchFamily="18" charset="0"/>
                        <a:cs typeface="+mn-cs"/>
                      </a:rPr>
                      <m:t> </m:t>
                    </m:r>
                  </m:oMath>
                </a14:m>
                <a:r>
                  <a:rPr kumimoji="1" lang="en-US" altLang="zh-CN" sz="2000" b="0" i="0" u="none" strike="noStrike" kern="0" cap="none" spc="0" normalizeH="0" baseline="0" noProof="0" dirty="0">
                    <a:ln>
                      <a:noFill/>
                    </a:ln>
                    <a:solidFill>
                      <a:prstClr val="black"/>
                    </a:solidFill>
                    <a:effectLst/>
                    <a:uLnTx/>
                    <a:uFillTx/>
                    <a:latin typeface="Calibri" panose="020F0502020204030204" pitchFamily="34" charset="0"/>
                    <a:ea typeface="標楷體" pitchFamily="65" charset="-120"/>
                    <a:cs typeface="+mn-cs"/>
                    <a:sym typeface="+mn-ea"/>
                  </a:rPr>
                  <a:t>bytes, that  is, </a:t>
                </a:r>
                <a:r>
                  <a:rPr lang="en-US" altLang="zh-CN" sz="2000" dirty="0">
                    <a:solidFill>
                      <a:prstClr val="black"/>
                    </a:solidFill>
                    <a:sym typeface="+mn-ea"/>
                  </a:rPr>
                  <a:t>16 Exabytes</a:t>
                </a:r>
                <a:r>
                  <a:rPr kumimoji="1" lang="en-US" altLang="zh-CN" sz="2000" b="0" i="0" u="none" strike="noStrike" kern="0" cap="none" spc="0" normalizeH="0" baseline="0" noProof="0" dirty="0">
                    <a:ln>
                      <a:noFill/>
                    </a:ln>
                    <a:solidFill>
                      <a:prstClr val="black"/>
                    </a:solidFill>
                    <a:effectLst/>
                    <a:uLnTx/>
                    <a:uFillTx/>
                    <a:latin typeface="Calibri" panose="020F0502020204030204" pitchFamily="34" charset="0"/>
                    <a:ea typeface="標楷體" pitchFamily="65" charset="-120"/>
                    <a:cs typeface="+mn-cs"/>
                    <a:sym typeface="+mn-ea"/>
                  </a:rPr>
                  <a:t>.</a:t>
                </a:r>
              </a:p>
              <a:p>
                <a:endParaRPr lang="en-US" altLang="zh-CN" sz="2000" dirty="0">
                  <a:sym typeface="+mn-ea"/>
                </a:endParaRPr>
              </a:p>
              <a:p>
                <a:endParaRPr lang="en-US" altLang="zh-CN" sz="2000" dirty="0">
                  <a:sym typeface="+mn-ea"/>
                </a:endParaRPr>
              </a:p>
              <a:p>
                <a:endParaRPr lang="en-US" altLang="zh-CN" sz="2000" dirty="0">
                  <a:sym typeface="+mn-ea"/>
                </a:endParaRPr>
              </a:p>
            </p:txBody>
          </p:sp>
        </mc:Choice>
        <mc:Fallback xmlns="">
          <p:sp>
            <p:nvSpPr>
              <p:cNvPr id="6" name="内容占位符 5"/>
              <p:cNvSpPr>
                <a:spLocks noGrp="1" noRot="1" noChangeAspect="1" noMove="1" noResize="1" noEditPoints="1" noAdjustHandles="1" noChangeArrowheads="1" noChangeShapeType="1" noTextEdit="1"/>
              </p:cNvSpPr>
              <p:nvPr>
                <p:ph idx="1"/>
              </p:nvPr>
            </p:nvSpPr>
            <p:spPr>
              <a:xfrm>
                <a:off x="145143" y="844153"/>
                <a:ext cx="8541657" cy="3671888"/>
              </a:xfrm>
              <a:blipFill>
                <a:blip r:embed="rId3"/>
                <a:stretch>
                  <a:fillRect l="-286" t="-829" b="-3317"/>
                </a:stretch>
              </a:blipFill>
            </p:spPr>
            <p:txBody>
              <a:bodyPr/>
              <a:lstStyle/>
              <a:p>
                <a:r>
                  <a:rPr lang="en-US">
                    <a:noFill/>
                  </a:rPr>
                  <a:t> </a:t>
                </a:r>
              </a:p>
            </p:txBody>
          </p:sp>
        </mc:Fallback>
      </mc:AlternateContent>
      <p:sp>
        <p:nvSpPr>
          <p:cNvPr id="4" name="灯片编号占位符 3"/>
          <p:cNvSpPr>
            <a:spLocks noGrp="1"/>
          </p:cNvSpPr>
          <p:nvPr>
            <p:ph type="sldNum" sz="quarter" idx="10"/>
          </p:nvPr>
        </p:nvSpPr>
        <p:spPr/>
        <p:txBody>
          <a:bodyPr/>
          <a:lstStyle/>
          <a:p>
            <a:fld id="{D9B6BDF2-6896-4B98-8776-C18582F63BA5}" type="slidenum">
              <a:rPr lang="zh-TW" altLang="en-US" smtClean="0"/>
              <a:t>11</a:t>
            </a:fld>
            <a:endParaRPr lang="zh-TW" alt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p:cNvSpPr>
            <a:spLocks noGrp="1"/>
          </p:cNvSpPr>
          <p:nvPr>
            <p:ph type="title"/>
          </p:nvPr>
        </p:nvSpPr>
        <p:spPr>
          <a:xfrm>
            <a:off x="787401" y="108349"/>
            <a:ext cx="8124370" cy="519113"/>
          </a:xfrm>
        </p:spPr>
        <p:txBody>
          <a:bodyPr/>
          <a:lstStyle/>
          <a:p>
            <a:r>
              <a:rPr lang="en-US" sz="3200" dirty="0">
                <a:sym typeface="+mn-ea"/>
              </a:rPr>
              <a:t>32 bit and 64 bit Machines and Programs</a:t>
            </a:r>
            <a:endParaRPr lang="en-US" altLang="zh-CN" sz="3200" dirty="0"/>
          </a:p>
        </p:txBody>
      </p:sp>
      <p:sp>
        <p:nvSpPr>
          <p:cNvPr id="4" name="灯片编号占位符 3"/>
          <p:cNvSpPr>
            <a:spLocks noGrp="1"/>
          </p:cNvSpPr>
          <p:nvPr>
            <p:ph type="sldNum" sz="quarter" idx="10"/>
          </p:nvPr>
        </p:nvSpPr>
        <p:spPr/>
        <p:txBody>
          <a:bodyPr/>
          <a:lstStyle/>
          <a:p>
            <a:fld id="{D9B6BDF2-6896-4B98-8776-C18582F63BA5}" type="slidenum">
              <a:rPr lang="zh-TW" altLang="en-US" smtClean="0"/>
              <a:t>12</a:t>
            </a:fld>
            <a:endParaRPr lang="zh-TW" altLang="en-US"/>
          </a:p>
        </p:txBody>
      </p:sp>
      <p:graphicFrame>
        <p:nvGraphicFramePr>
          <p:cNvPr id="7" name="Table 7">
            <a:extLst>
              <a:ext uri="{FF2B5EF4-FFF2-40B4-BE49-F238E27FC236}">
                <a16:creationId xmlns:a16="http://schemas.microsoft.com/office/drawing/2014/main" id="{07AA02A1-1DC3-4908-A60F-A36B297EEE26}"/>
              </a:ext>
            </a:extLst>
          </p:cNvPr>
          <p:cNvGraphicFramePr>
            <a:graphicFrameLocks noGrp="1"/>
          </p:cNvGraphicFramePr>
          <p:nvPr>
            <p:ph idx="1"/>
            <p:extLst>
              <p:ext uri="{D42A27DB-BD31-4B8C-83A1-F6EECF244321}">
                <p14:modId xmlns:p14="http://schemas.microsoft.com/office/powerpoint/2010/main" val="1493589662"/>
              </p:ext>
            </p:extLst>
          </p:nvPr>
        </p:nvGraphicFramePr>
        <p:xfrm>
          <a:off x="471715" y="746062"/>
          <a:ext cx="8200570" cy="1676400"/>
        </p:xfrm>
        <a:graphic>
          <a:graphicData uri="http://schemas.openxmlformats.org/drawingml/2006/table">
            <a:tbl>
              <a:tblPr firstRow="1" bandRow="1">
                <a:tableStyleId>{5C22544A-7EE6-4342-B048-85BDC9FD1C3A}</a:tableStyleId>
              </a:tblPr>
              <a:tblGrid>
                <a:gridCol w="2144423">
                  <a:extLst>
                    <a:ext uri="{9D8B030D-6E8A-4147-A177-3AD203B41FA5}">
                      <a16:colId xmlns:a16="http://schemas.microsoft.com/office/drawing/2014/main" val="4070780578"/>
                    </a:ext>
                  </a:extLst>
                </a:gridCol>
                <a:gridCol w="2906063">
                  <a:extLst>
                    <a:ext uri="{9D8B030D-6E8A-4147-A177-3AD203B41FA5}">
                      <a16:colId xmlns:a16="http://schemas.microsoft.com/office/drawing/2014/main" val="1758780942"/>
                    </a:ext>
                  </a:extLst>
                </a:gridCol>
                <a:gridCol w="3150084">
                  <a:extLst>
                    <a:ext uri="{9D8B030D-6E8A-4147-A177-3AD203B41FA5}">
                      <a16:colId xmlns:a16="http://schemas.microsoft.com/office/drawing/2014/main" val="1603629545"/>
                    </a:ext>
                  </a:extLst>
                </a:gridCol>
              </a:tblGrid>
              <a:tr h="370840">
                <a:tc>
                  <a:txBody>
                    <a:bodyPr/>
                    <a:lstStyle/>
                    <a:p>
                      <a:pPr algn="ctr"/>
                      <a:r>
                        <a:rPr lang="en-US" sz="2000" dirty="0"/>
                        <a:t>Word Size</a:t>
                      </a:r>
                    </a:p>
                  </a:txBody>
                  <a:tcPr/>
                </a:tc>
                <a:tc>
                  <a:txBody>
                    <a:bodyPr/>
                    <a:lstStyle/>
                    <a:p>
                      <a:pPr algn="ctr"/>
                      <a:r>
                        <a:rPr lang="en-US" sz="2000" dirty="0"/>
                        <a:t>Common Architecture</a:t>
                      </a:r>
                    </a:p>
                  </a:txBody>
                  <a:tcPr/>
                </a:tc>
                <a:tc>
                  <a:txBody>
                    <a:bodyPr/>
                    <a:lstStyle/>
                    <a:p>
                      <a:pPr algn="ctr"/>
                      <a:r>
                        <a:rPr lang="en-US" sz="2000" dirty="0"/>
                        <a:t>Well-known Examples</a:t>
                      </a:r>
                    </a:p>
                  </a:txBody>
                  <a:tcPr/>
                </a:tc>
                <a:extLst>
                  <a:ext uri="{0D108BD9-81ED-4DB2-BD59-A6C34878D82A}">
                    <a16:rowId xmlns:a16="http://schemas.microsoft.com/office/drawing/2014/main" val="4086910691"/>
                  </a:ext>
                </a:extLst>
              </a:tr>
              <a:tr h="370840">
                <a:tc>
                  <a:txBody>
                    <a:bodyPr/>
                    <a:lstStyle/>
                    <a:p>
                      <a:pPr algn="ctr"/>
                      <a:r>
                        <a:rPr lang="en-US" sz="1800" dirty="0"/>
                        <a:t>32 bit</a:t>
                      </a:r>
                    </a:p>
                  </a:txBody>
                  <a:tcPr/>
                </a:tc>
                <a:tc>
                  <a:txBody>
                    <a:bodyPr/>
                    <a:lstStyle/>
                    <a:p>
                      <a:pPr algn="ctr"/>
                      <a:r>
                        <a:rPr lang="en-US" sz="1800" b="0" i="0" dirty="0">
                          <a:solidFill>
                            <a:srgbClr val="374151"/>
                          </a:solidFill>
                          <a:effectLst/>
                          <a:latin typeface="ui-sans-serif"/>
                        </a:rPr>
                        <a:t>Intel x86 (IA-32), ARMv7, RV32 (RISC-V)</a:t>
                      </a:r>
                      <a:endParaRPr lang="en-US" sz="1800" dirty="0"/>
                    </a:p>
                  </a:txBody>
                  <a:tcPr/>
                </a:tc>
                <a:tc>
                  <a:txBody>
                    <a:bodyPr/>
                    <a:lstStyle/>
                    <a:p>
                      <a:pPr algn="ctr"/>
                      <a:r>
                        <a:rPr lang="en-US" sz="1800" b="0" i="0" dirty="0">
                          <a:solidFill>
                            <a:srgbClr val="374151"/>
                          </a:solidFill>
                          <a:effectLst/>
                          <a:latin typeface="ui-sans-serif"/>
                        </a:rPr>
                        <a:t>Windows XP PCs, iPhone 4, PS1</a:t>
                      </a:r>
                      <a:endParaRPr lang="en-US" sz="1800" dirty="0"/>
                    </a:p>
                  </a:txBody>
                  <a:tcPr/>
                </a:tc>
                <a:extLst>
                  <a:ext uri="{0D108BD9-81ED-4DB2-BD59-A6C34878D82A}">
                    <a16:rowId xmlns:a16="http://schemas.microsoft.com/office/drawing/2014/main" val="2228916823"/>
                  </a:ext>
                </a:extLst>
              </a:tr>
              <a:tr h="370840">
                <a:tc>
                  <a:txBody>
                    <a:bodyPr/>
                    <a:lstStyle/>
                    <a:p>
                      <a:pPr algn="ctr"/>
                      <a:r>
                        <a:rPr lang="en-US" sz="1800" dirty="0"/>
                        <a:t>64 bit</a:t>
                      </a:r>
                    </a:p>
                  </a:txBody>
                  <a:tcPr/>
                </a:tc>
                <a:tc>
                  <a:txBody>
                    <a:bodyPr/>
                    <a:lstStyle/>
                    <a:p>
                      <a:pPr algn="ctr"/>
                      <a:r>
                        <a:rPr lang="en-US" sz="1800" b="0" i="0" dirty="0">
                          <a:solidFill>
                            <a:srgbClr val="374151"/>
                          </a:solidFill>
                          <a:effectLst/>
                          <a:latin typeface="ui-sans-serif"/>
                        </a:rPr>
                        <a:t>Intel x86-64, IA-64, ARMv8, RV64 (RISC-V)</a:t>
                      </a:r>
                      <a:endParaRPr lang="en-US" sz="1800" dirty="0"/>
                    </a:p>
                  </a:txBody>
                  <a:tcPr/>
                </a:tc>
                <a:tc>
                  <a:txBody>
                    <a:bodyPr/>
                    <a:lstStyle/>
                    <a:p>
                      <a:pPr algn="ctr"/>
                      <a:r>
                        <a:rPr lang="en-US" sz="1800" b="0" i="0" dirty="0">
                          <a:solidFill>
                            <a:srgbClr val="374151"/>
                          </a:solidFill>
                          <a:effectLst/>
                          <a:latin typeface="ui-sans-serif"/>
                        </a:rPr>
                        <a:t>Modern MacBooks, iPhone5S, PS5, AMD Ryzen PCs</a:t>
                      </a:r>
                      <a:endParaRPr lang="en-US" sz="1800" dirty="0"/>
                    </a:p>
                  </a:txBody>
                  <a:tcPr/>
                </a:tc>
                <a:extLst>
                  <a:ext uri="{0D108BD9-81ED-4DB2-BD59-A6C34878D82A}">
                    <a16:rowId xmlns:a16="http://schemas.microsoft.com/office/drawing/2014/main" val="33571874"/>
                  </a:ext>
                </a:extLst>
              </a:tr>
            </a:tbl>
          </a:graphicData>
        </a:graphic>
      </p:graphicFrame>
      <p:sp>
        <p:nvSpPr>
          <p:cNvPr id="8" name="内容占位符 5">
            <a:extLst>
              <a:ext uri="{FF2B5EF4-FFF2-40B4-BE49-F238E27FC236}">
                <a16:creationId xmlns:a16="http://schemas.microsoft.com/office/drawing/2014/main" id="{F029FA66-A107-4703-823A-A5EE0F6FFFF9}"/>
              </a:ext>
            </a:extLst>
          </p:cNvPr>
          <p:cNvSpPr txBox="1">
            <a:spLocks/>
          </p:cNvSpPr>
          <p:nvPr/>
        </p:nvSpPr>
        <p:spPr bwMode="auto">
          <a:xfrm>
            <a:off x="174059" y="2422462"/>
            <a:ext cx="8737712" cy="2251138"/>
          </a:xfrm>
          <a:prstGeom prst="rect">
            <a:avLst/>
          </a:prstGeom>
          <a:noFill/>
          <a:ln w="9525">
            <a:noFill/>
            <a:miter lim="800000"/>
          </a:ln>
        </p:spPr>
        <p:txBody>
          <a:bodyPr vert="horz" wrap="square" lIns="91440" tIns="45720" rIns="91440" bIns="45720" numCol="1" anchor="t" anchorCtr="0" compatLnSpc="1"/>
          <a:lstStyle>
            <a:lvl1pPr marL="257175" indent="-257175" algn="l" rtl="0" eaLnBrk="1" fontAlgn="base" hangingPunct="1">
              <a:spcBef>
                <a:spcPct val="20000"/>
              </a:spcBef>
              <a:spcAft>
                <a:spcPct val="0"/>
              </a:spcAft>
              <a:buClr>
                <a:srgbClr val="8064A2"/>
              </a:buClr>
              <a:buSzPct val="80000"/>
              <a:buFont typeface="Wingdings" panose="05000000000000000000" pitchFamily="2" charset="2"/>
              <a:buChar char="l"/>
              <a:defRPr kumimoji="1" sz="2800">
                <a:solidFill>
                  <a:schemeClr val="tx1"/>
                </a:solidFill>
                <a:latin typeface="Calibri" panose="020F0502020204030204" pitchFamily="34" charset="0"/>
                <a:ea typeface="標楷體" pitchFamily="65" charset="-120"/>
                <a:cs typeface="+mn-cs"/>
              </a:defRPr>
            </a:lvl1pPr>
            <a:lvl2pPr marL="556895" indent="-213995" algn="l" rtl="0" eaLnBrk="1" fontAlgn="base" hangingPunct="1">
              <a:spcBef>
                <a:spcPct val="20000"/>
              </a:spcBef>
              <a:spcAft>
                <a:spcPct val="0"/>
              </a:spcAft>
              <a:buClr>
                <a:srgbClr val="8064A2"/>
              </a:buClr>
              <a:buSzPct val="90000"/>
              <a:buFont typeface="Arial" panose="020B0604020202020204" pitchFamily="34" charset="0"/>
              <a:buChar char="–"/>
              <a:defRPr kumimoji="1" sz="2400">
                <a:solidFill>
                  <a:schemeClr val="tx1"/>
                </a:solidFill>
                <a:latin typeface="Calibri" panose="020F0502020204030204" pitchFamily="34" charset="0"/>
                <a:ea typeface="標楷體" pitchFamily="65" charset="-120"/>
              </a:defRPr>
            </a:lvl2pPr>
            <a:lvl3pPr marL="857250" indent="-171450" algn="l" rtl="0" eaLnBrk="1" fontAlgn="base" hangingPunct="1">
              <a:spcBef>
                <a:spcPct val="20000"/>
              </a:spcBef>
              <a:spcAft>
                <a:spcPct val="0"/>
              </a:spcAft>
              <a:buChar char="•"/>
              <a:defRPr kumimoji="1" sz="2000">
                <a:solidFill>
                  <a:schemeClr val="tx1"/>
                </a:solidFill>
                <a:latin typeface="Calibri" panose="020F0502020204030204" pitchFamily="34" charset="0"/>
                <a:ea typeface="標楷體" pitchFamily="65" charset="-120"/>
                <a:cs typeface="Calibri" panose="020F0502020204030204" pitchFamily="34" charset="0"/>
              </a:defRPr>
            </a:lvl3pPr>
            <a:lvl4pPr marL="1200150" indent="-171450" algn="l" rtl="0" eaLnBrk="1" fontAlgn="base" hangingPunct="1">
              <a:spcBef>
                <a:spcPct val="20000"/>
              </a:spcBef>
              <a:spcAft>
                <a:spcPct val="0"/>
              </a:spcAft>
              <a:buChar char="–"/>
              <a:defRPr kumimoji="1" sz="1800">
                <a:solidFill>
                  <a:schemeClr val="tx1"/>
                </a:solidFill>
                <a:latin typeface="Calibri" panose="020F0502020204030204" pitchFamily="34" charset="0"/>
                <a:ea typeface="標楷體" pitchFamily="65" charset="-120"/>
                <a:cs typeface="Calibri" panose="020F0502020204030204" pitchFamily="34" charset="0"/>
              </a:defRPr>
            </a:lvl4pPr>
            <a:lvl5pPr marL="1543050" indent="-171450" algn="l" rtl="0" eaLnBrk="1" fontAlgn="base" hangingPunct="1">
              <a:spcBef>
                <a:spcPct val="20000"/>
              </a:spcBef>
              <a:spcAft>
                <a:spcPct val="0"/>
              </a:spcAft>
              <a:buChar char="»"/>
              <a:defRPr kumimoji="1" sz="1600">
                <a:solidFill>
                  <a:schemeClr val="tx1"/>
                </a:solidFill>
                <a:latin typeface="Calibri" panose="020F0502020204030204" pitchFamily="34" charset="0"/>
                <a:ea typeface="標楷體" pitchFamily="65" charset="-120"/>
                <a:cs typeface="Calibri" panose="020F0502020204030204" pitchFamily="34" charset="0"/>
              </a:defRPr>
            </a:lvl5pPr>
            <a:lvl6pPr marL="1885950" indent="-171450" algn="l" rtl="0" eaLnBrk="1" fontAlgn="base" hangingPunct="1">
              <a:spcBef>
                <a:spcPct val="20000"/>
              </a:spcBef>
              <a:spcAft>
                <a:spcPct val="0"/>
              </a:spcAft>
              <a:buChar char="»"/>
              <a:defRPr kumimoji="1" sz="1500">
                <a:solidFill>
                  <a:schemeClr val="tx1"/>
                </a:solidFill>
                <a:latin typeface="+mn-lt"/>
                <a:ea typeface="+mn-ea"/>
              </a:defRPr>
            </a:lvl6pPr>
            <a:lvl7pPr marL="2228850" indent="-171450" algn="l" rtl="0" eaLnBrk="1" fontAlgn="base" hangingPunct="1">
              <a:spcBef>
                <a:spcPct val="20000"/>
              </a:spcBef>
              <a:spcAft>
                <a:spcPct val="0"/>
              </a:spcAft>
              <a:buChar char="»"/>
              <a:defRPr kumimoji="1" sz="1500">
                <a:solidFill>
                  <a:schemeClr val="tx1"/>
                </a:solidFill>
                <a:latin typeface="+mn-lt"/>
                <a:ea typeface="+mn-ea"/>
              </a:defRPr>
            </a:lvl7pPr>
            <a:lvl8pPr marL="2571750" indent="-171450" algn="l" rtl="0" eaLnBrk="1" fontAlgn="base" hangingPunct="1">
              <a:spcBef>
                <a:spcPct val="20000"/>
              </a:spcBef>
              <a:spcAft>
                <a:spcPct val="0"/>
              </a:spcAft>
              <a:buChar char="»"/>
              <a:defRPr kumimoji="1" sz="1500">
                <a:solidFill>
                  <a:schemeClr val="tx1"/>
                </a:solidFill>
                <a:latin typeface="+mn-lt"/>
                <a:ea typeface="+mn-ea"/>
              </a:defRPr>
            </a:lvl8pPr>
            <a:lvl9pPr marL="2914650" indent="-171450" algn="l" rtl="0" eaLnBrk="1" fontAlgn="base" hangingPunct="1">
              <a:spcBef>
                <a:spcPct val="20000"/>
              </a:spcBef>
              <a:spcAft>
                <a:spcPct val="0"/>
              </a:spcAft>
              <a:buChar char="»"/>
              <a:defRPr kumimoji="1" sz="1500">
                <a:solidFill>
                  <a:schemeClr val="tx1"/>
                </a:solidFill>
                <a:latin typeface="+mn-lt"/>
                <a:ea typeface="+mn-ea"/>
              </a:defRPr>
            </a:lvl9pPr>
          </a:lstStyle>
          <a:p>
            <a:pPr algn="l"/>
            <a:r>
              <a:rPr lang="en-US" sz="1800" b="0" i="0" u="none" strike="noStrike" baseline="0" dirty="0">
                <a:latin typeface="TimesTen-Roman"/>
              </a:rPr>
              <a:t>Most 64-bit machines can also run programs compiled for use on 32-bit machines, a form of </a:t>
            </a:r>
            <a:r>
              <a:rPr lang="en-US" sz="1800" b="0" i="1" u="none" strike="noStrike" baseline="0" dirty="0">
                <a:solidFill>
                  <a:srgbClr val="FF0000"/>
                </a:solidFill>
                <a:latin typeface="TimesTen-Roman"/>
              </a:rPr>
              <a:t>backward compatibility</a:t>
            </a:r>
            <a:r>
              <a:rPr lang="en-US" sz="1800" b="0" i="0" u="none" strike="noStrike" baseline="0" dirty="0">
                <a:latin typeface="TimesTen-Roman"/>
              </a:rPr>
              <a:t>. </a:t>
            </a:r>
          </a:p>
          <a:p>
            <a:pPr marL="0" indent="0" algn="l">
              <a:buNone/>
            </a:pPr>
            <a:r>
              <a:rPr lang="en-US" altLang="zh-CN" sz="1800" kern="0" dirty="0" err="1">
                <a:latin typeface="TimesTen-Roman"/>
                <a:sym typeface="+mn-ea"/>
              </a:rPr>
              <a:t>linux</a:t>
            </a:r>
            <a:r>
              <a:rPr lang="en-US" altLang="zh-CN" sz="1800" kern="0" dirty="0">
                <a:latin typeface="TimesTen-Roman"/>
                <a:sym typeface="+mn-ea"/>
              </a:rPr>
              <a:t>&gt; </a:t>
            </a:r>
            <a:r>
              <a:rPr lang="en-US" altLang="zh-CN" sz="1800" i="1" kern="0" dirty="0" err="1">
                <a:latin typeface="TimesTen-Roman"/>
                <a:sym typeface="+mn-ea"/>
              </a:rPr>
              <a:t>gcc</a:t>
            </a:r>
            <a:r>
              <a:rPr lang="en-US" altLang="zh-CN" sz="1800" i="1" kern="0" dirty="0">
                <a:latin typeface="TimesTen-Roman"/>
                <a:sym typeface="+mn-ea"/>
              </a:rPr>
              <a:t> –m32 </a:t>
            </a:r>
            <a:r>
              <a:rPr lang="en-US" altLang="zh-CN" sz="1800" i="1" kern="0" dirty="0" err="1">
                <a:latin typeface="TimesTen-Roman"/>
                <a:sym typeface="+mn-ea"/>
              </a:rPr>
              <a:t>prog.c</a:t>
            </a:r>
            <a:r>
              <a:rPr lang="en-US" altLang="zh-CN" sz="1800" i="1" kern="0" dirty="0">
                <a:latin typeface="TimesTen-Roman"/>
                <a:sym typeface="+mn-ea"/>
              </a:rPr>
              <a:t> </a:t>
            </a:r>
          </a:p>
          <a:p>
            <a:pPr marL="0" indent="0" algn="l">
              <a:buNone/>
            </a:pPr>
            <a:r>
              <a:rPr lang="en-US" sz="1800" b="0" i="1" u="none" strike="noStrike" kern="0" baseline="0" dirty="0">
                <a:latin typeface="TimesTen-Roman"/>
                <a:sym typeface="+mn-ea"/>
              </a:rPr>
              <a:t>	</a:t>
            </a:r>
            <a:r>
              <a:rPr lang="en-US" sz="1800" b="0" i="0" u="none" strike="noStrike" baseline="0" dirty="0">
                <a:latin typeface="TimesTen-Roman"/>
              </a:rPr>
              <a:t>then this program will run correctly on either a 32-bit or a 64-bit machine.</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800" b="0" i="0" u="none" strike="noStrike" kern="0" cap="none" spc="0" normalizeH="0" baseline="0" noProof="0" dirty="0" err="1">
                <a:ln>
                  <a:noFill/>
                </a:ln>
                <a:solidFill>
                  <a:prstClr val="black"/>
                </a:solidFill>
                <a:effectLst/>
                <a:uLnTx/>
                <a:uFillTx/>
                <a:latin typeface="TimesTen-Roman"/>
                <a:ea typeface="新細明體"/>
                <a:cs typeface="+mn-cs"/>
                <a:sym typeface="+mn-ea"/>
              </a:rPr>
              <a:t>linux</a:t>
            </a:r>
            <a:r>
              <a:rPr kumimoji="0" lang="en-US" altLang="zh-CN" sz="1800" b="0" i="0" u="none" strike="noStrike" kern="0" cap="none" spc="0" normalizeH="0" baseline="0" noProof="0" dirty="0">
                <a:ln>
                  <a:noFill/>
                </a:ln>
                <a:solidFill>
                  <a:prstClr val="black"/>
                </a:solidFill>
                <a:effectLst/>
                <a:uLnTx/>
                <a:uFillTx/>
                <a:latin typeface="TimesTen-Roman"/>
                <a:ea typeface="新細明體"/>
                <a:cs typeface="+mn-cs"/>
                <a:sym typeface="+mn-ea"/>
              </a:rPr>
              <a:t>&gt; </a:t>
            </a:r>
            <a:r>
              <a:rPr kumimoji="0" lang="en-US" altLang="zh-CN" sz="1800" b="0" i="1" u="none" strike="noStrike" kern="0" cap="none" spc="0" normalizeH="0" baseline="0" noProof="0" dirty="0" err="1">
                <a:ln>
                  <a:noFill/>
                </a:ln>
                <a:solidFill>
                  <a:prstClr val="black"/>
                </a:solidFill>
                <a:effectLst/>
                <a:uLnTx/>
                <a:uFillTx/>
                <a:latin typeface="TimesTen-Roman"/>
                <a:ea typeface="新細明體"/>
                <a:cs typeface="+mn-cs"/>
                <a:sym typeface="+mn-ea"/>
              </a:rPr>
              <a:t>gcc</a:t>
            </a:r>
            <a:r>
              <a:rPr kumimoji="0" lang="en-US" altLang="zh-CN" sz="1800" b="0" i="1" u="none" strike="noStrike" kern="0" cap="none" spc="0" normalizeH="0" baseline="0" noProof="0" dirty="0">
                <a:ln>
                  <a:noFill/>
                </a:ln>
                <a:solidFill>
                  <a:prstClr val="black"/>
                </a:solidFill>
                <a:effectLst/>
                <a:uLnTx/>
                <a:uFillTx/>
                <a:latin typeface="TimesTen-Roman"/>
                <a:ea typeface="新細明體"/>
                <a:cs typeface="+mn-cs"/>
                <a:sym typeface="+mn-ea"/>
              </a:rPr>
              <a:t> –m64 </a:t>
            </a:r>
            <a:r>
              <a:rPr kumimoji="0" lang="en-US" altLang="zh-CN" sz="1800" b="0" i="1" u="none" strike="noStrike" kern="0" cap="none" spc="0" normalizeH="0" baseline="0" noProof="0" dirty="0" err="1">
                <a:ln>
                  <a:noFill/>
                </a:ln>
                <a:solidFill>
                  <a:prstClr val="black"/>
                </a:solidFill>
                <a:effectLst/>
                <a:uLnTx/>
                <a:uFillTx/>
                <a:latin typeface="TimesTen-Roman"/>
                <a:ea typeface="新細明體"/>
                <a:cs typeface="+mn-cs"/>
                <a:sym typeface="+mn-ea"/>
              </a:rPr>
              <a:t>prog.c</a:t>
            </a:r>
            <a:r>
              <a:rPr kumimoji="0" lang="en-US" altLang="zh-CN" sz="1800" b="0" i="1" u="none" strike="noStrike" kern="0" cap="none" spc="0" normalizeH="0" baseline="0" noProof="0" dirty="0">
                <a:ln>
                  <a:noFill/>
                </a:ln>
                <a:solidFill>
                  <a:prstClr val="black"/>
                </a:solidFill>
                <a:effectLst/>
                <a:uLnTx/>
                <a:uFillTx/>
                <a:latin typeface="TimesTen-Roman"/>
                <a:ea typeface="新細明體"/>
                <a:cs typeface="+mn-cs"/>
                <a:sym typeface="+mn-ea"/>
              </a:rPr>
              <a:t> </a:t>
            </a:r>
          </a:p>
          <a:p>
            <a:pPr marL="0" indent="0" algn="l">
              <a:buNone/>
            </a:pPr>
            <a:r>
              <a:rPr kumimoji="0" lang="en-US" altLang="zh-CN" sz="1800" i="1" kern="0" dirty="0">
                <a:solidFill>
                  <a:prstClr val="black"/>
                </a:solidFill>
                <a:latin typeface="TimesTen-Roman"/>
                <a:ea typeface="新細明體"/>
                <a:sym typeface="+mn-ea"/>
              </a:rPr>
              <a:t>	</a:t>
            </a:r>
            <a:r>
              <a:rPr kumimoji="0" lang="en-US" altLang="zh-CN" sz="1800" kern="0" dirty="0">
                <a:solidFill>
                  <a:prstClr val="black"/>
                </a:solidFill>
                <a:latin typeface="TimesTen-Roman"/>
                <a:ea typeface="新細明體"/>
                <a:sym typeface="+mn-ea"/>
              </a:rPr>
              <a:t>this program </a:t>
            </a:r>
            <a:r>
              <a:rPr lang="en-US" sz="1800" b="0" i="0" u="none" strike="noStrike" baseline="0" dirty="0">
                <a:latin typeface="TimesTen-Roman"/>
              </a:rPr>
              <a:t>will only run on a 64-bit machine. </a:t>
            </a:r>
          </a:p>
          <a:p>
            <a:pPr marL="0" indent="0" algn="l">
              <a:buNone/>
            </a:pPr>
            <a:r>
              <a:rPr lang="en-US" sz="1800" b="0" i="0" u="none" strike="noStrike" baseline="0" dirty="0">
                <a:latin typeface="TimesTen-Roman"/>
              </a:rPr>
              <a:t>We will therefore refer to programs as being either “32-bit programs” or “64-bit programs,”</a:t>
            </a:r>
            <a:endParaRPr kumimoji="0" lang="en-US" altLang="zh-CN" sz="1800" b="0" u="none" strike="noStrike" kern="0" cap="none" spc="0" normalizeH="0" baseline="0" noProof="0" dirty="0">
              <a:ln>
                <a:noFill/>
              </a:ln>
              <a:solidFill>
                <a:prstClr val="black"/>
              </a:solidFill>
              <a:effectLst/>
              <a:uLnTx/>
              <a:uFillTx/>
              <a:latin typeface="TimesTen-Roman"/>
              <a:ea typeface="新細明體"/>
              <a:cs typeface="+mn-cs"/>
              <a:sym typeface="+mn-ea"/>
            </a:endParaRPr>
          </a:p>
          <a:p>
            <a:pPr marL="0" indent="0" algn="l">
              <a:buNone/>
            </a:pPr>
            <a:r>
              <a:rPr lang="en-US" altLang="zh-CN" sz="2000" kern="0" dirty="0">
                <a:latin typeface="TimesTen-Roman"/>
                <a:sym typeface="+mn-ea"/>
              </a:rPr>
              <a:t> </a:t>
            </a:r>
            <a:endParaRPr lang="en-US" altLang="zh-CN" sz="2000" i="1" kern="0" dirty="0">
              <a:sym typeface="+mn-ea"/>
            </a:endParaRPr>
          </a:p>
        </p:txBody>
      </p:sp>
    </p:spTree>
    <p:extLst>
      <p:ext uri="{BB962C8B-B14F-4D97-AF65-F5344CB8AC3E}">
        <p14:creationId xmlns:p14="http://schemas.microsoft.com/office/powerpoint/2010/main" val="210979350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p:cNvSpPr>
            <a:spLocks noGrp="1"/>
          </p:cNvSpPr>
          <p:nvPr>
            <p:ph type="title"/>
          </p:nvPr>
        </p:nvSpPr>
        <p:spPr/>
        <p:txBody>
          <a:bodyPr/>
          <a:lstStyle/>
          <a:p>
            <a:r>
              <a:rPr lang="en-US" altLang="zh-CN" sz="3200" dirty="0"/>
              <a:t>Sizes of Data Types in C/C++  </a:t>
            </a:r>
          </a:p>
        </p:txBody>
      </p:sp>
      <p:sp>
        <p:nvSpPr>
          <p:cNvPr id="4" name="灯片编号占位符 3"/>
          <p:cNvSpPr>
            <a:spLocks noGrp="1"/>
          </p:cNvSpPr>
          <p:nvPr>
            <p:ph type="sldNum" sz="quarter" idx="10"/>
          </p:nvPr>
        </p:nvSpPr>
        <p:spPr/>
        <p:txBody>
          <a:bodyPr/>
          <a:lstStyle/>
          <a:p>
            <a:fld id="{D9B6BDF2-6896-4B98-8776-C18582F63BA5}" type="slidenum">
              <a:rPr lang="zh-TW" altLang="en-US" smtClean="0"/>
              <a:t>13</a:t>
            </a:fld>
            <a:endParaRPr lang="zh-TW" altLang="en-US"/>
          </a:p>
        </p:txBody>
      </p:sp>
      <p:pic>
        <p:nvPicPr>
          <p:cNvPr id="8" name="Content Placeholder 7">
            <a:extLst>
              <a:ext uri="{FF2B5EF4-FFF2-40B4-BE49-F238E27FC236}">
                <a16:creationId xmlns:a16="http://schemas.microsoft.com/office/drawing/2014/main" id="{A4C86FDE-C764-42A1-81D9-2BE0BF1BB03B}"/>
              </a:ext>
            </a:extLst>
          </p:cNvPr>
          <p:cNvPicPr>
            <a:picLocks noGrp="1" noChangeAspect="1"/>
          </p:cNvPicPr>
          <p:nvPr>
            <p:ph idx="1"/>
          </p:nvPr>
        </p:nvPicPr>
        <p:blipFill>
          <a:blip r:embed="rId3"/>
          <a:stretch>
            <a:fillRect/>
          </a:stretch>
        </p:blipFill>
        <p:spPr>
          <a:xfrm>
            <a:off x="145143" y="907144"/>
            <a:ext cx="5900109" cy="2863666"/>
          </a:xfrm>
        </p:spPr>
      </p:pic>
      <p:sp>
        <p:nvSpPr>
          <p:cNvPr id="9" name="内容占位符 5">
            <a:extLst>
              <a:ext uri="{FF2B5EF4-FFF2-40B4-BE49-F238E27FC236}">
                <a16:creationId xmlns:a16="http://schemas.microsoft.com/office/drawing/2014/main" id="{468CF3B7-4A2C-4D8B-BA29-4BE559AF5653}"/>
              </a:ext>
            </a:extLst>
          </p:cNvPr>
          <p:cNvSpPr txBox="1">
            <a:spLocks/>
          </p:cNvSpPr>
          <p:nvPr/>
        </p:nvSpPr>
        <p:spPr bwMode="auto">
          <a:xfrm>
            <a:off x="4376057" y="825890"/>
            <a:ext cx="4695371" cy="2251138"/>
          </a:xfrm>
          <a:prstGeom prst="rect">
            <a:avLst/>
          </a:prstGeom>
          <a:noFill/>
          <a:ln w="9525">
            <a:noFill/>
            <a:miter lim="800000"/>
          </a:ln>
        </p:spPr>
        <p:txBody>
          <a:bodyPr vert="horz" wrap="square" lIns="91440" tIns="45720" rIns="91440" bIns="45720" numCol="1" anchor="t" anchorCtr="0" compatLnSpc="1"/>
          <a:lstStyle>
            <a:lvl1pPr marL="257175" indent="-257175" algn="l" rtl="0" eaLnBrk="1" fontAlgn="base" hangingPunct="1">
              <a:spcBef>
                <a:spcPct val="20000"/>
              </a:spcBef>
              <a:spcAft>
                <a:spcPct val="0"/>
              </a:spcAft>
              <a:buClr>
                <a:srgbClr val="8064A2"/>
              </a:buClr>
              <a:buSzPct val="80000"/>
              <a:buFont typeface="Wingdings" panose="05000000000000000000" pitchFamily="2" charset="2"/>
              <a:buChar char="l"/>
              <a:defRPr kumimoji="1" sz="2800">
                <a:solidFill>
                  <a:schemeClr val="tx1"/>
                </a:solidFill>
                <a:latin typeface="Calibri" panose="020F0502020204030204" pitchFamily="34" charset="0"/>
                <a:ea typeface="標楷體" pitchFamily="65" charset="-120"/>
                <a:cs typeface="+mn-cs"/>
              </a:defRPr>
            </a:lvl1pPr>
            <a:lvl2pPr marL="556895" indent="-213995" algn="l" rtl="0" eaLnBrk="1" fontAlgn="base" hangingPunct="1">
              <a:spcBef>
                <a:spcPct val="20000"/>
              </a:spcBef>
              <a:spcAft>
                <a:spcPct val="0"/>
              </a:spcAft>
              <a:buClr>
                <a:srgbClr val="8064A2"/>
              </a:buClr>
              <a:buSzPct val="90000"/>
              <a:buFont typeface="Arial" panose="020B0604020202020204" pitchFamily="34" charset="0"/>
              <a:buChar char="–"/>
              <a:defRPr kumimoji="1" sz="2400">
                <a:solidFill>
                  <a:schemeClr val="tx1"/>
                </a:solidFill>
                <a:latin typeface="Calibri" panose="020F0502020204030204" pitchFamily="34" charset="0"/>
                <a:ea typeface="標楷體" pitchFamily="65" charset="-120"/>
              </a:defRPr>
            </a:lvl2pPr>
            <a:lvl3pPr marL="857250" indent="-171450" algn="l" rtl="0" eaLnBrk="1" fontAlgn="base" hangingPunct="1">
              <a:spcBef>
                <a:spcPct val="20000"/>
              </a:spcBef>
              <a:spcAft>
                <a:spcPct val="0"/>
              </a:spcAft>
              <a:buChar char="•"/>
              <a:defRPr kumimoji="1" sz="2000">
                <a:solidFill>
                  <a:schemeClr val="tx1"/>
                </a:solidFill>
                <a:latin typeface="Calibri" panose="020F0502020204030204" pitchFamily="34" charset="0"/>
                <a:ea typeface="標楷體" pitchFamily="65" charset="-120"/>
                <a:cs typeface="Calibri" panose="020F0502020204030204" pitchFamily="34" charset="0"/>
              </a:defRPr>
            </a:lvl3pPr>
            <a:lvl4pPr marL="1200150" indent="-171450" algn="l" rtl="0" eaLnBrk="1" fontAlgn="base" hangingPunct="1">
              <a:spcBef>
                <a:spcPct val="20000"/>
              </a:spcBef>
              <a:spcAft>
                <a:spcPct val="0"/>
              </a:spcAft>
              <a:buChar char="–"/>
              <a:defRPr kumimoji="1" sz="1800">
                <a:solidFill>
                  <a:schemeClr val="tx1"/>
                </a:solidFill>
                <a:latin typeface="Calibri" panose="020F0502020204030204" pitchFamily="34" charset="0"/>
                <a:ea typeface="標楷體" pitchFamily="65" charset="-120"/>
                <a:cs typeface="Calibri" panose="020F0502020204030204" pitchFamily="34" charset="0"/>
              </a:defRPr>
            </a:lvl4pPr>
            <a:lvl5pPr marL="1543050" indent="-171450" algn="l" rtl="0" eaLnBrk="1" fontAlgn="base" hangingPunct="1">
              <a:spcBef>
                <a:spcPct val="20000"/>
              </a:spcBef>
              <a:spcAft>
                <a:spcPct val="0"/>
              </a:spcAft>
              <a:buChar char="»"/>
              <a:defRPr kumimoji="1" sz="1600">
                <a:solidFill>
                  <a:schemeClr val="tx1"/>
                </a:solidFill>
                <a:latin typeface="Calibri" panose="020F0502020204030204" pitchFamily="34" charset="0"/>
                <a:ea typeface="標楷體" pitchFamily="65" charset="-120"/>
                <a:cs typeface="Calibri" panose="020F0502020204030204" pitchFamily="34" charset="0"/>
              </a:defRPr>
            </a:lvl5pPr>
            <a:lvl6pPr marL="1885950" indent="-171450" algn="l" rtl="0" eaLnBrk="1" fontAlgn="base" hangingPunct="1">
              <a:spcBef>
                <a:spcPct val="20000"/>
              </a:spcBef>
              <a:spcAft>
                <a:spcPct val="0"/>
              </a:spcAft>
              <a:buChar char="»"/>
              <a:defRPr kumimoji="1" sz="1500">
                <a:solidFill>
                  <a:schemeClr val="tx1"/>
                </a:solidFill>
                <a:latin typeface="+mn-lt"/>
                <a:ea typeface="+mn-ea"/>
              </a:defRPr>
            </a:lvl6pPr>
            <a:lvl7pPr marL="2228850" indent="-171450" algn="l" rtl="0" eaLnBrk="1" fontAlgn="base" hangingPunct="1">
              <a:spcBef>
                <a:spcPct val="20000"/>
              </a:spcBef>
              <a:spcAft>
                <a:spcPct val="0"/>
              </a:spcAft>
              <a:buChar char="»"/>
              <a:defRPr kumimoji="1" sz="1500">
                <a:solidFill>
                  <a:schemeClr val="tx1"/>
                </a:solidFill>
                <a:latin typeface="+mn-lt"/>
                <a:ea typeface="+mn-ea"/>
              </a:defRPr>
            </a:lvl7pPr>
            <a:lvl8pPr marL="2571750" indent="-171450" algn="l" rtl="0" eaLnBrk="1" fontAlgn="base" hangingPunct="1">
              <a:spcBef>
                <a:spcPct val="20000"/>
              </a:spcBef>
              <a:spcAft>
                <a:spcPct val="0"/>
              </a:spcAft>
              <a:buChar char="»"/>
              <a:defRPr kumimoji="1" sz="1500">
                <a:solidFill>
                  <a:schemeClr val="tx1"/>
                </a:solidFill>
                <a:latin typeface="+mn-lt"/>
                <a:ea typeface="+mn-ea"/>
              </a:defRPr>
            </a:lvl8pPr>
            <a:lvl9pPr marL="2914650" indent="-171450" algn="l" rtl="0" eaLnBrk="1" fontAlgn="base" hangingPunct="1">
              <a:spcBef>
                <a:spcPct val="20000"/>
              </a:spcBef>
              <a:spcAft>
                <a:spcPct val="0"/>
              </a:spcAft>
              <a:buChar char="»"/>
              <a:defRPr kumimoji="1" sz="1500">
                <a:solidFill>
                  <a:schemeClr val="tx1"/>
                </a:solidFill>
                <a:latin typeface="+mn-lt"/>
                <a:ea typeface="+mn-ea"/>
              </a:defRPr>
            </a:lvl9pPr>
          </a:lstStyle>
          <a:p>
            <a:pPr marR="0" lvl="0" algn="l" defTabSz="914400" rtl="0" eaLnBrk="1" fontAlgn="auto" latinLnBrk="0" hangingPunct="1">
              <a:lnSpc>
                <a:spcPct val="100000"/>
              </a:lnSpc>
              <a:spcBef>
                <a:spcPts val="0"/>
              </a:spcBef>
              <a:spcAft>
                <a:spcPts val="0"/>
              </a:spcAft>
              <a:buClrTx/>
              <a:buSzTx/>
              <a:buFont typeface="Wingdings" panose="05000000000000000000" pitchFamily="2" charset="2"/>
              <a:buChar char="§"/>
              <a:tabLst/>
              <a:defRPr/>
            </a:pPr>
            <a:r>
              <a:rPr lang="en-US" altLang="zh-CN" sz="2000" i="1" kern="0" dirty="0">
                <a:sym typeface="+mn-ea"/>
              </a:rPr>
              <a:t>Data sizes are mostly identical between 32-bit and 64-bit machines. However, the pointer (char *) and int/long size could be different.</a:t>
            </a:r>
          </a:p>
          <a:p>
            <a:pPr marR="0" lvl="0" algn="l" defTabSz="914400" rtl="0" eaLnBrk="1" fontAlgn="auto" latinLnBrk="0" hangingPunct="1">
              <a:lnSpc>
                <a:spcPct val="100000"/>
              </a:lnSpc>
              <a:spcBef>
                <a:spcPts val="0"/>
              </a:spcBef>
              <a:spcAft>
                <a:spcPts val="0"/>
              </a:spcAft>
              <a:buClrTx/>
              <a:buSzTx/>
              <a:buFont typeface="Wingdings" panose="05000000000000000000" pitchFamily="2" charset="2"/>
              <a:buChar char="§"/>
              <a:tabLst/>
              <a:defRPr/>
            </a:pPr>
            <a:r>
              <a:rPr lang="en-US" altLang="zh-CN" sz="2000" i="1" kern="0" dirty="0">
                <a:sym typeface="+mn-ea"/>
              </a:rPr>
              <a:t>On 32-bit machines, </a:t>
            </a:r>
            <a:r>
              <a:rPr lang="en-US" altLang="zh-CN" sz="2000" b="1" i="1" kern="0" dirty="0">
                <a:sym typeface="+mn-ea"/>
              </a:rPr>
              <a:t>int is 4 bytes, </a:t>
            </a:r>
            <a:r>
              <a:rPr lang="en-US" altLang="zh-CN" sz="2000" i="1" kern="0" dirty="0">
                <a:sym typeface="+mn-ea"/>
              </a:rPr>
              <a:t>on 64-bit machines, </a:t>
            </a:r>
            <a:r>
              <a:rPr lang="en-US" altLang="zh-CN" sz="2000" b="1" i="1" kern="0" dirty="0">
                <a:sym typeface="+mn-ea"/>
              </a:rPr>
              <a:t>int may be 4 bytes or 8 bytes.</a:t>
            </a:r>
          </a:p>
        </p:txBody>
      </p:sp>
      <p:sp>
        <p:nvSpPr>
          <p:cNvPr id="10" name="内容占位符 5">
            <a:extLst>
              <a:ext uri="{FF2B5EF4-FFF2-40B4-BE49-F238E27FC236}">
                <a16:creationId xmlns:a16="http://schemas.microsoft.com/office/drawing/2014/main" id="{1F72D90C-7453-4D73-A1D3-88C9CB2D08D3}"/>
              </a:ext>
            </a:extLst>
          </p:cNvPr>
          <p:cNvSpPr txBox="1">
            <a:spLocks/>
          </p:cNvSpPr>
          <p:nvPr/>
        </p:nvSpPr>
        <p:spPr bwMode="auto">
          <a:xfrm>
            <a:off x="232229" y="3672113"/>
            <a:ext cx="8839199" cy="2162629"/>
          </a:xfrm>
          <a:prstGeom prst="rect">
            <a:avLst/>
          </a:prstGeom>
          <a:noFill/>
          <a:ln w="9525">
            <a:noFill/>
            <a:miter lim="800000"/>
          </a:ln>
        </p:spPr>
        <p:txBody>
          <a:bodyPr vert="horz" wrap="square" lIns="91440" tIns="45720" rIns="91440" bIns="45720" numCol="1" anchor="t" anchorCtr="0" compatLnSpc="1"/>
          <a:lstStyle>
            <a:lvl1pPr marL="257175" indent="-257175" algn="l" rtl="0" eaLnBrk="1" fontAlgn="base" hangingPunct="1">
              <a:spcBef>
                <a:spcPct val="20000"/>
              </a:spcBef>
              <a:spcAft>
                <a:spcPct val="0"/>
              </a:spcAft>
              <a:buClr>
                <a:srgbClr val="8064A2"/>
              </a:buClr>
              <a:buSzPct val="80000"/>
              <a:buFont typeface="Wingdings" panose="05000000000000000000" pitchFamily="2" charset="2"/>
              <a:buChar char="l"/>
              <a:defRPr kumimoji="1" sz="2800">
                <a:solidFill>
                  <a:schemeClr val="tx1"/>
                </a:solidFill>
                <a:latin typeface="Calibri" panose="020F0502020204030204" pitchFamily="34" charset="0"/>
                <a:ea typeface="標楷體" pitchFamily="65" charset="-120"/>
                <a:cs typeface="+mn-cs"/>
              </a:defRPr>
            </a:lvl1pPr>
            <a:lvl2pPr marL="556895" indent="-213995" algn="l" rtl="0" eaLnBrk="1" fontAlgn="base" hangingPunct="1">
              <a:spcBef>
                <a:spcPct val="20000"/>
              </a:spcBef>
              <a:spcAft>
                <a:spcPct val="0"/>
              </a:spcAft>
              <a:buClr>
                <a:srgbClr val="8064A2"/>
              </a:buClr>
              <a:buSzPct val="90000"/>
              <a:buFont typeface="Arial" panose="020B0604020202020204" pitchFamily="34" charset="0"/>
              <a:buChar char="–"/>
              <a:defRPr kumimoji="1" sz="2400">
                <a:solidFill>
                  <a:schemeClr val="tx1"/>
                </a:solidFill>
                <a:latin typeface="Calibri" panose="020F0502020204030204" pitchFamily="34" charset="0"/>
                <a:ea typeface="標楷體" pitchFamily="65" charset="-120"/>
              </a:defRPr>
            </a:lvl2pPr>
            <a:lvl3pPr marL="857250" indent="-171450" algn="l" rtl="0" eaLnBrk="1" fontAlgn="base" hangingPunct="1">
              <a:spcBef>
                <a:spcPct val="20000"/>
              </a:spcBef>
              <a:spcAft>
                <a:spcPct val="0"/>
              </a:spcAft>
              <a:buChar char="•"/>
              <a:defRPr kumimoji="1" sz="2000">
                <a:solidFill>
                  <a:schemeClr val="tx1"/>
                </a:solidFill>
                <a:latin typeface="Calibri" panose="020F0502020204030204" pitchFamily="34" charset="0"/>
                <a:ea typeface="標楷體" pitchFamily="65" charset="-120"/>
                <a:cs typeface="Calibri" panose="020F0502020204030204" pitchFamily="34" charset="0"/>
              </a:defRPr>
            </a:lvl3pPr>
            <a:lvl4pPr marL="1200150" indent="-171450" algn="l" rtl="0" eaLnBrk="1" fontAlgn="base" hangingPunct="1">
              <a:spcBef>
                <a:spcPct val="20000"/>
              </a:spcBef>
              <a:spcAft>
                <a:spcPct val="0"/>
              </a:spcAft>
              <a:buChar char="–"/>
              <a:defRPr kumimoji="1" sz="1800">
                <a:solidFill>
                  <a:schemeClr val="tx1"/>
                </a:solidFill>
                <a:latin typeface="Calibri" panose="020F0502020204030204" pitchFamily="34" charset="0"/>
                <a:ea typeface="標楷體" pitchFamily="65" charset="-120"/>
                <a:cs typeface="Calibri" panose="020F0502020204030204" pitchFamily="34" charset="0"/>
              </a:defRPr>
            </a:lvl4pPr>
            <a:lvl5pPr marL="1543050" indent="-171450" algn="l" rtl="0" eaLnBrk="1" fontAlgn="base" hangingPunct="1">
              <a:spcBef>
                <a:spcPct val="20000"/>
              </a:spcBef>
              <a:spcAft>
                <a:spcPct val="0"/>
              </a:spcAft>
              <a:buChar char="»"/>
              <a:defRPr kumimoji="1" sz="1600">
                <a:solidFill>
                  <a:schemeClr val="tx1"/>
                </a:solidFill>
                <a:latin typeface="Calibri" panose="020F0502020204030204" pitchFamily="34" charset="0"/>
                <a:ea typeface="標楷體" pitchFamily="65" charset="-120"/>
                <a:cs typeface="Calibri" panose="020F0502020204030204" pitchFamily="34" charset="0"/>
              </a:defRPr>
            </a:lvl5pPr>
            <a:lvl6pPr marL="1885950" indent="-171450" algn="l" rtl="0" eaLnBrk="1" fontAlgn="base" hangingPunct="1">
              <a:spcBef>
                <a:spcPct val="20000"/>
              </a:spcBef>
              <a:spcAft>
                <a:spcPct val="0"/>
              </a:spcAft>
              <a:buChar char="»"/>
              <a:defRPr kumimoji="1" sz="1500">
                <a:solidFill>
                  <a:schemeClr val="tx1"/>
                </a:solidFill>
                <a:latin typeface="+mn-lt"/>
                <a:ea typeface="+mn-ea"/>
              </a:defRPr>
            </a:lvl6pPr>
            <a:lvl7pPr marL="2228850" indent="-171450" algn="l" rtl="0" eaLnBrk="1" fontAlgn="base" hangingPunct="1">
              <a:spcBef>
                <a:spcPct val="20000"/>
              </a:spcBef>
              <a:spcAft>
                <a:spcPct val="0"/>
              </a:spcAft>
              <a:buChar char="»"/>
              <a:defRPr kumimoji="1" sz="1500">
                <a:solidFill>
                  <a:schemeClr val="tx1"/>
                </a:solidFill>
                <a:latin typeface="+mn-lt"/>
                <a:ea typeface="+mn-ea"/>
              </a:defRPr>
            </a:lvl7pPr>
            <a:lvl8pPr marL="2571750" indent="-171450" algn="l" rtl="0" eaLnBrk="1" fontAlgn="base" hangingPunct="1">
              <a:spcBef>
                <a:spcPct val="20000"/>
              </a:spcBef>
              <a:spcAft>
                <a:spcPct val="0"/>
              </a:spcAft>
              <a:buChar char="»"/>
              <a:defRPr kumimoji="1" sz="1500">
                <a:solidFill>
                  <a:schemeClr val="tx1"/>
                </a:solidFill>
                <a:latin typeface="+mn-lt"/>
                <a:ea typeface="+mn-ea"/>
              </a:defRPr>
            </a:lvl8pPr>
            <a:lvl9pPr marL="2914650" indent="-171450" algn="l" rtl="0" eaLnBrk="1" fontAlgn="base" hangingPunct="1">
              <a:spcBef>
                <a:spcPct val="20000"/>
              </a:spcBef>
              <a:spcAft>
                <a:spcPct val="0"/>
              </a:spcAft>
              <a:buChar char="»"/>
              <a:defRPr kumimoji="1" sz="1500">
                <a:solidFill>
                  <a:schemeClr val="tx1"/>
                </a:solidFill>
                <a:latin typeface="+mn-lt"/>
                <a:ea typeface="+mn-ea"/>
              </a:defRPr>
            </a:lvl9pPr>
          </a:lstStyle>
          <a:p>
            <a:pPr marR="0" lvl="0" algn="l" defTabSz="914400" rtl="0" eaLnBrk="1" fontAlgn="auto" latinLnBrk="0" hangingPunct="1">
              <a:lnSpc>
                <a:spcPct val="100000"/>
              </a:lnSpc>
              <a:spcBef>
                <a:spcPts val="0"/>
              </a:spcBef>
              <a:spcAft>
                <a:spcPts val="0"/>
              </a:spcAft>
              <a:buClrTx/>
              <a:buSzTx/>
              <a:buFont typeface="Wingdings" panose="05000000000000000000" pitchFamily="2" charset="2"/>
              <a:buChar char="§"/>
              <a:tabLst/>
              <a:defRPr/>
            </a:pPr>
            <a:r>
              <a:rPr lang="en-US" altLang="zh-CN" sz="1800" i="1" kern="0" dirty="0">
                <a:sym typeface="+mn-ea"/>
              </a:rPr>
              <a:t>In late 90’s, when Unix vendors were moving from 32-bit to 64-bit, two models were in fierce fight: </a:t>
            </a:r>
            <a:r>
              <a:rPr lang="en-US" altLang="zh-CN" sz="1800" i="1" kern="0" dirty="0">
                <a:solidFill>
                  <a:srgbClr val="FF0000"/>
                </a:solidFill>
                <a:sym typeface="+mn-ea"/>
              </a:rPr>
              <a:t>ILP64</a:t>
            </a:r>
            <a:r>
              <a:rPr lang="en-US" altLang="zh-CN" sz="1800" i="1" kern="0" dirty="0">
                <a:sym typeface="+mn-ea"/>
              </a:rPr>
              <a:t> and </a:t>
            </a:r>
            <a:r>
              <a:rPr lang="en-US" altLang="zh-CN" sz="1800" i="1" kern="0" dirty="0">
                <a:solidFill>
                  <a:srgbClr val="FF0000"/>
                </a:solidFill>
                <a:sym typeface="+mn-ea"/>
              </a:rPr>
              <a:t>LP64</a:t>
            </a:r>
            <a:r>
              <a:rPr lang="en-US" altLang="zh-CN" sz="1800" i="1" kern="0" dirty="0">
                <a:sym typeface="+mn-ea"/>
              </a:rPr>
              <a:t> </a:t>
            </a:r>
          </a:p>
          <a:p>
            <a:pPr marR="0" lvl="0" algn="l" defTabSz="914400" rtl="0" eaLnBrk="1" fontAlgn="auto" latinLnBrk="0" hangingPunct="1">
              <a:lnSpc>
                <a:spcPct val="100000"/>
              </a:lnSpc>
              <a:spcBef>
                <a:spcPts val="0"/>
              </a:spcBef>
              <a:spcAft>
                <a:spcPts val="0"/>
              </a:spcAft>
              <a:buClrTx/>
              <a:buSzTx/>
              <a:buFont typeface="Wingdings" panose="05000000000000000000" pitchFamily="2" charset="2"/>
              <a:buChar char="§"/>
              <a:tabLst/>
              <a:defRPr/>
            </a:pPr>
            <a:r>
              <a:rPr lang="en-US" altLang="zh-CN" sz="1800" i="1" kern="0" dirty="0">
                <a:sym typeface="+mn-ea"/>
              </a:rPr>
              <a:t>ILP64: int, long, and pointers are all 64 bits, LP64: int 4 bytes, long and pointers are 64 bits</a:t>
            </a:r>
          </a:p>
        </p:txBody>
      </p:sp>
      <p:sp>
        <p:nvSpPr>
          <p:cNvPr id="2" name="Oval 1">
            <a:extLst>
              <a:ext uri="{FF2B5EF4-FFF2-40B4-BE49-F238E27FC236}">
                <a16:creationId xmlns:a16="http://schemas.microsoft.com/office/drawing/2014/main" id="{676674B4-7025-4C14-930C-3B893305290F}"/>
              </a:ext>
            </a:extLst>
          </p:cNvPr>
          <p:cNvSpPr/>
          <p:nvPr/>
        </p:nvSpPr>
        <p:spPr bwMode="auto">
          <a:xfrm>
            <a:off x="2794000" y="1973942"/>
            <a:ext cx="1393371" cy="160222"/>
          </a:xfrm>
          <a:prstGeom prst="ellipse">
            <a:avLst/>
          </a:prstGeom>
          <a:noFill/>
          <a:ln w="15875" cap="flat" cmpd="sng" algn="ctr">
            <a:solidFill>
              <a:srgbClr val="FF0000"/>
            </a:solidFill>
            <a:prstDash val="solid"/>
            <a:round/>
            <a:headEnd type="none" w="med" len="med"/>
            <a:tailEnd type="none" w="med" len="med"/>
          </a:ln>
        </p:spPr>
        <p:txBody>
          <a:bodyPr vert="horz" wrap="none" lIns="91440" tIns="45720" rIns="91440" bIns="45720" numCol="1" rtlCol="0" anchor="ctr" anchorCtr="0" compatLnSpc="1"/>
          <a:lstStyle/>
          <a:p>
            <a:pPr marL="0" marR="0" indent="0" algn="ctr" defTabSz="914400" rtl="0" eaLnBrk="1" fontAlgn="base" latinLnBrk="0" hangingPunct="1">
              <a:lnSpc>
                <a:spcPct val="100000"/>
              </a:lnSpc>
              <a:spcBef>
                <a:spcPct val="0"/>
              </a:spcBef>
              <a:spcAft>
                <a:spcPct val="0"/>
              </a:spcAft>
              <a:buClrTx/>
              <a:buSzTx/>
              <a:buFontTx/>
              <a:buNone/>
            </a:pPr>
            <a:endParaRPr kumimoji="1" lang="en-US" sz="1800" b="1" i="0" u="none" strike="noStrike" cap="none" normalizeH="0" baseline="0">
              <a:ln>
                <a:noFill/>
              </a:ln>
              <a:solidFill>
                <a:schemeClr val="tx1"/>
              </a:solidFill>
              <a:effectLst/>
              <a:latin typeface="Arial" panose="020B0604020202020204" pitchFamily="34" charset="0"/>
              <a:ea typeface="PMingLiU" panose="02020500000000000000" pitchFamily="18" charset="-120"/>
            </a:endParaRPr>
          </a:p>
        </p:txBody>
      </p:sp>
      <p:sp>
        <p:nvSpPr>
          <p:cNvPr id="11" name="Oval 10">
            <a:extLst>
              <a:ext uri="{FF2B5EF4-FFF2-40B4-BE49-F238E27FC236}">
                <a16:creationId xmlns:a16="http://schemas.microsoft.com/office/drawing/2014/main" id="{AAABCB26-03D1-4E43-82B5-F46DA8AF1ED2}"/>
              </a:ext>
            </a:extLst>
          </p:cNvPr>
          <p:cNvSpPr/>
          <p:nvPr/>
        </p:nvSpPr>
        <p:spPr bwMode="auto">
          <a:xfrm>
            <a:off x="2706914" y="2535463"/>
            <a:ext cx="1480457" cy="160222"/>
          </a:xfrm>
          <a:prstGeom prst="ellipse">
            <a:avLst/>
          </a:prstGeom>
          <a:noFill/>
          <a:ln w="15875" cap="flat" cmpd="sng" algn="ctr">
            <a:solidFill>
              <a:srgbClr val="FF0000"/>
            </a:solidFill>
            <a:prstDash val="solid"/>
            <a:round/>
            <a:headEnd type="none" w="med" len="med"/>
            <a:tailEnd type="none" w="med" len="med"/>
          </a:ln>
        </p:spPr>
        <p:txBody>
          <a:bodyPr vert="horz" wrap="none" lIns="91440" tIns="45720" rIns="91440" bIns="45720" numCol="1" rtlCol="0" anchor="ctr" anchorCtr="0" compatLnSpc="1"/>
          <a:lstStyle/>
          <a:p>
            <a:pPr marL="0" marR="0" indent="0" algn="ctr" defTabSz="914400" rtl="0" eaLnBrk="1" fontAlgn="base" latinLnBrk="0" hangingPunct="1">
              <a:lnSpc>
                <a:spcPct val="100000"/>
              </a:lnSpc>
              <a:spcBef>
                <a:spcPct val="0"/>
              </a:spcBef>
              <a:spcAft>
                <a:spcPct val="0"/>
              </a:spcAft>
              <a:buClrTx/>
              <a:buSzTx/>
              <a:buFontTx/>
              <a:buNone/>
            </a:pPr>
            <a:endParaRPr kumimoji="1" lang="en-US" sz="1800" b="1" i="0" u="none" strike="noStrike" cap="none" normalizeH="0" baseline="0">
              <a:ln>
                <a:noFill/>
              </a:ln>
              <a:solidFill>
                <a:schemeClr val="tx1"/>
              </a:solidFill>
              <a:effectLst/>
              <a:latin typeface="Arial" panose="020B0604020202020204" pitchFamily="34" charset="0"/>
              <a:ea typeface="PMingLiU" panose="02020500000000000000" pitchFamily="18" charset="-120"/>
            </a:endParaRPr>
          </a:p>
        </p:txBody>
      </p:sp>
    </p:spTree>
    <p:extLst>
      <p:ext uri="{BB962C8B-B14F-4D97-AF65-F5344CB8AC3E}">
        <p14:creationId xmlns:p14="http://schemas.microsoft.com/office/powerpoint/2010/main" val="337117685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11" grpId="0" animBg="1"/>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p:cNvSpPr>
            <a:spLocks noGrp="1"/>
          </p:cNvSpPr>
          <p:nvPr>
            <p:ph type="title"/>
          </p:nvPr>
        </p:nvSpPr>
        <p:spPr/>
        <p:txBody>
          <a:bodyPr/>
          <a:lstStyle/>
          <a:p>
            <a:r>
              <a:rPr lang="en-US" altLang="zh-CN" sz="3200" dirty="0"/>
              <a:t>LP64 won against ILP64.</a:t>
            </a:r>
          </a:p>
        </p:txBody>
      </p:sp>
      <p:sp>
        <p:nvSpPr>
          <p:cNvPr id="6" name="内容占位符 5"/>
          <p:cNvSpPr>
            <a:spLocks noGrp="1"/>
          </p:cNvSpPr>
          <p:nvPr>
            <p:ph idx="1"/>
          </p:nvPr>
        </p:nvSpPr>
        <p:spPr>
          <a:xfrm>
            <a:off x="134032" y="735805"/>
            <a:ext cx="8922881" cy="3879737"/>
          </a:xfrm>
        </p:spPr>
        <p:txBody>
          <a:bodyPr/>
          <a:lstStyle/>
          <a:p>
            <a:r>
              <a:rPr lang="en-US" altLang="zh-CN" sz="2000" dirty="0">
                <a:sym typeface="+mn-ea"/>
              </a:rPr>
              <a:t>Arguments for ILP64</a:t>
            </a:r>
          </a:p>
          <a:p>
            <a:pPr lvl="1"/>
            <a:r>
              <a:rPr lang="en-US" altLang="zh-CN" sz="1600" dirty="0">
                <a:sym typeface="+mn-ea"/>
              </a:rPr>
              <a:t>In 32-bit machines, integers and pointers have the same width, which allows programmers to store pointers in integer variables. If integers occupy 4 bytes and pointers require 8 bytes, porting old programs would be extremely challenging. Therefore, it is better to maintain the same size for both integers and pointers to avoid complications during porting.</a:t>
            </a:r>
          </a:p>
          <a:p>
            <a:r>
              <a:rPr lang="en-US" altLang="zh-CN" sz="2000" dirty="0">
                <a:sym typeface="+mn-ea"/>
              </a:rPr>
              <a:t>Arguments for LP64</a:t>
            </a:r>
          </a:p>
          <a:p>
            <a:pPr lvl="1"/>
            <a:r>
              <a:rPr lang="en-US" altLang="zh-CN" sz="1600" dirty="0">
                <a:sym typeface="+mn-ea"/>
              </a:rPr>
              <a:t>If integers are 8 bytes, the storage requirement doubles. For a large array of integers, this leads to a significant increase in memory usage, potentially resulting in more cache misses and requiring higher memory bandwidth. In the late 90’s, both memory and the bandwidth needed for memory operations were quite expensive.</a:t>
            </a:r>
          </a:p>
          <a:p>
            <a:r>
              <a:rPr lang="en-US" altLang="zh-CN" sz="1700" dirty="0">
                <a:sym typeface="+mn-ea"/>
              </a:rPr>
              <a:t>Initially, I was for ILP64, because when there is a tradeoff between performance and software portability, we always favor software portability. However, LP64 has another very strong argument: </a:t>
            </a:r>
            <a:r>
              <a:rPr lang="en-US" altLang="zh-CN" sz="1700" dirty="0">
                <a:solidFill>
                  <a:srgbClr val="FF0000"/>
                </a:solidFill>
                <a:sym typeface="+mn-ea"/>
              </a:rPr>
              <a:t>data portability </a:t>
            </a:r>
            <a:r>
              <a:rPr lang="en-US" altLang="zh-CN" sz="1700" dirty="0">
                <a:sym typeface="+mn-ea"/>
              </a:rPr>
              <a:t>– if some old data files were integers, can your ILP64 programs read them? Data files are more difficult to fix than source code. So, eventually, LP64 won.</a:t>
            </a:r>
          </a:p>
        </p:txBody>
      </p:sp>
      <p:sp>
        <p:nvSpPr>
          <p:cNvPr id="4" name="灯片编号占位符 3"/>
          <p:cNvSpPr>
            <a:spLocks noGrp="1"/>
          </p:cNvSpPr>
          <p:nvPr>
            <p:ph type="sldNum" sz="quarter" idx="10"/>
          </p:nvPr>
        </p:nvSpPr>
        <p:spPr/>
        <p:txBody>
          <a:bodyPr/>
          <a:lstStyle/>
          <a:p>
            <a:fld id="{D9B6BDF2-6896-4B98-8776-C18582F63BA5}" type="slidenum">
              <a:rPr lang="zh-TW" altLang="en-US" smtClean="0"/>
              <a:t>14</a:t>
            </a:fld>
            <a:endParaRPr lang="zh-TW" altLang="en-US"/>
          </a:p>
        </p:txBody>
      </p:sp>
    </p:spTree>
    <p:extLst>
      <p:ext uri="{BB962C8B-B14F-4D97-AF65-F5344CB8AC3E}">
        <p14:creationId xmlns:p14="http://schemas.microsoft.com/office/powerpoint/2010/main" val="277991312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p:cNvSpPr>
            <a:spLocks noGrp="1"/>
          </p:cNvSpPr>
          <p:nvPr>
            <p:ph type="title"/>
          </p:nvPr>
        </p:nvSpPr>
        <p:spPr/>
        <p:txBody>
          <a:bodyPr/>
          <a:lstStyle/>
          <a:p>
            <a:r>
              <a:rPr lang="en-US" altLang="zh-CN" sz="3200" dirty="0"/>
              <a:t>2.1.3 Addressing and Byte Ordering </a:t>
            </a:r>
          </a:p>
        </p:txBody>
      </p:sp>
      <p:sp>
        <p:nvSpPr>
          <p:cNvPr id="6" name="内容占位符 5"/>
          <p:cNvSpPr>
            <a:spLocks noGrp="1"/>
          </p:cNvSpPr>
          <p:nvPr>
            <p:ph idx="1"/>
          </p:nvPr>
        </p:nvSpPr>
        <p:spPr>
          <a:xfrm>
            <a:off x="110559" y="786634"/>
            <a:ext cx="8922881" cy="3879737"/>
          </a:xfrm>
        </p:spPr>
        <p:txBody>
          <a:bodyPr/>
          <a:lstStyle/>
          <a:p>
            <a:pPr algn="l"/>
            <a:r>
              <a:rPr lang="en-US" sz="1800" dirty="0">
                <a:latin typeface="TimesTen-Roman"/>
              </a:rPr>
              <a:t>A</a:t>
            </a:r>
            <a:r>
              <a:rPr lang="en-US" sz="1800" b="0" i="0" u="none" strike="noStrike" baseline="0" dirty="0">
                <a:latin typeface="TimesTen-Roman"/>
              </a:rPr>
              <a:t> multi-byte object is stored as a contiguous sequence of bytes, with the address of the object given by the smallest address of the bytes used.</a:t>
            </a:r>
          </a:p>
          <a:p>
            <a:pPr algn="l"/>
            <a:r>
              <a:rPr lang="en-US" altLang="zh-CN" sz="1800" dirty="0">
                <a:latin typeface="TimesTen-Roman"/>
                <a:sym typeface="+mn-ea"/>
              </a:rPr>
              <a:t>Example:</a:t>
            </a:r>
          </a:p>
          <a:p>
            <a:pPr marL="0" indent="0" algn="l">
              <a:buNone/>
            </a:pPr>
            <a:r>
              <a:rPr lang="en-US" sz="1400" b="0" i="0" u="none" strike="noStrike" baseline="0" dirty="0">
                <a:latin typeface="TimesTen-Roman"/>
              </a:rPr>
              <a:t>	A variable </a:t>
            </a:r>
            <a:r>
              <a:rPr lang="en-US" sz="1400" dirty="0">
                <a:latin typeface="ZztexMono-Regular"/>
              </a:rPr>
              <a:t>X</a:t>
            </a:r>
            <a:r>
              <a:rPr lang="en-US" sz="1400" b="0" i="0" u="none" strike="noStrike" baseline="0" dirty="0">
                <a:latin typeface="ZztexMono-Regular"/>
              </a:rPr>
              <a:t> </a:t>
            </a:r>
            <a:r>
              <a:rPr lang="en-US" sz="1400" b="0" i="0" u="none" strike="noStrike" baseline="0" dirty="0">
                <a:latin typeface="TimesTen-Roman"/>
              </a:rPr>
              <a:t>of type </a:t>
            </a:r>
            <a:r>
              <a:rPr lang="en-US" sz="1400" b="0" i="0" u="none" strike="noStrike" baseline="0" dirty="0">
                <a:latin typeface="ZztexMono-Regular"/>
              </a:rPr>
              <a:t>int </a:t>
            </a:r>
            <a:r>
              <a:rPr lang="en-US" sz="1400" b="0" i="0" u="none" strike="noStrike" baseline="0" dirty="0">
                <a:latin typeface="TimesTen-Roman"/>
              </a:rPr>
              <a:t>has address </a:t>
            </a:r>
            <a:r>
              <a:rPr lang="en-US" sz="1400" b="0" i="0" u="none" strike="noStrike" baseline="0" dirty="0">
                <a:latin typeface="ZztexMono-Regular"/>
              </a:rPr>
              <a:t>0x100</a:t>
            </a:r>
            <a:r>
              <a:rPr lang="en-US" sz="1400" b="0" i="0" u="none" strike="noStrike" baseline="0" dirty="0">
                <a:latin typeface="TimesTen-Roman"/>
              </a:rPr>
              <a:t>; Then the 4 bytes of </a:t>
            </a:r>
            <a:r>
              <a:rPr lang="en-US" sz="1400" dirty="0">
                <a:latin typeface="ZztexMono-Regular"/>
              </a:rPr>
              <a:t>X</a:t>
            </a:r>
            <a:r>
              <a:rPr lang="en-US" sz="1400" b="0" i="0" u="none" strike="noStrike" baseline="0" dirty="0">
                <a:latin typeface="ZztexMono-Regular"/>
              </a:rPr>
              <a:t> </a:t>
            </a:r>
            <a:r>
              <a:rPr lang="en-US" sz="1400" b="0" i="0" u="none" strike="noStrike" baseline="0" dirty="0">
                <a:latin typeface="TimesTen-Roman"/>
              </a:rPr>
              <a:t>would be stored in memory </a:t>
            </a:r>
          </a:p>
          <a:p>
            <a:pPr marL="0" indent="0" algn="l">
              <a:buNone/>
            </a:pPr>
            <a:r>
              <a:rPr lang="en-US" sz="1400" dirty="0">
                <a:latin typeface="TimesTen-Roman"/>
              </a:rPr>
              <a:t>	</a:t>
            </a:r>
            <a:r>
              <a:rPr lang="en-US" sz="1400" b="0" i="0" u="none" strike="noStrike" baseline="0" dirty="0">
                <a:latin typeface="TimesTen-Roman"/>
              </a:rPr>
              <a:t>locations </a:t>
            </a:r>
            <a:r>
              <a:rPr lang="en-US" sz="1600" b="0" i="0" u="none" strike="noStrike" baseline="0" dirty="0">
                <a:latin typeface="ZztexMono-Regular"/>
              </a:rPr>
              <a:t>0x100</a:t>
            </a:r>
            <a:r>
              <a:rPr lang="en-US" sz="1600" b="0" i="0" u="none" strike="noStrike" baseline="0" dirty="0">
                <a:latin typeface="TimesTen-Roman"/>
              </a:rPr>
              <a:t>, </a:t>
            </a:r>
            <a:r>
              <a:rPr lang="en-US" sz="1600" b="0" i="0" u="none" strike="noStrike" baseline="0" dirty="0">
                <a:latin typeface="ZztexMono-Regular"/>
              </a:rPr>
              <a:t>0x101</a:t>
            </a:r>
            <a:r>
              <a:rPr lang="en-US" sz="1600" b="0" i="0" u="none" strike="noStrike" baseline="0" dirty="0">
                <a:latin typeface="TimesTen-Roman"/>
              </a:rPr>
              <a:t>, </a:t>
            </a:r>
            <a:r>
              <a:rPr lang="en-US" sz="1600" b="0" i="0" u="none" strike="noStrike" baseline="0" dirty="0">
                <a:latin typeface="ZztexMono-Regular"/>
              </a:rPr>
              <a:t>0x102</a:t>
            </a:r>
            <a:r>
              <a:rPr lang="en-US" sz="1600" b="0" i="0" u="none" strike="noStrike" baseline="0" dirty="0">
                <a:latin typeface="TimesTen-Roman"/>
              </a:rPr>
              <a:t>, and </a:t>
            </a:r>
            <a:r>
              <a:rPr lang="en-US" sz="1600" b="0" i="0" u="none" strike="noStrike" baseline="0" dirty="0">
                <a:latin typeface="ZztexMono-Regular"/>
              </a:rPr>
              <a:t>0x103</a:t>
            </a:r>
          </a:p>
          <a:p>
            <a:pPr marL="0" indent="0" algn="l">
              <a:buNone/>
            </a:pPr>
            <a:r>
              <a:rPr lang="en-US" altLang="zh-CN" sz="1600" dirty="0">
                <a:latin typeface="ZztexMono-Regular"/>
                <a:sym typeface="+mn-ea"/>
              </a:rPr>
              <a:t>	Suppose the hexadecimal value of this integer X is 0x01234567</a:t>
            </a:r>
            <a:endParaRPr lang="en-US" altLang="zh-CN" sz="1600" dirty="0">
              <a:sym typeface="+mn-ea"/>
            </a:endParaRPr>
          </a:p>
        </p:txBody>
      </p:sp>
      <p:sp>
        <p:nvSpPr>
          <p:cNvPr id="4" name="灯片编号占位符 3"/>
          <p:cNvSpPr>
            <a:spLocks noGrp="1"/>
          </p:cNvSpPr>
          <p:nvPr>
            <p:ph type="sldNum" sz="quarter" idx="10"/>
          </p:nvPr>
        </p:nvSpPr>
        <p:spPr/>
        <p:txBody>
          <a:bodyPr/>
          <a:lstStyle/>
          <a:p>
            <a:fld id="{D9B6BDF2-6896-4B98-8776-C18582F63BA5}" type="slidenum">
              <a:rPr lang="zh-TW" altLang="en-US" smtClean="0"/>
              <a:t>15</a:t>
            </a:fld>
            <a:endParaRPr lang="zh-TW" altLang="en-US"/>
          </a:p>
        </p:txBody>
      </p:sp>
      <p:sp>
        <p:nvSpPr>
          <p:cNvPr id="3" name="TextBox 2">
            <a:extLst>
              <a:ext uri="{FF2B5EF4-FFF2-40B4-BE49-F238E27FC236}">
                <a16:creationId xmlns:a16="http://schemas.microsoft.com/office/drawing/2014/main" id="{DF5621A8-04CB-4F7F-9A6C-92F9BB302F16}"/>
              </a:ext>
            </a:extLst>
          </p:cNvPr>
          <p:cNvSpPr txBox="1"/>
          <p:nvPr/>
        </p:nvSpPr>
        <p:spPr>
          <a:xfrm>
            <a:off x="3200400" y="3255219"/>
            <a:ext cx="440048" cy="369332"/>
          </a:xfrm>
          <a:prstGeom prst="rect">
            <a:avLst/>
          </a:prstGeom>
          <a:solidFill>
            <a:srgbClr val="FFFF00"/>
          </a:solidFill>
          <a:ln>
            <a:solidFill>
              <a:srgbClr val="FF0000"/>
            </a:solidFill>
          </a:ln>
        </p:spPr>
        <p:txBody>
          <a:bodyPr wrap="square" rtlCol="0" anchor="ctr" anchorCtr="1">
            <a:spAutoFit/>
          </a:bodyPr>
          <a:lstStyle/>
          <a:p>
            <a:r>
              <a:rPr lang="en-US" dirty="0">
                <a:ea typeface="標楷體" pitchFamily="65" charset="-120"/>
                <a:cs typeface="Calibri" panose="020F0502020204030204" pitchFamily="34" charset="0"/>
              </a:rPr>
              <a:t>01</a:t>
            </a:r>
          </a:p>
        </p:txBody>
      </p:sp>
      <p:sp>
        <p:nvSpPr>
          <p:cNvPr id="7" name="TextBox 6">
            <a:extLst>
              <a:ext uri="{FF2B5EF4-FFF2-40B4-BE49-F238E27FC236}">
                <a16:creationId xmlns:a16="http://schemas.microsoft.com/office/drawing/2014/main" id="{A8D1A7A6-1BAA-429C-BF90-AC7C11626B02}"/>
              </a:ext>
            </a:extLst>
          </p:cNvPr>
          <p:cNvSpPr txBox="1"/>
          <p:nvPr/>
        </p:nvSpPr>
        <p:spPr>
          <a:xfrm>
            <a:off x="3641546" y="3255219"/>
            <a:ext cx="440048" cy="369332"/>
          </a:xfrm>
          <a:prstGeom prst="rect">
            <a:avLst/>
          </a:prstGeom>
          <a:solidFill>
            <a:srgbClr val="FFFF00"/>
          </a:solidFill>
          <a:ln>
            <a:solidFill>
              <a:srgbClr val="FF0000"/>
            </a:solidFill>
          </a:ln>
        </p:spPr>
        <p:txBody>
          <a:bodyPr wrap="square" rtlCol="0" anchor="ctr" anchorCtr="1">
            <a:spAutoFit/>
          </a:bodyPr>
          <a:lstStyle/>
          <a:p>
            <a:r>
              <a:rPr lang="en-US" dirty="0">
                <a:ea typeface="標楷體" pitchFamily="65" charset="-120"/>
                <a:cs typeface="Calibri" panose="020F0502020204030204" pitchFamily="34" charset="0"/>
              </a:rPr>
              <a:t>23</a:t>
            </a:r>
          </a:p>
        </p:txBody>
      </p:sp>
      <p:sp>
        <p:nvSpPr>
          <p:cNvPr id="8" name="TextBox 7">
            <a:extLst>
              <a:ext uri="{FF2B5EF4-FFF2-40B4-BE49-F238E27FC236}">
                <a16:creationId xmlns:a16="http://schemas.microsoft.com/office/drawing/2014/main" id="{37D35523-D68F-4AC4-9EC1-5A709D35E383}"/>
              </a:ext>
            </a:extLst>
          </p:cNvPr>
          <p:cNvSpPr txBox="1"/>
          <p:nvPr/>
        </p:nvSpPr>
        <p:spPr>
          <a:xfrm>
            <a:off x="4082692" y="3255219"/>
            <a:ext cx="440048" cy="369332"/>
          </a:xfrm>
          <a:prstGeom prst="rect">
            <a:avLst/>
          </a:prstGeom>
          <a:solidFill>
            <a:srgbClr val="FFFF00"/>
          </a:solidFill>
          <a:ln>
            <a:solidFill>
              <a:srgbClr val="FF0000"/>
            </a:solidFill>
          </a:ln>
        </p:spPr>
        <p:txBody>
          <a:bodyPr wrap="square" rtlCol="0" anchor="ctr" anchorCtr="1">
            <a:spAutoFit/>
          </a:bodyPr>
          <a:lstStyle/>
          <a:p>
            <a:r>
              <a:rPr lang="en-US" dirty="0">
                <a:ea typeface="標楷體" pitchFamily="65" charset="-120"/>
                <a:cs typeface="Calibri" panose="020F0502020204030204" pitchFamily="34" charset="0"/>
              </a:rPr>
              <a:t>45</a:t>
            </a:r>
          </a:p>
        </p:txBody>
      </p:sp>
      <p:sp>
        <p:nvSpPr>
          <p:cNvPr id="9" name="TextBox 8">
            <a:extLst>
              <a:ext uri="{FF2B5EF4-FFF2-40B4-BE49-F238E27FC236}">
                <a16:creationId xmlns:a16="http://schemas.microsoft.com/office/drawing/2014/main" id="{7E4422DB-F5B5-4516-AD4B-5417F5585FF5}"/>
              </a:ext>
            </a:extLst>
          </p:cNvPr>
          <p:cNvSpPr txBox="1"/>
          <p:nvPr/>
        </p:nvSpPr>
        <p:spPr>
          <a:xfrm>
            <a:off x="4523838" y="3255219"/>
            <a:ext cx="440048" cy="369332"/>
          </a:xfrm>
          <a:prstGeom prst="rect">
            <a:avLst/>
          </a:prstGeom>
          <a:solidFill>
            <a:srgbClr val="FFFF00"/>
          </a:solidFill>
          <a:ln>
            <a:solidFill>
              <a:srgbClr val="FF0000"/>
            </a:solidFill>
          </a:ln>
        </p:spPr>
        <p:txBody>
          <a:bodyPr wrap="square" rtlCol="0" anchor="ctr" anchorCtr="1">
            <a:spAutoFit/>
          </a:bodyPr>
          <a:lstStyle/>
          <a:p>
            <a:r>
              <a:rPr lang="en-US" dirty="0">
                <a:ea typeface="標楷體" pitchFamily="65" charset="-120"/>
                <a:cs typeface="Calibri" panose="020F0502020204030204" pitchFamily="34" charset="0"/>
              </a:rPr>
              <a:t>67</a:t>
            </a:r>
          </a:p>
        </p:txBody>
      </p:sp>
      <p:sp>
        <p:nvSpPr>
          <p:cNvPr id="10" name="TextBox 9">
            <a:extLst>
              <a:ext uri="{FF2B5EF4-FFF2-40B4-BE49-F238E27FC236}">
                <a16:creationId xmlns:a16="http://schemas.microsoft.com/office/drawing/2014/main" id="{F5C1C866-8943-440B-9DA1-713BA976484D}"/>
              </a:ext>
            </a:extLst>
          </p:cNvPr>
          <p:cNvSpPr txBox="1"/>
          <p:nvPr/>
        </p:nvSpPr>
        <p:spPr>
          <a:xfrm>
            <a:off x="2489200" y="3222170"/>
            <a:ext cx="646331" cy="369332"/>
          </a:xfrm>
          <a:prstGeom prst="rect">
            <a:avLst/>
          </a:prstGeom>
          <a:noFill/>
        </p:spPr>
        <p:txBody>
          <a:bodyPr wrap="none" rtlCol="0" anchor="ctr" anchorCtr="1">
            <a:spAutoFit/>
          </a:bodyPr>
          <a:lstStyle/>
          <a:p>
            <a:r>
              <a:rPr lang="en-US" dirty="0">
                <a:ea typeface="標楷體" pitchFamily="65" charset="-120"/>
                <a:cs typeface="Calibri" panose="020F0502020204030204" pitchFamily="34" charset="0"/>
              </a:rPr>
              <a:t>……</a:t>
            </a:r>
          </a:p>
        </p:txBody>
      </p:sp>
      <p:sp>
        <p:nvSpPr>
          <p:cNvPr id="11" name="TextBox 10">
            <a:extLst>
              <a:ext uri="{FF2B5EF4-FFF2-40B4-BE49-F238E27FC236}">
                <a16:creationId xmlns:a16="http://schemas.microsoft.com/office/drawing/2014/main" id="{98C017C5-9B1D-4B7C-BB37-B21C64293D10}"/>
              </a:ext>
            </a:extLst>
          </p:cNvPr>
          <p:cNvSpPr txBox="1"/>
          <p:nvPr/>
        </p:nvSpPr>
        <p:spPr>
          <a:xfrm>
            <a:off x="4977852" y="3164113"/>
            <a:ext cx="646331" cy="369332"/>
          </a:xfrm>
          <a:prstGeom prst="rect">
            <a:avLst/>
          </a:prstGeom>
          <a:noFill/>
        </p:spPr>
        <p:txBody>
          <a:bodyPr wrap="none" rtlCol="0" anchor="ctr" anchorCtr="1">
            <a:spAutoFit/>
          </a:bodyPr>
          <a:lstStyle/>
          <a:p>
            <a:r>
              <a:rPr lang="en-US" dirty="0">
                <a:ea typeface="標楷體" pitchFamily="65" charset="-120"/>
                <a:cs typeface="Calibri" panose="020F0502020204030204" pitchFamily="34" charset="0"/>
              </a:rPr>
              <a:t>……</a:t>
            </a:r>
          </a:p>
        </p:txBody>
      </p:sp>
      <p:sp>
        <p:nvSpPr>
          <p:cNvPr id="12" name="TextBox 11">
            <a:extLst>
              <a:ext uri="{FF2B5EF4-FFF2-40B4-BE49-F238E27FC236}">
                <a16:creationId xmlns:a16="http://schemas.microsoft.com/office/drawing/2014/main" id="{910F75D0-3C0C-40BA-AFF6-F897A95757A2}"/>
              </a:ext>
            </a:extLst>
          </p:cNvPr>
          <p:cNvSpPr txBox="1"/>
          <p:nvPr/>
        </p:nvSpPr>
        <p:spPr>
          <a:xfrm>
            <a:off x="3249660" y="4038363"/>
            <a:ext cx="440048" cy="369332"/>
          </a:xfrm>
          <a:prstGeom prst="rect">
            <a:avLst/>
          </a:prstGeom>
          <a:solidFill>
            <a:srgbClr val="FFFF00"/>
          </a:solidFill>
          <a:ln>
            <a:solidFill>
              <a:srgbClr val="FF0000"/>
            </a:solidFill>
          </a:ln>
        </p:spPr>
        <p:txBody>
          <a:bodyPr wrap="square" rtlCol="0" anchor="ctr" anchorCtr="1">
            <a:spAutoFit/>
          </a:bodyPr>
          <a:lstStyle/>
          <a:p>
            <a:r>
              <a:rPr lang="en-US" dirty="0">
                <a:ea typeface="標楷體" pitchFamily="65" charset="-120"/>
                <a:cs typeface="Calibri" panose="020F0502020204030204" pitchFamily="34" charset="0"/>
              </a:rPr>
              <a:t>67</a:t>
            </a:r>
          </a:p>
        </p:txBody>
      </p:sp>
      <p:sp>
        <p:nvSpPr>
          <p:cNvPr id="13" name="TextBox 12">
            <a:extLst>
              <a:ext uri="{FF2B5EF4-FFF2-40B4-BE49-F238E27FC236}">
                <a16:creationId xmlns:a16="http://schemas.microsoft.com/office/drawing/2014/main" id="{814C0751-DA1E-4AAF-9F15-F66688484770}"/>
              </a:ext>
            </a:extLst>
          </p:cNvPr>
          <p:cNvSpPr txBox="1"/>
          <p:nvPr/>
        </p:nvSpPr>
        <p:spPr>
          <a:xfrm>
            <a:off x="3690806" y="4038363"/>
            <a:ext cx="440048" cy="369332"/>
          </a:xfrm>
          <a:prstGeom prst="rect">
            <a:avLst/>
          </a:prstGeom>
          <a:solidFill>
            <a:srgbClr val="FFFF00"/>
          </a:solidFill>
          <a:ln>
            <a:solidFill>
              <a:srgbClr val="FF0000"/>
            </a:solidFill>
          </a:ln>
        </p:spPr>
        <p:txBody>
          <a:bodyPr wrap="square" rtlCol="0" anchor="ctr" anchorCtr="1">
            <a:spAutoFit/>
          </a:bodyPr>
          <a:lstStyle/>
          <a:p>
            <a:r>
              <a:rPr lang="en-US" dirty="0">
                <a:ea typeface="標楷體" pitchFamily="65" charset="-120"/>
                <a:cs typeface="Calibri" panose="020F0502020204030204" pitchFamily="34" charset="0"/>
              </a:rPr>
              <a:t>45</a:t>
            </a:r>
          </a:p>
        </p:txBody>
      </p:sp>
      <p:sp>
        <p:nvSpPr>
          <p:cNvPr id="14" name="TextBox 13">
            <a:extLst>
              <a:ext uri="{FF2B5EF4-FFF2-40B4-BE49-F238E27FC236}">
                <a16:creationId xmlns:a16="http://schemas.microsoft.com/office/drawing/2014/main" id="{334B2564-7D08-4A42-92D9-028D7CE28DA9}"/>
              </a:ext>
            </a:extLst>
          </p:cNvPr>
          <p:cNvSpPr txBox="1"/>
          <p:nvPr/>
        </p:nvSpPr>
        <p:spPr>
          <a:xfrm>
            <a:off x="4131952" y="4038363"/>
            <a:ext cx="440048" cy="369332"/>
          </a:xfrm>
          <a:prstGeom prst="rect">
            <a:avLst/>
          </a:prstGeom>
          <a:solidFill>
            <a:srgbClr val="FFFF00"/>
          </a:solidFill>
          <a:ln>
            <a:solidFill>
              <a:srgbClr val="FF0000"/>
            </a:solidFill>
          </a:ln>
        </p:spPr>
        <p:txBody>
          <a:bodyPr wrap="square" rtlCol="0" anchor="ctr" anchorCtr="1">
            <a:spAutoFit/>
          </a:bodyPr>
          <a:lstStyle/>
          <a:p>
            <a:r>
              <a:rPr lang="en-US" dirty="0">
                <a:ea typeface="標楷體" pitchFamily="65" charset="-120"/>
                <a:cs typeface="Calibri" panose="020F0502020204030204" pitchFamily="34" charset="0"/>
              </a:rPr>
              <a:t>23</a:t>
            </a:r>
          </a:p>
        </p:txBody>
      </p:sp>
      <p:sp>
        <p:nvSpPr>
          <p:cNvPr id="15" name="TextBox 14">
            <a:extLst>
              <a:ext uri="{FF2B5EF4-FFF2-40B4-BE49-F238E27FC236}">
                <a16:creationId xmlns:a16="http://schemas.microsoft.com/office/drawing/2014/main" id="{BFAAD808-4E6A-4F00-93D5-4099AD4C85A9}"/>
              </a:ext>
            </a:extLst>
          </p:cNvPr>
          <p:cNvSpPr txBox="1"/>
          <p:nvPr/>
        </p:nvSpPr>
        <p:spPr>
          <a:xfrm>
            <a:off x="4573098" y="4038363"/>
            <a:ext cx="440048" cy="369332"/>
          </a:xfrm>
          <a:prstGeom prst="rect">
            <a:avLst/>
          </a:prstGeom>
          <a:solidFill>
            <a:srgbClr val="FFFF00"/>
          </a:solidFill>
          <a:ln>
            <a:solidFill>
              <a:srgbClr val="FF0000"/>
            </a:solidFill>
          </a:ln>
        </p:spPr>
        <p:txBody>
          <a:bodyPr wrap="square" rtlCol="0" anchor="ctr" anchorCtr="1">
            <a:spAutoFit/>
          </a:bodyPr>
          <a:lstStyle/>
          <a:p>
            <a:r>
              <a:rPr lang="en-US" dirty="0">
                <a:ea typeface="標楷體" pitchFamily="65" charset="-120"/>
                <a:cs typeface="Calibri" panose="020F0502020204030204" pitchFamily="34" charset="0"/>
              </a:rPr>
              <a:t>01</a:t>
            </a:r>
          </a:p>
        </p:txBody>
      </p:sp>
      <p:sp>
        <p:nvSpPr>
          <p:cNvPr id="16" name="TextBox 15">
            <a:extLst>
              <a:ext uri="{FF2B5EF4-FFF2-40B4-BE49-F238E27FC236}">
                <a16:creationId xmlns:a16="http://schemas.microsoft.com/office/drawing/2014/main" id="{E02059EA-43FB-49CC-BA69-2EA2AB365A47}"/>
              </a:ext>
            </a:extLst>
          </p:cNvPr>
          <p:cNvSpPr txBox="1"/>
          <p:nvPr/>
        </p:nvSpPr>
        <p:spPr>
          <a:xfrm>
            <a:off x="2538460" y="4005314"/>
            <a:ext cx="646331" cy="369332"/>
          </a:xfrm>
          <a:prstGeom prst="rect">
            <a:avLst/>
          </a:prstGeom>
          <a:noFill/>
        </p:spPr>
        <p:txBody>
          <a:bodyPr wrap="none" rtlCol="0" anchor="ctr" anchorCtr="1">
            <a:spAutoFit/>
          </a:bodyPr>
          <a:lstStyle/>
          <a:p>
            <a:r>
              <a:rPr lang="en-US" dirty="0">
                <a:ea typeface="標楷體" pitchFamily="65" charset="-120"/>
                <a:cs typeface="Calibri" panose="020F0502020204030204" pitchFamily="34" charset="0"/>
              </a:rPr>
              <a:t>……</a:t>
            </a:r>
          </a:p>
        </p:txBody>
      </p:sp>
      <p:sp>
        <p:nvSpPr>
          <p:cNvPr id="17" name="TextBox 16">
            <a:extLst>
              <a:ext uri="{FF2B5EF4-FFF2-40B4-BE49-F238E27FC236}">
                <a16:creationId xmlns:a16="http://schemas.microsoft.com/office/drawing/2014/main" id="{3F11A5A7-3488-412F-B6B1-A2CB292942B1}"/>
              </a:ext>
            </a:extLst>
          </p:cNvPr>
          <p:cNvSpPr txBox="1"/>
          <p:nvPr/>
        </p:nvSpPr>
        <p:spPr>
          <a:xfrm>
            <a:off x="5027112" y="3947257"/>
            <a:ext cx="646331" cy="369332"/>
          </a:xfrm>
          <a:prstGeom prst="rect">
            <a:avLst/>
          </a:prstGeom>
          <a:noFill/>
        </p:spPr>
        <p:txBody>
          <a:bodyPr wrap="none" rtlCol="0" anchor="ctr" anchorCtr="1">
            <a:spAutoFit/>
          </a:bodyPr>
          <a:lstStyle/>
          <a:p>
            <a:r>
              <a:rPr lang="en-US" dirty="0">
                <a:ea typeface="標楷體" pitchFamily="65" charset="-120"/>
                <a:cs typeface="Calibri" panose="020F0502020204030204" pitchFamily="34" charset="0"/>
              </a:rPr>
              <a:t>……</a:t>
            </a:r>
          </a:p>
        </p:txBody>
      </p:sp>
      <p:sp>
        <p:nvSpPr>
          <p:cNvPr id="18" name="TextBox 17">
            <a:extLst>
              <a:ext uri="{FF2B5EF4-FFF2-40B4-BE49-F238E27FC236}">
                <a16:creationId xmlns:a16="http://schemas.microsoft.com/office/drawing/2014/main" id="{C44E6865-28BD-4AD6-BA5F-8D5C245A6AD7}"/>
              </a:ext>
            </a:extLst>
          </p:cNvPr>
          <p:cNvSpPr txBox="1"/>
          <p:nvPr/>
        </p:nvSpPr>
        <p:spPr>
          <a:xfrm>
            <a:off x="2082799" y="2600379"/>
            <a:ext cx="4412234" cy="369332"/>
          </a:xfrm>
          <a:prstGeom prst="rect">
            <a:avLst/>
          </a:prstGeom>
          <a:noFill/>
        </p:spPr>
        <p:txBody>
          <a:bodyPr wrap="none" rtlCol="0" anchor="ctr" anchorCtr="1">
            <a:spAutoFit/>
          </a:bodyPr>
          <a:lstStyle/>
          <a:p>
            <a:r>
              <a:rPr lang="en-US" dirty="0">
                <a:ea typeface="標楷體" pitchFamily="65" charset="-120"/>
                <a:cs typeface="Calibri" panose="020F0502020204030204" pitchFamily="34" charset="0"/>
              </a:rPr>
              <a:t>00000001 00100011 01000101 01100111</a:t>
            </a:r>
          </a:p>
        </p:txBody>
      </p:sp>
      <p:sp>
        <p:nvSpPr>
          <p:cNvPr id="19" name="TextBox 18">
            <a:extLst>
              <a:ext uri="{FF2B5EF4-FFF2-40B4-BE49-F238E27FC236}">
                <a16:creationId xmlns:a16="http://schemas.microsoft.com/office/drawing/2014/main" id="{FD27D7AE-9488-461A-B578-1C314509781E}"/>
              </a:ext>
            </a:extLst>
          </p:cNvPr>
          <p:cNvSpPr txBox="1"/>
          <p:nvPr/>
        </p:nvSpPr>
        <p:spPr>
          <a:xfrm>
            <a:off x="2958432" y="3056391"/>
            <a:ext cx="639919" cy="292388"/>
          </a:xfrm>
          <a:prstGeom prst="rect">
            <a:avLst/>
          </a:prstGeom>
          <a:noFill/>
        </p:spPr>
        <p:txBody>
          <a:bodyPr wrap="none" rtlCol="0" anchor="ctr" anchorCtr="1">
            <a:spAutoFit/>
          </a:bodyPr>
          <a:lstStyle/>
          <a:p>
            <a:r>
              <a:rPr lang="en-US" sz="1300" dirty="0">
                <a:ea typeface="標楷體" pitchFamily="65" charset="-120"/>
                <a:cs typeface="Calibri" panose="020F0502020204030204" pitchFamily="34" charset="0"/>
              </a:rPr>
              <a:t>0x100</a:t>
            </a:r>
          </a:p>
        </p:txBody>
      </p:sp>
      <p:sp>
        <p:nvSpPr>
          <p:cNvPr id="20" name="TextBox 19">
            <a:extLst>
              <a:ext uri="{FF2B5EF4-FFF2-40B4-BE49-F238E27FC236}">
                <a16:creationId xmlns:a16="http://schemas.microsoft.com/office/drawing/2014/main" id="{A34B4DBC-578D-4C5B-8316-81F6C7FB4453}"/>
              </a:ext>
            </a:extLst>
          </p:cNvPr>
          <p:cNvSpPr txBox="1"/>
          <p:nvPr/>
        </p:nvSpPr>
        <p:spPr>
          <a:xfrm>
            <a:off x="3491705" y="3075976"/>
            <a:ext cx="639919" cy="292388"/>
          </a:xfrm>
          <a:prstGeom prst="rect">
            <a:avLst/>
          </a:prstGeom>
          <a:noFill/>
        </p:spPr>
        <p:txBody>
          <a:bodyPr wrap="none" rtlCol="0" anchor="ctr" anchorCtr="1">
            <a:spAutoFit/>
          </a:bodyPr>
          <a:lstStyle/>
          <a:p>
            <a:r>
              <a:rPr lang="en-US" sz="1300" dirty="0">
                <a:ea typeface="標楷體" pitchFamily="65" charset="-120"/>
                <a:cs typeface="Calibri" panose="020F0502020204030204" pitchFamily="34" charset="0"/>
              </a:rPr>
              <a:t>0x101</a:t>
            </a:r>
          </a:p>
        </p:txBody>
      </p:sp>
      <p:sp>
        <p:nvSpPr>
          <p:cNvPr id="21" name="TextBox 20">
            <a:extLst>
              <a:ext uri="{FF2B5EF4-FFF2-40B4-BE49-F238E27FC236}">
                <a16:creationId xmlns:a16="http://schemas.microsoft.com/office/drawing/2014/main" id="{BE68D5A3-76ED-4802-AF0F-590DE2BBC0B0}"/>
              </a:ext>
            </a:extLst>
          </p:cNvPr>
          <p:cNvSpPr txBox="1"/>
          <p:nvPr/>
        </p:nvSpPr>
        <p:spPr>
          <a:xfrm>
            <a:off x="3989814" y="3068747"/>
            <a:ext cx="639919" cy="292388"/>
          </a:xfrm>
          <a:prstGeom prst="rect">
            <a:avLst/>
          </a:prstGeom>
          <a:noFill/>
        </p:spPr>
        <p:txBody>
          <a:bodyPr wrap="none" rtlCol="0" anchor="ctr" anchorCtr="1">
            <a:spAutoFit/>
          </a:bodyPr>
          <a:lstStyle/>
          <a:p>
            <a:r>
              <a:rPr lang="en-US" sz="1300" dirty="0">
                <a:ea typeface="標楷體" pitchFamily="65" charset="-120"/>
                <a:cs typeface="Calibri" panose="020F0502020204030204" pitchFamily="34" charset="0"/>
              </a:rPr>
              <a:t>0x102</a:t>
            </a:r>
          </a:p>
        </p:txBody>
      </p:sp>
      <p:sp>
        <p:nvSpPr>
          <p:cNvPr id="22" name="TextBox 21">
            <a:extLst>
              <a:ext uri="{FF2B5EF4-FFF2-40B4-BE49-F238E27FC236}">
                <a16:creationId xmlns:a16="http://schemas.microsoft.com/office/drawing/2014/main" id="{AEF330AF-2457-444C-8209-A780B58C697E}"/>
              </a:ext>
            </a:extLst>
          </p:cNvPr>
          <p:cNvSpPr txBox="1"/>
          <p:nvPr/>
        </p:nvSpPr>
        <p:spPr>
          <a:xfrm>
            <a:off x="4495055" y="3051079"/>
            <a:ext cx="639919" cy="292388"/>
          </a:xfrm>
          <a:prstGeom prst="rect">
            <a:avLst/>
          </a:prstGeom>
          <a:noFill/>
        </p:spPr>
        <p:txBody>
          <a:bodyPr wrap="none" rtlCol="0" anchor="ctr" anchorCtr="1">
            <a:spAutoFit/>
          </a:bodyPr>
          <a:lstStyle/>
          <a:p>
            <a:r>
              <a:rPr lang="en-US" sz="1300" dirty="0">
                <a:ea typeface="標楷體" pitchFamily="65" charset="-120"/>
                <a:cs typeface="Calibri" panose="020F0502020204030204" pitchFamily="34" charset="0"/>
              </a:rPr>
              <a:t>0x103</a:t>
            </a:r>
          </a:p>
        </p:txBody>
      </p:sp>
      <p:sp>
        <p:nvSpPr>
          <p:cNvPr id="23" name="TextBox 22">
            <a:extLst>
              <a:ext uri="{FF2B5EF4-FFF2-40B4-BE49-F238E27FC236}">
                <a16:creationId xmlns:a16="http://schemas.microsoft.com/office/drawing/2014/main" id="{C9DE9C8D-473C-4392-A608-1181EF9DE7D0}"/>
              </a:ext>
            </a:extLst>
          </p:cNvPr>
          <p:cNvSpPr txBox="1"/>
          <p:nvPr/>
        </p:nvSpPr>
        <p:spPr>
          <a:xfrm>
            <a:off x="3039452" y="3831605"/>
            <a:ext cx="639919" cy="292388"/>
          </a:xfrm>
          <a:prstGeom prst="rect">
            <a:avLst/>
          </a:prstGeom>
          <a:noFill/>
        </p:spPr>
        <p:txBody>
          <a:bodyPr wrap="none" rtlCol="0" anchor="ctr" anchorCtr="1">
            <a:spAutoFit/>
          </a:bodyPr>
          <a:lstStyle/>
          <a:p>
            <a:r>
              <a:rPr lang="en-US" sz="1300" dirty="0">
                <a:ea typeface="標楷體" pitchFamily="65" charset="-120"/>
                <a:cs typeface="Calibri" panose="020F0502020204030204" pitchFamily="34" charset="0"/>
              </a:rPr>
              <a:t>0x100</a:t>
            </a:r>
          </a:p>
        </p:txBody>
      </p:sp>
      <p:sp>
        <p:nvSpPr>
          <p:cNvPr id="24" name="TextBox 23">
            <a:extLst>
              <a:ext uri="{FF2B5EF4-FFF2-40B4-BE49-F238E27FC236}">
                <a16:creationId xmlns:a16="http://schemas.microsoft.com/office/drawing/2014/main" id="{E22B92A2-D630-4F34-8E45-5220EA81D839}"/>
              </a:ext>
            </a:extLst>
          </p:cNvPr>
          <p:cNvSpPr txBox="1"/>
          <p:nvPr/>
        </p:nvSpPr>
        <p:spPr>
          <a:xfrm>
            <a:off x="3572725" y="3851190"/>
            <a:ext cx="639919" cy="292388"/>
          </a:xfrm>
          <a:prstGeom prst="rect">
            <a:avLst/>
          </a:prstGeom>
          <a:noFill/>
        </p:spPr>
        <p:txBody>
          <a:bodyPr wrap="none" rtlCol="0" anchor="ctr" anchorCtr="1">
            <a:spAutoFit/>
          </a:bodyPr>
          <a:lstStyle/>
          <a:p>
            <a:r>
              <a:rPr lang="en-US" sz="1300" dirty="0">
                <a:ea typeface="標楷體" pitchFamily="65" charset="-120"/>
                <a:cs typeface="Calibri" panose="020F0502020204030204" pitchFamily="34" charset="0"/>
              </a:rPr>
              <a:t>0x101</a:t>
            </a:r>
          </a:p>
        </p:txBody>
      </p:sp>
      <p:sp>
        <p:nvSpPr>
          <p:cNvPr id="25" name="TextBox 24">
            <a:extLst>
              <a:ext uri="{FF2B5EF4-FFF2-40B4-BE49-F238E27FC236}">
                <a16:creationId xmlns:a16="http://schemas.microsoft.com/office/drawing/2014/main" id="{7342E177-72FF-4912-85B2-607F361AF445}"/>
              </a:ext>
            </a:extLst>
          </p:cNvPr>
          <p:cNvSpPr txBox="1"/>
          <p:nvPr/>
        </p:nvSpPr>
        <p:spPr>
          <a:xfrm>
            <a:off x="4070834" y="3843961"/>
            <a:ext cx="639919" cy="292388"/>
          </a:xfrm>
          <a:prstGeom prst="rect">
            <a:avLst/>
          </a:prstGeom>
          <a:noFill/>
        </p:spPr>
        <p:txBody>
          <a:bodyPr wrap="none" rtlCol="0" anchor="ctr" anchorCtr="1">
            <a:spAutoFit/>
          </a:bodyPr>
          <a:lstStyle/>
          <a:p>
            <a:r>
              <a:rPr lang="en-US" sz="1300" dirty="0">
                <a:ea typeface="標楷體" pitchFamily="65" charset="-120"/>
                <a:cs typeface="Calibri" panose="020F0502020204030204" pitchFamily="34" charset="0"/>
              </a:rPr>
              <a:t>0x102</a:t>
            </a:r>
          </a:p>
        </p:txBody>
      </p:sp>
      <p:sp>
        <p:nvSpPr>
          <p:cNvPr id="26" name="TextBox 25">
            <a:extLst>
              <a:ext uri="{FF2B5EF4-FFF2-40B4-BE49-F238E27FC236}">
                <a16:creationId xmlns:a16="http://schemas.microsoft.com/office/drawing/2014/main" id="{5332FEA5-BFDC-4D40-AC30-8E73131C97CC}"/>
              </a:ext>
            </a:extLst>
          </p:cNvPr>
          <p:cNvSpPr txBox="1"/>
          <p:nvPr/>
        </p:nvSpPr>
        <p:spPr>
          <a:xfrm>
            <a:off x="4576075" y="3826293"/>
            <a:ext cx="639919" cy="292388"/>
          </a:xfrm>
          <a:prstGeom prst="rect">
            <a:avLst/>
          </a:prstGeom>
          <a:noFill/>
        </p:spPr>
        <p:txBody>
          <a:bodyPr wrap="none" rtlCol="0" anchor="ctr" anchorCtr="1">
            <a:spAutoFit/>
          </a:bodyPr>
          <a:lstStyle/>
          <a:p>
            <a:r>
              <a:rPr lang="en-US" sz="1300" dirty="0">
                <a:ea typeface="標楷體" pitchFamily="65" charset="-120"/>
                <a:cs typeface="Calibri" panose="020F0502020204030204" pitchFamily="34" charset="0"/>
              </a:rPr>
              <a:t>0x103</a:t>
            </a:r>
          </a:p>
        </p:txBody>
      </p:sp>
      <p:sp>
        <p:nvSpPr>
          <p:cNvPr id="27" name="TextBox 26">
            <a:extLst>
              <a:ext uri="{FF2B5EF4-FFF2-40B4-BE49-F238E27FC236}">
                <a16:creationId xmlns:a16="http://schemas.microsoft.com/office/drawing/2014/main" id="{67EA34D4-0DFB-456F-A75E-D52CFF3AB2F1}"/>
              </a:ext>
            </a:extLst>
          </p:cNvPr>
          <p:cNvSpPr txBox="1"/>
          <p:nvPr/>
        </p:nvSpPr>
        <p:spPr>
          <a:xfrm>
            <a:off x="425374" y="2849952"/>
            <a:ext cx="1771639" cy="338554"/>
          </a:xfrm>
          <a:prstGeom prst="rect">
            <a:avLst/>
          </a:prstGeom>
          <a:noFill/>
          <a:ln>
            <a:solidFill>
              <a:srgbClr val="FF0000"/>
            </a:solidFill>
          </a:ln>
        </p:spPr>
        <p:txBody>
          <a:bodyPr wrap="none" rtlCol="0" anchor="ctr" anchorCtr="1">
            <a:spAutoFit/>
          </a:bodyPr>
          <a:lstStyle/>
          <a:p>
            <a:r>
              <a:rPr lang="en-US" sz="1600" b="1" i="1" dirty="0">
                <a:ea typeface="標楷體" pitchFamily="65" charset="-120"/>
                <a:cs typeface="Calibri" panose="020F0502020204030204" pitchFamily="34" charset="0"/>
              </a:rPr>
              <a:t>Most Significant</a:t>
            </a:r>
          </a:p>
        </p:txBody>
      </p:sp>
      <p:cxnSp>
        <p:nvCxnSpPr>
          <p:cNvPr id="29" name="Straight Arrow Connector 28">
            <a:extLst>
              <a:ext uri="{FF2B5EF4-FFF2-40B4-BE49-F238E27FC236}">
                <a16:creationId xmlns:a16="http://schemas.microsoft.com/office/drawing/2014/main" id="{A68500B4-BEF7-4F26-B303-A24E7D549A40}"/>
              </a:ext>
            </a:extLst>
          </p:cNvPr>
          <p:cNvCxnSpPr>
            <a:stCxn id="27" idx="0"/>
          </p:cNvCxnSpPr>
          <p:nvPr/>
        </p:nvCxnSpPr>
        <p:spPr bwMode="auto">
          <a:xfrm flipV="1">
            <a:off x="1311194" y="2785045"/>
            <a:ext cx="846340" cy="64907"/>
          </a:xfrm>
          <a:prstGeom prst="straightConnector1">
            <a:avLst/>
          </a:prstGeom>
          <a:noFill/>
          <a:ln w="15875" cap="flat" cmpd="sng" algn="ctr">
            <a:solidFill>
              <a:srgbClr val="FF0000"/>
            </a:solidFill>
            <a:prstDash val="solid"/>
            <a:round/>
            <a:headEnd type="none" w="med" len="med"/>
            <a:tailEnd type="triangle"/>
          </a:ln>
        </p:spPr>
      </p:cxnSp>
      <p:sp>
        <p:nvSpPr>
          <p:cNvPr id="30" name="TextBox 29">
            <a:extLst>
              <a:ext uri="{FF2B5EF4-FFF2-40B4-BE49-F238E27FC236}">
                <a16:creationId xmlns:a16="http://schemas.microsoft.com/office/drawing/2014/main" id="{01BFB7B9-1558-4C3F-8D63-D28AE3BB42FE}"/>
              </a:ext>
            </a:extLst>
          </p:cNvPr>
          <p:cNvSpPr txBox="1"/>
          <p:nvPr/>
        </p:nvSpPr>
        <p:spPr>
          <a:xfrm>
            <a:off x="6734426" y="2883616"/>
            <a:ext cx="1827744" cy="338554"/>
          </a:xfrm>
          <a:prstGeom prst="rect">
            <a:avLst/>
          </a:prstGeom>
          <a:noFill/>
          <a:ln>
            <a:solidFill>
              <a:srgbClr val="FF0000"/>
            </a:solidFill>
          </a:ln>
        </p:spPr>
        <p:txBody>
          <a:bodyPr wrap="none" rtlCol="0" anchor="ctr" anchorCtr="1">
            <a:spAutoFit/>
          </a:bodyPr>
          <a:lstStyle/>
          <a:p>
            <a:r>
              <a:rPr lang="en-US" sz="1600" b="1" i="1" dirty="0">
                <a:ea typeface="標楷體" pitchFamily="65" charset="-120"/>
                <a:cs typeface="Calibri" panose="020F0502020204030204" pitchFamily="34" charset="0"/>
              </a:rPr>
              <a:t>Least Significant</a:t>
            </a:r>
          </a:p>
        </p:txBody>
      </p:sp>
      <p:cxnSp>
        <p:nvCxnSpPr>
          <p:cNvPr id="31" name="Straight Arrow Connector 30">
            <a:extLst>
              <a:ext uri="{FF2B5EF4-FFF2-40B4-BE49-F238E27FC236}">
                <a16:creationId xmlns:a16="http://schemas.microsoft.com/office/drawing/2014/main" id="{165324E7-33FA-4DAE-94DC-AA3266AF613B}"/>
              </a:ext>
            </a:extLst>
          </p:cNvPr>
          <p:cNvCxnSpPr>
            <a:cxnSpLocks/>
            <a:stCxn id="30" idx="0"/>
          </p:cNvCxnSpPr>
          <p:nvPr/>
        </p:nvCxnSpPr>
        <p:spPr bwMode="auto">
          <a:xfrm flipH="1" flipV="1">
            <a:off x="6350000" y="2785045"/>
            <a:ext cx="1298298" cy="98571"/>
          </a:xfrm>
          <a:prstGeom prst="straightConnector1">
            <a:avLst/>
          </a:prstGeom>
          <a:noFill/>
          <a:ln w="15875" cap="flat" cmpd="sng" algn="ctr">
            <a:solidFill>
              <a:srgbClr val="FF0000"/>
            </a:solidFill>
            <a:prstDash val="solid"/>
            <a:round/>
            <a:headEnd type="none" w="med" len="med"/>
            <a:tailEnd type="triangle"/>
          </a:ln>
        </p:spPr>
      </p:cxnSp>
      <p:sp>
        <p:nvSpPr>
          <p:cNvPr id="33" name="TextBox 32">
            <a:extLst>
              <a:ext uri="{FF2B5EF4-FFF2-40B4-BE49-F238E27FC236}">
                <a16:creationId xmlns:a16="http://schemas.microsoft.com/office/drawing/2014/main" id="{FDFA294F-AB1B-445E-BF94-E8C033DDA491}"/>
              </a:ext>
            </a:extLst>
          </p:cNvPr>
          <p:cNvSpPr txBox="1"/>
          <p:nvPr/>
        </p:nvSpPr>
        <p:spPr>
          <a:xfrm>
            <a:off x="1335935" y="3312869"/>
            <a:ext cx="1300356" cy="369332"/>
          </a:xfrm>
          <a:prstGeom prst="rect">
            <a:avLst/>
          </a:prstGeom>
          <a:solidFill>
            <a:srgbClr val="92D050"/>
          </a:solidFill>
          <a:ln>
            <a:solidFill>
              <a:srgbClr val="FF0000"/>
            </a:solidFill>
          </a:ln>
        </p:spPr>
        <p:txBody>
          <a:bodyPr wrap="none" rtlCol="0" anchor="ctr" anchorCtr="1">
            <a:spAutoFit/>
          </a:bodyPr>
          <a:lstStyle/>
          <a:p>
            <a:r>
              <a:rPr lang="en-US" dirty="0">
                <a:ea typeface="標楷體" pitchFamily="65" charset="-120"/>
                <a:cs typeface="Calibri" panose="020F0502020204030204" pitchFamily="34" charset="0"/>
              </a:rPr>
              <a:t>Big Endian</a:t>
            </a:r>
          </a:p>
        </p:txBody>
      </p:sp>
      <p:sp>
        <p:nvSpPr>
          <p:cNvPr id="34" name="TextBox 33">
            <a:extLst>
              <a:ext uri="{FF2B5EF4-FFF2-40B4-BE49-F238E27FC236}">
                <a16:creationId xmlns:a16="http://schemas.microsoft.com/office/drawing/2014/main" id="{7FF0C2B0-28ED-473F-AA8C-44A2CFE9B276}"/>
              </a:ext>
            </a:extLst>
          </p:cNvPr>
          <p:cNvSpPr txBox="1"/>
          <p:nvPr/>
        </p:nvSpPr>
        <p:spPr>
          <a:xfrm>
            <a:off x="1330986" y="4038363"/>
            <a:ext cx="1454244" cy="369332"/>
          </a:xfrm>
          <a:prstGeom prst="rect">
            <a:avLst/>
          </a:prstGeom>
          <a:solidFill>
            <a:srgbClr val="92D050"/>
          </a:solidFill>
          <a:ln>
            <a:solidFill>
              <a:srgbClr val="FF0000"/>
            </a:solidFill>
          </a:ln>
        </p:spPr>
        <p:txBody>
          <a:bodyPr wrap="none" rtlCol="0" anchor="ctr" anchorCtr="1">
            <a:spAutoFit/>
          </a:bodyPr>
          <a:lstStyle/>
          <a:p>
            <a:r>
              <a:rPr lang="en-US" dirty="0">
                <a:ea typeface="標楷體" pitchFamily="65" charset="-120"/>
                <a:cs typeface="Calibri" panose="020F0502020204030204" pitchFamily="34" charset="0"/>
              </a:rPr>
              <a:t>Little Endian</a:t>
            </a:r>
          </a:p>
        </p:txBody>
      </p:sp>
    </p:spTree>
    <p:extLst>
      <p:ext uri="{BB962C8B-B14F-4D97-AF65-F5344CB8AC3E}">
        <p14:creationId xmlns:p14="http://schemas.microsoft.com/office/powerpoint/2010/main" val="47515412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p:cNvSpPr>
            <a:spLocks noGrp="1"/>
          </p:cNvSpPr>
          <p:nvPr>
            <p:ph type="title"/>
          </p:nvPr>
        </p:nvSpPr>
        <p:spPr/>
        <p:txBody>
          <a:bodyPr/>
          <a:lstStyle/>
          <a:p>
            <a:r>
              <a:rPr lang="en-US" altLang="zh-CN" sz="3200" dirty="0"/>
              <a:t>Big Endian vs. Little Endian (I)</a:t>
            </a:r>
          </a:p>
        </p:txBody>
      </p:sp>
      <p:sp>
        <p:nvSpPr>
          <p:cNvPr id="6" name="内容占位符 5"/>
          <p:cNvSpPr>
            <a:spLocks noGrp="1"/>
          </p:cNvSpPr>
          <p:nvPr>
            <p:ph idx="1"/>
          </p:nvPr>
        </p:nvSpPr>
        <p:spPr>
          <a:xfrm>
            <a:off x="134033" y="685006"/>
            <a:ext cx="8755967" cy="3923280"/>
          </a:xfrm>
        </p:spPr>
        <p:txBody>
          <a:bodyPr/>
          <a:lstStyle/>
          <a:p>
            <a:r>
              <a:rPr lang="en-US" altLang="zh-CN" sz="2000" b="1" dirty="0">
                <a:sym typeface="+mn-ea"/>
              </a:rPr>
              <a:t>Big-endian </a:t>
            </a:r>
            <a:r>
              <a:rPr lang="en-US" altLang="zh-CN" sz="2000" dirty="0">
                <a:sym typeface="+mn-ea"/>
              </a:rPr>
              <a:t>means </a:t>
            </a:r>
            <a:r>
              <a:rPr lang="en-US" sz="2000" b="0" i="0" dirty="0">
                <a:solidFill>
                  <a:srgbClr val="111827"/>
                </a:solidFill>
                <a:effectLst/>
                <a:latin typeface="ui-sans-serif"/>
              </a:rPr>
              <a:t>most significant byte first, and </a:t>
            </a:r>
            <a:r>
              <a:rPr lang="en-US" sz="2000" b="1" i="0" dirty="0">
                <a:solidFill>
                  <a:srgbClr val="111827"/>
                </a:solidFill>
                <a:effectLst/>
                <a:latin typeface="ui-sans-serif"/>
              </a:rPr>
              <a:t>Little-endian</a:t>
            </a:r>
            <a:r>
              <a:rPr lang="en-US" sz="2000" b="0" i="0" dirty="0">
                <a:solidFill>
                  <a:srgbClr val="111827"/>
                </a:solidFill>
                <a:effectLst/>
                <a:latin typeface="ui-sans-serif"/>
              </a:rPr>
              <a:t> means least significant byte first. </a:t>
            </a:r>
          </a:p>
          <a:p>
            <a:r>
              <a:rPr lang="en-US" altLang="zh-CN" sz="2000" dirty="0">
                <a:solidFill>
                  <a:srgbClr val="111827"/>
                </a:solidFill>
                <a:latin typeface="ui-sans-serif"/>
                <a:sym typeface="+mn-ea"/>
              </a:rPr>
              <a:t>Why do they matter?</a:t>
            </a:r>
          </a:p>
          <a:p>
            <a:pPr lvl="1">
              <a:buFont typeface="Wingdings" panose="05000000000000000000" pitchFamily="2" charset="2"/>
              <a:buChar char="Ø"/>
            </a:pPr>
            <a:r>
              <a:rPr lang="en-US" sz="1600" b="1" i="0" dirty="0">
                <a:solidFill>
                  <a:srgbClr val="111827"/>
                </a:solidFill>
                <a:effectLst/>
                <a:latin typeface="ui-sans-serif"/>
              </a:rPr>
              <a:t>Network Communication (Data Transmission)</a:t>
            </a:r>
          </a:p>
          <a:p>
            <a:pPr marL="685800" lvl="2" indent="0">
              <a:buNone/>
            </a:pPr>
            <a:r>
              <a:rPr lang="en-US" sz="1400" i="0" dirty="0">
                <a:solidFill>
                  <a:srgbClr val="111827"/>
                </a:solidFill>
                <a:effectLst/>
                <a:latin typeface="ui-sans-serif"/>
              </a:rPr>
              <a:t>If a Little-endian machine sends the integer 0x12345678 to a Big-endian machine without translation, the receiver will read it as 0x78563412</a:t>
            </a:r>
          </a:p>
          <a:p>
            <a:pPr lvl="1">
              <a:buFont typeface="Wingdings" panose="05000000000000000000" pitchFamily="2" charset="2"/>
              <a:buChar char="Ø"/>
            </a:pPr>
            <a:r>
              <a:rPr lang="en-US" sz="1600" b="1" dirty="0">
                <a:solidFill>
                  <a:srgbClr val="111827"/>
                </a:solidFill>
                <a:latin typeface="ui-sans-serif"/>
              </a:rPr>
              <a:t>Binary File Portability</a:t>
            </a:r>
          </a:p>
          <a:p>
            <a:pPr marL="685800" lvl="2" indent="0">
              <a:buNone/>
            </a:pPr>
            <a:r>
              <a:rPr lang="en-US" sz="1400" dirty="0">
                <a:solidFill>
                  <a:srgbClr val="111827"/>
                </a:solidFill>
                <a:latin typeface="ui-sans-serif"/>
              </a:rPr>
              <a:t>When a binary file is opened on a different endian machine, the data will be interpreted incorrectly:</a:t>
            </a:r>
          </a:p>
          <a:p>
            <a:pPr marL="685800" lvl="2" indent="0">
              <a:buNone/>
            </a:pPr>
            <a:r>
              <a:rPr lang="en-US" sz="1400" dirty="0">
                <a:solidFill>
                  <a:srgbClr val="111827"/>
                </a:solidFill>
                <a:latin typeface="ui-sans-serif"/>
              </a:rPr>
              <a:t>If you write as an integer (or </a:t>
            </a:r>
            <a:r>
              <a:rPr lang="en-US" sz="1400" dirty="0" err="1">
                <a:solidFill>
                  <a:srgbClr val="111827"/>
                </a:solidFill>
                <a:latin typeface="ui-sans-serif"/>
              </a:rPr>
              <a:t>fp</a:t>
            </a:r>
            <a:r>
              <a:rPr lang="en-US" sz="1400" dirty="0">
                <a:solidFill>
                  <a:srgbClr val="111827"/>
                </a:solidFill>
                <a:latin typeface="ui-sans-serif"/>
              </a:rPr>
              <a:t>) and read as an integer (</a:t>
            </a:r>
            <a:r>
              <a:rPr lang="en-US" sz="1400" dirty="0" err="1">
                <a:solidFill>
                  <a:srgbClr val="111827"/>
                </a:solidFill>
                <a:latin typeface="ui-sans-serif"/>
              </a:rPr>
              <a:t>fp</a:t>
            </a:r>
            <a:r>
              <a:rPr lang="en-US" sz="1400" dirty="0">
                <a:solidFill>
                  <a:srgbClr val="111827"/>
                </a:solidFill>
                <a:latin typeface="ui-sans-serif"/>
              </a:rPr>
              <a:t>), it will be OK. But what if you read as a sequence of bytes?</a:t>
            </a:r>
          </a:p>
          <a:p>
            <a:pPr lvl="1">
              <a:buFont typeface="Wingdings" panose="05000000000000000000" pitchFamily="2" charset="2"/>
              <a:buChar char="Ø"/>
            </a:pPr>
            <a:r>
              <a:rPr lang="en-US" sz="1600" b="1" i="0" dirty="0">
                <a:solidFill>
                  <a:srgbClr val="111827"/>
                </a:solidFill>
                <a:effectLst/>
                <a:latin typeface="ui-sans-serif"/>
              </a:rPr>
              <a:t>Type Casting and Pointer Aliasing</a:t>
            </a:r>
          </a:p>
          <a:p>
            <a:pPr marL="342900" lvl="1" indent="0">
              <a:buNone/>
            </a:pPr>
            <a:r>
              <a:rPr lang="en-US" sz="1600" b="1" dirty="0">
                <a:solidFill>
                  <a:srgbClr val="111827"/>
                </a:solidFill>
                <a:latin typeface="ui-sans-serif"/>
              </a:rPr>
              <a:t>       </a:t>
            </a:r>
            <a:r>
              <a:rPr lang="en-US" sz="1400" b="0" i="0" dirty="0">
                <a:solidFill>
                  <a:srgbClr val="111827"/>
                </a:solidFill>
                <a:effectLst/>
                <a:latin typeface="ui-sans-serif"/>
              </a:rPr>
              <a:t>Byte order matters when you access the same memory location using pointers of different sizes</a:t>
            </a:r>
            <a:endParaRPr lang="en-US" sz="1400" b="1" i="0" dirty="0">
              <a:solidFill>
                <a:srgbClr val="111827"/>
              </a:solidFill>
              <a:effectLst/>
              <a:latin typeface="ui-sans-serif"/>
            </a:endParaRPr>
          </a:p>
          <a:p>
            <a:pPr lvl="1">
              <a:buFont typeface="Wingdings" panose="05000000000000000000" pitchFamily="2" charset="2"/>
              <a:buChar char="Ø"/>
            </a:pPr>
            <a:r>
              <a:rPr lang="en-US" sz="1600" b="1" dirty="0">
                <a:solidFill>
                  <a:srgbClr val="111827"/>
                </a:solidFill>
                <a:latin typeface="ui-sans-serif"/>
              </a:rPr>
              <a:t>Bit fields in C/C++</a:t>
            </a:r>
          </a:p>
          <a:p>
            <a:pPr lvl="1">
              <a:buFont typeface="Wingdings" panose="05000000000000000000" pitchFamily="2" charset="2"/>
              <a:buChar char="Ø"/>
            </a:pPr>
            <a:r>
              <a:rPr lang="en-US" sz="1600" b="1" dirty="0">
                <a:solidFill>
                  <a:srgbClr val="111827"/>
                </a:solidFill>
                <a:latin typeface="ui-sans-serif"/>
              </a:rPr>
              <a:t>Assembly code reading</a:t>
            </a:r>
            <a:endParaRPr lang="en-US" sz="1600" b="1" i="0" dirty="0">
              <a:solidFill>
                <a:srgbClr val="111827"/>
              </a:solidFill>
              <a:effectLst/>
              <a:latin typeface="ui-sans-serif"/>
            </a:endParaRPr>
          </a:p>
          <a:p>
            <a:pPr lvl="1"/>
            <a:endParaRPr lang="en-US" altLang="zh-CN" sz="1600" dirty="0">
              <a:sym typeface="+mn-ea"/>
            </a:endParaRPr>
          </a:p>
        </p:txBody>
      </p:sp>
      <p:sp>
        <p:nvSpPr>
          <p:cNvPr id="4" name="灯片编号占位符 3"/>
          <p:cNvSpPr>
            <a:spLocks noGrp="1"/>
          </p:cNvSpPr>
          <p:nvPr>
            <p:ph type="sldNum" sz="quarter" idx="10"/>
          </p:nvPr>
        </p:nvSpPr>
        <p:spPr/>
        <p:txBody>
          <a:bodyPr/>
          <a:lstStyle/>
          <a:p>
            <a:fld id="{D9B6BDF2-6896-4B98-8776-C18582F63BA5}" type="slidenum">
              <a:rPr lang="zh-TW" altLang="en-US" smtClean="0"/>
              <a:t>16</a:t>
            </a:fld>
            <a:endParaRPr lang="zh-TW" altLang="en-US"/>
          </a:p>
        </p:txBody>
      </p:sp>
    </p:spTree>
    <p:extLst>
      <p:ext uri="{BB962C8B-B14F-4D97-AF65-F5344CB8AC3E}">
        <p14:creationId xmlns:p14="http://schemas.microsoft.com/office/powerpoint/2010/main" val="72162109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p:cNvSpPr>
            <a:spLocks noGrp="1"/>
          </p:cNvSpPr>
          <p:nvPr>
            <p:ph type="title"/>
          </p:nvPr>
        </p:nvSpPr>
        <p:spPr/>
        <p:txBody>
          <a:bodyPr/>
          <a:lstStyle/>
          <a:p>
            <a:r>
              <a:rPr lang="en-US" altLang="zh-CN" sz="3200" dirty="0"/>
              <a:t>Big Endian vs. Little Endian (II)</a:t>
            </a:r>
          </a:p>
        </p:txBody>
      </p:sp>
      <p:sp>
        <p:nvSpPr>
          <p:cNvPr id="6" name="内容占位符 5"/>
          <p:cNvSpPr>
            <a:spLocks noGrp="1"/>
          </p:cNvSpPr>
          <p:nvPr>
            <p:ph idx="1"/>
          </p:nvPr>
        </p:nvSpPr>
        <p:spPr>
          <a:xfrm>
            <a:off x="134033" y="863600"/>
            <a:ext cx="8755967" cy="3744686"/>
          </a:xfrm>
        </p:spPr>
        <p:txBody>
          <a:bodyPr/>
          <a:lstStyle/>
          <a:p>
            <a:r>
              <a:rPr lang="en-US" sz="1800" b="0" i="0" dirty="0">
                <a:solidFill>
                  <a:srgbClr val="111827"/>
                </a:solidFill>
                <a:effectLst/>
                <a:latin typeface="ui-sans-serif"/>
              </a:rPr>
              <a:t>In the late 1980s and throughout the 1990s, the "Endianness War" was essentially a battle between the </a:t>
            </a:r>
            <a:r>
              <a:rPr lang="en-US" sz="1800" b="1" i="0" dirty="0">
                <a:solidFill>
                  <a:srgbClr val="111827"/>
                </a:solidFill>
                <a:effectLst/>
                <a:latin typeface="ui-sans-serif"/>
              </a:rPr>
              <a:t>PC/Consumer market</a:t>
            </a:r>
            <a:r>
              <a:rPr lang="en-US" sz="1800" b="0" i="0" dirty="0">
                <a:solidFill>
                  <a:srgbClr val="111827"/>
                </a:solidFill>
                <a:effectLst/>
                <a:latin typeface="ui-sans-serif"/>
              </a:rPr>
              <a:t> and the </a:t>
            </a:r>
            <a:r>
              <a:rPr lang="en-US" sz="1800" b="1" i="0" dirty="0">
                <a:solidFill>
                  <a:srgbClr val="111827"/>
                </a:solidFill>
                <a:effectLst/>
                <a:latin typeface="ui-sans-serif"/>
              </a:rPr>
              <a:t>High-end Workstation/Server market.</a:t>
            </a:r>
          </a:p>
          <a:p>
            <a:r>
              <a:rPr lang="en-US" altLang="zh-CN" sz="2000" b="1" dirty="0">
                <a:solidFill>
                  <a:srgbClr val="111827"/>
                </a:solidFill>
                <a:latin typeface="ui-sans-serif"/>
                <a:sym typeface="+mn-ea"/>
              </a:rPr>
              <a:t>Big Endian camp</a:t>
            </a:r>
            <a:endParaRPr lang="en-US" sz="1400" b="1" i="0" dirty="0">
              <a:solidFill>
                <a:srgbClr val="111827"/>
              </a:solidFill>
              <a:effectLst/>
              <a:latin typeface="ui-sans-serif"/>
            </a:endParaRPr>
          </a:p>
          <a:p>
            <a:pPr marL="0" indent="0">
              <a:buNone/>
            </a:pPr>
            <a:r>
              <a:rPr lang="en-US" altLang="zh-CN" sz="1400" b="1" dirty="0">
                <a:solidFill>
                  <a:srgbClr val="111827"/>
                </a:solidFill>
                <a:latin typeface="ui-sans-serif"/>
                <a:sym typeface="+mn-ea"/>
              </a:rPr>
              <a:t>	</a:t>
            </a:r>
            <a:r>
              <a:rPr lang="en-US" sz="1400" b="1" i="0" dirty="0">
                <a:solidFill>
                  <a:srgbClr val="111827"/>
                </a:solidFill>
                <a:effectLst/>
                <a:latin typeface="ui-sans-serif"/>
              </a:rPr>
              <a:t>IBM:</a:t>
            </a:r>
            <a:r>
              <a:rPr lang="en-US" sz="1400" b="0" i="0" dirty="0">
                <a:solidFill>
                  <a:srgbClr val="374151"/>
                </a:solidFill>
                <a:effectLst/>
                <a:latin typeface="ui-sans-serif"/>
              </a:rPr>
              <a:t> IBM’s </a:t>
            </a:r>
            <a:r>
              <a:rPr lang="en-US" sz="1400" b="1" i="0" dirty="0">
                <a:solidFill>
                  <a:srgbClr val="111827"/>
                </a:solidFill>
                <a:effectLst/>
                <a:latin typeface="ui-sans-serif"/>
              </a:rPr>
              <a:t>Mainframes, CRAY, SGI, MIPS, HP, CISCO</a:t>
            </a:r>
          </a:p>
          <a:p>
            <a:pPr marL="0" indent="0">
              <a:buNone/>
            </a:pPr>
            <a:r>
              <a:rPr lang="en-US" altLang="zh-CN" sz="1400" b="1" dirty="0">
                <a:solidFill>
                  <a:srgbClr val="111827"/>
                </a:solidFill>
                <a:latin typeface="ui-sans-serif"/>
                <a:sym typeface="+mn-ea"/>
              </a:rPr>
              <a:t>	</a:t>
            </a:r>
            <a:r>
              <a:rPr kumimoji="1" lang="en-US" sz="1400" b="1" i="0" u="none" strike="noStrike" kern="0" cap="none" spc="0" normalizeH="0" baseline="0" noProof="0" dirty="0">
                <a:ln>
                  <a:noFill/>
                </a:ln>
                <a:solidFill>
                  <a:srgbClr val="111827"/>
                </a:solidFill>
                <a:effectLst/>
                <a:uLnTx/>
                <a:uFillTx/>
                <a:latin typeface="ui-sans-serif"/>
                <a:ea typeface="標楷體" pitchFamily="65" charset="-120"/>
                <a:cs typeface="+mn-cs"/>
              </a:rPr>
              <a:t>Motorola (68000 Series), Sun Microsystems (SPARC)</a:t>
            </a:r>
          </a:p>
          <a:p>
            <a:pPr marL="0" indent="0">
              <a:buNone/>
            </a:pPr>
            <a:r>
              <a:rPr lang="en-US" altLang="zh-CN" sz="1400" b="1" dirty="0">
                <a:solidFill>
                  <a:srgbClr val="111827"/>
                </a:solidFill>
                <a:latin typeface="ui-sans-serif"/>
                <a:sym typeface="+mn-ea"/>
              </a:rPr>
              <a:t>	</a:t>
            </a:r>
            <a:r>
              <a:rPr lang="en-US" altLang="zh-CN" sz="1400" dirty="0">
                <a:solidFill>
                  <a:srgbClr val="111827"/>
                </a:solidFill>
                <a:latin typeface="ui-sans-serif"/>
                <a:sym typeface="+mn-ea"/>
              </a:rPr>
              <a:t>Arguments: if you look at a memory dump of value 0x12345678, it is 12 34 56 78, not 78 56 34 12</a:t>
            </a:r>
          </a:p>
          <a:p>
            <a:r>
              <a:rPr lang="en-US" altLang="zh-CN" sz="2000" b="1" dirty="0">
                <a:solidFill>
                  <a:srgbClr val="111827"/>
                </a:solidFill>
                <a:latin typeface="ui-sans-serif"/>
                <a:sym typeface="+mn-ea"/>
              </a:rPr>
              <a:t>Little Endian camp</a:t>
            </a:r>
          </a:p>
          <a:p>
            <a:pPr marL="342900" lvl="1" indent="0">
              <a:buNone/>
            </a:pPr>
            <a:r>
              <a:rPr lang="en-US" altLang="zh-CN" sz="1600" b="1" dirty="0">
                <a:solidFill>
                  <a:srgbClr val="111827"/>
                </a:solidFill>
                <a:latin typeface="ui-sans-serif"/>
                <a:sym typeface="+mn-ea"/>
              </a:rPr>
              <a:t>	Intel, DEC, AMD</a:t>
            </a:r>
          </a:p>
          <a:p>
            <a:pPr marL="342900" lvl="1" indent="0">
              <a:buNone/>
            </a:pPr>
            <a:r>
              <a:rPr lang="en-US" altLang="zh-CN" sz="1600" b="1" dirty="0">
                <a:solidFill>
                  <a:srgbClr val="111827"/>
                </a:solidFill>
                <a:latin typeface="ui-sans-serif"/>
                <a:sym typeface="+mn-ea"/>
              </a:rPr>
              <a:t>	</a:t>
            </a:r>
            <a:r>
              <a:rPr lang="en-US" altLang="zh-CN" sz="1600" dirty="0">
                <a:solidFill>
                  <a:srgbClr val="111827"/>
                </a:solidFill>
                <a:latin typeface="ui-sans-serif"/>
                <a:sym typeface="+mn-ea"/>
              </a:rPr>
              <a:t>Argument:  If you store 0x12345678 as a sequence of bytes, the least significant byte should 	be at the low address, and the most significant byte should be at the high address.</a:t>
            </a:r>
          </a:p>
          <a:p>
            <a:pPr marL="43180" indent="0">
              <a:buNone/>
            </a:pPr>
            <a:r>
              <a:rPr lang="en-US" altLang="zh-CN" sz="2000" dirty="0">
                <a:solidFill>
                  <a:srgbClr val="111827"/>
                </a:solidFill>
                <a:latin typeface="ui-sans-serif"/>
                <a:sym typeface="+mn-ea"/>
              </a:rPr>
              <a:t>Today, most machines (Intel x86, ARM, RISC-V) are either little-endian or bi-endian (both big and little endian).</a:t>
            </a:r>
            <a:endParaRPr lang="en-US" altLang="zh-CN" sz="2000" dirty="0">
              <a:sym typeface="+mn-ea"/>
            </a:endParaRPr>
          </a:p>
        </p:txBody>
      </p:sp>
      <p:sp>
        <p:nvSpPr>
          <p:cNvPr id="4" name="灯片编号占位符 3"/>
          <p:cNvSpPr>
            <a:spLocks noGrp="1"/>
          </p:cNvSpPr>
          <p:nvPr>
            <p:ph type="sldNum" sz="quarter" idx="10"/>
          </p:nvPr>
        </p:nvSpPr>
        <p:spPr/>
        <p:txBody>
          <a:bodyPr/>
          <a:lstStyle/>
          <a:p>
            <a:fld id="{D9B6BDF2-6896-4B98-8776-C18582F63BA5}" type="slidenum">
              <a:rPr lang="zh-TW" altLang="en-US" smtClean="0"/>
              <a:t>17</a:t>
            </a:fld>
            <a:endParaRPr lang="zh-TW" altLang="en-US"/>
          </a:p>
        </p:txBody>
      </p:sp>
    </p:spTree>
    <p:extLst>
      <p:ext uri="{BB962C8B-B14F-4D97-AF65-F5344CB8AC3E}">
        <p14:creationId xmlns:p14="http://schemas.microsoft.com/office/powerpoint/2010/main" val="317658666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p:cNvSpPr>
            <a:spLocks noGrp="1"/>
          </p:cNvSpPr>
          <p:nvPr>
            <p:ph type="title"/>
          </p:nvPr>
        </p:nvSpPr>
        <p:spPr/>
        <p:txBody>
          <a:bodyPr/>
          <a:lstStyle/>
          <a:p>
            <a:r>
              <a:rPr lang="en-US" altLang="zh-CN" sz="3200" dirty="0"/>
              <a:t>The </a:t>
            </a:r>
            <a:r>
              <a:rPr lang="en-US" altLang="zh-CN" sz="3200" dirty="0" err="1"/>
              <a:t>show_bytes</a:t>
            </a:r>
            <a:r>
              <a:rPr lang="en-US" altLang="zh-CN" sz="3200" dirty="0"/>
              <a:t>() routine</a:t>
            </a:r>
          </a:p>
        </p:txBody>
      </p:sp>
      <p:sp>
        <p:nvSpPr>
          <p:cNvPr id="4" name="灯片编号占位符 3"/>
          <p:cNvSpPr>
            <a:spLocks noGrp="1"/>
          </p:cNvSpPr>
          <p:nvPr>
            <p:ph type="sldNum" sz="quarter" idx="10"/>
          </p:nvPr>
        </p:nvSpPr>
        <p:spPr/>
        <p:txBody>
          <a:bodyPr/>
          <a:lstStyle/>
          <a:p>
            <a:fld id="{D9B6BDF2-6896-4B98-8776-C18582F63BA5}" type="slidenum">
              <a:rPr lang="zh-TW" altLang="en-US" smtClean="0"/>
              <a:t>18</a:t>
            </a:fld>
            <a:endParaRPr lang="zh-TW" altLang="en-US"/>
          </a:p>
        </p:txBody>
      </p:sp>
      <p:pic>
        <p:nvPicPr>
          <p:cNvPr id="3" name="Picture 2">
            <a:extLst>
              <a:ext uri="{FF2B5EF4-FFF2-40B4-BE49-F238E27FC236}">
                <a16:creationId xmlns:a16="http://schemas.microsoft.com/office/drawing/2014/main" id="{21B8E0BF-54C4-4720-8BBC-0412A72A7672}"/>
              </a:ext>
            </a:extLst>
          </p:cNvPr>
          <p:cNvPicPr>
            <a:picLocks noChangeAspect="1"/>
          </p:cNvPicPr>
          <p:nvPr/>
        </p:nvPicPr>
        <p:blipFill>
          <a:blip r:embed="rId3"/>
          <a:stretch>
            <a:fillRect/>
          </a:stretch>
        </p:blipFill>
        <p:spPr>
          <a:xfrm>
            <a:off x="148774" y="754743"/>
            <a:ext cx="6027056" cy="3897085"/>
          </a:xfrm>
          <a:prstGeom prst="rect">
            <a:avLst/>
          </a:prstGeom>
        </p:spPr>
      </p:pic>
      <p:sp>
        <p:nvSpPr>
          <p:cNvPr id="18" name="内容占位符 5">
            <a:extLst>
              <a:ext uri="{FF2B5EF4-FFF2-40B4-BE49-F238E27FC236}">
                <a16:creationId xmlns:a16="http://schemas.microsoft.com/office/drawing/2014/main" id="{651FC4F9-4DC7-4505-BBAB-0505549B027C}"/>
              </a:ext>
            </a:extLst>
          </p:cNvPr>
          <p:cNvSpPr>
            <a:spLocks noGrp="1"/>
          </p:cNvSpPr>
          <p:nvPr>
            <p:ph idx="1"/>
          </p:nvPr>
        </p:nvSpPr>
        <p:spPr>
          <a:xfrm>
            <a:off x="4876800" y="841828"/>
            <a:ext cx="4194629" cy="3236686"/>
          </a:xfrm>
        </p:spPr>
        <p:txBody>
          <a:bodyPr/>
          <a:lstStyle/>
          <a:p>
            <a:pPr algn="l"/>
            <a:r>
              <a:rPr lang="en-US" sz="1800" b="0" i="0" dirty="0">
                <a:solidFill>
                  <a:srgbClr val="111827"/>
                </a:solidFill>
                <a:effectLst/>
                <a:latin typeface="ui-sans-serif"/>
              </a:rPr>
              <a:t>The main function of </a:t>
            </a:r>
            <a:r>
              <a:rPr lang="en-US" sz="1800" b="0" i="0" dirty="0" err="1">
                <a:solidFill>
                  <a:srgbClr val="111827"/>
                </a:solidFill>
                <a:effectLst/>
                <a:latin typeface="ui-sans-serif"/>
              </a:rPr>
              <a:t>Show_bytes</a:t>
            </a:r>
            <a:r>
              <a:rPr lang="en-US" sz="1800" b="0" i="0" dirty="0">
                <a:solidFill>
                  <a:srgbClr val="111827"/>
                </a:solidFill>
                <a:effectLst/>
                <a:latin typeface="ui-sans-serif"/>
              </a:rPr>
              <a:t>() is to </a:t>
            </a:r>
            <a:r>
              <a:rPr lang="en-US" sz="1800" b="1" i="0" dirty="0">
                <a:solidFill>
                  <a:srgbClr val="111827"/>
                </a:solidFill>
                <a:effectLst/>
                <a:latin typeface="ui-sans-serif"/>
              </a:rPr>
              <a:t>expose the physical reality of the machine; </a:t>
            </a:r>
            <a:r>
              <a:rPr lang="en-US" sz="1800" i="0" dirty="0">
                <a:solidFill>
                  <a:srgbClr val="111827"/>
                </a:solidFill>
                <a:effectLst/>
                <a:latin typeface="ui-sans-serif"/>
              </a:rPr>
              <a:t>it</a:t>
            </a:r>
            <a:r>
              <a:rPr lang="en-US" sz="1800" b="1" i="0" dirty="0">
                <a:solidFill>
                  <a:srgbClr val="111827"/>
                </a:solidFill>
                <a:effectLst/>
                <a:latin typeface="ui-sans-serif"/>
              </a:rPr>
              <a:t> </a:t>
            </a:r>
            <a:r>
              <a:rPr lang="en-US" sz="1800" b="0" i="0" dirty="0">
                <a:solidFill>
                  <a:srgbClr val="111827"/>
                </a:solidFill>
                <a:effectLst/>
                <a:latin typeface="ui-sans-serif"/>
              </a:rPr>
              <a:t>proves that </a:t>
            </a:r>
            <a:r>
              <a:rPr lang="en-US" sz="1800" b="1" i="0" dirty="0">
                <a:solidFill>
                  <a:srgbClr val="111827"/>
                </a:solidFill>
                <a:effectLst/>
                <a:latin typeface="ui-sans-serif"/>
              </a:rPr>
              <a:t>everything in memory is just a sequence of bytes.</a:t>
            </a:r>
            <a:r>
              <a:rPr lang="en-US" sz="1800" b="0" i="0" dirty="0">
                <a:solidFill>
                  <a:srgbClr val="111827"/>
                </a:solidFill>
                <a:effectLst/>
                <a:latin typeface="ui-sans-serif"/>
              </a:rPr>
              <a:t> </a:t>
            </a:r>
          </a:p>
          <a:p>
            <a:pPr algn="l"/>
            <a:r>
              <a:rPr lang="en-US" sz="1800" u="none" strike="noStrike" baseline="0" dirty="0">
                <a:solidFill>
                  <a:srgbClr val="111827"/>
                </a:solidFill>
                <a:latin typeface="ui-sans-serif"/>
              </a:rPr>
              <a:t>The difference between </a:t>
            </a:r>
            <a:r>
              <a:rPr lang="en-US" sz="1800" b="1" u="none" strike="noStrike" baseline="0" dirty="0">
                <a:solidFill>
                  <a:srgbClr val="111827"/>
                </a:solidFill>
                <a:latin typeface="ui-sans-serif"/>
              </a:rPr>
              <a:t>int</a:t>
            </a:r>
            <a:r>
              <a:rPr lang="en-US" sz="1800" u="none" strike="noStrike" baseline="0" dirty="0">
                <a:solidFill>
                  <a:srgbClr val="111827"/>
                </a:solidFill>
                <a:latin typeface="ui-sans-serif"/>
              </a:rPr>
              <a:t> and </a:t>
            </a:r>
            <a:r>
              <a:rPr lang="en-US" sz="1800" b="1" u="none" strike="noStrike" baseline="0" dirty="0">
                <a:solidFill>
                  <a:srgbClr val="111827"/>
                </a:solidFill>
                <a:latin typeface="ui-sans-serif"/>
              </a:rPr>
              <a:t>float</a:t>
            </a:r>
            <a:r>
              <a:rPr lang="en-US" sz="1800" u="none" strike="noStrike" baseline="0" dirty="0">
                <a:solidFill>
                  <a:srgbClr val="111827"/>
                </a:solidFill>
                <a:latin typeface="ui-sans-serif"/>
              </a:rPr>
              <a:t> is not what they are, but how the processor interprets them. </a:t>
            </a:r>
          </a:p>
          <a:p>
            <a:pPr algn="l"/>
            <a:r>
              <a:rPr lang="en-US" sz="1800" dirty="0">
                <a:solidFill>
                  <a:srgbClr val="111827"/>
                </a:solidFill>
                <a:latin typeface="ui-sans-serif"/>
              </a:rPr>
              <a:t>You may also see the byte ordering by running the code on big-endian and little-endian machines. (</a:t>
            </a:r>
            <a:r>
              <a:rPr lang="en-US" sz="1600" dirty="0">
                <a:solidFill>
                  <a:srgbClr val="111827"/>
                </a:solidFill>
                <a:latin typeface="ui-sans-serif"/>
              </a:rPr>
              <a:t>It is not easy since almost all machines today are little-endian)</a:t>
            </a:r>
            <a:endParaRPr lang="en-US" sz="1600" u="none" strike="noStrike" baseline="0" dirty="0">
              <a:solidFill>
                <a:srgbClr val="111827"/>
              </a:solidFill>
              <a:latin typeface="ui-sans-serif"/>
            </a:endParaRPr>
          </a:p>
          <a:p>
            <a:pPr algn="l"/>
            <a:endParaRPr lang="en-US" sz="1800" b="0" i="0" u="none" strike="noStrike" baseline="0" dirty="0">
              <a:latin typeface="TimesTen-Roman"/>
            </a:endParaRPr>
          </a:p>
          <a:p>
            <a:pPr algn="l"/>
            <a:endParaRPr lang="en-US" sz="1600" b="0" i="0" u="none" strike="noStrike" baseline="0" dirty="0">
              <a:latin typeface="TimesTen-Roman"/>
            </a:endParaRPr>
          </a:p>
        </p:txBody>
      </p:sp>
      <p:sp>
        <p:nvSpPr>
          <p:cNvPr id="19" name="Oval 18">
            <a:extLst>
              <a:ext uri="{FF2B5EF4-FFF2-40B4-BE49-F238E27FC236}">
                <a16:creationId xmlns:a16="http://schemas.microsoft.com/office/drawing/2014/main" id="{D86BABCC-A6AC-4A38-B07D-F1C612C067F7}"/>
              </a:ext>
            </a:extLst>
          </p:cNvPr>
          <p:cNvSpPr/>
          <p:nvPr/>
        </p:nvSpPr>
        <p:spPr bwMode="auto">
          <a:xfrm>
            <a:off x="1908629" y="1748971"/>
            <a:ext cx="624114" cy="384629"/>
          </a:xfrm>
          <a:prstGeom prst="ellipse">
            <a:avLst/>
          </a:prstGeom>
          <a:noFill/>
          <a:ln w="15875" cap="flat" cmpd="sng" algn="ctr">
            <a:solidFill>
              <a:srgbClr val="FF0000"/>
            </a:solidFill>
            <a:prstDash val="solid"/>
            <a:round/>
            <a:headEnd type="none" w="med" len="med"/>
            <a:tailEnd type="none" w="med" len="med"/>
          </a:ln>
        </p:spPr>
        <p:txBody>
          <a:bodyPr vert="horz" wrap="none" lIns="91440" tIns="45720" rIns="91440" bIns="45720" numCol="1" rtlCol="0" anchor="ctr" anchorCtr="0" compatLnSpc="1"/>
          <a:lstStyle/>
          <a:p>
            <a:pPr marL="0" marR="0" indent="0" algn="ctr" defTabSz="914400" rtl="0" eaLnBrk="1" fontAlgn="base" latinLnBrk="0" hangingPunct="1">
              <a:lnSpc>
                <a:spcPct val="100000"/>
              </a:lnSpc>
              <a:spcBef>
                <a:spcPct val="0"/>
              </a:spcBef>
              <a:spcAft>
                <a:spcPct val="0"/>
              </a:spcAft>
              <a:buClrTx/>
              <a:buSzTx/>
              <a:buFontTx/>
              <a:buNone/>
            </a:pPr>
            <a:endParaRPr kumimoji="1" lang="en-US" sz="1800" b="1" i="0" u="none" strike="noStrike" cap="none" normalizeH="0" baseline="0">
              <a:ln>
                <a:noFill/>
              </a:ln>
              <a:solidFill>
                <a:schemeClr val="tx1"/>
              </a:solidFill>
              <a:effectLst/>
              <a:latin typeface="Arial" panose="020B0604020202020204" pitchFamily="34" charset="0"/>
              <a:ea typeface="PMingLiU" panose="02020500000000000000" pitchFamily="18" charset="-120"/>
            </a:endParaRPr>
          </a:p>
        </p:txBody>
      </p:sp>
      <p:sp>
        <p:nvSpPr>
          <p:cNvPr id="20" name="TextBox 19">
            <a:extLst>
              <a:ext uri="{FF2B5EF4-FFF2-40B4-BE49-F238E27FC236}">
                <a16:creationId xmlns:a16="http://schemas.microsoft.com/office/drawing/2014/main" id="{B83085BB-1ED6-43DA-860C-27E12F69D22B}"/>
              </a:ext>
            </a:extLst>
          </p:cNvPr>
          <p:cNvSpPr txBox="1"/>
          <p:nvPr/>
        </p:nvSpPr>
        <p:spPr>
          <a:xfrm>
            <a:off x="2154401" y="1999271"/>
            <a:ext cx="1826141" cy="523220"/>
          </a:xfrm>
          <a:prstGeom prst="rect">
            <a:avLst/>
          </a:prstGeom>
          <a:noFill/>
        </p:spPr>
        <p:txBody>
          <a:bodyPr wrap="none" rtlCol="0" anchor="ctr" anchorCtr="1">
            <a:spAutoFit/>
          </a:bodyPr>
          <a:lstStyle/>
          <a:p>
            <a:r>
              <a:rPr lang="en-US" sz="1400" dirty="0">
                <a:ea typeface="標楷體" pitchFamily="65" charset="-120"/>
                <a:cs typeface="Calibri" panose="020F0502020204030204" pitchFamily="34" charset="0"/>
              </a:rPr>
              <a:t>2 digit of</a:t>
            </a:r>
          </a:p>
          <a:p>
            <a:r>
              <a:rPr lang="en-US" sz="1400" dirty="0">
                <a:ea typeface="標楷體" pitchFamily="65" charset="-120"/>
                <a:cs typeface="Calibri" panose="020F0502020204030204" pitchFamily="34" charset="0"/>
              </a:rPr>
              <a:t>Hexadecimal format </a:t>
            </a:r>
          </a:p>
        </p:txBody>
      </p:sp>
    </p:spTree>
    <p:extLst>
      <p:ext uri="{BB962C8B-B14F-4D97-AF65-F5344CB8AC3E}">
        <p14:creationId xmlns:p14="http://schemas.microsoft.com/office/powerpoint/2010/main" val="7892042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 grpId="0" animBg="1"/>
      <p:bldP spid="20"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p:cNvSpPr>
            <a:spLocks noGrp="1"/>
          </p:cNvSpPr>
          <p:nvPr>
            <p:ph type="title"/>
          </p:nvPr>
        </p:nvSpPr>
        <p:spPr/>
        <p:txBody>
          <a:bodyPr/>
          <a:lstStyle/>
          <a:p>
            <a:r>
              <a:rPr lang="en-US" altLang="zh-CN" sz="3200" dirty="0"/>
              <a:t>The </a:t>
            </a:r>
            <a:r>
              <a:rPr lang="en-US" altLang="zh-CN" sz="3200" dirty="0" err="1"/>
              <a:t>show_bytes</a:t>
            </a:r>
            <a:r>
              <a:rPr lang="en-US" altLang="zh-CN" sz="3200" dirty="0"/>
              <a:t>() Routine Exercise</a:t>
            </a:r>
          </a:p>
        </p:txBody>
      </p:sp>
      <p:sp>
        <p:nvSpPr>
          <p:cNvPr id="4" name="灯片编号占位符 3"/>
          <p:cNvSpPr>
            <a:spLocks noGrp="1"/>
          </p:cNvSpPr>
          <p:nvPr>
            <p:ph type="sldNum" sz="quarter" idx="10"/>
          </p:nvPr>
        </p:nvSpPr>
        <p:spPr/>
        <p:txBody>
          <a:bodyPr/>
          <a:lstStyle/>
          <a:p>
            <a:fld id="{D9B6BDF2-6896-4B98-8776-C18582F63BA5}" type="slidenum">
              <a:rPr lang="zh-TW" altLang="en-US" smtClean="0"/>
              <a:t>19</a:t>
            </a:fld>
            <a:endParaRPr lang="zh-TW" altLang="en-US"/>
          </a:p>
        </p:txBody>
      </p:sp>
      <p:pic>
        <p:nvPicPr>
          <p:cNvPr id="8" name="Picture 7">
            <a:extLst>
              <a:ext uri="{FF2B5EF4-FFF2-40B4-BE49-F238E27FC236}">
                <a16:creationId xmlns:a16="http://schemas.microsoft.com/office/drawing/2014/main" id="{53FA0F4B-BE6B-4563-B875-549C2DB48C86}"/>
              </a:ext>
            </a:extLst>
          </p:cNvPr>
          <p:cNvPicPr>
            <a:picLocks noChangeAspect="1"/>
          </p:cNvPicPr>
          <p:nvPr/>
        </p:nvPicPr>
        <p:blipFill>
          <a:blip r:embed="rId3"/>
          <a:stretch>
            <a:fillRect/>
          </a:stretch>
        </p:blipFill>
        <p:spPr>
          <a:xfrm>
            <a:off x="0" y="792414"/>
            <a:ext cx="4869543" cy="2691015"/>
          </a:xfrm>
          <a:prstGeom prst="rect">
            <a:avLst/>
          </a:prstGeom>
        </p:spPr>
      </p:pic>
      <p:pic>
        <p:nvPicPr>
          <p:cNvPr id="10" name="Picture 9">
            <a:extLst>
              <a:ext uri="{FF2B5EF4-FFF2-40B4-BE49-F238E27FC236}">
                <a16:creationId xmlns:a16="http://schemas.microsoft.com/office/drawing/2014/main" id="{9E2961EC-A816-4623-A948-02ACA621A082}"/>
              </a:ext>
            </a:extLst>
          </p:cNvPr>
          <p:cNvPicPr>
            <a:picLocks noChangeAspect="1"/>
          </p:cNvPicPr>
          <p:nvPr/>
        </p:nvPicPr>
        <p:blipFill>
          <a:blip r:embed="rId4"/>
          <a:stretch>
            <a:fillRect/>
          </a:stretch>
        </p:blipFill>
        <p:spPr>
          <a:xfrm>
            <a:off x="4020457" y="965200"/>
            <a:ext cx="4869543" cy="3637848"/>
          </a:xfrm>
          <a:prstGeom prst="rect">
            <a:avLst/>
          </a:prstGeom>
        </p:spPr>
      </p:pic>
      <p:sp>
        <p:nvSpPr>
          <p:cNvPr id="11" name="TextBox 10">
            <a:extLst>
              <a:ext uri="{FF2B5EF4-FFF2-40B4-BE49-F238E27FC236}">
                <a16:creationId xmlns:a16="http://schemas.microsoft.com/office/drawing/2014/main" id="{9A85A17A-306C-4222-90A9-6F10816BB319}"/>
              </a:ext>
            </a:extLst>
          </p:cNvPr>
          <p:cNvSpPr txBox="1"/>
          <p:nvPr/>
        </p:nvSpPr>
        <p:spPr>
          <a:xfrm>
            <a:off x="770146" y="3858572"/>
            <a:ext cx="2480166" cy="369332"/>
          </a:xfrm>
          <a:prstGeom prst="rect">
            <a:avLst/>
          </a:prstGeom>
          <a:noFill/>
        </p:spPr>
        <p:txBody>
          <a:bodyPr wrap="none" rtlCol="0" anchor="ctr" anchorCtr="1">
            <a:spAutoFit/>
          </a:bodyPr>
          <a:lstStyle/>
          <a:p>
            <a:r>
              <a:rPr lang="en-US" dirty="0">
                <a:ea typeface="標楷體" pitchFamily="65" charset="-120"/>
                <a:cs typeface="Calibri" panose="020F0502020204030204" pitchFamily="34" charset="0"/>
              </a:rPr>
              <a:t>Argument </a:t>
            </a:r>
            <a:r>
              <a:rPr lang="en-US" dirty="0" err="1">
                <a:ea typeface="標楷體" pitchFamily="65" charset="-120"/>
                <a:cs typeface="Calibri" panose="020F0502020204030204" pitchFamily="34" charset="0"/>
              </a:rPr>
              <a:t>val</a:t>
            </a:r>
            <a:r>
              <a:rPr lang="en-US" dirty="0">
                <a:ea typeface="標楷體" pitchFamily="65" charset="-120"/>
                <a:cs typeface="Calibri" panose="020F0502020204030204" pitchFamily="34" charset="0"/>
              </a:rPr>
              <a:t> is 12345</a:t>
            </a:r>
          </a:p>
        </p:txBody>
      </p:sp>
      <p:cxnSp>
        <p:nvCxnSpPr>
          <p:cNvPr id="13" name="Straight Arrow Connector 12">
            <a:extLst>
              <a:ext uri="{FF2B5EF4-FFF2-40B4-BE49-F238E27FC236}">
                <a16:creationId xmlns:a16="http://schemas.microsoft.com/office/drawing/2014/main" id="{2D0C4F34-C28F-49B6-8284-7568FADB53D3}"/>
              </a:ext>
            </a:extLst>
          </p:cNvPr>
          <p:cNvCxnSpPr>
            <a:stCxn id="11" idx="0"/>
          </p:cNvCxnSpPr>
          <p:nvPr/>
        </p:nvCxnSpPr>
        <p:spPr bwMode="auto">
          <a:xfrm flipV="1">
            <a:off x="2010229" y="1204686"/>
            <a:ext cx="174171" cy="2653886"/>
          </a:xfrm>
          <a:prstGeom prst="straightConnector1">
            <a:avLst/>
          </a:prstGeom>
          <a:noFill/>
          <a:ln w="15875" cap="flat" cmpd="sng" algn="ctr">
            <a:solidFill>
              <a:srgbClr val="FF0000"/>
            </a:solidFill>
            <a:prstDash val="solid"/>
            <a:round/>
            <a:headEnd type="none" w="med" len="med"/>
            <a:tailEnd type="triangle"/>
          </a:ln>
        </p:spPr>
      </p:cxnSp>
    </p:spTree>
    <p:extLst>
      <p:ext uri="{BB962C8B-B14F-4D97-AF65-F5344CB8AC3E}">
        <p14:creationId xmlns:p14="http://schemas.microsoft.com/office/powerpoint/2010/main" val="225426823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p:cNvSpPr>
            <a:spLocks noGrp="1"/>
          </p:cNvSpPr>
          <p:nvPr>
            <p:ph type="title"/>
          </p:nvPr>
        </p:nvSpPr>
        <p:spPr/>
        <p:txBody>
          <a:bodyPr/>
          <a:lstStyle/>
          <a:p>
            <a:r>
              <a:rPr lang="en-US" altLang="zh-CN" sz="3200" dirty="0"/>
              <a:t>2.1.4 Representing Strings</a:t>
            </a:r>
          </a:p>
        </p:txBody>
      </p:sp>
      <p:sp>
        <p:nvSpPr>
          <p:cNvPr id="6" name="内容占位符 5"/>
          <p:cNvSpPr>
            <a:spLocks noGrp="1"/>
          </p:cNvSpPr>
          <p:nvPr>
            <p:ph idx="1"/>
          </p:nvPr>
        </p:nvSpPr>
        <p:spPr/>
        <p:txBody>
          <a:bodyPr/>
          <a:lstStyle/>
          <a:p>
            <a:pPr algn="l"/>
            <a:r>
              <a:rPr lang="en-US" sz="2000" b="0" i="0" u="none" strike="noStrike" baseline="0" dirty="0">
                <a:latin typeface="TimesTen-Roman"/>
              </a:rPr>
              <a:t>A string in C is encoded by an array of characters terminated by the null (having value 0) character. </a:t>
            </a:r>
          </a:p>
          <a:p>
            <a:pPr algn="l"/>
            <a:r>
              <a:rPr lang="en-US" sz="2000" b="0" i="0" u="none" strike="noStrike" baseline="0" dirty="0">
                <a:latin typeface="TimesTen-Roman"/>
              </a:rPr>
              <a:t>Each character is represented by some standard encoding, with the most common being ASCII. </a:t>
            </a:r>
          </a:p>
          <a:p>
            <a:pPr algn="l"/>
            <a:r>
              <a:rPr lang="en-US" sz="2000" dirty="0">
                <a:latin typeface="TimesTen-Roman"/>
              </a:rPr>
              <a:t>I</a:t>
            </a:r>
            <a:r>
              <a:rPr lang="en-US" sz="2000" b="0" i="0" u="none" strike="noStrike" baseline="0" dirty="0">
                <a:latin typeface="TimesTen-Roman"/>
              </a:rPr>
              <a:t>f we run our routine </a:t>
            </a:r>
            <a:r>
              <a:rPr lang="en-US" sz="2000" b="0" i="0" u="none" strike="noStrike" baseline="0" dirty="0" err="1">
                <a:latin typeface="ZztexMono-Regular"/>
              </a:rPr>
              <a:t>show_bytes</a:t>
            </a:r>
            <a:r>
              <a:rPr lang="en-US" sz="2000" b="0" i="0" u="none" strike="noStrike" baseline="0" dirty="0">
                <a:latin typeface="ZztexMono-Regular"/>
              </a:rPr>
              <a:t> </a:t>
            </a:r>
            <a:r>
              <a:rPr lang="en-US" sz="2000" b="0" i="0" u="none" strike="noStrike" baseline="0" dirty="0">
                <a:latin typeface="TimesTen-Roman"/>
              </a:rPr>
              <a:t>with arguments </a:t>
            </a:r>
            <a:r>
              <a:rPr lang="en-US" sz="2000" b="0" i="0" u="none" strike="noStrike" baseline="0" dirty="0">
                <a:latin typeface="ZztexMono-Regular"/>
              </a:rPr>
              <a:t>"12345" </a:t>
            </a:r>
            <a:r>
              <a:rPr lang="en-US" sz="2000" b="0" i="0" u="none" strike="noStrike" baseline="0" dirty="0">
                <a:latin typeface="TimesTen-Roman"/>
              </a:rPr>
              <a:t>and </a:t>
            </a:r>
            <a:r>
              <a:rPr lang="en-US" sz="2000" b="0" i="0" u="none" strike="noStrike" baseline="0" dirty="0">
                <a:latin typeface="ZztexMono-Regular"/>
              </a:rPr>
              <a:t>6 </a:t>
            </a:r>
            <a:r>
              <a:rPr lang="en-US" sz="2000" b="0" i="0" u="none" strike="noStrike" baseline="0" dirty="0">
                <a:latin typeface="TimesTen-Roman"/>
              </a:rPr>
              <a:t>(to include the terminating character), we get the result </a:t>
            </a:r>
            <a:r>
              <a:rPr lang="en-US" sz="2000" b="0" i="0" u="none" strike="noStrike" baseline="0" dirty="0">
                <a:latin typeface="ZztexMono-Regular"/>
              </a:rPr>
              <a:t>31 32 33 34 35 00</a:t>
            </a:r>
            <a:r>
              <a:rPr lang="en-US" sz="2000" b="0" i="0" u="none" strike="noStrike" baseline="0" dirty="0">
                <a:latin typeface="TimesTen-Roman"/>
              </a:rPr>
              <a:t>. </a:t>
            </a:r>
          </a:p>
          <a:p>
            <a:pPr algn="l"/>
            <a:r>
              <a:rPr lang="en-US" sz="2000" b="0" i="0" u="none" strike="noStrike" baseline="0" dirty="0">
                <a:latin typeface="TimesTen-Roman"/>
              </a:rPr>
              <a:t>This same result would be obtained on any system using ASCII as its</a:t>
            </a:r>
          </a:p>
          <a:p>
            <a:pPr marL="0" indent="0" algn="l">
              <a:buNone/>
            </a:pPr>
            <a:r>
              <a:rPr lang="en-US" sz="2000" b="0" i="0" u="none" strike="noStrike" baseline="0" dirty="0">
                <a:latin typeface="TimesTen-Roman"/>
              </a:rPr>
              <a:t>     character code, independent of the byte ordering and word size   </a:t>
            </a:r>
          </a:p>
          <a:p>
            <a:pPr marL="0" indent="0" algn="l">
              <a:buNone/>
            </a:pPr>
            <a:r>
              <a:rPr lang="en-US" sz="2000" dirty="0">
                <a:latin typeface="TimesTen-Roman"/>
              </a:rPr>
              <a:t>     </a:t>
            </a:r>
            <a:r>
              <a:rPr lang="en-US" sz="2000" b="0" i="0" u="none" strike="noStrike" baseline="0" dirty="0">
                <a:latin typeface="TimesTen-Roman"/>
              </a:rPr>
              <a:t>conventions. </a:t>
            </a:r>
          </a:p>
          <a:p>
            <a:pPr algn="l">
              <a:buSzPct val="180000"/>
              <a:buFont typeface="Arial" panose="020B0604020202020204" pitchFamily="34" charset="0"/>
              <a:buChar char="•"/>
            </a:pPr>
            <a:r>
              <a:rPr lang="en-US" sz="2000" b="0" i="0" u="none" strike="noStrike" baseline="0" dirty="0">
                <a:latin typeface="TimesTen-Roman"/>
              </a:rPr>
              <a:t>As a consequence, </a:t>
            </a:r>
            <a:r>
              <a:rPr lang="en-US" sz="2000" b="0" i="0" u="none" strike="noStrike" baseline="0" dirty="0">
                <a:solidFill>
                  <a:srgbClr val="FF0000"/>
                </a:solidFill>
                <a:latin typeface="TimesTen-Roman"/>
              </a:rPr>
              <a:t>text data are more platform-independent </a:t>
            </a:r>
            <a:r>
              <a:rPr lang="en-US" sz="2000" b="0" i="0" u="none" strike="noStrike" baseline="0" dirty="0">
                <a:latin typeface="TimesTen-Roman"/>
              </a:rPr>
              <a:t>than binary data.</a:t>
            </a:r>
            <a:endParaRPr lang="en-US" altLang="zh-CN" sz="2000" dirty="0">
              <a:solidFill>
                <a:srgbClr val="0000FF"/>
              </a:solidFill>
              <a:sym typeface="+mn-ea"/>
            </a:endParaRPr>
          </a:p>
        </p:txBody>
      </p:sp>
      <p:sp>
        <p:nvSpPr>
          <p:cNvPr id="4" name="灯片编号占位符 3"/>
          <p:cNvSpPr>
            <a:spLocks noGrp="1"/>
          </p:cNvSpPr>
          <p:nvPr>
            <p:ph type="sldNum" sz="quarter" idx="10"/>
          </p:nvPr>
        </p:nvSpPr>
        <p:spPr/>
        <p:txBody>
          <a:bodyPr/>
          <a:lstStyle/>
          <a:p>
            <a:fld id="{D9B6BDF2-6896-4B98-8776-C18582F63BA5}" type="slidenum">
              <a:rPr lang="zh-TW" altLang="en-US" smtClean="0"/>
              <a:t>20</a:t>
            </a:fld>
            <a:endParaRPr lang="zh-TW" altLang="en-US"/>
          </a:p>
        </p:txBody>
      </p:sp>
    </p:spTree>
    <p:extLst>
      <p:ext uri="{BB962C8B-B14F-4D97-AF65-F5344CB8AC3E}">
        <p14:creationId xmlns:p14="http://schemas.microsoft.com/office/powerpoint/2010/main" val="265416761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p:cNvSpPr>
            <a:spLocks noGrp="1"/>
          </p:cNvSpPr>
          <p:nvPr>
            <p:ph type="title"/>
          </p:nvPr>
        </p:nvSpPr>
        <p:spPr/>
        <p:txBody>
          <a:bodyPr/>
          <a:lstStyle/>
          <a:p>
            <a:r>
              <a:rPr lang="en-US" altLang="zh-CN" sz="3200" dirty="0"/>
              <a:t>2.1.5 Representing Programs</a:t>
            </a:r>
          </a:p>
        </p:txBody>
      </p:sp>
      <p:sp>
        <p:nvSpPr>
          <p:cNvPr id="6" name="内容占位符 5"/>
          <p:cNvSpPr>
            <a:spLocks noGrp="1"/>
          </p:cNvSpPr>
          <p:nvPr>
            <p:ph idx="1"/>
          </p:nvPr>
        </p:nvSpPr>
        <p:spPr>
          <a:xfrm>
            <a:off x="457200" y="2019579"/>
            <a:ext cx="8229600" cy="2554962"/>
          </a:xfrm>
        </p:spPr>
        <p:txBody>
          <a:bodyPr/>
          <a:lstStyle/>
          <a:p>
            <a:pPr algn="l"/>
            <a:r>
              <a:rPr lang="en-US" sz="2000" dirty="0">
                <a:latin typeface="TimesTen-Roman"/>
              </a:rPr>
              <a:t>The instruction </a:t>
            </a:r>
            <a:r>
              <a:rPr lang="en-US" sz="2000" dirty="0" err="1">
                <a:latin typeface="TimesTen-Roman"/>
              </a:rPr>
              <a:t>codings</a:t>
            </a:r>
            <a:r>
              <a:rPr lang="en-US" sz="2000" dirty="0">
                <a:latin typeface="TimesTen-Roman"/>
              </a:rPr>
              <a:t> vary significantly; different machine types utilize distinct instructions and encodings.</a:t>
            </a:r>
          </a:p>
          <a:p>
            <a:pPr algn="l"/>
            <a:r>
              <a:rPr lang="en-US" sz="2000" b="0" i="0" u="none" strike="noStrike" baseline="0" dirty="0">
                <a:latin typeface="TimesTen-Roman"/>
              </a:rPr>
              <a:t>Binary code is seldom portable across different combinations of machine and operating system: this is called </a:t>
            </a:r>
            <a:r>
              <a:rPr lang="en-US" sz="2400" b="1" i="0" u="none" strike="noStrike" baseline="0" dirty="0">
                <a:latin typeface="TimesTen-Roman"/>
              </a:rPr>
              <a:t>ABI</a:t>
            </a:r>
            <a:r>
              <a:rPr lang="en-US" sz="2000" b="0" i="0" u="none" strike="noStrike" baseline="0" dirty="0">
                <a:latin typeface="TimesTen-Roman"/>
              </a:rPr>
              <a:t> incompatible.</a:t>
            </a:r>
          </a:p>
          <a:p>
            <a:pPr algn="l"/>
            <a:r>
              <a:rPr lang="en-US" sz="2000" dirty="0">
                <a:latin typeface="TimesTen-Roman"/>
              </a:rPr>
              <a:t>ABI means Application Binary Interface. It is based on three key components: the computer ISA, the OS, and the calling convention.</a:t>
            </a:r>
          </a:p>
          <a:p>
            <a:pPr algn="l"/>
            <a:r>
              <a:rPr lang="en-US" sz="2000" b="0" i="0" u="none" strike="noStrike" baseline="0" dirty="0">
                <a:latin typeface="TimesTen-Roman"/>
              </a:rPr>
              <a:t>For exa</a:t>
            </a:r>
            <a:r>
              <a:rPr lang="en-US" sz="2000" dirty="0">
                <a:latin typeface="TimesTen-Roman"/>
              </a:rPr>
              <a:t>mple, the executable of x86/Windows does not run on ARM/Linux</a:t>
            </a:r>
            <a:endParaRPr lang="en-US" sz="2000" b="0" i="0" u="none" strike="noStrike" baseline="0" dirty="0">
              <a:latin typeface="TimesTen-Roman"/>
            </a:endParaRPr>
          </a:p>
        </p:txBody>
      </p:sp>
      <p:sp>
        <p:nvSpPr>
          <p:cNvPr id="4" name="灯片编号占位符 3"/>
          <p:cNvSpPr>
            <a:spLocks noGrp="1"/>
          </p:cNvSpPr>
          <p:nvPr>
            <p:ph type="sldNum" sz="quarter" idx="10"/>
          </p:nvPr>
        </p:nvSpPr>
        <p:spPr/>
        <p:txBody>
          <a:bodyPr/>
          <a:lstStyle/>
          <a:p>
            <a:fld id="{D9B6BDF2-6896-4B98-8776-C18582F63BA5}" type="slidenum">
              <a:rPr lang="zh-TW" altLang="en-US" smtClean="0"/>
              <a:t>21</a:t>
            </a:fld>
            <a:endParaRPr lang="zh-TW" altLang="en-US"/>
          </a:p>
        </p:txBody>
      </p:sp>
      <p:pic>
        <p:nvPicPr>
          <p:cNvPr id="3" name="Picture 2">
            <a:extLst>
              <a:ext uri="{FF2B5EF4-FFF2-40B4-BE49-F238E27FC236}">
                <a16:creationId xmlns:a16="http://schemas.microsoft.com/office/drawing/2014/main" id="{7B474708-C8B0-4722-8BAB-00D65EE03356}"/>
              </a:ext>
            </a:extLst>
          </p:cNvPr>
          <p:cNvPicPr>
            <a:picLocks noChangeAspect="1"/>
          </p:cNvPicPr>
          <p:nvPr/>
        </p:nvPicPr>
        <p:blipFill>
          <a:blip r:embed="rId3"/>
          <a:stretch>
            <a:fillRect/>
          </a:stretch>
        </p:blipFill>
        <p:spPr>
          <a:xfrm>
            <a:off x="508931" y="860806"/>
            <a:ext cx="2886478" cy="1028844"/>
          </a:xfrm>
          <a:prstGeom prst="rect">
            <a:avLst/>
          </a:prstGeom>
        </p:spPr>
      </p:pic>
      <p:pic>
        <p:nvPicPr>
          <p:cNvPr id="8" name="Picture 7">
            <a:extLst>
              <a:ext uri="{FF2B5EF4-FFF2-40B4-BE49-F238E27FC236}">
                <a16:creationId xmlns:a16="http://schemas.microsoft.com/office/drawing/2014/main" id="{BB82CB3C-4AA5-4503-B033-91ABCC6492AB}"/>
              </a:ext>
            </a:extLst>
          </p:cNvPr>
          <p:cNvPicPr>
            <a:picLocks noChangeAspect="1"/>
          </p:cNvPicPr>
          <p:nvPr/>
        </p:nvPicPr>
        <p:blipFill>
          <a:blip r:embed="rId4"/>
          <a:stretch>
            <a:fillRect/>
          </a:stretch>
        </p:blipFill>
        <p:spPr>
          <a:xfrm>
            <a:off x="4458285" y="818625"/>
            <a:ext cx="4610743" cy="1009791"/>
          </a:xfrm>
          <a:prstGeom prst="rect">
            <a:avLst/>
          </a:prstGeom>
        </p:spPr>
      </p:pic>
      <p:sp>
        <p:nvSpPr>
          <p:cNvPr id="9" name="Arrow: Right 8">
            <a:extLst>
              <a:ext uri="{FF2B5EF4-FFF2-40B4-BE49-F238E27FC236}">
                <a16:creationId xmlns:a16="http://schemas.microsoft.com/office/drawing/2014/main" id="{9F2F5B56-69EF-41AA-A615-94998F26BBD1}"/>
              </a:ext>
            </a:extLst>
          </p:cNvPr>
          <p:cNvSpPr/>
          <p:nvPr/>
        </p:nvSpPr>
        <p:spPr bwMode="auto">
          <a:xfrm>
            <a:off x="3676476" y="1240971"/>
            <a:ext cx="500742" cy="268515"/>
          </a:xfrm>
          <a:prstGeom prst="rightArrow">
            <a:avLst/>
          </a:prstGeom>
          <a:noFill/>
          <a:ln w="15875" cap="flat" cmpd="sng" algn="ctr">
            <a:solidFill>
              <a:srgbClr val="FF0000"/>
            </a:solidFill>
            <a:prstDash val="solid"/>
            <a:round/>
            <a:headEnd type="none" w="med" len="med"/>
            <a:tailEnd type="none" w="med" len="med"/>
          </a:ln>
        </p:spPr>
        <p:txBody>
          <a:bodyPr vert="horz" wrap="none" lIns="91440" tIns="45720" rIns="91440" bIns="45720" numCol="1" rtlCol="0" anchor="ctr" anchorCtr="0" compatLnSpc="1"/>
          <a:lstStyle/>
          <a:p>
            <a:pPr marL="0" marR="0" indent="0" algn="ctr" defTabSz="914400" rtl="0" eaLnBrk="1" fontAlgn="base" latinLnBrk="0" hangingPunct="1">
              <a:lnSpc>
                <a:spcPct val="100000"/>
              </a:lnSpc>
              <a:spcBef>
                <a:spcPct val="0"/>
              </a:spcBef>
              <a:spcAft>
                <a:spcPct val="0"/>
              </a:spcAft>
              <a:buClrTx/>
              <a:buSzTx/>
              <a:buFontTx/>
              <a:buNone/>
            </a:pPr>
            <a:endParaRPr kumimoji="1" lang="en-US" sz="1800" b="1" i="0" u="none" strike="noStrike" cap="none" normalizeH="0" baseline="0">
              <a:ln>
                <a:noFill/>
              </a:ln>
              <a:solidFill>
                <a:schemeClr val="tx1"/>
              </a:solidFill>
              <a:effectLst/>
              <a:latin typeface="Arial" panose="020B0604020202020204" pitchFamily="34" charset="0"/>
              <a:ea typeface="PMingLiU" panose="02020500000000000000" pitchFamily="18" charset="-120"/>
            </a:endParaRPr>
          </a:p>
        </p:txBody>
      </p:sp>
    </p:spTree>
    <p:extLst>
      <p:ext uri="{BB962C8B-B14F-4D97-AF65-F5344CB8AC3E}">
        <p14:creationId xmlns:p14="http://schemas.microsoft.com/office/powerpoint/2010/main" val="46478060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p:cNvSpPr>
            <a:spLocks noGrp="1"/>
          </p:cNvSpPr>
          <p:nvPr>
            <p:ph type="title"/>
          </p:nvPr>
        </p:nvSpPr>
        <p:spPr/>
        <p:txBody>
          <a:bodyPr/>
          <a:lstStyle/>
          <a:p>
            <a:r>
              <a:rPr lang="en-US" altLang="zh-CN" sz="3200" dirty="0"/>
              <a:t>2.1.6 Boolean Algebra</a:t>
            </a:r>
          </a:p>
        </p:txBody>
      </p:sp>
      <p:sp>
        <p:nvSpPr>
          <p:cNvPr id="6" name="内容占位符 5"/>
          <p:cNvSpPr>
            <a:spLocks noGrp="1"/>
          </p:cNvSpPr>
          <p:nvPr>
            <p:ph idx="1"/>
          </p:nvPr>
        </p:nvSpPr>
        <p:spPr>
          <a:xfrm>
            <a:off x="130629" y="2206172"/>
            <a:ext cx="8665028" cy="1387486"/>
          </a:xfrm>
        </p:spPr>
        <p:txBody>
          <a:bodyPr/>
          <a:lstStyle/>
          <a:p>
            <a:pPr algn="l"/>
            <a:r>
              <a:rPr lang="en-US" sz="2000" b="0" i="0" u="none" strike="noStrike" baseline="0" dirty="0">
                <a:latin typeface="TimesTen-Roman"/>
              </a:rPr>
              <a:t>Boolean algebra plays a central role in the design and analysis of digital systems.</a:t>
            </a:r>
          </a:p>
          <a:p>
            <a:pPr algn="l"/>
            <a:r>
              <a:rPr lang="en-US" sz="2000" b="0" i="0" u="none" strike="noStrike" baseline="0" dirty="0">
                <a:latin typeface="TimesTen-Roman"/>
              </a:rPr>
              <a:t>We extend the four Boolean operations to operate on </a:t>
            </a:r>
            <a:r>
              <a:rPr lang="en-US" sz="2000" b="0" i="1" u="none" strike="noStrike" baseline="0" dirty="0">
                <a:solidFill>
                  <a:srgbClr val="FF0000"/>
                </a:solidFill>
                <a:latin typeface="TimesTen-Italic"/>
              </a:rPr>
              <a:t>bit vectors</a:t>
            </a:r>
            <a:r>
              <a:rPr lang="en-US" sz="2000" b="0" i="0" u="none" strike="noStrike" baseline="0" dirty="0">
                <a:latin typeface="TimesTen-Roman"/>
              </a:rPr>
              <a:t>, strings of zeros and ones of some fixed length </a:t>
            </a:r>
            <a:r>
              <a:rPr lang="en-US" sz="2000" b="0" i="1" u="none" strike="noStrike" baseline="0" dirty="0">
                <a:latin typeface="MTMIZ"/>
              </a:rPr>
              <a:t>w</a:t>
            </a:r>
            <a:r>
              <a:rPr lang="en-US" sz="2000" b="0" i="0" u="none" strike="noStrike" baseline="0" dirty="0">
                <a:latin typeface="TimesTen-Roman"/>
              </a:rPr>
              <a:t>. The following example shows </a:t>
            </a:r>
            <a:r>
              <a:rPr kumimoji="1" lang="en-US" sz="2000" b="0" i="1" u="none" strike="noStrike" kern="0" cap="none" spc="0" normalizeH="0" baseline="0" noProof="0" dirty="0">
                <a:ln>
                  <a:noFill/>
                </a:ln>
                <a:solidFill>
                  <a:prstClr val="black"/>
                </a:solidFill>
                <a:effectLst/>
                <a:uLnTx/>
                <a:uFillTx/>
                <a:latin typeface="MTMIZ"/>
                <a:ea typeface="標楷體" pitchFamily="65" charset="-120"/>
                <a:cs typeface="+mn-cs"/>
              </a:rPr>
              <a:t>w</a:t>
            </a:r>
            <a:r>
              <a:rPr lang="en-US" sz="2000" dirty="0">
                <a:solidFill>
                  <a:prstClr val="black"/>
                </a:solidFill>
                <a:latin typeface="TimesTen-Roman"/>
              </a:rPr>
              <a:t>=4, for bit vectors 0110 and 1100.</a:t>
            </a:r>
            <a:endParaRPr lang="en-US" sz="2000" dirty="0">
              <a:latin typeface="TimesTen-Roman"/>
            </a:endParaRPr>
          </a:p>
        </p:txBody>
      </p:sp>
      <p:sp>
        <p:nvSpPr>
          <p:cNvPr id="4" name="灯片编号占位符 3"/>
          <p:cNvSpPr>
            <a:spLocks noGrp="1"/>
          </p:cNvSpPr>
          <p:nvPr>
            <p:ph type="sldNum" sz="quarter" idx="10"/>
          </p:nvPr>
        </p:nvSpPr>
        <p:spPr/>
        <p:txBody>
          <a:bodyPr/>
          <a:lstStyle/>
          <a:p>
            <a:fld id="{D9B6BDF2-6896-4B98-8776-C18582F63BA5}" type="slidenum">
              <a:rPr lang="zh-TW" altLang="en-US" smtClean="0"/>
              <a:t>22</a:t>
            </a:fld>
            <a:endParaRPr lang="zh-TW" altLang="en-US"/>
          </a:p>
        </p:txBody>
      </p:sp>
      <p:pic>
        <p:nvPicPr>
          <p:cNvPr id="7" name="Picture 6">
            <a:extLst>
              <a:ext uri="{FF2B5EF4-FFF2-40B4-BE49-F238E27FC236}">
                <a16:creationId xmlns:a16="http://schemas.microsoft.com/office/drawing/2014/main" id="{DC1A6CAB-5779-47BE-A308-52FDC4C0D528}"/>
              </a:ext>
            </a:extLst>
          </p:cNvPr>
          <p:cNvPicPr>
            <a:picLocks noChangeAspect="1"/>
          </p:cNvPicPr>
          <p:nvPr/>
        </p:nvPicPr>
        <p:blipFill>
          <a:blip r:embed="rId3"/>
          <a:stretch>
            <a:fillRect/>
          </a:stretch>
        </p:blipFill>
        <p:spPr>
          <a:xfrm>
            <a:off x="1270000" y="731189"/>
            <a:ext cx="7071420" cy="1543265"/>
          </a:xfrm>
          <a:prstGeom prst="rect">
            <a:avLst/>
          </a:prstGeom>
        </p:spPr>
      </p:pic>
      <p:pic>
        <p:nvPicPr>
          <p:cNvPr id="11" name="Picture 10">
            <a:extLst>
              <a:ext uri="{FF2B5EF4-FFF2-40B4-BE49-F238E27FC236}">
                <a16:creationId xmlns:a16="http://schemas.microsoft.com/office/drawing/2014/main" id="{F7BC3F76-4340-4625-88A1-70B3A2EA257F}"/>
              </a:ext>
            </a:extLst>
          </p:cNvPr>
          <p:cNvPicPr>
            <a:picLocks noChangeAspect="1"/>
          </p:cNvPicPr>
          <p:nvPr/>
        </p:nvPicPr>
        <p:blipFill>
          <a:blip r:embed="rId4"/>
          <a:stretch>
            <a:fillRect/>
          </a:stretch>
        </p:blipFill>
        <p:spPr>
          <a:xfrm>
            <a:off x="2000587" y="3616802"/>
            <a:ext cx="4925112" cy="952633"/>
          </a:xfrm>
          <a:prstGeom prst="rect">
            <a:avLst/>
          </a:prstGeom>
        </p:spPr>
      </p:pic>
    </p:spTree>
    <p:extLst>
      <p:ext uri="{BB962C8B-B14F-4D97-AF65-F5344CB8AC3E}">
        <p14:creationId xmlns:p14="http://schemas.microsoft.com/office/powerpoint/2010/main" val="218994060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p:cNvSpPr>
            <a:spLocks noGrp="1"/>
          </p:cNvSpPr>
          <p:nvPr>
            <p:ph type="title"/>
          </p:nvPr>
        </p:nvSpPr>
        <p:spPr/>
        <p:txBody>
          <a:bodyPr/>
          <a:lstStyle/>
          <a:p>
            <a:r>
              <a:rPr lang="en-US" altLang="zh-CN" sz="3200" dirty="0"/>
              <a:t>2.1.7 Bit-Level Operations in C</a:t>
            </a:r>
          </a:p>
        </p:txBody>
      </p:sp>
      <p:sp>
        <p:nvSpPr>
          <p:cNvPr id="6" name="内容占位符 5"/>
          <p:cNvSpPr>
            <a:spLocks noGrp="1"/>
          </p:cNvSpPr>
          <p:nvPr>
            <p:ph idx="1"/>
          </p:nvPr>
        </p:nvSpPr>
        <p:spPr>
          <a:xfrm>
            <a:off x="299585" y="938046"/>
            <a:ext cx="8665028" cy="1074056"/>
          </a:xfrm>
        </p:spPr>
        <p:txBody>
          <a:bodyPr/>
          <a:lstStyle/>
          <a:p>
            <a:pPr algn="l"/>
            <a:r>
              <a:rPr lang="en-US" sz="2000" dirty="0">
                <a:solidFill>
                  <a:prstClr val="black"/>
                </a:solidFill>
                <a:latin typeface="TimesTen-Roman"/>
              </a:rPr>
              <a:t>C/C++ supports </a:t>
            </a:r>
            <a:r>
              <a:rPr lang="en-US" sz="2000" b="0" i="0" u="none" strike="noStrike" baseline="0" dirty="0">
                <a:latin typeface="TimesTen-Roman"/>
              </a:rPr>
              <a:t>bitwise Boolean operations</a:t>
            </a:r>
            <a:r>
              <a:rPr lang="en-US" sz="2000" dirty="0">
                <a:solidFill>
                  <a:prstClr val="black"/>
                </a:solidFill>
                <a:latin typeface="TimesTen-Roman"/>
              </a:rPr>
              <a:t>. These operations </a:t>
            </a:r>
            <a:r>
              <a:rPr lang="en-US" sz="2000" b="0" i="0" u="none" strike="noStrike" baseline="0" dirty="0">
                <a:latin typeface="TimesTen-Roman"/>
              </a:rPr>
              <a:t>can be applied to</a:t>
            </a:r>
          </a:p>
          <a:p>
            <a:pPr marL="0" indent="0" algn="l">
              <a:buNone/>
            </a:pPr>
            <a:r>
              <a:rPr lang="en-US" sz="2000" b="0" i="0" u="none" strike="noStrike" baseline="0" dirty="0">
                <a:latin typeface="TimesTen-Roman"/>
              </a:rPr>
              <a:t>any “integral” data type, such as char, short, int, and long. Here are some examples of expression evaluation for data type </a:t>
            </a:r>
            <a:r>
              <a:rPr lang="en-US" sz="2000" b="0" i="0" u="none" strike="noStrike" baseline="0" dirty="0">
                <a:latin typeface="ZztexMono-Regular"/>
              </a:rPr>
              <a:t>char</a:t>
            </a:r>
            <a:r>
              <a:rPr lang="en-US" sz="2000" b="0" i="0" u="none" strike="noStrike" baseline="0" dirty="0">
                <a:latin typeface="TimesTen-Roman"/>
              </a:rPr>
              <a:t>:</a:t>
            </a:r>
          </a:p>
          <a:p>
            <a:pPr marL="0" indent="0" algn="l">
              <a:buNone/>
            </a:pPr>
            <a:endParaRPr lang="en-US" sz="2000" dirty="0">
              <a:latin typeface="TimesTen-Roman"/>
            </a:endParaRPr>
          </a:p>
          <a:p>
            <a:pPr marL="0" indent="0" algn="l">
              <a:buNone/>
            </a:pPr>
            <a:endParaRPr lang="en-US" sz="2000" dirty="0">
              <a:latin typeface="TimesTen-Roman"/>
            </a:endParaRPr>
          </a:p>
        </p:txBody>
      </p:sp>
      <p:sp>
        <p:nvSpPr>
          <p:cNvPr id="4" name="灯片编号占位符 3"/>
          <p:cNvSpPr>
            <a:spLocks noGrp="1"/>
          </p:cNvSpPr>
          <p:nvPr>
            <p:ph type="sldNum" sz="quarter" idx="10"/>
          </p:nvPr>
        </p:nvSpPr>
        <p:spPr/>
        <p:txBody>
          <a:bodyPr/>
          <a:lstStyle/>
          <a:p>
            <a:fld id="{D9B6BDF2-6896-4B98-8776-C18582F63BA5}" type="slidenum">
              <a:rPr lang="zh-TW" altLang="en-US" smtClean="0"/>
              <a:t>23</a:t>
            </a:fld>
            <a:endParaRPr lang="zh-TW" altLang="en-US"/>
          </a:p>
        </p:txBody>
      </p:sp>
      <p:graphicFrame>
        <p:nvGraphicFramePr>
          <p:cNvPr id="7" name="Table 7">
            <a:extLst>
              <a:ext uri="{FF2B5EF4-FFF2-40B4-BE49-F238E27FC236}">
                <a16:creationId xmlns:a16="http://schemas.microsoft.com/office/drawing/2014/main" id="{E2A2D521-B8FA-45B6-8F82-DAEEE0410E99}"/>
              </a:ext>
            </a:extLst>
          </p:cNvPr>
          <p:cNvGraphicFramePr>
            <a:graphicFrameLocks noGrp="1"/>
          </p:cNvGraphicFramePr>
          <p:nvPr>
            <p:extLst>
              <p:ext uri="{D42A27DB-BD31-4B8C-83A1-F6EECF244321}">
                <p14:modId xmlns:p14="http://schemas.microsoft.com/office/powerpoint/2010/main" val="1467609716"/>
              </p:ext>
            </p:extLst>
          </p:nvPr>
        </p:nvGraphicFramePr>
        <p:xfrm>
          <a:off x="686764" y="2204299"/>
          <a:ext cx="7770472" cy="1854200"/>
        </p:xfrm>
        <a:graphic>
          <a:graphicData uri="http://schemas.openxmlformats.org/drawingml/2006/table">
            <a:tbl>
              <a:tblPr firstRow="1" bandRow="1">
                <a:tableStyleId>{5C22544A-7EE6-4342-B048-85BDC9FD1C3A}</a:tableStyleId>
              </a:tblPr>
              <a:tblGrid>
                <a:gridCol w="1694542">
                  <a:extLst>
                    <a:ext uri="{9D8B030D-6E8A-4147-A177-3AD203B41FA5}">
                      <a16:colId xmlns:a16="http://schemas.microsoft.com/office/drawing/2014/main" val="3520039932"/>
                    </a:ext>
                  </a:extLst>
                </a:gridCol>
                <a:gridCol w="2190694">
                  <a:extLst>
                    <a:ext uri="{9D8B030D-6E8A-4147-A177-3AD203B41FA5}">
                      <a16:colId xmlns:a16="http://schemas.microsoft.com/office/drawing/2014/main" val="1622112925"/>
                    </a:ext>
                  </a:extLst>
                </a:gridCol>
                <a:gridCol w="1942618">
                  <a:extLst>
                    <a:ext uri="{9D8B030D-6E8A-4147-A177-3AD203B41FA5}">
                      <a16:colId xmlns:a16="http://schemas.microsoft.com/office/drawing/2014/main" val="373704989"/>
                    </a:ext>
                  </a:extLst>
                </a:gridCol>
                <a:gridCol w="1942618">
                  <a:extLst>
                    <a:ext uri="{9D8B030D-6E8A-4147-A177-3AD203B41FA5}">
                      <a16:colId xmlns:a16="http://schemas.microsoft.com/office/drawing/2014/main" val="2472744557"/>
                    </a:ext>
                  </a:extLst>
                </a:gridCol>
              </a:tblGrid>
              <a:tr h="370840">
                <a:tc>
                  <a:txBody>
                    <a:bodyPr/>
                    <a:lstStyle/>
                    <a:p>
                      <a:r>
                        <a:rPr lang="en-US" dirty="0"/>
                        <a:t>C Expression</a:t>
                      </a:r>
                    </a:p>
                  </a:txBody>
                  <a:tcPr/>
                </a:tc>
                <a:tc>
                  <a:txBody>
                    <a:bodyPr/>
                    <a:lstStyle/>
                    <a:p>
                      <a:r>
                        <a:rPr lang="en-US" dirty="0"/>
                        <a:t>Binary Expression</a:t>
                      </a:r>
                    </a:p>
                  </a:txBody>
                  <a:tcPr/>
                </a:tc>
                <a:tc>
                  <a:txBody>
                    <a:bodyPr/>
                    <a:lstStyle/>
                    <a:p>
                      <a:r>
                        <a:rPr lang="en-US" dirty="0"/>
                        <a:t>Binary Result</a:t>
                      </a:r>
                    </a:p>
                  </a:txBody>
                  <a:tcPr/>
                </a:tc>
                <a:tc>
                  <a:txBody>
                    <a:bodyPr/>
                    <a:lstStyle/>
                    <a:p>
                      <a:r>
                        <a:rPr lang="en-US" dirty="0"/>
                        <a:t>Hexadecimal Result</a:t>
                      </a:r>
                    </a:p>
                  </a:txBody>
                  <a:tcPr/>
                </a:tc>
                <a:extLst>
                  <a:ext uri="{0D108BD9-81ED-4DB2-BD59-A6C34878D82A}">
                    <a16:rowId xmlns:a16="http://schemas.microsoft.com/office/drawing/2014/main" val="2743763077"/>
                  </a:ext>
                </a:extLst>
              </a:tr>
              <a:tr h="370840">
                <a:tc>
                  <a:txBody>
                    <a:bodyPr/>
                    <a:lstStyle/>
                    <a:p>
                      <a:r>
                        <a:rPr lang="en-US" dirty="0"/>
                        <a:t>~0x41</a:t>
                      </a:r>
                    </a:p>
                  </a:txBody>
                  <a:tcPr/>
                </a:tc>
                <a:tc>
                  <a:txBody>
                    <a:bodyPr/>
                    <a:lstStyle/>
                    <a:p>
                      <a:r>
                        <a:rPr lang="en-US" dirty="0"/>
                        <a:t>~[0100 0001]</a:t>
                      </a:r>
                    </a:p>
                  </a:txBody>
                  <a:tcPr/>
                </a:tc>
                <a:tc>
                  <a:txBody>
                    <a:bodyPr/>
                    <a:lstStyle/>
                    <a:p>
                      <a:r>
                        <a:rPr lang="en-US" dirty="0"/>
                        <a:t>[1011 1110]</a:t>
                      </a:r>
                    </a:p>
                  </a:txBody>
                  <a:tcPr/>
                </a:tc>
                <a:tc>
                  <a:txBody>
                    <a:bodyPr/>
                    <a:lstStyle/>
                    <a:p>
                      <a:r>
                        <a:rPr lang="en-US" dirty="0"/>
                        <a:t>0xBE</a:t>
                      </a:r>
                    </a:p>
                  </a:txBody>
                  <a:tcPr/>
                </a:tc>
                <a:extLst>
                  <a:ext uri="{0D108BD9-81ED-4DB2-BD59-A6C34878D82A}">
                    <a16:rowId xmlns:a16="http://schemas.microsoft.com/office/drawing/2014/main" val="1166059618"/>
                  </a:ext>
                </a:extLst>
              </a:tr>
              <a:tr h="370840">
                <a:tc>
                  <a:txBody>
                    <a:bodyPr/>
                    <a:lstStyle/>
                    <a:p>
                      <a:r>
                        <a:rPr lang="en-US" dirty="0"/>
                        <a:t>~0x00</a:t>
                      </a:r>
                    </a:p>
                  </a:txBody>
                  <a:tcPr/>
                </a:tc>
                <a:tc>
                  <a:txBody>
                    <a:bodyPr/>
                    <a:lstStyle/>
                    <a:p>
                      <a:r>
                        <a:rPr lang="en-US" dirty="0"/>
                        <a:t>~[0000 0000]</a:t>
                      </a:r>
                    </a:p>
                  </a:txBody>
                  <a:tcPr/>
                </a:tc>
                <a:tc>
                  <a:txBody>
                    <a:bodyPr/>
                    <a:lstStyle/>
                    <a:p>
                      <a:r>
                        <a:rPr lang="en-US" dirty="0"/>
                        <a:t>[1111 1111]</a:t>
                      </a:r>
                    </a:p>
                  </a:txBody>
                  <a:tcPr/>
                </a:tc>
                <a:tc>
                  <a:txBody>
                    <a:bodyPr/>
                    <a:lstStyle/>
                    <a:p>
                      <a:r>
                        <a:rPr lang="en-US" dirty="0"/>
                        <a:t>0xFF</a:t>
                      </a:r>
                    </a:p>
                  </a:txBody>
                  <a:tcPr/>
                </a:tc>
                <a:extLst>
                  <a:ext uri="{0D108BD9-81ED-4DB2-BD59-A6C34878D82A}">
                    <a16:rowId xmlns:a16="http://schemas.microsoft.com/office/drawing/2014/main" val="1009456005"/>
                  </a:ext>
                </a:extLst>
              </a:tr>
              <a:tr h="370840">
                <a:tc>
                  <a:txBody>
                    <a:bodyPr/>
                    <a:lstStyle/>
                    <a:p>
                      <a:r>
                        <a:rPr lang="en-US" dirty="0"/>
                        <a:t>0x69 &amp; 0x55</a:t>
                      </a:r>
                    </a:p>
                  </a:txBody>
                  <a:tcPr/>
                </a:tc>
                <a:tc>
                  <a:txBody>
                    <a:bodyPr/>
                    <a:lstStyle/>
                    <a:p>
                      <a:r>
                        <a:rPr lang="en-US" dirty="0"/>
                        <a:t>[0110 1001]&amp;[0101 0101]</a:t>
                      </a:r>
                    </a:p>
                  </a:txBody>
                  <a:tcPr/>
                </a:tc>
                <a:tc>
                  <a:txBody>
                    <a:bodyPr/>
                    <a:lstStyle/>
                    <a:p>
                      <a:r>
                        <a:rPr lang="en-US" dirty="0"/>
                        <a:t>[0100 0001]</a:t>
                      </a:r>
                    </a:p>
                  </a:txBody>
                  <a:tcPr/>
                </a:tc>
                <a:tc>
                  <a:txBody>
                    <a:bodyPr/>
                    <a:lstStyle/>
                    <a:p>
                      <a:r>
                        <a:rPr lang="en-US" dirty="0"/>
                        <a:t>0x41</a:t>
                      </a:r>
                    </a:p>
                  </a:txBody>
                  <a:tcPr/>
                </a:tc>
                <a:extLst>
                  <a:ext uri="{0D108BD9-81ED-4DB2-BD59-A6C34878D82A}">
                    <a16:rowId xmlns:a16="http://schemas.microsoft.com/office/drawing/2014/main" val="2395333023"/>
                  </a:ext>
                </a:extLst>
              </a:tr>
              <a:tr h="370840">
                <a:tc>
                  <a:txBody>
                    <a:bodyPr/>
                    <a:lstStyle/>
                    <a:p>
                      <a:r>
                        <a:rPr lang="en-US" dirty="0"/>
                        <a:t>0x69 | 0x55</a:t>
                      </a:r>
                    </a:p>
                  </a:txBody>
                  <a:tcPr/>
                </a:tc>
                <a:tc>
                  <a:txBody>
                    <a:bodyPr/>
                    <a:lstStyle/>
                    <a:p>
                      <a:pPr marL="0" marR="0" lvl="0" indent="0" algn="l" defTabSz="685165" rtl="0" eaLnBrk="1" fontAlgn="auto" latinLnBrk="0" hangingPunct="1">
                        <a:lnSpc>
                          <a:spcPct val="100000"/>
                        </a:lnSpc>
                        <a:spcBef>
                          <a:spcPts val="0"/>
                        </a:spcBef>
                        <a:spcAft>
                          <a:spcPts val="0"/>
                        </a:spcAft>
                        <a:buClrTx/>
                        <a:buSzTx/>
                        <a:buFontTx/>
                        <a:buNone/>
                        <a:tabLst/>
                        <a:defRPr/>
                      </a:pPr>
                      <a:r>
                        <a:rPr kumimoji="0" lang="en-US" sz="1350" b="0" i="0" u="none" strike="noStrike" kern="1200" cap="none" spc="0" normalizeH="0" baseline="0" noProof="0" dirty="0">
                          <a:ln>
                            <a:noFill/>
                          </a:ln>
                          <a:solidFill>
                            <a:prstClr val="black"/>
                          </a:solidFill>
                          <a:effectLst/>
                          <a:uLnTx/>
                          <a:uFillTx/>
                          <a:latin typeface="+mn-lt"/>
                          <a:ea typeface="+mn-ea"/>
                          <a:cs typeface="+mn-cs"/>
                        </a:rPr>
                        <a:t>[0110 1001] | [0101 0101]</a:t>
                      </a:r>
                    </a:p>
                  </a:txBody>
                  <a:tcPr/>
                </a:tc>
                <a:tc>
                  <a:txBody>
                    <a:bodyPr/>
                    <a:lstStyle/>
                    <a:p>
                      <a:r>
                        <a:rPr lang="en-US" dirty="0"/>
                        <a:t>[0111 1101]</a:t>
                      </a:r>
                    </a:p>
                  </a:txBody>
                  <a:tcPr/>
                </a:tc>
                <a:tc>
                  <a:txBody>
                    <a:bodyPr/>
                    <a:lstStyle/>
                    <a:p>
                      <a:r>
                        <a:rPr lang="en-US" dirty="0"/>
                        <a:t>0x7D</a:t>
                      </a:r>
                    </a:p>
                  </a:txBody>
                  <a:tcPr/>
                </a:tc>
                <a:extLst>
                  <a:ext uri="{0D108BD9-81ED-4DB2-BD59-A6C34878D82A}">
                    <a16:rowId xmlns:a16="http://schemas.microsoft.com/office/drawing/2014/main" val="2126422304"/>
                  </a:ext>
                </a:extLst>
              </a:tr>
            </a:tbl>
          </a:graphicData>
        </a:graphic>
      </p:graphicFrame>
    </p:spTree>
    <p:extLst>
      <p:ext uri="{BB962C8B-B14F-4D97-AF65-F5344CB8AC3E}">
        <p14:creationId xmlns:p14="http://schemas.microsoft.com/office/powerpoint/2010/main" val="226132138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15068" y="108349"/>
            <a:ext cx="7660622" cy="519113"/>
          </a:xfrm>
        </p:spPr>
        <p:txBody>
          <a:bodyPr/>
          <a:lstStyle/>
          <a:p>
            <a:r>
              <a:rPr lang="en-US" dirty="0"/>
              <a:t>Exercise </a:t>
            </a:r>
            <a:r>
              <a:rPr lang="en-US" sz="2800" dirty="0"/>
              <a:t>(practice problem 2.10) </a:t>
            </a:r>
          </a:p>
        </p:txBody>
      </p:sp>
      <p:sp>
        <p:nvSpPr>
          <p:cNvPr id="3" name="Content Placeholder 2"/>
          <p:cNvSpPr>
            <a:spLocks noGrp="1"/>
          </p:cNvSpPr>
          <p:nvPr>
            <p:ph idx="1"/>
          </p:nvPr>
        </p:nvSpPr>
        <p:spPr>
          <a:xfrm>
            <a:off x="537029" y="844153"/>
            <a:ext cx="8527142" cy="3671888"/>
          </a:xfrm>
        </p:spPr>
        <p:txBody>
          <a:bodyPr/>
          <a:lstStyle/>
          <a:p>
            <a:r>
              <a:rPr lang="en-US" sz="2000" dirty="0"/>
              <a:t>Assume </a:t>
            </a:r>
            <a:r>
              <a:rPr lang="en-US" sz="2000" b="1" i="1" dirty="0"/>
              <a:t>a</a:t>
            </a:r>
            <a:r>
              <a:rPr lang="en-US" sz="2000" dirty="0"/>
              <a:t> is a bit vector. </a:t>
            </a:r>
            <a:r>
              <a:rPr lang="en-US" sz="2000" b="1" i="1" dirty="0"/>
              <a:t>  a ^ a  = 0</a:t>
            </a:r>
            <a:r>
              <a:rPr lang="en-US" sz="2000" dirty="0"/>
              <a:t>. We could swap the content of two variables with the following </a:t>
            </a:r>
            <a:r>
              <a:rPr lang="en-US" sz="2000" dirty="0" err="1"/>
              <a:t>inplace_swap</a:t>
            </a:r>
            <a:r>
              <a:rPr lang="en-US" sz="2000" dirty="0"/>
              <a:t>() routine.</a:t>
            </a:r>
          </a:p>
          <a:p>
            <a:pPr marL="0" indent="0">
              <a:buNone/>
            </a:pPr>
            <a:endParaRPr lang="en-US" sz="2000" dirty="0"/>
          </a:p>
        </p:txBody>
      </p:sp>
      <p:sp>
        <p:nvSpPr>
          <p:cNvPr id="4" name="灯片编号占位符 3"/>
          <p:cNvSpPr>
            <a:spLocks noGrp="1"/>
          </p:cNvSpPr>
          <p:nvPr>
            <p:ph type="sldNum" sz="quarter" idx="10"/>
          </p:nvPr>
        </p:nvSpPr>
        <p:spPr/>
        <p:txBody>
          <a:bodyPr/>
          <a:lstStyle/>
          <a:p>
            <a:fld id="{D9B6BDF2-6896-4B98-8776-C18582F63BA5}" type="slidenum">
              <a:rPr lang="zh-TW" altLang="en-US" smtClean="0"/>
              <a:t>24</a:t>
            </a:fld>
            <a:endParaRPr lang="zh-TW" altLang="en-US"/>
          </a:p>
        </p:txBody>
      </p:sp>
      <p:pic>
        <p:nvPicPr>
          <p:cNvPr id="6" name="Picture 5">
            <a:extLst>
              <a:ext uri="{FF2B5EF4-FFF2-40B4-BE49-F238E27FC236}">
                <a16:creationId xmlns:a16="http://schemas.microsoft.com/office/drawing/2014/main" id="{B5031E83-0C61-498F-83D5-7138476C5F94}"/>
              </a:ext>
            </a:extLst>
          </p:cNvPr>
          <p:cNvPicPr>
            <a:picLocks noChangeAspect="1"/>
          </p:cNvPicPr>
          <p:nvPr/>
        </p:nvPicPr>
        <p:blipFill>
          <a:blip r:embed="rId3"/>
          <a:stretch>
            <a:fillRect/>
          </a:stretch>
        </p:blipFill>
        <p:spPr>
          <a:xfrm>
            <a:off x="805543" y="1512324"/>
            <a:ext cx="3390604" cy="1194755"/>
          </a:xfrm>
          <a:prstGeom prst="rect">
            <a:avLst/>
          </a:prstGeom>
        </p:spPr>
      </p:pic>
      <p:graphicFrame>
        <p:nvGraphicFramePr>
          <p:cNvPr id="9" name="Table 9">
            <a:extLst>
              <a:ext uri="{FF2B5EF4-FFF2-40B4-BE49-F238E27FC236}">
                <a16:creationId xmlns:a16="http://schemas.microsoft.com/office/drawing/2014/main" id="{A69F1BA4-924E-41FE-BA4B-A6269CE4F315}"/>
              </a:ext>
            </a:extLst>
          </p:cNvPr>
          <p:cNvGraphicFramePr>
            <a:graphicFrameLocks noGrp="1"/>
          </p:cNvGraphicFramePr>
          <p:nvPr>
            <p:extLst>
              <p:ext uri="{D42A27DB-BD31-4B8C-83A1-F6EECF244321}">
                <p14:modId xmlns:p14="http://schemas.microsoft.com/office/powerpoint/2010/main" val="336513715"/>
              </p:ext>
            </p:extLst>
          </p:nvPr>
        </p:nvGraphicFramePr>
        <p:xfrm>
          <a:off x="892629" y="2815425"/>
          <a:ext cx="6103257" cy="1854200"/>
        </p:xfrm>
        <a:graphic>
          <a:graphicData uri="http://schemas.openxmlformats.org/drawingml/2006/table">
            <a:tbl>
              <a:tblPr firstRow="1" bandRow="1">
                <a:tableStyleId>{5C22544A-7EE6-4342-B048-85BDC9FD1C3A}</a:tableStyleId>
              </a:tblPr>
              <a:tblGrid>
                <a:gridCol w="2039257">
                  <a:extLst>
                    <a:ext uri="{9D8B030D-6E8A-4147-A177-3AD203B41FA5}">
                      <a16:colId xmlns:a16="http://schemas.microsoft.com/office/drawing/2014/main" val="2236728271"/>
                    </a:ext>
                  </a:extLst>
                </a:gridCol>
                <a:gridCol w="2032000">
                  <a:extLst>
                    <a:ext uri="{9D8B030D-6E8A-4147-A177-3AD203B41FA5}">
                      <a16:colId xmlns:a16="http://schemas.microsoft.com/office/drawing/2014/main" val="2285547153"/>
                    </a:ext>
                  </a:extLst>
                </a:gridCol>
                <a:gridCol w="2032000">
                  <a:extLst>
                    <a:ext uri="{9D8B030D-6E8A-4147-A177-3AD203B41FA5}">
                      <a16:colId xmlns:a16="http://schemas.microsoft.com/office/drawing/2014/main" val="3353129849"/>
                    </a:ext>
                  </a:extLst>
                </a:gridCol>
              </a:tblGrid>
              <a:tr h="370840">
                <a:tc>
                  <a:txBody>
                    <a:bodyPr/>
                    <a:lstStyle/>
                    <a:p>
                      <a:pPr algn="ctr"/>
                      <a:r>
                        <a:rPr lang="en-US" dirty="0"/>
                        <a:t>Steps</a:t>
                      </a:r>
                    </a:p>
                  </a:txBody>
                  <a:tcPr/>
                </a:tc>
                <a:tc>
                  <a:txBody>
                    <a:bodyPr/>
                    <a:lstStyle/>
                    <a:p>
                      <a:pPr algn="ctr"/>
                      <a:r>
                        <a:rPr lang="en-US" dirty="0"/>
                        <a:t>*X</a:t>
                      </a:r>
                    </a:p>
                  </a:txBody>
                  <a:tcPr/>
                </a:tc>
                <a:tc>
                  <a:txBody>
                    <a:bodyPr/>
                    <a:lstStyle/>
                    <a:p>
                      <a:pPr algn="ctr"/>
                      <a:r>
                        <a:rPr lang="en-US" dirty="0"/>
                        <a:t>*Y</a:t>
                      </a:r>
                    </a:p>
                  </a:txBody>
                  <a:tcPr/>
                </a:tc>
                <a:extLst>
                  <a:ext uri="{0D108BD9-81ED-4DB2-BD59-A6C34878D82A}">
                    <a16:rowId xmlns:a16="http://schemas.microsoft.com/office/drawing/2014/main" val="4068354195"/>
                  </a:ext>
                </a:extLst>
              </a:tr>
              <a:tr h="370840">
                <a:tc>
                  <a:txBody>
                    <a:bodyPr/>
                    <a:lstStyle/>
                    <a:p>
                      <a:pPr algn="ctr"/>
                      <a:r>
                        <a:rPr lang="en-US" dirty="0"/>
                        <a:t>Initially</a:t>
                      </a:r>
                    </a:p>
                  </a:txBody>
                  <a:tcPr/>
                </a:tc>
                <a:tc>
                  <a:txBody>
                    <a:bodyPr/>
                    <a:lstStyle/>
                    <a:p>
                      <a:pPr algn="ctr"/>
                      <a:r>
                        <a:rPr lang="en-US" dirty="0"/>
                        <a:t>A</a:t>
                      </a:r>
                    </a:p>
                  </a:txBody>
                  <a:tcPr/>
                </a:tc>
                <a:tc>
                  <a:txBody>
                    <a:bodyPr/>
                    <a:lstStyle/>
                    <a:p>
                      <a:pPr algn="ctr"/>
                      <a:r>
                        <a:rPr lang="en-US" dirty="0"/>
                        <a:t>B</a:t>
                      </a:r>
                    </a:p>
                  </a:txBody>
                  <a:tcPr/>
                </a:tc>
                <a:extLst>
                  <a:ext uri="{0D108BD9-81ED-4DB2-BD59-A6C34878D82A}">
                    <a16:rowId xmlns:a16="http://schemas.microsoft.com/office/drawing/2014/main" val="1948458293"/>
                  </a:ext>
                </a:extLst>
              </a:tr>
              <a:tr h="370840">
                <a:tc>
                  <a:txBody>
                    <a:bodyPr/>
                    <a:lstStyle/>
                    <a:p>
                      <a:pPr algn="ctr"/>
                      <a:r>
                        <a:rPr lang="en-US" dirty="0"/>
                        <a:t>Step 1</a:t>
                      </a:r>
                    </a:p>
                  </a:txBody>
                  <a:tcPr/>
                </a:tc>
                <a:tc>
                  <a:txBody>
                    <a:bodyPr/>
                    <a:lstStyle/>
                    <a:p>
                      <a:pPr algn="ctr"/>
                      <a:r>
                        <a:rPr lang="en-US" dirty="0"/>
                        <a:t>A</a:t>
                      </a:r>
                    </a:p>
                  </a:txBody>
                  <a:tcPr/>
                </a:tc>
                <a:tc>
                  <a:txBody>
                    <a:bodyPr/>
                    <a:lstStyle/>
                    <a:p>
                      <a:pPr algn="ctr"/>
                      <a:r>
                        <a:rPr lang="en-US" dirty="0"/>
                        <a:t>A^B</a:t>
                      </a:r>
                    </a:p>
                  </a:txBody>
                  <a:tcPr/>
                </a:tc>
                <a:extLst>
                  <a:ext uri="{0D108BD9-81ED-4DB2-BD59-A6C34878D82A}">
                    <a16:rowId xmlns:a16="http://schemas.microsoft.com/office/drawing/2014/main" val="2067019078"/>
                  </a:ext>
                </a:extLst>
              </a:tr>
              <a:tr h="370840">
                <a:tc>
                  <a:txBody>
                    <a:bodyPr/>
                    <a:lstStyle/>
                    <a:p>
                      <a:pPr algn="ctr"/>
                      <a:r>
                        <a:rPr lang="en-US" dirty="0"/>
                        <a:t>Step 2</a:t>
                      </a:r>
                    </a:p>
                  </a:txBody>
                  <a:tcPr/>
                </a:tc>
                <a:tc>
                  <a:txBody>
                    <a:bodyPr/>
                    <a:lstStyle/>
                    <a:p>
                      <a:r>
                        <a:rPr lang="en-US" dirty="0"/>
                        <a:t>A^(A^B)= (A^A)^B = B</a:t>
                      </a:r>
                    </a:p>
                  </a:txBody>
                  <a:tcPr/>
                </a:tc>
                <a:tc>
                  <a:txBody>
                    <a:bodyPr/>
                    <a:lstStyle/>
                    <a:p>
                      <a:r>
                        <a:rPr lang="en-US" dirty="0"/>
                        <a:t>A^B</a:t>
                      </a:r>
                    </a:p>
                  </a:txBody>
                  <a:tcPr/>
                </a:tc>
                <a:extLst>
                  <a:ext uri="{0D108BD9-81ED-4DB2-BD59-A6C34878D82A}">
                    <a16:rowId xmlns:a16="http://schemas.microsoft.com/office/drawing/2014/main" val="738095320"/>
                  </a:ext>
                </a:extLst>
              </a:tr>
              <a:tr h="370840">
                <a:tc>
                  <a:txBody>
                    <a:bodyPr/>
                    <a:lstStyle/>
                    <a:p>
                      <a:pPr algn="ctr"/>
                      <a:r>
                        <a:rPr lang="en-US" dirty="0"/>
                        <a:t>Step 3</a:t>
                      </a:r>
                    </a:p>
                  </a:txBody>
                  <a:tcPr/>
                </a:tc>
                <a:tc>
                  <a:txBody>
                    <a:bodyPr/>
                    <a:lstStyle/>
                    <a:p>
                      <a:pPr algn="ctr"/>
                      <a:r>
                        <a:rPr lang="en-US" dirty="0"/>
                        <a:t>B</a:t>
                      </a:r>
                    </a:p>
                  </a:txBody>
                  <a:tcPr/>
                </a:tc>
                <a:tc>
                  <a:txBody>
                    <a:bodyPr/>
                    <a:lstStyle/>
                    <a:p>
                      <a:pPr algn="ctr"/>
                      <a:r>
                        <a:rPr lang="en-US" dirty="0"/>
                        <a:t>B^(A^B)=(B^B)^A= A</a:t>
                      </a:r>
                    </a:p>
                  </a:txBody>
                  <a:tcPr/>
                </a:tc>
                <a:extLst>
                  <a:ext uri="{0D108BD9-81ED-4DB2-BD59-A6C34878D82A}">
                    <a16:rowId xmlns:a16="http://schemas.microsoft.com/office/drawing/2014/main" val="2340309342"/>
                  </a:ext>
                </a:extLst>
              </a:tr>
            </a:tbl>
          </a:graphicData>
        </a:graphic>
      </p:graphicFrame>
      <p:sp>
        <p:nvSpPr>
          <p:cNvPr id="10" name="TextBox 9">
            <a:extLst>
              <a:ext uri="{FF2B5EF4-FFF2-40B4-BE49-F238E27FC236}">
                <a16:creationId xmlns:a16="http://schemas.microsoft.com/office/drawing/2014/main" id="{52B554BA-110C-42BF-B147-46B33A81B6A4}"/>
              </a:ext>
            </a:extLst>
          </p:cNvPr>
          <p:cNvSpPr txBox="1"/>
          <p:nvPr/>
        </p:nvSpPr>
        <p:spPr>
          <a:xfrm>
            <a:off x="6831013" y="2033766"/>
            <a:ext cx="2236510" cy="646331"/>
          </a:xfrm>
          <a:prstGeom prst="rect">
            <a:avLst/>
          </a:prstGeom>
          <a:noFill/>
        </p:spPr>
        <p:txBody>
          <a:bodyPr wrap="none" rtlCol="0" anchor="ctr" anchorCtr="1">
            <a:spAutoFit/>
          </a:bodyPr>
          <a:lstStyle/>
          <a:p>
            <a:r>
              <a:rPr lang="en-US" dirty="0">
                <a:ea typeface="標楷體" pitchFamily="65" charset="-120"/>
                <a:cs typeface="Calibri" panose="020F0502020204030204" pitchFamily="34" charset="0"/>
              </a:rPr>
              <a:t>Swap without using </a:t>
            </a:r>
          </a:p>
          <a:p>
            <a:r>
              <a:rPr lang="en-US" dirty="0">
                <a:ea typeface="標楷體" pitchFamily="65" charset="-120"/>
                <a:cs typeface="Calibri" panose="020F0502020204030204" pitchFamily="34" charset="0"/>
              </a:rPr>
              <a:t>a temporary</a:t>
            </a:r>
          </a:p>
        </p:txBody>
      </p:sp>
    </p:spTree>
    <p:extLst>
      <p:ext uri="{BB962C8B-B14F-4D97-AF65-F5344CB8AC3E}">
        <p14:creationId xmlns:p14="http://schemas.microsoft.com/office/powerpoint/2010/main" val="317109533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p:cNvSpPr>
            <a:spLocks noGrp="1"/>
          </p:cNvSpPr>
          <p:nvPr>
            <p:ph type="title"/>
          </p:nvPr>
        </p:nvSpPr>
        <p:spPr/>
        <p:txBody>
          <a:bodyPr/>
          <a:lstStyle/>
          <a:p>
            <a:r>
              <a:rPr lang="en-US" altLang="zh-CN" sz="3200" dirty="0"/>
              <a:t>2.1.8 Logical Operations in C</a:t>
            </a:r>
          </a:p>
        </p:txBody>
      </p:sp>
      <p:sp>
        <p:nvSpPr>
          <p:cNvPr id="6" name="内容占位符 5"/>
          <p:cNvSpPr>
            <a:spLocks noGrp="1"/>
          </p:cNvSpPr>
          <p:nvPr>
            <p:ph idx="1"/>
          </p:nvPr>
        </p:nvSpPr>
        <p:spPr>
          <a:xfrm>
            <a:off x="10662" y="870858"/>
            <a:ext cx="8665028" cy="1387486"/>
          </a:xfrm>
        </p:spPr>
        <p:txBody>
          <a:bodyPr/>
          <a:lstStyle/>
          <a:p>
            <a:pPr algn="l"/>
            <a:r>
              <a:rPr lang="en-US" sz="2000" b="0" i="0" u="none" strike="noStrike" baseline="0" dirty="0">
                <a:latin typeface="TimesTen-Roman"/>
              </a:rPr>
              <a:t>C provides a set of </a:t>
            </a:r>
            <a:r>
              <a:rPr lang="en-US" sz="2000" b="0" i="1" u="none" strike="noStrike" baseline="0" dirty="0">
                <a:latin typeface="TimesTen-Italic"/>
              </a:rPr>
              <a:t>logical </a:t>
            </a:r>
            <a:r>
              <a:rPr lang="en-US" sz="2000" b="0" i="0" u="none" strike="noStrike" baseline="0" dirty="0">
                <a:latin typeface="TimesTen-Roman"/>
              </a:rPr>
              <a:t>operators </a:t>
            </a:r>
            <a:r>
              <a:rPr lang="en-US" sz="2000" b="0" i="0" u="none" strike="noStrike" baseline="0" dirty="0">
                <a:latin typeface="ZztexMono-Regular"/>
              </a:rPr>
              <a:t>||</a:t>
            </a:r>
            <a:r>
              <a:rPr lang="en-US" sz="2000" b="0" i="0" u="none" strike="noStrike" baseline="0" dirty="0">
                <a:latin typeface="TimesTen-Roman"/>
              </a:rPr>
              <a:t>, </a:t>
            </a:r>
            <a:r>
              <a:rPr lang="en-US" sz="2000" b="0" i="0" u="none" strike="noStrike" baseline="0" dirty="0">
                <a:latin typeface="ZztexMono-Regular"/>
              </a:rPr>
              <a:t>&amp;&amp;</a:t>
            </a:r>
            <a:r>
              <a:rPr lang="en-US" sz="2000" b="0" i="0" u="none" strike="noStrike" baseline="0" dirty="0">
                <a:latin typeface="TimesTen-Roman"/>
              </a:rPr>
              <a:t>, and </a:t>
            </a:r>
            <a:r>
              <a:rPr lang="en-US" sz="2000" b="0" i="0" u="none" strike="noStrike" baseline="0" dirty="0">
                <a:latin typeface="ZztexMono-Regular"/>
              </a:rPr>
              <a:t>!</a:t>
            </a:r>
            <a:r>
              <a:rPr lang="en-US" sz="2000" b="0" i="0" u="none" strike="noStrike" baseline="0" dirty="0">
                <a:latin typeface="TimesTen-Roman"/>
              </a:rPr>
              <a:t>, which correspond to the </a:t>
            </a:r>
            <a:r>
              <a:rPr lang="en-US" sz="2000" b="1" i="0" u="none" strike="noStrike" baseline="0" dirty="0">
                <a:latin typeface="TimesTen-RomanSC"/>
              </a:rPr>
              <a:t>or</a:t>
            </a:r>
            <a:r>
              <a:rPr lang="en-US" sz="2000" b="1" i="0" u="none" strike="noStrike" baseline="0" dirty="0">
                <a:latin typeface="TimesTen-Roman"/>
              </a:rPr>
              <a:t>, </a:t>
            </a:r>
            <a:r>
              <a:rPr lang="en-US" sz="2000" b="1" i="0" u="none" strike="noStrike" baseline="0" dirty="0">
                <a:latin typeface="TimesTen-RomanSC"/>
              </a:rPr>
              <a:t>and</a:t>
            </a:r>
            <a:r>
              <a:rPr lang="en-US" sz="2000" b="1" i="0" u="none" strike="noStrike" baseline="0" dirty="0">
                <a:latin typeface="TimesTen-Roman"/>
              </a:rPr>
              <a:t>,</a:t>
            </a:r>
            <a:r>
              <a:rPr lang="en-US" sz="2000" b="0" i="0" u="none" strike="noStrike" baseline="0" dirty="0">
                <a:latin typeface="TimesTen-Roman"/>
              </a:rPr>
              <a:t> and </a:t>
            </a:r>
            <a:r>
              <a:rPr lang="en-US" sz="2000" b="1" i="0" u="none" strike="noStrike" baseline="0" dirty="0">
                <a:latin typeface="TimesTen-RomanSC"/>
              </a:rPr>
              <a:t>not</a:t>
            </a:r>
            <a:r>
              <a:rPr lang="en-US" sz="2000" b="0" i="0" u="none" strike="noStrike" baseline="0" dirty="0">
                <a:latin typeface="TimesTen-RomanSC"/>
              </a:rPr>
              <a:t> </a:t>
            </a:r>
            <a:r>
              <a:rPr lang="en-US" sz="2000" b="0" i="0" u="none" strike="noStrike" baseline="0" dirty="0">
                <a:latin typeface="TimesTen-Roman"/>
              </a:rPr>
              <a:t>operations of logic.</a:t>
            </a:r>
          </a:p>
          <a:p>
            <a:pPr algn="l"/>
            <a:r>
              <a:rPr lang="en-US" sz="2000" b="0" i="0" u="none" strike="noStrike" baseline="0" dirty="0">
                <a:latin typeface="TimesTen-Roman"/>
              </a:rPr>
              <a:t>The logical operations treat any nonzero argument as </a:t>
            </a:r>
            <a:r>
              <a:rPr lang="en-US" sz="2000" b="1" i="0" u="none" strike="noStrike" baseline="0" dirty="0">
                <a:latin typeface="TimesTen-RomanSC"/>
              </a:rPr>
              <a:t>true</a:t>
            </a:r>
            <a:r>
              <a:rPr lang="en-US" sz="2000" b="0" i="0" u="none" strike="noStrike" baseline="0" dirty="0">
                <a:latin typeface="TimesTen-RomanSC"/>
              </a:rPr>
              <a:t> </a:t>
            </a:r>
            <a:r>
              <a:rPr lang="en-US" sz="2000" b="0" i="0" u="none" strike="noStrike" baseline="0" dirty="0">
                <a:latin typeface="TimesTen-Roman"/>
              </a:rPr>
              <a:t>and argument 0 as </a:t>
            </a:r>
            <a:r>
              <a:rPr lang="en-US" sz="2000" b="1" i="0" u="none" strike="noStrike" baseline="0" dirty="0">
                <a:latin typeface="TimesTen-RomanSC"/>
              </a:rPr>
              <a:t>false.</a:t>
            </a:r>
            <a:endParaRPr lang="en-US" sz="2000" b="1" dirty="0">
              <a:latin typeface="TimesTen-Roman"/>
            </a:endParaRPr>
          </a:p>
        </p:txBody>
      </p:sp>
      <p:sp>
        <p:nvSpPr>
          <p:cNvPr id="4" name="灯片编号占位符 3"/>
          <p:cNvSpPr>
            <a:spLocks noGrp="1"/>
          </p:cNvSpPr>
          <p:nvPr>
            <p:ph type="sldNum" sz="quarter" idx="10"/>
          </p:nvPr>
        </p:nvSpPr>
        <p:spPr/>
        <p:txBody>
          <a:bodyPr/>
          <a:lstStyle/>
          <a:p>
            <a:fld id="{D9B6BDF2-6896-4B98-8776-C18582F63BA5}" type="slidenum">
              <a:rPr lang="zh-TW" altLang="en-US" smtClean="0"/>
              <a:t>25</a:t>
            </a:fld>
            <a:endParaRPr lang="zh-TW" altLang="en-US"/>
          </a:p>
        </p:txBody>
      </p:sp>
      <p:graphicFrame>
        <p:nvGraphicFramePr>
          <p:cNvPr id="7" name="Table 7">
            <a:extLst>
              <a:ext uri="{FF2B5EF4-FFF2-40B4-BE49-F238E27FC236}">
                <a16:creationId xmlns:a16="http://schemas.microsoft.com/office/drawing/2014/main" id="{A1A5CBC7-D993-4B64-AD68-E7793BF62A41}"/>
              </a:ext>
            </a:extLst>
          </p:cNvPr>
          <p:cNvGraphicFramePr>
            <a:graphicFrameLocks noGrp="1"/>
          </p:cNvGraphicFramePr>
          <p:nvPr>
            <p:extLst>
              <p:ext uri="{D42A27DB-BD31-4B8C-83A1-F6EECF244321}">
                <p14:modId xmlns:p14="http://schemas.microsoft.com/office/powerpoint/2010/main" val="3886624889"/>
              </p:ext>
            </p:extLst>
          </p:nvPr>
        </p:nvGraphicFramePr>
        <p:xfrm>
          <a:off x="304800" y="2310493"/>
          <a:ext cx="2445657" cy="2225040"/>
        </p:xfrm>
        <a:graphic>
          <a:graphicData uri="http://schemas.openxmlformats.org/drawingml/2006/table">
            <a:tbl>
              <a:tblPr firstRow="1" bandRow="1">
                <a:tableStyleId>{5C22544A-7EE6-4342-B048-85BDC9FD1C3A}</a:tableStyleId>
              </a:tblPr>
              <a:tblGrid>
                <a:gridCol w="1524000">
                  <a:extLst>
                    <a:ext uri="{9D8B030D-6E8A-4147-A177-3AD203B41FA5}">
                      <a16:colId xmlns:a16="http://schemas.microsoft.com/office/drawing/2014/main" val="1109229013"/>
                    </a:ext>
                  </a:extLst>
                </a:gridCol>
                <a:gridCol w="921657">
                  <a:extLst>
                    <a:ext uri="{9D8B030D-6E8A-4147-A177-3AD203B41FA5}">
                      <a16:colId xmlns:a16="http://schemas.microsoft.com/office/drawing/2014/main" val="1435301267"/>
                    </a:ext>
                  </a:extLst>
                </a:gridCol>
              </a:tblGrid>
              <a:tr h="370840">
                <a:tc>
                  <a:txBody>
                    <a:bodyPr/>
                    <a:lstStyle/>
                    <a:p>
                      <a:r>
                        <a:rPr lang="en-US" dirty="0"/>
                        <a:t>Expression</a:t>
                      </a:r>
                    </a:p>
                  </a:txBody>
                  <a:tcPr/>
                </a:tc>
                <a:tc>
                  <a:txBody>
                    <a:bodyPr/>
                    <a:lstStyle/>
                    <a:p>
                      <a:r>
                        <a:rPr lang="en-US" dirty="0"/>
                        <a:t>Result</a:t>
                      </a:r>
                    </a:p>
                  </a:txBody>
                  <a:tcPr/>
                </a:tc>
                <a:extLst>
                  <a:ext uri="{0D108BD9-81ED-4DB2-BD59-A6C34878D82A}">
                    <a16:rowId xmlns:a16="http://schemas.microsoft.com/office/drawing/2014/main" val="1586770200"/>
                  </a:ext>
                </a:extLst>
              </a:tr>
              <a:tr h="370840">
                <a:tc>
                  <a:txBody>
                    <a:bodyPr/>
                    <a:lstStyle/>
                    <a:p>
                      <a:r>
                        <a:rPr lang="en-US" dirty="0"/>
                        <a:t>! 0x41</a:t>
                      </a:r>
                    </a:p>
                  </a:txBody>
                  <a:tcPr/>
                </a:tc>
                <a:tc>
                  <a:txBody>
                    <a:bodyPr/>
                    <a:lstStyle/>
                    <a:p>
                      <a:r>
                        <a:rPr lang="en-US" dirty="0"/>
                        <a:t>0x00</a:t>
                      </a:r>
                    </a:p>
                  </a:txBody>
                  <a:tcPr/>
                </a:tc>
                <a:extLst>
                  <a:ext uri="{0D108BD9-81ED-4DB2-BD59-A6C34878D82A}">
                    <a16:rowId xmlns:a16="http://schemas.microsoft.com/office/drawing/2014/main" val="209124106"/>
                  </a:ext>
                </a:extLst>
              </a:tr>
              <a:tr h="370840">
                <a:tc>
                  <a:txBody>
                    <a:bodyPr/>
                    <a:lstStyle/>
                    <a:p>
                      <a:r>
                        <a:rPr lang="en-US" dirty="0"/>
                        <a:t>! 0x00</a:t>
                      </a:r>
                    </a:p>
                  </a:txBody>
                  <a:tcPr/>
                </a:tc>
                <a:tc>
                  <a:txBody>
                    <a:bodyPr/>
                    <a:lstStyle/>
                    <a:p>
                      <a:r>
                        <a:rPr lang="en-US" dirty="0"/>
                        <a:t>0x01</a:t>
                      </a:r>
                    </a:p>
                  </a:txBody>
                  <a:tcPr/>
                </a:tc>
                <a:extLst>
                  <a:ext uri="{0D108BD9-81ED-4DB2-BD59-A6C34878D82A}">
                    <a16:rowId xmlns:a16="http://schemas.microsoft.com/office/drawing/2014/main" val="3367817035"/>
                  </a:ext>
                </a:extLst>
              </a:tr>
              <a:tr h="370840">
                <a:tc>
                  <a:txBody>
                    <a:bodyPr/>
                    <a:lstStyle/>
                    <a:p>
                      <a:r>
                        <a:rPr lang="en-US" dirty="0"/>
                        <a:t>!! 0x41</a:t>
                      </a:r>
                    </a:p>
                  </a:txBody>
                  <a:tcPr/>
                </a:tc>
                <a:tc>
                  <a:txBody>
                    <a:bodyPr/>
                    <a:lstStyle/>
                    <a:p>
                      <a:r>
                        <a:rPr lang="en-US" dirty="0"/>
                        <a:t>0x01</a:t>
                      </a:r>
                    </a:p>
                  </a:txBody>
                  <a:tcPr/>
                </a:tc>
                <a:extLst>
                  <a:ext uri="{0D108BD9-81ED-4DB2-BD59-A6C34878D82A}">
                    <a16:rowId xmlns:a16="http://schemas.microsoft.com/office/drawing/2014/main" val="1369595035"/>
                  </a:ext>
                </a:extLst>
              </a:tr>
              <a:tr h="370840">
                <a:tc>
                  <a:txBody>
                    <a:bodyPr/>
                    <a:lstStyle/>
                    <a:p>
                      <a:r>
                        <a:rPr lang="en-US" dirty="0"/>
                        <a:t>0x69 &amp;&amp; 0x55</a:t>
                      </a:r>
                    </a:p>
                  </a:txBody>
                  <a:tcPr/>
                </a:tc>
                <a:tc>
                  <a:txBody>
                    <a:bodyPr/>
                    <a:lstStyle/>
                    <a:p>
                      <a:r>
                        <a:rPr lang="en-US" dirty="0"/>
                        <a:t>0x01</a:t>
                      </a:r>
                    </a:p>
                  </a:txBody>
                  <a:tcPr/>
                </a:tc>
                <a:extLst>
                  <a:ext uri="{0D108BD9-81ED-4DB2-BD59-A6C34878D82A}">
                    <a16:rowId xmlns:a16="http://schemas.microsoft.com/office/drawing/2014/main" val="854183453"/>
                  </a:ext>
                </a:extLst>
              </a:tr>
              <a:tr h="370840">
                <a:tc>
                  <a:txBody>
                    <a:bodyPr/>
                    <a:lstStyle/>
                    <a:p>
                      <a:r>
                        <a:rPr lang="en-US" dirty="0"/>
                        <a:t>0x69 !! 0x55</a:t>
                      </a:r>
                    </a:p>
                  </a:txBody>
                  <a:tcPr/>
                </a:tc>
                <a:tc>
                  <a:txBody>
                    <a:bodyPr/>
                    <a:lstStyle/>
                    <a:p>
                      <a:r>
                        <a:rPr lang="en-US" dirty="0"/>
                        <a:t>0x01</a:t>
                      </a:r>
                    </a:p>
                  </a:txBody>
                  <a:tcPr/>
                </a:tc>
                <a:extLst>
                  <a:ext uri="{0D108BD9-81ED-4DB2-BD59-A6C34878D82A}">
                    <a16:rowId xmlns:a16="http://schemas.microsoft.com/office/drawing/2014/main" val="2011232255"/>
                  </a:ext>
                </a:extLst>
              </a:tr>
            </a:tbl>
          </a:graphicData>
        </a:graphic>
      </p:graphicFrame>
      <p:sp>
        <p:nvSpPr>
          <p:cNvPr id="8" name="内容占位符 5">
            <a:extLst>
              <a:ext uri="{FF2B5EF4-FFF2-40B4-BE49-F238E27FC236}">
                <a16:creationId xmlns:a16="http://schemas.microsoft.com/office/drawing/2014/main" id="{B561EF91-66BC-4FA1-8C79-883CA2492355}"/>
              </a:ext>
            </a:extLst>
          </p:cNvPr>
          <p:cNvSpPr txBox="1">
            <a:spLocks/>
          </p:cNvSpPr>
          <p:nvPr/>
        </p:nvSpPr>
        <p:spPr bwMode="auto">
          <a:xfrm>
            <a:off x="2750458" y="1984005"/>
            <a:ext cx="6277428" cy="2617024"/>
          </a:xfrm>
          <a:prstGeom prst="rect">
            <a:avLst/>
          </a:prstGeom>
          <a:noFill/>
          <a:ln w="9525">
            <a:noFill/>
            <a:miter lim="800000"/>
          </a:ln>
        </p:spPr>
        <p:txBody>
          <a:bodyPr vert="horz" wrap="square" lIns="91440" tIns="45720" rIns="91440" bIns="45720" numCol="1" anchor="t" anchorCtr="0" compatLnSpc="1"/>
          <a:lstStyle>
            <a:lvl1pPr marL="257175" indent="-257175" algn="l" rtl="0" eaLnBrk="1" fontAlgn="base" hangingPunct="1">
              <a:spcBef>
                <a:spcPct val="20000"/>
              </a:spcBef>
              <a:spcAft>
                <a:spcPct val="0"/>
              </a:spcAft>
              <a:buClr>
                <a:srgbClr val="8064A2"/>
              </a:buClr>
              <a:buSzPct val="80000"/>
              <a:buFont typeface="Wingdings" panose="05000000000000000000" pitchFamily="2" charset="2"/>
              <a:buChar char="l"/>
              <a:defRPr kumimoji="1" sz="2800">
                <a:solidFill>
                  <a:schemeClr val="tx1"/>
                </a:solidFill>
                <a:latin typeface="Calibri" panose="020F0502020204030204" pitchFamily="34" charset="0"/>
                <a:ea typeface="標楷體" pitchFamily="65" charset="-120"/>
                <a:cs typeface="+mn-cs"/>
              </a:defRPr>
            </a:lvl1pPr>
            <a:lvl2pPr marL="556895" indent="-213995" algn="l" rtl="0" eaLnBrk="1" fontAlgn="base" hangingPunct="1">
              <a:spcBef>
                <a:spcPct val="20000"/>
              </a:spcBef>
              <a:spcAft>
                <a:spcPct val="0"/>
              </a:spcAft>
              <a:buClr>
                <a:srgbClr val="8064A2"/>
              </a:buClr>
              <a:buSzPct val="90000"/>
              <a:buFont typeface="Arial" panose="020B0604020202020204" pitchFamily="34" charset="0"/>
              <a:buChar char="–"/>
              <a:defRPr kumimoji="1" sz="2400">
                <a:solidFill>
                  <a:schemeClr val="tx1"/>
                </a:solidFill>
                <a:latin typeface="Calibri" panose="020F0502020204030204" pitchFamily="34" charset="0"/>
                <a:ea typeface="標楷體" pitchFamily="65" charset="-120"/>
              </a:defRPr>
            </a:lvl2pPr>
            <a:lvl3pPr marL="857250" indent="-171450" algn="l" rtl="0" eaLnBrk="1" fontAlgn="base" hangingPunct="1">
              <a:spcBef>
                <a:spcPct val="20000"/>
              </a:spcBef>
              <a:spcAft>
                <a:spcPct val="0"/>
              </a:spcAft>
              <a:buChar char="•"/>
              <a:defRPr kumimoji="1" sz="2000">
                <a:solidFill>
                  <a:schemeClr val="tx1"/>
                </a:solidFill>
                <a:latin typeface="Calibri" panose="020F0502020204030204" pitchFamily="34" charset="0"/>
                <a:ea typeface="標楷體" pitchFamily="65" charset="-120"/>
                <a:cs typeface="Calibri" panose="020F0502020204030204" pitchFamily="34" charset="0"/>
              </a:defRPr>
            </a:lvl3pPr>
            <a:lvl4pPr marL="1200150" indent="-171450" algn="l" rtl="0" eaLnBrk="1" fontAlgn="base" hangingPunct="1">
              <a:spcBef>
                <a:spcPct val="20000"/>
              </a:spcBef>
              <a:spcAft>
                <a:spcPct val="0"/>
              </a:spcAft>
              <a:buChar char="–"/>
              <a:defRPr kumimoji="1" sz="1800">
                <a:solidFill>
                  <a:schemeClr val="tx1"/>
                </a:solidFill>
                <a:latin typeface="Calibri" panose="020F0502020204030204" pitchFamily="34" charset="0"/>
                <a:ea typeface="標楷體" pitchFamily="65" charset="-120"/>
                <a:cs typeface="Calibri" panose="020F0502020204030204" pitchFamily="34" charset="0"/>
              </a:defRPr>
            </a:lvl4pPr>
            <a:lvl5pPr marL="1543050" indent="-171450" algn="l" rtl="0" eaLnBrk="1" fontAlgn="base" hangingPunct="1">
              <a:spcBef>
                <a:spcPct val="20000"/>
              </a:spcBef>
              <a:spcAft>
                <a:spcPct val="0"/>
              </a:spcAft>
              <a:buChar char="»"/>
              <a:defRPr kumimoji="1" sz="1600">
                <a:solidFill>
                  <a:schemeClr val="tx1"/>
                </a:solidFill>
                <a:latin typeface="Calibri" panose="020F0502020204030204" pitchFamily="34" charset="0"/>
                <a:ea typeface="標楷體" pitchFamily="65" charset="-120"/>
                <a:cs typeface="Calibri" panose="020F0502020204030204" pitchFamily="34" charset="0"/>
              </a:defRPr>
            </a:lvl5pPr>
            <a:lvl6pPr marL="1885950" indent="-171450" algn="l" rtl="0" eaLnBrk="1" fontAlgn="base" hangingPunct="1">
              <a:spcBef>
                <a:spcPct val="20000"/>
              </a:spcBef>
              <a:spcAft>
                <a:spcPct val="0"/>
              </a:spcAft>
              <a:buChar char="»"/>
              <a:defRPr kumimoji="1" sz="1500">
                <a:solidFill>
                  <a:schemeClr val="tx1"/>
                </a:solidFill>
                <a:latin typeface="+mn-lt"/>
                <a:ea typeface="+mn-ea"/>
              </a:defRPr>
            </a:lvl6pPr>
            <a:lvl7pPr marL="2228850" indent="-171450" algn="l" rtl="0" eaLnBrk="1" fontAlgn="base" hangingPunct="1">
              <a:spcBef>
                <a:spcPct val="20000"/>
              </a:spcBef>
              <a:spcAft>
                <a:spcPct val="0"/>
              </a:spcAft>
              <a:buChar char="»"/>
              <a:defRPr kumimoji="1" sz="1500">
                <a:solidFill>
                  <a:schemeClr val="tx1"/>
                </a:solidFill>
                <a:latin typeface="+mn-lt"/>
                <a:ea typeface="+mn-ea"/>
              </a:defRPr>
            </a:lvl7pPr>
            <a:lvl8pPr marL="2571750" indent="-171450" algn="l" rtl="0" eaLnBrk="1" fontAlgn="base" hangingPunct="1">
              <a:spcBef>
                <a:spcPct val="20000"/>
              </a:spcBef>
              <a:spcAft>
                <a:spcPct val="0"/>
              </a:spcAft>
              <a:buChar char="»"/>
              <a:defRPr kumimoji="1" sz="1500">
                <a:solidFill>
                  <a:schemeClr val="tx1"/>
                </a:solidFill>
                <a:latin typeface="+mn-lt"/>
                <a:ea typeface="+mn-ea"/>
              </a:defRPr>
            </a:lvl8pPr>
            <a:lvl9pPr marL="2914650" indent="-171450" algn="l" rtl="0" eaLnBrk="1" fontAlgn="base" hangingPunct="1">
              <a:spcBef>
                <a:spcPct val="20000"/>
              </a:spcBef>
              <a:spcAft>
                <a:spcPct val="0"/>
              </a:spcAft>
              <a:buChar char="»"/>
              <a:defRPr kumimoji="1" sz="1500">
                <a:solidFill>
                  <a:schemeClr val="tx1"/>
                </a:solidFill>
                <a:latin typeface="+mn-lt"/>
                <a:ea typeface="+mn-ea"/>
              </a:defRPr>
            </a:lvl9pPr>
          </a:lstStyle>
          <a:p>
            <a:r>
              <a:rPr lang="en-US" sz="2000" b="1" kern="0" dirty="0">
                <a:latin typeface="TimesTen-Roman"/>
              </a:rPr>
              <a:t>! </a:t>
            </a:r>
            <a:r>
              <a:rPr lang="en-US" sz="2000" kern="0" dirty="0">
                <a:latin typeface="TimesTen-Roman"/>
              </a:rPr>
              <a:t>is a logic NOT operation, ~ is a bitwise NOT operation.</a:t>
            </a:r>
          </a:p>
          <a:p>
            <a:r>
              <a:rPr lang="en-US" sz="1800" kern="0" dirty="0">
                <a:latin typeface="TimesTen-Roman"/>
              </a:rPr>
              <a:t>&amp;&amp; and || are called short-circuit operations – </a:t>
            </a:r>
          </a:p>
          <a:p>
            <a:pPr lvl="1"/>
            <a:r>
              <a:rPr lang="en-US" sz="1800" kern="0" dirty="0">
                <a:latin typeface="TimesTen-Roman"/>
              </a:rPr>
              <a:t>For &amp;&amp;, if the first argument is not true, the second argument does not need evaluation.</a:t>
            </a:r>
          </a:p>
          <a:p>
            <a:pPr lvl="1"/>
            <a:r>
              <a:rPr lang="en-US" sz="1800" kern="0" dirty="0">
                <a:latin typeface="TimesTen-Roman"/>
              </a:rPr>
              <a:t>For ||, if the first </a:t>
            </a:r>
            <a:r>
              <a:rPr kumimoji="0" lang="en-US" sz="1800" b="0" i="0" u="none" strike="noStrike" kern="0" cap="none" spc="0" normalizeH="0" baseline="0" noProof="0" dirty="0">
                <a:ln>
                  <a:noFill/>
                </a:ln>
                <a:solidFill>
                  <a:prstClr val="black"/>
                </a:solidFill>
                <a:effectLst/>
                <a:uLnTx/>
                <a:uFillTx/>
                <a:latin typeface="TimesTen-Roman"/>
                <a:ea typeface="新細明體"/>
                <a:cs typeface="+mn-cs"/>
              </a:rPr>
              <a:t>argument is true, the second argument does not need evaluation.</a:t>
            </a:r>
          </a:p>
          <a:p>
            <a:r>
              <a:rPr kumimoji="0" lang="en-US" sz="1800" kern="0" dirty="0">
                <a:solidFill>
                  <a:prstClr val="black"/>
                </a:solidFill>
                <a:latin typeface="TimesTen-Roman"/>
                <a:ea typeface="新細明體"/>
              </a:rPr>
              <a:t>In C, the expression </a:t>
            </a:r>
            <a:r>
              <a:rPr kumimoji="0" lang="en-US" sz="1800" b="1" i="1" kern="0" dirty="0">
                <a:solidFill>
                  <a:prstClr val="black"/>
                </a:solidFill>
                <a:latin typeface="TimesTen-Roman"/>
                <a:ea typeface="新細明體"/>
              </a:rPr>
              <a:t>A &amp;&amp; N/A </a:t>
            </a:r>
            <a:r>
              <a:rPr kumimoji="0" lang="en-US" sz="1800" kern="0" dirty="0">
                <a:solidFill>
                  <a:prstClr val="black"/>
                </a:solidFill>
                <a:latin typeface="TimesTen-Roman"/>
                <a:ea typeface="新細明體"/>
              </a:rPr>
              <a:t>will not see div-by-0 errors</a:t>
            </a:r>
          </a:p>
          <a:p>
            <a:r>
              <a:rPr kumimoji="0" lang="en-US" sz="1800" kern="0" dirty="0">
                <a:solidFill>
                  <a:prstClr val="black"/>
                </a:solidFill>
                <a:latin typeface="TimesTen-Roman"/>
                <a:ea typeface="新細明體"/>
              </a:rPr>
              <a:t>Expression if (</a:t>
            </a:r>
            <a:r>
              <a:rPr kumimoji="0" lang="en-US" sz="1800" b="1" i="1" kern="0" dirty="0">
                <a:solidFill>
                  <a:prstClr val="black"/>
                </a:solidFill>
                <a:latin typeface="TimesTen-Roman"/>
                <a:ea typeface="新細明體"/>
              </a:rPr>
              <a:t>p &amp;&amp; p-&gt;next</a:t>
            </a:r>
            <a:r>
              <a:rPr kumimoji="0" lang="en-US" sz="1800" kern="0" dirty="0">
                <a:solidFill>
                  <a:prstClr val="black"/>
                </a:solidFill>
                <a:latin typeface="TimesTen-Roman"/>
                <a:ea typeface="新細明體"/>
              </a:rPr>
              <a:t>) will not encounter a NULL ref</a:t>
            </a:r>
          </a:p>
          <a:p>
            <a:endParaRPr lang="en-US" sz="1800" kern="0" dirty="0">
              <a:latin typeface="TimesTen-Roman"/>
            </a:endParaRPr>
          </a:p>
        </p:txBody>
      </p:sp>
    </p:spTree>
    <p:extLst>
      <p:ext uri="{BB962C8B-B14F-4D97-AF65-F5344CB8AC3E}">
        <p14:creationId xmlns:p14="http://schemas.microsoft.com/office/powerpoint/2010/main" val="102089224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p:cNvSpPr>
            <a:spLocks noGrp="1"/>
          </p:cNvSpPr>
          <p:nvPr>
            <p:ph type="title"/>
          </p:nvPr>
        </p:nvSpPr>
        <p:spPr/>
        <p:txBody>
          <a:bodyPr/>
          <a:lstStyle/>
          <a:p>
            <a:r>
              <a:rPr lang="en-US" altLang="zh-CN" sz="3200" dirty="0"/>
              <a:t>2.1.9 Tricky Bug in Common C Code</a:t>
            </a:r>
          </a:p>
        </p:txBody>
      </p:sp>
      <p:sp>
        <p:nvSpPr>
          <p:cNvPr id="6" name="内容占位符 5"/>
          <p:cNvSpPr>
            <a:spLocks noGrp="1"/>
          </p:cNvSpPr>
          <p:nvPr>
            <p:ph idx="1"/>
          </p:nvPr>
        </p:nvSpPr>
        <p:spPr>
          <a:xfrm>
            <a:off x="72572" y="732064"/>
            <a:ext cx="8892041" cy="3876222"/>
          </a:xfrm>
        </p:spPr>
        <p:txBody>
          <a:bodyPr/>
          <a:lstStyle/>
          <a:p>
            <a:pPr algn="l"/>
            <a:r>
              <a:rPr lang="en-US" sz="2400" dirty="0">
                <a:latin typeface="TimesTen-Roman"/>
              </a:rPr>
              <a:t>It has been quite often that we wanted to write</a:t>
            </a:r>
          </a:p>
          <a:p>
            <a:pPr marL="0" indent="0" algn="l">
              <a:buNone/>
            </a:pPr>
            <a:r>
              <a:rPr lang="en-US" sz="2400" dirty="0">
                <a:latin typeface="TimesTen-Roman"/>
              </a:rPr>
              <a:t>	if (A &amp;&amp; B) </a:t>
            </a:r>
          </a:p>
          <a:p>
            <a:pPr marL="0" indent="0" algn="l">
              <a:buNone/>
            </a:pPr>
            <a:r>
              <a:rPr lang="en-US" sz="2400" dirty="0">
                <a:latin typeface="TimesTen-Roman"/>
              </a:rPr>
              <a:t>	but accidentally missed one “&amp;” and the above statement 	becomes</a:t>
            </a:r>
          </a:p>
          <a:p>
            <a:pPr marL="0" indent="0" algn="l">
              <a:buNone/>
            </a:pPr>
            <a:r>
              <a:rPr lang="en-US" sz="2400" dirty="0">
                <a:latin typeface="TimesTen-Roman"/>
              </a:rPr>
              <a:t>	if (A &amp; B)</a:t>
            </a:r>
          </a:p>
          <a:p>
            <a:pPr marL="0" indent="0" algn="l">
              <a:buNone/>
            </a:pPr>
            <a:r>
              <a:rPr lang="en-US" sz="2400" dirty="0">
                <a:latin typeface="TimesTen-Roman"/>
              </a:rPr>
              <a:t>	when A = 2 (10) and B = 1 (01)</a:t>
            </a:r>
          </a:p>
          <a:p>
            <a:pPr marL="0" indent="0" algn="l">
              <a:buNone/>
            </a:pPr>
            <a:r>
              <a:rPr lang="en-US" sz="2400" dirty="0">
                <a:latin typeface="TimesTen-Roman"/>
              </a:rPr>
              <a:t>	A&amp;&amp;B is true, but  </a:t>
            </a:r>
          </a:p>
          <a:p>
            <a:pPr marL="0" indent="0" algn="l">
              <a:buNone/>
            </a:pPr>
            <a:r>
              <a:rPr lang="en-US" sz="2400" dirty="0">
                <a:latin typeface="TimesTen-Roman"/>
              </a:rPr>
              <a:t>	A&amp;B is false</a:t>
            </a:r>
          </a:p>
        </p:txBody>
      </p:sp>
      <p:sp>
        <p:nvSpPr>
          <p:cNvPr id="4" name="灯片编号占位符 3"/>
          <p:cNvSpPr>
            <a:spLocks noGrp="1"/>
          </p:cNvSpPr>
          <p:nvPr>
            <p:ph type="sldNum" sz="quarter" idx="10"/>
          </p:nvPr>
        </p:nvSpPr>
        <p:spPr/>
        <p:txBody>
          <a:bodyPr/>
          <a:lstStyle/>
          <a:p>
            <a:fld id="{D9B6BDF2-6896-4B98-8776-C18582F63BA5}" type="slidenum">
              <a:rPr lang="zh-TW" altLang="en-US" smtClean="0"/>
              <a:t>26</a:t>
            </a:fld>
            <a:endParaRPr lang="zh-TW" altLang="en-US"/>
          </a:p>
        </p:txBody>
      </p:sp>
    </p:spTree>
    <p:extLst>
      <p:ext uri="{BB962C8B-B14F-4D97-AF65-F5344CB8AC3E}">
        <p14:creationId xmlns:p14="http://schemas.microsoft.com/office/powerpoint/2010/main" val="225270809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p:cNvSpPr>
            <a:spLocks noGrp="1"/>
          </p:cNvSpPr>
          <p:nvPr>
            <p:ph type="title"/>
          </p:nvPr>
        </p:nvSpPr>
        <p:spPr/>
        <p:txBody>
          <a:bodyPr/>
          <a:lstStyle/>
          <a:p>
            <a:r>
              <a:rPr lang="en-US" altLang="zh-CN" sz="3200" dirty="0"/>
              <a:t>2.1.9 Shift Operations in C</a:t>
            </a:r>
          </a:p>
        </p:txBody>
      </p:sp>
      <p:sp>
        <p:nvSpPr>
          <p:cNvPr id="6" name="内容占位符 5"/>
          <p:cNvSpPr>
            <a:spLocks noGrp="1"/>
          </p:cNvSpPr>
          <p:nvPr>
            <p:ph idx="1"/>
          </p:nvPr>
        </p:nvSpPr>
        <p:spPr>
          <a:xfrm>
            <a:off x="72572" y="732064"/>
            <a:ext cx="8892041" cy="3876222"/>
          </a:xfrm>
        </p:spPr>
        <p:txBody>
          <a:bodyPr/>
          <a:lstStyle/>
          <a:p>
            <a:pPr algn="l"/>
            <a:r>
              <a:rPr lang="en-US" sz="2000" b="0" i="0" u="none" strike="noStrike" baseline="0" dirty="0">
                <a:latin typeface="TimesTen-Roman"/>
              </a:rPr>
              <a:t>C provides a set of </a:t>
            </a:r>
            <a:r>
              <a:rPr lang="en-US" sz="2000" b="1" i="1" u="none" strike="noStrike" baseline="0" dirty="0">
                <a:latin typeface="TimesTen-Italic"/>
              </a:rPr>
              <a:t>shift</a:t>
            </a:r>
            <a:r>
              <a:rPr lang="en-US" sz="2000" b="0" i="1" u="none" strike="noStrike" baseline="0" dirty="0">
                <a:latin typeface="TimesTen-Italic"/>
              </a:rPr>
              <a:t> </a:t>
            </a:r>
            <a:r>
              <a:rPr lang="en-US" sz="2000" b="0" i="0" u="none" strike="noStrike" baseline="0" dirty="0">
                <a:latin typeface="TimesTen-Roman"/>
              </a:rPr>
              <a:t>operations for shifting bit patterns to the left and to</a:t>
            </a:r>
          </a:p>
          <a:p>
            <a:pPr marL="0" indent="0" algn="l">
              <a:buNone/>
            </a:pPr>
            <a:r>
              <a:rPr lang="en-US" sz="2000" b="0" i="0" u="none" strike="noStrike" baseline="0" dirty="0">
                <a:latin typeface="TimesTen-Roman"/>
              </a:rPr>
              <a:t>the right. </a:t>
            </a:r>
          </a:p>
          <a:p>
            <a:r>
              <a:rPr lang="en-US" sz="2000" b="0" i="0" u="none" strike="noStrike" baseline="0" dirty="0">
                <a:latin typeface="TimesTen-Roman"/>
              </a:rPr>
              <a:t>Left shift: </a:t>
            </a:r>
            <a:r>
              <a:rPr kumimoji="1" lang="en-US" sz="2000" b="0" i="0" u="none" strike="noStrike" kern="0" cap="none" spc="0" normalizeH="0" baseline="0" noProof="0" dirty="0">
                <a:ln>
                  <a:noFill/>
                </a:ln>
                <a:solidFill>
                  <a:prstClr val="black"/>
                </a:solidFill>
                <a:effectLst/>
                <a:uLnTx/>
                <a:uFillTx/>
                <a:latin typeface="ZztexMono-Regular"/>
                <a:ea typeface="標楷體" pitchFamily="65" charset="-120"/>
                <a:cs typeface="+mn-cs"/>
              </a:rPr>
              <a:t>x &lt;&lt; k </a:t>
            </a:r>
          </a:p>
          <a:p>
            <a:pPr marL="0" indent="0">
              <a:buNone/>
            </a:pPr>
            <a:r>
              <a:rPr lang="en-US" sz="2000" dirty="0">
                <a:latin typeface="TimesTen-Roman"/>
              </a:rPr>
              <a:t>	</a:t>
            </a:r>
            <a:r>
              <a:rPr lang="en-US" sz="2000" b="0" i="0" u="none" strike="noStrike" baseline="0" dirty="0">
                <a:latin typeface="ZztexMono-Regular"/>
              </a:rPr>
              <a:t>x </a:t>
            </a:r>
            <a:r>
              <a:rPr lang="en-US" sz="2000" b="0" i="0" u="none" strike="noStrike" baseline="0" dirty="0">
                <a:latin typeface="TimesTen-Roman"/>
              </a:rPr>
              <a:t>is shifted </a:t>
            </a:r>
            <a:r>
              <a:rPr lang="en-US" sz="2000" b="0" i="1" u="none" strike="noStrike" baseline="0" dirty="0">
                <a:latin typeface="MTMIZ"/>
              </a:rPr>
              <a:t>k </a:t>
            </a:r>
            <a:r>
              <a:rPr lang="en-US" sz="2000" b="0" i="0" u="none" strike="noStrike" baseline="0" dirty="0">
                <a:latin typeface="TimesTen-Roman"/>
              </a:rPr>
              <a:t>bits to the left, dropping off the </a:t>
            </a:r>
            <a:r>
              <a:rPr lang="en-US" sz="2000" b="0" i="1" u="none" strike="noStrike" baseline="0" dirty="0">
                <a:latin typeface="MTMIZ"/>
              </a:rPr>
              <a:t>k </a:t>
            </a:r>
            <a:r>
              <a:rPr lang="en-US" sz="2000" b="0" i="0" u="none" strike="noStrike" baseline="0" dirty="0">
                <a:latin typeface="TimesTen-Roman"/>
              </a:rPr>
              <a:t>most significant bits and 	filling the right end with </a:t>
            </a:r>
            <a:r>
              <a:rPr lang="en-US" sz="2000" b="0" i="1" u="none" strike="noStrike" baseline="0" dirty="0">
                <a:latin typeface="MTMIZ"/>
              </a:rPr>
              <a:t>k </a:t>
            </a:r>
            <a:r>
              <a:rPr lang="en-US" sz="2000" b="0" i="0" u="none" strike="noStrike" baseline="0" dirty="0">
                <a:latin typeface="TimesTen-Roman"/>
              </a:rPr>
              <a:t>zeros.</a:t>
            </a:r>
          </a:p>
          <a:p>
            <a:pPr marL="0" indent="0">
              <a:buNone/>
            </a:pPr>
            <a:r>
              <a:rPr lang="en-US" sz="2000" dirty="0">
                <a:latin typeface="TimesTen-Roman"/>
              </a:rPr>
              <a:t>	[01100011] &lt;&lt; 4 = [0011</a:t>
            </a:r>
            <a:r>
              <a:rPr lang="en-US" sz="2000" i="1" dirty="0">
                <a:latin typeface="TimesTen-Roman"/>
              </a:rPr>
              <a:t>0000</a:t>
            </a:r>
            <a:r>
              <a:rPr lang="en-US" sz="2000" dirty="0">
                <a:latin typeface="TimesTen-Roman"/>
              </a:rPr>
              <a:t>]</a:t>
            </a:r>
          </a:p>
          <a:p>
            <a:pPr>
              <a:buSzPct val="200000"/>
              <a:buFont typeface="Arial" panose="020B0604020202020204" pitchFamily="34" charset="0"/>
              <a:buChar char="•"/>
            </a:pPr>
            <a:r>
              <a:rPr lang="en-US" sz="2000" dirty="0">
                <a:latin typeface="TimesTen-Roman"/>
              </a:rPr>
              <a:t>Right Shift: </a:t>
            </a:r>
            <a:r>
              <a:rPr kumimoji="1" lang="en-US" sz="2000" b="0" i="0" u="none" strike="noStrike" kern="0" cap="none" spc="0" normalizeH="0" baseline="0" noProof="0" dirty="0">
                <a:ln>
                  <a:noFill/>
                </a:ln>
                <a:solidFill>
                  <a:prstClr val="black"/>
                </a:solidFill>
                <a:effectLst/>
                <a:uLnTx/>
                <a:uFillTx/>
                <a:latin typeface="ZztexMono-Regular"/>
                <a:ea typeface="標楷體" pitchFamily="65" charset="-120"/>
                <a:cs typeface="+mn-cs"/>
              </a:rPr>
              <a:t>x &gt;&gt; k </a:t>
            </a:r>
            <a:endParaRPr lang="en-US" sz="2000" dirty="0">
              <a:latin typeface="TimesTen-Roman"/>
            </a:endParaRPr>
          </a:p>
          <a:p>
            <a:pPr lvl="1">
              <a:buSzPct val="100000"/>
              <a:buFont typeface="Wingdings" panose="05000000000000000000" pitchFamily="2" charset="2"/>
              <a:buChar char="Ø"/>
            </a:pPr>
            <a:r>
              <a:rPr lang="en-US" sz="1800" dirty="0">
                <a:latin typeface="TimesTen-Roman"/>
              </a:rPr>
              <a:t>Logic shift: </a:t>
            </a:r>
            <a:r>
              <a:rPr kumimoji="1" lang="en-US" sz="2000" b="0" i="0" u="none" strike="noStrike" kern="0" cap="none" spc="0" normalizeH="0" baseline="0" noProof="0" dirty="0">
                <a:ln>
                  <a:noFill/>
                </a:ln>
                <a:solidFill>
                  <a:prstClr val="black"/>
                </a:solidFill>
                <a:effectLst/>
                <a:uLnTx/>
                <a:uFillTx/>
                <a:latin typeface="ZztexMono-Regular"/>
                <a:ea typeface="標楷體" pitchFamily="65" charset="-120"/>
                <a:cs typeface="+mn-cs"/>
              </a:rPr>
              <a:t>x </a:t>
            </a:r>
            <a:r>
              <a:rPr kumimoji="1" lang="en-US" sz="2000" b="0" i="0" u="none" strike="noStrike" kern="0" cap="none" spc="0" normalizeH="0" baseline="0" noProof="0" dirty="0">
                <a:ln>
                  <a:noFill/>
                </a:ln>
                <a:solidFill>
                  <a:prstClr val="black"/>
                </a:solidFill>
                <a:effectLst/>
                <a:uLnTx/>
                <a:uFillTx/>
                <a:latin typeface="TimesTen-Roman"/>
                <a:ea typeface="標楷體" pitchFamily="65" charset="-120"/>
                <a:cs typeface="+mn-cs"/>
              </a:rPr>
              <a:t>is shifted </a:t>
            </a:r>
            <a:r>
              <a:rPr kumimoji="1" lang="en-US" sz="2000" b="0" i="1" u="none" strike="noStrike" kern="0" cap="none" spc="0" normalizeH="0" baseline="0" noProof="0" dirty="0">
                <a:ln>
                  <a:noFill/>
                </a:ln>
                <a:solidFill>
                  <a:prstClr val="black"/>
                </a:solidFill>
                <a:effectLst/>
                <a:uLnTx/>
                <a:uFillTx/>
                <a:latin typeface="MTMIZ"/>
                <a:ea typeface="標楷體" pitchFamily="65" charset="-120"/>
                <a:cs typeface="+mn-cs"/>
              </a:rPr>
              <a:t>k </a:t>
            </a:r>
            <a:r>
              <a:rPr kumimoji="1" lang="en-US" sz="2000" b="0" i="0" u="none" strike="noStrike" kern="0" cap="none" spc="0" normalizeH="0" baseline="0" noProof="0" dirty="0">
                <a:ln>
                  <a:noFill/>
                </a:ln>
                <a:solidFill>
                  <a:prstClr val="black"/>
                </a:solidFill>
                <a:effectLst/>
                <a:uLnTx/>
                <a:uFillTx/>
                <a:latin typeface="TimesTen-Roman"/>
                <a:ea typeface="標楷體" pitchFamily="65" charset="-120"/>
                <a:cs typeface="+mn-cs"/>
              </a:rPr>
              <a:t>bits to the right, dropping off the </a:t>
            </a:r>
            <a:r>
              <a:rPr kumimoji="1" lang="en-US" sz="2000" b="0" i="1" u="none" strike="noStrike" kern="0" cap="none" spc="0" normalizeH="0" baseline="0" noProof="0" dirty="0">
                <a:ln>
                  <a:noFill/>
                </a:ln>
                <a:solidFill>
                  <a:prstClr val="black"/>
                </a:solidFill>
                <a:effectLst/>
                <a:uLnTx/>
                <a:uFillTx/>
                <a:latin typeface="MTMIZ"/>
                <a:ea typeface="標楷體" pitchFamily="65" charset="-120"/>
                <a:cs typeface="+mn-cs"/>
              </a:rPr>
              <a:t>k </a:t>
            </a:r>
            <a:r>
              <a:rPr lang="en-US" sz="2000" dirty="0">
                <a:solidFill>
                  <a:prstClr val="black"/>
                </a:solidFill>
                <a:latin typeface="TimesTen-Roman"/>
                <a:cs typeface="+mn-cs"/>
              </a:rPr>
              <a:t>least</a:t>
            </a:r>
            <a:r>
              <a:rPr kumimoji="1" lang="en-US" sz="2000" b="0" i="0" u="none" strike="noStrike" kern="0" cap="none" spc="0" normalizeH="0" baseline="0" noProof="0" dirty="0">
                <a:ln>
                  <a:noFill/>
                </a:ln>
                <a:solidFill>
                  <a:prstClr val="black"/>
                </a:solidFill>
                <a:effectLst/>
                <a:uLnTx/>
                <a:uFillTx/>
                <a:latin typeface="TimesTen-Roman"/>
                <a:ea typeface="標楷體" pitchFamily="65" charset="-120"/>
                <a:cs typeface="+mn-cs"/>
              </a:rPr>
              <a:t> significant bits and filling the left end with </a:t>
            </a:r>
            <a:r>
              <a:rPr kumimoji="1" lang="en-US" sz="2000" b="0" i="1" u="none" strike="noStrike" kern="0" cap="none" spc="0" normalizeH="0" baseline="0" noProof="0" dirty="0">
                <a:ln>
                  <a:noFill/>
                </a:ln>
                <a:solidFill>
                  <a:prstClr val="black"/>
                </a:solidFill>
                <a:effectLst/>
                <a:uLnTx/>
                <a:uFillTx/>
                <a:latin typeface="MTMIZ"/>
                <a:ea typeface="標楷體" pitchFamily="65" charset="-120"/>
                <a:cs typeface="+mn-cs"/>
              </a:rPr>
              <a:t>k </a:t>
            </a:r>
            <a:r>
              <a:rPr kumimoji="1" lang="en-US" sz="2000" b="0" i="0" u="none" strike="noStrike" kern="0" cap="none" spc="0" normalizeH="0" baseline="0" noProof="0" dirty="0">
                <a:ln>
                  <a:noFill/>
                </a:ln>
                <a:solidFill>
                  <a:prstClr val="black"/>
                </a:solidFill>
                <a:effectLst/>
                <a:uLnTx/>
                <a:uFillTx/>
                <a:latin typeface="TimesTen-Roman"/>
                <a:ea typeface="標楷體" pitchFamily="65" charset="-120"/>
                <a:cs typeface="+mn-cs"/>
              </a:rPr>
              <a:t>zeros</a:t>
            </a:r>
            <a:endParaRPr lang="en-US" sz="1800" dirty="0">
              <a:latin typeface="TimesTen-Roman"/>
            </a:endParaRPr>
          </a:p>
          <a:p>
            <a:pPr lvl="1">
              <a:buSzPct val="100000"/>
              <a:buFont typeface="Wingdings" panose="05000000000000000000" pitchFamily="2" charset="2"/>
              <a:buChar char="Ø"/>
            </a:pPr>
            <a:r>
              <a:rPr lang="en-US" sz="1800" dirty="0">
                <a:latin typeface="TimesTen-Roman"/>
              </a:rPr>
              <a:t>Arithmetic shift: </a:t>
            </a:r>
            <a:r>
              <a:rPr kumimoji="1" lang="en-US" sz="1800" b="0" i="0" u="none" strike="noStrike" kern="0" cap="none" spc="0" normalizeH="0" baseline="0" noProof="0" dirty="0">
                <a:ln>
                  <a:noFill/>
                </a:ln>
                <a:solidFill>
                  <a:prstClr val="black"/>
                </a:solidFill>
                <a:effectLst/>
                <a:uLnTx/>
                <a:uFillTx/>
                <a:latin typeface="ZztexMono-Regular"/>
                <a:ea typeface="標楷體" pitchFamily="65" charset="-120"/>
                <a:cs typeface="+mn-cs"/>
              </a:rPr>
              <a:t>x </a:t>
            </a:r>
            <a:r>
              <a:rPr kumimoji="1" lang="en-US" sz="1800" b="0" i="0" u="none" strike="noStrike" kern="0" cap="none" spc="0" normalizeH="0" baseline="0" noProof="0" dirty="0">
                <a:ln>
                  <a:noFill/>
                </a:ln>
                <a:solidFill>
                  <a:prstClr val="black"/>
                </a:solidFill>
                <a:effectLst/>
                <a:uLnTx/>
                <a:uFillTx/>
                <a:latin typeface="TimesTen-Roman"/>
                <a:ea typeface="標楷體" pitchFamily="65" charset="-120"/>
                <a:cs typeface="+mn-cs"/>
              </a:rPr>
              <a:t>is shifted </a:t>
            </a:r>
            <a:r>
              <a:rPr kumimoji="1" lang="en-US" sz="1800" b="0" i="1" u="none" strike="noStrike" kern="0" cap="none" spc="0" normalizeH="0" baseline="0" noProof="0" dirty="0">
                <a:ln>
                  <a:noFill/>
                </a:ln>
                <a:solidFill>
                  <a:prstClr val="black"/>
                </a:solidFill>
                <a:effectLst/>
                <a:uLnTx/>
                <a:uFillTx/>
                <a:latin typeface="MTMIZ"/>
                <a:ea typeface="標楷體" pitchFamily="65" charset="-120"/>
                <a:cs typeface="+mn-cs"/>
              </a:rPr>
              <a:t>k </a:t>
            </a:r>
            <a:r>
              <a:rPr kumimoji="1" lang="en-US" sz="1800" b="0" i="0" u="none" strike="noStrike" kern="0" cap="none" spc="0" normalizeH="0" baseline="0" noProof="0" dirty="0">
                <a:ln>
                  <a:noFill/>
                </a:ln>
                <a:solidFill>
                  <a:prstClr val="black"/>
                </a:solidFill>
                <a:effectLst/>
                <a:uLnTx/>
                <a:uFillTx/>
                <a:latin typeface="TimesTen-Roman"/>
                <a:ea typeface="標楷體" pitchFamily="65" charset="-120"/>
                <a:cs typeface="+mn-cs"/>
              </a:rPr>
              <a:t>bits to the right, dropping off the </a:t>
            </a:r>
            <a:r>
              <a:rPr kumimoji="1" lang="en-US" sz="1800" b="0" i="1" u="none" strike="noStrike" kern="0" cap="none" spc="0" normalizeH="0" baseline="0" noProof="0" dirty="0">
                <a:ln>
                  <a:noFill/>
                </a:ln>
                <a:solidFill>
                  <a:prstClr val="black"/>
                </a:solidFill>
                <a:effectLst/>
                <a:uLnTx/>
                <a:uFillTx/>
                <a:latin typeface="MTMIZ"/>
                <a:ea typeface="標楷體" pitchFamily="65" charset="-120"/>
                <a:cs typeface="+mn-cs"/>
              </a:rPr>
              <a:t>k </a:t>
            </a:r>
            <a:r>
              <a:rPr kumimoji="1" lang="en-US" sz="1800" b="0" i="0" u="none" strike="noStrike" kern="0" cap="none" spc="0" normalizeH="0" baseline="0" noProof="0" dirty="0">
                <a:ln>
                  <a:noFill/>
                </a:ln>
                <a:solidFill>
                  <a:prstClr val="black"/>
                </a:solidFill>
                <a:effectLst/>
                <a:uLnTx/>
                <a:uFillTx/>
                <a:latin typeface="TimesTen-Roman"/>
                <a:ea typeface="標楷體" pitchFamily="65" charset="-120"/>
                <a:cs typeface="+mn-cs"/>
              </a:rPr>
              <a:t>least significant bits and filling the left end with </a:t>
            </a:r>
            <a:r>
              <a:rPr lang="en-US" sz="1800" b="0" i="1" u="none" strike="noStrike" baseline="0" dirty="0">
                <a:latin typeface="MTMIZ"/>
              </a:rPr>
              <a:t>k </a:t>
            </a:r>
            <a:r>
              <a:rPr lang="en-US" sz="1800" b="0" i="0" u="none" strike="noStrike" baseline="0" dirty="0">
                <a:latin typeface="TimesTen-Roman"/>
              </a:rPr>
              <a:t>repetitions of the most significant bit</a:t>
            </a:r>
            <a:endParaRPr lang="en-US" sz="1800" dirty="0">
              <a:latin typeface="TimesTen-Roman"/>
            </a:endParaRPr>
          </a:p>
        </p:txBody>
      </p:sp>
      <p:sp>
        <p:nvSpPr>
          <p:cNvPr id="4" name="灯片编号占位符 3"/>
          <p:cNvSpPr>
            <a:spLocks noGrp="1"/>
          </p:cNvSpPr>
          <p:nvPr>
            <p:ph type="sldNum" sz="quarter" idx="10"/>
          </p:nvPr>
        </p:nvSpPr>
        <p:spPr/>
        <p:txBody>
          <a:bodyPr/>
          <a:lstStyle/>
          <a:p>
            <a:fld id="{D9B6BDF2-6896-4B98-8776-C18582F63BA5}" type="slidenum">
              <a:rPr lang="zh-TW" altLang="en-US" smtClean="0"/>
              <a:t>27</a:t>
            </a:fld>
            <a:endParaRPr lang="zh-TW" altLang="en-US"/>
          </a:p>
        </p:txBody>
      </p:sp>
    </p:spTree>
    <p:extLst>
      <p:ext uri="{BB962C8B-B14F-4D97-AF65-F5344CB8AC3E}">
        <p14:creationId xmlns:p14="http://schemas.microsoft.com/office/powerpoint/2010/main" val="339226596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p:cNvSpPr>
            <a:spLocks noGrp="1"/>
          </p:cNvSpPr>
          <p:nvPr>
            <p:ph type="title"/>
          </p:nvPr>
        </p:nvSpPr>
        <p:spPr/>
        <p:txBody>
          <a:bodyPr/>
          <a:lstStyle/>
          <a:p>
            <a:r>
              <a:rPr lang="en-US" altLang="zh-CN" sz="3200" dirty="0"/>
              <a:t>2.1.9 Right Shift Examples</a:t>
            </a:r>
          </a:p>
        </p:txBody>
      </p:sp>
      <p:sp>
        <p:nvSpPr>
          <p:cNvPr id="6" name="内容占位符 5"/>
          <p:cNvSpPr>
            <a:spLocks noGrp="1"/>
          </p:cNvSpPr>
          <p:nvPr>
            <p:ph idx="1"/>
          </p:nvPr>
        </p:nvSpPr>
        <p:spPr>
          <a:xfrm>
            <a:off x="72572" y="732064"/>
            <a:ext cx="8991599" cy="3876222"/>
          </a:xfrm>
        </p:spPr>
        <p:txBody>
          <a:bodyPr/>
          <a:lstStyle/>
          <a:p>
            <a:pPr algn="l"/>
            <a:r>
              <a:rPr lang="en-US" sz="2000" dirty="0">
                <a:latin typeface="TimesTen-Roman"/>
              </a:rPr>
              <a:t>Right shift has two versions: Logic shift and Arithmetic shift</a:t>
            </a:r>
          </a:p>
          <a:p>
            <a:pPr marL="0" indent="0" algn="l">
              <a:buNone/>
            </a:pPr>
            <a:r>
              <a:rPr lang="en-US" sz="2000" dirty="0">
                <a:latin typeface="TimesTen-Roman"/>
              </a:rPr>
              <a:t>Example:</a:t>
            </a:r>
          </a:p>
          <a:p>
            <a:pPr marL="0" indent="0" algn="l">
              <a:buNone/>
            </a:pPr>
            <a:endParaRPr lang="en-US" sz="2000" dirty="0">
              <a:latin typeface="TimesTen-Roman"/>
            </a:endParaRPr>
          </a:p>
          <a:p>
            <a:pPr marL="0" indent="0" algn="l">
              <a:buNone/>
            </a:pPr>
            <a:endParaRPr lang="en-US" sz="2000" dirty="0">
              <a:latin typeface="TimesTen-Roman"/>
            </a:endParaRPr>
          </a:p>
          <a:p>
            <a:pPr marL="0" indent="0" algn="l">
              <a:buNone/>
            </a:pPr>
            <a:endParaRPr lang="en-US" sz="2000" dirty="0">
              <a:latin typeface="TimesTen-Roman"/>
            </a:endParaRPr>
          </a:p>
          <a:p>
            <a:pPr marL="0" indent="0" algn="l">
              <a:buNone/>
            </a:pPr>
            <a:endParaRPr lang="en-US" sz="2000" dirty="0">
              <a:latin typeface="TimesTen-Roman"/>
            </a:endParaRPr>
          </a:p>
          <a:p>
            <a:pPr algn="l">
              <a:buSzPct val="180000"/>
              <a:buFont typeface="Arial" panose="020B0604020202020204" pitchFamily="34" charset="0"/>
              <a:buChar char="•"/>
            </a:pPr>
            <a:r>
              <a:rPr lang="en-US" sz="2000" dirty="0">
                <a:latin typeface="TimesTen-Roman"/>
              </a:rPr>
              <a:t>Logic shift is used for unsigned integers, and arithmetic shift is used for signed integers. </a:t>
            </a:r>
          </a:p>
          <a:p>
            <a:pPr algn="l">
              <a:buSzPct val="180000"/>
              <a:buFont typeface="Arial" panose="020B0604020202020204" pitchFamily="34" charset="0"/>
              <a:buChar char="•"/>
            </a:pPr>
            <a:r>
              <a:rPr lang="en-US" sz="2000" dirty="0">
                <a:latin typeface="TimesTen-Roman"/>
              </a:rPr>
              <a:t>Each machine has two different types of right shift instructions. SRL and SRA</a:t>
            </a:r>
          </a:p>
          <a:p>
            <a:pPr algn="l">
              <a:buSzPct val="180000"/>
              <a:buFont typeface="Arial" panose="020B0604020202020204" pitchFamily="34" charset="0"/>
              <a:buChar char="•"/>
            </a:pPr>
            <a:r>
              <a:rPr lang="en-US" sz="2000" dirty="0">
                <a:latin typeface="TimesTen-Roman"/>
              </a:rPr>
              <a:t>The C compiler selects the correct version of the right shift based on the data types.</a:t>
            </a:r>
          </a:p>
          <a:p>
            <a:pPr marL="0" indent="0" algn="l">
              <a:buNone/>
            </a:pPr>
            <a:r>
              <a:rPr lang="en-US" sz="2000" dirty="0">
                <a:latin typeface="TimesTen-Roman"/>
              </a:rPr>
              <a:t>	</a:t>
            </a:r>
          </a:p>
        </p:txBody>
      </p:sp>
      <p:sp>
        <p:nvSpPr>
          <p:cNvPr id="4" name="灯片编号占位符 3"/>
          <p:cNvSpPr>
            <a:spLocks noGrp="1"/>
          </p:cNvSpPr>
          <p:nvPr>
            <p:ph type="sldNum" sz="quarter" idx="10"/>
          </p:nvPr>
        </p:nvSpPr>
        <p:spPr/>
        <p:txBody>
          <a:bodyPr/>
          <a:lstStyle/>
          <a:p>
            <a:fld id="{D9B6BDF2-6896-4B98-8776-C18582F63BA5}" type="slidenum">
              <a:rPr lang="zh-TW" altLang="en-US" smtClean="0"/>
              <a:t>28</a:t>
            </a:fld>
            <a:endParaRPr lang="zh-TW" altLang="en-US"/>
          </a:p>
        </p:txBody>
      </p:sp>
      <p:graphicFrame>
        <p:nvGraphicFramePr>
          <p:cNvPr id="7" name="Table 7">
            <a:extLst>
              <a:ext uri="{FF2B5EF4-FFF2-40B4-BE49-F238E27FC236}">
                <a16:creationId xmlns:a16="http://schemas.microsoft.com/office/drawing/2014/main" id="{39E3D00D-7636-4C22-868C-C3901CEB057D}"/>
              </a:ext>
            </a:extLst>
          </p:cNvPr>
          <p:cNvGraphicFramePr>
            <a:graphicFrameLocks noGrp="1"/>
          </p:cNvGraphicFramePr>
          <p:nvPr>
            <p:extLst>
              <p:ext uri="{D42A27DB-BD31-4B8C-83A1-F6EECF244321}">
                <p14:modId xmlns:p14="http://schemas.microsoft.com/office/powerpoint/2010/main" val="4033888608"/>
              </p:ext>
            </p:extLst>
          </p:nvPr>
        </p:nvGraphicFramePr>
        <p:xfrm>
          <a:off x="1393372" y="1393539"/>
          <a:ext cx="6096000" cy="1483360"/>
        </p:xfrm>
        <a:graphic>
          <a:graphicData uri="http://schemas.openxmlformats.org/drawingml/2006/table">
            <a:tbl>
              <a:tblPr firstRow="1" bandRow="1">
                <a:tableStyleId>{5C22544A-7EE6-4342-B048-85BDC9FD1C3A}</a:tableStyleId>
              </a:tblPr>
              <a:tblGrid>
                <a:gridCol w="2032000">
                  <a:extLst>
                    <a:ext uri="{9D8B030D-6E8A-4147-A177-3AD203B41FA5}">
                      <a16:colId xmlns:a16="http://schemas.microsoft.com/office/drawing/2014/main" val="2675440359"/>
                    </a:ext>
                  </a:extLst>
                </a:gridCol>
                <a:gridCol w="2032000">
                  <a:extLst>
                    <a:ext uri="{9D8B030D-6E8A-4147-A177-3AD203B41FA5}">
                      <a16:colId xmlns:a16="http://schemas.microsoft.com/office/drawing/2014/main" val="26265389"/>
                    </a:ext>
                  </a:extLst>
                </a:gridCol>
                <a:gridCol w="2032000">
                  <a:extLst>
                    <a:ext uri="{9D8B030D-6E8A-4147-A177-3AD203B41FA5}">
                      <a16:colId xmlns:a16="http://schemas.microsoft.com/office/drawing/2014/main" val="688223957"/>
                    </a:ext>
                  </a:extLst>
                </a:gridCol>
              </a:tblGrid>
              <a:tr h="370840">
                <a:tc>
                  <a:txBody>
                    <a:bodyPr/>
                    <a:lstStyle/>
                    <a:p>
                      <a:r>
                        <a:rPr lang="en-US" dirty="0"/>
                        <a:t>Operation </a:t>
                      </a:r>
                    </a:p>
                  </a:txBody>
                  <a:tcPr/>
                </a:tc>
                <a:tc>
                  <a:txBody>
                    <a:bodyPr/>
                    <a:lstStyle/>
                    <a:p>
                      <a:r>
                        <a:rPr lang="en-US" dirty="0"/>
                        <a:t>Value 1</a:t>
                      </a:r>
                    </a:p>
                  </a:txBody>
                  <a:tcPr/>
                </a:tc>
                <a:tc>
                  <a:txBody>
                    <a:bodyPr/>
                    <a:lstStyle/>
                    <a:p>
                      <a:r>
                        <a:rPr lang="en-US" dirty="0"/>
                        <a:t>Value 2</a:t>
                      </a:r>
                    </a:p>
                  </a:txBody>
                  <a:tcPr/>
                </a:tc>
                <a:extLst>
                  <a:ext uri="{0D108BD9-81ED-4DB2-BD59-A6C34878D82A}">
                    <a16:rowId xmlns:a16="http://schemas.microsoft.com/office/drawing/2014/main" val="1715726896"/>
                  </a:ext>
                </a:extLst>
              </a:tr>
              <a:tr h="370840">
                <a:tc>
                  <a:txBody>
                    <a:bodyPr/>
                    <a:lstStyle/>
                    <a:p>
                      <a:r>
                        <a:rPr lang="en-US" dirty="0"/>
                        <a:t>Argument X</a:t>
                      </a:r>
                    </a:p>
                  </a:txBody>
                  <a:tcPr/>
                </a:tc>
                <a:tc>
                  <a:txBody>
                    <a:bodyPr/>
                    <a:lstStyle/>
                    <a:p>
                      <a:r>
                        <a:rPr lang="en-US" dirty="0"/>
                        <a:t>[01100011]</a:t>
                      </a:r>
                    </a:p>
                  </a:txBody>
                  <a:tcPr/>
                </a:tc>
                <a:tc>
                  <a:txBody>
                    <a:bodyPr/>
                    <a:lstStyle/>
                    <a:p>
                      <a:r>
                        <a:rPr lang="en-US" dirty="0"/>
                        <a:t>[10010101]</a:t>
                      </a:r>
                    </a:p>
                  </a:txBody>
                  <a:tcPr/>
                </a:tc>
                <a:extLst>
                  <a:ext uri="{0D108BD9-81ED-4DB2-BD59-A6C34878D82A}">
                    <a16:rowId xmlns:a16="http://schemas.microsoft.com/office/drawing/2014/main" val="1606586853"/>
                  </a:ext>
                </a:extLst>
              </a:tr>
              <a:tr h="370840">
                <a:tc>
                  <a:txBody>
                    <a:bodyPr/>
                    <a:lstStyle/>
                    <a:p>
                      <a:r>
                        <a:rPr lang="en-US" dirty="0"/>
                        <a:t>X &gt;&gt; 4 (logical)</a:t>
                      </a:r>
                    </a:p>
                  </a:txBody>
                  <a:tcPr/>
                </a:tc>
                <a:tc>
                  <a:txBody>
                    <a:bodyPr/>
                    <a:lstStyle/>
                    <a:p>
                      <a:r>
                        <a:rPr lang="en-US" dirty="0"/>
                        <a:t>[</a:t>
                      </a:r>
                      <a:r>
                        <a:rPr lang="en-US" b="1" i="1" dirty="0"/>
                        <a:t>0000</a:t>
                      </a:r>
                      <a:r>
                        <a:rPr lang="en-US" dirty="0"/>
                        <a:t>0110]</a:t>
                      </a:r>
                    </a:p>
                  </a:txBody>
                  <a:tcPr/>
                </a:tc>
                <a:tc>
                  <a:txBody>
                    <a:bodyPr/>
                    <a:lstStyle/>
                    <a:p>
                      <a:r>
                        <a:rPr lang="en-US" dirty="0"/>
                        <a:t>[</a:t>
                      </a:r>
                      <a:r>
                        <a:rPr lang="en-US" b="1" i="1" dirty="0"/>
                        <a:t>0000</a:t>
                      </a:r>
                      <a:r>
                        <a:rPr lang="en-US" dirty="0"/>
                        <a:t>1001]</a:t>
                      </a:r>
                    </a:p>
                  </a:txBody>
                  <a:tcPr/>
                </a:tc>
                <a:extLst>
                  <a:ext uri="{0D108BD9-81ED-4DB2-BD59-A6C34878D82A}">
                    <a16:rowId xmlns:a16="http://schemas.microsoft.com/office/drawing/2014/main" val="984086703"/>
                  </a:ext>
                </a:extLst>
              </a:tr>
              <a:tr h="370840">
                <a:tc>
                  <a:txBody>
                    <a:bodyPr/>
                    <a:lstStyle/>
                    <a:p>
                      <a:r>
                        <a:rPr lang="en-US" dirty="0"/>
                        <a:t>X &gt;&gt; 4 (arithmetic)</a:t>
                      </a:r>
                    </a:p>
                  </a:txBody>
                  <a:tcPr/>
                </a:tc>
                <a:tc>
                  <a:txBody>
                    <a:bodyPr/>
                    <a:lstStyle/>
                    <a:p>
                      <a:r>
                        <a:rPr lang="en-US" dirty="0"/>
                        <a:t>[</a:t>
                      </a:r>
                      <a:r>
                        <a:rPr lang="en-US" b="1" i="1" dirty="0"/>
                        <a:t>0000</a:t>
                      </a:r>
                      <a:r>
                        <a:rPr lang="en-US" dirty="0"/>
                        <a:t>0110]</a:t>
                      </a:r>
                    </a:p>
                  </a:txBody>
                  <a:tcPr/>
                </a:tc>
                <a:tc>
                  <a:txBody>
                    <a:bodyPr/>
                    <a:lstStyle/>
                    <a:p>
                      <a:r>
                        <a:rPr lang="en-US" dirty="0"/>
                        <a:t>[</a:t>
                      </a:r>
                      <a:r>
                        <a:rPr lang="en-US" b="1" i="1" dirty="0"/>
                        <a:t>1111</a:t>
                      </a:r>
                      <a:r>
                        <a:rPr lang="en-US" dirty="0"/>
                        <a:t>1001]</a:t>
                      </a:r>
                    </a:p>
                  </a:txBody>
                  <a:tcPr/>
                </a:tc>
                <a:extLst>
                  <a:ext uri="{0D108BD9-81ED-4DB2-BD59-A6C34878D82A}">
                    <a16:rowId xmlns:a16="http://schemas.microsoft.com/office/drawing/2014/main" val="3143576298"/>
                  </a:ext>
                </a:extLst>
              </a:tr>
            </a:tbl>
          </a:graphicData>
        </a:graphic>
      </p:graphicFrame>
    </p:spTree>
    <p:extLst>
      <p:ext uri="{BB962C8B-B14F-4D97-AF65-F5344CB8AC3E}">
        <p14:creationId xmlns:p14="http://schemas.microsoft.com/office/powerpoint/2010/main" val="51560107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p:cNvSpPr>
            <a:spLocks noGrp="1"/>
          </p:cNvSpPr>
          <p:nvPr>
            <p:ph type="title"/>
          </p:nvPr>
        </p:nvSpPr>
        <p:spPr/>
        <p:txBody>
          <a:bodyPr/>
          <a:lstStyle/>
          <a:p>
            <a:r>
              <a:rPr lang="en-US" altLang="zh-CN" sz="3200" dirty="0"/>
              <a:t>2.2 Integer Representation</a:t>
            </a:r>
          </a:p>
        </p:txBody>
      </p:sp>
      <p:sp>
        <p:nvSpPr>
          <p:cNvPr id="6" name="内容占位符 5"/>
          <p:cNvSpPr>
            <a:spLocks noGrp="1"/>
          </p:cNvSpPr>
          <p:nvPr>
            <p:ph idx="1"/>
          </p:nvPr>
        </p:nvSpPr>
        <p:spPr>
          <a:xfrm>
            <a:off x="152401" y="986971"/>
            <a:ext cx="8665028" cy="3512457"/>
          </a:xfrm>
        </p:spPr>
        <p:txBody>
          <a:bodyPr/>
          <a:lstStyle/>
          <a:p>
            <a:pPr algn="l"/>
            <a:r>
              <a:rPr lang="en-US" sz="2000" dirty="0">
                <a:latin typeface="TimesTen-Roman"/>
              </a:rPr>
              <a:t>T</a:t>
            </a:r>
            <a:r>
              <a:rPr lang="en-US" sz="2000" b="0" i="0" u="none" strike="noStrike" baseline="0" dirty="0">
                <a:latin typeface="TimesTen-Roman"/>
              </a:rPr>
              <a:t>wo different ways bits can be used to encode integers— one that can only represent nonnegative numbers (</a:t>
            </a:r>
            <a:r>
              <a:rPr lang="en-US" sz="2000" b="1" i="0" u="none" strike="noStrike" baseline="0" dirty="0">
                <a:latin typeface="TimesTen-Roman"/>
              </a:rPr>
              <a:t>unsigned</a:t>
            </a:r>
            <a:r>
              <a:rPr lang="en-US" sz="2000" b="0" i="0" u="none" strike="noStrike" baseline="0" dirty="0">
                <a:latin typeface="TimesTen-Roman"/>
              </a:rPr>
              <a:t>), and one that can represent</a:t>
            </a:r>
          </a:p>
          <a:p>
            <a:pPr marL="0" indent="0" algn="l">
              <a:buNone/>
            </a:pPr>
            <a:r>
              <a:rPr lang="en-US" sz="2000" dirty="0">
                <a:latin typeface="TimesTen-Roman"/>
              </a:rPr>
              <a:t>    </a:t>
            </a:r>
            <a:r>
              <a:rPr lang="en-US" sz="2000" b="0" i="0" u="none" strike="noStrike" baseline="0" dirty="0">
                <a:latin typeface="TimesTen-Roman"/>
              </a:rPr>
              <a:t>negative, zero, and positive numbers (</a:t>
            </a:r>
            <a:r>
              <a:rPr lang="en-US" sz="2000" b="1" i="0" u="none" strike="noStrike" baseline="0" dirty="0">
                <a:latin typeface="TimesTen-Roman"/>
              </a:rPr>
              <a:t>signed</a:t>
            </a:r>
            <a:r>
              <a:rPr lang="en-US" sz="2000" b="0" i="0" u="none" strike="noStrike" baseline="0" dirty="0">
                <a:latin typeface="TimesTen-Roman"/>
              </a:rPr>
              <a:t>).</a:t>
            </a:r>
          </a:p>
          <a:p>
            <a:pPr algn="l"/>
            <a:r>
              <a:rPr lang="en-US" sz="2000" b="0" i="0" u="none" strike="noStrike" baseline="0" dirty="0">
                <a:latin typeface="TimesTen-Roman"/>
              </a:rPr>
              <a:t>We also investigate the effect of expanding or shrinking an encoded integer</a:t>
            </a:r>
          </a:p>
          <a:p>
            <a:pPr marL="0" indent="0" algn="l">
              <a:buNone/>
            </a:pPr>
            <a:r>
              <a:rPr lang="en-US" sz="2000" b="0" i="0" u="none" strike="noStrike" baseline="0" dirty="0">
                <a:latin typeface="TimesTen-Roman"/>
              </a:rPr>
              <a:t>     to fit a representation with a different length (e.g., from a byte to a word or vice   </a:t>
            </a:r>
          </a:p>
          <a:p>
            <a:pPr marL="0" indent="0" algn="l">
              <a:buNone/>
            </a:pPr>
            <a:r>
              <a:rPr lang="en-US" sz="2000" dirty="0">
                <a:latin typeface="TimesTen-Roman"/>
              </a:rPr>
              <a:t>     </a:t>
            </a:r>
            <a:r>
              <a:rPr lang="en-US" sz="2000" b="0" i="0" u="none" strike="noStrike" baseline="0" dirty="0">
                <a:latin typeface="TimesTen-Roman"/>
              </a:rPr>
              <a:t>versa)</a:t>
            </a:r>
          </a:p>
          <a:p>
            <a:pPr algn="l">
              <a:buSzPct val="180000"/>
              <a:buFont typeface="Arial" panose="020B0604020202020204" pitchFamily="34" charset="0"/>
              <a:buChar char="•"/>
            </a:pPr>
            <a:r>
              <a:rPr lang="en-US" sz="2000" dirty="0">
                <a:latin typeface="TimesTen-Roman"/>
              </a:rPr>
              <a:t>Unsigned integer </a:t>
            </a:r>
          </a:p>
          <a:p>
            <a:pPr marL="0" indent="0" algn="l">
              <a:buSzPct val="180000"/>
              <a:buNone/>
            </a:pPr>
            <a:endParaRPr lang="en-US" sz="2000" b="0" i="0" u="none" strike="noStrike" baseline="0" dirty="0">
              <a:latin typeface="TimesTen-Roman"/>
            </a:endParaRPr>
          </a:p>
          <a:p>
            <a:pPr marL="0" indent="0" algn="l">
              <a:buNone/>
            </a:pPr>
            <a:endParaRPr lang="en-US" sz="2000" dirty="0">
              <a:latin typeface="TimesTen-Roman"/>
            </a:endParaRPr>
          </a:p>
        </p:txBody>
      </p:sp>
      <p:sp>
        <p:nvSpPr>
          <p:cNvPr id="4" name="灯片编号占位符 3"/>
          <p:cNvSpPr>
            <a:spLocks noGrp="1"/>
          </p:cNvSpPr>
          <p:nvPr>
            <p:ph type="sldNum" sz="quarter" idx="10"/>
          </p:nvPr>
        </p:nvSpPr>
        <p:spPr/>
        <p:txBody>
          <a:bodyPr/>
          <a:lstStyle/>
          <a:p>
            <a:fld id="{D9B6BDF2-6896-4B98-8776-C18582F63BA5}" type="slidenum">
              <a:rPr lang="zh-TW" altLang="en-US" smtClean="0"/>
              <a:t>29</a:t>
            </a:fld>
            <a:endParaRPr lang="zh-TW" altLang="en-US"/>
          </a:p>
        </p:txBody>
      </p:sp>
      <p:pic>
        <p:nvPicPr>
          <p:cNvPr id="3" name="Picture 2">
            <a:extLst>
              <a:ext uri="{FF2B5EF4-FFF2-40B4-BE49-F238E27FC236}">
                <a16:creationId xmlns:a16="http://schemas.microsoft.com/office/drawing/2014/main" id="{0486A0B3-95F6-416C-8534-0EA2A5F09C39}"/>
              </a:ext>
            </a:extLst>
          </p:cNvPr>
          <p:cNvPicPr>
            <a:picLocks noChangeAspect="1"/>
          </p:cNvPicPr>
          <p:nvPr/>
        </p:nvPicPr>
        <p:blipFill>
          <a:blip r:embed="rId3"/>
          <a:stretch>
            <a:fillRect/>
          </a:stretch>
        </p:blipFill>
        <p:spPr>
          <a:xfrm>
            <a:off x="152401" y="3632581"/>
            <a:ext cx="7242628" cy="1047896"/>
          </a:xfrm>
          <a:prstGeom prst="rect">
            <a:avLst/>
          </a:prstGeom>
        </p:spPr>
      </p:pic>
    </p:spTree>
    <p:extLst>
      <p:ext uri="{BB962C8B-B14F-4D97-AF65-F5344CB8AC3E}">
        <p14:creationId xmlns:p14="http://schemas.microsoft.com/office/powerpoint/2010/main" val="3750733902"/>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p:cNvSpPr>
            <a:spLocks noGrp="1"/>
          </p:cNvSpPr>
          <p:nvPr>
            <p:ph type="title"/>
          </p:nvPr>
        </p:nvSpPr>
        <p:spPr/>
        <p:txBody>
          <a:bodyPr/>
          <a:lstStyle/>
          <a:p>
            <a:r>
              <a:rPr lang="en-US" sz="3200" dirty="0">
                <a:sym typeface="+mn-ea"/>
              </a:rPr>
              <a:t>Signed Number </a:t>
            </a:r>
            <a:r>
              <a:rPr kumimoji="1" lang="en-US" sz="3200" b="1" i="0" u="none" strike="noStrike" kern="0" cap="none" spc="0" normalizeH="0" baseline="0" noProof="0" dirty="0">
                <a:ln>
                  <a:noFill/>
                </a:ln>
                <a:solidFill>
                  <a:srgbClr val="1F497D"/>
                </a:solidFill>
                <a:effectLst/>
                <a:uLnTx/>
                <a:uFillTx/>
                <a:latin typeface="Calibri" panose="020F0502020204030204" pitchFamily="34" charset="0"/>
                <a:ea typeface="標楷體" pitchFamily="65" charset="-120"/>
                <a:sym typeface="+mn-ea"/>
              </a:rPr>
              <a:t>Representations</a:t>
            </a:r>
            <a:endParaRPr lang="en-US" altLang="zh-CN" sz="3200" dirty="0"/>
          </a:p>
        </p:txBody>
      </p:sp>
      <p:sp>
        <p:nvSpPr>
          <p:cNvPr id="6" name="内容占位符 5"/>
          <p:cNvSpPr>
            <a:spLocks noGrp="1"/>
          </p:cNvSpPr>
          <p:nvPr>
            <p:ph idx="1"/>
          </p:nvPr>
        </p:nvSpPr>
        <p:spPr>
          <a:xfrm>
            <a:off x="145143" y="844153"/>
            <a:ext cx="8541657" cy="3671888"/>
          </a:xfrm>
        </p:spPr>
        <p:txBody>
          <a:bodyPr/>
          <a:lstStyle/>
          <a:p>
            <a:r>
              <a:rPr lang="en-US" altLang="zh-CN" sz="2000" dirty="0">
                <a:solidFill>
                  <a:srgbClr val="00B050"/>
                </a:solidFill>
              </a:rPr>
              <a:t>Signed magnitude</a:t>
            </a:r>
            <a:r>
              <a:rPr lang="en-US" altLang="zh-CN" sz="2000" dirty="0"/>
              <a:t>: a simple representation for an integer with two as base. The first bit is a sign bit. </a:t>
            </a:r>
          </a:p>
          <a:p>
            <a:pPr lvl="1"/>
            <a:r>
              <a:rPr lang="en-US" altLang="zh-CN" sz="2000" dirty="0">
                <a:solidFill>
                  <a:srgbClr val="FF0000"/>
                </a:solidFill>
              </a:rPr>
              <a:t>0 </a:t>
            </a:r>
            <a:r>
              <a:rPr lang="en-US" altLang="zh-CN" sz="2000" dirty="0"/>
              <a:t>001 -&gt; positive number, +1</a:t>
            </a:r>
          </a:p>
          <a:p>
            <a:pPr lvl="1"/>
            <a:r>
              <a:rPr lang="en-US" altLang="zh-CN" sz="2000" dirty="0">
                <a:solidFill>
                  <a:srgbClr val="FF0000"/>
                </a:solidFill>
              </a:rPr>
              <a:t>1 </a:t>
            </a:r>
            <a:r>
              <a:rPr lang="en-US" altLang="zh-CN" sz="2000" dirty="0"/>
              <a:t>001 -&gt; negative number, -1</a:t>
            </a:r>
          </a:p>
          <a:p>
            <a:pPr lvl="0"/>
            <a:r>
              <a:rPr lang="en-US" altLang="zh-CN" sz="2000" dirty="0">
                <a:solidFill>
                  <a:srgbClr val="00B050"/>
                </a:solidFill>
              </a:rPr>
              <a:t>Inverse form (1’s Complement)</a:t>
            </a:r>
            <a:r>
              <a:rPr lang="en-US" altLang="zh-CN" sz="2000" dirty="0"/>
              <a:t>: same as the signed magnitude for a positive number; for a negative number, keep the sign the same and invert the rest</a:t>
            </a:r>
          </a:p>
          <a:p>
            <a:pPr lvl="1"/>
            <a:r>
              <a:rPr lang="en-US" altLang="zh-CN" sz="1600" dirty="0"/>
              <a:t>0001 </a:t>
            </a:r>
            <a:r>
              <a:rPr lang="en-US" altLang="zh-CN" sz="1600" dirty="0">
                <a:sym typeface="Wingdings" panose="05000000000000000000" pitchFamily="2" charset="2"/>
              </a:rPr>
              <a:t> positive +1</a:t>
            </a:r>
          </a:p>
          <a:p>
            <a:pPr lvl="1"/>
            <a:r>
              <a:rPr lang="en-US" altLang="zh-CN" sz="1600" dirty="0">
                <a:sym typeface="Wingdings" panose="05000000000000000000" pitchFamily="2" charset="2"/>
              </a:rPr>
              <a:t>1110  negative -1</a:t>
            </a:r>
            <a:endParaRPr lang="en-US" altLang="zh-CN" sz="1600" dirty="0"/>
          </a:p>
          <a:p>
            <a:pPr lvl="0"/>
            <a:r>
              <a:rPr lang="en-US" altLang="zh-CN" sz="2000" dirty="0">
                <a:solidFill>
                  <a:srgbClr val="00B050"/>
                </a:solidFill>
              </a:rPr>
              <a:t>2’s Complement</a:t>
            </a:r>
            <a:r>
              <a:rPr lang="en-US" altLang="zh-CN" sz="2000" dirty="0"/>
              <a:t>: </a:t>
            </a:r>
            <a:r>
              <a:rPr lang="en-US" altLang="zh-CN" sz="2000" dirty="0">
                <a:sym typeface="+mn-ea"/>
              </a:rPr>
              <a:t>same as the true form for a positive number; for a negative number, keep the sign the same, invert the rest, and add 1</a:t>
            </a:r>
          </a:p>
          <a:p>
            <a:pPr lvl="0"/>
            <a:r>
              <a:rPr kumimoji="1" lang="en-US" altLang="zh-CN" sz="2000" b="0" i="0" u="none" strike="noStrike" kern="0" cap="none" spc="0" normalizeH="0" baseline="0" noProof="0" dirty="0">
                <a:ln>
                  <a:noFill/>
                </a:ln>
                <a:solidFill>
                  <a:srgbClr val="C00000"/>
                </a:solidFill>
                <a:effectLst/>
                <a:uLnTx/>
                <a:uFillTx/>
                <a:latin typeface="Calibri" panose="020F0502020204030204" pitchFamily="34" charset="0"/>
                <a:ea typeface="標楷體" pitchFamily="65" charset="-120"/>
                <a:cs typeface="+mn-cs"/>
              </a:rPr>
              <a:t>2's Complement is the widely adopted standard for integer representation. </a:t>
            </a:r>
            <a:endParaRPr lang="en-US" altLang="zh-CN" sz="2000" dirty="0">
              <a:sym typeface="+mn-ea"/>
            </a:endParaRPr>
          </a:p>
        </p:txBody>
      </p:sp>
      <p:sp>
        <p:nvSpPr>
          <p:cNvPr id="4" name="灯片编号占位符 3"/>
          <p:cNvSpPr>
            <a:spLocks noGrp="1"/>
          </p:cNvSpPr>
          <p:nvPr>
            <p:ph type="sldNum" sz="quarter" idx="10"/>
          </p:nvPr>
        </p:nvSpPr>
        <p:spPr/>
        <p:txBody>
          <a:bodyPr/>
          <a:lstStyle/>
          <a:p>
            <a:fld id="{D9B6BDF2-6896-4B98-8776-C18582F63BA5}" type="slidenum">
              <a:rPr lang="zh-TW" altLang="en-US" smtClean="0"/>
              <a:t>30</a:t>
            </a:fld>
            <a:endParaRPr lang="zh-TW" altLang="en-US"/>
          </a:p>
        </p:txBody>
      </p:sp>
    </p:spTree>
    <p:extLst>
      <p:ext uri="{BB962C8B-B14F-4D97-AF65-F5344CB8AC3E}">
        <p14:creationId xmlns:p14="http://schemas.microsoft.com/office/powerpoint/2010/main" val="190095587"/>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p:cNvSpPr>
            <a:spLocks noGrp="1"/>
          </p:cNvSpPr>
          <p:nvPr>
            <p:ph type="title"/>
          </p:nvPr>
        </p:nvSpPr>
        <p:spPr/>
        <p:txBody>
          <a:bodyPr/>
          <a:lstStyle/>
          <a:p>
            <a:r>
              <a:rPr lang="en-US" sz="3200" dirty="0">
                <a:sym typeface="+mn-ea"/>
              </a:rPr>
              <a:t>Signed Numbers</a:t>
            </a:r>
            <a:endParaRPr lang="en-US" altLang="zh-CN" sz="3200" dirty="0"/>
          </a:p>
        </p:txBody>
      </p:sp>
      <p:sp>
        <p:nvSpPr>
          <p:cNvPr id="6" name="内容占位符 5"/>
          <p:cNvSpPr>
            <a:spLocks noGrp="1"/>
          </p:cNvSpPr>
          <p:nvPr>
            <p:ph idx="1"/>
          </p:nvPr>
        </p:nvSpPr>
        <p:spPr/>
        <p:txBody>
          <a:bodyPr/>
          <a:lstStyle/>
          <a:p>
            <a:pPr lvl="0"/>
            <a:r>
              <a:rPr lang="en-US" altLang="zh-CN" sz="2000" dirty="0">
                <a:solidFill>
                  <a:srgbClr val="C00000"/>
                </a:solidFill>
              </a:rPr>
              <a:t>2's Complement</a:t>
            </a:r>
            <a:r>
              <a:rPr lang="en-US" altLang="zh-CN" sz="2000" dirty="0"/>
              <a:t>: </a:t>
            </a:r>
            <a:r>
              <a:rPr lang="en-US" altLang="zh-CN" sz="2000" dirty="0">
                <a:sym typeface="+mn-ea"/>
              </a:rPr>
              <a:t>same as the true form for positive numbers; for negative numbers, keep the sign the same, </a:t>
            </a:r>
            <a:r>
              <a:rPr lang="en-US" altLang="zh-CN" sz="2400" dirty="0">
                <a:solidFill>
                  <a:srgbClr val="0000FF"/>
                </a:solidFill>
                <a:sym typeface="+mn-ea"/>
              </a:rPr>
              <a:t>invert the rest, and add 1</a:t>
            </a:r>
          </a:p>
        </p:txBody>
      </p:sp>
      <p:sp>
        <p:nvSpPr>
          <p:cNvPr id="4" name="灯片编号占位符 3"/>
          <p:cNvSpPr>
            <a:spLocks noGrp="1"/>
          </p:cNvSpPr>
          <p:nvPr>
            <p:ph type="sldNum" sz="quarter" idx="10"/>
          </p:nvPr>
        </p:nvSpPr>
        <p:spPr/>
        <p:txBody>
          <a:bodyPr/>
          <a:lstStyle/>
          <a:p>
            <a:fld id="{D9B6BDF2-6896-4B98-8776-C18582F63BA5}" type="slidenum">
              <a:rPr lang="zh-TW" altLang="en-US" smtClean="0"/>
              <a:t>31</a:t>
            </a:fld>
            <a:endParaRPr lang="zh-TW" altLang="en-US"/>
          </a:p>
        </p:txBody>
      </p:sp>
      <p:sp>
        <p:nvSpPr>
          <p:cNvPr id="7" name="文本框 6"/>
          <p:cNvSpPr txBox="1"/>
          <p:nvPr/>
        </p:nvSpPr>
        <p:spPr>
          <a:xfrm>
            <a:off x="1657985" y="2523490"/>
            <a:ext cx="1262380" cy="368300"/>
          </a:xfrm>
          <a:prstGeom prst="rect">
            <a:avLst/>
          </a:prstGeom>
          <a:noFill/>
        </p:spPr>
        <p:txBody>
          <a:bodyPr wrap="none" rtlCol="0" anchor="ctr" anchorCtr="1">
            <a:spAutoFit/>
          </a:bodyPr>
          <a:lstStyle/>
          <a:p>
            <a:r>
              <a:rPr lang="en-US" altLang="zh-CN" dirty="0">
                <a:solidFill>
                  <a:srgbClr val="C00000"/>
                </a:solidFill>
                <a:ea typeface="標楷體" pitchFamily="65" charset="-120"/>
                <a:cs typeface="Calibri" panose="020F0502020204030204" pitchFamily="34" charset="0"/>
              </a:rPr>
              <a:t>1000 0010</a:t>
            </a:r>
          </a:p>
        </p:txBody>
      </p:sp>
      <p:sp>
        <p:nvSpPr>
          <p:cNvPr id="8" name="文本框 7"/>
          <p:cNvSpPr txBox="1"/>
          <p:nvPr/>
        </p:nvSpPr>
        <p:spPr>
          <a:xfrm>
            <a:off x="3574415" y="2494915"/>
            <a:ext cx="1262380" cy="368300"/>
          </a:xfrm>
          <a:prstGeom prst="rect">
            <a:avLst/>
          </a:prstGeom>
          <a:noFill/>
        </p:spPr>
        <p:txBody>
          <a:bodyPr wrap="none" rtlCol="0" anchor="ctr" anchorCtr="1">
            <a:spAutoFit/>
          </a:bodyPr>
          <a:lstStyle/>
          <a:p>
            <a:r>
              <a:rPr lang="en-US" altLang="zh-CN" dirty="0">
                <a:solidFill>
                  <a:srgbClr val="C00000"/>
                </a:solidFill>
                <a:ea typeface="標楷體" pitchFamily="65" charset="-120"/>
                <a:cs typeface="Calibri" panose="020F0502020204030204" pitchFamily="34" charset="0"/>
              </a:rPr>
              <a:t>1111 1101</a:t>
            </a:r>
          </a:p>
        </p:txBody>
      </p:sp>
      <p:sp>
        <p:nvSpPr>
          <p:cNvPr id="9" name="文本框 8"/>
          <p:cNvSpPr txBox="1"/>
          <p:nvPr/>
        </p:nvSpPr>
        <p:spPr>
          <a:xfrm>
            <a:off x="5511800" y="2480945"/>
            <a:ext cx="1262380" cy="368300"/>
          </a:xfrm>
          <a:prstGeom prst="rect">
            <a:avLst/>
          </a:prstGeom>
          <a:noFill/>
        </p:spPr>
        <p:txBody>
          <a:bodyPr wrap="none" rtlCol="0" anchor="ctr" anchorCtr="1">
            <a:spAutoFit/>
          </a:bodyPr>
          <a:lstStyle/>
          <a:p>
            <a:r>
              <a:rPr lang="en-US" altLang="zh-CN" dirty="0">
                <a:solidFill>
                  <a:srgbClr val="C00000"/>
                </a:solidFill>
                <a:ea typeface="標楷體" pitchFamily="65" charset="-120"/>
                <a:cs typeface="Calibri" panose="020F0502020204030204" pitchFamily="34" charset="0"/>
              </a:rPr>
              <a:t>1111 1110</a:t>
            </a:r>
          </a:p>
        </p:txBody>
      </p:sp>
      <p:sp>
        <p:nvSpPr>
          <p:cNvPr id="10" name="文本框 9"/>
          <p:cNvSpPr txBox="1"/>
          <p:nvPr/>
        </p:nvSpPr>
        <p:spPr>
          <a:xfrm>
            <a:off x="1016000" y="2523490"/>
            <a:ext cx="449580" cy="368300"/>
          </a:xfrm>
          <a:prstGeom prst="rect">
            <a:avLst/>
          </a:prstGeom>
          <a:noFill/>
        </p:spPr>
        <p:txBody>
          <a:bodyPr wrap="none" rtlCol="0" anchor="ctr" anchorCtr="1">
            <a:spAutoFit/>
          </a:bodyPr>
          <a:lstStyle/>
          <a:p>
            <a:r>
              <a:rPr lang="en-US" altLang="zh-CN" dirty="0">
                <a:solidFill>
                  <a:srgbClr val="C00000"/>
                </a:solidFill>
                <a:ea typeface="標楷體" pitchFamily="65" charset="-120"/>
                <a:cs typeface="Calibri" panose="020F0502020204030204" pitchFamily="34" charset="0"/>
              </a:rPr>
              <a:t>-2:</a:t>
            </a:r>
          </a:p>
        </p:txBody>
      </p:sp>
      <p:sp>
        <p:nvSpPr>
          <p:cNvPr id="11" name="文本框 10"/>
          <p:cNvSpPr txBox="1"/>
          <p:nvPr/>
        </p:nvSpPr>
        <p:spPr>
          <a:xfrm>
            <a:off x="1267100" y="2829877"/>
            <a:ext cx="2044149" cy="369332"/>
          </a:xfrm>
          <a:prstGeom prst="rect">
            <a:avLst/>
          </a:prstGeom>
          <a:noFill/>
        </p:spPr>
        <p:txBody>
          <a:bodyPr wrap="none" rtlCol="0" anchor="ctr" anchorCtr="1">
            <a:spAutoFit/>
          </a:bodyPr>
          <a:lstStyle/>
          <a:p>
            <a:r>
              <a:rPr lang="en-US" altLang="zh-CN" dirty="0">
                <a:solidFill>
                  <a:srgbClr val="C00000"/>
                </a:solidFill>
                <a:ea typeface="標楷體" pitchFamily="65" charset="-120"/>
                <a:cs typeface="Calibri" panose="020F0502020204030204" pitchFamily="34" charset="0"/>
              </a:rPr>
              <a:t>Signed magnitude</a:t>
            </a:r>
          </a:p>
        </p:txBody>
      </p:sp>
      <p:sp>
        <p:nvSpPr>
          <p:cNvPr id="12" name="文本框 11"/>
          <p:cNvSpPr txBox="1"/>
          <p:nvPr/>
        </p:nvSpPr>
        <p:spPr>
          <a:xfrm>
            <a:off x="3745865" y="2849245"/>
            <a:ext cx="919480" cy="368300"/>
          </a:xfrm>
          <a:prstGeom prst="rect">
            <a:avLst/>
          </a:prstGeom>
          <a:noFill/>
        </p:spPr>
        <p:txBody>
          <a:bodyPr wrap="none" rtlCol="0" anchor="ctr" anchorCtr="1">
            <a:spAutoFit/>
          </a:bodyPr>
          <a:lstStyle/>
          <a:p>
            <a:r>
              <a:rPr lang="en-US" altLang="zh-CN" dirty="0">
                <a:solidFill>
                  <a:srgbClr val="C00000"/>
                </a:solidFill>
                <a:ea typeface="標楷體" pitchFamily="65" charset="-120"/>
                <a:cs typeface="Calibri" panose="020F0502020204030204" pitchFamily="34" charset="0"/>
              </a:rPr>
              <a:t>inverse</a:t>
            </a:r>
          </a:p>
        </p:txBody>
      </p:sp>
      <p:sp>
        <p:nvSpPr>
          <p:cNvPr id="13" name="文本框 12"/>
          <p:cNvSpPr txBox="1"/>
          <p:nvPr/>
        </p:nvSpPr>
        <p:spPr>
          <a:xfrm>
            <a:off x="5462905" y="2833340"/>
            <a:ext cx="1786066" cy="400110"/>
          </a:xfrm>
          <a:prstGeom prst="rect">
            <a:avLst/>
          </a:prstGeom>
          <a:noFill/>
        </p:spPr>
        <p:txBody>
          <a:bodyPr wrap="none" rtlCol="0" anchor="ctr" anchorCtr="1">
            <a:spAutoFit/>
          </a:bodyPr>
          <a:lstStyle/>
          <a:p>
            <a:r>
              <a:rPr kumimoji="1" lang="en-US" altLang="zh-CN" sz="2000" b="0" i="0" u="none" strike="noStrike" kern="0" cap="none" spc="0" normalizeH="0" baseline="0" noProof="0" dirty="0">
                <a:ln>
                  <a:noFill/>
                </a:ln>
                <a:solidFill>
                  <a:srgbClr val="C00000"/>
                </a:solidFill>
                <a:effectLst/>
                <a:uLnTx/>
                <a:uFillTx/>
                <a:latin typeface="Calibri" panose="020F0502020204030204" pitchFamily="34" charset="0"/>
                <a:ea typeface="標楷體" pitchFamily="65" charset="-120"/>
                <a:cs typeface="+mn-cs"/>
              </a:rPr>
              <a:t>2's </a:t>
            </a:r>
            <a:r>
              <a:rPr lang="en-US" altLang="zh-CN" dirty="0">
                <a:solidFill>
                  <a:srgbClr val="C00000"/>
                </a:solidFill>
                <a:ea typeface="標楷體" pitchFamily="65" charset="-120"/>
                <a:cs typeface="Calibri" panose="020F0502020204030204" pitchFamily="34" charset="0"/>
              </a:rPr>
              <a:t>complement</a:t>
            </a:r>
          </a:p>
        </p:txBody>
      </p:sp>
      <p:sp>
        <p:nvSpPr>
          <p:cNvPr id="14" name="文本框 13"/>
          <p:cNvSpPr txBox="1"/>
          <p:nvPr/>
        </p:nvSpPr>
        <p:spPr>
          <a:xfrm>
            <a:off x="1054100" y="2203450"/>
            <a:ext cx="373380" cy="368300"/>
          </a:xfrm>
          <a:prstGeom prst="rect">
            <a:avLst/>
          </a:prstGeom>
          <a:noFill/>
        </p:spPr>
        <p:txBody>
          <a:bodyPr wrap="none" rtlCol="0" anchor="ctr" anchorCtr="1">
            <a:spAutoFit/>
          </a:bodyPr>
          <a:lstStyle/>
          <a:p>
            <a:r>
              <a:rPr lang="en-US" altLang="zh-CN" dirty="0">
                <a:solidFill>
                  <a:srgbClr val="C00000"/>
                </a:solidFill>
                <a:ea typeface="標楷體" pitchFamily="65" charset="-120"/>
                <a:cs typeface="Calibri" panose="020F0502020204030204" pitchFamily="34" charset="0"/>
              </a:rPr>
              <a:t>2:</a:t>
            </a:r>
          </a:p>
        </p:txBody>
      </p:sp>
      <p:sp>
        <p:nvSpPr>
          <p:cNvPr id="15" name="文本框 14"/>
          <p:cNvSpPr txBox="1"/>
          <p:nvPr/>
        </p:nvSpPr>
        <p:spPr>
          <a:xfrm>
            <a:off x="1657985" y="2203450"/>
            <a:ext cx="1262380" cy="368300"/>
          </a:xfrm>
          <a:prstGeom prst="rect">
            <a:avLst/>
          </a:prstGeom>
          <a:noFill/>
        </p:spPr>
        <p:txBody>
          <a:bodyPr wrap="none" rtlCol="0" anchor="ctr" anchorCtr="1">
            <a:spAutoFit/>
          </a:bodyPr>
          <a:lstStyle/>
          <a:p>
            <a:r>
              <a:rPr lang="en-US" altLang="zh-CN" dirty="0">
                <a:solidFill>
                  <a:srgbClr val="C00000"/>
                </a:solidFill>
                <a:ea typeface="標楷體" pitchFamily="65" charset="-120"/>
                <a:cs typeface="Calibri" panose="020F0502020204030204" pitchFamily="34" charset="0"/>
              </a:rPr>
              <a:t>0000 0010</a:t>
            </a:r>
          </a:p>
        </p:txBody>
      </p:sp>
      <p:sp>
        <p:nvSpPr>
          <p:cNvPr id="16" name="文本框 15"/>
          <p:cNvSpPr txBox="1"/>
          <p:nvPr/>
        </p:nvSpPr>
        <p:spPr>
          <a:xfrm>
            <a:off x="3574415" y="2203450"/>
            <a:ext cx="1262380" cy="368300"/>
          </a:xfrm>
          <a:prstGeom prst="rect">
            <a:avLst/>
          </a:prstGeom>
          <a:noFill/>
        </p:spPr>
        <p:txBody>
          <a:bodyPr wrap="none" rtlCol="0" anchor="ctr" anchorCtr="1">
            <a:spAutoFit/>
          </a:bodyPr>
          <a:lstStyle/>
          <a:p>
            <a:r>
              <a:rPr lang="en-US" altLang="zh-CN" dirty="0">
                <a:solidFill>
                  <a:srgbClr val="C00000"/>
                </a:solidFill>
                <a:ea typeface="標楷體" pitchFamily="65" charset="-120"/>
                <a:cs typeface="Calibri" panose="020F0502020204030204" pitchFamily="34" charset="0"/>
              </a:rPr>
              <a:t>0000 0010</a:t>
            </a:r>
          </a:p>
        </p:txBody>
      </p:sp>
      <p:sp>
        <p:nvSpPr>
          <p:cNvPr id="17" name="文本框 16"/>
          <p:cNvSpPr txBox="1"/>
          <p:nvPr/>
        </p:nvSpPr>
        <p:spPr>
          <a:xfrm>
            <a:off x="5511800" y="2203450"/>
            <a:ext cx="1262380" cy="368300"/>
          </a:xfrm>
          <a:prstGeom prst="rect">
            <a:avLst/>
          </a:prstGeom>
          <a:noFill/>
        </p:spPr>
        <p:txBody>
          <a:bodyPr wrap="none" rtlCol="0" anchor="ctr" anchorCtr="1">
            <a:spAutoFit/>
          </a:bodyPr>
          <a:lstStyle/>
          <a:p>
            <a:r>
              <a:rPr lang="en-US" altLang="zh-CN" dirty="0">
                <a:solidFill>
                  <a:srgbClr val="C00000"/>
                </a:solidFill>
                <a:ea typeface="標楷體" pitchFamily="65" charset="-120"/>
                <a:cs typeface="Calibri" panose="020F0502020204030204" pitchFamily="34" charset="0"/>
              </a:rPr>
              <a:t>0000 0010</a:t>
            </a:r>
          </a:p>
        </p:txBody>
      </p:sp>
    </p:spTree>
    <p:extLst>
      <p:ext uri="{BB962C8B-B14F-4D97-AF65-F5344CB8AC3E}">
        <p14:creationId xmlns:p14="http://schemas.microsoft.com/office/powerpoint/2010/main" val="2954885251"/>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p:cNvSpPr>
            <a:spLocks noGrp="1"/>
          </p:cNvSpPr>
          <p:nvPr>
            <p:ph type="title"/>
          </p:nvPr>
        </p:nvSpPr>
        <p:spPr/>
        <p:txBody>
          <a:bodyPr/>
          <a:lstStyle/>
          <a:p>
            <a:r>
              <a:rPr lang="en-US" altLang="zh-CN" sz="3200" dirty="0"/>
              <a:t>Example of Addition/Subtraction</a:t>
            </a:r>
          </a:p>
        </p:txBody>
      </p:sp>
      <p:sp>
        <p:nvSpPr>
          <p:cNvPr id="4" name="灯片编号占位符 3"/>
          <p:cNvSpPr>
            <a:spLocks noGrp="1"/>
          </p:cNvSpPr>
          <p:nvPr>
            <p:ph type="sldNum" sz="quarter" idx="10"/>
          </p:nvPr>
        </p:nvSpPr>
        <p:spPr/>
        <p:txBody>
          <a:bodyPr/>
          <a:lstStyle/>
          <a:p>
            <a:fld id="{D9B6BDF2-6896-4B98-8776-C18582F63BA5}" type="slidenum">
              <a:rPr lang="zh-TW" altLang="en-US" smtClean="0"/>
              <a:t>32</a:t>
            </a:fld>
            <a:endParaRPr lang="zh-TW" altLang="en-US"/>
          </a:p>
        </p:txBody>
      </p:sp>
      <p:sp>
        <p:nvSpPr>
          <p:cNvPr id="7" name="Content Placeholder 6">
            <a:extLst>
              <a:ext uri="{FF2B5EF4-FFF2-40B4-BE49-F238E27FC236}">
                <a16:creationId xmlns:a16="http://schemas.microsoft.com/office/drawing/2014/main" id="{73595FDA-1A58-4E65-B0BB-23E91FE10998}"/>
              </a:ext>
            </a:extLst>
          </p:cNvPr>
          <p:cNvSpPr>
            <a:spLocks noGrp="1"/>
          </p:cNvSpPr>
          <p:nvPr>
            <p:ph idx="1"/>
          </p:nvPr>
        </p:nvSpPr>
        <p:spPr>
          <a:xfrm>
            <a:off x="232229" y="844153"/>
            <a:ext cx="8788400" cy="3671888"/>
          </a:xfrm>
        </p:spPr>
        <p:txBody>
          <a:bodyPr/>
          <a:lstStyle/>
          <a:p>
            <a:r>
              <a:rPr lang="en-US" dirty="0"/>
              <a:t>Addition</a:t>
            </a:r>
          </a:p>
          <a:p>
            <a:pPr marL="0" indent="0">
              <a:buNone/>
            </a:pPr>
            <a:r>
              <a:rPr lang="en-US" dirty="0"/>
              <a:t>		3+2		0011 + 0010 </a:t>
            </a:r>
          </a:p>
          <a:p>
            <a:pPr marL="0" indent="0">
              <a:buNone/>
            </a:pPr>
            <a:r>
              <a:rPr lang="en-US" dirty="0"/>
              <a:t>		=5		=0101</a:t>
            </a:r>
          </a:p>
          <a:p>
            <a:r>
              <a:rPr lang="en-US" dirty="0"/>
              <a:t>Subtraction</a:t>
            </a:r>
          </a:p>
          <a:p>
            <a:pPr marL="0" indent="0">
              <a:buNone/>
            </a:pPr>
            <a:r>
              <a:rPr lang="en-US" dirty="0"/>
              <a:t>		3 – 2		0011 + 1110 (</a:t>
            </a:r>
            <a:r>
              <a:rPr lang="en-US" sz="2000" dirty="0"/>
              <a:t>inverse of 0010, then +1</a:t>
            </a:r>
            <a:r>
              <a:rPr lang="en-US" dirty="0"/>
              <a:t>)</a:t>
            </a:r>
          </a:p>
          <a:p>
            <a:pPr marL="0" indent="0">
              <a:buNone/>
            </a:pPr>
            <a:r>
              <a:rPr lang="en-US" dirty="0"/>
              <a:t>		= 1		= 1 0001 (</a:t>
            </a:r>
            <a:r>
              <a:rPr lang="en-US" sz="2000" dirty="0"/>
              <a:t>overflowed bit discarded</a:t>
            </a:r>
            <a:r>
              <a:rPr lang="en-US" dirty="0"/>
              <a:t>)</a:t>
            </a:r>
          </a:p>
        </p:txBody>
      </p:sp>
    </p:spTree>
    <p:extLst>
      <p:ext uri="{BB962C8B-B14F-4D97-AF65-F5344CB8AC3E}">
        <p14:creationId xmlns:p14="http://schemas.microsoft.com/office/powerpoint/2010/main" val="3489943384"/>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p:cNvSpPr>
            <a:spLocks noGrp="1"/>
          </p:cNvSpPr>
          <p:nvPr>
            <p:ph type="title"/>
          </p:nvPr>
        </p:nvSpPr>
        <p:spPr/>
        <p:txBody>
          <a:bodyPr/>
          <a:lstStyle/>
          <a:p>
            <a:r>
              <a:rPr lang="en-US" altLang="zh-CN" sz="3200" dirty="0"/>
              <a:t>Why not 1‘s complement</a:t>
            </a:r>
          </a:p>
        </p:txBody>
      </p:sp>
      <p:sp>
        <p:nvSpPr>
          <p:cNvPr id="6" name="内容占位符 5"/>
          <p:cNvSpPr>
            <a:spLocks noGrp="1"/>
          </p:cNvSpPr>
          <p:nvPr>
            <p:ph idx="1"/>
          </p:nvPr>
        </p:nvSpPr>
        <p:spPr/>
        <p:txBody>
          <a:bodyPr/>
          <a:lstStyle/>
          <a:p>
            <a:r>
              <a:rPr lang="en-US" altLang="zh-CN" sz="2400" dirty="0">
                <a:sym typeface="+mn-ea"/>
              </a:rPr>
              <a:t>Inverse form (1’s complement) was not used widely</a:t>
            </a:r>
          </a:p>
          <a:p>
            <a:pPr lvl="1"/>
            <a:r>
              <a:rPr lang="en-US" altLang="zh-CN" sz="2000" dirty="0">
                <a:sym typeface="+mn-ea"/>
              </a:rPr>
              <a:t>They have two zero’s 000000…..000 and 111111…111, +0 and -0</a:t>
            </a:r>
          </a:p>
          <a:p>
            <a:pPr lvl="1"/>
            <a:r>
              <a:rPr lang="en-US" altLang="zh-CN" sz="2000" dirty="0">
                <a:sym typeface="+mn-ea"/>
              </a:rPr>
              <a:t>They have end-round carry out issues</a:t>
            </a:r>
          </a:p>
          <a:p>
            <a:pPr marL="685800" lvl="2" indent="0">
              <a:buNone/>
            </a:pPr>
            <a:r>
              <a:rPr lang="en-US" altLang="zh-CN" sz="1600" dirty="0">
                <a:sym typeface="+mn-ea"/>
              </a:rPr>
              <a:t>For example: 5 -3</a:t>
            </a:r>
          </a:p>
          <a:p>
            <a:pPr marL="685800" lvl="2" indent="0">
              <a:buNone/>
            </a:pPr>
            <a:endParaRPr lang="en-US" altLang="zh-CN" sz="1600" dirty="0">
              <a:sym typeface="+mn-ea"/>
            </a:endParaRPr>
          </a:p>
          <a:p>
            <a:pPr marL="685800" lvl="2" indent="0">
              <a:buNone/>
            </a:pPr>
            <a:r>
              <a:rPr lang="en-US" altLang="zh-CN" sz="1600" dirty="0">
                <a:sym typeface="+mn-ea"/>
              </a:rPr>
              <a:t>1’s complement				2’s complement</a:t>
            </a:r>
          </a:p>
          <a:p>
            <a:pPr marL="685800" lvl="2" indent="0">
              <a:buNone/>
            </a:pPr>
            <a:r>
              <a:rPr lang="en-US" altLang="zh-CN" sz="1600" dirty="0">
                <a:sym typeface="+mn-ea"/>
              </a:rPr>
              <a:t>5 is 0101					5 is 0101</a:t>
            </a:r>
          </a:p>
          <a:p>
            <a:pPr marL="685800" lvl="2" indent="0">
              <a:buNone/>
            </a:pPr>
            <a:r>
              <a:rPr lang="en-US" altLang="zh-CN" sz="1600" dirty="0">
                <a:sym typeface="+mn-ea"/>
              </a:rPr>
              <a:t>-3 is the inverse of 0011				-3 is 1101</a:t>
            </a:r>
          </a:p>
          <a:p>
            <a:pPr marL="685800" lvl="2" indent="0">
              <a:buNone/>
            </a:pPr>
            <a:r>
              <a:rPr lang="en-US" altLang="zh-CN" sz="1600" dirty="0">
                <a:sym typeface="+mn-ea"/>
              </a:rPr>
              <a:t>which is 1100</a:t>
            </a:r>
          </a:p>
          <a:p>
            <a:pPr marL="685800" lvl="2" indent="0">
              <a:buNone/>
            </a:pPr>
            <a:r>
              <a:rPr lang="en-US" altLang="zh-CN" sz="1600" dirty="0">
                <a:sym typeface="+mn-ea"/>
              </a:rPr>
              <a:t>0101 + 1100 = 1 0001				0101+1101 = 1 0010  </a:t>
            </a:r>
          </a:p>
          <a:p>
            <a:pPr marL="685800" lvl="2" indent="0">
              <a:buNone/>
            </a:pPr>
            <a:r>
              <a:rPr lang="en-US" altLang="zh-CN" sz="1600" dirty="0">
                <a:sym typeface="+mn-ea"/>
              </a:rPr>
              <a:t>The end carry-out bit needs to add back 		the result is 2</a:t>
            </a:r>
          </a:p>
          <a:p>
            <a:pPr marL="685800" lvl="2" indent="0">
              <a:buNone/>
            </a:pPr>
            <a:r>
              <a:rPr lang="en-US" altLang="zh-CN" sz="1600" dirty="0">
                <a:sym typeface="+mn-ea"/>
              </a:rPr>
              <a:t>to the LSB</a:t>
            </a:r>
          </a:p>
        </p:txBody>
      </p:sp>
      <p:sp>
        <p:nvSpPr>
          <p:cNvPr id="4" name="灯片编号占位符 3"/>
          <p:cNvSpPr>
            <a:spLocks noGrp="1"/>
          </p:cNvSpPr>
          <p:nvPr>
            <p:ph type="sldNum" sz="quarter" idx="10"/>
          </p:nvPr>
        </p:nvSpPr>
        <p:spPr/>
        <p:txBody>
          <a:bodyPr/>
          <a:lstStyle/>
          <a:p>
            <a:fld id="{D9B6BDF2-6896-4B98-8776-C18582F63BA5}" type="slidenum">
              <a:rPr lang="zh-TW" altLang="en-US" smtClean="0"/>
              <a:t>33</a:t>
            </a:fld>
            <a:endParaRPr lang="zh-TW" altLang="en-US"/>
          </a:p>
        </p:txBody>
      </p:sp>
    </p:spTree>
    <p:extLst>
      <p:ext uri="{BB962C8B-B14F-4D97-AF65-F5344CB8AC3E}">
        <p14:creationId xmlns:p14="http://schemas.microsoft.com/office/powerpoint/2010/main" val="3255903297"/>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48624" y="108349"/>
            <a:ext cx="7627066" cy="519113"/>
          </a:xfrm>
        </p:spPr>
        <p:txBody>
          <a:bodyPr/>
          <a:lstStyle/>
          <a:p>
            <a:r>
              <a:rPr lang="en-US" dirty="0"/>
              <a:t>Exercise</a:t>
            </a:r>
          </a:p>
        </p:txBody>
      </p:sp>
      <p:sp>
        <p:nvSpPr>
          <p:cNvPr id="3" name="Content Placeholder 2"/>
          <p:cNvSpPr>
            <a:spLocks noGrp="1"/>
          </p:cNvSpPr>
          <p:nvPr>
            <p:ph idx="1"/>
          </p:nvPr>
        </p:nvSpPr>
        <p:spPr>
          <a:xfrm>
            <a:off x="1048385" y="843915"/>
            <a:ext cx="7638415" cy="2980690"/>
          </a:xfrm>
        </p:spPr>
        <p:txBody>
          <a:bodyPr/>
          <a:lstStyle/>
          <a:p>
            <a:r>
              <a:rPr lang="en-US" sz="2400" b="1" dirty="0">
                <a:solidFill>
                  <a:schemeClr val="accent6"/>
                </a:solidFill>
              </a:rPr>
              <a:t>Ex 3:</a:t>
            </a:r>
            <a:r>
              <a:rPr lang="en-US" sz="2400" dirty="0"/>
              <a:t> For a </a:t>
            </a:r>
            <a:r>
              <a:rPr lang="en-US" sz="2400" i="1" dirty="0"/>
              <a:t>n</a:t>
            </a:r>
            <a:r>
              <a:rPr lang="en-US" sz="2400" dirty="0"/>
              <a:t>-bit 2’s complement signed binary numeral system, what’s the largest positive number and the smallest negative number?</a:t>
            </a:r>
          </a:p>
          <a:p>
            <a:endParaRPr lang="en-US" sz="2400" dirty="0"/>
          </a:p>
          <a:p>
            <a:endParaRPr lang="en-US" sz="2400" dirty="0"/>
          </a:p>
          <a:p>
            <a:r>
              <a:rPr lang="en-US" sz="2400" b="1" dirty="0">
                <a:solidFill>
                  <a:schemeClr val="accent6"/>
                </a:solidFill>
              </a:rPr>
              <a:t>Ex 4:</a:t>
            </a:r>
            <a:r>
              <a:rPr lang="en-US" sz="2400" dirty="0"/>
              <a:t> </a:t>
            </a:r>
            <a:r>
              <a:rPr lang="en-US" sz="2400" dirty="0">
                <a:sym typeface="+mn-ea"/>
              </a:rPr>
              <a:t>For a </a:t>
            </a:r>
            <a:r>
              <a:rPr lang="en-US" sz="2400" i="1" dirty="0">
                <a:sym typeface="+mn-ea"/>
              </a:rPr>
              <a:t>n</a:t>
            </a:r>
            <a:r>
              <a:rPr lang="en-US" sz="2400" dirty="0">
                <a:sym typeface="+mn-ea"/>
              </a:rPr>
              <a:t>-bit 2’s complement signed binary numeral system, w</a:t>
            </a:r>
            <a:r>
              <a:rPr lang="en-US" sz="2400" dirty="0"/>
              <a:t>hat is decimal value of 1111 1111 1111 1010 ?</a:t>
            </a:r>
          </a:p>
        </p:txBody>
      </p:sp>
      <p:sp>
        <p:nvSpPr>
          <p:cNvPr id="4" name="灯片编号占位符 3"/>
          <p:cNvSpPr>
            <a:spLocks noGrp="1"/>
          </p:cNvSpPr>
          <p:nvPr>
            <p:ph type="sldNum" sz="quarter" idx="10"/>
          </p:nvPr>
        </p:nvSpPr>
        <p:spPr/>
        <p:txBody>
          <a:bodyPr/>
          <a:lstStyle/>
          <a:p>
            <a:fld id="{D9B6BDF2-6896-4B98-8776-C18582F63BA5}" type="slidenum">
              <a:rPr lang="zh-TW" altLang="en-US" smtClean="0"/>
              <a:t>34</a:t>
            </a:fld>
            <a:endParaRPr lang="zh-TW" altLang="en-US"/>
          </a:p>
        </p:txBody>
      </p:sp>
      <p:sp>
        <p:nvSpPr>
          <p:cNvPr id="5" name="文本框 4"/>
          <p:cNvSpPr txBox="1"/>
          <p:nvPr/>
        </p:nvSpPr>
        <p:spPr>
          <a:xfrm>
            <a:off x="2288540" y="2623185"/>
            <a:ext cx="309880" cy="368300"/>
          </a:xfrm>
          <a:prstGeom prst="rect">
            <a:avLst/>
          </a:prstGeom>
          <a:noFill/>
        </p:spPr>
        <p:txBody>
          <a:bodyPr wrap="none" rtlCol="0" anchor="ctr" anchorCtr="1">
            <a:spAutoFit/>
          </a:bodyPr>
          <a:lstStyle/>
          <a:p>
            <a:endParaRPr lang="zh-CN" altLang="en-US" dirty="0">
              <a:ea typeface="標楷體" pitchFamily="65" charset="-120"/>
              <a:cs typeface="Calibri" panose="020F0502020204030204" pitchFamily="34" charset="0"/>
            </a:endParaRP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48624" y="108349"/>
            <a:ext cx="7627066" cy="519113"/>
          </a:xfrm>
        </p:spPr>
        <p:txBody>
          <a:bodyPr/>
          <a:lstStyle/>
          <a:p>
            <a:r>
              <a:rPr lang="en-US" dirty="0"/>
              <a:t>Exercise </a:t>
            </a:r>
          </a:p>
        </p:txBody>
      </p:sp>
      <p:sp>
        <p:nvSpPr>
          <p:cNvPr id="3" name="Content Placeholder 2"/>
          <p:cNvSpPr>
            <a:spLocks noGrp="1"/>
          </p:cNvSpPr>
          <p:nvPr>
            <p:ph idx="1"/>
          </p:nvPr>
        </p:nvSpPr>
        <p:spPr>
          <a:xfrm>
            <a:off x="1048385" y="843915"/>
            <a:ext cx="7638415" cy="2980690"/>
          </a:xfrm>
        </p:spPr>
        <p:txBody>
          <a:bodyPr/>
          <a:lstStyle/>
          <a:p>
            <a:r>
              <a:rPr lang="en-US" sz="2400" b="1" dirty="0">
                <a:solidFill>
                  <a:schemeClr val="accent6"/>
                </a:solidFill>
              </a:rPr>
              <a:t>Ex 3:</a:t>
            </a:r>
            <a:r>
              <a:rPr lang="en-US" sz="2400" dirty="0"/>
              <a:t> For a </a:t>
            </a:r>
            <a:r>
              <a:rPr lang="en-US" sz="2400" i="1" dirty="0"/>
              <a:t>n</a:t>
            </a:r>
            <a:r>
              <a:rPr lang="en-US" sz="2400" dirty="0"/>
              <a:t>-bit 2’s complement signed binary numeral system, what’s the largest positive number and the smallest negative number?</a:t>
            </a:r>
          </a:p>
          <a:p>
            <a:endParaRPr lang="en-US" sz="2400" dirty="0"/>
          </a:p>
          <a:p>
            <a:endParaRPr lang="en-US" sz="2400" dirty="0"/>
          </a:p>
          <a:p>
            <a:r>
              <a:rPr lang="en-US" sz="2400" b="1" dirty="0">
                <a:solidFill>
                  <a:schemeClr val="accent6"/>
                </a:solidFill>
              </a:rPr>
              <a:t>Ex 4:</a:t>
            </a:r>
            <a:r>
              <a:rPr lang="en-US" sz="2400" dirty="0"/>
              <a:t> </a:t>
            </a:r>
            <a:r>
              <a:rPr lang="en-US" sz="2400" dirty="0">
                <a:sym typeface="+mn-ea"/>
              </a:rPr>
              <a:t>For a </a:t>
            </a:r>
            <a:r>
              <a:rPr lang="en-US" sz="2400" i="1" dirty="0">
                <a:sym typeface="+mn-ea"/>
              </a:rPr>
              <a:t>n</a:t>
            </a:r>
            <a:r>
              <a:rPr lang="en-US" sz="2400" dirty="0">
                <a:sym typeface="+mn-ea"/>
              </a:rPr>
              <a:t>-bit 2’s complement signed binary numeral system, w</a:t>
            </a:r>
            <a:r>
              <a:rPr lang="en-US" sz="2400" dirty="0"/>
              <a:t>hat is decimal value of 1111 1111 1111 1010 ?</a:t>
            </a:r>
          </a:p>
        </p:txBody>
      </p:sp>
      <p:sp>
        <p:nvSpPr>
          <p:cNvPr id="4" name="灯片编号占位符 3"/>
          <p:cNvSpPr>
            <a:spLocks noGrp="1"/>
          </p:cNvSpPr>
          <p:nvPr>
            <p:ph type="sldNum" sz="quarter" idx="10"/>
          </p:nvPr>
        </p:nvSpPr>
        <p:spPr/>
        <p:txBody>
          <a:bodyPr/>
          <a:lstStyle/>
          <a:p>
            <a:fld id="{D9B6BDF2-6896-4B98-8776-C18582F63BA5}" type="slidenum">
              <a:rPr lang="zh-TW" altLang="en-US" smtClean="0"/>
              <a:t>35</a:t>
            </a:fld>
            <a:endParaRPr lang="zh-TW" altLang="en-US"/>
          </a:p>
        </p:txBody>
      </p:sp>
      <p:sp>
        <p:nvSpPr>
          <p:cNvPr id="5" name="文本框 4"/>
          <p:cNvSpPr txBox="1"/>
          <p:nvPr/>
        </p:nvSpPr>
        <p:spPr>
          <a:xfrm>
            <a:off x="3129280" y="2273935"/>
            <a:ext cx="1336040" cy="368300"/>
          </a:xfrm>
          <a:prstGeom prst="rect">
            <a:avLst/>
          </a:prstGeom>
          <a:noFill/>
        </p:spPr>
        <p:txBody>
          <a:bodyPr wrap="none" rtlCol="0" anchor="ctr" anchorCtr="1">
            <a:spAutoFit/>
          </a:bodyPr>
          <a:lstStyle/>
          <a:p>
            <a:r>
              <a:rPr lang="en-US" altLang="zh-CN" dirty="0">
                <a:solidFill>
                  <a:srgbClr val="C00000"/>
                </a:solidFill>
                <a:ea typeface="標楷體" pitchFamily="65" charset="-120"/>
                <a:cs typeface="Calibri" panose="020F0502020204030204" pitchFamily="34" charset="0"/>
              </a:rPr>
              <a:t>2</a:t>
            </a:r>
            <a:r>
              <a:rPr lang="en-US" altLang="zh-CN" baseline="30000" dirty="0">
                <a:solidFill>
                  <a:srgbClr val="C00000"/>
                </a:solidFill>
                <a:ea typeface="標楷體" pitchFamily="65" charset="-120"/>
                <a:cs typeface="Calibri" panose="020F0502020204030204" pitchFamily="34" charset="0"/>
              </a:rPr>
              <a:t>n-1</a:t>
            </a:r>
            <a:r>
              <a:rPr lang="en-US" altLang="zh-CN" dirty="0">
                <a:solidFill>
                  <a:srgbClr val="C00000"/>
                </a:solidFill>
                <a:ea typeface="標楷體" pitchFamily="65" charset="-120"/>
                <a:cs typeface="Calibri" panose="020F0502020204030204" pitchFamily="34" charset="0"/>
              </a:rPr>
              <a:t>-1,  -2</a:t>
            </a:r>
            <a:r>
              <a:rPr lang="en-US" altLang="zh-CN" baseline="30000" dirty="0">
                <a:solidFill>
                  <a:srgbClr val="C00000"/>
                </a:solidFill>
                <a:ea typeface="標楷體" pitchFamily="65" charset="-120"/>
                <a:cs typeface="Calibri" panose="020F0502020204030204" pitchFamily="34" charset="0"/>
              </a:rPr>
              <a:t>n-1</a:t>
            </a:r>
          </a:p>
        </p:txBody>
      </p:sp>
      <p:sp>
        <p:nvSpPr>
          <p:cNvPr id="6" name="文本框 5"/>
          <p:cNvSpPr txBox="1"/>
          <p:nvPr/>
        </p:nvSpPr>
        <p:spPr>
          <a:xfrm>
            <a:off x="3604260" y="3824605"/>
            <a:ext cx="386080" cy="368300"/>
          </a:xfrm>
          <a:prstGeom prst="rect">
            <a:avLst/>
          </a:prstGeom>
          <a:noFill/>
        </p:spPr>
        <p:txBody>
          <a:bodyPr wrap="none" rtlCol="0" anchor="ctr" anchorCtr="1">
            <a:spAutoFit/>
          </a:bodyPr>
          <a:lstStyle/>
          <a:p>
            <a:r>
              <a:rPr lang="en-US" altLang="zh-CN" dirty="0">
                <a:solidFill>
                  <a:srgbClr val="C00000"/>
                </a:solidFill>
                <a:ea typeface="標楷體" pitchFamily="65" charset="-120"/>
                <a:cs typeface="Calibri" panose="020F0502020204030204" pitchFamily="34" charset="0"/>
              </a:rPr>
              <a:t>-6</a:t>
            </a:r>
          </a:p>
        </p:txBody>
      </p:sp>
      <p:sp>
        <p:nvSpPr>
          <p:cNvPr id="7" name="TextBox 6">
            <a:extLst>
              <a:ext uri="{FF2B5EF4-FFF2-40B4-BE49-F238E27FC236}">
                <a16:creationId xmlns:a16="http://schemas.microsoft.com/office/drawing/2014/main" id="{F3404FF5-D466-4FAB-ACAB-388A24C68166}"/>
              </a:ext>
            </a:extLst>
          </p:cNvPr>
          <p:cNvSpPr txBox="1"/>
          <p:nvPr/>
        </p:nvSpPr>
        <p:spPr>
          <a:xfrm>
            <a:off x="5451140" y="1964928"/>
            <a:ext cx="2900153" cy="369332"/>
          </a:xfrm>
          <a:prstGeom prst="rect">
            <a:avLst/>
          </a:prstGeom>
          <a:noFill/>
        </p:spPr>
        <p:txBody>
          <a:bodyPr wrap="none" rtlCol="0" anchor="ctr" anchorCtr="1">
            <a:spAutoFit/>
          </a:bodyPr>
          <a:lstStyle/>
          <a:p>
            <a:r>
              <a:rPr lang="en-US" altLang="zh-CN" dirty="0">
                <a:solidFill>
                  <a:srgbClr val="C00000"/>
                </a:solidFill>
                <a:ea typeface="標楷體" pitchFamily="65" charset="-120"/>
                <a:cs typeface="Calibri" panose="020F0502020204030204" pitchFamily="34" charset="0"/>
              </a:rPr>
              <a:t>2</a:t>
            </a:r>
            <a:r>
              <a:rPr lang="en-US" altLang="zh-CN" baseline="30000" dirty="0">
                <a:solidFill>
                  <a:srgbClr val="C00000"/>
                </a:solidFill>
                <a:ea typeface="標楷體" pitchFamily="65" charset="-120"/>
                <a:cs typeface="Calibri" panose="020F0502020204030204" pitchFamily="34" charset="0"/>
              </a:rPr>
              <a:t>n-1</a:t>
            </a:r>
            <a:r>
              <a:rPr lang="en-US" altLang="zh-CN" dirty="0">
                <a:solidFill>
                  <a:srgbClr val="C00000"/>
                </a:solidFill>
                <a:ea typeface="標楷體" pitchFamily="65" charset="-120"/>
                <a:cs typeface="Calibri" panose="020F0502020204030204" pitchFamily="34" charset="0"/>
              </a:rPr>
              <a:t>-1 = 01111111…..1111</a:t>
            </a:r>
            <a:endParaRPr lang="en-US" dirty="0">
              <a:ea typeface="標楷體" pitchFamily="65" charset="-120"/>
              <a:cs typeface="Calibri" panose="020F0502020204030204" pitchFamily="34" charset="0"/>
            </a:endParaRPr>
          </a:p>
        </p:txBody>
      </p:sp>
      <p:sp>
        <p:nvSpPr>
          <p:cNvPr id="8" name="TextBox 7">
            <a:extLst>
              <a:ext uri="{FF2B5EF4-FFF2-40B4-BE49-F238E27FC236}">
                <a16:creationId xmlns:a16="http://schemas.microsoft.com/office/drawing/2014/main" id="{157936F4-A69F-46DE-A444-705C4EF57E3D}"/>
              </a:ext>
            </a:extLst>
          </p:cNvPr>
          <p:cNvSpPr txBox="1"/>
          <p:nvPr/>
        </p:nvSpPr>
        <p:spPr>
          <a:xfrm>
            <a:off x="5451140" y="2439909"/>
            <a:ext cx="2874505" cy="369332"/>
          </a:xfrm>
          <a:prstGeom prst="rect">
            <a:avLst/>
          </a:prstGeom>
          <a:noFill/>
        </p:spPr>
        <p:txBody>
          <a:bodyPr wrap="none" rtlCol="0" anchor="ctr" anchorCtr="1">
            <a:spAutoFit/>
          </a:bodyPr>
          <a:lstStyle/>
          <a:p>
            <a:r>
              <a:rPr lang="en-US" altLang="zh-CN" dirty="0">
                <a:solidFill>
                  <a:srgbClr val="C00000"/>
                </a:solidFill>
                <a:ea typeface="標楷體" pitchFamily="65" charset="-120"/>
                <a:cs typeface="Calibri" panose="020F0502020204030204" pitchFamily="34" charset="0"/>
              </a:rPr>
              <a:t>-2</a:t>
            </a:r>
            <a:r>
              <a:rPr lang="en-US" altLang="zh-CN" baseline="30000" dirty="0">
                <a:solidFill>
                  <a:srgbClr val="C00000"/>
                </a:solidFill>
                <a:ea typeface="標楷體" pitchFamily="65" charset="-120"/>
                <a:cs typeface="Calibri" panose="020F0502020204030204" pitchFamily="34" charset="0"/>
              </a:rPr>
              <a:t>n-1</a:t>
            </a:r>
            <a:r>
              <a:rPr lang="en-US" altLang="zh-CN" dirty="0">
                <a:solidFill>
                  <a:srgbClr val="C00000"/>
                </a:solidFill>
                <a:ea typeface="標楷體" pitchFamily="65" charset="-120"/>
                <a:cs typeface="Calibri" panose="020F0502020204030204" pitchFamily="34" charset="0"/>
              </a:rPr>
              <a:t> = 10000000……0000</a:t>
            </a:r>
            <a:endParaRPr lang="en-US" dirty="0">
              <a:ea typeface="標楷體" pitchFamily="65" charset="-120"/>
              <a:cs typeface="Calibri" panose="020F0502020204030204" pitchFamily="34" charset="0"/>
            </a:endParaRP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48624" y="108349"/>
            <a:ext cx="7627066" cy="519113"/>
          </a:xfrm>
        </p:spPr>
        <p:txBody>
          <a:bodyPr/>
          <a:lstStyle/>
          <a:p>
            <a:r>
              <a:rPr lang="en-US" dirty="0"/>
              <a:t>Sign Extension</a:t>
            </a:r>
          </a:p>
        </p:txBody>
      </p:sp>
      <p:sp>
        <p:nvSpPr>
          <p:cNvPr id="3" name="Content Placeholder 2"/>
          <p:cNvSpPr>
            <a:spLocks noGrp="1"/>
          </p:cNvSpPr>
          <p:nvPr>
            <p:ph idx="1"/>
          </p:nvPr>
        </p:nvSpPr>
        <p:spPr>
          <a:xfrm>
            <a:off x="224971" y="771343"/>
            <a:ext cx="8694057" cy="3771629"/>
          </a:xfrm>
        </p:spPr>
        <p:txBody>
          <a:bodyPr/>
          <a:lstStyle/>
          <a:p>
            <a:r>
              <a:rPr lang="en-US" sz="1600" b="0" i="0" dirty="0">
                <a:solidFill>
                  <a:srgbClr val="374151"/>
                </a:solidFill>
                <a:effectLst/>
                <a:latin typeface="+mn-lt"/>
              </a:rPr>
              <a:t>Sign extension is a method to increase the number of bits of a binary number while preserving its sign (positive or negative) and value. </a:t>
            </a:r>
            <a:r>
              <a:rPr lang="en-US" sz="1400" b="0" i="0" dirty="0">
                <a:solidFill>
                  <a:srgbClr val="374151"/>
                </a:solidFill>
                <a:effectLst/>
                <a:latin typeface="+mn-lt"/>
              </a:rPr>
              <a:t>When extending the number to a larger bit width, the sign bit is </a:t>
            </a:r>
            <a:r>
              <a:rPr lang="en-US" sz="1400" b="0" i="0" dirty="0">
                <a:solidFill>
                  <a:srgbClr val="FF0000"/>
                </a:solidFill>
                <a:effectLst/>
                <a:latin typeface="+mn-lt"/>
              </a:rPr>
              <a:t>replicated</a:t>
            </a:r>
            <a:r>
              <a:rPr lang="en-US" sz="1400" b="0" i="0" dirty="0">
                <a:solidFill>
                  <a:srgbClr val="374151"/>
                </a:solidFill>
                <a:effectLst/>
                <a:latin typeface="+mn-lt"/>
              </a:rPr>
              <a:t> in all the new higher-order bits.</a:t>
            </a:r>
          </a:p>
          <a:p>
            <a:r>
              <a:rPr lang="en-US" sz="1400" dirty="0">
                <a:solidFill>
                  <a:srgbClr val="374151"/>
                </a:solidFill>
                <a:latin typeface="+mn-lt"/>
              </a:rPr>
              <a:t>Example:</a:t>
            </a:r>
          </a:p>
          <a:p>
            <a:pPr marL="342900" lvl="1" indent="0">
              <a:buNone/>
            </a:pPr>
            <a:r>
              <a:rPr lang="en-US" sz="1400" b="0" i="0" dirty="0">
                <a:solidFill>
                  <a:srgbClr val="374151"/>
                </a:solidFill>
                <a:effectLst/>
                <a:latin typeface="+mn-lt"/>
              </a:rPr>
              <a:t>C allows 8b, 16b, 32b, 64b singed integers stored in memory.</a:t>
            </a:r>
          </a:p>
          <a:p>
            <a:pPr marL="342900" lvl="1" indent="0">
              <a:buNone/>
            </a:pPr>
            <a:r>
              <a:rPr lang="en-US" sz="1400" dirty="0">
                <a:solidFill>
                  <a:srgbClr val="374151"/>
                </a:solidFill>
                <a:latin typeface="+mn-lt"/>
              </a:rPr>
              <a:t>The registers are 32b/64b wide, respectively.</a:t>
            </a:r>
          </a:p>
          <a:p>
            <a:pPr marL="342900" lvl="1" indent="0">
              <a:buNone/>
            </a:pPr>
            <a:r>
              <a:rPr lang="en-US" sz="1400" b="0" i="0" dirty="0">
                <a:solidFill>
                  <a:srgbClr val="374151"/>
                </a:solidFill>
                <a:effectLst/>
                <a:latin typeface="+mn-lt"/>
              </a:rPr>
              <a:t>So when moving a 8b number to a register, sign extension must be </a:t>
            </a:r>
            <a:r>
              <a:rPr lang="en-US" sz="1400" dirty="0">
                <a:solidFill>
                  <a:srgbClr val="374151"/>
                </a:solidFill>
                <a:latin typeface="+mn-lt"/>
              </a:rPr>
              <a:t>applied</a:t>
            </a:r>
            <a:r>
              <a:rPr lang="en-US" sz="1400" b="0" i="0" dirty="0">
                <a:solidFill>
                  <a:srgbClr val="374151"/>
                </a:solidFill>
                <a:effectLst/>
                <a:latin typeface="+mn-lt"/>
              </a:rPr>
              <a:t>.</a:t>
            </a:r>
          </a:p>
          <a:p>
            <a:pPr marL="685800" lvl="1" indent="-342900">
              <a:buAutoNum type="arabicParenR"/>
            </a:pPr>
            <a:r>
              <a:rPr lang="en-US" sz="1400" dirty="0">
                <a:solidFill>
                  <a:srgbClr val="374151"/>
                </a:solidFill>
                <a:ea typeface="Calibri" panose="020F0502020204030204" pitchFamily="34" charset="0"/>
                <a:cs typeface="Calibri" panose="020F0502020204030204" pitchFamily="34" charset="0"/>
              </a:rPr>
              <a:t>Assuming the number is +4 : 00000100</a:t>
            </a:r>
          </a:p>
          <a:p>
            <a:pPr marL="342900" lvl="1" indent="0">
              <a:buNone/>
            </a:pPr>
            <a:r>
              <a:rPr lang="en-US" sz="1400" dirty="0">
                <a:solidFill>
                  <a:srgbClr val="374151"/>
                </a:solidFill>
                <a:ea typeface="Calibri" panose="020F0502020204030204" pitchFamily="34" charset="0"/>
                <a:cs typeface="Calibri" panose="020F0502020204030204" pitchFamily="34" charset="0"/>
              </a:rPr>
              <a:t>	When moving to a 32b register, the sign bit, 0, is replicated 24 times </a:t>
            </a:r>
            <a:r>
              <a:rPr lang="en-US" sz="1400" dirty="0">
                <a:solidFill>
                  <a:srgbClr val="FF0000"/>
                </a:solidFill>
                <a:ea typeface="Calibri" panose="020F0502020204030204" pitchFamily="34" charset="0"/>
                <a:cs typeface="Calibri" panose="020F0502020204030204" pitchFamily="34" charset="0"/>
              </a:rPr>
              <a:t>000000…… </a:t>
            </a:r>
            <a:r>
              <a:rPr lang="en-US" sz="1400" dirty="0">
                <a:solidFill>
                  <a:srgbClr val="374151"/>
                </a:solidFill>
                <a:ea typeface="Calibri" panose="020F0502020204030204" pitchFamily="34" charset="0"/>
                <a:cs typeface="Calibri" panose="020F0502020204030204" pitchFamily="34" charset="0"/>
              </a:rPr>
              <a:t>00000100</a:t>
            </a:r>
          </a:p>
          <a:p>
            <a:pPr marL="342900" marR="0" lvl="1" indent="0" algn="l" defTabSz="914400" rtl="0" eaLnBrk="1" fontAlgn="base" latinLnBrk="0" hangingPunct="1">
              <a:lnSpc>
                <a:spcPct val="100000"/>
              </a:lnSpc>
              <a:spcBef>
                <a:spcPct val="20000"/>
              </a:spcBef>
              <a:spcAft>
                <a:spcPct val="0"/>
              </a:spcAft>
              <a:buClr>
                <a:srgbClr val="8064A2"/>
              </a:buClr>
              <a:buSzPct val="90000"/>
              <a:buNone/>
              <a:tabLst/>
              <a:defRPr/>
            </a:pPr>
            <a:r>
              <a:rPr kumimoji="1" lang="en-US" sz="1400" b="0" i="0" u="none" strike="noStrike" kern="0" cap="none" spc="0" normalizeH="0" baseline="0" noProof="0" dirty="0">
                <a:ln>
                  <a:noFill/>
                </a:ln>
                <a:solidFill>
                  <a:srgbClr val="374151"/>
                </a:solidFill>
                <a:effectLst/>
                <a:uLnTx/>
                <a:uFillTx/>
                <a:ea typeface="Calibri" panose="020F0502020204030204" pitchFamily="34" charset="0"/>
                <a:cs typeface="Calibri" panose="020F0502020204030204" pitchFamily="34" charset="0"/>
              </a:rPr>
              <a:t>2)     Assuming the number is -4 : 11111100</a:t>
            </a:r>
          </a:p>
          <a:p>
            <a:pPr marL="342900" lvl="1" indent="0">
              <a:buNone/>
            </a:pPr>
            <a:r>
              <a:rPr lang="en-US" sz="1400" b="0" i="0" dirty="0">
                <a:solidFill>
                  <a:srgbClr val="374151"/>
                </a:solidFill>
                <a:effectLst/>
                <a:ea typeface="Calibri" panose="020F0502020204030204" pitchFamily="34" charset="0"/>
                <a:cs typeface="Calibri" panose="020F0502020204030204" pitchFamily="34" charset="0"/>
              </a:rPr>
              <a:t>	</a:t>
            </a:r>
            <a:r>
              <a:rPr kumimoji="1" lang="en-US" sz="1400" b="0" i="0" u="none" strike="noStrike" kern="0" cap="none" spc="0" normalizeH="0" baseline="0" noProof="0" dirty="0">
                <a:ln>
                  <a:noFill/>
                </a:ln>
                <a:solidFill>
                  <a:srgbClr val="374151"/>
                </a:solidFill>
                <a:effectLst/>
                <a:uLnTx/>
                <a:uFillTx/>
                <a:ea typeface="Calibri" panose="020F0502020204030204" pitchFamily="34" charset="0"/>
                <a:cs typeface="Calibri" panose="020F0502020204030204" pitchFamily="34" charset="0"/>
              </a:rPr>
              <a:t> When moving to a 32b register, the sign bit, 1, is replicated 24 times </a:t>
            </a:r>
            <a:r>
              <a:rPr kumimoji="1" lang="en-US" sz="1400" b="0" i="0" u="none" strike="noStrike" kern="0" cap="none" spc="0" normalizeH="0" baseline="0" noProof="0" dirty="0">
                <a:ln>
                  <a:noFill/>
                </a:ln>
                <a:solidFill>
                  <a:srgbClr val="FF0000"/>
                </a:solidFill>
                <a:effectLst/>
                <a:uLnTx/>
                <a:uFillTx/>
                <a:ea typeface="Calibri" panose="020F0502020204030204" pitchFamily="34" charset="0"/>
                <a:cs typeface="Calibri" panose="020F0502020204030204" pitchFamily="34" charset="0"/>
              </a:rPr>
              <a:t>111111…… </a:t>
            </a:r>
            <a:r>
              <a:rPr kumimoji="1" lang="en-US" sz="1400" b="0" i="0" u="none" strike="noStrike" kern="0" cap="none" spc="0" normalizeH="0" baseline="0" noProof="0" dirty="0">
                <a:ln>
                  <a:noFill/>
                </a:ln>
                <a:solidFill>
                  <a:srgbClr val="374151"/>
                </a:solidFill>
                <a:effectLst/>
                <a:uLnTx/>
                <a:uFillTx/>
                <a:ea typeface="Calibri" panose="020F0502020204030204" pitchFamily="34" charset="0"/>
                <a:cs typeface="Calibri" panose="020F0502020204030204" pitchFamily="34" charset="0"/>
              </a:rPr>
              <a:t>11111100</a:t>
            </a:r>
          </a:p>
          <a:p>
            <a:pPr marL="342900" lvl="1" indent="0">
              <a:buNone/>
            </a:pPr>
            <a:r>
              <a:rPr lang="en-US" sz="1400" dirty="0">
                <a:solidFill>
                  <a:srgbClr val="374151"/>
                </a:solidFill>
                <a:ea typeface="Calibri" panose="020F0502020204030204" pitchFamily="34" charset="0"/>
                <a:cs typeface="Calibri" panose="020F0502020204030204" pitchFamily="34" charset="0"/>
              </a:rPr>
              <a:t>	Without sign extension, the value moved to the register would be incorrect</a:t>
            </a:r>
          </a:p>
          <a:p>
            <a:pPr marL="342900" lvl="1" indent="0">
              <a:buNone/>
            </a:pPr>
            <a:r>
              <a:rPr lang="en-US" sz="1400" b="0" i="0" dirty="0">
                <a:solidFill>
                  <a:srgbClr val="374151"/>
                </a:solidFill>
                <a:effectLst/>
                <a:ea typeface="Calibri" panose="020F0502020204030204" pitchFamily="34" charset="0"/>
                <a:cs typeface="Calibri" panose="020F0502020204030204" pitchFamily="34" charset="0"/>
              </a:rPr>
              <a:t>	It </a:t>
            </a:r>
            <a:r>
              <a:rPr lang="en-US" sz="1400" dirty="0">
                <a:solidFill>
                  <a:srgbClr val="374151"/>
                </a:solidFill>
                <a:ea typeface="Calibri" panose="020F0502020204030204" pitchFamily="34" charset="0"/>
                <a:cs typeface="Calibri" panose="020F0502020204030204" pitchFamily="34" charset="0"/>
              </a:rPr>
              <a:t>might</a:t>
            </a:r>
            <a:r>
              <a:rPr lang="en-US" sz="1400" b="0" i="0" dirty="0">
                <a:solidFill>
                  <a:srgbClr val="374151"/>
                </a:solidFill>
                <a:effectLst/>
                <a:ea typeface="Calibri" panose="020F0502020204030204" pitchFamily="34" charset="0"/>
                <a:cs typeface="Calibri" panose="020F0502020204030204" pitchFamily="34" charset="0"/>
              </a:rPr>
              <a:t> be either 0000000……11111100 or</a:t>
            </a:r>
            <a:r>
              <a:rPr lang="en-US" sz="1400" dirty="0">
                <a:solidFill>
                  <a:srgbClr val="374151"/>
                </a:solidFill>
                <a:ea typeface="Calibri" panose="020F0502020204030204" pitchFamily="34" charset="0"/>
                <a:cs typeface="Calibri" panose="020F0502020204030204" pitchFamily="34" charset="0"/>
              </a:rPr>
              <a:t>  10000000 …. 1111110</a:t>
            </a:r>
          </a:p>
          <a:p>
            <a:pPr marL="328930" indent="-285750">
              <a:buFont typeface="Arial" panose="020B0604020202020204" pitchFamily="34" charset="0"/>
              <a:buChar char="•"/>
            </a:pPr>
            <a:r>
              <a:rPr lang="en-US" sz="1600" dirty="0">
                <a:solidFill>
                  <a:srgbClr val="374151"/>
                </a:solidFill>
                <a:latin typeface="+mn-lt"/>
                <a:cs typeface="+mn-cs"/>
              </a:rPr>
              <a:t>Load instructions </a:t>
            </a:r>
            <a:r>
              <a:rPr lang="en-US" sz="1600" dirty="0">
                <a:solidFill>
                  <a:srgbClr val="374151"/>
                </a:solidFill>
                <a:latin typeface="+mn-lt"/>
              </a:rPr>
              <a:t>typically</a:t>
            </a:r>
            <a:r>
              <a:rPr lang="en-US" sz="1600" dirty="0">
                <a:solidFill>
                  <a:srgbClr val="374151"/>
                </a:solidFill>
                <a:latin typeface="+mn-lt"/>
                <a:cs typeface="+mn-cs"/>
              </a:rPr>
              <a:t> have signed/unsigned versions. Signed loads require sign extensions.</a:t>
            </a:r>
          </a:p>
          <a:p>
            <a:pPr marL="328930" indent="-285750">
              <a:buFont typeface="Arial" panose="020B0604020202020204" pitchFamily="34" charset="0"/>
              <a:buChar char="•"/>
            </a:pPr>
            <a:endParaRPr lang="en-US" sz="2400" b="0" i="0" dirty="0">
              <a:solidFill>
                <a:srgbClr val="374151"/>
              </a:solidFill>
              <a:effectLst/>
              <a:latin typeface="+mn-lt"/>
            </a:endParaRPr>
          </a:p>
          <a:p>
            <a:pPr marL="0" indent="0">
              <a:buNone/>
            </a:pPr>
            <a:endParaRPr lang="en-US" sz="2400" dirty="0"/>
          </a:p>
        </p:txBody>
      </p:sp>
      <p:sp>
        <p:nvSpPr>
          <p:cNvPr id="4" name="灯片编号占位符 3"/>
          <p:cNvSpPr>
            <a:spLocks noGrp="1"/>
          </p:cNvSpPr>
          <p:nvPr>
            <p:ph type="sldNum" sz="quarter" idx="10"/>
          </p:nvPr>
        </p:nvSpPr>
        <p:spPr/>
        <p:txBody>
          <a:bodyPr/>
          <a:lstStyle/>
          <a:p>
            <a:fld id="{D9B6BDF2-6896-4B98-8776-C18582F63BA5}" type="slidenum">
              <a:rPr lang="zh-TW" altLang="en-US" smtClean="0"/>
              <a:t>36</a:t>
            </a:fld>
            <a:endParaRPr lang="zh-TW" alt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48624" y="108349"/>
            <a:ext cx="7627066" cy="519113"/>
          </a:xfrm>
        </p:spPr>
        <p:txBody>
          <a:bodyPr/>
          <a:lstStyle/>
          <a:p>
            <a:r>
              <a:rPr lang="en-US" dirty="0"/>
              <a:t>Right Shift of Signed Integer</a:t>
            </a:r>
          </a:p>
        </p:txBody>
      </p:sp>
      <p:sp>
        <p:nvSpPr>
          <p:cNvPr id="3" name="Content Placeholder 2"/>
          <p:cNvSpPr>
            <a:spLocks noGrp="1"/>
          </p:cNvSpPr>
          <p:nvPr>
            <p:ph idx="1"/>
          </p:nvPr>
        </p:nvSpPr>
        <p:spPr>
          <a:xfrm>
            <a:off x="210457" y="843914"/>
            <a:ext cx="8694057" cy="3771629"/>
          </a:xfrm>
        </p:spPr>
        <p:txBody>
          <a:bodyPr/>
          <a:lstStyle/>
          <a:p>
            <a:pPr marL="328930" indent="-285750">
              <a:buFont typeface="Arial" panose="020B0604020202020204" pitchFamily="34" charset="0"/>
              <a:buChar char="•"/>
            </a:pPr>
            <a:r>
              <a:rPr lang="en-US" sz="2200" b="0" i="0" dirty="0">
                <a:solidFill>
                  <a:srgbClr val="374151"/>
                </a:solidFill>
                <a:effectLst/>
                <a:latin typeface="+mn-lt"/>
              </a:rPr>
              <a:t>Left Shift is straight forward</a:t>
            </a:r>
          </a:p>
          <a:p>
            <a:pPr marL="342900" lvl="1" indent="0">
              <a:buNone/>
            </a:pPr>
            <a:r>
              <a:rPr lang="en-US" sz="2000" dirty="0">
                <a:solidFill>
                  <a:srgbClr val="374151"/>
                </a:solidFill>
                <a:latin typeface="+mn-lt"/>
              </a:rPr>
              <a:t>Example</a:t>
            </a:r>
          </a:p>
          <a:p>
            <a:pPr marL="342900" lvl="1" indent="0">
              <a:buNone/>
            </a:pPr>
            <a:r>
              <a:rPr lang="en-US" sz="2000" b="0" i="0" dirty="0">
                <a:solidFill>
                  <a:srgbClr val="374151"/>
                </a:solidFill>
                <a:effectLst/>
                <a:latin typeface="+mn-lt"/>
              </a:rPr>
              <a:t>	5 &lt;&lt; 2 	00000101  &lt;&lt; 2    00010100   </a:t>
            </a:r>
            <a:r>
              <a:rPr lang="en-US" sz="2000" b="0" i="0" dirty="0">
                <a:solidFill>
                  <a:srgbClr val="374151"/>
                </a:solidFill>
                <a:effectLst/>
                <a:latin typeface="+mn-lt"/>
                <a:sym typeface="Wingdings" panose="05000000000000000000" pitchFamily="2" charset="2"/>
              </a:rPr>
              <a:t> 20</a:t>
            </a:r>
            <a:endParaRPr lang="en-US" sz="2000" b="0" i="0" dirty="0">
              <a:solidFill>
                <a:srgbClr val="374151"/>
              </a:solidFill>
              <a:effectLst/>
              <a:latin typeface="+mn-lt"/>
            </a:endParaRPr>
          </a:p>
          <a:p>
            <a:pPr marL="342900" lvl="1" indent="0">
              <a:buNone/>
            </a:pPr>
            <a:r>
              <a:rPr lang="en-US" sz="2000" dirty="0">
                <a:solidFill>
                  <a:srgbClr val="374151"/>
                </a:solidFill>
                <a:latin typeface="+mn-lt"/>
              </a:rPr>
              <a:t>	-5 &lt;&lt; 2  11111011 &lt;&lt; 2     11101100  </a:t>
            </a:r>
            <a:r>
              <a:rPr lang="en-US" sz="2000" dirty="0">
                <a:solidFill>
                  <a:srgbClr val="374151"/>
                </a:solidFill>
                <a:latin typeface="+mn-lt"/>
                <a:sym typeface="Wingdings" panose="05000000000000000000" pitchFamily="2" charset="2"/>
              </a:rPr>
              <a:t> -20</a:t>
            </a:r>
          </a:p>
          <a:p>
            <a:pPr marL="386080" indent="-342900">
              <a:buFont typeface="Arial" panose="020B0604020202020204" pitchFamily="34" charset="0"/>
              <a:buChar char="•"/>
            </a:pPr>
            <a:r>
              <a:rPr lang="en-US" sz="2200" b="0" i="0" dirty="0">
                <a:solidFill>
                  <a:srgbClr val="374151"/>
                </a:solidFill>
                <a:effectLst/>
                <a:latin typeface="+mn-lt"/>
                <a:sym typeface="Wingdings" panose="05000000000000000000" pitchFamily="2" charset="2"/>
              </a:rPr>
              <a:t>How about right shift?</a:t>
            </a:r>
          </a:p>
          <a:p>
            <a:pPr marL="43180" indent="0">
              <a:buNone/>
            </a:pPr>
            <a:r>
              <a:rPr lang="en-US" sz="2400" dirty="0">
                <a:solidFill>
                  <a:srgbClr val="374151"/>
                </a:solidFill>
                <a:latin typeface="+mn-lt"/>
                <a:sym typeface="Wingdings" panose="05000000000000000000" pitchFamily="2" charset="2"/>
              </a:rPr>
              <a:t>	</a:t>
            </a:r>
            <a:r>
              <a:rPr lang="en-US" sz="2000" dirty="0">
                <a:solidFill>
                  <a:srgbClr val="374151"/>
                </a:solidFill>
                <a:latin typeface="+mn-lt"/>
                <a:sym typeface="Wingdings" panose="05000000000000000000" pitchFamily="2" charset="2"/>
              </a:rPr>
              <a:t>5 &gt;&gt; 2   00000101 &gt;&gt; 2 	    00000001</a:t>
            </a:r>
          </a:p>
          <a:p>
            <a:pPr marL="43180" indent="0">
              <a:buNone/>
            </a:pPr>
            <a:r>
              <a:rPr lang="en-US" sz="2000" dirty="0">
                <a:solidFill>
                  <a:srgbClr val="374151"/>
                </a:solidFill>
                <a:latin typeface="+mn-lt"/>
                <a:sym typeface="Wingdings" panose="05000000000000000000" pitchFamily="2" charset="2"/>
              </a:rPr>
              <a:t>	-5 &gt;&gt; 2  11111011 &gt;&gt; 2 	    00111110 ?? This is incorrect!</a:t>
            </a:r>
          </a:p>
          <a:p>
            <a:pPr marL="386080" indent="-342900">
              <a:buFont typeface="Arial" panose="020B0604020202020204" pitchFamily="34" charset="0"/>
              <a:buChar char="•"/>
            </a:pPr>
            <a:r>
              <a:rPr lang="en-US" sz="2000" dirty="0">
                <a:solidFill>
                  <a:srgbClr val="374151"/>
                </a:solidFill>
                <a:latin typeface="+mn-lt"/>
                <a:sym typeface="Wingdings" panose="05000000000000000000" pitchFamily="2" charset="2"/>
              </a:rPr>
              <a:t>So </a:t>
            </a:r>
            <a:r>
              <a:rPr lang="en-US" sz="2000" dirty="0">
                <a:solidFill>
                  <a:srgbClr val="FF0000"/>
                </a:solidFill>
                <a:latin typeface="+mn-lt"/>
                <a:sym typeface="Wingdings" panose="05000000000000000000" pitchFamily="2" charset="2"/>
              </a:rPr>
              <a:t>right shift </a:t>
            </a:r>
            <a:r>
              <a:rPr lang="en-US" sz="2000" dirty="0">
                <a:solidFill>
                  <a:srgbClr val="374151"/>
                </a:solidFill>
                <a:latin typeface="+mn-lt"/>
                <a:sym typeface="Wingdings" panose="05000000000000000000" pitchFamily="2" charset="2"/>
              </a:rPr>
              <a:t>has two versions: Logical shift and Arithmetic shift </a:t>
            </a:r>
          </a:p>
          <a:p>
            <a:pPr marL="342900" lvl="1" indent="0">
              <a:buNone/>
            </a:pPr>
            <a:r>
              <a:rPr lang="en-US" sz="1600" b="0" i="0" dirty="0">
                <a:solidFill>
                  <a:srgbClr val="374151"/>
                </a:solidFill>
                <a:effectLst/>
                <a:latin typeface="+mn-lt"/>
                <a:sym typeface="Wingdings" panose="05000000000000000000" pitchFamily="2" charset="2"/>
              </a:rPr>
              <a:t>	Lo</a:t>
            </a:r>
            <a:r>
              <a:rPr lang="en-US" sz="1600" dirty="0">
                <a:solidFill>
                  <a:srgbClr val="374151"/>
                </a:solidFill>
                <a:latin typeface="+mn-lt"/>
                <a:sym typeface="Wingdings" panose="05000000000000000000" pitchFamily="2" charset="2"/>
              </a:rPr>
              <a:t>gical shift filled with 0</a:t>
            </a:r>
          </a:p>
          <a:p>
            <a:pPr marL="342900" lvl="1" indent="0">
              <a:buNone/>
            </a:pPr>
            <a:r>
              <a:rPr lang="en-US" sz="1600" b="0" i="0" dirty="0">
                <a:solidFill>
                  <a:srgbClr val="374151"/>
                </a:solidFill>
                <a:effectLst/>
                <a:latin typeface="+mn-lt"/>
                <a:sym typeface="Wingdings" panose="05000000000000000000" pitchFamily="2" charset="2"/>
              </a:rPr>
              <a:t>	Arithmetic shift filled with the sign bit.</a:t>
            </a:r>
            <a:endParaRPr lang="en-US" sz="1600" b="0" i="0" dirty="0">
              <a:solidFill>
                <a:srgbClr val="374151"/>
              </a:solidFill>
              <a:effectLst/>
              <a:latin typeface="+mn-lt"/>
            </a:endParaRPr>
          </a:p>
          <a:p>
            <a:pPr marL="0" indent="0">
              <a:buNone/>
            </a:pPr>
            <a:endParaRPr lang="en-US" sz="2400" dirty="0"/>
          </a:p>
        </p:txBody>
      </p:sp>
      <p:sp>
        <p:nvSpPr>
          <p:cNvPr id="4" name="灯片编号占位符 3"/>
          <p:cNvSpPr>
            <a:spLocks noGrp="1"/>
          </p:cNvSpPr>
          <p:nvPr>
            <p:ph type="sldNum" sz="quarter" idx="10"/>
          </p:nvPr>
        </p:nvSpPr>
        <p:spPr/>
        <p:txBody>
          <a:bodyPr/>
          <a:lstStyle/>
          <a:p>
            <a:fld id="{D9B6BDF2-6896-4B98-8776-C18582F63BA5}" type="slidenum">
              <a:rPr lang="zh-TW" altLang="en-US" smtClean="0"/>
              <a:t>37</a:t>
            </a:fld>
            <a:endParaRPr lang="zh-TW" altLang="en-US"/>
          </a:p>
        </p:txBody>
      </p:sp>
    </p:spTree>
    <p:extLst>
      <p:ext uri="{BB962C8B-B14F-4D97-AF65-F5344CB8AC3E}">
        <p14:creationId xmlns:p14="http://schemas.microsoft.com/office/powerpoint/2010/main" val="2964628819"/>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KSO_WM_UNIT_TABLE_BEAUTIFY" val="smartTable{df5d1151-db31-409d-a88b-554c578dc27e}"/>
</p:tagLst>
</file>

<file path=ppt/theme/theme1.xml><?xml version="1.0" encoding="utf-8"?>
<a:theme xmlns:a="http://schemas.openxmlformats.org/drawingml/2006/main" name="NTHU UniCloud">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預設簡報設計">
      <a:majorFont>
        <a:latin typeface="MS Sans Serif"/>
        <a:ea typeface="MS Sans Serif"/>
        <a:cs typeface="MS Sans Serif"/>
      </a:majorFont>
      <a:minorFont>
        <a:latin typeface="Arial"/>
        <a:ea typeface="新細明體"/>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noFill/>
        <a:ln w="15875" cap="flat" cmpd="sng" algn="ctr">
          <a:solidFill>
            <a:srgbClr val="FF0000"/>
          </a:solidFill>
          <a:prstDash val="solid"/>
          <a:round/>
          <a:headEnd type="none" w="med" len="med"/>
          <a:tailEnd type="none" w="med" len="med"/>
        </a:ln>
      </a:spPr>
      <a:bodyPr vert="horz" wrap="none" lIns="91440" tIns="45720" rIns="91440" bIns="45720" numCol="1" anchor="ctr" anchorCtr="0" compatLnSpc="1"/>
      <a:lstStyle>
        <a:defPPr marL="0" marR="0" indent="0" algn="ctr" defTabSz="914400" rtl="0" eaLnBrk="1" fontAlgn="base" latinLnBrk="0" hangingPunct="1">
          <a:lnSpc>
            <a:spcPct val="100000"/>
          </a:lnSpc>
          <a:spcBef>
            <a:spcPct val="0"/>
          </a:spcBef>
          <a:spcAft>
            <a:spcPct val="0"/>
          </a:spcAft>
          <a:buClrTx/>
          <a:buSzTx/>
          <a:buFontTx/>
          <a:buNone/>
          <a:defRPr kumimoji="1" lang="en-US" altLang="zh-TW" sz="1800" b="1" i="0" u="none" strike="noStrike" cap="none" normalizeH="0" baseline="0" smtClean="0">
            <a:ln>
              <a:noFill/>
            </a:ln>
            <a:solidFill>
              <a:schemeClr val="tx1"/>
            </a:solidFill>
            <a:effectLst/>
            <a:latin typeface="Arial" panose="020B0604020202020204" pitchFamily="34" charset="0"/>
            <a:ea typeface="PMingLiU" panose="02020500000000000000" pitchFamily="18" charset="-120"/>
          </a:defRPr>
        </a:defPPr>
      </a:lstStyle>
    </a:spDef>
    <a:lnDef>
      <a:spPr bwMode="auto">
        <a:xfrm>
          <a:off x="0" y="0"/>
          <a:ext cx="1" cy="1"/>
        </a:xfrm>
        <a:custGeom>
          <a:avLst/>
          <a:gdLst/>
          <a:ahLst/>
          <a:cxnLst/>
          <a:rect l="0" t="0" r="0" b="0"/>
          <a:pathLst/>
        </a:custGeom>
        <a:noFill/>
        <a:ln w="15875" cap="flat" cmpd="sng" algn="ctr">
          <a:solidFill>
            <a:srgbClr val="FF0000"/>
          </a:solidFill>
          <a:prstDash val="solid"/>
          <a:round/>
          <a:headEnd type="none" w="med" len="med"/>
          <a:tailEnd type="none" w="med" len="med"/>
        </a:ln>
      </a:spPr>
      <a:bodyPr vert="horz" wrap="none" lIns="91440" tIns="45720" rIns="91440" bIns="45720" numCol="1" anchor="ctr" anchorCtr="0" compatLnSpc="1"/>
      <a:lstStyle>
        <a:defPPr marL="0" marR="0" indent="0" algn="ctr" defTabSz="914400" rtl="0" eaLnBrk="1" fontAlgn="base" latinLnBrk="0" hangingPunct="1">
          <a:lnSpc>
            <a:spcPct val="100000"/>
          </a:lnSpc>
          <a:spcBef>
            <a:spcPct val="0"/>
          </a:spcBef>
          <a:spcAft>
            <a:spcPct val="0"/>
          </a:spcAft>
          <a:buClrTx/>
          <a:buSzTx/>
          <a:buFontTx/>
          <a:buNone/>
          <a:defRPr kumimoji="1" lang="en-US" altLang="zh-TW" sz="1800" b="1" i="0" u="none" strike="noStrike" cap="none" normalizeH="0" baseline="0" smtClean="0">
            <a:ln>
              <a:noFill/>
            </a:ln>
            <a:solidFill>
              <a:schemeClr val="tx1"/>
            </a:solidFill>
            <a:effectLst/>
            <a:latin typeface="Arial" panose="020B0604020202020204" pitchFamily="34" charset="0"/>
            <a:ea typeface="PMingLiU" panose="02020500000000000000" pitchFamily="18" charset="-120"/>
          </a:defRPr>
        </a:defPPr>
      </a:lstStyle>
    </a:lnDef>
    <a:txDef>
      <a:spPr>
        <a:noFill/>
      </a:spPr>
      <a:bodyPr wrap="none" rtlCol="0" anchor="ctr" anchorCtr="1">
        <a:spAutoFit/>
      </a:bodyPr>
      <a:lstStyle>
        <a:defPPr>
          <a:defRPr dirty="0" smtClean="0">
            <a:ea typeface="標楷體" pitchFamily="65" charset="-120"/>
            <a:cs typeface="Calibri" panose="020F0502020204030204" pitchFamily="34" charset="0"/>
          </a:defRPr>
        </a:defPPr>
      </a:lstStyle>
    </a:txDef>
  </a:objectDefaults>
  <a:extraClrSchemeLst>
    <a:extraClrScheme>
      <a:clrScheme name="預設簡報設計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預設簡報設計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預設簡報設計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預設簡報設計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預設簡報設計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預設簡報設計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預設簡報設計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預設簡報設計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預設簡報設計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預設簡報設計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預設簡報設計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預設簡報設計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NTHU UniCloud</Template>
  <TotalTime>19394</TotalTime>
  <Words>3817</Words>
  <Application>Microsoft Office PowerPoint</Application>
  <PresentationFormat>On-screen Show (16:9)</PresentationFormat>
  <Paragraphs>581</Paragraphs>
  <Slides>37</Slides>
  <Notes>37</Notes>
  <HiddenSlides>0</HiddenSlides>
  <MMClips>0</MMClips>
  <ScaleCrop>false</ScaleCrop>
  <HeadingPairs>
    <vt:vector size="8" baseType="variant">
      <vt:variant>
        <vt:lpstr>Fonts Used</vt:lpstr>
      </vt:variant>
      <vt:variant>
        <vt:i4>13</vt:i4>
      </vt:variant>
      <vt:variant>
        <vt:lpstr>Theme</vt:lpstr>
      </vt:variant>
      <vt:variant>
        <vt:i4>1</vt:i4>
      </vt:variant>
      <vt:variant>
        <vt:lpstr>Embedded OLE Servers</vt:lpstr>
      </vt:variant>
      <vt:variant>
        <vt:i4>1</vt:i4>
      </vt:variant>
      <vt:variant>
        <vt:lpstr>Slide Titles</vt:lpstr>
      </vt:variant>
      <vt:variant>
        <vt:i4>37</vt:i4>
      </vt:variant>
    </vt:vector>
  </HeadingPairs>
  <TitlesOfParts>
    <vt:vector size="52" baseType="lpstr">
      <vt:lpstr>MS Sans Serif</vt:lpstr>
      <vt:lpstr>MTMIZ</vt:lpstr>
      <vt:lpstr>TimesTen-Italic</vt:lpstr>
      <vt:lpstr>TimesTen-Roman</vt:lpstr>
      <vt:lpstr>TimesTen-RomanSC</vt:lpstr>
      <vt:lpstr>ui-sans-serif</vt:lpstr>
      <vt:lpstr>ZztexMono-Regular</vt:lpstr>
      <vt:lpstr>华文楷体</vt:lpstr>
      <vt:lpstr>Arial</vt:lpstr>
      <vt:lpstr>Calibri</vt:lpstr>
      <vt:lpstr>Cambria Math</vt:lpstr>
      <vt:lpstr>Times New Roman</vt:lpstr>
      <vt:lpstr>Wingdings</vt:lpstr>
      <vt:lpstr>NTHU UniCloud</vt:lpstr>
      <vt:lpstr>Equation</vt:lpstr>
      <vt:lpstr>CSC3060 – Computer Systems </vt:lpstr>
      <vt:lpstr>2.1 Information Storage</vt:lpstr>
      <vt:lpstr>Bits can Represent Any Information </vt:lpstr>
      <vt:lpstr>Integer Representation: Radix or Base</vt:lpstr>
      <vt:lpstr>Decimal, Binary, Octal and Hexadecimal</vt:lpstr>
      <vt:lpstr>Number Systems</vt:lpstr>
      <vt:lpstr>Number Systems (II)</vt:lpstr>
      <vt:lpstr>Exercise (practice problem 2.1) </vt:lpstr>
      <vt:lpstr>Exercise: conversion to decimal values </vt:lpstr>
      <vt:lpstr>Converting Decimal to Binary </vt:lpstr>
      <vt:lpstr>2.1.2 Data Sizes and Pointer Sizes</vt:lpstr>
      <vt:lpstr>32 bit and 64 bit Machines and Programs</vt:lpstr>
      <vt:lpstr>Sizes of Data Types in C/C++  </vt:lpstr>
      <vt:lpstr>LP64 won against ILP64.</vt:lpstr>
      <vt:lpstr>2.1.3 Addressing and Byte Ordering </vt:lpstr>
      <vt:lpstr>Big Endian vs. Little Endian (I)</vt:lpstr>
      <vt:lpstr>Big Endian vs. Little Endian (II)</vt:lpstr>
      <vt:lpstr>The show_bytes() routine</vt:lpstr>
      <vt:lpstr>The show_bytes() Routine Exercise</vt:lpstr>
      <vt:lpstr>2.1.4 Representing Strings</vt:lpstr>
      <vt:lpstr>2.1.5 Representing Programs</vt:lpstr>
      <vt:lpstr>2.1.6 Boolean Algebra</vt:lpstr>
      <vt:lpstr>2.1.7 Bit-Level Operations in C</vt:lpstr>
      <vt:lpstr>Exercise (practice problem 2.10) </vt:lpstr>
      <vt:lpstr>2.1.8 Logical Operations in C</vt:lpstr>
      <vt:lpstr>2.1.9 Tricky Bug in Common C Code</vt:lpstr>
      <vt:lpstr>2.1.9 Shift Operations in C</vt:lpstr>
      <vt:lpstr>2.1.9 Right Shift Examples</vt:lpstr>
      <vt:lpstr>2.2 Integer Representation</vt:lpstr>
      <vt:lpstr>Signed Number Representations</vt:lpstr>
      <vt:lpstr>Signed Numbers</vt:lpstr>
      <vt:lpstr>Example of Addition/Subtraction</vt:lpstr>
      <vt:lpstr>Why not 1‘s complement</vt:lpstr>
      <vt:lpstr>Exercise</vt:lpstr>
      <vt:lpstr>Exercise </vt:lpstr>
      <vt:lpstr>Sign Extension</vt:lpstr>
      <vt:lpstr>Right Shift of Signed Integer</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An Open 5G / IoT Cloud Platform</dc:title>
  <dc:creator>Wu-Chun Chung</dc:creator>
  <cp:lastModifiedBy>Prof. HSU Wei-Chung (SDS)</cp:lastModifiedBy>
  <cp:revision>418</cp:revision>
  <dcterms:created xsi:type="dcterms:W3CDTF">2021-04-24T07:10:00Z</dcterms:created>
  <dcterms:modified xsi:type="dcterms:W3CDTF">2026-01-14T10:13:44Z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2052-11.1.0.11194</vt:lpwstr>
  </property>
  <property fmtid="{D5CDD505-2E9C-101B-9397-08002B2CF9AE}" pid="3" name="ICV">
    <vt:lpwstr>2343B9ADCB144332B587FD2B3970FFEA</vt:lpwstr>
  </property>
</Properties>
</file>