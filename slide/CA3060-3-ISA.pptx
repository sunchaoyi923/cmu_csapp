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60" r:id="rId2"/>
  </p:sldMasterIdLst>
  <p:notesMasterIdLst>
    <p:notesMasterId r:id="rId87"/>
  </p:notesMasterIdLst>
  <p:handoutMasterIdLst>
    <p:handoutMasterId r:id="rId88"/>
  </p:handoutMasterIdLst>
  <p:sldIdLst>
    <p:sldId id="256" r:id="rId3"/>
    <p:sldId id="380" r:id="rId4"/>
    <p:sldId id="381" r:id="rId5"/>
    <p:sldId id="382" r:id="rId6"/>
    <p:sldId id="1355" r:id="rId7"/>
    <p:sldId id="1377" r:id="rId8"/>
    <p:sldId id="1354" r:id="rId9"/>
    <p:sldId id="1379" r:id="rId10"/>
    <p:sldId id="383" r:id="rId11"/>
    <p:sldId id="1303" r:id="rId12"/>
    <p:sldId id="1366" r:id="rId13"/>
    <p:sldId id="1295" r:id="rId14"/>
    <p:sldId id="1380" r:id="rId15"/>
    <p:sldId id="1381" r:id="rId16"/>
    <p:sldId id="1378" r:id="rId17"/>
    <p:sldId id="1323" r:id="rId18"/>
    <p:sldId id="1304" r:id="rId19"/>
    <p:sldId id="1382" r:id="rId20"/>
    <p:sldId id="1352" r:id="rId21"/>
    <p:sldId id="1324" r:id="rId22"/>
    <p:sldId id="1296" r:id="rId23"/>
    <p:sldId id="1370" r:id="rId24"/>
    <p:sldId id="1305" r:id="rId25"/>
    <p:sldId id="1256" r:id="rId26"/>
    <p:sldId id="1360" r:id="rId27"/>
    <p:sldId id="1298" r:id="rId28"/>
    <p:sldId id="1325" r:id="rId29"/>
    <p:sldId id="1348" r:id="rId30"/>
    <p:sldId id="1351" r:id="rId31"/>
    <p:sldId id="1349" r:id="rId32"/>
    <p:sldId id="1386" r:id="rId33"/>
    <p:sldId id="1356" r:id="rId34"/>
    <p:sldId id="1383" r:id="rId35"/>
    <p:sldId id="1384" r:id="rId36"/>
    <p:sldId id="1385" r:id="rId37"/>
    <p:sldId id="1336" r:id="rId38"/>
    <p:sldId id="1350" r:id="rId39"/>
    <p:sldId id="1326" r:id="rId40"/>
    <p:sldId id="1327" r:id="rId41"/>
    <p:sldId id="1328" r:id="rId42"/>
    <p:sldId id="1337" r:id="rId43"/>
    <p:sldId id="1338" r:id="rId44"/>
    <p:sldId id="1339" r:id="rId45"/>
    <p:sldId id="1341" r:id="rId46"/>
    <p:sldId id="1307" r:id="rId47"/>
    <p:sldId id="1329" r:id="rId48"/>
    <p:sldId id="1342" r:id="rId49"/>
    <p:sldId id="1332" r:id="rId50"/>
    <p:sldId id="1333" r:id="rId51"/>
    <p:sldId id="1334" r:id="rId52"/>
    <p:sldId id="1361" r:id="rId53"/>
    <p:sldId id="1374" r:id="rId54"/>
    <p:sldId id="1293" r:id="rId55"/>
    <p:sldId id="1353" r:id="rId56"/>
    <p:sldId id="1345" r:id="rId57"/>
    <p:sldId id="1363" r:id="rId58"/>
    <p:sldId id="1281" r:id="rId59"/>
    <p:sldId id="1299" r:id="rId60"/>
    <p:sldId id="1344" r:id="rId61"/>
    <p:sldId id="1365" r:id="rId62"/>
    <p:sldId id="1373" r:id="rId63"/>
    <p:sldId id="1372" r:id="rId64"/>
    <p:sldId id="1367" r:id="rId65"/>
    <p:sldId id="1368" r:id="rId66"/>
    <p:sldId id="1371" r:id="rId67"/>
    <p:sldId id="1375" r:id="rId68"/>
    <p:sldId id="1319" r:id="rId69"/>
    <p:sldId id="1300" r:id="rId70"/>
    <p:sldId id="1330" r:id="rId71"/>
    <p:sldId id="1317" r:id="rId72"/>
    <p:sldId id="1346" r:id="rId73"/>
    <p:sldId id="1331" r:id="rId74"/>
    <p:sldId id="1321" r:id="rId75"/>
    <p:sldId id="1318" r:id="rId76"/>
    <p:sldId id="1320" r:id="rId77"/>
    <p:sldId id="1322" r:id="rId78"/>
    <p:sldId id="1308" r:id="rId79"/>
    <p:sldId id="1347" r:id="rId80"/>
    <p:sldId id="1369" r:id="rId81"/>
    <p:sldId id="1340" r:id="rId82"/>
    <p:sldId id="1357" r:id="rId83"/>
    <p:sldId id="1362" r:id="rId84"/>
    <p:sldId id="1309" r:id="rId85"/>
    <p:sldId id="1314" r:id="rId8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58" autoAdjust="0"/>
    <p:restoredTop sz="94660"/>
  </p:normalViewPr>
  <p:slideViewPr>
    <p:cSldViewPr snapToGrid="0">
      <p:cViewPr varScale="1">
        <p:scale>
          <a:sx n="100" d="100"/>
          <a:sy n="100" d="100"/>
        </p:scale>
        <p:origin x="720" y="78"/>
      </p:cViewPr>
      <p:guideLst/>
    </p:cSldViewPr>
  </p:slideViewPr>
  <p:notesTextViewPr>
    <p:cViewPr>
      <p:scale>
        <a:sx n="1" d="1"/>
        <a:sy n="1" d="1"/>
      </p:scale>
      <p:origin x="0" y="0"/>
    </p:cViewPr>
  </p:notesTextViewPr>
  <p:sorterViewPr>
    <p:cViewPr>
      <p:scale>
        <a:sx n="100" d="100"/>
        <a:sy n="100" d="100"/>
      </p:scale>
      <p:origin x="0" y="-7968"/>
    </p:cViewPr>
  </p:sorterViewPr>
  <p:notesViewPr>
    <p:cSldViewPr snapToGrid="0">
      <p:cViewPr varScale="1">
        <p:scale>
          <a:sx n="57" d="100"/>
          <a:sy n="57" d="100"/>
        </p:scale>
        <p:origin x="3006" y="6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presProps" Target="presProp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viewProps" Target="viewProps.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handoutMaster" Target="handoutMasters/handout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tableStyles" Target="tableStyles.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notesMaster" Target="notesMasters/notesMaster1.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815C594-135F-4D15-8E4B-45F1BE861EA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CDB0960-189E-46E1-8D29-6FB05B6F72F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F43A5A2-ABA0-4772-A51C-C5F6F247E980}" type="datetimeFigureOut">
              <a:rPr lang="en-US" smtClean="0"/>
              <a:t>3/2/2026</a:t>
            </a:fld>
            <a:endParaRPr lang="en-US"/>
          </a:p>
        </p:txBody>
      </p:sp>
      <p:sp>
        <p:nvSpPr>
          <p:cNvPr id="4" name="Footer Placeholder 3">
            <a:extLst>
              <a:ext uri="{FF2B5EF4-FFF2-40B4-BE49-F238E27FC236}">
                <a16:creationId xmlns:a16="http://schemas.microsoft.com/office/drawing/2014/main" id="{66C1DB78-23CB-4BEF-89B3-77D711E9DAE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C9CDE08-0A77-4F04-A3CE-DB3F76D6147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C243270-4340-4F2C-881F-076058FFD61F}" type="slidenum">
              <a:rPr lang="en-US" smtClean="0"/>
              <a:t>‹#›</a:t>
            </a:fld>
            <a:endParaRPr lang="en-US"/>
          </a:p>
        </p:txBody>
      </p:sp>
    </p:spTree>
    <p:extLst>
      <p:ext uri="{BB962C8B-B14F-4D97-AF65-F5344CB8AC3E}">
        <p14:creationId xmlns:p14="http://schemas.microsoft.com/office/powerpoint/2010/main" val="326356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1F4A7B-8284-4E61-88F9-84C6CA6E31E8}" type="datetimeFigureOut">
              <a:rPr lang="zh-TW" altLang="en-US" smtClean="0"/>
              <a:t>2026/3/2</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1D5518-E2B7-47D3-A483-775D39982443}" type="slidenum">
              <a:rPr lang="zh-TW" altLang="en-US" smtClean="0"/>
              <a:t>‹#›</a:t>
            </a:fld>
            <a:endParaRPr lang="zh-TW" altLang="en-US"/>
          </a:p>
        </p:txBody>
      </p:sp>
    </p:spTree>
    <p:extLst>
      <p:ext uri="{BB962C8B-B14F-4D97-AF65-F5344CB8AC3E}">
        <p14:creationId xmlns:p14="http://schemas.microsoft.com/office/powerpoint/2010/main" val="2637007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Scalable: micro-controller, embedded systems, mobile computers, desktops, servers, main frame, warehouse scale, supercomputers.</a:t>
            </a:r>
          </a:p>
          <a:p>
            <a:r>
              <a:rPr lang="en-US" altLang="zh-CN" dirty="0"/>
              <a:t>Flexible: Used for various applications. Not just for scientific computation. GPU cannot work well for general applications, does not support </a:t>
            </a:r>
            <a:r>
              <a:rPr lang="en-US" altLang="zh-CN" dirty="0" err="1"/>
              <a:t>Pcalls</a:t>
            </a:r>
            <a:r>
              <a:rPr lang="en-US" altLang="zh-CN" dirty="0"/>
              <a:t>, branches.</a:t>
            </a:r>
          </a:p>
          <a:p>
            <a:r>
              <a:rPr lang="en-US" altLang="zh-CN" dirty="0"/>
              <a:t>Extensible: extensions</a:t>
            </a:r>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According to the design principle of the instruction set architecture, x86 has 15 addressing mode. X86 has variable length instructions, from 1 byte to 15 bytes. </a:t>
            </a:r>
          </a:p>
          <a:p>
            <a:r>
              <a:rPr lang="en-US" altLang="zh-CN" dirty="0"/>
              <a:t>Calls is a representative CISC instruction. Calls is a subroutine call, it also handle argument count, passing argument, set up stack frame, store return address and save all used registers. </a:t>
            </a:r>
          </a:p>
          <a:p>
            <a:r>
              <a:rPr lang="en-US" altLang="zh-CN" dirty="0"/>
              <a:t>Why was the debate interesting? If you follow the argument/counter arguments, you have learned a lot about computer technology.</a:t>
            </a:r>
          </a:p>
          <a:p>
            <a:r>
              <a:rPr lang="en-US" altLang="zh-CN" dirty="0"/>
              <a:t>One scientist predicted “All future binaries will be in x86, but all processors will be implemented in RISC.”</a:t>
            </a:r>
          </a:p>
          <a:p>
            <a:r>
              <a:rPr lang="en-US" altLang="zh-CN" dirty="0"/>
              <a:t>RISC-V has only four: </a:t>
            </a:r>
            <a:r>
              <a:rPr lang="en-US" altLang="zh-CN" dirty="0" err="1"/>
              <a:t>base+offset</a:t>
            </a:r>
            <a:r>
              <a:rPr lang="en-US" altLang="zh-CN" dirty="0"/>
              <a:t>, reg-reg, PC-relative, Register indirect.</a:t>
            </a:r>
          </a:p>
          <a:p>
            <a:r>
              <a:rPr lang="en-US" altLang="zh-CN" dirty="0"/>
              <a:t>X86 has 8 registers, DEC VAX has 16</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If CS students do not speak assembly language, who will translate HLL? Who will debug?</a:t>
            </a:r>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If CS students do not speak assembly language, who will translate HLL? Who will debug?</a:t>
            </a:r>
            <a:endParaRPr lang="zh-CN" altLang="en-US" dirty="0"/>
          </a:p>
        </p:txBody>
      </p:sp>
    </p:spTree>
    <p:extLst>
      <p:ext uri="{BB962C8B-B14F-4D97-AF65-F5344CB8AC3E}">
        <p14:creationId xmlns:p14="http://schemas.microsoft.com/office/powerpoint/2010/main" val="27846738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According to the design principle of the instruction set architecture, x86 has 15 addressing mode. X86 has variable length instructions, from 1 byte to 15 bytes. </a:t>
            </a:r>
          </a:p>
          <a:p>
            <a:r>
              <a:rPr lang="en-US" altLang="zh-CN" dirty="0"/>
              <a:t>Calls is a representative CISC instruction. Calls is a subroutine call, it also handle argument count, passing argument, set up stack frame, store return address and save all used registers. </a:t>
            </a:r>
          </a:p>
          <a:p>
            <a:r>
              <a:rPr lang="en-US" altLang="zh-CN" dirty="0"/>
              <a:t>Why was the debate interesting? If you follow the argument/counter arguments, you have learned a lot about computer technology.</a:t>
            </a:r>
          </a:p>
          <a:p>
            <a:r>
              <a:rPr lang="en-US" altLang="zh-CN" dirty="0"/>
              <a:t>One scientist predicted “All future binaries will be in x86, but all processors will be implemented in RISC.”</a:t>
            </a:r>
          </a:p>
          <a:p>
            <a:r>
              <a:rPr lang="en-US" altLang="zh-CN" dirty="0"/>
              <a:t>RISC-V has only four: </a:t>
            </a:r>
            <a:r>
              <a:rPr lang="en-US" altLang="zh-CN" dirty="0" err="1"/>
              <a:t>base+offset</a:t>
            </a:r>
            <a:r>
              <a:rPr lang="en-US" altLang="zh-CN" dirty="0"/>
              <a:t>, reg-reg, PC-relative, Register indirect.</a:t>
            </a:r>
          </a:p>
          <a:p>
            <a:r>
              <a:rPr lang="en-US" altLang="zh-CN" dirty="0"/>
              <a:t>X86 has 8 registers, DEC VAX has 16</a:t>
            </a:r>
          </a:p>
        </p:txBody>
      </p:sp>
    </p:spTree>
    <p:extLst>
      <p:ext uri="{BB962C8B-B14F-4D97-AF65-F5344CB8AC3E}">
        <p14:creationId xmlns:p14="http://schemas.microsoft.com/office/powerpoint/2010/main" val="14796943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According to the design principle of the instruction set architecture, x86 has 15 addressing mode. X86 has variable length instructions, from 1 byte to 15 bytes. </a:t>
            </a:r>
          </a:p>
          <a:p>
            <a:r>
              <a:rPr lang="en-US" altLang="zh-CN" dirty="0"/>
              <a:t>Calls is a representative CISC instruction. Calls is a subroutine call, it also handle argument count, passing argument, set up stack frame, store return address and save all used registers. </a:t>
            </a:r>
          </a:p>
          <a:p>
            <a:r>
              <a:rPr lang="en-US" altLang="zh-CN" dirty="0"/>
              <a:t>Why was the debate interesting? If you follow the argument/counter arguments, you have learned a lot about computer technology.</a:t>
            </a:r>
          </a:p>
          <a:p>
            <a:r>
              <a:rPr lang="en-US" altLang="zh-CN" dirty="0"/>
              <a:t>One scientist predicted “All future binaries will be in x86, but all processors will be implemented in RISC.”</a:t>
            </a:r>
          </a:p>
          <a:p>
            <a:r>
              <a:rPr lang="en-US" altLang="zh-CN" dirty="0"/>
              <a:t>RISC-V has only four: </a:t>
            </a:r>
            <a:r>
              <a:rPr lang="en-US" altLang="zh-CN" dirty="0" err="1"/>
              <a:t>base+offset</a:t>
            </a:r>
            <a:r>
              <a:rPr lang="en-US" altLang="zh-CN" dirty="0"/>
              <a:t>, reg-reg, PC-relative, Register indirect.</a:t>
            </a:r>
          </a:p>
          <a:p>
            <a:r>
              <a:rPr lang="en-US" altLang="zh-CN" dirty="0"/>
              <a:t>X86 has 8 registers, DEC VAX has 16</a:t>
            </a:r>
          </a:p>
        </p:txBody>
      </p:sp>
    </p:spTree>
    <p:extLst>
      <p:ext uri="{BB962C8B-B14F-4D97-AF65-F5344CB8AC3E}">
        <p14:creationId xmlns:p14="http://schemas.microsoft.com/office/powerpoint/2010/main" val="3288561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According to the design principle of the instruction set architecture, x86 has 15 addressing mode. X86 has variable length instructions, from 1 byte to 15 bytes. </a:t>
            </a:r>
          </a:p>
          <a:p>
            <a:r>
              <a:rPr lang="en-US" altLang="zh-CN" dirty="0"/>
              <a:t>Calls is a representative CISC instruction. Calls is a subroutine call, it also handle argument count, passing argument, set up stack frame, store return address and save all used registers. </a:t>
            </a:r>
          </a:p>
          <a:p>
            <a:r>
              <a:rPr lang="en-US" altLang="zh-CN" dirty="0"/>
              <a:t>Why was the debate interesting? If you follow the argument/counter arguments, you have learned a lot about computer technology.</a:t>
            </a:r>
          </a:p>
          <a:p>
            <a:r>
              <a:rPr lang="en-US" altLang="zh-CN" dirty="0"/>
              <a:t>One scientist predicted “All future binaries will be in x86, but all processors will be implemented in RISC.”</a:t>
            </a:r>
          </a:p>
          <a:p>
            <a:r>
              <a:rPr lang="en-US" altLang="zh-CN" dirty="0"/>
              <a:t>RISC-V has only four: </a:t>
            </a:r>
            <a:r>
              <a:rPr lang="en-US" altLang="zh-CN" dirty="0" err="1"/>
              <a:t>base+offset</a:t>
            </a:r>
            <a:r>
              <a:rPr lang="en-US" altLang="zh-CN" dirty="0"/>
              <a:t>, reg-reg, PC-relative, Register indirect.</a:t>
            </a:r>
          </a:p>
          <a:p>
            <a:r>
              <a:rPr lang="en-US" altLang="zh-CN" dirty="0"/>
              <a:t>X86 has 8 registers, DEC VAX has 16</a:t>
            </a:r>
          </a:p>
        </p:txBody>
      </p:sp>
    </p:spTree>
    <p:extLst>
      <p:ext uri="{BB962C8B-B14F-4D97-AF65-F5344CB8AC3E}">
        <p14:creationId xmlns:p14="http://schemas.microsoft.com/office/powerpoint/2010/main" val="41733152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Design</a:t>
            </a:r>
            <a:r>
              <a:rPr lang="zh-CN" altLang="en-US" dirty="0"/>
              <a:t> </a:t>
            </a:r>
            <a:r>
              <a:rPr lang="en-US" altLang="zh-CN" dirty="0"/>
              <a:t>for</a:t>
            </a:r>
            <a:r>
              <a:rPr lang="zh-CN" altLang="en-US" dirty="0"/>
              <a:t> </a:t>
            </a:r>
            <a:r>
              <a:rPr lang="en-US" altLang="zh-CN" dirty="0"/>
              <a:t>pipelined</a:t>
            </a:r>
            <a:r>
              <a:rPr lang="zh-CN" altLang="en-US" dirty="0"/>
              <a:t> </a:t>
            </a:r>
            <a:r>
              <a:rPr lang="en-US" altLang="zh-CN" dirty="0"/>
              <a:t>implementations</a:t>
            </a:r>
          </a:p>
          <a:p>
            <a:r>
              <a:rPr lang="en-US" altLang="zh-CN" dirty="0"/>
              <a:t>Stupid not an insult, but as a reminder to avoid overcomplicate things</a:t>
            </a:r>
          </a:p>
          <a:p>
            <a:r>
              <a:rPr lang="en-US" altLang="zh-CN" dirty="0"/>
              <a:t>Compromise:</a:t>
            </a:r>
          </a:p>
          <a:p>
            <a:r>
              <a:rPr lang="en-US" altLang="zh-CN" i="1" dirty="0"/>
              <a:t>Large register – reduces memory accesses, but increases instruction size</a:t>
            </a:r>
          </a:p>
          <a:p>
            <a:r>
              <a:rPr lang="en-US" altLang="zh-CN" i="1" dirty="0"/>
              <a:t>Instructions allow memory operands: some advantages, but may get to very nasty simulations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is standard, E for small chip area, low power, small memory</a:t>
            </a:r>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10</a:t>
            </a:fld>
            <a:endParaRPr lang="zh-TW" altLang="en-US"/>
          </a:p>
        </p:txBody>
      </p:sp>
    </p:spTree>
    <p:extLst>
      <p:ext uri="{BB962C8B-B14F-4D97-AF65-F5344CB8AC3E}">
        <p14:creationId xmlns:p14="http://schemas.microsoft.com/office/powerpoint/2010/main" val="12049135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Inn contrast, x86 has 2000 instructions, ARM has 500</a:t>
            </a:r>
          </a:p>
        </p:txBody>
      </p:sp>
      <p:sp>
        <p:nvSpPr>
          <p:cNvPr id="4" name="Slide Number Placeholder 3"/>
          <p:cNvSpPr>
            <a:spLocks noGrp="1"/>
          </p:cNvSpPr>
          <p:nvPr>
            <p:ph type="sldNum" sz="quarter" idx="10"/>
          </p:nvPr>
        </p:nvSpPr>
        <p:spPr/>
        <p:txBody>
          <a:bodyPr/>
          <a:lstStyle/>
          <a:p>
            <a:pPr>
              <a:defRPr/>
            </a:pPr>
            <a:fld id="{FAB5816E-92E6-4A70-B53F-671D7635E10C}" type="slidenum">
              <a:rPr lang="en-US" smtClean="0"/>
              <a:pPr>
                <a:defRPr/>
              </a:pPr>
              <a:t>11</a:t>
            </a:fld>
            <a:endParaRPr lang="en-US"/>
          </a:p>
        </p:txBody>
      </p:sp>
    </p:spTree>
    <p:extLst>
      <p:ext uri="{BB962C8B-B14F-4D97-AF65-F5344CB8AC3E}">
        <p14:creationId xmlns:p14="http://schemas.microsoft.com/office/powerpoint/2010/main" val="23163256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 register , X means flexibility, extensibility, no implication like A,S,B,T,F, R, V</a:t>
            </a:r>
          </a:p>
        </p:txBody>
      </p:sp>
      <p:sp>
        <p:nvSpPr>
          <p:cNvPr id="4" name="Slide Number Placeholder 3"/>
          <p:cNvSpPr>
            <a:spLocks noGrp="1"/>
          </p:cNvSpPr>
          <p:nvPr>
            <p:ph type="sldNum" sz="quarter" idx="10"/>
          </p:nvPr>
        </p:nvSpPr>
        <p:spPr/>
        <p:txBody>
          <a:bodyPr/>
          <a:lstStyle/>
          <a:p>
            <a:pPr>
              <a:defRPr/>
            </a:pPr>
            <a:fld id="{FAB5816E-92E6-4A70-B53F-671D7635E10C}" type="slidenum">
              <a:rPr lang="en-US" smtClean="0"/>
              <a:pPr>
                <a:defRPr/>
              </a:pPr>
              <a:t>12</a:t>
            </a:fld>
            <a:endParaRPr lang="en-US"/>
          </a:p>
        </p:txBody>
      </p:sp>
    </p:spTree>
    <p:extLst>
      <p:ext uri="{BB962C8B-B14F-4D97-AF65-F5344CB8AC3E}">
        <p14:creationId xmlns:p14="http://schemas.microsoft.com/office/powerpoint/2010/main" val="36228111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 register , X means flexibility, extensibility, no implication like A,S,B,T,F, R, V</a:t>
            </a:r>
          </a:p>
        </p:txBody>
      </p:sp>
      <p:sp>
        <p:nvSpPr>
          <p:cNvPr id="4" name="Slide Number Placeholder 3"/>
          <p:cNvSpPr>
            <a:spLocks noGrp="1"/>
          </p:cNvSpPr>
          <p:nvPr>
            <p:ph type="sldNum" sz="quarter" idx="10"/>
          </p:nvPr>
        </p:nvSpPr>
        <p:spPr/>
        <p:txBody>
          <a:bodyPr/>
          <a:lstStyle/>
          <a:p>
            <a:pPr>
              <a:defRPr/>
            </a:pPr>
            <a:fld id="{FAB5816E-92E6-4A70-B53F-671D7635E10C}" type="slidenum">
              <a:rPr lang="en-US" smtClean="0"/>
              <a:pPr>
                <a:defRPr/>
              </a:pPr>
              <a:t>13</a:t>
            </a:fld>
            <a:endParaRPr lang="en-US"/>
          </a:p>
        </p:txBody>
      </p:sp>
    </p:spTree>
    <p:extLst>
      <p:ext uri="{BB962C8B-B14F-4D97-AF65-F5344CB8AC3E}">
        <p14:creationId xmlns:p14="http://schemas.microsoft.com/office/powerpoint/2010/main" val="9268624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 register , X means flexibility, extensibility, no implication like A,S,B,T,F, R, V</a:t>
            </a:r>
          </a:p>
        </p:txBody>
      </p:sp>
      <p:sp>
        <p:nvSpPr>
          <p:cNvPr id="4" name="Slide Number Placeholder 3"/>
          <p:cNvSpPr>
            <a:spLocks noGrp="1"/>
          </p:cNvSpPr>
          <p:nvPr>
            <p:ph type="sldNum" sz="quarter" idx="10"/>
          </p:nvPr>
        </p:nvSpPr>
        <p:spPr/>
        <p:txBody>
          <a:bodyPr/>
          <a:lstStyle/>
          <a:p>
            <a:pPr>
              <a:defRPr/>
            </a:pPr>
            <a:fld id="{FAB5816E-92E6-4A70-B53F-671D7635E10C}" type="slidenum">
              <a:rPr lang="en-US" smtClean="0"/>
              <a:pPr>
                <a:defRPr/>
              </a:pPr>
              <a:t>14</a:t>
            </a:fld>
            <a:endParaRPr lang="en-US"/>
          </a:p>
        </p:txBody>
      </p:sp>
    </p:spTree>
    <p:extLst>
      <p:ext uri="{BB962C8B-B14F-4D97-AF65-F5344CB8AC3E}">
        <p14:creationId xmlns:p14="http://schemas.microsoft.com/office/powerpoint/2010/main" val="367470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FAB5816E-92E6-4A70-B53F-671D7635E10C}" type="slidenum">
              <a:rPr lang="en-US" smtClean="0"/>
              <a:pPr>
                <a:defRPr/>
              </a:pPr>
              <a:t>15</a:t>
            </a:fld>
            <a:endParaRPr lang="en-US"/>
          </a:p>
        </p:txBody>
      </p:sp>
    </p:spTree>
    <p:extLst>
      <p:ext uri="{BB962C8B-B14F-4D97-AF65-F5344CB8AC3E}">
        <p14:creationId xmlns:p14="http://schemas.microsoft.com/office/powerpoint/2010/main" val="38128013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 </a:t>
            </a:r>
            <a:r>
              <a:rPr lang="en-US" dirty="0" err="1"/>
              <a:t>addi</a:t>
            </a:r>
            <a:r>
              <a:rPr lang="en-US" dirty="0"/>
              <a:t> x1,x2,0 works well. So x0 is 0 because of the branch instructions.</a:t>
            </a:r>
          </a:p>
        </p:txBody>
      </p:sp>
      <p:sp>
        <p:nvSpPr>
          <p:cNvPr id="4" name="Slide Number Placeholder 3"/>
          <p:cNvSpPr>
            <a:spLocks noGrp="1"/>
          </p:cNvSpPr>
          <p:nvPr>
            <p:ph type="sldNum" sz="quarter" idx="10"/>
          </p:nvPr>
        </p:nvSpPr>
        <p:spPr/>
        <p:txBody>
          <a:bodyPr/>
          <a:lstStyle/>
          <a:p>
            <a:pPr>
              <a:defRPr/>
            </a:pPr>
            <a:fld id="{FAB5816E-92E6-4A70-B53F-671D7635E10C}" type="slidenum">
              <a:rPr lang="en-US" smtClean="0"/>
              <a:pPr>
                <a:defRPr/>
              </a:pPr>
              <a:t>16</a:t>
            </a:fld>
            <a:endParaRPr lang="en-US"/>
          </a:p>
        </p:txBody>
      </p:sp>
    </p:spTree>
    <p:extLst>
      <p:ext uri="{BB962C8B-B14F-4D97-AF65-F5344CB8AC3E}">
        <p14:creationId xmlns:p14="http://schemas.microsoft.com/office/powerpoint/2010/main" val="19449502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Privileged instructions: interrupt, memory management, system calls, CSR, </a:t>
            </a:r>
            <a:r>
              <a:rPr lang="en-US"/>
              <a:t>mode change</a:t>
            </a:r>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17</a:t>
            </a:fld>
            <a:endParaRPr lang="zh-TW" altLang="en-US"/>
          </a:p>
        </p:txBody>
      </p:sp>
    </p:spTree>
    <p:extLst>
      <p:ext uri="{BB962C8B-B14F-4D97-AF65-F5344CB8AC3E}">
        <p14:creationId xmlns:p14="http://schemas.microsoft.com/office/powerpoint/2010/main" val="5395339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Inn contrast, x86 has 2000 instructions, ARM has 500</a:t>
            </a:r>
          </a:p>
        </p:txBody>
      </p:sp>
      <p:sp>
        <p:nvSpPr>
          <p:cNvPr id="4" name="Slide Number Placeholder 3"/>
          <p:cNvSpPr>
            <a:spLocks noGrp="1"/>
          </p:cNvSpPr>
          <p:nvPr>
            <p:ph type="sldNum" sz="quarter" idx="10"/>
          </p:nvPr>
        </p:nvSpPr>
        <p:spPr/>
        <p:txBody>
          <a:bodyPr/>
          <a:lstStyle/>
          <a:p>
            <a:pPr>
              <a:defRPr/>
            </a:pPr>
            <a:fld id="{FAB5816E-92E6-4A70-B53F-671D7635E10C}" type="slidenum">
              <a:rPr lang="en-US" smtClean="0"/>
              <a:pPr>
                <a:defRPr/>
              </a:pPr>
              <a:t>18</a:t>
            </a:fld>
            <a:endParaRPr lang="en-US"/>
          </a:p>
        </p:txBody>
      </p:sp>
    </p:spTree>
    <p:extLst>
      <p:ext uri="{BB962C8B-B14F-4D97-AF65-F5344CB8AC3E}">
        <p14:creationId xmlns:p14="http://schemas.microsoft.com/office/powerpoint/2010/main" val="35537291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FAB5816E-92E6-4A70-B53F-671D7635E10C}" type="slidenum">
              <a:rPr lang="en-US" smtClean="0"/>
              <a:pPr>
                <a:defRPr/>
              </a:pPr>
              <a:t>20</a:t>
            </a:fld>
            <a:endParaRPr lang="en-US"/>
          </a:p>
        </p:txBody>
      </p:sp>
    </p:spTree>
    <p:extLst>
      <p:ext uri="{BB962C8B-B14F-4D97-AF65-F5344CB8AC3E}">
        <p14:creationId xmlns:p14="http://schemas.microsoft.com/office/powerpoint/2010/main" val="25307787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Privileged instructions: interrupt, memory management, system calls, CSR, </a:t>
            </a:r>
            <a:r>
              <a:rPr lang="en-US"/>
              <a:t>mode change</a:t>
            </a:r>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22</a:t>
            </a:fld>
            <a:endParaRPr lang="zh-TW" altLang="en-US"/>
          </a:p>
        </p:txBody>
      </p:sp>
    </p:spTree>
    <p:extLst>
      <p:ext uri="{BB962C8B-B14F-4D97-AF65-F5344CB8AC3E}">
        <p14:creationId xmlns:p14="http://schemas.microsoft.com/office/powerpoint/2010/main" val="39352908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know 001111101000 is 1000? 1024 is 010000000000, get the inverse of 1111101000 </a:t>
            </a:r>
            <a:r>
              <a:rPr lang="en-US" dirty="0">
                <a:sym typeface="Wingdings" panose="05000000000000000000" pitchFamily="2" charset="2"/>
              </a:rPr>
              <a:t> 0000010111+1 = 24, so 1024 -24 is 1000</a:t>
            </a:r>
            <a:endParaRPr lang="en-US" dirty="0"/>
          </a:p>
        </p:txBody>
      </p:sp>
      <p:sp>
        <p:nvSpPr>
          <p:cNvPr id="4" name="Slide Number Placeholder 3"/>
          <p:cNvSpPr>
            <a:spLocks noGrp="1"/>
          </p:cNvSpPr>
          <p:nvPr>
            <p:ph type="sldNum" sz="quarter" idx="10"/>
          </p:nvPr>
        </p:nvSpPr>
        <p:spPr/>
        <p:txBody>
          <a:bodyPr/>
          <a:lstStyle/>
          <a:p>
            <a:pPr>
              <a:defRPr/>
            </a:pPr>
            <a:fld id="{FAB5816E-92E6-4A70-B53F-671D7635E10C}" type="slidenum">
              <a:rPr lang="en-US" smtClean="0"/>
              <a:pPr>
                <a:defRPr/>
              </a:pPr>
              <a:t>23</a:t>
            </a:fld>
            <a:endParaRPr lang="en-US"/>
          </a:p>
        </p:txBody>
      </p:sp>
    </p:spTree>
    <p:extLst>
      <p:ext uri="{BB962C8B-B14F-4D97-AF65-F5344CB8AC3E}">
        <p14:creationId xmlns:p14="http://schemas.microsoft.com/office/powerpoint/2010/main" val="4187805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the role of </a:t>
            </a:r>
            <a:r>
              <a:rPr lang="en-US" sz="1200" dirty="0" err="1">
                <a:solidFill>
                  <a:srgbClr val="56127A"/>
                </a:solidFill>
                <a:sym typeface="Wingdings" panose="05000000000000000000" pitchFamily="2" charset="2"/>
              </a:rPr>
              <a:t>inst</a:t>
            </a:r>
            <a:r>
              <a:rPr lang="en-US" sz="1200" dirty="0">
                <a:solidFill>
                  <a:srgbClr val="56127A"/>
                </a:solidFill>
                <a:sym typeface="Wingdings" panose="05000000000000000000" pitchFamily="2" charset="2"/>
              </a:rPr>
              <a:t>[30]?</a:t>
            </a:r>
            <a:endParaRPr lang="en-US" dirty="0"/>
          </a:p>
        </p:txBody>
      </p:sp>
      <p:sp>
        <p:nvSpPr>
          <p:cNvPr id="4" name="Slide Number Placeholder 3"/>
          <p:cNvSpPr>
            <a:spLocks noGrp="1"/>
          </p:cNvSpPr>
          <p:nvPr>
            <p:ph type="sldNum" sz="quarter" idx="10"/>
          </p:nvPr>
        </p:nvSpPr>
        <p:spPr/>
        <p:txBody>
          <a:bodyPr/>
          <a:lstStyle/>
          <a:p>
            <a:pPr>
              <a:defRPr/>
            </a:pPr>
            <a:fld id="{FAB5816E-92E6-4A70-B53F-671D7635E10C}" type="slidenum">
              <a:rPr lang="en-US" smtClean="0"/>
              <a:pPr>
                <a:defRPr/>
              </a:pPr>
              <a:t>24</a:t>
            </a:fld>
            <a:endParaRPr lang="en-US"/>
          </a:p>
        </p:txBody>
      </p:sp>
    </p:spTree>
    <p:extLst>
      <p:ext uri="{BB962C8B-B14F-4D97-AF65-F5344CB8AC3E}">
        <p14:creationId xmlns:p14="http://schemas.microsoft.com/office/powerpoint/2010/main" val="17585819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Ignore byte and half word instructions:  LB, LBU, LH, LHU, SB, SH</a:t>
            </a:r>
          </a:p>
        </p:txBody>
      </p:sp>
      <p:sp>
        <p:nvSpPr>
          <p:cNvPr id="4" name="Slide Number Placeholder 3"/>
          <p:cNvSpPr>
            <a:spLocks noGrp="1"/>
          </p:cNvSpPr>
          <p:nvPr>
            <p:ph type="sldNum" sz="quarter" idx="10"/>
          </p:nvPr>
        </p:nvSpPr>
        <p:spPr/>
        <p:txBody>
          <a:bodyPr/>
          <a:lstStyle/>
          <a:p>
            <a:pPr>
              <a:defRPr/>
            </a:pPr>
            <a:fld id="{FAB5816E-92E6-4A70-B53F-671D7635E10C}" type="slidenum">
              <a:rPr lang="en-US" smtClean="0"/>
              <a:pPr>
                <a:defRPr/>
              </a:pPr>
              <a:t>25</a:t>
            </a:fld>
            <a:endParaRPr lang="en-US"/>
          </a:p>
        </p:txBody>
      </p:sp>
    </p:spTree>
    <p:extLst>
      <p:ext uri="{BB962C8B-B14F-4D97-AF65-F5344CB8AC3E}">
        <p14:creationId xmlns:p14="http://schemas.microsoft.com/office/powerpoint/2010/main" val="36390229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layout is a typical implementation, but not guaranteed. </a:t>
            </a:r>
          </a:p>
        </p:txBody>
      </p:sp>
      <p:sp>
        <p:nvSpPr>
          <p:cNvPr id="4" name="Slide Number Placeholder 3"/>
          <p:cNvSpPr>
            <a:spLocks noGrp="1"/>
          </p:cNvSpPr>
          <p:nvPr>
            <p:ph type="sldNum" sz="quarter" idx="10"/>
          </p:nvPr>
        </p:nvSpPr>
        <p:spPr/>
        <p:txBody>
          <a:bodyPr/>
          <a:lstStyle/>
          <a:p>
            <a:pPr>
              <a:defRPr/>
            </a:pPr>
            <a:fld id="{FAB5816E-92E6-4A70-B53F-671D7635E10C}" type="slidenum">
              <a:rPr lang="en-US" smtClean="0"/>
              <a:pPr>
                <a:defRPr/>
              </a:pPr>
              <a:t>26</a:t>
            </a:fld>
            <a:endParaRPr lang="en-US"/>
          </a:p>
        </p:txBody>
      </p:sp>
    </p:spTree>
    <p:extLst>
      <p:ext uri="{BB962C8B-B14F-4D97-AF65-F5344CB8AC3E}">
        <p14:creationId xmlns:p14="http://schemas.microsoft.com/office/powerpoint/2010/main" val="6457195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is why not use the I-type, but use Rd as RS2 for the SW instruction? The answer is “regularity.” RS1 RS2 are always in the same place.</a:t>
            </a:r>
          </a:p>
        </p:txBody>
      </p:sp>
      <p:sp>
        <p:nvSpPr>
          <p:cNvPr id="4" name="Slide Number Placeholder 3"/>
          <p:cNvSpPr>
            <a:spLocks noGrp="1"/>
          </p:cNvSpPr>
          <p:nvPr>
            <p:ph type="sldNum" sz="quarter" idx="10"/>
          </p:nvPr>
        </p:nvSpPr>
        <p:spPr/>
        <p:txBody>
          <a:bodyPr/>
          <a:lstStyle/>
          <a:p>
            <a:pPr>
              <a:defRPr/>
            </a:pPr>
            <a:fld id="{FAB5816E-92E6-4A70-B53F-671D7635E10C}" type="slidenum">
              <a:rPr lang="en-US" smtClean="0"/>
              <a:pPr>
                <a:defRPr/>
              </a:pPr>
              <a:t>27</a:t>
            </a:fld>
            <a:endParaRPr lang="en-US"/>
          </a:p>
        </p:txBody>
      </p:sp>
    </p:spTree>
    <p:extLst>
      <p:ext uri="{BB962C8B-B14F-4D97-AF65-F5344CB8AC3E}">
        <p14:creationId xmlns:p14="http://schemas.microsoft.com/office/powerpoint/2010/main" val="19791974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FAB5816E-92E6-4A70-B53F-671D7635E10C}" type="slidenum">
              <a:rPr lang="en-US" smtClean="0"/>
              <a:pPr>
                <a:defRPr/>
              </a:pPr>
              <a:t>28</a:t>
            </a:fld>
            <a:endParaRPr lang="en-US"/>
          </a:p>
        </p:txBody>
      </p:sp>
    </p:spTree>
    <p:extLst>
      <p:ext uri="{BB962C8B-B14F-4D97-AF65-F5344CB8AC3E}">
        <p14:creationId xmlns:p14="http://schemas.microsoft.com/office/powerpoint/2010/main" val="732278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FAB5816E-92E6-4A70-B53F-671D7635E10C}" type="slidenum">
              <a:rPr lang="en-US" smtClean="0"/>
              <a:pPr>
                <a:defRPr/>
              </a:pPr>
              <a:t>29</a:t>
            </a:fld>
            <a:endParaRPr lang="en-US"/>
          </a:p>
        </p:txBody>
      </p:sp>
    </p:spTree>
    <p:extLst>
      <p:ext uri="{BB962C8B-B14F-4D97-AF65-F5344CB8AC3E}">
        <p14:creationId xmlns:p14="http://schemas.microsoft.com/office/powerpoint/2010/main" val="15448514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Introduced inn 2019/12.</a:t>
            </a:r>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36</a:t>
            </a:fld>
            <a:endParaRPr lang="zh-TW" altLang="en-US"/>
          </a:p>
        </p:txBody>
      </p:sp>
    </p:spTree>
    <p:extLst>
      <p:ext uri="{BB962C8B-B14F-4D97-AF65-F5344CB8AC3E}">
        <p14:creationId xmlns:p14="http://schemas.microsoft.com/office/powerpoint/2010/main" val="20201553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special case on 2^N</a:t>
            </a:r>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40</a:t>
            </a:fld>
            <a:endParaRPr lang="zh-TW" altLang="en-US"/>
          </a:p>
        </p:txBody>
      </p:sp>
    </p:spTree>
    <p:extLst>
      <p:ext uri="{BB962C8B-B14F-4D97-AF65-F5344CB8AC3E}">
        <p14:creationId xmlns:p14="http://schemas.microsoft.com/office/powerpoint/2010/main" val="18318587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Branch is called conditional jump</a:t>
            </a:r>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41</a:t>
            </a:fld>
            <a:endParaRPr lang="zh-TW" altLang="en-US"/>
          </a:p>
        </p:txBody>
      </p:sp>
    </p:spTree>
    <p:extLst>
      <p:ext uri="{BB962C8B-B14F-4D97-AF65-F5344CB8AC3E}">
        <p14:creationId xmlns:p14="http://schemas.microsoft.com/office/powerpoint/2010/main" val="133730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Compressed format, Opcode reduced to 2b, immediate reduced to 8b, must use implicit or implied registers</a:t>
            </a:r>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43</a:t>
            </a:fld>
            <a:endParaRPr lang="zh-TW" altLang="en-US"/>
          </a:p>
        </p:txBody>
      </p:sp>
    </p:spTree>
    <p:extLst>
      <p:ext uri="{BB962C8B-B14F-4D97-AF65-F5344CB8AC3E}">
        <p14:creationId xmlns:p14="http://schemas.microsoft.com/office/powerpoint/2010/main" val="398438633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if jump is not far enough? Use JALR indirect jump, the register can contain all 32b address, what if that is not enough? </a:t>
            </a:r>
            <a:r>
              <a:rPr lang="en-US" dirty="0" err="1"/>
              <a:t>Goto</a:t>
            </a:r>
            <a:r>
              <a:rPr lang="en-US" dirty="0"/>
              <a:t> 64b</a:t>
            </a:r>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44</a:t>
            </a:fld>
            <a:endParaRPr lang="zh-TW" altLang="en-US"/>
          </a:p>
        </p:txBody>
      </p:sp>
    </p:spTree>
    <p:extLst>
      <p:ext uri="{BB962C8B-B14F-4D97-AF65-F5344CB8AC3E}">
        <p14:creationId xmlns:p14="http://schemas.microsoft.com/office/powerpoint/2010/main" val="217274750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0" fontAlgn="base" latinLnBrk="0" hangingPunct="0">
              <a:lnSpc>
                <a:spcPct val="100000"/>
              </a:lnSpc>
              <a:spcBef>
                <a:spcPct val="30000"/>
              </a:spcBef>
              <a:spcAft>
                <a:spcPct val="0"/>
              </a:spcAft>
              <a:buClrTx/>
              <a:buSzTx/>
              <a:buFontTx/>
              <a:buNone/>
              <a:tabLst/>
              <a:defRPr/>
            </a:pPr>
            <a:r>
              <a:rPr lang="en-US" dirty="0"/>
              <a:t>Effect of </a:t>
            </a:r>
            <a:r>
              <a:rPr lang="en-US" sz="2000" dirty="0">
                <a:solidFill>
                  <a:srgbClr val="56127A"/>
                </a:solidFill>
                <a:sym typeface="Wingdings" panose="05000000000000000000" pitchFamily="2" charset="2"/>
              </a:rPr>
              <a:t>~0x01</a:t>
            </a:r>
          </a:p>
          <a:p>
            <a:endParaRPr lang="en-US" dirty="0"/>
          </a:p>
        </p:txBody>
      </p:sp>
      <p:sp>
        <p:nvSpPr>
          <p:cNvPr id="4" name="Slide Number Placeholder 3"/>
          <p:cNvSpPr>
            <a:spLocks noGrp="1"/>
          </p:cNvSpPr>
          <p:nvPr>
            <p:ph type="sldNum" sz="quarter" idx="10"/>
          </p:nvPr>
        </p:nvSpPr>
        <p:spPr/>
        <p:txBody>
          <a:bodyPr/>
          <a:lstStyle/>
          <a:p>
            <a:pPr>
              <a:defRPr/>
            </a:pPr>
            <a:fld id="{FAB5816E-92E6-4A70-B53F-671D7635E10C}" type="slidenum">
              <a:rPr lang="en-US" smtClean="0"/>
              <a:pPr>
                <a:defRPr/>
              </a:pPr>
              <a:t>53</a:t>
            </a:fld>
            <a:endParaRPr lang="en-US"/>
          </a:p>
        </p:txBody>
      </p:sp>
    </p:spTree>
    <p:extLst>
      <p:ext uri="{BB962C8B-B14F-4D97-AF65-F5344CB8AC3E}">
        <p14:creationId xmlns:p14="http://schemas.microsoft.com/office/powerpoint/2010/main" val="41606221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JALR on Register is usually implemented as return jump or jump to functions (Function pointer passed in as a parameter)</a:t>
            </a:r>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55</a:t>
            </a:fld>
            <a:endParaRPr lang="zh-TW" altLang="en-US"/>
          </a:p>
        </p:txBody>
      </p:sp>
    </p:spTree>
    <p:extLst>
      <p:ext uri="{BB962C8B-B14F-4D97-AF65-F5344CB8AC3E}">
        <p14:creationId xmlns:p14="http://schemas.microsoft.com/office/powerpoint/2010/main" val="345981164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JALR on Register is usually implemented as return jump or jump to functions (Function pointer passed in as a parameter)</a:t>
            </a:r>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56</a:t>
            </a:fld>
            <a:endParaRPr lang="zh-TW" altLang="en-US"/>
          </a:p>
        </p:txBody>
      </p:sp>
    </p:spTree>
    <p:extLst>
      <p:ext uri="{BB962C8B-B14F-4D97-AF65-F5344CB8AC3E}">
        <p14:creationId xmlns:p14="http://schemas.microsoft.com/office/powerpoint/2010/main" val="197019061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currently implement the 4 CSRs (</a:t>
            </a:r>
            <a:r>
              <a:rPr lang="en-US" i="1" dirty="0"/>
              <a:t>cycle, </a:t>
            </a:r>
            <a:r>
              <a:rPr lang="en-US" i="1" dirty="0" err="1"/>
              <a:t>instret</a:t>
            </a:r>
            <a:r>
              <a:rPr lang="en-US" i="1" dirty="0"/>
              <a:t>, </a:t>
            </a:r>
            <a:r>
              <a:rPr lang="en-US" i="1" dirty="0" err="1"/>
              <a:t>hartid</a:t>
            </a:r>
            <a:r>
              <a:rPr lang="en-US" i="1" dirty="0"/>
              <a:t>, </a:t>
            </a:r>
            <a:r>
              <a:rPr lang="en-US" i="1" dirty="0" err="1"/>
              <a:t>mtohost</a:t>
            </a:r>
            <a:r>
              <a:rPr lang="en-US" dirty="0"/>
              <a:t>)</a:t>
            </a:r>
            <a:r>
              <a:rPr lang="en-US" baseline="0" dirty="0"/>
              <a:t> in the slide.</a:t>
            </a:r>
            <a:endParaRPr lang="en-US" dirty="0"/>
          </a:p>
          <a:p>
            <a:r>
              <a:rPr lang="en-US" dirty="0"/>
              <a:t>There are many other CSRs</a:t>
            </a:r>
            <a:r>
              <a:rPr lang="en-US" baseline="0" dirty="0"/>
              <a:t>: e.g. </a:t>
            </a:r>
            <a:r>
              <a:rPr lang="en-US" i="1" baseline="0" dirty="0" err="1"/>
              <a:t>mstatus</a:t>
            </a:r>
            <a:endParaRPr lang="en-US" i="1" baseline="0" dirty="0"/>
          </a:p>
          <a:p>
            <a:r>
              <a:rPr lang="en-US" baseline="0" dirty="0"/>
              <a:t>We need to implement </a:t>
            </a:r>
            <a:r>
              <a:rPr lang="en-US" i="1" baseline="0" dirty="0" err="1"/>
              <a:t>mepc</a:t>
            </a:r>
            <a:r>
              <a:rPr lang="en-US" baseline="0" dirty="0"/>
              <a:t> and </a:t>
            </a:r>
            <a:r>
              <a:rPr lang="en-US" i="1" baseline="0" dirty="0" err="1"/>
              <a:t>mcause</a:t>
            </a:r>
            <a:r>
              <a:rPr lang="en-US" i="1" baseline="0" dirty="0"/>
              <a:t> </a:t>
            </a:r>
            <a:r>
              <a:rPr lang="en-US" i="0" baseline="0" dirty="0"/>
              <a:t>when handling exceptions.</a:t>
            </a:r>
          </a:p>
          <a:p>
            <a:endParaRPr lang="en-US" i="0" baseline="0" dirty="0"/>
          </a:p>
          <a:p>
            <a:r>
              <a:rPr lang="en-US" i="1" baseline="0" dirty="0"/>
              <a:t>cycle, </a:t>
            </a:r>
            <a:r>
              <a:rPr lang="en-US" i="1" baseline="0" dirty="0" err="1"/>
              <a:t>instret</a:t>
            </a:r>
            <a:r>
              <a:rPr lang="en-US" i="1" baseline="0" dirty="0"/>
              <a:t>, </a:t>
            </a:r>
            <a:r>
              <a:rPr lang="en-US" i="1" baseline="0" dirty="0" err="1"/>
              <a:t>hartid</a:t>
            </a:r>
            <a:r>
              <a:rPr lang="en-US" i="1" baseline="0" dirty="0"/>
              <a:t> </a:t>
            </a:r>
            <a:r>
              <a:rPr lang="en-US" i="0" baseline="0" dirty="0"/>
              <a:t>– read-only</a:t>
            </a:r>
          </a:p>
          <a:p>
            <a:r>
              <a:rPr lang="en-US" i="1" baseline="0" dirty="0" err="1"/>
              <a:t>mtohost</a:t>
            </a:r>
            <a:r>
              <a:rPr lang="en-US" i="0" baseline="0" dirty="0"/>
              <a:t> – write-only</a:t>
            </a:r>
          </a:p>
          <a:p>
            <a:endParaRPr lang="en-US" i="0" baseline="0" dirty="0"/>
          </a:p>
          <a:p>
            <a:pPr marL="0" marR="0" lvl="1" indent="0" algn="l" defTabSz="914400" rtl="0" eaLnBrk="0" fontAlgn="base" latinLnBrk="0" hangingPunct="0">
              <a:lnSpc>
                <a:spcPct val="100000"/>
              </a:lnSpc>
              <a:spcBef>
                <a:spcPct val="30000"/>
              </a:spcBef>
              <a:spcAft>
                <a:spcPct val="0"/>
              </a:spcAft>
              <a:buClrTx/>
              <a:buSzTx/>
              <a:buFontTx/>
              <a:buNone/>
              <a:tabLst/>
              <a:defRPr/>
            </a:pPr>
            <a:r>
              <a:rPr lang="en-US" sz="1800" dirty="0">
                <a:sym typeface="Wingdings" panose="05000000000000000000" pitchFamily="2" charset="2"/>
              </a:rPr>
              <a:t>Complete instructions to access CSR: CSRRW[I], CSRRS[I], CSRRC[I]</a:t>
            </a:r>
            <a:endParaRPr lang="en-US" sz="1800" dirty="0"/>
          </a:p>
          <a:p>
            <a:r>
              <a:rPr lang="en-US" i="0" dirty="0"/>
              <a:t>These</a:t>
            </a:r>
            <a:r>
              <a:rPr lang="en-US" i="0" baseline="0" dirty="0"/>
              <a:t> instructions will read-modify-write CSRs.</a:t>
            </a:r>
          </a:p>
          <a:p>
            <a:r>
              <a:rPr lang="en-US" i="0" baseline="0" dirty="0"/>
              <a:t>CSRR and CSRW are easiest cases where only read or write happens.</a:t>
            </a:r>
            <a:endParaRPr lang="en-US" i="0" dirty="0"/>
          </a:p>
        </p:txBody>
      </p:sp>
      <p:sp>
        <p:nvSpPr>
          <p:cNvPr id="4" name="Slide Number Placeholder 3"/>
          <p:cNvSpPr>
            <a:spLocks noGrp="1"/>
          </p:cNvSpPr>
          <p:nvPr>
            <p:ph type="sldNum" sz="quarter" idx="10"/>
          </p:nvPr>
        </p:nvSpPr>
        <p:spPr/>
        <p:txBody>
          <a:bodyPr/>
          <a:lstStyle/>
          <a:p>
            <a:pPr>
              <a:defRPr/>
            </a:pPr>
            <a:fld id="{FAB5816E-92E6-4A70-B53F-671D7635E10C}" type="slidenum">
              <a:rPr lang="en-US" smtClean="0"/>
              <a:pPr>
                <a:defRPr/>
              </a:pPr>
              <a:t>58</a:t>
            </a:fld>
            <a:endParaRPr lang="en-US"/>
          </a:p>
        </p:txBody>
      </p:sp>
    </p:spTree>
    <p:extLst>
      <p:ext uri="{BB962C8B-B14F-4D97-AF65-F5344CB8AC3E}">
        <p14:creationId xmlns:p14="http://schemas.microsoft.com/office/powerpoint/2010/main" val="11743512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Immediate encoding is also messy and requires automation. Is translation trivial? </a:t>
            </a:r>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67</a:t>
            </a:fld>
            <a:endParaRPr lang="zh-TW" altLang="en-US"/>
          </a:p>
        </p:txBody>
      </p:sp>
    </p:spTree>
    <p:extLst>
      <p:ext uri="{BB962C8B-B14F-4D97-AF65-F5344CB8AC3E}">
        <p14:creationId xmlns:p14="http://schemas.microsoft.com/office/powerpoint/2010/main" val="304284881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69</a:t>
            </a:fld>
            <a:endParaRPr lang="zh-TW" altLang="en-US"/>
          </a:p>
        </p:txBody>
      </p:sp>
    </p:spTree>
    <p:extLst>
      <p:ext uri="{BB962C8B-B14F-4D97-AF65-F5344CB8AC3E}">
        <p14:creationId xmlns:p14="http://schemas.microsoft.com/office/powerpoint/2010/main" val="194459419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 we need calling convention? For interoperability cross different compilers, different software, different library.</a:t>
            </a:r>
          </a:p>
          <a:p>
            <a:r>
              <a:rPr lang="en-US" dirty="0"/>
              <a:t>If not well defined, arguments may not be passed by registers!!!</a:t>
            </a:r>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70</a:t>
            </a:fld>
            <a:endParaRPr lang="zh-TW" altLang="en-US"/>
          </a:p>
        </p:txBody>
      </p:sp>
    </p:spTree>
    <p:extLst>
      <p:ext uri="{BB962C8B-B14F-4D97-AF65-F5344CB8AC3E}">
        <p14:creationId xmlns:p14="http://schemas.microsoft.com/office/powerpoint/2010/main" val="294250793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7512216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not need to know the details of such encoding.</a:t>
            </a:r>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80</a:t>
            </a:fld>
            <a:endParaRPr lang="zh-TW" altLang="en-US"/>
          </a:p>
        </p:txBody>
      </p:sp>
    </p:spTree>
    <p:extLst>
      <p:ext uri="{BB962C8B-B14F-4D97-AF65-F5344CB8AC3E}">
        <p14:creationId xmlns:p14="http://schemas.microsoft.com/office/powerpoint/2010/main" val="268914741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not need to know the details of such encoding.</a:t>
            </a:r>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81</a:t>
            </a:fld>
            <a:endParaRPr lang="zh-TW" altLang="en-US"/>
          </a:p>
        </p:txBody>
      </p:sp>
    </p:spTree>
    <p:extLst>
      <p:ext uri="{BB962C8B-B14F-4D97-AF65-F5344CB8AC3E}">
        <p14:creationId xmlns:p14="http://schemas.microsoft.com/office/powerpoint/2010/main" val="49805475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not need to know the details of such encoding.</a:t>
            </a:r>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82</a:t>
            </a:fld>
            <a:endParaRPr lang="zh-TW" altLang="en-US"/>
          </a:p>
        </p:txBody>
      </p:sp>
    </p:spTree>
    <p:extLst>
      <p:ext uri="{BB962C8B-B14F-4D97-AF65-F5344CB8AC3E}">
        <p14:creationId xmlns:p14="http://schemas.microsoft.com/office/powerpoint/2010/main" val="121217781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8AD204-E486-472C-93F5-F552B5456D3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806548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8AD204-E486-472C-93F5-F552B5456D3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12950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667">
                <a:latin typeface="Calibri" pitchFamily="34" charset="0"/>
                <a:ea typeface="標楷體" pitchFamily="65" charset="-120"/>
                <a:cs typeface="Calibri" pitchFamily="34" charset="0"/>
              </a:defRPr>
            </a:lvl3pPr>
            <a:lvl4pPr>
              <a:defRPr sz="2400">
                <a:latin typeface="Calibri" pitchFamily="34" charset="0"/>
                <a:ea typeface="標楷體" pitchFamily="65" charset="-120"/>
                <a:cs typeface="Calibri" pitchFamily="34" charset="0"/>
              </a:defRPr>
            </a:lvl4pPr>
            <a:lvl5pPr>
              <a:defRPr sz="2133">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endParaRPr lang="zh-TW" altLang="en-US" dirty="0"/>
          </a:p>
        </p:txBody>
      </p:sp>
    </p:spTree>
    <p:extLst>
      <p:ext uri="{BB962C8B-B14F-4D97-AF65-F5344CB8AC3E}">
        <p14:creationId xmlns:p14="http://schemas.microsoft.com/office/powerpoint/2010/main" val="1384839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963084" y="4406903"/>
            <a:ext cx="10363200" cy="1362075"/>
          </a:xfrm>
        </p:spPr>
        <p:txBody>
          <a:bodyPr anchor="t"/>
          <a:lstStyle>
            <a:lvl1pPr algn="l">
              <a:defRPr sz="4267"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963084" y="2906713"/>
            <a:ext cx="10363200" cy="1500187"/>
          </a:xfrm>
        </p:spPr>
        <p:txBody>
          <a:bodyPr anchor="b"/>
          <a:lstStyle>
            <a:lvl1pPr marL="0" indent="0">
              <a:buNone/>
              <a:defRPr sz="3733"/>
            </a:lvl1pPr>
            <a:lvl2pPr marL="457177" indent="0">
              <a:buNone/>
              <a:defRPr sz="1801"/>
            </a:lvl2pPr>
            <a:lvl3pPr marL="914354" indent="0">
              <a:buNone/>
              <a:defRPr sz="1600"/>
            </a:lvl3pPr>
            <a:lvl4pPr marL="1371531" indent="0">
              <a:buNone/>
              <a:defRPr sz="1401"/>
            </a:lvl4pPr>
            <a:lvl5pPr marL="1828709" indent="0">
              <a:buNone/>
              <a:defRPr sz="1401"/>
            </a:lvl5pPr>
            <a:lvl6pPr marL="2285886" indent="0">
              <a:buNone/>
              <a:defRPr sz="1401"/>
            </a:lvl6pPr>
            <a:lvl7pPr marL="2743063" indent="0">
              <a:buNone/>
              <a:defRPr sz="1401"/>
            </a:lvl7pPr>
            <a:lvl8pPr marL="3200240" indent="0">
              <a:buNone/>
              <a:defRPr sz="1401"/>
            </a:lvl8pPr>
            <a:lvl9pPr marL="3657417" indent="0">
              <a:buNone/>
              <a:defRPr sz="140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71603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609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6197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64985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609602" y="1268773"/>
            <a:ext cx="5386917"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4" name="內容版面配置區 3"/>
          <p:cNvSpPr>
            <a:spLocks noGrp="1"/>
          </p:cNvSpPr>
          <p:nvPr>
            <p:ph sz="half" idx="2"/>
          </p:nvPr>
        </p:nvSpPr>
        <p:spPr>
          <a:xfrm>
            <a:off x="609602" y="1908535"/>
            <a:ext cx="5386917"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6193373" y="1268773"/>
            <a:ext cx="5389033"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6" name="內容版面配置區 5"/>
          <p:cNvSpPr>
            <a:spLocks noGrp="1"/>
          </p:cNvSpPr>
          <p:nvPr>
            <p:ph sz="quarter" idx="4"/>
          </p:nvPr>
        </p:nvSpPr>
        <p:spPr>
          <a:xfrm>
            <a:off x="6193373" y="1908535"/>
            <a:ext cx="5389033"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624421" y="144466"/>
            <a:ext cx="10943167" cy="692151"/>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37794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030701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63319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6" y="273049"/>
            <a:ext cx="4011084" cy="1162051"/>
          </a:xfr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4766734" y="273056"/>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609606" y="1435104"/>
            <a:ext cx="4011084" cy="46910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850483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9"/>
          </a:xfr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2389717" y="612775"/>
            <a:ext cx="7315200" cy="4114800"/>
          </a:xfrm>
        </p:spPr>
        <p:txBody>
          <a:bodyPr/>
          <a:lstStyle>
            <a:lvl1pPr marL="0" indent="0">
              <a:buNone/>
              <a:defRPr sz="3200"/>
            </a:lvl1pPr>
            <a:lvl2pPr marL="457177" indent="0">
              <a:buNone/>
              <a:defRPr sz="2800"/>
            </a:lvl2pPr>
            <a:lvl3pPr marL="914354" indent="0">
              <a:buNone/>
              <a:defRPr sz="2400"/>
            </a:lvl3pPr>
            <a:lvl4pPr marL="1371531"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2389717" y="5367341"/>
            <a:ext cx="7315200" cy="8048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25657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73676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533043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609600" y="73028"/>
            <a:ext cx="10972800" cy="1700213"/>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518601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609600" y="1125542"/>
            <a:ext cx="10972800" cy="647700"/>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992217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14400" y="2130432"/>
            <a:ext cx="10363200" cy="1470025"/>
          </a:xfrm>
        </p:spPr>
        <p:txBody>
          <a:bodyPr/>
          <a:lstStyle>
            <a:lvl1pPr algn="ctr">
              <a:defRPr sz="5333"/>
            </a:lvl1pPr>
          </a:lstStyle>
          <a:p>
            <a:r>
              <a:rPr lang="en-US" altLang="zh-TW"/>
              <a:t>Click to edit Master title style</a:t>
            </a:r>
            <a:endParaRPr lang="zh-TW" altLang="en-US"/>
          </a:p>
        </p:txBody>
      </p:sp>
      <p:sp>
        <p:nvSpPr>
          <p:cNvPr id="3" name="副標題 2"/>
          <p:cNvSpPr>
            <a:spLocks noGrp="1"/>
          </p:cNvSpPr>
          <p:nvPr>
            <p:ph type="subTitle" idx="1"/>
          </p:nvPr>
        </p:nvSpPr>
        <p:spPr>
          <a:xfrm>
            <a:off x="1828800" y="3886200"/>
            <a:ext cx="8534400" cy="1752600"/>
          </a:xfrm>
        </p:spPr>
        <p:txBody>
          <a:bodyPr/>
          <a:lstStyle>
            <a:lvl1pPr marL="0" indent="0" algn="ctr">
              <a:buNone/>
              <a:defRPr/>
            </a:lvl1pPr>
            <a:lvl2pPr marL="457177" indent="0" algn="ctr">
              <a:buNone/>
              <a:defRPr/>
            </a:lvl2pPr>
            <a:lvl3pPr marL="914354" indent="0" algn="ctr">
              <a:buNone/>
              <a:defRPr/>
            </a:lvl3pPr>
            <a:lvl4pPr marL="1371531" indent="0" algn="ctr">
              <a:buNone/>
              <a:defRPr/>
            </a:lvl4pPr>
            <a:lvl5pPr marL="1828709" indent="0" algn="ctr">
              <a:buNone/>
              <a:defRPr/>
            </a:lvl5pPr>
            <a:lvl6pPr marL="2285886" indent="0" algn="ctr">
              <a:buNone/>
              <a:defRPr/>
            </a:lvl6pPr>
            <a:lvl7pPr marL="2743063" indent="0" algn="ctr">
              <a:buNone/>
              <a:defRPr/>
            </a:lvl7pPr>
            <a:lvl8pPr marL="3200240" indent="0" algn="ctr">
              <a:buNone/>
              <a:defRPr/>
            </a:lvl8pPr>
            <a:lvl9pPr marL="3657417"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499471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798655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283935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5634368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8637830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17755558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9984383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388628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0185375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3079622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482784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727367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1049867" y="144466"/>
            <a:ext cx="10517721" cy="69215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609600" y="1125537"/>
            <a:ext cx="10972800"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3" y="6357940"/>
            <a:ext cx="5111751" cy="198437"/>
          </a:xfrm>
          <a:prstGeom prst="rect">
            <a:avLst/>
          </a:prstGeom>
          <a:noFill/>
          <a:ln w="9525">
            <a:noFill/>
            <a:miter lim="800000"/>
            <a:headEnd/>
            <a:tailEnd/>
          </a:ln>
        </p:spPr>
      </p:pic>
      <p:sp>
        <p:nvSpPr>
          <p:cNvPr id="8" name="矩形 7"/>
          <p:cNvSpPr/>
          <p:nvPr/>
        </p:nvSpPr>
        <p:spPr>
          <a:xfrm>
            <a:off x="792808" y="6581777"/>
            <a:ext cx="3574825" cy="276999"/>
          </a:xfrm>
          <a:prstGeom prst="rect">
            <a:avLst/>
          </a:prstGeom>
        </p:spPr>
        <p:txBody>
          <a:bodyPr wrap="none">
            <a:spAutoFit/>
          </a:bodyPr>
          <a:lstStyle/>
          <a:p>
            <a:pPr algn="ctr">
              <a:defRPr/>
            </a:pPr>
            <a:r>
              <a:rPr lang="en-US" sz="12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12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908055"/>
            <a:ext cx="12192000" cy="144463"/>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4106" name="Rectangle 10"/>
          <p:cNvSpPr>
            <a:spLocks noChangeArrowheads="1"/>
          </p:cNvSpPr>
          <p:nvPr userDrawn="1"/>
        </p:nvSpPr>
        <p:spPr bwMode="auto">
          <a:xfrm>
            <a:off x="0" y="6165849"/>
            <a:ext cx="12192000" cy="719139"/>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1043" name="Rectangle 19"/>
          <p:cNvSpPr>
            <a:spLocks noGrp="1" noChangeArrowheads="1"/>
          </p:cNvSpPr>
          <p:nvPr>
            <p:ph type="sldNum" sz="quarter" idx="4"/>
          </p:nvPr>
        </p:nvSpPr>
        <p:spPr bwMode="auto">
          <a:xfrm>
            <a:off x="9108017" y="6524628"/>
            <a:ext cx="28448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14" name="圖片 13"/>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33280" y="124614"/>
            <a:ext cx="916587" cy="672311"/>
          </a:xfrm>
          <a:prstGeom prst="rect">
            <a:avLst/>
          </a:prstGeom>
        </p:spPr>
      </p:pic>
      <p:grpSp>
        <p:nvGrpSpPr>
          <p:cNvPr id="2" name="群組 1"/>
          <p:cNvGrpSpPr/>
          <p:nvPr userDrawn="1"/>
        </p:nvGrpSpPr>
        <p:grpSpPr>
          <a:xfrm>
            <a:off x="86980" y="6239920"/>
            <a:ext cx="3574825" cy="723403"/>
            <a:chOff x="86980" y="6239920"/>
            <a:chExt cx="3223375" cy="723403"/>
          </a:xfrm>
        </p:grpSpPr>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86980" y="6239920"/>
              <a:ext cx="817930" cy="569415"/>
            </a:xfrm>
            <a:prstGeom prst="rect">
              <a:avLst/>
            </a:prstGeom>
          </p:spPr>
        </p:pic>
        <p:sp>
          <p:nvSpPr>
            <p:cNvPr id="15" name="矩形 14"/>
            <p:cNvSpPr/>
            <p:nvPr userDrawn="1"/>
          </p:nvSpPr>
          <p:spPr>
            <a:xfrm>
              <a:off x="829837" y="6347770"/>
              <a:ext cx="2480518" cy="615553"/>
            </a:xfrm>
            <a:prstGeom prst="rect">
              <a:avLst/>
            </a:prstGeom>
          </p:spPr>
          <p:txBody>
            <a:bodyPr wrap="square">
              <a:spAutoFit/>
            </a:bodyPr>
            <a:lstStyle/>
            <a:p>
              <a:pPr algn="ctr">
                <a:spcAft>
                  <a:spcPts val="0"/>
                </a:spcAft>
              </a:pPr>
              <a:r>
                <a:rPr lang="zh-CN"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香港中文大学（深圳）数据科学</a:t>
              </a:r>
              <a:r>
                <a:rPr kumimoji="0" lang="zh-CN" altLang="zh-TW" sz="1200" b="0" i="0" u="none" strike="noStrike" kern="100" cap="none" spc="0" normalizeH="0" baseline="0" noProof="0" dirty="0">
                  <a:ln>
                    <a:noFill/>
                  </a:ln>
                  <a:solidFill>
                    <a:prstClr val="white"/>
                  </a:solidFill>
                  <a:effectLst/>
                  <a:uLnTx/>
                  <a:uFillTx/>
                  <a:latin typeface="华文楷体" panose="02010600040101010101" pitchFamily="2" charset="-122"/>
                  <a:ea typeface="华文楷体" panose="02010600040101010101" pitchFamily="2" charset="-122"/>
                  <a:cs typeface="Times New Roman" panose="02020603050405020304" pitchFamily="18" charset="0"/>
                </a:rPr>
                <a:t>学</a:t>
              </a:r>
              <a:r>
                <a:rPr lang="zh-CN"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院</a:t>
              </a:r>
              <a:endParaRPr lang="zh-TW"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CUHK</a:t>
              </a:r>
              <a:r>
                <a:rPr lang="en-US" altLang="zh-TW" sz="1000" kern="100" dirty="0">
                  <a:solidFill>
                    <a:schemeClr val="bg1"/>
                  </a:solidFill>
                  <a:latin typeface="Times New Roman" panose="02020603050405020304" pitchFamily="18" charset="0"/>
                  <a:ea typeface="DengXian"/>
                  <a:cs typeface="Times New Roman" panose="02020603050405020304" pitchFamily="18" charset="0"/>
                </a:rPr>
                <a:t>-SZ Sc</a:t>
              </a: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hool of Data Science</a:t>
              </a:r>
              <a:endParaRPr lang="zh-TW" altLang="zh-TW" sz="1000" kern="100" dirty="0">
                <a:solidFill>
                  <a:schemeClr val="bg1"/>
                </a:solidFill>
                <a:latin typeface="Calibri" panose="020F0502020204030204" pitchFamily="34" charset="0"/>
                <a:ea typeface="新細明體" panose="02020500000000000000" pitchFamily="18" charset="-120"/>
                <a:cs typeface="Times New Roman" panose="02020603050405020304" pitchFamily="18" charset="0"/>
              </a:endParaRPr>
            </a:p>
          </p:txBody>
        </p:sp>
      </p:grpSp>
    </p:spTree>
    <p:extLst>
      <p:ext uri="{BB962C8B-B14F-4D97-AF65-F5344CB8AC3E}">
        <p14:creationId xmlns:p14="http://schemas.microsoft.com/office/powerpoint/2010/main" val="156623121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hf hdr="0" ftr="0" dt="0"/>
  <p:txStyles>
    <p:titleStyle>
      <a:lvl1pPr algn="l" rtl="0" eaLnBrk="1" fontAlgn="base" hangingPunct="1">
        <a:spcBef>
          <a:spcPct val="0"/>
        </a:spcBef>
        <a:spcAft>
          <a:spcPct val="0"/>
        </a:spcAft>
        <a:defRPr kumimoji="1" sz="48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5pPr>
      <a:lvl6pPr marL="457177" algn="l" rtl="0" eaLnBrk="1" fontAlgn="base" hangingPunct="1">
        <a:spcBef>
          <a:spcPct val="0"/>
        </a:spcBef>
        <a:spcAft>
          <a:spcPct val="0"/>
        </a:spcAft>
        <a:defRPr kumimoji="1" sz="3001" b="1">
          <a:solidFill>
            <a:schemeClr val="tx2"/>
          </a:solidFill>
          <a:latin typeface="MS Sans Serif"/>
          <a:ea typeface="MS Sans Serif"/>
          <a:cs typeface="MS Sans Serif"/>
        </a:defRPr>
      </a:lvl6pPr>
      <a:lvl7pPr marL="914354" algn="l" rtl="0" eaLnBrk="1" fontAlgn="base" hangingPunct="1">
        <a:spcBef>
          <a:spcPct val="0"/>
        </a:spcBef>
        <a:spcAft>
          <a:spcPct val="0"/>
        </a:spcAft>
        <a:defRPr kumimoji="1" sz="3001" b="1">
          <a:solidFill>
            <a:schemeClr val="tx2"/>
          </a:solidFill>
          <a:latin typeface="MS Sans Serif"/>
          <a:ea typeface="MS Sans Serif"/>
          <a:cs typeface="MS Sans Serif"/>
        </a:defRPr>
      </a:lvl7pPr>
      <a:lvl8pPr marL="1371531" algn="l" rtl="0" eaLnBrk="1" fontAlgn="base" hangingPunct="1">
        <a:spcBef>
          <a:spcPct val="0"/>
        </a:spcBef>
        <a:spcAft>
          <a:spcPct val="0"/>
        </a:spcAft>
        <a:defRPr kumimoji="1" sz="3001" b="1">
          <a:solidFill>
            <a:schemeClr val="tx2"/>
          </a:solidFill>
          <a:latin typeface="MS Sans Serif"/>
          <a:ea typeface="MS Sans Serif"/>
          <a:cs typeface="MS Sans Serif"/>
        </a:defRPr>
      </a:lvl8pPr>
      <a:lvl9pPr marL="1828709" algn="l" rtl="0" eaLnBrk="1" fontAlgn="base" hangingPunct="1">
        <a:spcBef>
          <a:spcPct val="0"/>
        </a:spcBef>
        <a:spcAft>
          <a:spcPct val="0"/>
        </a:spcAft>
        <a:defRPr kumimoji="1" sz="3001" b="1">
          <a:solidFill>
            <a:schemeClr val="tx2"/>
          </a:solidFill>
          <a:latin typeface="MS Sans Serif"/>
          <a:ea typeface="MS Sans Serif"/>
          <a:cs typeface="MS Sans Serif"/>
        </a:defRPr>
      </a:lvl9pPr>
    </p:titleStyle>
    <p:body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354" rtl="0" eaLnBrk="1" latinLnBrk="0" hangingPunct="1">
        <a:defRPr sz="1801" kern="1200">
          <a:solidFill>
            <a:schemeClr val="tx1"/>
          </a:solidFill>
          <a:latin typeface="+mn-lt"/>
          <a:ea typeface="+mn-ea"/>
          <a:cs typeface="+mn-cs"/>
        </a:defRPr>
      </a:lvl1pPr>
      <a:lvl2pPr marL="457177" algn="l" defTabSz="914354" rtl="0" eaLnBrk="1" latinLnBrk="0" hangingPunct="1">
        <a:defRPr sz="1801" kern="1200">
          <a:solidFill>
            <a:schemeClr val="tx1"/>
          </a:solidFill>
          <a:latin typeface="+mn-lt"/>
          <a:ea typeface="+mn-ea"/>
          <a:cs typeface="+mn-cs"/>
        </a:defRPr>
      </a:lvl2pPr>
      <a:lvl3pPr marL="914354" algn="l" defTabSz="914354" rtl="0" eaLnBrk="1" latinLnBrk="0" hangingPunct="1">
        <a:defRPr sz="1801" kern="1200">
          <a:solidFill>
            <a:schemeClr val="tx1"/>
          </a:solidFill>
          <a:latin typeface="+mn-lt"/>
          <a:ea typeface="+mn-ea"/>
          <a:cs typeface="+mn-cs"/>
        </a:defRPr>
      </a:lvl3pPr>
      <a:lvl4pPr marL="1371531" algn="l" defTabSz="914354" rtl="0" eaLnBrk="1" latinLnBrk="0" hangingPunct="1">
        <a:defRPr sz="1801" kern="1200">
          <a:solidFill>
            <a:schemeClr val="tx1"/>
          </a:solidFill>
          <a:latin typeface="+mn-lt"/>
          <a:ea typeface="+mn-ea"/>
          <a:cs typeface="+mn-cs"/>
        </a:defRPr>
      </a:lvl4pPr>
      <a:lvl5pPr marL="1828709" algn="l" defTabSz="914354" rtl="0" eaLnBrk="1" latinLnBrk="0" hangingPunct="1">
        <a:defRPr sz="1801" kern="1200">
          <a:solidFill>
            <a:schemeClr val="tx1"/>
          </a:solidFill>
          <a:latin typeface="+mn-lt"/>
          <a:ea typeface="+mn-ea"/>
          <a:cs typeface="+mn-cs"/>
        </a:defRPr>
      </a:lvl5pPr>
      <a:lvl6pPr marL="2285886" algn="l" defTabSz="914354" rtl="0" eaLnBrk="1" latinLnBrk="0" hangingPunct="1">
        <a:defRPr sz="1801" kern="1200">
          <a:solidFill>
            <a:schemeClr val="tx1"/>
          </a:solidFill>
          <a:latin typeface="+mn-lt"/>
          <a:ea typeface="+mn-ea"/>
          <a:cs typeface="+mn-cs"/>
        </a:defRPr>
      </a:lvl6pPr>
      <a:lvl7pPr marL="2743063" algn="l" defTabSz="914354" rtl="0" eaLnBrk="1" latinLnBrk="0" hangingPunct="1">
        <a:defRPr sz="1801" kern="1200">
          <a:solidFill>
            <a:schemeClr val="tx1"/>
          </a:solidFill>
          <a:latin typeface="+mn-lt"/>
          <a:ea typeface="+mn-ea"/>
          <a:cs typeface="+mn-cs"/>
        </a:defRPr>
      </a:lvl7pPr>
      <a:lvl8pPr marL="3200240" algn="l" defTabSz="914354" rtl="0" eaLnBrk="1" latinLnBrk="0" hangingPunct="1">
        <a:defRPr sz="1801" kern="1200">
          <a:solidFill>
            <a:schemeClr val="tx1"/>
          </a:solidFill>
          <a:latin typeface="+mn-lt"/>
          <a:ea typeface="+mn-ea"/>
          <a:cs typeface="+mn-cs"/>
        </a:defRPr>
      </a:lvl8pPr>
      <a:lvl9pPr marL="3657417" algn="l" defTabSz="914354" rtl="0" eaLnBrk="1" latinLnBrk="0" hangingPunct="1">
        <a:defRPr sz="180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4568717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71E74415-30E6-4BE5-9E20-77352570E8FC}"/>
              </a:ext>
            </a:extLst>
          </p:cNvPr>
          <p:cNvSpPr>
            <a:spLocks noGrp="1"/>
          </p:cNvSpPr>
          <p:nvPr>
            <p:ph type="sldNum" sz="quarter" idx="10"/>
          </p:nvPr>
        </p:nvSpPr>
        <p:spPr/>
        <p:txBody>
          <a:bodyPr/>
          <a:lstStyle/>
          <a:p>
            <a:fld id="{D9B6BDF2-6896-4B98-8776-C18582F63BA5}" type="slidenum">
              <a:rPr lang="zh-TW" altLang="en-US" smtClean="0"/>
              <a:pPr/>
              <a:t>1</a:t>
            </a:fld>
            <a:endParaRPr lang="zh-TW" altLang="en-US"/>
          </a:p>
        </p:txBody>
      </p:sp>
      <p:sp>
        <p:nvSpPr>
          <p:cNvPr id="7" name="Title 1">
            <a:extLst>
              <a:ext uri="{FF2B5EF4-FFF2-40B4-BE49-F238E27FC236}">
                <a16:creationId xmlns:a16="http://schemas.microsoft.com/office/drawing/2014/main" id="{6CCF4834-0539-4513-8D25-641B751175CF}"/>
              </a:ext>
            </a:extLst>
          </p:cNvPr>
          <p:cNvSpPr>
            <a:spLocks noGrp="1"/>
          </p:cNvSpPr>
          <p:nvPr>
            <p:ph type="ctrTitle"/>
          </p:nvPr>
        </p:nvSpPr>
        <p:spPr>
          <a:xfrm>
            <a:off x="1818967" y="1634246"/>
            <a:ext cx="8160657" cy="2683883"/>
          </a:xfrm>
        </p:spPr>
        <p:txBody>
          <a:bodyPr/>
          <a:lstStyle/>
          <a:p>
            <a:pPr marL="0" marR="0" lvl="0" indent="0" algn="ctr" defTabSz="914400" rtl="0" eaLnBrk="1" fontAlgn="base" latinLnBrk="0" hangingPunct="1">
              <a:lnSpc>
                <a:spcPct val="100000"/>
              </a:lnSpc>
              <a:spcBef>
                <a:spcPct val="20000"/>
              </a:spcBef>
              <a:spcAft>
                <a:spcPct val="0"/>
              </a:spcAft>
              <a:buClr>
                <a:srgbClr val="8064A2"/>
              </a:buClr>
              <a:buSzPct val="80000"/>
              <a:buFont typeface="Wingdings" panose="05000000000000000000" pitchFamily="2" charset="2"/>
              <a:buNone/>
              <a:tabLst/>
              <a:defRPr/>
            </a:pPr>
            <a:r>
              <a:rPr lang="en-US" altLang="zh-TW" sz="4000" dirty="0">
                <a:effectLst>
                  <a:outerShdw blurRad="38100" dist="38100" dir="2700000" algn="tl">
                    <a:srgbClr val="000000">
                      <a:alpha val="43137"/>
                    </a:srgbClr>
                  </a:outerShdw>
                </a:effectLst>
              </a:rPr>
              <a:t>CSC3060 – Computer Architecture</a:t>
            </a:r>
            <a:br>
              <a:rPr lang="en-US" altLang="zh-TW" sz="4000" dirty="0">
                <a:effectLst>
                  <a:outerShdw blurRad="38100" dist="38100" dir="2700000" algn="tl">
                    <a:srgbClr val="000000">
                      <a:alpha val="43137"/>
                    </a:srgbClr>
                  </a:outerShdw>
                </a:effectLst>
              </a:rPr>
            </a:br>
            <a:br>
              <a:rPr lang="en-US" altLang="zh-TW" sz="4000" dirty="0">
                <a:effectLst>
                  <a:outerShdw blurRad="38100" dist="38100" dir="2700000" algn="tl">
                    <a:srgbClr val="000000">
                      <a:alpha val="43137"/>
                    </a:srgbClr>
                  </a:outerShdw>
                </a:effectLst>
              </a:rPr>
            </a:br>
            <a:r>
              <a:rPr kumimoji="1" lang="en-US" altLang="zh-TW" sz="3600" b="0" i="0" u="none" strike="noStrike" kern="0" cap="none" spc="0" normalizeH="0" baseline="0" noProof="0" dirty="0">
                <a:ln>
                  <a:noFill/>
                </a:ln>
                <a:solidFill>
                  <a:srgbClr val="002060"/>
                </a:solidFill>
                <a:effectLst/>
                <a:uLnTx/>
                <a:uFillTx/>
                <a:latin typeface="Calibri" panose="020F0502020204030204" pitchFamily="34" charset="0"/>
                <a:ea typeface="標楷體" pitchFamily="65" charset="-120"/>
                <a:cs typeface="+mn-cs"/>
              </a:rPr>
              <a:t>RISC-V Instruction Set Architecture</a:t>
            </a:r>
            <a:br>
              <a:rPr kumimoji="1" lang="en-US" altLang="zh-TW" sz="3600" b="0" i="0" u="none" strike="noStrike" kern="0" cap="none" spc="0" normalizeH="0" baseline="0" noProof="0" dirty="0">
                <a:ln>
                  <a:noFill/>
                </a:ln>
                <a:solidFill>
                  <a:srgbClr val="002060"/>
                </a:solidFill>
                <a:effectLst/>
                <a:uLnTx/>
                <a:uFillTx/>
                <a:latin typeface="Calibri" panose="020F0502020204030204" pitchFamily="34" charset="0"/>
                <a:ea typeface="標楷體" pitchFamily="65" charset="-120"/>
                <a:cs typeface="+mn-cs"/>
              </a:rPr>
            </a:br>
            <a:br>
              <a:rPr kumimoji="1" lang="en-US" altLang="zh-TW" sz="2800" b="0" i="0" u="none" strike="noStrike" kern="0" cap="none" spc="0" normalizeH="0" baseline="0" noProof="0" dirty="0">
                <a:ln>
                  <a:noFill/>
                </a:ln>
                <a:solidFill>
                  <a:srgbClr val="002060"/>
                </a:solidFill>
                <a:effectLst>
                  <a:outerShdw blurRad="38100" dist="38100" dir="2700000" algn="tl">
                    <a:srgbClr val="000000">
                      <a:alpha val="43137"/>
                    </a:srgbClr>
                  </a:outerShdw>
                </a:effectLst>
                <a:uLnTx/>
                <a:uFillTx/>
                <a:latin typeface="Calibri" panose="020F0502020204030204" pitchFamily="34" charset="0"/>
                <a:ea typeface="標楷體" pitchFamily="65" charset="-120"/>
                <a:cs typeface="+mn-cs"/>
              </a:rPr>
            </a:br>
            <a:endParaRPr lang="zh-TW" altLang="en-US" sz="4000" dirty="0">
              <a:effectLst>
                <a:outerShdw blurRad="38100" dist="38100" dir="2700000" algn="tl">
                  <a:srgbClr val="000000">
                    <a:alpha val="43137"/>
                  </a:srgbClr>
                </a:outerShdw>
              </a:effectLst>
            </a:endParaRPr>
          </a:p>
        </p:txBody>
      </p:sp>
      <p:sp>
        <p:nvSpPr>
          <p:cNvPr id="10" name="Subtitle 2">
            <a:extLst>
              <a:ext uri="{FF2B5EF4-FFF2-40B4-BE49-F238E27FC236}">
                <a16:creationId xmlns:a16="http://schemas.microsoft.com/office/drawing/2014/main" id="{37EF043F-0047-4EC5-B297-23522E981511}"/>
              </a:ext>
            </a:extLst>
          </p:cNvPr>
          <p:cNvSpPr>
            <a:spLocks noGrp="1"/>
          </p:cNvSpPr>
          <p:nvPr>
            <p:ph type="subTitle" idx="1"/>
          </p:nvPr>
        </p:nvSpPr>
        <p:spPr>
          <a:xfrm>
            <a:off x="1944950" y="4185126"/>
            <a:ext cx="7908692" cy="2339502"/>
          </a:xfrm>
        </p:spPr>
        <p:txBody>
          <a:bodyPr/>
          <a:lstStyle/>
          <a:p>
            <a:r>
              <a:rPr lang="en-US" altLang="zh-TW" sz="2400" dirty="0"/>
              <a:t>Prof. Wei Chung Hsu</a:t>
            </a:r>
          </a:p>
          <a:p>
            <a:endParaRPr lang="en-US" altLang="zh-TW" sz="2400" dirty="0">
              <a:effectLst>
                <a:outerShdw blurRad="38100" dist="38100" dir="2700000" algn="tl">
                  <a:srgbClr val="000000">
                    <a:alpha val="43137"/>
                  </a:srgbClr>
                </a:outerShdw>
              </a:effectLst>
            </a:endParaRPr>
          </a:p>
          <a:p>
            <a:r>
              <a:rPr lang="en-US" altLang="zh-TW" sz="2400" dirty="0"/>
              <a:t>School of Data Science</a:t>
            </a:r>
          </a:p>
          <a:p>
            <a:r>
              <a:rPr lang="en-US" altLang="zh-TW" sz="2400" dirty="0"/>
              <a:t>Chinese University of Hong Kong, Shenzhen</a:t>
            </a:r>
          </a:p>
        </p:txBody>
      </p:sp>
    </p:spTree>
    <p:extLst>
      <p:ext uri="{BB962C8B-B14F-4D97-AF65-F5344CB8AC3E}">
        <p14:creationId xmlns:p14="http://schemas.microsoft.com/office/powerpoint/2010/main" val="76936012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Assembly Language Instructions</a:t>
            </a:r>
          </a:p>
        </p:txBody>
      </p:sp>
      <p:sp>
        <p:nvSpPr>
          <p:cNvPr id="3" name="Content Placeholder 2"/>
          <p:cNvSpPr>
            <a:spLocks noGrp="1"/>
          </p:cNvSpPr>
          <p:nvPr>
            <p:ph idx="1"/>
          </p:nvPr>
        </p:nvSpPr>
        <p:spPr>
          <a:xfrm>
            <a:off x="372533" y="1049919"/>
            <a:ext cx="11580284" cy="5190861"/>
          </a:xfrm>
        </p:spPr>
        <p:txBody>
          <a:bodyPr>
            <a:noAutofit/>
          </a:bodyPr>
          <a:lstStyle/>
          <a:p>
            <a:r>
              <a:rPr lang="en-US" sz="3000" dirty="0"/>
              <a:t>The language of the machine</a:t>
            </a:r>
          </a:p>
          <a:p>
            <a:pPr lvl="1"/>
            <a:r>
              <a:rPr lang="en-US" sz="2800" dirty="0"/>
              <a:t>Want an ISA that makes it easy to build the </a:t>
            </a:r>
            <a:r>
              <a:rPr lang="en-US" sz="2800" b="1" dirty="0">
                <a:solidFill>
                  <a:schemeClr val="accent1"/>
                </a:solidFill>
              </a:rPr>
              <a:t>hardware</a:t>
            </a:r>
            <a:r>
              <a:rPr lang="en-US" sz="2800" dirty="0">
                <a:solidFill>
                  <a:schemeClr val="accent1"/>
                </a:solidFill>
              </a:rPr>
              <a:t> </a:t>
            </a:r>
            <a:r>
              <a:rPr lang="en-US" sz="2800" dirty="0"/>
              <a:t>and the </a:t>
            </a:r>
            <a:r>
              <a:rPr lang="en-US" sz="2800" b="1" dirty="0">
                <a:solidFill>
                  <a:schemeClr val="accent1"/>
                </a:solidFill>
              </a:rPr>
              <a:t>compiler</a:t>
            </a:r>
            <a:r>
              <a:rPr lang="en-US" sz="2800" dirty="0">
                <a:solidFill>
                  <a:schemeClr val="accent1"/>
                </a:solidFill>
              </a:rPr>
              <a:t> </a:t>
            </a:r>
          </a:p>
          <a:p>
            <a:r>
              <a:rPr lang="en-US" sz="3000" dirty="0"/>
              <a:t>Our focus: the </a:t>
            </a:r>
            <a:r>
              <a:rPr lang="en-US" sz="3000" b="1" dirty="0">
                <a:solidFill>
                  <a:schemeClr val="accent1"/>
                </a:solidFill>
              </a:rPr>
              <a:t>RISC-V ISA (or RV in short)</a:t>
            </a:r>
          </a:p>
          <a:p>
            <a:r>
              <a:rPr lang="en-US" sz="3000" dirty="0"/>
              <a:t>Design Goals:</a:t>
            </a:r>
          </a:p>
          <a:p>
            <a:pPr lvl="1"/>
            <a:r>
              <a:rPr lang="en-US" sz="2600" dirty="0"/>
              <a:t>Maximize </a:t>
            </a:r>
            <a:r>
              <a:rPr lang="en-US" sz="2600" b="1" dirty="0">
                <a:solidFill>
                  <a:schemeClr val="accent1"/>
                </a:solidFill>
              </a:rPr>
              <a:t>performance</a:t>
            </a:r>
            <a:r>
              <a:rPr lang="en-US" sz="2600" dirty="0"/>
              <a:t>, </a:t>
            </a:r>
          </a:p>
          <a:p>
            <a:pPr lvl="1"/>
            <a:r>
              <a:rPr lang="en-US" sz="2600" dirty="0"/>
              <a:t>Minimize </a:t>
            </a:r>
            <a:r>
              <a:rPr lang="en-US" sz="2600" b="1" dirty="0">
                <a:solidFill>
                  <a:schemeClr val="accent1"/>
                </a:solidFill>
              </a:rPr>
              <a:t>cost</a:t>
            </a:r>
            <a:r>
              <a:rPr lang="en-US" sz="2600" dirty="0"/>
              <a:t>, </a:t>
            </a:r>
          </a:p>
          <a:p>
            <a:pPr lvl="1"/>
            <a:r>
              <a:rPr lang="en-US" sz="2600" dirty="0"/>
              <a:t>Reduce design time (</a:t>
            </a:r>
            <a:r>
              <a:rPr lang="en-US" sz="2600" b="1" dirty="0">
                <a:solidFill>
                  <a:schemeClr val="accent1"/>
                </a:solidFill>
              </a:rPr>
              <a:t>time-to-market</a:t>
            </a:r>
            <a:r>
              <a:rPr lang="en-US" sz="2600" dirty="0"/>
              <a:t>), </a:t>
            </a:r>
          </a:p>
          <a:p>
            <a:pPr lvl="1"/>
            <a:r>
              <a:rPr lang="en-US" sz="2600" dirty="0"/>
              <a:t>Minimize </a:t>
            </a:r>
            <a:r>
              <a:rPr lang="en-US" sz="2600" b="1" dirty="0">
                <a:solidFill>
                  <a:schemeClr val="accent1"/>
                </a:solidFill>
              </a:rPr>
              <a:t>memory space</a:t>
            </a:r>
            <a:r>
              <a:rPr lang="en-US" sz="2600" dirty="0"/>
              <a:t> (embedded systems), </a:t>
            </a:r>
          </a:p>
          <a:p>
            <a:pPr lvl="1"/>
            <a:r>
              <a:rPr lang="en-US" sz="2600" dirty="0"/>
              <a:t>Minimize </a:t>
            </a:r>
            <a:r>
              <a:rPr lang="en-US" sz="2600" b="1" dirty="0">
                <a:solidFill>
                  <a:schemeClr val="accent1"/>
                </a:solidFill>
              </a:rPr>
              <a:t>power consumption</a:t>
            </a:r>
            <a:r>
              <a:rPr lang="en-US" sz="2600" dirty="0"/>
              <a:t> (mobile systems).</a:t>
            </a:r>
          </a:p>
          <a:p>
            <a:pPr marL="457176" lvl="1" indent="0">
              <a:buNone/>
            </a:pPr>
            <a:r>
              <a:rPr lang="en-US" sz="3000" dirty="0"/>
              <a:t>ISA should be </a:t>
            </a:r>
            <a:r>
              <a:rPr lang="en-US" sz="3000" b="1" dirty="0">
                <a:solidFill>
                  <a:schemeClr val="accent1"/>
                </a:solidFill>
              </a:rPr>
              <a:t>scalable,</a:t>
            </a:r>
            <a:r>
              <a:rPr lang="en-US" sz="3000" dirty="0"/>
              <a:t> </a:t>
            </a:r>
            <a:r>
              <a:rPr lang="en-US" sz="3000" b="1" dirty="0">
                <a:solidFill>
                  <a:schemeClr val="accent1"/>
                </a:solidFill>
              </a:rPr>
              <a:t>flexible, </a:t>
            </a:r>
            <a:r>
              <a:rPr lang="en-US" sz="3000" dirty="0"/>
              <a:t>and</a:t>
            </a:r>
            <a:r>
              <a:rPr lang="en-US" sz="3000" b="1" dirty="0">
                <a:solidFill>
                  <a:schemeClr val="accent1"/>
                </a:solidFill>
              </a:rPr>
              <a:t> extensible</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2</a:t>
            </a:fld>
            <a:endParaRPr lang="zh-TW" altLang="en-US"/>
          </a:p>
        </p:txBody>
      </p:sp>
      <p:sp>
        <p:nvSpPr>
          <p:cNvPr id="4" name="TextBox 3">
            <a:extLst>
              <a:ext uri="{FF2B5EF4-FFF2-40B4-BE49-F238E27FC236}">
                <a16:creationId xmlns:a16="http://schemas.microsoft.com/office/drawing/2014/main" id="{7FD7F09C-E3FC-4DE4-BBD6-0C3DADC2883A}"/>
              </a:ext>
            </a:extLst>
          </p:cNvPr>
          <p:cNvSpPr txBox="1"/>
          <p:nvPr/>
        </p:nvSpPr>
        <p:spPr>
          <a:xfrm>
            <a:off x="7358666" y="3212972"/>
            <a:ext cx="4172937"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e.g., Regularity: easy to pipeline, SIMD</a:t>
            </a:r>
          </a:p>
        </p:txBody>
      </p:sp>
      <p:sp>
        <p:nvSpPr>
          <p:cNvPr id="7" name="TextBox 6">
            <a:extLst>
              <a:ext uri="{FF2B5EF4-FFF2-40B4-BE49-F238E27FC236}">
                <a16:creationId xmlns:a16="http://schemas.microsoft.com/office/drawing/2014/main" id="{3C6A1533-303D-4F0F-B4DD-8BEE49E2B5BA}"/>
              </a:ext>
            </a:extLst>
          </p:cNvPr>
          <p:cNvSpPr txBox="1"/>
          <p:nvPr/>
        </p:nvSpPr>
        <p:spPr>
          <a:xfrm>
            <a:off x="7358666" y="3681486"/>
            <a:ext cx="3390672"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e.g., Simple ISA: easy to build</a:t>
            </a:r>
          </a:p>
        </p:txBody>
      </p:sp>
      <p:sp>
        <p:nvSpPr>
          <p:cNvPr id="8" name="TextBox 7">
            <a:extLst>
              <a:ext uri="{FF2B5EF4-FFF2-40B4-BE49-F238E27FC236}">
                <a16:creationId xmlns:a16="http://schemas.microsoft.com/office/drawing/2014/main" id="{E4B88248-B66B-4F50-AED5-137AAAC3953A}"/>
              </a:ext>
            </a:extLst>
          </p:cNvPr>
          <p:cNvSpPr txBox="1"/>
          <p:nvPr/>
        </p:nvSpPr>
        <p:spPr>
          <a:xfrm>
            <a:off x="7358666" y="4126081"/>
            <a:ext cx="4339650"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e.g., Simple ISA: easy to design and test</a:t>
            </a:r>
          </a:p>
        </p:txBody>
      </p:sp>
      <p:sp>
        <p:nvSpPr>
          <p:cNvPr id="9" name="TextBox 8">
            <a:extLst>
              <a:ext uri="{FF2B5EF4-FFF2-40B4-BE49-F238E27FC236}">
                <a16:creationId xmlns:a16="http://schemas.microsoft.com/office/drawing/2014/main" id="{F8B4185F-D4DA-4FBE-A8F4-D58BF8746FDA}"/>
              </a:ext>
            </a:extLst>
          </p:cNvPr>
          <p:cNvSpPr txBox="1"/>
          <p:nvPr/>
        </p:nvSpPr>
        <p:spPr>
          <a:xfrm>
            <a:off x="7615841" y="4603122"/>
            <a:ext cx="4057521"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e.g., compact encoding, less registers</a:t>
            </a:r>
          </a:p>
        </p:txBody>
      </p:sp>
      <p:sp>
        <p:nvSpPr>
          <p:cNvPr id="10" name="TextBox 9">
            <a:extLst>
              <a:ext uri="{FF2B5EF4-FFF2-40B4-BE49-F238E27FC236}">
                <a16:creationId xmlns:a16="http://schemas.microsoft.com/office/drawing/2014/main" id="{52F55E73-5BD4-49E6-9B21-BE4A950AA3D2}"/>
              </a:ext>
            </a:extLst>
          </p:cNvPr>
          <p:cNvSpPr txBox="1"/>
          <p:nvPr/>
        </p:nvSpPr>
        <p:spPr>
          <a:xfrm>
            <a:off x="7761946" y="5087399"/>
            <a:ext cx="3018903"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e.g., SIMD, FMA, Vector, …</a:t>
            </a:r>
          </a:p>
        </p:txBody>
      </p:sp>
      <p:sp>
        <p:nvSpPr>
          <p:cNvPr id="11" name="TextBox 10">
            <a:extLst>
              <a:ext uri="{FF2B5EF4-FFF2-40B4-BE49-F238E27FC236}">
                <a16:creationId xmlns:a16="http://schemas.microsoft.com/office/drawing/2014/main" id="{AC75CE46-022F-403A-8CED-C2502C9CDCCA}"/>
              </a:ext>
            </a:extLst>
          </p:cNvPr>
          <p:cNvSpPr txBox="1"/>
          <p:nvPr/>
        </p:nvSpPr>
        <p:spPr>
          <a:xfrm>
            <a:off x="8295514" y="739173"/>
            <a:ext cx="3377848"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What is computer architecture?</a:t>
            </a:r>
          </a:p>
        </p:txBody>
      </p:sp>
      <p:sp>
        <p:nvSpPr>
          <p:cNvPr id="12" name="TextBox 11">
            <a:extLst>
              <a:ext uri="{FF2B5EF4-FFF2-40B4-BE49-F238E27FC236}">
                <a16:creationId xmlns:a16="http://schemas.microsoft.com/office/drawing/2014/main" id="{E92614BB-F6CE-4A3F-9574-951570BC0532}"/>
              </a:ext>
            </a:extLst>
          </p:cNvPr>
          <p:cNvSpPr txBox="1"/>
          <p:nvPr/>
        </p:nvSpPr>
        <p:spPr>
          <a:xfrm>
            <a:off x="8295514" y="1142201"/>
            <a:ext cx="3352200" cy="646331"/>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Interface between HW and SW</a:t>
            </a:r>
          </a:p>
          <a:p>
            <a:r>
              <a:rPr lang="en-US" dirty="0">
                <a:ea typeface="標楷體" pitchFamily="65" charset="-120"/>
                <a:cs typeface="Calibri" pitchFamily="34" charset="0"/>
              </a:rPr>
              <a:t>Also called ISA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P spid="9" grpId="0" animBg="1"/>
      <p:bldP spid="10" grpId="0" animBg="1"/>
      <p:bldP spid="11" grpId="0" animBg="1"/>
      <p:bldP spid="1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CISC vs. RISC </a:t>
            </a:r>
          </a:p>
        </p:txBody>
      </p:sp>
      <p:sp>
        <p:nvSpPr>
          <p:cNvPr id="3" name="Content Placeholder 2"/>
          <p:cNvSpPr>
            <a:spLocks noGrp="1"/>
          </p:cNvSpPr>
          <p:nvPr>
            <p:ph idx="1"/>
          </p:nvPr>
        </p:nvSpPr>
        <p:spPr>
          <a:xfrm>
            <a:off x="706363" y="1125537"/>
            <a:ext cx="10861224" cy="4895851"/>
          </a:xfrm>
        </p:spPr>
        <p:txBody>
          <a:bodyPr/>
          <a:lstStyle/>
          <a:p>
            <a:r>
              <a:rPr lang="en-US" sz="3200" b="1" dirty="0">
                <a:solidFill>
                  <a:schemeClr val="accent1"/>
                </a:solidFill>
              </a:rPr>
              <a:t>Complex Instruction Set Computer</a:t>
            </a:r>
            <a:r>
              <a:rPr lang="en-US" sz="3200" dirty="0"/>
              <a:t> (</a:t>
            </a:r>
            <a:r>
              <a:rPr lang="en-US" sz="3200" b="1" dirty="0">
                <a:solidFill>
                  <a:schemeClr val="accent1"/>
                </a:solidFill>
              </a:rPr>
              <a:t>CISC</a:t>
            </a:r>
            <a:r>
              <a:rPr lang="en-US" sz="3200" dirty="0"/>
              <a:t>)</a:t>
            </a:r>
          </a:p>
          <a:p>
            <a:pPr lvl="1"/>
            <a:r>
              <a:rPr lang="en-US" sz="2400" dirty="0"/>
              <a:t>Implement complex instruction directly by hardware (horizontal micro-code vs vertical micro-code)</a:t>
            </a:r>
          </a:p>
          <a:p>
            <a:pPr lvl="1"/>
            <a:r>
              <a:rPr lang="en-US" sz="2400" dirty="0"/>
              <a:t>Lots of instructions of variable size, optimized for memory size, typically fewer registers. (require large micro-store size) </a:t>
            </a:r>
          </a:p>
          <a:p>
            <a:pPr lvl="1"/>
            <a:r>
              <a:rPr lang="en-US" sz="2400" dirty="0"/>
              <a:t> E.g., </a:t>
            </a:r>
            <a:r>
              <a:rPr lang="en-US" sz="2800" dirty="0">
                <a:solidFill>
                  <a:srgbClr val="FF0000"/>
                </a:solidFill>
              </a:rPr>
              <a:t>Intel x86</a:t>
            </a:r>
            <a:r>
              <a:rPr lang="en-US" sz="2400" dirty="0"/>
              <a:t>, </a:t>
            </a:r>
            <a:r>
              <a:rPr kumimoji="1" lang="en-US" sz="2400" b="0" i="0" u="none" strike="noStrike" kern="0" cap="none" spc="0" normalizeH="0" baseline="0" noProof="0" dirty="0">
                <a:ln>
                  <a:noFill/>
                </a:ln>
                <a:solidFill>
                  <a:srgbClr val="FF0000"/>
                </a:solidFill>
                <a:effectLst/>
                <a:uLnTx/>
                <a:uFillTx/>
                <a:latin typeface="Calibri" pitchFamily="34" charset="0"/>
                <a:ea typeface="標楷體" pitchFamily="65" charset="-120"/>
                <a:cs typeface="+mn-cs"/>
              </a:rPr>
              <a:t>IBM 360</a:t>
            </a:r>
            <a:r>
              <a:rPr kumimoji="1" lang="en-US" sz="24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 </a:t>
            </a:r>
            <a:r>
              <a:rPr lang="en-US" sz="2400" dirty="0"/>
              <a:t>DEC VAX. Dominant before the 80s</a:t>
            </a:r>
          </a:p>
          <a:p>
            <a:r>
              <a:rPr lang="en-US" sz="3200" b="1" dirty="0">
                <a:solidFill>
                  <a:schemeClr val="accent1"/>
                </a:solidFill>
              </a:rPr>
              <a:t>Reduced Instruction Set Computer </a:t>
            </a:r>
            <a:r>
              <a:rPr lang="en-US" sz="3200" dirty="0"/>
              <a:t>(</a:t>
            </a:r>
            <a:r>
              <a:rPr lang="en-US" sz="3200" b="1" dirty="0">
                <a:solidFill>
                  <a:schemeClr val="accent1"/>
                </a:solidFill>
              </a:rPr>
              <a:t>RISC</a:t>
            </a:r>
            <a:r>
              <a:rPr lang="en-US" sz="3200" dirty="0"/>
              <a:t>)</a:t>
            </a:r>
          </a:p>
          <a:p>
            <a:pPr lvl="1"/>
            <a:r>
              <a:rPr lang="en-US" sz="2400" dirty="0"/>
              <a:t> Fixed-size instructions, more registers, optimized for pipelined implementation.</a:t>
            </a:r>
          </a:p>
          <a:p>
            <a:pPr lvl="1"/>
            <a:r>
              <a:rPr lang="en-US" sz="2400" dirty="0"/>
              <a:t>Usually called a “</a:t>
            </a:r>
            <a:r>
              <a:rPr lang="en-US" sz="2400" dirty="0">
                <a:solidFill>
                  <a:srgbClr val="FF0000"/>
                </a:solidFill>
              </a:rPr>
              <a:t>Load/store</a:t>
            </a:r>
            <a:r>
              <a:rPr lang="en-US" sz="2400" dirty="0"/>
              <a:t>” architecture, only load/store instructions access memory.</a:t>
            </a:r>
          </a:p>
          <a:p>
            <a:pPr lvl="1"/>
            <a:r>
              <a:rPr lang="en-US" sz="2800" dirty="0">
                <a:solidFill>
                  <a:srgbClr val="FF0000"/>
                </a:solidFill>
              </a:rPr>
              <a:t>RISC-V</a:t>
            </a:r>
            <a:r>
              <a:rPr lang="en-US" sz="2400" dirty="0"/>
              <a:t>, </a:t>
            </a:r>
            <a:r>
              <a:rPr lang="en-US" sz="2400" dirty="0">
                <a:solidFill>
                  <a:srgbClr val="FF0000"/>
                </a:solidFill>
              </a:rPr>
              <a:t>MIPS</a:t>
            </a:r>
            <a:r>
              <a:rPr lang="en-US" sz="2400" dirty="0"/>
              <a:t>, </a:t>
            </a:r>
            <a:r>
              <a:rPr lang="en-US" sz="2400" dirty="0">
                <a:solidFill>
                  <a:srgbClr val="FF0000"/>
                </a:solidFill>
              </a:rPr>
              <a:t>Sun SPARC</a:t>
            </a:r>
            <a:r>
              <a:rPr lang="en-US" sz="2400" dirty="0"/>
              <a:t>, </a:t>
            </a:r>
            <a:r>
              <a:rPr lang="en-US" sz="2400" dirty="0">
                <a:solidFill>
                  <a:srgbClr val="FF0000"/>
                </a:solidFill>
              </a:rPr>
              <a:t>HP PA-RISC</a:t>
            </a:r>
            <a:r>
              <a:rPr lang="en-US" sz="2400" dirty="0"/>
              <a:t>, </a:t>
            </a:r>
            <a:r>
              <a:rPr lang="en-US" sz="2400" dirty="0">
                <a:solidFill>
                  <a:srgbClr val="FF0000"/>
                </a:solidFill>
              </a:rPr>
              <a:t>IBM PowerPC</a:t>
            </a:r>
            <a:r>
              <a:rPr lang="en-US" sz="2400" dirty="0"/>
              <a:t>, </a:t>
            </a:r>
            <a:r>
              <a:rPr lang="en-US" sz="2400" dirty="0">
                <a:solidFill>
                  <a:srgbClr val="FF0000"/>
                </a:solidFill>
              </a:rPr>
              <a:t>ARM</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3</a:t>
            </a:fld>
            <a:endParaRPr lang="zh-TW" altLang="en-US"/>
          </a:p>
        </p:txBody>
      </p:sp>
      <p:sp>
        <p:nvSpPr>
          <p:cNvPr id="5" name="TextBox 4">
            <a:extLst>
              <a:ext uri="{FF2B5EF4-FFF2-40B4-BE49-F238E27FC236}">
                <a16:creationId xmlns:a16="http://schemas.microsoft.com/office/drawing/2014/main" id="{05A0ED98-2859-42C0-907A-615AFD4F2D95}"/>
              </a:ext>
            </a:extLst>
          </p:cNvPr>
          <p:cNvSpPr txBox="1"/>
          <p:nvPr/>
        </p:nvSpPr>
        <p:spPr>
          <a:xfrm>
            <a:off x="5840030" y="286865"/>
            <a:ext cx="6266245" cy="3200876"/>
          </a:xfrm>
          <a:prstGeom prst="rect">
            <a:avLst/>
          </a:prstGeom>
          <a:solidFill>
            <a:srgbClr val="FFFF00"/>
          </a:solidFill>
        </p:spPr>
        <p:txBody>
          <a:bodyPr wrap="square" rtlCol="0" anchor="ctr" anchorCtr="1">
            <a:spAutoFit/>
          </a:bodyPr>
          <a:lstStyle/>
          <a:p>
            <a:r>
              <a:rPr lang="en-US" sz="2200" dirty="0">
                <a:latin typeface="Times New Roman" panose="02020603050405020304" pitchFamily="18" charset="0"/>
                <a:ea typeface="標楷體" pitchFamily="65" charset="-120"/>
                <a:cs typeface="Times New Roman" panose="02020603050405020304" pitchFamily="18" charset="0"/>
              </a:rPr>
              <a:t>CISC</a:t>
            </a:r>
          </a:p>
          <a:p>
            <a:r>
              <a:rPr lang="en-US" dirty="0">
                <a:latin typeface="Times New Roman" panose="02020603050405020304" pitchFamily="18" charset="0"/>
                <a:ea typeface="標楷體" pitchFamily="65" charset="-120"/>
                <a:cs typeface="Times New Roman" panose="02020603050405020304" pitchFamily="18" charset="0"/>
              </a:rPr>
              <a:t>Example 1:</a:t>
            </a:r>
            <a:r>
              <a:rPr lang="en-US" b="1" dirty="0">
                <a:solidFill>
                  <a:srgbClr val="111827"/>
                </a:solidFill>
                <a:latin typeface="Times New Roman" panose="02020603050405020304" pitchFamily="18" charset="0"/>
                <a:cs typeface="Times New Roman" panose="02020603050405020304" pitchFamily="18" charset="0"/>
              </a:rPr>
              <a:t> </a:t>
            </a:r>
            <a:r>
              <a:rPr lang="en-US" dirty="0">
                <a:solidFill>
                  <a:srgbClr val="111827"/>
                </a:solidFill>
                <a:latin typeface="Times New Roman" panose="02020603050405020304" pitchFamily="18" charset="0"/>
                <a:cs typeface="Times New Roman" panose="02020603050405020304" pitchFamily="18" charset="0"/>
              </a:rPr>
              <a:t>"</a:t>
            </a:r>
            <a:r>
              <a:rPr lang="en-US" dirty="0">
                <a:solidFill>
                  <a:srgbClr val="FF0000"/>
                </a:solidFill>
                <a:latin typeface="Times New Roman" panose="02020603050405020304" pitchFamily="18" charset="0"/>
                <a:cs typeface="Times New Roman" panose="02020603050405020304" pitchFamily="18" charset="0"/>
              </a:rPr>
              <a:t>Polynomial Evaluation</a:t>
            </a:r>
            <a:r>
              <a:rPr lang="en-US" dirty="0">
                <a:solidFill>
                  <a:srgbClr val="111827"/>
                </a:solidFill>
                <a:latin typeface="Times New Roman" panose="02020603050405020304" pitchFamily="18" charset="0"/>
                <a:cs typeface="Times New Roman" panose="02020603050405020304" pitchFamily="18" charset="0"/>
              </a:rPr>
              <a:t>" Instruction, from VAX</a:t>
            </a:r>
          </a:p>
          <a:p>
            <a:r>
              <a:rPr lang="en-US" dirty="0">
                <a:latin typeface="Times New Roman" panose="02020603050405020304" pitchFamily="18" charset="0"/>
                <a:ea typeface="標楷體" pitchFamily="65" charset="-120"/>
                <a:cs typeface="Times New Roman" panose="02020603050405020304" pitchFamily="18" charset="0"/>
              </a:rPr>
              <a:t>Takes a variable, a table of coefficients, and a degree</a:t>
            </a:r>
          </a:p>
          <a:p>
            <a:r>
              <a:rPr lang="en-US" dirty="0">
                <a:latin typeface="Times New Roman" panose="02020603050405020304" pitchFamily="18" charset="0"/>
                <a:ea typeface="標楷體" pitchFamily="65" charset="-120"/>
                <a:cs typeface="Times New Roman" panose="02020603050405020304" pitchFamily="18" charset="0"/>
              </a:rPr>
              <a:t>Example 2: “</a:t>
            </a:r>
            <a:r>
              <a:rPr lang="en-US" dirty="0">
                <a:solidFill>
                  <a:srgbClr val="FF0000"/>
                </a:solidFill>
                <a:latin typeface="Times New Roman" panose="02020603050405020304" pitchFamily="18" charset="0"/>
                <a:ea typeface="標楷體" pitchFamily="65" charset="-120"/>
                <a:cs typeface="Times New Roman" panose="02020603050405020304" pitchFamily="18" charset="0"/>
              </a:rPr>
              <a:t>Calls</a:t>
            </a:r>
            <a:r>
              <a:rPr lang="en-US" dirty="0">
                <a:latin typeface="Times New Roman" panose="02020603050405020304" pitchFamily="18" charset="0"/>
                <a:ea typeface="標楷體" pitchFamily="65" charset="-120"/>
                <a:cs typeface="Times New Roman" panose="02020603050405020304" pitchFamily="18" charset="0"/>
              </a:rPr>
              <a:t>” Instruction, from VAX</a:t>
            </a:r>
          </a:p>
          <a:p>
            <a:r>
              <a:rPr lang="en-US" dirty="0">
                <a:latin typeface="Times New Roman" panose="02020603050405020304" pitchFamily="18" charset="0"/>
                <a:cs typeface="Times New Roman" panose="02020603050405020304" pitchFamily="18" charset="0"/>
              </a:rPr>
              <a:t>Alignment of the stack, pushed arguments, pass the Entry Mask, save registers, save PC, save FP, AP, save  Condition Codes, save Trap Bits, updated new AP and FP, and the actual jump.</a:t>
            </a:r>
          </a:p>
          <a:p>
            <a:r>
              <a:rPr lang="en-US" dirty="0">
                <a:latin typeface="Times New Roman" panose="02020603050405020304" pitchFamily="18" charset="0"/>
                <a:cs typeface="Times New Roman" panose="02020603050405020304" pitchFamily="18" charset="0"/>
              </a:rPr>
              <a:t>Example 3: “</a:t>
            </a:r>
            <a:r>
              <a:rPr lang="en-US" dirty="0">
                <a:solidFill>
                  <a:srgbClr val="FF0000"/>
                </a:solidFill>
                <a:latin typeface="Times New Roman" panose="02020603050405020304" pitchFamily="18" charset="0"/>
                <a:cs typeface="Times New Roman" panose="02020603050405020304" pitchFamily="18" charset="0"/>
              </a:rPr>
              <a:t>REP MOVSB</a:t>
            </a:r>
            <a:r>
              <a:rPr lang="en-US" dirty="0">
                <a:latin typeface="Times New Roman" panose="02020603050405020304" pitchFamily="18" charset="0"/>
                <a:cs typeface="Times New Roman" panose="02020603050405020304" pitchFamily="18" charset="0"/>
              </a:rPr>
              <a:t>”</a:t>
            </a:r>
            <a:r>
              <a:rPr lang="en-US" dirty="0">
                <a:solidFill>
                  <a:srgbClr val="FF000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from X86</a:t>
            </a:r>
            <a:endParaRPr lang="en-US" dirty="0">
              <a:latin typeface="Fira Code" panose="020B0809050000020004" pitchFamily="49" charset="0"/>
            </a:endParaRPr>
          </a:p>
          <a:p>
            <a:r>
              <a:rPr lang="en-US" dirty="0">
                <a:solidFill>
                  <a:srgbClr val="383A42"/>
                </a:solidFill>
                <a:latin typeface="Times New Roman" panose="02020603050405020304" pitchFamily="18" charset="0"/>
                <a:cs typeface="Times New Roman" panose="02020603050405020304" pitchFamily="18" charset="0"/>
              </a:rPr>
              <a:t>Copy memory until RCX == 0. This instruction can touch millions of bytes, execute for thousands of cycles, and can be interrupted and resumed.</a:t>
            </a:r>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RISC – Reduced Instruction Set Computer</a:t>
            </a:r>
          </a:p>
        </p:txBody>
      </p:sp>
      <p:sp>
        <p:nvSpPr>
          <p:cNvPr id="3" name="Content Placeholder 2"/>
          <p:cNvSpPr>
            <a:spLocks noGrp="1"/>
          </p:cNvSpPr>
          <p:nvPr>
            <p:ph idx="1"/>
          </p:nvPr>
        </p:nvSpPr>
        <p:spPr>
          <a:xfrm>
            <a:off x="1331054" y="1125537"/>
            <a:ext cx="9831897" cy="4895851"/>
          </a:xfrm>
        </p:spPr>
        <p:txBody>
          <a:bodyPr/>
          <a:lstStyle/>
          <a:p>
            <a:r>
              <a:rPr lang="en-US" sz="3200" dirty="0"/>
              <a:t>RISC Philosophy</a:t>
            </a:r>
          </a:p>
          <a:p>
            <a:pPr lvl="1"/>
            <a:r>
              <a:rPr lang="en-US" dirty="0"/>
              <a:t>fixed instruction lengths</a:t>
            </a:r>
          </a:p>
          <a:p>
            <a:pPr lvl="1"/>
            <a:r>
              <a:rPr lang="en-US" dirty="0"/>
              <a:t>load-store instruction sets</a:t>
            </a:r>
          </a:p>
          <a:p>
            <a:pPr lvl="1"/>
            <a:r>
              <a:rPr lang="en-US" dirty="0"/>
              <a:t>limited number of addressing modes</a:t>
            </a:r>
          </a:p>
          <a:p>
            <a:pPr lvl="1"/>
            <a:r>
              <a:rPr lang="en-US" dirty="0">
                <a:solidFill>
                  <a:srgbClr val="FF0000"/>
                </a:solidFill>
              </a:rPr>
              <a:t>small </a:t>
            </a:r>
            <a:r>
              <a:rPr lang="en-US" dirty="0"/>
              <a:t>number of </a:t>
            </a:r>
            <a:r>
              <a:rPr lang="en-US" dirty="0">
                <a:solidFill>
                  <a:srgbClr val="FF0000"/>
                </a:solidFill>
              </a:rPr>
              <a:t>simple</a:t>
            </a:r>
            <a:r>
              <a:rPr lang="en-US" dirty="0"/>
              <a:t> operations</a:t>
            </a:r>
          </a:p>
          <a:p>
            <a:pPr lvl="1"/>
            <a:r>
              <a:rPr lang="en-US" dirty="0"/>
              <a:t>easier for pipelined implementation</a:t>
            </a:r>
          </a:p>
          <a:p>
            <a:r>
              <a:rPr lang="en-US" sz="3200" dirty="0"/>
              <a:t>Instruction sets are measured by how well </a:t>
            </a:r>
            <a:r>
              <a:rPr lang="en-US" sz="3200" dirty="0">
                <a:solidFill>
                  <a:srgbClr val="FF0000"/>
                </a:solidFill>
              </a:rPr>
              <a:t>compilers</a:t>
            </a:r>
            <a:r>
              <a:rPr lang="en-US" sz="3200" dirty="0"/>
              <a:t> use them as opposed to how well </a:t>
            </a:r>
            <a:r>
              <a:rPr lang="en-US" sz="3200" dirty="0">
                <a:solidFill>
                  <a:srgbClr val="FF0000"/>
                </a:solidFill>
              </a:rPr>
              <a:t>assembly language programmers</a:t>
            </a:r>
            <a:r>
              <a:rPr lang="en-US" sz="3200" dirty="0"/>
              <a:t> use them.</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4</a:t>
            </a:fld>
            <a:endParaRPr lang="zh-TW"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Recent Trends not Exactly RISC</a:t>
            </a:r>
          </a:p>
        </p:txBody>
      </p:sp>
      <p:sp>
        <p:nvSpPr>
          <p:cNvPr id="3" name="Content Placeholder 2"/>
          <p:cNvSpPr>
            <a:spLocks noGrp="1"/>
          </p:cNvSpPr>
          <p:nvPr>
            <p:ph idx="1"/>
          </p:nvPr>
        </p:nvSpPr>
        <p:spPr>
          <a:xfrm>
            <a:off x="1331054" y="1125537"/>
            <a:ext cx="9831897" cy="4895851"/>
          </a:xfrm>
        </p:spPr>
        <p:txBody>
          <a:bodyPr/>
          <a:lstStyle/>
          <a:p>
            <a:r>
              <a:rPr lang="en-US" sz="3200" dirty="0"/>
              <a:t>RISC Philosophy</a:t>
            </a:r>
          </a:p>
          <a:p>
            <a:pPr lvl="1"/>
            <a:r>
              <a:rPr lang="en-US" dirty="0"/>
              <a:t>fixed instruction lengths</a:t>
            </a:r>
          </a:p>
          <a:p>
            <a:pPr lvl="1"/>
            <a:r>
              <a:rPr lang="en-US" dirty="0"/>
              <a:t>load-store instruction sets</a:t>
            </a:r>
          </a:p>
          <a:p>
            <a:pPr lvl="1"/>
            <a:r>
              <a:rPr lang="en-US" dirty="0"/>
              <a:t>limited number of addressing modes</a:t>
            </a:r>
          </a:p>
          <a:p>
            <a:pPr lvl="1"/>
            <a:r>
              <a:rPr lang="en-US" dirty="0">
                <a:solidFill>
                  <a:srgbClr val="FF0000"/>
                </a:solidFill>
              </a:rPr>
              <a:t>small </a:t>
            </a:r>
            <a:r>
              <a:rPr lang="en-US" dirty="0"/>
              <a:t>number of </a:t>
            </a:r>
            <a:r>
              <a:rPr lang="en-US" dirty="0">
                <a:solidFill>
                  <a:srgbClr val="FF0000"/>
                </a:solidFill>
              </a:rPr>
              <a:t>simple</a:t>
            </a:r>
            <a:r>
              <a:rPr lang="en-US" dirty="0"/>
              <a:t> operations</a:t>
            </a:r>
          </a:p>
          <a:p>
            <a:pPr lvl="1"/>
            <a:r>
              <a:rPr lang="en-US" dirty="0"/>
              <a:t>easier for pipelined implementation</a:t>
            </a:r>
          </a:p>
          <a:p>
            <a:r>
              <a:rPr lang="en-US" sz="3200" dirty="0"/>
              <a:t>Instruction sets are measured by how well </a:t>
            </a:r>
            <a:r>
              <a:rPr lang="en-US" sz="3200" dirty="0">
                <a:solidFill>
                  <a:srgbClr val="FF0000"/>
                </a:solidFill>
              </a:rPr>
              <a:t>compilers</a:t>
            </a:r>
            <a:r>
              <a:rPr lang="en-US" sz="3200" dirty="0"/>
              <a:t> use them as opposed to how well </a:t>
            </a:r>
            <a:r>
              <a:rPr lang="en-US" sz="3200" dirty="0">
                <a:solidFill>
                  <a:srgbClr val="FF0000"/>
                </a:solidFill>
              </a:rPr>
              <a:t>assembly language programmers</a:t>
            </a:r>
            <a:r>
              <a:rPr lang="en-US" sz="3200" dirty="0"/>
              <a:t> use them.</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5</a:t>
            </a:fld>
            <a:endParaRPr lang="zh-TW" altLang="en-US"/>
          </a:p>
        </p:txBody>
      </p:sp>
      <p:sp>
        <p:nvSpPr>
          <p:cNvPr id="4" name="TextBox 3">
            <a:extLst>
              <a:ext uri="{FF2B5EF4-FFF2-40B4-BE49-F238E27FC236}">
                <a16:creationId xmlns:a16="http://schemas.microsoft.com/office/drawing/2014/main" id="{76FBB006-603A-41B4-BEDF-0595A672510E}"/>
              </a:ext>
            </a:extLst>
          </p:cNvPr>
          <p:cNvSpPr txBox="1"/>
          <p:nvPr/>
        </p:nvSpPr>
        <p:spPr>
          <a:xfrm>
            <a:off x="6779098" y="1248460"/>
            <a:ext cx="4788490" cy="646331"/>
          </a:xfrm>
          <a:prstGeom prst="rect">
            <a:avLst/>
          </a:prstGeom>
          <a:solidFill>
            <a:srgbClr val="FFFF00"/>
          </a:solidFill>
        </p:spPr>
        <p:txBody>
          <a:bodyPr wrap="none" rtlCol="0" anchor="ctr" anchorCtr="1">
            <a:spAutoFit/>
          </a:bodyPr>
          <a:lstStyle/>
          <a:p>
            <a:r>
              <a:rPr lang="en-US" dirty="0">
                <a:ea typeface="標楷體" pitchFamily="65" charset="-120"/>
                <a:cs typeface="Calibri" pitchFamily="34" charset="0"/>
              </a:rPr>
              <a:t>Most machines, including RISCs, have more </a:t>
            </a:r>
          </a:p>
          <a:p>
            <a:r>
              <a:rPr lang="en-US" dirty="0">
                <a:ea typeface="標楷體" pitchFamily="65" charset="-120"/>
                <a:cs typeface="Calibri" pitchFamily="34" charset="0"/>
              </a:rPr>
              <a:t>than one size instructions</a:t>
            </a:r>
          </a:p>
        </p:txBody>
      </p:sp>
      <p:cxnSp>
        <p:nvCxnSpPr>
          <p:cNvPr id="7" name="Straight Arrow Connector 6">
            <a:extLst>
              <a:ext uri="{FF2B5EF4-FFF2-40B4-BE49-F238E27FC236}">
                <a16:creationId xmlns:a16="http://schemas.microsoft.com/office/drawing/2014/main" id="{DCE1165C-10AA-4A4E-B76B-47DACE30118B}"/>
              </a:ext>
            </a:extLst>
          </p:cNvPr>
          <p:cNvCxnSpPr/>
          <p:nvPr/>
        </p:nvCxnSpPr>
        <p:spPr bwMode="auto">
          <a:xfrm flipH="1">
            <a:off x="6172200" y="1571625"/>
            <a:ext cx="600075" cy="352425"/>
          </a:xfrm>
          <a:prstGeom prst="straightConnector1">
            <a:avLst/>
          </a:prstGeom>
          <a:noFill/>
          <a:ln w="15875" cap="flat" cmpd="sng" algn="ctr">
            <a:solidFill>
              <a:srgbClr val="FF0000"/>
            </a:solidFill>
            <a:prstDash val="solid"/>
            <a:round/>
            <a:headEnd type="none" w="med" len="med"/>
            <a:tailEnd type="triangle"/>
          </a:ln>
          <a:effectLst/>
        </p:spPr>
      </p:cxnSp>
      <p:sp>
        <p:nvSpPr>
          <p:cNvPr id="8" name="TextBox 7">
            <a:extLst>
              <a:ext uri="{FF2B5EF4-FFF2-40B4-BE49-F238E27FC236}">
                <a16:creationId xmlns:a16="http://schemas.microsoft.com/office/drawing/2014/main" id="{054D149E-DEEA-4FC0-822B-530A37E9A56A}"/>
              </a:ext>
            </a:extLst>
          </p:cNvPr>
          <p:cNvSpPr txBox="1"/>
          <p:nvPr/>
        </p:nvSpPr>
        <p:spPr>
          <a:xfrm>
            <a:off x="6696075" y="2650132"/>
            <a:ext cx="5375951" cy="923330"/>
          </a:xfrm>
          <a:prstGeom prst="rect">
            <a:avLst/>
          </a:prstGeom>
          <a:solidFill>
            <a:srgbClr val="FFFF00"/>
          </a:solidFill>
        </p:spPr>
        <p:txBody>
          <a:bodyPr wrap="square" rtlCol="0" anchor="ctr" anchorCtr="1">
            <a:spAutoFit/>
          </a:bodyPr>
          <a:lstStyle/>
          <a:p>
            <a:r>
              <a:rPr lang="en-US" dirty="0">
                <a:ea typeface="標楷體" pitchFamily="65" charset="-120"/>
                <a:cs typeface="Calibri" pitchFamily="34" charset="0"/>
              </a:rPr>
              <a:t>To support AI/ML/DL/LLM, fast matrix multiply </a:t>
            </a:r>
            <a:r>
              <a:rPr lang="en-US" dirty="0" err="1">
                <a:ea typeface="標楷體" pitchFamily="65" charset="-120"/>
                <a:cs typeface="Calibri" pitchFamily="34" charset="0"/>
              </a:rPr>
              <a:t>insts</a:t>
            </a:r>
            <a:r>
              <a:rPr lang="en-US" dirty="0">
                <a:ea typeface="標楷體" pitchFamily="65" charset="-120"/>
                <a:cs typeface="Calibri" pitchFamily="34" charset="0"/>
              </a:rPr>
              <a:t> </a:t>
            </a:r>
          </a:p>
          <a:p>
            <a:r>
              <a:rPr lang="en-US" dirty="0">
                <a:ea typeface="標楷體" pitchFamily="65" charset="-120"/>
                <a:cs typeface="Calibri" pitchFamily="34" charset="0"/>
              </a:rPr>
              <a:t>are important, and have been adopted by many </a:t>
            </a:r>
          </a:p>
          <a:p>
            <a:r>
              <a:rPr lang="en-US" dirty="0">
                <a:ea typeface="標楷體" pitchFamily="65" charset="-120"/>
                <a:cs typeface="Calibri" pitchFamily="34" charset="0"/>
              </a:rPr>
              <a:t>accelerators. Such new instructions are not simple.</a:t>
            </a:r>
          </a:p>
        </p:txBody>
      </p:sp>
      <p:cxnSp>
        <p:nvCxnSpPr>
          <p:cNvPr id="9" name="Straight Arrow Connector 8">
            <a:extLst>
              <a:ext uri="{FF2B5EF4-FFF2-40B4-BE49-F238E27FC236}">
                <a16:creationId xmlns:a16="http://schemas.microsoft.com/office/drawing/2014/main" id="{5C602482-8313-4B22-8F5B-FABE2681FBA9}"/>
              </a:ext>
            </a:extLst>
          </p:cNvPr>
          <p:cNvCxnSpPr/>
          <p:nvPr/>
        </p:nvCxnSpPr>
        <p:spPr bwMode="auto">
          <a:xfrm flipH="1">
            <a:off x="6096000" y="3282499"/>
            <a:ext cx="600075" cy="352425"/>
          </a:xfrm>
          <a:prstGeom prst="straightConnector1">
            <a:avLst/>
          </a:prstGeom>
          <a:noFill/>
          <a:ln w="1587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2055518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CISC vs. RISC</a:t>
            </a:r>
          </a:p>
        </p:txBody>
      </p:sp>
      <p:sp>
        <p:nvSpPr>
          <p:cNvPr id="3" name="Content Placeholder 2"/>
          <p:cNvSpPr>
            <a:spLocks noGrp="1"/>
          </p:cNvSpPr>
          <p:nvPr>
            <p:ph idx="1"/>
          </p:nvPr>
        </p:nvSpPr>
        <p:spPr>
          <a:xfrm>
            <a:off x="706363" y="1125537"/>
            <a:ext cx="10861224" cy="4895851"/>
          </a:xfrm>
        </p:spPr>
        <p:txBody>
          <a:bodyPr/>
          <a:lstStyle/>
          <a:p>
            <a:r>
              <a:rPr lang="en-US" sz="3200" b="1" dirty="0">
                <a:solidFill>
                  <a:schemeClr val="accent1"/>
                </a:solidFill>
              </a:rPr>
              <a:t>Complex Instruction Set Computer</a:t>
            </a:r>
            <a:r>
              <a:rPr lang="en-US" sz="3200" dirty="0"/>
              <a:t> (</a:t>
            </a:r>
            <a:r>
              <a:rPr lang="en-US" sz="3200" b="1" dirty="0">
                <a:solidFill>
                  <a:schemeClr val="accent1"/>
                </a:solidFill>
              </a:rPr>
              <a:t>CISC</a:t>
            </a:r>
            <a:r>
              <a:rPr lang="en-US" sz="3200" dirty="0"/>
              <a:t>)</a:t>
            </a:r>
          </a:p>
          <a:p>
            <a:pPr lvl="1"/>
            <a:r>
              <a:rPr lang="en-US" sz="2400" dirty="0"/>
              <a:t>Implement complex instruction directly by hardware (horizontal micro-code vs vertical micro-code)</a:t>
            </a:r>
          </a:p>
          <a:p>
            <a:pPr lvl="1"/>
            <a:r>
              <a:rPr lang="en-US" sz="2400" dirty="0"/>
              <a:t>Lots of instructions of variable size, optimized for memory size, typically fewer registers. (require large micro-store size) </a:t>
            </a:r>
          </a:p>
          <a:p>
            <a:pPr lvl="1"/>
            <a:r>
              <a:rPr lang="en-US" sz="2400" dirty="0"/>
              <a:t>E.g. IBM 360, Intel x86, DEC VAX. Dominant before 80’s</a:t>
            </a:r>
          </a:p>
          <a:p>
            <a:r>
              <a:rPr lang="en-US" sz="3200" b="1" dirty="0">
                <a:solidFill>
                  <a:schemeClr val="accent1"/>
                </a:solidFill>
              </a:rPr>
              <a:t>Reduced Instruction Set Computer </a:t>
            </a:r>
            <a:r>
              <a:rPr lang="en-US" sz="3200" dirty="0"/>
              <a:t>(</a:t>
            </a:r>
            <a:r>
              <a:rPr lang="en-US" sz="3200" b="1" dirty="0">
                <a:solidFill>
                  <a:schemeClr val="accent1"/>
                </a:solidFill>
              </a:rPr>
              <a:t>RISC</a:t>
            </a:r>
            <a:r>
              <a:rPr lang="en-US" sz="3200" dirty="0"/>
              <a:t>)</a:t>
            </a:r>
          </a:p>
          <a:p>
            <a:pPr lvl="1"/>
            <a:r>
              <a:rPr lang="en-US" sz="2400" dirty="0"/>
              <a:t>Fixed size instructions, more registers, optimized for pipelined implementation.</a:t>
            </a:r>
          </a:p>
          <a:p>
            <a:pPr lvl="1"/>
            <a:r>
              <a:rPr lang="en-US" sz="2400" dirty="0"/>
              <a:t>Usually called a “Load/store” architecture, only load/store instructions access memory.</a:t>
            </a:r>
          </a:p>
          <a:p>
            <a:pPr lvl="1"/>
            <a:r>
              <a:rPr lang="en-US" sz="2400" dirty="0"/>
              <a:t>RISC, MIPS, Sun SPARC, HP PA-RISC, IBM PowerPC</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6</a:t>
            </a:fld>
            <a:endParaRPr lang="zh-TW" altLang="en-US"/>
          </a:p>
        </p:txBody>
      </p:sp>
      <p:sp>
        <p:nvSpPr>
          <p:cNvPr id="5" name="TextBox 4">
            <a:extLst>
              <a:ext uri="{FF2B5EF4-FFF2-40B4-BE49-F238E27FC236}">
                <a16:creationId xmlns:a16="http://schemas.microsoft.com/office/drawing/2014/main" id="{3C7265D0-D7A4-4674-8402-805ABD21A74A}"/>
              </a:ext>
            </a:extLst>
          </p:cNvPr>
          <p:cNvSpPr txBox="1"/>
          <p:nvPr/>
        </p:nvSpPr>
        <p:spPr>
          <a:xfrm>
            <a:off x="624412" y="3043876"/>
            <a:ext cx="11123687" cy="2677656"/>
          </a:xfrm>
          <a:prstGeom prst="rect">
            <a:avLst/>
          </a:prstGeom>
          <a:solidFill>
            <a:srgbClr val="FFFF00"/>
          </a:solidFill>
          <a:ln>
            <a:solidFill>
              <a:srgbClr val="FF0000"/>
            </a:solidFill>
          </a:ln>
        </p:spPr>
        <p:txBody>
          <a:bodyPr wrap="square" rtlCol="0" anchor="ctr" anchorCtr="1">
            <a:spAutoFit/>
          </a:bodyPr>
          <a:lstStyle/>
          <a:p>
            <a:r>
              <a:rPr lang="en-US" sz="2400" dirty="0">
                <a:ea typeface="標楷體" pitchFamily="65" charset="-120"/>
                <a:cs typeface="Calibri" panose="020F0502020204030204" pitchFamily="34" charset="0"/>
              </a:rPr>
              <a:t>Many micro-architecture advancements have been made from the RISC camp.</a:t>
            </a:r>
          </a:p>
          <a:p>
            <a:r>
              <a:rPr lang="en-US" sz="2400" dirty="0">
                <a:ea typeface="標楷體" pitchFamily="65" charset="-120"/>
                <a:cs typeface="Calibri" panose="020F0502020204030204" pitchFamily="34" charset="0"/>
              </a:rPr>
              <a:t>Intel needs to take advantage of all such micro-architecture advancements while preserving the irreplaceable legacy advantage: x86 applications. So Intel starts to take a hybrid approach: RISC inside, CISC outside. The executables are x86 ISA, but the processor translates each x86 instruction into multiple micro-operations (</a:t>
            </a:r>
            <a:r>
              <a:rPr lang="en-US" sz="2400" dirty="0" err="1">
                <a:ea typeface="標楷體" pitchFamily="65" charset="-120"/>
                <a:cs typeface="Calibri" panose="020F0502020204030204" pitchFamily="34" charset="0"/>
              </a:rPr>
              <a:t>uops</a:t>
            </a:r>
            <a:r>
              <a:rPr lang="en-US" sz="2400" dirty="0">
                <a:ea typeface="標楷體" pitchFamily="65" charset="-120"/>
                <a:cs typeface="Calibri" panose="020F0502020204030204" pitchFamily="34" charset="0"/>
              </a:rPr>
              <a:t>). All the u-operations will be executed by a data path designed according to RISC principles.</a:t>
            </a:r>
          </a:p>
        </p:txBody>
      </p:sp>
      <p:sp>
        <p:nvSpPr>
          <p:cNvPr id="7" name="TextBox 6">
            <a:extLst>
              <a:ext uri="{FF2B5EF4-FFF2-40B4-BE49-F238E27FC236}">
                <a16:creationId xmlns:a16="http://schemas.microsoft.com/office/drawing/2014/main" id="{E73C08DE-17D4-41D4-91AB-897FF1206B3A}"/>
              </a:ext>
            </a:extLst>
          </p:cNvPr>
          <p:cNvSpPr txBox="1"/>
          <p:nvPr/>
        </p:nvSpPr>
        <p:spPr>
          <a:xfrm>
            <a:off x="624413" y="1093791"/>
            <a:ext cx="11123687" cy="1200329"/>
          </a:xfrm>
          <a:prstGeom prst="rect">
            <a:avLst/>
          </a:prstGeom>
          <a:solidFill>
            <a:srgbClr val="FFFF00"/>
          </a:solidFill>
          <a:ln>
            <a:solidFill>
              <a:srgbClr val="FF0000"/>
            </a:solidFill>
          </a:ln>
        </p:spPr>
        <p:txBody>
          <a:bodyPr wrap="square" rtlCol="0" anchor="ctr" anchorCtr="1">
            <a:spAutoFit/>
          </a:bodyPr>
          <a:lstStyle/>
          <a:p>
            <a:r>
              <a:rPr lang="en-US" sz="2400" dirty="0">
                <a:ea typeface="標楷體" pitchFamily="65" charset="-120"/>
                <a:cs typeface="Calibri" panose="020F0502020204030204" pitchFamily="34" charset="0"/>
              </a:rPr>
              <a:t>One of the greatest advantages of CISC is the software legacy: a large number of applications are written in x86 code. This legacy burden even prevents Intel from successfully moving to the new, incompatible Itanium ISA (IA-64).</a:t>
            </a:r>
          </a:p>
        </p:txBody>
      </p:sp>
    </p:spTree>
    <p:extLst>
      <p:ext uri="{BB962C8B-B14F-4D97-AF65-F5344CB8AC3E}">
        <p14:creationId xmlns:p14="http://schemas.microsoft.com/office/powerpoint/2010/main" val="21640156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4142" y="133348"/>
            <a:ext cx="10517721" cy="692151"/>
          </a:xfrm>
        </p:spPr>
        <p:txBody>
          <a:bodyPr/>
          <a:lstStyle/>
          <a:p>
            <a:r>
              <a:rPr lang="en-US" dirty="0"/>
              <a:t>CISC vs. RISC</a:t>
            </a:r>
          </a:p>
        </p:txBody>
      </p:sp>
      <p:sp>
        <p:nvSpPr>
          <p:cNvPr id="3" name="Content Placeholder 2"/>
          <p:cNvSpPr>
            <a:spLocks noGrp="1"/>
          </p:cNvSpPr>
          <p:nvPr>
            <p:ph idx="1"/>
          </p:nvPr>
        </p:nvSpPr>
        <p:spPr>
          <a:xfrm>
            <a:off x="706363" y="1125537"/>
            <a:ext cx="10861224" cy="4895851"/>
          </a:xfrm>
        </p:spPr>
        <p:txBody>
          <a:bodyPr/>
          <a:lstStyle/>
          <a:p>
            <a:r>
              <a:rPr lang="en-US" sz="3200" b="1" dirty="0">
                <a:solidFill>
                  <a:schemeClr val="accent1"/>
                </a:solidFill>
              </a:rPr>
              <a:t>Complex Instruction Set Computer</a:t>
            </a:r>
            <a:r>
              <a:rPr lang="en-US" sz="3200" dirty="0"/>
              <a:t> (</a:t>
            </a:r>
            <a:r>
              <a:rPr lang="en-US" sz="3200" b="1" dirty="0">
                <a:solidFill>
                  <a:schemeClr val="accent1"/>
                </a:solidFill>
              </a:rPr>
              <a:t>CISC</a:t>
            </a:r>
            <a:r>
              <a:rPr lang="en-US" sz="3200" dirty="0"/>
              <a:t>)</a:t>
            </a:r>
          </a:p>
          <a:p>
            <a:pPr lvl="1"/>
            <a:r>
              <a:rPr lang="en-US" sz="2400" dirty="0"/>
              <a:t>Implement complex instruction directly by hardware (horizontal micro-code vs vertical micro-code)</a:t>
            </a:r>
          </a:p>
          <a:p>
            <a:pPr lvl="1"/>
            <a:r>
              <a:rPr lang="en-US" sz="2400" dirty="0"/>
              <a:t>Lots of instructions of variable size, optimized for memory size, typically fewer registers. (require large micro-store size) </a:t>
            </a:r>
          </a:p>
          <a:p>
            <a:pPr lvl="1"/>
            <a:r>
              <a:rPr lang="en-US" sz="2400" dirty="0"/>
              <a:t>E.g. IBM 360, Intel x86, DEC VAX. Dominant before 80’s</a:t>
            </a:r>
          </a:p>
          <a:p>
            <a:r>
              <a:rPr lang="en-US" sz="3200" b="1" dirty="0">
                <a:solidFill>
                  <a:schemeClr val="accent1"/>
                </a:solidFill>
              </a:rPr>
              <a:t>Reduced Instruction Set Computer </a:t>
            </a:r>
            <a:r>
              <a:rPr lang="en-US" sz="3200" dirty="0"/>
              <a:t>(</a:t>
            </a:r>
            <a:r>
              <a:rPr lang="en-US" sz="3200" b="1" dirty="0">
                <a:solidFill>
                  <a:schemeClr val="accent1"/>
                </a:solidFill>
              </a:rPr>
              <a:t>RISC</a:t>
            </a:r>
            <a:r>
              <a:rPr lang="en-US" sz="3200" dirty="0"/>
              <a:t>)</a:t>
            </a:r>
          </a:p>
          <a:p>
            <a:pPr lvl="1"/>
            <a:r>
              <a:rPr lang="en-US" sz="2400" dirty="0"/>
              <a:t>Fixed size instructions, more registers, optimized for pipelined implementation.</a:t>
            </a:r>
          </a:p>
          <a:p>
            <a:pPr lvl="1"/>
            <a:r>
              <a:rPr lang="en-US" sz="2400" dirty="0"/>
              <a:t>Usually called a “Load/store” architecture, only load/store instructions access memory.</a:t>
            </a:r>
          </a:p>
          <a:p>
            <a:pPr lvl="1"/>
            <a:r>
              <a:rPr lang="en-US" sz="2400" dirty="0"/>
              <a:t>RISC, MIPS, Sun SPARC, HP PA-RISC, IBM PowerPC</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7</a:t>
            </a:fld>
            <a:endParaRPr lang="zh-TW" altLang="en-US"/>
          </a:p>
        </p:txBody>
      </p:sp>
      <p:sp>
        <p:nvSpPr>
          <p:cNvPr id="5" name="TextBox 4">
            <a:extLst>
              <a:ext uri="{FF2B5EF4-FFF2-40B4-BE49-F238E27FC236}">
                <a16:creationId xmlns:a16="http://schemas.microsoft.com/office/drawing/2014/main" id="{18FD62CB-9124-4853-8D41-C229B1D2C134}"/>
              </a:ext>
            </a:extLst>
          </p:cNvPr>
          <p:cNvSpPr txBox="1"/>
          <p:nvPr/>
        </p:nvSpPr>
        <p:spPr>
          <a:xfrm>
            <a:off x="1596245" y="712787"/>
            <a:ext cx="8098692" cy="1815882"/>
          </a:xfrm>
          <a:prstGeom prst="rect">
            <a:avLst/>
          </a:prstGeom>
          <a:solidFill>
            <a:srgbClr val="FFFF00"/>
          </a:solidFill>
          <a:ln>
            <a:solidFill>
              <a:srgbClr val="FF0000"/>
            </a:solidFill>
          </a:ln>
        </p:spPr>
        <p:txBody>
          <a:bodyPr wrap="none" rtlCol="0" anchor="ctr" anchorCtr="1">
            <a:spAutoFit/>
          </a:bodyPr>
          <a:lstStyle/>
          <a:p>
            <a:r>
              <a:rPr lang="en-US" sz="2800" dirty="0">
                <a:ea typeface="標楷體" pitchFamily="65" charset="-120"/>
                <a:cs typeface="Calibri" panose="020F0502020204030204" pitchFamily="34" charset="0"/>
              </a:rPr>
              <a:t>Key trade-off</a:t>
            </a:r>
          </a:p>
          <a:p>
            <a:endParaRPr lang="en-US" sz="2800" dirty="0">
              <a:ea typeface="標楷體" pitchFamily="65" charset="-120"/>
              <a:cs typeface="Calibri" panose="020F0502020204030204" pitchFamily="34" charset="0"/>
            </a:endParaRPr>
          </a:p>
          <a:p>
            <a:r>
              <a:rPr lang="en-US" sz="2800" dirty="0">
                <a:ea typeface="標楷體" pitchFamily="65" charset="-120"/>
                <a:cs typeface="Calibri" panose="020F0502020204030204" pitchFamily="34" charset="0"/>
              </a:rPr>
              <a:t>CISC: More complex Hardware, simpler Software</a:t>
            </a:r>
          </a:p>
          <a:p>
            <a:r>
              <a:rPr lang="en-US" sz="2800" dirty="0">
                <a:ea typeface="標楷體" pitchFamily="65" charset="-120"/>
                <a:cs typeface="Calibri" panose="020F0502020204030204" pitchFamily="34" charset="0"/>
              </a:rPr>
              <a:t>RISC: Simpler Hardware, more complex Software</a:t>
            </a:r>
          </a:p>
        </p:txBody>
      </p:sp>
      <p:sp>
        <p:nvSpPr>
          <p:cNvPr id="9" name="TextBox 8">
            <a:extLst>
              <a:ext uri="{FF2B5EF4-FFF2-40B4-BE49-F238E27FC236}">
                <a16:creationId xmlns:a16="http://schemas.microsoft.com/office/drawing/2014/main" id="{E46B6FC0-4AF2-4314-8285-5D4D6B4F43EC}"/>
              </a:ext>
            </a:extLst>
          </p:cNvPr>
          <p:cNvSpPr txBox="1"/>
          <p:nvPr/>
        </p:nvSpPr>
        <p:spPr>
          <a:xfrm>
            <a:off x="624413" y="3060265"/>
            <a:ext cx="11234212" cy="2923877"/>
          </a:xfrm>
          <a:prstGeom prst="rect">
            <a:avLst/>
          </a:prstGeom>
          <a:solidFill>
            <a:srgbClr val="FFFF00"/>
          </a:solidFill>
          <a:ln>
            <a:solidFill>
              <a:srgbClr val="FF0000"/>
            </a:solidFill>
          </a:ln>
        </p:spPr>
        <p:txBody>
          <a:bodyPr wrap="square" rtlCol="0" anchor="ctr" anchorCtr="1">
            <a:spAutoFit/>
          </a:bodyPr>
          <a:lstStyle/>
          <a:p>
            <a:r>
              <a:rPr lang="en-US" sz="2800" dirty="0">
                <a:ea typeface="標楷體" pitchFamily="65" charset="-120"/>
                <a:cs typeface="Calibri" panose="020F0502020204030204" pitchFamily="34" charset="0"/>
              </a:rPr>
              <a:t>Background</a:t>
            </a:r>
          </a:p>
          <a:p>
            <a:r>
              <a:rPr lang="en-US" sz="2800" dirty="0">
                <a:ea typeface="標楷體" pitchFamily="65" charset="-120"/>
                <a:cs typeface="Calibri" panose="020F0502020204030204" pitchFamily="34" charset="0"/>
              </a:rPr>
              <a:t>CISC: </a:t>
            </a:r>
            <a:r>
              <a:rPr lang="en-US" sz="2000" dirty="0">
                <a:ea typeface="標楷體" pitchFamily="65" charset="-120"/>
                <a:cs typeface="Calibri" panose="020F0502020204030204" pitchFamily="34" charset="0"/>
              </a:rPr>
              <a:t>Memory was expensive and slow. One CISC instruction can do a lot of work once it is fetched into the processor.</a:t>
            </a:r>
          </a:p>
          <a:p>
            <a:r>
              <a:rPr lang="en-US" sz="2800" dirty="0">
                <a:ea typeface="標楷體" pitchFamily="65" charset="-120"/>
                <a:cs typeface="Calibri" panose="020F0502020204030204" pitchFamily="34" charset="0"/>
              </a:rPr>
              <a:t>RISC: </a:t>
            </a:r>
            <a:r>
              <a:rPr lang="en-US" sz="2000" dirty="0">
                <a:ea typeface="標楷體" pitchFamily="65" charset="-120"/>
                <a:cs typeface="Calibri" panose="020F0502020204030204" pitchFamily="34" charset="0"/>
              </a:rPr>
              <a:t>I-cache can eliminate most of the instructions from being fetched from memory. D-cache also works. Simple and regular instructions enable efficient pipelining. Compiler techniques are becoming more mature, so that assembly code can be replaced by compiler-generated code. To support diverse applications, a reduced core would be better than supporting many CISC instruction sets (HPC, DB, Media, Mobile, ..).</a:t>
            </a:r>
          </a:p>
        </p:txBody>
      </p:sp>
    </p:spTree>
    <p:extLst>
      <p:ext uri="{BB962C8B-B14F-4D97-AF65-F5344CB8AC3E}">
        <p14:creationId xmlns:p14="http://schemas.microsoft.com/office/powerpoint/2010/main" val="18618253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4142" y="133348"/>
            <a:ext cx="10517721" cy="692151"/>
          </a:xfrm>
        </p:spPr>
        <p:txBody>
          <a:bodyPr/>
          <a:lstStyle/>
          <a:p>
            <a:r>
              <a:rPr lang="en-US" dirty="0"/>
              <a:t>CISC vs. RISC</a:t>
            </a:r>
          </a:p>
        </p:txBody>
      </p:sp>
      <p:sp>
        <p:nvSpPr>
          <p:cNvPr id="3" name="Content Placeholder 2"/>
          <p:cNvSpPr>
            <a:spLocks noGrp="1"/>
          </p:cNvSpPr>
          <p:nvPr>
            <p:ph idx="1"/>
          </p:nvPr>
        </p:nvSpPr>
        <p:spPr>
          <a:xfrm>
            <a:off x="706363" y="1125537"/>
            <a:ext cx="10861224" cy="4895851"/>
          </a:xfrm>
        </p:spPr>
        <p:txBody>
          <a:bodyPr/>
          <a:lstStyle/>
          <a:p>
            <a:r>
              <a:rPr lang="en-US" sz="3200" b="1" dirty="0">
                <a:solidFill>
                  <a:schemeClr val="accent1"/>
                </a:solidFill>
              </a:rPr>
              <a:t>Complex Instruction Set Computer</a:t>
            </a:r>
            <a:r>
              <a:rPr lang="en-US" sz="3200" dirty="0"/>
              <a:t> (</a:t>
            </a:r>
            <a:r>
              <a:rPr lang="en-US" sz="3200" b="1" dirty="0">
                <a:solidFill>
                  <a:schemeClr val="accent1"/>
                </a:solidFill>
              </a:rPr>
              <a:t>CISC</a:t>
            </a:r>
            <a:r>
              <a:rPr lang="en-US" sz="3200" dirty="0"/>
              <a:t>)</a:t>
            </a:r>
          </a:p>
          <a:p>
            <a:pPr lvl="1"/>
            <a:r>
              <a:rPr lang="en-US" sz="2400" dirty="0"/>
              <a:t>Implement complex instruction directly by hardware (horizontal micro-code vs vertical micro-code)</a:t>
            </a:r>
          </a:p>
          <a:p>
            <a:pPr lvl="1"/>
            <a:r>
              <a:rPr lang="en-US" sz="2400" dirty="0"/>
              <a:t>Lots of instructions of variable size, optimized for memory size, typically fewer registers. (require large micro-store size) </a:t>
            </a:r>
          </a:p>
          <a:p>
            <a:pPr lvl="1"/>
            <a:r>
              <a:rPr lang="en-US" sz="2400" dirty="0"/>
              <a:t>E.g. IBM 360, Intel x86, DEC VAX. Dominant before 80’s</a:t>
            </a:r>
          </a:p>
          <a:p>
            <a:r>
              <a:rPr lang="en-US" sz="3200" b="1" dirty="0">
                <a:solidFill>
                  <a:schemeClr val="accent1"/>
                </a:solidFill>
              </a:rPr>
              <a:t>Reduced Instruction Set Computer </a:t>
            </a:r>
            <a:r>
              <a:rPr lang="en-US" sz="3200" dirty="0"/>
              <a:t>(</a:t>
            </a:r>
            <a:r>
              <a:rPr lang="en-US" sz="3200" b="1" dirty="0">
                <a:solidFill>
                  <a:schemeClr val="accent1"/>
                </a:solidFill>
              </a:rPr>
              <a:t>RISC</a:t>
            </a:r>
            <a:r>
              <a:rPr lang="en-US" sz="3200" dirty="0"/>
              <a:t>)</a:t>
            </a:r>
          </a:p>
          <a:p>
            <a:pPr lvl="1"/>
            <a:r>
              <a:rPr lang="en-US" sz="2400" dirty="0"/>
              <a:t>Fixed size instructions, more registers, optimized for pipelined implementation.</a:t>
            </a:r>
          </a:p>
          <a:p>
            <a:pPr lvl="1"/>
            <a:r>
              <a:rPr lang="en-US" sz="2400" dirty="0"/>
              <a:t>Usually called a “Load/store” architecture, only load/store instructions access memory.</a:t>
            </a:r>
          </a:p>
          <a:p>
            <a:pPr lvl="1"/>
            <a:r>
              <a:rPr lang="en-US" sz="2400" dirty="0"/>
              <a:t>RISC, MIPS, Sun SPARC, HP PA-RISC, IBM PowerPC</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8</a:t>
            </a:fld>
            <a:endParaRPr lang="zh-TW" altLang="en-US"/>
          </a:p>
        </p:txBody>
      </p:sp>
      <p:sp>
        <p:nvSpPr>
          <p:cNvPr id="5" name="TextBox 4">
            <a:extLst>
              <a:ext uri="{FF2B5EF4-FFF2-40B4-BE49-F238E27FC236}">
                <a16:creationId xmlns:a16="http://schemas.microsoft.com/office/drawing/2014/main" id="{18FD62CB-9124-4853-8D41-C229B1D2C134}"/>
              </a:ext>
            </a:extLst>
          </p:cNvPr>
          <p:cNvSpPr txBox="1"/>
          <p:nvPr/>
        </p:nvSpPr>
        <p:spPr>
          <a:xfrm>
            <a:off x="1596245" y="712787"/>
            <a:ext cx="8098692" cy="1815882"/>
          </a:xfrm>
          <a:prstGeom prst="rect">
            <a:avLst/>
          </a:prstGeom>
          <a:solidFill>
            <a:srgbClr val="FFFF00"/>
          </a:solidFill>
          <a:ln>
            <a:solidFill>
              <a:srgbClr val="FF0000"/>
            </a:solidFill>
          </a:ln>
        </p:spPr>
        <p:txBody>
          <a:bodyPr wrap="none" rtlCol="0" anchor="ctr" anchorCtr="1">
            <a:spAutoFit/>
          </a:bodyPr>
          <a:lstStyle/>
          <a:p>
            <a:r>
              <a:rPr lang="en-US" sz="2800" dirty="0">
                <a:ea typeface="標楷體" pitchFamily="65" charset="-120"/>
                <a:cs typeface="Calibri" panose="020F0502020204030204" pitchFamily="34" charset="0"/>
              </a:rPr>
              <a:t>Key trade-off</a:t>
            </a:r>
          </a:p>
          <a:p>
            <a:endParaRPr lang="en-US" sz="2800" dirty="0">
              <a:ea typeface="標楷體" pitchFamily="65" charset="-120"/>
              <a:cs typeface="Calibri" panose="020F0502020204030204" pitchFamily="34" charset="0"/>
            </a:endParaRPr>
          </a:p>
          <a:p>
            <a:r>
              <a:rPr lang="en-US" sz="2800" dirty="0">
                <a:ea typeface="標楷體" pitchFamily="65" charset="-120"/>
                <a:cs typeface="Calibri" panose="020F0502020204030204" pitchFamily="34" charset="0"/>
              </a:rPr>
              <a:t>CISC: More complex Hardware, simpler Software</a:t>
            </a:r>
          </a:p>
          <a:p>
            <a:r>
              <a:rPr lang="en-US" sz="2800" dirty="0">
                <a:ea typeface="標楷體" pitchFamily="65" charset="-120"/>
                <a:cs typeface="Calibri" panose="020F0502020204030204" pitchFamily="34" charset="0"/>
              </a:rPr>
              <a:t>RISC: Simpler Hardware, more complex Software</a:t>
            </a:r>
          </a:p>
        </p:txBody>
      </p:sp>
      <p:sp>
        <p:nvSpPr>
          <p:cNvPr id="9" name="TextBox 8">
            <a:extLst>
              <a:ext uri="{FF2B5EF4-FFF2-40B4-BE49-F238E27FC236}">
                <a16:creationId xmlns:a16="http://schemas.microsoft.com/office/drawing/2014/main" id="{E46B6FC0-4AF2-4314-8285-5D4D6B4F43EC}"/>
              </a:ext>
            </a:extLst>
          </p:cNvPr>
          <p:cNvSpPr txBox="1"/>
          <p:nvPr/>
        </p:nvSpPr>
        <p:spPr>
          <a:xfrm>
            <a:off x="624413" y="3368043"/>
            <a:ext cx="11234212" cy="2308324"/>
          </a:xfrm>
          <a:prstGeom prst="rect">
            <a:avLst/>
          </a:prstGeom>
          <a:solidFill>
            <a:srgbClr val="FFFF00"/>
          </a:solidFill>
          <a:ln>
            <a:solidFill>
              <a:srgbClr val="FF0000"/>
            </a:solidFill>
          </a:ln>
        </p:spPr>
        <p:txBody>
          <a:bodyPr wrap="square" rtlCol="0" anchor="ctr" anchorCtr="1">
            <a:spAutoFit/>
          </a:bodyPr>
          <a:lstStyle/>
          <a:p>
            <a:r>
              <a:rPr lang="en-US" sz="2400" dirty="0">
                <a:ea typeface="標楷體" pitchFamily="65" charset="-120"/>
                <a:cs typeface="Calibri" panose="020F0502020204030204" pitchFamily="34" charset="0"/>
              </a:rPr>
              <a:t>What is the landscape today?</a:t>
            </a:r>
          </a:p>
          <a:p>
            <a:pPr marL="457200" indent="-457200">
              <a:buAutoNum type="arabicParenR"/>
            </a:pPr>
            <a:r>
              <a:rPr lang="en-US" sz="2000" dirty="0">
                <a:ea typeface="標楷體" pitchFamily="65" charset="-120"/>
                <a:cs typeface="Calibri" panose="020F0502020204030204" pitchFamily="34" charset="0"/>
              </a:rPr>
              <a:t>GPU sales dominate! </a:t>
            </a:r>
          </a:p>
          <a:p>
            <a:pPr marL="457200" indent="-457200">
              <a:buAutoNum type="arabicParenR"/>
            </a:pPr>
            <a:r>
              <a:rPr lang="en-US" sz="2000" dirty="0">
                <a:ea typeface="標楷體" pitchFamily="65" charset="-120"/>
                <a:cs typeface="Calibri" panose="020F0502020204030204" pitchFamily="34" charset="0"/>
              </a:rPr>
              <a:t>Memory is also expensive and slow</a:t>
            </a:r>
          </a:p>
          <a:p>
            <a:pPr marL="457200" indent="-457200">
              <a:buAutoNum type="arabicParenR"/>
            </a:pPr>
            <a:r>
              <a:rPr lang="en-US" sz="2000" dirty="0">
                <a:ea typeface="標楷體" pitchFamily="65" charset="-120"/>
                <a:cs typeface="Calibri" panose="020F0502020204030204" pitchFamily="34" charset="0"/>
              </a:rPr>
              <a:t>AI applications only need matrix multiply accelerators or some tensor operations</a:t>
            </a:r>
          </a:p>
          <a:p>
            <a:pPr marL="457200" indent="-457200">
              <a:buAutoNum type="arabicParenR"/>
            </a:pPr>
            <a:r>
              <a:rPr lang="en-US" sz="2000" dirty="0">
                <a:ea typeface="標楷體" pitchFamily="65" charset="-120"/>
                <a:cs typeface="Calibri" panose="020F0502020204030204" pitchFamily="34" charset="0"/>
              </a:rPr>
              <a:t>AI models change so fast that it becomes hard for the compiler to catch up. Providing </a:t>
            </a:r>
          </a:p>
          <a:p>
            <a:r>
              <a:rPr lang="en-US" sz="2000" dirty="0">
                <a:ea typeface="標楷體" pitchFamily="65" charset="-120"/>
                <a:cs typeface="Calibri" panose="020F0502020204030204" pitchFamily="34" charset="0"/>
              </a:rPr>
              <a:t>       fast operators (library functions) would be a faster solution for vendors to deliver performance</a:t>
            </a:r>
          </a:p>
          <a:p>
            <a:r>
              <a:rPr lang="en-US" sz="2000" dirty="0">
                <a:ea typeface="標楷體" pitchFamily="65" charset="-120"/>
                <a:cs typeface="Calibri" panose="020F0502020204030204" pitchFamily="34" charset="0"/>
              </a:rPr>
              <a:t>5)    Now, processors all include very complex instructions</a:t>
            </a:r>
          </a:p>
        </p:txBody>
      </p:sp>
    </p:spTree>
    <p:extLst>
      <p:ext uri="{BB962C8B-B14F-4D97-AF65-F5344CB8AC3E}">
        <p14:creationId xmlns:p14="http://schemas.microsoft.com/office/powerpoint/2010/main" val="9156079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RISC Design Principles</a:t>
            </a:r>
          </a:p>
        </p:txBody>
      </p:sp>
      <p:sp>
        <p:nvSpPr>
          <p:cNvPr id="3" name="Content Placeholder 2"/>
          <p:cNvSpPr>
            <a:spLocks noGrp="1"/>
          </p:cNvSpPr>
          <p:nvPr>
            <p:ph idx="1"/>
          </p:nvPr>
        </p:nvSpPr>
        <p:spPr>
          <a:xfrm>
            <a:off x="390525" y="1004711"/>
            <a:ext cx="11469435" cy="5136445"/>
          </a:xfrm>
        </p:spPr>
        <p:txBody>
          <a:bodyPr>
            <a:noAutofit/>
          </a:bodyPr>
          <a:lstStyle/>
          <a:p>
            <a:r>
              <a:rPr lang="en-US" sz="2667" b="1" dirty="0">
                <a:solidFill>
                  <a:srgbClr val="FF0000"/>
                </a:solidFill>
              </a:rPr>
              <a:t>Simplicity</a:t>
            </a:r>
            <a:r>
              <a:rPr lang="en-US" sz="2667" b="1" dirty="0">
                <a:solidFill>
                  <a:schemeClr val="accent1"/>
                </a:solidFill>
              </a:rPr>
              <a:t> favors regularity</a:t>
            </a:r>
          </a:p>
          <a:p>
            <a:pPr lvl="1"/>
            <a:r>
              <a:rPr lang="en-US" sz="1867" dirty="0"/>
              <a:t>Fixed size instructions</a:t>
            </a:r>
          </a:p>
          <a:p>
            <a:pPr lvl="1"/>
            <a:r>
              <a:rPr lang="en-US" sz="1867" dirty="0"/>
              <a:t>Small number of instruction formats</a:t>
            </a:r>
          </a:p>
          <a:p>
            <a:pPr lvl="1"/>
            <a:r>
              <a:rPr lang="en-US" sz="1867" dirty="0"/>
              <a:t>Opcode always the first several bits</a:t>
            </a:r>
          </a:p>
          <a:p>
            <a:r>
              <a:rPr lang="en-US" sz="2667" b="1" dirty="0">
                <a:solidFill>
                  <a:srgbClr val="FF0000"/>
                </a:solidFill>
              </a:rPr>
              <a:t>Smaller</a:t>
            </a:r>
            <a:r>
              <a:rPr lang="en-US" sz="2667" b="1" dirty="0">
                <a:solidFill>
                  <a:schemeClr val="accent1"/>
                </a:solidFill>
              </a:rPr>
              <a:t> is faster</a:t>
            </a:r>
          </a:p>
          <a:p>
            <a:pPr lvl="1"/>
            <a:r>
              <a:rPr lang="en-US" sz="1867" dirty="0"/>
              <a:t>Limited instruction set</a:t>
            </a:r>
          </a:p>
          <a:p>
            <a:pPr lvl="1"/>
            <a:r>
              <a:rPr lang="en-US" sz="1867" dirty="0"/>
              <a:t>Limited number of registers</a:t>
            </a:r>
          </a:p>
          <a:p>
            <a:pPr lvl="1"/>
            <a:r>
              <a:rPr lang="en-US" sz="1867" dirty="0"/>
              <a:t>Limited number of addressing modes</a:t>
            </a:r>
          </a:p>
          <a:p>
            <a:r>
              <a:rPr lang="en-US" sz="2667" b="1" dirty="0">
                <a:solidFill>
                  <a:schemeClr val="accent1"/>
                </a:solidFill>
              </a:rPr>
              <a:t>Make the </a:t>
            </a:r>
            <a:r>
              <a:rPr lang="en-US" sz="2667" b="1" dirty="0">
                <a:solidFill>
                  <a:srgbClr val="FF0000"/>
                </a:solidFill>
              </a:rPr>
              <a:t>common case </a:t>
            </a:r>
            <a:r>
              <a:rPr lang="en-US" sz="2667" b="1" dirty="0">
                <a:solidFill>
                  <a:schemeClr val="accent1"/>
                </a:solidFill>
              </a:rPr>
              <a:t>fast</a:t>
            </a:r>
          </a:p>
          <a:p>
            <a:pPr lvl="1"/>
            <a:r>
              <a:rPr lang="en-US" sz="1867" dirty="0"/>
              <a:t>Arithmetic operands from the registers (load-store machine)</a:t>
            </a:r>
          </a:p>
          <a:p>
            <a:pPr lvl="1"/>
            <a:r>
              <a:rPr lang="en-US" sz="1867" dirty="0"/>
              <a:t>Allow instructions to contain immediate operands</a:t>
            </a:r>
          </a:p>
          <a:p>
            <a:r>
              <a:rPr lang="en-US" sz="2667" b="1" dirty="0">
                <a:solidFill>
                  <a:schemeClr val="accent1"/>
                </a:solidFill>
              </a:rPr>
              <a:t>Good design demands good </a:t>
            </a:r>
            <a:r>
              <a:rPr lang="en-US" sz="2667" b="1" dirty="0">
                <a:solidFill>
                  <a:srgbClr val="FF0000"/>
                </a:solidFill>
              </a:rPr>
              <a:t>compromises</a:t>
            </a:r>
          </a:p>
          <a:p>
            <a:pPr lvl="1"/>
            <a:r>
              <a:rPr lang="en-US" sz="1867" dirty="0"/>
              <a:t>Instruction format and number of operands supported.</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9</a:t>
            </a:fld>
            <a:endParaRPr lang="zh-TW" altLang="en-US"/>
          </a:p>
        </p:txBody>
      </p:sp>
      <p:sp>
        <p:nvSpPr>
          <p:cNvPr id="7" name="TextBox 6">
            <a:extLst>
              <a:ext uri="{FF2B5EF4-FFF2-40B4-BE49-F238E27FC236}">
                <a16:creationId xmlns:a16="http://schemas.microsoft.com/office/drawing/2014/main" id="{11CA0072-B99E-47C6-8217-B1355BCCE2BB}"/>
              </a:ext>
            </a:extLst>
          </p:cNvPr>
          <p:cNvSpPr txBox="1"/>
          <p:nvPr/>
        </p:nvSpPr>
        <p:spPr>
          <a:xfrm>
            <a:off x="7194903" y="1374371"/>
            <a:ext cx="4304114" cy="892552"/>
          </a:xfrm>
          <a:prstGeom prst="rect">
            <a:avLst/>
          </a:prstGeom>
          <a:noFill/>
        </p:spPr>
        <p:txBody>
          <a:bodyPr wrap="square" rtlCol="0" anchor="ctr" anchorCtr="1">
            <a:spAutoFit/>
          </a:bodyPr>
          <a:lstStyle/>
          <a:p>
            <a:r>
              <a:rPr lang="en-US" sz="2800" dirty="0">
                <a:solidFill>
                  <a:srgbClr val="FF0000"/>
                </a:solidFill>
                <a:ea typeface="標楷體" pitchFamily="65" charset="-120"/>
                <a:cs typeface="Calibri" pitchFamily="34" charset="0"/>
              </a:rPr>
              <a:t>KISS</a:t>
            </a:r>
            <a:r>
              <a:rPr lang="en-US" sz="2800" dirty="0">
                <a:ea typeface="標楷體" pitchFamily="65" charset="-120"/>
                <a:cs typeface="Calibri" pitchFamily="34" charset="0"/>
              </a:rPr>
              <a:t> </a:t>
            </a:r>
            <a:r>
              <a:rPr lang="en-US" sz="2400" dirty="0">
                <a:ea typeface="標楷體" pitchFamily="65" charset="-120"/>
                <a:cs typeface="Calibri" pitchFamily="34" charset="0"/>
              </a:rPr>
              <a:t>Principle:</a:t>
            </a:r>
          </a:p>
          <a:p>
            <a:r>
              <a:rPr lang="en-US" sz="2400" dirty="0">
                <a:ea typeface="標楷體" pitchFamily="65" charset="-120"/>
                <a:cs typeface="Calibri" pitchFamily="34" charset="0"/>
              </a:rPr>
              <a:t>Keep It Simple! Stupid!</a:t>
            </a:r>
          </a:p>
        </p:txBody>
      </p:sp>
      <p:sp>
        <p:nvSpPr>
          <p:cNvPr id="8" name="TextBox 7">
            <a:extLst>
              <a:ext uri="{FF2B5EF4-FFF2-40B4-BE49-F238E27FC236}">
                <a16:creationId xmlns:a16="http://schemas.microsoft.com/office/drawing/2014/main" id="{AD7DF1C2-CC6D-4E0C-A524-F3809545B715}"/>
              </a:ext>
            </a:extLst>
          </p:cNvPr>
          <p:cNvSpPr txBox="1"/>
          <p:nvPr/>
        </p:nvSpPr>
        <p:spPr>
          <a:xfrm>
            <a:off x="7497361" y="4294497"/>
            <a:ext cx="4304114" cy="1846659"/>
          </a:xfrm>
          <a:prstGeom prst="rect">
            <a:avLst/>
          </a:prstGeom>
          <a:noFill/>
        </p:spPr>
        <p:txBody>
          <a:bodyPr wrap="square" rtlCol="0" anchor="ctr" anchorCtr="1">
            <a:spAutoFit/>
          </a:bodyPr>
          <a:lstStyle/>
          <a:p>
            <a:r>
              <a:rPr lang="en-US" dirty="0"/>
              <a:t>“You can please some of the people all of the time, you can please all of the people some of the time, but you can’t please all of the people all of the time.”</a:t>
            </a:r>
          </a:p>
          <a:p>
            <a:r>
              <a:rPr lang="en-US" sz="2400" i="1" dirty="0">
                <a:ea typeface="標楷體" pitchFamily="65" charset="-120"/>
                <a:cs typeface="Calibri" pitchFamily="34" charset="0"/>
              </a:rPr>
              <a:t>Tradeoff unavoidable!!</a:t>
            </a:r>
          </a:p>
          <a:p>
            <a:r>
              <a:rPr lang="en-US" sz="1600" i="1" dirty="0">
                <a:ea typeface="標楷體" pitchFamily="65" charset="-120"/>
                <a:cs typeface="Calibri" pitchFamily="34" charset="0"/>
              </a:rPr>
              <a:t>Quote from Lincoln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RISC-V</a:t>
            </a:r>
          </a:p>
        </p:txBody>
      </p:sp>
      <p:sp>
        <p:nvSpPr>
          <p:cNvPr id="3" name="Content Placeholder 2"/>
          <p:cNvSpPr>
            <a:spLocks noGrp="1"/>
          </p:cNvSpPr>
          <p:nvPr>
            <p:ph idx="1"/>
          </p:nvPr>
        </p:nvSpPr>
        <p:spPr>
          <a:xfrm>
            <a:off x="1357388" y="1083169"/>
            <a:ext cx="9985063" cy="5027748"/>
          </a:xfrm>
        </p:spPr>
        <p:txBody>
          <a:bodyPr/>
          <a:lstStyle/>
          <a:p>
            <a:r>
              <a:rPr lang="en-US" sz="2400" dirty="0"/>
              <a:t>The relatively new, open standard, license/royalty-free ISA </a:t>
            </a:r>
          </a:p>
          <a:p>
            <a:r>
              <a:rPr lang="en-US" sz="2400" dirty="0"/>
              <a:t>Several variants of RV </a:t>
            </a:r>
          </a:p>
          <a:p>
            <a:pPr lvl="1"/>
            <a:r>
              <a:rPr lang="en-US" sz="2000" dirty="0"/>
              <a:t>RV32, RV64, RV128 – Different </a:t>
            </a:r>
            <a:r>
              <a:rPr lang="en-US" sz="2000" dirty="0">
                <a:solidFill>
                  <a:srgbClr val="FF0000"/>
                </a:solidFill>
              </a:rPr>
              <a:t>data widths </a:t>
            </a:r>
            <a:r>
              <a:rPr lang="en-US" sz="2000" dirty="0"/>
              <a:t>(</a:t>
            </a:r>
            <a:r>
              <a:rPr lang="en-US" sz="2000" dirty="0">
                <a:solidFill>
                  <a:srgbClr val="FF0000"/>
                </a:solidFill>
              </a:rPr>
              <a:t>addressing capability</a:t>
            </a:r>
            <a:r>
              <a:rPr lang="en-US" sz="2000" dirty="0"/>
              <a:t>)</a:t>
            </a:r>
          </a:p>
          <a:p>
            <a:pPr lvl="1"/>
            <a:r>
              <a:rPr lang="en-US" sz="2000" dirty="0"/>
              <a:t>‘I’ – Base Integer instructions, ‘E’ – Base for embedded systems (e.g., only 16 regs)</a:t>
            </a:r>
          </a:p>
          <a:p>
            <a:pPr lvl="1"/>
            <a:r>
              <a:rPr lang="en-US" sz="2000" dirty="0"/>
              <a:t>‘M’ – Multiply and Divide, ‘A’ – Atomic memory instructions</a:t>
            </a:r>
          </a:p>
          <a:p>
            <a:pPr lvl="1"/>
            <a:r>
              <a:rPr lang="en-US" sz="2000" dirty="0"/>
              <a:t>‘C’ – Compressed extension, with 16b instructions</a:t>
            </a:r>
          </a:p>
          <a:p>
            <a:pPr lvl="1"/>
            <a:r>
              <a:rPr lang="en-US" sz="2000" dirty="0"/>
              <a:t>‘F’ and ‘D’ – Single and Double precision floating point</a:t>
            </a:r>
          </a:p>
          <a:p>
            <a:pPr lvl="1"/>
            <a:r>
              <a:rPr lang="en-US" sz="2000" dirty="0"/>
              <a:t>‘V’ – Vector extension</a:t>
            </a:r>
          </a:p>
          <a:p>
            <a:pPr lvl="1"/>
            <a:r>
              <a:rPr lang="en-US" sz="2000" dirty="0"/>
              <a:t>And many other modular extensions</a:t>
            </a:r>
          </a:p>
          <a:p>
            <a:r>
              <a:rPr lang="en-US" sz="2400" i="1" dirty="0"/>
              <a:t>We will illustrate a pipelined RV32I processor in Chapter 4.</a:t>
            </a:r>
            <a:endParaRPr lang="en-US" sz="2400" dirty="0"/>
          </a:p>
          <a:p>
            <a:r>
              <a:rPr lang="en-US" sz="2400" dirty="0"/>
              <a:t>The abbreviation letters following RV must follow the defined order</a:t>
            </a:r>
          </a:p>
          <a:p>
            <a:pPr lvl="1"/>
            <a:r>
              <a:rPr lang="en-US" sz="1867" dirty="0"/>
              <a:t>Base Implementation (I or E), Standard extensions, more Standard ext., Non-standard ext.</a:t>
            </a:r>
          </a:p>
        </p:txBody>
      </p:sp>
      <p:sp>
        <p:nvSpPr>
          <p:cNvPr id="7" name="Date Placeholder 6"/>
          <p:cNvSpPr>
            <a:spLocks noGrp="1"/>
          </p:cNvSpPr>
          <p:nvPr>
            <p:ph type="dt" sz="half" idx="10"/>
          </p:nvPr>
        </p:nvSpPr>
        <p:spPr/>
        <p:txBody>
          <a:bodyPr/>
          <a:lstStyle/>
          <a:p>
            <a:pPr>
              <a:defRPr/>
            </a:pPr>
            <a:r>
              <a:rPr lang="en-US" dirty="0"/>
              <a:t>September 27, 2024</a:t>
            </a:r>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10</a:t>
            </a:fld>
            <a:endParaRPr lang="en-US" dirty="0"/>
          </a:p>
        </p:txBody>
      </p:sp>
      <p:sp>
        <p:nvSpPr>
          <p:cNvPr id="4" name="TextBox 3">
            <a:extLst>
              <a:ext uri="{FF2B5EF4-FFF2-40B4-BE49-F238E27FC236}">
                <a16:creationId xmlns:a16="http://schemas.microsoft.com/office/drawing/2014/main" id="{EB736889-3326-41D7-8809-169AED79DFD4}"/>
              </a:ext>
            </a:extLst>
          </p:cNvPr>
          <p:cNvSpPr txBox="1"/>
          <p:nvPr/>
        </p:nvSpPr>
        <p:spPr>
          <a:xfrm>
            <a:off x="9145130" y="1083169"/>
            <a:ext cx="2422458" cy="923330"/>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X86 	1978 	~48</a:t>
            </a:r>
          </a:p>
          <a:p>
            <a:r>
              <a:rPr lang="en-US" dirty="0">
                <a:ea typeface="標楷體" pitchFamily="65" charset="-120"/>
                <a:cs typeface="Calibri" pitchFamily="34" charset="0"/>
              </a:rPr>
              <a:t>ARM 	1985 	~41</a:t>
            </a:r>
          </a:p>
          <a:p>
            <a:r>
              <a:rPr lang="en-US" dirty="0">
                <a:ea typeface="標楷體" pitchFamily="65" charset="-120"/>
                <a:cs typeface="Calibri" pitchFamily="34" charset="0"/>
              </a:rPr>
              <a:t>RV   	2010  	~16</a:t>
            </a:r>
          </a:p>
        </p:txBody>
      </p:sp>
    </p:spTree>
    <p:extLst>
      <p:ext uri="{BB962C8B-B14F-4D97-AF65-F5344CB8AC3E}">
        <p14:creationId xmlns:p14="http://schemas.microsoft.com/office/powerpoint/2010/main" val="3580993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RV32I Instructions</a:t>
            </a:r>
          </a:p>
        </p:txBody>
      </p:sp>
      <p:sp>
        <p:nvSpPr>
          <p:cNvPr id="6" name="Date Placeholder 5"/>
          <p:cNvSpPr>
            <a:spLocks noGrp="1"/>
          </p:cNvSpPr>
          <p:nvPr>
            <p:ph type="dt" sz="half" idx="10"/>
          </p:nvPr>
        </p:nvSpPr>
        <p:spPr/>
        <p:txBody>
          <a:bodyPr/>
          <a:lstStyle/>
          <a:p>
            <a:pPr>
              <a:defRPr/>
            </a:pPr>
            <a:r>
              <a:rPr lang="en-US" dirty="0"/>
              <a:t>September 27, 2024</a:t>
            </a:r>
          </a:p>
        </p:txBody>
      </p:sp>
      <p:sp>
        <p:nvSpPr>
          <p:cNvPr id="7" name="Footer Placeholder 6"/>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8" name="Slide Number Placeholder 7"/>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11</a:t>
            </a:fld>
            <a:endParaRPr lang="en-US" dirty="0"/>
          </a:p>
        </p:txBody>
      </p:sp>
      <p:graphicFrame>
        <p:nvGraphicFramePr>
          <p:cNvPr id="9" name="Table 9">
            <a:extLst>
              <a:ext uri="{FF2B5EF4-FFF2-40B4-BE49-F238E27FC236}">
                <a16:creationId xmlns:a16="http://schemas.microsoft.com/office/drawing/2014/main" id="{E86C8E07-D8E1-44A3-9159-77EFE4BF1BE6}"/>
              </a:ext>
            </a:extLst>
          </p:cNvPr>
          <p:cNvGraphicFramePr>
            <a:graphicFrameLocks noGrp="1"/>
          </p:cNvGraphicFramePr>
          <p:nvPr>
            <p:extLst>
              <p:ext uri="{D42A27DB-BD31-4B8C-83A1-F6EECF244321}">
                <p14:modId xmlns:p14="http://schemas.microsoft.com/office/powerpoint/2010/main" val="1705271258"/>
              </p:ext>
            </p:extLst>
          </p:nvPr>
        </p:nvGraphicFramePr>
        <p:xfrm>
          <a:off x="797981" y="1119188"/>
          <a:ext cx="10643664" cy="5197077"/>
        </p:xfrm>
        <a:graphic>
          <a:graphicData uri="http://schemas.openxmlformats.org/drawingml/2006/table">
            <a:tbl>
              <a:tblPr firstRow="1" bandRow="1">
                <a:tableStyleId>{5C22544A-7EE6-4342-B048-85BDC9FD1C3A}</a:tableStyleId>
              </a:tblPr>
              <a:tblGrid>
                <a:gridCol w="1330458">
                  <a:extLst>
                    <a:ext uri="{9D8B030D-6E8A-4147-A177-3AD203B41FA5}">
                      <a16:colId xmlns:a16="http://schemas.microsoft.com/office/drawing/2014/main" val="3037404594"/>
                    </a:ext>
                  </a:extLst>
                </a:gridCol>
                <a:gridCol w="1330458">
                  <a:extLst>
                    <a:ext uri="{9D8B030D-6E8A-4147-A177-3AD203B41FA5}">
                      <a16:colId xmlns:a16="http://schemas.microsoft.com/office/drawing/2014/main" val="3768470946"/>
                    </a:ext>
                  </a:extLst>
                </a:gridCol>
                <a:gridCol w="1330458">
                  <a:extLst>
                    <a:ext uri="{9D8B030D-6E8A-4147-A177-3AD203B41FA5}">
                      <a16:colId xmlns:a16="http://schemas.microsoft.com/office/drawing/2014/main" val="404345668"/>
                    </a:ext>
                  </a:extLst>
                </a:gridCol>
                <a:gridCol w="1228327">
                  <a:extLst>
                    <a:ext uri="{9D8B030D-6E8A-4147-A177-3AD203B41FA5}">
                      <a16:colId xmlns:a16="http://schemas.microsoft.com/office/drawing/2014/main" val="676736296"/>
                    </a:ext>
                  </a:extLst>
                </a:gridCol>
                <a:gridCol w="1771650">
                  <a:extLst>
                    <a:ext uri="{9D8B030D-6E8A-4147-A177-3AD203B41FA5}">
                      <a16:colId xmlns:a16="http://schemas.microsoft.com/office/drawing/2014/main" val="3630436679"/>
                    </a:ext>
                  </a:extLst>
                </a:gridCol>
                <a:gridCol w="991397">
                  <a:extLst>
                    <a:ext uri="{9D8B030D-6E8A-4147-A177-3AD203B41FA5}">
                      <a16:colId xmlns:a16="http://schemas.microsoft.com/office/drawing/2014/main" val="1395560536"/>
                    </a:ext>
                  </a:extLst>
                </a:gridCol>
                <a:gridCol w="1330458">
                  <a:extLst>
                    <a:ext uri="{9D8B030D-6E8A-4147-A177-3AD203B41FA5}">
                      <a16:colId xmlns:a16="http://schemas.microsoft.com/office/drawing/2014/main" val="1963102667"/>
                    </a:ext>
                  </a:extLst>
                </a:gridCol>
                <a:gridCol w="1330458">
                  <a:extLst>
                    <a:ext uri="{9D8B030D-6E8A-4147-A177-3AD203B41FA5}">
                      <a16:colId xmlns:a16="http://schemas.microsoft.com/office/drawing/2014/main" val="2733254005"/>
                    </a:ext>
                  </a:extLst>
                </a:gridCol>
              </a:tblGrid>
              <a:tr h="577453">
                <a:tc gridSpan="2">
                  <a:txBody>
                    <a:bodyPr/>
                    <a:lstStyle/>
                    <a:p>
                      <a:pPr algn="ctr"/>
                      <a:r>
                        <a:rPr lang="en-US" dirty="0"/>
                        <a:t>ALU Instructions</a:t>
                      </a:r>
                    </a:p>
                  </a:txBody>
                  <a:tcPr/>
                </a:tc>
                <a:tc hMerge="1">
                  <a:txBody>
                    <a:bodyPr/>
                    <a:lstStyle/>
                    <a:p>
                      <a:endParaRPr lang="en-US" dirty="0"/>
                    </a:p>
                  </a:txBody>
                  <a:tcPr/>
                </a:tc>
                <a:tc gridSpan="2">
                  <a:txBody>
                    <a:bodyPr/>
                    <a:lstStyle/>
                    <a:p>
                      <a:r>
                        <a:rPr lang="en-US" dirty="0"/>
                        <a:t>ALU Inst with </a:t>
                      </a:r>
                      <a:r>
                        <a:rPr lang="en-US" dirty="0" err="1"/>
                        <a:t>immed</a:t>
                      </a:r>
                      <a:endParaRPr lang="en-US" dirty="0"/>
                    </a:p>
                  </a:txBody>
                  <a:tcPr/>
                </a:tc>
                <a:tc hMerge="1">
                  <a:txBody>
                    <a:bodyPr/>
                    <a:lstStyle/>
                    <a:p>
                      <a:endParaRPr lang="en-US" dirty="0"/>
                    </a:p>
                  </a:txBody>
                  <a:tcPr/>
                </a:tc>
                <a:tc>
                  <a:txBody>
                    <a:bodyPr/>
                    <a:lstStyle/>
                    <a:p>
                      <a:r>
                        <a:rPr lang="en-US" dirty="0"/>
                        <a:t>LOAD/STORE</a:t>
                      </a:r>
                    </a:p>
                  </a:txBody>
                  <a:tcPr/>
                </a:tc>
                <a:tc>
                  <a:txBody>
                    <a:bodyPr/>
                    <a:lstStyle/>
                    <a:p>
                      <a:r>
                        <a:rPr lang="en-US" dirty="0"/>
                        <a:t>Branch</a:t>
                      </a:r>
                    </a:p>
                  </a:txBody>
                  <a:tcPr/>
                </a:tc>
                <a:tc>
                  <a:txBody>
                    <a:bodyPr/>
                    <a:lstStyle/>
                    <a:p>
                      <a:r>
                        <a:rPr lang="en-US" dirty="0"/>
                        <a:t>JUMP</a:t>
                      </a:r>
                    </a:p>
                  </a:txBody>
                  <a:tcPr/>
                </a:tc>
                <a:tc>
                  <a:txBody>
                    <a:bodyPr/>
                    <a:lstStyle/>
                    <a:p>
                      <a:r>
                        <a:rPr lang="en-US" dirty="0"/>
                        <a:t>Upper</a:t>
                      </a:r>
                    </a:p>
                  </a:txBody>
                  <a:tcPr/>
                </a:tc>
                <a:extLst>
                  <a:ext uri="{0D108BD9-81ED-4DB2-BD59-A6C34878D82A}">
                    <a16:rowId xmlns:a16="http://schemas.microsoft.com/office/drawing/2014/main" val="4003379742"/>
                  </a:ext>
                </a:extLst>
              </a:tr>
              <a:tr h="577453">
                <a:tc>
                  <a:txBody>
                    <a:bodyPr/>
                    <a:lstStyle/>
                    <a:p>
                      <a:r>
                        <a:rPr lang="en-US" dirty="0"/>
                        <a:t>ADD</a:t>
                      </a:r>
                    </a:p>
                  </a:txBody>
                  <a:tcPr/>
                </a:tc>
                <a:tc>
                  <a:txBody>
                    <a:bodyPr/>
                    <a:lstStyle/>
                    <a:p>
                      <a:r>
                        <a:rPr lang="en-US" dirty="0"/>
                        <a:t>SLL</a:t>
                      </a:r>
                    </a:p>
                  </a:txBody>
                  <a:tcPr/>
                </a:tc>
                <a:tc>
                  <a:txBody>
                    <a:bodyPr/>
                    <a:lstStyle/>
                    <a:p>
                      <a:r>
                        <a:rPr lang="en-US" dirty="0"/>
                        <a:t>ADDI</a:t>
                      </a:r>
                    </a:p>
                  </a:txBody>
                  <a:tcPr/>
                </a:tc>
                <a:tc>
                  <a:txBody>
                    <a:bodyPr/>
                    <a:lstStyle/>
                    <a:p>
                      <a:r>
                        <a:rPr lang="en-US" dirty="0"/>
                        <a:t>SLLI</a:t>
                      </a:r>
                    </a:p>
                  </a:txBody>
                  <a:tcPr/>
                </a:tc>
                <a:tc>
                  <a:txBody>
                    <a:bodyPr/>
                    <a:lstStyle/>
                    <a:p>
                      <a:r>
                        <a:rPr lang="en-US" dirty="0"/>
                        <a:t>LB</a:t>
                      </a:r>
                    </a:p>
                  </a:txBody>
                  <a:tcPr/>
                </a:tc>
                <a:tc>
                  <a:txBody>
                    <a:bodyPr/>
                    <a:lstStyle/>
                    <a:p>
                      <a:r>
                        <a:rPr lang="en-US" dirty="0"/>
                        <a:t>BEQ</a:t>
                      </a:r>
                    </a:p>
                  </a:txBody>
                  <a:tcPr/>
                </a:tc>
                <a:tc>
                  <a:txBody>
                    <a:bodyPr/>
                    <a:lstStyle/>
                    <a:p>
                      <a:r>
                        <a:rPr lang="en-US" dirty="0"/>
                        <a:t>JAL</a:t>
                      </a:r>
                    </a:p>
                  </a:txBody>
                  <a:tcPr/>
                </a:tc>
                <a:tc>
                  <a:txBody>
                    <a:bodyPr/>
                    <a:lstStyle/>
                    <a:p>
                      <a:r>
                        <a:rPr lang="en-US" dirty="0"/>
                        <a:t>LUI</a:t>
                      </a:r>
                    </a:p>
                  </a:txBody>
                  <a:tcPr/>
                </a:tc>
                <a:extLst>
                  <a:ext uri="{0D108BD9-81ED-4DB2-BD59-A6C34878D82A}">
                    <a16:rowId xmlns:a16="http://schemas.microsoft.com/office/drawing/2014/main" val="3613568948"/>
                  </a:ext>
                </a:extLst>
              </a:tr>
              <a:tr h="577453">
                <a:tc>
                  <a:txBody>
                    <a:bodyPr/>
                    <a:lstStyle/>
                    <a:p>
                      <a:r>
                        <a:rPr lang="en-US" dirty="0"/>
                        <a:t>SUB</a:t>
                      </a:r>
                    </a:p>
                  </a:txBody>
                  <a:tcPr/>
                </a:tc>
                <a:tc>
                  <a:txBody>
                    <a:bodyPr/>
                    <a:lstStyle/>
                    <a:p>
                      <a:r>
                        <a:rPr lang="en-US" dirty="0"/>
                        <a:t>SRL</a:t>
                      </a:r>
                    </a:p>
                  </a:txBody>
                  <a:tcPr/>
                </a:tc>
                <a:tc>
                  <a:txBody>
                    <a:bodyPr/>
                    <a:lstStyle/>
                    <a:p>
                      <a:endParaRPr lang="en-US" dirty="0"/>
                    </a:p>
                  </a:txBody>
                  <a:tcPr/>
                </a:tc>
                <a:tc>
                  <a:txBody>
                    <a:bodyPr/>
                    <a:lstStyle/>
                    <a:p>
                      <a:r>
                        <a:rPr lang="en-US" dirty="0"/>
                        <a:t>SRLI</a:t>
                      </a:r>
                    </a:p>
                  </a:txBody>
                  <a:tcPr/>
                </a:tc>
                <a:tc>
                  <a:txBody>
                    <a:bodyPr/>
                    <a:lstStyle/>
                    <a:p>
                      <a:r>
                        <a:rPr lang="en-US" dirty="0"/>
                        <a:t>LH</a:t>
                      </a:r>
                    </a:p>
                  </a:txBody>
                  <a:tcPr/>
                </a:tc>
                <a:tc>
                  <a:txBody>
                    <a:bodyPr/>
                    <a:lstStyle/>
                    <a:p>
                      <a:r>
                        <a:rPr lang="en-US" dirty="0"/>
                        <a:t>BNE</a:t>
                      </a:r>
                    </a:p>
                  </a:txBody>
                  <a:tcPr/>
                </a:tc>
                <a:tc>
                  <a:txBody>
                    <a:bodyPr/>
                    <a:lstStyle/>
                    <a:p>
                      <a:r>
                        <a:rPr lang="en-US" dirty="0"/>
                        <a:t>JALR</a:t>
                      </a:r>
                    </a:p>
                  </a:txBody>
                  <a:tcPr/>
                </a:tc>
                <a:tc>
                  <a:txBody>
                    <a:bodyPr/>
                    <a:lstStyle/>
                    <a:p>
                      <a:r>
                        <a:rPr lang="en-US" dirty="0"/>
                        <a:t>AUIPC</a:t>
                      </a:r>
                    </a:p>
                  </a:txBody>
                  <a:tcPr/>
                </a:tc>
                <a:extLst>
                  <a:ext uri="{0D108BD9-81ED-4DB2-BD59-A6C34878D82A}">
                    <a16:rowId xmlns:a16="http://schemas.microsoft.com/office/drawing/2014/main" val="1610795048"/>
                  </a:ext>
                </a:extLst>
              </a:tr>
              <a:tr h="577453">
                <a:tc>
                  <a:txBody>
                    <a:bodyPr/>
                    <a:lstStyle/>
                    <a:p>
                      <a:r>
                        <a:rPr lang="en-US" dirty="0"/>
                        <a:t>AND</a:t>
                      </a:r>
                    </a:p>
                  </a:txBody>
                  <a:tcPr/>
                </a:tc>
                <a:tc>
                  <a:txBody>
                    <a:bodyPr/>
                    <a:lstStyle/>
                    <a:p>
                      <a:r>
                        <a:rPr lang="en-US" dirty="0"/>
                        <a:t>SRA</a:t>
                      </a:r>
                    </a:p>
                  </a:txBody>
                  <a:tcPr/>
                </a:tc>
                <a:tc>
                  <a:txBody>
                    <a:bodyPr/>
                    <a:lstStyle/>
                    <a:p>
                      <a:r>
                        <a:rPr lang="en-US" dirty="0"/>
                        <a:t>ANDI</a:t>
                      </a:r>
                    </a:p>
                  </a:txBody>
                  <a:tcPr/>
                </a:tc>
                <a:tc>
                  <a:txBody>
                    <a:bodyPr/>
                    <a:lstStyle/>
                    <a:p>
                      <a:r>
                        <a:rPr lang="en-US" dirty="0"/>
                        <a:t>SRAI</a:t>
                      </a:r>
                    </a:p>
                  </a:txBody>
                  <a:tcPr/>
                </a:tc>
                <a:tc>
                  <a:txBody>
                    <a:bodyPr/>
                    <a:lstStyle/>
                    <a:p>
                      <a:r>
                        <a:rPr lang="en-US" dirty="0"/>
                        <a:t>LW</a:t>
                      </a:r>
                    </a:p>
                  </a:txBody>
                  <a:tcPr/>
                </a:tc>
                <a:tc>
                  <a:txBody>
                    <a:bodyPr/>
                    <a:lstStyle/>
                    <a:p>
                      <a:r>
                        <a:rPr lang="en-US" dirty="0"/>
                        <a:t>BLT</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026198895"/>
                  </a:ext>
                </a:extLst>
              </a:tr>
              <a:tr h="577453">
                <a:tc>
                  <a:txBody>
                    <a:bodyPr/>
                    <a:lstStyle/>
                    <a:p>
                      <a:r>
                        <a:rPr lang="en-US" dirty="0"/>
                        <a:t>OR</a:t>
                      </a:r>
                    </a:p>
                  </a:txBody>
                  <a:tcPr/>
                </a:tc>
                <a:tc>
                  <a:txBody>
                    <a:bodyPr/>
                    <a:lstStyle/>
                    <a:p>
                      <a:endParaRPr lang="en-US"/>
                    </a:p>
                  </a:txBody>
                  <a:tcPr/>
                </a:tc>
                <a:tc>
                  <a:txBody>
                    <a:bodyPr/>
                    <a:lstStyle/>
                    <a:p>
                      <a:r>
                        <a:rPr lang="en-US" dirty="0"/>
                        <a:t>ORI</a:t>
                      </a:r>
                    </a:p>
                  </a:txBody>
                  <a:tcPr/>
                </a:tc>
                <a:tc>
                  <a:txBody>
                    <a:bodyPr/>
                    <a:lstStyle/>
                    <a:p>
                      <a:endParaRPr lang="en-US"/>
                    </a:p>
                  </a:txBody>
                  <a:tcPr/>
                </a:tc>
                <a:tc>
                  <a:txBody>
                    <a:bodyPr/>
                    <a:lstStyle/>
                    <a:p>
                      <a:r>
                        <a:rPr lang="en-US" dirty="0"/>
                        <a:t>LBU</a:t>
                      </a:r>
                    </a:p>
                  </a:txBody>
                  <a:tcPr/>
                </a:tc>
                <a:tc>
                  <a:txBody>
                    <a:bodyPr/>
                    <a:lstStyle/>
                    <a:p>
                      <a:r>
                        <a:rPr lang="en-US" dirty="0"/>
                        <a:t>BGE</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24045441"/>
                  </a:ext>
                </a:extLst>
              </a:tr>
              <a:tr h="577453">
                <a:tc>
                  <a:txBody>
                    <a:bodyPr/>
                    <a:lstStyle/>
                    <a:p>
                      <a:r>
                        <a:rPr lang="en-US" dirty="0"/>
                        <a:t>XOR</a:t>
                      </a:r>
                    </a:p>
                  </a:txBody>
                  <a:tcPr/>
                </a:tc>
                <a:tc>
                  <a:txBody>
                    <a:bodyPr/>
                    <a:lstStyle/>
                    <a:p>
                      <a:endParaRPr lang="en-US"/>
                    </a:p>
                  </a:txBody>
                  <a:tcPr/>
                </a:tc>
                <a:tc>
                  <a:txBody>
                    <a:bodyPr/>
                    <a:lstStyle/>
                    <a:p>
                      <a:r>
                        <a:rPr lang="en-US" dirty="0"/>
                        <a:t>XORI</a:t>
                      </a:r>
                    </a:p>
                  </a:txBody>
                  <a:tcPr/>
                </a:tc>
                <a:tc>
                  <a:txBody>
                    <a:bodyPr/>
                    <a:lstStyle/>
                    <a:p>
                      <a:endParaRPr lang="en-US"/>
                    </a:p>
                  </a:txBody>
                  <a:tcPr/>
                </a:tc>
                <a:tc>
                  <a:txBody>
                    <a:bodyPr/>
                    <a:lstStyle/>
                    <a:p>
                      <a:r>
                        <a:rPr lang="en-US" dirty="0"/>
                        <a:t>LHU</a:t>
                      </a:r>
                    </a:p>
                  </a:txBody>
                  <a:tcPr/>
                </a:tc>
                <a:tc>
                  <a:txBody>
                    <a:bodyPr/>
                    <a:lstStyle/>
                    <a:p>
                      <a:r>
                        <a:rPr lang="en-US" dirty="0"/>
                        <a:t>BLTU</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521269141"/>
                  </a:ext>
                </a:extLst>
              </a:tr>
              <a:tr h="577453">
                <a:tc>
                  <a:txBody>
                    <a:bodyPr/>
                    <a:lstStyle/>
                    <a:p>
                      <a:r>
                        <a:rPr lang="en-US" dirty="0"/>
                        <a:t>SLT</a:t>
                      </a:r>
                    </a:p>
                  </a:txBody>
                  <a:tcPr/>
                </a:tc>
                <a:tc>
                  <a:txBody>
                    <a:bodyPr/>
                    <a:lstStyle/>
                    <a:p>
                      <a:endParaRPr lang="en-US"/>
                    </a:p>
                  </a:txBody>
                  <a:tcPr/>
                </a:tc>
                <a:tc>
                  <a:txBody>
                    <a:bodyPr/>
                    <a:lstStyle/>
                    <a:p>
                      <a:r>
                        <a:rPr lang="en-US" dirty="0"/>
                        <a:t>SLTI</a:t>
                      </a:r>
                    </a:p>
                  </a:txBody>
                  <a:tcPr/>
                </a:tc>
                <a:tc>
                  <a:txBody>
                    <a:bodyPr/>
                    <a:lstStyle/>
                    <a:p>
                      <a:endParaRPr lang="en-US"/>
                    </a:p>
                  </a:txBody>
                  <a:tcPr/>
                </a:tc>
                <a:tc>
                  <a:txBody>
                    <a:bodyPr/>
                    <a:lstStyle/>
                    <a:p>
                      <a:r>
                        <a:rPr lang="en-US" dirty="0"/>
                        <a:t>SB</a:t>
                      </a:r>
                    </a:p>
                  </a:txBody>
                  <a:tcPr/>
                </a:tc>
                <a:tc>
                  <a:txBody>
                    <a:bodyPr/>
                    <a:lstStyle/>
                    <a:p>
                      <a:r>
                        <a:rPr lang="en-US" dirty="0"/>
                        <a:t>BGEU</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22233826"/>
                  </a:ext>
                </a:extLst>
              </a:tr>
              <a:tr h="577453">
                <a:tc>
                  <a:txBody>
                    <a:bodyPr/>
                    <a:lstStyle/>
                    <a:p>
                      <a:r>
                        <a:rPr lang="en-US" dirty="0"/>
                        <a:t>SLTU</a:t>
                      </a:r>
                    </a:p>
                  </a:txBody>
                  <a:tcPr/>
                </a:tc>
                <a:tc>
                  <a:txBody>
                    <a:bodyPr/>
                    <a:lstStyle/>
                    <a:p>
                      <a:endParaRPr lang="en-US" dirty="0"/>
                    </a:p>
                  </a:txBody>
                  <a:tcPr/>
                </a:tc>
                <a:tc>
                  <a:txBody>
                    <a:bodyPr/>
                    <a:lstStyle/>
                    <a:p>
                      <a:r>
                        <a:rPr lang="en-US" dirty="0"/>
                        <a:t>SLTIU</a:t>
                      </a:r>
                    </a:p>
                  </a:txBody>
                  <a:tcPr/>
                </a:tc>
                <a:tc>
                  <a:txBody>
                    <a:bodyPr/>
                    <a:lstStyle/>
                    <a:p>
                      <a:endParaRPr lang="en-US" dirty="0"/>
                    </a:p>
                  </a:txBody>
                  <a:tcPr/>
                </a:tc>
                <a:tc>
                  <a:txBody>
                    <a:bodyPr/>
                    <a:lstStyle/>
                    <a:p>
                      <a:r>
                        <a:rPr lang="en-US" dirty="0"/>
                        <a:t>SH</a:t>
                      </a:r>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820336229"/>
                  </a:ext>
                </a:extLst>
              </a:tr>
              <a:tr h="577453">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r>
                        <a:rPr lang="en-US" dirty="0"/>
                        <a:t>SW</a:t>
                      </a:r>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4107470868"/>
                  </a:ext>
                </a:extLst>
              </a:tr>
            </a:tbl>
          </a:graphicData>
        </a:graphic>
      </p:graphicFrame>
      <p:sp>
        <p:nvSpPr>
          <p:cNvPr id="10" name="TextBox 9">
            <a:extLst>
              <a:ext uri="{FF2B5EF4-FFF2-40B4-BE49-F238E27FC236}">
                <a16:creationId xmlns:a16="http://schemas.microsoft.com/office/drawing/2014/main" id="{70879106-674E-4850-B6E5-EB663EAFD52A}"/>
              </a:ext>
            </a:extLst>
          </p:cNvPr>
          <p:cNvSpPr txBox="1"/>
          <p:nvPr/>
        </p:nvSpPr>
        <p:spPr>
          <a:xfrm>
            <a:off x="2238375" y="4628876"/>
            <a:ext cx="1038225" cy="420564"/>
          </a:xfrm>
          <a:prstGeom prst="rect">
            <a:avLst/>
          </a:prstGeom>
          <a:solidFill>
            <a:srgbClr val="FFFF00"/>
          </a:solidFill>
          <a:ln>
            <a:solidFill>
              <a:srgbClr val="FF0000"/>
            </a:solidFill>
          </a:ln>
        </p:spPr>
        <p:txBody>
          <a:bodyPr wrap="square" rtlCol="0" anchor="ctr" anchorCtr="1">
            <a:spAutoFit/>
          </a:bodyPr>
          <a:lstStyle/>
          <a:p>
            <a:pPr lvl="0"/>
            <a:r>
              <a:rPr lang="en-US" sz="2133" dirty="0">
                <a:latin typeface="Calibri" panose="020F0502020204030204" pitchFamily="34" charset="0"/>
                <a:ea typeface="Calibri" panose="020F0502020204030204" pitchFamily="34" charset="0"/>
                <a:cs typeface="Calibri" panose="020F0502020204030204" pitchFamily="34" charset="0"/>
              </a:rPr>
              <a:t>c=a&lt;b</a:t>
            </a:r>
          </a:p>
        </p:txBody>
      </p:sp>
      <p:sp>
        <p:nvSpPr>
          <p:cNvPr id="11" name="TextBox 10">
            <a:extLst>
              <a:ext uri="{FF2B5EF4-FFF2-40B4-BE49-F238E27FC236}">
                <a16:creationId xmlns:a16="http://schemas.microsoft.com/office/drawing/2014/main" id="{B699260E-F2CB-4687-BDB8-6A998624C212}"/>
              </a:ext>
            </a:extLst>
          </p:cNvPr>
          <p:cNvSpPr txBox="1"/>
          <p:nvPr/>
        </p:nvSpPr>
        <p:spPr>
          <a:xfrm>
            <a:off x="6724650" y="3838301"/>
            <a:ext cx="1057275" cy="420564"/>
          </a:xfrm>
          <a:prstGeom prst="rect">
            <a:avLst/>
          </a:prstGeom>
          <a:solidFill>
            <a:srgbClr val="FFFF00"/>
          </a:solidFill>
          <a:ln>
            <a:solidFill>
              <a:srgbClr val="FF0000"/>
            </a:solidFill>
          </a:ln>
        </p:spPr>
        <p:txBody>
          <a:bodyPr wrap="square" rtlCol="0" anchor="ctr" anchorCtr="1">
            <a:spAutoFit/>
          </a:bodyPr>
          <a:lstStyle/>
          <a:p>
            <a:pPr lvl="0"/>
            <a:r>
              <a:rPr lang="en-US" sz="2133" dirty="0">
                <a:latin typeface="Calibri" panose="020F0502020204030204" pitchFamily="34" charset="0"/>
                <a:ea typeface="Calibri" panose="020F0502020204030204" pitchFamily="34" charset="0"/>
                <a:cs typeface="Calibri" panose="020F0502020204030204" pitchFamily="34" charset="0"/>
              </a:rPr>
              <a:t>sign </a:t>
            </a:r>
            <a:r>
              <a:rPr lang="en-US" sz="2133" dirty="0" err="1">
                <a:latin typeface="Calibri" panose="020F0502020204030204" pitchFamily="34" charset="0"/>
                <a:ea typeface="Calibri" panose="020F0502020204030204" pitchFamily="34" charset="0"/>
                <a:cs typeface="Calibri" panose="020F0502020204030204" pitchFamily="34" charset="0"/>
              </a:rPr>
              <a:t>ext</a:t>
            </a:r>
            <a:endParaRPr lang="en-US" sz="2133" dirty="0">
              <a:latin typeface="Calibri" panose="020F0502020204030204" pitchFamily="34" charset="0"/>
              <a:ea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B8E54944-A514-4DA2-9D2E-829C0795F86E}"/>
              </a:ext>
            </a:extLst>
          </p:cNvPr>
          <p:cNvSpPr txBox="1"/>
          <p:nvPr/>
        </p:nvSpPr>
        <p:spPr>
          <a:xfrm>
            <a:off x="6657976" y="4418594"/>
            <a:ext cx="1123950" cy="420564"/>
          </a:xfrm>
          <a:prstGeom prst="rect">
            <a:avLst/>
          </a:prstGeom>
          <a:solidFill>
            <a:srgbClr val="FFFF00"/>
          </a:solidFill>
          <a:ln>
            <a:solidFill>
              <a:srgbClr val="FF0000"/>
            </a:solidFill>
          </a:ln>
        </p:spPr>
        <p:txBody>
          <a:bodyPr wrap="square" rtlCol="0" anchor="ctr" anchorCtr="1">
            <a:spAutoFit/>
          </a:bodyPr>
          <a:lstStyle/>
          <a:p>
            <a:pPr lvl="0"/>
            <a:r>
              <a:rPr lang="en-US" sz="2133" dirty="0">
                <a:latin typeface="Calibri" panose="020F0502020204030204" pitchFamily="34" charset="0"/>
                <a:ea typeface="Calibri" panose="020F0502020204030204" pitchFamily="34" charset="0"/>
                <a:cs typeface="Calibri" panose="020F0502020204030204" pitchFamily="34" charset="0"/>
              </a:rPr>
              <a:t>no </a:t>
            </a:r>
            <a:r>
              <a:rPr lang="en-US" sz="2133" dirty="0" err="1">
                <a:latin typeface="Calibri" panose="020F0502020204030204" pitchFamily="34" charset="0"/>
                <a:ea typeface="Calibri" panose="020F0502020204030204" pitchFamily="34" charset="0"/>
                <a:cs typeface="Calibri" panose="020F0502020204030204" pitchFamily="34" charset="0"/>
              </a:rPr>
              <a:t>lwu</a:t>
            </a:r>
            <a:r>
              <a:rPr lang="en-US" sz="2133" dirty="0">
                <a:latin typeface="Calibri" panose="020F0502020204030204" pitchFamily="34" charset="0"/>
                <a:ea typeface="Calibri" panose="020F0502020204030204" pitchFamily="34" charset="0"/>
                <a:cs typeface="Calibri" panose="020F0502020204030204" pitchFamily="34" charset="0"/>
              </a:rPr>
              <a:t> ?</a:t>
            </a:r>
          </a:p>
        </p:txBody>
      </p:sp>
      <p:sp>
        <p:nvSpPr>
          <p:cNvPr id="13" name="TextBox 12">
            <a:extLst>
              <a:ext uri="{FF2B5EF4-FFF2-40B4-BE49-F238E27FC236}">
                <a16:creationId xmlns:a16="http://schemas.microsoft.com/office/drawing/2014/main" id="{EAD412D4-00F3-476B-BA31-0F915A8D3D92}"/>
              </a:ext>
            </a:extLst>
          </p:cNvPr>
          <p:cNvSpPr txBox="1"/>
          <p:nvPr/>
        </p:nvSpPr>
        <p:spPr>
          <a:xfrm>
            <a:off x="9020176" y="2608844"/>
            <a:ext cx="1123950" cy="420564"/>
          </a:xfrm>
          <a:prstGeom prst="rect">
            <a:avLst/>
          </a:prstGeom>
          <a:solidFill>
            <a:srgbClr val="FFFF00"/>
          </a:solidFill>
          <a:ln>
            <a:solidFill>
              <a:srgbClr val="FF0000"/>
            </a:solidFill>
          </a:ln>
        </p:spPr>
        <p:txBody>
          <a:bodyPr wrap="square" rtlCol="0" anchor="ctr" anchorCtr="1">
            <a:spAutoFit/>
          </a:bodyPr>
          <a:lstStyle/>
          <a:p>
            <a:pPr lvl="0"/>
            <a:r>
              <a:rPr lang="en-US" sz="2133" dirty="0">
                <a:latin typeface="Calibri" panose="020F0502020204030204" pitchFamily="34" charset="0"/>
                <a:ea typeface="Calibri" panose="020F0502020204030204" pitchFamily="34" charset="0"/>
                <a:cs typeface="Calibri" panose="020F0502020204030204" pitchFamily="34" charset="0"/>
              </a:rPr>
              <a:t>indirect</a:t>
            </a:r>
          </a:p>
        </p:txBody>
      </p:sp>
    </p:spTree>
    <p:extLst>
      <p:ext uri="{BB962C8B-B14F-4D97-AF65-F5344CB8AC3E}">
        <p14:creationId xmlns:p14="http://schemas.microsoft.com/office/powerpoint/2010/main" val="1523604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RV32I Register State (Architecture State)</a:t>
            </a:r>
          </a:p>
        </p:txBody>
      </p:sp>
      <p:sp>
        <p:nvSpPr>
          <p:cNvPr id="3" name="Content Placeholder 2"/>
          <p:cNvSpPr>
            <a:spLocks noGrp="1"/>
          </p:cNvSpPr>
          <p:nvPr>
            <p:ph idx="1"/>
          </p:nvPr>
        </p:nvSpPr>
        <p:spPr>
          <a:xfrm>
            <a:off x="2051393" y="1159140"/>
            <a:ext cx="7772400" cy="5033621"/>
          </a:xfrm>
        </p:spPr>
        <p:txBody>
          <a:bodyPr/>
          <a:lstStyle/>
          <a:p>
            <a:pPr>
              <a:spcBef>
                <a:spcPts val="300"/>
              </a:spcBef>
            </a:pPr>
            <a:r>
              <a:rPr lang="en-US" sz="2400" dirty="0"/>
              <a:t>32 general purpose registers (GPR)</a:t>
            </a:r>
          </a:p>
          <a:p>
            <a:pPr lvl="1">
              <a:spcBef>
                <a:spcPts val="300"/>
              </a:spcBef>
            </a:pPr>
            <a:r>
              <a:rPr lang="en-US" sz="2000" dirty="0"/>
              <a:t>x0, x1, …, x31</a:t>
            </a:r>
          </a:p>
          <a:p>
            <a:pPr lvl="1">
              <a:spcBef>
                <a:spcPts val="300"/>
              </a:spcBef>
            </a:pPr>
            <a:r>
              <a:rPr lang="en-US" sz="2000" dirty="0"/>
              <a:t>32-bit wide integer registers</a:t>
            </a:r>
          </a:p>
          <a:p>
            <a:pPr lvl="1">
              <a:spcBef>
                <a:spcPts val="300"/>
              </a:spcBef>
            </a:pPr>
            <a:r>
              <a:rPr lang="en-US" sz="2000" dirty="0"/>
              <a:t>x0 is hard-wired to zero</a:t>
            </a:r>
          </a:p>
          <a:p>
            <a:pPr>
              <a:spcBef>
                <a:spcPts val="300"/>
              </a:spcBef>
            </a:pPr>
            <a:r>
              <a:rPr lang="en-US" sz="2400" dirty="0"/>
              <a:t>Program counter (PC)</a:t>
            </a:r>
          </a:p>
          <a:p>
            <a:pPr lvl="1">
              <a:spcBef>
                <a:spcPts val="300"/>
              </a:spcBef>
            </a:pPr>
            <a:r>
              <a:rPr lang="en-US" sz="2000" dirty="0"/>
              <a:t>32-bit wide</a:t>
            </a:r>
          </a:p>
          <a:p>
            <a:pPr>
              <a:spcBef>
                <a:spcPts val="300"/>
              </a:spcBef>
            </a:pPr>
            <a:r>
              <a:rPr lang="en-US" sz="2400" dirty="0"/>
              <a:t>CSR (Control and Status Registers)</a:t>
            </a:r>
          </a:p>
          <a:p>
            <a:pPr lvl="1">
              <a:spcBef>
                <a:spcPts val="300"/>
              </a:spcBef>
            </a:pPr>
            <a:r>
              <a:rPr lang="en-US" sz="2000" dirty="0"/>
              <a:t>User-mode</a:t>
            </a:r>
          </a:p>
          <a:p>
            <a:pPr lvl="2">
              <a:spcBef>
                <a:spcPts val="300"/>
              </a:spcBef>
            </a:pPr>
            <a:r>
              <a:rPr lang="en-US" sz="1600" dirty="0">
                <a:solidFill>
                  <a:srgbClr val="7030A0"/>
                </a:solidFill>
              </a:rPr>
              <a:t>cycle</a:t>
            </a:r>
            <a:r>
              <a:rPr lang="en-US" sz="1600" dirty="0"/>
              <a:t> (clock cycles) // read only</a:t>
            </a:r>
          </a:p>
          <a:p>
            <a:pPr lvl="2">
              <a:spcBef>
                <a:spcPts val="300"/>
              </a:spcBef>
            </a:pPr>
            <a:r>
              <a:rPr lang="en-US" sz="1600" dirty="0" err="1">
                <a:solidFill>
                  <a:srgbClr val="7030A0"/>
                </a:solidFill>
              </a:rPr>
              <a:t>instret</a:t>
            </a:r>
            <a:r>
              <a:rPr lang="en-US" sz="1600" dirty="0">
                <a:solidFill>
                  <a:srgbClr val="7030A0"/>
                </a:solidFill>
              </a:rPr>
              <a:t> (i</a:t>
            </a:r>
            <a:r>
              <a:rPr lang="en-US" sz="1600" dirty="0"/>
              <a:t>nstruction counts) // read only</a:t>
            </a:r>
          </a:p>
          <a:p>
            <a:pPr lvl="1">
              <a:spcBef>
                <a:spcPts val="300"/>
              </a:spcBef>
            </a:pPr>
            <a:r>
              <a:rPr lang="en-US" sz="2000" dirty="0"/>
              <a:t>Machine-mode</a:t>
            </a:r>
          </a:p>
          <a:p>
            <a:pPr lvl="2">
              <a:spcBef>
                <a:spcPts val="300"/>
              </a:spcBef>
            </a:pPr>
            <a:r>
              <a:rPr lang="en-US" sz="1600" dirty="0" err="1">
                <a:solidFill>
                  <a:srgbClr val="7030A0"/>
                </a:solidFill>
              </a:rPr>
              <a:t>hartid</a:t>
            </a:r>
            <a:r>
              <a:rPr lang="en-US" sz="1600" dirty="0"/>
              <a:t> (hardware thread ID) // read only</a:t>
            </a:r>
          </a:p>
          <a:p>
            <a:pPr lvl="2">
              <a:spcBef>
                <a:spcPts val="300"/>
              </a:spcBef>
            </a:pPr>
            <a:r>
              <a:rPr lang="en-US" sz="1600" dirty="0" err="1">
                <a:solidFill>
                  <a:schemeClr val="tx2"/>
                </a:solidFill>
              </a:rPr>
              <a:t>mepc</a:t>
            </a:r>
            <a:r>
              <a:rPr lang="en-US" sz="1600" dirty="0">
                <a:solidFill>
                  <a:schemeClr val="tx2"/>
                </a:solidFill>
              </a:rPr>
              <a:t>, </a:t>
            </a:r>
            <a:r>
              <a:rPr lang="en-US" sz="1600" dirty="0" err="1">
                <a:solidFill>
                  <a:schemeClr val="tx2"/>
                </a:solidFill>
              </a:rPr>
              <a:t>mcause</a:t>
            </a:r>
            <a:r>
              <a:rPr lang="en-US" sz="1600" dirty="0">
                <a:solidFill>
                  <a:schemeClr val="tx2"/>
                </a:solidFill>
              </a:rPr>
              <a:t> </a:t>
            </a:r>
            <a:r>
              <a:rPr lang="en-US" sz="1600" dirty="0"/>
              <a:t>etc. used for exception handling</a:t>
            </a:r>
            <a:endParaRPr lang="en-US" sz="2000" dirty="0"/>
          </a:p>
          <a:p>
            <a:pPr lvl="1">
              <a:spcBef>
                <a:spcPts val="300"/>
              </a:spcBef>
            </a:pPr>
            <a:r>
              <a:rPr lang="en-US" sz="2000" dirty="0"/>
              <a:t>Custom</a:t>
            </a:r>
          </a:p>
          <a:p>
            <a:pPr lvl="2">
              <a:spcBef>
                <a:spcPts val="300"/>
              </a:spcBef>
            </a:pPr>
            <a:r>
              <a:rPr lang="en-US" sz="1600" dirty="0" err="1">
                <a:solidFill>
                  <a:srgbClr val="7030A0"/>
                </a:solidFill>
              </a:rPr>
              <a:t>mtohost</a:t>
            </a:r>
            <a:r>
              <a:rPr lang="en-US" sz="1600" dirty="0"/>
              <a:t> (output to host) // write only – custom extension</a:t>
            </a:r>
          </a:p>
          <a:p>
            <a:pPr lvl="1">
              <a:spcBef>
                <a:spcPts val="300"/>
              </a:spcBef>
            </a:pPr>
            <a:endParaRPr lang="en-US" sz="2000" dirty="0"/>
          </a:p>
          <a:p>
            <a:pPr lvl="1">
              <a:spcBef>
                <a:spcPts val="300"/>
              </a:spcBef>
            </a:pPr>
            <a:endParaRPr lang="en-US" sz="2000" dirty="0"/>
          </a:p>
          <a:p>
            <a:pPr>
              <a:spcBef>
                <a:spcPts val="300"/>
              </a:spcBef>
            </a:pPr>
            <a:endParaRPr lang="en-US" sz="2400" dirty="0"/>
          </a:p>
        </p:txBody>
      </p:sp>
      <p:sp>
        <p:nvSpPr>
          <p:cNvPr id="6" name="Date Placeholder 5"/>
          <p:cNvSpPr>
            <a:spLocks noGrp="1"/>
          </p:cNvSpPr>
          <p:nvPr>
            <p:ph type="dt" sz="half" idx="10"/>
          </p:nvPr>
        </p:nvSpPr>
        <p:spPr/>
        <p:txBody>
          <a:bodyPr/>
          <a:lstStyle/>
          <a:p>
            <a:pPr>
              <a:defRPr/>
            </a:pPr>
            <a:r>
              <a:rPr lang="en-US" dirty="0"/>
              <a:t>September 27, 2024</a:t>
            </a:r>
          </a:p>
        </p:txBody>
      </p:sp>
      <p:sp>
        <p:nvSpPr>
          <p:cNvPr id="7" name="Footer Placeholder 6"/>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8" name="Slide Number Placeholder 7"/>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12</a:t>
            </a:fld>
            <a:endParaRPr lang="en-US" dirty="0"/>
          </a:p>
        </p:txBody>
      </p:sp>
      <p:sp>
        <p:nvSpPr>
          <p:cNvPr id="4" name="TextBox 3">
            <a:extLst>
              <a:ext uri="{FF2B5EF4-FFF2-40B4-BE49-F238E27FC236}">
                <a16:creationId xmlns:a16="http://schemas.microsoft.com/office/drawing/2014/main" id="{C4BFF360-0A02-4E67-811A-EE157D7FD1E6}"/>
              </a:ext>
            </a:extLst>
          </p:cNvPr>
          <p:cNvSpPr txBox="1"/>
          <p:nvPr/>
        </p:nvSpPr>
        <p:spPr>
          <a:xfrm>
            <a:off x="8488172" y="4305542"/>
            <a:ext cx="3558923" cy="1405256"/>
          </a:xfrm>
          <a:prstGeom prst="rect">
            <a:avLst/>
          </a:prstGeom>
          <a:solidFill>
            <a:srgbClr val="FFFF00"/>
          </a:solidFill>
          <a:ln>
            <a:solidFill>
              <a:srgbClr val="FF0000"/>
            </a:solidFill>
          </a:ln>
        </p:spPr>
        <p:txBody>
          <a:bodyPr wrap="none" rtlCol="0" anchor="ctr" anchorCtr="1">
            <a:spAutoFit/>
          </a:bodyPr>
          <a:lstStyle/>
          <a:p>
            <a:r>
              <a:rPr lang="en-US" sz="2133" dirty="0">
                <a:latin typeface="Calibri" panose="020F0502020204030204" pitchFamily="34" charset="0"/>
                <a:ea typeface="Calibri" panose="020F0502020204030204" pitchFamily="34" charset="0"/>
                <a:cs typeface="Calibri" panose="020F0502020204030204" pitchFamily="34" charset="0"/>
              </a:rPr>
              <a:t>In RISC-V, Hart refers to</a:t>
            </a:r>
          </a:p>
          <a:p>
            <a:r>
              <a:rPr lang="en-US" sz="2133" dirty="0">
                <a:latin typeface="Calibri" panose="020F0502020204030204" pitchFamily="34" charset="0"/>
                <a:ea typeface="Calibri" panose="020F0502020204030204" pitchFamily="34" charset="0"/>
                <a:cs typeface="Calibri" panose="020F0502020204030204" pitchFamily="34" charset="0"/>
              </a:rPr>
              <a:t>a hardware thread, which </a:t>
            </a:r>
          </a:p>
          <a:p>
            <a:r>
              <a:rPr lang="en-US" sz="2133" dirty="0">
                <a:latin typeface="Calibri" panose="020F0502020204030204" pitchFamily="34" charset="0"/>
                <a:ea typeface="Calibri" panose="020F0502020204030204" pitchFamily="34" charset="0"/>
                <a:cs typeface="Calibri" panose="020F0502020204030204" pitchFamily="34" charset="0"/>
              </a:rPr>
              <a:t>is often a “core” in a multicore</a:t>
            </a:r>
          </a:p>
          <a:p>
            <a:r>
              <a:rPr lang="en-US" sz="2133" dirty="0">
                <a:latin typeface="Calibri" panose="020F0502020204030204" pitchFamily="34" charset="0"/>
                <a:ea typeface="Calibri" panose="020F0502020204030204" pitchFamily="34" charset="0"/>
                <a:cs typeface="Calibri" panose="020F0502020204030204" pitchFamily="34" charset="0"/>
              </a:rPr>
              <a:t>chip.</a:t>
            </a:r>
          </a:p>
        </p:txBody>
      </p:sp>
      <p:cxnSp>
        <p:nvCxnSpPr>
          <p:cNvPr id="10" name="Straight Arrow Connector 9">
            <a:extLst>
              <a:ext uri="{FF2B5EF4-FFF2-40B4-BE49-F238E27FC236}">
                <a16:creationId xmlns:a16="http://schemas.microsoft.com/office/drawing/2014/main" id="{D39BB059-FB3F-4CC4-87FB-8DC8A3638B8B}"/>
              </a:ext>
            </a:extLst>
          </p:cNvPr>
          <p:cNvCxnSpPr>
            <a:cxnSpLocks/>
            <a:stCxn id="4" idx="1"/>
          </p:cNvCxnSpPr>
          <p:nvPr/>
        </p:nvCxnSpPr>
        <p:spPr bwMode="auto">
          <a:xfrm flipH="1">
            <a:off x="6686550" y="5008170"/>
            <a:ext cx="1801622" cy="135330"/>
          </a:xfrm>
          <a:prstGeom prst="straightConnector1">
            <a:avLst/>
          </a:prstGeom>
          <a:noFill/>
          <a:ln w="15875" cap="flat" cmpd="sng" algn="ctr">
            <a:solidFill>
              <a:srgbClr val="FF0000"/>
            </a:solidFill>
            <a:prstDash val="solid"/>
            <a:round/>
            <a:headEnd type="none" w="med" len="med"/>
            <a:tailEnd type="triangle"/>
          </a:ln>
        </p:spPr>
      </p:cxnSp>
      <p:sp>
        <p:nvSpPr>
          <p:cNvPr id="9" name="TextBox 8">
            <a:extLst>
              <a:ext uri="{FF2B5EF4-FFF2-40B4-BE49-F238E27FC236}">
                <a16:creationId xmlns:a16="http://schemas.microsoft.com/office/drawing/2014/main" id="{F290523A-D061-4B10-8AD6-1B768A45B8AB}"/>
              </a:ext>
            </a:extLst>
          </p:cNvPr>
          <p:cNvSpPr txBox="1"/>
          <p:nvPr/>
        </p:nvSpPr>
        <p:spPr>
          <a:xfrm>
            <a:off x="6951951" y="2635495"/>
            <a:ext cx="4830473" cy="1405256"/>
          </a:xfrm>
          <a:prstGeom prst="rect">
            <a:avLst/>
          </a:prstGeom>
          <a:solidFill>
            <a:srgbClr val="FFFF00"/>
          </a:solidFill>
          <a:ln>
            <a:solidFill>
              <a:srgbClr val="FF0000"/>
            </a:solidFill>
          </a:ln>
        </p:spPr>
        <p:txBody>
          <a:bodyPr wrap="square" rtlCol="0" anchor="ctr" anchorCtr="1">
            <a:spAutoFit/>
          </a:bodyPr>
          <a:lstStyle/>
          <a:p>
            <a:pPr lvl="0"/>
            <a:r>
              <a:rPr lang="en-US" sz="2133" dirty="0">
                <a:solidFill>
                  <a:prstClr val="black"/>
                </a:solidFill>
                <a:latin typeface="Calibri" panose="020F0502020204030204" pitchFamily="34" charset="0"/>
                <a:ea typeface="Calibri" panose="020F0502020204030204" pitchFamily="34" charset="0"/>
                <a:cs typeface="Calibri" panose="020F0502020204030204" pitchFamily="34" charset="0"/>
              </a:rPr>
              <a:t>Architecture states must be saved,</a:t>
            </a:r>
          </a:p>
          <a:p>
            <a:r>
              <a:rPr lang="en-US" sz="2133" dirty="0">
                <a:latin typeface="Calibri" panose="020F0502020204030204" pitchFamily="34" charset="0"/>
                <a:ea typeface="Calibri" panose="020F0502020204030204" pitchFamily="34" charset="0"/>
                <a:cs typeface="Calibri" panose="020F0502020204030204" pitchFamily="34" charset="0"/>
              </a:rPr>
              <a:t>at </a:t>
            </a:r>
            <a:r>
              <a:rPr lang="en-US" sz="2133" dirty="0">
                <a:solidFill>
                  <a:srgbClr val="FF0000"/>
                </a:solidFill>
                <a:latin typeface="Calibri" panose="020F0502020204030204" pitchFamily="34" charset="0"/>
                <a:ea typeface="Calibri" panose="020F0502020204030204" pitchFamily="34" charset="0"/>
                <a:cs typeface="Calibri" panose="020F0502020204030204" pitchFamily="34" charset="0"/>
              </a:rPr>
              <a:t>context switches </a:t>
            </a:r>
            <a:r>
              <a:rPr lang="en-US" sz="2133" dirty="0">
                <a:latin typeface="Calibri" panose="020F0502020204030204" pitchFamily="34" charset="0"/>
                <a:ea typeface="Calibri" panose="020F0502020204030204" pitchFamily="34" charset="0"/>
                <a:cs typeface="Calibri" panose="020F0502020204030204" pitchFamily="34" charset="0"/>
              </a:rPr>
              <a:t>(e.g. a </a:t>
            </a:r>
          </a:p>
          <a:p>
            <a:r>
              <a:rPr lang="en-US" sz="2133" dirty="0">
                <a:latin typeface="Calibri" panose="020F0502020204030204" pitchFamily="34" charset="0"/>
                <a:ea typeface="Calibri" panose="020F0502020204030204" pitchFamily="34" charset="0"/>
                <a:cs typeface="Calibri" panose="020F0502020204030204" pitchFamily="34" charset="0"/>
              </a:rPr>
              <a:t>process switch, an interrupt, …).</a:t>
            </a:r>
          </a:p>
          <a:p>
            <a:r>
              <a:rPr lang="en-US" sz="2133" dirty="0">
                <a:latin typeface="Calibri" panose="020F0502020204030204" pitchFamily="34" charset="0"/>
                <a:ea typeface="Calibri" panose="020F0502020204030204" pitchFamily="34" charset="0"/>
                <a:cs typeface="Calibri" panose="020F0502020204030204" pitchFamily="34" charset="0"/>
              </a:rPr>
              <a:t>So that the program may resume!</a:t>
            </a:r>
          </a:p>
        </p:txBody>
      </p:sp>
      <p:sp>
        <p:nvSpPr>
          <p:cNvPr id="11" name="TextBox 10">
            <a:extLst>
              <a:ext uri="{FF2B5EF4-FFF2-40B4-BE49-F238E27FC236}">
                <a16:creationId xmlns:a16="http://schemas.microsoft.com/office/drawing/2014/main" id="{F759376C-CF53-46BC-8692-E7D36A79783E}"/>
              </a:ext>
            </a:extLst>
          </p:cNvPr>
          <p:cNvSpPr txBox="1"/>
          <p:nvPr/>
        </p:nvSpPr>
        <p:spPr>
          <a:xfrm>
            <a:off x="6951951" y="1203872"/>
            <a:ext cx="4830473" cy="1200329"/>
          </a:xfrm>
          <a:prstGeom prst="rect">
            <a:avLst/>
          </a:prstGeom>
          <a:solidFill>
            <a:srgbClr val="FFFF00"/>
          </a:solidFill>
          <a:ln>
            <a:solidFill>
              <a:srgbClr val="FF0000"/>
            </a:solidFill>
          </a:ln>
        </p:spPr>
        <p:txBody>
          <a:bodyPr wrap="square" rtlCol="0" anchor="ctr" anchorCtr="1">
            <a:spAutoFit/>
          </a:bodyPr>
          <a:lstStyle/>
          <a:p>
            <a:pPr lvl="0"/>
            <a:r>
              <a:rPr lang="en-US" b="1" i="1" dirty="0"/>
              <a:t>Architecture state</a:t>
            </a:r>
            <a:r>
              <a:rPr lang="en-US" i="1" dirty="0"/>
              <a:t> is the set of all architecturally visible information that determines the behavior of a processor or system at any instant.</a:t>
            </a:r>
            <a:endParaRPr lang="en-US" sz="2133"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79780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4" end="1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2" end="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animBg="1"/>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RV32I Register State (Architecture State)</a:t>
            </a:r>
          </a:p>
        </p:txBody>
      </p:sp>
      <p:sp>
        <p:nvSpPr>
          <p:cNvPr id="3" name="Content Placeholder 2"/>
          <p:cNvSpPr>
            <a:spLocks noGrp="1"/>
          </p:cNvSpPr>
          <p:nvPr>
            <p:ph idx="1"/>
          </p:nvPr>
        </p:nvSpPr>
        <p:spPr>
          <a:xfrm>
            <a:off x="2051393" y="1159140"/>
            <a:ext cx="7772400" cy="5033621"/>
          </a:xfrm>
        </p:spPr>
        <p:txBody>
          <a:bodyPr/>
          <a:lstStyle/>
          <a:p>
            <a:pPr>
              <a:spcBef>
                <a:spcPts val="300"/>
              </a:spcBef>
            </a:pPr>
            <a:r>
              <a:rPr lang="en-US" sz="2400" dirty="0"/>
              <a:t>32 general purpose registers (GPR)</a:t>
            </a:r>
          </a:p>
          <a:p>
            <a:pPr lvl="1">
              <a:spcBef>
                <a:spcPts val="300"/>
              </a:spcBef>
            </a:pPr>
            <a:r>
              <a:rPr lang="en-US" sz="2000" dirty="0"/>
              <a:t>x0, x1, …, x31</a:t>
            </a:r>
          </a:p>
          <a:p>
            <a:pPr lvl="1">
              <a:spcBef>
                <a:spcPts val="300"/>
              </a:spcBef>
            </a:pPr>
            <a:r>
              <a:rPr lang="en-US" sz="2000" dirty="0"/>
              <a:t>32-bit wide integer registers</a:t>
            </a:r>
          </a:p>
          <a:p>
            <a:pPr lvl="1">
              <a:spcBef>
                <a:spcPts val="300"/>
              </a:spcBef>
            </a:pPr>
            <a:r>
              <a:rPr lang="en-US" sz="2000" dirty="0"/>
              <a:t>x0 is hard-wired to zero</a:t>
            </a:r>
          </a:p>
          <a:p>
            <a:pPr>
              <a:spcBef>
                <a:spcPts val="300"/>
              </a:spcBef>
            </a:pPr>
            <a:r>
              <a:rPr lang="en-US" sz="2400" dirty="0"/>
              <a:t>Program counter (PC)</a:t>
            </a:r>
          </a:p>
          <a:p>
            <a:pPr lvl="1">
              <a:spcBef>
                <a:spcPts val="300"/>
              </a:spcBef>
            </a:pPr>
            <a:r>
              <a:rPr lang="en-US" sz="2000" dirty="0"/>
              <a:t>32-bit wide</a:t>
            </a:r>
          </a:p>
          <a:p>
            <a:pPr>
              <a:spcBef>
                <a:spcPts val="300"/>
              </a:spcBef>
            </a:pPr>
            <a:r>
              <a:rPr lang="en-US" sz="2400" dirty="0"/>
              <a:t>CSR (Control and Status Registers)</a:t>
            </a:r>
          </a:p>
          <a:p>
            <a:pPr lvl="1">
              <a:spcBef>
                <a:spcPts val="300"/>
              </a:spcBef>
            </a:pPr>
            <a:r>
              <a:rPr lang="en-US" sz="2000" dirty="0"/>
              <a:t>User-mode</a:t>
            </a:r>
          </a:p>
          <a:p>
            <a:pPr lvl="2">
              <a:spcBef>
                <a:spcPts val="300"/>
              </a:spcBef>
            </a:pPr>
            <a:r>
              <a:rPr lang="en-US" sz="1600" dirty="0">
                <a:solidFill>
                  <a:srgbClr val="7030A0"/>
                </a:solidFill>
              </a:rPr>
              <a:t>cycle</a:t>
            </a:r>
            <a:r>
              <a:rPr lang="en-US" sz="1600" dirty="0"/>
              <a:t> (clock cycles) // read only</a:t>
            </a:r>
          </a:p>
          <a:p>
            <a:pPr lvl="2">
              <a:spcBef>
                <a:spcPts val="300"/>
              </a:spcBef>
            </a:pPr>
            <a:r>
              <a:rPr lang="en-US" sz="1600" dirty="0" err="1">
                <a:solidFill>
                  <a:srgbClr val="7030A0"/>
                </a:solidFill>
              </a:rPr>
              <a:t>instret</a:t>
            </a:r>
            <a:r>
              <a:rPr lang="en-US" sz="1600" dirty="0">
                <a:solidFill>
                  <a:srgbClr val="7030A0"/>
                </a:solidFill>
              </a:rPr>
              <a:t> (i</a:t>
            </a:r>
            <a:r>
              <a:rPr lang="en-US" sz="1600" dirty="0"/>
              <a:t>nstruction counts) // read only</a:t>
            </a:r>
          </a:p>
          <a:p>
            <a:pPr lvl="1">
              <a:spcBef>
                <a:spcPts val="300"/>
              </a:spcBef>
            </a:pPr>
            <a:r>
              <a:rPr lang="en-US" sz="2000" dirty="0"/>
              <a:t>Machine-mode</a:t>
            </a:r>
          </a:p>
          <a:p>
            <a:pPr lvl="2">
              <a:spcBef>
                <a:spcPts val="300"/>
              </a:spcBef>
            </a:pPr>
            <a:r>
              <a:rPr lang="en-US" sz="1600" dirty="0" err="1">
                <a:solidFill>
                  <a:srgbClr val="7030A0"/>
                </a:solidFill>
              </a:rPr>
              <a:t>hartid</a:t>
            </a:r>
            <a:r>
              <a:rPr lang="en-US" sz="1600" dirty="0"/>
              <a:t> (hardware thread ID) // read only</a:t>
            </a:r>
          </a:p>
          <a:p>
            <a:pPr lvl="2">
              <a:spcBef>
                <a:spcPts val="300"/>
              </a:spcBef>
            </a:pPr>
            <a:r>
              <a:rPr lang="en-US" sz="1600" dirty="0" err="1">
                <a:solidFill>
                  <a:schemeClr val="tx2"/>
                </a:solidFill>
              </a:rPr>
              <a:t>mepc</a:t>
            </a:r>
            <a:r>
              <a:rPr lang="en-US" sz="1600" dirty="0">
                <a:solidFill>
                  <a:schemeClr val="tx2"/>
                </a:solidFill>
              </a:rPr>
              <a:t>, </a:t>
            </a:r>
            <a:r>
              <a:rPr lang="en-US" sz="1600" dirty="0" err="1">
                <a:solidFill>
                  <a:schemeClr val="tx2"/>
                </a:solidFill>
              </a:rPr>
              <a:t>mcause</a:t>
            </a:r>
            <a:r>
              <a:rPr lang="en-US" sz="1600" dirty="0">
                <a:solidFill>
                  <a:schemeClr val="tx2"/>
                </a:solidFill>
              </a:rPr>
              <a:t> </a:t>
            </a:r>
            <a:r>
              <a:rPr lang="en-US" sz="1600" dirty="0"/>
              <a:t>etc. used for exception handling</a:t>
            </a:r>
            <a:endParaRPr lang="en-US" sz="2000" dirty="0"/>
          </a:p>
          <a:p>
            <a:pPr lvl="1">
              <a:spcBef>
                <a:spcPts val="300"/>
              </a:spcBef>
            </a:pPr>
            <a:r>
              <a:rPr lang="en-US" sz="2000" dirty="0"/>
              <a:t>Custom</a:t>
            </a:r>
          </a:p>
          <a:p>
            <a:pPr lvl="2">
              <a:spcBef>
                <a:spcPts val="300"/>
              </a:spcBef>
            </a:pPr>
            <a:r>
              <a:rPr lang="en-US" sz="1600" dirty="0" err="1">
                <a:solidFill>
                  <a:srgbClr val="7030A0"/>
                </a:solidFill>
              </a:rPr>
              <a:t>mtohost</a:t>
            </a:r>
            <a:r>
              <a:rPr lang="en-US" sz="1600" dirty="0"/>
              <a:t> (output to host) // write only – custom extension</a:t>
            </a:r>
          </a:p>
          <a:p>
            <a:pPr lvl="1">
              <a:spcBef>
                <a:spcPts val="300"/>
              </a:spcBef>
            </a:pPr>
            <a:endParaRPr lang="en-US" sz="2000" dirty="0"/>
          </a:p>
          <a:p>
            <a:pPr lvl="1">
              <a:spcBef>
                <a:spcPts val="300"/>
              </a:spcBef>
            </a:pPr>
            <a:endParaRPr lang="en-US" sz="2000" dirty="0"/>
          </a:p>
          <a:p>
            <a:pPr>
              <a:spcBef>
                <a:spcPts val="300"/>
              </a:spcBef>
            </a:pPr>
            <a:endParaRPr lang="en-US" sz="2400" dirty="0"/>
          </a:p>
        </p:txBody>
      </p:sp>
      <p:sp>
        <p:nvSpPr>
          <p:cNvPr id="6" name="Date Placeholder 5"/>
          <p:cNvSpPr>
            <a:spLocks noGrp="1"/>
          </p:cNvSpPr>
          <p:nvPr>
            <p:ph type="dt" sz="half" idx="10"/>
          </p:nvPr>
        </p:nvSpPr>
        <p:spPr/>
        <p:txBody>
          <a:bodyPr/>
          <a:lstStyle/>
          <a:p>
            <a:pPr>
              <a:defRPr/>
            </a:pPr>
            <a:r>
              <a:rPr lang="en-US" dirty="0"/>
              <a:t>September 27, 2024</a:t>
            </a:r>
          </a:p>
        </p:txBody>
      </p:sp>
      <p:sp>
        <p:nvSpPr>
          <p:cNvPr id="7" name="Footer Placeholder 6"/>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8" name="Slide Number Placeholder 7"/>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13</a:t>
            </a:fld>
            <a:endParaRPr lang="en-US" dirty="0"/>
          </a:p>
        </p:txBody>
      </p:sp>
      <p:sp>
        <p:nvSpPr>
          <p:cNvPr id="12" name="TextBox 11">
            <a:extLst>
              <a:ext uri="{FF2B5EF4-FFF2-40B4-BE49-F238E27FC236}">
                <a16:creationId xmlns:a16="http://schemas.microsoft.com/office/drawing/2014/main" id="{3F17753D-6995-4D9C-ACA0-92EC7BBF308C}"/>
              </a:ext>
            </a:extLst>
          </p:cNvPr>
          <p:cNvSpPr txBox="1"/>
          <p:nvPr/>
        </p:nvSpPr>
        <p:spPr>
          <a:xfrm>
            <a:off x="6945944" y="1123241"/>
            <a:ext cx="4830473" cy="1733488"/>
          </a:xfrm>
          <a:prstGeom prst="rect">
            <a:avLst/>
          </a:prstGeom>
          <a:solidFill>
            <a:srgbClr val="FFFF00"/>
          </a:solidFill>
          <a:ln>
            <a:solidFill>
              <a:srgbClr val="FF0000"/>
            </a:solidFill>
          </a:ln>
        </p:spPr>
        <p:txBody>
          <a:bodyPr wrap="square" rtlCol="0" anchor="ctr" anchorCtr="1">
            <a:spAutoFit/>
          </a:bodyPr>
          <a:lstStyle/>
          <a:p>
            <a:pPr lvl="0"/>
            <a:r>
              <a:rPr lang="en-US" sz="2133" dirty="0">
                <a:latin typeface="Calibri" panose="020F0502020204030204" pitchFamily="34" charset="0"/>
                <a:ea typeface="Calibri" panose="020F0502020204030204" pitchFamily="34" charset="0"/>
                <a:cs typeface="Calibri" panose="020F0502020204030204" pitchFamily="34" charset="0"/>
              </a:rPr>
              <a:t>A = A + 1;</a:t>
            </a:r>
          </a:p>
          <a:p>
            <a:pPr lvl="0"/>
            <a:endParaRPr lang="en-US" sz="2133" dirty="0">
              <a:latin typeface="Calibri" panose="020F0502020204030204" pitchFamily="34" charset="0"/>
              <a:ea typeface="Calibri" panose="020F0502020204030204" pitchFamily="34" charset="0"/>
              <a:cs typeface="Calibri" panose="020F0502020204030204" pitchFamily="34" charset="0"/>
            </a:endParaRPr>
          </a:p>
          <a:p>
            <a:pPr lvl="0"/>
            <a:r>
              <a:rPr lang="en-US" sz="2133" dirty="0">
                <a:latin typeface="Calibri" panose="020F0502020204030204" pitchFamily="34" charset="0"/>
                <a:ea typeface="Calibri" panose="020F0502020204030204" pitchFamily="34" charset="0"/>
                <a:cs typeface="Calibri" panose="020F0502020204030204" pitchFamily="34" charset="0"/>
              </a:rPr>
              <a:t>LW 	X2, 0(X1)</a:t>
            </a:r>
          </a:p>
          <a:p>
            <a:pPr lvl="0"/>
            <a:r>
              <a:rPr lang="en-US" sz="2133" dirty="0">
                <a:latin typeface="Calibri" panose="020F0502020204030204" pitchFamily="34" charset="0"/>
                <a:ea typeface="Calibri" panose="020F0502020204030204" pitchFamily="34" charset="0"/>
                <a:cs typeface="Calibri" panose="020F0502020204030204" pitchFamily="34" charset="0"/>
              </a:rPr>
              <a:t>ADDI 	X2, X2, 1</a:t>
            </a:r>
          </a:p>
          <a:p>
            <a:pPr lvl="0"/>
            <a:r>
              <a:rPr lang="en-US" sz="2133" dirty="0">
                <a:latin typeface="Calibri" panose="020F0502020204030204" pitchFamily="34" charset="0"/>
                <a:ea typeface="Calibri" panose="020F0502020204030204" pitchFamily="34" charset="0"/>
                <a:cs typeface="Calibri" panose="020F0502020204030204" pitchFamily="34" charset="0"/>
              </a:rPr>
              <a:t>SW	X2, 0(X1)</a:t>
            </a:r>
          </a:p>
        </p:txBody>
      </p:sp>
      <p:sp>
        <p:nvSpPr>
          <p:cNvPr id="13" name="TextBox 12">
            <a:extLst>
              <a:ext uri="{FF2B5EF4-FFF2-40B4-BE49-F238E27FC236}">
                <a16:creationId xmlns:a16="http://schemas.microsoft.com/office/drawing/2014/main" id="{D0EB1B20-D437-4431-A7D5-6A5E1029304D}"/>
              </a:ext>
            </a:extLst>
          </p:cNvPr>
          <p:cNvSpPr txBox="1"/>
          <p:nvPr/>
        </p:nvSpPr>
        <p:spPr>
          <a:xfrm>
            <a:off x="6945944" y="3331588"/>
            <a:ext cx="4830473" cy="2718180"/>
          </a:xfrm>
          <a:prstGeom prst="rect">
            <a:avLst/>
          </a:prstGeom>
          <a:solidFill>
            <a:srgbClr val="FFFF00"/>
          </a:solidFill>
          <a:ln>
            <a:solidFill>
              <a:srgbClr val="FF0000"/>
            </a:solidFill>
          </a:ln>
        </p:spPr>
        <p:txBody>
          <a:bodyPr wrap="square" rtlCol="0" anchor="ctr" anchorCtr="1">
            <a:spAutoFit/>
          </a:bodyPr>
          <a:lstStyle/>
          <a:p>
            <a:pPr lvl="0"/>
            <a:r>
              <a:rPr lang="en-US" sz="2133" dirty="0">
                <a:latin typeface="Calibri" panose="020F0502020204030204" pitchFamily="34" charset="0"/>
                <a:ea typeface="Calibri" panose="020F0502020204030204" pitchFamily="34" charset="0"/>
                <a:cs typeface="Calibri" panose="020F0502020204030204" pitchFamily="34" charset="0"/>
              </a:rPr>
              <a:t>X = X *Y + Z;</a:t>
            </a:r>
          </a:p>
          <a:p>
            <a:pPr lvl="0"/>
            <a:endParaRPr lang="en-US" sz="2133" dirty="0">
              <a:latin typeface="Calibri" panose="020F0502020204030204" pitchFamily="34" charset="0"/>
              <a:ea typeface="Calibri" panose="020F0502020204030204" pitchFamily="34" charset="0"/>
              <a:cs typeface="Calibri" panose="020F0502020204030204" pitchFamily="34" charset="0"/>
            </a:endParaRPr>
          </a:p>
          <a:p>
            <a:pPr lvl="0"/>
            <a:r>
              <a:rPr lang="en-US" sz="2133" dirty="0">
                <a:latin typeface="Calibri" panose="020F0502020204030204" pitchFamily="34" charset="0"/>
                <a:ea typeface="Calibri" panose="020F0502020204030204" pitchFamily="34" charset="0"/>
                <a:cs typeface="Calibri" panose="020F0502020204030204" pitchFamily="34" charset="0"/>
              </a:rPr>
              <a:t>LW 	F2, 0(X1)   	// x</a:t>
            </a:r>
          </a:p>
          <a:p>
            <a:pPr lvl="0"/>
            <a:r>
              <a:rPr lang="en-US" sz="2133" dirty="0">
                <a:latin typeface="Calibri" panose="020F0502020204030204" pitchFamily="34" charset="0"/>
                <a:ea typeface="Calibri" panose="020F0502020204030204" pitchFamily="34" charset="0"/>
                <a:cs typeface="Calibri" panose="020F0502020204030204" pitchFamily="34" charset="0"/>
              </a:rPr>
              <a:t>LW	F3, 4(X1)	// y</a:t>
            </a:r>
          </a:p>
          <a:p>
            <a:pPr lvl="0"/>
            <a:r>
              <a:rPr lang="en-US" sz="2133" dirty="0">
                <a:latin typeface="Calibri" panose="020F0502020204030204" pitchFamily="34" charset="0"/>
                <a:ea typeface="Calibri" panose="020F0502020204030204" pitchFamily="34" charset="0"/>
                <a:cs typeface="Calibri" panose="020F0502020204030204" pitchFamily="34" charset="0"/>
              </a:rPr>
              <a:t>LW	F4, 8(X1)	// z</a:t>
            </a:r>
          </a:p>
          <a:p>
            <a:pPr lvl="0"/>
            <a:r>
              <a:rPr lang="en-US" sz="2133" dirty="0">
                <a:latin typeface="Calibri" panose="020F0502020204030204" pitchFamily="34" charset="0"/>
                <a:ea typeface="Calibri" panose="020F0502020204030204" pitchFamily="34" charset="0"/>
                <a:cs typeface="Calibri" panose="020F0502020204030204" pitchFamily="34" charset="0"/>
              </a:rPr>
              <a:t>FMUL 	F2, F2, F3	// x*y</a:t>
            </a:r>
          </a:p>
          <a:p>
            <a:pPr lvl="0"/>
            <a:r>
              <a:rPr lang="en-US" sz="2133" dirty="0">
                <a:latin typeface="Calibri" panose="020F0502020204030204" pitchFamily="34" charset="0"/>
                <a:ea typeface="Calibri" panose="020F0502020204030204" pitchFamily="34" charset="0"/>
                <a:cs typeface="Calibri" panose="020F0502020204030204" pitchFamily="34" charset="0"/>
              </a:rPr>
              <a:t>FADD	F2, F2, F4	// x*</a:t>
            </a:r>
            <a:r>
              <a:rPr lang="en-US" sz="2133" dirty="0" err="1">
                <a:latin typeface="Calibri" panose="020F0502020204030204" pitchFamily="34" charset="0"/>
                <a:ea typeface="Calibri" panose="020F0502020204030204" pitchFamily="34" charset="0"/>
                <a:cs typeface="Calibri" panose="020F0502020204030204" pitchFamily="34" charset="0"/>
              </a:rPr>
              <a:t>y+z</a:t>
            </a:r>
            <a:endParaRPr lang="en-US" sz="2133" dirty="0">
              <a:latin typeface="Calibri" panose="020F0502020204030204" pitchFamily="34" charset="0"/>
              <a:ea typeface="Calibri" panose="020F0502020204030204" pitchFamily="34" charset="0"/>
              <a:cs typeface="Calibri" panose="020F0502020204030204" pitchFamily="34" charset="0"/>
            </a:endParaRPr>
          </a:p>
          <a:p>
            <a:pPr lvl="0"/>
            <a:r>
              <a:rPr lang="en-US" sz="2133" dirty="0">
                <a:latin typeface="Calibri" panose="020F0502020204030204" pitchFamily="34" charset="0"/>
                <a:ea typeface="Calibri" panose="020F0502020204030204" pitchFamily="34" charset="0"/>
                <a:cs typeface="Calibri" panose="020F0502020204030204" pitchFamily="34" charset="0"/>
              </a:rPr>
              <a:t>SW	F2, 0(X1)</a:t>
            </a:r>
          </a:p>
        </p:txBody>
      </p:sp>
    </p:spTree>
    <p:extLst>
      <p:ext uri="{BB962C8B-B14F-4D97-AF65-F5344CB8AC3E}">
        <p14:creationId xmlns:p14="http://schemas.microsoft.com/office/powerpoint/2010/main" val="3115779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RV32I Register State (Architecture State)</a:t>
            </a:r>
          </a:p>
        </p:txBody>
      </p:sp>
      <p:sp>
        <p:nvSpPr>
          <p:cNvPr id="3" name="Content Placeholder 2"/>
          <p:cNvSpPr>
            <a:spLocks noGrp="1"/>
          </p:cNvSpPr>
          <p:nvPr>
            <p:ph idx="1"/>
          </p:nvPr>
        </p:nvSpPr>
        <p:spPr>
          <a:xfrm>
            <a:off x="2051393" y="1159140"/>
            <a:ext cx="7772400" cy="5033621"/>
          </a:xfrm>
        </p:spPr>
        <p:txBody>
          <a:bodyPr/>
          <a:lstStyle/>
          <a:p>
            <a:pPr>
              <a:spcBef>
                <a:spcPts val="300"/>
              </a:spcBef>
            </a:pPr>
            <a:r>
              <a:rPr lang="en-US" sz="2400" dirty="0"/>
              <a:t>32 general purpose registers (GPR)</a:t>
            </a:r>
          </a:p>
          <a:p>
            <a:pPr lvl="1">
              <a:spcBef>
                <a:spcPts val="300"/>
              </a:spcBef>
            </a:pPr>
            <a:r>
              <a:rPr lang="en-US" sz="2000" dirty="0"/>
              <a:t>x0, x1, …, x31</a:t>
            </a:r>
          </a:p>
          <a:p>
            <a:pPr lvl="1">
              <a:spcBef>
                <a:spcPts val="300"/>
              </a:spcBef>
            </a:pPr>
            <a:r>
              <a:rPr lang="en-US" sz="2000" dirty="0"/>
              <a:t>32-bit wide integer registers</a:t>
            </a:r>
          </a:p>
          <a:p>
            <a:pPr lvl="1">
              <a:spcBef>
                <a:spcPts val="300"/>
              </a:spcBef>
            </a:pPr>
            <a:r>
              <a:rPr lang="en-US" sz="2000" dirty="0"/>
              <a:t>x0 is hard-wired to zero</a:t>
            </a:r>
          </a:p>
          <a:p>
            <a:pPr>
              <a:spcBef>
                <a:spcPts val="300"/>
              </a:spcBef>
            </a:pPr>
            <a:r>
              <a:rPr lang="en-US" sz="2400" dirty="0"/>
              <a:t>Program counter (PC)</a:t>
            </a:r>
          </a:p>
          <a:p>
            <a:pPr lvl="1">
              <a:spcBef>
                <a:spcPts val="300"/>
              </a:spcBef>
            </a:pPr>
            <a:r>
              <a:rPr lang="en-US" sz="2000" dirty="0"/>
              <a:t>32-bit wide</a:t>
            </a:r>
          </a:p>
          <a:p>
            <a:pPr>
              <a:spcBef>
                <a:spcPts val="300"/>
              </a:spcBef>
            </a:pPr>
            <a:r>
              <a:rPr lang="en-US" sz="2400" dirty="0"/>
              <a:t>CSR (Control and Status Registers)</a:t>
            </a:r>
          </a:p>
          <a:p>
            <a:pPr lvl="1">
              <a:spcBef>
                <a:spcPts val="300"/>
              </a:spcBef>
            </a:pPr>
            <a:r>
              <a:rPr lang="en-US" sz="2000" dirty="0"/>
              <a:t>User-mode</a:t>
            </a:r>
          </a:p>
          <a:p>
            <a:pPr lvl="2">
              <a:spcBef>
                <a:spcPts val="300"/>
              </a:spcBef>
            </a:pPr>
            <a:r>
              <a:rPr lang="en-US" sz="1600" dirty="0">
                <a:solidFill>
                  <a:srgbClr val="7030A0"/>
                </a:solidFill>
              </a:rPr>
              <a:t>cycle</a:t>
            </a:r>
            <a:r>
              <a:rPr lang="en-US" sz="1600" dirty="0"/>
              <a:t> (clock cycles) // read only</a:t>
            </a:r>
          </a:p>
          <a:p>
            <a:pPr lvl="2">
              <a:spcBef>
                <a:spcPts val="300"/>
              </a:spcBef>
            </a:pPr>
            <a:r>
              <a:rPr lang="en-US" sz="1600" dirty="0" err="1">
                <a:solidFill>
                  <a:srgbClr val="7030A0"/>
                </a:solidFill>
              </a:rPr>
              <a:t>instret</a:t>
            </a:r>
            <a:r>
              <a:rPr lang="en-US" sz="1600" dirty="0">
                <a:solidFill>
                  <a:srgbClr val="7030A0"/>
                </a:solidFill>
              </a:rPr>
              <a:t> (i</a:t>
            </a:r>
            <a:r>
              <a:rPr lang="en-US" sz="1600" dirty="0"/>
              <a:t>nstruction counts) // read only</a:t>
            </a:r>
          </a:p>
          <a:p>
            <a:pPr lvl="1">
              <a:spcBef>
                <a:spcPts val="300"/>
              </a:spcBef>
            </a:pPr>
            <a:r>
              <a:rPr lang="en-US" sz="2000" dirty="0"/>
              <a:t>Machine-mode</a:t>
            </a:r>
          </a:p>
          <a:p>
            <a:pPr lvl="2">
              <a:spcBef>
                <a:spcPts val="300"/>
              </a:spcBef>
            </a:pPr>
            <a:r>
              <a:rPr lang="en-US" sz="1600" dirty="0" err="1">
                <a:solidFill>
                  <a:srgbClr val="7030A0"/>
                </a:solidFill>
              </a:rPr>
              <a:t>hartid</a:t>
            </a:r>
            <a:r>
              <a:rPr lang="en-US" sz="1600" dirty="0"/>
              <a:t> (hardware thread ID) // read only</a:t>
            </a:r>
          </a:p>
          <a:p>
            <a:pPr lvl="2">
              <a:spcBef>
                <a:spcPts val="300"/>
              </a:spcBef>
            </a:pPr>
            <a:r>
              <a:rPr lang="en-US" sz="1600" dirty="0" err="1">
                <a:solidFill>
                  <a:schemeClr val="tx2"/>
                </a:solidFill>
              </a:rPr>
              <a:t>mepc</a:t>
            </a:r>
            <a:r>
              <a:rPr lang="en-US" sz="1600" dirty="0">
                <a:solidFill>
                  <a:schemeClr val="tx2"/>
                </a:solidFill>
              </a:rPr>
              <a:t>, </a:t>
            </a:r>
            <a:r>
              <a:rPr lang="en-US" sz="1600" dirty="0" err="1">
                <a:solidFill>
                  <a:schemeClr val="tx2"/>
                </a:solidFill>
              </a:rPr>
              <a:t>mcause</a:t>
            </a:r>
            <a:r>
              <a:rPr lang="en-US" sz="1600" dirty="0">
                <a:solidFill>
                  <a:schemeClr val="tx2"/>
                </a:solidFill>
              </a:rPr>
              <a:t> </a:t>
            </a:r>
            <a:r>
              <a:rPr lang="en-US" sz="1600" dirty="0"/>
              <a:t>etc. used for exception handling</a:t>
            </a:r>
            <a:endParaRPr lang="en-US" sz="2000" dirty="0"/>
          </a:p>
          <a:p>
            <a:pPr lvl="1">
              <a:spcBef>
                <a:spcPts val="300"/>
              </a:spcBef>
            </a:pPr>
            <a:r>
              <a:rPr lang="en-US" sz="2000" dirty="0"/>
              <a:t>Custom</a:t>
            </a:r>
          </a:p>
          <a:p>
            <a:pPr lvl="2">
              <a:spcBef>
                <a:spcPts val="300"/>
              </a:spcBef>
            </a:pPr>
            <a:r>
              <a:rPr lang="en-US" sz="1600" dirty="0" err="1">
                <a:solidFill>
                  <a:srgbClr val="7030A0"/>
                </a:solidFill>
              </a:rPr>
              <a:t>mtohost</a:t>
            </a:r>
            <a:r>
              <a:rPr lang="en-US" sz="1600" dirty="0"/>
              <a:t> (output to host) // write only – custom extension</a:t>
            </a:r>
          </a:p>
          <a:p>
            <a:pPr lvl="1">
              <a:spcBef>
                <a:spcPts val="300"/>
              </a:spcBef>
            </a:pPr>
            <a:endParaRPr lang="en-US" sz="2000" dirty="0"/>
          </a:p>
          <a:p>
            <a:pPr lvl="1">
              <a:spcBef>
                <a:spcPts val="300"/>
              </a:spcBef>
            </a:pPr>
            <a:endParaRPr lang="en-US" sz="2000" dirty="0"/>
          </a:p>
          <a:p>
            <a:pPr>
              <a:spcBef>
                <a:spcPts val="300"/>
              </a:spcBef>
            </a:pPr>
            <a:endParaRPr lang="en-US" sz="2400" dirty="0"/>
          </a:p>
        </p:txBody>
      </p:sp>
      <p:sp>
        <p:nvSpPr>
          <p:cNvPr id="6" name="Date Placeholder 5"/>
          <p:cNvSpPr>
            <a:spLocks noGrp="1"/>
          </p:cNvSpPr>
          <p:nvPr>
            <p:ph type="dt" sz="half" idx="10"/>
          </p:nvPr>
        </p:nvSpPr>
        <p:spPr/>
        <p:txBody>
          <a:bodyPr/>
          <a:lstStyle/>
          <a:p>
            <a:pPr>
              <a:defRPr/>
            </a:pPr>
            <a:r>
              <a:rPr lang="en-US" dirty="0"/>
              <a:t>September 27, 2024</a:t>
            </a:r>
          </a:p>
        </p:txBody>
      </p:sp>
      <p:sp>
        <p:nvSpPr>
          <p:cNvPr id="7" name="Footer Placeholder 6"/>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8" name="Slide Number Placeholder 7"/>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14</a:t>
            </a:fld>
            <a:endParaRPr lang="en-US" dirty="0"/>
          </a:p>
        </p:txBody>
      </p:sp>
      <p:sp>
        <p:nvSpPr>
          <p:cNvPr id="12" name="TextBox 11">
            <a:extLst>
              <a:ext uri="{FF2B5EF4-FFF2-40B4-BE49-F238E27FC236}">
                <a16:creationId xmlns:a16="http://schemas.microsoft.com/office/drawing/2014/main" id="{3F17753D-6995-4D9C-ACA0-92EC7BBF308C}"/>
              </a:ext>
            </a:extLst>
          </p:cNvPr>
          <p:cNvSpPr txBox="1"/>
          <p:nvPr/>
        </p:nvSpPr>
        <p:spPr>
          <a:xfrm>
            <a:off x="6945944" y="1123241"/>
            <a:ext cx="4830473" cy="1733488"/>
          </a:xfrm>
          <a:prstGeom prst="rect">
            <a:avLst/>
          </a:prstGeom>
          <a:solidFill>
            <a:srgbClr val="FFFF00"/>
          </a:solidFill>
          <a:ln>
            <a:solidFill>
              <a:srgbClr val="FF0000"/>
            </a:solidFill>
          </a:ln>
        </p:spPr>
        <p:txBody>
          <a:bodyPr wrap="square" rtlCol="0" anchor="ctr" anchorCtr="1">
            <a:spAutoFit/>
          </a:bodyPr>
          <a:lstStyle/>
          <a:p>
            <a:pPr lvl="0"/>
            <a:r>
              <a:rPr lang="en-US" sz="2133" dirty="0">
                <a:latin typeface="Calibri" panose="020F0502020204030204" pitchFamily="34" charset="0"/>
                <a:ea typeface="Calibri" panose="020F0502020204030204" pitchFamily="34" charset="0"/>
                <a:cs typeface="Calibri" panose="020F0502020204030204" pitchFamily="34" charset="0"/>
              </a:rPr>
              <a:t>A = A + 1;</a:t>
            </a:r>
          </a:p>
          <a:p>
            <a:pPr lvl="0"/>
            <a:endParaRPr lang="en-US" sz="2133" dirty="0">
              <a:latin typeface="Calibri" panose="020F0502020204030204" pitchFamily="34" charset="0"/>
              <a:ea typeface="Calibri" panose="020F0502020204030204" pitchFamily="34" charset="0"/>
              <a:cs typeface="Calibri" panose="020F0502020204030204" pitchFamily="34" charset="0"/>
            </a:endParaRPr>
          </a:p>
          <a:p>
            <a:pPr lvl="0"/>
            <a:r>
              <a:rPr lang="en-US" sz="2133" dirty="0">
                <a:latin typeface="Calibri" panose="020F0502020204030204" pitchFamily="34" charset="0"/>
                <a:ea typeface="Calibri" panose="020F0502020204030204" pitchFamily="34" charset="0"/>
                <a:cs typeface="Calibri" panose="020F0502020204030204" pitchFamily="34" charset="0"/>
              </a:rPr>
              <a:t>LW 	X2, 0(X1)</a:t>
            </a:r>
          </a:p>
          <a:p>
            <a:pPr lvl="0"/>
            <a:r>
              <a:rPr lang="en-US" sz="2133" dirty="0">
                <a:latin typeface="Calibri" panose="020F0502020204030204" pitchFamily="34" charset="0"/>
                <a:ea typeface="Calibri" panose="020F0502020204030204" pitchFamily="34" charset="0"/>
                <a:cs typeface="Calibri" panose="020F0502020204030204" pitchFamily="34" charset="0"/>
              </a:rPr>
              <a:t>ADDI 	X2, X2, 1</a:t>
            </a:r>
          </a:p>
          <a:p>
            <a:pPr lvl="0"/>
            <a:r>
              <a:rPr lang="en-US" sz="2133" dirty="0">
                <a:latin typeface="Calibri" panose="020F0502020204030204" pitchFamily="34" charset="0"/>
                <a:ea typeface="Calibri" panose="020F0502020204030204" pitchFamily="34" charset="0"/>
                <a:cs typeface="Calibri" panose="020F0502020204030204" pitchFamily="34" charset="0"/>
              </a:rPr>
              <a:t>SW	X2, 0(X1)</a:t>
            </a:r>
          </a:p>
        </p:txBody>
      </p:sp>
      <p:sp>
        <p:nvSpPr>
          <p:cNvPr id="13" name="TextBox 12">
            <a:extLst>
              <a:ext uri="{FF2B5EF4-FFF2-40B4-BE49-F238E27FC236}">
                <a16:creationId xmlns:a16="http://schemas.microsoft.com/office/drawing/2014/main" id="{D0EB1B20-D437-4431-A7D5-6A5E1029304D}"/>
              </a:ext>
            </a:extLst>
          </p:cNvPr>
          <p:cNvSpPr txBox="1"/>
          <p:nvPr/>
        </p:nvSpPr>
        <p:spPr>
          <a:xfrm>
            <a:off x="3522356" y="2980680"/>
            <a:ext cx="4830473" cy="2718180"/>
          </a:xfrm>
          <a:prstGeom prst="rect">
            <a:avLst/>
          </a:prstGeom>
          <a:solidFill>
            <a:srgbClr val="FFFF00"/>
          </a:solidFill>
          <a:ln>
            <a:solidFill>
              <a:srgbClr val="FF0000"/>
            </a:solidFill>
          </a:ln>
        </p:spPr>
        <p:txBody>
          <a:bodyPr wrap="square" rtlCol="0" anchor="ctr" anchorCtr="1">
            <a:spAutoFit/>
          </a:bodyPr>
          <a:lstStyle/>
          <a:p>
            <a:pPr lvl="0"/>
            <a:r>
              <a:rPr lang="en-US" sz="2133" dirty="0">
                <a:latin typeface="Calibri" panose="020F0502020204030204" pitchFamily="34" charset="0"/>
                <a:ea typeface="Calibri" panose="020F0502020204030204" pitchFamily="34" charset="0"/>
                <a:cs typeface="Calibri" panose="020F0502020204030204" pitchFamily="34" charset="0"/>
              </a:rPr>
              <a:t>X = X *Y + Z;</a:t>
            </a:r>
          </a:p>
          <a:p>
            <a:pPr lvl="0"/>
            <a:endParaRPr lang="en-US" sz="2133" dirty="0">
              <a:latin typeface="Calibri" panose="020F0502020204030204" pitchFamily="34" charset="0"/>
              <a:ea typeface="Calibri" panose="020F0502020204030204" pitchFamily="34" charset="0"/>
              <a:cs typeface="Calibri" panose="020F0502020204030204" pitchFamily="34" charset="0"/>
            </a:endParaRPr>
          </a:p>
          <a:p>
            <a:pPr lvl="0"/>
            <a:r>
              <a:rPr lang="en-US" sz="2133" dirty="0">
                <a:latin typeface="Calibri" panose="020F0502020204030204" pitchFamily="34" charset="0"/>
                <a:ea typeface="Calibri" panose="020F0502020204030204" pitchFamily="34" charset="0"/>
                <a:cs typeface="Calibri" panose="020F0502020204030204" pitchFamily="34" charset="0"/>
              </a:rPr>
              <a:t>LW 	F2, 0(X1)</a:t>
            </a:r>
          </a:p>
          <a:p>
            <a:pPr lvl="0"/>
            <a:r>
              <a:rPr lang="en-US" sz="2133" dirty="0">
                <a:latin typeface="Calibri" panose="020F0502020204030204" pitchFamily="34" charset="0"/>
                <a:ea typeface="Calibri" panose="020F0502020204030204" pitchFamily="34" charset="0"/>
                <a:cs typeface="Calibri" panose="020F0502020204030204" pitchFamily="34" charset="0"/>
              </a:rPr>
              <a:t>LW	F3, 4(X1)</a:t>
            </a:r>
          </a:p>
          <a:p>
            <a:pPr lvl="0"/>
            <a:r>
              <a:rPr lang="en-US" sz="2133" dirty="0">
                <a:latin typeface="Calibri" panose="020F0502020204030204" pitchFamily="34" charset="0"/>
                <a:ea typeface="Calibri" panose="020F0502020204030204" pitchFamily="34" charset="0"/>
                <a:cs typeface="Calibri" panose="020F0502020204030204" pitchFamily="34" charset="0"/>
              </a:rPr>
              <a:t>LW	F4, 8(X1)</a:t>
            </a:r>
          </a:p>
          <a:p>
            <a:pPr lvl="0"/>
            <a:r>
              <a:rPr lang="en-US" sz="2133" dirty="0">
                <a:latin typeface="Calibri" panose="020F0502020204030204" pitchFamily="34" charset="0"/>
                <a:ea typeface="Calibri" panose="020F0502020204030204" pitchFamily="34" charset="0"/>
                <a:cs typeface="Calibri" panose="020F0502020204030204" pitchFamily="34" charset="0"/>
              </a:rPr>
              <a:t>FMUL 	F2, F2, F3</a:t>
            </a:r>
          </a:p>
          <a:p>
            <a:pPr lvl="0"/>
            <a:r>
              <a:rPr lang="en-US" sz="2133" dirty="0">
                <a:latin typeface="Calibri" panose="020F0502020204030204" pitchFamily="34" charset="0"/>
                <a:ea typeface="Calibri" panose="020F0502020204030204" pitchFamily="34" charset="0"/>
                <a:cs typeface="Calibri" panose="020F0502020204030204" pitchFamily="34" charset="0"/>
              </a:rPr>
              <a:t>FADD	F2, F2, F4</a:t>
            </a:r>
          </a:p>
          <a:p>
            <a:pPr lvl="0"/>
            <a:r>
              <a:rPr lang="en-US" sz="2133" dirty="0">
                <a:latin typeface="Calibri" panose="020F0502020204030204" pitchFamily="34" charset="0"/>
                <a:ea typeface="Calibri" panose="020F0502020204030204" pitchFamily="34" charset="0"/>
                <a:cs typeface="Calibri" panose="020F0502020204030204" pitchFamily="34" charset="0"/>
              </a:rPr>
              <a:t>SW	F2, 0(X1)</a:t>
            </a:r>
          </a:p>
        </p:txBody>
      </p:sp>
      <p:sp>
        <p:nvSpPr>
          <p:cNvPr id="10" name="TextBox 9">
            <a:extLst>
              <a:ext uri="{FF2B5EF4-FFF2-40B4-BE49-F238E27FC236}">
                <a16:creationId xmlns:a16="http://schemas.microsoft.com/office/drawing/2014/main" id="{A31D1C6A-27EE-403C-8270-C6A72B65213C}"/>
              </a:ext>
            </a:extLst>
          </p:cNvPr>
          <p:cNvSpPr txBox="1"/>
          <p:nvPr/>
        </p:nvSpPr>
        <p:spPr>
          <a:xfrm>
            <a:off x="7361527" y="3640777"/>
            <a:ext cx="4830473" cy="2389950"/>
          </a:xfrm>
          <a:prstGeom prst="rect">
            <a:avLst/>
          </a:prstGeom>
          <a:solidFill>
            <a:srgbClr val="FFFF00"/>
          </a:solidFill>
          <a:ln>
            <a:solidFill>
              <a:srgbClr val="FF0000"/>
            </a:solidFill>
          </a:ln>
        </p:spPr>
        <p:txBody>
          <a:bodyPr wrap="square" rtlCol="0" anchor="ctr" anchorCtr="1">
            <a:spAutoFit/>
          </a:bodyPr>
          <a:lstStyle/>
          <a:p>
            <a:pPr lvl="0"/>
            <a:r>
              <a:rPr lang="en-US" sz="2133" dirty="0">
                <a:latin typeface="Calibri" panose="020F0502020204030204" pitchFamily="34" charset="0"/>
                <a:ea typeface="Calibri" panose="020F0502020204030204" pitchFamily="34" charset="0"/>
                <a:cs typeface="Calibri" panose="020F0502020204030204" pitchFamily="34" charset="0"/>
              </a:rPr>
              <a:t>X = X *Y + Z;</a:t>
            </a:r>
          </a:p>
          <a:p>
            <a:pPr lvl="0"/>
            <a:endParaRPr lang="en-US" sz="2133" dirty="0">
              <a:latin typeface="Calibri" panose="020F0502020204030204" pitchFamily="34" charset="0"/>
              <a:ea typeface="Calibri" panose="020F0502020204030204" pitchFamily="34" charset="0"/>
              <a:cs typeface="Calibri" panose="020F0502020204030204" pitchFamily="34" charset="0"/>
            </a:endParaRPr>
          </a:p>
          <a:p>
            <a:pPr lvl="0"/>
            <a:r>
              <a:rPr lang="en-US" sz="2133" dirty="0">
                <a:latin typeface="Calibri" panose="020F0502020204030204" pitchFamily="34" charset="0"/>
                <a:ea typeface="Calibri" panose="020F0502020204030204" pitchFamily="34" charset="0"/>
                <a:cs typeface="Calibri" panose="020F0502020204030204" pitchFamily="34" charset="0"/>
              </a:rPr>
              <a:t>LW 	F2, 0(X1)</a:t>
            </a:r>
          </a:p>
          <a:p>
            <a:pPr lvl="0"/>
            <a:r>
              <a:rPr lang="en-US" sz="2133" dirty="0">
                <a:latin typeface="Calibri" panose="020F0502020204030204" pitchFamily="34" charset="0"/>
                <a:ea typeface="Calibri" panose="020F0502020204030204" pitchFamily="34" charset="0"/>
                <a:cs typeface="Calibri" panose="020F0502020204030204" pitchFamily="34" charset="0"/>
              </a:rPr>
              <a:t>LW	F3, 4(X1)</a:t>
            </a:r>
          </a:p>
          <a:p>
            <a:pPr lvl="0"/>
            <a:r>
              <a:rPr lang="en-US" sz="2133" dirty="0">
                <a:latin typeface="Calibri" panose="020F0502020204030204" pitchFamily="34" charset="0"/>
                <a:ea typeface="Calibri" panose="020F0502020204030204" pitchFamily="34" charset="0"/>
                <a:cs typeface="Calibri" panose="020F0502020204030204" pitchFamily="34" charset="0"/>
              </a:rPr>
              <a:t>LW	F4, 8(X1)</a:t>
            </a:r>
          </a:p>
          <a:p>
            <a:pPr lvl="0"/>
            <a:r>
              <a:rPr lang="en-US" sz="2133" dirty="0">
                <a:latin typeface="Calibri" panose="020F0502020204030204" pitchFamily="34" charset="0"/>
                <a:ea typeface="Calibri" panose="020F0502020204030204" pitchFamily="34" charset="0"/>
                <a:cs typeface="Calibri" panose="020F0502020204030204" pitchFamily="34" charset="0"/>
              </a:rPr>
              <a:t>FMA 	F5, F2, F3,F4</a:t>
            </a:r>
          </a:p>
          <a:p>
            <a:pPr lvl="0"/>
            <a:r>
              <a:rPr lang="en-US" sz="2133" dirty="0">
                <a:latin typeface="Calibri" panose="020F0502020204030204" pitchFamily="34" charset="0"/>
                <a:ea typeface="Calibri" panose="020F0502020204030204" pitchFamily="34" charset="0"/>
                <a:cs typeface="Calibri" panose="020F0502020204030204" pitchFamily="34" charset="0"/>
              </a:rPr>
              <a:t>SW	F5, 0(X1)</a:t>
            </a:r>
          </a:p>
        </p:txBody>
      </p:sp>
    </p:spTree>
    <p:extLst>
      <p:ext uri="{BB962C8B-B14F-4D97-AF65-F5344CB8AC3E}">
        <p14:creationId xmlns:p14="http://schemas.microsoft.com/office/powerpoint/2010/main" val="343960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RV Architecture States (user level)</a:t>
            </a:r>
          </a:p>
        </p:txBody>
      </p:sp>
      <p:sp>
        <p:nvSpPr>
          <p:cNvPr id="3" name="Content Placeholder 2"/>
          <p:cNvSpPr>
            <a:spLocks noGrp="1"/>
          </p:cNvSpPr>
          <p:nvPr>
            <p:ph idx="1"/>
          </p:nvPr>
        </p:nvSpPr>
        <p:spPr>
          <a:xfrm>
            <a:off x="581025" y="1044840"/>
            <a:ext cx="8966543" cy="5033621"/>
          </a:xfrm>
        </p:spPr>
        <p:txBody>
          <a:bodyPr/>
          <a:lstStyle/>
          <a:p>
            <a:pPr>
              <a:spcBef>
                <a:spcPts val="300"/>
              </a:spcBef>
            </a:pPr>
            <a:r>
              <a:rPr lang="en-US" sz="2800" dirty="0"/>
              <a:t>RV32I </a:t>
            </a:r>
          </a:p>
          <a:p>
            <a:pPr lvl="1">
              <a:spcBef>
                <a:spcPts val="300"/>
              </a:spcBef>
            </a:pPr>
            <a:r>
              <a:rPr lang="en-US" sz="2400" dirty="0"/>
              <a:t>32 general-purpose registers (GPR)</a:t>
            </a:r>
          </a:p>
          <a:p>
            <a:pPr lvl="1">
              <a:spcBef>
                <a:spcPts val="300"/>
              </a:spcBef>
            </a:pPr>
            <a:r>
              <a:rPr lang="en-US" sz="2400" dirty="0"/>
              <a:t>Program Counter (PC)</a:t>
            </a:r>
          </a:p>
          <a:p>
            <a:pPr>
              <a:spcBef>
                <a:spcPts val="300"/>
              </a:spcBef>
            </a:pPr>
            <a:r>
              <a:rPr lang="en-US" sz="2933" dirty="0"/>
              <a:t>RV32IFD</a:t>
            </a:r>
          </a:p>
          <a:p>
            <a:pPr lvl="1">
              <a:spcBef>
                <a:spcPts val="300"/>
              </a:spcBef>
            </a:pPr>
            <a:r>
              <a:rPr lang="en-US" sz="2400" dirty="0">
                <a:solidFill>
                  <a:prstClr val="black"/>
                </a:solidFill>
              </a:rPr>
              <a:t>32 general-purpose registers (GPR)</a:t>
            </a:r>
          </a:p>
          <a:p>
            <a:pPr lvl="1">
              <a:spcBef>
                <a:spcPts val="300"/>
              </a:spcBef>
            </a:pPr>
            <a:r>
              <a:rPr lang="en-US" sz="2400" dirty="0">
                <a:solidFill>
                  <a:prstClr val="black"/>
                </a:solidFill>
              </a:rPr>
              <a:t>32 Floating Point registers  </a:t>
            </a:r>
          </a:p>
          <a:p>
            <a:pPr lvl="1">
              <a:spcBef>
                <a:spcPts val="300"/>
              </a:spcBef>
            </a:pPr>
            <a:r>
              <a:rPr lang="en-US" sz="2400" dirty="0">
                <a:solidFill>
                  <a:prstClr val="black"/>
                </a:solidFill>
              </a:rPr>
              <a:t>Program Counter (PC)</a:t>
            </a:r>
          </a:p>
          <a:p>
            <a:pPr>
              <a:spcBef>
                <a:spcPts val="300"/>
              </a:spcBef>
            </a:pPr>
            <a:r>
              <a:rPr lang="en-US" sz="2933" dirty="0">
                <a:solidFill>
                  <a:prstClr val="black"/>
                </a:solidFill>
              </a:rPr>
              <a:t>RV32IFV</a:t>
            </a:r>
          </a:p>
          <a:p>
            <a:pPr lvl="1">
              <a:spcBef>
                <a:spcPts val="300"/>
              </a:spcBef>
            </a:pPr>
            <a:r>
              <a:rPr lang="en-US" sz="2400" dirty="0">
                <a:solidFill>
                  <a:prstClr val="black"/>
                </a:solidFill>
              </a:rPr>
              <a:t>32 general-purpose registers (GPR)</a:t>
            </a:r>
          </a:p>
          <a:p>
            <a:pPr lvl="1">
              <a:spcBef>
                <a:spcPts val="300"/>
              </a:spcBef>
            </a:pPr>
            <a:r>
              <a:rPr lang="en-US" sz="2400" dirty="0">
                <a:solidFill>
                  <a:prstClr val="black"/>
                </a:solidFill>
              </a:rPr>
              <a:t>32 Floating Point registers  </a:t>
            </a:r>
          </a:p>
          <a:p>
            <a:pPr lvl="1">
              <a:spcBef>
                <a:spcPts val="300"/>
              </a:spcBef>
            </a:pPr>
            <a:r>
              <a:rPr lang="en-US" sz="2400" dirty="0">
                <a:solidFill>
                  <a:prstClr val="black"/>
                </a:solidFill>
              </a:rPr>
              <a:t>32 Vector Registers</a:t>
            </a:r>
          </a:p>
          <a:p>
            <a:pPr lvl="1">
              <a:spcBef>
                <a:spcPts val="300"/>
              </a:spcBef>
            </a:pPr>
            <a:r>
              <a:rPr lang="en-US" sz="2400" dirty="0">
                <a:solidFill>
                  <a:prstClr val="black"/>
                </a:solidFill>
              </a:rPr>
              <a:t>Program Counter (PC)</a:t>
            </a:r>
          </a:p>
          <a:p>
            <a:pPr lvl="1">
              <a:spcBef>
                <a:spcPts val="300"/>
              </a:spcBef>
            </a:pPr>
            <a:endParaRPr lang="en-US" sz="2400" dirty="0"/>
          </a:p>
          <a:p>
            <a:pPr marL="457176" lvl="1" indent="0">
              <a:spcBef>
                <a:spcPts val="300"/>
              </a:spcBef>
              <a:buNone/>
            </a:pPr>
            <a:endParaRPr lang="en-US" sz="2000" dirty="0"/>
          </a:p>
          <a:p>
            <a:pPr lvl="1">
              <a:spcBef>
                <a:spcPts val="300"/>
              </a:spcBef>
            </a:pPr>
            <a:endParaRPr lang="en-US" sz="2000" dirty="0"/>
          </a:p>
          <a:p>
            <a:pPr>
              <a:spcBef>
                <a:spcPts val="300"/>
              </a:spcBef>
            </a:pPr>
            <a:endParaRPr lang="en-US" sz="2400" dirty="0"/>
          </a:p>
        </p:txBody>
      </p:sp>
      <p:sp>
        <p:nvSpPr>
          <p:cNvPr id="6" name="Date Placeholder 5"/>
          <p:cNvSpPr>
            <a:spLocks noGrp="1"/>
          </p:cNvSpPr>
          <p:nvPr>
            <p:ph type="dt" sz="half" idx="10"/>
          </p:nvPr>
        </p:nvSpPr>
        <p:spPr/>
        <p:txBody>
          <a:bodyPr/>
          <a:lstStyle/>
          <a:p>
            <a:pPr>
              <a:defRPr/>
            </a:pPr>
            <a:r>
              <a:rPr lang="en-US" dirty="0"/>
              <a:t>September 27, 2024</a:t>
            </a:r>
          </a:p>
        </p:txBody>
      </p:sp>
      <p:sp>
        <p:nvSpPr>
          <p:cNvPr id="7" name="Footer Placeholder 6"/>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8" name="Slide Number Placeholder 7"/>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15</a:t>
            </a:fld>
            <a:endParaRPr lang="en-US" dirty="0"/>
          </a:p>
        </p:txBody>
      </p:sp>
    </p:spTree>
    <p:extLst>
      <p:ext uri="{BB962C8B-B14F-4D97-AF65-F5344CB8AC3E}">
        <p14:creationId xmlns:p14="http://schemas.microsoft.com/office/powerpoint/2010/main" val="20011123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X0 is always zero</a:t>
            </a:r>
          </a:p>
        </p:txBody>
      </p:sp>
      <p:sp>
        <p:nvSpPr>
          <p:cNvPr id="3" name="Content Placeholder 2"/>
          <p:cNvSpPr>
            <a:spLocks noGrp="1"/>
          </p:cNvSpPr>
          <p:nvPr>
            <p:ph idx="1"/>
          </p:nvPr>
        </p:nvSpPr>
        <p:spPr>
          <a:xfrm>
            <a:off x="1296784" y="1159140"/>
            <a:ext cx="9452947" cy="5033621"/>
          </a:xfrm>
        </p:spPr>
        <p:txBody>
          <a:bodyPr/>
          <a:lstStyle/>
          <a:p>
            <a:pPr>
              <a:spcBef>
                <a:spcPts val="300"/>
              </a:spcBef>
            </a:pPr>
            <a:r>
              <a:rPr lang="en-US" sz="2667" dirty="0"/>
              <a:t>Why?</a:t>
            </a:r>
          </a:p>
          <a:p>
            <a:pPr lvl="1">
              <a:spcBef>
                <a:spcPts val="300"/>
              </a:spcBef>
            </a:pPr>
            <a:r>
              <a:rPr lang="en-US" sz="2133" dirty="0"/>
              <a:t>Constant zero is often used in instructions. Having X0 as zero can save one instruction to clear a register.</a:t>
            </a:r>
          </a:p>
          <a:p>
            <a:pPr lvl="2">
              <a:spcBef>
                <a:spcPts val="300"/>
              </a:spcBef>
            </a:pPr>
            <a:r>
              <a:rPr lang="en-US" sz="1867" dirty="0"/>
              <a:t>e.g.  A = - B	// suppose B is in X8</a:t>
            </a:r>
          </a:p>
          <a:p>
            <a:pPr marL="914377" lvl="2" indent="0">
              <a:spcBef>
                <a:spcPts val="300"/>
              </a:spcBef>
              <a:buNone/>
            </a:pPr>
            <a:r>
              <a:rPr lang="en-US" sz="1867" dirty="0">
                <a:solidFill>
                  <a:schemeClr val="tx2"/>
                </a:solidFill>
              </a:rPr>
              <a:t>Without X0 as 0		With X0 as 0</a:t>
            </a:r>
          </a:p>
          <a:p>
            <a:pPr marL="914377" lvl="2" indent="0">
              <a:spcBef>
                <a:spcPts val="300"/>
              </a:spcBef>
              <a:buNone/>
            </a:pPr>
            <a:r>
              <a:rPr lang="en-US" sz="1867" dirty="0">
                <a:solidFill>
                  <a:srgbClr val="FF0000"/>
                </a:solidFill>
              </a:rPr>
              <a:t>XOR X10, X10, X10		SUB X9, X0, X8</a:t>
            </a:r>
          </a:p>
          <a:p>
            <a:pPr marL="914377" lvl="2" indent="0">
              <a:spcBef>
                <a:spcPts val="300"/>
              </a:spcBef>
              <a:buNone/>
            </a:pPr>
            <a:r>
              <a:rPr lang="en-US" sz="1867" dirty="0">
                <a:solidFill>
                  <a:srgbClr val="FF0000"/>
                </a:solidFill>
              </a:rPr>
              <a:t>SUB X9, X10, X8</a:t>
            </a:r>
          </a:p>
          <a:p>
            <a:pPr lvl="1">
              <a:spcBef>
                <a:spcPts val="300"/>
              </a:spcBef>
            </a:pPr>
            <a:r>
              <a:rPr lang="en-US" sz="2133" dirty="0"/>
              <a:t>Copy X2 to X1 is simply</a:t>
            </a:r>
          </a:p>
          <a:p>
            <a:pPr lvl="2">
              <a:spcBef>
                <a:spcPts val="300"/>
              </a:spcBef>
            </a:pPr>
            <a:r>
              <a:rPr kumimoji="1" lang="en-US" sz="2133"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ADD X1, X0, X2</a:t>
            </a:r>
            <a:endParaRPr lang="en-US" sz="1600" dirty="0"/>
          </a:p>
          <a:p>
            <a:pPr lvl="1">
              <a:spcBef>
                <a:spcPts val="300"/>
              </a:spcBef>
            </a:pPr>
            <a:r>
              <a:rPr lang="en-US" sz="2133" dirty="0"/>
              <a:t>Compare and branch instructions often need one operand to be 0. </a:t>
            </a:r>
          </a:p>
          <a:p>
            <a:pPr marL="1142943" marR="0" lvl="2" indent="-228589" algn="l" defTabSz="914400" rtl="0" eaLnBrk="1" fontAlgn="base" latinLnBrk="0" hangingPunct="1">
              <a:lnSpc>
                <a:spcPct val="100000"/>
              </a:lnSpc>
              <a:spcBef>
                <a:spcPts val="300"/>
              </a:spcBef>
              <a:spcAft>
                <a:spcPct val="0"/>
              </a:spcAft>
              <a:buClrTx/>
              <a:buSzTx/>
              <a:buFontTx/>
              <a:buChar char="•"/>
              <a:tabLst/>
              <a:defRPr/>
            </a:pPr>
            <a:r>
              <a:rPr lang="en-US" sz="2133" dirty="0">
                <a:solidFill>
                  <a:srgbClr val="FF0000"/>
                </a:solidFill>
              </a:rPr>
              <a:t>T</a:t>
            </a:r>
            <a:r>
              <a:rPr kumimoji="1" lang="en-US" sz="2133" b="0" i="0" u="none" strike="noStrike" kern="0" cap="none" spc="0" normalizeH="0" baseline="0" noProof="0" dirty="0">
                <a:ln>
                  <a:noFill/>
                </a:ln>
                <a:solidFill>
                  <a:srgbClr val="FF0000"/>
                </a:solidFill>
                <a:effectLst/>
                <a:uLnTx/>
                <a:uFillTx/>
                <a:latin typeface="Calibri" pitchFamily="34" charset="0"/>
                <a:ea typeface="標楷體" pitchFamily="65" charset="-120"/>
                <a:cs typeface="Calibri" pitchFamily="34" charset="0"/>
              </a:rPr>
              <a:t>here are no immediate forms in branch instructions</a:t>
            </a:r>
            <a:endParaRPr lang="en-US" sz="1334" dirty="0">
              <a:solidFill>
                <a:srgbClr val="FF0000"/>
              </a:solidFill>
            </a:endParaRPr>
          </a:p>
          <a:p>
            <a:pPr marL="457176" lvl="1" indent="0">
              <a:spcBef>
                <a:spcPts val="300"/>
              </a:spcBef>
              <a:buNone/>
            </a:pPr>
            <a:r>
              <a:rPr lang="en-US" sz="2133" i="1" dirty="0"/>
              <a:t>Some RISC processors may even use load to x0 as memory hints</a:t>
            </a:r>
          </a:p>
          <a:p>
            <a:pPr lvl="2">
              <a:spcBef>
                <a:spcPts val="300"/>
              </a:spcBef>
            </a:pPr>
            <a:r>
              <a:rPr lang="en-US" sz="1867" i="1" dirty="0"/>
              <a:t>e.g. </a:t>
            </a:r>
          </a:p>
          <a:p>
            <a:pPr marL="457189" lvl="1" indent="0">
              <a:spcBef>
                <a:spcPts val="300"/>
              </a:spcBef>
              <a:buNone/>
            </a:pPr>
            <a:r>
              <a:rPr lang="en-US" sz="2133" i="1" dirty="0"/>
              <a:t>       cache prefetching</a:t>
            </a:r>
          </a:p>
          <a:p>
            <a:pPr marL="457189" lvl="1" indent="0">
              <a:spcBef>
                <a:spcPts val="300"/>
              </a:spcBef>
              <a:buNone/>
            </a:pPr>
            <a:r>
              <a:rPr lang="en-US" sz="2133" dirty="0"/>
              <a:t>       </a:t>
            </a:r>
          </a:p>
        </p:txBody>
      </p:sp>
      <p:sp>
        <p:nvSpPr>
          <p:cNvPr id="6" name="Date Placeholder 5"/>
          <p:cNvSpPr>
            <a:spLocks noGrp="1"/>
          </p:cNvSpPr>
          <p:nvPr>
            <p:ph type="dt" sz="half" idx="10"/>
          </p:nvPr>
        </p:nvSpPr>
        <p:spPr/>
        <p:txBody>
          <a:bodyPr/>
          <a:lstStyle/>
          <a:p>
            <a:pPr>
              <a:defRPr/>
            </a:pPr>
            <a:r>
              <a:rPr lang="en-US" dirty="0"/>
              <a:t>September 27, 2024</a:t>
            </a:r>
          </a:p>
        </p:txBody>
      </p:sp>
      <p:sp>
        <p:nvSpPr>
          <p:cNvPr id="7" name="Footer Placeholder 6"/>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8" name="Slide Number Placeholder 7"/>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16</a:t>
            </a:fld>
            <a:endParaRPr lang="en-US" dirty="0"/>
          </a:p>
        </p:txBody>
      </p:sp>
      <p:sp>
        <p:nvSpPr>
          <p:cNvPr id="9" name="TextBox 8">
            <a:extLst>
              <a:ext uri="{FF2B5EF4-FFF2-40B4-BE49-F238E27FC236}">
                <a16:creationId xmlns:a16="http://schemas.microsoft.com/office/drawing/2014/main" id="{AA81036C-DA3D-48C0-9F7D-351237AF3979}"/>
              </a:ext>
            </a:extLst>
          </p:cNvPr>
          <p:cNvSpPr txBox="1"/>
          <p:nvPr/>
        </p:nvSpPr>
        <p:spPr>
          <a:xfrm>
            <a:off x="6437602" y="3920354"/>
            <a:ext cx="4312130" cy="420564"/>
          </a:xfrm>
          <a:prstGeom prst="rect">
            <a:avLst/>
          </a:prstGeom>
          <a:solidFill>
            <a:srgbClr val="FFFF00"/>
          </a:solidFill>
          <a:ln>
            <a:solidFill>
              <a:srgbClr val="FF0000"/>
            </a:solidFill>
          </a:ln>
        </p:spPr>
        <p:txBody>
          <a:bodyPr wrap="square" rtlCol="0" anchor="ctr" anchorCtr="1">
            <a:spAutoFit/>
          </a:bodyPr>
          <a:lstStyle/>
          <a:p>
            <a:pPr lvl="0"/>
            <a:r>
              <a:rPr lang="en-US" sz="2133" dirty="0">
                <a:latin typeface="Calibri" panose="020F0502020204030204" pitchFamily="34" charset="0"/>
                <a:ea typeface="Calibri" panose="020F0502020204030204" pitchFamily="34" charset="0"/>
                <a:cs typeface="Calibri" panose="020F0502020204030204" pitchFamily="34" charset="0"/>
              </a:rPr>
              <a:t>Can I use </a:t>
            </a:r>
            <a:r>
              <a:rPr lang="en-US" sz="2133" dirty="0" err="1">
                <a:latin typeface="Calibri" panose="020F0502020204030204" pitchFamily="34" charset="0"/>
                <a:ea typeface="Calibri" panose="020F0502020204030204" pitchFamily="34" charset="0"/>
                <a:cs typeface="Calibri" panose="020F0502020204030204" pitchFamily="34" charset="0"/>
              </a:rPr>
              <a:t>ADDi</a:t>
            </a:r>
            <a:r>
              <a:rPr lang="en-US" sz="2133" dirty="0">
                <a:latin typeface="Calibri" panose="020F0502020204030204" pitchFamily="34" charset="0"/>
                <a:ea typeface="Calibri" panose="020F0502020204030204" pitchFamily="34" charset="0"/>
                <a:cs typeface="Calibri" panose="020F0502020204030204" pitchFamily="34" charset="0"/>
              </a:rPr>
              <a:t> X1, X2,0 ? </a:t>
            </a:r>
          </a:p>
        </p:txBody>
      </p:sp>
    </p:spTree>
    <p:extLst>
      <p:ext uri="{BB962C8B-B14F-4D97-AF65-F5344CB8AC3E}">
        <p14:creationId xmlns:p14="http://schemas.microsoft.com/office/powerpoint/2010/main" val="2101145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Instruction Types (</a:t>
            </a:r>
            <a:r>
              <a:rPr lang="en-US" sz="3600" dirty="0"/>
              <a:t>based on functionality</a:t>
            </a:r>
            <a:r>
              <a:rPr lang="en-US" dirty="0"/>
              <a:t>)</a:t>
            </a:r>
          </a:p>
        </p:txBody>
      </p:sp>
      <p:sp>
        <p:nvSpPr>
          <p:cNvPr id="3" name="Content Placeholder 2"/>
          <p:cNvSpPr>
            <a:spLocks noGrp="1"/>
          </p:cNvSpPr>
          <p:nvPr>
            <p:ph idx="1"/>
          </p:nvPr>
        </p:nvSpPr>
        <p:spPr>
          <a:xfrm>
            <a:off x="1219200" y="1383695"/>
            <a:ext cx="9646596" cy="3802744"/>
          </a:xfrm>
        </p:spPr>
        <p:txBody>
          <a:bodyPr/>
          <a:lstStyle/>
          <a:p>
            <a:r>
              <a:rPr lang="en-US" sz="2400" dirty="0"/>
              <a:t>Register-to-Register Arithmetic and Logical operations </a:t>
            </a:r>
            <a:r>
              <a:rPr lang="en-US" sz="2400" dirty="0">
                <a:solidFill>
                  <a:srgbClr val="FF0000"/>
                </a:solidFill>
              </a:rPr>
              <a:t>(ALU)</a:t>
            </a:r>
          </a:p>
          <a:p>
            <a:r>
              <a:rPr lang="en-US" sz="2400" dirty="0"/>
              <a:t>Control Instructions alter the sequential control flow </a:t>
            </a:r>
            <a:r>
              <a:rPr lang="en-US" sz="2400" dirty="0">
                <a:solidFill>
                  <a:srgbClr val="FF0000"/>
                </a:solidFill>
              </a:rPr>
              <a:t>(B and J)</a:t>
            </a:r>
          </a:p>
          <a:p>
            <a:r>
              <a:rPr lang="en-US" sz="2400" dirty="0"/>
              <a:t>Memory Instructions move data to and from memory </a:t>
            </a:r>
            <a:r>
              <a:rPr lang="en-US" sz="2400" dirty="0">
                <a:solidFill>
                  <a:srgbClr val="FF0000"/>
                </a:solidFill>
              </a:rPr>
              <a:t>(Memory) </a:t>
            </a:r>
          </a:p>
          <a:p>
            <a:r>
              <a:rPr lang="en-US" sz="2400" dirty="0"/>
              <a:t>CSR Instructions move data between CSRs and GPRs; the instructions often perform read-modify-write operations on CSRs </a:t>
            </a:r>
            <a:r>
              <a:rPr lang="en-US" sz="2400" dirty="0">
                <a:solidFill>
                  <a:srgbClr val="FF0000"/>
                </a:solidFill>
              </a:rPr>
              <a:t>(Privileged)</a:t>
            </a:r>
          </a:p>
          <a:p>
            <a:r>
              <a:rPr lang="en-US" sz="2400" dirty="0"/>
              <a:t>Privileged Instructions are needed by the operating systems and can only be executed under kernel (or system) mode. User programs in user mode cannot execute them.</a:t>
            </a:r>
          </a:p>
        </p:txBody>
      </p:sp>
      <p:sp>
        <p:nvSpPr>
          <p:cNvPr id="7" name="Date Placeholder 6"/>
          <p:cNvSpPr>
            <a:spLocks noGrp="1"/>
          </p:cNvSpPr>
          <p:nvPr>
            <p:ph type="dt" sz="half" idx="10"/>
          </p:nvPr>
        </p:nvSpPr>
        <p:spPr/>
        <p:txBody>
          <a:bodyPr/>
          <a:lstStyle/>
          <a:p>
            <a:pPr>
              <a:defRPr/>
            </a:pPr>
            <a:r>
              <a:rPr lang="en-US" dirty="0"/>
              <a:t>September 27, 2024</a:t>
            </a:r>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17</a:t>
            </a:fld>
            <a:endParaRPr lang="en-US" dirty="0"/>
          </a:p>
        </p:txBody>
      </p:sp>
    </p:spTree>
    <p:extLst>
      <p:ext uri="{BB962C8B-B14F-4D97-AF65-F5344CB8AC3E}">
        <p14:creationId xmlns:p14="http://schemas.microsoft.com/office/powerpoint/2010/main" val="2915800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RV32I Instructions</a:t>
            </a:r>
          </a:p>
        </p:txBody>
      </p:sp>
      <p:sp>
        <p:nvSpPr>
          <p:cNvPr id="6" name="Date Placeholder 5"/>
          <p:cNvSpPr>
            <a:spLocks noGrp="1"/>
          </p:cNvSpPr>
          <p:nvPr>
            <p:ph type="dt" sz="half" idx="10"/>
          </p:nvPr>
        </p:nvSpPr>
        <p:spPr/>
        <p:txBody>
          <a:bodyPr/>
          <a:lstStyle/>
          <a:p>
            <a:pPr>
              <a:defRPr/>
            </a:pPr>
            <a:r>
              <a:rPr lang="en-US" dirty="0"/>
              <a:t>September 27, 2024</a:t>
            </a:r>
          </a:p>
        </p:txBody>
      </p:sp>
      <p:sp>
        <p:nvSpPr>
          <p:cNvPr id="7" name="Footer Placeholder 6"/>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8" name="Slide Number Placeholder 7"/>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18</a:t>
            </a:fld>
            <a:endParaRPr lang="en-US" dirty="0"/>
          </a:p>
        </p:txBody>
      </p:sp>
      <p:graphicFrame>
        <p:nvGraphicFramePr>
          <p:cNvPr id="9" name="Table 9">
            <a:extLst>
              <a:ext uri="{FF2B5EF4-FFF2-40B4-BE49-F238E27FC236}">
                <a16:creationId xmlns:a16="http://schemas.microsoft.com/office/drawing/2014/main" id="{E86C8E07-D8E1-44A3-9159-77EFE4BF1BE6}"/>
              </a:ext>
            </a:extLst>
          </p:cNvPr>
          <p:cNvGraphicFramePr>
            <a:graphicFrameLocks noGrp="1"/>
          </p:cNvGraphicFramePr>
          <p:nvPr>
            <p:extLst>
              <p:ext uri="{D42A27DB-BD31-4B8C-83A1-F6EECF244321}">
                <p14:modId xmlns:p14="http://schemas.microsoft.com/office/powerpoint/2010/main" val="3051696164"/>
              </p:ext>
            </p:extLst>
          </p:nvPr>
        </p:nvGraphicFramePr>
        <p:xfrm>
          <a:off x="797981" y="1119188"/>
          <a:ext cx="10643664" cy="5259958"/>
        </p:xfrm>
        <a:graphic>
          <a:graphicData uri="http://schemas.openxmlformats.org/drawingml/2006/table">
            <a:tbl>
              <a:tblPr firstRow="1" bandRow="1">
                <a:tableStyleId>{5C22544A-7EE6-4342-B048-85BDC9FD1C3A}</a:tableStyleId>
              </a:tblPr>
              <a:tblGrid>
                <a:gridCol w="1330458">
                  <a:extLst>
                    <a:ext uri="{9D8B030D-6E8A-4147-A177-3AD203B41FA5}">
                      <a16:colId xmlns:a16="http://schemas.microsoft.com/office/drawing/2014/main" val="3037404594"/>
                    </a:ext>
                  </a:extLst>
                </a:gridCol>
                <a:gridCol w="1330458">
                  <a:extLst>
                    <a:ext uri="{9D8B030D-6E8A-4147-A177-3AD203B41FA5}">
                      <a16:colId xmlns:a16="http://schemas.microsoft.com/office/drawing/2014/main" val="3768470946"/>
                    </a:ext>
                  </a:extLst>
                </a:gridCol>
                <a:gridCol w="1330458">
                  <a:extLst>
                    <a:ext uri="{9D8B030D-6E8A-4147-A177-3AD203B41FA5}">
                      <a16:colId xmlns:a16="http://schemas.microsoft.com/office/drawing/2014/main" val="404345668"/>
                    </a:ext>
                  </a:extLst>
                </a:gridCol>
                <a:gridCol w="1228327">
                  <a:extLst>
                    <a:ext uri="{9D8B030D-6E8A-4147-A177-3AD203B41FA5}">
                      <a16:colId xmlns:a16="http://schemas.microsoft.com/office/drawing/2014/main" val="676736296"/>
                    </a:ext>
                  </a:extLst>
                </a:gridCol>
                <a:gridCol w="1771650">
                  <a:extLst>
                    <a:ext uri="{9D8B030D-6E8A-4147-A177-3AD203B41FA5}">
                      <a16:colId xmlns:a16="http://schemas.microsoft.com/office/drawing/2014/main" val="3630436679"/>
                    </a:ext>
                  </a:extLst>
                </a:gridCol>
                <a:gridCol w="991397">
                  <a:extLst>
                    <a:ext uri="{9D8B030D-6E8A-4147-A177-3AD203B41FA5}">
                      <a16:colId xmlns:a16="http://schemas.microsoft.com/office/drawing/2014/main" val="1395560536"/>
                    </a:ext>
                  </a:extLst>
                </a:gridCol>
                <a:gridCol w="1330458">
                  <a:extLst>
                    <a:ext uri="{9D8B030D-6E8A-4147-A177-3AD203B41FA5}">
                      <a16:colId xmlns:a16="http://schemas.microsoft.com/office/drawing/2014/main" val="1963102667"/>
                    </a:ext>
                  </a:extLst>
                </a:gridCol>
                <a:gridCol w="1330458">
                  <a:extLst>
                    <a:ext uri="{9D8B030D-6E8A-4147-A177-3AD203B41FA5}">
                      <a16:colId xmlns:a16="http://schemas.microsoft.com/office/drawing/2014/main" val="2733254005"/>
                    </a:ext>
                  </a:extLst>
                </a:gridCol>
              </a:tblGrid>
              <a:tr h="577453">
                <a:tc gridSpan="2">
                  <a:txBody>
                    <a:bodyPr/>
                    <a:lstStyle/>
                    <a:p>
                      <a:pPr algn="ctr"/>
                      <a:r>
                        <a:rPr lang="en-US" dirty="0"/>
                        <a:t>ALU Instructions</a:t>
                      </a:r>
                    </a:p>
                  </a:txBody>
                  <a:tcPr>
                    <a:solidFill>
                      <a:schemeClr val="accent3">
                        <a:lumMod val="40000"/>
                        <a:lumOff val="60000"/>
                      </a:schemeClr>
                    </a:solidFill>
                  </a:tcPr>
                </a:tc>
                <a:tc hMerge="1">
                  <a:txBody>
                    <a:bodyPr/>
                    <a:lstStyle/>
                    <a:p>
                      <a:endParaRPr lang="en-US" dirty="0"/>
                    </a:p>
                  </a:txBody>
                  <a:tcPr/>
                </a:tc>
                <a:tc gridSpan="2">
                  <a:txBody>
                    <a:bodyPr/>
                    <a:lstStyle/>
                    <a:p>
                      <a:r>
                        <a:rPr lang="en-US" dirty="0"/>
                        <a:t>ALU Inst with </a:t>
                      </a:r>
                      <a:r>
                        <a:rPr lang="en-US" dirty="0" err="1"/>
                        <a:t>immed</a:t>
                      </a:r>
                      <a:endParaRPr lang="en-US" dirty="0"/>
                    </a:p>
                  </a:txBody>
                  <a:tcPr>
                    <a:solidFill>
                      <a:schemeClr val="accent3">
                        <a:lumMod val="40000"/>
                        <a:lumOff val="60000"/>
                      </a:schemeClr>
                    </a:solidFill>
                  </a:tcPr>
                </a:tc>
                <a:tc hMerge="1">
                  <a:txBody>
                    <a:bodyPr/>
                    <a:lstStyle/>
                    <a:p>
                      <a:endParaRPr lang="en-US" dirty="0"/>
                    </a:p>
                  </a:txBody>
                  <a:tcPr/>
                </a:tc>
                <a:tc>
                  <a:txBody>
                    <a:bodyPr/>
                    <a:lstStyle/>
                    <a:p>
                      <a:r>
                        <a:rPr lang="en-US" dirty="0"/>
                        <a:t>LOAD/STORE</a:t>
                      </a:r>
                    </a:p>
                  </a:txBody>
                  <a:tcPr>
                    <a:solidFill>
                      <a:schemeClr val="tx2">
                        <a:lumMod val="60000"/>
                        <a:lumOff val="40000"/>
                      </a:schemeClr>
                    </a:solidFill>
                  </a:tcPr>
                </a:tc>
                <a:tc>
                  <a:txBody>
                    <a:bodyPr/>
                    <a:lstStyle/>
                    <a:p>
                      <a:r>
                        <a:rPr lang="en-US" dirty="0"/>
                        <a:t>Branch</a:t>
                      </a:r>
                    </a:p>
                  </a:txBody>
                  <a:tcPr>
                    <a:solidFill>
                      <a:srgbClr val="FF0000"/>
                    </a:solidFill>
                  </a:tcPr>
                </a:tc>
                <a:tc>
                  <a:txBody>
                    <a:bodyPr/>
                    <a:lstStyle/>
                    <a:p>
                      <a:r>
                        <a:rPr lang="en-US" dirty="0"/>
                        <a:t>JUMP</a:t>
                      </a:r>
                    </a:p>
                  </a:txBody>
                  <a:tcPr>
                    <a:solidFill>
                      <a:srgbClr val="FF0000"/>
                    </a:solidFill>
                  </a:tcPr>
                </a:tc>
                <a:tc>
                  <a:txBody>
                    <a:bodyPr/>
                    <a:lstStyle/>
                    <a:p>
                      <a:r>
                        <a:rPr lang="en-US" dirty="0"/>
                        <a:t>Upper</a:t>
                      </a:r>
                    </a:p>
                    <a:p>
                      <a:r>
                        <a:rPr lang="en-US" dirty="0"/>
                        <a:t>20bit</a:t>
                      </a:r>
                    </a:p>
                  </a:txBody>
                  <a:tcPr/>
                </a:tc>
                <a:extLst>
                  <a:ext uri="{0D108BD9-81ED-4DB2-BD59-A6C34878D82A}">
                    <a16:rowId xmlns:a16="http://schemas.microsoft.com/office/drawing/2014/main" val="4003379742"/>
                  </a:ext>
                </a:extLst>
              </a:tr>
              <a:tr h="577453">
                <a:tc>
                  <a:txBody>
                    <a:bodyPr/>
                    <a:lstStyle/>
                    <a:p>
                      <a:r>
                        <a:rPr lang="en-US" dirty="0"/>
                        <a:t>ADD</a:t>
                      </a:r>
                    </a:p>
                  </a:txBody>
                  <a:tcPr>
                    <a:solidFill>
                      <a:schemeClr val="accent3">
                        <a:lumMod val="40000"/>
                        <a:lumOff val="60000"/>
                      </a:schemeClr>
                    </a:solidFill>
                  </a:tcPr>
                </a:tc>
                <a:tc>
                  <a:txBody>
                    <a:bodyPr/>
                    <a:lstStyle/>
                    <a:p>
                      <a:r>
                        <a:rPr lang="en-US" dirty="0"/>
                        <a:t>SLL</a:t>
                      </a:r>
                    </a:p>
                  </a:txBody>
                  <a:tcPr>
                    <a:solidFill>
                      <a:schemeClr val="accent3">
                        <a:lumMod val="40000"/>
                        <a:lumOff val="60000"/>
                      </a:schemeClr>
                    </a:solidFill>
                  </a:tcPr>
                </a:tc>
                <a:tc>
                  <a:txBody>
                    <a:bodyPr/>
                    <a:lstStyle/>
                    <a:p>
                      <a:r>
                        <a:rPr lang="en-US" dirty="0"/>
                        <a:t>ADDI</a:t>
                      </a:r>
                    </a:p>
                  </a:txBody>
                  <a:tcPr>
                    <a:solidFill>
                      <a:schemeClr val="accent3">
                        <a:lumMod val="40000"/>
                        <a:lumOff val="60000"/>
                      </a:schemeClr>
                    </a:solidFill>
                  </a:tcPr>
                </a:tc>
                <a:tc>
                  <a:txBody>
                    <a:bodyPr/>
                    <a:lstStyle/>
                    <a:p>
                      <a:r>
                        <a:rPr lang="en-US" dirty="0"/>
                        <a:t>SLLI</a:t>
                      </a:r>
                    </a:p>
                  </a:txBody>
                  <a:tcPr>
                    <a:solidFill>
                      <a:schemeClr val="accent3">
                        <a:lumMod val="40000"/>
                        <a:lumOff val="60000"/>
                      </a:schemeClr>
                    </a:solidFill>
                  </a:tcPr>
                </a:tc>
                <a:tc>
                  <a:txBody>
                    <a:bodyPr/>
                    <a:lstStyle/>
                    <a:p>
                      <a:r>
                        <a:rPr lang="en-US" dirty="0"/>
                        <a:t>LB</a:t>
                      </a:r>
                    </a:p>
                  </a:txBody>
                  <a:tcPr>
                    <a:solidFill>
                      <a:schemeClr val="tx2">
                        <a:lumMod val="60000"/>
                        <a:lumOff val="40000"/>
                      </a:schemeClr>
                    </a:solidFill>
                  </a:tcPr>
                </a:tc>
                <a:tc>
                  <a:txBody>
                    <a:bodyPr/>
                    <a:lstStyle/>
                    <a:p>
                      <a:r>
                        <a:rPr lang="en-US" dirty="0"/>
                        <a:t>BEQ</a:t>
                      </a:r>
                    </a:p>
                  </a:txBody>
                  <a:tcPr>
                    <a:solidFill>
                      <a:srgbClr val="FF0000"/>
                    </a:solidFill>
                  </a:tcPr>
                </a:tc>
                <a:tc>
                  <a:txBody>
                    <a:bodyPr/>
                    <a:lstStyle/>
                    <a:p>
                      <a:r>
                        <a:rPr lang="en-US" dirty="0"/>
                        <a:t>JAL</a:t>
                      </a:r>
                    </a:p>
                  </a:txBody>
                  <a:tcPr>
                    <a:solidFill>
                      <a:srgbClr val="FF0000"/>
                    </a:solidFill>
                  </a:tcPr>
                </a:tc>
                <a:tc>
                  <a:txBody>
                    <a:bodyPr/>
                    <a:lstStyle/>
                    <a:p>
                      <a:r>
                        <a:rPr lang="en-US" dirty="0"/>
                        <a:t>LUI</a:t>
                      </a:r>
                    </a:p>
                  </a:txBody>
                  <a:tcPr/>
                </a:tc>
                <a:extLst>
                  <a:ext uri="{0D108BD9-81ED-4DB2-BD59-A6C34878D82A}">
                    <a16:rowId xmlns:a16="http://schemas.microsoft.com/office/drawing/2014/main" val="3613568948"/>
                  </a:ext>
                </a:extLst>
              </a:tr>
              <a:tr h="577453">
                <a:tc>
                  <a:txBody>
                    <a:bodyPr/>
                    <a:lstStyle/>
                    <a:p>
                      <a:r>
                        <a:rPr lang="en-US" dirty="0"/>
                        <a:t>SUB</a:t>
                      </a:r>
                    </a:p>
                  </a:txBody>
                  <a:tcPr>
                    <a:solidFill>
                      <a:schemeClr val="accent3">
                        <a:lumMod val="40000"/>
                        <a:lumOff val="60000"/>
                      </a:schemeClr>
                    </a:solidFill>
                  </a:tcPr>
                </a:tc>
                <a:tc>
                  <a:txBody>
                    <a:bodyPr/>
                    <a:lstStyle/>
                    <a:p>
                      <a:r>
                        <a:rPr lang="en-US" dirty="0"/>
                        <a:t>SRL</a:t>
                      </a:r>
                    </a:p>
                  </a:txBody>
                  <a:tcPr>
                    <a:solidFill>
                      <a:schemeClr val="accent3">
                        <a:lumMod val="40000"/>
                        <a:lumOff val="60000"/>
                      </a:schemeClr>
                    </a:solidFill>
                  </a:tcPr>
                </a:tc>
                <a:tc>
                  <a:txBody>
                    <a:bodyPr/>
                    <a:lstStyle/>
                    <a:p>
                      <a:endParaRPr lang="en-US" dirty="0"/>
                    </a:p>
                  </a:txBody>
                  <a:tcPr>
                    <a:solidFill>
                      <a:schemeClr val="accent3">
                        <a:lumMod val="40000"/>
                        <a:lumOff val="60000"/>
                      </a:schemeClr>
                    </a:solidFill>
                  </a:tcPr>
                </a:tc>
                <a:tc>
                  <a:txBody>
                    <a:bodyPr/>
                    <a:lstStyle/>
                    <a:p>
                      <a:r>
                        <a:rPr lang="en-US" dirty="0"/>
                        <a:t>SRLI</a:t>
                      </a:r>
                    </a:p>
                  </a:txBody>
                  <a:tcPr>
                    <a:solidFill>
                      <a:schemeClr val="accent3">
                        <a:lumMod val="40000"/>
                        <a:lumOff val="60000"/>
                      </a:schemeClr>
                    </a:solidFill>
                  </a:tcPr>
                </a:tc>
                <a:tc>
                  <a:txBody>
                    <a:bodyPr/>
                    <a:lstStyle/>
                    <a:p>
                      <a:r>
                        <a:rPr lang="en-US" dirty="0"/>
                        <a:t>LH</a:t>
                      </a:r>
                    </a:p>
                  </a:txBody>
                  <a:tcPr>
                    <a:solidFill>
                      <a:schemeClr val="tx2">
                        <a:lumMod val="60000"/>
                        <a:lumOff val="40000"/>
                      </a:schemeClr>
                    </a:solidFill>
                  </a:tcPr>
                </a:tc>
                <a:tc>
                  <a:txBody>
                    <a:bodyPr/>
                    <a:lstStyle/>
                    <a:p>
                      <a:r>
                        <a:rPr lang="en-US" dirty="0"/>
                        <a:t>BNE</a:t>
                      </a:r>
                    </a:p>
                  </a:txBody>
                  <a:tcPr>
                    <a:solidFill>
                      <a:srgbClr val="FF0000"/>
                    </a:solidFill>
                  </a:tcPr>
                </a:tc>
                <a:tc>
                  <a:txBody>
                    <a:bodyPr/>
                    <a:lstStyle/>
                    <a:p>
                      <a:r>
                        <a:rPr lang="en-US" dirty="0"/>
                        <a:t>JALR</a:t>
                      </a:r>
                    </a:p>
                  </a:txBody>
                  <a:tcPr>
                    <a:solidFill>
                      <a:srgbClr val="FF0000"/>
                    </a:solidFill>
                  </a:tcPr>
                </a:tc>
                <a:tc>
                  <a:txBody>
                    <a:bodyPr/>
                    <a:lstStyle/>
                    <a:p>
                      <a:r>
                        <a:rPr lang="en-US" dirty="0"/>
                        <a:t>AUIPC</a:t>
                      </a:r>
                    </a:p>
                  </a:txBody>
                  <a:tcPr/>
                </a:tc>
                <a:extLst>
                  <a:ext uri="{0D108BD9-81ED-4DB2-BD59-A6C34878D82A}">
                    <a16:rowId xmlns:a16="http://schemas.microsoft.com/office/drawing/2014/main" val="1610795048"/>
                  </a:ext>
                </a:extLst>
              </a:tr>
              <a:tr h="577453">
                <a:tc>
                  <a:txBody>
                    <a:bodyPr/>
                    <a:lstStyle/>
                    <a:p>
                      <a:r>
                        <a:rPr lang="en-US" dirty="0"/>
                        <a:t>AND</a:t>
                      </a:r>
                    </a:p>
                  </a:txBody>
                  <a:tcPr>
                    <a:solidFill>
                      <a:schemeClr val="accent3">
                        <a:lumMod val="40000"/>
                        <a:lumOff val="60000"/>
                      </a:schemeClr>
                    </a:solidFill>
                  </a:tcPr>
                </a:tc>
                <a:tc>
                  <a:txBody>
                    <a:bodyPr/>
                    <a:lstStyle/>
                    <a:p>
                      <a:r>
                        <a:rPr lang="en-US" dirty="0"/>
                        <a:t>SRA</a:t>
                      </a:r>
                    </a:p>
                  </a:txBody>
                  <a:tcPr>
                    <a:solidFill>
                      <a:schemeClr val="accent3">
                        <a:lumMod val="40000"/>
                        <a:lumOff val="60000"/>
                      </a:schemeClr>
                    </a:solidFill>
                  </a:tcPr>
                </a:tc>
                <a:tc>
                  <a:txBody>
                    <a:bodyPr/>
                    <a:lstStyle/>
                    <a:p>
                      <a:r>
                        <a:rPr lang="en-US" dirty="0"/>
                        <a:t>ANDI</a:t>
                      </a:r>
                    </a:p>
                  </a:txBody>
                  <a:tcPr>
                    <a:solidFill>
                      <a:schemeClr val="accent3">
                        <a:lumMod val="40000"/>
                        <a:lumOff val="60000"/>
                      </a:schemeClr>
                    </a:solidFill>
                  </a:tcPr>
                </a:tc>
                <a:tc>
                  <a:txBody>
                    <a:bodyPr/>
                    <a:lstStyle/>
                    <a:p>
                      <a:r>
                        <a:rPr lang="en-US" dirty="0"/>
                        <a:t>SRAI</a:t>
                      </a:r>
                    </a:p>
                  </a:txBody>
                  <a:tcPr>
                    <a:solidFill>
                      <a:schemeClr val="accent3">
                        <a:lumMod val="40000"/>
                        <a:lumOff val="60000"/>
                      </a:schemeClr>
                    </a:solidFill>
                  </a:tcPr>
                </a:tc>
                <a:tc>
                  <a:txBody>
                    <a:bodyPr/>
                    <a:lstStyle/>
                    <a:p>
                      <a:r>
                        <a:rPr lang="en-US" dirty="0"/>
                        <a:t>LW</a:t>
                      </a:r>
                    </a:p>
                  </a:txBody>
                  <a:tcPr>
                    <a:solidFill>
                      <a:schemeClr val="tx2">
                        <a:lumMod val="60000"/>
                        <a:lumOff val="40000"/>
                      </a:schemeClr>
                    </a:solidFill>
                  </a:tcPr>
                </a:tc>
                <a:tc>
                  <a:txBody>
                    <a:bodyPr/>
                    <a:lstStyle/>
                    <a:p>
                      <a:r>
                        <a:rPr lang="en-US" dirty="0"/>
                        <a:t>BLT</a:t>
                      </a:r>
                    </a:p>
                  </a:txBody>
                  <a:tcPr>
                    <a:solidFill>
                      <a:srgbClr val="FF0000"/>
                    </a:solidFill>
                  </a:tcPr>
                </a:tc>
                <a:tc>
                  <a:txBody>
                    <a:bodyPr/>
                    <a:lstStyle/>
                    <a:p>
                      <a:endParaRPr lang="en-US" dirty="0"/>
                    </a:p>
                  </a:txBody>
                  <a:tcPr>
                    <a:solidFill>
                      <a:srgbClr val="FF0000"/>
                    </a:solidFill>
                  </a:tcPr>
                </a:tc>
                <a:tc>
                  <a:txBody>
                    <a:bodyPr/>
                    <a:lstStyle/>
                    <a:p>
                      <a:endParaRPr lang="en-US"/>
                    </a:p>
                  </a:txBody>
                  <a:tcPr/>
                </a:tc>
                <a:extLst>
                  <a:ext uri="{0D108BD9-81ED-4DB2-BD59-A6C34878D82A}">
                    <a16:rowId xmlns:a16="http://schemas.microsoft.com/office/drawing/2014/main" val="3026198895"/>
                  </a:ext>
                </a:extLst>
              </a:tr>
              <a:tr h="577453">
                <a:tc>
                  <a:txBody>
                    <a:bodyPr/>
                    <a:lstStyle/>
                    <a:p>
                      <a:r>
                        <a:rPr lang="en-US" dirty="0"/>
                        <a:t>OR</a:t>
                      </a:r>
                    </a:p>
                  </a:txBody>
                  <a:tcPr>
                    <a:solidFill>
                      <a:schemeClr val="accent3">
                        <a:lumMod val="40000"/>
                        <a:lumOff val="60000"/>
                      </a:schemeClr>
                    </a:solidFill>
                  </a:tcPr>
                </a:tc>
                <a:tc>
                  <a:txBody>
                    <a:bodyPr/>
                    <a:lstStyle/>
                    <a:p>
                      <a:endParaRPr lang="en-US"/>
                    </a:p>
                  </a:txBody>
                  <a:tcPr>
                    <a:solidFill>
                      <a:schemeClr val="accent3">
                        <a:lumMod val="40000"/>
                        <a:lumOff val="60000"/>
                      </a:schemeClr>
                    </a:solidFill>
                  </a:tcPr>
                </a:tc>
                <a:tc>
                  <a:txBody>
                    <a:bodyPr/>
                    <a:lstStyle/>
                    <a:p>
                      <a:r>
                        <a:rPr lang="en-US" dirty="0"/>
                        <a:t>ORI</a:t>
                      </a:r>
                    </a:p>
                  </a:txBody>
                  <a:tcPr>
                    <a:solidFill>
                      <a:schemeClr val="accent3">
                        <a:lumMod val="40000"/>
                        <a:lumOff val="60000"/>
                      </a:schemeClr>
                    </a:solidFill>
                  </a:tcPr>
                </a:tc>
                <a:tc>
                  <a:txBody>
                    <a:bodyPr/>
                    <a:lstStyle/>
                    <a:p>
                      <a:endParaRPr lang="en-US" dirty="0"/>
                    </a:p>
                  </a:txBody>
                  <a:tcPr>
                    <a:solidFill>
                      <a:schemeClr val="accent3">
                        <a:lumMod val="40000"/>
                        <a:lumOff val="60000"/>
                      </a:schemeClr>
                    </a:solidFill>
                  </a:tcPr>
                </a:tc>
                <a:tc>
                  <a:txBody>
                    <a:bodyPr/>
                    <a:lstStyle/>
                    <a:p>
                      <a:r>
                        <a:rPr lang="en-US" dirty="0"/>
                        <a:t>LBU</a:t>
                      </a:r>
                    </a:p>
                  </a:txBody>
                  <a:tcPr>
                    <a:solidFill>
                      <a:schemeClr val="tx2">
                        <a:lumMod val="60000"/>
                        <a:lumOff val="40000"/>
                      </a:schemeClr>
                    </a:solidFill>
                  </a:tcPr>
                </a:tc>
                <a:tc>
                  <a:txBody>
                    <a:bodyPr/>
                    <a:lstStyle/>
                    <a:p>
                      <a:r>
                        <a:rPr lang="en-US" dirty="0"/>
                        <a:t>BGE</a:t>
                      </a:r>
                    </a:p>
                  </a:txBody>
                  <a:tcPr>
                    <a:solidFill>
                      <a:srgbClr val="FF0000"/>
                    </a:solidFill>
                  </a:tcPr>
                </a:tc>
                <a:tc>
                  <a:txBody>
                    <a:bodyPr/>
                    <a:lstStyle/>
                    <a:p>
                      <a:endParaRPr lang="en-US" dirty="0"/>
                    </a:p>
                  </a:txBody>
                  <a:tcPr>
                    <a:solidFill>
                      <a:srgbClr val="FF0000"/>
                    </a:solidFill>
                  </a:tcPr>
                </a:tc>
                <a:tc>
                  <a:txBody>
                    <a:bodyPr/>
                    <a:lstStyle/>
                    <a:p>
                      <a:endParaRPr lang="en-US"/>
                    </a:p>
                  </a:txBody>
                  <a:tcPr/>
                </a:tc>
                <a:extLst>
                  <a:ext uri="{0D108BD9-81ED-4DB2-BD59-A6C34878D82A}">
                    <a16:rowId xmlns:a16="http://schemas.microsoft.com/office/drawing/2014/main" val="124045441"/>
                  </a:ext>
                </a:extLst>
              </a:tr>
              <a:tr h="577453">
                <a:tc>
                  <a:txBody>
                    <a:bodyPr/>
                    <a:lstStyle/>
                    <a:p>
                      <a:r>
                        <a:rPr lang="en-US" dirty="0"/>
                        <a:t>XOR</a:t>
                      </a:r>
                    </a:p>
                  </a:txBody>
                  <a:tcPr>
                    <a:solidFill>
                      <a:schemeClr val="accent3">
                        <a:lumMod val="40000"/>
                        <a:lumOff val="60000"/>
                      </a:schemeClr>
                    </a:solidFill>
                  </a:tcPr>
                </a:tc>
                <a:tc>
                  <a:txBody>
                    <a:bodyPr/>
                    <a:lstStyle/>
                    <a:p>
                      <a:endParaRPr lang="en-US"/>
                    </a:p>
                  </a:txBody>
                  <a:tcPr>
                    <a:solidFill>
                      <a:schemeClr val="accent3">
                        <a:lumMod val="40000"/>
                        <a:lumOff val="60000"/>
                      </a:schemeClr>
                    </a:solidFill>
                  </a:tcPr>
                </a:tc>
                <a:tc>
                  <a:txBody>
                    <a:bodyPr/>
                    <a:lstStyle/>
                    <a:p>
                      <a:r>
                        <a:rPr lang="en-US" dirty="0"/>
                        <a:t>XORI</a:t>
                      </a:r>
                    </a:p>
                  </a:txBody>
                  <a:tcPr>
                    <a:solidFill>
                      <a:schemeClr val="accent3">
                        <a:lumMod val="40000"/>
                        <a:lumOff val="60000"/>
                      </a:schemeClr>
                    </a:solidFill>
                  </a:tcPr>
                </a:tc>
                <a:tc>
                  <a:txBody>
                    <a:bodyPr/>
                    <a:lstStyle/>
                    <a:p>
                      <a:endParaRPr lang="en-US" dirty="0"/>
                    </a:p>
                  </a:txBody>
                  <a:tcPr>
                    <a:solidFill>
                      <a:schemeClr val="accent3">
                        <a:lumMod val="40000"/>
                        <a:lumOff val="60000"/>
                      </a:schemeClr>
                    </a:solidFill>
                  </a:tcPr>
                </a:tc>
                <a:tc>
                  <a:txBody>
                    <a:bodyPr/>
                    <a:lstStyle/>
                    <a:p>
                      <a:r>
                        <a:rPr lang="en-US" dirty="0"/>
                        <a:t>LHU</a:t>
                      </a:r>
                    </a:p>
                  </a:txBody>
                  <a:tcPr>
                    <a:solidFill>
                      <a:schemeClr val="tx2">
                        <a:lumMod val="60000"/>
                        <a:lumOff val="40000"/>
                      </a:schemeClr>
                    </a:solidFill>
                  </a:tcPr>
                </a:tc>
                <a:tc>
                  <a:txBody>
                    <a:bodyPr/>
                    <a:lstStyle/>
                    <a:p>
                      <a:r>
                        <a:rPr lang="en-US" dirty="0"/>
                        <a:t>BLTU</a:t>
                      </a:r>
                    </a:p>
                  </a:txBody>
                  <a:tcPr>
                    <a:solidFill>
                      <a:srgbClr val="FF0000"/>
                    </a:solidFill>
                  </a:tcPr>
                </a:tc>
                <a:tc>
                  <a:txBody>
                    <a:bodyPr/>
                    <a:lstStyle/>
                    <a:p>
                      <a:endParaRPr lang="en-US" dirty="0"/>
                    </a:p>
                  </a:txBody>
                  <a:tcPr>
                    <a:solidFill>
                      <a:srgbClr val="FF0000"/>
                    </a:solidFill>
                  </a:tcPr>
                </a:tc>
                <a:tc>
                  <a:txBody>
                    <a:bodyPr/>
                    <a:lstStyle/>
                    <a:p>
                      <a:endParaRPr lang="en-US"/>
                    </a:p>
                  </a:txBody>
                  <a:tcPr/>
                </a:tc>
                <a:extLst>
                  <a:ext uri="{0D108BD9-81ED-4DB2-BD59-A6C34878D82A}">
                    <a16:rowId xmlns:a16="http://schemas.microsoft.com/office/drawing/2014/main" val="2521269141"/>
                  </a:ext>
                </a:extLst>
              </a:tr>
              <a:tr h="577453">
                <a:tc>
                  <a:txBody>
                    <a:bodyPr/>
                    <a:lstStyle/>
                    <a:p>
                      <a:r>
                        <a:rPr lang="en-US" dirty="0"/>
                        <a:t>SLT</a:t>
                      </a:r>
                    </a:p>
                  </a:txBody>
                  <a:tcPr>
                    <a:solidFill>
                      <a:schemeClr val="accent3">
                        <a:lumMod val="40000"/>
                        <a:lumOff val="60000"/>
                      </a:schemeClr>
                    </a:solidFill>
                  </a:tcPr>
                </a:tc>
                <a:tc>
                  <a:txBody>
                    <a:bodyPr/>
                    <a:lstStyle/>
                    <a:p>
                      <a:endParaRPr lang="en-US"/>
                    </a:p>
                  </a:txBody>
                  <a:tcPr>
                    <a:solidFill>
                      <a:schemeClr val="accent3">
                        <a:lumMod val="40000"/>
                        <a:lumOff val="60000"/>
                      </a:schemeClr>
                    </a:solidFill>
                  </a:tcPr>
                </a:tc>
                <a:tc>
                  <a:txBody>
                    <a:bodyPr/>
                    <a:lstStyle/>
                    <a:p>
                      <a:r>
                        <a:rPr lang="en-US" dirty="0"/>
                        <a:t>SLTI</a:t>
                      </a:r>
                    </a:p>
                  </a:txBody>
                  <a:tcPr>
                    <a:solidFill>
                      <a:schemeClr val="accent3">
                        <a:lumMod val="40000"/>
                        <a:lumOff val="60000"/>
                      </a:schemeClr>
                    </a:solidFill>
                  </a:tcPr>
                </a:tc>
                <a:tc>
                  <a:txBody>
                    <a:bodyPr/>
                    <a:lstStyle/>
                    <a:p>
                      <a:endParaRPr lang="en-US" dirty="0"/>
                    </a:p>
                  </a:txBody>
                  <a:tcPr>
                    <a:solidFill>
                      <a:schemeClr val="accent3">
                        <a:lumMod val="40000"/>
                        <a:lumOff val="60000"/>
                      </a:schemeClr>
                    </a:solidFill>
                  </a:tcPr>
                </a:tc>
                <a:tc>
                  <a:txBody>
                    <a:bodyPr/>
                    <a:lstStyle/>
                    <a:p>
                      <a:r>
                        <a:rPr lang="en-US" dirty="0"/>
                        <a:t>SB</a:t>
                      </a:r>
                    </a:p>
                  </a:txBody>
                  <a:tcPr>
                    <a:solidFill>
                      <a:schemeClr val="tx2">
                        <a:lumMod val="60000"/>
                        <a:lumOff val="40000"/>
                      </a:schemeClr>
                    </a:solidFill>
                  </a:tcPr>
                </a:tc>
                <a:tc>
                  <a:txBody>
                    <a:bodyPr/>
                    <a:lstStyle/>
                    <a:p>
                      <a:r>
                        <a:rPr lang="en-US" dirty="0"/>
                        <a:t>BGEU</a:t>
                      </a:r>
                    </a:p>
                  </a:txBody>
                  <a:tcPr>
                    <a:solidFill>
                      <a:srgbClr val="FF0000"/>
                    </a:solidFill>
                  </a:tcPr>
                </a:tc>
                <a:tc>
                  <a:txBody>
                    <a:bodyPr/>
                    <a:lstStyle/>
                    <a:p>
                      <a:endParaRPr lang="en-US" dirty="0"/>
                    </a:p>
                  </a:txBody>
                  <a:tcPr>
                    <a:solidFill>
                      <a:srgbClr val="FF0000"/>
                    </a:solidFill>
                  </a:tcPr>
                </a:tc>
                <a:tc>
                  <a:txBody>
                    <a:bodyPr/>
                    <a:lstStyle/>
                    <a:p>
                      <a:endParaRPr lang="en-US"/>
                    </a:p>
                  </a:txBody>
                  <a:tcPr/>
                </a:tc>
                <a:extLst>
                  <a:ext uri="{0D108BD9-81ED-4DB2-BD59-A6C34878D82A}">
                    <a16:rowId xmlns:a16="http://schemas.microsoft.com/office/drawing/2014/main" val="2222233826"/>
                  </a:ext>
                </a:extLst>
              </a:tr>
              <a:tr h="577453">
                <a:tc>
                  <a:txBody>
                    <a:bodyPr/>
                    <a:lstStyle/>
                    <a:p>
                      <a:r>
                        <a:rPr lang="en-US" dirty="0"/>
                        <a:t>SLTU</a:t>
                      </a:r>
                    </a:p>
                  </a:txBody>
                  <a:tcPr>
                    <a:solidFill>
                      <a:schemeClr val="accent3">
                        <a:lumMod val="40000"/>
                        <a:lumOff val="60000"/>
                      </a:schemeClr>
                    </a:solidFill>
                  </a:tcPr>
                </a:tc>
                <a:tc>
                  <a:txBody>
                    <a:bodyPr/>
                    <a:lstStyle/>
                    <a:p>
                      <a:endParaRPr lang="en-US" dirty="0"/>
                    </a:p>
                  </a:txBody>
                  <a:tcPr>
                    <a:solidFill>
                      <a:schemeClr val="accent3">
                        <a:lumMod val="40000"/>
                        <a:lumOff val="60000"/>
                      </a:schemeClr>
                    </a:solidFill>
                  </a:tcPr>
                </a:tc>
                <a:tc>
                  <a:txBody>
                    <a:bodyPr/>
                    <a:lstStyle/>
                    <a:p>
                      <a:r>
                        <a:rPr lang="en-US" dirty="0"/>
                        <a:t>SLTIU</a:t>
                      </a:r>
                    </a:p>
                  </a:txBody>
                  <a:tcPr>
                    <a:solidFill>
                      <a:schemeClr val="accent3">
                        <a:lumMod val="40000"/>
                        <a:lumOff val="60000"/>
                      </a:schemeClr>
                    </a:solidFill>
                  </a:tcPr>
                </a:tc>
                <a:tc>
                  <a:txBody>
                    <a:bodyPr/>
                    <a:lstStyle/>
                    <a:p>
                      <a:endParaRPr lang="en-US" dirty="0"/>
                    </a:p>
                  </a:txBody>
                  <a:tcPr>
                    <a:solidFill>
                      <a:schemeClr val="accent3">
                        <a:lumMod val="40000"/>
                        <a:lumOff val="60000"/>
                      </a:schemeClr>
                    </a:solidFill>
                  </a:tcPr>
                </a:tc>
                <a:tc>
                  <a:txBody>
                    <a:bodyPr/>
                    <a:lstStyle/>
                    <a:p>
                      <a:r>
                        <a:rPr lang="en-US" dirty="0"/>
                        <a:t>SH</a:t>
                      </a:r>
                    </a:p>
                  </a:txBody>
                  <a:tcPr>
                    <a:solidFill>
                      <a:schemeClr val="tx2">
                        <a:lumMod val="60000"/>
                        <a:lumOff val="40000"/>
                      </a:schemeClr>
                    </a:solidFill>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820336229"/>
                  </a:ext>
                </a:extLst>
              </a:tr>
              <a:tr h="577453">
                <a:tc>
                  <a:txBody>
                    <a:bodyPr/>
                    <a:lstStyle/>
                    <a:p>
                      <a:endParaRPr lang="en-US" dirty="0"/>
                    </a:p>
                  </a:txBody>
                  <a:tcPr>
                    <a:solidFill>
                      <a:schemeClr val="accent3">
                        <a:lumMod val="40000"/>
                        <a:lumOff val="60000"/>
                      </a:schemeClr>
                    </a:solidFill>
                  </a:tcPr>
                </a:tc>
                <a:tc>
                  <a:txBody>
                    <a:bodyPr/>
                    <a:lstStyle/>
                    <a:p>
                      <a:endParaRPr lang="en-US" dirty="0"/>
                    </a:p>
                  </a:txBody>
                  <a:tcPr>
                    <a:solidFill>
                      <a:schemeClr val="accent3">
                        <a:lumMod val="40000"/>
                        <a:lumOff val="60000"/>
                      </a:schemeClr>
                    </a:solidFill>
                  </a:tcPr>
                </a:tc>
                <a:tc>
                  <a:txBody>
                    <a:bodyPr/>
                    <a:lstStyle/>
                    <a:p>
                      <a:endParaRPr lang="en-US" dirty="0"/>
                    </a:p>
                  </a:txBody>
                  <a:tcPr>
                    <a:solidFill>
                      <a:schemeClr val="accent3">
                        <a:lumMod val="40000"/>
                        <a:lumOff val="60000"/>
                      </a:schemeClr>
                    </a:solidFill>
                  </a:tcPr>
                </a:tc>
                <a:tc>
                  <a:txBody>
                    <a:bodyPr/>
                    <a:lstStyle/>
                    <a:p>
                      <a:endParaRPr lang="en-US" dirty="0"/>
                    </a:p>
                  </a:txBody>
                  <a:tcPr>
                    <a:solidFill>
                      <a:schemeClr val="accent3">
                        <a:lumMod val="40000"/>
                        <a:lumOff val="60000"/>
                      </a:schemeClr>
                    </a:solidFill>
                  </a:tcPr>
                </a:tc>
                <a:tc>
                  <a:txBody>
                    <a:bodyPr/>
                    <a:lstStyle/>
                    <a:p>
                      <a:r>
                        <a:rPr lang="en-US" dirty="0"/>
                        <a:t>SW</a:t>
                      </a:r>
                    </a:p>
                  </a:txBody>
                  <a:tcPr>
                    <a:solidFill>
                      <a:schemeClr val="tx2">
                        <a:lumMod val="60000"/>
                        <a:lumOff val="40000"/>
                      </a:schemeClr>
                    </a:solidFill>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4107470868"/>
                  </a:ext>
                </a:extLst>
              </a:tr>
            </a:tbl>
          </a:graphicData>
        </a:graphic>
      </p:graphicFrame>
    </p:spTree>
    <p:extLst>
      <p:ext uri="{BB962C8B-B14F-4D97-AF65-F5344CB8AC3E}">
        <p14:creationId xmlns:p14="http://schemas.microsoft.com/office/powerpoint/2010/main" val="28597456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7EFE806-B147-47DC-BEC9-42301BA37B18}"/>
              </a:ext>
            </a:extLst>
          </p:cNvPr>
          <p:cNvSpPr>
            <a:spLocks noGrp="1"/>
          </p:cNvSpPr>
          <p:nvPr>
            <p:ph type="sldNum" sz="quarter" idx="10"/>
          </p:nvPr>
        </p:nvSpPr>
        <p:spPr/>
        <p:txBody>
          <a:bodyPr/>
          <a:lstStyle/>
          <a:p>
            <a:fld id="{D9B6BDF2-6896-4B98-8776-C18582F63BA5}" type="slidenum">
              <a:rPr lang="zh-TW" altLang="en-US" smtClean="0"/>
              <a:t>19</a:t>
            </a:fld>
            <a:endParaRPr lang="zh-TW" altLang="en-US"/>
          </a:p>
        </p:txBody>
      </p:sp>
      <p:pic>
        <p:nvPicPr>
          <p:cNvPr id="6" name="Picture 5">
            <a:extLst>
              <a:ext uri="{FF2B5EF4-FFF2-40B4-BE49-F238E27FC236}">
                <a16:creationId xmlns:a16="http://schemas.microsoft.com/office/drawing/2014/main" id="{1359EBE9-8A1A-4A52-8511-6B7C42EC36EA}"/>
              </a:ext>
            </a:extLst>
          </p:cNvPr>
          <p:cNvPicPr>
            <a:picLocks noChangeAspect="1"/>
          </p:cNvPicPr>
          <p:nvPr/>
        </p:nvPicPr>
        <p:blipFill>
          <a:blip r:embed="rId2"/>
          <a:stretch>
            <a:fillRect/>
          </a:stretch>
        </p:blipFill>
        <p:spPr>
          <a:xfrm>
            <a:off x="0" y="1619738"/>
            <a:ext cx="12192000" cy="3618524"/>
          </a:xfrm>
          <a:prstGeom prst="rect">
            <a:avLst/>
          </a:prstGeom>
        </p:spPr>
      </p:pic>
      <p:sp>
        <p:nvSpPr>
          <p:cNvPr id="7" name="Title 1">
            <a:extLst>
              <a:ext uri="{FF2B5EF4-FFF2-40B4-BE49-F238E27FC236}">
                <a16:creationId xmlns:a16="http://schemas.microsoft.com/office/drawing/2014/main" id="{285707FA-5F2C-49A0-9A7A-64F2A6DE3979}"/>
              </a:ext>
            </a:extLst>
          </p:cNvPr>
          <p:cNvSpPr>
            <a:spLocks noGrp="1"/>
          </p:cNvSpPr>
          <p:nvPr>
            <p:ph type="title"/>
          </p:nvPr>
        </p:nvSpPr>
        <p:spPr>
          <a:xfrm>
            <a:off x="1095023" y="106092"/>
            <a:ext cx="10555111" cy="1143000"/>
          </a:xfrm>
        </p:spPr>
        <p:txBody>
          <a:bodyPr/>
          <a:lstStyle/>
          <a:p>
            <a:r>
              <a:rPr kumimoji="1" lang="en-US" sz="4800" b="1" i="0" u="none" strike="noStrike" kern="0" cap="none" spc="0" normalizeH="0" baseline="0" noProof="0" dirty="0">
                <a:ln>
                  <a:noFill/>
                </a:ln>
                <a:solidFill>
                  <a:srgbClr val="1F497D"/>
                </a:solidFill>
                <a:effectLst/>
                <a:uLnTx/>
                <a:uFillTx/>
                <a:latin typeface="Calibri" pitchFamily="34" charset="0"/>
                <a:ea typeface="標楷體" pitchFamily="65" charset="-120"/>
              </a:rPr>
              <a:t>Instruction Types (</a:t>
            </a:r>
            <a:r>
              <a:rPr kumimoji="1" lang="en-US" sz="3600" b="1" i="0" u="none" strike="noStrike" kern="0" cap="none" spc="0" normalizeH="0" baseline="0" noProof="0" dirty="0">
                <a:ln>
                  <a:noFill/>
                </a:ln>
                <a:solidFill>
                  <a:srgbClr val="1F497D"/>
                </a:solidFill>
                <a:effectLst/>
                <a:uLnTx/>
                <a:uFillTx/>
                <a:latin typeface="Calibri" pitchFamily="34" charset="0"/>
                <a:ea typeface="標楷體" pitchFamily="65" charset="-120"/>
              </a:rPr>
              <a:t>based on</a:t>
            </a:r>
            <a:r>
              <a:rPr lang="en-US" sz="3600" dirty="0"/>
              <a:t> </a:t>
            </a:r>
            <a:r>
              <a:rPr lang="en-US" sz="3000" dirty="0"/>
              <a:t>encoding format</a:t>
            </a:r>
            <a:r>
              <a:rPr lang="en-US" dirty="0"/>
              <a:t>)</a:t>
            </a:r>
          </a:p>
        </p:txBody>
      </p:sp>
      <p:sp>
        <p:nvSpPr>
          <p:cNvPr id="2" name="Oval 1">
            <a:extLst>
              <a:ext uri="{FF2B5EF4-FFF2-40B4-BE49-F238E27FC236}">
                <a16:creationId xmlns:a16="http://schemas.microsoft.com/office/drawing/2014/main" id="{80B0B1AC-19BB-4244-BC3B-B2BCF863EA06}"/>
              </a:ext>
            </a:extLst>
          </p:cNvPr>
          <p:cNvSpPr/>
          <p:nvPr/>
        </p:nvSpPr>
        <p:spPr bwMode="auto">
          <a:xfrm>
            <a:off x="10875523" y="2971800"/>
            <a:ext cx="1498059" cy="914400"/>
          </a:xfrm>
          <a:prstGeom prst="ellipse">
            <a:avLst/>
          </a:prstGeom>
          <a:noFill/>
          <a:ln w="571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8" name="Oval 7">
            <a:extLst>
              <a:ext uri="{FF2B5EF4-FFF2-40B4-BE49-F238E27FC236}">
                <a16:creationId xmlns:a16="http://schemas.microsoft.com/office/drawing/2014/main" id="{3B50AD7B-0EDF-4FD9-8B6B-C6DC4DDEC207}"/>
              </a:ext>
            </a:extLst>
          </p:cNvPr>
          <p:cNvSpPr/>
          <p:nvPr/>
        </p:nvSpPr>
        <p:spPr bwMode="auto">
          <a:xfrm>
            <a:off x="10784732" y="3968886"/>
            <a:ext cx="1498059" cy="1203680"/>
          </a:xfrm>
          <a:prstGeom prst="ellipse">
            <a:avLst/>
          </a:prstGeom>
          <a:noFill/>
          <a:ln w="571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3" name="TextBox 2">
            <a:extLst>
              <a:ext uri="{FF2B5EF4-FFF2-40B4-BE49-F238E27FC236}">
                <a16:creationId xmlns:a16="http://schemas.microsoft.com/office/drawing/2014/main" id="{CB1666C3-A9EA-48AD-B0CF-FEA28EE60899}"/>
              </a:ext>
            </a:extLst>
          </p:cNvPr>
          <p:cNvSpPr txBox="1"/>
          <p:nvPr/>
        </p:nvSpPr>
        <p:spPr>
          <a:xfrm>
            <a:off x="291830" y="5384614"/>
            <a:ext cx="1757212" cy="584775"/>
          </a:xfrm>
          <a:prstGeom prst="rect">
            <a:avLst/>
          </a:prstGeom>
          <a:solidFill>
            <a:srgbClr val="FFFF00"/>
          </a:solidFill>
          <a:ln>
            <a:solidFill>
              <a:srgbClr val="FF0000"/>
            </a:solidFill>
          </a:ln>
        </p:spPr>
        <p:txBody>
          <a:bodyPr wrap="none" rtlCol="0" anchor="ctr" anchorCtr="1">
            <a:spAutoFit/>
          </a:bodyPr>
          <a:lstStyle/>
          <a:p>
            <a:r>
              <a:rPr lang="en-US" sz="3200" dirty="0">
                <a:solidFill>
                  <a:srgbClr val="FF0000"/>
                </a:solidFill>
                <a:ea typeface="標楷體" pitchFamily="65" charset="-120"/>
                <a:cs typeface="Calibri" pitchFamily="34" charset="0"/>
              </a:rPr>
              <a:t>R, I, B, J</a:t>
            </a:r>
          </a:p>
        </p:txBody>
      </p:sp>
      <p:sp>
        <p:nvSpPr>
          <p:cNvPr id="5" name="TextBox 4">
            <a:extLst>
              <a:ext uri="{FF2B5EF4-FFF2-40B4-BE49-F238E27FC236}">
                <a16:creationId xmlns:a16="http://schemas.microsoft.com/office/drawing/2014/main" id="{71DE8148-7F08-47A0-B852-AE7F448DE5FE}"/>
              </a:ext>
            </a:extLst>
          </p:cNvPr>
          <p:cNvSpPr txBox="1"/>
          <p:nvPr/>
        </p:nvSpPr>
        <p:spPr>
          <a:xfrm>
            <a:off x="5279971" y="5292281"/>
            <a:ext cx="2467342" cy="769441"/>
          </a:xfrm>
          <a:prstGeom prst="rect">
            <a:avLst/>
          </a:prstGeom>
          <a:solidFill>
            <a:srgbClr val="FFFF00"/>
          </a:solidFill>
          <a:ln>
            <a:solidFill>
              <a:srgbClr val="FF0000"/>
            </a:solidFill>
          </a:ln>
        </p:spPr>
        <p:txBody>
          <a:bodyPr wrap="none" rtlCol="0" anchor="ctr" anchorCtr="1">
            <a:spAutoFit/>
          </a:bodyPr>
          <a:lstStyle/>
          <a:p>
            <a:r>
              <a:rPr lang="en-US" sz="2000" dirty="0">
                <a:ea typeface="標楷體" pitchFamily="65" charset="-120"/>
                <a:cs typeface="Calibri" pitchFamily="34" charset="0"/>
              </a:rPr>
              <a:t>12b </a:t>
            </a:r>
            <a:r>
              <a:rPr lang="en-US" sz="2000" dirty="0" err="1">
                <a:ea typeface="標楷體" pitchFamily="65" charset="-120"/>
                <a:cs typeface="Calibri" pitchFamily="34" charset="0"/>
              </a:rPr>
              <a:t>immed</a:t>
            </a:r>
            <a:r>
              <a:rPr lang="en-US" sz="2000" dirty="0">
                <a:ea typeface="標楷體" pitchFamily="65" charset="-120"/>
                <a:cs typeface="Calibri" pitchFamily="34" charset="0"/>
              </a:rPr>
              <a:t>: </a:t>
            </a:r>
            <a:r>
              <a:rPr lang="en-US" sz="2400" dirty="0">
                <a:ea typeface="標楷體" pitchFamily="65" charset="-120"/>
                <a:cs typeface="Calibri" pitchFamily="34" charset="0"/>
              </a:rPr>
              <a:t>I </a:t>
            </a:r>
            <a:r>
              <a:rPr lang="en-US" sz="2000" dirty="0">
                <a:ea typeface="標楷體" pitchFamily="65" charset="-120"/>
                <a:cs typeface="Calibri" pitchFamily="34" charset="0"/>
              </a:rPr>
              <a:t>and </a:t>
            </a:r>
            <a:r>
              <a:rPr lang="en-US" sz="2400" dirty="0">
                <a:ea typeface="標楷體" pitchFamily="65" charset="-120"/>
                <a:cs typeface="Calibri" pitchFamily="34" charset="0"/>
              </a:rPr>
              <a:t>B</a:t>
            </a:r>
          </a:p>
          <a:p>
            <a:r>
              <a:rPr lang="en-US" sz="2000" dirty="0">
                <a:ea typeface="標楷體" pitchFamily="65" charset="-120"/>
                <a:cs typeface="Calibri" pitchFamily="34" charset="0"/>
              </a:rPr>
              <a:t>B has no “</a:t>
            </a:r>
            <a:r>
              <a:rPr lang="en-US" sz="2000" dirty="0" err="1">
                <a:ea typeface="標楷體" pitchFamily="65" charset="-120"/>
                <a:cs typeface="Calibri" pitchFamily="34" charset="0"/>
              </a:rPr>
              <a:t>rd</a:t>
            </a:r>
            <a:r>
              <a:rPr lang="en-US" sz="2000" dirty="0">
                <a:ea typeface="標楷體" pitchFamily="65" charset="-120"/>
                <a:cs typeface="Calibri" pitchFamily="34" charset="0"/>
              </a:rPr>
              <a:t>” field</a:t>
            </a:r>
          </a:p>
        </p:txBody>
      </p:sp>
      <p:sp>
        <p:nvSpPr>
          <p:cNvPr id="9" name="TextBox 8">
            <a:extLst>
              <a:ext uri="{FF2B5EF4-FFF2-40B4-BE49-F238E27FC236}">
                <a16:creationId xmlns:a16="http://schemas.microsoft.com/office/drawing/2014/main" id="{86B094E0-B67F-44CC-8DEA-4FCB8B65C4B1}"/>
              </a:ext>
            </a:extLst>
          </p:cNvPr>
          <p:cNvSpPr txBox="1"/>
          <p:nvPr/>
        </p:nvSpPr>
        <p:spPr>
          <a:xfrm>
            <a:off x="2500008" y="5446169"/>
            <a:ext cx="2478564" cy="461665"/>
          </a:xfrm>
          <a:prstGeom prst="rect">
            <a:avLst/>
          </a:prstGeom>
          <a:solidFill>
            <a:srgbClr val="FFFF00"/>
          </a:solidFill>
          <a:ln>
            <a:solidFill>
              <a:srgbClr val="FF0000"/>
            </a:solidFill>
          </a:ln>
        </p:spPr>
        <p:txBody>
          <a:bodyPr wrap="none" rtlCol="0" anchor="ctr" anchorCtr="1">
            <a:spAutoFit/>
          </a:bodyPr>
          <a:lstStyle/>
          <a:p>
            <a:r>
              <a:rPr lang="en-US" sz="2400" dirty="0">
                <a:ea typeface="標楷體" pitchFamily="65" charset="-120"/>
                <a:cs typeface="Calibri" pitchFamily="34" charset="0"/>
              </a:rPr>
              <a:t>No immediate: R</a:t>
            </a:r>
          </a:p>
        </p:txBody>
      </p:sp>
      <p:sp>
        <p:nvSpPr>
          <p:cNvPr id="10" name="TextBox 9">
            <a:extLst>
              <a:ext uri="{FF2B5EF4-FFF2-40B4-BE49-F238E27FC236}">
                <a16:creationId xmlns:a16="http://schemas.microsoft.com/office/drawing/2014/main" id="{55C6090E-0889-4B7A-8363-986868F48E20}"/>
              </a:ext>
            </a:extLst>
          </p:cNvPr>
          <p:cNvSpPr txBox="1"/>
          <p:nvPr/>
        </p:nvSpPr>
        <p:spPr>
          <a:xfrm>
            <a:off x="7986196" y="5446169"/>
            <a:ext cx="1747594" cy="461665"/>
          </a:xfrm>
          <a:prstGeom prst="rect">
            <a:avLst/>
          </a:prstGeom>
          <a:solidFill>
            <a:srgbClr val="FFFF00"/>
          </a:solidFill>
          <a:ln>
            <a:solidFill>
              <a:srgbClr val="FF0000"/>
            </a:solidFill>
          </a:ln>
        </p:spPr>
        <p:txBody>
          <a:bodyPr wrap="none" rtlCol="0" anchor="ctr" anchorCtr="1">
            <a:spAutoFit/>
          </a:bodyPr>
          <a:lstStyle/>
          <a:p>
            <a:r>
              <a:rPr lang="en-US" sz="2000" dirty="0">
                <a:ea typeface="標楷體" pitchFamily="65" charset="-120"/>
                <a:cs typeface="Calibri" pitchFamily="34" charset="0"/>
              </a:rPr>
              <a:t>20b </a:t>
            </a:r>
            <a:r>
              <a:rPr lang="en-US" sz="2000" dirty="0" err="1">
                <a:ea typeface="標楷體" pitchFamily="65" charset="-120"/>
                <a:cs typeface="Calibri" pitchFamily="34" charset="0"/>
              </a:rPr>
              <a:t>immed</a:t>
            </a:r>
            <a:r>
              <a:rPr lang="en-US" sz="2000" dirty="0">
                <a:ea typeface="標楷體" pitchFamily="65" charset="-120"/>
                <a:cs typeface="Calibri" pitchFamily="34" charset="0"/>
              </a:rPr>
              <a:t>: </a:t>
            </a:r>
            <a:r>
              <a:rPr lang="en-US" sz="2400" dirty="0">
                <a:ea typeface="標楷體" pitchFamily="65" charset="-120"/>
                <a:cs typeface="Calibri" pitchFamily="34" charset="0"/>
              </a:rPr>
              <a:t>J</a:t>
            </a:r>
          </a:p>
        </p:txBody>
      </p:sp>
    </p:spTree>
    <p:extLst>
      <p:ext uri="{BB962C8B-B14F-4D97-AF65-F5344CB8AC3E}">
        <p14:creationId xmlns:p14="http://schemas.microsoft.com/office/powerpoint/2010/main" val="2793010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P spid="3" grpId="0" animBg="1"/>
      <p:bldP spid="5" grpId="0" animBg="1"/>
      <p:bldP spid="9" grpId="0" animBg="1"/>
      <p:bldP spid="1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5739" y="-21436"/>
            <a:ext cx="8001000" cy="1143000"/>
          </a:xfrm>
        </p:spPr>
        <p:txBody>
          <a:bodyPr/>
          <a:lstStyle/>
          <a:p>
            <a:r>
              <a:rPr lang="en-US" dirty="0"/>
              <a:t>Instruction Formats (R-type)</a:t>
            </a:r>
            <a:endParaRPr lang="en-US" i="1" dirty="0"/>
          </a:p>
        </p:txBody>
      </p:sp>
      <p:grpSp>
        <p:nvGrpSpPr>
          <p:cNvPr id="46" name="Group 45"/>
          <p:cNvGrpSpPr/>
          <p:nvPr/>
        </p:nvGrpSpPr>
        <p:grpSpPr>
          <a:xfrm>
            <a:off x="2028035" y="1676940"/>
            <a:ext cx="8078703" cy="646103"/>
            <a:chOff x="723900" y="2124293"/>
            <a:chExt cx="8078703" cy="646103"/>
          </a:xfrm>
        </p:grpSpPr>
        <p:sp>
          <p:nvSpPr>
            <p:cNvPr id="7" name="TextBox 6"/>
            <p:cNvSpPr txBox="1"/>
            <p:nvPr/>
          </p:nvSpPr>
          <p:spPr>
            <a:xfrm>
              <a:off x="723900" y="2416453"/>
              <a:ext cx="174228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funct7</a:t>
              </a:r>
            </a:p>
          </p:txBody>
        </p:sp>
        <p:sp>
          <p:nvSpPr>
            <p:cNvPr id="8" name="TextBox 7"/>
            <p:cNvSpPr txBox="1"/>
            <p:nvPr/>
          </p:nvSpPr>
          <p:spPr>
            <a:xfrm>
              <a:off x="2466181" y="2416453"/>
              <a:ext cx="122792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rs2</a:t>
              </a:r>
            </a:p>
          </p:txBody>
        </p:sp>
        <p:sp>
          <p:nvSpPr>
            <p:cNvPr id="10" name="TextBox 9"/>
            <p:cNvSpPr txBox="1"/>
            <p:nvPr/>
          </p:nvSpPr>
          <p:spPr>
            <a:xfrm>
              <a:off x="4922042" y="2416453"/>
              <a:ext cx="91201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11" name="TextBox 10"/>
            <p:cNvSpPr txBox="1"/>
            <p:nvPr/>
          </p:nvSpPr>
          <p:spPr>
            <a:xfrm>
              <a:off x="3694111" y="2416453"/>
              <a:ext cx="122793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12" name="TextBox 11"/>
            <p:cNvSpPr txBox="1"/>
            <p:nvPr/>
          </p:nvSpPr>
          <p:spPr>
            <a:xfrm>
              <a:off x="5834060" y="2416453"/>
              <a:ext cx="12262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13" name="TextBox 12"/>
            <p:cNvSpPr txBox="1"/>
            <p:nvPr/>
          </p:nvSpPr>
          <p:spPr>
            <a:xfrm>
              <a:off x="7060322" y="2416453"/>
              <a:ext cx="174228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4" name="TextBox 13"/>
            <p:cNvSpPr txBox="1"/>
            <p:nvPr/>
          </p:nvSpPr>
          <p:spPr>
            <a:xfrm>
              <a:off x="1441794" y="2124293"/>
              <a:ext cx="306494" cy="353943"/>
            </a:xfrm>
            <a:prstGeom prst="rect">
              <a:avLst/>
            </a:prstGeom>
            <a:noFill/>
          </p:spPr>
          <p:txBody>
            <a:bodyPr wrap="none" rtlCol="0">
              <a:spAutoFit/>
            </a:bodyPr>
            <a:lstStyle/>
            <a:p>
              <a:pPr algn="ctr"/>
              <a:r>
                <a:rPr lang="en-US" sz="1700" dirty="0"/>
                <a:t>7</a:t>
              </a:r>
            </a:p>
          </p:txBody>
        </p:sp>
        <p:sp>
          <p:nvSpPr>
            <p:cNvPr id="15" name="TextBox 14"/>
            <p:cNvSpPr txBox="1"/>
            <p:nvPr/>
          </p:nvSpPr>
          <p:spPr>
            <a:xfrm>
              <a:off x="2927254" y="2124293"/>
              <a:ext cx="306494" cy="353943"/>
            </a:xfrm>
            <a:prstGeom prst="rect">
              <a:avLst/>
            </a:prstGeom>
            <a:noFill/>
          </p:spPr>
          <p:txBody>
            <a:bodyPr wrap="none" rtlCol="0">
              <a:spAutoFit/>
            </a:bodyPr>
            <a:lstStyle/>
            <a:p>
              <a:pPr algn="ctr"/>
              <a:r>
                <a:rPr lang="en-US" sz="1700" dirty="0"/>
                <a:t>5</a:t>
              </a:r>
            </a:p>
          </p:txBody>
        </p:sp>
        <p:sp>
          <p:nvSpPr>
            <p:cNvPr id="16" name="TextBox 15"/>
            <p:cNvSpPr txBox="1"/>
            <p:nvPr/>
          </p:nvSpPr>
          <p:spPr>
            <a:xfrm>
              <a:off x="4154830" y="2124293"/>
              <a:ext cx="306494" cy="353943"/>
            </a:xfrm>
            <a:prstGeom prst="rect">
              <a:avLst/>
            </a:prstGeom>
            <a:noFill/>
          </p:spPr>
          <p:txBody>
            <a:bodyPr wrap="none" rtlCol="0">
              <a:spAutoFit/>
            </a:bodyPr>
            <a:lstStyle/>
            <a:p>
              <a:pPr algn="ctr"/>
              <a:r>
                <a:rPr lang="en-US" sz="1700" dirty="0"/>
                <a:t>5</a:t>
              </a:r>
            </a:p>
          </p:txBody>
        </p:sp>
        <p:sp>
          <p:nvSpPr>
            <p:cNvPr id="17" name="TextBox 16"/>
            <p:cNvSpPr txBox="1"/>
            <p:nvPr/>
          </p:nvSpPr>
          <p:spPr>
            <a:xfrm>
              <a:off x="5220834" y="2124293"/>
              <a:ext cx="306494" cy="353943"/>
            </a:xfrm>
            <a:prstGeom prst="rect">
              <a:avLst/>
            </a:prstGeom>
            <a:noFill/>
          </p:spPr>
          <p:txBody>
            <a:bodyPr wrap="none" rtlCol="0">
              <a:spAutoFit/>
            </a:bodyPr>
            <a:lstStyle/>
            <a:p>
              <a:pPr algn="ctr"/>
              <a:r>
                <a:rPr lang="en-US" sz="1700" dirty="0"/>
                <a:t>3</a:t>
              </a:r>
            </a:p>
          </p:txBody>
        </p:sp>
        <p:sp>
          <p:nvSpPr>
            <p:cNvPr id="18" name="TextBox 17"/>
            <p:cNvSpPr txBox="1"/>
            <p:nvPr/>
          </p:nvSpPr>
          <p:spPr>
            <a:xfrm>
              <a:off x="6296894" y="2124293"/>
              <a:ext cx="306494" cy="353943"/>
            </a:xfrm>
            <a:prstGeom prst="rect">
              <a:avLst/>
            </a:prstGeom>
            <a:noFill/>
          </p:spPr>
          <p:txBody>
            <a:bodyPr wrap="none" rtlCol="0">
              <a:spAutoFit/>
            </a:bodyPr>
            <a:lstStyle/>
            <a:p>
              <a:pPr algn="ctr"/>
              <a:r>
                <a:rPr lang="en-US" sz="1700" dirty="0"/>
                <a:t>5</a:t>
              </a:r>
            </a:p>
          </p:txBody>
        </p:sp>
        <p:sp>
          <p:nvSpPr>
            <p:cNvPr id="19" name="TextBox 18"/>
            <p:cNvSpPr txBox="1"/>
            <p:nvPr/>
          </p:nvSpPr>
          <p:spPr>
            <a:xfrm>
              <a:off x="7778215" y="2124293"/>
              <a:ext cx="306494" cy="353943"/>
            </a:xfrm>
            <a:prstGeom prst="rect">
              <a:avLst/>
            </a:prstGeom>
            <a:noFill/>
          </p:spPr>
          <p:txBody>
            <a:bodyPr wrap="none" rtlCol="0">
              <a:spAutoFit/>
            </a:bodyPr>
            <a:lstStyle/>
            <a:p>
              <a:pPr algn="ctr"/>
              <a:r>
                <a:rPr lang="en-US" sz="1700" dirty="0"/>
                <a:t>7</a:t>
              </a:r>
            </a:p>
          </p:txBody>
        </p:sp>
      </p:grpSp>
      <p:sp>
        <p:nvSpPr>
          <p:cNvPr id="49" name="TextBox 48"/>
          <p:cNvSpPr txBox="1"/>
          <p:nvPr/>
        </p:nvSpPr>
        <p:spPr>
          <a:xfrm>
            <a:off x="2024913" y="1255952"/>
            <a:ext cx="3954484" cy="461665"/>
          </a:xfrm>
          <a:prstGeom prst="rect">
            <a:avLst/>
          </a:prstGeom>
          <a:noFill/>
        </p:spPr>
        <p:txBody>
          <a:bodyPr wrap="square" rtlCol="0">
            <a:spAutoFit/>
          </a:bodyPr>
          <a:lstStyle/>
          <a:p>
            <a:pPr marL="342891" indent="-342891" eaLnBrk="0" hangingPunct="0">
              <a:spcBef>
                <a:spcPct val="20000"/>
              </a:spcBef>
              <a:buClr>
                <a:schemeClr val="hlink"/>
              </a:buClr>
              <a:buSzPct val="110000"/>
              <a:buBlip>
                <a:blip r:embed="rId3"/>
              </a:buBlip>
            </a:pPr>
            <a:r>
              <a:rPr lang="en-US" sz="2400" dirty="0">
                <a:solidFill>
                  <a:srgbClr val="FF0000"/>
                </a:solidFill>
              </a:rPr>
              <a:t>R-type</a:t>
            </a:r>
            <a:r>
              <a:rPr lang="en-US" sz="2400" dirty="0"/>
              <a:t> instruction</a:t>
            </a:r>
            <a:endParaRPr lang="en-US" dirty="0"/>
          </a:p>
        </p:txBody>
      </p:sp>
      <p:sp>
        <p:nvSpPr>
          <p:cNvPr id="4" name="Date Placeholder 3"/>
          <p:cNvSpPr>
            <a:spLocks noGrp="1"/>
          </p:cNvSpPr>
          <p:nvPr>
            <p:ph type="dt" sz="half" idx="10"/>
          </p:nvPr>
        </p:nvSpPr>
        <p:spPr/>
        <p:txBody>
          <a:bodyPr/>
          <a:lstStyle/>
          <a:p>
            <a:pPr>
              <a:defRPr/>
            </a:pPr>
            <a:r>
              <a:rPr lang="en-US" dirty="0"/>
              <a:t>September 27, 2024</a:t>
            </a:r>
          </a:p>
        </p:txBody>
      </p:sp>
      <p:sp>
        <p:nvSpPr>
          <p:cNvPr id="9" name="Footer Placeholder 8"/>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20" name="Slide Number Placeholder 19"/>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20</a:t>
            </a:fld>
            <a:endParaRPr lang="en-US" dirty="0"/>
          </a:p>
        </p:txBody>
      </p:sp>
      <p:sp>
        <p:nvSpPr>
          <p:cNvPr id="27" name="TextBox 26">
            <a:extLst>
              <a:ext uri="{FF2B5EF4-FFF2-40B4-BE49-F238E27FC236}">
                <a16:creationId xmlns:a16="http://schemas.microsoft.com/office/drawing/2014/main" id="{862FA4E8-EE91-4949-8A8F-AF3D71904A4D}"/>
              </a:ext>
            </a:extLst>
          </p:cNvPr>
          <p:cNvSpPr txBox="1"/>
          <p:nvPr/>
        </p:nvSpPr>
        <p:spPr>
          <a:xfrm>
            <a:off x="5573006" y="1018272"/>
            <a:ext cx="982961" cy="666977"/>
          </a:xfrm>
          <a:prstGeom prst="rect">
            <a:avLst/>
          </a:prstGeom>
          <a:noFill/>
          <a:ln>
            <a:solidFill>
              <a:schemeClr val="tx1"/>
            </a:solidFill>
          </a:ln>
        </p:spPr>
        <p:txBody>
          <a:bodyPr wrap="none" rtlCol="0" anchor="ctr" anchorCtr="1">
            <a:spAutoFit/>
          </a:bodyPr>
          <a:lstStyle/>
          <a:p>
            <a:r>
              <a:rPr lang="en-US" sz="1867" dirty="0">
                <a:ea typeface="標楷體" pitchFamily="65" charset="-120"/>
                <a:cs typeface="Calibri" panose="020F0502020204030204" pitchFamily="34" charset="0"/>
              </a:rPr>
              <a:t>source </a:t>
            </a:r>
          </a:p>
          <a:p>
            <a:r>
              <a:rPr lang="en-US" sz="1867" dirty="0">
                <a:ea typeface="標楷體" pitchFamily="65" charset="-120"/>
                <a:cs typeface="Calibri" panose="020F0502020204030204" pitchFamily="34" charset="0"/>
              </a:rPr>
              <a:t>register</a:t>
            </a:r>
          </a:p>
        </p:txBody>
      </p:sp>
      <p:cxnSp>
        <p:nvCxnSpPr>
          <p:cNvPr id="30" name="Straight Arrow Connector 29">
            <a:extLst>
              <a:ext uri="{FF2B5EF4-FFF2-40B4-BE49-F238E27FC236}">
                <a16:creationId xmlns:a16="http://schemas.microsoft.com/office/drawing/2014/main" id="{A2587A6E-9FE7-42F9-978B-3B33B1E595C8}"/>
              </a:ext>
            </a:extLst>
          </p:cNvPr>
          <p:cNvCxnSpPr>
            <a:stCxn id="27" idx="1"/>
          </p:cNvCxnSpPr>
          <p:nvPr/>
        </p:nvCxnSpPr>
        <p:spPr bwMode="auto">
          <a:xfrm flipH="1">
            <a:off x="4621753" y="1351761"/>
            <a:ext cx="951253" cy="610991"/>
          </a:xfrm>
          <a:prstGeom prst="straightConnector1">
            <a:avLst/>
          </a:prstGeom>
          <a:noFill/>
          <a:ln w="15875" cap="flat" cmpd="sng" algn="ctr">
            <a:solidFill>
              <a:srgbClr val="FF0000"/>
            </a:solidFill>
            <a:prstDash val="solid"/>
            <a:round/>
            <a:headEnd type="none" w="med" len="med"/>
            <a:tailEnd type="triangle"/>
          </a:ln>
        </p:spPr>
      </p:cxnSp>
      <p:cxnSp>
        <p:nvCxnSpPr>
          <p:cNvPr id="41" name="Straight Arrow Connector 40">
            <a:extLst>
              <a:ext uri="{FF2B5EF4-FFF2-40B4-BE49-F238E27FC236}">
                <a16:creationId xmlns:a16="http://schemas.microsoft.com/office/drawing/2014/main" id="{1338EF10-518F-4F55-B6E7-8EBCC2979E9A}"/>
              </a:ext>
            </a:extLst>
          </p:cNvPr>
          <p:cNvCxnSpPr>
            <a:cxnSpLocks/>
            <a:stCxn id="27" idx="1"/>
          </p:cNvCxnSpPr>
          <p:nvPr/>
        </p:nvCxnSpPr>
        <p:spPr bwMode="auto">
          <a:xfrm>
            <a:off x="5573006" y="1351761"/>
            <a:ext cx="137879" cy="740983"/>
          </a:xfrm>
          <a:prstGeom prst="straightConnector1">
            <a:avLst/>
          </a:prstGeom>
          <a:noFill/>
          <a:ln w="15875" cap="flat" cmpd="sng" algn="ctr">
            <a:solidFill>
              <a:srgbClr val="FF0000"/>
            </a:solidFill>
            <a:prstDash val="solid"/>
            <a:round/>
            <a:headEnd type="none" w="med" len="med"/>
            <a:tailEnd type="triangle"/>
          </a:ln>
        </p:spPr>
      </p:cxnSp>
      <p:sp>
        <p:nvSpPr>
          <p:cNvPr id="76" name="TextBox 75">
            <a:extLst>
              <a:ext uri="{FF2B5EF4-FFF2-40B4-BE49-F238E27FC236}">
                <a16:creationId xmlns:a16="http://schemas.microsoft.com/office/drawing/2014/main" id="{B3F8E7E0-293E-4DDA-B9E3-3EE0A0CA05D8}"/>
              </a:ext>
            </a:extLst>
          </p:cNvPr>
          <p:cNvSpPr txBox="1"/>
          <p:nvPr/>
        </p:nvSpPr>
        <p:spPr>
          <a:xfrm>
            <a:off x="7828781" y="1056989"/>
            <a:ext cx="1340432" cy="666977"/>
          </a:xfrm>
          <a:prstGeom prst="rect">
            <a:avLst/>
          </a:prstGeom>
          <a:noFill/>
          <a:ln>
            <a:solidFill>
              <a:schemeClr val="tx1"/>
            </a:solidFill>
          </a:ln>
        </p:spPr>
        <p:txBody>
          <a:bodyPr wrap="none" rtlCol="0" anchor="ctr" anchorCtr="1">
            <a:spAutoFit/>
          </a:bodyPr>
          <a:lstStyle/>
          <a:p>
            <a:r>
              <a:rPr lang="en-US" sz="1867" dirty="0">
                <a:ea typeface="標楷體" pitchFamily="65" charset="-120"/>
                <a:cs typeface="Calibri" panose="020F0502020204030204" pitchFamily="34" charset="0"/>
              </a:rPr>
              <a:t>destination</a:t>
            </a:r>
          </a:p>
          <a:p>
            <a:r>
              <a:rPr lang="en-US" sz="1867" dirty="0">
                <a:ea typeface="標楷體" pitchFamily="65" charset="-120"/>
                <a:cs typeface="Calibri" panose="020F0502020204030204" pitchFamily="34" charset="0"/>
              </a:rPr>
              <a:t>register</a:t>
            </a:r>
          </a:p>
        </p:txBody>
      </p:sp>
      <p:cxnSp>
        <p:nvCxnSpPr>
          <p:cNvPr id="77" name="Straight Arrow Connector 76">
            <a:extLst>
              <a:ext uri="{FF2B5EF4-FFF2-40B4-BE49-F238E27FC236}">
                <a16:creationId xmlns:a16="http://schemas.microsoft.com/office/drawing/2014/main" id="{3F579A27-5ACF-4602-A00D-EB16A96A1C4C}"/>
              </a:ext>
            </a:extLst>
          </p:cNvPr>
          <p:cNvCxnSpPr>
            <a:cxnSpLocks/>
            <a:endCxn id="18" idx="1"/>
          </p:cNvCxnSpPr>
          <p:nvPr/>
        </p:nvCxnSpPr>
        <p:spPr bwMode="auto">
          <a:xfrm flipH="1">
            <a:off x="7601029" y="1360291"/>
            <a:ext cx="225872" cy="493621"/>
          </a:xfrm>
          <a:prstGeom prst="straightConnector1">
            <a:avLst/>
          </a:prstGeom>
          <a:noFill/>
          <a:ln w="15875" cap="flat" cmpd="sng" algn="ctr">
            <a:solidFill>
              <a:srgbClr val="FF0000"/>
            </a:solidFill>
            <a:prstDash val="solid"/>
            <a:round/>
            <a:headEnd type="none" w="med" len="med"/>
            <a:tailEnd type="triangle"/>
          </a:ln>
        </p:spPr>
      </p:cxnSp>
      <p:graphicFrame>
        <p:nvGraphicFramePr>
          <p:cNvPr id="3" name="Table 4">
            <a:extLst>
              <a:ext uri="{FF2B5EF4-FFF2-40B4-BE49-F238E27FC236}">
                <a16:creationId xmlns:a16="http://schemas.microsoft.com/office/drawing/2014/main" id="{CB2AD700-9429-46AA-BD3B-E82845424211}"/>
              </a:ext>
            </a:extLst>
          </p:cNvPr>
          <p:cNvGraphicFramePr>
            <a:graphicFrameLocks noGrp="1"/>
          </p:cNvGraphicFramePr>
          <p:nvPr>
            <p:extLst>
              <p:ext uri="{D42A27DB-BD31-4B8C-83A1-F6EECF244321}">
                <p14:modId xmlns:p14="http://schemas.microsoft.com/office/powerpoint/2010/main" val="3730940760"/>
              </p:ext>
            </p:extLst>
          </p:nvPr>
        </p:nvGraphicFramePr>
        <p:xfrm>
          <a:off x="176240" y="2912868"/>
          <a:ext cx="11606314" cy="2561337"/>
        </p:xfrm>
        <a:graphic>
          <a:graphicData uri="http://schemas.openxmlformats.org/drawingml/2006/table">
            <a:tbl>
              <a:tblPr firstRow="1" bandRow="1">
                <a:tableStyleId>{5C22544A-7EE6-4342-B048-85BDC9FD1C3A}</a:tableStyleId>
              </a:tblPr>
              <a:tblGrid>
                <a:gridCol w="1415963">
                  <a:extLst>
                    <a:ext uri="{9D8B030D-6E8A-4147-A177-3AD203B41FA5}">
                      <a16:colId xmlns:a16="http://schemas.microsoft.com/office/drawing/2014/main" val="1721893818"/>
                    </a:ext>
                  </a:extLst>
                </a:gridCol>
                <a:gridCol w="1415963">
                  <a:extLst>
                    <a:ext uri="{9D8B030D-6E8A-4147-A177-3AD203B41FA5}">
                      <a16:colId xmlns:a16="http://schemas.microsoft.com/office/drawing/2014/main" val="3783186759"/>
                    </a:ext>
                  </a:extLst>
                </a:gridCol>
                <a:gridCol w="1415963">
                  <a:extLst>
                    <a:ext uri="{9D8B030D-6E8A-4147-A177-3AD203B41FA5}">
                      <a16:colId xmlns:a16="http://schemas.microsoft.com/office/drawing/2014/main" val="4293167753"/>
                    </a:ext>
                  </a:extLst>
                </a:gridCol>
                <a:gridCol w="1415963">
                  <a:extLst>
                    <a:ext uri="{9D8B030D-6E8A-4147-A177-3AD203B41FA5}">
                      <a16:colId xmlns:a16="http://schemas.microsoft.com/office/drawing/2014/main" val="92472603"/>
                    </a:ext>
                  </a:extLst>
                </a:gridCol>
                <a:gridCol w="1297018">
                  <a:extLst>
                    <a:ext uri="{9D8B030D-6E8A-4147-A177-3AD203B41FA5}">
                      <a16:colId xmlns:a16="http://schemas.microsoft.com/office/drawing/2014/main" val="3276777015"/>
                    </a:ext>
                  </a:extLst>
                </a:gridCol>
                <a:gridCol w="1040522">
                  <a:extLst>
                    <a:ext uri="{9D8B030D-6E8A-4147-A177-3AD203B41FA5}">
                      <a16:colId xmlns:a16="http://schemas.microsoft.com/office/drawing/2014/main" val="499702933"/>
                    </a:ext>
                  </a:extLst>
                </a:gridCol>
                <a:gridCol w="1501389">
                  <a:extLst>
                    <a:ext uri="{9D8B030D-6E8A-4147-A177-3AD203B41FA5}">
                      <a16:colId xmlns:a16="http://schemas.microsoft.com/office/drawing/2014/main" val="2002421486"/>
                    </a:ext>
                  </a:extLst>
                </a:gridCol>
                <a:gridCol w="2103533">
                  <a:extLst>
                    <a:ext uri="{9D8B030D-6E8A-4147-A177-3AD203B41FA5}">
                      <a16:colId xmlns:a16="http://schemas.microsoft.com/office/drawing/2014/main" val="2830034558"/>
                    </a:ext>
                  </a:extLst>
                </a:gridCol>
              </a:tblGrid>
              <a:tr h="853779">
                <a:tc>
                  <a:txBody>
                    <a:bodyPr/>
                    <a:lstStyle/>
                    <a:p>
                      <a:r>
                        <a:rPr lang="en-US" sz="2400" dirty="0"/>
                        <a:t>R-type</a:t>
                      </a:r>
                    </a:p>
                  </a:txBody>
                  <a:tcPr marL="121920" marR="121920" marT="60960" marB="60960"/>
                </a:tc>
                <a:tc>
                  <a:txBody>
                    <a:bodyPr/>
                    <a:lstStyle/>
                    <a:p>
                      <a:r>
                        <a:rPr lang="en-US" sz="2400" dirty="0"/>
                        <a:t>funct7</a:t>
                      </a:r>
                    </a:p>
                  </a:txBody>
                  <a:tcPr marL="121920" marR="121920" marT="60960" marB="60960"/>
                </a:tc>
                <a:tc>
                  <a:txBody>
                    <a:bodyPr/>
                    <a:lstStyle/>
                    <a:p>
                      <a:r>
                        <a:rPr lang="en-US" sz="2400" dirty="0"/>
                        <a:t>RS2</a:t>
                      </a:r>
                    </a:p>
                  </a:txBody>
                  <a:tcPr marL="121920" marR="121920" marT="60960" marB="60960"/>
                </a:tc>
                <a:tc>
                  <a:txBody>
                    <a:bodyPr/>
                    <a:lstStyle/>
                    <a:p>
                      <a:r>
                        <a:rPr lang="en-US" sz="2400" dirty="0"/>
                        <a:t>RS1</a:t>
                      </a:r>
                    </a:p>
                  </a:txBody>
                  <a:tcPr marL="121920" marR="121920" marT="60960" marB="60960"/>
                </a:tc>
                <a:tc>
                  <a:txBody>
                    <a:bodyPr/>
                    <a:lstStyle/>
                    <a:p>
                      <a:r>
                        <a:rPr lang="en-US" sz="2400" dirty="0"/>
                        <a:t>funct3</a:t>
                      </a:r>
                    </a:p>
                  </a:txBody>
                  <a:tcPr marL="121920" marR="121920" marT="60960" marB="60960"/>
                </a:tc>
                <a:tc>
                  <a:txBody>
                    <a:bodyPr/>
                    <a:lstStyle/>
                    <a:p>
                      <a:r>
                        <a:rPr lang="en-US" sz="2400" dirty="0"/>
                        <a:t>RD</a:t>
                      </a:r>
                    </a:p>
                  </a:txBody>
                  <a:tcPr marL="121920" marR="121920" marT="60960" marB="60960"/>
                </a:tc>
                <a:tc>
                  <a:txBody>
                    <a:bodyPr/>
                    <a:lstStyle/>
                    <a:p>
                      <a:r>
                        <a:rPr lang="en-US" sz="2400" dirty="0"/>
                        <a:t>Opcode</a:t>
                      </a:r>
                    </a:p>
                  </a:txBody>
                  <a:tcPr marL="121920" marR="121920" marT="60960" marB="60960"/>
                </a:tc>
                <a:tc>
                  <a:txBody>
                    <a:bodyPr/>
                    <a:lstStyle/>
                    <a:p>
                      <a:pPr algn="ctr"/>
                      <a:r>
                        <a:rPr lang="en-US" sz="2400" dirty="0"/>
                        <a:t>Example</a:t>
                      </a:r>
                    </a:p>
                  </a:txBody>
                  <a:tcPr marL="121920" marR="121920" marT="60960" marB="60960"/>
                </a:tc>
                <a:extLst>
                  <a:ext uri="{0D108BD9-81ED-4DB2-BD59-A6C34878D82A}">
                    <a16:rowId xmlns:a16="http://schemas.microsoft.com/office/drawing/2014/main" val="3752694397"/>
                  </a:ext>
                </a:extLst>
              </a:tr>
              <a:tr h="853779">
                <a:tc>
                  <a:txBody>
                    <a:bodyPr/>
                    <a:lstStyle/>
                    <a:p>
                      <a:r>
                        <a:rPr lang="en-US" sz="2000" dirty="0"/>
                        <a:t>ADD</a:t>
                      </a:r>
                    </a:p>
                  </a:txBody>
                  <a:tcPr marL="121920" marR="121920" marT="60960" marB="60960"/>
                </a:tc>
                <a:tc>
                  <a:txBody>
                    <a:bodyPr/>
                    <a:lstStyle/>
                    <a:p>
                      <a:r>
                        <a:rPr lang="en-US" sz="2000" dirty="0"/>
                        <a:t>0000000</a:t>
                      </a:r>
                    </a:p>
                  </a:txBody>
                  <a:tcPr marL="121920" marR="121920" marT="60960" marB="60960"/>
                </a:tc>
                <a:tc>
                  <a:txBody>
                    <a:bodyPr/>
                    <a:lstStyle/>
                    <a:p>
                      <a:r>
                        <a:rPr lang="en-US" sz="2000" dirty="0"/>
                        <a:t>00011</a:t>
                      </a:r>
                    </a:p>
                  </a:txBody>
                  <a:tcPr marL="121920" marR="121920" marT="60960" marB="60960"/>
                </a:tc>
                <a:tc>
                  <a:txBody>
                    <a:bodyPr/>
                    <a:lstStyle/>
                    <a:p>
                      <a:r>
                        <a:rPr lang="en-US" sz="2000" dirty="0"/>
                        <a:t>00010</a:t>
                      </a:r>
                    </a:p>
                  </a:txBody>
                  <a:tcPr marL="121920" marR="121920" marT="60960" marB="60960"/>
                </a:tc>
                <a:tc>
                  <a:txBody>
                    <a:bodyPr/>
                    <a:lstStyle/>
                    <a:p>
                      <a:r>
                        <a:rPr lang="en-US" sz="2000" dirty="0"/>
                        <a:t>000</a:t>
                      </a:r>
                    </a:p>
                  </a:txBody>
                  <a:tcPr marL="121920" marR="121920" marT="60960" marB="60960"/>
                </a:tc>
                <a:tc>
                  <a:txBody>
                    <a:bodyPr/>
                    <a:lstStyle/>
                    <a:p>
                      <a:r>
                        <a:rPr lang="en-US" sz="2000" dirty="0"/>
                        <a:t>00001</a:t>
                      </a:r>
                    </a:p>
                  </a:txBody>
                  <a:tcPr marL="121920" marR="121920" marT="60960" marB="60960"/>
                </a:tc>
                <a:tc>
                  <a:txBody>
                    <a:bodyPr/>
                    <a:lstStyle/>
                    <a:p>
                      <a:r>
                        <a:rPr lang="en-US" sz="2000" dirty="0"/>
                        <a:t>0110011</a:t>
                      </a:r>
                    </a:p>
                  </a:txBody>
                  <a:tcPr marL="121920" marR="121920" marT="60960" marB="60960"/>
                </a:tc>
                <a:tc>
                  <a:txBody>
                    <a:bodyPr/>
                    <a:lstStyle/>
                    <a:p>
                      <a:r>
                        <a:rPr lang="en-US" sz="2000" dirty="0"/>
                        <a:t>Add x1,x2,x3</a:t>
                      </a:r>
                    </a:p>
                  </a:txBody>
                  <a:tcPr marL="121920" marR="121920" marT="60960" marB="60960"/>
                </a:tc>
                <a:extLst>
                  <a:ext uri="{0D108BD9-81ED-4DB2-BD59-A6C34878D82A}">
                    <a16:rowId xmlns:a16="http://schemas.microsoft.com/office/drawing/2014/main" val="1150738987"/>
                  </a:ext>
                </a:extLst>
              </a:tr>
              <a:tr h="853779">
                <a:tc>
                  <a:txBody>
                    <a:bodyPr/>
                    <a:lstStyle/>
                    <a:p>
                      <a:r>
                        <a:rPr lang="en-US" sz="2000" dirty="0"/>
                        <a:t>SUB</a:t>
                      </a:r>
                    </a:p>
                  </a:txBody>
                  <a:tcPr marL="121920" marR="121920" marT="60960" marB="60960"/>
                </a:tc>
                <a:tc>
                  <a:txBody>
                    <a:bodyPr/>
                    <a:lstStyle/>
                    <a:p>
                      <a:r>
                        <a:rPr lang="en-US" sz="2000" dirty="0"/>
                        <a:t>0100000</a:t>
                      </a:r>
                    </a:p>
                  </a:txBody>
                  <a:tcPr marL="121920" marR="121920" marT="60960" marB="60960"/>
                </a:tc>
                <a:tc>
                  <a:txBody>
                    <a:bodyPr/>
                    <a:lstStyle/>
                    <a:p>
                      <a:r>
                        <a:rPr lang="en-US" sz="2000" dirty="0"/>
                        <a:t>00011</a:t>
                      </a:r>
                    </a:p>
                  </a:txBody>
                  <a:tcPr marL="121920" marR="121920" marT="60960" marB="60960"/>
                </a:tc>
                <a:tc>
                  <a:txBody>
                    <a:bodyPr/>
                    <a:lstStyle/>
                    <a:p>
                      <a:r>
                        <a:rPr lang="en-US" sz="2000" dirty="0"/>
                        <a:t>00010</a:t>
                      </a:r>
                    </a:p>
                  </a:txBody>
                  <a:tcPr marL="121920" marR="121920" marT="60960" marB="60960"/>
                </a:tc>
                <a:tc>
                  <a:txBody>
                    <a:bodyPr/>
                    <a:lstStyle/>
                    <a:p>
                      <a:r>
                        <a:rPr lang="en-US" sz="2000" dirty="0"/>
                        <a:t>000</a:t>
                      </a:r>
                    </a:p>
                  </a:txBody>
                  <a:tcPr marL="121920" marR="121920" marT="60960" marB="60960"/>
                </a:tc>
                <a:tc>
                  <a:txBody>
                    <a:bodyPr/>
                    <a:lstStyle/>
                    <a:p>
                      <a:r>
                        <a:rPr lang="en-US" sz="2000" dirty="0"/>
                        <a:t>00001</a:t>
                      </a:r>
                    </a:p>
                  </a:txBody>
                  <a:tcPr marL="121920" marR="121920" marT="60960" marB="60960"/>
                </a:tc>
                <a:tc>
                  <a:txBody>
                    <a:bodyPr/>
                    <a:lstStyle/>
                    <a:p>
                      <a:r>
                        <a:rPr lang="en-US" sz="2000" dirty="0"/>
                        <a:t>0110011</a:t>
                      </a:r>
                    </a:p>
                  </a:txBody>
                  <a:tcPr marL="121920" marR="121920" marT="60960" marB="60960"/>
                </a:tc>
                <a:tc>
                  <a:txBody>
                    <a:bodyPr/>
                    <a:lstStyle/>
                    <a:p>
                      <a:r>
                        <a:rPr lang="en-US" sz="2000" dirty="0"/>
                        <a:t>Sub x1,x2,x3</a:t>
                      </a:r>
                    </a:p>
                  </a:txBody>
                  <a:tcPr marL="121920" marR="121920" marT="60960" marB="60960"/>
                </a:tc>
                <a:extLst>
                  <a:ext uri="{0D108BD9-81ED-4DB2-BD59-A6C34878D82A}">
                    <a16:rowId xmlns:a16="http://schemas.microsoft.com/office/drawing/2014/main" val="266197382"/>
                  </a:ext>
                </a:extLst>
              </a:tr>
            </a:tbl>
          </a:graphicData>
        </a:graphic>
      </p:graphicFrame>
    </p:spTree>
    <p:extLst>
      <p:ext uri="{BB962C8B-B14F-4D97-AF65-F5344CB8AC3E}">
        <p14:creationId xmlns:p14="http://schemas.microsoft.com/office/powerpoint/2010/main" val="39445283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1962" y="60789"/>
            <a:ext cx="8206855" cy="585409"/>
          </a:xfrm>
        </p:spPr>
        <p:txBody>
          <a:bodyPr/>
          <a:lstStyle/>
          <a:p>
            <a:r>
              <a:rPr lang="en-US" sz="4000" dirty="0"/>
              <a:t>ALU Instructions (R) </a:t>
            </a:r>
            <a:endParaRPr lang="en-US" sz="4000" i="1" dirty="0"/>
          </a:p>
        </p:txBody>
      </p:sp>
      <p:sp>
        <p:nvSpPr>
          <p:cNvPr id="3" name="Content Placeholder 2"/>
          <p:cNvSpPr>
            <a:spLocks noGrp="1"/>
          </p:cNvSpPr>
          <p:nvPr>
            <p:ph idx="1"/>
          </p:nvPr>
        </p:nvSpPr>
        <p:spPr>
          <a:xfrm>
            <a:off x="1480457" y="1228877"/>
            <a:ext cx="9076267" cy="4915505"/>
          </a:xfrm>
        </p:spPr>
        <p:txBody>
          <a:bodyPr/>
          <a:lstStyle/>
          <a:p>
            <a:r>
              <a:rPr lang="en-US" sz="2400" dirty="0">
                <a:sym typeface="Wingdings" panose="05000000000000000000" pitchFamily="2" charset="2"/>
              </a:rPr>
              <a:t>Register-Register instructions (R-type) (opcode=0110011)</a:t>
            </a:r>
          </a:p>
          <a:p>
            <a:pPr lvl="1"/>
            <a:endParaRPr lang="en-US" sz="2000" dirty="0">
              <a:solidFill>
                <a:srgbClr val="56127A"/>
              </a:solidFill>
            </a:endParaRPr>
          </a:p>
          <a:p>
            <a:pPr marL="457189" lvl="1" indent="0">
              <a:buNone/>
            </a:pPr>
            <a:endParaRPr lang="en-US" sz="2000" dirty="0">
              <a:solidFill>
                <a:srgbClr val="56127A"/>
              </a:solidFill>
            </a:endParaRPr>
          </a:p>
          <a:p>
            <a:pPr marL="457189" lvl="1" indent="0">
              <a:buNone/>
            </a:pPr>
            <a:endParaRPr lang="en-US" sz="2000" dirty="0">
              <a:solidFill>
                <a:srgbClr val="56127A"/>
              </a:solidFill>
            </a:endParaRPr>
          </a:p>
          <a:p>
            <a:pPr marL="457189" lvl="1" indent="0">
              <a:buNone/>
            </a:pPr>
            <a:endParaRPr lang="en-US" sz="2000" dirty="0">
              <a:solidFill>
                <a:srgbClr val="56127A"/>
              </a:solidFill>
            </a:endParaRPr>
          </a:p>
          <a:p>
            <a:pPr lvl="1"/>
            <a:r>
              <a:rPr lang="en-US" sz="2133" dirty="0">
                <a:sym typeface="Wingdings" panose="05000000000000000000" pitchFamily="2" charset="2"/>
              </a:rPr>
              <a:t>opcode=OP: </a:t>
            </a:r>
            <a:r>
              <a:rPr lang="en-US" sz="2133" dirty="0" err="1">
                <a:solidFill>
                  <a:schemeClr val="tx2"/>
                </a:solidFill>
              </a:rPr>
              <a:t>rd</a:t>
            </a:r>
            <a:r>
              <a:rPr lang="en-US" sz="2133" dirty="0">
                <a:solidFill>
                  <a:schemeClr val="tx2"/>
                </a:solidFill>
              </a:rPr>
              <a:t> </a:t>
            </a:r>
            <a:r>
              <a:rPr lang="en-US" sz="2133" dirty="0">
                <a:solidFill>
                  <a:schemeClr val="tx2"/>
                </a:solidFill>
                <a:sym typeface="Wingdings" panose="05000000000000000000" pitchFamily="2" charset="2"/>
              </a:rPr>
              <a:t> rs1 (funct3, funct7) rs2</a:t>
            </a:r>
          </a:p>
          <a:p>
            <a:pPr lvl="1"/>
            <a:r>
              <a:rPr lang="en-US" sz="2133" dirty="0">
                <a:sym typeface="Wingdings" panose="05000000000000000000" pitchFamily="2" charset="2"/>
              </a:rPr>
              <a:t>funct3 = ADD/SLT/SLTU/AND/OR/XOR/SLL </a:t>
            </a:r>
          </a:p>
          <a:p>
            <a:pPr lvl="1"/>
            <a:r>
              <a:rPr lang="en-US" sz="2133" dirty="0"/>
              <a:t>funct3= ADD (000)</a:t>
            </a:r>
          </a:p>
          <a:p>
            <a:pPr lvl="2"/>
            <a:r>
              <a:rPr lang="en-US" sz="1867" dirty="0"/>
              <a:t>funct7 = 0000000: rs1 + rs2</a:t>
            </a:r>
          </a:p>
          <a:p>
            <a:pPr lvl="2"/>
            <a:r>
              <a:rPr lang="en-US" sz="1867" dirty="0"/>
              <a:t>funct7 = 0100000: rs1 – rs2</a:t>
            </a:r>
          </a:p>
          <a:p>
            <a:pPr lvl="1"/>
            <a:r>
              <a:rPr lang="en-US" sz="2133" dirty="0"/>
              <a:t>funct3 = SRL (101)</a:t>
            </a:r>
          </a:p>
          <a:p>
            <a:pPr lvl="2"/>
            <a:r>
              <a:rPr lang="en-US" sz="1867" dirty="0"/>
              <a:t>funct7 = 0000000: logical shift right</a:t>
            </a:r>
          </a:p>
          <a:p>
            <a:pPr lvl="2"/>
            <a:r>
              <a:rPr lang="en-US" sz="1867" dirty="0"/>
              <a:t>funct7 = 0100000: arithmetic shift right</a:t>
            </a:r>
          </a:p>
          <a:p>
            <a:pPr lvl="1"/>
            <a:endParaRPr lang="en-US" sz="2000" dirty="0">
              <a:sym typeface="Wingdings" panose="05000000000000000000" pitchFamily="2" charset="2"/>
            </a:endParaRPr>
          </a:p>
        </p:txBody>
      </p:sp>
      <p:grpSp>
        <p:nvGrpSpPr>
          <p:cNvPr id="8" name="Group 7"/>
          <p:cNvGrpSpPr/>
          <p:nvPr/>
        </p:nvGrpSpPr>
        <p:grpSpPr>
          <a:xfrm>
            <a:off x="2210114" y="2024084"/>
            <a:ext cx="8078703" cy="646103"/>
            <a:chOff x="723900" y="2124293"/>
            <a:chExt cx="8078703" cy="646103"/>
          </a:xfrm>
        </p:grpSpPr>
        <p:sp>
          <p:nvSpPr>
            <p:cNvPr id="9" name="TextBox 8"/>
            <p:cNvSpPr txBox="1"/>
            <p:nvPr/>
          </p:nvSpPr>
          <p:spPr>
            <a:xfrm>
              <a:off x="723900" y="2416453"/>
              <a:ext cx="174228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funct7</a:t>
              </a:r>
            </a:p>
          </p:txBody>
        </p:sp>
        <p:sp>
          <p:nvSpPr>
            <p:cNvPr id="10" name="TextBox 9"/>
            <p:cNvSpPr txBox="1"/>
            <p:nvPr/>
          </p:nvSpPr>
          <p:spPr>
            <a:xfrm>
              <a:off x="2466181" y="2416453"/>
              <a:ext cx="122792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rs2</a:t>
              </a:r>
            </a:p>
          </p:txBody>
        </p:sp>
        <p:sp>
          <p:nvSpPr>
            <p:cNvPr id="11" name="TextBox 10"/>
            <p:cNvSpPr txBox="1"/>
            <p:nvPr/>
          </p:nvSpPr>
          <p:spPr>
            <a:xfrm>
              <a:off x="4922042" y="2416453"/>
              <a:ext cx="91201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12" name="TextBox 11"/>
            <p:cNvSpPr txBox="1"/>
            <p:nvPr/>
          </p:nvSpPr>
          <p:spPr>
            <a:xfrm>
              <a:off x="3694111" y="2416453"/>
              <a:ext cx="122793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13" name="TextBox 12"/>
            <p:cNvSpPr txBox="1"/>
            <p:nvPr/>
          </p:nvSpPr>
          <p:spPr>
            <a:xfrm>
              <a:off x="5834060" y="2416453"/>
              <a:ext cx="12262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14" name="TextBox 13"/>
            <p:cNvSpPr txBox="1"/>
            <p:nvPr/>
          </p:nvSpPr>
          <p:spPr>
            <a:xfrm>
              <a:off x="7060322" y="2416453"/>
              <a:ext cx="174228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5" name="TextBox 14"/>
            <p:cNvSpPr txBox="1"/>
            <p:nvPr/>
          </p:nvSpPr>
          <p:spPr>
            <a:xfrm>
              <a:off x="1441794" y="2124293"/>
              <a:ext cx="306494" cy="353943"/>
            </a:xfrm>
            <a:prstGeom prst="rect">
              <a:avLst/>
            </a:prstGeom>
            <a:noFill/>
          </p:spPr>
          <p:txBody>
            <a:bodyPr wrap="none" rtlCol="0">
              <a:spAutoFit/>
            </a:bodyPr>
            <a:lstStyle/>
            <a:p>
              <a:pPr algn="ctr"/>
              <a:r>
                <a:rPr lang="en-US" sz="1700" dirty="0"/>
                <a:t>7</a:t>
              </a:r>
            </a:p>
          </p:txBody>
        </p:sp>
        <p:sp>
          <p:nvSpPr>
            <p:cNvPr id="16" name="TextBox 15"/>
            <p:cNvSpPr txBox="1"/>
            <p:nvPr/>
          </p:nvSpPr>
          <p:spPr>
            <a:xfrm>
              <a:off x="2927254" y="2124293"/>
              <a:ext cx="306494" cy="353943"/>
            </a:xfrm>
            <a:prstGeom prst="rect">
              <a:avLst/>
            </a:prstGeom>
            <a:noFill/>
          </p:spPr>
          <p:txBody>
            <a:bodyPr wrap="none" rtlCol="0">
              <a:spAutoFit/>
            </a:bodyPr>
            <a:lstStyle/>
            <a:p>
              <a:pPr algn="ctr"/>
              <a:r>
                <a:rPr lang="en-US" sz="1700" dirty="0"/>
                <a:t>5</a:t>
              </a:r>
            </a:p>
          </p:txBody>
        </p:sp>
        <p:sp>
          <p:nvSpPr>
            <p:cNvPr id="17" name="TextBox 16"/>
            <p:cNvSpPr txBox="1"/>
            <p:nvPr/>
          </p:nvSpPr>
          <p:spPr>
            <a:xfrm>
              <a:off x="4154830" y="2124293"/>
              <a:ext cx="306494" cy="353943"/>
            </a:xfrm>
            <a:prstGeom prst="rect">
              <a:avLst/>
            </a:prstGeom>
            <a:noFill/>
          </p:spPr>
          <p:txBody>
            <a:bodyPr wrap="none" rtlCol="0">
              <a:spAutoFit/>
            </a:bodyPr>
            <a:lstStyle/>
            <a:p>
              <a:pPr algn="ctr"/>
              <a:r>
                <a:rPr lang="en-US" sz="1700" dirty="0"/>
                <a:t>5</a:t>
              </a:r>
            </a:p>
          </p:txBody>
        </p:sp>
        <p:sp>
          <p:nvSpPr>
            <p:cNvPr id="18" name="TextBox 17"/>
            <p:cNvSpPr txBox="1"/>
            <p:nvPr/>
          </p:nvSpPr>
          <p:spPr>
            <a:xfrm>
              <a:off x="5220834" y="2124293"/>
              <a:ext cx="306494" cy="353943"/>
            </a:xfrm>
            <a:prstGeom prst="rect">
              <a:avLst/>
            </a:prstGeom>
            <a:noFill/>
          </p:spPr>
          <p:txBody>
            <a:bodyPr wrap="none" rtlCol="0">
              <a:spAutoFit/>
            </a:bodyPr>
            <a:lstStyle/>
            <a:p>
              <a:pPr algn="ctr"/>
              <a:r>
                <a:rPr lang="en-US" sz="1700" dirty="0"/>
                <a:t>3</a:t>
              </a:r>
            </a:p>
          </p:txBody>
        </p:sp>
        <p:sp>
          <p:nvSpPr>
            <p:cNvPr id="19" name="TextBox 18"/>
            <p:cNvSpPr txBox="1"/>
            <p:nvPr/>
          </p:nvSpPr>
          <p:spPr>
            <a:xfrm>
              <a:off x="6296894" y="2124293"/>
              <a:ext cx="306494" cy="353943"/>
            </a:xfrm>
            <a:prstGeom prst="rect">
              <a:avLst/>
            </a:prstGeom>
            <a:noFill/>
          </p:spPr>
          <p:txBody>
            <a:bodyPr wrap="none" rtlCol="0">
              <a:spAutoFit/>
            </a:bodyPr>
            <a:lstStyle/>
            <a:p>
              <a:pPr algn="ctr"/>
              <a:r>
                <a:rPr lang="en-US" sz="1700" dirty="0"/>
                <a:t>5</a:t>
              </a:r>
            </a:p>
          </p:txBody>
        </p:sp>
        <p:sp>
          <p:nvSpPr>
            <p:cNvPr id="20" name="TextBox 19"/>
            <p:cNvSpPr txBox="1"/>
            <p:nvPr/>
          </p:nvSpPr>
          <p:spPr>
            <a:xfrm>
              <a:off x="7778215" y="2124293"/>
              <a:ext cx="306494" cy="353943"/>
            </a:xfrm>
            <a:prstGeom prst="rect">
              <a:avLst/>
            </a:prstGeom>
            <a:noFill/>
          </p:spPr>
          <p:txBody>
            <a:bodyPr wrap="none" rtlCol="0">
              <a:spAutoFit/>
            </a:bodyPr>
            <a:lstStyle/>
            <a:p>
              <a:pPr algn="ctr"/>
              <a:r>
                <a:rPr lang="en-US" sz="1700" dirty="0"/>
                <a:t>7</a:t>
              </a:r>
            </a:p>
          </p:txBody>
        </p:sp>
      </p:grpSp>
      <p:sp>
        <p:nvSpPr>
          <p:cNvPr id="5" name="Date Placeholder 4"/>
          <p:cNvSpPr>
            <a:spLocks noGrp="1"/>
          </p:cNvSpPr>
          <p:nvPr>
            <p:ph type="dt" sz="half" idx="10"/>
          </p:nvPr>
        </p:nvSpPr>
        <p:spPr/>
        <p:txBody>
          <a:bodyPr/>
          <a:lstStyle/>
          <a:p>
            <a:pPr>
              <a:defRPr/>
            </a:pPr>
            <a:r>
              <a:rPr lang="en-US"/>
              <a:t>September 27, 2017</a:t>
            </a:r>
            <a:endParaRPr lang="en-US" dirty="0"/>
          </a:p>
        </p:txBody>
      </p:sp>
      <p:sp>
        <p:nvSpPr>
          <p:cNvPr id="6" name="Footer Placeholder 5"/>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7" name="Slide Number Placeholder 6"/>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21</a:t>
            </a:fld>
            <a:endParaRPr lang="en-US" dirty="0"/>
          </a:p>
        </p:txBody>
      </p:sp>
    </p:spTree>
    <p:extLst>
      <p:ext uri="{BB962C8B-B14F-4D97-AF65-F5344CB8AC3E}">
        <p14:creationId xmlns:p14="http://schemas.microsoft.com/office/powerpoint/2010/main" val="6097889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Registers – Is the More the Better</a:t>
            </a:r>
          </a:p>
        </p:txBody>
      </p:sp>
      <p:sp>
        <p:nvSpPr>
          <p:cNvPr id="3" name="Content Placeholder 2"/>
          <p:cNvSpPr>
            <a:spLocks noGrp="1"/>
          </p:cNvSpPr>
          <p:nvPr>
            <p:ph idx="1"/>
          </p:nvPr>
        </p:nvSpPr>
        <p:spPr>
          <a:xfrm>
            <a:off x="552450" y="1051837"/>
            <a:ext cx="11258550" cy="5129888"/>
          </a:xfrm>
        </p:spPr>
        <p:txBody>
          <a:bodyPr/>
          <a:lstStyle/>
          <a:p>
            <a:r>
              <a:rPr lang="en-US" sz="2800" dirty="0"/>
              <a:t>RISC-V has 32 GPR, 32 </a:t>
            </a:r>
            <a:r>
              <a:rPr lang="en-US" sz="2800" dirty="0" err="1"/>
              <a:t>fp</a:t>
            </a:r>
            <a:r>
              <a:rPr lang="en-US" sz="2800" dirty="0"/>
              <a:t> registers, 32 Vector registers. Is it better to have more? Such as 64, 128, 256, or even 1024?</a:t>
            </a:r>
          </a:p>
          <a:p>
            <a:pPr lvl="1">
              <a:buFont typeface="Wingdings" panose="05000000000000000000" pitchFamily="2" charset="2"/>
              <a:buChar char="Ø"/>
            </a:pPr>
            <a:r>
              <a:rPr lang="en-US" sz="2400" dirty="0"/>
              <a:t>Initially, registers are only used for temporaries. A small number is sufficient. In addition, smaller is faster.</a:t>
            </a:r>
          </a:p>
          <a:p>
            <a:pPr lvl="1">
              <a:buFont typeface="Wingdings" panose="05000000000000000000" pitchFamily="2" charset="2"/>
              <a:buChar char="Ø"/>
            </a:pPr>
            <a:r>
              <a:rPr lang="en-US" sz="2400" dirty="0"/>
              <a:t>Later, pipelined implementations require more registers so as to avoid or minimize register dependencies.</a:t>
            </a:r>
          </a:p>
          <a:p>
            <a:pPr lvl="1">
              <a:buFont typeface="Wingdings" panose="05000000000000000000" pitchFamily="2" charset="2"/>
              <a:buChar char="Ø"/>
            </a:pPr>
            <a:r>
              <a:rPr lang="en-US" sz="2400" dirty="0"/>
              <a:t>Modern compilers know how to allocate variables to registers effectively. So the more registers are indeed demanded by the compilers.</a:t>
            </a:r>
          </a:p>
          <a:p>
            <a:pPr lvl="1">
              <a:buFont typeface="Wingdings" panose="05000000000000000000" pitchFamily="2" charset="2"/>
              <a:buChar char="Ø"/>
            </a:pPr>
            <a:r>
              <a:rPr lang="en-US" sz="2400" dirty="0"/>
              <a:t>However, more registers imply</a:t>
            </a:r>
          </a:p>
          <a:p>
            <a:pPr lvl="2">
              <a:buFont typeface="Wingdings" panose="05000000000000000000" pitchFamily="2" charset="2"/>
              <a:buChar char="v"/>
            </a:pPr>
            <a:r>
              <a:rPr lang="en-US" sz="1867" dirty="0"/>
              <a:t>More saving/restoring during procedure call/return</a:t>
            </a:r>
          </a:p>
          <a:p>
            <a:pPr lvl="2">
              <a:buFont typeface="Wingdings" panose="05000000000000000000" pitchFamily="2" charset="2"/>
              <a:buChar char="v"/>
            </a:pPr>
            <a:r>
              <a:rPr lang="en-US" sz="1867" dirty="0"/>
              <a:t>More saving/restoring during context switches</a:t>
            </a:r>
          </a:p>
          <a:p>
            <a:pPr lvl="2">
              <a:buFont typeface="Wingdings" panose="05000000000000000000" pitchFamily="2" charset="2"/>
              <a:buChar char="v"/>
            </a:pPr>
            <a:r>
              <a:rPr lang="en-US" sz="1867" dirty="0"/>
              <a:t>Longer instruction format (needs more bits for operand designator)</a:t>
            </a:r>
          </a:p>
          <a:p>
            <a:pPr lvl="2">
              <a:buFont typeface="Wingdings" panose="05000000000000000000" pitchFamily="2" charset="2"/>
              <a:buChar char="v"/>
            </a:pPr>
            <a:r>
              <a:rPr lang="en-US" sz="1867" dirty="0"/>
              <a:t>Longer access time</a:t>
            </a:r>
          </a:p>
        </p:txBody>
      </p:sp>
      <p:sp>
        <p:nvSpPr>
          <p:cNvPr id="7" name="Date Placeholder 6"/>
          <p:cNvSpPr>
            <a:spLocks noGrp="1"/>
          </p:cNvSpPr>
          <p:nvPr>
            <p:ph type="dt" sz="half" idx="10"/>
          </p:nvPr>
        </p:nvSpPr>
        <p:spPr/>
        <p:txBody>
          <a:bodyPr/>
          <a:lstStyle/>
          <a:p>
            <a:pPr>
              <a:defRPr/>
            </a:pPr>
            <a:r>
              <a:rPr lang="en-US" dirty="0"/>
              <a:t>September 27, 2024</a:t>
            </a:r>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22</a:t>
            </a:fld>
            <a:endParaRPr lang="en-US" dirty="0"/>
          </a:p>
        </p:txBody>
      </p:sp>
    </p:spTree>
    <p:extLst>
      <p:ext uri="{BB962C8B-B14F-4D97-AF65-F5344CB8AC3E}">
        <p14:creationId xmlns:p14="http://schemas.microsoft.com/office/powerpoint/2010/main" val="20037742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5739" y="-21436"/>
            <a:ext cx="8001000" cy="1143000"/>
          </a:xfrm>
        </p:spPr>
        <p:txBody>
          <a:bodyPr/>
          <a:lstStyle/>
          <a:p>
            <a:r>
              <a:rPr lang="en-US" dirty="0"/>
              <a:t>Instruction Formats (I-type)</a:t>
            </a:r>
            <a:endParaRPr lang="en-US" i="1" dirty="0"/>
          </a:p>
        </p:txBody>
      </p:sp>
      <p:grpSp>
        <p:nvGrpSpPr>
          <p:cNvPr id="47" name="Group 46"/>
          <p:cNvGrpSpPr/>
          <p:nvPr/>
        </p:nvGrpSpPr>
        <p:grpSpPr>
          <a:xfrm>
            <a:off x="2105739" y="1726271"/>
            <a:ext cx="8078703" cy="646103"/>
            <a:chOff x="723900" y="3317566"/>
            <a:chExt cx="8078703" cy="646103"/>
          </a:xfrm>
        </p:grpSpPr>
        <p:sp>
          <p:nvSpPr>
            <p:cNvPr id="29" name="TextBox 28"/>
            <p:cNvSpPr txBox="1"/>
            <p:nvPr/>
          </p:nvSpPr>
          <p:spPr>
            <a:xfrm>
              <a:off x="723900" y="3609726"/>
              <a:ext cx="2968096"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[11:0]</a:t>
              </a:r>
            </a:p>
          </p:txBody>
        </p:sp>
        <p:sp>
          <p:nvSpPr>
            <p:cNvPr id="31" name="TextBox 30"/>
            <p:cNvSpPr txBox="1"/>
            <p:nvPr/>
          </p:nvSpPr>
          <p:spPr>
            <a:xfrm>
              <a:off x="4922042" y="3609726"/>
              <a:ext cx="91201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32" name="TextBox 31"/>
            <p:cNvSpPr txBox="1"/>
            <p:nvPr/>
          </p:nvSpPr>
          <p:spPr>
            <a:xfrm>
              <a:off x="3694111" y="3609726"/>
              <a:ext cx="122793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33" name="TextBox 32"/>
            <p:cNvSpPr txBox="1"/>
            <p:nvPr/>
          </p:nvSpPr>
          <p:spPr>
            <a:xfrm>
              <a:off x="5834060" y="3609726"/>
              <a:ext cx="12262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34" name="TextBox 33"/>
            <p:cNvSpPr txBox="1"/>
            <p:nvPr/>
          </p:nvSpPr>
          <p:spPr>
            <a:xfrm>
              <a:off x="7060322" y="3609726"/>
              <a:ext cx="174228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35" name="TextBox 34"/>
            <p:cNvSpPr txBox="1"/>
            <p:nvPr/>
          </p:nvSpPr>
          <p:spPr>
            <a:xfrm>
              <a:off x="1993787" y="3317566"/>
              <a:ext cx="428322" cy="353943"/>
            </a:xfrm>
            <a:prstGeom prst="rect">
              <a:avLst/>
            </a:prstGeom>
            <a:noFill/>
          </p:spPr>
          <p:txBody>
            <a:bodyPr wrap="none" rtlCol="0">
              <a:spAutoFit/>
            </a:bodyPr>
            <a:lstStyle/>
            <a:p>
              <a:pPr algn="ctr"/>
              <a:r>
                <a:rPr lang="en-US" sz="1700" dirty="0"/>
                <a:t>12</a:t>
              </a:r>
            </a:p>
          </p:txBody>
        </p:sp>
        <p:sp>
          <p:nvSpPr>
            <p:cNvPr id="37" name="TextBox 36"/>
            <p:cNvSpPr txBox="1"/>
            <p:nvPr/>
          </p:nvSpPr>
          <p:spPr>
            <a:xfrm>
              <a:off x="4154830" y="3317566"/>
              <a:ext cx="306494" cy="353943"/>
            </a:xfrm>
            <a:prstGeom prst="rect">
              <a:avLst/>
            </a:prstGeom>
            <a:noFill/>
          </p:spPr>
          <p:txBody>
            <a:bodyPr wrap="none" rtlCol="0">
              <a:spAutoFit/>
            </a:bodyPr>
            <a:lstStyle/>
            <a:p>
              <a:pPr algn="ctr"/>
              <a:r>
                <a:rPr lang="en-US" sz="1700" dirty="0"/>
                <a:t>5</a:t>
              </a:r>
            </a:p>
          </p:txBody>
        </p:sp>
        <p:sp>
          <p:nvSpPr>
            <p:cNvPr id="38" name="TextBox 37"/>
            <p:cNvSpPr txBox="1"/>
            <p:nvPr/>
          </p:nvSpPr>
          <p:spPr>
            <a:xfrm>
              <a:off x="5220834" y="3317566"/>
              <a:ext cx="306494" cy="353943"/>
            </a:xfrm>
            <a:prstGeom prst="rect">
              <a:avLst/>
            </a:prstGeom>
            <a:noFill/>
          </p:spPr>
          <p:txBody>
            <a:bodyPr wrap="none" rtlCol="0">
              <a:spAutoFit/>
            </a:bodyPr>
            <a:lstStyle/>
            <a:p>
              <a:pPr algn="ctr"/>
              <a:r>
                <a:rPr lang="en-US" sz="1700" dirty="0"/>
                <a:t>3</a:t>
              </a:r>
            </a:p>
          </p:txBody>
        </p:sp>
        <p:sp>
          <p:nvSpPr>
            <p:cNvPr id="39" name="TextBox 38"/>
            <p:cNvSpPr txBox="1"/>
            <p:nvPr/>
          </p:nvSpPr>
          <p:spPr>
            <a:xfrm>
              <a:off x="6296894" y="3317566"/>
              <a:ext cx="306494" cy="353943"/>
            </a:xfrm>
            <a:prstGeom prst="rect">
              <a:avLst/>
            </a:prstGeom>
            <a:noFill/>
          </p:spPr>
          <p:txBody>
            <a:bodyPr wrap="none" rtlCol="0">
              <a:spAutoFit/>
            </a:bodyPr>
            <a:lstStyle/>
            <a:p>
              <a:pPr algn="ctr"/>
              <a:r>
                <a:rPr lang="en-US" sz="1700" dirty="0"/>
                <a:t>5</a:t>
              </a:r>
            </a:p>
          </p:txBody>
        </p:sp>
        <p:sp>
          <p:nvSpPr>
            <p:cNvPr id="40" name="TextBox 39"/>
            <p:cNvSpPr txBox="1"/>
            <p:nvPr/>
          </p:nvSpPr>
          <p:spPr>
            <a:xfrm>
              <a:off x="7778215" y="3317566"/>
              <a:ext cx="306494" cy="353943"/>
            </a:xfrm>
            <a:prstGeom prst="rect">
              <a:avLst/>
            </a:prstGeom>
            <a:noFill/>
          </p:spPr>
          <p:txBody>
            <a:bodyPr wrap="none" rtlCol="0">
              <a:spAutoFit/>
            </a:bodyPr>
            <a:lstStyle/>
            <a:p>
              <a:pPr algn="ctr"/>
              <a:r>
                <a:rPr lang="en-US" sz="1700" dirty="0"/>
                <a:t>7</a:t>
              </a:r>
            </a:p>
          </p:txBody>
        </p:sp>
      </p:grpSp>
      <p:sp>
        <p:nvSpPr>
          <p:cNvPr id="50" name="TextBox 49"/>
          <p:cNvSpPr txBox="1"/>
          <p:nvPr/>
        </p:nvSpPr>
        <p:spPr>
          <a:xfrm>
            <a:off x="2016897" y="1150277"/>
            <a:ext cx="7371947" cy="461665"/>
          </a:xfrm>
          <a:prstGeom prst="rect">
            <a:avLst/>
          </a:prstGeom>
          <a:noFill/>
        </p:spPr>
        <p:txBody>
          <a:bodyPr wrap="square" rtlCol="0">
            <a:spAutoFit/>
          </a:bodyPr>
          <a:lstStyle/>
          <a:p>
            <a:pPr marL="342891" indent="-342891" eaLnBrk="0" hangingPunct="0">
              <a:spcBef>
                <a:spcPct val="20000"/>
              </a:spcBef>
              <a:buClr>
                <a:schemeClr val="hlink"/>
              </a:buClr>
              <a:buSzPct val="110000"/>
              <a:buBlip>
                <a:blip r:embed="rId3"/>
              </a:buBlip>
            </a:pPr>
            <a:r>
              <a:rPr lang="en-US" sz="2400" dirty="0">
                <a:solidFill>
                  <a:srgbClr val="FF0000"/>
                </a:solidFill>
              </a:rPr>
              <a:t>I-type</a:t>
            </a:r>
            <a:r>
              <a:rPr lang="en-US" sz="2400" dirty="0"/>
              <a:t> instruction &amp; I-immediate (32 bits)</a:t>
            </a:r>
            <a:endParaRPr lang="en-US" dirty="0"/>
          </a:p>
        </p:txBody>
      </p:sp>
      <p:sp>
        <p:nvSpPr>
          <p:cNvPr id="81" name="TextBox 80"/>
          <p:cNvSpPr txBox="1"/>
          <p:nvPr/>
        </p:nvSpPr>
        <p:spPr>
          <a:xfrm>
            <a:off x="2103822" y="2570780"/>
            <a:ext cx="7715391" cy="369332"/>
          </a:xfrm>
          <a:prstGeom prst="rect">
            <a:avLst/>
          </a:prstGeom>
          <a:noFill/>
        </p:spPr>
        <p:txBody>
          <a:bodyPr wrap="square" rtlCol="0">
            <a:spAutoFit/>
          </a:bodyPr>
          <a:lstStyle/>
          <a:p>
            <a:r>
              <a:rPr lang="en-US" dirty="0"/>
              <a:t>I-</a:t>
            </a:r>
            <a:r>
              <a:rPr lang="en-US" dirty="0" err="1"/>
              <a:t>imm</a:t>
            </a:r>
            <a:r>
              <a:rPr lang="en-US" dirty="0"/>
              <a:t> = </a:t>
            </a:r>
            <a:r>
              <a:rPr lang="en-US" dirty="0" err="1"/>
              <a:t>signExtend</a:t>
            </a:r>
            <a:r>
              <a:rPr lang="en-US" dirty="0"/>
              <a:t>(</a:t>
            </a:r>
            <a:r>
              <a:rPr lang="en-US" dirty="0" err="1"/>
              <a:t>inst</a:t>
            </a:r>
            <a:r>
              <a:rPr lang="en-US" dirty="0"/>
              <a:t>[31:20])</a:t>
            </a:r>
          </a:p>
        </p:txBody>
      </p:sp>
      <p:sp>
        <p:nvSpPr>
          <p:cNvPr id="4" name="Date Placeholder 3"/>
          <p:cNvSpPr>
            <a:spLocks noGrp="1"/>
          </p:cNvSpPr>
          <p:nvPr>
            <p:ph type="dt" sz="half" idx="10"/>
          </p:nvPr>
        </p:nvSpPr>
        <p:spPr/>
        <p:txBody>
          <a:bodyPr/>
          <a:lstStyle/>
          <a:p>
            <a:pPr>
              <a:defRPr/>
            </a:pPr>
            <a:r>
              <a:rPr lang="en-US" dirty="0"/>
              <a:t>September 27, 2024</a:t>
            </a:r>
          </a:p>
        </p:txBody>
      </p:sp>
      <p:sp>
        <p:nvSpPr>
          <p:cNvPr id="9" name="Footer Placeholder 8"/>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20" name="Slide Number Placeholder 19"/>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23</a:t>
            </a:fld>
            <a:endParaRPr lang="en-US" dirty="0"/>
          </a:p>
        </p:txBody>
      </p:sp>
      <p:graphicFrame>
        <p:nvGraphicFramePr>
          <p:cNvPr id="53" name="Table 4">
            <a:extLst>
              <a:ext uri="{FF2B5EF4-FFF2-40B4-BE49-F238E27FC236}">
                <a16:creationId xmlns:a16="http://schemas.microsoft.com/office/drawing/2014/main" id="{377FCC45-0581-42D8-97CE-8C1A100E6206}"/>
              </a:ext>
            </a:extLst>
          </p:cNvPr>
          <p:cNvGraphicFramePr>
            <a:graphicFrameLocks noGrp="1"/>
          </p:cNvGraphicFramePr>
          <p:nvPr>
            <p:extLst>
              <p:ext uri="{D42A27DB-BD31-4B8C-83A1-F6EECF244321}">
                <p14:modId xmlns:p14="http://schemas.microsoft.com/office/powerpoint/2010/main" val="3929271971"/>
              </p:ext>
            </p:extLst>
          </p:nvPr>
        </p:nvGraphicFramePr>
        <p:xfrm>
          <a:off x="796365" y="3281989"/>
          <a:ext cx="11015032" cy="1670061"/>
        </p:xfrm>
        <a:graphic>
          <a:graphicData uri="http://schemas.openxmlformats.org/drawingml/2006/table">
            <a:tbl>
              <a:tblPr firstRow="1" bandRow="1">
                <a:tableStyleId>{5C22544A-7EE6-4342-B048-85BDC9FD1C3A}</a:tableStyleId>
              </a:tblPr>
              <a:tblGrid>
                <a:gridCol w="1394381">
                  <a:extLst>
                    <a:ext uri="{9D8B030D-6E8A-4147-A177-3AD203B41FA5}">
                      <a16:colId xmlns:a16="http://schemas.microsoft.com/office/drawing/2014/main" val="1721893818"/>
                    </a:ext>
                  </a:extLst>
                </a:gridCol>
                <a:gridCol w="2536779">
                  <a:extLst>
                    <a:ext uri="{9D8B030D-6E8A-4147-A177-3AD203B41FA5}">
                      <a16:colId xmlns:a16="http://schemas.microsoft.com/office/drawing/2014/main" val="3783186759"/>
                    </a:ext>
                  </a:extLst>
                </a:gridCol>
                <a:gridCol w="1352145">
                  <a:extLst>
                    <a:ext uri="{9D8B030D-6E8A-4147-A177-3AD203B41FA5}">
                      <a16:colId xmlns:a16="http://schemas.microsoft.com/office/drawing/2014/main" val="92472603"/>
                    </a:ext>
                  </a:extLst>
                </a:gridCol>
                <a:gridCol w="1313234">
                  <a:extLst>
                    <a:ext uri="{9D8B030D-6E8A-4147-A177-3AD203B41FA5}">
                      <a16:colId xmlns:a16="http://schemas.microsoft.com/office/drawing/2014/main" val="3276777015"/>
                    </a:ext>
                  </a:extLst>
                </a:gridCol>
                <a:gridCol w="1070043">
                  <a:extLst>
                    <a:ext uri="{9D8B030D-6E8A-4147-A177-3AD203B41FA5}">
                      <a16:colId xmlns:a16="http://schemas.microsoft.com/office/drawing/2014/main" val="499702933"/>
                    </a:ext>
                  </a:extLst>
                </a:gridCol>
                <a:gridCol w="1293870">
                  <a:extLst>
                    <a:ext uri="{9D8B030D-6E8A-4147-A177-3AD203B41FA5}">
                      <a16:colId xmlns:a16="http://schemas.microsoft.com/office/drawing/2014/main" val="2002421486"/>
                    </a:ext>
                  </a:extLst>
                </a:gridCol>
                <a:gridCol w="2054580">
                  <a:extLst>
                    <a:ext uri="{9D8B030D-6E8A-4147-A177-3AD203B41FA5}">
                      <a16:colId xmlns:a16="http://schemas.microsoft.com/office/drawing/2014/main" val="2830034558"/>
                    </a:ext>
                  </a:extLst>
                </a:gridCol>
              </a:tblGrid>
              <a:tr h="780327">
                <a:tc>
                  <a:txBody>
                    <a:bodyPr/>
                    <a:lstStyle/>
                    <a:p>
                      <a:r>
                        <a:rPr lang="en-US" sz="2400" dirty="0"/>
                        <a:t>I-type</a:t>
                      </a:r>
                    </a:p>
                  </a:txBody>
                  <a:tcPr marL="121920" marR="121920" marT="60960" marB="60960"/>
                </a:tc>
                <a:tc>
                  <a:txBody>
                    <a:bodyPr/>
                    <a:lstStyle/>
                    <a:p>
                      <a:pPr algn="ctr"/>
                      <a:r>
                        <a:rPr lang="en-US" sz="2400" dirty="0"/>
                        <a:t>immediate</a:t>
                      </a:r>
                    </a:p>
                  </a:txBody>
                  <a:tcPr marL="121920" marR="121920" marT="60960" marB="60960"/>
                </a:tc>
                <a:tc>
                  <a:txBody>
                    <a:bodyPr/>
                    <a:lstStyle/>
                    <a:p>
                      <a:r>
                        <a:rPr lang="en-US" sz="2400" dirty="0"/>
                        <a:t>RS1</a:t>
                      </a:r>
                    </a:p>
                  </a:txBody>
                  <a:tcPr marL="121920" marR="121920" marT="60960" marB="60960"/>
                </a:tc>
                <a:tc>
                  <a:txBody>
                    <a:bodyPr/>
                    <a:lstStyle/>
                    <a:p>
                      <a:r>
                        <a:rPr lang="en-US" sz="2400" dirty="0"/>
                        <a:t>funct3</a:t>
                      </a:r>
                    </a:p>
                  </a:txBody>
                  <a:tcPr marL="121920" marR="121920" marT="60960" marB="60960"/>
                </a:tc>
                <a:tc>
                  <a:txBody>
                    <a:bodyPr/>
                    <a:lstStyle/>
                    <a:p>
                      <a:r>
                        <a:rPr lang="en-US" sz="2400" dirty="0"/>
                        <a:t>RD</a:t>
                      </a:r>
                    </a:p>
                  </a:txBody>
                  <a:tcPr marL="121920" marR="121920" marT="60960" marB="60960"/>
                </a:tc>
                <a:tc>
                  <a:txBody>
                    <a:bodyPr/>
                    <a:lstStyle/>
                    <a:p>
                      <a:r>
                        <a:rPr lang="en-US" sz="2000" dirty="0"/>
                        <a:t>Opcode</a:t>
                      </a:r>
                    </a:p>
                  </a:txBody>
                  <a:tcPr marL="121920" marR="121920" marT="60960" marB="60960"/>
                </a:tc>
                <a:tc>
                  <a:txBody>
                    <a:bodyPr/>
                    <a:lstStyle/>
                    <a:p>
                      <a:pPr algn="ctr"/>
                      <a:r>
                        <a:rPr lang="en-US" sz="2400" dirty="0"/>
                        <a:t>Example</a:t>
                      </a:r>
                    </a:p>
                  </a:txBody>
                  <a:tcPr marL="121920" marR="121920" marT="60960" marB="60960"/>
                </a:tc>
                <a:extLst>
                  <a:ext uri="{0D108BD9-81ED-4DB2-BD59-A6C34878D82A}">
                    <a16:rowId xmlns:a16="http://schemas.microsoft.com/office/drawing/2014/main" val="3752694397"/>
                  </a:ext>
                </a:extLst>
              </a:tr>
              <a:tr h="444867">
                <a:tc>
                  <a:txBody>
                    <a:bodyPr/>
                    <a:lstStyle/>
                    <a:p>
                      <a:r>
                        <a:rPr lang="en-US" sz="1800" dirty="0" err="1"/>
                        <a:t>addi</a:t>
                      </a:r>
                      <a:endParaRPr lang="en-US" sz="1800" dirty="0"/>
                    </a:p>
                  </a:txBody>
                  <a:tcPr marL="121920" marR="121920" marT="60960" marB="60960"/>
                </a:tc>
                <a:tc>
                  <a:txBody>
                    <a:bodyPr/>
                    <a:lstStyle/>
                    <a:p>
                      <a:pPr algn="ctr"/>
                      <a:r>
                        <a:rPr lang="en-US" sz="1800" dirty="0"/>
                        <a:t>010000000000</a:t>
                      </a:r>
                    </a:p>
                  </a:txBody>
                  <a:tcPr marL="121920" marR="121920" marT="60960" marB="60960"/>
                </a:tc>
                <a:tc>
                  <a:txBody>
                    <a:bodyPr/>
                    <a:lstStyle/>
                    <a:p>
                      <a:r>
                        <a:rPr lang="en-US" sz="1800" dirty="0"/>
                        <a:t>00010</a:t>
                      </a:r>
                    </a:p>
                  </a:txBody>
                  <a:tcPr marL="121920" marR="121920" marT="60960" marB="60960"/>
                </a:tc>
                <a:tc>
                  <a:txBody>
                    <a:bodyPr/>
                    <a:lstStyle/>
                    <a:p>
                      <a:r>
                        <a:rPr lang="en-US" sz="1800" dirty="0"/>
                        <a:t>000</a:t>
                      </a:r>
                    </a:p>
                  </a:txBody>
                  <a:tcPr marL="121920" marR="121920" marT="60960" marB="60960"/>
                </a:tc>
                <a:tc>
                  <a:txBody>
                    <a:bodyPr/>
                    <a:lstStyle/>
                    <a:p>
                      <a:r>
                        <a:rPr lang="en-US" sz="1800" dirty="0"/>
                        <a:t>00001</a:t>
                      </a:r>
                    </a:p>
                  </a:txBody>
                  <a:tcPr marL="121920" marR="121920" marT="60960" marB="60960"/>
                </a:tc>
                <a:tc>
                  <a:txBody>
                    <a:bodyPr/>
                    <a:lstStyle/>
                    <a:p>
                      <a:r>
                        <a:rPr lang="en-US" sz="1800" dirty="0"/>
                        <a:t>0010011</a:t>
                      </a:r>
                    </a:p>
                  </a:txBody>
                  <a:tcPr marL="121920" marR="121920" marT="60960" marB="60960"/>
                </a:tc>
                <a:tc>
                  <a:txBody>
                    <a:bodyPr/>
                    <a:lstStyle/>
                    <a:p>
                      <a:r>
                        <a:rPr lang="en-US" sz="1800" dirty="0" err="1"/>
                        <a:t>Addi</a:t>
                      </a:r>
                      <a:r>
                        <a:rPr lang="en-US" sz="1800" dirty="0"/>
                        <a:t> x1,x2,1024</a:t>
                      </a:r>
                    </a:p>
                  </a:txBody>
                  <a:tcPr marL="121920" marR="121920" marT="60960" marB="60960"/>
                </a:tc>
                <a:extLst>
                  <a:ext uri="{0D108BD9-81ED-4DB2-BD59-A6C34878D82A}">
                    <a16:rowId xmlns:a16="http://schemas.microsoft.com/office/drawing/2014/main" val="1150738987"/>
                  </a:ext>
                </a:extLst>
              </a:tr>
              <a:tr h="444867">
                <a:tc>
                  <a:txBody>
                    <a:bodyPr/>
                    <a:lstStyle/>
                    <a:p>
                      <a:r>
                        <a:rPr lang="en-US" sz="1800" dirty="0" err="1"/>
                        <a:t>ld</a:t>
                      </a:r>
                      <a:endParaRPr lang="en-US" sz="1800" dirty="0"/>
                    </a:p>
                  </a:txBody>
                  <a:tcPr marL="121920" marR="121920" marT="60960" marB="60960"/>
                </a:tc>
                <a:tc>
                  <a:txBody>
                    <a:bodyPr/>
                    <a:lstStyle/>
                    <a:p>
                      <a:pPr algn="ctr"/>
                      <a:r>
                        <a:rPr lang="en-US" sz="1800" dirty="0"/>
                        <a:t>001111101000</a:t>
                      </a:r>
                    </a:p>
                  </a:txBody>
                  <a:tcPr marL="121920" marR="121920" marT="60960" marB="60960"/>
                </a:tc>
                <a:tc>
                  <a:txBody>
                    <a:bodyPr/>
                    <a:lstStyle/>
                    <a:p>
                      <a:r>
                        <a:rPr lang="en-US" sz="1800" dirty="0"/>
                        <a:t>00010</a:t>
                      </a:r>
                    </a:p>
                  </a:txBody>
                  <a:tcPr marL="121920" marR="121920" marT="60960" marB="60960"/>
                </a:tc>
                <a:tc>
                  <a:txBody>
                    <a:bodyPr/>
                    <a:lstStyle/>
                    <a:p>
                      <a:r>
                        <a:rPr lang="en-US" sz="1800" dirty="0"/>
                        <a:t>000</a:t>
                      </a:r>
                    </a:p>
                  </a:txBody>
                  <a:tcPr marL="121920" marR="121920" marT="60960" marB="60960"/>
                </a:tc>
                <a:tc>
                  <a:txBody>
                    <a:bodyPr/>
                    <a:lstStyle/>
                    <a:p>
                      <a:r>
                        <a:rPr lang="en-US" sz="1800" dirty="0"/>
                        <a:t>00001</a:t>
                      </a:r>
                    </a:p>
                  </a:txBody>
                  <a:tcPr marL="121920" marR="121920" marT="60960" marB="60960"/>
                </a:tc>
                <a:tc>
                  <a:txBody>
                    <a:bodyPr/>
                    <a:lstStyle/>
                    <a:p>
                      <a:r>
                        <a:rPr lang="en-US" sz="1800" dirty="0"/>
                        <a:t>0000011</a:t>
                      </a:r>
                    </a:p>
                  </a:txBody>
                  <a:tcPr marL="121920" marR="121920" marT="60960" marB="60960"/>
                </a:tc>
                <a:tc>
                  <a:txBody>
                    <a:bodyPr/>
                    <a:lstStyle/>
                    <a:p>
                      <a:r>
                        <a:rPr lang="en-US" sz="1800" dirty="0" err="1"/>
                        <a:t>Ld</a:t>
                      </a:r>
                      <a:r>
                        <a:rPr lang="en-US" sz="1800" dirty="0"/>
                        <a:t> x1, 1000(x2)</a:t>
                      </a:r>
                    </a:p>
                  </a:txBody>
                  <a:tcPr marL="121920" marR="121920" marT="60960" marB="60960"/>
                </a:tc>
                <a:extLst>
                  <a:ext uri="{0D108BD9-81ED-4DB2-BD59-A6C34878D82A}">
                    <a16:rowId xmlns:a16="http://schemas.microsoft.com/office/drawing/2014/main" val="266197382"/>
                  </a:ext>
                </a:extLst>
              </a:tr>
            </a:tbl>
          </a:graphicData>
        </a:graphic>
      </p:graphicFrame>
    </p:spTree>
    <p:extLst>
      <p:ext uri="{BB962C8B-B14F-4D97-AF65-F5344CB8AC3E}">
        <p14:creationId xmlns:p14="http://schemas.microsoft.com/office/powerpoint/2010/main" val="36560667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92771" y="-131152"/>
            <a:ext cx="7988491" cy="1143000"/>
          </a:xfrm>
        </p:spPr>
        <p:txBody>
          <a:bodyPr/>
          <a:lstStyle/>
          <a:p>
            <a:r>
              <a:rPr lang="en-US" sz="4000" dirty="0"/>
              <a:t>ALU  Instructions (I)</a:t>
            </a:r>
          </a:p>
        </p:txBody>
      </p:sp>
      <p:sp>
        <p:nvSpPr>
          <p:cNvPr id="3" name="Content Placeholder 2"/>
          <p:cNvSpPr>
            <a:spLocks noGrp="1"/>
          </p:cNvSpPr>
          <p:nvPr>
            <p:ph idx="1"/>
          </p:nvPr>
        </p:nvSpPr>
        <p:spPr>
          <a:xfrm>
            <a:off x="1306286" y="1288825"/>
            <a:ext cx="10382553" cy="4623327"/>
          </a:xfrm>
        </p:spPr>
        <p:txBody>
          <a:bodyPr/>
          <a:lstStyle/>
          <a:p>
            <a:r>
              <a:rPr lang="en-US" sz="2400" dirty="0"/>
              <a:t>Register-immediate instructions (I-type) (0010011 for </a:t>
            </a:r>
            <a:r>
              <a:rPr lang="en-US" sz="2400" dirty="0" err="1"/>
              <a:t>alu</a:t>
            </a:r>
            <a:r>
              <a:rPr lang="en-US" sz="2400" dirty="0"/>
              <a:t>, 0000011 for load)</a:t>
            </a:r>
          </a:p>
          <a:p>
            <a:endParaRPr lang="en-US" sz="2400" dirty="0"/>
          </a:p>
          <a:p>
            <a:pPr marL="0" indent="0">
              <a:buNone/>
            </a:pPr>
            <a:endParaRPr lang="en-US" sz="2400" dirty="0"/>
          </a:p>
          <a:p>
            <a:endParaRPr lang="en-US" sz="2400" dirty="0"/>
          </a:p>
          <a:p>
            <a:pPr lvl="1"/>
            <a:r>
              <a:rPr lang="en-US" sz="2000" dirty="0">
                <a:sym typeface="Wingdings" panose="05000000000000000000" pitchFamily="2" charset="2"/>
              </a:rPr>
              <a:t>opcode = OP-IMM:</a:t>
            </a:r>
            <a:r>
              <a:rPr lang="en-US" sz="2000" dirty="0">
                <a:solidFill>
                  <a:srgbClr val="56127A"/>
                </a:solidFill>
                <a:sym typeface="Wingdings" panose="05000000000000000000" pitchFamily="2" charset="2"/>
              </a:rPr>
              <a:t> </a:t>
            </a:r>
            <a:r>
              <a:rPr lang="en-US" sz="2000" dirty="0" err="1">
                <a:solidFill>
                  <a:srgbClr val="56127A"/>
                </a:solidFill>
              </a:rPr>
              <a:t>rd</a:t>
            </a:r>
            <a:r>
              <a:rPr lang="en-US" sz="2000" dirty="0">
                <a:solidFill>
                  <a:srgbClr val="56127A"/>
                </a:solidFill>
              </a:rPr>
              <a:t> </a:t>
            </a:r>
            <a:r>
              <a:rPr lang="en-US" sz="2000" dirty="0">
                <a:solidFill>
                  <a:srgbClr val="56127A"/>
                </a:solidFill>
                <a:sym typeface="Wingdings" panose="05000000000000000000" pitchFamily="2" charset="2"/>
              </a:rPr>
              <a:t> rs1 (funct3) I-</a:t>
            </a:r>
            <a:r>
              <a:rPr lang="en-US" sz="2000" dirty="0" err="1">
                <a:solidFill>
                  <a:srgbClr val="56127A"/>
                </a:solidFill>
                <a:sym typeface="Wingdings" panose="05000000000000000000" pitchFamily="2" charset="2"/>
              </a:rPr>
              <a:t>imm</a:t>
            </a:r>
            <a:r>
              <a:rPr lang="en-US" sz="2000" dirty="0">
                <a:solidFill>
                  <a:srgbClr val="56127A"/>
                </a:solidFill>
                <a:sym typeface="Wingdings" panose="05000000000000000000" pitchFamily="2" charset="2"/>
              </a:rPr>
              <a:t> </a:t>
            </a:r>
          </a:p>
          <a:p>
            <a:pPr lvl="1"/>
            <a:r>
              <a:rPr lang="en-US" sz="2000" dirty="0"/>
              <a:t>I-</a:t>
            </a:r>
            <a:r>
              <a:rPr lang="en-US" sz="2000" dirty="0" err="1"/>
              <a:t>imm</a:t>
            </a:r>
            <a:r>
              <a:rPr lang="en-US" sz="2000" dirty="0"/>
              <a:t> = </a:t>
            </a:r>
            <a:r>
              <a:rPr lang="en-US" sz="2000" dirty="0" err="1"/>
              <a:t>signExtend</a:t>
            </a:r>
            <a:r>
              <a:rPr lang="en-US" sz="2000" dirty="0"/>
              <a:t> (</a:t>
            </a:r>
            <a:r>
              <a:rPr lang="en-US" sz="2000" dirty="0" err="1"/>
              <a:t>inst</a:t>
            </a:r>
            <a:r>
              <a:rPr lang="en-US" sz="2000" dirty="0"/>
              <a:t>[31:20])</a:t>
            </a:r>
          </a:p>
          <a:p>
            <a:pPr lvl="1"/>
            <a:r>
              <a:rPr lang="en-US" sz="2000" dirty="0"/>
              <a:t>funct3 = ADDI/SLTI/SLTIU/ANDI/ORI/XORI</a:t>
            </a:r>
          </a:p>
          <a:p>
            <a:pPr lvl="1"/>
            <a:endParaRPr lang="en-US" sz="2000" dirty="0"/>
          </a:p>
          <a:p>
            <a:r>
              <a:rPr lang="en-US" sz="2400" dirty="0"/>
              <a:t>A slight variant in coding for shift instructions - </a:t>
            </a:r>
            <a:r>
              <a:rPr lang="en-US" sz="2400" dirty="0">
                <a:sym typeface="Wingdings" panose="05000000000000000000" pitchFamily="2" charset="2"/>
              </a:rPr>
              <a:t>SLLI / SRLI / SRAI</a:t>
            </a:r>
          </a:p>
          <a:p>
            <a:pPr lvl="1"/>
            <a:r>
              <a:rPr lang="en-US" sz="2000" dirty="0" err="1">
                <a:solidFill>
                  <a:srgbClr val="56127A"/>
                </a:solidFill>
                <a:sym typeface="Wingdings" panose="05000000000000000000" pitchFamily="2" charset="2"/>
              </a:rPr>
              <a:t>rd</a:t>
            </a:r>
            <a:r>
              <a:rPr lang="en-US" sz="2000" dirty="0">
                <a:solidFill>
                  <a:srgbClr val="56127A"/>
                </a:solidFill>
                <a:sym typeface="Wingdings" panose="05000000000000000000" pitchFamily="2" charset="2"/>
              </a:rPr>
              <a:t>  rs1 (funct3, </a:t>
            </a:r>
            <a:r>
              <a:rPr lang="en-US" sz="2000" dirty="0" err="1">
                <a:solidFill>
                  <a:srgbClr val="56127A"/>
                </a:solidFill>
                <a:sym typeface="Wingdings" panose="05000000000000000000" pitchFamily="2" charset="2"/>
              </a:rPr>
              <a:t>inst</a:t>
            </a:r>
            <a:r>
              <a:rPr lang="en-US" sz="2000" dirty="0">
                <a:solidFill>
                  <a:srgbClr val="56127A"/>
                </a:solidFill>
                <a:sym typeface="Wingdings" panose="05000000000000000000" pitchFamily="2" charset="2"/>
              </a:rPr>
              <a:t>[30]) I-</a:t>
            </a:r>
            <a:r>
              <a:rPr lang="en-US" sz="2000" dirty="0" err="1">
                <a:solidFill>
                  <a:srgbClr val="56127A"/>
                </a:solidFill>
                <a:sym typeface="Wingdings" panose="05000000000000000000" pitchFamily="2" charset="2"/>
              </a:rPr>
              <a:t>imm</a:t>
            </a:r>
            <a:r>
              <a:rPr lang="en-US" sz="2000" dirty="0">
                <a:solidFill>
                  <a:srgbClr val="56127A"/>
                </a:solidFill>
                <a:sym typeface="Wingdings" panose="05000000000000000000" pitchFamily="2" charset="2"/>
              </a:rPr>
              <a:t>[4:0]</a:t>
            </a:r>
            <a:endParaRPr lang="en-US" sz="2000" dirty="0">
              <a:solidFill>
                <a:srgbClr val="56127A"/>
              </a:solidFill>
            </a:endParaRPr>
          </a:p>
          <a:p>
            <a:endParaRPr lang="en-US" sz="2400" dirty="0"/>
          </a:p>
          <a:p>
            <a:endParaRPr lang="en-US" sz="2400" dirty="0"/>
          </a:p>
          <a:p>
            <a:endParaRPr lang="en-US" sz="2400" dirty="0"/>
          </a:p>
          <a:p>
            <a:endParaRPr lang="en-US" sz="2400" dirty="0"/>
          </a:p>
          <a:p>
            <a:endParaRPr lang="en-US" sz="2400" dirty="0"/>
          </a:p>
          <a:p>
            <a:endParaRPr lang="en-US" sz="2400" dirty="0"/>
          </a:p>
        </p:txBody>
      </p:sp>
      <p:grpSp>
        <p:nvGrpSpPr>
          <p:cNvPr id="9" name="Group 8"/>
          <p:cNvGrpSpPr/>
          <p:nvPr/>
        </p:nvGrpSpPr>
        <p:grpSpPr>
          <a:xfrm>
            <a:off x="2202559" y="1968422"/>
            <a:ext cx="8078703" cy="646103"/>
            <a:chOff x="723900" y="3317566"/>
            <a:chExt cx="8078703" cy="646103"/>
          </a:xfrm>
        </p:grpSpPr>
        <p:sp>
          <p:nvSpPr>
            <p:cNvPr id="10" name="TextBox 9"/>
            <p:cNvSpPr txBox="1"/>
            <p:nvPr/>
          </p:nvSpPr>
          <p:spPr>
            <a:xfrm>
              <a:off x="723900" y="3609726"/>
              <a:ext cx="2968096"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[11:0]</a:t>
              </a:r>
            </a:p>
          </p:txBody>
        </p:sp>
        <p:sp>
          <p:nvSpPr>
            <p:cNvPr id="11" name="TextBox 10"/>
            <p:cNvSpPr txBox="1"/>
            <p:nvPr/>
          </p:nvSpPr>
          <p:spPr>
            <a:xfrm>
              <a:off x="4922042" y="3609726"/>
              <a:ext cx="91201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12" name="TextBox 11"/>
            <p:cNvSpPr txBox="1"/>
            <p:nvPr/>
          </p:nvSpPr>
          <p:spPr>
            <a:xfrm>
              <a:off x="3694111" y="3609726"/>
              <a:ext cx="122793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13" name="TextBox 12"/>
            <p:cNvSpPr txBox="1"/>
            <p:nvPr/>
          </p:nvSpPr>
          <p:spPr>
            <a:xfrm>
              <a:off x="5834060" y="3609726"/>
              <a:ext cx="12262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14" name="TextBox 13"/>
            <p:cNvSpPr txBox="1"/>
            <p:nvPr/>
          </p:nvSpPr>
          <p:spPr>
            <a:xfrm>
              <a:off x="7060322" y="3609726"/>
              <a:ext cx="174228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5" name="TextBox 14"/>
            <p:cNvSpPr txBox="1"/>
            <p:nvPr/>
          </p:nvSpPr>
          <p:spPr>
            <a:xfrm>
              <a:off x="1993787" y="3317566"/>
              <a:ext cx="428322" cy="353943"/>
            </a:xfrm>
            <a:prstGeom prst="rect">
              <a:avLst/>
            </a:prstGeom>
            <a:noFill/>
          </p:spPr>
          <p:txBody>
            <a:bodyPr wrap="none" rtlCol="0">
              <a:spAutoFit/>
            </a:bodyPr>
            <a:lstStyle/>
            <a:p>
              <a:pPr algn="ctr"/>
              <a:r>
                <a:rPr lang="en-US" sz="1700" dirty="0"/>
                <a:t>12</a:t>
              </a:r>
            </a:p>
          </p:txBody>
        </p:sp>
        <p:sp>
          <p:nvSpPr>
            <p:cNvPr id="16" name="TextBox 15"/>
            <p:cNvSpPr txBox="1"/>
            <p:nvPr/>
          </p:nvSpPr>
          <p:spPr>
            <a:xfrm>
              <a:off x="4154830" y="3317566"/>
              <a:ext cx="306494" cy="353943"/>
            </a:xfrm>
            <a:prstGeom prst="rect">
              <a:avLst/>
            </a:prstGeom>
            <a:noFill/>
          </p:spPr>
          <p:txBody>
            <a:bodyPr wrap="none" rtlCol="0">
              <a:spAutoFit/>
            </a:bodyPr>
            <a:lstStyle/>
            <a:p>
              <a:pPr algn="ctr"/>
              <a:r>
                <a:rPr lang="en-US" sz="1700" dirty="0"/>
                <a:t>5</a:t>
              </a:r>
            </a:p>
          </p:txBody>
        </p:sp>
        <p:sp>
          <p:nvSpPr>
            <p:cNvPr id="17" name="TextBox 16"/>
            <p:cNvSpPr txBox="1"/>
            <p:nvPr/>
          </p:nvSpPr>
          <p:spPr>
            <a:xfrm>
              <a:off x="5220834" y="3317566"/>
              <a:ext cx="306494" cy="353943"/>
            </a:xfrm>
            <a:prstGeom prst="rect">
              <a:avLst/>
            </a:prstGeom>
            <a:noFill/>
          </p:spPr>
          <p:txBody>
            <a:bodyPr wrap="none" rtlCol="0">
              <a:spAutoFit/>
            </a:bodyPr>
            <a:lstStyle/>
            <a:p>
              <a:pPr algn="ctr"/>
              <a:r>
                <a:rPr lang="en-US" sz="1700" dirty="0"/>
                <a:t>3</a:t>
              </a:r>
            </a:p>
          </p:txBody>
        </p:sp>
        <p:sp>
          <p:nvSpPr>
            <p:cNvPr id="18" name="TextBox 17"/>
            <p:cNvSpPr txBox="1"/>
            <p:nvPr/>
          </p:nvSpPr>
          <p:spPr>
            <a:xfrm>
              <a:off x="6296894" y="3317566"/>
              <a:ext cx="306494" cy="353943"/>
            </a:xfrm>
            <a:prstGeom prst="rect">
              <a:avLst/>
            </a:prstGeom>
            <a:noFill/>
          </p:spPr>
          <p:txBody>
            <a:bodyPr wrap="none" rtlCol="0">
              <a:spAutoFit/>
            </a:bodyPr>
            <a:lstStyle/>
            <a:p>
              <a:pPr algn="ctr"/>
              <a:r>
                <a:rPr lang="en-US" sz="1700" dirty="0"/>
                <a:t>5</a:t>
              </a:r>
            </a:p>
          </p:txBody>
        </p:sp>
        <p:sp>
          <p:nvSpPr>
            <p:cNvPr id="19" name="TextBox 18"/>
            <p:cNvSpPr txBox="1"/>
            <p:nvPr/>
          </p:nvSpPr>
          <p:spPr>
            <a:xfrm>
              <a:off x="7778215" y="3317566"/>
              <a:ext cx="306494" cy="353943"/>
            </a:xfrm>
            <a:prstGeom prst="rect">
              <a:avLst/>
            </a:prstGeom>
            <a:noFill/>
          </p:spPr>
          <p:txBody>
            <a:bodyPr wrap="none" rtlCol="0">
              <a:spAutoFit/>
            </a:bodyPr>
            <a:lstStyle/>
            <a:p>
              <a:pPr algn="ctr"/>
              <a:r>
                <a:rPr lang="en-US" sz="1700" dirty="0"/>
                <a:t>7</a:t>
              </a:r>
            </a:p>
          </p:txBody>
        </p:sp>
      </p:grpSp>
      <p:sp>
        <p:nvSpPr>
          <p:cNvPr id="5" name="Date Placeholder 4"/>
          <p:cNvSpPr>
            <a:spLocks noGrp="1"/>
          </p:cNvSpPr>
          <p:nvPr>
            <p:ph type="dt" sz="half" idx="10"/>
          </p:nvPr>
        </p:nvSpPr>
        <p:spPr/>
        <p:txBody>
          <a:bodyPr/>
          <a:lstStyle/>
          <a:p>
            <a:pPr>
              <a:defRPr/>
            </a:pPr>
            <a:r>
              <a:rPr lang="en-US" dirty="0"/>
              <a:t>September 27, 2024</a:t>
            </a:r>
          </a:p>
        </p:txBody>
      </p:sp>
      <p:sp>
        <p:nvSpPr>
          <p:cNvPr id="6" name="Footer Placeholder 5"/>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7" name="Slide Number Placeholder 6"/>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24</a:t>
            </a:fld>
            <a:endParaRPr lang="en-US" dirty="0"/>
          </a:p>
        </p:txBody>
      </p:sp>
      <p:sp>
        <p:nvSpPr>
          <p:cNvPr id="4" name="TextBox 3">
            <a:extLst>
              <a:ext uri="{FF2B5EF4-FFF2-40B4-BE49-F238E27FC236}">
                <a16:creationId xmlns:a16="http://schemas.microsoft.com/office/drawing/2014/main" id="{32E2D105-1FDC-41CE-A7A3-20BDC8210798}"/>
              </a:ext>
            </a:extLst>
          </p:cNvPr>
          <p:cNvSpPr txBox="1"/>
          <p:nvPr/>
        </p:nvSpPr>
        <p:spPr>
          <a:xfrm>
            <a:off x="739175" y="5636806"/>
            <a:ext cx="6330131" cy="461665"/>
          </a:xfrm>
          <a:prstGeom prst="rect">
            <a:avLst/>
          </a:prstGeom>
          <a:solidFill>
            <a:schemeClr val="tx2">
              <a:lumMod val="20000"/>
              <a:lumOff val="80000"/>
            </a:schemeClr>
          </a:solidFill>
          <a:ln>
            <a:solidFill>
              <a:srgbClr val="FF0000"/>
            </a:solidFill>
          </a:ln>
        </p:spPr>
        <p:txBody>
          <a:bodyPr wrap="none" rtlCol="0" anchor="ctr" anchorCtr="1">
            <a:spAutoFit/>
          </a:bodyPr>
          <a:lstStyle/>
          <a:p>
            <a:r>
              <a:rPr lang="en-US" sz="2400" dirty="0">
                <a:ea typeface="標楷體" pitchFamily="65" charset="-120"/>
                <a:cs typeface="Calibri" panose="020F0502020204030204" pitchFamily="34" charset="0"/>
              </a:rPr>
              <a:t>To distinguish logical shift and arithmetic shift</a:t>
            </a:r>
          </a:p>
        </p:txBody>
      </p:sp>
      <p:cxnSp>
        <p:nvCxnSpPr>
          <p:cNvPr id="20" name="Straight Arrow Connector 19">
            <a:extLst>
              <a:ext uri="{FF2B5EF4-FFF2-40B4-BE49-F238E27FC236}">
                <a16:creationId xmlns:a16="http://schemas.microsoft.com/office/drawing/2014/main" id="{E7437D31-9AD4-4760-9FF9-B55A2CAA6356}"/>
              </a:ext>
            </a:extLst>
          </p:cNvPr>
          <p:cNvCxnSpPr>
            <a:stCxn id="4" idx="0"/>
          </p:cNvCxnSpPr>
          <p:nvPr/>
        </p:nvCxnSpPr>
        <p:spPr bwMode="auto">
          <a:xfrm flipV="1">
            <a:off x="3904241" y="5267553"/>
            <a:ext cx="189690" cy="369253"/>
          </a:xfrm>
          <a:prstGeom prst="straightConnector1">
            <a:avLst/>
          </a:prstGeom>
          <a:noFill/>
          <a:ln w="15875" cap="flat" cmpd="sng" algn="ctr">
            <a:solidFill>
              <a:srgbClr val="FF0000"/>
            </a:solidFill>
            <a:prstDash val="solid"/>
            <a:round/>
            <a:headEnd type="none" w="med" len="med"/>
            <a:tailEnd type="triangle"/>
          </a:ln>
        </p:spPr>
      </p:cxnSp>
      <p:sp>
        <p:nvSpPr>
          <p:cNvPr id="21" name="TextBox 20">
            <a:extLst>
              <a:ext uri="{FF2B5EF4-FFF2-40B4-BE49-F238E27FC236}">
                <a16:creationId xmlns:a16="http://schemas.microsoft.com/office/drawing/2014/main" id="{6382AA71-9CB5-4939-A628-D585F4ECB1A5}"/>
              </a:ext>
            </a:extLst>
          </p:cNvPr>
          <p:cNvSpPr txBox="1"/>
          <p:nvPr/>
        </p:nvSpPr>
        <p:spPr>
          <a:xfrm>
            <a:off x="8095158" y="5098275"/>
            <a:ext cx="3685633" cy="1200329"/>
          </a:xfrm>
          <a:prstGeom prst="rect">
            <a:avLst/>
          </a:prstGeom>
          <a:solidFill>
            <a:schemeClr val="tx2">
              <a:lumMod val="20000"/>
              <a:lumOff val="80000"/>
            </a:schemeClr>
          </a:solidFill>
          <a:ln>
            <a:solidFill>
              <a:srgbClr val="FF0000"/>
            </a:solidFill>
          </a:ln>
        </p:spPr>
        <p:txBody>
          <a:bodyPr wrap="square" rtlCol="0" anchor="ctr" anchorCtr="1">
            <a:spAutoFit/>
          </a:bodyPr>
          <a:lstStyle/>
          <a:p>
            <a:r>
              <a:rPr lang="en-US" sz="2400" dirty="0" err="1">
                <a:ea typeface="標楷體" pitchFamily="65" charset="-120"/>
                <a:cs typeface="Calibri" panose="020F0502020204030204" pitchFamily="34" charset="0"/>
              </a:rPr>
              <a:t>shamt</a:t>
            </a:r>
            <a:r>
              <a:rPr lang="en-US" sz="2400" dirty="0">
                <a:ea typeface="標楷體" pitchFamily="65" charset="-120"/>
                <a:cs typeface="Calibri" panose="020F0502020204030204" pitchFamily="34" charset="0"/>
              </a:rPr>
              <a:t> (shift amount)</a:t>
            </a:r>
          </a:p>
          <a:p>
            <a:r>
              <a:rPr lang="en-US" sz="2400" dirty="0">
                <a:ea typeface="標楷體" pitchFamily="65" charset="-120"/>
                <a:cs typeface="Calibri" panose="020F0502020204030204" pitchFamily="34" charset="0"/>
              </a:rPr>
              <a:t>5bit for RV32</a:t>
            </a:r>
          </a:p>
          <a:p>
            <a:r>
              <a:rPr lang="en-US" sz="2400" dirty="0">
                <a:ea typeface="標楷體" pitchFamily="65" charset="-120"/>
                <a:cs typeface="Calibri" panose="020F0502020204030204" pitchFamily="34" charset="0"/>
              </a:rPr>
              <a:t>6bit for RV64</a:t>
            </a:r>
          </a:p>
        </p:txBody>
      </p:sp>
      <p:cxnSp>
        <p:nvCxnSpPr>
          <p:cNvPr id="22" name="Straight Arrow Connector 21">
            <a:extLst>
              <a:ext uri="{FF2B5EF4-FFF2-40B4-BE49-F238E27FC236}">
                <a16:creationId xmlns:a16="http://schemas.microsoft.com/office/drawing/2014/main" id="{E13E02CE-EBF8-450E-8954-1E375696A4A6}"/>
              </a:ext>
            </a:extLst>
          </p:cNvPr>
          <p:cNvCxnSpPr>
            <a:cxnSpLocks/>
            <a:stCxn id="21" idx="1"/>
          </p:cNvCxnSpPr>
          <p:nvPr/>
        </p:nvCxnSpPr>
        <p:spPr bwMode="auto">
          <a:xfrm flipH="1" flipV="1">
            <a:off x="5786738" y="5267558"/>
            <a:ext cx="2308420" cy="430882"/>
          </a:xfrm>
          <a:prstGeom prst="straightConnector1">
            <a:avLst/>
          </a:prstGeom>
          <a:noFill/>
          <a:ln w="15875" cap="flat" cmpd="sng" algn="ctr">
            <a:solidFill>
              <a:srgbClr val="FF0000"/>
            </a:solidFill>
            <a:prstDash val="solid"/>
            <a:round/>
            <a:headEnd type="none" w="med" len="med"/>
            <a:tailEnd type="triangle"/>
          </a:ln>
        </p:spPr>
      </p:cxnSp>
    </p:spTree>
    <p:extLst>
      <p:ext uri="{BB962C8B-B14F-4D97-AF65-F5344CB8AC3E}">
        <p14:creationId xmlns:p14="http://schemas.microsoft.com/office/powerpoint/2010/main" val="1059481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3601" y="36837"/>
            <a:ext cx="8124967" cy="809971"/>
          </a:xfrm>
        </p:spPr>
        <p:txBody>
          <a:bodyPr/>
          <a:lstStyle/>
          <a:p>
            <a:r>
              <a:rPr lang="en-US" dirty="0"/>
              <a:t>Load Instructions (I)</a:t>
            </a:r>
          </a:p>
        </p:txBody>
      </p:sp>
      <p:sp>
        <p:nvSpPr>
          <p:cNvPr id="3" name="Content Placeholder 2"/>
          <p:cNvSpPr>
            <a:spLocks noGrp="1"/>
          </p:cNvSpPr>
          <p:nvPr>
            <p:ph idx="1"/>
          </p:nvPr>
        </p:nvSpPr>
        <p:spPr>
          <a:xfrm>
            <a:off x="1804867" y="1210433"/>
            <a:ext cx="7772400" cy="4114800"/>
          </a:xfrm>
        </p:spPr>
        <p:txBody>
          <a:bodyPr/>
          <a:lstStyle/>
          <a:p>
            <a:r>
              <a:rPr lang="en-US" sz="2400" dirty="0"/>
              <a:t>Load (I-type)</a:t>
            </a:r>
          </a:p>
          <a:p>
            <a:pPr lvl="1"/>
            <a:endParaRPr lang="en-US" sz="2000" b="1" dirty="0"/>
          </a:p>
          <a:p>
            <a:pPr lvl="1"/>
            <a:endParaRPr lang="en-US" sz="2000" dirty="0"/>
          </a:p>
          <a:p>
            <a:pPr lvl="1"/>
            <a:r>
              <a:rPr lang="en-US" sz="2000" dirty="0"/>
              <a:t>opcode = LOAD: </a:t>
            </a:r>
            <a:r>
              <a:rPr lang="en-US" sz="2000" dirty="0" err="1">
                <a:solidFill>
                  <a:srgbClr val="56127A"/>
                </a:solidFill>
              </a:rPr>
              <a:t>rd</a:t>
            </a:r>
            <a:r>
              <a:rPr lang="en-US" sz="2000" dirty="0">
                <a:solidFill>
                  <a:srgbClr val="56127A"/>
                </a:solidFill>
              </a:rPr>
              <a:t> </a:t>
            </a:r>
            <a:r>
              <a:rPr lang="en-US" sz="2000" dirty="0">
                <a:solidFill>
                  <a:srgbClr val="56127A"/>
                </a:solidFill>
                <a:sym typeface="Wingdings" panose="05000000000000000000" pitchFamily="2" charset="2"/>
              </a:rPr>
              <a:t> mem[rs1 + I-</a:t>
            </a:r>
            <a:r>
              <a:rPr lang="en-US" sz="2000" dirty="0" err="1">
                <a:solidFill>
                  <a:srgbClr val="56127A"/>
                </a:solidFill>
                <a:sym typeface="Wingdings" panose="05000000000000000000" pitchFamily="2" charset="2"/>
              </a:rPr>
              <a:t>imm</a:t>
            </a:r>
            <a:r>
              <a:rPr lang="en-US" sz="2000" dirty="0">
                <a:solidFill>
                  <a:srgbClr val="56127A"/>
                </a:solidFill>
                <a:sym typeface="Wingdings" panose="05000000000000000000" pitchFamily="2" charset="2"/>
              </a:rPr>
              <a:t>]</a:t>
            </a:r>
          </a:p>
          <a:p>
            <a:pPr lvl="1"/>
            <a:r>
              <a:rPr lang="en-US" sz="2000" dirty="0"/>
              <a:t>I-</a:t>
            </a:r>
            <a:r>
              <a:rPr lang="en-US" sz="2000" dirty="0" err="1"/>
              <a:t>imm</a:t>
            </a:r>
            <a:r>
              <a:rPr lang="en-US" sz="2000" dirty="0"/>
              <a:t> = </a:t>
            </a:r>
            <a:r>
              <a:rPr lang="en-US" sz="2000" dirty="0" err="1"/>
              <a:t>signExtend</a:t>
            </a:r>
            <a:r>
              <a:rPr lang="en-US" sz="2000" dirty="0"/>
              <a:t>(</a:t>
            </a:r>
            <a:r>
              <a:rPr lang="en-US" sz="2000" dirty="0" err="1"/>
              <a:t>inst</a:t>
            </a:r>
            <a:r>
              <a:rPr lang="en-US" sz="2000" dirty="0"/>
              <a:t>[31:20])</a:t>
            </a:r>
          </a:p>
          <a:p>
            <a:pPr lvl="1"/>
            <a:r>
              <a:rPr lang="en-US" sz="2000" dirty="0">
                <a:sym typeface="Wingdings" panose="05000000000000000000" pitchFamily="2" charset="2"/>
              </a:rPr>
              <a:t>funct3 = LW/LB/LBU/LH/LHU</a:t>
            </a:r>
          </a:p>
          <a:p>
            <a:pPr marL="0" indent="0">
              <a:buNone/>
            </a:pPr>
            <a:endParaRPr lang="en-US" sz="2400" dirty="0">
              <a:sym typeface="Wingdings" panose="05000000000000000000" pitchFamily="2" charset="2"/>
            </a:endParaRPr>
          </a:p>
        </p:txBody>
      </p:sp>
      <p:grpSp>
        <p:nvGrpSpPr>
          <p:cNvPr id="9" name="Group 8"/>
          <p:cNvGrpSpPr/>
          <p:nvPr/>
        </p:nvGrpSpPr>
        <p:grpSpPr>
          <a:xfrm>
            <a:off x="1844539" y="1628697"/>
            <a:ext cx="8078703" cy="646103"/>
            <a:chOff x="723900" y="3317566"/>
            <a:chExt cx="8078703" cy="646103"/>
          </a:xfrm>
        </p:grpSpPr>
        <p:sp>
          <p:nvSpPr>
            <p:cNvPr id="10" name="TextBox 9"/>
            <p:cNvSpPr txBox="1"/>
            <p:nvPr/>
          </p:nvSpPr>
          <p:spPr>
            <a:xfrm>
              <a:off x="723900" y="3609726"/>
              <a:ext cx="2968096"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[11:0]</a:t>
              </a:r>
            </a:p>
          </p:txBody>
        </p:sp>
        <p:sp>
          <p:nvSpPr>
            <p:cNvPr id="11" name="TextBox 10"/>
            <p:cNvSpPr txBox="1"/>
            <p:nvPr/>
          </p:nvSpPr>
          <p:spPr>
            <a:xfrm>
              <a:off x="4922042" y="3609726"/>
              <a:ext cx="91201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12" name="TextBox 11"/>
            <p:cNvSpPr txBox="1"/>
            <p:nvPr/>
          </p:nvSpPr>
          <p:spPr>
            <a:xfrm>
              <a:off x="3694111" y="3609726"/>
              <a:ext cx="122793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13" name="TextBox 12"/>
            <p:cNvSpPr txBox="1"/>
            <p:nvPr/>
          </p:nvSpPr>
          <p:spPr>
            <a:xfrm>
              <a:off x="5834060" y="3609726"/>
              <a:ext cx="12262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14" name="TextBox 13"/>
            <p:cNvSpPr txBox="1"/>
            <p:nvPr/>
          </p:nvSpPr>
          <p:spPr>
            <a:xfrm>
              <a:off x="7060322" y="3609726"/>
              <a:ext cx="174228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5" name="TextBox 14"/>
            <p:cNvSpPr txBox="1"/>
            <p:nvPr/>
          </p:nvSpPr>
          <p:spPr>
            <a:xfrm>
              <a:off x="1993787" y="3317566"/>
              <a:ext cx="428322" cy="353943"/>
            </a:xfrm>
            <a:prstGeom prst="rect">
              <a:avLst/>
            </a:prstGeom>
            <a:noFill/>
          </p:spPr>
          <p:txBody>
            <a:bodyPr wrap="none" rtlCol="0">
              <a:spAutoFit/>
            </a:bodyPr>
            <a:lstStyle/>
            <a:p>
              <a:pPr algn="ctr"/>
              <a:r>
                <a:rPr lang="en-US" sz="1700" dirty="0"/>
                <a:t>12</a:t>
              </a:r>
            </a:p>
          </p:txBody>
        </p:sp>
        <p:sp>
          <p:nvSpPr>
            <p:cNvPr id="16" name="TextBox 15"/>
            <p:cNvSpPr txBox="1"/>
            <p:nvPr/>
          </p:nvSpPr>
          <p:spPr>
            <a:xfrm>
              <a:off x="4154830" y="3317566"/>
              <a:ext cx="306494" cy="353943"/>
            </a:xfrm>
            <a:prstGeom prst="rect">
              <a:avLst/>
            </a:prstGeom>
            <a:noFill/>
          </p:spPr>
          <p:txBody>
            <a:bodyPr wrap="none" rtlCol="0">
              <a:spAutoFit/>
            </a:bodyPr>
            <a:lstStyle/>
            <a:p>
              <a:pPr algn="ctr"/>
              <a:r>
                <a:rPr lang="en-US" sz="1700" dirty="0"/>
                <a:t>5</a:t>
              </a:r>
            </a:p>
          </p:txBody>
        </p:sp>
        <p:sp>
          <p:nvSpPr>
            <p:cNvPr id="17" name="TextBox 16"/>
            <p:cNvSpPr txBox="1"/>
            <p:nvPr/>
          </p:nvSpPr>
          <p:spPr>
            <a:xfrm>
              <a:off x="5220834" y="3317566"/>
              <a:ext cx="306494" cy="353943"/>
            </a:xfrm>
            <a:prstGeom prst="rect">
              <a:avLst/>
            </a:prstGeom>
            <a:noFill/>
          </p:spPr>
          <p:txBody>
            <a:bodyPr wrap="none" rtlCol="0">
              <a:spAutoFit/>
            </a:bodyPr>
            <a:lstStyle/>
            <a:p>
              <a:pPr algn="ctr"/>
              <a:r>
                <a:rPr lang="en-US" sz="1700" dirty="0"/>
                <a:t>3</a:t>
              </a:r>
            </a:p>
          </p:txBody>
        </p:sp>
        <p:sp>
          <p:nvSpPr>
            <p:cNvPr id="18" name="TextBox 17"/>
            <p:cNvSpPr txBox="1"/>
            <p:nvPr/>
          </p:nvSpPr>
          <p:spPr>
            <a:xfrm>
              <a:off x="6296894" y="3317566"/>
              <a:ext cx="306494" cy="353943"/>
            </a:xfrm>
            <a:prstGeom prst="rect">
              <a:avLst/>
            </a:prstGeom>
            <a:noFill/>
          </p:spPr>
          <p:txBody>
            <a:bodyPr wrap="none" rtlCol="0">
              <a:spAutoFit/>
            </a:bodyPr>
            <a:lstStyle/>
            <a:p>
              <a:pPr algn="ctr"/>
              <a:r>
                <a:rPr lang="en-US" sz="1700" dirty="0"/>
                <a:t>5</a:t>
              </a:r>
            </a:p>
          </p:txBody>
        </p:sp>
        <p:sp>
          <p:nvSpPr>
            <p:cNvPr id="19" name="TextBox 18"/>
            <p:cNvSpPr txBox="1"/>
            <p:nvPr/>
          </p:nvSpPr>
          <p:spPr>
            <a:xfrm>
              <a:off x="7778215" y="3317566"/>
              <a:ext cx="306494" cy="353943"/>
            </a:xfrm>
            <a:prstGeom prst="rect">
              <a:avLst/>
            </a:prstGeom>
            <a:noFill/>
          </p:spPr>
          <p:txBody>
            <a:bodyPr wrap="none" rtlCol="0">
              <a:spAutoFit/>
            </a:bodyPr>
            <a:lstStyle/>
            <a:p>
              <a:pPr algn="ctr"/>
              <a:r>
                <a:rPr lang="en-US" sz="1700" dirty="0"/>
                <a:t>7</a:t>
              </a:r>
            </a:p>
          </p:txBody>
        </p:sp>
      </p:grpSp>
      <p:sp>
        <p:nvSpPr>
          <p:cNvPr id="5" name="Date Placeholder 4"/>
          <p:cNvSpPr>
            <a:spLocks noGrp="1"/>
          </p:cNvSpPr>
          <p:nvPr>
            <p:ph type="dt" sz="half" idx="10"/>
          </p:nvPr>
        </p:nvSpPr>
        <p:spPr/>
        <p:txBody>
          <a:bodyPr/>
          <a:lstStyle/>
          <a:p>
            <a:pPr>
              <a:defRPr/>
            </a:pPr>
            <a:r>
              <a:rPr lang="en-US"/>
              <a:t>September 27, 2017</a:t>
            </a:r>
            <a:endParaRPr lang="en-US" dirty="0"/>
          </a:p>
        </p:txBody>
      </p:sp>
      <p:sp>
        <p:nvSpPr>
          <p:cNvPr id="6" name="Footer Placeholder 5"/>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7" name="Slide Number Placeholder 6"/>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25</a:t>
            </a:fld>
            <a:endParaRPr lang="en-US" dirty="0"/>
          </a:p>
        </p:txBody>
      </p:sp>
      <p:sp>
        <p:nvSpPr>
          <p:cNvPr id="8" name="TextBox 7">
            <a:extLst>
              <a:ext uri="{FF2B5EF4-FFF2-40B4-BE49-F238E27FC236}">
                <a16:creationId xmlns:a16="http://schemas.microsoft.com/office/drawing/2014/main" id="{A755FEF0-EC32-481A-897B-7454ECE91D60}"/>
              </a:ext>
            </a:extLst>
          </p:cNvPr>
          <p:cNvSpPr txBox="1"/>
          <p:nvPr/>
        </p:nvSpPr>
        <p:spPr>
          <a:xfrm>
            <a:off x="6196084" y="3511166"/>
            <a:ext cx="2363083" cy="523220"/>
          </a:xfrm>
          <a:prstGeom prst="rect">
            <a:avLst/>
          </a:prstGeom>
          <a:noFill/>
        </p:spPr>
        <p:txBody>
          <a:bodyPr wrap="none" rtlCol="0" anchor="ctr" anchorCtr="1">
            <a:spAutoFit/>
          </a:bodyPr>
          <a:lstStyle/>
          <a:p>
            <a:r>
              <a:rPr lang="en-US" sz="2800" dirty="0">
                <a:ea typeface="標楷體" pitchFamily="65" charset="-120"/>
                <a:cs typeface="Calibri" pitchFamily="34" charset="0"/>
              </a:rPr>
              <a:t>Base + Offset</a:t>
            </a:r>
          </a:p>
        </p:txBody>
      </p:sp>
      <p:cxnSp>
        <p:nvCxnSpPr>
          <p:cNvPr id="32" name="Straight Arrow Connector 31">
            <a:extLst>
              <a:ext uri="{FF2B5EF4-FFF2-40B4-BE49-F238E27FC236}">
                <a16:creationId xmlns:a16="http://schemas.microsoft.com/office/drawing/2014/main" id="{3C01F9FE-E67A-445A-A271-338B2FADC847}"/>
              </a:ext>
            </a:extLst>
          </p:cNvPr>
          <p:cNvCxnSpPr>
            <a:cxnSpLocks/>
          </p:cNvCxnSpPr>
          <p:nvPr/>
        </p:nvCxnSpPr>
        <p:spPr bwMode="auto">
          <a:xfrm flipH="1" flipV="1">
            <a:off x="5772150" y="2676526"/>
            <a:ext cx="911325" cy="1026266"/>
          </a:xfrm>
          <a:prstGeom prst="straightConnector1">
            <a:avLst/>
          </a:prstGeom>
          <a:noFill/>
          <a:ln w="15875" cap="flat" cmpd="sng" algn="ctr">
            <a:solidFill>
              <a:srgbClr val="FF0000"/>
            </a:solidFill>
            <a:prstDash val="solid"/>
            <a:round/>
            <a:headEnd type="none" w="med" len="med"/>
            <a:tailEnd type="triangle"/>
          </a:ln>
          <a:effectLst/>
        </p:spPr>
      </p:cxnSp>
      <p:cxnSp>
        <p:nvCxnSpPr>
          <p:cNvPr id="34" name="Straight Arrow Connector 33">
            <a:extLst>
              <a:ext uri="{FF2B5EF4-FFF2-40B4-BE49-F238E27FC236}">
                <a16:creationId xmlns:a16="http://schemas.microsoft.com/office/drawing/2014/main" id="{492BA892-0361-43F8-8B21-C9EA76D6D327}"/>
              </a:ext>
            </a:extLst>
          </p:cNvPr>
          <p:cNvCxnSpPr>
            <a:cxnSpLocks/>
          </p:cNvCxnSpPr>
          <p:nvPr/>
        </p:nvCxnSpPr>
        <p:spPr bwMode="auto">
          <a:xfrm flipH="1" flipV="1">
            <a:off x="6640463" y="2710948"/>
            <a:ext cx="927366" cy="918788"/>
          </a:xfrm>
          <a:prstGeom prst="straightConnector1">
            <a:avLst/>
          </a:prstGeom>
          <a:noFill/>
          <a:ln w="15875" cap="flat" cmpd="sng" algn="ctr">
            <a:solidFill>
              <a:srgbClr val="FF0000"/>
            </a:solidFill>
            <a:prstDash val="solid"/>
            <a:round/>
            <a:headEnd type="none" w="med" len="med"/>
            <a:tailEnd type="triangle"/>
          </a:ln>
          <a:effectLst/>
        </p:spPr>
      </p:cxnSp>
      <p:graphicFrame>
        <p:nvGraphicFramePr>
          <p:cNvPr id="36" name="Table 36">
            <a:extLst>
              <a:ext uri="{FF2B5EF4-FFF2-40B4-BE49-F238E27FC236}">
                <a16:creationId xmlns:a16="http://schemas.microsoft.com/office/drawing/2014/main" id="{55298CA5-C550-4495-B0EC-D48235CC140A}"/>
              </a:ext>
            </a:extLst>
          </p:cNvPr>
          <p:cNvGraphicFramePr>
            <a:graphicFrameLocks noGrp="1"/>
          </p:cNvGraphicFramePr>
          <p:nvPr>
            <p:extLst>
              <p:ext uri="{D42A27DB-BD31-4B8C-83A1-F6EECF244321}">
                <p14:modId xmlns:p14="http://schemas.microsoft.com/office/powerpoint/2010/main" val="2657507791"/>
              </p:ext>
            </p:extLst>
          </p:nvPr>
        </p:nvGraphicFramePr>
        <p:xfrm>
          <a:off x="1842909" y="4397781"/>
          <a:ext cx="3399678" cy="370840"/>
        </p:xfrm>
        <a:graphic>
          <a:graphicData uri="http://schemas.openxmlformats.org/drawingml/2006/table">
            <a:tbl>
              <a:tblPr firstRow="1" bandRow="1">
                <a:tableStyleId>{5C22544A-7EE6-4342-B048-85BDC9FD1C3A}</a:tableStyleId>
              </a:tblPr>
              <a:tblGrid>
                <a:gridCol w="566613">
                  <a:extLst>
                    <a:ext uri="{9D8B030D-6E8A-4147-A177-3AD203B41FA5}">
                      <a16:colId xmlns:a16="http://schemas.microsoft.com/office/drawing/2014/main" val="2585354835"/>
                    </a:ext>
                  </a:extLst>
                </a:gridCol>
                <a:gridCol w="566613">
                  <a:extLst>
                    <a:ext uri="{9D8B030D-6E8A-4147-A177-3AD203B41FA5}">
                      <a16:colId xmlns:a16="http://schemas.microsoft.com/office/drawing/2014/main" val="2943977885"/>
                    </a:ext>
                  </a:extLst>
                </a:gridCol>
                <a:gridCol w="566613">
                  <a:extLst>
                    <a:ext uri="{9D8B030D-6E8A-4147-A177-3AD203B41FA5}">
                      <a16:colId xmlns:a16="http://schemas.microsoft.com/office/drawing/2014/main" val="993159925"/>
                    </a:ext>
                  </a:extLst>
                </a:gridCol>
                <a:gridCol w="566613">
                  <a:extLst>
                    <a:ext uri="{9D8B030D-6E8A-4147-A177-3AD203B41FA5}">
                      <a16:colId xmlns:a16="http://schemas.microsoft.com/office/drawing/2014/main" val="3255442129"/>
                    </a:ext>
                  </a:extLst>
                </a:gridCol>
                <a:gridCol w="566613">
                  <a:extLst>
                    <a:ext uri="{9D8B030D-6E8A-4147-A177-3AD203B41FA5}">
                      <a16:colId xmlns:a16="http://schemas.microsoft.com/office/drawing/2014/main" val="2891476223"/>
                    </a:ext>
                  </a:extLst>
                </a:gridCol>
                <a:gridCol w="566613">
                  <a:extLst>
                    <a:ext uri="{9D8B030D-6E8A-4147-A177-3AD203B41FA5}">
                      <a16:colId xmlns:a16="http://schemas.microsoft.com/office/drawing/2014/main" val="2265760534"/>
                    </a:ext>
                  </a:extLst>
                </a:gridCol>
              </a:tblGrid>
              <a:tr h="370840">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833089835"/>
                  </a:ext>
                </a:extLst>
              </a:tr>
            </a:tbl>
          </a:graphicData>
        </a:graphic>
      </p:graphicFrame>
      <p:sp>
        <p:nvSpPr>
          <p:cNvPr id="38" name="TextBox 37">
            <a:extLst>
              <a:ext uri="{FF2B5EF4-FFF2-40B4-BE49-F238E27FC236}">
                <a16:creationId xmlns:a16="http://schemas.microsoft.com/office/drawing/2014/main" id="{D1985493-33D7-473D-922C-17B4AB701508}"/>
              </a:ext>
            </a:extLst>
          </p:cNvPr>
          <p:cNvSpPr txBox="1"/>
          <p:nvPr/>
        </p:nvSpPr>
        <p:spPr>
          <a:xfrm>
            <a:off x="715559" y="4397781"/>
            <a:ext cx="736099" cy="369332"/>
          </a:xfrm>
          <a:prstGeom prst="rect">
            <a:avLst/>
          </a:prstGeom>
          <a:noFill/>
        </p:spPr>
        <p:txBody>
          <a:bodyPr wrap="none" rtlCol="0" anchor="ctr" anchorCtr="1">
            <a:spAutoFit/>
          </a:bodyPr>
          <a:lstStyle/>
          <a:p>
            <a:r>
              <a:rPr lang="en-US" dirty="0">
                <a:ea typeface="標楷體" pitchFamily="65" charset="-120"/>
                <a:cs typeface="Calibri" pitchFamily="34" charset="0"/>
              </a:rPr>
              <a:t>Array</a:t>
            </a:r>
          </a:p>
        </p:txBody>
      </p:sp>
      <p:sp>
        <p:nvSpPr>
          <p:cNvPr id="39" name="TextBox 38">
            <a:extLst>
              <a:ext uri="{FF2B5EF4-FFF2-40B4-BE49-F238E27FC236}">
                <a16:creationId xmlns:a16="http://schemas.microsoft.com/office/drawing/2014/main" id="{E991A9CE-2510-4AE6-8627-72EE0ED878A5}"/>
              </a:ext>
            </a:extLst>
          </p:cNvPr>
          <p:cNvSpPr txBox="1"/>
          <p:nvPr/>
        </p:nvSpPr>
        <p:spPr>
          <a:xfrm>
            <a:off x="707601" y="4993922"/>
            <a:ext cx="787395" cy="369332"/>
          </a:xfrm>
          <a:prstGeom prst="rect">
            <a:avLst/>
          </a:prstGeom>
          <a:noFill/>
        </p:spPr>
        <p:txBody>
          <a:bodyPr wrap="none" rtlCol="0" anchor="ctr" anchorCtr="1">
            <a:spAutoFit/>
          </a:bodyPr>
          <a:lstStyle/>
          <a:p>
            <a:r>
              <a:rPr lang="en-US" dirty="0">
                <a:ea typeface="標楷體" pitchFamily="65" charset="-120"/>
                <a:cs typeface="Calibri" pitchFamily="34" charset="0"/>
              </a:rPr>
              <a:t>Struct</a:t>
            </a:r>
          </a:p>
        </p:txBody>
      </p:sp>
      <p:sp>
        <p:nvSpPr>
          <p:cNvPr id="40" name="TextBox 39">
            <a:extLst>
              <a:ext uri="{FF2B5EF4-FFF2-40B4-BE49-F238E27FC236}">
                <a16:creationId xmlns:a16="http://schemas.microsoft.com/office/drawing/2014/main" id="{43C9CCD5-9E2F-4037-AA7E-E2BD6D6F7268}"/>
              </a:ext>
            </a:extLst>
          </p:cNvPr>
          <p:cNvSpPr txBox="1"/>
          <p:nvPr/>
        </p:nvSpPr>
        <p:spPr>
          <a:xfrm>
            <a:off x="1856813" y="5048441"/>
            <a:ext cx="334009" cy="369332"/>
          </a:xfrm>
          <a:prstGeom prst="rect">
            <a:avLst/>
          </a:prstGeom>
          <a:solidFill>
            <a:schemeClr val="accent3"/>
          </a:solidFill>
        </p:spPr>
        <p:txBody>
          <a:bodyPr wrap="square" rtlCol="0" anchor="ctr" anchorCtr="1">
            <a:spAutoFit/>
          </a:bodyPr>
          <a:lstStyle/>
          <a:p>
            <a:endParaRPr lang="en-US" dirty="0">
              <a:ea typeface="標楷體" pitchFamily="65" charset="-120"/>
              <a:cs typeface="Calibri" pitchFamily="34" charset="0"/>
            </a:endParaRPr>
          </a:p>
        </p:txBody>
      </p:sp>
      <p:sp>
        <p:nvSpPr>
          <p:cNvPr id="41" name="TextBox 40">
            <a:extLst>
              <a:ext uri="{FF2B5EF4-FFF2-40B4-BE49-F238E27FC236}">
                <a16:creationId xmlns:a16="http://schemas.microsoft.com/office/drawing/2014/main" id="{CA681D65-325B-4D56-AED3-87BAD0BA8833}"/>
              </a:ext>
            </a:extLst>
          </p:cNvPr>
          <p:cNvSpPr txBox="1"/>
          <p:nvPr/>
        </p:nvSpPr>
        <p:spPr>
          <a:xfrm>
            <a:off x="2204726" y="5050642"/>
            <a:ext cx="890722" cy="369332"/>
          </a:xfrm>
          <a:prstGeom prst="rect">
            <a:avLst/>
          </a:prstGeom>
          <a:solidFill>
            <a:schemeClr val="accent3"/>
          </a:solidFill>
        </p:spPr>
        <p:txBody>
          <a:bodyPr wrap="square" rtlCol="0" anchor="ctr" anchorCtr="1">
            <a:spAutoFit/>
          </a:bodyPr>
          <a:lstStyle/>
          <a:p>
            <a:endParaRPr lang="en-US" dirty="0">
              <a:ea typeface="標楷體" pitchFamily="65" charset="-120"/>
              <a:cs typeface="Calibri" pitchFamily="34" charset="0"/>
            </a:endParaRPr>
          </a:p>
        </p:txBody>
      </p:sp>
      <p:sp>
        <p:nvSpPr>
          <p:cNvPr id="42" name="TextBox 41">
            <a:extLst>
              <a:ext uri="{FF2B5EF4-FFF2-40B4-BE49-F238E27FC236}">
                <a16:creationId xmlns:a16="http://schemas.microsoft.com/office/drawing/2014/main" id="{05B02C76-9C3A-4D08-9105-D78B84D5926D}"/>
              </a:ext>
            </a:extLst>
          </p:cNvPr>
          <p:cNvSpPr txBox="1"/>
          <p:nvPr/>
        </p:nvSpPr>
        <p:spPr>
          <a:xfrm>
            <a:off x="3109352" y="5048441"/>
            <a:ext cx="334009" cy="369332"/>
          </a:xfrm>
          <a:prstGeom prst="rect">
            <a:avLst/>
          </a:prstGeom>
          <a:solidFill>
            <a:schemeClr val="accent3"/>
          </a:solidFill>
        </p:spPr>
        <p:txBody>
          <a:bodyPr wrap="square" rtlCol="0" anchor="ctr" anchorCtr="1">
            <a:spAutoFit/>
          </a:bodyPr>
          <a:lstStyle/>
          <a:p>
            <a:endParaRPr lang="en-US" dirty="0">
              <a:ea typeface="標楷體" pitchFamily="65" charset="-120"/>
              <a:cs typeface="Calibri" pitchFamily="34" charset="0"/>
            </a:endParaRPr>
          </a:p>
        </p:txBody>
      </p:sp>
      <p:sp>
        <p:nvSpPr>
          <p:cNvPr id="43" name="TextBox 42">
            <a:extLst>
              <a:ext uri="{FF2B5EF4-FFF2-40B4-BE49-F238E27FC236}">
                <a16:creationId xmlns:a16="http://schemas.microsoft.com/office/drawing/2014/main" id="{E7B4393B-EEAF-4F8E-94AA-5C48594ECADA}"/>
              </a:ext>
            </a:extLst>
          </p:cNvPr>
          <p:cNvSpPr txBox="1"/>
          <p:nvPr/>
        </p:nvSpPr>
        <p:spPr>
          <a:xfrm>
            <a:off x="3470999" y="5048441"/>
            <a:ext cx="1405873" cy="369332"/>
          </a:xfrm>
          <a:prstGeom prst="rect">
            <a:avLst/>
          </a:prstGeom>
          <a:solidFill>
            <a:schemeClr val="accent3"/>
          </a:solidFill>
        </p:spPr>
        <p:txBody>
          <a:bodyPr wrap="square" rtlCol="0" anchor="ctr" anchorCtr="1">
            <a:spAutoFit/>
          </a:bodyPr>
          <a:lstStyle/>
          <a:p>
            <a:endParaRPr lang="en-US" dirty="0">
              <a:ea typeface="標楷體" pitchFamily="65" charset="-120"/>
              <a:cs typeface="Calibri" pitchFamily="34" charset="0"/>
            </a:endParaRPr>
          </a:p>
        </p:txBody>
      </p:sp>
      <p:sp>
        <p:nvSpPr>
          <p:cNvPr id="44" name="TextBox 43">
            <a:extLst>
              <a:ext uri="{FF2B5EF4-FFF2-40B4-BE49-F238E27FC236}">
                <a16:creationId xmlns:a16="http://schemas.microsoft.com/office/drawing/2014/main" id="{DCA24E1E-ADA5-42AD-9F16-0286E9E83746}"/>
              </a:ext>
            </a:extLst>
          </p:cNvPr>
          <p:cNvSpPr txBox="1"/>
          <p:nvPr/>
        </p:nvSpPr>
        <p:spPr>
          <a:xfrm>
            <a:off x="4904510" y="5048441"/>
            <a:ext cx="334009" cy="369332"/>
          </a:xfrm>
          <a:prstGeom prst="rect">
            <a:avLst/>
          </a:prstGeom>
          <a:solidFill>
            <a:schemeClr val="accent3"/>
          </a:solidFill>
        </p:spPr>
        <p:txBody>
          <a:bodyPr wrap="square" rtlCol="0" anchor="ctr" anchorCtr="1">
            <a:spAutoFit/>
          </a:bodyPr>
          <a:lstStyle/>
          <a:p>
            <a:endParaRPr lang="en-US" dirty="0">
              <a:ea typeface="標楷體" pitchFamily="65" charset="-120"/>
              <a:cs typeface="Calibri" pitchFamily="34" charset="0"/>
            </a:endParaRPr>
          </a:p>
        </p:txBody>
      </p:sp>
      <p:sp>
        <p:nvSpPr>
          <p:cNvPr id="45" name="TextBox 44">
            <a:extLst>
              <a:ext uri="{FF2B5EF4-FFF2-40B4-BE49-F238E27FC236}">
                <a16:creationId xmlns:a16="http://schemas.microsoft.com/office/drawing/2014/main" id="{9828EFF0-6926-481B-B0A9-29F44E676412}"/>
              </a:ext>
            </a:extLst>
          </p:cNvPr>
          <p:cNvSpPr txBox="1"/>
          <p:nvPr/>
        </p:nvSpPr>
        <p:spPr>
          <a:xfrm>
            <a:off x="288266" y="5598476"/>
            <a:ext cx="1210588" cy="369332"/>
          </a:xfrm>
          <a:prstGeom prst="rect">
            <a:avLst/>
          </a:prstGeom>
          <a:noFill/>
        </p:spPr>
        <p:txBody>
          <a:bodyPr wrap="none" rtlCol="0" anchor="ctr" anchorCtr="1">
            <a:spAutoFit/>
          </a:bodyPr>
          <a:lstStyle/>
          <a:p>
            <a:r>
              <a:rPr lang="en-US" dirty="0">
                <a:ea typeface="標楷體" pitchFamily="65" charset="-120"/>
                <a:cs typeface="Calibri" pitchFamily="34" charset="0"/>
              </a:rPr>
              <a:t>Linked list</a:t>
            </a:r>
          </a:p>
        </p:txBody>
      </p:sp>
      <p:sp>
        <p:nvSpPr>
          <p:cNvPr id="46" name="TextBox 45">
            <a:extLst>
              <a:ext uri="{FF2B5EF4-FFF2-40B4-BE49-F238E27FC236}">
                <a16:creationId xmlns:a16="http://schemas.microsoft.com/office/drawing/2014/main" id="{E7479B2F-4BEA-4F31-875E-CC21F661B5C0}"/>
              </a:ext>
            </a:extLst>
          </p:cNvPr>
          <p:cNvSpPr txBox="1"/>
          <p:nvPr/>
        </p:nvSpPr>
        <p:spPr>
          <a:xfrm>
            <a:off x="1856813" y="5685327"/>
            <a:ext cx="334009" cy="369332"/>
          </a:xfrm>
          <a:prstGeom prst="rect">
            <a:avLst/>
          </a:prstGeom>
          <a:solidFill>
            <a:schemeClr val="accent2"/>
          </a:solidFill>
        </p:spPr>
        <p:txBody>
          <a:bodyPr wrap="square" rtlCol="0" anchor="ctr" anchorCtr="1">
            <a:spAutoFit/>
          </a:bodyPr>
          <a:lstStyle/>
          <a:p>
            <a:endParaRPr lang="en-US" dirty="0">
              <a:ea typeface="標楷體" pitchFamily="65" charset="-120"/>
              <a:cs typeface="Calibri" pitchFamily="34" charset="0"/>
            </a:endParaRPr>
          </a:p>
        </p:txBody>
      </p:sp>
      <p:cxnSp>
        <p:nvCxnSpPr>
          <p:cNvPr id="48" name="Straight Arrow Connector 47">
            <a:extLst>
              <a:ext uri="{FF2B5EF4-FFF2-40B4-BE49-F238E27FC236}">
                <a16:creationId xmlns:a16="http://schemas.microsoft.com/office/drawing/2014/main" id="{3BC4F080-7197-4AF3-B01C-19E7EB6D4086}"/>
              </a:ext>
            </a:extLst>
          </p:cNvPr>
          <p:cNvCxnSpPr>
            <a:stCxn id="46" idx="3"/>
          </p:cNvCxnSpPr>
          <p:nvPr/>
        </p:nvCxnSpPr>
        <p:spPr bwMode="auto">
          <a:xfrm flipV="1">
            <a:off x="2190822" y="5858141"/>
            <a:ext cx="276153" cy="11852"/>
          </a:xfrm>
          <a:prstGeom prst="straightConnector1">
            <a:avLst/>
          </a:prstGeom>
          <a:noFill/>
          <a:ln w="15875" cap="flat" cmpd="sng" algn="ctr">
            <a:solidFill>
              <a:srgbClr val="FF0000"/>
            </a:solidFill>
            <a:prstDash val="solid"/>
            <a:round/>
            <a:headEnd type="none" w="med" len="med"/>
            <a:tailEnd type="triangle"/>
          </a:ln>
          <a:effectLst/>
        </p:spPr>
      </p:cxnSp>
      <p:sp>
        <p:nvSpPr>
          <p:cNvPr id="49" name="TextBox 48">
            <a:extLst>
              <a:ext uri="{FF2B5EF4-FFF2-40B4-BE49-F238E27FC236}">
                <a16:creationId xmlns:a16="http://schemas.microsoft.com/office/drawing/2014/main" id="{312C157D-AA99-4AE4-960D-3BAE7120BAF0}"/>
              </a:ext>
            </a:extLst>
          </p:cNvPr>
          <p:cNvSpPr txBox="1"/>
          <p:nvPr/>
        </p:nvSpPr>
        <p:spPr>
          <a:xfrm>
            <a:off x="2466975" y="5685327"/>
            <a:ext cx="334009" cy="369332"/>
          </a:xfrm>
          <a:prstGeom prst="rect">
            <a:avLst/>
          </a:prstGeom>
          <a:solidFill>
            <a:schemeClr val="accent2"/>
          </a:solidFill>
        </p:spPr>
        <p:txBody>
          <a:bodyPr wrap="square" rtlCol="0" anchor="ctr" anchorCtr="1">
            <a:spAutoFit/>
          </a:bodyPr>
          <a:lstStyle/>
          <a:p>
            <a:endParaRPr lang="en-US" dirty="0">
              <a:ea typeface="標楷體" pitchFamily="65" charset="-120"/>
              <a:cs typeface="Calibri" pitchFamily="34" charset="0"/>
            </a:endParaRPr>
          </a:p>
        </p:txBody>
      </p:sp>
      <p:cxnSp>
        <p:nvCxnSpPr>
          <p:cNvPr id="50" name="Straight Arrow Connector 49">
            <a:extLst>
              <a:ext uri="{FF2B5EF4-FFF2-40B4-BE49-F238E27FC236}">
                <a16:creationId xmlns:a16="http://schemas.microsoft.com/office/drawing/2014/main" id="{C51B1485-518F-402C-A135-B875E3D2EA57}"/>
              </a:ext>
            </a:extLst>
          </p:cNvPr>
          <p:cNvCxnSpPr>
            <a:stCxn id="49" idx="3"/>
          </p:cNvCxnSpPr>
          <p:nvPr/>
        </p:nvCxnSpPr>
        <p:spPr bwMode="auto">
          <a:xfrm flipV="1">
            <a:off x="2800984" y="5858141"/>
            <a:ext cx="276153" cy="11852"/>
          </a:xfrm>
          <a:prstGeom prst="straightConnector1">
            <a:avLst/>
          </a:prstGeom>
          <a:noFill/>
          <a:ln w="15875" cap="flat" cmpd="sng" algn="ctr">
            <a:solidFill>
              <a:srgbClr val="FF0000"/>
            </a:solidFill>
            <a:prstDash val="solid"/>
            <a:round/>
            <a:headEnd type="none" w="med" len="med"/>
            <a:tailEnd type="triangle"/>
          </a:ln>
          <a:effectLst/>
        </p:spPr>
      </p:cxnSp>
      <p:sp>
        <p:nvSpPr>
          <p:cNvPr id="51" name="TextBox 50">
            <a:extLst>
              <a:ext uri="{FF2B5EF4-FFF2-40B4-BE49-F238E27FC236}">
                <a16:creationId xmlns:a16="http://schemas.microsoft.com/office/drawing/2014/main" id="{6769F55E-AEA8-4DF9-94CB-066B49242783}"/>
              </a:ext>
            </a:extLst>
          </p:cNvPr>
          <p:cNvSpPr txBox="1"/>
          <p:nvPr/>
        </p:nvSpPr>
        <p:spPr>
          <a:xfrm>
            <a:off x="3077915" y="5673475"/>
            <a:ext cx="334009" cy="369332"/>
          </a:xfrm>
          <a:prstGeom prst="rect">
            <a:avLst/>
          </a:prstGeom>
          <a:solidFill>
            <a:schemeClr val="accent2"/>
          </a:solidFill>
        </p:spPr>
        <p:txBody>
          <a:bodyPr wrap="square" rtlCol="0" anchor="ctr" anchorCtr="1">
            <a:spAutoFit/>
          </a:bodyPr>
          <a:lstStyle/>
          <a:p>
            <a:endParaRPr lang="en-US" dirty="0">
              <a:ea typeface="標楷體" pitchFamily="65" charset="-120"/>
              <a:cs typeface="Calibri" pitchFamily="34" charset="0"/>
            </a:endParaRPr>
          </a:p>
        </p:txBody>
      </p:sp>
      <p:cxnSp>
        <p:nvCxnSpPr>
          <p:cNvPr id="52" name="Straight Arrow Connector 51">
            <a:extLst>
              <a:ext uri="{FF2B5EF4-FFF2-40B4-BE49-F238E27FC236}">
                <a16:creationId xmlns:a16="http://schemas.microsoft.com/office/drawing/2014/main" id="{F9C87579-514A-44EA-B725-52C08AFC64DB}"/>
              </a:ext>
            </a:extLst>
          </p:cNvPr>
          <p:cNvCxnSpPr>
            <a:stCxn id="51" idx="3"/>
          </p:cNvCxnSpPr>
          <p:nvPr/>
        </p:nvCxnSpPr>
        <p:spPr bwMode="auto">
          <a:xfrm flipV="1">
            <a:off x="3411924" y="5846289"/>
            <a:ext cx="276153" cy="11852"/>
          </a:xfrm>
          <a:prstGeom prst="straightConnector1">
            <a:avLst/>
          </a:prstGeom>
          <a:noFill/>
          <a:ln w="15875" cap="flat" cmpd="sng" algn="ctr">
            <a:solidFill>
              <a:srgbClr val="FF0000"/>
            </a:solidFill>
            <a:prstDash val="solid"/>
            <a:round/>
            <a:headEnd type="none" w="med" len="med"/>
            <a:tailEnd type="triangle"/>
          </a:ln>
          <a:effectLst/>
        </p:spPr>
      </p:cxnSp>
      <p:sp>
        <p:nvSpPr>
          <p:cNvPr id="53" name="TextBox 52">
            <a:extLst>
              <a:ext uri="{FF2B5EF4-FFF2-40B4-BE49-F238E27FC236}">
                <a16:creationId xmlns:a16="http://schemas.microsoft.com/office/drawing/2014/main" id="{5E0C5829-EA32-4744-91D8-EF5CE738C269}"/>
              </a:ext>
            </a:extLst>
          </p:cNvPr>
          <p:cNvSpPr txBox="1"/>
          <p:nvPr/>
        </p:nvSpPr>
        <p:spPr>
          <a:xfrm>
            <a:off x="3688077" y="5661623"/>
            <a:ext cx="334009" cy="369332"/>
          </a:xfrm>
          <a:prstGeom prst="rect">
            <a:avLst/>
          </a:prstGeom>
          <a:solidFill>
            <a:schemeClr val="accent2"/>
          </a:solidFill>
        </p:spPr>
        <p:txBody>
          <a:bodyPr wrap="square" rtlCol="0" anchor="ctr" anchorCtr="1">
            <a:spAutoFit/>
          </a:bodyPr>
          <a:lstStyle/>
          <a:p>
            <a:endParaRPr lang="en-US" dirty="0">
              <a:ea typeface="標楷體" pitchFamily="65" charset="-120"/>
              <a:cs typeface="Calibri" pitchFamily="34" charset="0"/>
            </a:endParaRPr>
          </a:p>
        </p:txBody>
      </p:sp>
      <p:cxnSp>
        <p:nvCxnSpPr>
          <p:cNvPr id="54" name="Straight Arrow Connector 53">
            <a:extLst>
              <a:ext uri="{FF2B5EF4-FFF2-40B4-BE49-F238E27FC236}">
                <a16:creationId xmlns:a16="http://schemas.microsoft.com/office/drawing/2014/main" id="{99776F98-8D8C-425A-81FE-0437806E3BDF}"/>
              </a:ext>
            </a:extLst>
          </p:cNvPr>
          <p:cNvCxnSpPr>
            <a:stCxn id="53" idx="3"/>
          </p:cNvCxnSpPr>
          <p:nvPr/>
        </p:nvCxnSpPr>
        <p:spPr bwMode="auto">
          <a:xfrm flipV="1">
            <a:off x="4022086" y="5834437"/>
            <a:ext cx="276153" cy="11852"/>
          </a:xfrm>
          <a:prstGeom prst="straightConnector1">
            <a:avLst/>
          </a:prstGeom>
          <a:noFill/>
          <a:ln w="15875" cap="flat" cmpd="sng" algn="ctr">
            <a:solidFill>
              <a:srgbClr val="FF0000"/>
            </a:solidFill>
            <a:prstDash val="solid"/>
            <a:round/>
            <a:headEnd type="none" w="med" len="med"/>
            <a:tailEnd type="triangle"/>
          </a:ln>
          <a:effectLst/>
        </p:spPr>
      </p:cxnSp>
      <p:sp>
        <p:nvSpPr>
          <p:cNvPr id="55" name="TextBox 54">
            <a:extLst>
              <a:ext uri="{FF2B5EF4-FFF2-40B4-BE49-F238E27FC236}">
                <a16:creationId xmlns:a16="http://schemas.microsoft.com/office/drawing/2014/main" id="{60867B3D-EB70-48B0-8B0E-C29B4FB19AFB}"/>
              </a:ext>
            </a:extLst>
          </p:cNvPr>
          <p:cNvSpPr txBox="1"/>
          <p:nvPr/>
        </p:nvSpPr>
        <p:spPr>
          <a:xfrm>
            <a:off x="4298239" y="5661623"/>
            <a:ext cx="334009" cy="369332"/>
          </a:xfrm>
          <a:prstGeom prst="rect">
            <a:avLst/>
          </a:prstGeom>
          <a:solidFill>
            <a:schemeClr val="accent2"/>
          </a:solidFill>
        </p:spPr>
        <p:txBody>
          <a:bodyPr wrap="square" rtlCol="0" anchor="ctr" anchorCtr="1">
            <a:spAutoFit/>
          </a:bodyPr>
          <a:lstStyle/>
          <a:p>
            <a:endParaRPr lang="en-US" dirty="0">
              <a:ea typeface="標楷體" pitchFamily="65" charset="-120"/>
              <a:cs typeface="Calibri" pitchFamily="34" charset="0"/>
            </a:endParaRPr>
          </a:p>
        </p:txBody>
      </p:sp>
      <p:cxnSp>
        <p:nvCxnSpPr>
          <p:cNvPr id="56" name="Straight Arrow Connector 55">
            <a:extLst>
              <a:ext uri="{FF2B5EF4-FFF2-40B4-BE49-F238E27FC236}">
                <a16:creationId xmlns:a16="http://schemas.microsoft.com/office/drawing/2014/main" id="{EE062063-6065-4C23-963F-29087B43044B}"/>
              </a:ext>
            </a:extLst>
          </p:cNvPr>
          <p:cNvCxnSpPr>
            <a:stCxn id="55" idx="3"/>
          </p:cNvCxnSpPr>
          <p:nvPr/>
        </p:nvCxnSpPr>
        <p:spPr bwMode="auto">
          <a:xfrm flipV="1">
            <a:off x="4632248" y="5834437"/>
            <a:ext cx="276153" cy="11852"/>
          </a:xfrm>
          <a:prstGeom prst="straightConnector1">
            <a:avLst/>
          </a:prstGeom>
          <a:noFill/>
          <a:ln w="15875" cap="flat" cmpd="sng" algn="ctr">
            <a:solidFill>
              <a:srgbClr val="FF0000"/>
            </a:solidFill>
            <a:prstDash val="solid"/>
            <a:round/>
            <a:headEnd type="none" w="med" len="med"/>
            <a:tailEnd type="triangle"/>
          </a:ln>
          <a:effectLst/>
        </p:spPr>
      </p:cxnSp>
      <p:sp>
        <p:nvSpPr>
          <p:cNvPr id="57" name="TextBox 56">
            <a:extLst>
              <a:ext uri="{FF2B5EF4-FFF2-40B4-BE49-F238E27FC236}">
                <a16:creationId xmlns:a16="http://schemas.microsoft.com/office/drawing/2014/main" id="{2FF88CC8-45D3-4824-9A6F-42055928E461}"/>
              </a:ext>
            </a:extLst>
          </p:cNvPr>
          <p:cNvSpPr txBox="1"/>
          <p:nvPr/>
        </p:nvSpPr>
        <p:spPr>
          <a:xfrm>
            <a:off x="4909179" y="5649771"/>
            <a:ext cx="334009" cy="369332"/>
          </a:xfrm>
          <a:prstGeom prst="rect">
            <a:avLst/>
          </a:prstGeom>
          <a:solidFill>
            <a:schemeClr val="accent2"/>
          </a:solidFill>
        </p:spPr>
        <p:txBody>
          <a:bodyPr wrap="square" rtlCol="0" anchor="ctr" anchorCtr="1">
            <a:spAutoFit/>
          </a:bodyPr>
          <a:lstStyle/>
          <a:p>
            <a:endParaRPr lang="en-US" dirty="0">
              <a:ea typeface="標楷體" pitchFamily="65" charset="-120"/>
              <a:cs typeface="Calibri" pitchFamily="34" charset="0"/>
            </a:endParaRPr>
          </a:p>
        </p:txBody>
      </p:sp>
      <p:cxnSp>
        <p:nvCxnSpPr>
          <p:cNvPr id="58" name="Straight Arrow Connector 57">
            <a:extLst>
              <a:ext uri="{FF2B5EF4-FFF2-40B4-BE49-F238E27FC236}">
                <a16:creationId xmlns:a16="http://schemas.microsoft.com/office/drawing/2014/main" id="{CE6E43FB-C528-4829-9D56-A2E2F3B253AC}"/>
              </a:ext>
            </a:extLst>
          </p:cNvPr>
          <p:cNvCxnSpPr>
            <a:stCxn id="57" idx="3"/>
          </p:cNvCxnSpPr>
          <p:nvPr/>
        </p:nvCxnSpPr>
        <p:spPr bwMode="auto">
          <a:xfrm flipV="1">
            <a:off x="5243188" y="5822585"/>
            <a:ext cx="276153" cy="11852"/>
          </a:xfrm>
          <a:prstGeom prst="straightConnector1">
            <a:avLst/>
          </a:prstGeom>
          <a:noFill/>
          <a:ln w="15875" cap="flat" cmpd="sng" algn="ctr">
            <a:solidFill>
              <a:srgbClr val="FF0000"/>
            </a:solidFill>
            <a:prstDash val="solid"/>
            <a:round/>
            <a:headEnd type="none" w="med" len="med"/>
            <a:tailEnd type="triangle"/>
          </a:ln>
          <a:effectLst/>
        </p:spPr>
      </p:cxnSp>
      <p:sp>
        <p:nvSpPr>
          <p:cNvPr id="47" name="TextBox 46">
            <a:extLst>
              <a:ext uri="{FF2B5EF4-FFF2-40B4-BE49-F238E27FC236}">
                <a16:creationId xmlns:a16="http://schemas.microsoft.com/office/drawing/2014/main" id="{699F4AE8-76BF-4372-871F-E6CAAC5F60B4}"/>
              </a:ext>
            </a:extLst>
          </p:cNvPr>
          <p:cNvSpPr txBox="1"/>
          <p:nvPr/>
        </p:nvSpPr>
        <p:spPr>
          <a:xfrm>
            <a:off x="5870575" y="4371423"/>
            <a:ext cx="5237301" cy="461665"/>
          </a:xfrm>
          <a:prstGeom prst="rect">
            <a:avLst/>
          </a:prstGeom>
          <a:solidFill>
            <a:srgbClr val="FFFF00"/>
          </a:solidFill>
          <a:ln>
            <a:solidFill>
              <a:srgbClr val="FF0000"/>
            </a:solidFill>
          </a:ln>
        </p:spPr>
        <p:txBody>
          <a:bodyPr wrap="square" rtlCol="0" anchor="ctr" anchorCtr="1">
            <a:spAutoFit/>
          </a:bodyPr>
          <a:lstStyle/>
          <a:p>
            <a:r>
              <a:rPr lang="en-US" sz="2400" dirty="0">
                <a:ea typeface="標楷體" pitchFamily="65" charset="-120"/>
                <a:cs typeface="Calibri" panose="020F0502020204030204" pitchFamily="34" charset="0"/>
              </a:rPr>
              <a:t>A[0] </a:t>
            </a:r>
            <a:r>
              <a:rPr lang="en-US" sz="2400" dirty="0">
                <a:ea typeface="標楷體" pitchFamily="65" charset="-120"/>
                <a:cs typeface="Calibri" panose="020F0502020204030204" pitchFamily="34" charset="0"/>
                <a:sym typeface="Wingdings" panose="05000000000000000000" pitchFamily="2" charset="2"/>
              </a:rPr>
              <a:t> 0(X1); A[1]  4(X1), …</a:t>
            </a:r>
            <a:endParaRPr lang="en-US" sz="2400" dirty="0">
              <a:ea typeface="標楷體" pitchFamily="65" charset="-120"/>
              <a:cs typeface="Calibri" panose="020F0502020204030204" pitchFamily="34" charset="0"/>
            </a:endParaRPr>
          </a:p>
        </p:txBody>
      </p:sp>
      <p:sp>
        <p:nvSpPr>
          <p:cNvPr id="59" name="TextBox 58">
            <a:extLst>
              <a:ext uri="{FF2B5EF4-FFF2-40B4-BE49-F238E27FC236}">
                <a16:creationId xmlns:a16="http://schemas.microsoft.com/office/drawing/2014/main" id="{0754D613-A11D-4D28-B58E-B621E91726DA}"/>
              </a:ext>
            </a:extLst>
          </p:cNvPr>
          <p:cNvSpPr txBox="1"/>
          <p:nvPr/>
        </p:nvSpPr>
        <p:spPr>
          <a:xfrm>
            <a:off x="5877300" y="5010138"/>
            <a:ext cx="5237301" cy="1200329"/>
          </a:xfrm>
          <a:prstGeom prst="rect">
            <a:avLst/>
          </a:prstGeom>
          <a:solidFill>
            <a:srgbClr val="FFFF00"/>
          </a:solidFill>
          <a:ln>
            <a:solidFill>
              <a:srgbClr val="FF0000"/>
            </a:solidFill>
          </a:ln>
        </p:spPr>
        <p:txBody>
          <a:bodyPr wrap="square" rtlCol="0" anchor="ctr" anchorCtr="1">
            <a:spAutoFit/>
          </a:bodyPr>
          <a:lstStyle/>
          <a:p>
            <a:r>
              <a:rPr lang="en-US" sz="2400" dirty="0">
                <a:ea typeface="標楷體" pitchFamily="65" charset="-120"/>
                <a:cs typeface="Calibri" panose="020F0502020204030204" pitchFamily="34" charset="0"/>
              </a:rPr>
              <a:t>A[</a:t>
            </a:r>
            <a:r>
              <a:rPr lang="en-US" sz="2400" dirty="0" err="1">
                <a:ea typeface="標楷體" pitchFamily="65" charset="-120"/>
                <a:cs typeface="Calibri" panose="020F0502020204030204" pitchFamily="34" charset="0"/>
              </a:rPr>
              <a:t>i</a:t>
            </a:r>
            <a:r>
              <a:rPr lang="en-US" sz="2400" dirty="0">
                <a:ea typeface="標楷體" pitchFamily="65" charset="-120"/>
                <a:cs typeface="Calibri" panose="020F0502020204030204" pitchFamily="34" charset="0"/>
              </a:rPr>
              <a:t>] </a:t>
            </a:r>
            <a:r>
              <a:rPr lang="en-US" sz="2400" dirty="0">
                <a:ea typeface="標楷體" pitchFamily="65" charset="-120"/>
                <a:cs typeface="Calibri" panose="020F0502020204030204" pitchFamily="34" charset="0"/>
                <a:sym typeface="Wingdings" panose="05000000000000000000" pitchFamily="2" charset="2"/>
              </a:rPr>
              <a:t> t = </a:t>
            </a:r>
            <a:r>
              <a:rPr lang="en-US" sz="2400" dirty="0" err="1">
                <a:ea typeface="標楷體" pitchFamily="65" charset="-120"/>
                <a:cs typeface="Calibri" panose="020F0502020204030204" pitchFamily="34" charset="0"/>
                <a:sym typeface="Wingdings" panose="05000000000000000000" pitchFamily="2" charset="2"/>
              </a:rPr>
              <a:t>i</a:t>
            </a:r>
            <a:r>
              <a:rPr lang="en-US" sz="2400" dirty="0">
                <a:ea typeface="標楷體" pitchFamily="65" charset="-120"/>
                <a:cs typeface="Calibri" panose="020F0502020204030204" pitchFamily="34" charset="0"/>
                <a:sym typeface="Wingdings" panose="05000000000000000000" pitchFamily="2" charset="2"/>
              </a:rPr>
              <a:t> &lt;&lt; 2; </a:t>
            </a:r>
          </a:p>
          <a:p>
            <a:r>
              <a:rPr lang="en-US" sz="2400" dirty="0">
                <a:ea typeface="標楷體" pitchFamily="65" charset="-120"/>
                <a:cs typeface="Calibri" panose="020F0502020204030204" pitchFamily="34" charset="0"/>
                <a:sym typeface="Wingdings" panose="05000000000000000000" pitchFamily="2" charset="2"/>
              </a:rPr>
              <a:t>	ADD X1, X1, t; </a:t>
            </a:r>
          </a:p>
          <a:p>
            <a:r>
              <a:rPr lang="en-US" sz="2400" dirty="0">
                <a:ea typeface="標楷體" pitchFamily="65" charset="-120"/>
                <a:cs typeface="Calibri" panose="020F0502020204030204" pitchFamily="34" charset="0"/>
                <a:sym typeface="Wingdings" panose="05000000000000000000" pitchFamily="2" charset="2"/>
              </a:rPr>
              <a:t>	LW X2, 0(X1)</a:t>
            </a:r>
            <a:endParaRPr lang="en-US" sz="2400" dirty="0">
              <a:ea typeface="標楷體" pitchFamily="65" charset="-120"/>
              <a:cs typeface="Calibri" panose="020F0502020204030204" pitchFamily="34" charset="0"/>
            </a:endParaRPr>
          </a:p>
        </p:txBody>
      </p:sp>
    </p:spTree>
    <p:extLst>
      <p:ext uri="{BB962C8B-B14F-4D97-AF65-F5344CB8AC3E}">
        <p14:creationId xmlns:p14="http://schemas.microsoft.com/office/powerpoint/2010/main" val="833795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5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3601" y="36837"/>
            <a:ext cx="8124967" cy="809971"/>
          </a:xfrm>
        </p:spPr>
        <p:txBody>
          <a:bodyPr/>
          <a:lstStyle/>
          <a:p>
            <a:r>
              <a:rPr lang="en-US" dirty="0"/>
              <a:t>Load Instructions (I)</a:t>
            </a:r>
          </a:p>
        </p:txBody>
      </p:sp>
      <p:sp>
        <p:nvSpPr>
          <p:cNvPr id="3" name="Content Placeholder 2"/>
          <p:cNvSpPr>
            <a:spLocks noGrp="1"/>
          </p:cNvSpPr>
          <p:nvPr>
            <p:ph idx="1"/>
          </p:nvPr>
        </p:nvSpPr>
        <p:spPr>
          <a:xfrm>
            <a:off x="1804867" y="1210433"/>
            <a:ext cx="7772400" cy="4114800"/>
          </a:xfrm>
        </p:spPr>
        <p:txBody>
          <a:bodyPr/>
          <a:lstStyle/>
          <a:p>
            <a:r>
              <a:rPr lang="en-US" sz="2400" dirty="0"/>
              <a:t>Load (I-type)</a:t>
            </a:r>
          </a:p>
          <a:p>
            <a:pPr lvl="1"/>
            <a:endParaRPr lang="en-US" sz="2000" b="1" dirty="0"/>
          </a:p>
          <a:p>
            <a:pPr lvl="1"/>
            <a:endParaRPr lang="en-US" sz="2000" dirty="0"/>
          </a:p>
          <a:p>
            <a:pPr lvl="1"/>
            <a:r>
              <a:rPr lang="en-US" sz="2000" dirty="0"/>
              <a:t>opcode = LOAD: </a:t>
            </a:r>
            <a:r>
              <a:rPr lang="en-US" sz="2000" dirty="0" err="1">
                <a:solidFill>
                  <a:srgbClr val="56127A"/>
                </a:solidFill>
              </a:rPr>
              <a:t>rd</a:t>
            </a:r>
            <a:r>
              <a:rPr lang="en-US" sz="2000" dirty="0">
                <a:solidFill>
                  <a:srgbClr val="56127A"/>
                </a:solidFill>
              </a:rPr>
              <a:t> </a:t>
            </a:r>
            <a:r>
              <a:rPr lang="en-US" sz="2000" dirty="0">
                <a:solidFill>
                  <a:srgbClr val="56127A"/>
                </a:solidFill>
                <a:sym typeface="Wingdings" panose="05000000000000000000" pitchFamily="2" charset="2"/>
              </a:rPr>
              <a:t> mem[rs1 + I-</a:t>
            </a:r>
            <a:r>
              <a:rPr lang="en-US" sz="2000" dirty="0" err="1">
                <a:solidFill>
                  <a:srgbClr val="56127A"/>
                </a:solidFill>
                <a:sym typeface="Wingdings" panose="05000000000000000000" pitchFamily="2" charset="2"/>
              </a:rPr>
              <a:t>imm</a:t>
            </a:r>
            <a:r>
              <a:rPr lang="en-US" sz="2000" dirty="0">
                <a:solidFill>
                  <a:srgbClr val="56127A"/>
                </a:solidFill>
                <a:sym typeface="Wingdings" panose="05000000000000000000" pitchFamily="2" charset="2"/>
              </a:rPr>
              <a:t>]</a:t>
            </a:r>
          </a:p>
          <a:p>
            <a:pPr lvl="1"/>
            <a:r>
              <a:rPr lang="en-US" sz="2000" dirty="0"/>
              <a:t>I-</a:t>
            </a:r>
            <a:r>
              <a:rPr lang="en-US" sz="2000" dirty="0" err="1"/>
              <a:t>imm</a:t>
            </a:r>
            <a:r>
              <a:rPr lang="en-US" sz="2000" dirty="0"/>
              <a:t> = </a:t>
            </a:r>
            <a:r>
              <a:rPr lang="en-US" sz="2000" dirty="0" err="1"/>
              <a:t>signExtend</a:t>
            </a:r>
            <a:r>
              <a:rPr lang="en-US" sz="2000" dirty="0"/>
              <a:t>(</a:t>
            </a:r>
            <a:r>
              <a:rPr lang="en-US" sz="2000" dirty="0" err="1"/>
              <a:t>inst</a:t>
            </a:r>
            <a:r>
              <a:rPr lang="en-US" sz="2000" dirty="0"/>
              <a:t>[31:20])</a:t>
            </a:r>
          </a:p>
          <a:p>
            <a:pPr lvl="1"/>
            <a:r>
              <a:rPr lang="en-US" sz="2000" dirty="0">
                <a:sym typeface="Wingdings" panose="05000000000000000000" pitchFamily="2" charset="2"/>
              </a:rPr>
              <a:t>funct3 = LW/LB/LBU/LH/LHU</a:t>
            </a:r>
          </a:p>
          <a:p>
            <a:pPr marL="0" indent="0">
              <a:buNone/>
            </a:pPr>
            <a:endParaRPr lang="en-US" sz="2400" dirty="0">
              <a:sym typeface="Wingdings" panose="05000000000000000000" pitchFamily="2" charset="2"/>
            </a:endParaRPr>
          </a:p>
        </p:txBody>
      </p:sp>
      <p:grpSp>
        <p:nvGrpSpPr>
          <p:cNvPr id="9" name="Group 8"/>
          <p:cNvGrpSpPr/>
          <p:nvPr/>
        </p:nvGrpSpPr>
        <p:grpSpPr>
          <a:xfrm>
            <a:off x="1844539" y="1628697"/>
            <a:ext cx="8078703" cy="646103"/>
            <a:chOff x="723900" y="3317566"/>
            <a:chExt cx="8078703" cy="646103"/>
          </a:xfrm>
        </p:grpSpPr>
        <p:sp>
          <p:nvSpPr>
            <p:cNvPr id="10" name="TextBox 9"/>
            <p:cNvSpPr txBox="1"/>
            <p:nvPr/>
          </p:nvSpPr>
          <p:spPr>
            <a:xfrm>
              <a:off x="723900" y="3609726"/>
              <a:ext cx="2968096"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[11:0]</a:t>
              </a:r>
            </a:p>
          </p:txBody>
        </p:sp>
        <p:sp>
          <p:nvSpPr>
            <p:cNvPr id="11" name="TextBox 10"/>
            <p:cNvSpPr txBox="1"/>
            <p:nvPr/>
          </p:nvSpPr>
          <p:spPr>
            <a:xfrm>
              <a:off x="4922042" y="3609726"/>
              <a:ext cx="91201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12" name="TextBox 11"/>
            <p:cNvSpPr txBox="1"/>
            <p:nvPr/>
          </p:nvSpPr>
          <p:spPr>
            <a:xfrm>
              <a:off x="3694111" y="3609726"/>
              <a:ext cx="122793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13" name="TextBox 12"/>
            <p:cNvSpPr txBox="1"/>
            <p:nvPr/>
          </p:nvSpPr>
          <p:spPr>
            <a:xfrm>
              <a:off x="5834060" y="3609726"/>
              <a:ext cx="12262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14" name="TextBox 13"/>
            <p:cNvSpPr txBox="1"/>
            <p:nvPr/>
          </p:nvSpPr>
          <p:spPr>
            <a:xfrm>
              <a:off x="7060322" y="3609726"/>
              <a:ext cx="174228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5" name="TextBox 14"/>
            <p:cNvSpPr txBox="1"/>
            <p:nvPr/>
          </p:nvSpPr>
          <p:spPr>
            <a:xfrm>
              <a:off x="1993787" y="3317566"/>
              <a:ext cx="428322" cy="353943"/>
            </a:xfrm>
            <a:prstGeom prst="rect">
              <a:avLst/>
            </a:prstGeom>
            <a:noFill/>
          </p:spPr>
          <p:txBody>
            <a:bodyPr wrap="none" rtlCol="0">
              <a:spAutoFit/>
            </a:bodyPr>
            <a:lstStyle/>
            <a:p>
              <a:pPr algn="ctr"/>
              <a:r>
                <a:rPr lang="en-US" sz="1700" dirty="0"/>
                <a:t>12</a:t>
              </a:r>
            </a:p>
          </p:txBody>
        </p:sp>
        <p:sp>
          <p:nvSpPr>
            <p:cNvPr id="16" name="TextBox 15"/>
            <p:cNvSpPr txBox="1"/>
            <p:nvPr/>
          </p:nvSpPr>
          <p:spPr>
            <a:xfrm>
              <a:off x="4154830" y="3317566"/>
              <a:ext cx="306494" cy="353943"/>
            </a:xfrm>
            <a:prstGeom prst="rect">
              <a:avLst/>
            </a:prstGeom>
            <a:noFill/>
          </p:spPr>
          <p:txBody>
            <a:bodyPr wrap="none" rtlCol="0">
              <a:spAutoFit/>
            </a:bodyPr>
            <a:lstStyle/>
            <a:p>
              <a:pPr algn="ctr"/>
              <a:r>
                <a:rPr lang="en-US" sz="1700" dirty="0"/>
                <a:t>5</a:t>
              </a:r>
            </a:p>
          </p:txBody>
        </p:sp>
        <p:sp>
          <p:nvSpPr>
            <p:cNvPr id="17" name="TextBox 16"/>
            <p:cNvSpPr txBox="1"/>
            <p:nvPr/>
          </p:nvSpPr>
          <p:spPr>
            <a:xfrm>
              <a:off x="5220834" y="3317566"/>
              <a:ext cx="306494" cy="353943"/>
            </a:xfrm>
            <a:prstGeom prst="rect">
              <a:avLst/>
            </a:prstGeom>
            <a:noFill/>
          </p:spPr>
          <p:txBody>
            <a:bodyPr wrap="none" rtlCol="0">
              <a:spAutoFit/>
            </a:bodyPr>
            <a:lstStyle/>
            <a:p>
              <a:pPr algn="ctr"/>
              <a:r>
                <a:rPr lang="en-US" sz="1700" dirty="0"/>
                <a:t>3</a:t>
              </a:r>
            </a:p>
          </p:txBody>
        </p:sp>
        <p:sp>
          <p:nvSpPr>
            <p:cNvPr id="18" name="TextBox 17"/>
            <p:cNvSpPr txBox="1"/>
            <p:nvPr/>
          </p:nvSpPr>
          <p:spPr>
            <a:xfrm>
              <a:off x="6296894" y="3317566"/>
              <a:ext cx="306494" cy="353943"/>
            </a:xfrm>
            <a:prstGeom prst="rect">
              <a:avLst/>
            </a:prstGeom>
            <a:noFill/>
          </p:spPr>
          <p:txBody>
            <a:bodyPr wrap="none" rtlCol="0">
              <a:spAutoFit/>
            </a:bodyPr>
            <a:lstStyle/>
            <a:p>
              <a:pPr algn="ctr"/>
              <a:r>
                <a:rPr lang="en-US" sz="1700" dirty="0"/>
                <a:t>5</a:t>
              </a:r>
            </a:p>
          </p:txBody>
        </p:sp>
        <p:sp>
          <p:nvSpPr>
            <p:cNvPr id="19" name="TextBox 18"/>
            <p:cNvSpPr txBox="1"/>
            <p:nvPr/>
          </p:nvSpPr>
          <p:spPr>
            <a:xfrm>
              <a:off x="7778215" y="3317566"/>
              <a:ext cx="306494" cy="353943"/>
            </a:xfrm>
            <a:prstGeom prst="rect">
              <a:avLst/>
            </a:prstGeom>
            <a:noFill/>
          </p:spPr>
          <p:txBody>
            <a:bodyPr wrap="none" rtlCol="0">
              <a:spAutoFit/>
            </a:bodyPr>
            <a:lstStyle/>
            <a:p>
              <a:pPr algn="ctr"/>
              <a:r>
                <a:rPr lang="en-US" sz="1700" dirty="0"/>
                <a:t>7</a:t>
              </a:r>
            </a:p>
          </p:txBody>
        </p:sp>
      </p:grpSp>
      <p:sp>
        <p:nvSpPr>
          <p:cNvPr id="5" name="Date Placeholder 4"/>
          <p:cNvSpPr>
            <a:spLocks noGrp="1"/>
          </p:cNvSpPr>
          <p:nvPr>
            <p:ph type="dt" sz="half" idx="10"/>
          </p:nvPr>
        </p:nvSpPr>
        <p:spPr/>
        <p:txBody>
          <a:bodyPr/>
          <a:lstStyle/>
          <a:p>
            <a:pPr>
              <a:defRPr/>
            </a:pPr>
            <a:r>
              <a:rPr lang="en-US"/>
              <a:t>September 27, 2017</a:t>
            </a:r>
            <a:endParaRPr lang="en-US" dirty="0"/>
          </a:p>
        </p:txBody>
      </p:sp>
      <p:sp>
        <p:nvSpPr>
          <p:cNvPr id="6" name="Footer Placeholder 5"/>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7" name="Slide Number Placeholder 6"/>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26</a:t>
            </a:fld>
            <a:endParaRPr lang="en-US" dirty="0"/>
          </a:p>
        </p:txBody>
      </p:sp>
      <p:sp>
        <p:nvSpPr>
          <p:cNvPr id="4" name="TextBox 3">
            <a:extLst>
              <a:ext uri="{FF2B5EF4-FFF2-40B4-BE49-F238E27FC236}">
                <a16:creationId xmlns:a16="http://schemas.microsoft.com/office/drawing/2014/main" id="{9E276E06-AB13-4A11-882F-191F891BFF3A}"/>
              </a:ext>
            </a:extLst>
          </p:cNvPr>
          <p:cNvSpPr txBox="1"/>
          <p:nvPr/>
        </p:nvSpPr>
        <p:spPr>
          <a:xfrm>
            <a:off x="6954699" y="2567664"/>
            <a:ext cx="5237301" cy="461665"/>
          </a:xfrm>
          <a:prstGeom prst="rect">
            <a:avLst/>
          </a:prstGeom>
          <a:solidFill>
            <a:srgbClr val="FFFF00"/>
          </a:solidFill>
          <a:ln>
            <a:solidFill>
              <a:srgbClr val="FF0000"/>
            </a:solidFill>
          </a:ln>
        </p:spPr>
        <p:txBody>
          <a:bodyPr wrap="square" rtlCol="0" anchor="ctr" anchorCtr="1">
            <a:spAutoFit/>
          </a:bodyPr>
          <a:lstStyle/>
          <a:p>
            <a:r>
              <a:rPr lang="en-US" sz="2400" dirty="0">
                <a:ea typeface="標楷體" pitchFamily="65" charset="-120"/>
                <a:cs typeface="Calibri" panose="020F0502020204030204" pitchFamily="34" charset="0"/>
              </a:rPr>
              <a:t>Be aware! There is no </a:t>
            </a:r>
            <a:r>
              <a:rPr lang="en-US" sz="2400" dirty="0" err="1">
                <a:ea typeface="標楷體" pitchFamily="65" charset="-120"/>
                <a:cs typeface="Calibri" panose="020F0502020204030204" pitchFamily="34" charset="0"/>
              </a:rPr>
              <a:t>lwu</a:t>
            </a:r>
            <a:r>
              <a:rPr lang="en-US" sz="2400" dirty="0">
                <a:ea typeface="標楷體" pitchFamily="65" charset="-120"/>
                <a:cs typeface="Calibri" panose="020F0502020204030204" pitchFamily="34" charset="0"/>
              </a:rPr>
              <a:t> in RV32I</a:t>
            </a:r>
          </a:p>
        </p:txBody>
      </p:sp>
      <p:cxnSp>
        <p:nvCxnSpPr>
          <p:cNvPr id="33" name="Straight Arrow Connector 32">
            <a:extLst>
              <a:ext uri="{FF2B5EF4-FFF2-40B4-BE49-F238E27FC236}">
                <a16:creationId xmlns:a16="http://schemas.microsoft.com/office/drawing/2014/main" id="{0939CB00-3150-4639-929B-8328783016CA}"/>
              </a:ext>
            </a:extLst>
          </p:cNvPr>
          <p:cNvCxnSpPr>
            <a:cxnSpLocks/>
            <a:stCxn id="4" idx="1"/>
          </p:cNvCxnSpPr>
          <p:nvPr/>
        </p:nvCxnSpPr>
        <p:spPr bwMode="auto">
          <a:xfrm flipH="1">
            <a:off x="5581963" y="2798497"/>
            <a:ext cx="1372736" cy="472658"/>
          </a:xfrm>
          <a:prstGeom prst="straightConnector1">
            <a:avLst/>
          </a:prstGeom>
          <a:noFill/>
          <a:ln w="15875" cap="flat" cmpd="sng" algn="ctr">
            <a:solidFill>
              <a:srgbClr val="FF0000"/>
            </a:solidFill>
            <a:prstDash val="solid"/>
            <a:round/>
            <a:headEnd type="none" w="med" len="med"/>
            <a:tailEnd type="triangle"/>
          </a:ln>
        </p:spPr>
      </p:cxnSp>
      <p:sp>
        <p:nvSpPr>
          <p:cNvPr id="20" name="TextBox 19">
            <a:extLst>
              <a:ext uri="{FF2B5EF4-FFF2-40B4-BE49-F238E27FC236}">
                <a16:creationId xmlns:a16="http://schemas.microsoft.com/office/drawing/2014/main" id="{0FE4BE86-26B5-4C66-B433-91DA0164CA73}"/>
              </a:ext>
            </a:extLst>
          </p:cNvPr>
          <p:cNvSpPr txBox="1"/>
          <p:nvPr/>
        </p:nvSpPr>
        <p:spPr>
          <a:xfrm>
            <a:off x="344109" y="3879277"/>
            <a:ext cx="6687014" cy="1938992"/>
          </a:xfrm>
          <a:prstGeom prst="rect">
            <a:avLst/>
          </a:prstGeom>
          <a:noFill/>
        </p:spPr>
        <p:txBody>
          <a:bodyPr wrap="square">
            <a:spAutoFit/>
          </a:bodyPr>
          <a:lstStyle/>
          <a:p>
            <a:r>
              <a:rPr lang="en-US" sz="2400" dirty="0"/>
              <a:t>Examples:</a:t>
            </a:r>
          </a:p>
          <a:p>
            <a:r>
              <a:rPr lang="en-US" sz="2400" dirty="0"/>
              <a:t>LW x31, -4(</a:t>
            </a:r>
            <a:r>
              <a:rPr lang="en-US" sz="2400" dirty="0" err="1"/>
              <a:t>fp</a:t>
            </a:r>
            <a:r>
              <a:rPr lang="en-US" sz="2400" dirty="0"/>
              <a:t>)	// local variable</a:t>
            </a:r>
          </a:p>
          <a:p>
            <a:r>
              <a:rPr lang="en-US" sz="2400" dirty="0"/>
              <a:t>LW x1,   4(x2)	// struct element</a:t>
            </a:r>
          </a:p>
          <a:p>
            <a:r>
              <a:rPr lang="en-US" sz="2400" dirty="0"/>
              <a:t>LW x0,   4(x2)	// hint</a:t>
            </a:r>
          </a:p>
          <a:p>
            <a:r>
              <a:rPr lang="en-US" sz="2400" dirty="0"/>
              <a:t>LW x5,   0(x2)	// array A[</a:t>
            </a:r>
            <a:r>
              <a:rPr lang="en-US" sz="2400" dirty="0" err="1"/>
              <a:t>i</a:t>
            </a:r>
            <a:r>
              <a:rPr lang="en-US" sz="2400" dirty="0"/>
              <a:t>]; x2=</a:t>
            </a:r>
            <a:r>
              <a:rPr lang="en-US" sz="2400" dirty="0" err="1"/>
              <a:t>base+index</a:t>
            </a:r>
            <a:endParaRPr lang="en-US" sz="2400" dirty="0"/>
          </a:p>
        </p:txBody>
      </p:sp>
      <p:sp>
        <p:nvSpPr>
          <p:cNvPr id="21" name="TextBox 20">
            <a:extLst>
              <a:ext uri="{FF2B5EF4-FFF2-40B4-BE49-F238E27FC236}">
                <a16:creationId xmlns:a16="http://schemas.microsoft.com/office/drawing/2014/main" id="{8A4C7526-5E8C-40EF-9ADF-91298F6FC548}"/>
              </a:ext>
            </a:extLst>
          </p:cNvPr>
          <p:cNvSpPr txBox="1"/>
          <p:nvPr/>
        </p:nvSpPr>
        <p:spPr>
          <a:xfrm>
            <a:off x="6954699" y="4162180"/>
            <a:ext cx="3005951" cy="1754326"/>
          </a:xfrm>
          <a:prstGeom prst="rect">
            <a:avLst/>
          </a:prstGeom>
          <a:noFill/>
        </p:spPr>
        <p:txBody>
          <a:bodyPr wrap="none" rtlCol="0" anchor="ctr" anchorCtr="1">
            <a:spAutoFit/>
          </a:bodyPr>
          <a:lstStyle/>
          <a:p>
            <a:r>
              <a:rPr lang="en-US" dirty="0">
                <a:ea typeface="標楷體" pitchFamily="65" charset="-120"/>
                <a:cs typeface="Calibri" pitchFamily="34" charset="0"/>
              </a:rPr>
              <a:t>Load from a local variable c</a:t>
            </a:r>
          </a:p>
          <a:p>
            <a:r>
              <a:rPr lang="en-US" dirty="0">
                <a:ea typeface="標楷體" pitchFamily="65" charset="-120"/>
                <a:cs typeface="Calibri" pitchFamily="34" charset="0"/>
              </a:rPr>
              <a:t>LW X1, -4(</a:t>
            </a:r>
            <a:r>
              <a:rPr lang="en-US" dirty="0" err="1">
                <a:ea typeface="標楷體" pitchFamily="65" charset="-120"/>
                <a:cs typeface="Calibri" pitchFamily="34" charset="0"/>
              </a:rPr>
              <a:t>fp</a:t>
            </a:r>
            <a:r>
              <a:rPr lang="en-US" dirty="0">
                <a:ea typeface="標楷體" pitchFamily="65" charset="-120"/>
                <a:cs typeface="Calibri" pitchFamily="34" charset="0"/>
              </a:rPr>
              <a:t>)</a:t>
            </a:r>
          </a:p>
          <a:p>
            <a:r>
              <a:rPr lang="en-US" dirty="0">
                <a:ea typeface="標楷體" pitchFamily="65" charset="-120"/>
                <a:cs typeface="Calibri" pitchFamily="34" charset="0"/>
              </a:rPr>
              <a:t>Load from an array d[0]</a:t>
            </a:r>
          </a:p>
          <a:p>
            <a:r>
              <a:rPr lang="en-US" dirty="0">
                <a:ea typeface="標楷體" pitchFamily="65" charset="-120"/>
                <a:cs typeface="Calibri" pitchFamily="34" charset="0"/>
              </a:rPr>
              <a:t>LW X1, -20(</a:t>
            </a:r>
            <a:r>
              <a:rPr lang="en-US" dirty="0" err="1">
                <a:ea typeface="標楷體" pitchFamily="65" charset="-120"/>
                <a:cs typeface="Calibri" pitchFamily="34" charset="0"/>
              </a:rPr>
              <a:t>fp</a:t>
            </a:r>
            <a:r>
              <a:rPr lang="en-US" dirty="0">
                <a:ea typeface="標楷體" pitchFamily="65" charset="-120"/>
                <a:cs typeface="Calibri" pitchFamily="34" charset="0"/>
              </a:rPr>
              <a:t>)</a:t>
            </a:r>
          </a:p>
          <a:p>
            <a:r>
              <a:rPr lang="en-US" dirty="0">
                <a:ea typeface="標楷體" pitchFamily="65" charset="-120"/>
                <a:cs typeface="Calibri" pitchFamily="34" charset="0"/>
              </a:rPr>
              <a:t>Load from d[1]</a:t>
            </a:r>
          </a:p>
          <a:p>
            <a:r>
              <a:rPr lang="en-US" dirty="0">
                <a:ea typeface="標楷體" pitchFamily="65" charset="-120"/>
                <a:cs typeface="Calibri" pitchFamily="34" charset="0"/>
              </a:rPr>
              <a:t>LW X1, -16(</a:t>
            </a:r>
            <a:r>
              <a:rPr lang="en-US" dirty="0" err="1">
                <a:ea typeface="標楷體" pitchFamily="65" charset="-120"/>
                <a:cs typeface="Calibri" pitchFamily="34" charset="0"/>
              </a:rPr>
              <a:t>fp</a:t>
            </a:r>
            <a:r>
              <a:rPr lang="en-US" dirty="0">
                <a:ea typeface="標楷體" pitchFamily="65" charset="-120"/>
                <a:cs typeface="Calibri" pitchFamily="34" charset="0"/>
              </a:rPr>
              <a:t>)</a:t>
            </a:r>
          </a:p>
        </p:txBody>
      </p:sp>
      <p:sp>
        <p:nvSpPr>
          <p:cNvPr id="22" name="TextBox 21">
            <a:extLst>
              <a:ext uri="{FF2B5EF4-FFF2-40B4-BE49-F238E27FC236}">
                <a16:creationId xmlns:a16="http://schemas.microsoft.com/office/drawing/2014/main" id="{988962E3-B8F5-4876-9032-3A56460D59A6}"/>
              </a:ext>
            </a:extLst>
          </p:cNvPr>
          <p:cNvSpPr txBox="1"/>
          <p:nvPr/>
        </p:nvSpPr>
        <p:spPr>
          <a:xfrm>
            <a:off x="8185806" y="3107481"/>
            <a:ext cx="1588897" cy="923330"/>
          </a:xfrm>
          <a:prstGeom prst="rect">
            <a:avLst/>
          </a:prstGeom>
          <a:noFill/>
        </p:spPr>
        <p:txBody>
          <a:bodyPr wrap="none" rtlCol="0" anchor="ctr" anchorCtr="1">
            <a:spAutoFit/>
          </a:bodyPr>
          <a:lstStyle/>
          <a:p>
            <a:r>
              <a:rPr lang="en-US" dirty="0">
                <a:ea typeface="標楷體" pitchFamily="65" charset="-120"/>
                <a:cs typeface="Calibri" pitchFamily="34" charset="0"/>
              </a:rPr>
              <a:t>Int x(int </a:t>
            </a:r>
            <a:r>
              <a:rPr lang="en-US" dirty="0" err="1">
                <a:ea typeface="標楷體" pitchFamily="65" charset="-120"/>
                <a:cs typeface="Calibri" pitchFamily="34" charset="0"/>
              </a:rPr>
              <a:t>a,b</a:t>
            </a:r>
            <a:r>
              <a:rPr lang="en-US" dirty="0">
                <a:ea typeface="標楷體" pitchFamily="65" charset="-120"/>
                <a:cs typeface="Calibri" pitchFamily="34" charset="0"/>
              </a:rPr>
              <a:t>) {</a:t>
            </a:r>
          </a:p>
          <a:p>
            <a:r>
              <a:rPr lang="en-US" dirty="0">
                <a:ea typeface="標楷體" pitchFamily="65" charset="-120"/>
                <a:cs typeface="Calibri" pitchFamily="34" charset="0"/>
              </a:rPr>
              <a:t>Int c; d[4];</a:t>
            </a:r>
          </a:p>
          <a:p>
            <a:r>
              <a:rPr lang="en-US" dirty="0">
                <a:ea typeface="標楷體" pitchFamily="65" charset="-120"/>
                <a:cs typeface="Calibri" pitchFamily="34" charset="0"/>
              </a:rPr>
              <a:t>a=</a:t>
            </a:r>
            <a:r>
              <a:rPr lang="en-US" dirty="0" err="1">
                <a:ea typeface="標楷體" pitchFamily="65" charset="-120"/>
                <a:cs typeface="Calibri" pitchFamily="34" charset="0"/>
              </a:rPr>
              <a:t>c+d</a:t>
            </a:r>
            <a:r>
              <a:rPr lang="en-US" dirty="0">
                <a:ea typeface="標楷體" pitchFamily="65" charset="-120"/>
                <a:cs typeface="Calibri" pitchFamily="34" charset="0"/>
              </a:rPr>
              <a:t>[0]…;}</a:t>
            </a:r>
          </a:p>
        </p:txBody>
      </p:sp>
      <p:sp>
        <p:nvSpPr>
          <p:cNvPr id="23" name="Rectangle 22">
            <a:extLst>
              <a:ext uri="{FF2B5EF4-FFF2-40B4-BE49-F238E27FC236}">
                <a16:creationId xmlns:a16="http://schemas.microsoft.com/office/drawing/2014/main" id="{054B50D6-8DD1-4313-AA33-533CCF9BF913}"/>
              </a:ext>
            </a:extLst>
          </p:cNvPr>
          <p:cNvSpPr/>
          <p:nvPr/>
        </p:nvSpPr>
        <p:spPr bwMode="auto">
          <a:xfrm>
            <a:off x="10461880" y="4236091"/>
            <a:ext cx="1115289" cy="1831432"/>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24" name="TextBox 23">
            <a:extLst>
              <a:ext uri="{FF2B5EF4-FFF2-40B4-BE49-F238E27FC236}">
                <a16:creationId xmlns:a16="http://schemas.microsoft.com/office/drawing/2014/main" id="{AB736758-8427-475B-885D-178F569AAA4C}"/>
              </a:ext>
            </a:extLst>
          </p:cNvPr>
          <p:cNvSpPr txBox="1"/>
          <p:nvPr/>
        </p:nvSpPr>
        <p:spPr>
          <a:xfrm>
            <a:off x="10466053" y="4236091"/>
            <a:ext cx="1111115" cy="461665"/>
          </a:xfrm>
          <a:prstGeom prst="rect">
            <a:avLst/>
          </a:prstGeom>
          <a:noFill/>
          <a:ln>
            <a:solidFill>
              <a:schemeClr val="tx1"/>
            </a:solidFill>
          </a:ln>
        </p:spPr>
        <p:txBody>
          <a:bodyPr wrap="square" rtlCol="0" anchor="ctr" anchorCtr="1">
            <a:spAutoFit/>
          </a:bodyPr>
          <a:lstStyle/>
          <a:p>
            <a:r>
              <a:rPr lang="en-US" sz="2400" dirty="0">
                <a:ea typeface="標楷體" pitchFamily="65" charset="-120"/>
                <a:cs typeface="Calibri" pitchFamily="34" charset="0"/>
              </a:rPr>
              <a:t>c</a:t>
            </a:r>
          </a:p>
        </p:txBody>
      </p:sp>
      <p:sp>
        <p:nvSpPr>
          <p:cNvPr id="25" name="TextBox 24">
            <a:extLst>
              <a:ext uri="{FF2B5EF4-FFF2-40B4-BE49-F238E27FC236}">
                <a16:creationId xmlns:a16="http://schemas.microsoft.com/office/drawing/2014/main" id="{81467194-F42B-42F0-8E3E-2D7EFE47D7E9}"/>
              </a:ext>
            </a:extLst>
          </p:cNvPr>
          <p:cNvSpPr txBox="1"/>
          <p:nvPr/>
        </p:nvSpPr>
        <p:spPr>
          <a:xfrm>
            <a:off x="11886596" y="3977514"/>
            <a:ext cx="377026" cy="369332"/>
          </a:xfrm>
          <a:prstGeom prst="rect">
            <a:avLst/>
          </a:prstGeom>
          <a:noFill/>
        </p:spPr>
        <p:txBody>
          <a:bodyPr wrap="none" rtlCol="0" anchor="ctr" anchorCtr="1">
            <a:spAutoFit/>
          </a:bodyPr>
          <a:lstStyle/>
          <a:p>
            <a:r>
              <a:rPr lang="en-US" dirty="0" err="1">
                <a:ea typeface="標楷體" pitchFamily="65" charset="-120"/>
                <a:cs typeface="Calibri" pitchFamily="34" charset="0"/>
              </a:rPr>
              <a:t>fp</a:t>
            </a:r>
            <a:endParaRPr lang="en-US" dirty="0">
              <a:ea typeface="標楷體" pitchFamily="65" charset="-120"/>
              <a:cs typeface="Calibri" pitchFamily="34" charset="0"/>
            </a:endParaRPr>
          </a:p>
        </p:txBody>
      </p:sp>
      <p:cxnSp>
        <p:nvCxnSpPr>
          <p:cNvPr id="26" name="Straight Arrow Connector 25">
            <a:extLst>
              <a:ext uri="{FF2B5EF4-FFF2-40B4-BE49-F238E27FC236}">
                <a16:creationId xmlns:a16="http://schemas.microsoft.com/office/drawing/2014/main" id="{17C2D8D0-6028-4610-99C6-FFEFB42766E8}"/>
              </a:ext>
            </a:extLst>
          </p:cNvPr>
          <p:cNvCxnSpPr>
            <a:cxnSpLocks/>
          </p:cNvCxnSpPr>
          <p:nvPr/>
        </p:nvCxnSpPr>
        <p:spPr bwMode="auto">
          <a:xfrm flipH="1">
            <a:off x="11577168" y="4236091"/>
            <a:ext cx="389548" cy="0"/>
          </a:xfrm>
          <a:prstGeom prst="straightConnector1">
            <a:avLst/>
          </a:prstGeom>
          <a:noFill/>
          <a:ln w="15875" cap="flat" cmpd="sng" algn="ctr">
            <a:solidFill>
              <a:srgbClr val="FF0000"/>
            </a:solidFill>
            <a:prstDash val="solid"/>
            <a:round/>
            <a:headEnd type="none" w="med" len="med"/>
            <a:tailEnd type="triangle"/>
          </a:ln>
          <a:effectLst/>
        </p:spPr>
      </p:cxnSp>
      <p:sp>
        <p:nvSpPr>
          <p:cNvPr id="27" name="TextBox 26">
            <a:extLst>
              <a:ext uri="{FF2B5EF4-FFF2-40B4-BE49-F238E27FC236}">
                <a16:creationId xmlns:a16="http://schemas.microsoft.com/office/drawing/2014/main" id="{560AD2E8-54B3-4AC7-BF3A-4BD10B553E73}"/>
              </a:ext>
            </a:extLst>
          </p:cNvPr>
          <p:cNvSpPr txBox="1"/>
          <p:nvPr/>
        </p:nvSpPr>
        <p:spPr>
          <a:xfrm>
            <a:off x="10461880" y="4679496"/>
            <a:ext cx="1143396" cy="338554"/>
          </a:xfrm>
          <a:prstGeom prst="rect">
            <a:avLst/>
          </a:prstGeom>
          <a:noFill/>
          <a:ln>
            <a:solidFill>
              <a:schemeClr val="tx1"/>
            </a:solidFill>
          </a:ln>
        </p:spPr>
        <p:txBody>
          <a:bodyPr wrap="square" rtlCol="0" anchor="ctr" anchorCtr="1">
            <a:spAutoFit/>
          </a:bodyPr>
          <a:lstStyle/>
          <a:p>
            <a:r>
              <a:rPr lang="en-US" sz="1600" dirty="0">
                <a:ea typeface="標楷體" pitchFamily="65" charset="-120"/>
                <a:cs typeface="Calibri" pitchFamily="34" charset="0"/>
              </a:rPr>
              <a:t>d[3]</a:t>
            </a:r>
          </a:p>
        </p:txBody>
      </p:sp>
      <p:sp>
        <p:nvSpPr>
          <p:cNvPr id="28" name="TextBox 27">
            <a:extLst>
              <a:ext uri="{FF2B5EF4-FFF2-40B4-BE49-F238E27FC236}">
                <a16:creationId xmlns:a16="http://schemas.microsoft.com/office/drawing/2014/main" id="{68F4D7D2-B7F2-4ACB-906C-596E1B4672B8}"/>
              </a:ext>
            </a:extLst>
          </p:cNvPr>
          <p:cNvSpPr txBox="1"/>
          <p:nvPr/>
        </p:nvSpPr>
        <p:spPr>
          <a:xfrm>
            <a:off x="10461880" y="5006740"/>
            <a:ext cx="1143396" cy="338554"/>
          </a:xfrm>
          <a:prstGeom prst="rect">
            <a:avLst/>
          </a:prstGeom>
          <a:noFill/>
          <a:ln>
            <a:solidFill>
              <a:schemeClr val="tx1"/>
            </a:solidFill>
          </a:ln>
        </p:spPr>
        <p:txBody>
          <a:bodyPr wrap="square" rtlCol="0" anchor="ctr" anchorCtr="1">
            <a:spAutoFit/>
          </a:bodyPr>
          <a:lstStyle/>
          <a:p>
            <a:r>
              <a:rPr lang="en-US" sz="1600" dirty="0">
                <a:ea typeface="標楷體" pitchFamily="65" charset="-120"/>
                <a:cs typeface="Calibri" pitchFamily="34" charset="0"/>
              </a:rPr>
              <a:t>d[2]</a:t>
            </a:r>
          </a:p>
        </p:txBody>
      </p:sp>
      <p:sp>
        <p:nvSpPr>
          <p:cNvPr id="29" name="TextBox 28">
            <a:extLst>
              <a:ext uri="{FF2B5EF4-FFF2-40B4-BE49-F238E27FC236}">
                <a16:creationId xmlns:a16="http://schemas.microsoft.com/office/drawing/2014/main" id="{298387A0-8491-48FB-B69C-251C9806D765}"/>
              </a:ext>
            </a:extLst>
          </p:cNvPr>
          <p:cNvSpPr txBox="1"/>
          <p:nvPr/>
        </p:nvSpPr>
        <p:spPr>
          <a:xfrm>
            <a:off x="10461880" y="5345294"/>
            <a:ext cx="1143396" cy="338554"/>
          </a:xfrm>
          <a:prstGeom prst="rect">
            <a:avLst/>
          </a:prstGeom>
          <a:noFill/>
          <a:ln>
            <a:solidFill>
              <a:schemeClr val="tx1"/>
            </a:solidFill>
          </a:ln>
        </p:spPr>
        <p:txBody>
          <a:bodyPr wrap="square" rtlCol="0" anchor="ctr" anchorCtr="1">
            <a:spAutoFit/>
          </a:bodyPr>
          <a:lstStyle/>
          <a:p>
            <a:r>
              <a:rPr lang="en-US" sz="1600" dirty="0">
                <a:ea typeface="標楷體" pitchFamily="65" charset="-120"/>
                <a:cs typeface="Calibri" pitchFamily="34" charset="0"/>
              </a:rPr>
              <a:t>d[1]</a:t>
            </a:r>
          </a:p>
        </p:txBody>
      </p:sp>
      <p:sp>
        <p:nvSpPr>
          <p:cNvPr id="30" name="TextBox 29">
            <a:extLst>
              <a:ext uri="{FF2B5EF4-FFF2-40B4-BE49-F238E27FC236}">
                <a16:creationId xmlns:a16="http://schemas.microsoft.com/office/drawing/2014/main" id="{4AC8A3CA-CAD7-40D4-B15F-80A4A0891555}"/>
              </a:ext>
            </a:extLst>
          </p:cNvPr>
          <p:cNvSpPr txBox="1"/>
          <p:nvPr/>
        </p:nvSpPr>
        <p:spPr>
          <a:xfrm>
            <a:off x="10461880" y="5694771"/>
            <a:ext cx="1143396" cy="338554"/>
          </a:xfrm>
          <a:prstGeom prst="rect">
            <a:avLst/>
          </a:prstGeom>
          <a:noFill/>
          <a:ln>
            <a:solidFill>
              <a:schemeClr val="tx1"/>
            </a:solidFill>
          </a:ln>
        </p:spPr>
        <p:txBody>
          <a:bodyPr wrap="square" rtlCol="0" anchor="ctr" anchorCtr="1">
            <a:spAutoFit/>
          </a:bodyPr>
          <a:lstStyle/>
          <a:p>
            <a:r>
              <a:rPr lang="en-US" sz="1600" dirty="0">
                <a:ea typeface="標楷體" pitchFamily="65" charset="-120"/>
                <a:cs typeface="Calibri" pitchFamily="34" charset="0"/>
              </a:rPr>
              <a:t>d[0]</a:t>
            </a:r>
          </a:p>
        </p:txBody>
      </p:sp>
      <p:sp>
        <p:nvSpPr>
          <p:cNvPr id="31" name="TextBox 30">
            <a:extLst>
              <a:ext uri="{FF2B5EF4-FFF2-40B4-BE49-F238E27FC236}">
                <a16:creationId xmlns:a16="http://schemas.microsoft.com/office/drawing/2014/main" id="{103677B2-AAAB-44EA-8FDB-FB010664BB3E}"/>
              </a:ext>
            </a:extLst>
          </p:cNvPr>
          <p:cNvSpPr txBox="1"/>
          <p:nvPr/>
        </p:nvSpPr>
        <p:spPr>
          <a:xfrm>
            <a:off x="6697709" y="6095267"/>
            <a:ext cx="5237301" cy="461665"/>
          </a:xfrm>
          <a:prstGeom prst="rect">
            <a:avLst/>
          </a:prstGeom>
          <a:solidFill>
            <a:srgbClr val="FFFF00"/>
          </a:solidFill>
          <a:ln>
            <a:solidFill>
              <a:srgbClr val="FF0000"/>
            </a:solidFill>
          </a:ln>
        </p:spPr>
        <p:txBody>
          <a:bodyPr wrap="square" rtlCol="0" anchor="ctr" anchorCtr="1">
            <a:spAutoFit/>
          </a:bodyPr>
          <a:lstStyle/>
          <a:p>
            <a:r>
              <a:rPr lang="en-US" sz="2400" dirty="0">
                <a:ea typeface="標楷體" pitchFamily="65" charset="-120"/>
                <a:cs typeface="Calibri" panose="020F0502020204030204" pitchFamily="34" charset="0"/>
              </a:rPr>
              <a:t>What happens to </a:t>
            </a:r>
            <a:r>
              <a:rPr lang="en-US" sz="2400">
                <a:ea typeface="標楷體" pitchFamily="65" charset="-120"/>
                <a:cs typeface="Calibri" panose="020F0502020204030204" pitchFamily="34" charset="0"/>
              </a:rPr>
              <a:t>d[4] </a:t>
            </a:r>
            <a:r>
              <a:rPr lang="en-US" sz="2400" dirty="0">
                <a:ea typeface="標楷體" pitchFamily="65" charset="-120"/>
                <a:cs typeface="Calibri" panose="020F0502020204030204" pitchFamily="34" charset="0"/>
              </a:rPr>
              <a:t>= 0;?</a:t>
            </a:r>
          </a:p>
        </p:txBody>
      </p:sp>
    </p:spTree>
    <p:extLst>
      <p:ext uri="{BB962C8B-B14F-4D97-AF65-F5344CB8AC3E}">
        <p14:creationId xmlns:p14="http://schemas.microsoft.com/office/powerpoint/2010/main" val="1844820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1" grpId="0"/>
      <p:bldP spid="22" grpId="0"/>
      <p:bldP spid="23" grpId="0" animBg="1"/>
      <p:bldP spid="24" grpId="0" animBg="1"/>
      <p:bldP spid="25" grpId="0"/>
      <p:bldP spid="27" grpId="0" animBg="1"/>
      <p:bldP spid="28" grpId="0" animBg="1"/>
      <p:bldP spid="29" grpId="0" animBg="1"/>
      <p:bldP spid="30" grpId="0" animBg="1"/>
      <p:bldP spid="3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5739" y="-21436"/>
            <a:ext cx="8001000" cy="1143000"/>
          </a:xfrm>
        </p:spPr>
        <p:txBody>
          <a:bodyPr/>
          <a:lstStyle/>
          <a:p>
            <a:r>
              <a:rPr lang="en-US" dirty="0"/>
              <a:t>Instruction Formats (S-type)</a:t>
            </a:r>
            <a:endParaRPr lang="en-US" i="1" dirty="0"/>
          </a:p>
        </p:txBody>
      </p:sp>
      <p:sp>
        <p:nvSpPr>
          <p:cNvPr id="51" name="TextBox 50"/>
          <p:cNvSpPr txBox="1"/>
          <p:nvPr/>
        </p:nvSpPr>
        <p:spPr>
          <a:xfrm>
            <a:off x="1866867" y="1121565"/>
            <a:ext cx="7371947" cy="461665"/>
          </a:xfrm>
          <a:prstGeom prst="rect">
            <a:avLst/>
          </a:prstGeom>
          <a:noFill/>
        </p:spPr>
        <p:txBody>
          <a:bodyPr wrap="square" rtlCol="0">
            <a:spAutoFit/>
          </a:bodyPr>
          <a:lstStyle/>
          <a:p>
            <a:pPr marL="342891" indent="-342891" eaLnBrk="0" hangingPunct="0">
              <a:spcBef>
                <a:spcPct val="20000"/>
              </a:spcBef>
              <a:buClr>
                <a:schemeClr val="hlink"/>
              </a:buClr>
              <a:buSzPct val="110000"/>
              <a:buBlip>
                <a:blip r:embed="rId3"/>
              </a:buBlip>
            </a:pPr>
            <a:r>
              <a:rPr lang="en-US" sz="2400" dirty="0">
                <a:solidFill>
                  <a:srgbClr val="FF0000"/>
                </a:solidFill>
              </a:rPr>
              <a:t>S-type </a:t>
            </a:r>
            <a:r>
              <a:rPr lang="en-US" sz="2400" dirty="0"/>
              <a:t>instruction &amp; S-immediate (32 bits)</a:t>
            </a:r>
          </a:p>
        </p:txBody>
      </p:sp>
      <p:grpSp>
        <p:nvGrpSpPr>
          <p:cNvPr id="63" name="Group 62"/>
          <p:cNvGrpSpPr/>
          <p:nvPr/>
        </p:nvGrpSpPr>
        <p:grpSpPr>
          <a:xfrm>
            <a:off x="1866868" y="1482548"/>
            <a:ext cx="8081827" cy="646103"/>
            <a:chOff x="896575" y="2124293"/>
            <a:chExt cx="7729174" cy="646103"/>
          </a:xfrm>
        </p:grpSpPr>
        <p:sp>
          <p:nvSpPr>
            <p:cNvPr id="64" name="TextBox 63"/>
            <p:cNvSpPr txBox="1"/>
            <p:nvPr/>
          </p:nvSpPr>
          <p:spPr>
            <a:xfrm>
              <a:off x="896575" y="2416453"/>
              <a:ext cx="1569607"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[11:5]</a:t>
              </a:r>
            </a:p>
          </p:txBody>
        </p:sp>
        <p:sp>
          <p:nvSpPr>
            <p:cNvPr id="65" name="TextBox 64"/>
            <p:cNvSpPr txBox="1"/>
            <p:nvPr/>
          </p:nvSpPr>
          <p:spPr>
            <a:xfrm>
              <a:off x="2466181" y="2416453"/>
              <a:ext cx="1227930"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rs2</a:t>
              </a:r>
            </a:p>
          </p:txBody>
        </p:sp>
        <p:sp>
          <p:nvSpPr>
            <p:cNvPr id="66" name="TextBox 65"/>
            <p:cNvSpPr txBox="1"/>
            <p:nvPr/>
          </p:nvSpPr>
          <p:spPr>
            <a:xfrm>
              <a:off x="4922040" y="2416453"/>
              <a:ext cx="91201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67" name="TextBox 66"/>
            <p:cNvSpPr txBox="1"/>
            <p:nvPr/>
          </p:nvSpPr>
          <p:spPr>
            <a:xfrm>
              <a:off x="3694111" y="2416453"/>
              <a:ext cx="1227932"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68" name="TextBox 67"/>
            <p:cNvSpPr txBox="1"/>
            <p:nvPr/>
          </p:nvSpPr>
          <p:spPr>
            <a:xfrm>
              <a:off x="5834060" y="2416453"/>
              <a:ext cx="12262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[4:0]</a:t>
              </a:r>
            </a:p>
          </p:txBody>
        </p:sp>
        <p:sp>
          <p:nvSpPr>
            <p:cNvPr id="69" name="TextBox 68"/>
            <p:cNvSpPr txBox="1"/>
            <p:nvPr/>
          </p:nvSpPr>
          <p:spPr>
            <a:xfrm>
              <a:off x="7060323" y="2416453"/>
              <a:ext cx="1565426"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70" name="TextBox 69"/>
            <p:cNvSpPr txBox="1"/>
            <p:nvPr/>
          </p:nvSpPr>
          <p:spPr>
            <a:xfrm>
              <a:off x="1534819" y="2124293"/>
              <a:ext cx="293120" cy="353943"/>
            </a:xfrm>
            <a:prstGeom prst="rect">
              <a:avLst/>
            </a:prstGeom>
            <a:noFill/>
          </p:spPr>
          <p:txBody>
            <a:bodyPr wrap="none" rtlCol="0">
              <a:spAutoFit/>
            </a:bodyPr>
            <a:lstStyle/>
            <a:p>
              <a:pPr algn="ctr"/>
              <a:r>
                <a:rPr lang="en-US" sz="1700" dirty="0"/>
                <a:t>7</a:t>
              </a:r>
            </a:p>
          </p:txBody>
        </p:sp>
        <p:sp>
          <p:nvSpPr>
            <p:cNvPr id="71" name="TextBox 70"/>
            <p:cNvSpPr txBox="1"/>
            <p:nvPr/>
          </p:nvSpPr>
          <p:spPr>
            <a:xfrm>
              <a:off x="2933942" y="2124293"/>
              <a:ext cx="293120" cy="353943"/>
            </a:xfrm>
            <a:prstGeom prst="rect">
              <a:avLst/>
            </a:prstGeom>
            <a:noFill/>
          </p:spPr>
          <p:txBody>
            <a:bodyPr wrap="none" rtlCol="0">
              <a:spAutoFit/>
            </a:bodyPr>
            <a:lstStyle/>
            <a:p>
              <a:pPr algn="ctr"/>
              <a:r>
                <a:rPr lang="en-US" sz="1700" dirty="0"/>
                <a:t>5</a:t>
              </a:r>
            </a:p>
          </p:txBody>
        </p:sp>
        <p:sp>
          <p:nvSpPr>
            <p:cNvPr id="72" name="TextBox 71"/>
            <p:cNvSpPr txBox="1"/>
            <p:nvPr/>
          </p:nvSpPr>
          <p:spPr>
            <a:xfrm>
              <a:off x="4161517" y="2124293"/>
              <a:ext cx="293120" cy="353943"/>
            </a:xfrm>
            <a:prstGeom prst="rect">
              <a:avLst/>
            </a:prstGeom>
            <a:noFill/>
          </p:spPr>
          <p:txBody>
            <a:bodyPr wrap="none" rtlCol="0">
              <a:spAutoFit/>
            </a:bodyPr>
            <a:lstStyle/>
            <a:p>
              <a:pPr algn="ctr"/>
              <a:r>
                <a:rPr lang="en-US" sz="1700" dirty="0"/>
                <a:t>5</a:t>
              </a:r>
            </a:p>
          </p:txBody>
        </p:sp>
        <p:sp>
          <p:nvSpPr>
            <p:cNvPr id="73" name="TextBox 72"/>
            <p:cNvSpPr txBox="1"/>
            <p:nvPr/>
          </p:nvSpPr>
          <p:spPr>
            <a:xfrm>
              <a:off x="5227520" y="2124293"/>
              <a:ext cx="293120" cy="353943"/>
            </a:xfrm>
            <a:prstGeom prst="rect">
              <a:avLst/>
            </a:prstGeom>
            <a:noFill/>
          </p:spPr>
          <p:txBody>
            <a:bodyPr wrap="none" rtlCol="0">
              <a:spAutoFit/>
            </a:bodyPr>
            <a:lstStyle/>
            <a:p>
              <a:pPr algn="ctr"/>
              <a:r>
                <a:rPr lang="en-US" sz="1700" dirty="0"/>
                <a:t>3</a:t>
              </a:r>
            </a:p>
          </p:txBody>
        </p:sp>
        <p:sp>
          <p:nvSpPr>
            <p:cNvPr id="74" name="TextBox 73"/>
            <p:cNvSpPr txBox="1"/>
            <p:nvPr/>
          </p:nvSpPr>
          <p:spPr>
            <a:xfrm>
              <a:off x="6303580" y="2124293"/>
              <a:ext cx="293120" cy="353943"/>
            </a:xfrm>
            <a:prstGeom prst="rect">
              <a:avLst/>
            </a:prstGeom>
            <a:noFill/>
          </p:spPr>
          <p:txBody>
            <a:bodyPr wrap="none" rtlCol="0">
              <a:spAutoFit/>
            </a:bodyPr>
            <a:lstStyle/>
            <a:p>
              <a:pPr algn="ctr"/>
              <a:r>
                <a:rPr lang="en-US" sz="1700" dirty="0"/>
                <a:t>5</a:t>
              </a:r>
            </a:p>
          </p:txBody>
        </p:sp>
        <p:sp>
          <p:nvSpPr>
            <p:cNvPr id="75" name="TextBox 74"/>
            <p:cNvSpPr txBox="1"/>
            <p:nvPr/>
          </p:nvSpPr>
          <p:spPr>
            <a:xfrm>
              <a:off x="7696477" y="2124293"/>
              <a:ext cx="293120" cy="353943"/>
            </a:xfrm>
            <a:prstGeom prst="rect">
              <a:avLst/>
            </a:prstGeom>
            <a:noFill/>
          </p:spPr>
          <p:txBody>
            <a:bodyPr wrap="none" rtlCol="0">
              <a:spAutoFit/>
            </a:bodyPr>
            <a:lstStyle/>
            <a:p>
              <a:pPr algn="ctr"/>
              <a:r>
                <a:rPr lang="en-US" sz="1700" dirty="0"/>
                <a:t>7</a:t>
              </a:r>
            </a:p>
          </p:txBody>
        </p:sp>
      </p:grpSp>
      <p:sp>
        <p:nvSpPr>
          <p:cNvPr id="79" name="TextBox 78"/>
          <p:cNvSpPr txBox="1"/>
          <p:nvPr/>
        </p:nvSpPr>
        <p:spPr>
          <a:xfrm>
            <a:off x="1868074" y="2273580"/>
            <a:ext cx="7715391" cy="369332"/>
          </a:xfrm>
          <a:prstGeom prst="rect">
            <a:avLst/>
          </a:prstGeom>
          <a:noFill/>
        </p:spPr>
        <p:txBody>
          <a:bodyPr wrap="square" rtlCol="0">
            <a:spAutoFit/>
          </a:bodyPr>
          <a:lstStyle/>
          <a:p>
            <a:r>
              <a:rPr lang="en-US" dirty="0"/>
              <a:t>S-</a:t>
            </a:r>
            <a:r>
              <a:rPr lang="en-US" dirty="0" err="1"/>
              <a:t>imm</a:t>
            </a:r>
            <a:r>
              <a:rPr lang="en-US" dirty="0"/>
              <a:t> = </a:t>
            </a:r>
            <a:r>
              <a:rPr lang="en-US" dirty="0" err="1"/>
              <a:t>signExtend</a:t>
            </a:r>
            <a:r>
              <a:rPr lang="en-US" dirty="0"/>
              <a:t>({</a:t>
            </a:r>
            <a:r>
              <a:rPr lang="en-US" dirty="0" err="1"/>
              <a:t>inst</a:t>
            </a:r>
            <a:r>
              <a:rPr lang="en-US" dirty="0"/>
              <a:t>[31:25], </a:t>
            </a:r>
            <a:r>
              <a:rPr lang="en-US" dirty="0" err="1"/>
              <a:t>inst</a:t>
            </a:r>
            <a:r>
              <a:rPr lang="en-US" dirty="0"/>
              <a:t>[11:7]})</a:t>
            </a:r>
          </a:p>
        </p:txBody>
      </p:sp>
      <p:sp>
        <p:nvSpPr>
          <p:cNvPr id="4" name="Date Placeholder 3"/>
          <p:cNvSpPr>
            <a:spLocks noGrp="1"/>
          </p:cNvSpPr>
          <p:nvPr>
            <p:ph type="dt" sz="half" idx="10"/>
          </p:nvPr>
        </p:nvSpPr>
        <p:spPr/>
        <p:txBody>
          <a:bodyPr/>
          <a:lstStyle/>
          <a:p>
            <a:pPr>
              <a:defRPr/>
            </a:pPr>
            <a:r>
              <a:rPr lang="en-US" dirty="0"/>
              <a:t>September 27, 2024</a:t>
            </a:r>
          </a:p>
        </p:txBody>
      </p:sp>
      <p:sp>
        <p:nvSpPr>
          <p:cNvPr id="9" name="Footer Placeholder 8"/>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20" name="Slide Number Placeholder 19"/>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27</a:t>
            </a:fld>
            <a:endParaRPr lang="en-US" dirty="0"/>
          </a:p>
        </p:txBody>
      </p:sp>
      <p:graphicFrame>
        <p:nvGraphicFramePr>
          <p:cNvPr id="53" name="Table 4">
            <a:extLst>
              <a:ext uri="{FF2B5EF4-FFF2-40B4-BE49-F238E27FC236}">
                <a16:creationId xmlns:a16="http://schemas.microsoft.com/office/drawing/2014/main" id="{5C2F1D34-811F-4EFA-B2D2-A3B7EAD0D1A9}"/>
              </a:ext>
            </a:extLst>
          </p:cNvPr>
          <p:cNvGraphicFramePr>
            <a:graphicFrameLocks noGrp="1"/>
          </p:cNvGraphicFramePr>
          <p:nvPr>
            <p:extLst>
              <p:ext uri="{D42A27DB-BD31-4B8C-83A1-F6EECF244321}">
                <p14:modId xmlns:p14="http://schemas.microsoft.com/office/powerpoint/2010/main" val="3381748218"/>
              </p:ext>
            </p:extLst>
          </p:nvPr>
        </p:nvGraphicFramePr>
        <p:xfrm>
          <a:off x="541866" y="3115799"/>
          <a:ext cx="11181828" cy="1707558"/>
        </p:xfrm>
        <a:graphic>
          <a:graphicData uri="http://schemas.openxmlformats.org/drawingml/2006/table">
            <a:tbl>
              <a:tblPr firstRow="1" bandRow="1">
                <a:tableStyleId>{5C22544A-7EE6-4342-B048-85BDC9FD1C3A}</a:tableStyleId>
              </a:tblPr>
              <a:tblGrid>
                <a:gridCol w="1248023">
                  <a:extLst>
                    <a:ext uri="{9D8B030D-6E8A-4147-A177-3AD203B41FA5}">
                      <a16:colId xmlns:a16="http://schemas.microsoft.com/office/drawing/2014/main" val="1721893818"/>
                    </a:ext>
                  </a:extLst>
                </a:gridCol>
                <a:gridCol w="1519004">
                  <a:extLst>
                    <a:ext uri="{9D8B030D-6E8A-4147-A177-3AD203B41FA5}">
                      <a16:colId xmlns:a16="http://schemas.microsoft.com/office/drawing/2014/main" val="3783186759"/>
                    </a:ext>
                  </a:extLst>
                </a:gridCol>
                <a:gridCol w="1402467">
                  <a:extLst>
                    <a:ext uri="{9D8B030D-6E8A-4147-A177-3AD203B41FA5}">
                      <a16:colId xmlns:a16="http://schemas.microsoft.com/office/drawing/2014/main" val="606432339"/>
                    </a:ext>
                  </a:extLst>
                </a:gridCol>
                <a:gridCol w="1315709">
                  <a:extLst>
                    <a:ext uri="{9D8B030D-6E8A-4147-A177-3AD203B41FA5}">
                      <a16:colId xmlns:a16="http://schemas.microsoft.com/office/drawing/2014/main" val="92472603"/>
                    </a:ext>
                  </a:extLst>
                </a:gridCol>
                <a:gridCol w="1185261">
                  <a:extLst>
                    <a:ext uri="{9D8B030D-6E8A-4147-A177-3AD203B41FA5}">
                      <a16:colId xmlns:a16="http://schemas.microsoft.com/office/drawing/2014/main" val="3276777015"/>
                    </a:ext>
                  </a:extLst>
                </a:gridCol>
                <a:gridCol w="1085850">
                  <a:extLst>
                    <a:ext uri="{9D8B030D-6E8A-4147-A177-3AD203B41FA5}">
                      <a16:colId xmlns:a16="http://schemas.microsoft.com/office/drawing/2014/main" val="499702933"/>
                    </a:ext>
                  </a:extLst>
                </a:gridCol>
                <a:gridCol w="1328945">
                  <a:extLst>
                    <a:ext uri="{9D8B030D-6E8A-4147-A177-3AD203B41FA5}">
                      <a16:colId xmlns:a16="http://schemas.microsoft.com/office/drawing/2014/main" val="2002421486"/>
                    </a:ext>
                  </a:extLst>
                </a:gridCol>
                <a:gridCol w="2096569">
                  <a:extLst>
                    <a:ext uri="{9D8B030D-6E8A-4147-A177-3AD203B41FA5}">
                      <a16:colId xmlns:a16="http://schemas.microsoft.com/office/drawing/2014/main" val="2830034558"/>
                    </a:ext>
                  </a:extLst>
                </a:gridCol>
              </a:tblGrid>
              <a:tr h="853779">
                <a:tc>
                  <a:txBody>
                    <a:bodyPr/>
                    <a:lstStyle/>
                    <a:p>
                      <a:r>
                        <a:rPr lang="en-US" sz="2400" dirty="0"/>
                        <a:t>S-type</a:t>
                      </a:r>
                    </a:p>
                  </a:txBody>
                  <a:tcPr marL="121920" marR="121920" marT="60960" marB="60960"/>
                </a:tc>
                <a:tc>
                  <a:txBody>
                    <a:bodyPr/>
                    <a:lstStyle/>
                    <a:p>
                      <a:pPr algn="ctr"/>
                      <a:r>
                        <a:rPr lang="en-US" sz="2000" dirty="0"/>
                        <a:t>immediate</a:t>
                      </a:r>
                    </a:p>
                  </a:txBody>
                  <a:tcPr marL="121920" marR="121920" marT="60960" marB="60960"/>
                </a:tc>
                <a:tc>
                  <a:txBody>
                    <a:bodyPr/>
                    <a:lstStyle/>
                    <a:p>
                      <a:pPr algn="ctr"/>
                      <a:r>
                        <a:rPr lang="en-US" sz="2400" dirty="0"/>
                        <a:t>RS2</a:t>
                      </a:r>
                    </a:p>
                  </a:txBody>
                  <a:tcPr marL="121920" marR="121920" marT="60960" marB="60960"/>
                </a:tc>
                <a:tc>
                  <a:txBody>
                    <a:bodyPr/>
                    <a:lstStyle/>
                    <a:p>
                      <a:r>
                        <a:rPr lang="en-US" sz="2400"/>
                        <a:t>RS1</a:t>
                      </a:r>
                      <a:endParaRPr lang="en-US" sz="2400" dirty="0"/>
                    </a:p>
                  </a:txBody>
                  <a:tcPr marL="121920" marR="121920" marT="60960" marB="60960"/>
                </a:tc>
                <a:tc>
                  <a:txBody>
                    <a:bodyPr/>
                    <a:lstStyle/>
                    <a:p>
                      <a:r>
                        <a:rPr lang="en-US" sz="2400"/>
                        <a:t>funct3</a:t>
                      </a:r>
                      <a:endParaRPr lang="en-US" sz="2400" dirty="0"/>
                    </a:p>
                  </a:txBody>
                  <a:tcPr marL="121920" marR="121920" marT="60960" marB="60960"/>
                </a:tc>
                <a:tc>
                  <a:txBody>
                    <a:bodyPr/>
                    <a:lstStyle/>
                    <a:p>
                      <a:r>
                        <a:rPr lang="en-US" sz="2000" dirty="0" err="1"/>
                        <a:t>immed</a:t>
                      </a:r>
                      <a:endParaRPr lang="en-US" sz="2000" dirty="0"/>
                    </a:p>
                  </a:txBody>
                  <a:tcPr marL="121920" marR="121920" marT="60960" marB="60960"/>
                </a:tc>
                <a:tc>
                  <a:txBody>
                    <a:bodyPr/>
                    <a:lstStyle/>
                    <a:p>
                      <a:r>
                        <a:rPr lang="en-US" sz="2000" dirty="0"/>
                        <a:t>Opcode</a:t>
                      </a:r>
                    </a:p>
                  </a:txBody>
                  <a:tcPr marL="121920" marR="121920" marT="60960" marB="60960"/>
                </a:tc>
                <a:tc>
                  <a:txBody>
                    <a:bodyPr/>
                    <a:lstStyle/>
                    <a:p>
                      <a:pPr algn="ctr"/>
                      <a:r>
                        <a:rPr lang="en-US" sz="2400"/>
                        <a:t>Example</a:t>
                      </a:r>
                      <a:endParaRPr lang="en-US" sz="2400" dirty="0"/>
                    </a:p>
                  </a:txBody>
                  <a:tcPr marL="121920" marR="121920" marT="60960" marB="60960"/>
                </a:tc>
                <a:extLst>
                  <a:ext uri="{0D108BD9-81ED-4DB2-BD59-A6C34878D82A}">
                    <a16:rowId xmlns:a16="http://schemas.microsoft.com/office/drawing/2014/main" val="3752694397"/>
                  </a:ext>
                </a:extLst>
              </a:tr>
              <a:tr h="853779">
                <a:tc>
                  <a:txBody>
                    <a:bodyPr/>
                    <a:lstStyle/>
                    <a:p>
                      <a:r>
                        <a:rPr lang="en-US" sz="2000" dirty="0" err="1"/>
                        <a:t>sw</a:t>
                      </a:r>
                      <a:endParaRPr lang="en-US" sz="2000" dirty="0"/>
                    </a:p>
                  </a:txBody>
                  <a:tcPr marL="121920" marR="121920" marT="60960" marB="60960"/>
                </a:tc>
                <a:tc>
                  <a:txBody>
                    <a:bodyPr/>
                    <a:lstStyle/>
                    <a:p>
                      <a:pPr algn="ctr"/>
                      <a:r>
                        <a:rPr lang="en-US" sz="2000" dirty="0"/>
                        <a:t>0011111</a:t>
                      </a:r>
                    </a:p>
                  </a:txBody>
                  <a:tcPr marL="121920" marR="121920" marT="60960" marB="60960"/>
                </a:tc>
                <a:tc>
                  <a:txBody>
                    <a:bodyPr/>
                    <a:lstStyle/>
                    <a:p>
                      <a:pPr algn="ctr"/>
                      <a:r>
                        <a:rPr lang="en-US" sz="2000" dirty="0"/>
                        <a:t>00001</a:t>
                      </a:r>
                    </a:p>
                  </a:txBody>
                  <a:tcPr marL="121920" marR="121920" marT="60960" marB="60960"/>
                </a:tc>
                <a:tc>
                  <a:txBody>
                    <a:bodyPr/>
                    <a:lstStyle/>
                    <a:p>
                      <a:r>
                        <a:rPr lang="en-US" sz="2000" dirty="0"/>
                        <a:t>00010</a:t>
                      </a:r>
                    </a:p>
                  </a:txBody>
                  <a:tcPr marL="121920" marR="121920" marT="60960" marB="60960"/>
                </a:tc>
                <a:tc>
                  <a:txBody>
                    <a:bodyPr/>
                    <a:lstStyle/>
                    <a:p>
                      <a:r>
                        <a:rPr lang="en-US" sz="2000" dirty="0"/>
                        <a:t>010</a:t>
                      </a:r>
                    </a:p>
                  </a:txBody>
                  <a:tcPr marL="121920" marR="121920" marT="60960" marB="60960"/>
                </a:tc>
                <a:tc>
                  <a:txBody>
                    <a:bodyPr/>
                    <a:lstStyle/>
                    <a:p>
                      <a:r>
                        <a:rPr lang="en-US" sz="2000" dirty="0"/>
                        <a:t>01000</a:t>
                      </a:r>
                    </a:p>
                  </a:txBody>
                  <a:tcPr marL="121920" marR="121920" marT="60960" marB="60960"/>
                </a:tc>
                <a:tc>
                  <a:txBody>
                    <a:bodyPr/>
                    <a:lstStyle/>
                    <a:p>
                      <a:r>
                        <a:rPr lang="en-US" sz="2000" dirty="0"/>
                        <a:t>0100011</a:t>
                      </a:r>
                    </a:p>
                  </a:txBody>
                  <a:tcPr marL="121920" marR="121920" marT="60960" marB="60960"/>
                </a:tc>
                <a:tc>
                  <a:txBody>
                    <a:bodyPr/>
                    <a:lstStyle/>
                    <a:p>
                      <a:r>
                        <a:rPr lang="en-US" sz="2000" dirty="0" err="1"/>
                        <a:t>sw</a:t>
                      </a:r>
                      <a:r>
                        <a:rPr lang="en-US" sz="2000" dirty="0"/>
                        <a:t> x1, 1000(x2)</a:t>
                      </a:r>
                    </a:p>
                  </a:txBody>
                  <a:tcPr marL="121920" marR="121920" marT="60960" marB="60960"/>
                </a:tc>
                <a:extLst>
                  <a:ext uri="{0D108BD9-81ED-4DB2-BD59-A6C34878D82A}">
                    <a16:rowId xmlns:a16="http://schemas.microsoft.com/office/drawing/2014/main" val="266197382"/>
                  </a:ext>
                </a:extLst>
              </a:tr>
            </a:tbl>
          </a:graphicData>
        </a:graphic>
      </p:graphicFrame>
      <p:sp>
        <p:nvSpPr>
          <p:cNvPr id="54" name="Content Placeholder 2">
            <a:extLst>
              <a:ext uri="{FF2B5EF4-FFF2-40B4-BE49-F238E27FC236}">
                <a16:creationId xmlns:a16="http://schemas.microsoft.com/office/drawing/2014/main" id="{1C3B0B05-D99E-4BCE-BA6C-FD3970F07B3A}"/>
              </a:ext>
            </a:extLst>
          </p:cNvPr>
          <p:cNvSpPr>
            <a:spLocks noGrp="1"/>
          </p:cNvSpPr>
          <p:nvPr>
            <p:ph idx="1"/>
          </p:nvPr>
        </p:nvSpPr>
        <p:spPr>
          <a:xfrm>
            <a:off x="541866" y="4894447"/>
            <a:ext cx="11410951" cy="1189621"/>
          </a:xfrm>
        </p:spPr>
        <p:txBody>
          <a:bodyPr/>
          <a:lstStyle/>
          <a:p>
            <a:r>
              <a:rPr lang="en-US" sz="2400" dirty="0"/>
              <a:t>SW needs two operands, rs1 and rs2. In I-type instructions, rs2 is not used. So rs2 is part of the 12b immediate field. Here, rs2 is used, so the 12-bit immediate is split into two parts; one part (5 bits) goes to </a:t>
            </a:r>
            <a:r>
              <a:rPr lang="en-US" sz="2400" dirty="0" err="1"/>
              <a:t>rd</a:t>
            </a:r>
            <a:r>
              <a:rPr lang="en-US" sz="2400" dirty="0"/>
              <a:t>, and 7 bits remain in the original immediate field.</a:t>
            </a:r>
          </a:p>
        </p:txBody>
      </p:sp>
    </p:spTree>
    <p:extLst>
      <p:ext uri="{BB962C8B-B14F-4D97-AF65-F5344CB8AC3E}">
        <p14:creationId xmlns:p14="http://schemas.microsoft.com/office/powerpoint/2010/main" val="11689308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3601" y="36837"/>
            <a:ext cx="8124967" cy="809971"/>
          </a:xfrm>
        </p:spPr>
        <p:txBody>
          <a:bodyPr/>
          <a:lstStyle/>
          <a:p>
            <a:r>
              <a:rPr lang="en-US" dirty="0"/>
              <a:t>Store Instructions (S)</a:t>
            </a:r>
          </a:p>
        </p:txBody>
      </p:sp>
      <p:sp>
        <p:nvSpPr>
          <p:cNvPr id="3" name="Content Placeholder 2"/>
          <p:cNvSpPr>
            <a:spLocks noGrp="1"/>
          </p:cNvSpPr>
          <p:nvPr>
            <p:ph idx="1"/>
          </p:nvPr>
        </p:nvSpPr>
        <p:spPr>
          <a:xfrm>
            <a:off x="1804867" y="1795950"/>
            <a:ext cx="7772400" cy="4114800"/>
          </a:xfrm>
        </p:spPr>
        <p:txBody>
          <a:bodyPr/>
          <a:lstStyle/>
          <a:p>
            <a:pPr marL="457176" lvl="1" indent="0">
              <a:buNone/>
            </a:pPr>
            <a:endParaRPr lang="en-US" sz="2000" dirty="0"/>
          </a:p>
          <a:p>
            <a:r>
              <a:rPr lang="en-US" sz="2400" dirty="0">
                <a:sym typeface="Wingdings" panose="05000000000000000000" pitchFamily="2" charset="2"/>
              </a:rPr>
              <a:t>Store (S-type)</a:t>
            </a:r>
          </a:p>
          <a:p>
            <a:pPr lvl="1"/>
            <a:r>
              <a:rPr lang="en-US" sz="2000" dirty="0">
                <a:sym typeface="Wingdings" panose="05000000000000000000" pitchFamily="2" charset="2"/>
              </a:rPr>
              <a:t>opcode = STORE: </a:t>
            </a:r>
            <a:r>
              <a:rPr lang="en-US" sz="2000" dirty="0">
                <a:solidFill>
                  <a:srgbClr val="56127A"/>
                </a:solidFill>
                <a:sym typeface="Wingdings" panose="05000000000000000000" pitchFamily="2" charset="2"/>
              </a:rPr>
              <a:t>mem[rs1 + S-</a:t>
            </a:r>
            <a:r>
              <a:rPr lang="en-US" sz="2000" dirty="0" err="1">
                <a:solidFill>
                  <a:srgbClr val="56127A"/>
                </a:solidFill>
                <a:sym typeface="Wingdings" panose="05000000000000000000" pitchFamily="2" charset="2"/>
              </a:rPr>
              <a:t>imm</a:t>
            </a:r>
            <a:r>
              <a:rPr lang="en-US" sz="2000" dirty="0">
                <a:solidFill>
                  <a:srgbClr val="56127A"/>
                </a:solidFill>
                <a:sym typeface="Wingdings" panose="05000000000000000000" pitchFamily="2" charset="2"/>
              </a:rPr>
              <a:t>]  rs2</a:t>
            </a:r>
          </a:p>
          <a:p>
            <a:pPr lvl="1"/>
            <a:r>
              <a:rPr lang="en-US" sz="2000" dirty="0"/>
              <a:t>S-</a:t>
            </a:r>
            <a:r>
              <a:rPr lang="en-US" sz="2000" dirty="0" err="1"/>
              <a:t>imm</a:t>
            </a:r>
            <a:r>
              <a:rPr lang="en-US" sz="2000" dirty="0"/>
              <a:t> = </a:t>
            </a:r>
            <a:r>
              <a:rPr lang="en-US" sz="2000" dirty="0" err="1"/>
              <a:t>signExtend</a:t>
            </a:r>
            <a:r>
              <a:rPr lang="en-US" sz="2000" dirty="0"/>
              <a:t>({</a:t>
            </a:r>
            <a:r>
              <a:rPr lang="en-US" sz="2000" dirty="0" err="1"/>
              <a:t>inst</a:t>
            </a:r>
            <a:r>
              <a:rPr lang="en-US" sz="2000" dirty="0"/>
              <a:t>[31:25], </a:t>
            </a:r>
            <a:r>
              <a:rPr lang="en-US" sz="2000" dirty="0" err="1"/>
              <a:t>inst</a:t>
            </a:r>
            <a:r>
              <a:rPr lang="en-US" sz="2000" dirty="0"/>
              <a:t>[11:7]})</a:t>
            </a:r>
          </a:p>
          <a:p>
            <a:pPr lvl="1"/>
            <a:r>
              <a:rPr lang="en-US" sz="2000" dirty="0"/>
              <a:t>funct3 = SW/SB/SH</a:t>
            </a:r>
          </a:p>
        </p:txBody>
      </p:sp>
      <p:grpSp>
        <p:nvGrpSpPr>
          <p:cNvPr id="20" name="Group 19"/>
          <p:cNvGrpSpPr/>
          <p:nvPr/>
        </p:nvGrpSpPr>
        <p:grpSpPr>
          <a:xfrm>
            <a:off x="1804867" y="1035728"/>
            <a:ext cx="8081827" cy="646103"/>
            <a:chOff x="896575" y="2124293"/>
            <a:chExt cx="7729174" cy="646103"/>
          </a:xfrm>
        </p:grpSpPr>
        <p:sp>
          <p:nvSpPr>
            <p:cNvPr id="21" name="TextBox 20"/>
            <p:cNvSpPr txBox="1"/>
            <p:nvPr/>
          </p:nvSpPr>
          <p:spPr>
            <a:xfrm>
              <a:off x="896575" y="2416453"/>
              <a:ext cx="1569607"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[11:5]</a:t>
              </a:r>
            </a:p>
          </p:txBody>
        </p:sp>
        <p:sp>
          <p:nvSpPr>
            <p:cNvPr id="22" name="TextBox 21"/>
            <p:cNvSpPr txBox="1"/>
            <p:nvPr/>
          </p:nvSpPr>
          <p:spPr>
            <a:xfrm>
              <a:off x="2466181" y="2416453"/>
              <a:ext cx="1227930"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rs2</a:t>
              </a:r>
            </a:p>
          </p:txBody>
        </p:sp>
        <p:sp>
          <p:nvSpPr>
            <p:cNvPr id="23" name="TextBox 22"/>
            <p:cNvSpPr txBox="1"/>
            <p:nvPr/>
          </p:nvSpPr>
          <p:spPr>
            <a:xfrm>
              <a:off x="4922040" y="2416453"/>
              <a:ext cx="91201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24" name="TextBox 23"/>
            <p:cNvSpPr txBox="1"/>
            <p:nvPr/>
          </p:nvSpPr>
          <p:spPr>
            <a:xfrm>
              <a:off x="3694111" y="2416453"/>
              <a:ext cx="1227932"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25" name="TextBox 24"/>
            <p:cNvSpPr txBox="1"/>
            <p:nvPr/>
          </p:nvSpPr>
          <p:spPr>
            <a:xfrm>
              <a:off x="5834060" y="2416453"/>
              <a:ext cx="12262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[4:0]</a:t>
              </a:r>
            </a:p>
          </p:txBody>
        </p:sp>
        <p:sp>
          <p:nvSpPr>
            <p:cNvPr id="26" name="TextBox 25"/>
            <p:cNvSpPr txBox="1"/>
            <p:nvPr/>
          </p:nvSpPr>
          <p:spPr>
            <a:xfrm>
              <a:off x="7060323" y="2416453"/>
              <a:ext cx="1565426"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27" name="TextBox 26"/>
            <p:cNvSpPr txBox="1"/>
            <p:nvPr/>
          </p:nvSpPr>
          <p:spPr>
            <a:xfrm>
              <a:off x="1534819" y="2124293"/>
              <a:ext cx="293120" cy="353943"/>
            </a:xfrm>
            <a:prstGeom prst="rect">
              <a:avLst/>
            </a:prstGeom>
            <a:noFill/>
          </p:spPr>
          <p:txBody>
            <a:bodyPr wrap="none" rtlCol="0">
              <a:spAutoFit/>
            </a:bodyPr>
            <a:lstStyle/>
            <a:p>
              <a:pPr algn="ctr"/>
              <a:r>
                <a:rPr lang="en-US" sz="1700" dirty="0"/>
                <a:t>7</a:t>
              </a:r>
            </a:p>
          </p:txBody>
        </p:sp>
        <p:sp>
          <p:nvSpPr>
            <p:cNvPr id="28" name="TextBox 27"/>
            <p:cNvSpPr txBox="1"/>
            <p:nvPr/>
          </p:nvSpPr>
          <p:spPr>
            <a:xfrm>
              <a:off x="2933942" y="2124293"/>
              <a:ext cx="293120" cy="353943"/>
            </a:xfrm>
            <a:prstGeom prst="rect">
              <a:avLst/>
            </a:prstGeom>
            <a:noFill/>
          </p:spPr>
          <p:txBody>
            <a:bodyPr wrap="none" rtlCol="0">
              <a:spAutoFit/>
            </a:bodyPr>
            <a:lstStyle/>
            <a:p>
              <a:pPr algn="ctr"/>
              <a:r>
                <a:rPr lang="en-US" sz="1700" dirty="0"/>
                <a:t>5</a:t>
              </a:r>
            </a:p>
          </p:txBody>
        </p:sp>
        <p:sp>
          <p:nvSpPr>
            <p:cNvPr id="29" name="TextBox 28"/>
            <p:cNvSpPr txBox="1"/>
            <p:nvPr/>
          </p:nvSpPr>
          <p:spPr>
            <a:xfrm>
              <a:off x="4161517" y="2124293"/>
              <a:ext cx="293120" cy="353943"/>
            </a:xfrm>
            <a:prstGeom prst="rect">
              <a:avLst/>
            </a:prstGeom>
            <a:noFill/>
          </p:spPr>
          <p:txBody>
            <a:bodyPr wrap="none" rtlCol="0">
              <a:spAutoFit/>
            </a:bodyPr>
            <a:lstStyle/>
            <a:p>
              <a:pPr algn="ctr"/>
              <a:r>
                <a:rPr lang="en-US" sz="1700" dirty="0"/>
                <a:t>5</a:t>
              </a:r>
            </a:p>
          </p:txBody>
        </p:sp>
        <p:sp>
          <p:nvSpPr>
            <p:cNvPr id="30" name="TextBox 29"/>
            <p:cNvSpPr txBox="1"/>
            <p:nvPr/>
          </p:nvSpPr>
          <p:spPr>
            <a:xfrm>
              <a:off x="5227520" y="2124293"/>
              <a:ext cx="293120" cy="353943"/>
            </a:xfrm>
            <a:prstGeom prst="rect">
              <a:avLst/>
            </a:prstGeom>
            <a:noFill/>
          </p:spPr>
          <p:txBody>
            <a:bodyPr wrap="none" rtlCol="0">
              <a:spAutoFit/>
            </a:bodyPr>
            <a:lstStyle/>
            <a:p>
              <a:pPr algn="ctr"/>
              <a:r>
                <a:rPr lang="en-US" sz="1700" dirty="0"/>
                <a:t>3</a:t>
              </a:r>
            </a:p>
          </p:txBody>
        </p:sp>
        <p:sp>
          <p:nvSpPr>
            <p:cNvPr id="31" name="TextBox 30"/>
            <p:cNvSpPr txBox="1"/>
            <p:nvPr/>
          </p:nvSpPr>
          <p:spPr>
            <a:xfrm>
              <a:off x="6303580" y="2124293"/>
              <a:ext cx="293120" cy="353943"/>
            </a:xfrm>
            <a:prstGeom prst="rect">
              <a:avLst/>
            </a:prstGeom>
            <a:noFill/>
          </p:spPr>
          <p:txBody>
            <a:bodyPr wrap="none" rtlCol="0">
              <a:spAutoFit/>
            </a:bodyPr>
            <a:lstStyle/>
            <a:p>
              <a:pPr algn="ctr"/>
              <a:r>
                <a:rPr lang="en-US" sz="1700" dirty="0"/>
                <a:t>5</a:t>
              </a:r>
            </a:p>
          </p:txBody>
        </p:sp>
        <p:sp>
          <p:nvSpPr>
            <p:cNvPr id="32" name="TextBox 31"/>
            <p:cNvSpPr txBox="1"/>
            <p:nvPr/>
          </p:nvSpPr>
          <p:spPr>
            <a:xfrm>
              <a:off x="7696477" y="2124293"/>
              <a:ext cx="293120" cy="353943"/>
            </a:xfrm>
            <a:prstGeom prst="rect">
              <a:avLst/>
            </a:prstGeom>
            <a:noFill/>
          </p:spPr>
          <p:txBody>
            <a:bodyPr wrap="none" rtlCol="0">
              <a:spAutoFit/>
            </a:bodyPr>
            <a:lstStyle/>
            <a:p>
              <a:pPr algn="ctr"/>
              <a:r>
                <a:rPr lang="en-US" sz="1700" dirty="0"/>
                <a:t>7</a:t>
              </a:r>
            </a:p>
          </p:txBody>
        </p:sp>
      </p:grpSp>
      <p:sp>
        <p:nvSpPr>
          <p:cNvPr id="5" name="Date Placeholder 4"/>
          <p:cNvSpPr>
            <a:spLocks noGrp="1"/>
          </p:cNvSpPr>
          <p:nvPr>
            <p:ph type="dt" sz="half" idx="10"/>
          </p:nvPr>
        </p:nvSpPr>
        <p:spPr/>
        <p:txBody>
          <a:bodyPr/>
          <a:lstStyle/>
          <a:p>
            <a:pPr>
              <a:defRPr/>
            </a:pPr>
            <a:r>
              <a:rPr lang="en-US" dirty="0"/>
              <a:t>September 27, 2024</a:t>
            </a:r>
          </a:p>
        </p:txBody>
      </p:sp>
      <p:sp>
        <p:nvSpPr>
          <p:cNvPr id="6" name="Footer Placeholder 5"/>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7" name="Slide Number Placeholder 6"/>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28</a:t>
            </a:fld>
            <a:endParaRPr lang="en-US" dirty="0"/>
          </a:p>
        </p:txBody>
      </p:sp>
      <p:sp>
        <p:nvSpPr>
          <p:cNvPr id="33" name="TextBox 32">
            <a:extLst>
              <a:ext uri="{FF2B5EF4-FFF2-40B4-BE49-F238E27FC236}">
                <a16:creationId xmlns:a16="http://schemas.microsoft.com/office/drawing/2014/main" id="{24B69F15-0A23-49A4-A203-F95227C6BB2B}"/>
              </a:ext>
            </a:extLst>
          </p:cNvPr>
          <p:cNvSpPr txBox="1"/>
          <p:nvPr/>
        </p:nvSpPr>
        <p:spPr>
          <a:xfrm>
            <a:off x="2004716" y="4140371"/>
            <a:ext cx="6113834" cy="1938992"/>
          </a:xfrm>
          <a:prstGeom prst="rect">
            <a:avLst/>
          </a:prstGeom>
          <a:noFill/>
        </p:spPr>
        <p:txBody>
          <a:bodyPr wrap="square">
            <a:spAutoFit/>
          </a:bodyPr>
          <a:lstStyle/>
          <a:p>
            <a:r>
              <a:rPr lang="en-US" sz="2400" dirty="0"/>
              <a:t>Examples:</a:t>
            </a:r>
          </a:p>
          <a:p>
            <a:r>
              <a:rPr lang="en-US" sz="2400" dirty="0"/>
              <a:t>SD x31, 1000(x2)</a:t>
            </a:r>
          </a:p>
          <a:p>
            <a:r>
              <a:rPr lang="en-US" sz="2400" dirty="0"/>
              <a:t>SW x1,   0(x2)</a:t>
            </a:r>
          </a:p>
          <a:p>
            <a:r>
              <a:rPr lang="en-US" sz="2400" dirty="0"/>
              <a:t>SW x0,   4(x2)</a:t>
            </a:r>
          </a:p>
          <a:p>
            <a:r>
              <a:rPr lang="en-US" sz="2400" dirty="0"/>
              <a:t>SB  x1,   1(x2)</a:t>
            </a:r>
          </a:p>
        </p:txBody>
      </p:sp>
    </p:spTree>
    <p:extLst>
      <p:ext uri="{BB962C8B-B14F-4D97-AF65-F5344CB8AC3E}">
        <p14:creationId xmlns:p14="http://schemas.microsoft.com/office/powerpoint/2010/main" val="38247178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3601" y="36837"/>
            <a:ext cx="8124967" cy="809971"/>
          </a:xfrm>
        </p:spPr>
        <p:txBody>
          <a:bodyPr/>
          <a:lstStyle/>
          <a:p>
            <a:r>
              <a:rPr lang="en-US" dirty="0"/>
              <a:t>Store Instructions (S)</a:t>
            </a:r>
          </a:p>
        </p:txBody>
      </p:sp>
      <p:sp>
        <p:nvSpPr>
          <p:cNvPr id="3" name="Content Placeholder 2"/>
          <p:cNvSpPr>
            <a:spLocks noGrp="1"/>
          </p:cNvSpPr>
          <p:nvPr>
            <p:ph idx="1"/>
          </p:nvPr>
        </p:nvSpPr>
        <p:spPr>
          <a:xfrm>
            <a:off x="1804867" y="1795950"/>
            <a:ext cx="7772400" cy="4114800"/>
          </a:xfrm>
        </p:spPr>
        <p:txBody>
          <a:bodyPr/>
          <a:lstStyle/>
          <a:p>
            <a:pPr marL="457176" lvl="1" indent="0">
              <a:buNone/>
            </a:pPr>
            <a:endParaRPr lang="en-US" sz="2000" dirty="0"/>
          </a:p>
          <a:p>
            <a:r>
              <a:rPr lang="en-US" sz="2400" dirty="0">
                <a:sym typeface="Wingdings" panose="05000000000000000000" pitchFamily="2" charset="2"/>
              </a:rPr>
              <a:t>Store (S-type)</a:t>
            </a:r>
          </a:p>
          <a:p>
            <a:pPr lvl="1"/>
            <a:r>
              <a:rPr lang="en-US" sz="2000" dirty="0">
                <a:sym typeface="Wingdings" panose="05000000000000000000" pitchFamily="2" charset="2"/>
              </a:rPr>
              <a:t>opcode = STORE: </a:t>
            </a:r>
            <a:r>
              <a:rPr lang="en-US" sz="2000" dirty="0">
                <a:solidFill>
                  <a:srgbClr val="56127A"/>
                </a:solidFill>
                <a:sym typeface="Wingdings" panose="05000000000000000000" pitchFamily="2" charset="2"/>
              </a:rPr>
              <a:t>mem[rs1 + S-</a:t>
            </a:r>
            <a:r>
              <a:rPr lang="en-US" sz="2000" dirty="0" err="1">
                <a:solidFill>
                  <a:srgbClr val="56127A"/>
                </a:solidFill>
                <a:sym typeface="Wingdings" panose="05000000000000000000" pitchFamily="2" charset="2"/>
              </a:rPr>
              <a:t>imm</a:t>
            </a:r>
            <a:r>
              <a:rPr lang="en-US" sz="2000" dirty="0">
                <a:solidFill>
                  <a:srgbClr val="56127A"/>
                </a:solidFill>
                <a:sym typeface="Wingdings" panose="05000000000000000000" pitchFamily="2" charset="2"/>
              </a:rPr>
              <a:t>]  rs2</a:t>
            </a:r>
          </a:p>
          <a:p>
            <a:pPr lvl="1"/>
            <a:r>
              <a:rPr lang="en-US" sz="2000" dirty="0"/>
              <a:t>S-</a:t>
            </a:r>
            <a:r>
              <a:rPr lang="en-US" sz="2000" dirty="0" err="1"/>
              <a:t>imm</a:t>
            </a:r>
            <a:r>
              <a:rPr lang="en-US" sz="2000" dirty="0"/>
              <a:t> = </a:t>
            </a:r>
            <a:r>
              <a:rPr lang="en-US" sz="2000" dirty="0" err="1"/>
              <a:t>signExtend</a:t>
            </a:r>
            <a:r>
              <a:rPr lang="en-US" sz="2000" dirty="0"/>
              <a:t>({</a:t>
            </a:r>
            <a:r>
              <a:rPr lang="en-US" sz="2000" dirty="0" err="1"/>
              <a:t>inst</a:t>
            </a:r>
            <a:r>
              <a:rPr lang="en-US" sz="2000" dirty="0"/>
              <a:t>[31:25], </a:t>
            </a:r>
            <a:r>
              <a:rPr lang="en-US" sz="2000" dirty="0" err="1"/>
              <a:t>inst</a:t>
            </a:r>
            <a:r>
              <a:rPr lang="en-US" sz="2000" dirty="0"/>
              <a:t>[11:7]})</a:t>
            </a:r>
          </a:p>
          <a:p>
            <a:pPr lvl="1"/>
            <a:r>
              <a:rPr lang="en-US" sz="2000" dirty="0"/>
              <a:t>funct3 = SW/SB/SH</a:t>
            </a:r>
          </a:p>
        </p:txBody>
      </p:sp>
      <p:grpSp>
        <p:nvGrpSpPr>
          <p:cNvPr id="20" name="Group 19"/>
          <p:cNvGrpSpPr/>
          <p:nvPr/>
        </p:nvGrpSpPr>
        <p:grpSpPr>
          <a:xfrm>
            <a:off x="1804867" y="1035728"/>
            <a:ext cx="8081827" cy="646103"/>
            <a:chOff x="896575" y="2124293"/>
            <a:chExt cx="7729174" cy="646103"/>
          </a:xfrm>
        </p:grpSpPr>
        <p:sp>
          <p:nvSpPr>
            <p:cNvPr id="21" name="TextBox 20"/>
            <p:cNvSpPr txBox="1"/>
            <p:nvPr/>
          </p:nvSpPr>
          <p:spPr>
            <a:xfrm>
              <a:off x="896575" y="2416453"/>
              <a:ext cx="1569607"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[11:5]</a:t>
              </a:r>
            </a:p>
          </p:txBody>
        </p:sp>
        <p:sp>
          <p:nvSpPr>
            <p:cNvPr id="22" name="TextBox 21"/>
            <p:cNvSpPr txBox="1"/>
            <p:nvPr/>
          </p:nvSpPr>
          <p:spPr>
            <a:xfrm>
              <a:off x="2466181" y="2416453"/>
              <a:ext cx="1227930"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rs2</a:t>
              </a:r>
            </a:p>
          </p:txBody>
        </p:sp>
        <p:sp>
          <p:nvSpPr>
            <p:cNvPr id="23" name="TextBox 22"/>
            <p:cNvSpPr txBox="1"/>
            <p:nvPr/>
          </p:nvSpPr>
          <p:spPr>
            <a:xfrm>
              <a:off x="4922040" y="2416453"/>
              <a:ext cx="91201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24" name="TextBox 23"/>
            <p:cNvSpPr txBox="1"/>
            <p:nvPr/>
          </p:nvSpPr>
          <p:spPr>
            <a:xfrm>
              <a:off x="3694111" y="2416453"/>
              <a:ext cx="1227932"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25" name="TextBox 24"/>
            <p:cNvSpPr txBox="1"/>
            <p:nvPr/>
          </p:nvSpPr>
          <p:spPr>
            <a:xfrm>
              <a:off x="5834060" y="2416453"/>
              <a:ext cx="12262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[4:0]</a:t>
              </a:r>
            </a:p>
          </p:txBody>
        </p:sp>
        <p:sp>
          <p:nvSpPr>
            <p:cNvPr id="26" name="TextBox 25"/>
            <p:cNvSpPr txBox="1"/>
            <p:nvPr/>
          </p:nvSpPr>
          <p:spPr>
            <a:xfrm>
              <a:off x="7060323" y="2416453"/>
              <a:ext cx="1565426"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27" name="TextBox 26"/>
            <p:cNvSpPr txBox="1"/>
            <p:nvPr/>
          </p:nvSpPr>
          <p:spPr>
            <a:xfrm>
              <a:off x="1534819" y="2124293"/>
              <a:ext cx="293120" cy="353943"/>
            </a:xfrm>
            <a:prstGeom prst="rect">
              <a:avLst/>
            </a:prstGeom>
            <a:noFill/>
          </p:spPr>
          <p:txBody>
            <a:bodyPr wrap="none" rtlCol="0">
              <a:spAutoFit/>
            </a:bodyPr>
            <a:lstStyle/>
            <a:p>
              <a:pPr algn="ctr"/>
              <a:r>
                <a:rPr lang="en-US" sz="1700" dirty="0"/>
                <a:t>7</a:t>
              </a:r>
            </a:p>
          </p:txBody>
        </p:sp>
        <p:sp>
          <p:nvSpPr>
            <p:cNvPr id="28" name="TextBox 27"/>
            <p:cNvSpPr txBox="1"/>
            <p:nvPr/>
          </p:nvSpPr>
          <p:spPr>
            <a:xfrm>
              <a:off x="2933942" y="2124293"/>
              <a:ext cx="293120" cy="353943"/>
            </a:xfrm>
            <a:prstGeom prst="rect">
              <a:avLst/>
            </a:prstGeom>
            <a:noFill/>
          </p:spPr>
          <p:txBody>
            <a:bodyPr wrap="none" rtlCol="0">
              <a:spAutoFit/>
            </a:bodyPr>
            <a:lstStyle/>
            <a:p>
              <a:pPr algn="ctr"/>
              <a:r>
                <a:rPr lang="en-US" sz="1700" dirty="0"/>
                <a:t>5</a:t>
              </a:r>
            </a:p>
          </p:txBody>
        </p:sp>
        <p:sp>
          <p:nvSpPr>
            <p:cNvPr id="29" name="TextBox 28"/>
            <p:cNvSpPr txBox="1"/>
            <p:nvPr/>
          </p:nvSpPr>
          <p:spPr>
            <a:xfrm>
              <a:off x="4161517" y="2124293"/>
              <a:ext cx="293120" cy="353943"/>
            </a:xfrm>
            <a:prstGeom prst="rect">
              <a:avLst/>
            </a:prstGeom>
            <a:noFill/>
          </p:spPr>
          <p:txBody>
            <a:bodyPr wrap="none" rtlCol="0">
              <a:spAutoFit/>
            </a:bodyPr>
            <a:lstStyle/>
            <a:p>
              <a:pPr algn="ctr"/>
              <a:r>
                <a:rPr lang="en-US" sz="1700" dirty="0"/>
                <a:t>5</a:t>
              </a:r>
            </a:p>
          </p:txBody>
        </p:sp>
        <p:sp>
          <p:nvSpPr>
            <p:cNvPr id="30" name="TextBox 29"/>
            <p:cNvSpPr txBox="1"/>
            <p:nvPr/>
          </p:nvSpPr>
          <p:spPr>
            <a:xfrm>
              <a:off x="5227520" y="2124293"/>
              <a:ext cx="293120" cy="353943"/>
            </a:xfrm>
            <a:prstGeom prst="rect">
              <a:avLst/>
            </a:prstGeom>
            <a:noFill/>
          </p:spPr>
          <p:txBody>
            <a:bodyPr wrap="none" rtlCol="0">
              <a:spAutoFit/>
            </a:bodyPr>
            <a:lstStyle/>
            <a:p>
              <a:pPr algn="ctr"/>
              <a:r>
                <a:rPr lang="en-US" sz="1700" dirty="0"/>
                <a:t>3</a:t>
              </a:r>
            </a:p>
          </p:txBody>
        </p:sp>
        <p:sp>
          <p:nvSpPr>
            <p:cNvPr id="31" name="TextBox 30"/>
            <p:cNvSpPr txBox="1"/>
            <p:nvPr/>
          </p:nvSpPr>
          <p:spPr>
            <a:xfrm>
              <a:off x="6303580" y="2124293"/>
              <a:ext cx="293120" cy="353943"/>
            </a:xfrm>
            <a:prstGeom prst="rect">
              <a:avLst/>
            </a:prstGeom>
            <a:noFill/>
          </p:spPr>
          <p:txBody>
            <a:bodyPr wrap="none" rtlCol="0">
              <a:spAutoFit/>
            </a:bodyPr>
            <a:lstStyle/>
            <a:p>
              <a:pPr algn="ctr"/>
              <a:r>
                <a:rPr lang="en-US" sz="1700" dirty="0"/>
                <a:t>5</a:t>
              </a:r>
            </a:p>
          </p:txBody>
        </p:sp>
        <p:sp>
          <p:nvSpPr>
            <p:cNvPr id="32" name="TextBox 31"/>
            <p:cNvSpPr txBox="1"/>
            <p:nvPr/>
          </p:nvSpPr>
          <p:spPr>
            <a:xfrm>
              <a:off x="7696477" y="2124293"/>
              <a:ext cx="293120" cy="353943"/>
            </a:xfrm>
            <a:prstGeom prst="rect">
              <a:avLst/>
            </a:prstGeom>
            <a:noFill/>
          </p:spPr>
          <p:txBody>
            <a:bodyPr wrap="none" rtlCol="0">
              <a:spAutoFit/>
            </a:bodyPr>
            <a:lstStyle/>
            <a:p>
              <a:pPr algn="ctr"/>
              <a:r>
                <a:rPr lang="en-US" sz="1700" dirty="0"/>
                <a:t>7</a:t>
              </a:r>
            </a:p>
          </p:txBody>
        </p:sp>
      </p:grpSp>
      <p:sp>
        <p:nvSpPr>
          <p:cNvPr id="5" name="Date Placeholder 4"/>
          <p:cNvSpPr>
            <a:spLocks noGrp="1"/>
          </p:cNvSpPr>
          <p:nvPr>
            <p:ph type="dt" sz="half" idx="10"/>
          </p:nvPr>
        </p:nvSpPr>
        <p:spPr/>
        <p:txBody>
          <a:bodyPr/>
          <a:lstStyle/>
          <a:p>
            <a:pPr>
              <a:defRPr/>
            </a:pPr>
            <a:r>
              <a:rPr lang="en-US"/>
              <a:t>September 27, 2017</a:t>
            </a:r>
            <a:endParaRPr lang="en-US" dirty="0"/>
          </a:p>
        </p:txBody>
      </p:sp>
      <p:sp>
        <p:nvSpPr>
          <p:cNvPr id="6" name="Footer Placeholder 5"/>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7" name="Slide Number Placeholder 6"/>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29</a:t>
            </a:fld>
            <a:endParaRPr lang="en-US" dirty="0"/>
          </a:p>
        </p:txBody>
      </p:sp>
      <p:sp>
        <p:nvSpPr>
          <p:cNvPr id="33" name="TextBox 32">
            <a:extLst>
              <a:ext uri="{FF2B5EF4-FFF2-40B4-BE49-F238E27FC236}">
                <a16:creationId xmlns:a16="http://schemas.microsoft.com/office/drawing/2014/main" id="{24B69F15-0A23-49A4-A203-F95227C6BB2B}"/>
              </a:ext>
            </a:extLst>
          </p:cNvPr>
          <p:cNvSpPr txBox="1"/>
          <p:nvPr/>
        </p:nvSpPr>
        <p:spPr>
          <a:xfrm>
            <a:off x="2004716" y="4140371"/>
            <a:ext cx="6113834" cy="1938992"/>
          </a:xfrm>
          <a:prstGeom prst="rect">
            <a:avLst/>
          </a:prstGeom>
          <a:noFill/>
        </p:spPr>
        <p:txBody>
          <a:bodyPr wrap="square">
            <a:spAutoFit/>
          </a:bodyPr>
          <a:lstStyle/>
          <a:p>
            <a:r>
              <a:rPr lang="en-US" sz="2400" dirty="0"/>
              <a:t>Examples:</a:t>
            </a:r>
          </a:p>
          <a:p>
            <a:r>
              <a:rPr lang="en-US" sz="2400" dirty="0"/>
              <a:t>SD x31, 1000(x2)</a:t>
            </a:r>
          </a:p>
          <a:p>
            <a:r>
              <a:rPr lang="en-US" sz="2400" dirty="0"/>
              <a:t>SW x1,   0(x2)</a:t>
            </a:r>
          </a:p>
          <a:p>
            <a:r>
              <a:rPr lang="en-US" sz="2400" dirty="0"/>
              <a:t>SW x0,   4(x2)</a:t>
            </a:r>
          </a:p>
          <a:p>
            <a:r>
              <a:rPr lang="en-US" sz="2400" dirty="0"/>
              <a:t>SB  x1,   1(x2)</a:t>
            </a:r>
          </a:p>
        </p:txBody>
      </p:sp>
      <p:sp>
        <p:nvSpPr>
          <p:cNvPr id="4" name="TextBox 3">
            <a:extLst>
              <a:ext uri="{FF2B5EF4-FFF2-40B4-BE49-F238E27FC236}">
                <a16:creationId xmlns:a16="http://schemas.microsoft.com/office/drawing/2014/main" id="{CA28E5C1-4C61-49B1-820D-0CA30745CEFD}"/>
              </a:ext>
            </a:extLst>
          </p:cNvPr>
          <p:cNvSpPr txBox="1"/>
          <p:nvPr/>
        </p:nvSpPr>
        <p:spPr>
          <a:xfrm>
            <a:off x="6379513" y="4157621"/>
            <a:ext cx="2775119" cy="1754326"/>
          </a:xfrm>
          <a:prstGeom prst="rect">
            <a:avLst/>
          </a:prstGeom>
          <a:noFill/>
        </p:spPr>
        <p:txBody>
          <a:bodyPr wrap="none" rtlCol="0" anchor="ctr" anchorCtr="1">
            <a:spAutoFit/>
          </a:bodyPr>
          <a:lstStyle/>
          <a:p>
            <a:r>
              <a:rPr lang="en-US" dirty="0">
                <a:ea typeface="標楷體" pitchFamily="65" charset="-120"/>
                <a:cs typeface="Calibri" pitchFamily="34" charset="0"/>
              </a:rPr>
              <a:t>Store to a local variable c</a:t>
            </a:r>
          </a:p>
          <a:p>
            <a:r>
              <a:rPr lang="en-US" dirty="0" err="1">
                <a:ea typeface="標楷體" pitchFamily="65" charset="-120"/>
                <a:cs typeface="Calibri" pitchFamily="34" charset="0"/>
              </a:rPr>
              <a:t>Sw</a:t>
            </a:r>
            <a:r>
              <a:rPr lang="en-US" dirty="0">
                <a:ea typeface="標楷體" pitchFamily="65" charset="-120"/>
                <a:cs typeface="Calibri" pitchFamily="34" charset="0"/>
              </a:rPr>
              <a:t> X1, -4(</a:t>
            </a:r>
            <a:r>
              <a:rPr lang="en-US" dirty="0" err="1">
                <a:ea typeface="標楷體" pitchFamily="65" charset="-120"/>
                <a:cs typeface="Calibri" pitchFamily="34" charset="0"/>
              </a:rPr>
              <a:t>fp</a:t>
            </a:r>
            <a:r>
              <a:rPr lang="en-US" dirty="0">
                <a:ea typeface="標楷體" pitchFamily="65" charset="-120"/>
                <a:cs typeface="Calibri" pitchFamily="34" charset="0"/>
              </a:rPr>
              <a:t>)</a:t>
            </a:r>
          </a:p>
          <a:p>
            <a:r>
              <a:rPr lang="en-US" dirty="0">
                <a:ea typeface="標楷體" pitchFamily="65" charset="-120"/>
                <a:cs typeface="Calibri" pitchFamily="34" charset="0"/>
              </a:rPr>
              <a:t>Store to array d[0]</a:t>
            </a:r>
          </a:p>
          <a:p>
            <a:r>
              <a:rPr lang="en-US" dirty="0" err="1">
                <a:ea typeface="標楷體" pitchFamily="65" charset="-120"/>
                <a:cs typeface="Calibri" pitchFamily="34" charset="0"/>
              </a:rPr>
              <a:t>Sw</a:t>
            </a:r>
            <a:r>
              <a:rPr lang="en-US" dirty="0">
                <a:ea typeface="標楷體" pitchFamily="65" charset="-120"/>
                <a:cs typeface="Calibri" pitchFamily="34" charset="0"/>
              </a:rPr>
              <a:t> X1, -20(</a:t>
            </a:r>
            <a:r>
              <a:rPr lang="en-US" dirty="0" err="1">
                <a:ea typeface="標楷體" pitchFamily="65" charset="-120"/>
                <a:cs typeface="Calibri" pitchFamily="34" charset="0"/>
              </a:rPr>
              <a:t>fp</a:t>
            </a:r>
            <a:r>
              <a:rPr lang="en-US" dirty="0">
                <a:ea typeface="標楷體" pitchFamily="65" charset="-120"/>
                <a:cs typeface="Calibri" pitchFamily="34" charset="0"/>
              </a:rPr>
              <a:t>)</a:t>
            </a:r>
          </a:p>
          <a:p>
            <a:r>
              <a:rPr lang="en-US" dirty="0">
                <a:ea typeface="標楷體" pitchFamily="65" charset="-120"/>
                <a:cs typeface="Calibri" pitchFamily="34" charset="0"/>
              </a:rPr>
              <a:t>Store to d[1]</a:t>
            </a:r>
          </a:p>
          <a:p>
            <a:r>
              <a:rPr lang="en-US" dirty="0" err="1">
                <a:ea typeface="標楷體" pitchFamily="65" charset="-120"/>
                <a:cs typeface="Calibri" pitchFamily="34" charset="0"/>
              </a:rPr>
              <a:t>Sw</a:t>
            </a:r>
            <a:r>
              <a:rPr lang="en-US" dirty="0">
                <a:ea typeface="標楷體" pitchFamily="65" charset="-120"/>
                <a:cs typeface="Calibri" pitchFamily="34" charset="0"/>
              </a:rPr>
              <a:t> X1, -16(</a:t>
            </a:r>
            <a:r>
              <a:rPr lang="en-US" dirty="0" err="1">
                <a:ea typeface="標楷體" pitchFamily="65" charset="-120"/>
                <a:cs typeface="Calibri" pitchFamily="34" charset="0"/>
              </a:rPr>
              <a:t>fp</a:t>
            </a:r>
            <a:r>
              <a:rPr lang="en-US" dirty="0">
                <a:ea typeface="標楷體" pitchFamily="65" charset="-120"/>
                <a:cs typeface="Calibri" pitchFamily="34" charset="0"/>
              </a:rPr>
              <a:t>)</a:t>
            </a:r>
          </a:p>
        </p:txBody>
      </p:sp>
      <p:sp>
        <p:nvSpPr>
          <p:cNvPr id="8" name="TextBox 7">
            <a:extLst>
              <a:ext uri="{FF2B5EF4-FFF2-40B4-BE49-F238E27FC236}">
                <a16:creationId xmlns:a16="http://schemas.microsoft.com/office/drawing/2014/main" id="{CF584C82-7267-4596-95EF-F5D7F3104070}"/>
              </a:ext>
            </a:extLst>
          </p:cNvPr>
          <p:cNvSpPr txBox="1"/>
          <p:nvPr/>
        </p:nvSpPr>
        <p:spPr>
          <a:xfrm>
            <a:off x="7610620" y="3102922"/>
            <a:ext cx="1544012" cy="923330"/>
          </a:xfrm>
          <a:prstGeom prst="rect">
            <a:avLst/>
          </a:prstGeom>
          <a:noFill/>
        </p:spPr>
        <p:txBody>
          <a:bodyPr wrap="none" rtlCol="0" anchor="ctr" anchorCtr="1">
            <a:spAutoFit/>
          </a:bodyPr>
          <a:lstStyle/>
          <a:p>
            <a:r>
              <a:rPr lang="en-US" dirty="0">
                <a:ea typeface="標楷體" pitchFamily="65" charset="-120"/>
                <a:cs typeface="Calibri" pitchFamily="34" charset="0"/>
              </a:rPr>
              <a:t>Int x(int </a:t>
            </a:r>
            <a:r>
              <a:rPr lang="en-US" dirty="0" err="1">
                <a:ea typeface="標楷體" pitchFamily="65" charset="-120"/>
                <a:cs typeface="Calibri" pitchFamily="34" charset="0"/>
              </a:rPr>
              <a:t>a,b</a:t>
            </a:r>
            <a:r>
              <a:rPr lang="en-US" dirty="0">
                <a:ea typeface="標楷體" pitchFamily="65" charset="-120"/>
                <a:cs typeface="Calibri" pitchFamily="34" charset="0"/>
              </a:rPr>
              <a:t>) {</a:t>
            </a:r>
          </a:p>
          <a:p>
            <a:r>
              <a:rPr lang="en-US" dirty="0">
                <a:ea typeface="標楷體" pitchFamily="65" charset="-120"/>
                <a:cs typeface="Calibri" pitchFamily="34" charset="0"/>
              </a:rPr>
              <a:t>Int </a:t>
            </a:r>
            <a:r>
              <a:rPr lang="en-US" dirty="0" err="1">
                <a:ea typeface="標楷體" pitchFamily="65" charset="-120"/>
                <a:cs typeface="Calibri" pitchFamily="34" charset="0"/>
              </a:rPr>
              <a:t>c;d</a:t>
            </a:r>
            <a:r>
              <a:rPr lang="en-US" dirty="0">
                <a:ea typeface="標楷體" pitchFamily="65" charset="-120"/>
                <a:cs typeface="Calibri" pitchFamily="34" charset="0"/>
              </a:rPr>
              <a:t>[4];</a:t>
            </a:r>
          </a:p>
          <a:p>
            <a:r>
              <a:rPr lang="en-US" dirty="0">
                <a:ea typeface="標楷體" pitchFamily="65" charset="-120"/>
                <a:cs typeface="Calibri" pitchFamily="34" charset="0"/>
              </a:rPr>
              <a:t>c=d[0]=…;}</a:t>
            </a:r>
          </a:p>
        </p:txBody>
      </p:sp>
      <p:sp>
        <p:nvSpPr>
          <p:cNvPr id="9" name="Rectangle 8">
            <a:extLst>
              <a:ext uri="{FF2B5EF4-FFF2-40B4-BE49-F238E27FC236}">
                <a16:creationId xmlns:a16="http://schemas.microsoft.com/office/drawing/2014/main" id="{D0D59659-E7BD-42D8-B295-A7BF31D3DCCD}"/>
              </a:ext>
            </a:extLst>
          </p:cNvPr>
          <p:cNvSpPr/>
          <p:nvPr/>
        </p:nvSpPr>
        <p:spPr bwMode="auto">
          <a:xfrm>
            <a:off x="9886694" y="4231532"/>
            <a:ext cx="1115289" cy="1831432"/>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0" name="TextBox 9">
            <a:extLst>
              <a:ext uri="{FF2B5EF4-FFF2-40B4-BE49-F238E27FC236}">
                <a16:creationId xmlns:a16="http://schemas.microsoft.com/office/drawing/2014/main" id="{B50D8A29-53DC-4BF5-91D5-06914EF743FF}"/>
              </a:ext>
            </a:extLst>
          </p:cNvPr>
          <p:cNvSpPr txBox="1"/>
          <p:nvPr/>
        </p:nvSpPr>
        <p:spPr>
          <a:xfrm>
            <a:off x="9890867" y="4231532"/>
            <a:ext cx="1111115" cy="461665"/>
          </a:xfrm>
          <a:prstGeom prst="rect">
            <a:avLst/>
          </a:prstGeom>
          <a:noFill/>
          <a:ln>
            <a:solidFill>
              <a:schemeClr val="tx1"/>
            </a:solidFill>
          </a:ln>
        </p:spPr>
        <p:txBody>
          <a:bodyPr wrap="square" rtlCol="0" anchor="ctr" anchorCtr="1">
            <a:spAutoFit/>
          </a:bodyPr>
          <a:lstStyle/>
          <a:p>
            <a:r>
              <a:rPr lang="en-US" sz="2400" dirty="0">
                <a:ea typeface="標楷體" pitchFamily="65" charset="-120"/>
                <a:cs typeface="Calibri" pitchFamily="34" charset="0"/>
              </a:rPr>
              <a:t>c</a:t>
            </a:r>
          </a:p>
        </p:txBody>
      </p:sp>
      <p:sp>
        <p:nvSpPr>
          <p:cNvPr id="11" name="TextBox 10">
            <a:extLst>
              <a:ext uri="{FF2B5EF4-FFF2-40B4-BE49-F238E27FC236}">
                <a16:creationId xmlns:a16="http://schemas.microsoft.com/office/drawing/2014/main" id="{6F5CFDDD-F354-417E-A669-D2A3083A7ACD}"/>
              </a:ext>
            </a:extLst>
          </p:cNvPr>
          <p:cNvSpPr txBox="1"/>
          <p:nvPr/>
        </p:nvSpPr>
        <p:spPr>
          <a:xfrm>
            <a:off x="11311410" y="3972955"/>
            <a:ext cx="377026" cy="369332"/>
          </a:xfrm>
          <a:prstGeom prst="rect">
            <a:avLst/>
          </a:prstGeom>
          <a:noFill/>
        </p:spPr>
        <p:txBody>
          <a:bodyPr wrap="none" rtlCol="0" anchor="ctr" anchorCtr="1">
            <a:spAutoFit/>
          </a:bodyPr>
          <a:lstStyle/>
          <a:p>
            <a:r>
              <a:rPr lang="en-US" dirty="0" err="1">
                <a:ea typeface="標楷體" pitchFamily="65" charset="-120"/>
                <a:cs typeface="Calibri" pitchFamily="34" charset="0"/>
              </a:rPr>
              <a:t>fp</a:t>
            </a:r>
            <a:endParaRPr lang="en-US" dirty="0">
              <a:ea typeface="標楷體" pitchFamily="65" charset="-120"/>
              <a:cs typeface="Calibri" pitchFamily="34" charset="0"/>
            </a:endParaRPr>
          </a:p>
        </p:txBody>
      </p:sp>
      <p:cxnSp>
        <p:nvCxnSpPr>
          <p:cNvPr id="15" name="Straight Arrow Connector 14">
            <a:extLst>
              <a:ext uri="{FF2B5EF4-FFF2-40B4-BE49-F238E27FC236}">
                <a16:creationId xmlns:a16="http://schemas.microsoft.com/office/drawing/2014/main" id="{81E8B724-E183-4D4D-86DC-9430C25F34AF}"/>
              </a:ext>
            </a:extLst>
          </p:cNvPr>
          <p:cNvCxnSpPr>
            <a:cxnSpLocks/>
          </p:cNvCxnSpPr>
          <p:nvPr/>
        </p:nvCxnSpPr>
        <p:spPr bwMode="auto">
          <a:xfrm flipH="1">
            <a:off x="11001982" y="4231532"/>
            <a:ext cx="389548" cy="0"/>
          </a:xfrm>
          <a:prstGeom prst="straightConnector1">
            <a:avLst/>
          </a:prstGeom>
          <a:noFill/>
          <a:ln w="15875" cap="flat" cmpd="sng" algn="ctr">
            <a:solidFill>
              <a:srgbClr val="FF0000"/>
            </a:solidFill>
            <a:prstDash val="solid"/>
            <a:round/>
            <a:headEnd type="none" w="med" len="med"/>
            <a:tailEnd type="triangle"/>
          </a:ln>
          <a:effectLst/>
        </p:spPr>
      </p:cxnSp>
      <p:sp>
        <p:nvSpPr>
          <p:cNvPr id="34" name="TextBox 33">
            <a:extLst>
              <a:ext uri="{FF2B5EF4-FFF2-40B4-BE49-F238E27FC236}">
                <a16:creationId xmlns:a16="http://schemas.microsoft.com/office/drawing/2014/main" id="{D5D924DC-9124-4F08-94D4-F20D7765BF1A}"/>
              </a:ext>
            </a:extLst>
          </p:cNvPr>
          <p:cNvSpPr txBox="1"/>
          <p:nvPr/>
        </p:nvSpPr>
        <p:spPr>
          <a:xfrm>
            <a:off x="9886694" y="4674937"/>
            <a:ext cx="1143396" cy="338554"/>
          </a:xfrm>
          <a:prstGeom prst="rect">
            <a:avLst/>
          </a:prstGeom>
          <a:noFill/>
          <a:ln>
            <a:solidFill>
              <a:schemeClr val="tx1"/>
            </a:solidFill>
          </a:ln>
        </p:spPr>
        <p:txBody>
          <a:bodyPr wrap="square" rtlCol="0" anchor="ctr" anchorCtr="1">
            <a:spAutoFit/>
          </a:bodyPr>
          <a:lstStyle/>
          <a:p>
            <a:r>
              <a:rPr lang="en-US" sz="1600" dirty="0">
                <a:ea typeface="標楷體" pitchFamily="65" charset="-120"/>
                <a:cs typeface="Calibri" pitchFamily="34" charset="0"/>
              </a:rPr>
              <a:t>d[3]</a:t>
            </a:r>
          </a:p>
        </p:txBody>
      </p:sp>
      <p:sp>
        <p:nvSpPr>
          <p:cNvPr id="35" name="TextBox 34">
            <a:extLst>
              <a:ext uri="{FF2B5EF4-FFF2-40B4-BE49-F238E27FC236}">
                <a16:creationId xmlns:a16="http://schemas.microsoft.com/office/drawing/2014/main" id="{8BD4E9FF-FDA3-44FD-B82A-F298FDBC988A}"/>
              </a:ext>
            </a:extLst>
          </p:cNvPr>
          <p:cNvSpPr txBox="1"/>
          <p:nvPr/>
        </p:nvSpPr>
        <p:spPr>
          <a:xfrm>
            <a:off x="9886694" y="5002181"/>
            <a:ext cx="1143396" cy="338554"/>
          </a:xfrm>
          <a:prstGeom prst="rect">
            <a:avLst/>
          </a:prstGeom>
          <a:noFill/>
          <a:ln>
            <a:solidFill>
              <a:schemeClr val="tx1"/>
            </a:solidFill>
          </a:ln>
        </p:spPr>
        <p:txBody>
          <a:bodyPr wrap="square" rtlCol="0" anchor="ctr" anchorCtr="1">
            <a:spAutoFit/>
          </a:bodyPr>
          <a:lstStyle/>
          <a:p>
            <a:r>
              <a:rPr lang="en-US" sz="1600" dirty="0">
                <a:ea typeface="標楷體" pitchFamily="65" charset="-120"/>
                <a:cs typeface="Calibri" pitchFamily="34" charset="0"/>
              </a:rPr>
              <a:t>d[2]</a:t>
            </a:r>
          </a:p>
        </p:txBody>
      </p:sp>
      <p:sp>
        <p:nvSpPr>
          <p:cNvPr id="36" name="TextBox 35">
            <a:extLst>
              <a:ext uri="{FF2B5EF4-FFF2-40B4-BE49-F238E27FC236}">
                <a16:creationId xmlns:a16="http://schemas.microsoft.com/office/drawing/2014/main" id="{B6396AE9-8207-4C10-AF3B-83BB74E76613}"/>
              </a:ext>
            </a:extLst>
          </p:cNvPr>
          <p:cNvSpPr txBox="1"/>
          <p:nvPr/>
        </p:nvSpPr>
        <p:spPr>
          <a:xfrm>
            <a:off x="9886694" y="5340735"/>
            <a:ext cx="1143396" cy="338554"/>
          </a:xfrm>
          <a:prstGeom prst="rect">
            <a:avLst/>
          </a:prstGeom>
          <a:noFill/>
          <a:ln>
            <a:solidFill>
              <a:schemeClr val="tx1"/>
            </a:solidFill>
          </a:ln>
        </p:spPr>
        <p:txBody>
          <a:bodyPr wrap="square" rtlCol="0" anchor="ctr" anchorCtr="1">
            <a:spAutoFit/>
          </a:bodyPr>
          <a:lstStyle/>
          <a:p>
            <a:r>
              <a:rPr lang="en-US" sz="1600" dirty="0">
                <a:ea typeface="標楷體" pitchFamily="65" charset="-120"/>
                <a:cs typeface="Calibri" pitchFamily="34" charset="0"/>
              </a:rPr>
              <a:t>d[1]</a:t>
            </a:r>
          </a:p>
        </p:txBody>
      </p:sp>
      <p:sp>
        <p:nvSpPr>
          <p:cNvPr id="37" name="TextBox 36">
            <a:extLst>
              <a:ext uri="{FF2B5EF4-FFF2-40B4-BE49-F238E27FC236}">
                <a16:creationId xmlns:a16="http://schemas.microsoft.com/office/drawing/2014/main" id="{1921BC27-AE1D-43CF-8F84-05734263A5B1}"/>
              </a:ext>
            </a:extLst>
          </p:cNvPr>
          <p:cNvSpPr txBox="1"/>
          <p:nvPr/>
        </p:nvSpPr>
        <p:spPr>
          <a:xfrm>
            <a:off x="9886694" y="5690212"/>
            <a:ext cx="1143396" cy="338554"/>
          </a:xfrm>
          <a:prstGeom prst="rect">
            <a:avLst/>
          </a:prstGeom>
          <a:noFill/>
          <a:ln>
            <a:solidFill>
              <a:schemeClr val="tx1"/>
            </a:solidFill>
          </a:ln>
        </p:spPr>
        <p:txBody>
          <a:bodyPr wrap="square" rtlCol="0" anchor="ctr" anchorCtr="1">
            <a:spAutoFit/>
          </a:bodyPr>
          <a:lstStyle/>
          <a:p>
            <a:r>
              <a:rPr lang="en-US" sz="1600" dirty="0">
                <a:ea typeface="標楷體" pitchFamily="65" charset="-120"/>
                <a:cs typeface="Calibri" pitchFamily="34" charset="0"/>
              </a:rPr>
              <a:t>d[0]</a:t>
            </a:r>
          </a:p>
        </p:txBody>
      </p:sp>
    </p:spTree>
    <p:extLst>
      <p:ext uri="{BB962C8B-B14F-4D97-AF65-F5344CB8AC3E}">
        <p14:creationId xmlns:p14="http://schemas.microsoft.com/office/powerpoint/2010/main" val="344699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9" grpId="0" animBg="1"/>
      <p:bldP spid="10" grpId="0" animBg="1"/>
      <p:bldP spid="11" grpId="0"/>
      <p:bldP spid="34" grpId="0" animBg="1"/>
      <p:bldP spid="35" grpId="0" animBg="1"/>
      <p:bldP spid="36" grpId="0" animBg="1"/>
      <p:bldP spid="3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Alignment </a:t>
            </a:r>
          </a:p>
        </p:txBody>
      </p:sp>
      <p:sp>
        <p:nvSpPr>
          <p:cNvPr id="3" name="Content Placeholder 2"/>
          <p:cNvSpPr>
            <a:spLocks noGrp="1"/>
          </p:cNvSpPr>
          <p:nvPr>
            <p:ph idx="1"/>
          </p:nvPr>
        </p:nvSpPr>
        <p:spPr>
          <a:xfrm>
            <a:off x="214009" y="953310"/>
            <a:ext cx="11738808" cy="5165387"/>
          </a:xfrm>
        </p:spPr>
        <p:txBody>
          <a:bodyPr/>
          <a:lstStyle/>
          <a:p>
            <a:r>
              <a:rPr lang="en-US" sz="2400" dirty="0">
                <a:solidFill>
                  <a:srgbClr val="FF0000"/>
                </a:solidFill>
              </a:rPr>
              <a:t>Natural alignments</a:t>
            </a:r>
            <a:r>
              <a:rPr lang="en-US" sz="2400" dirty="0"/>
              <a:t>: Data elements of a specific size should be stored at memory addresses that are </a:t>
            </a:r>
            <a:r>
              <a:rPr lang="en-US" sz="2400" dirty="0">
                <a:solidFill>
                  <a:srgbClr val="FF0000"/>
                </a:solidFill>
              </a:rPr>
              <a:t>multiples of that size</a:t>
            </a:r>
            <a:r>
              <a:rPr lang="en-US" sz="2400" dirty="0"/>
              <a:t>. For example, SW/LW reference addresses are multiples of 4. SD/LD reference addresses are multiples of 8. SB/LB will always be aligned.</a:t>
            </a:r>
          </a:p>
          <a:p>
            <a:r>
              <a:rPr lang="en-US" sz="2400" dirty="0"/>
              <a:t>Aligned data references simplify the hardware</a:t>
            </a:r>
          </a:p>
          <a:p>
            <a:pPr lvl="1"/>
            <a:r>
              <a:rPr lang="en-US" sz="2000" dirty="0"/>
              <a:t>No cache line crossing (may need multiple accesses to get the data); no double TLB misses; no double page faults come from a single memory instruction execution. </a:t>
            </a:r>
          </a:p>
          <a:p>
            <a:pPr lvl="1"/>
            <a:r>
              <a:rPr lang="en-US" sz="2000" dirty="0"/>
              <a:t>Better cache line utilization</a:t>
            </a:r>
          </a:p>
          <a:p>
            <a:r>
              <a:rPr lang="en-US" sz="2400" dirty="0"/>
              <a:t>Most RISC machines (MIPS, ARM, PowerPC, HP-PA, …) enforce data alignments</a:t>
            </a:r>
            <a:r>
              <a:rPr lang="en-US" sz="2000" dirty="0"/>
              <a:t>. </a:t>
            </a:r>
          </a:p>
          <a:p>
            <a:r>
              <a:rPr lang="en-US" sz="2400" dirty="0"/>
              <a:t>RISC-I to RISC-V do not explicitly enforce data alignments. But their compilers often enforce data alignments. For example, for the following data structure,</a:t>
            </a:r>
          </a:p>
          <a:p>
            <a:pPr marL="0" indent="0">
              <a:buNone/>
            </a:pPr>
            <a:r>
              <a:rPr lang="en-US" sz="2400" dirty="0"/>
              <a:t>	struct { int </a:t>
            </a:r>
            <a:r>
              <a:rPr lang="en-US" sz="2400" dirty="0">
                <a:solidFill>
                  <a:srgbClr val="FF0000"/>
                </a:solidFill>
              </a:rPr>
              <a:t>a</a:t>
            </a:r>
            <a:r>
              <a:rPr lang="en-US" sz="2400" dirty="0"/>
              <a:t>; long </a:t>
            </a:r>
            <a:r>
              <a:rPr lang="en-US" sz="2400" dirty="0" err="1"/>
              <a:t>long</a:t>
            </a:r>
            <a:r>
              <a:rPr lang="en-US" sz="2400" dirty="0"/>
              <a:t> </a:t>
            </a:r>
            <a:r>
              <a:rPr lang="en-US" sz="2400" dirty="0">
                <a:solidFill>
                  <a:srgbClr val="FF0000"/>
                </a:solidFill>
              </a:rPr>
              <a:t>b</a:t>
            </a:r>
            <a:r>
              <a:rPr lang="en-US" sz="2400" dirty="0"/>
              <a:t>; char </a:t>
            </a:r>
            <a:r>
              <a:rPr lang="en-US" sz="2400" dirty="0">
                <a:solidFill>
                  <a:srgbClr val="FF0000"/>
                </a:solidFill>
              </a:rPr>
              <a:t>c</a:t>
            </a:r>
            <a:r>
              <a:rPr lang="en-US" sz="2400" dirty="0"/>
              <a:t>; double </a:t>
            </a:r>
            <a:r>
              <a:rPr lang="en-US" sz="2400" dirty="0">
                <a:solidFill>
                  <a:srgbClr val="FF0000"/>
                </a:solidFill>
              </a:rPr>
              <a:t>d</a:t>
            </a:r>
            <a:r>
              <a:rPr lang="en-US" sz="2400" dirty="0"/>
              <a:t>);</a:t>
            </a:r>
          </a:p>
          <a:p>
            <a:pPr marL="0" indent="0">
              <a:buNone/>
            </a:pPr>
            <a:r>
              <a:rPr lang="en-US" sz="2400" dirty="0"/>
              <a:t>     The compiler will lay each field as 		a: </a:t>
            </a:r>
            <a:r>
              <a:rPr lang="en-US" sz="2400" dirty="0">
                <a:solidFill>
                  <a:srgbClr val="FF0000"/>
                </a:solidFill>
              </a:rPr>
              <a:t>0</a:t>
            </a:r>
            <a:r>
              <a:rPr lang="en-US" sz="2400" dirty="0"/>
              <a:t>	b: </a:t>
            </a:r>
            <a:r>
              <a:rPr lang="en-US" sz="2400" dirty="0">
                <a:solidFill>
                  <a:srgbClr val="FF0000"/>
                </a:solidFill>
              </a:rPr>
              <a:t>8 	</a:t>
            </a:r>
            <a:r>
              <a:rPr lang="en-US" sz="2400" dirty="0"/>
              <a:t>c: </a:t>
            </a:r>
            <a:r>
              <a:rPr lang="en-US" sz="2400" dirty="0">
                <a:solidFill>
                  <a:srgbClr val="FF0000"/>
                </a:solidFill>
              </a:rPr>
              <a:t>16</a:t>
            </a:r>
            <a:r>
              <a:rPr lang="en-US" sz="2400" dirty="0"/>
              <a:t>	d: </a:t>
            </a:r>
            <a:r>
              <a:rPr lang="en-US" sz="2400" dirty="0">
                <a:solidFill>
                  <a:srgbClr val="FF0000"/>
                </a:solidFill>
              </a:rPr>
              <a:t>24</a:t>
            </a:r>
          </a:p>
          <a:p>
            <a:pPr marL="0" indent="0">
              <a:buNone/>
            </a:pPr>
            <a:r>
              <a:rPr lang="en-US" sz="2400" dirty="0"/>
              <a:t>    						(numbers are offsets to the struct)	</a:t>
            </a:r>
            <a:endParaRPr lang="en-US" sz="2400" dirty="0">
              <a:solidFill>
                <a:srgbClr val="FF0000"/>
              </a:solidFill>
            </a:endParaRPr>
          </a:p>
        </p:txBody>
      </p:sp>
      <p:sp>
        <p:nvSpPr>
          <p:cNvPr id="7" name="Date Placeholder 6"/>
          <p:cNvSpPr>
            <a:spLocks noGrp="1"/>
          </p:cNvSpPr>
          <p:nvPr>
            <p:ph type="dt" sz="half" idx="10"/>
          </p:nvPr>
        </p:nvSpPr>
        <p:spPr/>
        <p:txBody>
          <a:bodyPr/>
          <a:lstStyle/>
          <a:p>
            <a:pPr>
              <a:defRPr/>
            </a:pPr>
            <a:r>
              <a:rPr lang="en-US" dirty="0"/>
              <a:t>Feb. 17, 2025</a:t>
            </a:r>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30</a:t>
            </a:fld>
            <a:endParaRPr lang="en-US" dirty="0"/>
          </a:p>
        </p:txBody>
      </p:sp>
    </p:spTree>
    <p:extLst>
      <p:ext uri="{BB962C8B-B14F-4D97-AF65-F5344CB8AC3E}">
        <p14:creationId xmlns:p14="http://schemas.microsoft.com/office/powerpoint/2010/main" val="1493517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Alignment </a:t>
            </a:r>
          </a:p>
        </p:txBody>
      </p:sp>
      <p:sp>
        <p:nvSpPr>
          <p:cNvPr id="3" name="Content Placeholder 2"/>
          <p:cNvSpPr>
            <a:spLocks noGrp="1"/>
          </p:cNvSpPr>
          <p:nvPr>
            <p:ph idx="1"/>
          </p:nvPr>
        </p:nvSpPr>
        <p:spPr>
          <a:xfrm>
            <a:off x="214009" y="953310"/>
            <a:ext cx="11738808" cy="5165387"/>
          </a:xfrm>
        </p:spPr>
        <p:txBody>
          <a:bodyPr/>
          <a:lstStyle/>
          <a:p>
            <a:r>
              <a:rPr lang="en-US" sz="2400" dirty="0">
                <a:solidFill>
                  <a:srgbClr val="FF0000"/>
                </a:solidFill>
              </a:rPr>
              <a:t>Natural alignments</a:t>
            </a:r>
            <a:r>
              <a:rPr lang="en-US" sz="2400" dirty="0"/>
              <a:t>: Data elements of a specific size should be stored at memory addresses that are </a:t>
            </a:r>
            <a:r>
              <a:rPr lang="en-US" sz="2400" dirty="0">
                <a:solidFill>
                  <a:srgbClr val="FF0000"/>
                </a:solidFill>
              </a:rPr>
              <a:t>multiples of that size</a:t>
            </a:r>
            <a:r>
              <a:rPr lang="en-US" sz="2400" dirty="0"/>
              <a:t>. For example, SW/LW reference addresses are multiples of 4. SD/LD reference addresses are multiples of 8. SB/LB will always be aligned.</a:t>
            </a:r>
          </a:p>
          <a:p>
            <a:r>
              <a:rPr lang="en-US" sz="2400" dirty="0"/>
              <a:t>Aligned data references simplify the hardware</a:t>
            </a:r>
          </a:p>
          <a:p>
            <a:pPr lvl="1"/>
            <a:r>
              <a:rPr lang="en-US" sz="2000" dirty="0"/>
              <a:t>No cache line crossing (may need multiple accesses to get the data); no double TLB misses; no double page faults come from a single memory instruction execution. </a:t>
            </a:r>
          </a:p>
          <a:p>
            <a:pPr lvl="1"/>
            <a:r>
              <a:rPr lang="en-US" sz="2000" dirty="0"/>
              <a:t>Better cache line utilization</a:t>
            </a:r>
          </a:p>
          <a:p>
            <a:r>
              <a:rPr lang="en-US" sz="2400" dirty="0"/>
              <a:t>Most RISC machines (MIPS, ARM, PowerPC, HP-PA, …) enforce data alignments</a:t>
            </a:r>
            <a:r>
              <a:rPr lang="en-US" sz="2000" dirty="0"/>
              <a:t>. </a:t>
            </a:r>
          </a:p>
          <a:p>
            <a:r>
              <a:rPr lang="en-US" sz="2400" dirty="0"/>
              <a:t>RISC-I to RISC-V do not explicitly enforce data alignments. But their compilers often enforce data alignments. For example, for the following data structure,</a:t>
            </a:r>
          </a:p>
          <a:p>
            <a:pPr marL="0" indent="0">
              <a:buNone/>
            </a:pPr>
            <a:r>
              <a:rPr lang="en-US" sz="2400" dirty="0"/>
              <a:t>	struct { int </a:t>
            </a:r>
            <a:r>
              <a:rPr lang="en-US" sz="2400" dirty="0">
                <a:solidFill>
                  <a:srgbClr val="FF0000"/>
                </a:solidFill>
              </a:rPr>
              <a:t>a</a:t>
            </a:r>
            <a:r>
              <a:rPr lang="en-US" sz="2400" dirty="0"/>
              <a:t>; long </a:t>
            </a:r>
            <a:r>
              <a:rPr lang="en-US" sz="2400" dirty="0" err="1"/>
              <a:t>long</a:t>
            </a:r>
            <a:r>
              <a:rPr lang="en-US" sz="2400" dirty="0"/>
              <a:t> </a:t>
            </a:r>
            <a:r>
              <a:rPr lang="en-US" sz="2400" dirty="0">
                <a:solidFill>
                  <a:srgbClr val="FF0000"/>
                </a:solidFill>
              </a:rPr>
              <a:t>b</a:t>
            </a:r>
            <a:r>
              <a:rPr lang="en-US" sz="2400" dirty="0"/>
              <a:t>; char </a:t>
            </a:r>
            <a:r>
              <a:rPr lang="en-US" sz="2400" dirty="0">
                <a:solidFill>
                  <a:srgbClr val="FF0000"/>
                </a:solidFill>
              </a:rPr>
              <a:t>c</a:t>
            </a:r>
            <a:r>
              <a:rPr lang="en-US" sz="2400" dirty="0"/>
              <a:t>; double </a:t>
            </a:r>
            <a:r>
              <a:rPr lang="en-US" sz="2400" dirty="0">
                <a:solidFill>
                  <a:srgbClr val="FF0000"/>
                </a:solidFill>
              </a:rPr>
              <a:t>d</a:t>
            </a:r>
            <a:r>
              <a:rPr lang="en-US" sz="2400" dirty="0"/>
              <a:t>);</a:t>
            </a:r>
          </a:p>
          <a:p>
            <a:pPr marL="0" indent="0">
              <a:buNone/>
            </a:pPr>
            <a:r>
              <a:rPr lang="en-US" sz="2400" dirty="0"/>
              <a:t>     The compiler will lay each field as 		a: </a:t>
            </a:r>
            <a:r>
              <a:rPr lang="en-US" sz="2400" dirty="0">
                <a:solidFill>
                  <a:srgbClr val="FF0000"/>
                </a:solidFill>
              </a:rPr>
              <a:t>0</a:t>
            </a:r>
            <a:r>
              <a:rPr lang="en-US" sz="2400" dirty="0"/>
              <a:t>	b: </a:t>
            </a:r>
            <a:r>
              <a:rPr lang="en-US" sz="2400" dirty="0">
                <a:solidFill>
                  <a:srgbClr val="FF0000"/>
                </a:solidFill>
              </a:rPr>
              <a:t>8 	</a:t>
            </a:r>
            <a:r>
              <a:rPr lang="en-US" sz="2400" dirty="0"/>
              <a:t>c: </a:t>
            </a:r>
            <a:r>
              <a:rPr lang="en-US" sz="2400" dirty="0">
                <a:solidFill>
                  <a:srgbClr val="FF0000"/>
                </a:solidFill>
              </a:rPr>
              <a:t>16</a:t>
            </a:r>
            <a:r>
              <a:rPr lang="en-US" sz="2400" dirty="0"/>
              <a:t>	d: </a:t>
            </a:r>
            <a:r>
              <a:rPr lang="en-US" sz="2400" dirty="0">
                <a:solidFill>
                  <a:srgbClr val="FF0000"/>
                </a:solidFill>
              </a:rPr>
              <a:t>24</a:t>
            </a:r>
          </a:p>
          <a:p>
            <a:pPr marL="0" indent="0">
              <a:buNone/>
            </a:pPr>
            <a:r>
              <a:rPr lang="en-US" sz="2400" dirty="0"/>
              <a:t>    						(numbers are offsets to the struct)	</a:t>
            </a:r>
            <a:endParaRPr lang="en-US" sz="2400" dirty="0">
              <a:solidFill>
                <a:srgbClr val="FF0000"/>
              </a:solidFill>
            </a:endParaRPr>
          </a:p>
        </p:txBody>
      </p:sp>
      <p:sp>
        <p:nvSpPr>
          <p:cNvPr id="7" name="Date Placeholder 6"/>
          <p:cNvSpPr>
            <a:spLocks noGrp="1"/>
          </p:cNvSpPr>
          <p:nvPr>
            <p:ph type="dt" sz="half" idx="10"/>
          </p:nvPr>
        </p:nvSpPr>
        <p:spPr/>
        <p:txBody>
          <a:bodyPr/>
          <a:lstStyle/>
          <a:p>
            <a:pPr>
              <a:defRPr/>
            </a:pPr>
            <a:r>
              <a:rPr lang="en-US" dirty="0"/>
              <a:t>Feb. 17, 2025</a:t>
            </a:r>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31</a:t>
            </a:fld>
            <a:endParaRPr lang="en-US" dirty="0"/>
          </a:p>
        </p:txBody>
      </p:sp>
      <p:sp>
        <p:nvSpPr>
          <p:cNvPr id="4" name="TextBox 3">
            <a:extLst>
              <a:ext uri="{FF2B5EF4-FFF2-40B4-BE49-F238E27FC236}">
                <a16:creationId xmlns:a16="http://schemas.microsoft.com/office/drawing/2014/main" id="{1D16E767-5C42-4135-8EF1-04F1E8FA0193}"/>
              </a:ext>
            </a:extLst>
          </p:cNvPr>
          <p:cNvSpPr txBox="1"/>
          <p:nvPr/>
        </p:nvSpPr>
        <p:spPr>
          <a:xfrm>
            <a:off x="4170445" y="3011949"/>
            <a:ext cx="8021555" cy="1785104"/>
          </a:xfrm>
          <a:prstGeom prst="rect">
            <a:avLst/>
          </a:prstGeom>
          <a:solidFill>
            <a:srgbClr val="FFFF00"/>
          </a:solidFill>
          <a:ln>
            <a:solidFill>
              <a:srgbClr val="FF0000"/>
            </a:solidFill>
          </a:ln>
        </p:spPr>
        <p:txBody>
          <a:bodyPr wrap="none" rtlCol="0" anchor="ctr" anchorCtr="1">
            <a:spAutoFit/>
          </a:bodyPr>
          <a:lstStyle/>
          <a:p>
            <a:pPr algn="l"/>
            <a:r>
              <a:rPr lang="en-US" sz="2200" b="1" i="0" dirty="0">
                <a:solidFill>
                  <a:srgbClr val="111827"/>
                </a:solidFill>
                <a:effectLst/>
                <a:latin typeface="ui-sans-serif"/>
              </a:rPr>
              <a:t>Padding Rule</a:t>
            </a:r>
          </a:p>
          <a:p>
            <a:pPr algn="l"/>
            <a:r>
              <a:rPr lang="en-US" sz="2200" b="1" i="0" dirty="0">
                <a:solidFill>
                  <a:srgbClr val="111827"/>
                </a:solidFill>
                <a:effectLst/>
                <a:latin typeface="ui-sans-serif"/>
              </a:rPr>
              <a:t>1) Internal Padding:</a:t>
            </a:r>
            <a:r>
              <a:rPr lang="en-US" sz="2200" b="0" i="0" dirty="0">
                <a:solidFill>
                  <a:srgbClr val="374151"/>
                </a:solidFill>
                <a:effectLst/>
                <a:latin typeface="ui-sans-serif"/>
              </a:rPr>
              <a:t> Every member must start at an address that is </a:t>
            </a:r>
          </a:p>
          <a:p>
            <a:pPr algn="l"/>
            <a:r>
              <a:rPr lang="en-US" sz="2200" b="0" i="0" dirty="0">
                <a:solidFill>
                  <a:srgbClr val="374151"/>
                </a:solidFill>
                <a:effectLst/>
                <a:latin typeface="ui-sans-serif"/>
              </a:rPr>
              <a:t>    a multiple of its own alignment requirement.</a:t>
            </a:r>
          </a:p>
          <a:p>
            <a:pPr algn="l"/>
            <a:r>
              <a:rPr lang="en-US" sz="2200" b="1" dirty="0">
                <a:solidFill>
                  <a:srgbClr val="374151"/>
                </a:solidFill>
                <a:latin typeface="ui-sans-serif"/>
              </a:rPr>
              <a:t>2) </a:t>
            </a:r>
            <a:r>
              <a:rPr lang="en-US" sz="2200" b="1" i="0" dirty="0">
                <a:solidFill>
                  <a:srgbClr val="111827"/>
                </a:solidFill>
                <a:effectLst/>
                <a:latin typeface="ui-sans-serif"/>
              </a:rPr>
              <a:t>Trailing Padding:</a:t>
            </a:r>
            <a:r>
              <a:rPr lang="en-US" sz="2200" b="0" i="0" dirty="0">
                <a:solidFill>
                  <a:srgbClr val="374151"/>
                </a:solidFill>
                <a:effectLst/>
                <a:latin typeface="ui-sans-serif"/>
              </a:rPr>
              <a:t> The total size of the struct must be a multiple of </a:t>
            </a:r>
          </a:p>
          <a:p>
            <a:pPr algn="l"/>
            <a:r>
              <a:rPr lang="en-US" sz="2200" dirty="0">
                <a:solidFill>
                  <a:srgbClr val="374151"/>
                </a:solidFill>
                <a:latin typeface="ui-sans-serif"/>
              </a:rPr>
              <a:t>    </a:t>
            </a:r>
            <a:r>
              <a:rPr lang="en-US" sz="2200" b="0" i="0" dirty="0">
                <a:solidFill>
                  <a:srgbClr val="374151"/>
                </a:solidFill>
                <a:effectLst/>
                <a:latin typeface="ui-sans-serif"/>
              </a:rPr>
              <a:t>the </a:t>
            </a:r>
            <a:r>
              <a:rPr lang="en-US" sz="2200" b="1" i="0" dirty="0">
                <a:solidFill>
                  <a:srgbClr val="111827"/>
                </a:solidFill>
                <a:effectLst/>
                <a:latin typeface="ui-sans-serif"/>
              </a:rPr>
              <a:t>largest alignment requirement</a:t>
            </a:r>
            <a:r>
              <a:rPr lang="en-US" sz="2200" b="0" i="0" dirty="0">
                <a:solidFill>
                  <a:srgbClr val="374151"/>
                </a:solidFill>
                <a:effectLst/>
                <a:latin typeface="ui-sans-serif"/>
              </a:rPr>
              <a:t> among its members.</a:t>
            </a:r>
          </a:p>
        </p:txBody>
      </p:sp>
      <p:sp>
        <p:nvSpPr>
          <p:cNvPr id="5" name="TextBox 4">
            <a:extLst>
              <a:ext uri="{FF2B5EF4-FFF2-40B4-BE49-F238E27FC236}">
                <a16:creationId xmlns:a16="http://schemas.microsoft.com/office/drawing/2014/main" id="{B4D2E3B5-1C3D-4593-80BA-7945818D073C}"/>
              </a:ext>
            </a:extLst>
          </p:cNvPr>
          <p:cNvSpPr txBox="1"/>
          <p:nvPr/>
        </p:nvSpPr>
        <p:spPr>
          <a:xfrm>
            <a:off x="5781675" y="5629274"/>
            <a:ext cx="533401" cy="200025"/>
          </a:xfrm>
          <a:prstGeom prst="rect">
            <a:avLst/>
          </a:prstGeom>
          <a:solidFill>
            <a:schemeClr val="tx2">
              <a:lumMod val="40000"/>
              <a:lumOff val="60000"/>
            </a:schemeClr>
          </a:solidFill>
          <a:ln>
            <a:solidFill>
              <a:srgbClr val="FF0000"/>
            </a:solidFill>
          </a:ln>
        </p:spPr>
        <p:txBody>
          <a:bodyPr wrap="square" rtlCol="0" anchor="ctr" anchorCtr="1">
            <a:spAutoFit/>
          </a:bodyPr>
          <a:lstStyle/>
          <a:p>
            <a:endParaRPr lang="en-US" dirty="0">
              <a:ea typeface="標楷體" pitchFamily="65" charset="-120"/>
              <a:cs typeface="Calibri" pitchFamily="34" charset="0"/>
            </a:endParaRPr>
          </a:p>
        </p:txBody>
      </p:sp>
      <p:sp>
        <p:nvSpPr>
          <p:cNvPr id="10" name="TextBox 9">
            <a:extLst>
              <a:ext uri="{FF2B5EF4-FFF2-40B4-BE49-F238E27FC236}">
                <a16:creationId xmlns:a16="http://schemas.microsoft.com/office/drawing/2014/main" id="{37A833BE-0062-40E9-96E7-4C3A4ECBE76F}"/>
              </a:ext>
            </a:extLst>
          </p:cNvPr>
          <p:cNvSpPr txBox="1"/>
          <p:nvPr/>
        </p:nvSpPr>
        <p:spPr>
          <a:xfrm>
            <a:off x="6753225" y="5648321"/>
            <a:ext cx="951747" cy="190502"/>
          </a:xfrm>
          <a:prstGeom prst="rect">
            <a:avLst/>
          </a:prstGeom>
          <a:solidFill>
            <a:schemeClr val="tx2">
              <a:lumMod val="40000"/>
              <a:lumOff val="60000"/>
            </a:schemeClr>
          </a:solidFill>
          <a:ln>
            <a:solidFill>
              <a:srgbClr val="FF0000"/>
            </a:solidFill>
          </a:ln>
        </p:spPr>
        <p:txBody>
          <a:bodyPr wrap="square" rtlCol="0" anchor="ctr" anchorCtr="1">
            <a:spAutoFit/>
          </a:bodyPr>
          <a:lstStyle/>
          <a:p>
            <a:endParaRPr lang="en-US" dirty="0">
              <a:ea typeface="標楷體" pitchFamily="65" charset="-120"/>
              <a:cs typeface="Calibri" pitchFamily="34" charset="0"/>
            </a:endParaRPr>
          </a:p>
        </p:txBody>
      </p:sp>
      <p:sp>
        <p:nvSpPr>
          <p:cNvPr id="11" name="TextBox 10">
            <a:extLst>
              <a:ext uri="{FF2B5EF4-FFF2-40B4-BE49-F238E27FC236}">
                <a16:creationId xmlns:a16="http://schemas.microsoft.com/office/drawing/2014/main" id="{3DDBD4F8-65F3-4CB8-98FA-D1D245547D3B}"/>
              </a:ext>
            </a:extLst>
          </p:cNvPr>
          <p:cNvSpPr txBox="1"/>
          <p:nvPr/>
        </p:nvSpPr>
        <p:spPr>
          <a:xfrm>
            <a:off x="7704972" y="5638798"/>
            <a:ext cx="115053" cy="200025"/>
          </a:xfrm>
          <a:prstGeom prst="rect">
            <a:avLst/>
          </a:prstGeom>
          <a:solidFill>
            <a:schemeClr val="tx2">
              <a:lumMod val="40000"/>
              <a:lumOff val="60000"/>
            </a:schemeClr>
          </a:solidFill>
          <a:ln>
            <a:solidFill>
              <a:srgbClr val="FF0000"/>
            </a:solidFill>
          </a:ln>
        </p:spPr>
        <p:txBody>
          <a:bodyPr wrap="square" rtlCol="0" anchor="ctr" anchorCtr="1">
            <a:spAutoFit/>
          </a:bodyPr>
          <a:lstStyle/>
          <a:p>
            <a:endParaRPr lang="en-US" dirty="0">
              <a:ea typeface="標楷體" pitchFamily="65" charset="-120"/>
              <a:cs typeface="Calibri" pitchFamily="34" charset="0"/>
            </a:endParaRPr>
          </a:p>
        </p:txBody>
      </p:sp>
      <p:sp>
        <p:nvSpPr>
          <p:cNvPr id="12" name="TextBox 11">
            <a:extLst>
              <a:ext uri="{FF2B5EF4-FFF2-40B4-BE49-F238E27FC236}">
                <a16:creationId xmlns:a16="http://schemas.microsoft.com/office/drawing/2014/main" id="{BED8FD06-B27E-44F8-A056-F2B7E156397E}"/>
              </a:ext>
            </a:extLst>
          </p:cNvPr>
          <p:cNvSpPr txBox="1"/>
          <p:nvPr/>
        </p:nvSpPr>
        <p:spPr>
          <a:xfrm>
            <a:off x="8543397" y="5648321"/>
            <a:ext cx="895349" cy="200025"/>
          </a:xfrm>
          <a:prstGeom prst="rect">
            <a:avLst/>
          </a:prstGeom>
          <a:solidFill>
            <a:schemeClr val="tx2">
              <a:lumMod val="40000"/>
              <a:lumOff val="60000"/>
            </a:schemeClr>
          </a:solidFill>
        </p:spPr>
        <p:txBody>
          <a:bodyPr wrap="square" rtlCol="0" anchor="ctr" anchorCtr="1">
            <a:spAutoFit/>
          </a:bodyPr>
          <a:lstStyle/>
          <a:p>
            <a:endParaRPr lang="en-US" dirty="0">
              <a:ea typeface="標楷體" pitchFamily="65" charset="-120"/>
              <a:cs typeface="Calibri" pitchFamily="34" charset="0"/>
            </a:endParaRPr>
          </a:p>
        </p:txBody>
      </p:sp>
      <p:sp>
        <p:nvSpPr>
          <p:cNvPr id="13" name="TextBox 12">
            <a:extLst>
              <a:ext uri="{FF2B5EF4-FFF2-40B4-BE49-F238E27FC236}">
                <a16:creationId xmlns:a16="http://schemas.microsoft.com/office/drawing/2014/main" id="{3EFAF9A5-43E5-4EE1-8911-ED027BC25E0D}"/>
              </a:ext>
            </a:extLst>
          </p:cNvPr>
          <p:cNvSpPr txBox="1"/>
          <p:nvPr/>
        </p:nvSpPr>
        <p:spPr>
          <a:xfrm>
            <a:off x="6291263" y="5643557"/>
            <a:ext cx="485775" cy="197659"/>
          </a:xfrm>
          <a:prstGeom prst="rect">
            <a:avLst/>
          </a:prstGeom>
          <a:solidFill>
            <a:srgbClr val="FF0000"/>
          </a:solidFill>
        </p:spPr>
        <p:txBody>
          <a:bodyPr wrap="square" rtlCol="0" anchor="ctr" anchorCtr="1">
            <a:spAutoFit/>
          </a:bodyPr>
          <a:lstStyle/>
          <a:p>
            <a:endParaRPr lang="en-US" dirty="0">
              <a:ea typeface="標楷體" pitchFamily="65" charset="-120"/>
              <a:cs typeface="Calibri" pitchFamily="34" charset="0"/>
            </a:endParaRPr>
          </a:p>
        </p:txBody>
      </p:sp>
      <p:sp>
        <p:nvSpPr>
          <p:cNvPr id="14" name="TextBox 13">
            <a:extLst>
              <a:ext uri="{FF2B5EF4-FFF2-40B4-BE49-F238E27FC236}">
                <a16:creationId xmlns:a16="http://schemas.microsoft.com/office/drawing/2014/main" id="{6988F523-279E-40D0-A6C9-E7A6E7482F01}"/>
              </a:ext>
            </a:extLst>
          </p:cNvPr>
          <p:cNvSpPr txBox="1"/>
          <p:nvPr/>
        </p:nvSpPr>
        <p:spPr>
          <a:xfrm>
            <a:off x="7838547" y="5629275"/>
            <a:ext cx="704850" cy="211936"/>
          </a:xfrm>
          <a:prstGeom prst="rect">
            <a:avLst/>
          </a:prstGeom>
          <a:solidFill>
            <a:srgbClr val="FF0000"/>
          </a:solidFill>
        </p:spPr>
        <p:txBody>
          <a:bodyPr wrap="square" rtlCol="0" anchor="ctr" anchorCtr="1">
            <a:spAutoFit/>
          </a:bodyPr>
          <a:lstStyle/>
          <a:p>
            <a:endParaRPr lang="en-US" dirty="0">
              <a:ea typeface="標楷體" pitchFamily="65" charset="-120"/>
              <a:cs typeface="Calibri" pitchFamily="34" charset="0"/>
            </a:endParaRPr>
          </a:p>
        </p:txBody>
      </p:sp>
    </p:spTree>
    <p:extLst>
      <p:ext uri="{BB962C8B-B14F-4D97-AF65-F5344CB8AC3E}">
        <p14:creationId xmlns:p14="http://schemas.microsoft.com/office/powerpoint/2010/main" val="2075800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9867" y="144466"/>
            <a:ext cx="10902950" cy="692151"/>
          </a:xfrm>
        </p:spPr>
        <p:txBody>
          <a:bodyPr/>
          <a:lstStyle/>
          <a:p>
            <a:r>
              <a:rPr lang="en-US" dirty="0"/>
              <a:t>Data Alignment Avoids Boundary Crossing</a:t>
            </a:r>
          </a:p>
        </p:txBody>
      </p:sp>
      <p:sp>
        <p:nvSpPr>
          <p:cNvPr id="3" name="Content Placeholder 2"/>
          <p:cNvSpPr>
            <a:spLocks noGrp="1"/>
          </p:cNvSpPr>
          <p:nvPr>
            <p:ph idx="1"/>
          </p:nvPr>
        </p:nvSpPr>
        <p:spPr>
          <a:xfrm>
            <a:off x="214009" y="1114425"/>
            <a:ext cx="11738808" cy="5004272"/>
          </a:xfrm>
        </p:spPr>
        <p:txBody>
          <a:bodyPr/>
          <a:lstStyle/>
          <a:p>
            <a:r>
              <a:rPr lang="en-US" sz="2800" dirty="0"/>
              <a:t>In computer architectures, memory is often managed as units of cache lines and memory pages. </a:t>
            </a:r>
          </a:p>
          <a:p>
            <a:r>
              <a:rPr lang="en-US" sz="2800" dirty="0"/>
              <a:t>Cache lines are typically 64 bytes. Other sizes are also frequently used, such as 32 bytes and  128 bytes.</a:t>
            </a:r>
          </a:p>
          <a:p>
            <a:r>
              <a:rPr lang="en-US" sz="2800" dirty="0"/>
              <a:t>Memory is managed as units of pages; common page sizes are 4KB, 16KB, and larger.</a:t>
            </a:r>
          </a:p>
          <a:p>
            <a:r>
              <a:rPr lang="en-US" sz="2800" dirty="0"/>
              <a:t>If data are always naturally aligned, a memory reference will not cross a line or page boundary.</a:t>
            </a:r>
          </a:p>
          <a:p>
            <a:r>
              <a:rPr lang="en-US" sz="2800" dirty="0"/>
              <a:t>Crossing a boundary makes the memory reference difficult to handle. The hardware needs to go through two exceptions instead of one.</a:t>
            </a:r>
          </a:p>
        </p:txBody>
      </p:sp>
      <p:sp>
        <p:nvSpPr>
          <p:cNvPr id="7" name="Date Placeholder 6"/>
          <p:cNvSpPr>
            <a:spLocks noGrp="1"/>
          </p:cNvSpPr>
          <p:nvPr>
            <p:ph type="dt" sz="half" idx="10"/>
          </p:nvPr>
        </p:nvSpPr>
        <p:spPr/>
        <p:txBody>
          <a:bodyPr/>
          <a:lstStyle/>
          <a:p>
            <a:pPr>
              <a:defRPr/>
            </a:pPr>
            <a:r>
              <a:rPr lang="en-US"/>
              <a:t>September 27, 2017</a:t>
            </a:r>
            <a:endParaRPr lang="en-US" dirty="0"/>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32</a:t>
            </a:fld>
            <a:endParaRPr lang="en-US" dirty="0"/>
          </a:p>
        </p:txBody>
      </p:sp>
    </p:spTree>
    <p:extLst>
      <p:ext uri="{BB962C8B-B14F-4D97-AF65-F5344CB8AC3E}">
        <p14:creationId xmlns:p14="http://schemas.microsoft.com/office/powerpoint/2010/main" val="42881798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Aligned Data do not Cross Lines/Pages  </a:t>
            </a:r>
          </a:p>
        </p:txBody>
      </p:sp>
      <p:sp>
        <p:nvSpPr>
          <p:cNvPr id="7" name="Date Placeholder 6"/>
          <p:cNvSpPr>
            <a:spLocks noGrp="1"/>
          </p:cNvSpPr>
          <p:nvPr>
            <p:ph type="dt" sz="half" idx="10"/>
          </p:nvPr>
        </p:nvSpPr>
        <p:spPr/>
        <p:txBody>
          <a:bodyPr/>
          <a:lstStyle/>
          <a:p>
            <a:pPr>
              <a:defRPr/>
            </a:pPr>
            <a:r>
              <a:rPr lang="en-US" dirty="0"/>
              <a:t>Feb. 17, 2025</a:t>
            </a:r>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33</a:t>
            </a:fld>
            <a:endParaRPr lang="en-US" dirty="0"/>
          </a:p>
        </p:txBody>
      </p:sp>
      <p:sp>
        <p:nvSpPr>
          <p:cNvPr id="5" name="Content Placeholder 4">
            <a:extLst>
              <a:ext uri="{FF2B5EF4-FFF2-40B4-BE49-F238E27FC236}">
                <a16:creationId xmlns:a16="http://schemas.microsoft.com/office/drawing/2014/main" id="{AC3AE3FC-5D74-46F7-BF19-6D743FE56DC2}"/>
              </a:ext>
            </a:extLst>
          </p:cNvPr>
          <p:cNvSpPr>
            <a:spLocks noGrp="1"/>
          </p:cNvSpPr>
          <p:nvPr>
            <p:ph idx="1"/>
          </p:nvPr>
        </p:nvSpPr>
        <p:spPr/>
        <p:txBody>
          <a:bodyPr/>
          <a:lstStyle/>
          <a:p>
            <a:r>
              <a:rPr lang="en-US" dirty="0"/>
              <a:t>Cache Lines</a:t>
            </a:r>
          </a:p>
          <a:p>
            <a:pPr marL="0" indent="0">
              <a:buNone/>
            </a:pPr>
            <a:endParaRPr lang="en-US" dirty="0"/>
          </a:p>
          <a:p>
            <a:endParaRPr lang="en-US" dirty="0"/>
          </a:p>
          <a:p>
            <a:r>
              <a:rPr lang="en-US" dirty="0"/>
              <a:t>Memory Pages</a:t>
            </a:r>
          </a:p>
        </p:txBody>
      </p:sp>
      <p:sp>
        <p:nvSpPr>
          <p:cNvPr id="6" name="Rectangle 5">
            <a:extLst>
              <a:ext uri="{FF2B5EF4-FFF2-40B4-BE49-F238E27FC236}">
                <a16:creationId xmlns:a16="http://schemas.microsoft.com/office/drawing/2014/main" id="{35CFBC25-0A98-449B-85A0-5A7C2F76610D}"/>
              </a:ext>
            </a:extLst>
          </p:cNvPr>
          <p:cNvSpPr/>
          <p:nvPr/>
        </p:nvSpPr>
        <p:spPr bwMode="auto">
          <a:xfrm>
            <a:off x="1123951" y="1859760"/>
            <a:ext cx="4012254" cy="466725"/>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dirty="0">
              <a:ln>
                <a:noFill/>
              </a:ln>
              <a:solidFill>
                <a:schemeClr val="tx1"/>
              </a:solidFill>
              <a:effectLst/>
              <a:latin typeface="Arial" pitchFamily="34" charset="0"/>
              <a:ea typeface="新細明體" pitchFamily="18" charset="-120"/>
            </a:endParaRPr>
          </a:p>
        </p:txBody>
      </p:sp>
      <p:sp>
        <p:nvSpPr>
          <p:cNvPr id="11" name="Rectangle 10">
            <a:extLst>
              <a:ext uri="{FF2B5EF4-FFF2-40B4-BE49-F238E27FC236}">
                <a16:creationId xmlns:a16="http://schemas.microsoft.com/office/drawing/2014/main" id="{965B2685-CA40-4C21-A1D4-D71F8826D3AB}"/>
              </a:ext>
            </a:extLst>
          </p:cNvPr>
          <p:cNvSpPr/>
          <p:nvPr/>
        </p:nvSpPr>
        <p:spPr bwMode="auto">
          <a:xfrm>
            <a:off x="5225781" y="1858294"/>
            <a:ext cx="4012254" cy="466725"/>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2" name="TextBox 11">
            <a:extLst>
              <a:ext uri="{FF2B5EF4-FFF2-40B4-BE49-F238E27FC236}">
                <a16:creationId xmlns:a16="http://schemas.microsoft.com/office/drawing/2014/main" id="{131AE162-9659-4409-8D65-C8FD1A087A02}"/>
              </a:ext>
            </a:extLst>
          </p:cNvPr>
          <p:cNvSpPr txBox="1"/>
          <p:nvPr/>
        </p:nvSpPr>
        <p:spPr>
          <a:xfrm>
            <a:off x="2665378" y="1955687"/>
            <a:ext cx="1082348" cy="369332"/>
          </a:xfrm>
          <a:prstGeom prst="rect">
            <a:avLst/>
          </a:prstGeom>
          <a:noFill/>
        </p:spPr>
        <p:txBody>
          <a:bodyPr wrap="none" rtlCol="0" anchor="ctr" anchorCtr="1">
            <a:spAutoFit/>
          </a:bodyPr>
          <a:lstStyle/>
          <a:p>
            <a:r>
              <a:rPr lang="en-US" dirty="0">
                <a:ea typeface="標楷體" pitchFamily="65" charset="-120"/>
                <a:cs typeface="Calibri" pitchFamily="34" charset="0"/>
              </a:rPr>
              <a:t>64 Bytes</a:t>
            </a:r>
          </a:p>
        </p:txBody>
      </p:sp>
      <p:sp>
        <p:nvSpPr>
          <p:cNvPr id="13" name="TextBox 12">
            <a:extLst>
              <a:ext uri="{FF2B5EF4-FFF2-40B4-BE49-F238E27FC236}">
                <a16:creationId xmlns:a16="http://schemas.microsoft.com/office/drawing/2014/main" id="{249E7382-6EA3-4CEE-BB32-96B09E3F15B5}"/>
              </a:ext>
            </a:extLst>
          </p:cNvPr>
          <p:cNvSpPr txBox="1"/>
          <p:nvPr/>
        </p:nvSpPr>
        <p:spPr>
          <a:xfrm>
            <a:off x="6677632" y="1906990"/>
            <a:ext cx="1082348" cy="369332"/>
          </a:xfrm>
          <a:prstGeom prst="rect">
            <a:avLst/>
          </a:prstGeom>
          <a:noFill/>
        </p:spPr>
        <p:txBody>
          <a:bodyPr wrap="none" rtlCol="0" anchor="ctr" anchorCtr="1">
            <a:spAutoFit/>
          </a:bodyPr>
          <a:lstStyle/>
          <a:p>
            <a:r>
              <a:rPr lang="en-US" dirty="0">
                <a:ea typeface="標楷體" pitchFamily="65" charset="-120"/>
                <a:cs typeface="Calibri" pitchFamily="34" charset="0"/>
              </a:rPr>
              <a:t>64 Bytes</a:t>
            </a:r>
          </a:p>
        </p:txBody>
      </p:sp>
      <p:sp>
        <p:nvSpPr>
          <p:cNvPr id="14" name="TextBox 13">
            <a:extLst>
              <a:ext uri="{FF2B5EF4-FFF2-40B4-BE49-F238E27FC236}">
                <a16:creationId xmlns:a16="http://schemas.microsoft.com/office/drawing/2014/main" id="{9AC7F424-8598-423F-BA91-1E7ABA6EEB2A}"/>
              </a:ext>
            </a:extLst>
          </p:cNvPr>
          <p:cNvSpPr txBox="1"/>
          <p:nvPr/>
        </p:nvSpPr>
        <p:spPr>
          <a:xfrm>
            <a:off x="987561" y="2208773"/>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0</a:t>
            </a:r>
          </a:p>
        </p:txBody>
      </p:sp>
      <p:sp>
        <p:nvSpPr>
          <p:cNvPr id="15" name="TextBox 14">
            <a:extLst>
              <a:ext uri="{FF2B5EF4-FFF2-40B4-BE49-F238E27FC236}">
                <a16:creationId xmlns:a16="http://schemas.microsoft.com/office/drawing/2014/main" id="{1524F5E6-97B1-483A-BEE3-CC89DB5DF460}"/>
              </a:ext>
            </a:extLst>
          </p:cNvPr>
          <p:cNvSpPr txBox="1"/>
          <p:nvPr/>
        </p:nvSpPr>
        <p:spPr>
          <a:xfrm>
            <a:off x="4735473" y="2247733"/>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63</a:t>
            </a:r>
          </a:p>
        </p:txBody>
      </p:sp>
      <p:sp>
        <p:nvSpPr>
          <p:cNvPr id="16" name="TextBox 15">
            <a:extLst>
              <a:ext uri="{FF2B5EF4-FFF2-40B4-BE49-F238E27FC236}">
                <a16:creationId xmlns:a16="http://schemas.microsoft.com/office/drawing/2014/main" id="{BF25A2BD-C426-46D7-AE96-D3AAE3DD4F6E}"/>
              </a:ext>
            </a:extLst>
          </p:cNvPr>
          <p:cNvSpPr txBox="1"/>
          <p:nvPr/>
        </p:nvSpPr>
        <p:spPr>
          <a:xfrm>
            <a:off x="5199577" y="2247776"/>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64</a:t>
            </a:r>
          </a:p>
        </p:txBody>
      </p:sp>
      <p:sp>
        <p:nvSpPr>
          <p:cNvPr id="17" name="TextBox 16">
            <a:extLst>
              <a:ext uri="{FF2B5EF4-FFF2-40B4-BE49-F238E27FC236}">
                <a16:creationId xmlns:a16="http://schemas.microsoft.com/office/drawing/2014/main" id="{ED43C598-EB67-49ED-8E07-634B15CE3BFF}"/>
              </a:ext>
            </a:extLst>
          </p:cNvPr>
          <p:cNvSpPr txBox="1"/>
          <p:nvPr/>
        </p:nvSpPr>
        <p:spPr>
          <a:xfrm>
            <a:off x="9055378" y="2234988"/>
            <a:ext cx="569387" cy="369332"/>
          </a:xfrm>
          <a:prstGeom prst="rect">
            <a:avLst/>
          </a:prstGeom>
          <a:noFill/>
        </p:spPr>
        <p:txBody>
          <a:bodyPr wrap="none" rtlCol="0" anchor="ctr" anchorCtr="1">
            <a:spAutoFit/>
          </a:bodyPr>
          <a:lstStyle/>
          <a:p>
            <a:r>
              <a:rPr lang="en-US" dirty="0">
                <a:ea typeface="標楷體" pitchFamily="65" charset="-120"/>
                <a:cs typeface="Calibri" pitchFamily="34" charset="0"/>
              </a:rPr>
              <a:t>127</a:t>
            </a:r>
          </a:p>
        </p:txBody>
      </p:sp>
      <p:sp>
        <p:nvSpPr>
          <p:cNvPr id="19" name="Rectangle 18">
            <a:extLst>
              <a:ext uri="{FF2B5EF4-FFF2-40B4-BE49-F238E27FC236}">
                <a16:creationId xmlns:a16="http://schemas.microsoft.com/office/drawing/2014/main" id="{5EC5A483-D675-4E25-B03F-17A394741B87}"/>
              </a:ext>
            </a:extLst>
          </p:cNvPr>
          <p:cNvSpPr/>
          <p:nvPr/>
        </p:nvSpPr>
        <p:spPr bwMode="auto">
          <a:xfrm>
            <a:off x="4386977" y="1497999"/>
            <a:ext cx="1138137" cy="331109"/>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2">
                    <a:lumMod val="50000"/>
                  </a:schemeClr>
                </a:solidFill>
                <a:effectLst/>
                <a:latin typeface="Arial" pitchFamily="34" charset="0"/>
                <a:ea typeface="新細明體" pitchFamily="18" charset="-120"/>
              </a:rPr>
              <a:t>8 bytes</a:t>
            </a:r>
          </a:p>
        </p:txBody>
      </p:sp>
      <p:sp>
        <p:nvSpPr>
          <p:cNvPr id="20" name="Rectangle 19">
            <a:extLst>
              <a:ext uri="{FF2B5EF4-FFF2-40B4-BE49-F238E27FC236}">
                <a16:creationId xmlns:a16="http://schemas.microsoft.com/office/drawing/2014/main" id="{7063B510-8494-4AF0-B2C5-B7A435B423CC}"/>
              </a:ext>
            </a:extLst>
          </p:cNvPr>
          <p:cNvSpPr/>
          <p:nvPr/>
        </p:nvSpPr>
        <p:spPr bwMode="auto">
          <a:xfrm>
            <a:off x="1164365" y="4326086"/>
            <a:ext cx="4012254" cy="466725"/>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dirty="0">
              <a:ln>
                <a:noFill/>
              </a:ln>
              <a:solidFill>
                <a:schemeClr val="tx1"/>
              </a:solidFill>
              <a:effectLst/>
              <a:latin typeface="Arial" pitchFamily="34" charset="0"/>
              <a:ea typeface="新細明體" pitchFamily="18" charset="-120"/>
            </a:endParaRPr>
          </a:p>
        </p:txBody>
      </p:sp>
      <p:sp>
        <p:nvSpPr>
          <p:cNvPr id="21" name="TextBox 20">
            <a:extLst>
              <a:ext uri="{FF2B5EF4-FFF2-40B4-BE49-F238E27FC236}">
                <a16:creationId xmlns:a16="http://schemas.microsoft.com/office/drawing/2014/main" id="{6E3CEFAF-BA85-4402-A173-A13FFBDBEF40}"/>
              </a:ext>
            </a:extLst>
          </p:cNvPr>
          <p:cNvSpPr txBox="1"/>
          <p:nvPr/>
        </p:nvSpPr>
        <p:spPr>
          <a:xfrm>
            <a:off x="2588904" y="4374782"/>
            <a:ext cx="1338828" cy="369332"/>
          </a:xfrm>
          <a:prstGeom prst="rect">
            <a:avLst/>
          </a:prstGeom>
          <a:noFill/>
        </p:spPr>
        <p:txBody>
          <a:bodyPr wrap="none" rtlCol="0" anchor="ctr" anchorCtr="1">
            <a:spAutoFit/>
          </a:bodyPr>
          <a:lstStyle/>
          <a:p>
            <a:r>
              <a:rPr lang="en-US" dirty="0">
                <a:ea typeface="標楷體" pitchFamily="65" charset="-120"/>
                <a:cs typeface="Calibri" pitchFamily="34" charset="0"/>
              </a:rPr>
              <a:t>4096 Bytes</a:t>
            </a:r>
          </a:p>
        </p:txBody>
      </p:sp>
      <p:sp>
        <p:nvSpPr>
          <p:cNvPr id="22" name="Rectangle 21">
            <a:extLst>
              <a:ext uri="{FF2B5EF4-FFF2-40B4-BE49-F238E27FC236}">
                <a16:creationId xmlns:a16="http://schemas.microsoft.com/office/drawing/2014/main" id="{5CDEC219-B1DD-4282-B7F5-D29E28E83C3E}"/>
              </a:ext>
            </a:extLst>
          </p:cNvPr>
          <p:cNvSpPr/>
          <p:nvPr/>
        </p:nvSpPr>
        <p:spPr bwMode="auto">
          <a:xfrm>
            <a:off x="5225781" y="4326086"/>
            <a:ext cx="4012254" cy="466725"/>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dirty="0">
              <a:ln>
                <a:noFill/>
              </a:ln>
              <a:solidFill>
                <a:schemeClr val="tx1"/>
              </a:solidFill>
              <a:effectLst/>
              <a:latin typeface="Arial" pitchFamily="34" charset="0"/>
              <a:ea typeface="新細明體" pitchFamily="18" charset="-120"/>
            </a:endParaRPr>
          </a:p>
        </p:txBody>
      </p:sp>
      <p:sp>
        <p:nvSpPr>
          <p:cNvPr id="23" name="TextBox 22">
            <a:extLst>
              <a:ext uri="{FF2B5EF4-FFF2-40B4-BE49-F238E27FC236}">
                <a16:creationId xmlns:a16="http://schemas.microsoft.com/office/drawing/2014/main" id="{53CF30D1-FDBD-4847-9DA1-4B83CA50D832}"/>
              </a:ext>
            </a:extLst>
          </p:cNvPr>
          <p:cNvSpPr txBox="1"/>
          <p:nvPr/>
        </p:nvSpPr>
        <p:spPr>
          <a:xfrm>
            <a:off x="6650320" y="4374782"/>
            <a:ext cx="1338828" cy="369332"/>
          </a:xfrm>
          <a:prstGeom prst="rect">
            <a:avLst/>
          </a:prstGeom>
          <a:noFill/>
        </p:spPr>
        <p:txBody>
          <a:bodyPr wrap="none" rtlCol="0" anchor="ctr" anchorCtr="1">
            <a:spAutoFit/>
          </a:bodyPr>
          <a:lstStyle/>
          <a:p>
            <a:r>
              <a:rPr lang="en-US" dirty="0">
                <a:ea typeface="標楷體" pitchFamily="65" charset="-120"/>
                <a:cs typeface="Calibri" pitchFamily="34" charset="0"/>
              </a:rPr>
              <a:t>4096 Bytes</a:t>
            </a:r>
          </a:p>
        </p:txBody>
      </p:sp>
      <p:sp>
        <p:nvSpPr>
          <p:cNvPr id="24" name="TextBox 23">
            <a:extLst>
              <a:ext uri="{FF2B5EF4-FFF2-40B4-BE49-F238E27FC236}">
                <a16:creationId xmlns:a16="http://schemas.microsoft.com/office/drawing/2014/main" id="{31096678-F79C-423A-ADBE-A651F8E4B824}"/>
              </a:ext>
            </a:extLst>
          </p:cNvPr>
          <p:cNvSpPr txBox="1"/>
          <p:nvPr/>
        </p:nvSpPr>
        <p:spPr>
          <a:xfrm>
            <a:off x="4607231" y="4721734"/>
            <a:ext cx="697627" cy="369332"/>
          </a:xfrm>
          <a:prstGeom prst="rect">
            <a:avLst/>
          </a:prstGeom>
          <a:noFill/>
        </p:spPr>
        <p:txBody>
          <a:bodyPr wrap="none" rtlCol="0" anchor="ctr" anchorCtr="1">
            <a:spAutoFit/>
          </a:bodyPr>
          <a:lstStyle/>
          <a:p>
            <a:r>
              <a:rPr lang="en-US" dirty="0">
                <a:ea typeface="標楷體" pitchFamily="65" charset="-120"/>
                <a:cs typeface="Calibri" pitchFamily="34" charset="0"/>
              </a:rPr>
              <a:t>4095</a:t>
            </a:r>
          </a:p>
        </p:txBody>
      </p:sp>
      <p:sp>
        <p:nvSpPr>
          <p:cNvPr id="25" name="TextBox 24">
            <a:extLst>
              <a:ext uri="{FF2B5EF4-FFF2-40B4-BE49-F238E27FC236}">
                <a16:creationId xmlns:a16="http://schemas.microsoft.com/office/drawing/2014/main" id="{180FFA09-5315-4F68-B9A2-8EFC49130C27}"/>
              </a:ext>
            </a:extLst>
          </p:cNvPr>
          <p:cNvSpPr txBox="1"/>
          <p:nvPr/>
        </p:nvSpPr>
        <p:spPr>
          <a:xfrm>
            <a:off x="1007912" y="4756885"/>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0</a:t>
            </a:r>
          </a:p>
        </p:txBody>
      </p:sp>
      <p:sp>
        <p:nvSpPr>
          <p:cNvPr id="26" name="Rectangle 25">
            <a:extLst>
              <a:ext uri="{FF2B5EF4-FFF2-40B4-BE49-F238E27FC236}">
                <a16:creationId xmlns:a16="http://schemas.microsoft.com/office/drawing/2014/main" id="{21B92A7D-CD1A-41CF-8CE2-59A73DE7E4D9}"/>
              </a:ext>
            </a:extLst>
          </p:cNvPr>
          <p:cNvSpPr/>
          <p:nvPr/>
        </p:nvSpPr>
        <p:spPr bwMode="auto">
          <a:xfrm>
            <a:off x="4019148" y="4326086"/>
            <a:ext cx="1138137" cy="450691"/>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2">
                    <a:lumMod val="50000"/>
                  </a:schemeClr>
                </a:solidFill>
                <a:effectLst/>
                <a:latin typeface="Arial" pitchFamily="34" charset="0"/>
                <a:ea typeface="新細明體" pitchFamily="18" charset="-120"/>
              </a:rPr>
              <a:t>8 bytes</a:t>
            </a:r>
          </a:p>
        </p:txBody>
      </p:sp>
      <p:cxnSp>
        <p:nvCxnSpPr>
          <p:cNvPr id="28" name="Straight Arrow Connector 27">
            <a:extLst>
              <a:ext uri="{FF2B5EF4-FFF2-40B4-BE49-F238E27FC236}">
                <a16:creationId xmlns:a16="http://schemas.microsoft.com/office/drawing/2014/main" id="{46AFC7DD-9CFE-4FA1-A4C5-980E4F0B4B72}"/>
              </a:ext>
            </a:extLst>
          </p:cNvPr>
          <p:cNvCxnSpPr>
            <a:cxnSpLocks/>
          </p:cNvCxnSpPr>
          <p:nvPr/>
        </p:nvCxnSpPr>
        <p:spPr bwMode="auto">
          <a:xfrm flipV="1">
            <a:off x="3230105" y="4756885"/>
            <a:ext cx="697627" cy="748970"/>
          </a:xfrm>
          <a:prstGeom prst="straightConnector1">
            <a:avLst/>
          </a:prstGeom>
          <a:noFill/>
          <a:ln w="15875" cap="flat" cmpd="sng" algn="ctr">
            <a:solidFill>
              <a:srgbClr val="FF0000"/>
            </a:solidFill>
            <a:prstDash val="solid"/>
            <a:round/>
            <a:headEnd type="none" w="med" len="med"/>
            <a:tailEnd type="triangle"/>
          </a:ln>
          <a:effectLst/>
        </p:spPr>
      </p:cxnSp>
      <p:sp>
        <p:nvSpPr>
          <p:cNvPr id="30" name="TextBox 29">
            <a:extLst>
              <a:ext uri="{FF2B5EF4-FFF2-40B4-BE49-F238E27FC236}">
                <a16:creationId xmlns:a16="http://schemas.microsoft.com/office/drawing/2014/main" id="{383B9A08-ACE6-4438-9109-4A0315EF8E36}"/>
              </a:ext>
            </a:extLst>
          </p:cNvPr>
          <p:cNvSpPr txBox="1"/>
          <p:nvPr/>
        </p:nvSpPr>
        <p:spPr>
          <a:xfrm>
            <a:off x="2267789" y="5388143"/>
            <a:ext cx="1826141" cy="369332"/>
          </a:xfrm>
          <a:prstGeom prst="rect">
            <a:avLst/>
          </a:prstGeom>
          <a:noFill/>
        </p:spPr>
        <p:txBody>
          <a:bodyPr wrap="none" rtlCol="0" anchor="ctr" anchorCtr="1">
            <a:spAutoFit/>
          </a:bodyPr>
          <a:lstStyle/>
          <a:p>
            <a:r>
              <a:rPr lang="en-US" dirty="0" err="1">
                <a:ea typeface="標楷體" pitchFamily="65" charset="-120"/>
                <a:cs typeface="Calibri" pitchFamily="34" charset="0"/>
              </a:rPr>
              <a:t>Natually</a:t>
            </a:r>
            <a:r>
              <a:rPr lang="en-US" dirty="0">
                <a:ea typeface="標楷體" pitchFamily="65" charset="-120"/>
                <a:cs typeface="Calibri" pitchFamily="34" charset="0"/>
              </a:rPr>
              <a:t> aligned</a:t>
            </a:r>
          </a:p>
        </p:txBody>
      </p:sp>
    </p:spTree>
    <p:extLst>
      <p:ext uri="{BB962C8B-B14F-4D97-AF65-F5344CB8AC3E}">
        <p14:creationId xmlns:p14="http://schemas.microsoft.com/office/powerpoint/2010/main" val="27977498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9867" y="144466"/>
            <a:ext cx="10902950" cy="692151"/>
          </a:xfrm>
        </p:spPr>
        <p:txBody>
          <a:bodyPr/>
          <a:lstStyle/>
          <a:p>
            <a:r>
              <a:rPr lang="en-US" dirty="0"/>
              <a:t>Stack / Frame Alignments</a:t>
            </a:r>
          </a:p>
        </p:txBody>
      </p:sp>
      <p:sp>
        <p:nvSpPr>
          <p:cNvPr id="3" name="Content Placeholder 2"/>
          <p:cNvSpPr>
            <a:spLocks noGrp="1"/>
          </p:cNvSpPr>
          <p:nvPr>
            <p:ph idx="1"/>
          </p:nvPr>
        </p:nvSpPr>
        <p:spPr>
          <a:xfrm>
            <a:off x="214009" y="1114425"/>
            <a:ext cx="11738808" cy="5004272"/>
          </a:xfrm>
        </p:spPr>
        <p:txBody>
          <a:bodyPr/>
          <a:lstStyle/>
          <a:p>
            <a:r>
              <a:rPr lang="en-US" sz="2400" b="0" i="0" dirty="0">
                <a:solidFill>
                  <a:srgbClr val="111827"/>
                </a:solidFill>
                <a:effectLst/>
                <a:latin typeface="ui-sans-serif"/>
              </a:rPr>
              <a:t>We often access local variables like</a:t>
            </a:r>
          </a:p>
          <a:p>
            <a:pPr marL="0" indent="0">
              <a:buNone/>
            </a:pPr>
            <a:r>
              <a:rPr lang="en-US" sz="2400" dirty="0">
                <a:solidFill>
                  <a:srgbClr val="111827"/>
                </a:solidFill>
                <a:latin typeface="ui-sans-serif"/>
              </a:rPr>
              <a:t>	LW X2, -4(FP) or SW X2, 8(X4)</a:t>
            </a:r>
          </a:p>
          <a:p>
            <a:pPr marL="0" indent="0">
              <a:buNone/>
            </a:pPr>
            <a:r>
              <a:rPr lang="en-US" sz="2400" b="0" i="0" dirty="0">
                <a:solidFill>
                  <a:srgbClr val="111827"/>
                </a:solidFill>
                <a:effectLst/>
                <a:latin typeface="ui-sans-serif"/>
              </a:rPr>
              <a:t>     How to guarantee that the base pointers FP, SP, and X4 are properly aligned?</a:t>
            </a:r>
          </a:p>
          <a:p>
            <a:r>
              <a:rPr lang="en-US" sz="2400" b="0" i="0" dirty="0">
                <a:solidFill>
                  <a:srgbClr val="111827"/>
                </a:solidFill>
                <a:effectLst/>
                <a:latin typeface="ui-sans-serif"/>
              </a:rPr>
              <a:t>Alignment of the stack and the frame pointer is determined by the </a:t>
            </a:r>
            <a:r>
              <a:rPr lang="en-US" sz="2400" b="1" i="0" dirty="0">
                <a:solidFill>
                  <a:srgbClr val="111827"/>
                </a:solidFill>
                <a:effectLst/>
                <a:latin typeface="ui-sans-serif"/>
              </a:rPr>
              <a:t>ABI</a:t>
            </a:r>
          </a:p>
          <a:p>
            <a:r>
              <a:rPr lang="en-US" sz="2400" b="0" i="0" dirty="0">
                <a:solidFill>
                  <a:srgbClr val="111827"/>
                </a:solidFill>
                <a:effectLst/>
                <a:latin typeface="ui-sans-serif"/>
              </a:rPr>
              <a:t>Most modern ABIs require the </a:t>
            </a:r>
            <a:r>
              <a:rPr lang="en-US" sz="2400" b="1" i="0" dirty="0">
                <a:solidFill>
                  <a:srgbClr val="111827"/>
                </a:solidFill>
                <a:effectLst/>
                <a:latin typeface="ui-sans-serif"/>
              </a:rPr>
              <a:t>stack pointer</a:t>
            </a:r>
            <a:r>
              <a:rPr lang="en-US" sz="2400" b="0" i="0" dirty="0">
                <a:solidFill>
                  <a:srgbClr val="111827"/>
                </a:solidFill>
                <a:effectLst/>
                <a:latin typeface="ui-sans-serif"/>
              </a:rPr>
              <a:t> to be aligned to: </a:t>
            </a:r>
          </a:p>
          <a:p>
            <a:pPr lvl="1"/>
            <a:r>
              <a:rPr lang="en-US" sz="2200" b="0" i="0" dirty="0">
                <a:solidFill>
                  <a:srgbClr val="111827"/>
                </a:solidFill>
                <a:effectLst/>
                <a:latin typeface="ui-sans-serif"/>
              </a:rPr>
              <a:t>16 Bytes (Intel </a:t>
            </a:r>
            <a:r>
              <a:rPr lang="en-US" sz="2200" b="0" i="0" dirty="0">
                <a:solidFill>
                  <a:srgbClr val="374151"/>
                </a:solidFill>
                <a:effectLst/>
                <a:latin typeface="ui-sans-serif"/>
              </a:rPr>
              <a:t>x86‑64 System V ABI, ARM AArch64, MS Windows x64</a:t>
            </a:r>
            <a:r>
              <a:rPr lang="en-US" sz="1400" b="0" i="0" dirty="0">
                <a:solidFill>
                  <a:srgbClr val="374151"/>
                </a:solidFill>
                <a:effectLst/>
                <a:latin typeface="ui-sans-serif"/>
              </a:rPr>
              <a:t>)</a:t>
            </a:r>
            <a:endParaRPr lang="en-US" sz="2200" b="0" i="0" dirty="0">
              <a:solidFill>
                <a:srgbClr val="111827"/>
              </a:solidFill>
              <a:effectLst/>
              <a:latin typeface="ui-sans-serif"/>
            </a:endParaRPr>
          </a:p>
          <a:p>
            <a:pPr lvl="1"/>
            <a:r>
              <a:rPr lang="en-US" sz="2200" dirty="0">
                <a:solidFill>
                  <a:srgbClr val="111827"/>
                </a:solidFill>
                <a:latin typeface="ui-sans-serif"/>
              </a:rPr>
              <a:t>8 bytes (older or embedded systems)</a:t>
            </a:r>
          </a:p>
          <a:p>
            <a:r>
              <a:rPr lang="en-US" sz="2733" dirty="0"/>
              <a:t>CRT (C-Runtime) enforces the stack alignment</a:t>
            </a:r>
          </a:p>
          <a:p>
            <a:pPr lvl="1"/>
            <a:r>
              <a:rPr lang="en-US" sz="2200" dirty="0"/>
              <a:t>The CRT ensures that before calling </a:t>
            </a:r>
            <a:r>
              <a:rPr lang="en-US" sz="2200" b="1" dirty="0"/>
              <a:t>main</a:t>
            </a:r>
            <a:r>
              <a:rPr lang="en-US" sz="2200" dirty="0"/>
              <a:t>, the stack pointer satisfies the ABI’s required alignment.</a:t>
            </a:r>
          </a:p>
          <a:p>
            <a:pPr lvl="1"/>
            <a:r>
              <a:rPr lang="en-US" sz="2200" b="0" i="0" dirty="0">
                <a:solidFill>
                  <a:srgbClr val="111827"/>
                </a:solidFill>
                <a:effectLst/>
                <a:latin typeface="ui-sans-serif"/>
              </a:rPr>
              <a:t>Linux on </a:t>
            </a:r>
            <a:r>
              <a:rPr lang="en-US" sz="2200" b="1" i="0" dirty="0">
                <a:solidFill>
                  <a:srgbClr val="111827"/>
                </a:solidFill>
                <a:effectLst/>
                <a:latin typeface="ui-sans-serif"/>
              </a:rPr>
              <a:t>RISC‑V</a:t>
            </a:r>
            <a:r>
              <a:rPr lang="en-US" sz="2200" b="0" i="0" dirty="0">
                <a:solidFill>
                  <a:srgbClr val="111827"/>
                </a:solidFill>
                <a:effectLst/>
                <a:latin typeface="ui-sans-serif"/>
              </a:rPr>
              <a:t> uses the </a:t>
            </a:r>
            <a:r>
              <a:rPr lang="en-US" sz="2200" b="1" i="0" dirty="0">
                <a:solidFill>
                  <a:srgbClr val="111827"/>
                </a:solidFill>
                <a:effectLst/>
                <a:latin typeface="ui-sans-serif"/>
              </a:rPr>
              <a:t>RISC‑V ELF </a:t>
            </a:r>
            <a:r>
              <a:rPr lang="en-US" sz="2200" b="1" i="0" dirty="0" err="1">
                <a:solidFill>
                  <a:srgbClr val="111827"/>
                </a:solidFill>
                <a:effectLst/>
                <a:latin typeface="ui-sans-serif"/>
              </a:rPr>
              <a:t>psABI</a:t>
            </a:r>
            <a:r>
              <a:rPr lang="en-US" sz="2200" b="0" i="0" dirty="0">
                <a:solidFill>
                  <a:srgbClr val="111827"/>
                </a:solidFill>
                <a:effectLst/>
                <a:latin typeface="ui-sans-serif"/>
              </a:rPr>
              <a:t>.</a:t>
            </a:r>
          </a:p>
          <a:p>
            <a:pPr lvl="1"/>
            <a:r>
              <a:rPr lang="en-US" sz="2200" dirty="0">
                <a:solidFill>
                  <a:srgbClr val="111827"/>
                </a:solidFill>
                <a:latin typeface="ui-sans-serif"/>
              </a:rPr>
              <a:t>Stack pointer is 16 byte aligned.</a:t>
            </a:r>
            <a:endParaRPr lang="en-US" sz="2200" dirty="0"/>
          </a:p>
        </p:txBody>
      </p:sp>
      <p:sp>
        <p:nvSpPr>
          <p:cNvPr id="7" name="Date Placeholder 6"/>
          <p:cNvSpPr>
            <a:spLocks noGrp="1"/>
          </p:cNvSpPr>
          <p:nvPr>
            <p:ph type="dt" sz="half" idx="10"/>
          </p:nvPr>
        </p:nvSpPr>
        <p:spPr/>
        <p:txBody>
          <a:bodyPr/>
          <a:lstStyle/>
          <a:p>
            <a:pPr>
              <a:defRPr/>
            </a:pPr>
            <a:r>
              <a:rPr lang="en-US"/>
              <a:t>September 27, 2017</a:t>
            </a:r>
            <a:endParaRPr lang="en-US" dirty="0"/>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34</a:t>
            </a:fld>
            <a:endParaRPr lang="en-US" dirty="0"/>
          </a:p>
        </p:txBody>
      </p:sp>
    </p:spTree>
    <p:extLst>
      <p:ext uri="{BB962C8B-B14F-4D97-AF65-F5344CB8AC3E}">
        <p14:creationId xmlns:p14="http://schemas.microsoft.com/office/powerpoint/2010/main" val="39036034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9867" y="144466"/>
            <a:ext cx="10902950" cy="692151"/>
          </a:xfrm>
        </p:spPr>
        <p:txBody>
          <a:bodyPr/>
          <a:lstStyle/>
          <a:p>
            <a:r>
              <a:rPr lang="en-US" dirty="0"/>
              <a:t>Compiler Reordering</a:t>
            </a:r>
          </a:p>
        </p:txBody>
      </p:sp>
      <p:sp>
        <p:nvSpPr>
          <p:cNvPr id="3" name="Content Placeholder 2"/>
          <p:cNvSpPr>
            <a:spLocks noGrp="1"/>
          </p:cNvSpPr>
          <p:nvPr>
            <p:ph idx="1"/>
          </p:nvPr>
        </p:nvSpPr>
        <p:spPr>
          <a:xfrm>
            <a:off x="214009" y="1000124"/>
            <a:ext cx="11738808" cy="5172075"/>
          </a:xfrm>
        </p:spPr>
        <p:txBody>
          <a:bodyPr/>
          <a:lstStyle/>
          <a:p>
            <a:pPr marL="0" marR="0" lvl="0" indent="0" algn="l" defTabSz="914400" rtl="0" eaLnBrk="1" fontAlgn="base" latinLnBrk="0" hangingPunct="1">
              <a:lnSpc>
                <a:spcPct val="100000"/>
              </a:lnSpc>
              <a:spcBef>
                <a:spcPct val="20000"/>
              </a:spcBef>
              <a:spcAft>
                <a:spcPct val="0"/>
              </a:spcAft>
              <a:buClr>
                <a:srgbClr val="0000FF"/>
              </a:buClr>
              <a:buSzPct val="80000"/>
              <a:buFont typeface="Wingdings" pitchFamily="2" charset="2"/>
              <a:buNone/>
              <a:tabLst/>
              <a:defRPr/>
            </a:pPr>
            <a:r>
              <a:rPr kumimoji="1" lang="en-US" sz="24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Previous Example:</a:t>
            </a:r>
          </a:p>
          <a:p>
            <a:pPr marL="0" marR="0" lvl="0" indent="0" algn="l" defTabSz="914400" rtl="0" eaLnBrk="1" fontAlgn="base" latinLnBrk="0" hangingPunct="1">
              <a:lnSpc>
                <a:spcPct val="100000"/>
              </a:lnSpc>
              <a:spcBef>
                <a:spcPct val="20000"/>
              </a:spcBef>
              <a:spcAft>
                <a:spcPct val="0"/>
              </a:spcAft>
              <a:buClr>
                <a:srgbClr val="0000FF"/>
              </a:buClr>
              <a:buSzPct val="80000"/>
              <a:buFont typeface="Wingdings" pitchFamily="2" charset="2"/>
              <a:buNone/>
              <a:tabLst/>
              <a:defRPr/>
            </a:pPr>
            <a:r>
              <a:rPr lang="en-US" sz="2400" dirty="0">
                <a:solidFill>
                  <a:prstClr val="black"/>
                </a:solidFill>
              </a:rPr>
              <a:t>	</a:t>
            </a:r>
            <a:r>
              <a:rPr kumimoji="1" lang="en-US" sz="24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struct { int </a:t>
            </a:r>
            <a:r>
              <a:rPr kumimoji="1" lang="en-US" sz="2400" b="0" i="0" u="none" strike="noStrike" kern="0" cap="none" spc="0" normalizeH="0" baseline="0" noProof="0" dirty="0">
                <a:ln>
                  <a:noFill/>
                </a:ln>
                <a:solidFill>
                  <a:srgbClr val="FF0000"/>
                </a:solidFill>
                <a:effectLst/>
                <a:uLnTx/>
                <a:uFillTx/>
                <a:latin typeface="Calibri" pitchFamily="34" charset="0"/>
                <a:ea typeface="標楷體" pitchFamily="65" charset="-120"/>
                <a:cs typeface="+mn-cs"/>
              </a:rPr>
              <a:t>a</a:t>
            </a:r>
            <a:r>
              <a:rPr kumimoji="1" lang="en-US" sz="24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 long </a:t>
            </a:r>
            <a:r>
              <a:rPr kumimoji="1" lang="en-US" sz="2400" b="0" i="0" u="none" strike="noStrike" kern="0" cap="none" spc="0" normalizeH="0" baseline="0" noProof="0" dirty="0" err="1">
                <a:ln>
                  <a:noFill/>
                </a:ln>
                <a:solidFill>
                  <a:prstClr val="black"/>
                </a:solidFill>
                <a:effectLst/>
                <a:uLnTx/>
                <a:uFillTx/>
                <a:latin typeface="Calibri" pitchFamily="34" charset="0"/>
                <a:ea typeface="標楷體" pitchFamily="65" charset="-120"/>
                <a:cs typeface="+mn-cs"/>
              </a:rPr>
              <a:t>long</a:t>
            </a:r>
            <a:r>
              <a:rPr kumimoji="1" lang="en-US" sz="24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 </a:t>
            </a:r>
            <a:r>
              <a:rPr kumimoji="1" lang="en-US" sz="2400" b="0" i="0" u="none" strike="noStrike" kern="0" cap="none" spc="0" normalizeH="0" baseline="0" noProof="0" dirty="0">
                <a:ln>
                  <a:noFill/>
                </a:ln>
                <a:solidFill>
                  <a:srgbClr val="FF0000"/>
                </a:solidFill>
                <a:effectLst/>
                <a:uLnTx/>
                <a:uFillTx/>
                <a:latin typeface="Calibri" pitchFamily="34" charset="0"/>
                <a:ea typeface="標楷體" pitchFamily="65" charset="-120"/>
                <a:cs typeface="+mn-cs"/>
              </a:rPr>
              <a:t>b</a:t>
            </a:r>
            <a:r>
              <a:rPr kumimoji="1" lang="en-US" sz="24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 char </a:t>
            </a:r>
            <a:r>
              <a:rPr kumimoji="1" lang="en-US" sz="2400" b="0" i="0" u="none" strike="noStrike" kern="0" cap="none" spc="0" normalizeH="0" baseline="0" noProof="0" dirty="0">
                <a:ln>
                  <a:noFill/>
                </a:ln>
                <a:solidFill>
                  <a:srgbClr val="FF0000"/>
                </a:solidFill>
                <a:effectLst/>
                <a:uLnTx/>
                <a:uFillTx/>
                <a:latin typeface="Calibri" pitchFamily="34" charset="0"/>
                <a:ea typeface="標楷體" pitchFamily="65" charset="-120"/>
                <a:cs typeface="+mn-cs"/>
              </a:rPr>
              <a:t>c</a:t>
            </a:r>
            <a:r>
              <a:rPr kumimoji="1" lang="en-US" sz="24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 double </a:t>
            </a:r>
            <a:r>
              <a:rPr kumimoji="1" lang="en-US" sz="2400" b="0" i="0" u="none" strike="noStrike" kern="0" cap="none" spc="0" normalizeH="0" baseline="0" noProof="0" dirty="0">
                <a:ln>
                  <a:noFill/>
                </a:ln>
                <a:solidFill>
                  <a:srgbClr val="FF0000"/>
                </a:solidFill>
                <a:effectLst/>
                <a:uLnTx/>
                <a:uFillTx/>
                <a:latin typeface="Calibri" pitchFamily="34" charset="0"/>
                <a:ea typeface="標楷體" pitchFamily="65" charset="-120"/>
                <a:cs typeface="+mn-cs"/>
              </a:rPr>
              <a:t>d</a:t>
            </a:r>
            <a:r>
              <a:rPr kumimoji="1" lang="en-US" sz="24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a:t>
            </a:r>
          </a:p>
          <a:p>
            <a:pPr marL="0" marR="0" lvl="0" indent="0" algn="l" defTabSz="914400" rtl="0" eaLnBrk="1" fontAlgn="base" latinLnBrk="0" hangingPunct="1">
              <a:lnSpc>
                <a:spcPct val="100000"/>
              </a:lnSpc>
              <a:spcBef>
                <a:spcPct val="20000"/>
              </a:spcBef>
              <a:spcAft>
                <a:spcPct val="0"/>
              </a:spcAft>
              <a:buClr>
                <a:srgbClr val="0000FF"/>
              </a:buClr>
              <a:buSzPct val="80000"/>
              <a:buFont typeface="Wingdings" pitchFamily="2" charset="2"/>
              <a:buNone/>
              <a:tabLst/>
              <a:defRPr/>
            </a:pPr>
            <a:r>
              <a:rPr kumimoji="1" lang="en-US" sz="24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     	The compiler will lay each field as 	a: </a:t>
            </a:r>
            <a:r>
              <a:rPr kumimoji="1" lang="en-US" sz="2400" b="0" i="0" u="none" strike="noStrike" kern="0" cap="none" spc="0" normalizeH="0" baseline="0" noProof="0" dirty="0">
                <a:ln>
                  <a:noFill/>
                </a:ln>
                <a:solidFill>
                  <a:srgbClr val="FF0000"/>
                </a:solidFill>
                <a:effectLst/>
                <a:uLnTx/>
                <a:uFillTx/>
                <a:latin typeface="Calibri" pitchFamily="34" charset="0"/>
                <a:ea typeface="標楷體" pitchFamily="65" charset="-120"/>
                <a:cs typeface="+mn-cs"/>
              </a:rPr>
              <a:t>0</a:t>
            </a:r>
            <a:r>
              <a:rPr kumimoji="1" lang="en-US" sz="24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	b: </a:t>
            </a:r>
            <a:r>
              <a:rPr kumimoji="1" lang="en-US" sz="2400" b="0" i="0" u="none" strike="noStrike" kern="0" cap="none" spc="0" normalizeH="0" baseline="0" noProof="0" dirty="0">
                <a:ln>
                  <a:noFill/>
                </a:ln>
                <a:solidFill>
                  <a:srgbClr val="FF0000"/>
                </a:solidFill>
                <a:effectLst/>
                <a:uLnTx/>
                <a:uFillTx/>
                <a:latin typeface="Calibri" pitchFamily="34" charset="0"/>
                <a:ea typeface="標楷體" pitchFamily="65" charset="-120"/>
                <a:cs typeface="+mn-cs"/>
              </a:rPr>
              <a:t>8 	</a:t>
            </a:r>
            <a:r>
              <a:rPr kumimoji="1" lang="en-US" sz="24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c: </a:t>
            </a:r>
            <a:r>
              <a:rPr kumimoji="1" lang="en-US" sz="2400" b="0" i="0" u="none" strike="noStrike" kern="0" cap="none" spc="0" normalizeH="0" baseline="0" noProof="0" dirty="0">
                <a:ln>
                  <a:noFill/>
                </a:ln>
                <a:solidFill>
                  <a:srgbClr val="FF0000"/>
                </a:solidFill>
                <a:effectLst/>
                <a:uLnTx/>
                <a:uFillTx/>
                <a:latin typeface="Calibri" pitchFamily="34" charset="0"/>
                <a:ea typeface="標楷體" pitchFamily="65" charset="-120"/>
                <a:cs typeface="+mn-cs"/>
              </a:rPr>
              <a:t>16</a:t>
            </a:r>
            <a:r>
              <a:rPr kumimoji="1" lang="en-US" sz="24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	d: </a:t>
            </a:r>
            <a:r>
              <a:rPr kumimoji="1" lang="en-US" sz="2400" b="0" i="0" u="none" strike="noStrike" kern="0" cap="none" spc="0" normalizeH="0" baseline="0" noProof="0" dirty="0">
                <a:ln>
                  <a:noFill/>
                </a:ln>
                <a:solidFill>
                  <a:srgbClr val="FF0000"/>
                </a:solidFill>
                <a:effectLst/>
                <a:uLnTx/>
                <a:uFillTx/>
                <a:latin typeface="Calibri" pitchFamily="34" charset="0"/>
                <a:ea typeface="標楷體" pitchFamily="65" charset="-120"/>
                <a:cs typeface="+mn-cs"/>
              </a:rPr>
              <a:t>24	</a:t>
            </a:r>
            <a:r>
              <a:rPr kumimoji="1" lang="en-US" sz="2400" b="0" i="0" u="none" strike="noStrike" kern="0" cap="none" spc="0" normalizeH="0" baseline="0" noProof="0" dirty="0">
                <a:ln>
                  <a:noFill/>
                </a:ln>
                <a:effectLst/>
                <a:uLnTx/>
                <a:uFillTx/>
                <a:latin typeface="Calibri" pitchFamily="34" charset="0"/>
                <a:ea typeface="標楷體" pitchFamily="65" charset="-120"/>
                <a:cs typeface="+mn-cs"/>
              </a:rPr>
              <a:t>Total size: 32B</a:t>
            </a:r>
          </a:p>
          <a:p>
            <a:pPr marL="0" marR="0" lvl="0" indent="0" algn="l" defTabSz="914400" rtl="0" eaLnBrk="1" fontAlgn="base" latinLnBrk="0" hangingPunct="1">
              <a:lnSpc>
                <a:spcPct val="100000"/>
              </a:lnSpc>
              <a:spcBef>
                <a:spcPct val="20000"/>
              </a:spcBef>
              <a:spcAft>
                <a:spcPct val="0"/>
              </a:spcAft>
              <a:buClr>
                <a:srgbClr val="0000FF"/>
              </a:buClr>
              <a:buSzPct val="80000"/>
              <a:buFont typeface="Wingdings" pitchFamily="2" charset="2"/>
              <a:buNone/>
              <a:tabLst/>
              <a:defRPr/>
            </a:pPr>
            <a:r>
              <a:rPr lang="en-US" sz="2400" dirty="0"/>
              <a:t>	Can the compiler reorder them as      b:</a:t>
            </a:r>
            <a:r>
              <a:rPr kumimoji="1" lang="en-US" sz="2400" b="0" i="0" u="none" strike="noStrike" kern="0" cap="none" spc="0" normalizeH="0" baseline="0" noProof="0" dirty="0">
                <a:ln>
                  <a:noFill/>
                </a:ln>
                <a:solidFill>
                  <a:srgbClr val="FF0000"/>
                </a:solidFill>
                <a:effectLst/>
                <a:uLnTx/>
                <a:uFillTx/>
                <a:latin typeface="Calibri" pitchFamily="34" charset="0"/>
                <a:ea typeface="標楷體" pitchFamily="65" charset="-120"/>
                <a:cs typeface="+mn-cs"/>
              </a:rPr>
              <a:t> 0	</a:t>
            </a:r>
            <a:r>
              <a:rPr kumimoji="1" lang="en-US" sz="2400" b="0" i="0" u="none" strike="noStrike" kern="0" cap="none" spc="0" normalizeH="0" baseline="0" noProof="0" dirty="0">
                <a:ln>
                  <a:noFill/>
                </a:ln>
                <a:effectLst/>
                <a:uLnTx/>
                <a:uFillTx/>
                <a:latin typeface="Calibri" pitchFamily="34" charset="0"/>
                <a:ea typeface="標楷體" pitchFamily="65" charset="-120"/>
                <a:cs typeface="+mn-cs"/>
              </a:rPr>
              <a:t>d:</a:t>
            </a:r>
            <a:r>
              <a:rPr kumimoji="1" lang="en-US" sz="2400" b="0" i="0" u="none" strike="noStrike" kern="0" cap="none" spc="0" normalizeH="0" baseline="0" noProof="0" dirty="0">
                <a:ln>
                  <a:noFill/>
                </a:ln>
                <a:solidFill>
                  <a:srgbClr val="FF0000"/>
                </a:solidFill>
                <a:effectLst/>
                <a:uLnTx/>
                <a:uFillTx/>
                <a:latin typeface="Calibri" pitchFamily="34" charset="0"/>
                <a:ea typeface="標楷體" pitchFamily="65" charset="-120"/>
                <a:cs typeface="+mn-cs"/>
              </a:rPr>
              <a:t> 8	</a:t>
            </a:r>
            <a:r>
              <a:rPr kumimoji="1" lang="en-US" sz="2400" b="0" i="0" u="none" strike="noStrike" kern="0" cap="none" spc="0" normalizeH="0" baseline="0" noProof="0" dirty="0">
                <a:ln>
                  <a:noFill/>
                </a:ln>
                <a:effectLst/>
                <a:uLnTx/>
                <a:uFillTx/>
                <a:latin typeface="Calibri" pitchFamily="34" charset="0"/>
                <a:ea typeface="標楷體" pitchFamily="65" charset="-120"/>
                <a:cs typeface="+mn-cs"/>
              </a:rPr>
              <a:t>a: 16	c: </a:t>
            </a:r>
            <a:r>
              <a:rPr lang="en-US" sz="2400" dirty="0">
                <a:solidFill>
                  <a:srgbClr val="FF0000"/>
                </a:solidFill>
              </a:rPr>
              <a:t>21	</a:t>
            </a:r>
            <a:r>
              <a:rPr lang="en-US" sz="2400" dirty="0"/>
              <a:t>Total size: 24B</a:t>
            </a:r>
            <a:endParaRPr lang="en-US" sz="2800" dirty="0">
              <a:latin typeface="Times New Roman" panose="02020603050405020304" pitchFamily="18" charset="0"/>
              <a:cs typeface="Times New Roman" panose="02020603050405020304" pitchFamily="18" charset="0"/>
            </a:endParaRPr>
          </a:p>
          <a:p>
            <a:pPr algn="l"/>
            <a:r>
              <a:rPr lang="en-US" sz="2800" i="0" dirty="0">
                <a:solidFill>
                  <a:srgbClr val="111827"/>
                </a:solidFill>
                <a:effectLst/>
                <a:latin typeface="Times New Roman" panose="02020603050405020304" pitchFamily="18" charset="0"/>
                <a:cs typeface="Times New Roman" panose="02020603050405020304" pitchFamily="18" charset="0"/>
              </a:rPr>
              <a:t>Independent Variables (</a:t>
            </a:r>
            <a:r>
              <a:rPr lang="en-US" sz="2800" i="0" dirty="0">
                <a:solidFill>
                  <a:srgbClr val="FF0000"/>
                </a:solidFill>
                <a:effectLst/>
                <a:latin typeface="Times New Roman" panose="02020603050405020304" pitchFamily="18" charset="0"/>
                <a:cs typeface="Times New Roman" panose="02020603050405020304" pitchFamily="18" charset="0"/>
              </a:rPr>
              <a:t>Rearrangement Allowed</a:t>
            </a:r>
            <a:r>
              <a:rPr lang="en-US" sz="2800" i="0" dirty="0">
                <a:solidFill>
                  <a:srgbClr val="111827"/>
                </a:solidFill>
                <a:effectLst/>
                <a:latin typeface="Times New Roman" panose="02020603050405020304" pitchFamily="18" charset="0"/>
                <a:cs typeface="Times New Roman" panose="02020603050405020304" pitchFamily="18" charset="0"/>
              </a:rPr>
              <a:t>)</a:t>
            </a:r>
          </a:p>
          <a:p>
            <a:pPr marL="0" indent="0" algn="l">
              <a:buNone/>
            </a:pPr>
            <a:r>
              <a:rPr lang="en-US" sz="2800" dirty="0">
                <a:solidFill>
                  <a:srgbClr val="111827"/>
                </a:solidFill>
                <a:latin typeface="Times New Roman" panose="02020603050405020304" pitchFamily="18" charset="0"/>
                <a:cs typeface="Times New Roman" panose="02020603050405020304" pitchFamily="18" charset="0"/>
              </a:rPr>
              <a:t>	</a:t>
            </a:r>
            <a:r>
              <a:rPr lang="en-US" sz="1200" b="0" i="0" dirty="0">
                <a:solidFill>
                  <a:srgbClr val="A626A4"/>
                </a:solidFill>
                <a:effectLst/>
                <a:latin typeface="Fira Code" panose="020B0809050000020004" pitchFamily="49" charset="0"/>
              </a:rPr>
              <a:t> </a:t>
            </a:r>
            <a:r>
              <a:rPr lang="en-US" sz="1800" b="0" i="0" dirty="0">
                <a:solidFill>
                  <a:srgbClr val="A626A4"/>
                </a:solidFill>
                <a:effectLst/>
                <a:latin typeface="Fira Code" panose="020B0809050000020004" pitchFamily="49" charset="0"/>
              </a:rPr>
              <a:t>void</a:t>
            </a:r>
            <a:r>
              <a:rPr lang="en-US" sz="1800" b="0" i="0" dirty="0">
                <a:solidFill>
                  <a:srgbClr val="383A42"/>
                </a:solidFill>
                <a:effectLst/>
                <a:latin typeface="Fira Code" panose="020B0809050000020004" pitchFamily="49" charset="0"/>
              </a:rPr>
              <a:t> </a:t>
            </a:r>
            <a:r>
              <a:rPr lang="en-US" sz="1800" b="0" i="0" dirty="0">
                <a:solidFill>
                  <a:srgbClr val="4078F2"/>
                </a:solidFill>
                <a:effectLst/>
                <a:latin typeface="Fira Code" panose="020B0809050000020004" pitchFamily="49" charset="0"/>
              </a:rPr>
              <a:t>function</a:t>
            </a:r>
            <a:r>
              <a:rPr lang="en-US" sz="1800" b="0" i="0" dirty="0">
                <a:solidFill>
                  <a:srgbClr val="383A42"/>
                </a:solidFill>
                <a:effectLst/>
                <a:latin typeface="Fira Code" panose="020B0809050000020004" pitchFamily="49" charset="0"/>
              </a:rPr>
              <a:t>() { </a:t>
            </a:r>
            <a:r>
              <a:rPr lang="en-US" sz="1800" b="0" i="0" dirty="0">
                <a:solidFill>
                  <a:srgbClr val="A626A4"/>
                </a:solidFill>
                <a:effectLst/>
                <a:latin typeface="Fira Code" panose="020B0809050000020004" pitchFamily="49" charset="0"/>
              </a:rPr>
              <a:t>int</a:t>
            </a:r>
            <a:r>
              <a:rPr lang="en-US" sz="1800" b="0" i="0" dirty="0">
                <a:solidFill>
                  <a:srgbClr val="383A42"/>
                </a:solidFill>
                <a:effectLst/>
                <a:latin typeface="Fira Code" panose="020B0809050000020004" pitchFamily="49" charset="0"/>
              </a:rPr>
              <a:t> a; </a:t>
            </a:r>
            <a:r>
              <a:rPr lang="en-US" sz="1800" b="0" i="0" dirty="0">
                <a:solidFill>
                  <a:srgbClr val="A626A4"/>
                </a:solidFill>
                <a:effectLst/>
                <a:latin typeface="Fira Code" panose="020B0809050000020004" pitchFamily="49" charset="0"/>
              </a:rPr>
              <a:t>char</a:t>
            </a:r>
            <a:r>
              <a:rPr lang="en-US" sz="1800" b="0" i="0" dirty="0">
                <a:solidFill>
                  <a:srgbClr val="383A42"/>
                </a:solidFill>
                <a:effectLst/>
                <a:latin typeface="Fira Code" panose="020B0809050000020004" pitchFamily="49" charset="0"/>
              </a:rPr>
              <a:t> b; </a:t>
            </a:r>
            <a:r>
              <a:rPr lang="en-US" sz="1800" b="0" i="0" dirty="0">
                <a:solidFill>
                  <a:srgbClr val="A626A4"/>
                </a:solidFill>
                <a:effectLst/>
                <a:latin typeface="Fira Code" panose="020B0809050000020004" pitchFamily="49" charset="0"/>
              </a:rPr>
              <a:t>int</a:t>
            </a:r>
            <a:r>
              <a:rPr lang="en-US" sz="1800" b="0" i="0" dirty="0">
                <a:solidFill>
                  <a:srgbClr val="383A42"/>
                </a:solidFill>
                <a:effectLst/>
                <a:latin typeface="Fira Code" panose="020B0809050000020004" pitchFamily="49" charset="0"/>
              </a:rPr>
              <a:t> c; }</a:t>
            </a:r>
            <a:endParaRPr lang="en-US" sz="1800" i="0" dirty="0">
              <a:solidFill>
                <a:srgbClr val="111827"/>
              </a:solidFill>
              <a:effectLst/>
              <a:latin typeface="Times New Roman" panose="02020603050405020304" pitchFamily="18" charset="0"/>
              <a:cs typeface="Times New Roman" panose="02020603050405020304" pitchFamily="18" charset="0"/>
            </a:endParaRPr>
          </a:p>
          <a:p>
            <a:pPr algn="l"/>
            <a:r>
              <a:rPr lang="en-US" sz="2800" i="0" dirty="0">
                <a:solidFill>
                  <a:srgbClr val="111827"/>
                </a:solidFill>
                <a:effectLst/>
                <a:latin typeface="Times New Roman" panose="02020603050405020304" pitchFamily="18" charset="0"/>
                <a:cs typeface="Times New Roman" panose="02020603050405020304" pitchFamily="18" charset="0"/>
              </a:rPr>
              <a:t>Struct Fields (</a:t>
            </a:r>
            <a:r>
              <a:rPr lang="en-US" sz="2800" i="0" dirty="0">
                <a:solidFill>
                  <a:srgbClr val="FF0000"/>
                </a:solidFill>
                <a:effectLst/>
                <a:latin typeface="Times New Roman" panose="02020603050405020304" pitchFamily="18" charset="0"/>
                <a:cs typeface="Times New Roman" panose="02020603050405020304" pitchFamily="18" charset="0"/>
              </a:rPr>
              <a:t>Rearrangement Forbidden</a:t>
            </a:r>
            <a:r>
              <a:rPr lang="en-US" sz="2800" i="0" dirty="0">
                <a:solidFill>
                  <a:srgbClr val="111827"/>
                </a:solidFill>
                <a:effectLst/>
                <a:latin typeface="Times New Roman" panose="02020603050405020304" pitchFamily="18" charset="0"/>
                <a:cs typeface="Times New Roman" panose="02020603050405020304" pitchFamily="18" charset="0"/>
              </a:rPr>
              <a:t>)</a:t>
            </a:r>
          </a:p>
          <a:p>
            <a:pPr marL="914354" lvl="2" indent="0">
              <a:buNone/>
            </a:pPr>
            <a:r>
              <a:rPr lang="en-US" sz="1800" b="0" i="1" dirty="0">
                <a:solidFill>
                  <a:srgbClr val="111827"/>
                </a:solidFill>
                <a:effectLst/>
                <a:latin typeface="ui-sans-serif"/>
              </a:rPr>
              <a:t>"Within a structure object, the non-bit-field members and the units in which bit-fields reside have addresses that increase in the order in which they are declared.”</a:t>
            </a:r>
          </a:p>
          <a:p>
            <a:pPr marL="857224" lvl="1" indent="-342900">
              <a:buFont typeface="Wingdings" panose="05000000000000000000" pitchFamily="2" charset="2"/>
              <a:buChar char="Ø"/>
            </a:pPr>
            <a:r>
              <a:rPr lang="en-US" sz="2333" i="1" dirty="0">
                <a:solidFill>
                  <a:srgbClr val="111827"/>
                </a:solidFill>
                <a:latin typeface="ui-sans-serif"/>
              </a:rPr>
              <a:t>Binary compatibility</a:t>
            </a:r>
          </a:p>
          <a:p>
            <a:pPr marL="857224" lvl="1" indent="-342900">
              <a:buFont typeface="Wingdings" panose="05000000000000000000" pitchFamily="2" charset="2"/>
              <a:buChar char="Ø"/>
            </a:pPr>
            <a:r>
              <a:rPr lang="en-US" sz="2333" i="1" dirty="0">
                <a:solidFill>
                  <a:srgbClr val="111827"/>
                </a:solidFill>
                <a:latin typeface="ui-sans-serif"/>
              </a:rPr>
              <a:t>Pointer arithmetic: </a:t>
            </a:r>
            <a:r>
              <a:rPr lang="en-US" sz="1400" b="0" i="0" dirty="0">
                <a:solidFill>
                  <a:srgbClr val="374151"/>
                </a:solidFill>
                <a:effectLst/>
                <a:latin typeface="ui-sans-serif"/>
              </a:rPr>
              <a:t> </a:t>
            </a:r>
            <a:r>
              <a:rPr lang="en-US" sz="1800" b="0" i="0" dirty="0">
                <a:solidFill>
                  <a:srgbClr val="374151"/>
                </a:solidFill>
                <a:effectLst/>
                <a:latin typeface="ui-sans-serif"/>
              </a:rPr>
              <a:t>The standard guarantees that a pointer to a structure object points to its first member.</a:t>
            </a:r>
            <a:endParaRPr lang="en-US" sz="1800" i="1" dirty="0">
              <a:solidFill>
                <a:srgbClr val="111827"/>
              </a:solidFill>
              <a:latin typeface="ui-sans-serif"/>
            </a:endParaRPr>
          </a:p>
          <a:p>
            <a:pPr marL="857224" lvl="1" indent="-342900">
              <a:buFont typeface="Wingdings" panose="05000000000000000000" pitchFamily="2" charset="2"/>
              <a:buChar char="Ø"/>
            </a:pPr>
            <a:r>
              <a:rPr lang="en-US" sz="2333" b="0" i="1" dirty="0">
                <a:solidFill>
                  <a:srgbClr val="111827"/>
                </a:solidFill>
                <a:effectLst/>
                <a:latin typeface="ui-sans-serif"/>
              </a:rPr>
              <a:t>Interoperability</a:t>
            </a:r>
          </a:p>
          <a:p>
            <a:pPr marL="914354" lvl="2" indent="0">
              <a:buNone/>
            </a:pPr>
            <a:endParaRPr lang="en-US" sz="1800" i="0" dirty="0">
              <a:solidFill>
                <a:srgbClr val="111827"/>
              </a:solidFill>
              <a:effectLst/>
              <a:latin typeface="Times New Roman" panose="02020603050405020304" pitchFamily="18" charset="0"/>
              <a:cs typeface="Times New Roman" panose="02020603050405020304" pitchFamily="18" charset="0"/>
            </a:endParaRPr>
          </a:p>
          <a:p>
            <a:endParaRPr lang="en-US" sz="2200" dirty="0"/>
          </a:p>
        </p:txBody>
      </p:sp>
      <p:sp>
        <p:nvSpPr>
          <p:cNvPr id="7" name="Date Placeholder 6"/>
          <p:cNvSpPr>
            <a:spLocks noGrp="1"/>
          </p:cNvSpPr>
          <p:nvPr>
            <p:ph type="dt" sz="half" idx="10"/>
          </p:nvPr>
        </p:nvSpPr>
        <p:spPr/>
        <p:txBody>
          <a:bodyPr/>
          <a:lstStyle/>
          <a:p>
            <a:pPr>
              <a:defRPr/>
            </a:pPr>
            <a:r>
              <a:rPr lang="en-US"/>
              <a:t>September 27, 2017</a:t>
            </a:r>
            <a:endParaRPr lang="en-US" dirty="0"/>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35</a:t>
            </a:fld>
            <a:endParaRPr lang="en-US" dirty="0"/>
          </a:p>
        </p:txBody>
      </p:sp>
    </p:spTree>
    <p:extLst>
      <p:ext uri="{BB962C8B-B14F-4D97-AF65-F5344CB8AC3E}">
        <p14:creationId xmlns:p14="http://schemas.microsoft.com/office/powerpoint/2010/main" val="20559210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Three Operand Instruction Format </a:t>
            </a:r>
          </a:p>
        </p:txBody>
      </p:sp>
      <p:sp>
        <p:nvSpPr>
          <p:cNvPr id="3" name="Content Placeholder 2"/>
          <p:cNvSpPr>
            <a:spLocks noGrp="1"/>
          </p:cNvSpPr>
          <p:nvPr>
            <p:ph idx="1"/>
          </p:nvPr>
        </p:nvSpPr>
        <p:spPr>
          <a:xfrm>
            <a:off x="214009" y="942657"/>
            <a:ext cx="11738808" cy="4596264"/>
          </a:xfrm>
        </p:spPr>
        <p:txBody>
          <a:bodyPr/>
          <a:lstStyle/>
          <a:p>
            <a:r>
              <a:rPr lang="en-US" sz="2400" dirty="0"/>
              <a:t>Zero and One operand instruction format</a:t>
            </a:r>
          </a:p>
          <a:p>
            <a:pPr lvl="1"/>
            <a:r>
              <a:rPr lang="en-US" sz="2000" dirty="0"/>
              <a:t>Stack architecture. All operations (add/sub…) are taking operands from the top of the stack. Those are 0-operand instructions.</a:t>
            </a:r>
          </a:p>
          <a:p>
            <a:pPr lvl="1"/>
            <a:r>
              <a:rPr lang="en-US" sz="2000" dirty="0"/>
              <a:t>Push and Pop are 1-operand instructions. They move data between the memory and the stack.</a:t>
            </a:r>
          </a:p>
          <a:p>
            <a:r>
              <a:rPr lang="en-US" sz="2400" dirty="0"/>
              <a:t>Two operand instruction format</a:t>
            </a:r>
          </a:p>
          <a:p>
            <a:pPr lvl="1"/>
            <a:r>
              <a:rPr lang="en-US" sz="2000" dirty="0"/>
              <a:t>A = A op B, one of the source operands must be identical to the destination.</a:t>
            </a:r>
          </a:p>
          <a:p>
            <a:r>
              <a:rPr lang="en-US" sz="2400" dirty="0">
                <a:solidFill>
                  <a:srgbClr val="FF0000"/>
                </a:solidFill>
              </a:rPr>
              <a:t>Three operand instruction format</a:t>
            </a:r>
          </a:p>
          <a:p>
            <a:pPr lvl="1"/>
            <a:r>
              <a:rPr lang="en-US" sz="2400" dirty="0">
                <a:solidFill>
                  <a:srgbClr val="FF0000"/>
                </a:solidFill>
              </a:rPr>
              <a:t>A = B op C</a:t>
            </a:r>
          </a:p>
          <a:p>
            <a:pPr lvl="0"/>
            <a:r>
              <a:rPr lang="en-US" sz="2400" dirty="0">
                <a:solidFill>
                  <a:srgbClr val="FF0000"/>
                </a:solidFill>
              </a:rPr>
              <a:t>Four operand </a:t>
            </a:r>
            <a:r>
              <a:rPr lang="en-US" sz="2400" dirty="0">
                <a:solidFill>
                  <a:prstClr val="black"/>
                </a:solidFill>
              </a:rPr>
              <a:t>instruction format</a:t>
            </a:r>
          </a:p>
          <a:p>
            <a:pPr lvl="1"/>
            <a:r>
              <a:rPr lang="en-US" sz="2000" dirty="0">
                <a:solidFill>
                  <a:prstClr val="black"/>
                </a:solidFill>
              </a:rPr>
              <a:t>A = B op C op D, for example, A = B*C + D. This is the most frequently used instruction in matrix multiplication. RISC-V F/D extension has added this fused-</a:t>
            </a:r>
            <a:r>
              <a:rPr lang="en-US" sz="2000" dirty="0" err="1">
                <a:solidFill>
                  <a:prstClr val="black"/>
                </a:solidFill>
              </a:rPr>
              <a:t>mul</a:t>
            </a:r>
            <a:r>
              <a:rPr lang="en-US" sz="2000" dirty="0">
                <a:solidFill>
                  <a:prstClr val="black"/>
                </a:solidFill>
              </a:rPr>
              <a:t>-add instruction with a new R4 (4 registers) instruction type.</a:t>
            </a:r>
            <a:endParaRPr lang="en-US" sz="2000" dirty="0"/>
          </a:p>
        </p:txBody>
      </p:sp>
      <p:sp>
        <p:nvSpPr>
          <p:cNvPr id="7" name="Date Placeholder 6"/>
          <p:cNvSpPr>
            <a:spLocks noGrp="1"/>
          </p:cNvSpPr>
          <p:nvPr>
            <p:ph type="dt" sz="half" idx="10"/>
          </p:nvPr>
        </p:nvSpPr>
        <p:spPr/>
        <p:txBody>
          <a:bodyPr/>
          <a:lstStyle/>
          <a:p>
            <a:pPr>
              <a:defRPr/>
            </a:pPr>
            <a:r>
              <a:rPr lang="en-US"/>
              <a:t>September 27, 2017</a:t>
            </a:r>
            <a:endParaRPr lang="en-US" dirty="0"/>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36</a:t>
            </a:fld>
            <a:endParaRPr lang="en-US" dirty="0"/>
          </a:p>
        </p:txBody>
      </p:sp>
      <p:grpSp>
        <p:nvGrpSpPr>
          <p:cNvPr id="10" name="Group 9">
            <a:extLst>
              <a:ext uri="{FF2B5EF4-FFF2-40B4-BE49-F238E27FC236}">
                <a16:creationId xmlns:a16="http://schemas.microsoft.com/office/drawing/2014/main" id="{F7CA0CA7-E74F-434A-9FEE-8C58D8CC940B}"/>
              </a:ext>
            </a:extLst>
          </p:cNvPr>
          <p:cNvGrpSpPr/>
          <p:nvPr/>
        </p:nvGrpSpPr>
        <p:grpSpPr>
          <a:xfrm>
            <a:off x="4696422" y="5348460"/>
            <a:ext cx="7281569" cy="683656"/>
            <a:chOff x="1521034" y="2086740"/>
            <a:chExt cx="7281569" cy="683656"/>
          </a:xfrm>
        </p:grpSpPr>
        <p:sp>
          <p:nvSpPr>
            <p:cNvPr id="11" name="TextBox 10">
              <a:extLst>
                <a:ext uri="{FF2B5EF4-FFF2-40B4-BE49-F238E27FC236}">
                  <a16:creationId xmlns:a16="http://schemas.microsoft.com/office/drawing/2014/main" id="{1B9B09D5-79A1-48C2-8B7F-9BDCDFBB421E}"/>
                </a:ext>
              </a:extLst>
            </p:cNvPr>
            <p:cNvSpPr txBox="1"/>
            <p:nvPr/>
          </p:nvSpPr>
          <p:spPr>
            <a:xfrm>
              <a:off x="1521034" y="2416453"/>
              <a:ext cx="943387" cy="318100"/>
            </a:xfrm>
            <a:prstGeom prst="rect">
              <a:avLst/>
            </a:prstGeom>
            <a:noFill/>
            <a:ln w="12700">
              <a:solidFill>
                <a:schemeClr val="tx1"/>
              </a:solidFill>
            </a:ln>
          </p:spPr>
          <p:txBody>
            <a:bodyPr wrap="square" rtlCol="0">
              <a:spAutoFit/>
            </a:bodyPr>
            <a:lstStyle/>
            <a:p>
              <a:pPr algn="ctr"/>
              <a:r>
                <a:rPr lang="en-US" sz="1467" dirty="0">
                  <a:solidFill>
                    <a:srgbClr val="56127A"/>
                  </a:solidFill>
                </a:rPr>
                <a:t>funct7</a:t>
              </a:r>
            </a:p>
          </p:txBody>
        </p:sp>
        <p:sp>
          <p:nvSpPr>
            <p:cNvPr id="12" name="TextBox 11">
              <a:extLst>
                <a:ext uri="{FF2B5EF4-FFF2-40B4-BE49-F238E27FC236}">
                  <a16:creationId xmlns:a16="http://schemas.microsoft.com/office/drawing/2014/main" id="{CC3B8D0A-81A3-41D7-8AC1-EE2733A9D40D}"/>
                </a:ext>
              </a:extLst>
            </p:cNvPr>
            <p:cNvSpPr txBox="1"/>
            <p:nvPr/>
          </p:nvSpPr>
          <p:spPr>
            <a:xfrm>
              <a:off x="2466181" y="2416453"/>
              <a:ext cx="122792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rs2</a:t>
              </a:r>
            </a:p>
          </p:txBody>
        </p:sp>
        <p:sp>
          <p:nvSpPr>
            <p:cNvPr id="13" name="TextBox 12">
              <a:extLst>
                <a:ext uri="{FF2B5EF4-FFF2-40B4-BE49-F238E27FC236}">
                  <a16:creationId xmlns:a16="http://schemas.microsoft.com/office/drawing/2014/main" id="{24C08C00-15AB-4CFD-BAC4-01EE6FA50A51}"/>
                </a:ext>
              </a:extLst>
            </p:cNvPr>
            <p:cNvSpPr txBox="1"/>
            <p:nvPr/>
          </p:nvSpPr>
          <p:spPr>
            <a:xfrm>
              <a:off x="4922042" y="2416453"/>
              <a:ext cx="91201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14" name="TextBox 13">
              <a:extLst>
                <a:ext uri="{FF2B5EF4-FFF2-40B4-BE49-F238E27FC236}">
                  <a16:creationId xmlns:a16="http://schemas.microsoft.com/office/drawing/2014/main" id="{D38F4129-0E2F-48D0-8181-C59A4004D8E9}"/>
                </a:ext>
              </a:extLst>
            </p:cNvPr>
            <p:cNvSpPr txBox="1"/>
            <p:nvPr/>
          </p:nvSpPr>
          <p:spPr>
            <a:xfrm>
              <a:off x="3694111" y="2416453"/>
              <a:ext cx="122793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15" name="TextBox 14">
              <a:extLst>
                <a:ext uri="{FF2B5EF4-FFF2-40B4-BE49-F238E27FC236}">
                  <a16:creationId xmlns:a16="http://schemas.microsoft.com/office/drawing/2014/main" id="{B7FC415F-2651-42CE-839E-46B5C7F7DDD4}"/>
                </a:ext>
              </a:extLst>
            </p:cNvPr>
            <p:cNvSpPr txBox="1"/>
            <p:nvPr/>
          </p:nvSpPr>
          <p:spPr>
            <a:xfrm>
              <a:off x="5834060" y="2416453"/>
              <a:ext cx="12262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16" name="TextBox 15">
              <a:extLst>
                <a:ext uri="{FF2B5EF4-FFF2-40B4-BE49-F238E27FC236}">
                  <a16:creationId xmlns:a16="http://schemas.microsoft.com/office/drawing/2014/main" id="{ACC2F9F0-5DF5-49F0-B4FF-2149EA6B893A}"/>
                </a:ext>
              </a:extLst>
            </p:cNvPr>
            <p:cNvSpPr txBox="1"/>
            <p:nvPr/>
          </p:nvSpPr>
          <p:spPr>
            <a:xfrm>
              <a:off x="7060322" y="2416453"/>
              <a:ext cx="174228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7" name="TextBox 16">
              <a:extLst>
                <a:ext uri="{FF2B5EF4-FFF2-40B4-BE49-F238E27FC236}">
                  <a16:creationId xmlns:a16="http://schemas.microsoft.com/office/drawing/2014/main" id="{9354B789-1F5F-4B3A-BCFA-F405B6585748}"/>
                </a:ext>
              </a:extLst>
            </p:cNvPr>
            <p:cNvSpPr txBox="1"/>
            <p:nvPr/>
          </p:nvSpPr>
          <p:spPr>
            <a:xfrm>
              <a:off x="1792787" y="2086740"/>
              <a:ext cx="306494" cy="353943"/>
            </a:xfrm>
            <a:prstGeom prst="rect">
              <a:avLst/>
            </a:prstGeom>
            <a:noFill/>
          </p:spPr>
          <p:txBody>
            <a:bodyPr wrap="none" rtlCol="0">
              <a:spAutoFit/>
            </a:bodyPr>
            <a:lstStyle/>
            <a:p>
              <a:pPr algn="ctr"/>
              <a:r>
                <a:rPr lang="en-US" sz="1700" dirty="0"/>
                <a:t>2</a:t>
              </a:r>
            </a:p>
          </p:txBody>
        </p:sp>
        <p:sp>
          <p:nvSpPr>
            <p:cNvPr id="18" name="TextBox 17">
              <a:extLst>
                <a:ext uri="{FF2B5EF4-FFF2-40B4-BE49-F238E27FC236}">
                  <a16:creationId xmlns:a16="http://schemas.microsoft.com/office/drawing/2014/main" id="{89607D20-BA56-4FEF-831F-237A9FD1A890}"/>
                </a:ext>
              </a:extLst>
            </p:cNvPr>
            <p:cNvSpPr txBox="1"/>
            <p:nvPr/>
          </p:nvSpPr>
          <p:spPr>
            <a:xfrm>
              <a:off x="2927254" y="2124293"/>
              <a:ext cx="306494" cy="353943"/>
            </a:xfrm>
            <a:prstGeom prst="rect">
              <a:avLst/>
            </a:prstGeom>
            <a:noFill/>
          </p:spPr>
          <p:txBody>
            <a:bodyPr wrap="none" rtlCol="0">
              <a:spAutoFit/>
            </a:bodyPr>
            <a:lstStyle/>
            <a:p>
              <a:pPr algn="ctr"/>
              <a:r>
                <a:rPr lang="en-US" sz="1700" dirty="0"/>
                <a:t>5</a:t>
              </a:r>
            </a:p>
          </p:txBody>
        </p:sp>
        <p:sp>
          <p:nvSpPr>
            <p:cNvPr id="19" name="TextBox 18">
              <a:extLst>
                <a:ext uri="{FF2B5EF4-FFF2-40B4-BE49-F238E27FC236}">
                  <a16:creationId xmlns:a16="http://schemas.microsoft.com/office/drawing/2014/main" id="{4BE5781F-B31F-4967-BCC0-99E43E8FB746}"/>
                </a:ext>
              </a:extLst>
            </p:cNvPr>
            <p:cNvSpPr txBox="1"/>
            <p:nvPr/>
          </p:nvSpPr>
          <p:spPr>
            <a:xfrm>
              <a:off x="4154830" y="2124293"/>
              <a:ext cx="306494" cy="353943"/>
            </a:xfrm>
            <a:prstGeom prst="rect">
              <a:avLst/>
            </a:prstGeom>
            <a:noFill/>
          </p:spPr>
          <p:txBody>
            <a:bodyPr wrap="none" rtlCol="0">
              <a:spAutoFit/>
            </a:bodyPr>
            <a:lstStyle/>
            <a:p>
              <a:pPr algn="ctr"/>
              <a:r>
                <a:rPr lang="en-US" sz="1700" dirty="0"/>
                <a:t>5</a:t>
              </a:r>
            </a:p>
          </p:txBody>
        </p:sp>
        <p:sp>
          <p:nvSpPr>
            <p:cNvPr id="20" name="TextBox 19">
              <a:extLst>
                <a:ext uri="{FF2B5EF4-FFF2-40B4-BE49-F238E27FC236}">
                  <a16:creationId xmlns:a16="http://schemas.microsoft.com/office/drawing/2014/main" id="{18B514F5-FD9C-470A-A712-1402C4F8835F}"/>
                </a:ext>
              </a:extLst>
            </p:cNvPr>
            <p:cNvSpPr txBox="1"/>
            <p:nvPr/>
          </p:nvSpPr>
          <p:spPr>
            <a:xfrm>
              <a:off x="5220834" y="2124293"/>
              <a:ext cx="306494" cy="353943"/>
            </a:xfrm>
            <a:prstGeom prst="rect">
              <a:avLst/>
            </a:prstGeom>
            <a:noFill/>
          </p:spPr>
          <p:txBody>
            <a:bodyPr wrap="none" rtlCol="0">
              <a:spAutoFit/>
            </a:bodyPr>
            <a:lstStyle/>
            <a:p>
              <a:pPr algn="ctr"/>
              <a:r>
                <a:rPr lang="en-US" sz="1700" dirty="0"/>
                <a:t>3</a:t>
              </a:r>
            </a:p>
          </p:txBody>
        </p:sp>
        <p:sp>
          <p:nvSpPr>
            <p:cNvPr id="21" name="TextBox 20">
              <a:extLst>
                <a:ext uri="{FF2B5EF4-FFF2-40B4-BE49-F238E27FC236}">
                  <a16:creationId xmlns:a16="http://schemas.microsoft.com/office/drawing/2014/main" id="{3B392788-71CD-4B6D-B218-33B7D39C51EE}"/>
                </a:ext>
              </a:extLst>
            </p:cNvPr>
            <p:cNvSpPr txBox="1"/>
            <p:nvPr/>
          </p:nvSpPr>
          <p:spPr>
            <a:xfrm>
              <a:off x="6296894" y="2124293"/>
              <a:ext cx="306494" cy="353943"/>
            </a:xfrm>
            <a:prstGeom prst="rect">
              <a:avLst/>
            </a:prstGeom>
            <a:noFill/>
          </p:spPr>
          <p:txBody>
            <a:bodyPr wrap="none" rtlCol="0">
              <a:spAutoFit/>
            </a:bodyPr>
            <a:lstStyle/>
            <a:p>
              <a:pPr algn="ctr"/>
              <a:r>
                <a:rPr lang="en-US" sz="1700" dirty="0"/>
                <a:t>5</a:t>
              </a:r>
            </a:p>
          </p:txBody>
        </p:sp>
        <p:sp>
          <p:nvSpPr>
            <p:cNvPr id="22" name="TextBox 21">
              <a:extLst>
                <a:ext uri="{FF2B5EF4-FFF2-40B4-BE49-F238E27FC236}">
                  <a16:creationId xmlns:a16="http://schemas.microsoft.com/office/drawing/2014/main" id="{B1308D19-762B-4124-8820-4D3D6162D54F}"/>
                </a:ext>
              </a:extLst>
            </p:cNvPr>
            <p:cNvSpPr txBox="1"/>
            <p:nvPr/>
          </p:nvSpPr>
          <p:spPr>
            <a:xfrm>
              <a:off x="7778215" y="2124293"/>
              <a:ext cx="306494" cy="353943"/>
            </a:xfrm>
            <a:prstGeom prst="rect">
              <a:avLst/>
            </a:prstGeom>
            <a:noFill/>
          </p:spPr>
          <p:txBody>
            <a:bodyPr wrap="none" rtlCol="0">
              <a:spAutoFit/>
            </a:bodyPr>
            <a:lstStyle/>
            <a:p>
              <a:pPr algn="ctr"/>
              <a:r>
                <a:rPr lang="en-US" sz="1700" dirty="0"/>
                <a:t>7</a:t>
              </a:r>
            </a:p>
          </p:txBody>
        </p:sp>
      </p:grpSp>
      <p:sp>
        <p:nvSpPr>
          <p:cNvPr id="23" name="TextBox 22">
            <a:extLst>
              <a:ext uri="{FF2B5EF4-FFF2-40B4-BE49-F238E27FC236}">
                <a16:creationId xmlns:a16="http://schemas.microsoft.com/office/drawing/2014/main" id="{BEB43445-5D2A-415E-8928-C691EC11AAAE}"/>
              </a:ext>
            </a:extLst>
          </p:cNvPr>
          <p:cNvSpPr txBox="1"/>
          <p:nvPr/>
        </p:nvSpPr>
        <p:spPr>
          <a:xfrm>
            <a:off x="3597372" y="5660251"/>
            <a:ext cx="108565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rs3</a:t>
            </a:r>
          </a:p>
        </p:txBody>
      </p:sp>
      <p:sp>
        <p:nvSpPr>
          <p:cNvPr id="24" name="TextBox 23">
            <a:extLst>
              <a:ext uri="{FF2B5EF4-FFF2-40B4-BE49-F238E27FC236}">
                <a16:creationId xmlns:a16="http://schemas.microsoft.com/office/drawing/2014/main" id="{7CC2B172-B348-4BFE-84B5-AF6F7E875BAB}"/>
              </a:ext>
            </a:extLst>
          </p:cNvPr>
          <p:cNvSpPr txBox="1"/>
          <p:nvPr/>
        </p:nvSpPr>
        <p:spPr>
          <a:xfrm>
            <a:off x="3913388" y="5348460"/>
            <a:ext cx="306494" cy="353943"/>
          </a:xfrm>
          <a:prstGeom prst="rect">
            <a:avLst/>
          </a:prstGeom>
          <a:noFill/>
        </p:spPr>
        <p:txBody>
          <a:bodyPr wrap="none" rtlCol="0">
            <a:spAutoFit/>
          </a:bodyPr>
          <a:lstStyle/>
          <a:p>
            <a:pPr algn="ctr"/>
            <a:r>
              <a:rPr lang="en-US" sz="1700" dirty="0"/>
              <a:t>5</a:t>
            </a:r>
          </a:p>
        </p:txBody>
      </p:sp>
    </p:spTree>
    <p:extLst>
      <p:ext uri="{BB962C8B-B14F-4D97-AF65-F5344CB8AC3E}">
        <p14:creationId xmlns:p14="http://schemas.microsoft.com/office/powerpoint/2010/main" val="40531715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Fused-Multiply-Add (FMA) instruction</a:t>
            </a:r>
          </a:p>
        </p:txBody>
      </p:sp>
      <p:sp>
        <p:nvSpPr>
          <p:cNvPr id="3" name="Content Placeholder 2"/>
          <p:cNvSpPr>
            <a:spLocks noGrp="1"/>
          </p:cNvSpPr>
          <p:nvPr>
            <p:ph idx="1"/>
          </p:nvPr>
        </p:nvSpPr>
        <p:spPr>
          <a:xfrm>
            <a:off x="214009" y="1060314"/>
            <a:ext cx="11738808" cy="4834647"/>
          </a:xfrm>
        </p:spPr>
        <p:txBody>
          <a:bodyPr/>
          <a:lstStyle/>
          <a:p>
            <a:pPr lvl="0"/>
            <a:r>
              <a:rPr lang="en-US" sz="2800" dirty="0"/>
              <a:t>RISC-V favors “simplicity” and “regularity”, so why does it include the four-operand instructions? Is breaking the </a:t>
            </a:r>
            <a:r>
              <a:rPr lang="en-US" sz="2800" dirty="0" err="1"/>
              <a:t>RISCy</a:t>
            </a:r>
            <a:r>
              <a:rPr lang="en-US" sz="2800" dirty="0"/>
              <a:t> philosophy worthwhile?</a:t>
            </a:r>
          </a:p>
          <a:p>
            <a:pPr lvl="0"/>
            <a:r>
              <a:rPr lang="en-US" sz="2800" dirty="0"/>
              <a:t>This instruction (FMA) is extremely important for the F/D (Floating Point) extension. </a:t>
            </a:r>
          </a:p>
          <a:p>
            <a:pPr lvl="1"/>
            <a:r>
              <a:rPr lang="en-US" sz="2400" dirty="0"/>
              <a:t>It is applicable to the most commonly used linear algebra operation: matrix multiply</a:t>
            </a:r>
          </a:p>
          <a:p>
            <a:pPr lvl="2"/>
            <a:r>
              <a:rPr lang="en-US" sz="2200" dirty="0"/>
              <a:t>In the inner loop: C[</a:t>
            </a:r>
            <a:r>
              <a:rPr lang="en-US" sz="2200" dirty="0" err="1"/>
              <a:t>i</a:t>
            </a:r>
            <a:r>
              <a:rPr lang="en-US" sz="2200" dirty="0"/>
              <a:t>][j] = C[</a:t>
            </a:r>
            <a:r>
              <a:rPr lang="en-US" sz="2200" dirty="0" err="1"/>
              <a:t>i</a:t>
            </a:r>
            <a:r>
              <a:rPr lang="en-US" sz="2200" dirty="0"/>
              <a:t>][j] + A[</a:t>
            </a:r>
            <a:r>
              <a:rPr lang="en-US" sz="2200" dirty="0" err="1"/>
              <a:t>i</a:t>
            </a:r>
            <a:r>
              <a:rPr lang="en-US" sz="2200" dirty="0"/>
              <a:t>][k] * B[k][j]</a:t>
            </a:r>
          </a:p>
          <a:p>
            <a:pPr lvl="1"/>
            <a:r>
              <a:rPr lang="en-US" sz="2400" dirty="0"/>
              <a:t>It can substitute two instructions: reduce half of the instructions</a:t>
            </a:r>
          </a:p>
          <a:p>
            <a:pPr lvl="1"/>
            <a:r>
              <a:rPr lang="en-US" sz="2400" dirty="0"/>
              <a:t>It computes faster: two FP </a:t>
            </a:r>
            <a:r>
              <a:rPr lang="en-US" sz="2400" dirty="0" err="1"/>
              <a:t>roundings</a:t>
            </a:r>
            <a:r>
              <a:rPr lang="en-US" sz="2400" dirty="0"/>
              <a:t> can be saved.</a:t>
            </a:r>
          </a:p>
          <a:p>
            <a:pPr lvl="1"/>
            <a:r>
              <a:rPr lang="en-US" sz="2400" dirty="0"/>
              <a:t>Its result is more precise: two FP </a:t>
            </a:r>
            <a:r>
              <a:rPr lang="en-US" sz="2400" dirty="0" err="1"/>
              <a:t>roundings</a:t>
            </a:r>
            <a:r>
              <a:rPr lang="en-US" sz="2400" dirty="0"/>
              <a:t> can be skipped</a:t>
            </a:r>
          </a:p>
          <a:p>
            <a:pPr lvl="1"/>
            <a:r>
              <a:rPr lang="en-US" sz="2400" dirty="0"/>
              <a:t>Most newer machines include this instruction.</a:t>
            </a:r>
          </a:p>
        </p:txBody>
      </p:sp>
      <p:sp>
        <p:nvSpPr>
          <p:cNvPr id="7" name="Date Placeholder 6"/>
          <p:cNvSpPr>
            <a:spLocks noGrp="1"/>
          </p:cNvSpPr>
          <p:nvPr>
            <p:ph type="dt" sz="half" idx="10"/>
          </p:nvPr>
        </p:nvSpPr>
        <p:spPr/>
        <p:txBody>
          <a:bodyPr/>
          <a:lstStyle/>
          <a:p>
            <a:pPr>
              <a:defRPr/>
            </a:pPr>
            <a:r>
              <a:rPr lang="en-US"/>
              <a:t>September 27, 2017</a:t>
            </a:r>
            <a:endParaRPr lang="en-US" dirty="0"/>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37</a:t>
            </a:fld>
            <a:endParaRPr lang="en-US" dirty="0"/>
          </a:p>
        </p:txBody>
      </p:sp>
    </p:spTree>
    <p:extLst>
      <p:ext uri="{BB962C8B-B14F-4D97-AF65-F5344CB8AC3E}">
        <p14:creationId xmlns:p14="http://schemas.microsoft.com/office/powerpoint/2010/main" val="11799194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Logical/Shift Operations in RISC-V</a:t>
            </a:r>
          </a:p>
        </p:txBody>
      </p:sp>
      <p:graphicFrame>
        <p:nvGraphicFramePr>
          <p:cNvPr id="4" name="Table 4">
            <a:extLst>
              <a:ext uri="{FF2B5EF4-FFF2-40B4-BE49-F238E27FC236}">
                <a16:creationId xmlns:a16="http://schemas.microsoft.com/office/drawing/2014/main" id="{9F541562-7D16-43A5-86E0-FAD0FAC1A382}"/>
              </a:ext>
            </a:extLst>
          </p:cNvPr>
          <p:cNvGraphicFramePr>
            <a:graphicFrameLocks noGrp="1"/>
          </p:cNvGraphicFramePr>
          <p:nvPr>
            <p:ph idx="1"/>
            <p:extLst>
              <p:ext uri="{D42A27DB-BD31-4B8C-83A1-F6EECF244321}">
                <p14:modId xmlns:p14="http://schemas.microsoft.com/office/powerpoint/2010/main" val="1267343938"/>
              </p:ext>
            </p:extLst>
          </p:nvPr>
        </p:nvGraphicFramePr>
        <p:xfrm>
          <a:off x="707678" y="1247069"/>
          <a:ext cx="10859910" cy="4674276"/>
        </p:xfrm>
        <a:graphic>
          <a:graphicData uri="http://schemas.openxmlformats.org/drawingml/2006/table">
            <a:tbl>
              <a:tblPr firstRow="1" bandRow="1">
                <a:tableStyleId>{5C22544A-7EE6-4342-B048-85BDC9FD1C3A}</a:tableStyleId>
              </a:tblPr>
              <a:tblGrid>
                <a:gridCol w="2904916">
                  <a:extLst>
                    <a:ext uri="{9D8B030D-6E8A-4147-A177-3AD203B41FA5}">
                      <a16:colId xmlns:a16="http://schemas.microsoft.com/office/drawing/2014/main" val="2108928852"/>
                    </a:ext>
                  </a:extLst>
                </a:gridCol>
                <a:gridCol w="2525040">
                  <a:extLst>
                    <a:ext uri="{9D8B030D-6E8A-4147-A177-3AD203B41FA5}">
                      <a16:colId xmlns:a16="http://schemas.microsoft.com/office/drawing/2014/main" val="319748222"/>
                    </a:ext>
                  </a:extLst>
                </a:gridCol>
                <a:gridCol w="2714977">
                  <a:extLst>
                    <a:ext uri="{9D8B030D-6E8A-4147-A177-3AD203B41FA5}">
                      <a16:colId xmlns:a16="http://schemas.microsoft.com/office/drawing/2014/main" val="2168498136"/>
                    </a:ext>
                  </a:extLst>
                </a:gridCol>
                <a:gridCol w="2714977">
                  <a:extLst>
                    <a:ext uri="{9D8B030D-6E8A-4147-A177-3AD203B41FA5}">
                      <a16:colId xmlns:a16="http://schemas.microsoft.com/office/drawing/2014/main" val="946357523"/>
                    </a:ext>
                  </a:extLst>
                </a:gridCol>
              </a:tblGrid>
              <a:tr h="853779">
                <a:tc>
                  <a:txBody>
                    <a:bodyPr/>
                    <a:lstStyle/>
                    <a:p>
                      <a:r>
                        <a:rPr lang="en-US" sz="2400" dirty="0"/>
                        <a:t>Logical operations</a:t>
                      </a:r>
                    </a:p>
                  </a:txBody>
                  <a:tcPr marL="121920" marR="121920" marT="60960" marB="60960"/>
                </a:tc>
                <a:tc>
                  <a:txBody>
                    <a:bodyPr/>
                    <a:lstStyle/>
                    <a:p>
                      <a:r>
                        <a:rPr lang="en-US" sz="2400" dirty="0"/>
                        <a:t>C operators</a:t>
                      </a:r>
                    </a:p>
                  </a:txBody>
                  <a:tcPr marL="121920" marR="121920" marT="60960" marB="60960"/>
                </a:tc>
                <a:tc>
                  <a:txBody>
                    <a:bodyPr/>
                    <a:lstStyle/>
                    <a:p>
                      <a:r>
                        <a:rPr lang="en-US" sz="2400" dirty="0"/>
                        <a:t>Java operators</a:t>
                      </a:r>
                    </a:p>
                  </a:txBody>
                  <a:tcPr marL="121920" marR="121920" marT="60960" marB="60960"/>
                </a:tc>
                <a:tc>
                  <a:txBody>
                    <a:bodyPr/>
                    <a:lstStyle/>
                    <a:p>
                      <a:r>
                        <a:rPr lang="en-US" sz="2400" dirty="0"/>
                        <a:t>RISC-V  instructions</a:t>
                      </a:r>
                    </a:p>
                  </a:txBody>
                  <a:tcPr marL="121920" marR="121920" marT="60960" marB="60960"/>
                </a:tc>
                <a:extLst>
                  <a:ext uri="{0D108BD9-81ED-4DB2-BD59-A6C34878D82A}">
                    <a16:rowId xmlns:a16="http://schemas.microsoft.com/office/drawing/2014/main" val="2127078557"/>
                  </a:ext>
                </a:extLst>
              </a:tr>
              <a:tr h="494453">
                <a:tc>
                  <a:txBody>
                    <a:bodyPr/>
                    <a:lstStyle/>
                    <a:p>
                      <a:r>
                        <a:rPr lang="en-US" sz="2400" dirty="0"/>
                        <a:t>Shift Left</a:t>
                      </a:r>
                    </a:p>
                  </a:txBody>
                  <a:tcPr marL="121920" marR="121920" marT="60960" marB="60960"/>
                </a:tc>
                <a:tc>
                  <a:txBody>
                    <a:bodyPr/>
                    <a:lstStyle/>
                    <a:p>
                      <a:pPr algn="ctr"/>
                      <a:r>
                        <a:rPr lang="en-US" sz="2400" dirty="0"/>
                        <a:t>&lt;&lt;</a:t>
                      </a:r>
                    </a:p>
                  </a:txBody>
                  <a:tcPr marL="121920" marR="121920" marT="60960" marB="60960"/>
                </a:tc>
                <a:tc>
                  <a:txBody>
                    <a:bodyPr/>
                    <a:lstStyle/>
                    <a:p>
                      <a:pPr algn="ctr"/>
                      <a:r>
                        <a:rPr lang="en-US" sz="2400" dirty="0"/>
                        <a:t>&lt;&lt;</a:t>
                      </a:r>
                    </a:p>
                  </a:txBody>
                  <a:tcPr marL="121920" marR="121920" marT="60960" marB="60960"/>
                </a:tc>
                <a:tc>
                  <a:txBody>
                    <a:bodyPr/>
                    <a:lstStyle/>
                    <a:p>
                      <a:pPr algn="ctr"/>
                      <a:r>
                        <a:rPr lang="en-US" sz="2400" dirty="0"/>
                        <a:t>SLL, </a:t>
                      </a:r>
                      <a:r>
                        <a:rPr lang="en-US" sz="2400" dirty="0" err="1"/>
                        <a:t>SLLi</a:t>
                      </a:r>
                      <a:endParaRPr lang="en-US" sz="2400" dirty="0"/>
                    </a:p>
                  </a:txBody>
                  <a:tcPr marL="121920" marR="121920" marT="60960" marB="60960"/>
                </a:tc>
                <a:extLst>
                  <a:ext uri="{0D108BD9-81ED-4DB2-BD59-A6C34878D82A}">
                    <a16:rowId xmlns:a16="http://schemas.microsoft.com/office/drawing/2014/main" val="919059081"/>
                  </a:ext>
                </a:extLst>
              </a:tr>
              <a:tr h="494453">
                <a:tc>
                  <a:txBody>
                    <a:bodyPr/>
                    <a:lstStyle/>
                    <a:p>
                      <a:r>
                        <a:rPr lang="en-US" sz="2400" dirty="0"/>
                        <a:t>Shift Right</a:t>
                      </a:r>
                    </a:p>
                  </a:txBody>
                  <a:tcPr marL="121920" marR="121920" marT="60960" marB="60960"/>
                </a:tc>
                <a:tc>
                  <a:txBody>
                    <a:bodyPr/>
                    <a:lstStyle/>
                    <a:p>
                      <a:pPr algn="ctr"/>
                      <a:r>
                        <a:rPr lang="en-US" sz="2400" dirty="0"/>
                        <a:t>&gt;&gt;</a:t>
                      </a:r>
                    </a:p>
                  </a:txBody>
                  <a:tcPr marL="121920" marR="121920" marT="60960" marB="60960"/>
                </a:tc>
                <a:tc>
                  <a:txBody>
                    <a:bodyPr/>
                    <a:lstStyle/>
                    <a:p>
                      <a:pPr algn="ctr"/>
                      <a:r>
                        <a:rPr lang="en-US" sz="2400" dirty="0"/>
                        <a:t>&gt;&gt;&gt;</a:t>
                      </a:r>
                    </a:p>
                  </a:txBody>
                  <a:tcPr marL="121920" marR="121920" marT="60960" marB="60960"/>
                </a:tc>
                <a:tc>
                  <a:txBody>
                    <a:bodyPr/>
                    <a:lstStyle/>
                    <a:p>
                      <a:pPr algn="ctr"/>
                      <a:r>
                        <a:rPr lang="en-US" sz="2400" dirty="0"/>
                        <a:t>SRL, </a:t>
                      </a:r>
                      <a:r>
                        <a:rPr lang="en-US" sz="2400" dirty="0" err="1"/>
                        <a:t>SRLi</a:t>
                      </a:r>
                      <a:endParaRPr lang="en-US" sz="2400" dirty="0"/>
                    </a:p>
                  </a:txBody>
                  <a:tcPr marL="121920" marR="121920" marT="60960" marB="60960"/>
                </a:tc>
                <a:extLst>
                  <a:ext uri="{0D108BD9-81ED-4DB2-BD59-A6C34878D82A}">
                    <a16:rowId xmlns:a16="http://schemas.microsoft.com/office/drawing/2014/main" val="983492529"/>
                  </a:ext>
                </a:extLst>
              </a:tr>
              <a:tr h="853779">
                <a:tc>
                  <a:txBody>
                    <a:bodyPr/>
                    <a:lstStyle/>
                    <a:p>
                      <a:r>
                        <a:rPr lang="en-US" sz="2400" dirty="0"/>
                        <a:t>Shift right arithmetic</a:t>
                      </a:r>
                    </a:p>
                  </a:txBody>
                  <a:tcPr marL="121920" marR="121920" marT="60960" marB="60960"/>
                </a:tc>
                <a:tc>
                  <a:txBody>
                    <a:bodyPr/>
                    <a:lstStyle/>
                    <a:p>
                      <a:pPr algn="ctr"/>
                      <a:r>
                        <a:rPr lang="en-US" sz="2400" dirty="0"/>
                        <a:t>&gt;&gt;</a:t>
                      </a:r>
                    </a:p>
                  </a:txBody>
                  <a:tcPr marL="121920" marR="121920" marT="60960" marB="60960"/>
                </a:tc>
                <a:tc>
                  <a:txBody>
                    <a:bodyPr/>
                    <a:lstStyle/>
                    <a:p>
                      <a:pPr algn="ctr"/>
                      <a:r>
                        <a:rPr lang="en-US" sz="2400" dirty="0"/>
                        <a:t>&gt;&gt;</a:t>
                      </a:r>
                    </a:p>
                  </a:txBody>
                  <a:tcPr marL="121920" marR="121920" marT="60960" marB="60960"/>
                </a:tc>
                <a:tc>
                  <a:txBody>
                    <a:bodyPr/>
                    <a:lstStyle/>
                    <a:p>
                      <a:pPr algn="ctr"/>
                      <a:r>
                        <a:rPr lang="en-US" sz="2400" dirty="0"/>
                        <a:t>SRA, </a:t>
                      </a:r>
                      <a:r>
                        <a:rPr lang="en-US" sz="2400" dirty="0" err="1"/>
                        <a:t>SRAi</a:t>
                      </a:r>
                      <a:endParaRPr lang="en-US" sz="2400" dirty="0"/>
                    </a:p>
                  </a:txBody>
                  <a:tcPr marL="121920" marR="121920" marT="60960" marB="60960"/>
                </a:tc>
                <a:extLst>
                  <a:ext uri="{0D108BD9-81ED-4DB2-BD59-A6C34878D82A}">
                    <a16:rowId xmlns:a16="http://schemas.microsoft.com/office/drawing/2014/main" val="181492610"/>
                  </a:ext>
                </a:extLst>
              </a:tr>
              <a:tr h="494453">
                <a:tc>
                  <a:txBody>
                    <a:bodyPr/>
                    <a:lstStyle/>
                    <a:p>
                      <a:r>
                        <a:rPr lang="en-US" sz="2400" dirty="0"/>
                        <a:t>Bitwise AND</a:t>
                      </a:r>
                    </a:p>
                  </a:txBody>
                  <a:tcPr marL="121920" marR="121920" marT="60960" marB="60960"/>
                </a:tc>
                <a:tc>
                  <a:txBody>
                    <a:bodyPr/>
                    <a:lstStyle/>
                    <a:p>
                      <a:pPr algn="ctr"/>
                      <a:r>
                        <a:rPr lang="en-US" sz="2400" dirty="0"/>
                        <a:t>&amp;</a:t>
                      </a:r>
                    </a:p>
                  </a:txBody>
                  <a:tcPr marL="121920" marR="121920" marT="60960" marB="60960"/>
                </a:tc>
                <a:tc>
                  <a:txBody>
                    <a:bodyPr/>
                    <a:lstStyle/>
                    <a:p>
                      <a:pPr algn="ctr"/>
                      <a:r>
                        <a:rPr lang="en-US" sz="2400" dirty="0"/>
                        <a:t>&amp;</a:t>
                      </a:r>
                    </a:p>
                  </a:txBody>
                  <a:tcPr marL="121920" marR="121920" marT="60960" marB="60960"/>
                </a:tc>
                <a:tc>
                  <a:txBody>
                    <a:bodyPr/>
                    <a:lstStyle/>
                    <a:p>
                      <a:pPr algn="ctr"/>
                      <a:r>
                        <a:rPr lang="en-US" sz="2400" dirty="0"/>
                        <a:t>AND, </a:t>
                      </a:r>
                      <a:r>
                        <a:rPr lang="en-US" sz="2400" dirty="0" err="1"/>
                        <a:t>ANDi</a:t>
                      </a:r>
                      <a:endParaRPr lang="en-US" sz="2400" dirty="0"/>
                    </a:p>
                  </a:txBody>
                  <a:tcPr marL="121920" marR="121920" marT="60960" marB="60960"/>
                </a:tc>
                <a:extLst>
                  <a:ext uri="{0D108BD9-81ED-4DB2-BD59-A6C34878D82A}">
                    <a16:rowId xmlns:a16="http://schemas.microsoft.com/office/drawing/2014/main" val="2015835075"/>
                  </a:ext>
                </a:extLst>
              </a:tr>
              <a:tr h="494453">
                <a:tc>
                  <a:txBody>
                    <a:bodyPr/>
                    <a:lstStyle/>
                    <a:p>
                      <a:pPr marL="0" marR="0" lvl="0" indent="0" algn="l" defTabSz="685165"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mn-lt"/>
                          <a:ea typeface="+mn-ea"/>
                          <a:cs typeface="+mn-cs"/>
                        </a:rPr>
                        <a:t>Bitwise OR</a:t>
                      </a:r>
                    </a:p>
                  </a:txBody>
                  <a:tcPr marL="121920" marR="121920" marT="60960" marB="60960"/>
                </a:tc>
                <a:tc>
                  <a:txBody>
                    <a:bodyPr/>
                    <a:lstStyle/>
                    <a:p>
                      <a:pPr algn="ctr"/>
                      <a:r>
                        <a:rPr lang="en-US" sz="2400" dirty="0"/>
                        <a:t>I</a:t>
                      </a:r>
                    </a:p>
                  </a:txBody>
                  <a:tcPr marL="121920" marR="121920" marT="60960" marB="60960"/>
                </a:tc>
                <a:tc>
                  <a:txBody>
                    <a:bodyPr/>
                    <a:lstStyle/>
                    <a:p>
                      <a:pPr algn="ctr"/>
                      <a:r>
                        <a:rPr lang="en-US" sz="2400" dirty="0"/>
                        <a:t>I</a:t>
                      </a:r>
                    </a:p>
                  </a:txBody>
                  <a:tcPr marL="121920" marR="121920" marT="60960" marB="60960"/>
                </a:tc>
                <a:tc>
                  <a:txBody>
                    <a:bodyPr/>
                    <a:lstStyle/>
                    <a:p>
                      <a:pPr algn="ctr"/>
                      <a:r>
                        <a:rPr lang="en-US" sz="2400" dirty="0"/>
                        <a:t>OR, </a:t>
                      </a:r>
                      <a:r>
                        <a:rPr lang="en-US" sz="2400" dirty="0" err="1"/>
                        <a:t>ORi</a:t>
                      </a:r>
                      <a:endParaRPr lang="en-US" sz="2400" dirty="0"/>
                    </a:p>
                  </a:txBody>
                  <a:tcPr marL="121920" marR="121920" marT="60960" marB="60960"/>
                </a:tc>
                <a:extLst>
                  <a:ext uri="{0D108BD9-81ED-4DB2-BD59-A6C34878D82A}">
                    <a16:rowId xmlns:a16="http://schemas.microsoft.com/office/drawing/2014/main" val="2310722298"/>
                  </a:ext>
                </a:extLst>
              </a:tr>
              <a:tr h="494453">
                <a:tc>
                  <a:txBody>
                    <a:bodyPr/>
                    <a:lstStyle/>
                    <a:p>
                      <a:pPr marL="0" marR="0" lvl="0" indent="0" algn="l" defTabSz="685165"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mn-lt"/>
                          <a:ea typeface="+mn-ea"/>
                          <a:cs typeface="+mn-cs"/>
                        </a:rPr>
                        <a:t>Bitwise XOR</a:t>
                      </a:r>
                    </a:p>
                  </a:txBody>
                  <a:tcPr marL="121920" marR="121920" marT="60960" marB="60960"/>
                </a:tc>
                <a:tc>
                  <a:txBody>
                    <a:bodyPr/>
                    <a:lstStyle/>
                    <a:p>
                      <a:pPr algn="ctr"/>
                      <a:r>
                        <a:rPr lang="en-US" sz="2400" dirty="0"/>
                        <a:t>^</a:t>
                      </a:r>
                    </a:p>
                  </a:txBody>
                  <a:tcPr marL="121920" marR="121920" marT="60960" marB="60960"/>
                </a:tc>
                <a:tc>
                  <a:txBody>
                    <a:bodyPr/>
                    <a:lstStyle/>
                    <a:p>
                      <a:pPr algn="ctr"/>
                      <a:r>
                        <a:rPr lang="en-US" sz="2400" dirty="0"/>
                        <a:t>^</a:t>
                      </a:r>
                    </a:p>
                  </a:txBody>
                  <a:tcPr marL="121920" marR="121920" marT="60960" marB="60960"/>
                </a:tc>
                <a:tc>
                  <a:txBody>
                    <a:bodyPr/>
                    <a:lstStyle/>
                    <a:p>
                      <a:pPr algn="ctr"/>
                      <a:r>
                        <a:rPr lang="en-US" sz="2400" dirty="0"/>
                        <a:t>XOR, </a:t>
                      </a:r>
                      <a:r>
                        <a:rPr lang="en-US" sz="2400" dirty="0" err="1"/>
                        <a:t>XORi</a:t>
                      </a:r>
                      <a:endParaRPr lang="en-US" sz="2400" dirty="0"/>
                    </a:p>
                  </a:txBody>
                  <a:tcPr marL="121920" marR="121920" marT="60960" marB="60960"/>
                </a:tc>
                <a:extLst>
                  <a:ext uri="{0D108BD9-81ED-4DB2-BD59-A6C34878D82A}">
                    <a16:rowId xmlns:a16="http://schemas.microsoft.com/office/drawing/2014/main" val="4001689429"/>
                  </a:ext>
                </a:extLst>
              </a:tr>
              <a:tr h="494453">
                <a:tc>
                  <a:txBody>
                    <a:bodyPr/>
                    <a:lstStyle/>
                    <a:p>
                      <a:r>
                        <a:rPr lang="en-US" sz="2400" dirty="0">
                          <a:solidFill>
                            <a:srgbClr val="FF0000"/>
                          </a:solidFill>
                        </a:rPr>
                        <a:t>Bitwise NOT</a:t>
                      </a:r>
                    </a:p>
                  </a:txBody>
                  <a:tcPr marL="121920" marR="121920" marT="60960" marB="60960"/>
                </a:tc>
                <a:tc>
                  <a:txBody>
                    <a:bodyPr/>
                    <a:lstStyle/>
                    <a:p>
                      <a:pPr algn="ctr"/>
                      <a:r>
                        <a:rPr lang="en-US" sz="2400" dirty="0"/>
                        <a:t>~</a:t>
                      </a:r>
                    </a:p>
                  </a:txBody>
                  <a:tcPr marL="121920" marR="121920" marT="60960" marB="60960"/>
                </a:tc>
                <a:tc>
                  <a:txBody>
                    <a:bodyPr/>
                    <a:lstStyle/>
                    <a:p>
                      <a:pPr algn="ctr"/>
                      <a:r>
                        <a:rPr lang="en-US" sz="2400" dirty="0"/>
                        <a:t>~</a:t>
                      </a:r>
                    </a:p>
                  </a:txBody>
                  <a:tcPr marL="121920" marR="121920" marT="60960" marB="60960"/>
                </a:tc>
                <a:tc>
                  <a:txBody>
                    <a:bodyPr/>
                    <a:lstStyle/>
                    <a:p>
                      <a:pPr algn="ctr"/>
                      <a:r>
                        <a:rPr lang="en-US" sz="2100" dirty="0" err="1">
                          <a:solidFill>
                            <a:srgbClr val="FF0000"/>
                          </a:solidFill>
                        </a:rPr>
                        <a:t>XORi</a:t>
                      </a:r>
                      <a:r>
                        <a:rPr lang="en-US" sz="2100" dirty="0">
                          <a:solidFill>
                            <a:srgbClr val="FF0000"/>
                          </a:solidFill>
                        </a:rPr>
                        <a:t> with -1</a:t>
                      </a:r>
                    </a:p>
                  </a:txBody>
                  <a:tcPr marL="121920" marR="121920" marT="60960" marB="60960"/>
                </a:tc>
                <a:extLst>
                  <a:ext uri="{0D108BD9-81ED-4DB2-BD59-A6C34878D82A}">
                    <a16:rowId xmlns:a16="http://schemas.microsoft.com/office/drawing/2014/main" val="4133769179"/>
                  </a:ext>
                </a:extLst>
              </a:tr>
            </a:tbl>
          </a:graphicData>
        </a:graphic>
      </p:graphicFrame>
      <p:sp>
        <p:nvSpPr>
          <p:cNvPr id="7" name="Date Placeholder 6"/>
          <p:cNvSpPr>
            <a:spLocks noGrp="1"/>
          </p:cNvSpPr>
          <p:nvPr>
            <p:ph type="dt" sz="half" idx="10"/>
          </p:nvPr>
        </p:nvSpPr>
        <p:spPr/>
        <p:txBody>
          <a:bodyPr/>
          <a:lstStyle/>
          <a:p>
            <a:pPr>
              <a:defRPr/>
            </a:pPr>
            <a:r>
              <a:rPr lang="en-US" dirty="0"/>
              <a:t>September 27, 2024</a:t>
            </a:r>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38</a:t>
            </a:fld>
            <a:endParaRPr lang="en-US" dirty="0"/>
          </a:p>
        </p:txBody>
      </p:sp>
    </p:spTree>
    <p:extLst>
      <p:ext uri="{BB962C8B-B14F-4D97-AF65-F5344CB8AC3E}">
        <p14:creationId xmlns:p14="http://schemas.microsoft.com/office/powerpoint/2010/main" val="12350797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SRL (</a:t>
            </a:r>
            <a:r>
              <a:rPr lang="en-US" sz="4000" dirty="0"/>
              <a:t>logic</a:t>
            </a:r>
            <a:r>
              <a:rPr lang="en-US" dirty="0"/>
              <a:t>) or SRA (</a:t>
            </a:r>
            <a:r>
              <a:rPr lang="en-US" sz="4000" dirty="0"/>
              <a:t>arithmetic</a:t>
            </a:r>
            <a:r>
              <a:rPr lang="en-US" dirty="0"/>
              <a:t>) ?</a:t>
            </a:r>
          </a:p>
        </p:txBody>
      </p:sp>
      <p:sp>
        <p:nvSpPr>
          <p:cNvPr id="7" name="Date Placeholder 6"/>
          <p:cNvSpPr>
            <a:spLocks noGrp="1"/>
          </p:cNvSpPr>
          <p:nvPr>
            <p:ph type="dt" sz="half" idx="10"/>
          </p:nvPr>
        </p:nvSpPr>
        <p:spPr/>
        <p:txBody>
          <a:bodyPr/>
          <a:lstStyle/>
          <a:p>
            <a:pPr>
              <a:defRPr/>
            </a:pPr>
            <a:r>
              <a:rPr lang="en-US" dirty="0"/>
              <a:t>September 27, 2024</a:t>
            </a:r>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39</a:t>
            </a:fld>
            <a:endParaRPr lang="en-US" dirty="0"/>
          </a:p>
        </p:txBody>
      </p:sp>
      <p:sp>
        <p:nvSpPr>
          <p:cNvPr id="5" name="Content Placeholder 4">
            <a:extLst>
              <a:ext uri="{FF2B5EF4-FFF2-40B4-BE49-F238E27FC236}">
                <a16:creationId xmlns:a16="http://schemas.microsoft.com/office/drawing/2014/main" id="{D68DFEF5-E307-4126-9568-27BD3C50F64D}"/>
              </a:ext>
            </a:extLst>
          </p:cNvPr>
          <p:cNvSpPr>
            <a:spLocks noGrp="1"/>
          </p:cNvSpPr>
          <p:nvPr>
            <p:ph idx="1"/>
          </p:nvPr>
        </p:nvSpPr>
        <p:spPr>
          <a:xfrm>
            <a:off x="609600" y="1125537"/>
            <a:ext cx="10972800" cy="5149533"/>
          </a:xfrm>
        </p:spPr>
        <p:txBody>
          <a:bodyPr/>
          <a:lstStyle/>
          <a:p>
            <a:r>
              <a:rPr kumimoji="1" lang="en-US" sz="32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SRA will fill with the sign bit to preserve the negative values of 2’s complement. SRL will fill with zeros. </a:t>
            </a:r>
          </a:p>
          <a:p>
            <a:r>
              <a:rPr lang="en-US" sz="3200" dirty="0"/>
              <a:t>In Java, &gt;&gt;&gt; means SRL, and &gt;&gt; means SRA</a:t>
            </a:r>
          </a:p>
          <a:p>
            <a:r>
              <a:rPr lang="en-US" sz="3200" dirty="0"/>
              <a:t>In C, both shifts use the same operator: &gt;&gt;. The compiler chooses SRA for signed data types and SRL for unsigned ones. </a:t>
            </a:r>
          </a:p>
          <a:p>
            <a:r>
              <a:rPr lang="en-US" dirty="0"/>
              <a:t>e.g. </a:t>
            </a:r>
          </a:p>
          <a:p>
            <a:pPr marL="0" indent="0">
              <a:buNone/>
            </a:pPr>
            <a:r>
              <a:rPr lang="en-US" sz="3200" dirty="0"/>
              <a:t>-4 &gt;&gt; 2 </a:t>
            </a:r>
          </a:p>
          <a:p>
            <a:pPr marL="0" indent="0">
              <a:buNone/>
            </a:pPr>
            <a:r>
              <a:rPr lang="en-US" sz="2800" dirty="0"/>
              <a:t>1111….100 Shift right by 2:     	SRL (Logical shift) 	  	</a:t>
            </a:r>
            <a:r>
              <a:rPr lang="en-US" sz="2800" dirty="0">
                <a:sym typeface="Wingdings" panose="05000000000000000000" pitchFamily="2" charset="2"/>
              </a:rPr>
              <a:t> 00111…111</a:t>
            </a:r>
          </a:p>
          <a:p>
            <a:pPr marL="0" indent="0">
              <a:buNone/>
            </a:pPr>
            <a:r>
              <a:rPr lang="en-US" dirty="0">
                <a:sym typeface="Wingdings" panose="05000000000000000000" pitchFamily="2" charset="2"/>
              </a:rPr>
              <a:t>					</a:t>
            </a:r>
            <a:r>
              <a:rPr lang="en-US" sz="2800" dirty="0">
                <a:sym typeface="Wingdings" panose="05000000000000000000" pitchFamily="2" charset="2"/>
              </a:rPr>
              <a:t>SRA (Arithmetic shift) 	 1111….111 </a:t>
            </a:r>
            <a:endParaRPr lang="en-US" sz="2800" dirty="0"/>
          </a:p>
        </p:txBody>
      </p:sp>
    </p:spTree>
    <p:extLst>
      <p:ext uri="{BB962C8B-B14F-4D97-AF65-F5344CB8AC3E}">
        <p14:creationId xmlns:p14="http://schemas.microsoft.com/office/powerpoint/2010/main" val="18580535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Masked Operations</a:t>
            </a:r>
          </a:p>
        </p:txBody>
      </p:sp>
      <p:sp>
        <p:nvSpPr>
          <p:cNvPr id="7" name="Date Placeholder 6"/>
          <p:cNvSpPr>
            <a:spLocks noGrp="1"/>
          </p:cNvSpPr>
          <p:nvPr>
            <p:ph type="dt" sz="half" idx="10"/>
          </p:nvPr>
        </p:nvSpPr>
        <p:spPr/>
        <p:txBody>
          <a:bodyPr/>
          <a:lstStyle/>
          <a:p>
            <a:pPr>
              <a:defRPr/>
            </a:pPr>
            <a:r>
              <a:rPr lang="en-US" dirty="0"/>
              <a:t>September 27, 2024</a:t>
            </a:r>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40</a:t>
            </a:fld>
            <a:endParaRPr lang="en-US" dirty="0"/>
          </a:p>
        </p:txBody>
      </p:sp>
      <p:sp>
        <p:nvSpPr>
          <p:cNvPr id="5" name="Content Placeholder 4">
            <a:extLst>
              <a:ext uri="{FF2B5EF4-FFF2-40B4-BE49-F238E27FC236}">
                <a16:creationId xmlns:a16="http://schemas.microsoft.com/office/drawing/2014/main" id="{D68DFEF5-E307-4126-9568-27BD3C50F64D}"/>
              </a:ext>
            </a:extLst>
          </p:cNvPr>
          <p:cNvSpPr>
            <a:spLocks noGrp="1"/>
          </p:cNvSpPr>
          <p:nvPr>
            <p:ph idx="1"/>
          </p:nvPr>
        </p:nvSpPr>
        <p:spPr>
          <a:xfrm>
            <a:off x="619840" y="1232697"/>
            <a:ext cx="10972800" cy="4895851"/>
          </a:xfrm>
        </p:spPr>
        <p:txBody>
          <a:bodyPr/>
          <a:lstStyle/>
          <a:p>
            <a:r>
              <a:rPr lang="en-US" sz="3200" dirty="0"/>
              <a:t>If you only want the lower 10 bits of a variable A, or </a:t>
            </a:r>
          </a:p>
          <a:p>
            <a:pPr marL="0" indent="0" defTabSz="1219170">
              <a:buClr>
                <a:srgbClr val="8064A2"/>
              </a:buClr>
              <a:buNone/>
              <a:defRPr/>
            </a:pPr>
            <a:r>
              <a:rPr lang="en-US" sz="3200" dirty="0">
                <a:solidFill>
                  <a:prstClr val="black"/>
                </a:solidFill>
              </a:rPr>
              <a:t>    If you want to get the remainder of A div by 1024</a:t>
            </a:r>
            <a:endParaRPr lang="en-US" sz="3200" dirty="0"/>
          </a:p>
          <a:p>
            <a:pPr lvl="1"/>
            <a:r>
              <a:rPr lang="en-US" sz="2800" dirty="0"/>
              <a:t>A </a:t>
            </a:r>
            <a:r>
              <a:rPr lang="en-US" sz="2800" b="1" dirty="0"/>
              <a:t>and</a:t>
            </a:r>
            <a:r>
              <a:rPr lang="en-US" sz="2800" dirty="0"/>
              <a:t> 1023 (i.e. 0000….1111111111)</a:t>
            </a:r>
          </a:p>
          <a:p>
            <a:r>
              <a:rPr lang="en-US" sz="3200" dirty="0"/>
              <a:t>If you want to get rid of the lower 10 bits of A</a:t>
            </a:r>
          </a:p>
          <a:p>
            <a:pPr lvl="1"/>
            <a:r>
              <a:rPr lang="en-US" sz="2800" dirty="0"/>
              <a:t>A </a:t>
            </a:r>
            <a:r>
              <a:rPr lang="en-US" sz="2800" b="1" dirty="0"/>
              <a:t>and</a:t>
            </a:r>
            <a:r>
              <a:rPr lang="en-US" sz="2800" dirty="0"/>
              <a:t> (1111…..1110000000000)</a:t>
            </a:r>
          </a:p>
          <a:p>
            <a:r>
              <a:rPr lang="en-US" sz="3200" dirty="0"/>
              <a:t>Setting specific bits in a word (e.g., the 3</a:t>
            </a:r>
            <a:r>
              <a:rPr lang="en-US" sz="3200" baseline="30000" dirty="0"/>
              <a:t>rd</a:t>
            </a:r>
            <a:r>
              <a:rPr lang="en-US" sz="3200" dirty="0"/>
              <a:t> and 4</a:t>
            </a:r>
            <a:r>
              <a:rPr lang="en-US" sz="3200" baseline="30000" dirty="0"/>
              <a:t>th</a:t>
            </a:r>
            <a:r>
              <a:rPr lang="en-US" sz="3200" dirty="0"/>
              <a:t> bits)</a:t>
            </a:r>
          </a:p>
          <a:p>
            <a:pPr lvl="1"/>
            <a:r>
              <a:rPr lang="en-US" sz="2800" b="1" dirty="0"/>
              <a:t>OR</a:t>
            </a:r>
            <a:r>
              <a:rPr lang="en-US" sz="2800" dirty="0"/>
              <a:t> ….0001100</a:t>
            </a:r>
          </a:p>
        </p:txBody>
      </p:sp>
    </p:spTree>
    <p:extLst>
      <p:ext uri="{BB962C8B-B14F-4D97-AF65-F5344CB8AC3E}">
        <p14:creationId xmlns:p14="http://schemas.microsoft.com/office/powerpoint/2010/main" val="35905669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Branch Instructions (SB)</a:t>
            </a:r>
          </a:p>
        </p:txBody>
      </p:sp>
      <p:sp>
        <p:nvSpPr>
          <p:cNvPr id="3" name="Content Placeholder 2"/>
          <p:cNvSpPr>
            <a:spLocks noGrp="1"/>
          </p:cNvSpPr>
          <p:nvPr>
            <p:ph idx="1"/>
          </p:nvPr>
        </p:nvSpPr>
        <p:spPr>
          <a:xfrm>
            <a:off x="530578" y="1208313"/>
            <a:ext cx="11037009" cy="4831243"/>
          </a:xfrm>
        </p:spPr>
        <p:txBody>
          <a:bodyPr/>
          <a:lstStyle/>
          <a:p>
            <a:pPr marL="0" indent="0">
              <a:buNone/>
            </a:pPr>
            <a:r>
              <a:rPr lang="en-US" dirty="0"/>
              <a:t>e.g. </a:t>
            </a:r>
            <a:r>
              <a:rPr lang="en-US" dirty="0" err="1"/>
              <a:t>beq</a:t>
            </a:r>
            <a:r>
              <a:rPr lang="en-US" dirty="0"/>
              <a:t> x1,x2, Label</a:t>
            </a:r>
          </a:p>
          <a:p>
            <a:pPr>
              <a:buFont typeface="Wingdings" panose="05000000000000000000" pitchFamily="2" charset="2"/>
              <a:buChar char="§"/>
            </a:pPr>
            <a:r>
              <a:rPr lang="en-US" sz="2667" dirty="0"/>
              <a:t>Branches read two registers, compare them, and determine whether the branch should be taken or fall through.</a:t>
            </a:r>
          </a:p>
          <a:p>
            <a:pPr>
              <a:buFont typeface="Wingdings" panose="05000000000000000000" pitchFamily="2" charset="2"/>
              <a:buChar char="§"/>
            </a:pPr>
            <a:r>
              <a:rPr lang="en-US" sz="2667" dirty="0"/>
              <a:t>The instruction type is SB, which is similar to S type. There is no destination register operand, </a:t>
            </a:r>
            <a:r>
              <a:rPr lang="en-US" sz="2667" b="1" dirty="0"/>
              <a:t>rd</a:t>
            </a:r>
            <a:r>
              <a:rPr lang="en-US" sz="2667" dirty="0"/>
              <a:t>. However, immediate is composed in different ways.</a:t>
            </a:r>
          </a:p>
          <a:p>
            <a:pPr>
              <a:buFont typeface="Wingdings" panose="05000000000000000000" pitchFamily="2" charset="2"/>
              <a:buChar char="§"/>
            </a:pPr>
            <a:r>
              <a:rPr lang="en-US" sz="2667" dirty="0"/>
              <a:t>Branches are used for loops and if-then-else control statements.</a:t>
            </a:r>
          </a:p>
          <a:p>
            <a:pPr>
              <a:buFont typeface="Wingdings" panose="05000000000000000000" pitchFamily="2" charset="2"/>
              <a:buChar char="§"/>
            </a:pPr>
            <a:r>
              <a:rPr lang="en-US" sz="2667" dirty="0"/>
              <a:t>Function calls and jumps are handled with JAL (J-format)</a:t>
            </a:r>
          </a:p>
          <a:p>
            <a:pPr>
              <a:buFont typeface="Wingdings" panose="05000000000000000000" pitchFamily="2" charset="2"/>
              <a:buChar char="§"/>
            </a:pPr>
            <a:r>
              <a:rPr lang="en-US" sz="2667" dirty="0"/>
              <a:t>Branch targets are encoded as an </a:t>
            </a:r>
            <a:r>
              <a:rPr lang="en-US" sz="2667" dirty="0">
                <a:solidFill>
                  <a:srgbClr val="FF0000"/>
                </a:solidFill>
              </a:rPr>
              <a:t>offset to the current PC </a:t>
            </a:r>
            <a:r>
              <a:rPr lang="en-US" sz="2667" dirty="0"/>
              <a:t>(Program Counter), called </a:t>
            </a:r>
            <a:r>
              <a:rPr lang="en-US" sz="2667" i="1" dirty="0">
                <a:solidFill>
                  <a:srgbClr val="FF0000"/>
                </a:solidFill>
              </a:rPr>
              <a:t>PC-relative addressing</a:t>
            </a:r>
            <a:r>
              <a:rPr lang="en-US" sz="2667" dirty="0"/>
              <a:t>. </a:t>
            </a:r>
          </a:p>
          <a:p>
            <a:pPr marL="0" indent="0">
              <a:buNone/>
            </a:pPr>
            <a:endParaRPr lang="en-US" dirty="0"/>
          </a:p>
        </p:txBody>
      </p:sp>
      <p:sp>
        <p:nvSpPr>
          <p:cNvPr id="7" name="Date Placeholder 6"/>
          <p:cNvSpPr>
            <a:spLocks noGrp="1"/>
          </p:cNvSpPr>
          <p:nvPr>
            <p:ph type="dt" sz="half" idx="10"/>
          </p:nvPr>
        </p:nvSpPr>
        <p:spPr/>
        <p:txBody>
          <a:bodyPr/>
          <a:lstStyle/>
          <a:p>
            <a:pPr>
              <a:defRPr/>
            </a:pPr>
            <a:r>
              <a:rPr lang="en-US" dirty="0"/>
              <a:t>September 27, 2024</a:t>
            </a:r>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41</a:t>
            </a:fld>
            <a:endParaRPr lang="en-US" dirty="0"/>
          </a:p>
        </p:txBody>
      </p:sp>
    </p:spTree>
    <p:extLst>
      <p:ext uri="{BB962C8B-B14F-4D97-AF65-F5344CB8AC3E}">
        <p14:creationId xmlns:p14="http://schemas.microsoft.com/office/powerpoint/2010/main" val="2307945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PC-relative Addressing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0579" y="1013378"/>
                <a:ext cx="11037009" cy="5173413"/>
              </a:xfrm>
            </p:spPr>
            <p:txBody>
              <a:bodyPr/>
              <a:lstStyle/>
              <a:p>
                <a:pPr>
                  <a:buFont typeface="Wingdings" panose="05000000000000000000" pitchFamily="2" charset="2"/>
                  <a:buChar char="§"/>
                </a:pPr>
                <a:r>
                  <a:rPr lang="en-US" sz="3200" dirty="0"/>
                  <a:t>Use the immediate field as a 2’s complement offset to PC.</a:t>
                </a:r>
              </a:p>
              <a:p>
                <a:pPr lvl="1">
                  <a:buFont typeface="Wingdings" panose="05000000000000000000" pitchFamily="2" charset="2"/>
                  <a:buChar char="§"/>
                </a:pPr>
                <a:r>
                  <a:rPr lang="en-US" sz="2800" dirty="0"/>
                  <a:t>Branch instructions change the PC by a small amount.</a:t>
                </a:r>
              </a:p>
              <a:p>
                <a:pPr lvl="2">
                  <a:buFont typeface="Wingdings" panose="05000000000000000000" pitchFamily="2" charset="2"/>
                  <a:buChar char="Ø"/>
                </a:pPr>
                <a:r>
                  <a:rPr lang="en-US" dirty="0"/>
                  <a:t> either </a:t>
                </a:r>
                <a:r>
                  <a:rPr lang="en-US" dirty="0">
                    <a:solidFill>
                      <a:srgbClr val="FF0000"/>
                    </a:solidFill>
                  </a:rPr>
                  <a:t>PC+4</a:t>
                </a:r>
                <a:r>
                  <a:rPr lang="en-US" dirty="0"/>
                  <a:t> or </a:t>
                </a:r>
                <a:r>
                  <a:rPr lang="en-US" dirty="0" err="1">
                    <a:solidFill>
                      <a:srgbClr val="FF0000"/>
                    </a:solidFill>
                  </a:rPr>
                  <a:t>PC+offset</a:t>
                </a:r>
                <a:endParaRPr lang="en-US" dirty="0">
                  <a:solidFill>
                    <a:srgbClr val="FF0000"/>
                  </a:solidFill>
                </a:endParaRPr>
              </a:p>
              <a:p>
                <a:pPr lvl="1">
                  <a:buFont typeface="Wingdings" panose="05000000000000000000" pitchFamily="2" charset="2"/>
                  <a:buChar char="§"/>
                </a:pPr>
                <a:r>
                  <a:rPr lang="en-US" sz="2800" dirty="0"/>
                  <a:t>Can specify </a:t>
                </a:r>
                <a:r>
                  <a:rPr lang="en-US" sz="2800" dirty="0">
                    <a:solidFill>
                      <a:prstClr val="black"/>
                    </a:solidFill>
                    <a:cs typeface="+mn-cs"/>
                  </a:rPr>
                  <a:t> ± </a:t>
                </a:r>
                <a14:m>
                  <m:oMath xmlns:m="http://schemas.openxmlformats.org/officeDocument/2006/math">
                    <m:sSup>
                      <m:sSupPr>
                        <m:ctrlPr>
                          <a:rPr lang="en-US" sz="2800" i="1">
                            <a:solidFill>
                              <a:prstClr val="black"/>
                            </a:solidFill>
                            <a:latin typeface="Cambria Math" panose="02040503050406030204" pitchFamily="18" charset="0"/>
                            <a:cs typeface="+mn-cs"/>
                          </a:rPr>
                        </m:ctrlPr>
                      </m:sSupPr>
                      <m:e>
                        <m:r>
                          <a:rPr lang="en-US" sz="2800" i="1">
                            <a:solidFill>
                              <a:prstClr val="black"/>
                            </a:solidFill>
                            <a:latin typeface="Cambria Math" panose="02040503050406030204" pitchFamily="18" charset="0"/>
                            <a:cs typeface="+mn-cs"/>
                          </a:rPr>
                          <m:t>2</m:t>
                        </m:r>
                      </m:e>
                      <m:sup>
                        <m:r>
                          <a:rPr lang="en-US" sz="2800" i="1">
                            <a:solidFill>
                              <a:prstClr val="black"/>
                            </a:solidFill>
                            <a:latin typeface="Cambria Math" panose="02040503050406030204" pitchFamily="18" charset="0"/>
                            <a:cs typeface="+mn-cs"/>
                          </a:rPr>
                          <m:t>11</m:t>
                        </m:r>
                      </m:sup>
                    </m:sSup>
                  </m:oMath>
                </a14:m>
                <a:r>
                  <a:rPr lang="en-US" sz="2800" dirty="0">
                    <a:solidFill>
                      <a:prstClr val="black"/>
                    </a:solidFill>
                    <a:cs typeface="+mn-cs"/>
                  </a:rPr>
                  <a:t> different addresses from the PC</a:t>
                </a:r>
              </a:p>
              <a:p>
                <a:pPr lvl="1">
                  <a:buFont typeface="Wingdings" panose="05000000000000000000" pitchFamily="2" charset="2"/>
                  <a:buChar char="§"/>
                </a:pPr>
                <a:r>
                  <a:rPr lang="en-US" sz="2800" dirty="0">
                    <a:solidFill>
                      <a:prstClr val="black"/>
                    </a:solidFill>
                    <a:cs typeface="+mn-cs"/>
                  </a:rPr>
                  <a:t>In the S-type (store instruction), the offset is relative to the </a:t>
                </a:r>
                <a:r>
                  <a:rPr lang="en-US" sz="2800" i="1" dirty="0">
                    <a:solidFill>
                      <a:srgbClr val="FF0000"/>
                    </a:solidFill>
                    <a:cs typeface="+mn-cs"/>
                  </a:rPr>
                  <a:t>base address</a:t>
                </a:r>
                <a:r>
                  <a:rPr lang="en-US" sz="2800" dirty="0">
                    <a:solidFill>
                      <a:prstClr val="black"/>
                    </a:solidFill>
                    <a:cs typeface="+mn-cs"/>
                  </a:rPr>
                  <a:t>, in SB-type (branch), the offset is </a:t>
                </a:r>
                <a:r>
                  <a:rPr lang="en-US" sz="2800" i="1" dirty="0">
                    <a:solidFill>
                      <a:srgbClr val="FF0000"/>
                    </a:solidFill>
                    <a:cs typeface="+mn-cs"/>
                  </a:rPr>
                  <a:t>relative to PC</a:t>
                </a:r>
                <a:r>
                  <a:rPr lang="en-US" sz="2800" dirty="0">
                    <a:solidFill>
                      <a:prstClr val="black"/>
                    </a:solidFill>
                    <a:cs typeface="+mn-cs"/>
                  </a:rPr>
                  <a:t>.</a:t>
                </a:r>
              </a:p>
              <a:p>
                <a:pPr lvl="1">
                  <a:buFont typeface="Wingdings" panose="05000000000000000000" pitchFamily="2" charset="2"/>
                  <a:buChar char="§"/>
                </a:pPr>
                <a:r>
                  <a:rPr lang="en-US" sz="2800" dirty="0">
                    <a:solidFill>
                      <a:prstClr val="black"/>
                    </a:solidFill>
                    <a:cs typeface="+mn-cs"/>
                  </a:rPr>
                  <a:t>For </a:t>
                </a:r>
                <a:r>
                  <a:rPr lang="en-US" sz="2800" dirty="0">
                    <a:solidFill>
                      <a:srgbClr val="FF0000"/>
                    </a:solidFill>
                    <a:cs typeface="+mn-cs"/>
                  </a:rPr>
                  <a:t>store instructions, the offset is in bytes</a:t>
                </a:r>
                <a:r>
                  <a:rPr lang="en-US" sz="2800" dirty="0">
                    <a:solidFill>
                      <a:prstClr val="black"/>
                    </a:solidFill>
                    <a:cs typeface="+mn-cs"/>
                  </a:rPr>
                  <a:t>, for </a:t>
                </a:r>
                <a:r>
                  <a:rPr lang="en-US" sz="2800" dirty="0">
                    <a:solidFill>
                      <a:srgbClr val="FF0000"/>
                    </a:solidFill>
                    <a:cs typeface="+mn-cs"/>
                  </a:rPr>
                  <a:t>branch instructions, the offset is in two bytes (half word)</a:t>
                </a:r>
                <a:r>
                  <a:rPr lang="en-US" sz="2800" dirty="0">
                    <a:solidFill>
                      <a:prstClr val="black"/>
                    </a:solidFill>
                    <a:cs typeface="+mn-cs"/>
                  </a:rPr>
                  <a:t>. Why? Because RV instructions are either 32b (regular) or 16b (compressed, as in the C extension) , the branch range can be doubled using two bytes as a unit. (unfortunately, not quadrupled)</a:t>
                </a:r>
                <a:endParaRPr lang="en-US" sz="2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0579" y="1013378"/>
                <a:ext cx="11037009" cy="5173413"/>
              </a:xfrm>
              <a:blipFill>
                <a:blip r:embed="rId2"/>
                <a:stretch>
                  <a:fillRect l="-828" t="-1531" b="-4829"/>
                </a:stretch>
              </a:blipFill>
            </p:spPr>
            <p:txBody>
              <a:bodyPr/>
              <a:lstStyle/>
              <a:p>
                <a:r>
                  <a:rPr lang="en-US">
                    <a:noFill/>
                  </a:rPr>
                  <a:t> </a:t>
                </a:r>
              </a:p>
            </p:txBody>
          </p:sp>
        </mc:Fallback>
      </mc:AlternateContent>
      <p:sp>
        <p:nvSpPr>
          <p:cNvPr id="7" name="Date Placeholder 6"/>
          <p:cNvSpPr>
            <a:spLocks noGrp="1"/>
          </p:cNvSpPr>
          <p:nvPr>
            <p:ph type="dt" sz="half" idx="10"/>
          </p:nvPr>
        </p:nvSpPr>
        <p:spPr/>
        <p:txBody>
          <a:bodyPr/>
          <a:lstStyle/>
          <a:p>
            <a:pPr>
              <a:defRPr/>
            </a:pPr>
            <a:r>
              <a:rPr lang="en-US" dirty="0"/>
              <a:t>September 27, 2024</a:t>
            </a:r>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42</a:t>
            </a:fld>
            <a:endParaRPr lang="en-US" dirty="0"/>
          </a:p>
        </p:txBody>
      </p:sp>
    </p:spTree>
    <p:extLst>
      <p:ext uri="{BB962C8B-B14F-4D97-AF65-F5344CB8AC3E}">
        <p14:creationId xmlns:p14="http://schemas.microsoft.com/office/powerpoint/2010/main" val="21267558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Scaling Branch Offsets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0578" y="1208313"/>
                <a:ext cx="11037009" cy="4831243"/>
              </a:xfrm>
            </p:spPr>
            <p:txBody>
              <a:bodyPr/>
              <a:lstStyle/>
              <a:p>
                <a:pPr>
                  <a:buFont typeface="Wingdings" panose="05000000000000000000" pitchFamily="2" charset="2"/>
                  <a:buChar char="§"/>
                </a:pPr>
                <a:r>
                  <a:rPr lang="en-US" sz="2667" dirty="0"/>
                  <a:t>If all instructions are words (32b), we could scale the immediate value by 4x, before adding to the PC. This would allow one branch instruction to reach </a:t>
                </a:r>
                <a:r>
                  <a:rPr lang="en-US" sz="2667" dirty="0">
                    <a:solidFill>
                      <a:prstClr val="black"/>
                    </a:solidFill>
                  </a:rPr>
                  <a:t>± </a:t>
                </a:r>
                <a14:m>
                  <m:oMath xmlns:m="http://schemas.openxmlformats.org/officeDocument/2006/math">
                    <m:sSup>
                      <m:sSupPr>
                        <m:ctrlPr>
                          <a:rPr lang="en-US" sz="2667" i="1">
                            <a:solidFill>
                              <a:prstClr val="black"/>
                            </a:solidFill>
                            <a:latin typeface="Cambria Math" panose="02040503050406030204" pitchFamily="18" charset="0"/>
                          </a:rPr>
                        </m:ctrlPr>
                      </m:sSupPr>
                      <m:e>
                        <m:r>
                          <a:rPr lang="en-US" sz="2667" i="1">
                            <a:solidFill>
                              <a:prstClr val="black"/>
                            </a:solidFill>
                            <a:latin typeface="Cambria Math" panose="02040503050406030204" pitchFamily="18" charset="0"/>
                          </a:rPr>
                          <m:t>2</m:t>
                        </m:r>
                      </m:e>
                      <m:sup>
                        <m:r>
                          <a:rPr lang="en-US" sz="2667" i="1">
                            <a:solidFill>
                              <a:prstClr val="black"/>
                            </a:solidFill>
                            <a:latin typeface="Cambria Math" panose="02040503050406030204" pitchFamily="18" charset="0"/>
                          </a:rPr>
                          <m:t>11</m:t>
                        </m:r>
                      </m:sup>
                    </m:sSup>
                  </m:oMath>
                </a14:m>
                <a:r>
                  <a:rPr lang="en-US" sz="2667" dirty="0">
                    <a:solidFill>
                      <a:prstClr val="black"/>
                    </a:solidFill>
                  </a:rPr>
                  <a:t> X 32b instructions either side of PC.</a:t>
                </a:r>
              </a:p>
              <a:p>
                <a:pPr marL="0" indent="0">
                  <a:buNone/>
                </a:pPr>
                <a:r>
                  <a:rPr lang="en-US" sz="2667" dirty="0">
                    <a:solidFill>
                      <a:prstClr val="black"/>
                    </a:solidFill>
                  </a:rPr>
                  <a:t>	If branch taken: PC = PC + immediate * 4</a:t>
                </a:r>
              </a:p>
              <a:p>
                <a:pPr marL="0" indent="0">
                  <a:buNone/>
                </a:pPr>
                <a:r>
                  <a:rPr lang="en-US" sz="2667" dirty="0">
                    <a:solidFill>
                      <a:prstClr val="black"/>
                    </a:solidFill>
                  </a:rPr>
                  <a:t>	If branch fall through: PC = PC + 4</a:t>
                </a:r>
              </a:p>
              <a:p>
                <a:pPr>
                  <a:buFont typeface="Wingdings" panose="05000000000000000000" pitchFamily="2" charset="2"/>
                  <a:buChar char="§"/>
                </a:pPr>
                <a:r>
                  <a:rPr lang="en-US" sz="2667" dirty="0">
                    <a:solidFill>
                      <a:prstClr val="black"/>
                    </a:solidFill>
                  </a:rPr>
                  <a:t>Due to the support for 16b instructions (required by C extension), the ISA decides to only scale the immediate by 2 (2 bytes).</a:t>
                </a:r>
              </a:p>
              <a:p>
                <a:pPr>
                  <a:buFont typeface="Wingdings" panose="05000000000000000000" pitchFamily="2" charset="2"/>
                  <a:buChar char="§"/>
                </a:pPr>
                <a:r>
                  <a:rPr lang="en-US" sz="2667" dirty="0">
                    <a:solidFill>
                      <a:prstClr val="black"/>
                    </a:solidFill>
                  </a:rPr>
                  <a:t>In summary, RV branch instructions can only reach ± </a:t>
                </a:r>
                <a14:m>
                  <m:oMath xmlns:m="http://schemas.openxmlformats.org/officeDocument/2006/math">
                    <m:sSup>
                      <m:sSupPr>
                        <m:ctrlPr>
                          <a:rPr lang="en-US" sz="2667" i="1">
                            <a:solidFill>
                              <a:prstClr val="black"/>
                            </a:solidFill>
                            <a:latin typeface="Cambria Math" panose="02040503050406030204" pitchFamily="18" charset="0"/>
                          </a:rPr>
                        </m:ctrlPr>
                      </m:sSupPr>
                      <m:e>
                        <m:r>
                          <a:rPr lang="en-US" sz="2667" i="1">
                            <a:solidFill>
                              <a:prstClr val="black"/>
                            </a:solidFill>
                            <a:latin typeface="Cambria Math" panose="02040503050406030204" pitchFamily="18" charset="0"/>
                          </a:rPr>
                          <m:t>2</m:t>
                        </m:r>
                      </m:e>
                      <m:sup>
                        <m:r>
                          <a:rPr lang="en-US" sz="2667" i="1">
                            <a:solidFill>
                              <a:prstClr val="black"/>
                            </a:solidFill>
                            <a:latin typeface="Cambria Math" panose="02040503050406030204" pitchFamily="18" charset="0"/>
                          </a:rPr>
                          <m:t>10</m:t>
                        </m:r>
                      </m:sup>
                    </m:sSup>
                  </m:oMath>
                </a14:m>
                <a:r>
                  <a:rPr lang="en-US" sz="2667" dirty="0"/>
                  <a:t> X 32b instructions.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0578" y="1208313"/>
                <a:ext cx="11037009" cy="4831243"/>
              </a:xfrm>
              <a:blipFill>
                <a:blip r:embed="rId3"/>
                <a:stretch>
                  <a:fillRect l="-552" t="-1261" r="-1491"/>
                </a:stretch>
              </a:blipFill>
            </p:spPr>
            <p:txBody>
              <a:bodyPr/>
              <a:lstStyle/>
              <a:p>
                <a:r>
                  <a:rPr lang="en-US">
                    <a:noFill/>
                  </a:rPr>
                  <a:t> </a:t>
                </a:r>
              </a:p>
            </p:txBody>
          </p:sp>
        </mc:Fallback>
      </mc:AlternateContent>
      <p:sp>
        <p:nvSpPr>
          <p:cNvPr id="7" name="Date Placeholder 6"/>
          <p:cNvSpPr>
            <a:spLocks noGrp="1"/>
          </p:cNvSpPr>
          <p:nvPr>
            <p:ph type="dt" sz="half" idx="10"/>
          </p:nvPr>
        </p:nvSpPr>
        <p:spPr/>
        <p:txBody>
          <a:bodyPr/>
          <a:lstStyle/>
          <a:p>
            <a:pPr>
              <a:defRPr/>
            </a:pPr>
            <a:r>
              <a:rPr lang="en-US" dirty="0"/>
              <a:t>September 27, 2024</a:t>
            </a:r>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43</a:t>
            </a:fld>
            <a:endParaRPr lang="en-US" dirty="0"/>
          </a:p>
        </p:txBody>
      </p:sp>
      <p:sp>
        <p:nvSpPr>
          <p:cNvPr id="4" name="TextBox 3">
            <a:extLst>
              <a:ext uri="{FF2B5EF4-FFF2-40B4-BE49-F238E27FC236}">
                <a16:creationId xmlns:a16="http://schemas.microsoft.com/office/drawing/2014/main" id="{A7C45221-D263-4E93-B174-8660063FBB26}"/>
              </a:ext>
            </a:extLst>
          </p:cNvPr>
          <p:cNvSpPr txBox="1"/>
          <p:nvPr/>
        </p:nvSpPr>
        <p:spPr>
          <a:xfrm>
            <a:off x="4901315" y="5665077"/>
            <a:ext cx="6994222" cy="461665"/>
          </a:xfrm>
          <a:prstGeom prst="rect">
            <a:avLst/>
          </a:prstGeom>
          <a:solidFill>
            <a:srgbClr val="FFFF00"/>
          </a:solidFill>
          <a:ln>
            <a:solidFill>
              <a:srgbClr val="FF0000"/>
            </a:solidFill>
          </a:ln>
        </p:spPr>
        <p:txBody>
          <a:bodyPr wrap="none" rtlCol="0" anchor="ctr" anchorCtr="1">
            <a:spAutoFit/>
          </a:bodyPr>
          <a:lstStyle/>
          <a:p>
            <a:r>
              <a:rPr lang="en-US" sz="2400" dirty="0">
                <a:ea typeface="標楷體" pitchFamily="65" charset="-120"/>
                <a:cs typeface="Calibri" panose="020F0502020204030204" pitchFamily="34" charset="0"/>
              </a:rPr>
              <a:t>Q: How to reduce the instruction from 32b to 16b?</a:t>
            </a:r>
          </a:p>
        </p:txBody>
      </p:sp>
      <p:sp>
        <p:nvSpPr>
          <p:cNvPr id="5" name="TextBox 4">
            <a:extLst>
              <a:ext uri="{FF2B5EF4-FFF2-40B4-BE49-F238E27FC236}">
                <a16:creationId xmlns:a16="http://schemas.microsoft.com/office/drawing/2014/main" id="{AC7E4291-E6BE-4D78-98F3-E0FAE4682367}"/>
              </a:ext>
            </a:extLst>
          </p:cNvPr>
          <p:cNvSpPr txBox="1"/>
          <p:nvPr/>
        </p:nvSpPr>
        <p:spPr>
          <a:xfrm>
            <a:off x="8657617" y="4831142"/>
            <a:ext cx="950901" cy="502766"/>
          </a:xfrm>
          <a:prstGeom prst="rect">
            <a:avLst/>
          </a:prstGeom>
          <a:solidFill>
            <a:srgbClr val="FFFF00"/>
          </a:solidFill>
          <a:ln>
            <a:solidFill>
              <a:srgbClr val="FF0000"/>
            </a:solidFill>
          </a:ln>
        </p:spPr>
        <p:txBody>
          <a:bodyPr wrap="none" rtlCol="0" anchor="ctr" anchorCtr="1">
            <a:spAutoFit/>
          </a:bodyPr>
          <a:lstStyle/>
          <a:p>
            <a:r>
              <a:rPr kumimoji="1" lang="en-US" sz="2667" kern="0" dirty="0">
                <a:solidFill>
                  <a:prstClr val="black"/>
                </a:solidFill>
                <a:latin typeface="Calibri" pitchFamily="34" charset="0"/>
                <a:ea typeface="標楷體" pitchFamily="65" charset="-120"/>
              </a:rPr>
              <a:t>± </a:t>
            </a:r>
            <a:r>
              <a:rPr lang="en-US" dirty="0">
                <a:ea typeface="標楷體" pitchFamily="65" charset="-120"/>
                <a:cs typeface="Calibri" pitchFamily="34" charset="0"/>
              </a:rPr>
              <a:t>4KB</a:t>
            </a:r>
          </a:p>
        </p:txBody>
      </p:sp>
    </p:spTree>
    <p:extLst>
      <p:ext uri="{BB962C8B-B14F-4D97-AF65-F5344CB8AC3E}">
        <p14:creationId xmlns:p14="http://schemas.microsoft.com/office/powerpoint/2010/main" val="1749263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dirty="0"/>
                  <a:t>What if the branch target is &gt; </a:t>
                </a:r>
                <a14:m>
                  <m:oMath xmlns:m="http://schemas.openxmlformats.org/officeDocument/2006/math">
                    <m:sSup>
                      <m:sSupPr>
                        <m:ctrlPr>
                          <a:rPr lang="en-US" sz="3733" b="0" i="1">
                            <a:latin typeface="Cambria Math" panose="02040503050406030204" pitchFamily="18" charset="0"/>
                            <a:cs typeface="+mn-cs"/>
                          </a:rPr>
                        </m:ctrlPr>
                      </m:sSupPr>
                      <m:e>
                        <m:r>
                          <m:rPr>
                            <m:nor/>
                          </m:rPr>
                          <a:rPr lang="en-US" sz="3733" b="0" dirty="0">
                            <a:cs typeface="+mn-cs"/>
                          </a:rPr>
                          <m:t>±</m:t>
                        </m:r>
                        <m:r>
                          <a:rPr lang="en-US" sz="3733" b="0" i="1">
                            <a:latin typeface="Cambria Math" panose="02040503050406030204" pitchFamily="18" charset="0"/>
                            <a:cs typeface="+mn-cs"/>
                          </a:rPr>
                          <m:t>2</m:t>
                        </m:r>
                      </m:e>
                      <m:sup>
                        <m:r>
                          <a:rPr lang="en-US" sz="3733" b="0" i="1">
                            <a:latin typeface="Cambria Math" panose="02040503050406030204" pitchFamily="18" charset="0"/>
                            <a:cs typeface="+mn-cs"/>
                          </a:rPr>
                          <m:t>10</m:t>
                        </m:r>
                      </m:sup>
                    </m:sSup>
                  </m:oMath>
                </a14:m>
                <a:r>
                  <a:rPr lang="en-US" dirty="0">
                    <a:solidFill>
                      <a:schemeClr val="tx2"/>
                    </a:solidFill>
                  </a:rPr>
                  <a:t>  </a:t>
                </a:r>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3"/>
                <a:stretch>
                  <a:fillRect l="-2059" t="-21176" b="-447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0578" y="1208313"/>
                <a:ext cx="11037009" cy="4831243"/>
              </a:xfrm>
            </p:spPr>
            <p:txBody>
              <a:bodyPr/>
              <a:lstStyle/>
              <a:p>
                <a:pPr>
                  <a:buFont typeface="Wingdings" panose="05000000000000000000" pitchFamily="2" charset="2"/>
                  <a:buChar char="§"/>
                </a:pPr>
                <a:r>
                  <a:rPr lang="en-US" sz="2667" dirty="0">
                    <a:solidFill>
                      <a:prstClr val="black"/>
                    </a:solidFill>
                  </a:rPr>
                  <a:t>RV branch instructions can only reach ± </a:t>
                </a:r>
                <a14:m>
                  <m:oMath xmlns:m="http://schemas.openxmlformats.org/officeDocument/2006/math">
                    <m:sSup>
                      <m:sSupPr>
                        <m:ctrlPr>
                          <a:rPr lang="en-US" sz="2667" i="1">
                            <a:solidFill>
                              <a:prstClr val="black"/>
                            </a:solidFill>
                            <a:latin typeface="Cambria Math" panose="02040503050406030204" pitchFamily="18" charset="0"/>
                          </a:rPr>
                        </m:ctrlPr>
                      </m:sSupPr>
                      <m:e>
                        <m:r>
                          <a:rPr lang="en-US" sz="2667" i="1">
                            <a:solidFill>
                              <a:prstClr val="black"/>
                            </a:solidFill>
                            <a:latin typeface="Cambria Math" panose="02040503050406030204" pitchFamily="18" charset="0"/>
                          </a:rPr>
                          <m:t>2</m:t>
                        </m:r>
                      </m:e>
                      <m:sup>
                        <m:r>
                          <a:rPr lang="en-US" sz="2667" i="1">
                            <a:solidFill>
                              <a:prstClr val="black"/>
                            </a:solidFill>
                            <a:latin typeface="Cambria Math" panose="02040503050406030204" pitchFamily="18" charset="0"/>
                          </a:rPr>
                          <m:t>10</m:t>
                        </m:r>
                      </m:sup>
                    </m:sSup>
                  </m:oMath>
                </a14:m>
                <a:r>
                  <a:rPr lang="en-US" sz="2667" dirty="0"/>
                  <a:t> X 32b instructions.</a:t>
                </a:r>
              </a:p>
              <a:p>
                <a:pPr>
                  <a:buFont typeface="Wingdings" panose="05000000000000000000" pitchFamily="2" charset="2"/>
                  <a:buChar char="§"/>
                </a:pPr>
                <a:r>
                  <a:rPr lang="en-US" sz="2667" dirty="0"/>
                  <a:t>If the target is more than </a:t>
                </a:r>
                <a14:m>
                  <m:oMath xmlns:m="http://schemas.openxmlformats.org/officeDocument/2006/math">
                    <m:sSup>
                      <m:sSupPr>
                        <m:ctrlPr>
                          <a:rPr lang="en-US" sz="2667" i="1">
                            <a:solidFill>
                              <a:srgbClr val="1F497D"/>
                            </a:solidFill>
                            <a:latin typeface="Cambria Math" panose="02040503050406030204" pitchFamily="18" charset="0"/>
                            <a:cs typeface="+mj-cs"/>
                          </a:rPr>
                        </m:ctrlPr>
                      </m:sSupPr>
                      <m:e>
                        <m:r>
                          <m:rPr>
                            <m:nor/>
                          </m:rPr>
                          <a:rPr lang="en-US" sz="2667" dirty="0">
                            <a:solidFill>
                              <a:srgbClr val="1F497D"/>
                            </a:solidFill>
                            <a:cs typeface="+mj-cs"/>
                          </a:rPr>
                          <m:t>±</m:t>
                        </m:r>
                        <m:r>
                          <a:rPr lang="en-US" sz="2667" i="1">
                            <a:solidFill>
                              <a:srgbClr val="1F497D"/>
                            </a:solidFill>
                            <a:latin typeface="Cambria Math" panose="02040503050406030204" pitchFamily="18" charset="0"/>
                            <a:cs typeface="+mj-cs"/>
                          </a:rPr>
                          <m:t>2</m:t>
                        </m:r>
                      </m:e>
                      <m:sup>
                        <m:r>
                          <a:rPr lang="en-US" sz="2667" i="1">
                            <a:solidFill>
                              <a:srgbClr val="1F497D"/>
                            </a:solidFill>
                            <a:latin typeface="Cambria Math" panose="02040503050406030204" pitchFamily="18" charset="0"/>
                            <a:cs typeface="+mj-cs"/>
                          </a:rPr>
                          <m:t>10</m:t>
                        </m:r>
                      </m:sup>
                    </m:sSup>
                  </m:oMath>
                </a14:m>
                <a:r>
                  <a:rPr lang="en-US" sz="2667" b="1" dirty="0">
                    <a:solidFill>
                      <a:srgbClr val="1F497D"/>
                    </a:solidFill>
                  </a:rPr>
                  <a:t> </a:t>
                </a:r>
                <a:r>
                  <a:rPr lang="en-US" sz="2667" dirty="0"/>
                  <a:t>instructions away, we must resort to the JUMP instruction, which can reach </a:t>
                </a:r>
                <a14:m>
                  <m:oMath xmlns:m="http://schemas.openxmlformats.org/officeDocument/2006/math">
                    <m:sSup>
                      <m:sSupPr>
                        <m:ctrlPr>
                          <a:rPr lang="en-US" sz="2667" i="1">
                            <a:solidFill>
                              <a:srgbClr val="1F497D"/>
                            </a:solidFill>
                            <a:latin typeface="Cambria Math" panose="02040503050406030204" pitchFamily="18" charset="0"/>
                            <a:cs typeface="+mj-cs"/>
                          </a:rPr>
                        </m:ctrlPr>
                      </m:sSupPr>
                      <m:e>
                        <m:r>
                          <m:rPr>
                            <m:nor/>
                          </m:rPr>
                          <a:rPr lang="en-US" sz="2667" dirty="0">
                            <a:solidFill>
                              <a:srgbClr val="1F497D"/>
                            </a:solidFill>
                            <a:cs typeface="+mj-cs"/>
                          </a:rPr>
                          <m:t>±</m:t>
                        </m:r>
                        <m:r>
                          <a:rPr lang="en-US" sz="2667" i="1">
                            <a:solidFill>
                              <a:srgbClr val="1F497D"/>
                            </a:solidFill>
                            <a:latin typeface="Cambria Math" panose="02040503050406030204" pitchFamily="18" charset="0"/>
                            <a:cs typeface="+mj-cs"/>
                          </a:rPr>
                          <m:t>2</m:t>
                        </m:r>
                      </m:e>
                      <m:sup>
                        <m:r>
                          <a:rPr lang="en-US" sz="2667" i="1">
                            <a:solidFill>
                              <a:srgbClr val="1F497D"/>
                            </a:solidFill>
                            <a:latin typeface="Cambria Math" panose="02040503050406030204" pitchFamily="18" charset="0"/>
                            <a:cs typeface="+mj-cs"/>
                          </a:rPr>
                          <m:t>19 </m:t>
                        </m:r>
                      </m:sup>
                    </m:sSup>
                  </m:oMath>
                </a14:m>
                <a:r>
                  <a:rPr lang="en-US" sz="2667" b="1" dirty="0">
                    <a:solidFill>
                      <a:srgbClr val="1F497D"/>
                    </a:solidFill>
                  </a:rPr>
                  <a:t> </a:t>
                </a:r>
                <a:r>
                  <a:rPr lang="en-US" sz="2667" dirty="0"/>
                  <a:t>instructions, or </a:t>
                </a:r>
                <a14:m>
                  <m:oMath xmlns:m="http://schemas.openxmlformats.org/officeDocument/2006/math">
                    <m:sSup>
                      <m:sSupPr>
                        <m:ctrlPr>
                          <a:rPr lang="en-US" sz="2667" i="1">
                            <a:solidFill>
                              <a:srgbClr val="1F497D"/>
                            </a:solidFill>
                            <a:latin typeface="Cambria Math" panose="02040503050406030204" pitchFamily="18" charset="0"/>
                          </a:rPr>
                        </m:ctrlPr>
                      </m:sSupPr>
                      <m:e>
                        <m:r>
                          <m:rPr>
                            <m:nor/>
                          </m:rPr>
                          <a:rPr lang="en-US" sz="2667" dirty="0">
                            <a:solidFill>
                              <a:srgbClr val="1F497D"/>
                            </a:solidFill>
                          </a:rPr>
                          <m:t>±</m:t>
                        </m:r>
                        <m:r>
                          <a:rPr lang="en-US" sz="2667" i="1">
                            <a:solidFill>
                              <a:srgbClr val="1F497D"/>
                            </a:solidFill>
                            <a:latin typeface="Cambria Math" panose="02040503050406030204" pitchFamily="18" charset="0"/>
                          </a:rPr>
                          <m:t>2</m:t>
                        </m:r>
                      </m:e>
                      <m:sup>
                        <m:r>
                          <a:rPr lang="en-US" sz="2667" i="1">
                            <a:solidFill>
                              <a:srgbClr val="1F497D"/>
                            </a:solidFill>
                            <a:latin typeface="Cambria Math" panose="02040503050406030204" pitchFamily="18" charset="0"/>
                          </a:rPr>
                          <m:t>20  </m:t>
                        </m:r>
                      </m:sup>
                    </m:sSup>
                    <m:r>
                      <m:rPr>
                        <m:sty m:val="p"/>
                      </m:rPr>
                      <a:rPr lang="en-US" sz="2667">
                        <a:solidFill>
                          <a:srgbClr val="1F497D"/>
                        </a:solidFill>
                        <a:latin typeface="Cambria Math" panose="02040503050406030204" pitchFamily="18" charset="0"/>
                      </a:rPr>
                      <m:t>b</m:t>
                    </m:r>
                  </m:oMath>
                </a14:m>
                <a:r>
                  <a:rPr lang="en-US" sz="2667" dirty="0"/>
                  <a:t>ytes</a:t>
                </a:r>
              </a:p>
              <a:p>
                <a:pPr>
                  <a:buFont typeface="Wingdings" panose="05000000000000000000" pitchFamily="2" charset="2"/>
                  <a:buChar char="§"/>
                </a:pPr>
                <a:r>
                  <a:rPr lang="en-US" sz="2667" dirty="0"/>
                  <a:t>Example:</a:t>
                </a:r>
              </a:p>
              <a:p>
                <a:pPr>
                  <a:buFont typeface="Wingdings" panose="05000000000000000000" pitchFamily="2" charset="2"/>
                  <a:buChar char="§"/>
                </a:pPr>
                <a:endParaRPr lang="en-US" sz="2667" dirty="0"/>
              </a:p>
              <a:p>
                <a:pPr marL="0" indent="0">
                  <a:buNone/>
                </a:pPr>
                <a:r>
                  <a:rPr lang="en-US" sz="2667" dirty="0"/>
                  <a:t>	</a:t>
                </a:r>
                <a:r>
                  <a:rPr lang="en-US" sz="2667" dirty="0" err="1"/>
                  <a:t>beq</a:t>
                </a:r>
                <a:r>
                  <a:rPr lang="en-US" sz="2667" dirty="0"/>
                  <a:t> X10, X0, </a:t>
                </a:r>
                <a:r>
                  <a:rPr lang="en-US" sz="2667" dirty="0" err="1"/>
                  <a:t>far_away</a:t>
                </a:r>
                <a:r>
                  <a:rPr lang="en-US" sz="2667" dirty="0"/>
                  <a:t>		</a:t>
                </a:r>
                <a:r>
                  <a:rPr lang="en-US" sz="2667" dirty="0" err="1"/>
                  <a:t>bne</a:t>
                </a:r>
                <a:r>
                  <a:rPr lang="en-US" sz="2667" dirty="0"/>
                  <a:t> x10, x0, NEXT_LABEL	</a:t>
                </a:r>
              </a:p>
              <a:p>
                <a:pPr marL="0" indent="0">
                  <a:buNone/>
                </a:pPr>
                <a:r>
                  <a:rPr lang="en-US" sz="2667" dirty="0"/>
                  <a:t>	next-</a:t>
                </a:r>
                <a:r>
                  <a:rPr lang="en-US" sz="2667" dirty="0" err="1"/>
                  <a:t>inst</a:t>
                </a:r>
                <a:r>
                  <a:rPr lang="en-US" sz="2667" dirty="0"/>
                  <a:t>				j </a:t>
                </a:r>
                <a:r>
                  <a:rPr lang="en-US" sz="2667" dirty="0" err="1"/>
                  <a:t>far_away</a:t>
                </a:r>
                <a:endParaRPr lang="en-US" sz="2667" dirty="0"/>
              </a:p>
              <a:p>
                <a:pPr marL="0" indent="0">
                  <a:buNone/>
                </a:pPr>
                <a:r>
                  <a:rPr lang="en-US" sz="2667" dirty="0"/>
                  <a:t>				NEXT_LABEL: next-</a:t>
                </a:r>
                <a:r>
                  <a:rPr lang="en-US" sz="2667" dirty="0" err="1"/>
                  <a:t>inst</a:t>
                </a:r>
                <a:endParaRPr lang="en-US" sz="2667"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0578" y="1208313"/>
                <a:ext cx="11037009" cy="4831243"/>
              </a:xfrm>
              <a:blipFill>
                <a:blip r:embed="rId4"/>
                <a:stretch>
                  <a:fillRect l="-552" t="-1387"/>
                </a:stretch>
              </a:blipFill>
            </p:spPr>
            <p:txBody>
              <a:bodyPr/>
              <a:lstStyle/>
              <a:p>
                <a:r>
                  <a:rPr lang="en-US">
                    <a:noFill/>
                  </a:rPr>
                  <a:t> </a:t>
                </a:r>
              </a:p>
            </p:txBody>
          </p:sp>
        </mc:Fallback>
      </mc:AlternateContent>
      <p:sp>
        <p:nvSpPr>
          <p:cNvPr id="7" name="Date Placeholder 6"/>
          <p:cNvSpPr>
            <a:spLocks noGrp="1"/>
          </p:cNvSpPr>
          <p:nvPr>
            <p:ph type="dt" sz="half" idx="10"/>
          </p:nvPr>
        </p:nvSpPr>
        <p:spPr/>
        <p:txBody>
          <a:bodyPr/>
          <a:lstStyle/>
          <a:p>
            <a:pPr>
              <a:defRPr/>
            </a:pPr>
            <a:r>
              <a:rPr lang="en-US" dirty="0"/>
              <a:t>September 27, 2024</a:t>
            </a:r>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44</a:t>
            </a:fld>
            <a:endParaRPr lang="en-US" dirty="0"/>
          </a:p>
        </p:txBody>
      </p:sp>
      <p:sp>
        <p:nvSpPr>
          <p:cNvPr id="4" name="Arrow: Right 3">
            <a:extLst>
              <a:ext uri="{FF2B5EF4-FFF2-40B4-BE49-F238E27FC236}">
                <a16:creationId xmlns:a16="http://schemas.microsoft.com/office/drawing/2014/main" id="{C05C8ABC-9C2E-4A93-962F-48F2FFD5A398}"/>
              </a:ext>
            </a:extLst>
          </p:cNvPr>
          <p:cNvSpPr/>
          <p:nvPr/>
        </p:nvSpPr>
        <p:spPr bwMode="auto">
          <a:xfrm>
            <a:off x="4786008" y="3842425"/>
            <a:ext cx="978408" cy="484632"/>
          </a:xfrm>
          <a:prstGeom prst="right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Tree>
    <p:extLst>
      <p:ext uri="{BB962C8B-B14F-4D97-AF65-F5344CB8AC3E}">
        <p14:creationId xmlns:p14="http://schemas.microsoft.com/office/powerpoint/2010/main" val="22529225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3600" y="106440"/>
            <a:ext cx="8097672" cy="687009"/>
          </a:xfrm>
        </p:spPr>
        <p:txBody>
          <a:bodyPr/>
          <a:lstStyle/>
          <a:p>
            <a:r>
              <a:rPr lang="en-US" sz="4000" dirty="0"/>
              <a:t>LUI and AUIPC Instructions</a:t>
            </a:r>
          </a:p>
        </p:txBody>
      </p:sp>
      <p:sp>
        <p:nvSpPr>
          <p:cNvPr id="3" name="Content Placeholder 2"/>
          <p:cNvSpPr>
            <a:spLocks noGrp="1"/>
          </p:cNvSpPr>
          <p:nvPr>
            <p:ph idx="1"/>
          </p:nvPr>
        </p:nvSpPr>
        <p:spPr>
          <a:xfrm>
            <a:off x="1411111" y="1514966"/>
            <a:ext cx="10137423" cy="4513300"/>
          </a:xfrm>
        </p:spPr>
        <p:txBody>
          <a:bodyPr/>
          <a:lstStyle/>
          <a:p>
            <a:r>
              <a:rPr lang="en-US" sz="2667" dirty="0"/>
              <a:t>Register-immediate instructions (U-type)</a:t>
            </a:r>
          </a:p>
          <a:p>
            <a:pPr lvl="1"/>
            <a:endParaRPr lang="en-US" sz="1600" dirty="0"/>
          </a:p>
          <a:p>
            <a:pPr lvl="1"/>
            <a:endParaRPr lang="en-US" sz="1600" dirty="0"/>
          </a:p>
          <a:p>
            <a:pPr lvl="1"/>
            <a:endParaRPr lang="en-US" sz="1600" dirty="0"/>
          </a:p>
          <a:p>
            <a:pPr lvl="1"/>
            <a:r>
              <a:rPr lang="en-US" sz="2400" dirty="0"/>
              <a:t>opcode = LUI	: 	</a:t>
            </a:r>
            <a:r>
              <a:rPr lang="en-US" sz="2400" dirty="0" err="1">
                <a:solidFill>
                  <a:srgbClr val="56127A"/>
                </a:solidFill>
              </a:rPr>
              <a:t>rd</a:t>
            </a:r>
            <a:r>
              <a:rPr lang="en-US" sz="2400" dirty="0">
                <a:solidFill>
                  <a:srgbClr val="56127A"/>
                </a:solidFill>
              </a:rPr>
              <a:t> </a:t>
            </a:r>
            <a:r>
              <a:rPr lang="en-US" sz="2400" dirty="0">
                <a:solidFill>
                  <a:srgbClr val="56127A"/>
                </a:solidFill>
                <a:sym typeface="Wingdings" panose="05000000000000000000" pitchFamily="2" charset="2"/>
              </a:rPr>
              <a:t> U-</a:t>
            </a:r>
            <a:r>
              <a:rPr lang="en-US" sz="2400" dirty="0" err="1">
                <a:solidFill>
                  <a:srgbClr val="56127A"/>
                </a:solidFill>
                <a:sym typeface="Wingdings" panose="05000000000000000000" pitchFamily="2" charset="2"/>
              </a:rPr>
              <a:t>imm</a:t>
            </a:r>
            <a:r>
              <a:rPr lang="en-US" sz="2400" dirty="0">
                <a:solidFill>
                  <a:srgbClr val="56127A"/>
                </a:solidFill>
                <a:sym typeface="Wingdings" panose="05000000000000000000" pitchFamily="2" charset="2"/>
              </a:rPr>
              <a:t> </a:t>
            </a:r>
          </a:p>
          <a:p>
            <a:pPr lvl="1"/>
            <a:r>
              <a:rPr lang="en-US" sz="2400" dirty="0"/>
              <a:t>opcode = </a:t>
            </a:r>
            <a:r>
              <a:rPr lang="en-US" sz="2400" dirty="0">
                <a:sym typeface="Wingdings" panose="05000000000000000000" pitchFamily="2" charset="2"/>
              </a:rPr>
              <a:t>AUIPC: 	</a:t>
            </a:r>
            <a:r>
              <a:rPr lang="en-US" sz="2400" dirty="0" err="1">
                <a:solidFill>
                  <a:srgbClr val="56127A"/>
                </a:solidFill>
                <a:sym typeface="Wingdings" panose="05000000000000000000" pitchFamily="2" charset="2"/>
              </a:rPr>
              <a:t>rd</a:t>
            </a:r>
            <a:r>
              <a:rPr lang="en-US" sz="2400" dirty="0">
                <a:solidFill>
                  <a:srgbClr val="56127A"/>
                </a:solidFill>
                <a:sym typeface="Wingdings" panose="05000000000000000000" pitchFamily="2" charset="2"/>
              </a:rPr>
              <a:t>  pc + U-</a:t>
            </a:r>
            <a:r>
              <a:rPr lang="en-US" sz="2400" dirty="0" err="1">
                <a:solidFill>
                  <a:srgbClr val="56127A"/>
                </a:solidFill>
                <a:sym typeface="Wingdings" panose="05000000000000000000" pitchFamily="2" charset="2"/>
              </a:rPr>
              <a:t>imm</a:t>
            </a:r>
            <a:endParaRPr lang="en-US" sz="2400" dirty="0">
              <a:solidFill>
                <a:srgbClr val="56127A"/>
              </a:solidFill>
              <a:sym typeface="Wingdings" panose="05000000000000000000" pitchFamily="2" charset="2"/>
            </a:endParaRPr>
          </a:p>
          <a:p>
            <a:pPr lvl="1"/>
            <a:r>
              <a:rPr lang="en-US" sz="2400" dirty="0"/>
              <a:t>U-</a:t>
            </a:r>
            <a:r>
              <a:rPr lang="en-US" sz="2400" dirty="0" err="1"/>
              <a:t>imm</a:t>
            </a:r>
            <a:r>
              <a:rPr lang="en-US" sz="2400" dirty="0"/>
              <a:t> = 		{</a:t>
            </a:r>
            <a:r>
              <a:rPr lang="en-US" sz="2400" dirty="0" err="1"/>
              <a:t>inst</a:t>
            </a:r>
            <a:r>
              <a:rPr lang="en-US" sz="2400" dirty="0"/>
              <a:t>[31:12], 12’b0}</a:t>
            </a:r>
          </a:p>
          <a:p>
            <a:pPr marL="457189" lvl="1" indent="0">
              <a:buNone/>
            </a:pPr>
            <a:endParaRPr lang="en-US" sz="2400" dirty="0"/>
          </a:p>
          <a:p>
            <a:pPr marL="457189" lvl="1" indent="0">
              <a:buNone/>
            </a:pPr>
            <a:r>
              <a:rPr lang="en-US" sz="2400" dirty="0"/>
              <a:t>AUIPC can be used in conjunction with the JALR instruction to jump to a faraway place (greater than </a:t>
            </a:r>
            <a:r>
              <a:rPr lang="en-US" sz="2400" dirty="0">
                <a:solidFill>
                  <a:prstClr val="black"/>
                </a:solidFill>
                <a:cs typeface="+mn-cs"/>
              </a:rPr>
              <a:t>±1MB)</a:t>
            </a:r>
            <a:r>
              <a:rPr lang="en-US" sz="2400" dirty="0"/>
              <a:t>. However, this is not ideal for binary patching (patching is often used to modify executables on the fly) </a:t>
            </a:r>
          </a:p>
          <a:p>
            <a:pPr marL="457189" lvl="1" indent="0">
              <a:buNone/>
            </a:pPr>
            <a:endParaRPr lang="en-US" sz="2000" dirty="0">
              <a:solidFill>
                <a:srgbClr val="56127A"/>
              </a:solidFill>
              <a:sym typeface="Wingdings" panose="05000000000000000000" pitchFamily="2" charset="2"/>
            </a:endParaRPr>
          </a:p>
          <a:p>
            <a:pPr lvl="1"/>
            <a:endParaRPr lang="en-US" sz="2000" dirty="0">
              <a:solidFill>
                <a:srgbClr val="56127A"/>
              </a:solidFill>
              <a:sym typeface="Wingdings" panose="05000000000000000000" pitchFamily="2" charset="2"/>
            </a:endParaRPr>
          </a:p>
          <a:p>
            <a:pPr lvl="1"/>
            <a:endParaRPr lang="en-US" sz="2000" dirty="0">
              <a:solidFill>
                <a:srgbClr val="56127A"/>
              </a:solidFill>
              <a:sym typeface="Wingdings" panose="05000000000000000000" pitchFamily="2" charset="2"/>
            </a:endParaRPr>
          </a:p>
          <a:p>
            <a:pPr lvl="1"/>
            <a:endParaRPr lang="en-US" sz="2000" dirty="0">
              <a:solidFill>
                <a:srgbClr val="56127A"/>
              </a:solidFill>
              <a:sym typeface="Wingdings" panose="05000000000000000000" pitchFamily="2" charset="2"/>
            </a:endParaRPr>
          </a:p>
          <a:p>
            <a:pPr lvl="1"/>
            <a:endParaRPr lang="en-US" sz="2000" dirty="0">
              <a:solidFill>
                <a:srgbClr val="56127A"/>
              </a:solidFill>
              <a:sym typeface="Wingdings" panose="05000000000000000000" pitchFamily="2" charset="2"/>
            </a:endParaRPr>
          </a:p>
          <a:p>
            <a:pPr lvl="2"/>
            <a:endParaRPr lang="en-US" sz="1600" dirty="0"/>
          </a:p>
        </p:txBody>
      </p:sp>
      <p:grpSp>
        <p:nvGrpSpPr>
          <p:cNvPr id="9" name="Group 8"/>
          <p:cNvGrpSpPr/>
          <p:nvPr/>
        </p:nvGrpSpPr>
        <p:grpSpPr>
          <a:xfrm>
            <a:off x="2170285" y="1947311"/>
            <a:ext cx="8267207" cy="642123"/>
            <a:chOff x="721854" y="4278336"/>
            <a:chExt cx="8267206" cy="642123"/>
          </a:xfrm>
        </p:grpSpPr>
        <p:sp>
          <p:nvSpPr>
            <p:cNvPr id="10" name="TextBox 9"/>
            <p:cNvSpPr txBox="1"/>
            <p:nvPr/>
          </p:nvSpPr>
          <p:spPr>
            <a:xfrm>
              <a:off x="6786728" y="4566516"/>
              <a:ext cx="1153312"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11" name="TextBox 10"/>
            <p:cNvSpPr txBox="1"/>
            <p:nvPr/>
          </p:nvSpPr>
          <p:spPr>
            <a:xfrm>
              <a:off x="7940040" y="4566516"/>
              <a:ext cx="1049020"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2" name="TextBox 11"/>
            <p:cNvSpPr txBox="1"/>
            <p:nvPr/>
          </p:nvSpPr>
          <p:spPr>
            <a:xfrm>
              <a:off x="7210138" y="4278336"/>
              <a:ext cx="306494" cy="353943"/>
            </a:xfrm>
            <a:prstGeom prst="rect">
              <a:avLst/>
            </a:prstGeom>
            <a:noFill/>
          </p:spPr>
          <p:txBody>
            <a:bodyPr wrap="none" rtlCol="0">
              <a:spAutoFit/>
            </a:bodyPr>
            <a:lstStyle/>
            <a:p>
              <a:pPr algn="ctr"/>
              <a:r>
                <a:rPr lang="en-US" sz="1700" dirty="0"/>
                <a:t>5</a:t>
              </a:r>
            </a:p>
          </p:txBody>
        </p:sp>
        <p:sp>
          <p:nvSpPr>
            <p:cNvPr id="13" name="TextBox 12"/>
            <p:cNvSpPr txBox="1"/>
            <p:nvPr/>
          </p:nvSpPr>
          <p:spPr>
            <a:xfrm>
              <a:off x="8311303" y="4278336"/>
              <a:ext cx="306494" cy="353943"/>
            </a:xfrm>
            <a:prstGeom prst="rect">
              <a:avLst/>
            </a:prstGeom>
            <a:noFill/>
          </p:spPr>
          <p:txBody>
            <a:bodyPr wrap="none" rtlCol="0">
              <a:spAutoFit/>
            </a:bodyPr>
            <a:lstStyle/>
            <a:p>
              <a:pPr algn="ctr"/>
              <a:r>
                <a:rPr lang="en-US" sz="1700" dirty="0"/>
                <a:t>7</a:t>
              </a:r>
            </a:p>
          </p:txBody>
        </p:sp>
        <p:sp>
          <p:nvSpPr>
            <p:cNvPr id="14" name="TextBox 13"/>
            <p:cNvSpPr txBox="1"/>
            <p:nvPr/>
          </p:nvSpPr>
          <p:spPr>
            <a:xfrm>
              <a:off x="721854" y="4566516"/>
              <a:ext cx="6064873"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[31:12]</a:t>
              </a:r>
            </a:p>
          </p:txBody>
        </p:sp>
        <p:sp>
          <p:nvSpPr>
            <p:cNvPr id="15" name="TextBox 14"/>
            <p:cNvSpPr txBox="1"/>
            <p:nvPr/>
          </p:nvSpPr>
          <p:spPr>
            <a:xfrm>
              <a:off x="3540129" y="4278336"/>
              <a:ext cx="428322" cy="353943"/>
            </a:xfrm>
            <a:prstGeom prst="rect">
              <a:avLst/>
            </a:prstGeom>
            <a:noFill/>
          </p:spPr>
          <p:txBody>
            <a:bodyPr wrap="none" rtlCol="0">
              <a:spAutoFit/>
            </a:bodyPr>
            <a:lstStyle/>
            <a:p>
              <a:pPr algn="ctr"/>
              <a:r>
                <a:rPr lang="en-US" sz="1700" dirty="0"/>
                <a:t>20</a:t>
              </a:r>
            </a:p>
          </p:txBody>
        </p:sp>
      </p:grpSp>
      <p:sp>
        <p:nvSpPr>
          <p:cNvPr id="4" name="Date Placeholder 3"/>
          <p:cNvSpPr>
            <a:spLocks noGrp="1"/>
          </p:cNvSpPr>
          <p:nvPr>
            <p:ph type="dt" sz="half" idx="10"/>
          </p:nvPr>
        </p:nvSpPr>
        <p:spPr/>
        <p:txBody>
          <a:bodyPr/>
          <a:lstStyle/>
          <a:p>
            <a:pPr>
              <a:defRPr/>
            </a:pPr>
            <a:r>
              <a:rPr lang="en-US" dirty="0"/>
              <a:t>September 27, 2024</a:t>
            </a:r>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16" name="Slide Number Placeholder 15"/>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45</a:t>
            </a:fld>
            <a:endParaRPr lang="en-US" dirty="0"/>
          </a:p>
        </p:txBody>
      </p:sp>
    </p:spTree>
    <p:extLst>
      <p:ext uri="{BB962C8B-B14F-4D97-AF65-F5344CB8AC3E}">
        <p14:creationId xmlns:p14="http://schemas.microsoft.com/office/powerpoint/2010/main" val="14082519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load a 32b const into a register?</a:t>
            </a:r>
          </a:p>
        </p:txBody>
      </p:sp>
      <p:sp>
        <p:nvSpPr>
          <p:cNvPr id="7" name="Date Placeholder 6"/>
          <p:cNvSpPr>
            <a:spLocks noGrp="1"/>
          </p:cNvSpPr>
          <p:nvPr>
            <p:ph type="dt" sz="half" idx="10"/>
          </p:nvPr>
        </p:nvSpPr>
        <p:spPr/>
        <p:txBody>
          <a:bodyPr/>
          <a:lstStyle/>
          <a:p>
            <a:pPr>
              <a:defRPr/>
            </a:pPr>
            <a:r>
              <a:rPr lang="en-US"/>
              <a:t>September 27, 2017</a:t>
            </a:r>
            <a:endParaRPr lang="en-US" dirty="0"/>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46</a:t>
            </a:fld>
            <a:endParaRPr lang="en-US" dirty="0"/>
          </a:p>
        </p:txBody>
      </p:sp>
      <p:sp>
        <p:nvSpPr>
          <p:cNvPr id="5" name="Content Placeholder 4">
            <a:extLst>
              <a:ext uri="{FF2B5EF4-FFF2-40B4-BE49-F238E27FC236}">
                <a16:creationId xmlns:a16="http://schemas.microsoft.com/office/drawing/2014/main" id="{D68DFEF5-E307-4126-9568-27BD3C50F64D}"/>
              </a:ext>
            </a:extLst>
          </p:cNvPr>
          <p:cNvSpPr>
            <a:spLocks noGrp="1"/>
          </p:cNvSpPr>
          <p:nvPr>
            <p:ph idx="1"/>
          </p:nvPr>
        </p:nvSpPr>
        <p:spPr/>
        <p:txBody>
          <a:bodyPr/>
          <a:lstStyle/>
          <a:p>
            <a:r>
              <a:rPr lang="en-US" sz="3200" dirty="0"/>
              <a:t>Assuming the constant is 0x12345678 (Hexadecimal number)</a:t>
            </a:r>
          </a:p>
          <a:p>
            <a:r>
              <a:rPr lang="en-US" sz="3200" dirty="0"/>
              <a:t>Option 1: store the constant in memory, then use a LW (load word) instruction. (load instruction is usually expensive)</a:t>
            </a:r>
          </a:p>
          <a:p>
            <a:r>
              <a:rPr lang="en-US" sz="3200" dirty="0"/>
              <a:t>Option 2: use the LUI and ADDI instruction pair.</a:t>
            </a:r>
          </a:p>
          <a:p>
            <a:pPr lvl="1"/>
            <a:r>
              <a:rPr lang="en-US" dirty="0" err="1"/>
              <a:t>lui</a:t>
            </a:r>
            <a:r>
              <a:rPr lang="en-US" dirty="0"/>
              <a:t> X1, 0x12345 (move the 20b value to the upper 20b in X1)</a:t>
            </a:r>
          </a:p>
          <a:p>
            <a:pPr marL="457189" lvl="1" indent="0">
              <a:buNone/>
            </a:pPr>
            <a:r>
              <a:rPr lang="en-US" dirty="0"/>
              <a:t>    </a:t>
            </a:r>
            <a:r>
              <a:rPr lang="en-US" dirty="0" err="1"/>
              <a:t>addi</a:t>
            </a:r>
            <a:r>
              <a:rPr lang="en-US" dirty="0"/>
              <a:t> x1, 0x678 (add the lower 12 bits to X1) </a:t>
            </a:r>
          </a:p>
        </p:txBody>
      </p:sp>
      <p:grpSp>
        <p:nvGrpSpPr>
          <p:cNvPr id="10" name="Group 9">
            <a:extLst>
              <a:ext uri="{FF2B5EF4-FFF2-40B4-BE49-F238E27FC236}">
                <a16:creationId xmlns:a16="http://schemas.microsoft.com/office/drawing/2014/main" id="{787C8E9D-769E-4CBC-94CC-772D7271F221}"/>
              </a:ext>
            </a:extLst>
          </p:cNvPr>
          <p:cNvGrpSpPr/>
          <p:nvPr/>
        </p:nvGrpSpPr>
        <p:grpSpPr>
          <a:xfrm>
            <a:off x="1296785" y="4518128"/>
            <a:ext cx="8320288" cy="642123"/>
            <a:chOff x="721854" y="4278336"/>
            <a:chExt cx="8320287" cy="642123"/>
          </a:xfrm>
        </p:grpSpPr>
        <p:sp>
          <p:nvSpPr>
            <p:cNvPr id="11" name="TextBox 10">
              <a:extLst>
                <a:ext uri="{FF2B5EF4-FFF2-40B4-BE49-F238E27FC236}">
                  <a16:creationId xmlns:a16="http://schemas.microsoft.com/office/drawing/2014/main" id="{06CCE1C6-EAF7-4E2A-9F0A-D590C52131EB}"/>
                </a:ext>
              </a:extLst>
            </p:cNvPr>
            <p:cNvSpPr txBox="1"/>
            <p:nvPr/>
          </p:nvSpPr>
          <p:spPr>
            <a:xfrm>
              <a:off x="6786727" y="4566516"/>
              <a:ext cx="2255414" cy="353943"/>
            </a:xfrm>
            <a:prstGeom prst="rect">
              <a:avLst/>
            </a:prstGeom>
            <a:noFill/>
            <a:ln w="12700">
              <a:solidFill>
                <a:schemeClr val="tx1"/>
              </a:solidFill>
            </a:ln>
          </p:spPr>
          <p:txBody>
            <a:bodyPr wrap="square" rtlCol="0">
              <a:spAutoFit/>
            </a:bodyPr>
            <a:lstStyle/>
            <a:p>
              <a:pPr algn="ctr"/>
              <a:endParaRPr lang="en-US" sz="1700" dirty="0">
                <a:solidFill>
                  <a:srgbClr val="56127A"/>
                </a:solidFill>
              </a:endParaRPr>
            </a:p>
          </p:txBody>
        </p:sp>
        <p:sp>
          <p:nvSpPr>
            <p:cNvPr id="15" name="TextBox 14">
              <a:extLst>
                <a:ext uri="{FF2B5EF4-FFF2-40B4-BE49-F238E27FC236}">
                  <a16:creationId xmlns:a16="http://schemas.microsoft.com/office/drawing/2014/main" id="{FF593FB2-69EF-4BA1-830F-31E9A3DD1BEF}"/>
                </a:ext>
              </a:extLst>
            </p:cNvPr>
            <p:cNvSpPr txBox="1"/>
            <p:nvPr/>
          </p:nvSpPr>
          <p:spPr>
            <a:xfrm>
              <a:off x="721854" y="4566516"/>
              <a:ext cx="6064873"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0x12345</a:t>
              </a:r>
            </a:p>
          </p:txBody>
        </p:sp>
        <p:sp>
          <p:nvSpPr>
            <p:cNvPr id="16" name="TextBox 15">
              <a:extLst>
                <a:ext uri="{FF2B5EF4-FFF2-40B4-BE49-F238E27FC236}">
                  <a16:creationId xmlns:a16="http://schemas.microsoft.com/office/drawing/2014/main" id="{DE8308B7-8CCA-4D18-8273-FD2DF825F790}"/>
                </a:ext>
              </a:extLst>
            </p:cNvPr>
            <p:cNvSpPr txBox="1"/>
            <p:nvPr/>
          </p:nvSpPr>
          <p:spPr>
            <a:xfrm>
              <a:off x="3540129" y="4278336"/>
              <a:ext cx="428322" cy="353943"/>
            </a:xfrm>
            <a:prstGeom prst="rect">
              <a:avLst/>
            </a:prstGeom>
            <a:noFill/>
          </p:spPr>
          <p:txBody>
            <a:bodyPr wrap="none" rtlCol="0">
              <a:spAutoFit/>
            </a:bodyPr>
            <a:lstStyle/>
            <a:p>
              <a:pPr algn="ctr"/>
              <a:r>
                <a:rPr lang="en-US" sz="1700" dirty="0"/>
                <a:t>20</a:t>
              </a:r>
            </a:p>
          </p:txBody>
        </p:sp>
      </p:grpSp>
      <p:sp>
        <p:nvSpPr>
          <p:cNvPr id="3" name="TextBox 2">
            <a:extLst>
              <a:ext uri="{FF2B5EF4-FFF2-40B4-BE49-F238E27FC236}">
                <a16:creationId xmlns:a16="http://schemas.microsoft.com/office/drawing/2014/main" id="{7556AA28-532E-4A89-9765-2BD99795F002}"/>
              </a:ext>
            </a:extLst>
          </p:cNvPr>
          <p:cNvSpPr txBox="1"/>
          <p:nvPr/>
        </p:nvSpPr>
        <p:spPr>
          <a:xfrm>
            <a:off x="1206475" y="4329258"/>
            <a:ext cx="561372" cy="461665"/>
          </a:xfrm>
          <a:prstGeom prst="rect">
            <a:avLst/>
          </a:prstGeom>
          <a:noFill/>
        </p:spPr>
        <p:txBody>
          <a:bodyPr wrap="none" rtlCol="0" anchor="ctr" anchorCtr="1">
            <a:spAutoFit/>
          </a:bodyPr>
          <a:lstStyle/>
          <a:p>
            <a:r>
              <a:rPr lang="en-US" sz="2400" dirty="0">
                <a:ea typeface="標楷體" pitchFamily="65" charset="-120"/>
                <a:cs typeface="Calibri" panose="020F0502020204030204" pitchFamily="34" charset="0"/>
              </a:rPr>
              <a:t>X1</a:t>
            </a:r>
          </a:p>
        </p:txBody>
      </p:sp>
      <p:sp>
        <p:nvSpPr>
          <p:cNvPr id="17" name="TextBox 16">
            <a:extLst>
              <a:ext uri="{FF2B5EF4-FFF2-40B4-BE49-F238E27FC236}">
                <a16:creationId xmlns:a16="http://schemas.microsoft.com/office/drawing/2014/main" id="{E781635C-5152-413A-9F22-ECAAF8F04E9C}"/>
              </a:ext>
            </a:extLst>
          </p:cNvPr>
          <p:cNvSpPr txBox="1"/>
          <p:nvPr/>
        </p:nvSpPr>
        <p:spPr>
          <a:xfrm>
            <a:off x="8051368" y="4482693"/>
            <a:ext cx="428322" cy="353943"/>
          </a:xfrm>
          <a:prstGeom prst="rect">
            <a:avLst/>
          </a:prstGeom>
          <a:noFill/>
        </p:spPr>
        <p:txBody>
          <a:bodyPr wrap="none" rtlCol="0">
            <a:spAutoFit/>
          </a:bodyPr>
          <a:lstStyle/>
          <a:p>
            <a:pPr algn="ctr"/>
            <a:r>
              <a:rPr lang="en-US" sz="1700" dirty="0"/>
              <a:t>12</a:t>
            </a:r>
          </a:p>
        </p:txBody>
      </p:sp>
      <p:grpSp>
        <p:nvGrpSpPr>
          <p:cNvPr id="18" name="Group 17">
            <a:extLst>
              <a:ext uri="{FF2B5EF4-FFF2-40B4-BE49-F238E27FC236}">
                <a16:creationId xmlns:a16="http://schemas.microsoft.com/office/drawing/2014/main" id="{C6E5A46C-AA7D-45A2-B134-EA22E73A884A}"/>
              </a:ext>
            </a:extLst>
          </p:cNvPr>
          <p:cNvGrpSpPr/>
          <p:nvPr/>
        </p:nvGrpSpPr>
        <p:grpSpPr>
          <a:xfrm>
            <a:off x="1331712" y="5325080"/>
            <a:ext cx="8320288" cy="642123"/>
            <a:chOff x="721854" y="4278336"/>
            <a:chExt cx="8320287" cy="642123"/>
          </a:xfrm>
        </p:grpSpPr>
        <p:sp>
          <p:nvSpPr>
            <p:cNvPr id="19" name="TextBox 18">
              <a:extLst>
                <a:ext uri="{FF2B5EF4-FFF2-40B4-BE49-F238E27FC236}">
                  <a16:creationId xmlns:a16="http://schemas.microsoft.com/office/drawing/2014/main" id="{F4177F97-AF80-4D61-A3F4-9E1645CBFFF2}"/>
                </a:ext>
              </a:extLst>
            </p:cNvPr>
            <p:cNvSpPr txBox="1"/>
            <p:nvPr/>
          </p:nvSpPr>
          <p:spPr>
            <a:xfrm>
              <a:off x="6786727" y="4566516"/>
              <a:ext cx="2255414"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0x678</a:t>
              </a:r>
            </a:p>
          </p:txBody>
        </p:sp>
        <p:sp>
          <p:nvSpPr>
            <p:cNvPr id="20" name="TextBox 19">
              <a:extLst>
                <a:ext uri="{FF2B5EF4-FFF2-40B4-BE49-F238E27FC236}">
                  <a16:creationId xmlns:a16="http://schemas.microsoft.com/office/drawing/2014/main" id="{9BB48325-F02C-4A81-BC0F-9F537CD86F0F}"/>
                </a:ext>
              </a:extLst>
            </p:cNvPr>
            <p:cNvSpPr txBox="1"/>
            <p:nvPr/>
          </p:nvSpPr>
          <p:spPr>
            <a:xfrm>
              <a:off x="721854" y="4566516"/>
              <a:ext cx="6064873"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0x12345</a:t>
              </a:r>
            </a:p>
          </p:txBody>
        </p:sp>
        <p:sp>
          <p:nvSpPr>
            <p:cNvPr id="21" name="TextBox 20">
              <a:extLst>
                <a:ext uri="{FF2B5EF4-FFF2-40B4-BE49-F238E27FC236}">
                  <a16:creationId xmlns:a16="http://schemas.microsoft.com/office/drawing/2014/main" id="{4FEAF8A2-27BA-4970-9739-656ACC382BCE}"/>
                </a:ext>
              </a:extLst>
            </p:cNvPr>
            <p:cNvSpPr txBox="1"/>
            <p:nvPr/>
          </p:nvSpPr>
          <p:spPr>
            <a:xfrm>
              <a:off x="3540129" y="4278336"/>
              <a:ext cx="428322" cy="353943"/>
            </a:xfrm>
            <a:prstGeom prst="rect">
              <a:avLst/>
            </a:prstGeom>
            <a:noFill/>
          </p:spPr>
          <p:txBody>
            <a:bodyPr wrap="none" rtlCol="0">
              <a:spAutoFit/>
            </a:bodyPr>
            <a:lstStyle/>
            <a:p>
              <a:pPr algn="ctr"/>
              <a:r>
                <a:rPr lang="en-US" sz="1700" dirty="0"/>
                <a:t>20</a:t>
              </a:r>
            </a:p>
          </p:txBody>
        </p:sp>
      </p:grpSp>
      <p:sp>
        <p:nvSpPr>
          <p:cNvPr id="22" name="TextBox 21">
            <a:extLst>
              <a:ext uri="{FF2B5EF4-FFF2-40B4-BE49-F238E27FC236}">
                <a16:creationId xmlns:a16="http://schemas.microsoft.com/office/drawing/2014/main" id="{17BEDF1E-0091-4608-91FD-71F63DB66C4F}"/>
              </a:ext>
            </a:extLst>
          </p:cNvPr>
          <p:cNvSpPr txBox="1"/>
          <p:nvPr/>
        </p:nvSpPr>
        <p:spPr>
          <a:xfrm>
            <a:off x="1241401" y="5136210"/>
            <a:ext cx="561372" cy="461665"/>
          </a:xfrm>
          <a:prstGeom prst="rect">
            <a:avLst/>
          </a:prstGeom>
          <a:noFill/>
        </p:spPr>
        <p:txBody>
          <a:bodyPr wrap="none" rtlCol="0" anchor="ctr" anchorCtr="1">
            <a:spAutoFit/>
          </a:bodyPr>
          <a:lstStyle/>
          <a:p>
            <a:r>
              <a:rPr lang="en-US" sz="2400" dirty="0">
                <a:ea typeface="標楷體" pitchFamily="65" charset="-120"/>
                <a:cs typeface="Calibri" panose="020F0502020204030204" pitchFamily="34" charset="0"/>
              </a:rPr>
              <a:t>X1</a:t>
            </a:r>
          </a:p>
        </p:txBody>
      </p:sp>
      <p:sp>
        <p:nvSpPr>
          <p:cNvPr id="23" name="TextBox 22">
            <a:extLst>
              <a:ext uri="{FF2B5EF4-FFF2-40B4-BE49-F238E27FC236}">
                <a16:creationId xmlns:a16="http://schemas.microsoft.com/office/drawing/2014/main" id="{355A6A2A-3CF7-4C8D-B539-22852A1CB5BA}"/>
              </a:ext>
            </a:extLst>
          </p:cNvPr>
          <p:cNvSpPr txBox="1"/>
          <p:nvPr/>
        </p:nvSpPr>
        <p:spPr>
          <a:xfrm>
            <a:off x="8086295" y="5289645"/>
            <a:ext cx="428322" cy="353943"/>
          </a:xfrm>
          <a:prstGeom prst="rect">
            <a:avLst/>
          </a:prstGeom>
          <a:noFill/>
        </p:spPr>
        <p:txBody>
          <a:bodyPr wrap="none" rtlCol="0">
            <a:spAutoFit/>
          </a:bodyPr>
          <a:lstStyle/>
          <a:p>
            <a:pPr algn="ctr"/>
            <a:r>
              <a:rPr lang="en-US" sz="1700" dirty="0"/>
              <a:t>12</a:t>
            </a:r>
          </a:p>
        </p:txBody>
      </p:sp>
    </p:spTree>
    <p:extLst>
      <p:ext uri="{BB962C8B-B14F-4D97-AF65-F5344CB8AC3E}">
        <p14:creationId xmlns:p14="http://schemas.microsoft.com/office/powerpoint/2010/main" val="42085211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Corner case (when the 12b is &gt; 0x800)</a:t>
            </a:r>
          </a:p>
        </p:txBody>
      </p:sp>
      <p:sp>
        <p:nvSpPr>
          <p:cNvPr id="7" name="Date Placeholder 6"/>
          <p:cNvSpPr>
            <a:spLocks noGrp="1"/>
          </p:cNvSpPr>
          <p:nvPr>
            <p:ph type="dt" sz="half" idx="10"/>
          </p:nvPr>
        </p:nvSpPr>
        <p:spPr/>
        <p:txBody>
          <a:bodyPr/>
          <a:lstStyle/>
          <a:p>
            <a:pPr>
              <a:defRPr/>
            </a:pPr>
            <a:r>
              <a:rPr lang="en-US"/>
              <a:t>September 27, 2017</a:t>
            </a:r>
            <a:endParaRPr lang="en-US" dirty="0"/>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47</a:t>
            </a:fld>
            <a:endParaRPr lang="en-US" dirty="0"/>
          </a:p>
        </p:txBody>
      </p:sp>
      <p:sp>
        <p:nvSpPr>
          <p:cNvPr id="5" name="Content Placeholder 4">
            <a:extLst>
              <a:ext uri="{FF2B5EF4-FFF2-40B4-BE49-F238E27FC236}">
                <a16:creationId xmlns:a16="http://schemas.microsoft.com/office/drawing/2014/main" id="{D68DFEF5-E307-4126-9568-27BD3C50F64D}"/>
              </a:ext>
            </a:extLst>
          </p:cNvPr>
          <p:cNvSpPr>
            <a:spLocks noGrp="1"/>
          </p:cNvSpPr>
          <p:nvPr>
            <p:ph idx="1"/>
          </p:nvPr>
        </p:nvSpPr>
        <p:spPr>
          <a:xfrm>
            <a:off x="619839" y="981075"/>
            <a:ext cx="10972800" cy="4895851"/>
          </a:xfrm>
        </p:spPr>
        <p:txBody>
          <a:bodyPr/>
          <a:lstStyle/>
          <a:p>
            <a:pPr marL="342891" indent="-342891" defTabSz="1219170">
              <a:buClr>
                <a:srgbClr val="8064A2"/>
              </a:buClr>
              <a:defRPr/>
            </a:pPr>
            <a:r>
              <a:rPr lang="en-US" dirty="0"/>
              <a:t>What if the </a:t>
            </a:r>
            <a:r>
              <a:rPr lang="en-US" sz="3200" dirty="0">
                <a:solidFill>
                  <a:prstClr val="black"/>
                </a:solidFill>
              </a:rPr>
              <a:t>constant is 0x12345800 (Hexadecimal number)</a:t>
            </a:r>
          </a:p>
          <a:p>
            <a:pPr marL="457189" lvl="1" indent="0" defTabSz="1219170">
              <a:buClr>
                <a:srgbClr val="8064A2"/>
              </a:buClr>
              <a:buNone/>
              <a:defRPr/>
            </a:pPr>
            <a:r>
              <a:rPr lang="en-US" sz="2667" dirty="0">
                <a:solidFill>
                  <a:prstClr val="black"/>
                </a:solidFill>
              </a:rPr>
              <a:t>	</a:t>
            </a:r>
            <a:r>
              <a:rPr lang="en-US" sz="2667" dirty="0" err="1">
                <a:solidFill>
                  <a:prstClr val="black"/>
                </a:solidFill>
              </a:rPr>
              <a:t>lui</a:t>
            </a:r>
            <a:r>
              <a:rPr lang="en-US" sz="2667" dirty="0">
                <a:solidFill>
                  <a:prstClr val="black"/>
                </a:solidFill>
              </a:rPr>
              <a:t> X1, 0x12345 (move the 20b value to the upper 20b in X1)</a:t>
            </a:r>
          </a:p>
          <a:p>
            <a:pPr marL="457189" lvl="1" indent="0" defTabSz="1219170">
              <a:buClr>
                <a:srgbClr val="8064A2"/>
              </a:buClr>
              <a:buNone/>
              <a:defRPr/>
            </a:pPr>
            <a:r>
              <a:rPr lang="en-US" sz="2667" dirty="0">
                <a:solidFill>
                  <a:prstClr val="black"/>
                </a:solidFill>
              </a:rPr>
              <a:t>    	</a:t>
            </a:r>
            <a:r>
              <a:rPr lang="en-US" sz="2667" dirty="0" err="1">
                <a:solidFill>
                  <a:prstClr val="black"/>
                </a:solidFill>
              </a:rPr>
              <a:t>addi</a:t>
            </a:r>
            <a:r>
              <a:rPr lang="en-US" sz="2667" dirty="0">
                <a:solidFill>
                  <a:prstClr val="black"/>
                </a:solidFill>
              </a:rPr>
              <a:t> x1, 0x800 (add the lower 12 bits to X1) </a:t>
            </a:r>
          </a:p>
          <a:p>
            <a:pPr marL="0" indent="0">
              <a:buNone/>
            </a:pPr>
            <a:endParaRPr lang="en-US" dirty="0"/>
          </a:p>
        </p:txBody>
      </p:sp>
      <p:grpSp>
        <p:nvGrpSpPr>
          <p:cNvPr id="10" name="Group 9">
            <a:extLst>
              <a:ext uri="{FF2B5EF4-FFF2-40B4-BE49-F238E27FC236}">
                <a16:creationId xmlns:a16="http://schemas.microsoft.com/office/drawing/2014/main" id="{787C8E9D-769E-4CBC-94CC-772D7271F221}"/>
              </a:ext>
            </a:extLst>
          </p:cNvPr>
          <p:cNvGrpSpPr/>
          <p:nvPr/>
        </p:nvGrpSpPr>
        <p:grpSpPr>
          <a:xfrm>
            <a:off x="1165011" y="2529837"/>
            <a:ext cx="8320288" cy="642123"/>
            <a:chOff x="721854" y="4278336"/>
            <a:chExt cx="8320287" cy="642123"/>
          </a:xfrm>
        </p:grpSpPr>
        <p:sp>
          <p:nvSpPr>
            <p:cNvPr id="11" name="TextBox 10">
              <a:extLst>
                <a:ext uri="{FF2B5EF4-FFF2-40B4-BE49-F238E27FC236}">
                  <a16:creationId xmlns:a16="http://schemas.microsoft.com/office/drawing/2014/main" id="{06CCE1C6-EAF7-4E2A-9F0A-D590C52131EB}"/>
                </a:ext>
              </a:extLst>
            </p:cNvPr>
            <p:cNvSpPr txBox="1"/>
            <p:nvPr/>
          </p:nvSpPr>
          <p:spPr>
            <a:xfrm>
              <a:off x="6786727" y="4566516"/>
              <a:ext cx="2255414" cy="353943"/>
            </a:xfrm>
            <a:prstGeom prst="rect">
              <a:avLst/>
            </a:prstGeom>
            <a:noFill/>
            <a:ln w="12700">
              <a:solidFill>
                <a:schemeClr val="tx1"/>
              </a:solidFill>
            </a:ln>
          </p:spPr>
          <p:txBody>
            <a:bodyPr wrap="square" rtlCol="0">
              <a:spAutoFit/>
            </a:bodyPr>
            <a:lstStyle/>
            <a:p>
              <a:pPr algn="ctr"/>
              <a:endParaRPr lang="en-US" sz="1700" dirty="0">
                <a:solidFill>
                  <a:srgbClr val="56127A"/>
                </a:solidFill>
              </a:endParaRPr>
            </a:p>
          </p:txBody>
        </p:sp>
        <p:sp>
          <p:nvSpPr>
            <p:cNvPr id="15" name="TextBox 14">
              <a:extLst>
                <a:ext uri="{FF2B5EF4-FFF2-40B4-BE49-F238E27FC236}">
                  <a16:creationId xmlns:a16="http://schemas.microsoft.com/office/drawing/2014/main" id="{FF593FB2-69EF-4BA1-830F-31E9A3DD1BEF}"/>
                </a:ext>
              </a:extLst>
            </p:cNvPr>
            <p:cNvSpPr txBox="1"/>
            <p:nvPr/>
          </p:nvSpPr>
          <p:spPr>
            <a:xfrm>
              <a:off x="721854" y="4566516"/>
              <a:ext cx="6064873"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0x12345</a:t>
              </a:r>
            </a:p>
          </p:txBody>
        </p:sp>
        <p:sp>
          <p:nvSpPr>
            <p:cNvPr id="16" name="TextBox 15">
              <a:extLst>
                <a:ext uri="{FF2B5EF4-FFF2-40B4-BE49-F238E27FC236}">
                  <a16:creationId xmlns:a16="http://schemas.microsoft.com/office/drawing/2014/main" id="{DE8308B7-8CCA-4D18-8273-FD2DF825F790}"/>
                </a:ext>
              </a:extLst>
            </p:cNvPr>
            <p:cNvSpPr txBox="1"/>
            <p:nvPr/>
          </p:nvSpPr>
          <p:spPr>
            <a:xfrm>
              <a:off x="3540129" y="4278336"/>
              <a:ext cx="428322" cy="353943"/>
            </a:xfrm>
            <a:prstGeom prst="rect">
              <a:avLst/>
            </a:prstGeom>
            <a:noFill/>
          </p:spPr>
          <p:txBody>
            <a:bodyPr wrap="none" rtlCol="0">
              <a:spAutoFit/>
            </a:bodyPr>
            <a:lstStyle/>
            <a:p>
              <a:pPr algn="ctr"/>
              <a:r>
                <a:rPr lang="en-US" sz="1700" dirty="0"/>
                <a:t>20</a:t>
              </a:r>
            </a:p>
          </p:txBody>
        </p:sp>
      </p:grpSp>
      <p:sp>
        <p:nvSpPr>
          <p:cNvPr id="3" name="TextBox 2">
            <a:extLst>
              <a:ext uri="{FF2B5EF4-FFF2-40B4-BE49-F238E27FC236}">
                <a16:creationId xmlns:a16="http://schemas.microsoft.com/office/drawing/2014/main" id="{7556AA28-532E-4A89-9765-2BD99795F002}"/>
              </a:ext>
            </a:extLst>
          </p:cNvPr>
          <p:cNvSpPr txBox="1"/>
          <p:nvPr/>
        </p:nvSpPr>
        <p:spPr>
          <a:xfrm>
            <a:off x="1074700" y="2389238"/>
            <a:ext cx="561372" cy="461665"/>
          </a:xfrm>
          <a:prstGeom prst="rect">
            <a:avLst/>
          </a:prstGeom>
          <a:noFill/>
        </p:spPr>
        <p:txBody>
          <a:bodyPr wrap="none" rtlCol="0" anchor="ctr" anchorCtr="1">
            <a:spAutoFit/>
          </a:bodyPr>
          <a:lstStyle/>
          <a:p>
            <a:r>
              <a:rPr lang="en-US" sz="2400" dirty="0">
                <a:ea typeface="標楷體" pitchFamily="65" charset="-120"/>
                <a:cs typeface="Calibri" panose="020F0502020204030204" pitchFamily="34" charset="0"/>
              </a:rPr>
              <a:t>X1</a:t>
            </a:r>
          </a:p>
        </p:txBody>
      </p:sp>
      <p:sp>
        <p:nvSpPr>
          <p:cNvPr id="17" name="TextBox 16">
            <a:extLst>
              <a:ext uri="{FF2B5EF4-FFF2-40B4-BE49-F238E27FC236}">
                <a16:creationId xmlns:a16="http://schemas.microsoft.com/office/drawing/2014/main" id="{E781635C-5152-413A-9F22-ECAAF8F04E9C}"/>
              </a:ext>
            </a:extLst>
          </p:cNvPr>
          <p:cNvSpPr txBox="1"/>
          <p:nvPr/>
        </p:nvSpPr>
        <p:spPr>
          <a:xfrm>
            <a:off x="7622554" y="2553431"/>
            <a:ext cx="428322" cy="353943"/>
          </a:xfrm>
          <a:prstGeom prst="rect">
            <a:avLst/>
          </a:prstGeom>
          <a:noFill/>
        </p:spPr>
        <p:txBody>
          <a:bodyPr wrap="none" rtlCol="0">
            <a:spAutoFit/>
          </a:bodyPr>
          <a:lstStyle/>
          <a:p>
            <a:pPr algn="ctr"/>
            <a:r>
              <a:rPr lang="en-US" sz="1700" dirty="0"/>
              <a:t>12</a:t>
            </a:r>
          </a:p>
        </p:txBody>
      </p:sp>
      <p:grpSp>
        <p:nvGrpSpPr>
          <p:cNvPr id="18" name="Group 17">
            <a:extLst>
              <a:ext uri="{FF2B5EF4-FFF2-40B4-BE49-F238E27FC236}">
                <a16:creationId xmlns:a16="http://schemas.microsoft.com/office/drawing/2014/main" id="{C6E5A46C-AA7D-45A2-B134-EA22E73A884A}"/>
              </a:ext>
            </a:extLst>
          </p:cNvPr>
          <p:cNvGrpSpPr/>
          <p:nvPr/>
        </p:nvGrpSpPr>
        <p:grpSpPr>
          <a:xfrm>
            <a:off x="1165011" y="3268127"/>
            <a:ext cx="8320288" cy="642123"/>
            <a:chOff x="721854" y="4278336"/>
            <a:chExt cx="8320287" cy="642123"/>
          </a:xfrm>
        </p:grpSpPr>
        <p:sp>
          <p:nvSpPr>
            <p:cNvPr id="19" name="TextBox 18">
              <a:extLst>
                <a:ext uri="{FF2B5EF4-FFF2-40B4-BE49-F238E27FC236}">
                  <a16:creationId xmlns:a16="http://schemas.microsoft.com/office/drawing/2014/main" id="{F4177F97-AF80-4D61-A3F4-9E1645CBFFF2}"/>
                </a:ext>
              </a:extLst>
            </p:cNvPr>
            <p:cNvSpPr txBox="1"/>
            <p:nvPr/>
          </p:nvSpPr>
          <p:spPr>
            <a:xfrm>
              <a:off x="6786727" y="4566516"/>
              <a:ext cx="2255414"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0x800</a:t>
              </a:r>
            </a:p>
          </p:txBody>
        </p:sp>
        <p:sp>
          <p:nvSpPr>
            <p:cNvPr id="20" name="TextBox 19">
              <a:extLst>
                <a:ext uri="{FF2B5EF4-FFF2-40B4-BE49-F238E27FC236}">
                  <a16:creationId xmlns:a16="http://schemas.microsoft.com/office/drawing/2014/main" id="{9BB48325-F02C-4A81-BC0F-9F537CD86F0F}"/>
                </a:ext>
              </a:extLst>
            </p:cNvPr>
            <p:cNvSpPr txBox="1"/>
            <p:nvPr/>
          </p:nvSpPr>
          <p:spPr>
            <a:xfrm>
              <a:off x="721854" y="4566516"/>
              <a:ext cx="6064873"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0x12345</a:t>
              </a:r>
            </a:p>
          </p:txBody>
        </p:sp>
        <p:sp>
          <p:nvSpPr>
            <p:cNvPr id="21" name="TextBox 20">
              <a:extLst>
                <a:ext uri="{FF2B5EF4-FFF2-40B4-BE49-F238E27FC236}">
                  <a16:creationId xmlns:a16="http://schemas.microsoft.com/office/drawing/2014/main" id="{4FEAF8A2-27BA-4970-9739-656ACC382BCE}"/>
                </a:ext>
              </a:extLst>
            </p:cNvPr>
            <p:cNvSpPr txBox="1"/>
            <p:nvPr/>
          </p:nvSpPr>
          <p:spPr>
            <a:xfrm>
              <a:off x="3540129" y="4278336"/>
              <a:ext cx="428322" cy="353943"/>
            </a:xfrm>
            <a:prstGeom prst="rect">
              <a:avLst/>
            </a:prstGeom>
            <a:noFill/>
          </p:spPr>
          <p:txBody>
            <a:bodyPr wrap="none" rtlCol="0">
              <a:spAutoFit/>
            </a:bodyPr>
            <a:lstStyle/>
            <a:p>
              <a:pPr algn="ctr"/>
              <a:r>
                <a:rPr lang="en-US" sz="1700" dirty="0"/>
                <a:t>20</a:t>
              </a:r>
            </a:p>
          </p:txBody>
        </p:sp>
      </p:grpSp>
      <p:sp>
        <p:nvSpPr>
          <p:cNvPr id="22" name="TextBox 21">
            <a:extLst>
              <a:ext uri="{FF2B5EF4-FFF2-40B4-BE49-F238E27FC236}">
                <a16:creationId xmlns:a16="http://schemas.microsoft.com/office/drawing/2014/main" id="{17BEDF1E-0091-4608-91FD-71F63DB66C4F}"/>
              </a:ext>
            </a:extLst>
          </p:cNvPr>
          <p:cNvSpPr txBox="1"/>
          <p:nvPr/>
        </p:nvSpPr>
        <p:spPr>
          <a:xfrm>
            <a:off x="1074700" y="3137748"/>
            <a:ext cx="561372" cy="461665"/>
          </a:xfrm>
          <a:prstGeom prst="rect">
            <a:avLst/>
          </a:prstGeom>
          <a:noFill/>
        </p:spPr>
        <p:txBody>
          <a:bodyPr wrap="none" rtlCol="0" anchor="ctr" anchorCtr="1">
            <a:spAutoFit/>
          </a:bodyPr>
          <a:lstStyle/>
          <a:p>
            <a:r>
              <a:rPr lang="en-US" sz="2400" dirty="0">
                <a:ea typeface="標楷體" pitchFamily="65" charset="-120"/>
                <a:cs typeface="Calibri" panose="020F0502020204030204" pitchFamily="34" charset="0"/>
              </a:rPr>
              <a:t>X1</a:t>
            </a:r>
          </a:p>
        </p:txBody>
      </p:sp>
      <p:sp>
        <p:nvSpPr>
          <p:cNvPr id="23" name="TextBox 22">
            <a:extLst>
              <a:ext uri="{FF2B5EF4-FFF2-40B4-BE49-F238E27FC236}">
                <a16:creationId xmlns:a16="http://schemas.microsoft.com/office/drawing/2014/main" id="{355A6A2A-3CF7-4C8D-B539-22852A1CB5BA}"/>
              </a:ext>
            </a:extLst>
          </p:cNvPr>
          <p:cNvSpPr txBox="1"/>
          <p:nvPr/>
        </p:nvSpPr>
        <p:spPr>
          <a:xfrm>
            <a:off x="7622554" y="3265307"/>
            <a:ext cx="428322" cy="353943"/>
          </a:xfrm>
          <a:prstGeom prst="rect">
            <a:avLst/>
          </a:prstGeom>
          <a:noFill/>
        </p:spPr>
        <p:txBody>
          <a:bodyPr wrap="none" rtlCol="0">
            <a:spAutoFit/>
          </a:bodyPr>
          <a:lstStyle/>
          <a:p>
            <a:pPr algn="ctr"/>
            <a:r>
              <a:rPr lang="en-US" sz="1700" dirty="0"/>
              <a:t>12</a:t>
            </a:r>
          </a:p>
        </p:txBody>
      </p:sp>
      <p:sp>
        <p:nvSpPr>
          <p:cNvPr id="4" name="TextBox 3">
            <a:extLst>
              <a:ext uri="{FF2B5EF4-FFF2-40B4-BE49-F238E27FC236}">
                <a16:creationId xmlns:a16="http://schemas.microsoft.com/office/drawing/2014/main" id="{F2B7D28C-97AF-4B4E-A126-AC77C0E446EC}"/>
              </a:ext>
            </a:extLst>
          </p:cNvPr>
          <p:cNvSpPr txBox="1"/>
          <p:nvPr/>
        </p:nvSpPr>
        <p:spPr>
          <a:xfrm>
            <a:off x="1074701" y="4068809"/>
            <a:ext cx="3321743" cy="461665"/>
          </a:xfrm>
          <a:prstGeom prst="rect">
            <a:avLst/>
          </a:prstGeom>
          <a:noFill/>
        </p:spPr>
        <p:txBody>
          <a:bodyPr wrap="none" rtlCol="0" anchor="ctr" anchorCtr="1">
            <a:spAutoFit/>
          </a:bodyPr>
          <a:lstStyle/>
          <a:p>
            <a:r>
              <a:rPr lang="en-US" sz="2400" dirty="0" err="1">
                <a:ea typeface="標楷體" pitchFamily="65" charset="-120"/>
                <a:cs typeface="Calibri" panose="020F0502020204030204" pitchFamily="34" charset="0"/>
              </a:rPr>
              <a:t>addi</a:t>
            </a:r>
            <a:r>
              <a:rPr lang="en-US" sz="2400" dirty="0">
                <a:ea typeface="標楷體" pitchFamily="65" charset="-120"/>
                <a:cs typeface="Calibri" panose="020F0502020204030204" pitchFamily="34" charset="0"/>
              </a:rPr>
              <a:t> x1,100000000000</a:t>
            </a:r>
          </a:p>
        </p:txBody>
      </p:sp>
      <p:sp>
        <p:nvSpPr>
          <p:cNvPr id="6" name="TextBox 5">
            <a:extLst>
              <a:ext uri="{FF2B5EF4-FFF2-40B4-BE49-F238E27FC236}">
                <a16:creationId xmlns:a16="http://schemas.microsoft.com/office/drawing/2014/main" id="{ABE99FBE-7A20-4E99-A615-D88B9B586C78}"/>
              </a:ext>
            </a:extLst>
          </p:cNvPr>
          <p:cNvSpPr txBox="1"/>
          <p:nvPr/>
        </p:nvSpPr>
        <p:spPr>
          <a:xfrm>
            <a:off x="4327769" y="4052780"/>
            <a:ext cx="7528023" cy="461665"/>
          </a:xfrm>
          <a:prstGeom prst="rect">
            <a:avLst/>
          </a:prstGeom>
          <a:noFill/>
        </p:spPr>
        <p:txBody>
          <a:bodyPr wrap="none" rtlCol="0" anchor="ctr" anchorCtr="1">
            <a:spAutoFit/>
          </a:bodyPr>
          <a:lstStyle/>
          <a:p>
            <a:r>
              <a:rPr lang="en-US" sz="2400" dirty="0">
                <a:ea typeface="標楷體" pitchFamily="65" charset="-120"/>
                <a:cs typeface="Calibri" panose="020F0502020204030204" pitchFamily="34" charset="0"/>
              </a:rPr>
              <a:t>The sign bit is on, and the immediate is sign extended</a:t>
            </a:r>
          </a:p>
        </p:txBody>
      </p:sp>
      <p:sp>
        <p:nvSpPr>
          <p:cNvPr id="24" name="TextBox 23">
            <a:extLst>
              <a:ext uri="{FF2B5EF4-FFF2-40B4-BE49-F238E27FC236}">
                <a16:creationId xmlns:a16="http://schemas.microsoft.com/office/drawing/2014/main" id="{325A0624-E0A8-43A1-A35A-E2CEFEDFDC69}"/>
              </a:ext>
            </a:extLst>
          </p:cNvPr>
          <p:cNvSpPr txBox="1"/>
          <p:nvPr/>
        </p:nvSpPr>
        <p:spPr>
          <a:xfrm>
            <a:off x="454781" y="4550706"/>
            <a:ext cx="11330819" cy="1446358"/>
          </a:xfrm>
          <a:prstGeom prst="rect">
            <a:avLst/>
          </a:prstGeom>
          <a:noFill/>
        </p:spPr>
        <p:txBody>
          <a:bodyPr wrap="square" rtlCol="0" anchor="ctr" anchorCtr="1">
            <a:spAutoFit/>
          </a:bodyPr>
          <a:lstStyle/>
          <a:p>
            <a:r>
              <a:rPr lang="en-US" sz="2133" dirty="0">
                <a:ea typeface="標楷體" pitchFamily="65" charset="-120"/>
                <a:cs typeface="Calibri" panose="020F0502020204030204" pitchFamily="34" charset="0"/>
              </a:rPr>
              <a:t>So the value becomes FFFFF8000 in the 32b temporary register !! Bad news!!</a:t>
            </a:r>
          </a:p>
          <a:p>
            <a:r>
              <a:rPr lang="en-US" sz="2133" dirty="0">
                <a:ea typeface="標楷體" pitchFamily="65" charset="-120"/>
                <a:cs typeface="Calibri" panose="020F0502020204030204" pitchFamily="34" charset="0"/>
              </a:rPr>
              <a:t>Some adjustments are needed. (</a:t>
            </a:r>
            <a:r>
              <a:rPr lang="en-US" sz="2133" i="1" dirty="0">
                <a:ea typeface="標楷體" pitchFamily="65" charset="-120"/>
                <a:cs typeface="Calibri" panose="020F0502020204030204" pitchFamily="34" charset="0"/>
              </a:rPr>
              <a:t>perhaps add 1 to 0x12345, make it to 0x12346</a:t>
            </a:r>
            <a:r>
              <a:rPr lang="en-US" sz="2133" dirty="0">
                <a:ea typeface="標楷體" pitchFamily="65" charset="-120"/>
                <a:cs typeface="Calibri" panose="020F0502020204030204" pitchFamily="34" charset="0"/>
              </a:rPr>
              <a:t>). </a:t>
            </a:r>
          </a:p>
          <a:p>
            <a:r>
              <a:rPr lang="en-US" sz="2133" dirty="0">
                <a:ea typeface="標楷體" pitchFamily="65" charset="-120"/>
                <a:cs typeface="Calibri" panose="020F0502020204030204" pitchFamily="34" charset="0"/>
              </a:rPr>
              <a:t>Don’t worry about this, just use the </a:t>
            </a:r>
          </a:p>
          <a:p>
            <a:r>
              <a:rPr lang="en-US" sz="2133" dirty="0">
                <a:solidFill>
                  <a:srgbClr val="FF0000"/>
                </a:solidFill>
                <a:ea typeface="標楷體" pitchFamily="65" charset="-120"/>
                <a:cs typeface="Calibri" panose="020F0502020204030204" pitchFamily="34" charset="0"/>
              </a:rPr>
              <a:t>Li X1, 0x12345800 </a:t>
            </a:r>
            <a:r>
              <a:rPr lang="en-US" sz="2400" b="1" dirty="0">
                <a:solidFill>
                  <a:srgbClr val="FF0000"/>
                </a:solidFill>
                <a:ea typeface="標楷體" pitchFamily="65" charset="-120"/>
                <a:cs typeface="Calibri" panose="020F0502020204030204" pitchFamily="34" charset="0"/>
              </a:rPr>
              <a:t>pseudo</a:t>
            </a:r>
            <a:r>
              <a:rPr lang="en-US" sz="2133" dirty="0">
                <a:solidFill>
                  <a:srgbClr val="FF0000"/>
                </a:solidFill>
                <a:ea typeface="標楷體" pitchFamily="65" charset="-120"/>
                <a:cs typeface="Calibri" panose="020F0502020204030204" pitchFamily="34" charset="0"/>
              </a:rPr>
              <a:t> instructions</a:t>
            </a:r>
            <a:r>
              <a:rPr lang="en-US" sz="2133" dirty="0">
                <a:ea typeface="標楷體" pitchFamily="65" charset="-120"/>
                <a:cs typeface="Calibri" panose="020F0502020204030204" pitchFamily="34" charset="0"/>
              </a:rPr>
              <a:t>, the assembler will handle the needed adjustments.</a:t>
            </a:r>
          </a:p>
        </p:txBody>
      </p:sp>
    </p:spTree>
    <p:extLst>
      <p:ext uri="{BB962C8B-B14F-4D97-AF65-F5344CB8AC3E}">
        <p14:creationId xmlns:p14="http://schemas.microsoft.com/office/powerpoint/2010/main" val="7474752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2D83093-6614-4A16-8105-9070ED2CD9BC}"/>
              </a:ext>
            </a:extLst>
          </p:cNvPr>
          <p:cNvSpPr>
            <a:spLocks noGrp="1"/>
          </p:cNvSpPr>
          <p:nvPr>
            <p:ph type="body" idx="1"/>
          </p:nvPr>
        </p:nvSpPr>
        <p:spPr>
          <a:xfrm>
            <a:off x="1140179" y="174624"/>
            <a:ext cx="10363200" cy="638177"/>
          </a:xfrm>
        </p:spPr>
        <p:txBody>
          <a:bodyPr/>
          <a:lstStyle/>
          <a:p>
            <a:r>
              <a:rPr lang="en-US" dirty="0"/>
              <a:t>Compiling two C statements into RV</a:t>
            </a:r>
          </a:p>
        </p:txBody>
      </p:sp>
      <p:sp>
        <p:nvSpPr>
          <p:cNvPr id="4" name="Slide Number Placeholder 3">
            <a:extLst>
              <a:ext uri="{FF2B5EF4-FFF2-40B4-BE49-F238E27FC236}">
                <a16:creationId xmlns:a16="http://schemas.microsoft.com/office/drawing/2014/main" id="{97D0DDAE-E632-42B4-AB7F-28A5D1F1623A}"/>
              </a:ext>
            </a:extLst>
          </p:cNvPr>
          <p:cNvSpPr>
            <a:spLocks noGrp="1"/>
          </p:cNvSpPr>
          <p:nvPr>
            <p:ph type="sldNum" sz="quarter" idx="10"/>
          </p:nvPr>
        </p:nvSpPr>
        <p:spPr/>
        <p:txBody>
          <a:bodyPr/>
          <a:lstStyle/>
          <a:p>
            <a:fld id="{D9B6BDF2-6896-4B98-8776-C18582F63BA5}" type="slidenum">
              <a:rPr lang="zh-TW" altLang="en-US" smtClean="0"/>
              <a:t>48</a:t>
            </a:fld>
            <a:endParaRPr lang="zh-TW" altLang="en-US"/>
          </a:p>
        </p:txBody>
      </p:sp>
      <p:sp>
        <p:nvSpPr>
          <p:cNvPr id="10" name="Content Placeholder 4">
            <a:extLst>
              <a:ext uri="{FF2B5EF4-FFF2-40B4-BE49-F238E27FC236}">
                <a16:creationId xmlns:a16="http://schemas.microsoft.com/office/drawing/2014/main" id="{0C29EB4F-E805-4706-8D83-529331B07198}"/>
              </a:ext>
            </a:extLst>
          </p:cNvPr>
          <p:cNvSpPr txBox="1">
            <a:spLocks/>
          </p:cNvSpPr>
          <p:nvPr/>
        </p:nvSpPr>
        <p:spPr bwMode="auto">
          <a:xfrm>
            <a:off x="598311" y="981425"/>
            <a:ext cx="11176000" cy="1150408"/>
          </a:xfrm>
          <a:prstGeom prst="rect">
            <a:avLst/>
          </a:prstGeom>
          <a:noFill/>
          <a:ln w="9525">
            <a:noFill/>
            <a:miter lim="800000"/>
          </a:ln>
        </p:spPr>
        <p:txBody>
          <a:bodyPr vert="horz" wrap="square" lIns="121920" tIns="60960" rIns="121920" bIns="60960" numCol="1" anchor="b" anchorCtr="0" compatLnSpc="1"/>
          <a:lstStyle>
            <a:lvl1pPr marL="0" indent="0" algn="l" rtl="0" eaLnBrk="1" fontAlgn="base" hangingPunct="1">
              <a:spcBef>
                <a:spcPct val="20000"/>
              </a:spcBef>
              <a:spcAft>
                <a:spcPct val="0"/>
              </a:spcAft>
              <a:buClr>
                <a:srgbClr val="8064A2"/>
              </a:buClr>
              <a:buSzPct val="80000"/>
              <a:buFont typeface="Wingdings" panose="05000000000000000000" pitchFamily="2" charset="2"/>
              <a:buNone/>
              <a:defRPr kumimoji="1" sz="2800">
                <a:solidFill>
                  <a:schemeClr val="tx1"/>
                </a:solidFill>
                <a:latin typeface="Calibri" panose="020F0502020204030204" pitchFamily="34" charset="0"/>
                <a:ea typeface="標楷體" pitchFamily="65" charset="-120"/>
                <a:cs typeface="+mn-cs"/>
              </a:defRPr>
            </a:lvl1pPr>
            <a:lvl2pPr marL="342900" indent="0" algn="l" rtl="0" eaLnBrk="1" fontAlgn="base" hangingPunct="1">
              <a:spcBef>
                <a:spcPct val="20000"/>
              </a:spcBef>
              <a:spcAft>
                <a:spcPct val="0"/>
              </a:spcAft>
              <a:buClr>
                <a:srgbClr val="8064A2"/>
              </a:buClr>
              <a:buSzPct val="90000"/>
              <a:buFont typeface="Arial" panose="020B0604020202020204" pitchFamily="34" charset="0"/>
              <a:buNone/>
              <a:defRPr kumimoji="1" sz="1350">
                <a:solidFill>
                  <a:schemeClr val="tx1"/>
                </a:solidFill>
                <a:latin typeface="Calibri" panose="020F0502020204030204" pitchFamily="34" charset="0"/>
                <a:ea typeface="標楷體" pitchFamily="65" charset="-120"/>
              </a:defRPr>
            </a:lvl2pPr>
            <a:lvl3pPr marL="685800" indent="0" algn="l" rtl="0" eaLnBrk="1" fontAlgn="base" hangingPunct="1">
              <a:spcBef>
                <a:spcPct val="20000"/>
              </a:spcBef>
              <a:spcAft>
                <a:spcPct val="0"/>
              </a:spcAft>
              <a:buNone/>
              <a:defRPr kumimoji="1" sz="1200">
                <a:solidFill>
                  <a:schemeClr val="tx1"/>
                </a:solidFill>
                <a:latin typeface="+mn-lt"/>
                <a:ea typeface="+mn-ea"/>
              </a:defRPr>
            </a:lvl3pPr>
            <a:lvl4pPr marL="1028700" indent="0" algn="l" rtl="0" eaLnBrk="1" fontAlgn="base" hangingPunct="1">
              <a:spcBef>
                <a:spcPct val="20000"/>
              </a:spcBef>
              <a:spcAft>
                <a:spcPct val="0"/>
              </a:spcAft>
              <a:buNone/>
              <a:defRPr kumimoji="1" sz="1050">
                <a:solidFill>
                  <a:schemeClr val="tx1"/>
                </a:solidFill>
                <a:latin typeface="+mn-lt"/>
                <a:ea typeface="+mn-ea"/>
              </a:defRPr>
            </a:lvl4pPr>
            <a:lvl5pPr marL="1371600" indent="0" algn="l" rtl="0" eaLnBrk="1" fontAlgn="base" hangingPunct="1">
              <a:spcBef>
                <a:spcPct val="20000"/>
              </a:spcBef>
              <a:spcAft>
                <a:spcPct val="0"/>
              </a:spcAft>
              <a:buNone/>
              <a:defRPr kumimoji="1" sz="1050">
                <a:solidFill>
                  <a:schemeClr val="tx1"/>
                </a:solidFill>
                <a:latin typeface="+mn-lt"/>
                <a:ea typeface="+mn-ea"/>
              </a:defRPr>
            </a:lvl5pPr>
            <a:lvl6pPr marL="1714500" indent="0" algn="l" rtl="0" eaLnBrk="1" fontAlgn="base" hangingPunct="1">
              <a:spcBef>
                <a:spcPct val="20000"/>
              </a:spcBef>
              <a:spcAft>
                <a:spcPct val="0"/>
              </a:spcAft>
              <a:buNone/>
              <a:defRPr kumimoji="1" sz="1050">
                <a:solidFill>
                  <a:schemeClr val="tx1"/>
                </a:solidFill>
                <a:latin typeface="+mn-lt"/>
                <a:ea typeface="+mn-ea"/>
              </a:defRPr>
            </a:lvl6pPr>
            <a:lvl7pPr marL="2057400" indent="0" algn="l" rtl="0" eaLnBrk="1" fontAlgn="base" hangingPunct="1">
              <a:spcBef>
                <a:spcPct val="20000"/>
              </a:spcBef>
              <a:spcAft>
                <a:spcPct val="0"/>
              </a:spcAft>
              <a:buNone/>
              <a:defRPr kumimoji="1" sz="1050">
                <a:solidFill>
                  <a:schemeClr val="tx1"/>
                </a:solidFill>
                <a:latin typeface="+mn-lt"/>
                <a:ea typeface="+mn-ea"/>
              </a:defRPr>
            </a:lvl7pPr>
            <a:lvl8pPr marL="2400300" indent="0" algn="l" rtl="0" eaLnBrk="1" fontAlgn="base" hangingPunct="1">
              <a:spcBef>
                <a:spcPct val="20000"/>
              </a:spcBef>
              <a:spcAft>
                <a:spcPct val="0"/>
              </a:spcAft>
              <a:buNone/>
              <a:defRPr kumimoji="1" sz="1050">
                <a:solidFill>
                  <a:schemeClr val="tx1"/>
                </a:solidFill>
                <a:latin typeface="+mn-lt"/>
                <a:ea typeface="+mn-ea"/>
              </a:defRPr>
            </a:lvl8pPr>
            <a:lvl9pPr marL="2743200" indent="0" algn="l" rtl="0" eaLnBrk="1" fontAlgn="base" hangingPunct="1">
              <a:spcBef>
                <a:spcPct val="20000"/>
              </a:spcBef>
              <a:spcAft>
                <a:spcPct val="0"/>
              </a:spcAft>
              <a:buNone/>
              <a:defRPr kumimoji="1" sz="1050">
                <a:solidFill>
                  <a:schemeClr val="tx1"/>
                </a:solidFill>
                <a:latin typeface="+mn-lt"/>
                <a:ea typeface="+mn-ea"/>
              </a:defRPr>
            </a:lvl9pPr>
          </a:lstStyle>
          <a:p>
            <a:r>
              <a:rPr lang="en-US" sz="3200" kern="0" dirty="0"/>
              <a:t>Example: </a:t>
            </a:r>
          </a:p>
          <a:p>
            <a:r>
              <a:rPr lang="en-US" sz="3200" kern="0" dirty="0"/>
              <a:t>1) a = b + c; d = a – e;		2) f = (</a:t>
            </a:r>
            <a:r>
              <a:rPr lang="en-US" sz="3200" kern="0" dirty="0" err="1"/>
              <a:t>g+h</a:t>
            </a:r>
            <a:r>
              <a:rPr lang="en-US" sz="3200" kern="0" dirty="0"/>
              <a:t>) – (</a:t>
            </a:r>
            <a:r>
              <a:rPr lang="en-US" sz="3200" kern="0" dirty="0" err="1"/>
              <a:t>i+j</a:t>
            </a:r>
            <a:r>
              <a:rPr lang="en-US" sz="3200" kern="0" dirty="0"/>
              <a:t>)</a:t>
            </a:r>
          </a:p>
        </p:txBody>
      </p:sp>
      <p:sp>
        <p:nvSpPr>
          <p:cNvPr id="11" name="Content Placeholder 4">
            <a:extLst>
              <a:ext uri="{FF2B5EF4-FFF2-40B4-BE49-F238E27FC236}">
                <a16:creationId xmlns:a16="http://schemas.microsoft.com/office/drawing/2014/main" id="{85FA1443-90D2-4C20-BA6D-7EA3589278E3}"/>
              </a:ext>
            </a:extLst>
          </p:cNvPr>
          <p:cNvSpPr txBox="1">
            <a:spLocks/>
          </p:cNvSpPr>
          <p:nvPr/>
        </p:nvSpPr>
        <p:spPr bwMode="auto">
          <a:xfrm>
            <a:off x="598311" y="2181460"/>
            <a:ext cx="11176000" cy="1646060"/>
          </a:xfrm>
          <a:prstGeom prst="rect">
            <a:avLst/>
          </a:prstGeom>
          <a:noFill/>
          <a:ln w="9525">
            <a:noFill/>
            <a:miter lim="800000"/>
          </a:ln>
        </p:spPr>
        <p:txBody>
          <a:bodyPr vert="horz" wrap="square" lIns="121920" tIns="60960" rIns="121920" bIns="60960" numCol="1" anchor="b" anchorCtr="0" compatLnSpc="1"/>
          <a:lstStyle>
            <a:lvl1pPr marL="0" indent="0" algn="l" rtl="0" eaLnBrk="1" fontAlgn="base" hangingPunct="1">
              <a:spcBef>
                <a:spcPct val="20000"/>
              </a:spcBef>
              <a:spcAft>
                <a:spcPct val="0"/>
              </a:spcAft>
              <a:buClr>
                <a:srgbClr val="8064A2"/>
              </a:buClr>
              <a:buSzPct val="80000"/>
              <a:buFont typeface="Wingdings" panose="05000000000000000000" pitchFamily="2" charset="2"/>
              <a:buNone/>
              <a:defRPr kumimoji="1" sz="2800">
                <a:solidFill>
                  <a:schemeClr val="tx1"/>
                </a:solidFill>
                <a:latin typeface="Calibri" panose="020F0502020204030204" pitchFamily="34" charset="0"/>
                <a:ea typeface="標楷體" pitchFamily="65" charset="-120"/>
                <a:cs typeface="+mn-cs"/>
              </a:defRPr>
            </a:lvl1pPr>
            <a:lvl2pPr marL="342900" indent="0" algn="l" rtl="0" eaLnBrk="1" fontAlgn="base" hangingPunct="1">
              <a:spcBef>
                <a:spcPct val="20000"/>
              </a:spcBef>
              <a:spcAft>
                <a:spcPct val="0"/>
              </a:spcAft>
              <a:buClr>
                <a:srgbClr val="8064A2"/>
              </a:buClr>
              <a:buSzPct val="90000"/>
              <a:buFont typeface="Arial" panose="020B0604020202020204" pitchFamily="34" charset="0"/>
              <a:buNone/>
              <a:defRPr kumimoji="1" sz="1350">
                <a:solidFill>
                  <a:schemeClr val="tx1"/>
                </a:solidFill>
                <a:latin typeface="Calibri" panose="020F0502020204030204" pitchFamily="34" charset="0"/>
                <a:ea typeface="標楷體" pitchFamily="65" charset="-120"/>
              </a:defRPr>
            </a:lvl2pPr>
            <a:lvl3pPr marL="685800" indent="0" algn="l" rtl="0" eaLnBrk="1" fontAlgn="base" hangingPunct="1">
              <a:spcBef>
                <a:spcPct val="20000"/>
              </a:spcBef>
              <a:spcAft>
                <a:spcPct val="0"/>
              </a:spcAft>
              <a:buNone/>
              <a:defRPr kumimoji="1" sz="1200">
                <a:solidFill>
                  <a:schemeClr val="tx1"/>
                </a:solidFill>
                <a:latin typeface="+mn-lt"/>
                <a:ea typeface="+mn-ea"/>
              </a:defRPr>
            </a:lvl3pPr>
            <a:lvl4pPr marL="1028700" indent="0" algn="l" rtl="0" eaLnBrk="1" fontAlgn="base" hangingPunct="1">
              <a:spcBef>
                <a:spcPct val="20000"/>
              </a:spcBef>
              <a:spcAft>
                <a:spcPct val="0"/>
              </a:spcAft>
              <a:buNone/>
              <a:defRPr kumimoji="1" sz="1050">
                <a:solidFill>
                  <a:schemeClr val="tx1"/>
                </a:solidFill>
                <a:latin typeface="+mn-lt"/>
                <a:ea typeface="+mn-ea"/>
              </a:defRPr>
            </a:lvl4pPr>
            <a:lvl5pPr marL="1371600" indent="0" algn="l" rtl="0" eaLnBrk="1" fontAlgn="base" hangingPunct="1">
              <a:spcBef>
                <a:spcPct val="20000"/>
              </a:spcBef>
              <a:spcAft>
                <a:spcPct val="0"/>
              </a:spcAft>
              <a:buNone/>
              <a:defRPr kumimoji="1" sz="1050">
                <a:solidFill>
                  <a:schemeClr val="tx1"/>
                </a:solidFill>
                <a:latin typeface="+mn-lt"/>
                <a:ea typeface="+mn-ea"/>
              </a:defRPr>
            </a:lvl5pPr>
            <a:lvl6pPr marL="1714500" indent="0" algn="l" rtl="0" eaLnBrk="1" fontAlgn="base" hangingPunct="1">
              <a:spcBef>
                <a:spcPct val="20000"/>
              </a:spcBef>
              <a:spcAft>
                <a:spcPct val="0"/>
              </a:spcAft>
              <a:buNone/>
              <a:defRPr kumimoji="1" sz="1050">
                <a:solidFill>
                  <a:schemeClr val="tx1"/>
                </a:solidFill>
                <a:latin typeface="+mn-lt"/>
                <a:ea typeface="+mn-ea"/>
              </a:defRPr>
            </a:lvl6pPr>
            <a:lvl7pPr marL="2057400" indent="0" algn="l" rtl="0" eaLnBrk="1" fontAlgn="base" hangingPunct="1">
              <a:spcBef>
                <a:spcPct val="20000"/>
              </a:spcBef>
              <a:spcAft>
                <a:spcPct val="0"/>
              </a:spcAft>
              <a:buNone/>
              <a:defRPr kumimoji="1" sz="1050">
                <a:solidFill>
                  <a:schemeClr val="tx1"/>
                </a:solidFill>
                <a:latin typeface="+mn-lt"/>
                <a:ea typeface="+mn-ea"/>
              </a:defRPr>
            </a:lvl7pPr>
            <a:lvl8pPr marL="2400300" indent="0" algn="l" rtl="0" eaLnBrk="1" fontAlgn="base" hangingPunct="1">
              <a:spcBef>
                <a:spcPct val="20000"/>
              </a:spcBef>
              <a:spcAft>
                <a:spcPct val="0"/>
              </a:spcAft>
              <a:buNone/>
              <a:defRPr kumimoji="1" sz="1050">
                <a:solidFill>
                  <a:schemeClr val="tx1"/>
                </a:solidFill>
                <a:latin typeface="+mn-lt"/>
                <a:ea typeface="+mn-ea"/>
              </a:defRPr>
            </a:lvl8pPr>
            <a:lvl9pPr marL="2743200" indent="0" algn="l" rtl="0" eaLnBrk="1" fontAlgn="base" hangingPunct="1">
              <a:spcBef>
                <a:spcPct val="20000"/>
              </a:spcBef>
              <a:spcAft>
                <a:spcPct val="0"/>
              </a:spcAft>
              <a:buNone/>
              <a:defRPr kumimoji="1" sz="1050">
                <a:solidFill>
                  <a:schemeClr val="tx1"/>
                </a:solidFill>
                <a:latin typeface="+mn-lt"/>
                <a:ea typeface="+mn-ea"/>
              </a:defRPr>
            </a:lvl9pPr>
          </a:lstStyle>
          <a:p>
            <a:r>
              <a:rPr lang="en-US" sz="3200" kern="0" dirty="0"/>
              <a:t>add a, b, c				add t0, g, h</a:t>
            </a:r>
          </a:p>
          <a:p>
            <a:r>
              <a:rPr lang="en-US" sz="3200" kern="0" dirty="0"/>
              <a:t>sub d, a, e 				add t1, </a:t>
            </a:r>
            <a:r>
              <a:rPr lang="en-US" sz="3200" kern="0" dirty="0" err="1"/>
              <a:t>i</a:t>
            </a:r>
            <a:r>
              <a:rPr lang="en-US" sz="3200" kern="0" dirty="0"/>
              <a:t>, j</a:t>
            </a:r>
          </a:p>
          <a:p>
            <a:r>
              <a:rPr lang="en-US" sz="3200" kern="0" dirty="0"/>
              <a:t>					sub f, t0, t1</a:t>
            </a:r>
          </a:p>
        </p:txBody>
      </p:sp>
      <p:sp>
        <p:nvSpPr>
          <p:cNvPr id="12" name="Content Placeholder 4">
            <a:extLst>
              <a:ext uri="{FF2B5EF4-FFF2-40B4-BE49-F238E27FC236}">
                <a16:creationId xmlns:a16="http://schemas.microsoft.com/office/drawing/2014/main" id="{CCC981E5-6904-458A-8E3C-8249711668D1}"/>
              </a:ext>
            </a:extLst>
          </p:cNvPr>
          <p:cNvSpPr txBox="1">
            <a:spLocks/>
          </p:cNvSpPr>
          <p:nvPr/>
        </p:nvSpPr>
        <p:spPr bwMode="auto">
          <a:xfrm>
            <a:off x="598311" y="4526497"/>
            <a:ext cx="11176000" cy="1646060"/>
          </a:xfrm>
          <a:prstGeom prst="rect">
            <a:avLst/>
          </a:prstGeom>
          <a:noFill/>
          <a:ln w="9525">
            <a:noFill/>
            <a:miter lim="800000"/>
          </a:ln>
        </p:spPr>
        <p:txBody>
          <a:bodyPr vert="horz" wrap="square" lIns="121920" tIns="60960" rIns="121920" bIns="60960" numCol="1" anchor="b" anchorCtr="0" compatLnSpc="1"/>
          <a:lstStyle>
            <a:lvl1pPr marL="0" indent="0" algn="l" rtl="0" eaLnBrk="1" fontAlgn="base" hangingPunct="1">
              <a:spcBef>
                <a:spcPct val="20000"/>
              </a:spcBef>
              <a:spcAft>
                <a:spcPct val="0"/>
              </a:spcAft>
              <a:buClr>
                <a:srgbClr val="8064A2"/>
              </a:buClr>
              <a:buSzPct val="80000"/>
              <a:buFont typeface="Wingdings" panose="05000000000000000000" pitchFamily="2" charset="2"/>
              <a:buNone/>
              <a:defRPr kumimoji="1" sz="2800">
                <a:solidFill>
                  <a:schemeClr val="tx1"/>
                </a:solidFill>
                <a:latin typeface="Calibri" panose="020F0502020204030204" pitchFamily="34" charset="0"/>
                <a:ea typeface="標楷體" pitchFamily="65" charset="-120"/>
                <a:cs typeface="+mn-cs"/>
              </a:defRPr>
            </a:lvl1pPr>
            <a:lvl2pPr marL="342900" indent="0" algn="l" rtl="0" eaLnBrk="1" fontAlgn="base" hangingPunct="1">
              <a:spcBef>
                <a:spcPct val="20000"/>
              </a:spcBef>
              <a:spcAft>
                <a:spcPct val="0"/>
              </a:spcAft>
              <a:buClr>
                <a:srgbClr val="8064A2"/>
              </a:buClr>
              <a:buSzPct val="90000"/>
              <a:buFont typeface="Arial" panose="020B0604020202020204" pitchFamily="34" charset="0"/>
              <a:buNone/>
              <a:defRPr kumimoji="1" sz="1350">
                <a:solidFill>
                  <a:schemeClr val="tx1"/>
                </a:solidFill>
                <a:latin typeface="Calibri" panose="020F0502020204030204" pitchFamily="34" charset="0"/>
                <a:ea typeface="標楷體" pitchFamily="65" charset="-120"/>
              </a:defRPr>
            </a:lvl2pPr>
            <a:lvl3pPr marL="685800" indent="0" algn="l" rtl="0" eaLnBrk="1" fontAlgn="base" hangingPunct="1">
              <a:spcBef>
                <a:spcPct val="20000"/>
              </a:spcBef>
              <a:spcAft>
                <a:spcPct val="0"/>
              </a:spcAft>
              <a:buNone/>
              <a:defRPr kumimoji="1" sz="1200">
                <a:solidFill>
                  <a:schemeClr val="tx1"/>
                </a:solidFill>
                <a:latin typeface="+mn-lt"/>
                <a:ea typeface="+mn-ea"/>
              </a:defRPr>
            </a:lvl3pPr>
            <a:lvl4pPr marL="1028700" indent="0" algn="l" rtl="0" eaLnBrk="1" fontAlgn="base" hangingPunct="1">
              <a:spcBef>
                <a:spcPct val="20000"/>
              </a:spcBef>
              <a:spcAft>
                <a:spcPct val="0"/>
              </a:spcAft>
              <a:buNone/>
              <a:defRPr kumimoji="1" sz="1050">
                <a:solidFill>
                  <a:schemeClr val="tx1"/>
                </a:solidFill>
                <a:latin typeface="+mn-lt"/>
                <a:ea typeface="+mn-ea"/>
              </a:defRPr>
            </a:lvl4pPr>
            <a:lvl5pPr marL="1371600" indent="0" algn="l" rtl="0" eaLnBrk="1" fontAlgn="base" hangingPunct="1">
              <a:spcBef>
                <a:spcPct val="20000"/>
              </a:spcBef>
              <a:spcAft>
                <a:spcPct val="0"/>
              </a:spcAft>
              <a:buNone/>
              <a:defRPr kumimoji="1" sz="1050">
                <a:solidFill>
                  <a:schemeClr val="tx1"/>
                </a:solidFill>
                <a:latin typeface="+mn-lt"/>
                <a:ea typeface="+mn-ea"/>
              </a:defRPr>
            </a:lvl5pPr>
            <a:lvl6pPr marL="1714500" indent="0" algn="l" rtl="0" eaLnBrk="1" fontAlgn="base" hangingPunct="1">
              <a:spcBef>
                <a:spcPct val="20000"/>
              </a:spcBef>
              <a:spcAft>
                <a:spcPct val="0"/>
              </a:spcAft>
              <a:buNone/>
              <a:defRPr kumimoji="1" sz="1050">
                <a:solidFill>
                  <a:schemeClr val="tx1"/>
                </a:solidFill>
                <a:latin typeface="+mn-lt"/>
                <a:ea typeface="+mn-ea"/>
              </a:defRPr>
            </a:lvl6pPr>
            <a:lvl7pPr marL="2057400" indent="0" algn="l" rtl="0" eaLnBrk="1" fontAlgn="base" hangingPunct="1">
              <a:spcBef>
                <a:spcPct val="20000"/>
              </a:spcBef>
              <a:spcAft>
                <a:spcPct val="0"/>
              </a:spcAft>
              <a:buNone/>
              <a:defRPr kumimoji="1" sz="1050">
                <a:solidFill>
                  <a:schemeClr val="tx1"/>
                </a:solidFill>
                <a:latin typeface="+mn-lt"/>
                <a:ea typeface="+mn-ea"/>
              </a:defRPr>
            </a:lvl7pPr>
            <a:lvl8pPr marL="2400300" indent="0" algn="l" rtl="0" eaLnBrk="1" fontAlgn="base" hangingPunct="1">
              <a:spcBef>
                <a:spcPct val="20000"/>
              </a:spcBef>
              <a:spcAft>
                <a:spcPct val="0"/>
              </a:spcAft>
              <a:buNone/>
              <a:defRPr kumimoji="1" sz="1050">
                <a:solidFill>
                  <a:schemeClr val="tx1"/>
                </a:solidFill>
                <a:latin typeface="+mn-lt"/>
                <a:ea typeface="+mn-ea"/>
              </a:defRPr>
            </a:lvl8pPr>
            <a:lvl9pPr marL="2743200" indent="0" algn="l" rtl="0" eaLnBrk="1" fontAlgn="base" hangingPunct="1">
              <a:spcBef>
                <a:spcPct val="20000"/>
              </a:spcBef>
              <a:spcAft>
                <a:spcPct val="0"/>
              </a:spcAft>
              <a:buNone/>
              <a:defRPr kumimoji="1" sz="1050">
                <a:solidFill>
                  <a:schemeClr val="tx1"/>
                </a:solidFill>
                <a:latin typeface="+mn-lt"/>
                <a:ea typeface="+mn-ea"/>
              </a:defRPr>
            </a:lvl9pPr>
          </a:lstStyle>
          <a:p>
            <a:r>
              <a:rPr lang="en-US" sz="3200" kern="0" dirty="0"/>
              <a:t>add x1, x2, x3			add x5, x20, x21</a:t>
            </a:r>
          </a:p>
          <a:p>
            <a:r>
              <a:rPr lang="en-US" sz="3200" kern="0" dirty="0"/>
              <a:t>sub x4, x1, x5 			add x6, x22, x23</a:t>
            </a:r>
          </a:p>
          <a:p>
            <a:r>
              <a:rPr lang="en-US" sz="3200" kern="0" dirty="0"/>
              <a:t>					sub x19, x5, x6</a:t>
            </a:r>
          </a:p>
        </p:txBody>
      </p:sp>
      <p:sp>
        <p:nvSpPr>
          <p:cNvPr id="13" name="TextBox 12">
            <a:extLst>
              <a:ext uri="{FF2B5EF4-FFF2-40B4-BE49-F238E27FC236}">
                <a16:creationId xmlns:a16="http://schemas.microsoft.com/office/drawing/2014/main" id="{2E35211B-DD24-4F12-8CDA-9D49D292F5E7}"/>
              </a:ext>
            </a:extLst>
          </p:cNvPr>
          <p:cNvSpPr txBox="1"/>
          <p:nvPr/>
        </p:nvSpPr>
        <p:spPr>
          <a:xfrm>
            <a:off x="9144995" y="1590005"/>
            <a:ext cx="1391728" cy="1938992"/>
          </a:xfrm>
          <a:prstGeom prst="rect">
            <a:avLst/>
          </a:prstGeom>
          <a:noFill/>
        </p:spPr>
        <p:txBody>
          <a:bodyPr wrap="none" rtlCol="0" anchor="ctr" anchorCtr="1">
            <a:spAutoFit/>
          </a:bodyPr>
          <a:lstStyle/>
          <a:p>
            <a:r>
              <a:rPr lang="en-US" sz="2400" dirty="0">
                <a:ea typeface="標楷體" pitchFamily="65" charset="-120"/>
                <a:cs typeface="Calibri" panose="020F0502020204030204" pitchFamily="34" charset="0"/>
              </a:rPr>
              <a:t>f  </a:t>
            </a:r>
            <a:r>
              <a:rPr lang="en-US" sz="2400" dirty="0">
                <a:ea typeface="標楷體" pitchFamily="65" charset="-120"/>
                <a:cs typeface="Calibri" panose="020F0502020204030204" pitchFamily="34" charset="0"/>
                <a:sym typeface="Wingdings" panose="05000000000000000000" pitchFamily="2" charset="2"/>
              </a:rPr>
              <a:t> x19</a:t>
            </a:r>
          </a:p>
          <a:p>
            <a:r>
              <a:rPr lang="en-US" sz="2400" dirty="0">
                <a:ea typeface="標楷體" pitchFamily="65" charset="-120"/>
                <a:cs typeface="Calibri" panose="020F0502020204030204" pitchFamily="34" charset="0"/>
                <a:sym typeface="Wingdings" panose="05000000000000000000" pitchFamily="2" charset="2"/>
              </a:rPr>
              <a:t>g  x20</a:t>
            </a:r>
          </a:p>
          <a:p>
            <a:r>
              <a:rPr lang="en-US" sz="2400" dirty="0">
                <a:ea typeface="標楷體" pitchFamily="65" charset="-120"/>
                <a:cs typeface="Calibri" panose="020F0502020204030204" pitchFamily="34" charset="0"/>
                <a:sym typeface="Wingdings" panose="05000000000000000000" pitchFamily="2" charset="2"/>
              </a:rPr>
              <a:t>h  x21</a:t>
            </a:r>
          </a:p>
          <a:p>
            <a:r>
              <a:rPr lang="en-US" sz="2400" dirty="0" err="1">
                <a:ea typeface="標楷體" pitchFamily="65" charset="-120"/>
                <a:cs typeface="Calibri" panose="020F0502020204030204" pitchFamily="34" charset="0"/>
                <a:sym typeface="Wingdings" panose="05000000000000000000" pitchFamily="2" charset="2"/>
              </a:rPr>
              <a:t>i</a:t>
            </a:r>
            <a:r>
              <a:rPr lang="en-US" sz="2400" dirty="0">
                <a:ea typeface="標楷體" pitchFamily="65" charset="-120"/>
                <a:cs typeface="Calibri" panose="020F0502020204030204" pitchFamily="34" charset="0"/>
                <a:sym typeface="Wingdings" panose="05000000000000000000" pitchFamily="2" charset="2"/>
              </a:rPr>
              <a:t>    x22</a:t>
            </a:r>
          </a:p>
          <a:p>
            <a:r>
              <a:rPr lang="en-US" sz="2400" dirty="0">
                <a:ea typeface="標楷體" pitchFamily="65" charset="-120"/>
                <a:cs typeface="Calibri" panose="020F0502020204030204" pitchFamily="34" charset="0"/>
              </a:rPr>
              <a:t>J </a:t>
            </a:r>
            <a:r>
              <a:rPr lang="en-US" sz="2400" dirty="0">
                <a:ea typeface="標楷體" pitchFamily="65" charset="-120"/>
                <a:cs typeface="Calibri" panose="020F0502020204030204" pitchFamily="34" charset="0"/>
                <a:sym typeface="Wingdings" panose="05000000000000000000" pitchFamily="2" charset="2"/>
              </a:rPr>
              <a:t>  x23</a:t>
            </a:r>
            <a:endParaRPr lang="en-US" sz="2400" dirty="0">
              <a:ea typeface="標楷體" pitchFamily="65" charset="-120"/>
              <a:cs typeface="Calibri" panose="020F0502020204030204" pitchFamily="34" charset="0"/>
            </a:endParaRPr>
          </a:p>
        </p:txBody>
      </p:sp>
      <p:sp>
        <p:nvSpPr>
          <p:cNvPr id="2" name="TextBox 1">
            <a:extLst>
              <a:ext uri="{FF2B5EF4-FFF2-40B4-BE49-F238E27FC236}">
                <a16:creationId xmlns:a16="http://schemas.microsoft.com/office/drawing/2014/main" id="{63156250-5129-4BEA-90EB-25B96B2AD387}"/>
              </a:ext>
            </a:extLst>
          </p:cNvPr>
          <p:cNvSpPr txBox="1"/>
          <p:nvPr/>
        </p:nvSpPr>
        <p:spPr>
          <a:xfrm>
            <a:off x="8847629" y="4447936"/>
            <a:ext cx="2491388" cy="1405256"/>
          </a:xfrm>
          <a:prstGeom prst="rect">
            <a:avLst/>
          </a:prstGeom>
          <a:solidFill>
            <a:srgbClr val="FFFF00"/>
          </a:solidFill>
          <a:ln>
            <a:solidFill>
              <a:srgbClr val="FF0000"/>
            </a:solidFill>
          </a:ln>
        </p:spPr>
        <p:txBody>
          <a:bodyPr wrap="none" rtlCol="0" anchor="ctr" anchorCtr="1">
            <a:spAutoFit/>
          </a:bodyPr>
          <a:lstStyle/>
          <a:p>
            <a:r>
              <a:rPr lang="en-US" sz="2133" dirty="0">
                <a:ea typeface="標楷體" pitchFamily="65" charset="-120"/>
                <a:cs typeface="Calibri" panose="020F0502020204030204" pitchFamily="34" charset="0"/>
              </a:rPr>
              <a:t>Note that registers </a:t>
            </a:r>
          </a:p>
          <a:p>
            <a:r>
              <a:rPr lang="en-US" sz="2133" dirty="0">
                <a:ea typeface="標楷體" pitchFamily="65" charset="-120"/>
                <a:cs typeface="Calibri" panose="020F0502020204030204" pitchFamily="34" charset="0"/>
              </a:rPr>
              <a:t>can be allocated to</a:t>
            </a:r>
          </a:p>
          <a:p>
            <a:r>
              <a:rPr lang="en-US" sz="2133" dirty="0">
                <a:ea typeface="標楷體" pitchFamily="65" charset="-120"/>
                <a:cs typeface="Calibri" panose="020F0502020204030204" pitchFamily="34" charset="0"/>
              </a:rPr>
              <a:t>scalar variables or</a:t>
            </a:r>
          </a:p>
          <a:p>
            <a:r>
              <a:rPr lang="en-US" sz="2133" dirty="0">
                <a:ea typeface="標楷體" pitchFamily="65" charset="-120"/>
                <a:cs typeface="Calibri" panose="020F0502020204030204" pitchFamily="34" charset="0"/>
              </a:rPr>
              <a:t>temporaries.</a:t>
            </a:r>
          </a:p>
        </p:txBody>
      </p:sp>
      <p:sp>
        <p:nvSpPr>
          <p:cNvPr id="5" name="Arrow: Down 4">
            <a:extLst>
              <a:ext uri="{FF2B5EF4-FFF2-40B4-BE49-F238E27FC236}">
                <a16:creationId xmlns:a16="http://schemas.microsoft.com/office/drawing/2014/main" id="{4C396A7B-C8FD-48DD-966E-32D06EB71E76}"/>
              </a:ext>
            </a:extLst>
          </p:cNvPr>
          <p:cNvSpPr/>
          <p:nvPr/>
        </p:nvSpPr>
        <p:spPr bwMode="auto">
          <a:xfrm>
            <a:off x="1335406" y="3238500"/>
            <a:ext cx="626744" cy="1081883"/>
          </a:xfrm>
          <a:prstGeom prst="down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4" name="Arrow: Down 13">
            <a:extLst>
              <a:ext uri="{FF2B5EF4-FFF2-40B4-BE49-F238E27FC236}">
                <a16:creationId xmlns:a16="http://schemas.microsoft.com/office/drawing/2014/main" id="{8473AAC1-8B0A-41EB-8EE8-4B9D98ED2A0C}"/>
              </a:ext>
            </a:extLst>
          </p:cNvPr>
          <p:cNvSpPr/>
          <p:nvPr/>
        </p:nvSpPr>
        <p:spPr bwMode="auto">
          <a:xfrm>
            <a:off x="6086475" y="3823364"/>
            <a:ext cx="626744" cy="747728"/>
          </a:xfrm>
          <a:prstGeom prst="down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Tree>
    <p:extLst>
      <p:ext uri="{BB962C8B-B14F-4D97-AF65-F5344CB8AC3E}">
        <p14:creationId xmlns:p14="http://schemas.microsoft.com/office/powerpoint/2010/main" val="1148590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2D83093-6614-4A16-8105-9070ED2CD9BC}"/>
              </a:ext>
            </a:extLst>
          </p:cNvPr>
          <p:cNvSpPr>
            <a:spLocks noGrp="1"/>
          </p:cNvSpPr>
          <p:nvPr>
            <p:ph type="body" idx="1"/>
          </p:nvPr>
        </p:nvSpPr>
        <p:spPr>
          <a:xfrm>
            <a:off x="1140179" y="174624"/>
            <a:ext cx="10363200" cy="638177"/>
          </a:xfrm>
        </p:spPr>
        <p:txBody>
          <a:bodyPr/>
          <a:lstStyle/>
          <a:p>
            <a:r>
              <a:rPr lang="en-US" dirty="0"/>
              <a:t>Memory Operands</a:t>
            </a:r>
          </a:p>
        </p:txBody>
      </p:sp>
      <p:sp>
        <p:nvSpPr>
          <p:cNvPr id="4" name="Slide Number Placeholder 3">
            <a:extLst>
              <a:ext uri="{FF2B5EF4-FFF2-40B4-BE49-F238E27FC236}">
                <a16:creationId xmlns:a16="http://schemas.microsoft.com/office/drawing/2014/main" id="{97D0DDAE-E632-42B4-AB7F-28A5D1F1623A}"/>
              </a:ext>
            </a:extLst>
          </p:cNvPr>
          <p:cNvSpPr>
            <a:spLocks noGrp="1"/>
          </p:cNvSpPr>
          <p:nvPr>
            <p:ph type="sldNum" sz="quarter" idx="10"/>
          </p:nvPr>
        </p:nvSpPr>
        <p:spPr/>
        <p:txBody>
          <a:bodyPr/>
          <a:lstStyle/>
          <a:p>
            <a:fld id="{D9B6BDF2-6896-4B98-8776-C18582F63BA5}" type="slidenum">
              <a:rPr lang="zh-TW" altLang="en-US" smtClean="0"/>
              <a:t>49</a:t>
            </a:fld>
            <a:endParaRPr lang="zh-TW" altLang="en-US"/>
          </a:p>
        </p:txBody>
      </p:sp>
      <p:sp>
        <p:nvSpPr>
          <p:cNvPr id="8" name="Content Placeholder 2">
            <a:extLst>
              <a:ext uri="{FF2B5EF4-FFF2-40B4-BE49-F238E27FC236}">
                <a16:creationId xmlns:a16="http://schemas.microsoft.com/office/drawing/2014/main" id="{73B5A2CD-D338-4458-969D-09E90B8A5D3A}"/>
              </a:ext>
            </a:extLst>
          </p:cNvPr>
          <p:cNvSpPr txBox="1">
            <a:spLocks/>
          </p:cNvSpPr>
          <p:nvPr/>
        </p:nvSpPr>
        <p:spPr bwMode="auto">
          <a:xfrm>
            <a:off x="530578" y="1128891"/>
            <a:ext cx="10566399" cy="5395739"/>
          </a:xfrm>
          <a:prstGeom prst="rect">
            <a:avLst/>
          </a:prstGeom>
          <a:noFill/>
          <a:ln w="9525">
            <a:noFill/>
            <a:miter lim="800000"/>
          </a:ln>
        </p:spPr>
        <p:txBody>
          <a:bodyPr vert="horz" wrap="square" lIns="121920" tIns="60960" rIns="121920" bIns="60960" numCol="1" anchor="b" anchorCtr="0" compatLnSpc="1"/>
          <a:lstStyle>
            <a:lvl1pPr marL="0" indent="0" algn="l" rtl="0" eaLnBrk="1" fontAlgn="base" hangingPunct="1">
              <a:spcBef>
                <a:spcPct val="20000"/>
              </a:spcBef>
              <a:spcAft>
                <a:spcPct val="0"/>
              </a:spcAft>
              <a:buClr>
                <a:srgbClr val="8064A2"/>
              </a:buClr>
              <a:buSzPct val="80000"/>
              <a:buFont typeface="Wingdings" panose="05000000000000000000" pitchFamily="2" charset="2"/>
              <a:buNone/>
              <a:defRPr kumimoji="1" sz="2800">
                <a:solidFill>
                  <a:schemeClr val="tx1"/>
                </a:solidFill>
                <a:latin typeface="Calibri" panose="020F0502020204030204" pitchFamily="34" charset="0"/>
                <a:ea typeface="標楷體" pitchFamily="65" charset="-120"/>
                <a:cs typeface="+mn-cs"/>
              </a:defRPr>
            </a:lvl1pPr>
            <a:lvl2pPr marL="342900" indent="0" algn="l" rtl="0" eaLnBrk="1" fontAlgn="base" hangingPunct="1">
              <a:spcBef>
                <a:spcPct val="20000"/>
              </a:spcBef>
              <a:spcAft>
                <a:spcPct val="0"/>
              </a:spcAft>
              <a:buClr>
                <a:srgbClr val="8064A2"/>
              </a:buClr>
              <a:buSzPct val="90000"/>
              <a:buFont typeface="Arial" panose="020B0604020202020204" pitchFamily="34" charset="0"/>
              <a:buNone/>
              <a:defRPr kumimoji="1" sz="1350">
                <a:solidFill>
                  <a:schemeClr val="tx1"/>
                </a:solidFill>
                <a:latin typeface="Calibri" panose="020F0502020204030204" pitchFamily="34" charset="0"/>
                <a:ea typeface="標楷體" pitchFamily="65" charset="-120"/>
              </a:defRPr>
            </a:lvl2pPr>
            <a:lvl3pPr marL="685800" indent="0" algn="l" rtl="0" eaLnBrk="1" fontAlgn="base" hangingPunct="1">
              <a:spcBef>
                <a:spcPct val="20000"/>
              </a:spcBef>
              <a:spcAft>
                <a:spcPct val="0"/>
              </a:spcAft>
              <a:buNone/>
              <a:defRPr kumimoji="1" sz="1200">
                <a:solidFill>
                  <a:schemeClr val="tx1"/>
                </a:solidFill>
                <a:latin typeface="+mn-lt"/>
                <a:ea typeface="+mn-ea"/>
              </a:defRPr>
            </a:lvl3pPr>
            <a:lvl4pPr marL="1028700" indent="0" algn="l" rtl="0" eaLnBrk="1" fontAlgn="base" hangingPunct="1">
              <a:spcBef>
                <a:spcPct val="20000"/>
              </a:spcBef>
              <a:spcAft>
                <a:spcPct val="0"/>
              </a:spcAft>
              <a:buNone/>
              <a:defRPr kumimoji="1" sz="1050">
                <a:solidFill>
                  <a:schemeClr val="tx1"/>
                </a:solidFill>
                <a:latin typeface="+mn-lt"/>
                <a:ea typeface="+mn-ea"/>
              </a:defRPr>
            </a:lvl4pPr>
            <a:lvl5pPr marL="1371600" indent="0" algn="l" rtl="0" eaLnBrk="1" fontAlgn="base" hangingPunct="1">
              <a:spcBef>
                <a:spcPct val="20000"/>
              </a:spcBef>
              <a:spcAft>
                <a:spcPct val="0"/>
              </a:spcAft>
              <a:buNone/>
              <a:defRPr kumimoji="1" sz="1050">
                <a:solidFill>
                  <a:schemeClr val="tx1"/>
                </a:solidFill>
                <a:latin typeface="+mn-lt"/>
                <a:ea typeface="+mn-ea"/>
              </a:defRPr>
            </a:lvl5pPr>
            <a:lvl6pPr marL="1714500" indent="0" algn="l" rtl="0" eaLnBrk="1" fontAlgn="base" hangingPunct="1">
              <a:spcBef>
                <a:spcPct val="20000"/>
              </a:spcBef>
              <a:spcAft>
                <a:spcPct val="0"/>
              </a:spcAft>
              <a:buNone/>
              <a:defRPr kumimoji="1" sz="1050">
                <a:solidFill>
                  <a:schemeClr val="tx1"/>
                </a:solidFill>
                <a:latin typeface="+mn-lt"/>
                <a:ea typeface="+mn-ea"/>
              </a:defRPr>
            </a:lvl6pPr>
            <a:lvl7pPr marL="2057400" indent="0" algn="l" rtl="0" eaLnBrk="1" fontAlgn="base" hangingPunct="1">
              <a:spcBef>
                <a:spcPct val="20000"/>
              </a:spcBef>
              <a:spcAft>
                <a:spcPct val="0"/>
              </a:spcAft>
              <a:buNone/>
              <a:defRPr kumimoji="1" sz="1050">
                <a:solidFill>
                  <a:schemeClr val="tx1"/>
                </a:solidFill>
                <a:latin typeface="+mn-lt"/>
                <a:ea typeface="+mn-ea"/>
              </a:defRPr>
            </a:lvl7pPr>
            <a:lvl8pPr marL="2400300" indent="0" algn="l" rtl="0" eaLnBrk="1" fontAlgn="base" hangingPunct="1">
              <a:spcBef>
                <a:spcPct val="20000"/>
              </a:spcBef>
              <a:spcAft>
                <a:spcPct val="0"/>
              </a:spcAft>
              <a:buNone/>
              <a:defRPr kumimoji="1" sz="1050">
                <a:solidFill>
                  <a:schemeClr val="tx1"/>
                </a:solidFill>
                <a:latin typeface="+mn-lt"/>
                <a:ea typeface="+mn-ea"/>
              </a:defRPr>
            </a:lvl8pPr>
            <a:lvl9pPr marL="2743200" indent="0" algn="l" rtl="0" eaLnBrk="1" fontAlgn="base" hangingPunct="1">
              <a:spcBef>
                <a:spcPct val="20000"/>
              </a:spcBef>
              <a:spcAft>
                <a:spcPct val="0"/>
              </a:spcAft>
              <a:buNone/>
              <a:defRPr kumimoji="1" sz="1050">
                <a:solidFill>
                  <a:schemeClr val="tx1"/>
                </a:solidFill>
                <a:latin typeface="+mn-lt"/>
                <a:ea typeface="+mn-ea"/>
              </a:defRPr>
            </a:lvl9pPr>
          </a:lstStyle>
          <a:p>
            <a:pPr marL="380990" indent="-380990">
              <a:buFont typeface="Wingdings" panose="05000000000000000000" pitchFamily="2" charset="2"/>
              <a:buChar char="§"/>
            </a:pPr>
            <a:r>
              <a:rPr lang="en-US" sz="2400" kern="0" dirty="0"/>
              <a:t>Simple variables may be allocated in registers. How about complex data structures such as </a:t>
            </a:r>
            <a:r>
              <a:rPr lang="en-US" sz="2400" kern="0" dirty="0">
                <a:solidFill>
                  <a:srgbClr val="FF0000"/>
                </a:solidFill>
              </a:rPr>
              <a:t>arrays, strings,</a:t>
            </a:r>
            <a:r>
              <a:rPr lang="en-US" sz="2400" kern="0" dirty="0"/>
              <a:t> and </a:t>
            </a:r>
            <a:r>
              <a:rPr lang="en-US" sz="2400" kern="0" dirty="0">
                <a:solidFill>
                  <a:srgbClr val="FF0000"/>
                </a:solidFill>
              </a:rPr>
              <a:t>structures</a:t>
            </a:r>
            <a:r>
              <a:rPr lang="en-US" sz="2400" kern="0" dirty="0"/>
              <a:t>?  </a:t>
            </a:r>
          </a:p>
          <a:p>
            <a:pPr marL="380990" indent="-380990">
              <a:buFont typeface="Wingdings" panose="05000000000000000000" pitchFamily="2" charset="2"/>
              <a:buChar char="§"/>
            </a:pPr>
            <a:r>
              <a:rPr lang="en-US" sz="2400" kern="0" dirty="0"/>
              <a:t>Arrays, structures, and strings will be stored in the memory.</a:t>
            </a:r>
          </a:p>
          <a:p>
            <a:pPr marL="380990" indent="-380990">
              <a:buFont typeface="Wingdings" panose="05000000000000000000" pitchFamily="2" charset="2"/>
              <a:buChar char="§"/>
            </a:pPr>
            <a:r>
              <a:rPr lang="en-US" sz="2400" kern="0" dirty="0"/>
              <a:t>We specify the address of the data we need and use load instructions to move it to registers.</a:t>
            </a:r>
          </a:p>
          <a:p>
            <a:pPr marL="380990" indent="-380990">
              <a:buFont typeface="Wingdings" panose="05000000000000000000" pitchFamily="2" charset="2"/>
              <a:buChar char="§"/>
            </a:pPr>
            <a:r>
              <a:rPr lang="en-US" sz="2400" kern="0" dirty="0"/>
              <a:t>For example, to reference A[8], suppose A is a 32b integer array, with the starting address stored in register X1. Then, the following load-word instruction will be used:</a:t>
            </a:r>
          </a:p>
          <a:p>
            <a:r>
              <a:rPr lang="en-US" sz="2400" kern="0" dirty="0"/>
              <a:t>		</a:t>
            </a:r>
            <a:r>
              <a:rPr lang="en-US" sz="2400" kern="0" dirty="0" err="1"/>
              <a:t>lw</a:t>
            </a:r>
            <a:r>
              <a:rPr lang="en-US" sz="2400" kern="0" dirty="0"/>
              <a:t> X2, 32(X1); 32 is the offset to the base address.</a:t>
            </a:r>
          </a:p>
          <a:p>
            <a:pPr marL="380990" indent="-380990">
              <a:buFont typeface="Arial" panose="020B0604020202020204" pitchFamily="34" charset="0"/>
              <a:buChar char="•"/>
            </a:pPr>
            <a:r>
              <a:rPr lang="en-US" sz="2400" kern="0" dirty="0"/>
              <a:t>The offset is calculated as 4 x 8 (4 is the word size, and 8 is the index of array A). RV does not use 8(X1), because most machines use byte addresses rather than word or double word addresses.</a:t>
            </a:r>
          </a:p>
          <a:p>
            <a:endParaRPr lang="en-US" sz="2400" kern="0" dirty="0"/>
          </a:p>
          <a:p>
            <a:pPr marL="838179" lvl="1" indent="-380990">
              <a:buFont typeface="Wingdings" panose="05000000000000000000" pitchFamily="2" charset="2"/>
              <a:buChar char="§"/>
            </a:pPr>
            <a:endParaRPr lang="en-US" sz="467" kern="0" dirty="0"/>
          </a:p>
        </p:txBody>
      </p:sp>
    </p:spTree>
    <p:extLst>
      <p:ext uri="{BB962C8B-B14F-4D97-AF65-F5344CB8AC3E}">
        <p14:creationId xmlns:p14="http://schemas.microsoft.com/office/powerpoint/2010/main" val="15047188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2D83093-6614-4A16-8105-9070ED2CD9BC}"/>
              </a:ext>
            </a:extLst>
          </p:cNvPr>
          <p:cNvSpPr>
            <a:spLocks noGrp="1"/>
          </p:cNvSpPr>
          <p:nvPr>
            <p:ph type="body" idx="1"/>
          </p:nvPr>
        </p:nvSpPr>
        <p:spPr>
          <a:xfrm>
            <a:off x="1140179" y="174624"/>
            <a:ext cx="10363200" cy="638177"/>
          </a:xfrm>
        </p:spPr>
        <p:txBody>
          <a:bodyPr/>
          <a:lstStyle/>
          <a:p>
            <a:r>
              <a:rPr lang="en-US" dirty="0"/>
              <a:t>Exercises</a:t>
            </a:r>
          </a:p>
        </p:txBody>
      </p:sp>
      <p:sp>
        <p:nvSpPr>
          <p:cNvPr id="4" name="Slide Number Placeholder 3">
            <a:extLst>
              <a:ext uri="{FF2B5EF4-FFF2-40B4-BE49-F238E27FC236}">
                <a16:creationId xmlns:a16="http://schemas.microsoft.com/office/drawing/2014/main" id="{97D0DDAE-E632-42B4-AB7F-28A5D1F1623A}"/>
              </a:ext>
            </a:extLst>
          </p:cNvPr>
          <p:cNvSpPr>
            <a:spLocks noGrp="1"/>
          </p:cNvSpPr>
          <p:nvPr>
            <p:ph type="sldNum" sz="quarter" idx="10"/>
          </p:nvPr>
        </p:nvSpPr>
        <p:spPr/>
        <p:txBody>
          <a:bodyPr/>
          <a:lstStyle/>
          <a:p>
            <a:fld id="{D9B6BDF2-6896-4B98-8776-C18582F63BA5}" type="slidenum">
              <a:rPr lang="zh-TW" altLang="en-US" smtClean="0"/>
              <a:t>50</a:t>
            </a:fld>
            <a:endParaRPr lang="zh-TW" altLang="en-US"/>
          </a:p>
        </p:txBody>
      </p:sp>
      <p:sp>
        <p:nvSpPr>
          <p:cNvPr id="8" name="Content Placeholder 2">
            <a:extLst>
              <a:ext uri="{FF2B5EF4-FFF2-40B4-BE49-F238E27FC236}">
                <a16:creationId xmlns:a16="http://schemas.microsoft.com/office/drawing/2014/main" id="{73B5A2CD-D338-4458-969D-09E90B8A5D3A}"/>
              </a:ext>
            </a:extLst>
          </p:cNvPr>
          <p:cNvSpPr txBox="1">
            <a:spLocks/>
          </p:cNvSpPr>
          <p:nvPr/>
        </p:nvSpPr>
        <p:spPr bwMode="auto">
          <a:xfrm>
            <a:off x="643466" y="897466"/>
            <a:ext cx="10566399" cy="2325511"/>
          </a:xfrm>
          <a:prstGeom prst="rect">
            <a:avLst/>
          </a:prstGeom>
          <a:noFill/>
          <a:ln w="9525">
            <a:noFill/>
            <a:miter lim="800000"/>
          </a:ln>
        </p:spPr>
        <p:txBody>
          <a:bodyPr vert="horz" wrap="square" lIns="121920" tIns="60960" rIns="121920" bIns="60960" numCol="1" anchor="b" anchorCtr="0" compatLnSpc="1"/>
          <a:lstStyle>
            <a:lvl1pPr marL="0" indent="0" algn="l" rtl="0" eaLnBrk="1" fontAlgn="base" hangingPunct="1">
              <a:spcBef>
                <a:spcPct val="20000"/>
              </a:spcBef>
              <a:spcAft>
                <a:spcPct val="0"/>
              </a:spcAft>
              <a:buClr>
                <a:srgbClr val="8064A2"/>
              </a:buClr>
              <a:buSzPct val="80000"/>
              <a:buFont typeface="Wingdings" panose="05000000000000000000" pitchFamily="2" charset="2"/>
              <a:buNone/>
              <a:defRPr kumimoji="1" sz="2800">
                <a:solidFill>
                  <a:schemeClr val="tx1"/>
                </a:solidFill>
                <a:latin typeface="Calibri" panose="020F0502020204030204" pitchFamily="34" charset="0"/>
                <a:ea typeface="標楷體" pitchFamily="65" charset="-120"/>
                <a:cs typeface="+mn-cs"/>
              </a:defRPr>
            </a:lvl1pPr>
            <a:lvl2pPr marL="342900" indent="0" algn="l" rtl="0" eaLnBrk="1" fontAlgn="base" hangingPunct="1">
              <a:spcBef>
                <a:spcPct val="20000"/>
              </a:spcBef>
              <a:spcAft>
                <a:spcPct val="0"/>
              </a:spcAft>
              <a:buClr>
                <a:srgbClr val="8064A2"/>
              </a:buClr>
              <a:buSzPct val="90000"/>
              <a:buFont typeface="Arial" panose="020B0604020202020204" pitchFamily="34" charset="0"/>
              <a:buNone/>
              <a:defRPr kumimoji="1" sz="1350">
                <a:solidFill>
                  <a:schemeClr val="tx1"/>
                </a:solidFill>
                <a:latin typeface="Calibri" panose="020F0502020204030204" pitchFamily="34" charset="0"/>
                <a:ea typeface="標楷體" pitchFamily="65" charset="-120"/>
              </a:defRPr>
            </a:lvl2pPr>
            <a:lvl3pPr marL="685800" indent="0" algn="l" rtl="0" eaLnBrk="1" fontAlgn="base" hangingPunct="1">
              <a:spcBef>
                <a:spcPct val="20000"/>
              </a:spcBef>
              <a:spcAft>
                <a:spcPct val="0"/>
              </a:spcAft>
              <a:buNone/>
              <a:defRPr kumimoji="1" sz="1200">
                <a:solidFill>
                  <a:schemeClr val="tx1"/>
                </a:solidFill>
                <a:latin typeface="+mn-lt"/>
                <a:ea typeface="+mn-ea"/>
              </a:defRPr>
            </a:lvl3pPr>
            <a:lvl4pPr marL="1028700" indent="0" algn="l" rtl="0" eaLnBrk="1" fontAlgn="base" hangingPunct="1">
              <a:spcBef>
                <a:spcPct val="20000"/>
              </a:spcBef>
              <a:spcAft>
                <a:spcPct val="0"/>
              </a:spcAft>
              <a:buNone/>
              <a:defRPr kumimoji="1" sz="1050">
                <a:solidFill>
                  <a:schemeClr val="tx1"/>
                </a:solidFill>
                <a:latin typeface="+mn-lt"/>
                <a:ea typeface="+mn-ea"/>
              </a:defRPr>
            </a:lvl4pPr>
            <a:lvl5pPr marL="1371600" indent="0" algn="l" rtl="0" eaLnBrk="1" fontAlgn="base" hangingPunct="1">
              <a:spcBef>
                <a:spcPct val="20000"/>
              </a:spcBef>
              <a:spcAft>
                <a:spcPct val="0"/>
              </a:spcAft>
              <a:buNone/>
              <a:defRPr kumimoji="1" sz="1050">
                <a:solidFill>
                  <a:schemeClr val="tx1"/>
                </a:solidFill>
                <a:latin typeface="+mn-lt"/>
                <a:ea typeface="+mn-ea"/>
              </a:defRPr>
            </a:lvl5pPr>
            <a:lvl6pPr marL="1714500" indent="0" algn="l" rtl="0" eaLnBrk="1" fontAlgn="base" hangingPunct="1">
              <a:spcBef>
                <a:spcPct val="20000"/>
              </a:spcBef>
              <a:spcAft>
                <a:spcPct val="0"/>
              </a:spcAft>
              <a:buNone/>
              <a:defRPr kumimoji="1" sz="1050">
                <a:solidFill>
                  <a:schemeClr val="tx1"/>
                </a:solidFill>
                <a:latin typeface="+mn-lt"/>
                <a:ea typeface="+mn-ea"/>
              </a:defRPr>
            </a:lvl6pPr>
            <a:lvl7pPr marL="2057400" indent="0" algn="l" rtl="0" eaLnBrk="1" fontAlgn="base" hangingPunct="1">
              <a:spcBef>
                <a:spcPct val="20000"/>
              </a:spcBef>
              <a:spcAft>
                <a:spcPct val="0"/>
              </a:spcAft>
              <a:buNone/>
              <a:defRPr kumimoji="1" sz="1050">
                <a:solidFill>
                  <a:schemeClr val="tx1"/>
                </a:solidFill>
                <a:latin typeface="+mn-lt"/>
                <a:ea typeface="+mn-ea"/>
              </a:defRPr>
            </a:lvl7pPr>
            <a:lvl8pPr marL="2400300" indent="0" algn="l" rtl="0" eaLnBrk="1" fontAlgn="base" hangingPunct="1">
              <a:spcBef>
                <a:spcPct val="20000"/>
              </a:spcBef>
              <a:spcAft>
                <a:spcPct val="0"/>
              </a:spcAft>
              <a:buNone/>
              <a:defRPr kumimoji="1" sz="1050">
                <a:solidFill>
                  <a:schemeClr val="tx1"/>
                </a:solidFill>
                <a:latin typeface="+mn-lt"/>
                <a:ea typeface="+mn-ea"/>
              </a:defRPr>
            </a:lvl8pPr>
            <a:lvl9pPr marL="2743200" indent="0" algn="l" rtl="0" eaLnBrk="1" fontAlgn="base" hangingPunct="1">
              <a:spcBef>
                <a:spcPct val="20000"/>
              </a:spcBef>
              <a:spcAft>
                <a:spcPct val="0"/>
              </a:spcAft>
              <a:buNone/>
              <a:defRPr kumimoji="1" sz="1050">
                <a:solidFill>
                  <a:schemeClr val="tx1"/>
                </a:solidFill>
                <a:latin typeface="+mn-lt"/>
                <a:ea typeface="+mn-ea"/>
              </a:defRPr>
            </a:lvl9pPr>
          </a:lstStyle>
          <a:p>
            <a:pPr marL="380990" indent="-380990">
              <a:buFont typeface="Wingdings" panose="05000000000000000000" pitchFamily="2" charset="2"/>
              <a:buChar char="§"/>
            </a:pPr>
            <a:r>
              <a:rPr lang="en-US" sz="2400" kern="0" dirty="0"/>
              <a:t>Suppose A is a 64b long </a:t>
            </a:r>
            <a:r>
              <a:rPr lang="en-US" sz="2400" kern="0" dirty="0" err="1"/>
              <a:t>long</a:t>
            </a:r>
            <a:r>
              <a:rPr lang="en-US" sz="2400" kern="0" dirty="0"/>
              <a:t> int array, with the starting address stored in register X1. what instruction should be used to access A[100]?</a:t>
            </a:r>
          </a:p>
          <a:p>
            <a:r>
              <a:rPr lang="en-US" sz="2400" kern="0" dirty="0"/>
              <a:t>	1) LW X2, 100(X1)</a:t>
            </a:r>
          </a:p>
          <a:p>
            <a:r>
              <a:rPr lang="en-US" sz="2400" kern="0" dirty="0"/>
              <a:t>	2) LB   X2, 800(x1)</a:t>
            </a:r>
          </a:p>
          <a:p>
            <a:r>
              <a:rPr lang="en-US" sz="2400" kern="0" dirty="0"/>
              <a:t>	3) LD   X2, 800(X1)	</a:t>
            </a:r>
          </a:p>
          <a:p>
            <a:pPr marL="838179" lvl="1" indent="-380990">
              <a:buFont typeface="Wingdings" panose="05000000000000000000" pitchFamily="2" charset="2"/>
              <a:buChar char="§"/>
            </a:pPr>
            <a:endParaRPr lang="en-US" sz="467" kern="0" dirty="0"/>
          </a:p>
        </p:txBody>
      </p:sp>
      <p:sp>
        <p:nvSpPr>
          <p:cNvPr id="5" name="Content Placeholder 2">
            <a:extLst>
              <a:ext uri="{FF2B5EF4-FFF2-40B4-BE49-F238E27FC236}">
                <a16:creationId xmlns:a16="http://schemas.microsoft.com/office/drawing/2014/main" id="{217BE57A-4626-4412-A4E5-DBB5511F3C2F}"/>
              </a:ext>
            </a:extLst>
          </p:cNvPr>
          <p:cNvSpPr txBox="1">
            <a:spLocks/>
          </p:cNvSpPr>
          <p:nvPr/>
        </p:nvSpPr>
        <p:spPr bwMode="auto">
          <a:xfrm>
            <a:off x="553154" y="3307642"/>
            <a:ext cx="10566399" cy="3019601"/>
          </a:xfrm>
          <a:prstGeom prst="rect">
            <a:avLst/>
          </a:prstGeom>
          <a:noFill/>
          <a:ln w="9525">
            <a:noFill/>
            <a:miter lim="800000"/>
          </a:ln>
        </p:spPr>
        <p:txBody>
          <a:bodyPr vert="horz" wrap="square" lIns="121920" tIns="60960" rIns="121920" bIns="60960" numCol="1" anchor="b" anchorCtr="0" compatLnSpc="1"/>
          <a:lstStyle>
            <a:lvl1pPr marL="0" indent="0" algn="l" rtl="0" eaLnBrk="1" fontAlgn="base" hangingPunct="1">
              <a:spcBef>
                <a:spcPct val="20000"/>
              </a:spcBef>
              <a:spcAft>
                <a:spcPct val="0"/>
              </a:spcAft>
              <a:buClr>
                <a:srgbClr val="8064A2"/>
              </a:buClr>
              <a:buSzPct val="80000"/>
              <a:buFont typeface="Wingdings" panose="05000000000000000000" pitchFamily="2" charset="2"/>
              <a:buNone/>
              <a:defRPr kumimoji="1" sz="2800">
                <a:solidFill>
                  <a:schemeClr val="tx1"/>
                </a:solidFill>
                <a:latin typeface="Calibri" panose="020F0502020204030204" pitchFamily="34" charset="0"/>
                <a:ea typeface="標楷體" pitchFamily="65" charset="-120"/>
                <a:cs typeface="+mn-cs"/>
              </a:defRPr>
            </a:lvl1pPr>
            <a:lvl2pPr marL="342900" indent="0" algn="l" rtl="0" eaLnBrk="1" fontAlgn="base" hangingPunct="1">
              <a:spcBef>
                <a:spcPct val="20000"/>
              </a:spcBef>
              <a:spcAft>
                <a:spcPct val="0"/>
              </a:spcAft>
              <a:buClr>
                <a:srgbClr val="8064A2"/>
              </a:buClr>
              <a:buSzPct val="90000"/>
              <a:buFont typeface="Arial" panose="020B0604020202020204" pitchFamily="34" charset="0"/>
              <a:buNone/>
              <a:defRPr kumimoji="1" sz="1350">
                <a:solidFill>
                  <a:schemeClr val="tx1"/>
                </a:solidFill>
                <a:latin typeface="Calibri" panose="020F0502020204030204" pitchFamily="34" charset="0"/>
                <a:ea typeface="標楷體" pitchFamily="65" charset="-120"/>
              </a:defRPr>
            </a:lvl2pPr>
            <a:lvl3pPr marL="685800" indent="0" algn="l" rtl="0" eaLnBrk="1" fontAlgn="base" hangingPunct="1">
              <a:spcBef>
                <a:spcPct val="20000"/>
              </a:spcBef>
              <a:spcAft>
                <a:spcPct val="0"/>
              </a:spcAft>
              <a:buNone/>
              <a:defRPr kumimoji="1" sz="1200">
                <a:solidFill>
                  <a:schemeClr val="tx1"/>
                </a:solidFill>
                <a:latin typeface="+mn-lt"/>
                <a:ea typeface="+mn-ea"/>
              </a:defRPr>
            </a:lvl3pPr>
            <a:lvl4pPr marL="1028700" indent="0" algn="l" rtl="0" eaLnBrk="1" fontAlgn="base" hangingPunct="1">
              <a:spcBef>
                <a:spcPct val="20000"/>
              </a:spcBef>
              <a:spcAft>
                <a:spcPct val="0"/>
              </a:spcAft>
              <a:buNone/>
              <a:defRPr kumimoji="1" sz="1050">
                <a:solidFill>
                  <a:schemeClr val="tx1"/>
                </a:solidFill>
                <a:latin typeface="+mn-lt"/>
                <a:ea typeface="+mn-ea"/>
              </a:defRPr>
            </a:lvl4pPr>
            <a:lvl5pPr marL="1371600" indent="0" algn="l" rtl="0" eaLnBrk="1" fontAlgn="base" hangingPunct="1">
              <a:spcBef>
                <a:spcPct val="20000"/>
              </a:spcBef>
              <a:spcAft>
                <a:spcPct val="0"/>
              </a:spcAft>
              <a:buNone/>
              <a:defRPr kumimoji="1" sz="1050">
                <a:solidFill>
                  <a:schemeClr val="tx1"/>
                </a:solidFill>
                <a:latin typeface="+mn-lt"/>
                <a:ea typeface="+mn-ea"/>
              </a:defRPr>
            </a:lvl5pPr>
            <a:lvl6pPr marL="1714500" indent="0" algn="l" rtl="0" eaLnBrk="1" fontAlgn="base" hangingPunct="1">
              <a:spcBef>
                <a:spcPct val="20000"/>
              </a:spcBef>
              <a:spcAft>
                <a:spcPct val="0"/>
              </a:spcAft>
              <a:buNone/>
              <a:defRPr kumimoji="1" sz="1050">
                <a:solidFill>
                  <a:schemeClr val="tx1"/>
                </a:solidFill>
                <a:latin typeface="+mn-lt"/>
                <a:ea typeface="+mn-ea"/>
              </a:defRPr>
            </a:lvl6pPr>
            <a:lvl7pPr marL="2057400" indent="0" algn="l" rtl="0" eaLnBrk="1" fontAlgn="base" hangingPunct="1">
              <a:spcBef>
                <a:spcPct val="20000"/>
              </a:spcBef>
              <a:spcAft>
                <a:spcPct val="0"/>
              </a:spcAft>
              <a:buNone/>
              <a:defRPr kumimoji="1" sz="1050">
                <a:solidFill>
                  <a:schemeClr val="tx1"/>
                </a:solidFill>
                <a:latin typeface="+mn-lt"/>
                <a:ea typeface="+mn-ea"/>
              </a:defRPr>
            </a:lvl7pPr>
            <a:lvl8pPr marL="2400300" indent="0" algn="l" rtl="0" eaLnBrk="1" fontAlgn="base" hangingPunct="1">
              <a:spcBef>
                <a:spcPct val="20000"/>
              </a:spcBef>
              <a:spcAft>
                <a:spcPct val="0"/>
              </a:spcAft>
              <a:buNone/>
              <a:defRPr kumimoji="1" sz="1050">
                <a:solidFill>
                  <a:schemeClr val="tx1"/>
                </a:solidFill>
                <a:latin typeface="+mn-lt"/>
                <a:ea typeface="+mn-ea"/>
              </a:defRPr>
            </a:lvl8pPr>
            <a:lvl9pPr marL="2743200" indent="0" algn="l" rtl="0" eaLnBrk="1" fontAlgn="base" hangingPunct="1">
              <a:spcBef>
                <a:spcPct val="20000"/>
              </a:spcBef>
              <a:spcAft>
                <a:spcPct val="0"/>
              </a:spcAft>
              <a:buNone/>
              <a:defRPr kumimoji="1" sz="1050">
                <a:solidFill>
                  <a:schemeClr val="tx1"/>
                </a:solidFill>
                <a:latin typeface="+mn-lt"/>
                <a:ea typeface="+mn-ea"/>
              </a:defRPr>
            </a:lvl9pPr>
          </a:lstStyle>
          <a:p>
            <a:pPr marL="380990" indent="-380990">
              <a:buFont typeface="Wingdings" panose="05000000000000000000" pitchFamily="2" charset="2"/>
              <a:buChar char="§"/>
            </a:pPr>
            <a:r>
              <a:rPr lang="en-US" sz="2400" kern="0" dirty="0"/>
              <a:t>Struct  S1 { int green; int red; int blue} A[]; </a:t>
            </a:r>
          </a:p>
          <a:p>
            <a:r>
              <a:rPr lang="en-US" sz="2400" kern="0" dirty="0"/>
              <a:t>Suppose A is an array of structure S1, and the starting address of A is stored in register X1. what instruction should be used to access A[100].red?</a:t>
            </a:r>
          </a:p>
          <a:p>
            <a:r>
              <a:rPr lang="en-US" sz="2400" kern="0" dirty="0"/>
              <a:t>	1) LW X2, 100(X1)</a:t>
            </a:r>
          </a:p>
          <a:p>
            <a:r>
              <a:rPr lang="en-US" sz="2400" kern="0" dirty="0"/>
              <a:t>	2) LW X2, 1204(x1)</a:t>
            </a:r>
          </a:p>
          <a:p>
            <a:r>
              <a:rPr lang="en-US" sz="2400" kern="0" dirty="0"/>
              <a:t>	3) LW X2, 1200(X1)</a:t>
            </a:r>
          </a:p>
          <a:p>
            <a:r>
              <a:rPr lang="en-US" sz="2400" kern="0" dirty="0"/>
              <a:t>	4) LW X2, 104(X1)	</a:t>
            </a:r>
          </a:p>
          <a:p>
            <a:pPr marL="838179" lvl="1" indent="-380990">
              <a:buFont typeface="Wingdings" panose="05000000000000000000" pitchFamily="2" charset="2"/>
              <a:buChar char="§"/>
            </a:pPr>
            <a:endParaRPr lang="en-US" sz="467" kern="0" dirty="0"/>
          </a:p>
        </p:txBody>
      </p:sp>
      <p:sp>
        <p:nvSpPr>
          <p:cNvPr id="2" name="TextBox 1">
            <a:extLst>
              <a:ext uri="{FF2B5EF4-FFF2-40B4-BE49-F238E27FC236}">
                <a16:creationId xmlns:a16="http://schemas.microsoft.com/office/drawing/2014/main" id="{0D221EDB-EBBF-4879-ABC4-E2BEE165657B}"/>
              </a:ext>
            </a:extLst>
          </p:cNvPr>
          <p:cNvSpPr txBox="1"/>
          <p:nvPr/>
        </p:nvSpPr>
        <p:spPr>
          <a:xfrm>
            <a:off x="9782628" y="2598396"/>
            <a:ext cx="356188" cy="461665"/>
          </a:xfrm>
          <a:prstGeom prst="rect">
            <a:avLst/>
          </a:prstGeom>
          <a:solidFill>
            <a:srgbClr val="FFFF00"/>
          </a:solidFill>
          <a:ln>
            <a:solidFill>
              <a:srgbClr val="FF0000"/>
            </a:solidFill>
          </a:ln>
        </p:spPr>
        <p:txBody>
          <a:bodyPr wrap="none" rtlCol="0" anchor="ctr" anchorCtr="1">
            <a:spAutoFit/>
          </a:bodyPr>
          <a:lstStyle/>
          <a:p>
            <a:r>
              <a:rPr lang="en-US" sz="2400" dirty="0">
                <a:ea typeface="標楷體" pitchFamily="65" charset="-120"/>
                <a:cs typeface="Calibri" panose="020F0502020204030204" pitchFamily="34" charset="0"/>
              </a:rPr>
              <a:t>3</a:t>
            </a:r>
          </a:p>
        </p:txBody>
      </p:sp>
      <p:sp>
        <p:nvSpPr>
          <p:cNvPr id="7" name="TextBox 6">
            <a:extLst>
              <a:ext uri="{FF2B5EF4-FFF2-40B4-BE49-F238E27FC236}">
                <a16:creationId xmlns:a16="http://schemas.microsoft.com/office/drawing/2014/main" id="{9D1C025D-DE69-4EAA-BDEC-75FF2670BCD3}"/>
              </a:ext>
            </a:extLst>
          </p:cNvPr>
          <p:cNvSpPr txBox="1"/>
          <p:nvPr/>
        </p:nvSpPr>
        <p:spPr>
          <a:xfrm>
            <a:off x="9889067" y="4985742"/>
            <a:ext cx="356188" cy="461665"/>
          </a:xfrm>
          <a:prstGeom prst="rect">
            <a:avLst/>
          </a:prstGeom>
          <a:solidFill>
            <a:srgbClr val="FFFF00"/>
          </a:solidFill>
          <a:ln>
            <a:solidFill>
              <a:srgbClr val="FF0000"/>
            </a:solidFill>
          </a:ln>
        </p:spPr>
        <p:txBody>
          <a:bodyPr wrap="none" rtlCol="0" anchor="ctr" anchorCtr="1">
            <a:spAutoFit/>
          </a:bodyPr>
          <a:lstStyle/>
          <a:p>
            <a:r>
              <a:rPr lang="en-US" sz="2400" dirty="0">
                <a:ea typeface="標楷體" pitchFamily="65" charset="-120"/>
                <a:cs typeface="Calibri" panose="020F0502020204030204" pitchFamily="34" charset="0"/>
              </a:rPr>
              <a:t>2</a:t>
            </a:r>
          </a:p>
        </p:txBody>
      </p:sp>
    </p:spTree>
    <p:extLst>
      <p:ext uri="{BB962C8B-B14F-4D97-AF65-F5344CB8AC3E}">
        <p14:creationId xmlns:p14="http://schemas.microsoft.com/office/powerpoint/2010/main" val="424054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2D83093-6614-4A16-8105-9070ED2CD9BC}"/>
              </a:ext>
            </a:extLst>
          </p:cNvPr>
          <p:cNvSpPr>
            <a:spLocks noGrp="1"/>
          </p:cNvSpPr>
          <p:nvPr>
            <p:ph type="body" idx="1"/>
          </p:nvPr>
        </p:nvSpPr>
        <p:spPr>
          <a:xfrm>
            <a:off x="1140179" y="174624"/>
            <a:ext cx="10363200" cy="638177"/>
          </a:xfrm>
        </p:spPr>
        <p:txBody>
          <a:bodyPr/>
          <a:lstStyle/>
          <a:p>
            <a:r>
              <a:rPr lang="en-US" dirty="0"/>
              <a:t>A More Challenging Exercises</a:t>
            </a:r>
          </a:p>
        </p:txBody>
      </p:sp>
      <p:sp>
        <p:nvSpPr>
          <p:cNvPr id="4" name="Slide Number Placeholder 3">
            <a:extLst>
              <a:ext uri="{FF2B5EF4-FFF2-40B4-BE49-F238E27FC236}">
                <a16:creationId xmlns:a16="http://schemas.microsoft.com/office/drawing/2014/main" id="{97D0DDAE-E632-42B4-AB7F-28A5D1F1623A}"/>
              </a:ext>
            </a:extLst>
          </p:cNvPr>
          <p:cNvSpPr>
            <a:spLocks noGrp="1"/>
          </p:cNvSpPr>
          <p:nvPr>
            <p:ph type="sldNum" sz="quarter" idx="10"/>
          </p:nvPr>
        </p:nvSpPr>
        <p:spPr/>
        <p:txBody>
          <a:bodyPr/>
          <a:lstStyle/>
          <a:p>
            <a:fld id="{D9B6BDF2-6896-4B98-8776-C18582F63BA5}" type="slidenum">
              <a:rPr lang="zh-TW" altLang="en-US" smtClean="0"/>
              <a:t>51</a:t>
            </a:fld>
            <a:endParaRPr lang="zh-TW" altLang="en-US"/>
          </a:p>
        </p:txBody>
      </p:sp>
      <p:sp>
        <p:nvSpPr>
          <p:cNvPr id="5" name="Content Placeholder 2">
            <a:extLst>
              <a:ext uri="{FF2B5EF4-FFF2-40B4-BE49-F238E27FC236}">
                <a16:creationId xmlns:a16="http://schemas.microsoft.com/office/drawing/2014/main" id="{217BE57A-4626-4412-A4E5-DBB5511F3C2F}"/>
              </a:ext>
            </a:extLst>
          </p:cNvPr>
          <p:cNvSpPr txBox="1">
            <a:spLocks/>
          </p:cNvSpPr>
          <p:nvPr/>
        </p:nvSpPr>
        <p:spPr bwMode="auto">
          <a:xfrm>
            <a:off x="457904" y="1209676"/>
            <a:ext cx="10566399" cy="3875672"/>
          </a:xfrm>
          <a:prstGeom prst="rect">
            <a:avLst/>
          </a:prstGeom>
          <a:noFill/>
          <a:ln w="9525">
            <a:noFill/>
            <a:miter lim="800000"/>
          </a:ln>
        </p:spPr>
        <p:txBody>
          <a:bodyPr vert="horz" wrap="square" lIns="121920" tIns="60960" rIns="121920" bIns="60960" numCol="1" anchor="b" anchorCtr="0" compatLnSpc="1"/>
          <a:lstStyle>
            <a:lvl1pPr marL="0" indent="0" algn="l" rtl="0" eaLnBrk="1" fontAlgn="base" hangingPunct="1">
              <a:spcBef>
                <a:spcPct val="20000"/>
              </a:spcBef>
              <a:spcAft>
                <a:spcPct val="0"/>
              </a:spcAft>
              <a:buClr>
                <a:srgbClr val="8064A2"/>
              </a:buClr>
              <a:buSzPct val="80000"/>
              <a:buFont typeface="Wingdings" panose="05000000000000000000" pitchFamily="2" charset="2"/>
              <a:buNone/>
              <a:defRPr kumimoji="1" sz="2800">
                <a:solidFill>
                  <a:schemeClr val="tx1"/>
                </a:solidFill>
                <a:latin typeface="Calibri" panose="020F0502020204030204" pitchFamily="34" charset="0"/>
                <a:ea typeface="標楷體" pitchFamily="65" charset="-120"/>
                <a:cs typeface="+mn-cs"/>
              </a:defRPr>
            </a:lvl1pPr>
            <a:lvl2pPr marL="342900" indent="0" algn="l" rtl="0" eaLnBrk="1" fontAlgn="base" hangingPunct="1">
              <a:spcBef>
                <a:spcPct val="20000"/>
              </a:spcBef>
              <a:spcAft>
                <a:spcPct val="0"/>
              </a:spcAft>
              <a:buClr>
                <a:srgbClr val="8064A2"/>
              </a:buClr>
              <a:buSzPct val="90000"/>
              <a:buFont typeface="Arial" panose="020B0604020202020204" pitchFamily="34" charset="0"/>
              <a:buNone/>
              <a:defRPr kumimoji="1" sz="1350">
                <a:solidFill>
                  <a:schemeClr val="tx1"/>
                </a:solidFill>
                <a:latin typeface="Calibri" panose="020F0502020204030204" pitchFamily="34" charset="0"/>
                <a:ea typeface="標楷體" pitchFamily="65" charset="-120"/>
              </a:defRPr>
            </a:lvl2pPr>
            <a:lvl3pPr marL="685800" indent="0" algn="l" rtl="0" eaLnBrk="1" fontAlgn="base" hangingPunct="1">
              <a:spcBef>
                <a:spcPct val="20000"/>
              </a:spcBef>
              <a:spcAft>
                <a:spcPct val="0"/>
              </a:spcAft>
              <a:buNone/>
              <a:defRPr kumimoji="1" sz="1200">
                <a:solidFill>
                  <a:schemeClr val="tx1"/>
                </a:solidFill>
                <a:latin typeface="+mn-lt"/>
                <a:ea typeface="+mn-ea"/>
              </a:defRPr>
            </a:lvl3pPr>
            <a:lvl4pPr marL="1028700" indent="0" algn="l" rtl="0" eaLnBrk="1" fontAlgn="base" hangingPunct="1">
              <a:spcBef>
                <a:spcPct val="20000"/>
              </a:spcBef>
              <a:spcAft>
                <a:spcPct val="0"/>
              </a:spcAft>
              <a:buNone/>
              <a:defRPr kumimoji="1" sz="1050">
                <a:solidFill>
                  <a:schemeClr val="tx1"/>
                </a:solidFill>
                <a:latin typeface="+mn-lt"/>
                <a:ea typeface="+mn-ea"/>
              </a:defRPr>
            </a:lvl4pPr>
            <a:lvl5pPr marL="1371600" indent="0" algn="l" rtl="0" eaLnBrk="1" fontAlgn="base" hangingPunct="1">
              <a:spcBef>
                <a:spcPct val="20000"/>
              </a:spcBef>
              <a:spcAft>
                <a:spcPct val="0"/>
              </a:spcAft>
              <a:buNone/>
              <a:defRPr kumimoji="1" sz="1050">
                <a:solidFill>
                  <a:schemeClr val="tx1"/>
                </a:solidFill>
                <a:latin typeface="+mn-lt"/>
                <a:ea typeface="+mn-ea"/>
              </a:defRPr>
            </a:lvl5pPr>
            <a:lvl6pPr marL="1714500" indent="0" algn="l" rtl="0" eaLnBrk="1" fontAlgn="base" hangingPunct="1">
              <a:spcBef>
                <a:spcPct val="20000"/>
              </a:spcBef>
              <a:spcAft>
                <a:spcPct val="0"/>
              </a:spcAft>
              <a:buNone/>
              <a:defRPr kumimoji="1" sz="1050">
                <a:solidFill>
                  <a:schemeClr val="tx1"/>
                </a:solidFill>
                <a:latin typeface="+mn-lt"/>
                <a:ea typeface="+mn-ea"/>
              </a:defRPr>
            </a:lvl6pPr>
            <a:lvl7pPr marL="2057400" indent="0" algn="l" rtl="0" eaLnBrk="1" fontAlgn="base" hangingPunct="1">
              <a:spcBef>
                <a:spcPct val="20000"/>
              </a:spcBef>
              <a:spcAft>
                <a:spcPct val="0"/>
              </a:spcAft>
              <a:buNone/>
              <a:defRPr kumimoji="1" sz="1050">
                <a:solidFill>
                  <a:schemeClr val="tx1"/>
                </a:solidFill>
                <a:latin typeface="+mn-lt"/>
                <a:ea typeface="+mn-ea"/>
              </a:defRPr>
            </a:lvl7pPr>
            <a:lvl8pPr marL="2400300" indent="0" algn="l" rtl="0" eaLnBrk="1" fontAlgn="base" hangingPunct="1">
              <a:spcBef>
                <a:spcPct val="20000"/>
              </a:spcBef>
              <a:spcAft>
                <a:spcPct val="0"/>
              </a:spcAft>
              <a:buNone/>
              <a:defRPr kumimoji="1" sz="1050">
                <a:solidFill>
                  <a:schemeClr val="tx1"/>
                </a:solidFill>
                <a:latin typeface="+mn-lt"/>
                <a:ea typeface="+mn-ea"/>
              </a:defRPr>
            </a:lvl8pPr>
            <a:lvl9pPr marL="2743200" indent="0" algn="l" rtl="0" eaLnBrk="1" fontAlgn="base" hangingPunct="1">
              <a:spcBef>
                <a:spcPct val="20000"/>
              </a:spcBef>
              <a:spcAft>
                <a:spcPct val="0"/>
              </a:spcAft>
              <a:buNone/>
              <a:defRPr kumimoji="1" sz="1050">
                <a:solidFill>
                  <a:schemeClr val="tx1"/>
                </a:solidFill>
                <a:latin typeface="+mn-lt"/>
                <a:ea typeface="+mn-ea"/>
              </a:defRPr>
            </a:lvl9pPr>
          </a:lstStyle>
          <a:p>
            <a:pPr marL="380990" indent="-380990">
              <a:buFont typeface="Wingdings" panose="05000000000000000000" pitchFamily="2" charset="2"/>
              <a:buChar char="§"/>
            </a:pPr>
            <a:r>
              <a:rPr lang="en-US" sz="2400" kern="0" dirty="0"/>
              <a:t>Struct  S1 { int white; long </a:t>
            </a:r>
            <a:r>
              <a:rPr lang="en-US" sz="2400" kern="0" dirty="0" err="1"/>
              <a:t>long</a:t>
            </a:r>
            <a:r>
              <a:rPr lang="en-US" sz="2400" kern="0" dirty="0"/>
              <a:t> count; char c; </a:t>
            </a:r>
            <a:r>
              <a:rPr lang="en-US" sz="2400" kern="0" dirty="0">
                <a:solidFill>
                  <a:srgbClr val="FF0000"/>
                </a:solidFill>
              </a:rPr>
              <a:t>int  red</a:t>
            </a:r>
            <a:r>
              <a:rPr lang="en-US" sz="2400" kern="0" dirty="0"/>
              <a:t>; int blue } A[]; </a:t>
            </a:r>
          </a:p>
          <a:p>
            <a:r>
              <a:rPr lang="en-US" sz="2400" kern="0" dirty="0"/>
              <a:t>Suppose A is an array of structure S1, and the starting address of A is stored in register X1. what instruction should be used to access A[100].red?</a:t>
            </a:r>
          </a:p>
          <a:p>
            <a:r>
              <a:rPr lang="en-US" sz="2400" kern="0" dirty="0"/>
              <a:t>	1) LW X2, 2817(X1)</a:t>
            </a:r>
          </a:p>
          <a:p>
            <a:r>
              <a:rPr lang="en-US" sz="2400" kern="0" dirty="0"/>
              <a:t>	2) LW X2, 3220(x1)</a:t>
            </a:r>
          </a:p>
          <a:p>
            <a:r>
              <a:rPr lang="en-US" sz="2400" kern="0" dirty="0"/>
              <a:t>	3) LW X2, 2820(X1)</a:t>
            </a:r>
          </a:p>
          <a:p>
            <a:r>
              <a:rPr lang="en-US" sz="2400" kern="0" dirty="0"/>
              <a:t>	4) LW X2, 3617(X1)</a:t>
            </a:r>
          </a:p>
          <a:p>
            <a:r>
              <a:rPr lang="en-US" sz="2400" kern="0" dirty="0"/>
              <a:t>	5) LW X2, 2020(X1)	</a:t>
            </a:r>
          </a:p>
          <a:p>
            <a:pPr marL="838179" lvl="1" indent="-380990">
              <a:buFont typeface="Wingdings" panose="05000000000000000000" pitchFamily="2" charset="2"/>
              <a:buChar char="§"/>
            </a:pPr>
            <a:endParaRPr lang="en-US" sz="467" kern="0" dirty="0"/>
          </a:p>
        </p:txBody>
      </p:sp>
      <p:sp>
        <p:nvSpPr>
          <p:cNvPr id="7" name="TextBox 6">
            <a:extLst>
              <a:ext uri="{FF2B5EF4-FFF2-40B4-BE49-F238E27FC236}">
                <a16:creationId xmlns:a16="http://schemas.microsoft.com/office/drawing/2014/main" id="{9D1C025D-DE69-4EAA-BDEC-75FF2670BCD3}"/>
              </a:ext>
            </a:extLst>
          </p:cNvPr>
          <p:cNvSpPr txBox="1"/>
          <p:nvPr/>
        </p:nvSpPr>
        <p:spPr>
          <a:xfrm>
            <a:off x="9574742" y="4528542"/>
            <a:ext cx="356188" cy="461665"/>
          </a:xfrm>
          <a:prstGeom prst="rect">
            <a:avLst/>
          </a:prstGeom>
          <a:solidFill>
            <a:srgbClr val="FFFF00"/>
          </a:solidFill>
          <a:ln>
            <a:solidFill>
              <a:srgbClr val="FF0000"/>
            </a:solidFill>
          </a:ln>
        </p:spPr>
        <p:txBody>
          <a:bodyPr wrap="none" rtlCol="0" anchor="ctr" anchorCtr="1">
            <a:spAutoFit/>
          </a:bodyPr>
          <a:lstStyle/>
          <a:p>
            <a:r>
              <a:rPr lang="en-US" sz="2400" dirty="0">
                <a:ea typeface="標楷體" pitchFamily="65" charset="-120"/>
                <a:cs typeface="Calibri" panose="020F0502020204030204" pitchFamily="34" charset="0"/>
              </a:rPr>
              <a:t>2</a:t>
            </a:r>
          </a:p>
        </p:txBody>
      </p:sp>
      <p:sp>
        <p:nvSpPr>
          <p:cNvPr id="6" name="TextBox 5">
            <a:extLst>
              <a:ext uri="{FF2B5EF4-FFF2-40B4-BE49-F238E27FC236}">
                <a16:creationId xmlns:a16="http://schemas.microsoft.com/office/drawing/2014/main" id="{121758F6-51B2-4B00-A972-BEFF156CD977}"/>
              </a:ext>
            </a:extLst>
          </p:cNvPr>
          <p:cNvSpPr txBox="1"/>
          <p:nvPr/>
        </p:nvSpPr>
        <p:spPr>
          <a:xfrm>
            <a:off x="2257425" y="5412915"/>
            <a:ext cx="6772110" cy="646331"/>
          </a:xfrm>
          <a:prstGeom prst="rect">
            <a:avLst/>
          </a:prstGeom>
          <a:noFill/>
        </p:spPr>
        <p:txBody>
          <a:bodyPr wrap="none" rtlCol="0" anchor="ctr" anchorCtr="1">
            <a:spAutoFit/>
          </a:bodyPr>
          <a:lstStyle/>
          <a:p>
            <a:r>
              <a:rPr lang="en-US" dirty="0">
                <a:ea typeface="標楷體" pitchFamily="65" charset="-120"/>
                <a:cs typeface="Calibri" pitchFamily="34" charset="0"/>
              </a:rPr>
              <a:t>4, </a:t>
            </a:r>
            <a:r>
              <a:rPr lang="en-US" dirty="0">
                <a:solidFill>
                  <a:srgbClr val="FF0000"/>
                </a:solidFill>
                <a:ea typeface="標楷體" pitchFamily="65" charset="-120"/>
                <a:cs typeface="Calibri" pitchFamily="34" charset="0"/>
              </a:rPr>
              <a:t>pad 4</a:t>
            </a:r>
            <a:r>
              <a:rPr lang="en-US" dirty="0">
                <a:ea typeface="標楷體" pitchFamily="65" charset="-120"/>
                <a:cs typeface="Calibri" pitchFamily="34" charset="0"/>
              </a:rPr>
              <a:t>, 8, 1, </a:t>
            </a:r>
            <a:r>
              <a:rPr lang="en-US" dirty="0">
                <a:solidFill>
                  <a:srgbClr val="FF0000"/>
                </a:solidFill>
                <a:ea typeface="標楷體" pitchFamily="65" charset="-120"/>
                <a:cs typeface="Calibri" pitchFamily="34" charset="0"/>
              </a:rPr>
              <a:t>pad 3</a:t>
            </a:r>
            <a:r>
              <a:rPr lang="en-US" dirty="0">
                <a:ea typeface="標楷體" pitchFamily="65" charset="-120"/>
                <a:cs typeface="Calibri" pitchFamily="34" charset="0"/>
              </a:rPr>
              <a:t>, 4, 4      Total 28, </a:t>
            </a:r>
          </a:p>
          <a:p>
            <a:r>
              <a:rPr lang="en-US" dirty="0">
                <a:ea typeface="標楷體" pitchFamily="65" charset="-120"/>
                <a:cs typeface="Calibri" pitchFamily="34" charset="0"/>
              </a:rPr>
              <a:t>Struct size must be multiple of the largest field, so Total size is 32</a:t>
            </a:r>
          </a:p>
        </p:txBody>
      </p:sp>
    </p:spTree>
    <p:extLst>
      <p:ext uri="{BB962C8B-B14F-4D97-AF65-F5344CB8AC3E}">
        <p14:creationId xmlns:p14="http://schemas.microsoft.com/office/powerpoint/2010/main" val="371811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2D83093-6614-4A16-8105-9070ED2CD9BC}"/>
              </a:ext>
            </a:extLst>
          </p:cNvPr>
          <p:cNvSpPr>
            <a:spLocks noGrp="1"/>
          </p:cNvSpPr>
          <p:nvPr>
            <p:ph type="body" idx="1"/>
          </p:nvPr>
        </p:nvSpPr>
        <p:spPr>
          <a:xfrm>
            <a:off x="1140179" y="174624"/>
            <a:ext cx="10363200" cy="638177"/>
          </a:xfrm>
        </p:spPr>
        <p:txBody>
          <a:bodyPr/>
          <a:lstStyle/>
          <a:p>
            <a:r>
              <a:rPr lang="en-US" dirty="0"/>
              <a:t>Fallacy and Pitfall</a:t>
            </a:r>
          </a:p>
        </p:txBody>
      </p:sp>
      <p:sp>
        <p:nvSpPr>
          <p:cNvPr id="4" name="Slide Number Placeholder 3">
            <a:extLst>
              <a:ext uri="{FF2B5EF4-FFF2-40B4-BE49-F238E27FC236}">
                <a16:creationId xmlns:a16="http://schemas.microsoft.com/office/drawing/2014/main" id="{97D0DDAE-E632-42B4-AB7F-28A5D1F1623A}"/>
              </a:ext>
            </a:extLst>
          </p:cNvPr>
          <p:cNvSpPr>
            <a:spLocks noGrp="1"/>
          </p:cNvSpPr>
          <p:nvPr>
            <p:ph type="sldNum" sz="quarter" idx="10"/>
          </p:nvPr>
        </p:nvSpPr>
        <p:spPr/>
        <p:txBody>
          <a:bodyPr/>
          <a:lstStyle/>
          <a:p>
            <a:fld id="{D9B6BDF2-6896-4B98-8776-C18582F63BA5}" type="slidenum">
              <a:rPr lang="zh-TW" altLang="en-US" smtClean="0"/>
              <a:t>52</a:t>
            </a:fld>
            <a:endParaRPr lang="zh-TW" altLang="en-US"/>
          </a:p>
        </p:txBody>
      </p:sp>
      <p:sp>
        <p:nvSpPr>
          <p:cNvPr id="9" name="Content Placeholder 4">
            <a:extLst>
              <a:ext uri="{FF2B5EF4-FFF2-40B4-BE49-F238E27FC236}">
                <a16:creationId xmlns:a16="http://schemas.microsoft.com/office/drawing/2014/main" id="{9173E595-34D0-4CCF-ADCB-56B1B29714F6}"/>
              </a:ext>
            </a:extLst>
          </p:cNvPr>
          <p:cNvSpPr txBox="1">
            <a:spLocks/>
          </p:cNvSpPr>
          <p:nvPr/>
        </p:nvSpPr>
        <p:spPr bwMode="auto">
          <a:xfrm>
            <a:off x="609600" y="1285874"/>
            <a:ext cx="10972800" cy="2743201"/>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marL="0" indent="0" algn="l" rtl="0" eaLnBrk="1" fontAlgn="base" hangingPunct="1">
              <a:spcBef>
                <a:spcPct val="20000"/>
              </a:spcBef>
              <a:spcAft>
                <a:spcPct val="0"/>
              </a:spcAft>
              <a:buClr>
                <a:srgbClr val="0000FF"/>
              </a:buClr>
              <a:buSzPct val="80000"/>
              <a:buFont typeface="Wingdings" pitchFamily="2" charset="2"/>
              <a:buNone/>
              <a:defRPr kumimoji="1" sz="3733">
                <a:solidFill>
                  <a:schemeClr val="tx1"/>
                </a:solidFill>
                <a:latin typeface="Calibri" pitchFamily="34" charset="0"/>
                <a:ea typeface="標楷體" pitchFamily="65" charset="-120"/>
                <a:cs typeface="+mn-cs"/>
              </a:defRPr>
            </a:lvl1pPr>
            <a:lvl2pPr marL="457177" indent="0" algn="l" rtl="0" eaLnBrk="1" fontAlgn="base" hangingPunct="1">
              <a:spcBef>
                <a:spcPct val="20000"/>
              </a:spcBef>
              <a:spcAft>
                <a:spcPct val="0"/>
              </a:spcAft>
              <a:buClr>
                <a:srgbClr val="0000FF"/>
              </a:buClr>
              <a:buSzPct val="90000"/>
              <a:buFont typeface="Arial" charset="0"/>
              <a:buNone/>
              <a:defRPr kumimoji="1" sz="1801">
                <a:solidFill>
                  <a:schemeClr val="tx1"/>
                </a:solidFill>
                <a:latin typeface="Calibri" pitchFamily="34" charset="0"/>
                <a:ea typeface="標楷體" pitchFamily="65" charset="-120"/>
              </a:defRPr>
            </a:lvl2pPr>
            <a:lvl3pPr marL="914354" indent="0" algn="l" rtl="0" eaLnBrk="1" fontAlgn="base" hangingPunct="1">
              <a:spcBef>
                <a:spcPct val="20000"/>
              </a:spcBef>
              <a:spcAft>
                <a:spcPct val="0"/>
              </a:spcAft>
              <a:buNone/>
              <a:defRPr kumimoji="1" sz="1600">
                <a:solidFill>
                  <a:schemeClr val="tx1"/>
                </a:solidFill>
                <a:latin typeface="+mn-lt"/>
                <a:ea typeface="+mn-ea"/>
              </a:defRPr>
            </a:lvl3pPr>
            <a:lvl4pPr marL="1371531" indent="0" algn="l" rtl="0" eaLnBrk="1" fontAlgn="base" hangingPunct="1">
              <a:spcBef>
                <a:spcPct val="20000"/>
              </a:spcBef>
              <a:spcAft>
                <a:spcPct val="0"/>
              </a:spcAft>
              <a:buNone/>
              <a:defRPr kumimoji="1" sz="1401">
                <a:solidFill>
                  <a:schemeClr val="tx1"/>
                </a:solidFill>
                <a:latin typeface="+mn-lt"/>
                <a:ea typeface="+mn-ea"/>
              </a:defRPr>
            </a:lvl4pPr>
            <a:lvl5pPr marL="1828709" indent="0" algn="l" rtl="0" eaLnBrk="1" fontAlgn="base" hangingPunct="1">
              <a:spcBef>
                <a:spcPct val="20000"/>
              </a:spcBef>
              <a:spcAft>
                <a:spcPct val="0"/>
              </a:spcAft>
              <a:buNone/>
              <a:defRPr kumimoji="1" sz="1401">
                <a:solidFill>
                  <a:schemeClr val="tx1"/>
                </a:solidFill>
                <a:latin typeface="+mn-lt"/>
                <a:ea typeface="+mn-ea"/>
              </a:defRPr>
            </a:lvl5pPr>
            <a:lvl6pPr marL="2285886" indent="0" algn="l" rtl="0" eaLnBrk="1" fontAlgn="base" hangingPunct="1">
              <a:spcBef>
                <a:spcPct val="20000"/>
              </a:spcBef>
              <a:spcAft>
                <a:spcPct val="0"/>
              </a:spcAft>
              <a:buNone/>
              <a:defRPr kumimoji="1" sz="1401">
                <a:solidFill>
                  <a:schemeClr val="tx1"/>
                </a:solidFill>
                <a:latin typeface="+mn-lt"/>
                <a:ea typeface="+mn-ea"/>
              </a:defRPr>
            </a:lvl6pPr>
            <a:lvl7pPr marL="2743063" indent="0" algn="l" rtl="0" eaLnBrk="1" fontAlgn="base" hangingPunct="1">
              <a:spcBef>
                <a:spcPct val="20000"/>
              </a:spcBef>
              <a:spcAft>
                <a:spcPct val="0"/>
              </a:spcAft>
              <a:buNone/>
              <a:defRPr kumimoji="1" sz="1401">
                <a:solidFill>
                  <a:schemeClr val="tx1"/>
                </a:solidFill>
                <a:latin typeface="+mn-lt"/>
                <a:ea typeface="+mn-ea"/>
              </a:defRPr>
            </a:lvl7pPr>
            <a:lvl8pPr marL="3200240" indent="0" algn="l" rtl="0" eaLnBrk="1" fontAlgn="base" hangingPunct="1">
              <a:spcBef>
                <a:spcPct val="20000"/>
              </a:spcBef>
              <a:spcAft>
                <a:spcPct val="0"/>
              </a:spcAft>
              <a:buNone/>
              <a:defRPr kumimoji="1" sz="1401">
                <a:solidFill>
                  <a:schemeClr val="tx1"/>
                </a:solidFill>
                <a:latin typeface="+mn-lt"/>
                <a:ea typeface="+mn-ea"/>
              </a:defRPr>
            </a:lvl8pPr>
            <a:lvl9pPr marL="3657417" indent="0" algn="l" rtl="0" eaLnBrk="1" fontAlgn="base" hangingPunct="1">
              <a:spcBef>
                <a:spcPct val="20000"/>
              </a:spcBef>
              <a:spcAft>
                <a:spcPct val="0"/>
              </a:spcAft>
              <a:buNone/>
              <a:defRPr kumimoji="1" sz="1401">
                <a:solidFill>
                  <a:schemeClr val="tx1"/>
                </a:solidFill>
                <a:latin typeface="+mn-lt"/>
                <a:ea typeface="+mn-ea"/>
              </a:defRPr>
            </a:lvl9pPr>
          </a:lstStyle>
          <a:p>
            <a:pPr marL="457200" indent="-457200">
              <a:buFont typeface="Wingdings" panose="05000000000000000000" pitchFamily="2" charset="2"/>
              <a:buChar char="§"/>
            </a:pPr>
            <a:r>
              <a:rPr lang="en-US" sz="2800" kern="0" dirty="0">
                <a:solidFill>
                  <a:prstClr val="black"/>
                </a:solidFill>
              </a:rPr>
              <a:t>The major performance bottleneck of a typical program is in the memory hierarchy. The latency of loads and insufficient memory bandwidth cause it. What if the ISA gives us 1024 registers? We shall not suffer from such delays since the compiler can allocate variables in registers.</a:t>
            </a:r>
          </a:p>
          <a:p>
            <a:pPr marL="457200" indent="-457200">
              <a:buFont typeface="Wingdings" panose="05000000000000000000" pitchFamily="2" charset="2"/>
              <a:buChar char="§"/>
            </a:pPr>
            <a:endParaRPr lang="en-US" sz="3200" kern="0" dirty="0">
              <a:solidFill>
                <a:prstClr val="black"/>
              </a:solidFill>
            </a:endParaRPr>
          </a:p>
        </p:txBody>
      </p:sp>
      <p:sp>
        <p:nvSpPr>
          <p:cNvPr id="10" name="Content Placeholder 4">
            <a:extLst>
              <a:ext uri="{FF2B5EF4-FFF2-40B4-BE49-F238E27FC236}">
                <a16:creationId xmlns:a16="http://schemas.microsoft.com/office/drawing/2014/main" id="{21E87CAB-4367-4B22-8291-70C9289E4817}"/>
              </a:ext>
            </a:extLst>
          </p:cNvPr>
          <p:cNvSpPr txBox="1">
            <a:spLocks/>
          </p:cNvSpPr>
          <p:nvPr/>
        </p:nvSpPr>
        <p:spPr bwMode="auto">
          <a:xfrm>
            <a:off x="609600" y="3797297"/>
            <a:ext cx="11343217" cy="2108204"/>
          </a:xfrm>
          <a:prstGeom prst="rect">
            <a:avLst/>
          </a:prstGeom>
          <a:solidFill>
            <a:srgbClr val="FFFF00"/>
          </a:solidFill>
          <a:ln w="9525">
            <a:noFill/>
            <a:miter lim="800000"/>
            <a:headEnd/>
            <a:tailEnd/>
          </a:ln>
        </p:spPr>
        <p:txBody>
          <a:bodyPr vert="horz" wrap="square" lIns="91440" tIns="45720" rIns="91440" bIns="45720" numCol="1" anchor="b" anchorCtr="0" compatLnSpc="1">
            <a:prstTxWarp prst="textNoShape">
              <a:avLst/>
            </a:prstTxWarp>
          </a:bodyPr>
          <a:lstStyle>
            <a:lvl1pPr marL="0" indent="0" algn="l" rtl="0" eaLnBrk="1" fontAlgn="base" hangingPunct="1">
              <a:spcBef>
                <a:spcPct val="20000"/>
              </a:spcBef>
              <a:spcAft>
                <a:spcPct val="0"/>
              </a:spcAft>
              <a:buClr>
                <a:srgbClr val="0000FF"/>
              </a:buClr>
              <a:buSzPct val="80000"/>
              <a:buFont typeface="Wingdings" pitchFamily="2" charset="2"/>
              <a:buNone/>
              <a:defRPr kumimoji="1" sz="3733">
                <a:solidFill>
                  <a:schemeClr val="tx1"/>
                </a:solidFill>
                <a:latin typeface="Calibri" pitchFamily="34" charset="0"/>
                <a:ea typeface="標楷體" pitchFamily="65" charset="-120"/>
                <a:cs typeface="+mn-cs"/>
              </a:defRPr>
            </a:lvl1pPr>
            <a:lvl2pPr marL="457177" indent="0" algn="l" rtl="0" eaLnBrk="1" fontAlgn="base" hangingPunct="1">
              <a:spcBef>
                <a:spcPct val="20000"/>
              </a:spcBef>
              <a:spcAft>
                <a:spcPct val="0"/>
              </a:spcAft>
              <a:buClr>
                <a:srgbClr val="0000FF"/>
              </a:buClr>
              <a:buSzPct val="90000"/>
              <a:buFont typeface="Arial" charset="0"/>
              <a:buNone/>
              <a:defRPr kumimoji="1" sz="1801">
                <a:solidFill>
                  <a:schemeClr val="tx1"/>
                </a:solidFill>
                <a:latin typeface="Calibri" pitchFamily="34" charset="0"/>
                <a:ea typeface="標楷體" pitchFamily="65" charset="-120"/>
              </a:defRPr>
            </a:lvl2pPr>
            <a:lvl3pPr marL="914354" indent="0" algn="l" rtl="0" eaLnBrk="1" fontAlgn="base" hangingPunct="1">
              <a:spcBef>
                <a:spcPct val="20000"/>
              </a:spcBef>
              <a:spcAft>
                <a:spcPct val="0"/>
              </a:spcAft>
              <a:buNone/>
              <a:defRPr kumimoji="1" sz="1600">
                <a:solidFill>
                  <a:schemeClr val="tx1"/>
                </a:solidFill>
                <a:latin typeface="+mn-lt"/>
                <a:ea typeface="+mn-ea"/>
              </a:defRPr>
            </a:lvl3pPr>
            <a:lvl4pPr marL="1371531" indent="0" algn="l" rtl="0" eaLnBrk="1" fontAlgn="base" hangingPunct="1">
              <a:spcBef>
                <a:spcPct val="20000"/>
              </a:spcBef>
              <a:spcAft>
                <a:spcPct val="0"/>
              </a:spcAft>
              <a:buNone/>
              <a:defRPr kumimoji="1" sz="1401">
                <a:solidFill>
                  <a:schemeClr val="tx1"/>
                </a:solidFill>
                <a:latin typeface="+mn-lt"/>
                <a:ea typeface="+mn-ea"/>
              </a:defRPr>
            </a:lvl4pPr>
            <a:lvl5pPr marL="1828709" indent="0" algn="l" rtl="0" eaLnBrk="1" fontAlgn="base" hangingPunct="1">
              <a:spcBef>
                <a:spcPct val="20000"/>
              </a:spcBef>
              <a:spcAft>
                <a:spcPct val="0"/>
              </a:spcAft>
              <a:buNone/>
              <a:defRPr kumimoji="1" sz="1401">
                <a:solidFill>
                  <a:schemeClr val="tx1"/>
                </a:solidFill>
                <a:latin typeface="+mn-lt"/>
                <a:ea typeface="+mn-ea"/>
              </a:defRPr>
            </a:lvl5pPr>
            <a:lvl6pPr marL="2285886" indent="0" algn="l" rtl="0" eaLnBrk="1" fontAlgn="base" hangingPunct="1">
              <a:spcBef>
                <a:spcPct val="20000"/>
              </a:spcBef>
              <a:spcAft>
                <a:spcPct val="0"/>
              </a:spcAft>
              <a:buNone/>
              <a:defRPr kumimoji="1" sz="1401">
                <a:solidFill>
                  <a:schemeClr val="tx1"/>
                </a:solidFill>
                <a:latin typeface="+mn-lt"/>
                <a:ea typeface="+mn-ea"/>
              </a:defRPr>
            </a:lvl6pPr>
            <a:lvl7pPr marL="2743063" indent="0" algn="l" rtl="0" eaLnBrk="1" fontAlgn="base" hangingPunct="1">
              <a:spcBef>
                <a:spcPct val="20000"/>
              </a:spcBef>
              <a:spcAft>
                <a:spcPct val="0"/>
              </a:spcAft>
              <a:buNone/>
              <a:defRPr kumimoji="1" sz="1401">
                <a:solidFill>
                  <a:schemeClr val="tx1"/>
                </a:solidFill>
                <a:latin typeface="+mn-lt"/>
                <a:ea typeface="+mn-ea"/>
              </a:defRPr>
            </a:lvl7pPr>
            <a:lvl8pPr marL="3200240" indent="0" algn="l" rtl="0" eaLnBrk="1" fontAlgn="base" hangingPunct="1">
              <a:spcBef>
                <a:spcPct val="20000"/>
              </a:spcBef>
              <a:spcAft>
                <a:spcPct val="0"/>
              </a:spcAft>
              <a:buNone/>
              <a:defRPr kumimoji="1" sz="1401">
                <a:solidFill>
                  <a:schemeClr val="tx1"/>
                </a:solidFill>
                <a:latin typeface="+mn-lt"/>
                <a:ea typeface="+mn-ea"/>
              </a:defRPr>
            </a:lvl8pPr>
            <a:lvl9pPr marL="3657417" indent="0" algn="l" rtl="0" eaLnBrk="1" fontAlgn="base" hangingPunct="1">
              <a:spcBef>
                <a:spcPct val="20000"/>
              </a:spcBef>
              <a:spcAft>
                <a:spcPct val="0"/>
              </a:spcAft>
              <a:buNone/>
              <a:defRPr kumimoji="1" sz="1401">
                <a:solidFill>
                  <a:schemeClr val="tx1"/>
                </a:solidFill>
                <a:latin typeface="+mn-lt"/>
                <a:ea typeface="+mn-ea"/>
              </a:defRPr>
            </a:lvl9pPr>
          </a:lstStyle>
          <a:p>
            <a:pPr marL="457200" indent="-457200">
              <a:buFont typeface="Wingdings" panose="05000000000000000000" pitchFamily="2" charset="2"/>
              <a:buChar char="§"/>
            </a:pPr>
            <a:r>
              <a:rPr lang="en-US" sz="2800" kern="0" dirty="0">
                <a:solidFill>
                  <a:prstClr val="black"/>
                </a:solidFill>
              </a:rPr>
              <a:t>The compiler can allocate scalar variables in registers, but not aggregate data structures such as arrays, strings, or the stack.</a:t>
            </a:r>
          </a:p>
          <a:p>
            <a:pPr marL="457200" indent="-457200">
              <a:buFont typeface="Wingdings" panose="05000000000000000000" pitchFamily="2" charset="2"/>
              <a:buChar char="§"/>
            </a:pPr>
            <a:r>
              <a:rPr lang="en-US" sz="2800" kern="0" dirty="0">
                <a:solidFill>
                  <a:prstClr val="black"/>
                </a:solidFill>
              </a:rPr>
              <a:t>Most memory loads/stores originate from array/string/stack references. Thus, having a large number of registers does not help much.</a:t>
            </a:r>
          </a:p>
        </p:txBody>
      </p:sp>
    </p:spTree>
    <p:extLst>
      <p:ext uri="{BB962C8B-B14F-4D97-AF65-F5344CB8AC3E}">
        <p14:creationId xmlns:p14="http://schemas.microsoft.com/office/powerpoint/2010/main" val="1954286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Jump Instructions</a:t>
            </a:r>
          </a:p>
        </p:txBody>
      </p:sp>
      <p:sp>
        <p:nvSpPr>
          <p:cNvPr id="3" name="Content Placeholder 2"/>
          <p:cNvSpPr>
            <a:spLocks noGrp="1"/>
          </p:cNvSpPr>
          <p:nvPr>
            <p:ph idx="1"/>
          </p:nvPr>
        </p:nvSpPr>
        <p:spPr>
          <a:xfrm>
            <a:off x="1129402" y="951895"/>
            <a:ext cx="8917209" cy="4954211"/>
          </a:xfrm>
        </p:spPr>
        <p:txBody>
          <a:bodyPr/>
          <a:lstStyle/>
          <a:p>
            <a:pPr marL="342891" lvl="1" indent="-342891">
              <a:buClr>
                <a:schemeClr val="hlink"/>
              </a:buClr>
              <a:buSzPct val="110000"/>
              <a:buBlip>
                <a:blip r:embed="rId3"/>
              </a:buBlip>
            </a:pPr>
            <a:r>
              <a:rPr lang="en-US" sz="2400" dirty="0">
                <a:solidFill>
                  <a:srgbClr val="FF0000"/>
                </a:solidFill>
              </a:rPr>
              <a:t>Unconditional jump and link </a:t>
            </a:r>
            <a:r>
              <a:rPr lang="en-US" sz="2400" dirty="0"/>
              <a:t>(UJ-type)</a:t>
            </a:r>
          </a:p>
          <a:p>
            <a:pPr marL="0" lvl="1" indent="0">
              <a:buSzPct val="110000"/>
              <a:buNone/>
            </a:pPr>
            <a:endParaRPr lang="en-US" dirty="0"/>
          </a:p>
          <a:p>
            <a:pPr lvl="1"/>
            <a:endParaRPr lang="en-US" sz="2000" dirty="0"/>
          </a:p>
          <a:p>
            <a:pPr lvl="1"/>
            <a:r>
              <a:rPr lang="en-US" sz="2000" dirty="0"/>
              <a:t>opcode = </a:t>
            </a:r>
            <a:r>
              <a:rPr lang="en-US" sz="2400" b="1" dirty="0"/>
              <a:t>JAL</a:t>
            </a:r>
            <a:r>
              <a:rPr lang="en-US" sz="2000" dirty="0"/>
              <a:t>: </a:t>
            </a:r>
            <a:r>
              <a:rPr lang="en-US" sz="2000" dirty="0" err="1">
                <a:solidFill>
                  <a:srgbClr val="56127A"/>
                </a:solidFill>
              </a:rPr>
              <a:t>rd</a:t>
            </a:r>
            <a:r>
              <a:rPr lang="en-US" sz="2000" dirty="0">
                <a:solidFill>
                  <a:srgbClr val="56127A"/>
                </a:solidFill>
              </a:rPr>
              <a:t> </a:t>
            </a:r>
            <a:r>
              <a:rPr lang="en-US" sz="2000" dirty="0">
                <a:solidFill>
                  <a:srgbClr val="56127A"/>
                </a:solidFill>
                <a:sym typeface="Wingdings" panose="05000000000000000000" pitchFamily="2" charset="2"/>
              </a:rPr>
              <a:t> pc + 4; pc  pc + J-</a:t>
            </a:r>
            <a:r>
              <a:rPr lang="en-US" sz="2000" dirty="0" err="1">
                <a:solidFill>
                  <a:srgbClr val="56127A"/>
                </a:solidFill>
                <a:sym typeface="Wingdings" panose="05000000000000000000" pitchFamily="2" charset="2"/>
              </a:rPr>
              <a:t>imm</a:t>
            </a:r>
            <a:endParaRPr lang="en-US" sz="2000" dirty="0"/>
          </a:p>
          <a:p>
            <a:pPr lvl="1"/>
            <a:r>
              <a:rPr lang="en-US" sz="2000" dirty="0"/>
              <a:t>J-</a:t>
            </a:r>
            <a:r>
              <a:rPr lang="en-US" sz="2000" dirty="0" err="1"/>
              <a:t>imm</a:t>
            </a:r>
            <a:r>
              <a:rPr lang="en-US" sz="2000" dirty="0"/>
              <a:t> = </a:t>
            </a:r>
            <a:r>
              <a:rPr lang="en-US" sz="2000" dirty="0" err="1"/>
              <a:t>signExtend</a:t>
            </a:r>
            <a:r>
              <a:rPr lang="en-US" sz="2000" dirty="0"/>
              <a:t>({</a:t>
            </a:r>
            <a:r>
              <a:rPr lang="en-US" sz="2000" dirty="0" err="1"/>
              <a:t>inst</a:t>
            </a:r>
            <a:r>
              <a:rPr lang="en-US" sz="2000" dirty="0"/>
              <a:t>[31], </a:t>
            </a:r>
            <a:r>
              <a:rPr lang="en-US" sz="2000" dirty="0" err="1"/>
              <a:t>inst</a:t>
            </a:r>
            <a:r>
              <a:rPr lang="en-US" sz="2000" dirty="0"/>
              <a:t>[19:12], </a:t>
            </a:r>
            <a:r>
              <a:rPr lang="en-US" sz="2000" dirty="0" err="1"/>
              <a:t>inst</a:t>
            </a:r>
            <a:r>
              <a:rPr lang="en-US" sz="2000" dirty="0"/>
              <a:t>[20], </a:t>
            </a:r>
            <a:r>
              <a:rPr lang="en-US" sz="2000" dirty="0" err="1"/>
              <a:t>inst</a:t>
            </a:r>
            <a:r>
              <a:rPr lang="en-US" sz="2000" dirty="0"/>
              <a:t>[30:21], 1’b0})</a:t>
            </a:r>
          </a:p>
          <a:p>
            <a:pPr lvl="1"/>
            <a:r>
              <a:rPr lang="en-US" sz="2000" dirty="0"/>
              <a:t>Jump ±1MB range</a:t>
            </a:r>
          </a:p>
          <a:p>
            <a:pPr lvl="1"/>
            <a:r>
              <a:rPr lang="en-US" sz="2000" dirty="0"/>
              <a:t>To reach a range greater than 1MB, AUIPC+JALR is needed. </a:t>
            </a:r>
          </a:p>
          <a:p>
            <a:r>
              <a:rPr lang="en-US" sz="2400" dirty="0">
                <a:solidFill>
                  <a:srgbClr val="FF0000"/>
                </a:solidFill>
              </a:rPr>
              <a:t>Unconditional jump via register and link </a:t>
            </a:r>
            <a:r>
              <a:rPr lang="en-US" sz="2400" dirty="0"/>
              <a:t>(I-type)</a:t>
            </a:r>
          </a:p>
          <a:p>
            <a:pPr marL="0" indent="0">
              <a:buNone/>
            </a:pPr>
            <a:endParaRPr lang="en-US" sz="2400" dirty="0"/>
          </a:p>
          <a:p>
            <a:pPr marL="457176" lvl="1" indent="0">
              <a:buNone/>
            </a:pPr>
            <a:endParaRPr lang="en-US" sz="2000" dirty="0"/>
          </a:p>
          <a:p>
            <a:pPr lvl="1"/>
            <a:r>
              <a:rPr lang="en-US" sz="2000" dirty="0"/>
              <a:t>opcode = </a:t>
            </a:r>
            <a:r>
              <a:rPr lang="en-US" sz="2400" b="1" dirty="0"/>
              <a:t>JALR</a:t>
            </a:r>
            <a:r>
              <a:rPr lang="en-US" sz="2000" dirty="0"/>
              <a:t>: </a:t>
            </a:r>
            <a:r>
              <a:rPr lang="en-US" sz="2000" dirty="0" err="1">
                <a:solidFill>
                  <a:srgbClr val="56127A"/>
                </a:solidFill>
                <a:sym typeface="Wingdings" panose="05000000000000000000" pitchFamily="2" charset="2"/>
              </a:rPr>
              <a:t>rd</a:t>
            </a:r>
            <a:r>
              <a:rPr lang="en-US" sz="2000" dirty="0">
                <a:solidFill>
                  <a:srgbClr val="56127A"/>
                </a:solidFill>
                <a:sym typeface="Wingdings" panose="05000000000000000000" pitchFamily="2" charset="2"/>
              </a:rPr>
              <a:t>  pc + 4; pc  (rs1 + I-</a:t>
            </a:r>
            <a:r>
              <a:rPr lang="en-US" sz="2000" dirty="0" err="1">
                <a:solidFill>
                  <a:srgbClr val="56127A"/>
                </a:solidFill>
                <a:sym typeface="Wingdings" panose="05000000000000000000" pitchFamily="2" charset="2"/>
              </a:rPr>
              <a:t>imm</a:t>
            </a:r>
            <a:r>
              <a:rPr lang="en-US" sz="2000" dirty="0">
                <a:solidFill>
                  <a:srgbClr val="56127A"/>
                </a:solidFill>
                <a:sym typeface="Wingdings" panose="05000000000000000000" pitchFamily="2" charset="2"/>
              </a:rPr>
              <a:t>) &amp; ~0x01</a:t>
            </a:r>
          </a:p>
          <a:p>
            <a:pPr lvl="1"/>
            <a:r>
              <a:rPr lang="en-US" sz="2000" dirty="0"/>
              <a:t>I-</a:t>
            </a:r>
            <a:r>
              <a:rPr lang="en-US" sz="2000" dirty="0" err="1"/>
              <a:t>imm</a:t>
            </a:r>
            <a:r>
              <a:rPr lang="en-US" sz="2000" dirty="0"/>
              <a:t> = </a:t>
            </a:r>
            <a:r>
              <a:rPr lang="en-US" sz="2000" dirty="0" err="1"/>
              <a:t>signExtend</a:t>
            </a:r>
            <a:r>
              <a:rPr lang="en-US" sz="2000" dirty="0"/>
              <a:t>(</a:t>
            </a:r>
            <a:r>
              <a:rPr lang="en-US" sz="2000" dirty="0" err="1"/>
              <a:t>inst</a:t>
            </a:r>
            <a:r>
              <a:rPr lang="en-US" sz="2000" dirty="0"/>
              <a:t>[31:20])</a:t>
            </a:r>
          </a:p>
        </p:txBody>
      </p:sp>
      <p:grpSp>
        <p:nvGrpSpPr>
          <p:cNvPr id="9" name="Group 8"/>
          <p:cNvGrpSpPr/>
          <p:nvPr/>
        </p:nvGrpSpPr>
        <p:grpSpPr>
          <a:xfrm>
            <a:off x="1389866" y="1379696"/>
            <a:ext cx="8262135" cy="667543"/>
            <a:chOff x="721854" y="5395393"/>
            <a:chExt cx="8262135" cy="667543"/>
          </a:xfrm>
        </p:grpSpPr>
        <p:sp>
          <p:nvSpPr>
            <p:cNvPr id="10" name="TextBox 9"/>
            <p:cNvSpPr txBox="1"/>
            <p:nvPr/>
          </p:nvSpPr>
          <p:spPr>
            <a:xfrm>
              <a:off x="721854" y="5708993"/>
              <a:ext cx="1178065"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[20]</a:t>
              </a:r>
            </a:p>
          </p:txBody>
        </p:sp>
        <p:sp>
          <p:nvSpPr>
            <p:cNvPr id="11" name="TextBox 10"/>
            <p:cNvSpPr txBox="1"/>
            <p:nvPr/>
          </p:nvSpPr>
          <p:spPr>
            <a:xfrm>
              <a:off x="1899919" y="5708993"/>
              <a:ext cx="20845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[10:1]</a:t>
              </a:r>
            </a:p>
          </p:txBody>
        </p:sp>
        <p:sp>
          <p:nvSpPr>
            <p:cNvPr id="12" name="TextBox 11"/>
            <p:cNvSpPr txBox="1"/>
            <p:nvPr/>
          </p:nvSpPr>
          <p:spPr>
            <a:xfrm>
              <a:off x="6786728" y="5708992"/>
              <a:ext cx="114824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13" name="TextBox 12"/>
            <p:cNvSpPr txBox="1"/>
            <p:nvPr/>
          </p:nvSpPr>
          <p:spPr>
            <a:xfrm>
              <a:off x="5137793" y="5708992"/>
              <a:ext cx="1647204"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[19:12]</a:t>
              </a:r>
            </a:p>
          </p:txBody>
        </p:sp>
        <p:sp>
          <p:nvSpPr>
            <p:cNvPr id="14" name="TextBox 13"/>
            <p:cNvSpPr txBox="1"/>
            <p:nvPr/>
          </p:nvSpPr>
          <p:spPr>
            <a:xfrm>
              <a:off x="3984481" y="5708992"/>
              <a:ext cx="1153312"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a:t>
              </a:r>
            </a:p>
          </p:txBody>
        </p:sp>
        <p:sp>
          <p:nvSpPr>
            <p:cNvPr id="15" name="TextBox 14"/>
            <p:cNvSpPr txBox="1"/>
            <p:nvPr/>
          </p:nvSpPr>
          <p:spPr>
            <a:xfrm>
              <a:off x="7934969" y="5708992"/>
              <a:ext cx="1049020"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6" name="TextBox 15"/>
            <p:cNvSpPr txBox="1"/>
            <p:nvPr/>
          </p:nvSpPr>
          <p:spPr>
            <a:xfrm>
              <a:off x="1157640" y="5395393"/>
              <a:ext cx="306494" cy="353943"/>
            </a:xfrm>
            <a:prstGeom prst="rect">
              <a:avLst/>
            </a:prstGeom>
            <a:noFill/>
          </p:spPr>
          <p:txBody>
            <a:bodyPr wrap="none" rtlCol="0">
              <a:spAutoFit/>
            </a:bodyPr>
            <a:lstStyle/>
            <a:p>
              <a:pPr algn="ctr"/>
              <a:r>
                <a:rPr lang="en-US" sz="1700" dirty="0"/>
                <a:t>1</a:t>
              </a:r>
            </a:p>
          </p:txBody>
        </p:sp>
        <p:sp>
          <p:nvSpPr>
            <p:cNvPr id="17" name="TextBox 16"/>
            <p:cNvSpPr txBox="1"/>
            <p:nvPr/>
          </p:nvSpPr>
          <p:spPr>
            <a:xfrm>
              <a:off x="2728038" y="5395393"/>
              <a:ext cx="428322" cy="353943"/>
            </a:xfrm>
            <a:prstGeom prst="rect">
              <a:avLst/>
            </a:prstGeom>
            <a:noFill/>
          </p:spPr>
          <p:txBody>
            <a:bodyPr wrap="none" rtlCol="0">
              <a:spAutoFit/>
            </a:bodyPr>
            <a:lstStyle/>
            <a:p>
              <a:pPr algn="ctr"/>
              <a:r>
                <a:rPr lang="en-US" sz="1700" dirty="0"/>
                <a:t>10</a:t>
              </a:r>
            </a:p>
          </p:txBody>
        </p:sp>
        <p:sp>
          <p:nvSpPr>
            <p:cNvPr id="18" name="TextBox 17"/>
            <p:cNvSpPr txBox="1"/>
            <p:nvPr/>
          </p:nvSpPr>
          <p:spPr>
            <a:xfrm>
              <a:off x="4410425" y="5395393"/>
              <a:ext cx="306494" cy="353943"/>
            </a:xfrm>
            <a:prstGeom prst="rect">
              <a:avLst/>
            </a:prstGeom>
            <a:noFill/>
          </p:spPr>
          <p:txBody>
            <a:bodyPr wrap="none" rtlCol="0">
              <a:spAutoFit/>
            </a:bodyPr>
            <a:lstStyle/>
            <a:p>
              <a:pPr algn="ctr"/>
              <a:r>
                <a:rPr lang="en-US" sz="1700" dirty="0"/>
                <a:t>1</a:t>
              </a:r>
            </a:p>
          </p:txBody>
        </p:sp>
        <p:sp>
          <p:nvSpPr>
            <p:cNvPr id="19" name="TextBox 18"/>
            <p:cNvSpPr txBox="1"/>
            <p:nvPr/>
          </p:nvSpPr>
          <p:spPr>
            <a:xfrm>
              <a:off x="5806479" y="5395393"/>
              <a:ext cx="306494" cy="353943"/>
            </a:xfrm>
            <a:prstGeom prst="rect">
              <a:avLst/>
            </a:prstGeom>
            <a:noFill/>
          </p:spPr>
          <p:txBody>
            <a:bodyPr wrap="none" rtlCol="0">
              <a:spAutoFit/>
            </a:bodyPr>
            <a:lstStyle/>
            <a:p>
              <a:pPr algn="ctr"/>
              <a:r>
                <a:rPr lang="en-US" sz="1700" dirty="0"/>
                <a:t>8</a:t>
              </a:r>
            </a:p>
          </p:txBody>
        </p:sp>
        <p:sp>
          <p:nvSpPr>
            <p:cNvPr id="20" name="TextBox 19"/>
            <p:cNvSpPr txBox="1"/>
            <p:nvPr/>
          </p:nvSpPr>
          <p:spPr>
            <a:xfrm>
              <a:off x="7202532" y="5395393"/>
              <a:ext cx="306494" cy="353943"/>
            </a:xfrm>
            <a:prstGeom prst="rect">
              <a:avLst/>
            </a:prstGeom>
            <a:noFill/>
          </p:spPr>
          <p:txBody>
            <a:bodyPr wrap="none" rtlCol="0">
              <a:spAutoFit/>
            </a:bodyPr>
            <a:lstStyle/>
            <a:p>
              <a:pPr algn="ctr"/>
              <a:r>
                <a:rPr lang="en-US" sz="1700" dirty="0"/>
                <a:t>5</a:t>
              </a:r>
            </a:p>
          </p:txBody>
        </p:sp>
        <p:sp>
          <p:nvSpPr>
            <p:cNvPr id="21" name="TextBox 20"/>
            <p:cNvSpPr txBox="1"/>
            <p:nvPr/>
          </p:nvSpPr>
          <p:spPr>
            <a:xfrm>
              <a:off x="8306232" y="5395393"/>
              <a:ext cx="306494" cy="353943"/>
            </a:xfrm>
            <a:prstGeom prst="rect">
              <a:avLst/>
            </a:prstGeom>
            <a:noFill/>
          </p:spPr>
          <p:txBody>
            <a:bodyPr wrap="none" rtlCol="0">
              <a:spAutoFit/>
            </a:bodyPr>
            <a:lstStyle/>
            <a:p>
              <a:pPr algn="ctr"/>
              <a:r>
                <a:rPr lang="en-US" sz="1700" dirty="0"/>
                <a:t>7</a:t>
              </a:r>
            </a:p>
          </p:txBody>
        </p:sp>
      </p:grpSp>
      <p:grpSp>
        <p:nvGrpSpPr>
          <p:cNvPr id="23" name="Group 22"/>
          <p:cNvGrpSpPr/>
          <p:nvPr/>
        </p:nvGrpSpPr>
        <p:grpSpPr>
          <a:xfrm>
            <a:off x="1389866" y="4114086"/>
            <a:ext cx="8078703" cy="646103"/>
            <a:chOff x="723900" y="3317566"/>
            <a:chExt cx="8078703" cy="646103"/>
          </a:xfrm>
        </p:grpSpPr>
        <p:sp>
          <p:nvSpPr>
            <p:cNvPr id="24" name="TextBox 23"/>
            <p:cNvSpPr txBox="1"/>
            <p:nvPr/>
          </p:nvSpPr>
          <p:spPr>
            <a:xfrm>
              <a:off x="723900" y="3609726"/>
              <a:ext cx="2968096"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[11:0]</a:t>
              </a:r>
            </a:p>
          </p:txBody>
        </p:sp>
        <p:sp>
          <p:nvSpPr>
            <p:cNvPr id="25" name="TextBox 24"/>
            <p:cNvSpPr txBox="1"/>
            <p:nvPr/>
          </p:nvSpPr>
          <p:spPr>
            <a:xfrm>
              <a:off x="4922042" y="3609726"/>
              <a:ext cx="91201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26" name="TextBox 25"/>
            <p:cNvSpPr txBox="1"/>
            <p:nvPr/>
          </p:nvSpPr>
          <p:spPr>
            <a:xfrm>
              <a:off x="3694111" y="3609726"/>
              <a:ext cx="122793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27" name="TextBox 26"/>
            <p:cNvSpPr txBox="1"/>
            <p:nvPr/>
          </p:nvSpPr>
          <p:spPr>
            <a:xfrm>
              <a:off x="5834060" y="3609726"/>
              <a:ext cx="12262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28" name="TextBox 27"/>
            <p:cNvSpPr txBox="1"/>
            <p:nvPr/>
          </p:nvSpPr>
          <p:spPr>
            <a:xfrm>
              <a:off x="7060322" y="3609726"/>
              <a:ext cx="174228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29" name="TextBox 28"/>
            <p:cNvSpPr txBox="1"/>
            <p:nvPr/>
          </p:nvSpPr>
          <p:spPr>
            <a:xfrm>
              <a:off x="1993787" y="3317566"/>
              <a:ext cx="428322" cy="353943"/>
            </a:xfrm>
            <a:prstGeom prst="rect">
              <a:avLst/>
            </a:prstGeom>
            <a:noFill/>
          </p:spPr>
          <p:txBody>
            <a:bodyPr wrap="none" rtlCol="0">
              <a:spAutoFit/>
            </a:bodyPr>
            <a:lstStyle/>
            <a:p>
              <a:pPr algn="ctr"/>
              <a:r>
                <a:rPr lang="en-US" sz="1700" dirty="0"/>
                <a:t>12</a:t>
              </a:r>
            </a:p>
          </p:txBody>
        </p:sp>
        <p:sp>
          <p:nvSpPr>
            <p:cNvPr id="30" name="TextBox 29"/>
            <p:cNvSpPr txBox="1"/>
            <p:nvPr/>
          </p:nvSpPr>
          <p:spPr>
            <a:xfrm>
              <a:off x="4154830" y="3317566"/>
              <a:ext cx="306494" cy="353943"/>
            </a:xfrm>
            <a:prstGeom prst="rect">
              <a:avLst/>
            </a:prstGeom>
            <a:noFill/>
          </p:spPr>
          <p:txBody>
            <a:bodyPr wrap="none" rtlCol="0">
              <a:spAutoFit/>
            </a:bodyPr>
            <a:lstStyle/>
            <a:p>
              <a:pPr algn="ctr"/>
              <a:r>
                <a:rPr lang="en-US" sz="1700" dirty="0"/>
                <a:t>5</a:t>
              </a:r>
            </a:p>
          </p:txBody>
        </p:sp>
        <p:sp>
          <p:nvSpPr>
            <p:cNvPr id="31" name="TextBox 30"/>
            <p:cNvSpPr txBox="1"/>
            <p:nvPr/>
          </p:nvSpPr>
          <p:spPr>
            <a:xfrm>
              <a:off x="5220834" y="3317566"/>
              <a:ext cx="306494" cy="353943"/>
            </a:xfrm>
            <a:prstGeom prst="rect">
              <a:avLst/>
            </a:prstGeom>
            <a:noFill/>
          </p:spPr>
          <p:txBody>
            <a:bodyPr wrap="none" rtlCol="0">
              <a:spAutoFit/>
            </a:bodyPr>
            <a:lstStyle/>
            <a:p>
              <a:pPr algn="ctr"/>
              <a:r>
                <a:rPr lang="en-US" sz="1700" dirty="0"/>
                <a:t>3</a:t>
              </a:r>
            </a:p>
          </p:txBody>
        </p:sp>
        <p:sp>
          <p:nvSpPr>
            <p:cNvPr id="32" name="TextBox 31"/>
            <p:cNvSpPr txBox="1"/>
            <p:nvPr/>
          </p:nvSpPr>
          <p:spPr>
            <a:xfrm>
              <a:off x="6296894" y="3317566"/>
              <a:ext cx="306494" cy="353943"/>
            </a:xfrm>
            <a:prstGeom prst="rect">
              <a:avLst/>
            </a:prstGeom>
            <a:noFill/>
          </p:spPr>
          <p:txBody>
            <a:bodyPr wrap="none" rtlCol="0">
              <a:spAutoFit/>
            </a:bodyPr>
            <a:lstStyle/>
            <a:p>
              <a:pPr algn="ctr"/>
              <a:r>
                <a:rPr lang="en-US" sz="1700" dirty="0"/>
                <a:t>5</a:t>
              </a:r>
            </a:p>
          </p:txBody>
        </p:sp>
        <p:sp>
          <p:nvSpPr>
            <p:cNvPr id="33" name="TextBox 32"/>
            <p:cNvSpPr txBox="1"/>
            <p:nvPr/>
          </p:nvSpPr>
          <p:spPr>
            <a:xfrm>
              <a:off x="7778215" y="3317566"/>
              <a:ext cx="306494" cy="353943"/>
            </a:xfrm>
            <a:prstGeom prst="rect">
              <a:avLst/>
            </a:prstGeom>
            <a:noFill/>
          </p:spPr>
          <p:txBody>
            <a:bodyPr wrap="none" rtlCol="0">
              <a:spAutoFit/>
            </a:bodyPr>
            <a:lstStyle/>
            <a:p>
              <a:pPr algn="ctr"/>
              <a:r>
                <a:rPr lang="en-US" sz="1700" dirty="0"/>
                <a:t>7</a:t>
              </a:r>
            </a:p>
          </p:txBody>
        </p:sp>
      </p:grpSp>
      <p:sp>
        <p:nvSpPr>
          <p:cNvPr id="4" name="Date Placeholder 3"/>
          <p:cNvSpPr>
            <a:spLocks noGrp="1"/>
          </p:cNvSpPr>
          <p:nvPr>
            <p:ph type="dt" sz="half" idx="10"/>
          </p:nvPr>
        </p:nvSpPr>
        <p:spPr/>
        <p:txBody>
          <a:bodyPr/>
          <a:lstStyle/>
          <a:p>
            <a:pPr>
              <a:defRPr/>
            </a:pPr>
            <a:r>
              <a:rPr lang="en-US"/>
              <a:t>September 27, 2017</a:t>
            </a:r>
            <a:endParaRPr lang="en-US" dirty="0"/>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22" name="Slide Number Placeholder 21"/>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53</a:t>
            </a:fld>
            <a:endParaRPr lang="en-US" dirty="0"/>
          </a:p>
        </p:txBody>
      </p:sp>
      <p:sp>
        <p:nvSpPr>
          <p:cNvPr id="5" name="TextBox 4">
            <a:extLst>
              <a:ext uri="{FF2B5EF4-FFF2-40B4-BE49-F238E27FC236}">
                <a16:creationId xmlns:a16="http://schemas.microsoft.com/office/drawing/2014/main" id="{46EBAD47-7B38-4786-94F3-341D5809452E}"/>
              </a:ext>
            </a:extLst>
          </p:cNvPr>
          <p:cNvSpPr txBox="1"/>
          <p:nvPr/>
        </p:nvSpPr>
        <p:spPr>
          <a:xfrm>
            <a:off x="8193960" y="4609969"/>
            <a:ext cx="3890809" cy="1446358"/>
          </a:xfrm>
          <a:prstGeom prst="rect">
            <a:avLst/>
          </a:prstGeom>
          <a:solidFill>
            <a:srgbClr val="FFFF00"/>
          </a:solidFill>
          <a:ln>
            <a:solidFill>
              <a:srgbClr val="FF0000"/>
            </a:solidFill>
          </a:ln>
        </p:spPr>
        <p:txBody>
          <a:bodyPr wrap="none" rtlCol="0" anchor="ctr" anchorCtr="1">
            <a:spAutoFit/>
          </a:bodyPr>
          <a:lstStyle/>
          <a:p>
            <a:r>
              <a:rPr lang="en-US" sz="2400" dirty="0">
                <a:ea typeface="標楷體" pitchFamily="65" charset="-120"/>
                <a:cs typeface="Calibri" panose="020F0502020204030204" pitchFamily="34" charset="0"/>
              </a:rPr>
              <a:t>Indirect-Jump</a:t>
            </a:r>
          </a:p>
          <a:p>
            <a:r>
              <a:rPr lang="en-US" sz="2133" dirty="0">
                <a:ea typeface="標楷體" pitchFamily="65" charset="-120"/>
                <a:cs typeface="Calibri" panose="020F0502020204030204" pitchFamily="34" charset="0"/>
              </a:rPr>
              <a:t>A location in a jump table</a:t>
            </a:r>
          </a:p>
          <a:p>
            <a:r>
              <a:rPr lang="en-US" sz="2133" dirty="0">
                <a:ea typeface="標楷體" pitchFamily="65" charset="-120"/>
                <a:cs typeface="Calibri" panose="020F0502020204030204" pitchFamily="34" charset="0"/>
              </a:rPr>
              <a:t>Jump table stores multiple</a:t>
            </a:r>
          </a:p>
          <a:p>
            <a:r>
              <a:rPr lang="en-US" sz="2133" dirty="0">
                <a:ea typeface="標楷體" pitchFamily="65" charset="-120"/>
                <a:cs typeface="Calibri" panose="020F0502020204030204" pitchFamily="34" charset="0"/>
              </a:rPr>
              <a:t>jump instructions or addresses</a:t>
            </a:r>
          </a:p>
        </p:txBody>
      </p:sp>
      <p:cxnSp>
        <p:nvCxnSpPr>
          <p:cNvPr id="7" name="Straight Arrow Connector 6">
            <a:extLst>
              <a:ext uri="{FF2B5EF4-FFF2-40B4-BE49-F238E27FC236}">
                <a16:creationId xmlns:a16="http://schemas.microsoft.com/office/drawing/2014/main" id="{8C182A90-8668-4584-85A3-B3A1B02B5F5A}"/>
              </a:ext>
            </a:extLst>
          </p:cNvPr>
          <p:cNvCxnSpPr>
            <a:cxnSpLocks/>
          </p:cNvCxnSpPr>
          <p:nvPr/>
        </p:nvCxnSpPr>
        <p:spPr bwMode="auto">
          <a:xfrm flipH="1">
            <a:off x="6646916" y="4848225"/>
            <a:ext cx="1612185" cy="292228"/>
          </a:xfrm>
          <a:prstGeom prst="straightConnector1">
            <a:avLst/>
          </a:prstGeom>
          <a:noFill/>
          <a:ln w="28575" cap="flat" cmpd="sng" algn="ctr">
            <a:solidFill>
              <a:srgbClr val="FF0000"/>
            </a:solidFill>
            <a:prstDash val="solid"/>
            <a:round/>
            <a:headEnd type="none" w="med" len="med"/>
            <a:tailEnd type="stealth" w="lg" len="lg"/>
          </a:ln>
        </p:spPr>
      </p:cxnSp>
    </p:spTree>
    <p:extLst>
      <p:ext uri="{BB962C8B-B14F-4D97-AF65-F5344CB8AC3E}">
        <p14:creationId xmlns:p14="http://schemas.microsoft.com/office/powerpoint/2010/main" val="4161425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0" end="1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1" end="1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2D83093-6614-4A16-8105-9070ED2CD9BC}"/>
              </a:ext>
            </a:extLst>
          </p:cNvPr>
          <p:cNvSpPr>
            <a:spLocks noGrp="1"/>
          </p:cNvSpPr>
          <p:nvPr>
            <p:ph type="body" idx="1"/>
          </p:nvPr>
        </p:nvSpPr>
        <p:spPr>
          <a:xfrm>
            <a:off x="1140179" y="174624"/>
            <a:ext cx="10363200" cy="638177"/>
          </a:xfrm>
        </p:spPr>
        <p:txBody>
          <a:bodyPr/>
          <a:lstStyle/>
          <a:p>
            <a:r>
              <a:rPr lang="en-US" dirty="0">
                <a:latin typeface="Times New Roman" panose="02020603050405020304" pitchFamily="18" charset="0"/>
                <a:cs typeface="Times New Roman" panose="02020603050405020304" pitchFamily="18" charset="0"/>
              </a:rPr>
              <a:t>Why Jump and Link? Why no Normal Jumps?</a:t>
            </a:r>
          </a:p>
        </p:txBody>
      </p:sp>
      <p:sp>
        <p:nvSpPr>
          <p:cNvPr id="4" name="Slide Number Placeholder 3">
            <a:extLst>
              <a:ext uri="{FF2B5EF4-FFF2-40B4-BE49-F238E27FC236}">
                <a16:creationId xmlns:a16="http://schemas.microsoft.com/office/drawing/2014/main" id="{97D0DDAE-E632-42B4-AB7F-28A5D1F1623A}"/>
              </a:ext>
            </a:extLst>
          </p:cNvPr>
          <p:cNvSpPr>
            <a:spLocks noGrp="1"/>
          </p:cNvSpPr>
          <p:nvPr>
            <p:ph type="sldNum" sz="quarter" idx="10"/>
          </p:nvPr>
        </p:nvSpPr>
        <p:spPr/>
        <p:txBody>
          <a:bodyPr/>
          <a:lstStyle/>
          <a:p>
            <a:fld id="{D9B6BDF2-6896-4B98-8776-C18582F63BA5}" type="slidenum">
              <a:rPr lang="zh-TW" altLang="en-US" smtClean="0"/>
              <a:t>54</a:t>
            </a:fld>
            <a:endParaRPr lang="zh-TW" altLang="en-US"/>
          </a:p>
        </p:txBody>
      </p:sp>
      <p:sp>
        <p:nvSpPr>
          <p:cNvPr id="8" name="Content Placeholder 2">
            <a:extLst>
              <a:ext uri="{FF2B5EF4-FFF2-40B4-BE49-F238E27FC236}">
                <a16:creationId xmlns:a16="http://schemas.microsoft.com/office/drawing/2014/main" id="{73B5A2CD-D338-4458-969D-09E90B8A5D3A}"/>
              </a:ext>
            </a:extLst>
          </p:cNvPr>
          <p:cNvSpPr txBox="1">
            <a:spLocks/>
          </p:cNvSpPr>
          <p:nvPr/>
        </p:nvSpPr>
        <p:spPr bwMode="auto">
          <a:xfrm>
            <a:off x="530578" y="1128891"/>
            <a:ext cx="10972801" cy="5395739"/>
          </a:xfrm>
          <a:prstGeom prst="rect">
            <a:avLst/>
          </a:prstGeom>
          <a:noFill/>
          <a:ln w="9525">
            <a:noFill/>
            <a:miter lim="800000"/>
          </a:ln>
        </p:spPr>
        <p:txBody>
          <a:bodyPr vert="horz" wrap="square" lIns="121920" tIns="60960" rIns="121920" bIns="60960" numCol="1" anchor="b" anchorCtr="0" compatLnSpc="1"/>
          <a:lstStyle>
            <a:lvl1pPr marL="0" indent="0" algn="l" rtl="0" eaLnBrk="1" fontAlgn="base" hangingPunct="1">
              <a:spcBef>
                <a:spcPct val="20000"/>
              </a:spcBef>
              <a:spcAft>
                <a:spcPct val="0"/>
              </a:spcAft>
              <a:buClr>
                <a:srgbClr val="8064A2"/>
              </a:buClr>
              <a:buSzPct val="80000"/>
              <a:buFont typeface="Wingdings" panose="05000000000000000000" pitchFamily="2" charset="2"/>
              <a:buNone/>
              <a:defRPr kumimoji="1" sz="2800">
                <a:solidFill>
                  <a:schemeClr val="tx1"/>
                </a:solidFill>
                <a:latin typeface="Calibri" panose="020F0502020204030204" pitchFamily="34" charset="0"/>
                <a:ea typeface="標楷體" pitchFamily="65" charset="-120"/>
                <a:cs typeface="+mn-cs"/>
              </a:defRPr>
            </a:lvl1pPr>
            <a:lvl2pPr marL="342900" indent="0" algn="l" rtl="0" eaLnBrk="1" fontAlgn="base" hangingPunct="1">
              <a:spcBef>
                <a:spcPct val="20000"/>
              </a:spcBef>
              <a:spcAft>
                <a:spcPct val="0"/>
              </a:spcAft>
              <a:buClr>
                <a:srgbClr val="8064A2"/>
              </a:buClr>
              <a:buSzPct val="90000"/>
              <a:buFont typeface="Arial" panose="020B0604020202020204" pitchFamily="34" charset="0"/>
              <a:buNone/>
              <a:defRPr kumimoji="1" sz="1350">
                <a:solidFill>
                  <a:schemeClr val="tx1"/>
                </a:solidFill>
                <a:latin typeface="Calibri" panose="020F0502020204030204" pitchFamily="34" charset="0"/>
                <a:ea typeface="標楷體" pitchFamily="65" charset="-120"/>
              </a:defRPr>
            </a:lvl2pPr>
            <a:lvl3pPr marL="685800" indent="0" algn="l" rtl="0" eaLnBrk="1" fontAlgn="base" hangingPunct="1">
              <a:spcBef>
                <a:spcPct val="20000"/>
              </a:spcBef>
              <a:spcAft>
                <a:spcPct val="0"/>
              </a:spcAft>
              <a:buNone/>
              <a:defRPr kumimoji="1" sz="1200">
                <a:solidFill>
                  <a:schemeClr val="tx1"/>
                </a:solidFill>
                <a:latin typeface="+mn-lt"/>
                <a:ea typeface="+mn-ea"/>
              </a:defRPr>
            </a:lvl3pPr>
            <a:lvl4pPr marL="1028700" indent="0" algn="l" rtl="0" eaLnBrk="1" fontAlgn="base" hangingPunct="1">
              <a:spcBef>
                <a:spcPct val="20000"/>
              </a:spcBef>
              <a:spcAft>
                <a:spcPct val="0"/>
              </a:spcAft>
              <a:buNone/>
              <a:defRPr kumimoji="1" sz="1050">
                <a:solidFill>
                  <a:schemeClr val="tx1"/>
                </a:solidFill>
                <a:latin typeface="+mn-lt"/>
                <a:ea typeface="+mn-ea"/>
              </a:defRPr>
            </a:lvl4pPr>
            <a:lvl5pPr marL="1371600" indent="0" algn="l" rtl="0" eaLnBrk="1" fontAlgn="base" hangingPunct="1">
              <a:spcBef>
                <a:spcPct val="20000"/>
              </a:spcBef>
              <a:spcAft>
                <a:spcPct val="0"/>
              </a:spcAft>
              <a:buNone/>
              <a:defRPr kumimoji="1" sz="1050">
                <a:solidFill>
                  <a:schemeClr val="tx1"/>
                </a:solidFill>
                <a:latin typeface="+mn-lt"/>
                <a:ea typeface="+mn-ea"/>
              </a:defRPr>
            </a:lvl5pPr>
            <a:lvl6pPr marL="1714500" indent="0" algn="l" rtl="0" eaLnBrk="1" fontAlgn="base" hangingPunct="1">
              <a:spcBef>
                <a:spcPct val="20000"/>
              </a:spcBef>
              <a:spcAft>
                <a:spcPct val="0"/>
              </a:spcAft>
              <a:buNone/>
              <a:defRPr kumimoji="1" sz="1050">
                <a:solidFill>
                  <a:schemeClr val="tx1"/>
                </a:solidFill>
                <a:latin typeface="+mn-lt"/>
                <a:ea typeface="+mn-ea"/>
              </a:defRPr>
            </a:lvl6pPr>
            <a:lvl7pPr marL="2057400" indent="0" algn="l" rtl="0" eaLnBrk="1" fontAlgn="base" hangingPunct="1">
              <a:spcBef>
                <a:spcPct val="20000"/>
              </a:spcBef>
              <a:spcAft>
                <a:spcPct val="0"/>
              </a:spcAft>
              <a:buNone/>
              <a:defRPr kumimoji="1" sz="1050">
                <a:solidFill>
                  <a:schemeClr val="tx1"/>
                </a:solidFill>
                <a:latin typeface="+mn-lt"/>
                <a:ea typeface="+mn-ea"/>
              </a:defRPr>
            </a:lvl7pPr>
            <a:lvl8pPr marL="2400300" indent="0" algn="l" rtl="0" eaLnBrk="1" fontAlgn="base" hangingPunct="1">
              <a:spcBef>
                <a:spcPct val="20000"/>
              </a:spcBef>
              <a:spcAft>
                <a:spcPct val="0"/>
              </a:spcAft>
              <a:buNone/>
              <a:defRPr kumimoji="1" sz="1050">
                <a:solidFill>
                  <a:schemeClr val="tx1"/>
                </a:solidFill>
                <a:latin typeface="+mn-lt"/>
                <a:ea typeface="+mn-ea"/>
              </a:defRPr>
            </a:lvl8pPr>
            <a:lvl9pPr marL="2743200" indent="0" algn="l" rtl="0" eaLnBrk="1" fontAlgn="base" hangingPunct="1">
              <a:spcBef>
                <a:spcPct val="20000"/>
              </a:spcBef>
              <a:spcAft>
                <a:spcPct val="0"/>
              </a:spcAft>
              <a:buNone/>
              <a:defRPr kumimoji="1" sz="1050">
                <a:solidFill>
                  <a:schemeClr val="tx1"/>
                </a:solidFill>
                <a:latin typeface="+mn-lt"/>
                <a:ea typeface="+mn-ea"/>
              </a:defRPr>
            </a:lvl9pPr>
          </a:lstStyle>
          <a:p>
            <a:pPr marL="380990" indent="-380990">
              <a:buFont typeface="Wingdings" panose="05000000000000000000" pitchFamily="2" charset="2"/>
              <a:buChar char="§"/>
            </a:pPr>
            <a:r>
              <a:rPr lang="en-US" kern="0" dirty="0">
                <a:latin typeface="Times New Roman" panose="02020603050405020304" pitchFamily="18" charset="0"/>
                <a:cs typeface="Times New Roman" panose="02020603050405020304" pitchFamily="18" charset="0"/>
              </a:rPr>
              <a:t>RISC-V has only Jump and Link instruction: </a:t>
            </a:r>
          </a:p>
          <a:p>
            <a:pPr marL="723890" lvl="1" indent="-380990">
              <a:buFont typeface="Wingdings" panose="05000000000000000000" pitchFamily="2" charset="2"/>
              <a:buChar char="§"/>
            </a:pPr>
            <a:r>
              <a:rPr lang="en-US" sz="2400" kern="0" dirty="0">
                <a:latin typeface="Times New Roman" panose="02020603050405020304" pitchFamily="18" charset="0"/>
                <a:cs typeface="Times New Roman" panose="02020603050405020304" pitchFamily="18" charset="0"/>
              </a:rPr>
              <a:t>Two variations: </a:t>
            </a:r>
            <a:r>
              <a:rPr lang="en-US" sz="2400" b="1" kern="0" dirty="0">
                <a:latin typeface="Times New Roman" panose="02020603050405020304" pitchFamily="18" charset="0"/>
                <a:cs typeface="Times New Roman" panose="02020603050405020304" pitchFamily="18" charset="0"/>
              </a:rPr>
              <a:t>JAL</a:t>
            </a:r>
            <a:r>
              <a:rPr lang="en-US" sz="2400" kern="0" dirty="0">
                <a:latin typeface="Times New Roman" panose="02020603050405020304" pitchFamily="18" charset="0"/>
                <a:cs typeface="Times New Roman" panose="02020603050405020304" pitchFamily="18" charset="0"/>
              </a:rPr>
              <a:t> (direct) and </a:t>
            </a:r>
            <a:r>
              <a:rPr lang="en-US" sz="2400" b="1" kern="0" dirty="0">
                <a:latin typeface="Times New Roman" panose="02020603050405020304" pitchFamily="18" charset="0"/>
                <a:cs typeface="Times New Roman" panose="02020603050405020304" pitchFamily="18" charset="0"/>
              </a:rPr>
              <a:t>JALR</a:t>
            </a:r>
            <a:r>
              <a:rPr lang="en-US" sz="2400" kern="0" dirty="0">
                <a:latin typeface="Times New Roman" panose="02020603050405020304" pitchFamily="18" charset="0"/>
                <a:cs typeface="Times New Roman" panose="02020603050405020304" pitchFamily="18" charset="0"/>
              </a:rPr>
              <a:t> (indirect)</a:t>
            </a:r>
          </a:p>
          <a:p>
            <a:pPr marL="380990" indent="-380990">
              <a:buFont typeface="Wingdings" panose="05000000000000000000" pitchFamily="2" charset="2"/>
              <a:buChar char="§"/>
            </a:pPr>
            <a:r>
              <a:rPr lang="en-US" kern="0" dirty="0">
                <a:latin typeface="Times New Roman" panose="02020603050405020304" pitchFamily="18" charset="0"/>
                <a:cs typeface="Times New Roman" panose="02020603050405020304" pitchFamily="18" charset="0"/>
              </a:rPr>
              <a:t>What happens to a normal jump? Is the link register wasted?</a:t>
            </a:r>
          </a:p>
          <a:p>
            <a:pPr marL="723890" lvl="1" indent="-380990">
              <a:buFont typeface="Wingdings" panose="05000000000000000000" pitchFamily="2" charset="2"/>
              <a:buChar char="§"/>
            </a:pPr>
            <a:r>
              <a:rPr lang="en-US" sz="2400" kern="0" dirty="0">
                <a:latin typeface="Times New Roman" panose="02020603050405020304" pitchFamily="18" charset="0"/>
                <a:cs typeface="Times New Roman" panose="02020603050405020304" pitchFamily="18" charset="0"/>
              </a:rPr>
              <a:t>There is a pseudo instruction “J”, which the assembler will set the “</a:t>
            </a:r>
            <a:r>
              <a:rPr lang="en-US" sz="2400" kern="0" dirty="0" err="1">
                <a:latin typeface="Times New Roman" panose="02020603050405020304" pitchFamily="18" charset="0"/>
                <a:cs typeface="Times New Roman" panose="02020603050405020304" pitchFamily="18" charset="0"/>
              </a:rPr>
              <a:t>rd</a:t>
            </a:r>
            <a:r>
              <a:rPr lang="en-US" sz="2400" kern="0" dirty="0">
                <a:latin typeface="Times New Roman" panose="02020603050405020304" pitchFamily="18" charset="0"/>
                <a:cs typeface="Times New Roman" panose="02020603050405020304" pitchFamily="18" charset="0"/>
              </a:rPr>
              <a:t>” as 0</a:t>
            </a:r>
          </a:p>
          <a:p>
            <a:pPr marL="723890" lvl="1" indent="-380990">
              <a:buFont typeface="Wingdings" panose="05000000000000000000" pitchFamily="2" charset="2"/>
              <a:buChar char="§"/>
            </a:pPr>
            <a:r>
              <a:rPr lang="en-US" sz="2400" kern="0" dirty="0">
                <a:latin typeface="Times New Roman" panose="02020603050405020304" pitchFamily="18" charset="0"/>
                <a:cs typeface="Times New Roman" panose="02020603050405020304" pitchFamily="18" charset="0"/>
              </a:rPr>
              <a:t>If not using the pseudo instruction “J,” the compiler can still discover that the link register is unused and reuse it for another purpose.</a:t>
            </a:r>
          </a:p>
          <a:p>
            <a:pPr marL="380990" indent="-380990">
              <a:buFont typeface="Wingdings" panose="05000000000000000000" pitchFamily="2" charset="2"/>
              <a:buChar char="§"/>
            </a:pPr>
            <a:r>
              <a:rPr lang="en-US" kern="0" dirty="0">
                <a:latin typeface="Times New Roman" panose="02020603050405020304" pitchFamily="18" charset="0"/>
                <a:cs typeface="Times New Roman" panose="02020603050405020304" pitchFamily="18" charset="0"/>
              </a:rPr>
              <a:t>This helps to avoid using additional jump instructions, such as one for call and one for jump. This is related to </a:t>
            </a:r>
            <a:r>
              <a:rPr lang="en-US" b="1" kern="0" dirty="0">
                <a:latin typeface="Times New Roman" panose="02020603050405020304" pitchFamily="18" charset="0"/>
                <a:cs typeface="Times New Roman" panose="02020603050405020304" pitchFamily="18" charset="0"/>
              </a:rPr>
              <a:t>simplicity</a:t>
            </a:r>
            <a:r>
              <a:rPr lang="en-US" kern="0" dirty="0">
                <a:latin typeface="Times New Roman" panose="02020603050405020304" pitchFamily="18" charset="0"/>
                <a:cs typeface="Times New Roman" panose="02020603050405020304" pitchFamily="18" charset="0"/>
              </a:rPr>
              <a:t> and </a:t>
            </a:r>
            <a:r>
              <a:rPr lang="en-US" b="1" kern="0" dirty="0">
                <a:latin typeface="Times New Roman" panose="02020603050405020304" pitchFamily="18" charset="0"/>
                <a:cs typeface="Times New Roman" panose="02020603050405020304" pitchFamily="18" charset="0"/>
              </a:rPr>
              <a:t>regularity</a:t>
            </a:r>
            <a:r>
              <a:rPr lang="en-US" kern="0" dirty="0">
                <a:latin typeface="Times New Roman" panose="02020603050405020304" pitchFamily="18" charset="0"/>
                <a:cs typeface="Times New Roman" panose="02020603050405020304" pitchFamily="18" charset="0"/>
              </a:rPr>
              <a:t>.</a:t>
            </a:r>
          </a:p>
          <a:p>
            <a:pPr marL="380990" indent="-380990">
              <a:buFont typeface="Wingdings" panose="05000000000000000000" pitchFamily="2" charset="2"/>
              <a:buChar char="§"/>
            </a:pPr>
            <a:r>
              <a:rPr lang="en-US" kern="0" dirty="0">
                <a:latin typeface="Times New Roman" panose="02020603050405020304" pitchFamily="18" charset="0"/>
                <a:cs typeface="Times New Roman" panose="02020603050405020304" pitchFamily="18" charset="0"/>
              </a:rPr>
              <a:t>But normal jumps do not need “</a:t>
            </a:r>
            <a:r>
              <a:rPr lang="en-US" kern="0" dirty="0" err="1">
                <a:latin typeface="Times New Roman" panose="02020603050405020304" pitchFamily="18" charset="0"/>
                <a:cs typeface="Times New Roman" panose="02020603050405020304" pitchFamily="18" charset="0"/>
              </a:rPr>
              <a:t>rd</a:t>
            </a:r>
            <a:r>
              <a:rPr lang="en-US" kern="0" dirty="0">
                <a:latin typeface="Times New Roman" panose="02020603050405020304" pitchFamily="18" charset="0"/>
                <a:cs typeface="Times New Roman" panose="02020603050405020304" pitchFamily="18" charset="0"/>
              </a:rPr>
              <a:t>”, so “</a:t>
            </a:r>
            <a:r>
              <a:rPr lang="en-US" kern="0" dirty="0" err="1">
                <a:latin typeface="Times New Roman" panose="02020603050405020304" pitchFamily="18" charset="0"/>
                <a:cs typeface="Times New Roman" panose="02020603050405020304" pitchFamily="18" charset="0"/>
              </a:rPr>
              <a:t>rd</a:t>
            </a:r>
            <a:r>
              <a:rPr lang="en-US" kern="0" dirty="0">
                <a:latin typeface="Times New Roman" panose="02020603050405020304" pitchFamily="18" charset="0"/>
                <a:cs typeface="Times New Roman" panose="02020603050405020304" pitchFamily="18" charset="0"/>
              </a:rPr>
              <a:t>” field could be used for immediate, and this could increase the jump range (32x greater)</a:t>
            </a:r>
          </a:p>
          <a:p>
            <a:pPr marL="723890" lvl="1" indent="-380990">
              <a:buFont typeface="Wingdings" panose="05000000000000000000" pitchFamily="2" charset="2"/>
              <a:buChar char="§"/>
            </a:pPr>
            <a:r>
              <a:rPr lang="en-US" sz="2400" kern="0" dirty="0">
                <a:latin typeface="Times New Roman" panose="02020603050405020304" pitchFamily="18" charset="0"/>
                <a:cs typeface="Times New Roman" panose="02020603050405020304" pitchFamily="18" charset="0"/>
              </a:rPr>
              <a:t>This calls for another instruction format (25 bits of immediate). Is it worthwhile?</a:t>
            </a:r>
          </a:p>
          <a:p>
            <a:pPr marL="380990" indent="-380990">
              <a:buFont typeface="Wingdings" panose="05000000000000000000" pitchFamily="2" charset="2"/>
              <a:buChar char="§"/>
            </a:pPr>
            <a:endParaRPr lang="en-US" sz="2400" kern="0" dirty="0"/>
          </a:p>
          <a:p>
            <a:pPr marL="838179" lvl="1" indent="-380990">
              <a:buFont typeface="Wingdings" panose="05000000000000000000" pitchFamily="2" charset="2"/>
              <a:buChar char="§"/>
            </a:pPr>
            <a:endParaRPr lang="en-US" sz="467" kern="0" dirty="0"/>
          </a:p>
        </p:txBody>
      </p:sp>
    </p:spTree>
    <p:extLst>
      <p:ext uri="{BB962C8B-B14F-4D97-AF65-F5344CB8AC3E}">
        <p14:creationId xmlns:p14="http://schemas.microsoft.com/office/powerpoint/2010/main" val="244551480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2D83093-6614-4A16-8105-9070ED2CD9BC}"/>
              </a:ext>
            </a:extLst>
          </p:cNvPr>
          <p:cNvSpPr>
            <a:spLocks noGrp="1"/>
          </p:cNvSpPr>
          <p:nvPr>
            <p:ph type="body" idx="1"/>
          </p:nvPr>
        </p:nvSpPr>
        <p:spPr>
          <a:xfrm>
            <a:off x="1140179" y="174624"/>
            <a:ext cx="10363200" cy="638177"/>
          </a:xfrm>
        </p:spPr>
        <p:txBody>
          <a:bodyPr/>
          <a:lstStyle/>
          <a:p>
            <a:r>
              <a:rPr lang="en-US" dirty="0"/>
              <a:t>JALR Instruction</a:t>
            </a:r>
          </a:p>
        </p:txBody>
      </p:sp>
      <p:sp>
        <p:nvSpPr>
          <p:cNvPr id="4" name="Slide Number Placeholder 3">
            <a:extLst>
              <a:ext uri="{FF2B5EF4-FFF2-40B4-BE49-F238E27FC236}">
                <a16:creationId xmlns:a16="http://schemas.microsoft.com/office/drawing/2014/main" id="{97D0DDAE-E632-42B4-AB7F-28A5D1F1623A}"/>
              </a:ext>
            </a:extLst>
          </p:cNvPr>
          <p:cNvSpPr>
            <a:spLocks noGrp="1"/>
          </p:cNvSpPr>
          <p:nvPr>
            <p:ph type="sldNum" sz="quarter" idx="10"/>
          </p:nvPr>
        </p:nvSpPr>
        <p:spPr/>
        <p:txBody>
          <a:bodyPr/>
          <a:lstStyle/>
          <a:p>
            <a:fld id="{D9B6BDF2-6896-4B98-8776-C18582F63BA5}" type="slidenum">
              <a:rPr lang="zh-TW" altLang="en-US" smtClean="0"/>
              <a:t>55</a:t>
            </a:fld>
            <a:endParaRPr lang="zh-TW" altLang="en-US"/>
          </a:p>
        </p:txBody>
      </p:sp>
      <p:sp>
        <p:nvSpPr>
          <p:cNvPr id="8" name="Content Placeholder 2">
            <a:extLst>
              <a:ext uri="{FF2B5EF4-FFF2-40B4-BE49-F238E27FC236}">
                <a16:creationId xmlns:a16="http://schemas.microsoft.com/office/drawing/2014/main" id="{73B5A2CD-D338-4458-969D-09E90B8A5D3A}"/>
              </a:ext>
            </a:extLst>
          </p:cNvPr>
          <p:cNvSpPr txBox="1">
            <a:spLocks/>
          </p:cNvSpPr>
          <p:nvPr/>
        </p:nvSpPr>
        <p:spPr bwMode="auto">
          <a:xfrm>
            <a:off x="530578" y="1128891"/>
            <a:ext cx="10566399" cy="5084340"/>
          </a:xfrm>
          <a:prstGeom prst="rect">
            <a:avLst/>
          </a:prstGeom>
          <a:noFill/>
          <a:ln w="9525">
            <a:noFill/>
            <a:miter lim="800000"/>
          </a:ln>
        </p:spPr>
        <p:txBody>
          <a:bodyPr vert="horz" wrap="square" lIns="121920" tIns="60960" rIns="121920" bIns="60960" numCol="1" anchor="b" anchorCtr="0" compatLnSpc="1"/>
          <a:lstStyle>
            <a:lvl1pPr marL="0" indent="0" algn="l" rtl="0" eaLnBrk="1" fontAlgn="base" hangingPunct="1">
              <a:spcBef>
                <a:spcPct val="20000"/>
              </a:spcBef>
              <a:spcAft>
                <a:spcPct val="0"/>
              </a:spcAft>
              <a:buClr>
                <a:srgbClr val="8064A2"/>
              </a:buClr>
              <a:buSzPct val="80000"/>
              <a:buFont typeface="Wingdings" panose="05000000000000000000" pitchFamily="2" charset="2"/>
              <a:buNone/>
              <a:defRPr kumimoji="1" sz="2800">
                <a:solidFill>
                  <a:schemeClr val="tx1"/>
                </a:solidFill>
                <a:latin typeface="Calibri" panose="020F0502020204030204" pitchFamily="34" charset="0"/>
                <a:ea typeface="標楷體" pitchFamily="65" charset="-120"/>
                <a:cs typeface="+mn-cs"/>
              </a:defRPr>
            </a:lvl1pPr>
            <a:lvl2pPr marL="342900" indent="0" algn="l" rtl="0" eaLnBrk="1" fontAlgn="base" hangingPunct="1">
              <a:spcBef>
                <a:spcPct val="20000"/>
              </a:spcBef>
              <a:spcAft>
                <a:spcPct val="0"/>
              </a:spcAft>
              <a:buClr>
                <a:srgbClr val="8064A2"/>
              </a:buClr>
              <a:buSzPct val="90000"/>
              <a:buFont typeface="Arial" panose="020B0604020202020204" pitchFamily="34" charset="0"/>
              <a:buNone/>
              <a:defRPr kumimoji="1" sz="1350">
                <a:solidFill>
                  <a:schemeClr val="tx1"/>
                </a:solidFill>
                <a:latin typeface="Calibri" panose="020F0502020204030204" pitchFamily="34" charset="0"/>
                <a:ea typeface="標楷體" pitchFamily="65" charset="-120"/>
              </a:defRPr>
            </a:lvl2pPr>
            <a:lvl3pPr marL="685800" indent="0" algn="l" rtl="0" eaLnBrk="1" fontAlgn="base" hangingPunct="1">
              <a:spcBef>
                <a:spcPct val="20000"/>
              </a:spcBef>
              <a:spcAft>
                <a:spcPct val="0"/>
              </a:spcAft>
              <a:buNone/>
              <a:defRPr kumimoji="1" sz="1200">
                <a:solidFill>
                  <a:schemeClr val="tx1"/>
                </a:solidFill>
                <a:latin typeface="+mn-lt"/>
                <a:ea typeface="+mn-ea"/>
              </a:defRPr>
            </a:lvl3pPr>
            <a:lvl4pPr marL="1028700" indent="0" algn="l" rtl="0" eaLnBrk="1" fontAlgn="base" hangingPunct="1">
              <a:spcBef>
                <a:spcPct val="20000"/>
              </a:spcBef>
              <a:spcAft>
                <a:spcPct val="0"/>
              </a:spcAft>
              <a:buNone/>
              <a:defRPr kumimoji="1" sz="1050">
                <a:solidFill>
                  <a:schemeClr val="tx1"/>
                </a:solidFill>
                <a:latin typeface="+mn-lt"/>
                <a:ea typeface="+mn-ea"/>
              </a:defRPr>
            </a:lvl4pPr>
            <a:lvl5pPr marL="1371600" indent="0" algn="l" rtl="0" eaLnBrk="1" fontAlgn="base" hangingPunct="1">
              <a:spcBef>
                <a:spcPct val="20000"/>
              </a:spcBef>
              <a:spcAft>
                <a:spcPct val="0"/>
              </a:spcAft>
              <a:buNone/>
              <a:defRPr kumimoji="1" sz="1050">
                <a:solidFill>
                  <a:schemeClr val="tx1"/>
                </a:solidFill>
                <a:latin typeface="+mn-lt"/>
                <a:ea typeface="+mn-ea"/>
              </a:defRPr>
            </a:lvl5pPr>
            <a:lvl6pPr marL="1714500" indent="0" algn="l" rtl="0" eaLnBrk="1" fontAlgn="base" hangingPunct="1">
              <a:spcBef>
                <a:spcPct val="20000"/>
              </a:spcBef>
              <a:spcAft>
                <a:spcPct val="0"/>
              </a:spcAft>
              <a:buNone/>
              <a:defRPr kumimoji="1" sz="1050">
                <a:solidFill>
                  <a:schemeClr val="tx1"/>
                </a:solidFill>
                <a:latin typeface="+mn-lt"/>
                <a:ea typeface="+mn-ea"/>
              </a:defRPr>
            </a:lvl6pPr>
            <a:lvl7pPr marL="2057400" indent="0" algn="l" rtl="0" eaLnBrk="1" fontAlgn="base" hangingPunct="1">
              <a:spcBef>
                <a:spcPct val="20000"/>
              </a:spcBef>
              <a:spcAft>
                <a:spcPct val="0"/>
              </a:spcAft>
              <a:buNone/>
              <a:defRPr kumimoji="1" sz="1050">
                <a:solidFill>
                  <a:schemeClr val="tx1"/>
                </a:solidFill>
                <a:latin typeface="+mn-lt"/>
                <a:ea typeface="+mn-ea"/>
              </a:defRPr>
            </a:lvl7pPr>
            <a:lvl8pPr marL="2400300" indent="0" algn="l" rtl="0" eaLnBrk="1" fontAlgn="base" hangingPunct="1">
              <a:spcBef>
                <a:spcPct val="20000"/>
              </a:spcBef>
              <a:spcAft>
                <a:spcPct val="0"/>
              </a:spcAft>
              <a:buNone/>
              <a:defRPr kumimoji="1" sz="1050">
                <a:solidFill>
                  <a:schemeClr val="tx1"/>
                </a:solidFill>
                <a:latin typeface="+mn-lt"/>
                <a:ea typeface="+mn-ea"/>
              </a:defRPr>
            </a:lvl8pPr>
            <a:lvl9pPr marL="2743200" indent="0" algn="l" rtl="0" eaLnBrk="1" fontAlgn="base" hangingPunct="1">
              <a:spcBef>
                <a:spcPct val="20000"/>
              </a:spcBef>
              <a:spcAft>
                <a:spcPct val="0"/>
              </a:spcAft>
              <a:buNone/>
              <a:defRPr kumimoji="1" sz="1050">
                <a:solidFill>
                  <a:schemeClr val="tx1"/>
                </a:solidFill>
                <a:latin typeface="+mn-lt"/>
                <a:ea typeface="+mn-ea"/>
              </a:defRPr>
            </a:lvl9pPr>
          </a:lstStyle>
          <a:p>
            <a:pPr marL="380990" indent="-380990">
              <a:buFont typeface="Wingdings" panose="05000000000000000000" pitchFamily="2" charset="2"/>
              <a:buChar char="§"/>
            </a:pPr>
            <a:endParaRPr lang="en-US" sz="2400" kern="0" dirty="0"/>
          </a:p>
          <a:p>
            <a:pPr marL="838179" lvl="1" indent="-380990">
              <a:buFont typeface="Wingdings" panose="05000000000000000000" pitchFamily="2" charset="2"/>
              <a:buChar char="§"/>
            </a:pPr>
            <a:endParaRPr lang="en-US" sz="467" kern="0" dirty="0"/>
          </a:p>
        </p:txBody>
      </p:sp>
      <p:sp>
        <p:nvSpPr>
          <p:cNvPr id="7" name="Content Placeholder 2">
            <a:extLst>
              <a:ext uri="{FF2B5EF4-FFF2-40B4-BE49-F238E27FC236}">
                <a16:creationId xmlns:a16="http://schemas.microsoft.com/office/drawing/2014/main" id="{5B223498-FCAE-45EC-AF40-C3973D6C408F}"/>
              </a:ext>
            </a:extLst>
          </p:cNvPr>
          <p:cNvSpPr txBox="1">
            <a:spLocks/>
          </p:cNvSpPr>
          <p:nvPr/>
        </p:nvSpPr>
        <p:spPr bwMode="auto">
          <a:xfrm>
            <a:off x="203201" y="891195"/>
            <a:ext cx="11988799" cy="5803295"/>
          </a:xfrm>
          <a:prstGeom prst="rect">
            <a:avLst/>
          </a:prstGeom>
          <a:noFill/>
          <a:ln w="9525">
            <a:noFill/>
            <a:miter lim="800000"/>
          </a:ln>
        </p:spPr>
        <p:txBody>
          <a:bodyPr vert="horz" wrap="square" lIns="121920" tIns="60960" rIns="121920" bIns="60960" numCol="1" anchor="b" anchorCtr="0" compatLnSpc="1"/>
          <a:lstStyle>
            <a:lvl1pPr marL="0" indent="0" algn="l" rtl="0" eaLnBrk="1" fontAlgn="base" hangingPunct="1">
              <a:spcBef>
                <a:spcPct val="20000"/>
              </a:spcBef>
              <a:spcAft>
                <a:spcPct val="0"/>
              </a:spcAft>
              <a:buClr>
                <a:srgbClr val="8064A2"/>
              </a:buClr>
              <a:buSzPct val="80000"/>
              <a:buFont typeface="Wingdings" panose="05000000000000000000" pitchFamily="2" charset="2"/>
              <a:buNone/>
              <a:defRPr kumimoji="1" sz="2800">
                <a:solidFill>
                  <a:schemeClr val="tx1"/>
                </a:solidFill>
                <a:latin typeface="Calibri" panose="020F0502020204030204" pitchFamily="34" charset="0"/>
                <a:ea typeface="標楷體" pitchFamily="65" charset="-120"/>
                <a:cs typeface="+mn-cs"/>
              </a:defRPr>
            </a:lvl1pPr>
            <a:lvl2pPr marL="342900" indent="0" algn="l" rtl="0" eaLnBrk="1" fontAlgn="base" hangingPunct="1">
              <a:spcBef>
                <a:spcPct val="20000"/>
              </a:spcBef>
              <a:spcAft>
                <a:spcPct val="0"/>
              </a:spcAft>
              <a:buClr>
                <a:srgbClr val="8064A2"/>
              </a:buClr>
              <a:buSzPct val="90000"/>
              <a:buFont typeface="Arial" panose="020B0604020202020204" pitchFamily="34" charset="0"/>
              <a:buNone/>
              <a:defRPr kumimoji="1" sz="1350">
                <a:solidFill>
                  <a:schemeClr val="tx1"/>
                </a:solidFill>
                <a:latin typeface="Calibri" panose="020F0502020204030204" pitchFamily="34" charset="0"/>
                <a:ea typeface="標楷體" pitchFamily="65" charset="-120"/>
              </a:defRPr>
            </a:lvl2pPr>
            <a:lvl3pPr marL="685800" indent="0" algn="l" rtl="0" eaLnBrk="1" fontAlgn="base" hangingPunct="1">
              <a:spcBef>
                <a:spcPct val="20000"/>
              </a:spcBef>
              <a:spcAft>
                <a:spcPct val="0"/>
              </a:spcAft>
              <a:buNone/>
              <a:defRPr kumimoji="1" sz="1200">
                <a:solidFill>
                  <a:schemeClr val="tx1"/>
                </a:solidFill>
                <a:latin typeface="+mn-lt"/>
                <a:ea typeface="+mn-ea"/>
              </a:defRPr>
            </a:lvl3pPr>
            <a:lvl4pPr marL="1028700" indent="0" algn="l" rtl="0" eaLnBrk="1" fontAlgn="base" hangingPunct="1">
              <a:spcBef>
                <a:spcPct val="20000"/>
              </a:spcBef>
              <a:spcAft>
                <a:spcPct val="0"/>
              </a:spcAft>
              <a:buNone/>
              <a:defRPr kumimoji="1" sz="1050">
                <a:solidFill>
                  <a:schemeClr val="tx1"/>
                </a:solidFill>
                <a:latin typeface="+mn-lt"/>
                <a:ea typeface="+mn-ea"/>
              </a:defRPr>
            </a:lvl4pPr>
            <a:lvl5pPr marL="1371600" indent="0" algn="l" rtl="0" eaLnBrk="1" fontAlgn="base" hangingPunct="1">
              <a:spcBef>
                <a:spcPct val="20000"/>
              </a:spcBef>
              <a:spcAft>
                <a:spcPct val="0"/>
              </a:spcAft>
              <a:buNone/>
              <a:defRPr kumimoji="1" sz="1050">
                <a:solidFill>
                  <a:schemeClr val="tx1"/>
                </a:solidFill>
                <a:latin typeface="+mn-lt"/>
                <a:ea typeface="+mn-ea"/>
              </a:defRPr>
            </a:lvl5pPr>
            <a:lvl6pPr marL="1714500" indent="0" algn="l" rtl="0" eaLnBrk="1" fontAlgn="base" hangingPunct="1">
              <a:spcBef>
                <a:spcPct val="20000"/>
              </a:spcBef>
              <a:spcAft>
                <a:spcPct val="0"/>
              </a:spcAft>
              <a:buNone/>
              <a:defRPr kumimoji="1" sz="1050">
                <a:solidFill>
                  <a:schemeClr val="tx1"/>
                </a:solidFill>
                <a:latin typeface="+mn-lt"/>
                <a:ea typeface="+mn-ea"/>
              </a:defRPr>
            </a:lvl6pPr>
            <a:lvl7pPr marL="2057400" indent="0" algn="l" rtl="0" eaLnBrk="1" fontAlgn="base" hangingPunct="1">
              <a:spcBef>
                <a:spcPct val="20000"/>
              </a:spcBef>
              <a:spcAft>
                <a:spcPct val="0"/>
              </a:spcAft>
              <a:buNone/>
              <a:defRPr kumimoji="1" sz="1050">
                <a:solidFill>
                  <a:schemeClr val="tx1"/>
                </a:solidFill>
                <a:latin typeface="+mn-lt"/>
                <a:ea typeface="+mn-ea"/>
              </a:defRPr>
            </a:lvl7pPr>
            <a:lvl8pPr marL="2400300" indent="0" algn="l" rtl="0" eaLnBrk="1" fontAlgn="base" hangingPunct="1">
              <a:spcBef>
                <a:spcPct val="20000"/>
              </a:spcBef>
              <a:spcAft>
                <a:spcPct val="0"/>
              </a:spcAft>
              <a:buNone/>
              <a:defRPr kumimoji="1" sz="1050">
                <a:solidFill>
                  <a:schemeClr val="tx1"/>
                </a:solidFill>
                <a:latin typeface="+mn-lt"/>
                <a:ea typeface="+mn-ea"/>
              </a:defRPr>
            </a:lvl8pPr>
            <a:lvl9pPr marL="2743200" indent="0" algn="l" rtl="0" eaLnBrk="1" fontAlgn="base" hangingPunct="1">
              <a:spcBef>
                <a:spcPct val="20000"/>
              </a:spcBef>
              <a:spcAft>
                <a:spcPct val="0"/>
              </a:spcAft>
              <a:buNone/>
              <a:defRPr kumimoji="1" sz="1050">
                <a:solidFill>
                  <a:schemeClr val="tx1"/>
                </a:solidFill>
                <a:latin typeface="+mn-lt"/>
                <a:ea typeface="+mn-ea"/>
              </a:defRPr>
            </a:lvl9pPr>
          </a:lstStyle>
          <a:p>
            <a:pPr marL="380990" indent="-380990">
              <a:buFont typeface="Wingdings" panose="05000000000000000000" pitchFamily="2" charset="2"/>
              <a:buChar char="§"/>
            </a:pPr>
            <a:r>
              <a:rPr lang="en-US" sz="2400" kern="0" dirty="0"/>
              <a:t>JALR is an </a:t>
            </a:r>
            <a:r>
              <a:rPr lang="en-US" sz="2400" b="1" kern="0" dirty="0"/>
              <a:t>indirect</a:t>
            </a:r>
            <a:r>
              <a:rPr lang="en-US" sz="2400" kern="0" dirty="0"/>
              <a:t> branch. This instruction is in </a:t>
            </a:r>
            <a:r>
              <a:rPr lang="en-US" kern="0" dirty="0">
                <a:solidFill>
                  <a:srgbClr val="FF0000"/>
                </a:solidFill>
              </a:rPr>
              <a:t>I-type</a:t>
            </a:r>
            <a:r>
              <a:rPr lang="en-US" sz="2400" kern="0" dirty="0"/>
              <a:t>. It is usually used for addresses that are computed at runtime (such as return addresses, functional pointers, etc.).</a:t>
            </a:r>
          </a:p>
          <a:p>
            <a:pPr marL="380990" indent="-380990">
              <a:buFont typeface="Wingdings" panose="05000000000000000000" pitchFamily="2" charset="2"/>
              <a:buChar char="§"/>
            </a:pPr>
            <a:r>
              <a:rPr lang="en-US" sz="2667" kern="0" dirty="0">
                <a:solidFill>
                  <a:prstClr val="black"/>
                </a:solidFill>
              </a:rPr>
              <a:t>JALR: 		</a:t>
            </a:r>
            <a:r>
              <a:rPr lang="en-US" sz="2667" kern="0" dirty="0" err="1">
                <a:solidFill>
                  <a:srgbClr val="56127A"/>
                </a:solidFill>
                <a:sym typeface="Wingdings" panose="05000000000000000000" pitchFamily="2" charset="2"/>
              </a:rPr>
              <a:t>rd</a:t>
            </a:r>
            <a:r>
              <a:rPr lang="en-US" sz="2667" kern="0" dirty="0">
                <a:solidFill>
                  <a:srgbClr val="56127A"/>
                </a:solidFill>
                <a:sym typeface="Wingdings" panose="05000000000000000000" pitchFamily="2" charset="2"/>
              </a:rPr>
              <a:t>  pc + 4;  // set up link</a:t>
            </a:r>
          </a:p>
          <a:p>
            <a:pPr lvl="2"/>
            <a:r>
              <a:rPr lang="en-US" sz="2400" kern="0" dirty="0">
                <a:solidFill>
                  <a:srgbClr val="56127A"/>
                </a:solidFill>
                <a:latin typeface="Calibri" panose="020F0502020204030204" pitchFamily="34" charset="0"/>
                <a:ea typeface="標楷體" pitchFamily="65" charset="-120"/>
                <a:sym typeface="Wingdings" panose="05000000000000000000" pitchFamily="2" charset="2"/>
              </a:rPr>
              <a:t>			</a:t>
            </a:r>
            <a:r>
              <a:rPr lang="en-US" sz="2667" kern="0" dirty="0">
                <a:solidFill>
                  <a:srgbClr val="56127A"/>
                </a:solidFill>
                <a:latin typeface="Calibri" panose="020F0502020204030204" pitchFamily="34" charset="0"/>
                <a:ea typeface="標楷體" pitchFamily="65" charset="-120"/>
                <a:sym typeface="Wingdings" panose="05000000000000000000" pitchFamily="2" charset="2"/>
              </a:rPr>
              <a:t>pc  (rs1 + I-</a:t>
            </a:r>
            <a:r>
              <a:rPr lang="en-US" sz="2667" kern="0" dirty="0" err="1">
                <a:solidFill>
                  <a:srgbClr val="56127A"/>
                </a:solidFill>
                <a:latin typeface="Calibri" panose="020F0502020204030204" pitchFamily="34" charset="0"/>
                <a:ea typeface="標楷體" pitchFamily="65" charset="-120"/>
                <a:sym typeface="Wingdings" panose="05000000000000000000" pitchFamily="2" charset="2"/>
              </a:rPr>
              <a:t>imm</a:t>
            </a:r>
            <a:r>
              <a:rPr lang="en-US" sz="2667" kern="0" dirty="0">
                <a:solidFill>
                  <a:srgbClr val="56127A"/>
                </a:solidFill>
                <a:latin typeface="Calibri" panose="020F0502020204030204" pitchFamily="34" charset="0"/>
                <a:ea typeface="標楷體" pitchFamily="65" charset="-120"/>
                <a:sym typeface="Wingdings" panose="05000000000000000000" pitchFamily="2" charset="2"/>
              </a:rPr>
              <a:t>) &amp; ~0x01	// branch to target</a:t>
            </a:r>
          </a:p>
          <a:p>
            <a:pPr marL="457189" indent="-457189">
              <a:buFont typeface="Wingdings" panose="05000000000000000000" pitchFamily="2" charset="2"/>
              <a:buChar char="§"/>
            </a:pPr>
            <a:r>
              <a:rPr lang="en-US" sz="2667" kern="0" dirty="0"/>
              <a:t>For return branch:</a:t>
            </a:r>
          </a:p>
          <a:p>
            <a:r>
              <a:rPr lang="en-US" sz="2667" kern="0" dirty="0"/>
              <a:t>		</a:t>
            </a:r>
            <a:r>
              <a:rPr lang="en-US" sz="2667" kern="0" dirty="0">
                <a:solidFill>
                  <a:srgbClr val="56127A"/>
                </a:solidFill>
                <a:sym typeface="Wingdings" panose="05000000000000000000" pitchFamily="2" charset="2"/>
              </a:rPr>
              <a:t> 	pc  (rs1) &amp; ~0x01			//  byte address in rs1</a:t>
            </a:r>
          </a:p>
          <a:p>
            <a:endParaRPr lang="en-US" sz="467" kern="0" dirty="0"/>
          </a:p>
          <a:p>
            <a:pPr marL="457189" indent="-457189" defTabSz="1219170" fontAlgn="auto">
              <a:spcBef>
                <a:spcPts val="0"/>
              </a:spcBef>
              <a:spcAft>
                <a:spcPts val="0"/>
              </a:spcAft>
              <a:buClrTx/>
              <a:buSzTx/>
              <a:buFont typeface="Wingdings" panose="05000000000000000000" pitchFamily="2" charset="2"/>
              <a:buChar char="§"/>
              <a:defRPr/>
            </a:pPr>
            <a:r>
              <a:rPr kumimoji="0" lang="en-US" sz="2667" kern="0" dirty="0">
                <a:solidFill>
                  <a:prstClr val="black"/>
                </a:solidFill>
                <a:ea typeface="Calibri" panose="020F0502020204030204" pitchFamily="34" charset="0"/>
                <a:cs typeface="Calibri" panose="020F0502020204030204" pitchFamily="34" charset="0"/>
              </a:rPr>
              <a:t>For branch table:</a:t>
            </a:r>
          </a:p>
          <a:p>
            <a:pPr defTabSz="1219170" fontAlgn="auto">
              <a:spcBef>
                <a:spcPts val="0"/>
              </a:spcBef>
              <a:spcAft>
                <a:spcPts val="0"/>
              </a:spcAft>
              <a:buClrTx/>
              <a:buSzTx/>
              <a:defRPr/>
            </a:pPr>
            <a:r>
              <a:rPr kumimoji="0" lang="en-US" sz="2667" kern="0" dirty="0">
                <a:solidFill>
                  <a:prstClr val="black"/>
                </a:solidFill>
                <a:ea typeface="Calibri" panose="020F0502020204030204" pitchFamily="34" charset="0"/>
                <a:cs typeface="Calibri" panose="020F0502020204030204" pitchFamily="34" charset="0"/>
              </a:rPr>
              <a:t>		</a:t>
            </a:r>
            <a:r>
              <a:rPr lang="en-US" sz="2667" kern="0" dirty="0">
                <a:solidFill>
                  <a:srgbClr val="56127A"/>
                </a:solidFill>
                <a:ea typeface="Calibri" panose="020F0502020204030204" pitchFamily="34" charset="0"/>
                <a:cs typeface="Calibri" panose="020F0502020204030204" pitchFamily="34" charset="0"/>
                <a:sym typeface="Wingdings" panose="05000000000000000000" pitchFamily="2" charset="2"/>
              </a:rPr>
              <a:t> pc  (rs1 + I-</a:t>
            </a:r>
            <a:r>
              <a:rPr lang="en-US" sz="2667" kern="0" dirty="0" err="1">
                <a:solidFill>
                  <a:srgbClr val="56127A"/>
                </a:solidFill>
                <a:ea typeface="Calibri" panose="020F0502020204030204" pitchFamily="34" charset="0"/>
                <a:cs typeface="Calibri" panose="020F0502020204030204" pitchFamily="34" charset="0"/>
                <a:sym typeface="Wingdings" panose="05000000000000000000" pitchFamily="2" charset="2"/>
              </a:rPr>
              <a:t>imm</a:t>
            </a:r>
            <a:r>
              <a:rPr lang="en-US" sz="2667" kern="0" dirty="0">
                <a:solidFill>
                  <a:srgbClr val="56127A"/>
                </a:solidFill>
                <a:ea typeface="Calibri" panose="020F0502020204030204" pitchFamily="34" charset="0"/>
                <a:cs typeface="Calibri" panose="020F0502020204030204" pitchFamily="34" charset="0"/>
                <a:sym typeface="Wingdings" panose="05000000000000000000" pitchFamily="2" charset="2"/>
              </a:rPr>
              <a:t>) &amp; ~0x01	// jump to one entry in 						    	the branch table, which 						   	 is another jump instruction.</a:t>
            </a:r>
          </a:p>
          <a:p>
            <a:pPr marL="380990" indent="-380990" defTabSz="1219170" fontAlgn="auto">
              <a:spcBef>
                <a:spcPts val="0"/>
              </a:spcBef>
              <a:spcAft>
                <a:spcPts val="0"/>
              </a:spcAft>
              <a:buClrTx/>
              <a:buSzTx/>
              <a:buFont typeface="Wingdings" panose="05000000000000000000" pitchFamily="2" charset="2"/>
              <a:buChar char="§"/>
              <a:defRPr/>
            </a:pPr>
            <a:r>
              <a:rPr lang="en-US" sz="2400" kern="0" dirty="0">
                <a:solidFill>
                  <a:srgbClr val="56127A"/>
                </a:solidFill>
                <a:ea typeface="Calibri" panose="020F0502020204030204" pitchFamily="34" charset="0"/>
                <a:cs typeface="Calibri" panose="020F0502020204030204" pitchFamily="34" charset="0"/>
                <a:sym typeface="Wingdings" panose="05000000000000000000" pitchFamily="2" charset="2"/>
              </a:rPr>
              <a:t>The hardware does not distinguish a return branch from a branch to the first entry of the branch table. In both cases, the offset is 0, i.e. 0(rs1).</a:t>
            </a:r>
            <a:endParaRPr lang="en-US" sz="2400" kern="0" dirty="0"/>
          </a:p>
          <a:p>
            <a:pPr marL="380990" indent="-380990">
              <a:buFont typeface="Wingdings" panose="05000000000000000000" pitchFamily="2" charset="2"/>
              <a:buChar char="§"/>
            </a:pPr>
            <a:endParaRPr lang="en-US" sz="2400" kern="0" dirty="0"/>
          </a:p>
          <a:p>
            <a:pPr marL="838179" lvl="1" indent="-380990">
              <a:buFont typeface="Wingdings" panose="05000000000000000000" pitchFamily="2" charset="2"/>
              <a:buChar char="§"/>
            </a:pPr>
            <a:endParaRPr lang="en-US" sz="467" kern="0" dirty="0"/>
          </a:p>
        </p:txBody>
      </p:sp>
    </p:spTree>
    <p:extLst>
      <p:ext uri="{BB962C8B-B14F-4D97-AF65-F5344CB8AC3E}">
        <p14:creationId xmlns:p14="http://schemas.microsoft.com/office/powerpoint/2010/main" val="41769185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2D83093-6614-4A16-8105-9070ED2CD9BC}"/>
              </a:ext>
            </a:extLst>
          </p:cNvPr>
          <p:cNvSpPr>
            <a:spLocks noGrp="1"/>
          </p:cNvSpPr>
          <p:nvPr>
            <p:ph type="body" idx="1"/>
          </p:nvPr>
        </p:nvSpPr>
        <p:spPr>
          <a:xfrm>
            <a:off x="1140179" y="174624"/>
            <a:ext cx="10363200" cy="638177"/>
          </a:xfrm>
        </p:spPr>
        <p:txBody>
          <a:bodyPr/>
          <a:lstStyle/>
          <a:p>
            <a:r>
              <a:rPr lang="en-US" dirty="0"/>
              <a:t>How to infer a return branch?</a:t>
            </a:r>
          </a:p>
        </p:txBody>
      </p:sp>
      <p:sp>
        <p:nvSpPr>
          <p:cNvPr id="4" name="Slide Number Placeholder 3">
            <a:extLst>
              <a:ext uri="{FF2B5EF4-FFF2-40B4-BE49-F238E27FC236}">
                <a16:creationId xmlns:a16="http://schemas.microsoft.com/office/drawing/2014/main" id="{97D0DDAE-E632-42B4-AB7F-28A5D1F1623A}"/>
              </a:ext>
            </a:extLst>
          </p:cNvPr>
          <p:cNvSpPr>
            <a:spLocks noGrp="1"/>
          </p:cNvSpPr>
          <p:nvPr>
            <p:ph type="sldNum" sz="quarter" idx="10"/>
          </p:nvPr>
        </p:nvSpPr>
        <p:spPr/>
        <p:txBody>
          <a:bodyPr/>
          <a:lstStyle/>
          <a:p>
            <a:fld id="{D9B6BDF2-6896-4B98-8776-C18582F63BA5}" type="slidenum">
              <a:rPr lang="zh-TW" altLang="en-US" smtClean="0"/>
              <a:t>56</a:t>
            </a:fld>
            <a:endParaRPr lang="zh-TW" altLang="en-US"/>
          </a:p>
        </p:txBody>
      </p:sp>
      <p:sp>
        <p:nvSpPr>
          <p:cNvPr id="8" name="Content Placeholder 2">
            <a:extLst>
              <a:ext uri="{FF2B5EF4-FFF2-40B4-BE49-F238E27FC236}">
                <a16:creationId xmlns:a16="http://schemas.microsoft.com/office/drawing/2014/main" id="{73B5A2CD-D338-4458-969D-09E90B8A5D3A}"/>
              </a:ext>
            </a:extLst>
          </p:cNvPr>
          <p:cNvSpPr txBox="1">
            <a:spLocks/>
          </p:cNvSpPr>
          <p:nvPr/>
        </p:nvSpPr>
        <p:spPr bwMode="auto">
          <a:xfrm>
            <a:off x="530578" y="1128891"/>
            <a:ext cx="10566399" cy="5084340"/>
          </a:xfrm>
          <a:prstGeom prst="rect">
            <a:avLst/>
          </a:prstGeom>
          <a:noFill/>
          <a:ln w="9525">
            <a:noFill/>
            <a:miter lim="800000"/>
          </a:ln>
        </p:spPr>
        <p:txBody>
          <a:bodyPr vert="horz" wrap="square" lIns="121920" tIns="60960" rIns="121920" bIns="60960" numCol="1" anchor="b" anchorCtr="0" compatLnSpc="1"/>
          <a:lstStyle>
            <a:lvl1pPr marL="0" indent="0" algn="l" rtl="0" eaLnBrk="1" fontAlgn="base" hangingPunct="1">
              <a:spcBef>
                <a:spcPct val="20000"/>
              </a:spcBef>
              <a:spcAft>
                <a:spcPct val="0"/>
              </a:spcAft>
              <a:buClr>
                <a:srgbClr val="8064A2"/>
              </a:buClr>
              <a:buSzPct val="80000"/>
              <a:buFont typeface="Wingdings" panose="05000000000000000000" pitchFamily="2" charset="2"/>
              <a:buNone/>
              <a:defRPr kumimoji="1" sz="2800">
                <a:solidFill>
                  <a:schemeClr val="tx1"/>
                </a:solidFill>
                <a:latin typeface="Calibri" panose="020F0502020204030204" pitchFamily="34" charset="0"/>
                <a:ea typeface="標楷體" pitchFamily="65" charset="-120"/>
                <a:cs typeface="+mn-cs"/>
              </a:defRPr>
            </a:lvl1pPr>
            <a:lvl2pPr marL="342900" indent="0" algn="l" rtl="0" eaLnBrk="1" fontAlgn="base" hangingPunct="1">
              <a:spcBef>
                <a:spcPct val="20000"/>
              </a:spcBef>
              <a:spcAft>
                <a:spcPct val="0"/>
              </a:spcAft>
              <a:buClr>
                <a:srgbClr val="8064A2"/>
              </a:buClr>
              <a:buSzPct val="90000"/>
              <a:buFont typeface="Arial" panose="020B0604020202020204" pitchFamily="34" charset="0"/>
              <a:buNone/>
              <a:defRPr kumimoji="1" sz="1350">
                <a:solidFill>
                  <a:schemeClr val="tx1"/>
                </a:solidFill>
                <a:latin typeface="Calibri" panose="020F0502020204030204" pitchFamily="34" charset="0"/>
                <a:ea typeface="標楷體" pitchFamily="65" charset="-120"/>
              </a:defRPr>
            </a:lvl2pPr>
            <a:lvl3pPr marL="685800" indent="0" algn="l" rtl="0" eaLnBrk="1" fontAlgn="base" hangingPunct="1">
              <a:spcBef>
                <a:spcPct val="20000"/>
              </a:spcBef>
              <a:spcAft>
                <a:spcPct val="0"/>
              </a:spcAft>
              <a:buNone/>
              <a:defRPr kumimoji="1" sz="1200">
                <a:solidFill>
                  <a:schemeClr val="tx1"/>
                </a:solidFill>
                <a:latin typeface="+mn-lt"/>
                <a:ea typeface="+mn-ea"/>
              </a:defRPr>
            </a:lvl3pPr>
            <a:lvl4pPr marL="1028700" indent="0" algn="l" rtl="0" eaLnBrk="1" fontAlgn="base" hangingPunct="1">
              <a:spcBef>
                <a:spcPct val="20000"/>
              </a:spcBef>
              <a:spcAft>
                <a:spcPct val="0"/>
              </a:spcAft>
              <a:buNone/>
              <a:defRPr kumimoji="1" sz="1050">
                <a:solidFill>
                  <a:schemeClr val="tx1"/>
                </a:solidFill>
                <a:latin typeface="+mn-lt"/>
                <a:ea typeface="+mn-ea"/>
              </a:defRPr>
            </a:lvl4pPr>
            <a:lvl5pPr marL="1371600" indent="0" algn="l" rtl="0" eaLnBrk="1" fontAlgn="base" hangingPunct="1">
              <a:spcBef>
                <a:spcPct val="20000"/>
              </a:spcBef>
              <a:spcAft>
                <a:spcPct val="0"/>
              </a:spcAft>
              <a:buNone/>
              <a:defRPr kumimoji="1" sz="1050">
                <a:solidFill>
                  <a:schemeClr val="tx1"/>
                </a:solidFill>
                <a:latin typeface="+mn-lt"/>
                <a:ea typeface="+mn-ea"/>
              </a:defRPr>
            </a:lvl5pPr>
            <a:lvl6pPr marL="1714500" indent="0" algn="l" rtl="0" eaLnBrk="1" fontAlgn="base" hangingPunct="1">
              <a:spcBef>
                <a:spcPct val="20000"/>
              </a:spcBef>
              <a:spcAft>
                <a:spcPct val="0"/>
              </a:spcAft>
              <a:buNone/>
              <a:defRPr kumimoji="1" sz="1050">
                <a:solidFill>
                  <a:schemeClr val="tx1"/>
                </a:solidFill>
                <a:latin typeface="+mn-lt"/>
                <a:ea typeface="+mn-ea"/>
              </a:defRPr>
            </a:lvl6pPr>
            <a:lvl7pPr marL="2057400" indent="0" algn="l" rtl="0" eaLnBrk="1" fontAlgn="base" hangingPunct="1">
              <a:spcBef>
                <a:spcPct val="20000"/>
              </a:spcBef>
              <a:spcAft>
                <a:spcPct val="0"/>
              </a:spcAft>
              <a:buNone/>
              <a:defRPr kumimoji="1" sz="1050">
                <a:solidFill>
                  <a:schemeClr val="tx1"/>
                </a:solidFill>
                <a:latin typeface="+mn-lt"/>
                <a:ea typeface="+mn-ea"/>
              </a:defRPr>
            </a:lvl7pPr>
            <a:lvl8pPr marL="2400300" indent="0" algn="l" rtl="0" eaLnBrk="1" fontAlgn="base" hangingPunct="1">
              <a:spcBef>
                <a:spcPct val="20000"/>
              </a:spcBef>
              <a:spcAft>
                <a:spcPct val="0"/>
              </a:spcAft>
              <a:buNone/>
              <a:defRPr kumimoji="1" sz="1050">
                <a:solidFill>
                  <a:schemeClr val="tx1"/>
                </a:solidFill>
                <a:latin typeface="+mn-lt"/>
                <a:ea typeface="+mn-ea"/>
              </a:defRPr>
            </a:lvl8pPr>
            <a:lvl9pPr marL="2743200" indent="0" algn="l" rtl="0" eaLnBrk="1" fontAlgn="base" hangingPunct="1">
              <a:spcBef>
                <a:spcPct val="20000"/>
              </a:spcBef>
              <a:spcAft>
                <a:spcPct val="0"/>
              </a:spcAft>
              <a:buNone/>
              <a:defRPr kumimoji="1" sz="1050">
                <a:solidFill>
                  <a:schemeClr val="tx1"/>
                </a:solidFill>
                <a:latin typeface="+mn-lt"/>
                <a:ea typeface="+mn-ea"/>
              </a:defRPr>
            </a:lvl9pPr>
          </a:lstStyle>
          <a:p>
            <a:pPr marL="380990" indent="-380990">
              <a:buFont typeface="Wingdings" panose="05000000000000000000" pitchFamily="2" charset="2"/>
              <a:buChar char="§"/>
            </a:pPr>
            <a:endParaRPr lang="en-US" sz="2400" kern="0" dirty="0"/>
          </a:p>
          <a:p>
            <a:pPr marL="838179" lvl="1" indent="-380990">
              <a:buFont typeface="Wingdings" panose="05000000000000000000" pitchFamily="2" charset="2"/>
              <a:buChar char="§"/>
            </a:pPr>
            <a:endParaRPr lang="en-US" sz="467" kern="0" dirty="0"/>
          </a:p>
        </p:txBody>
      </p:sp>
      <p:sp>
        <p:nvSpPr>
          <p:cNvPr id="7" name="Content Placeholder 2">
            <a:extLst>
              <a:ext uri="{FF2B5EF4-FFF2-40B4-BE49-F238E27FC236}">
                <a16:creationId xmlns:a16="http://schemas.microsoft.com/office/drawing/2014/main" id="{5B223498-FCAE-45EC-AF40-C3973D6C408F}"/>
              </a:ext>
            </a:extLst>
          </p:cNvPr>
          <p:cNvSpPr txBox="1">
            <a:spLocks/>
          </p:cNvSpPr>
          <p:nvPr/>
        </p:nvSpPr>
        <p:spPr bwMode="auto">
          <a:xfrm>
            <a:off x="203201" y="891195"/>
            <a:ext cx="11988799" cy="5803295"/>
          </a:xfrm>
          <a:prstGeom prst="rect">
            <a:avLst/>
          </a:prstGeom>
          <a:noFill/>
          <a:ln w="9525">
            <a:noFill/>
            <a:miter lim="800000"/>
          </a:ln>
        </p:spPr>
        <p:txBody>
          <a:bodyPr vert="horz" wrap="square" lIns="121920" tIns="60960" rIns="121920" bIns="60960" numCol="1" anchor="b" anchorCtr="0" compatLnSpc="1"/>
          <a:lstStyle>
            <a:lvl1pPr marL="0" indent="0" algn="l" rtl="0" eaLnBrk="1" fontAlgn="base" hangingPunct="1">
              <a:spcBef>
                <a:spcPct val="20000"/>
              </a:spcBef>
              <a:spcAft>
                <a:spcPct val="0"/>
              </a:spcAft>
              <a:buClr>
                <a:srgbClr val="8064A2"/>
              </a:buClr>
              <a:buSzPct val="80000"/>
              <a:buFont typeface="Wingdings" panose="05000000000000000000" pitchFamily="2" charset="2"/>
              <a:buNone/>
              <a:defRPr kumimoji="1" sz="2800">
                <a:solidFill>
                  <a:schemeClr val="tx1"/>
                </a:solidFill>
                <a:latin typeface="Calibri" panose="020F0502020204030204" pitchFamily="34" charset="0"/>
                <a:ea typeface="標楷體" pitchFamily="65" charset="-120"/>
                <a:cs typeface="+mn-cs"/>
              </a:defRPr>
            </a:lvl1pPr>
            <a:lvl2pPr marL="342900" indent="0" algn="l" rtl="0" eaLnBrk="1" fontAlgn="base" hangingPunct="1">
              <a:spcBef>
                <a:spcPct val="20000"/>
              </a:spcBef>
              <a:spcAft>
                <a:spcPct val="0"/>
              </a:spcAft>
              <a:buClr>
                <a:srgbClr val="8064A2"/>
              </a:buClr>
              <a:buSzPct val="90000"/>
              <a:buFont typeface="Arial" panose="020B0604020202020204" pitchFamily="34" charset="0"/>
              <a:buNone/>
              <a:defRPr kumimoji="1" sz="1350">
                <a:solidFill>
                  <a:schemeClr val="tx1"/>
                </a:solidFill>
                <a:latin typeface="Calibri" panose="020F0502020204030204" pitchFamily="34" charset="0"/>
                <a:ea typeface="標楷體" pitchFamily="65" charset="-120"/>
              </a:defRPr>
            </a:lvl2pPr>
            <a:lvl3pPr marL="685800" indent="0" algn="l" rtl="0" eaLnBrk="1" fontAlgn="base" hangingPunct="1">
              <a:spcBef>
                <a:spcPct val="20000"/>
              </a:spcBef>
              <a:spcAft>
                <a:spcPct val="0"/>
              </a:spcAft>
              <a:buNone/>
              <a:defRPr kumimoji="1" sz="1200">
                <a:solidFill>
                  <a:schemeClr val="tx1"/>
                </a:solidFill>
                <a:latin typeface="+mn-lt"/>
                <a:ea typeface="+mn-ea"/>
              </a:defRPr>
            </a:lvl3pPr>
            <a:lvl4pPr marL="1028700" indent="0" algn="l" rtl="0" eaLnBrk="1" fontAlgn="base" hangingPunct="1">
              <a:spcBef>
                <a:spcPct val="20000"/>
              </a:spcBef>
              <a:spcAft>
                <a:spcPct val="0"/>
              </a:spcAft>
              <a:buNone/>
              <a:defRPr kumimoji="1" sz="1050">
                <a:solidFill>
                  <a:schemeClr val="tx1"/>
                </a:solidFill>
                <a:latin typeface="+mn-lt"/>
                <a:ea typeface="+mn-ea"/>
              </a:defRPr>
            </a:lvl4pPr>
            <a:lvl5pPr marL="1371600" indent="0" algn="l" rtl="0" eaLnBrk="1" fontAlgn="base" hangingPunct="1">
              <a:spcBef>
                <a:spcPct val="20000"/>
              </a:spcBef>
              <a:spcAft>
                <a:spcPct val="0"/>
              </a:spcAft>
              <a:buNone/>
              <a:defRPr kumimoji="1" sz="1050">
                <a:solidFill>
                  <a:schemeClr val="tx1"/>
                </a:solidFill>
                <a:latin typeface="+mn-lt"/>
                <a:ea typeface="+mn-ea"/>
              </a:defRPr>
            </a:lvl5pPr>
            <a:lvl6pPr marL="1714500" indent="0" algn="l" rtl="0" eaLnBrk="1" fontAlgn="base" hangingPunct="1">
              <a:spcBef>
                <a:spcPct val="20000"/>
              </a:spcBef>
              <a:spcAft>
                <a:spcPct val="0"/>
              </a:spcAft>
              <a:buNone/>
              <a:defRPr kumimoji="1" sz="1050">
                <a:solidFill>
                  <a:schemeClr val="tx1"/>
                </a:solidFill>
                <a:latin typeface="+mn-lt"/>
                <a:ea typeface="+mn-ea"/>
              </a:defRPr>
            </a:lvl6pPr>
            <a:lvl7pPr marL="2057400" indent="0" algn="l" rtl="0" eaLnBrk="1" fontAlgn="base" hangingPunct="1">
              <a:spcBef>
                <a:spcPct val="20000"/>
              </a:spcBef>
              <a:spcAft>
                <a:spcPct val="0"/>
              </a:spcAft>
              <a:buNone/>
              <a:defRPr kumimoji="1" sz="1050">
                <a:solidFill>
                  <a:schemeClr val="tx1"/>
                </a:solidFill>
                <a:latin typeface="+mn-lt"/>
                <a:ea typeface="+mn-ea"/>
              </a:defRPr>
            </a:lvl7pPr>
            <a:lvl8pPr marL="2400300" indent="0" algn="l" rtl="0" eaLnBrk="1" fontAlgn="base" hangingPunct="1">
              <a:spcBef>
                <a:spcPct val="20000"/>
              </a:spcBef>
              <a:spcAft>
                <a:spcPct val="0"/>
              </a:spcAft>
              <a:buNone/>
              <a:defRPr kumimoji="1" sz="1050">
                <a:solidFill>
                  <a:schemeClr val="tx1"/>
                </a:solidFill>
                <a:latin typeface="+mn-lt"/>
                <a:ea typeface="+mn-ea"/>
              </a:defRPr>
            </a:lvl8pPr>
            <a:lvl9pPr marL="2743200" indent="0" algn="l" rtl="0" eaLnBrk="1" fontAlgn="base" hangingPunct="1">
              <a:spcBef>
                <a:spcPct val="20000"/>
              </a:spcBef>
              <a:spcAft>
                <a:spcPct val="0"/>
              </a:spcAft>
              <a:buNone/>
              <a:defRPr kumimoji="1" sz="1050">
                <a:solidFill>
                  <a:schemeClr val="tx1"/>
                </a:solidFill>
                <a:latin typeface="+mn-lt"/>
                <a:ea typeface="+mn-ea"/>
              </a:defRPr>
            </a:lvl9pPr>
          </a:lstStyle>
          <a:p>
            <a:pPr marL="380990" indent="-380990">
              <a:buFont typeface="Wingdings" panose="05000000000000000000" pitchFamily="2" charset="2"/>
              <a:buChar char="§"/>
            </a:pPr>
            <a:r>
              <a:rPr lang="en-US" kern="0" dirty="0"/>
              <a:t>Why does the hardware want to know whether the indirect jump-and-link (JALR) is a return branch?</a:t>
            </a:r>
          </a:p>
          <a:p>
            <a:pPr marL="800100" lvl="1" indent="-457200">
              <a:buFont typeface="Wingdings" panose="05000000000000000000" pitchFamily="2" charset="2"/>
              <a:buChar char="Ø"/>
            </a:pPr>
            <a:r>
              <a:rPr lang="en-US" sz="2400" kern="0" dirty="0"/>
              <a:t>This is related to how to predict the return target address.</a:t>
            </a:r>
          </a:p>
          <a:p>
            <a:pPr marL="800100" lvl="1" indent="-457200">
              <a:buFont typeface="Wingdings" panose="05000000000000000000" pitchFamily="2" charset="2"/>
              <a:buChar char="Ø"/>
            </a:pPr>
            <a:r>
              <a:rPr lang="en-US" sz="2400" kern="0" dirty="0"/>
              <a:t>Many machines implement the return address stack: a call pushes the return address on the stack, and a return pops the top entry of the return address stack and uses the popped address as the predicted return address.</a:t>
            </a:r>
          </a:p>
          <a:p>
            <a:pPr marL="571500" indent="-571500">
              <a:buFont typeface="Wingdings" panose="05000000000000000000" pitchFamily="2" charset="2"/>
              <a:buChar char="§"/>
            </a:pPr>
            <a:r>
              <a:rPr lang="en-US" kern="0" dirty="0"/>
              <a:t>So, how does the hardware identify a return instruction?</a:t>
            </a:r>
          </a:p>
          <a:p>
            <a:pPr marL="800100" lvl="1" indent="-457200">
              <a:buFont typeface="Wingdings" panose="05000000000000000000" pitchFamily="2" charset="2"/>
              <a:buChar char="Ø"/>
            </a:pPr>
            <a:r>
              <a:rPr lang="en-US" sz="2400" kern="0" dirty="0"/>
              <a:t>One possibility is to use the calling convention that the link register is usually </a:t>
            </a:r>
            <a:r>
              <a:rPr lang="en-US" sz="2400" kern="0" dirty="0">
                <a:solidFill>
                  <a:srgbClr val="FF0000"/>
                </a:solidFill>
              </a:rPr>
              <a:t>X1</a:t>
            </a:r>
            <a:r>
              <a:rPr lang="en-US" sz="2400" kern="0" dirty="0"/>
              <a:t>. So, a JALR </a:t>
            </a:r>
            <a:r>
              <a:rPr lang="en-US" sz="2400" kern="0" dirty="0">
                <a:solidFill>
                  <a:srgbClr val="FF0000"/>
                </a:solidFill>
              </a:rPr>
              <a:t>0(X1) </a:t>
            </a:r>
            <a:r>
              <a:rPr lang="en-US" sz="2400" kern="0" dirty="0"/>
              <a:t>instruction can be assumed to be a return instruction.  </a:t>
            </a:r>
          </a:p>
          <a:p>
            <a:pPr marL="800100" lvl="1" indent="-457200">
              <a:buFont typeface="Wingdings" panose="05000000000000000000" pitchFamily="2" charset="2"/>
              <a:buChar char="Ø"/>
            </a:pPr>
            <a:r>
              <a:rPr lang="en-US" sz="2400" kern="0" dirty="0"/>
              <a:t>This prediction could be wrong if the compiler sets a starting address of a jump table in X1, and the indirect jump is going to the first entry of the jump table.  </a:t>
            </a:r>
          </a:p>
          <a:p>
            <a:pPr marL="800100" lvl="1" indent="-457200">
              <a:buFont typeface="Wingdings" panose="05000000000000000000" pitchFamily="2" charset="2"/>
              <a:buChar char="Ø"/>
            </a:pPr>
            <a:endParaRPr lang="en-US" sz="2400" kern="0" dirty="0"/>
          </a:p>
          <a:p>
            <a:endParaRPr lang="en-US" sz="2400" kern="0" dirty="0"/>
          </a:p>
          <a:p>
            <a:pPr marL="838179" lvl="1" indent="-380990">
              <a:buFont typeface="Wingdings" panose="05000000000000000000" pitchFamily="2" charset="2"/>
              <a:buChar char="§"/>
            </a:pPr>
            <a:endParaRPr lang="en-US" sz="467" kern="0" dirty="0"/>
          </a:p>
        </p:txBody>
      </p:sp>
    </p:spTree>
    <p:extLst>
      <p:ext uri="{BB962C8B-B14F-4D97-AF65-F5344CB8AC3E}">
        <p14:creationId xmlns:p14="http://schemas.microsoft.com/office/powerpoint/2010/main" val="221071342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About Branches </a:t>
            </a:r>
            <a:endParaRPr lang="en-US" i="1"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253017" y="1591101"/>
                <a:ext cx="8004675" cy="4114800"/>
              </a:xfrm>
            </p:spPr>
            <p:txBody>
              <a:bodyPr/>
              <a:lstStyle/>
              <a:p>
                <a:r>
                  <a:rPr lang="en-US" sz="2400" dirty="0"/>
                  <a:t>Conditional branches (SB-type)</a:t>
                </a:r>
              </a:p>
              <a:p>
                <a:pPr lvl="1"/>
                <a:endParaRPr lang="en-US" sz="2000" dirty="0"/>
              </a:p>
              <a:p>
                <a:pPr marL="457189" lvl="1" indent="0">
                  <a:buNone/>
                </a:pPr>
                <a:endParaRPr lang="en-US" sz="2000" dirty="0"/>
              </a:p>
              <a:p>
                <a:pPr lvl="1"/>
                <a:r>
                  <a:rPr lang="en-US" sz="2000" dirty="0"/>
                  <a:t>opcode = BRANCH: </a:t>
                </a:r>
                <a:r>
                  <a:rPr lang="en-US" sz="2000" dirty="0">
                    <a:solidFill>
                      <a:srgbClr val="56127A"/>
                    </a:solidFill>
                  </a:rPr>
                  <a:t>pc </a:t>
                </a:r>
                <a:r>
                  <a:rPr lang="en-US" sz="2000" dirty="0">
                    <a:solidFill>
                      <a:srgbClr val="56127A"/>
                    </a:solidFill>
                    <a:sym typeface="Wingdings" panose="05000000000000000000" pitchFamily="2" charset="2"/>
                  </a:rPr>
                  <a:t> compare(funct3, rs1, rs2) ? pc + B-</a:t>
                </a:r>
                <a:r>
                  <a:rPr lang="en-US" sz="2000" dirty="0" err="1">
                    <a:solidFill>
                      <a:srgbClr val="56127A"/>
                    </a:solidFill>
                    <a:sym typeface="Wingdings" panose="05000000000000000000" pitchFamily="2" charset="2"/>
                  </a:rPr>
                  <a:t>imm</a:t>
                </a:r>
                <a:r>
                  <a:rPr lang="en-US" sz="2000" dirty="0">
                    <a:solidFill>
                      <a:srgbClr val="56127A"/>
                    </a:solidFill>
                    <a:sym typeface="Wingdings" panose="05000000000000000000" pitchFamily="2" charset="2"/>
                  </a:rPr>
                  <a:t> : pc + 4</a:t>
                </a:r>
              </a:p>
              <a:p>
                <a:pPr lvl="1"/>
                <a:r>
                  <a:rPr lang="en-US" sz="2000" dirty="0"/>
                  <a:t>B-</a:t>
                </a:r>
                <a:r>
                  <a:rPr lang="en-US" sz="2000" dirty="0" err="1"/>
                  <a:t>imm</a:t>
                </a:r>
                <a:r>
                  <a:rPr lang="en-US" sz="2000" dirty="0"/>
                  <a:t> = </a:t>
                </a:r>
                <a:r>
                  <a:rPr lang="en-US" sz="2000" dirty="0" err="1"/>
                  <a:t>signExtend</a:t>
                </a:r>
                <a:r>
                  <a:rPr lang="en-US" sz="2000" dirty="0"/>
                  <a:t>({</a:t>
                </a:r>
                <a:r>
                  <a:rPr lang="en-US" sz="2000" dirty="0" err="1"/>
                  <a:t>inst</a:t>
                </a:r>
                <a:r>
                  <a:rPr lang="en-US" sz="2000" dirty="0"/>
                  <a:t>[31], </a:t>
                </a:r>
                <a:r>
                  <a:rPr lang="en-US" sz="2000" dirty="0" err="1"/>
                  <a:t>inst</a:t>
                </a:r>
                <a:r>
                  <a:rPr lang="en-US" sz="2000" dirty="0"/>
                  <a:t>[7], </a:t>
                </a:r>
                <a:r>
                  <a:rPr lang="en-US" sz="2000" dirty="0" err="1"/>
                  <a:t>inst</a:t>
                </a:r>
                <a:r>
                  <a:rPr lang="en-US" sz="2000" dirty="0"/>
                  <a:t>[30:25], </a:t>
                </a:r>
                <a:r>
                  <a:rPr lang="en-US" sz="2000" dirty="0" err="1"/>
                  <a:t>inst</a:t>
                </a:r>
                <a:r>
                  <a:rPr lang="en-US" sz="2000" dirty="0"/>
                  <a:t>[11:8], 1’b0})</a:t>
                </a:r>
              </a:p>
              <a:p>
                <a:pPr lvl="1"/>
                <a:r>
                  <a:rPr lang="en-US" sz="2000" dirty="0">
                    <a:sym typeface="Wingdings" panose="05000000000000000000" pitchFamily="2" charset="2"/>
                  </a:rPr>
                  <a:t>Jump </a:t>
                </a:r>
                <a14:m>
                  <m:oMath xmlns:m="http://schemas.openxmlformats.org/officeDocument/2006/math">
                    <m:r>
                      <a:rPr lang="en-US" sz="2000" i="1">
                        <a:latin typeface="Cambria Math" panose="02040503050406030204" pitchFamily="18" charset="0"/>
                        <a:ea typeface="Cambria Math" panose="02040503050406030204" pitchFamily="18" charset="0"/>
                        <a:sym typeface="Wingdings" panose="05000000000000000000" pitchFamily="2" charset="2"/>
                      </a:rPr>
                      <m:t>±</m:t>
                    </m:r>
                  </m:oMath>
                </a14:m>
                <a:r>
                  <a:rPr lang="en-US" sz="2000" dirty="0">
                    <a:sym typeface="Wingdings" panose="05000000000000000000" pitchFamily="2" charset="2"/>
                  </a:rPr>
                  <a:t>4KB range</a:t>
                </a:r>
              </a:p>
              <a:p>
                <a:pPr lvl="1"/>
                <a:r>
                  <a:rPr lang="en-US" sz="2000" dirty="0"/>
                  <a:t>funct3 = BEQ/BNE/BLT/BLTU/BGE/BGEU</a:t>
                </a:r>
                <a:endParaRPr lang="en-US" sz="2000" dirty="0">
                  <a:sym typeface="Wingdings" panose="05000000000000000000" pitchFamily="2" charset="2"/>
                </a:endParaRPr>
              </a:p>
              <a:p>
                <a:pPr lvl="2"/>
                <a:endParaRPr 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253017" y="1591101"/>
                <a:ext cx="8004675" cy="4114800"/>
              </a:xfrm>
              <a:blipFill>
                <a:blip r:embed="rId2"/>
                <a:stretch>
                  <a:fillRect l="-609" t="-1185" r="-1219"/>
                </a:stretch>
              </a:blipFill>
            </p:spPr>
            <p:txBody>
              <a:bodyPr/>
              <a:lstStyle/>
              <a:p>
                <a:r>
                  <a:rPr lang="en-US">
                    <a:noFill/>
                  </a:rPr>
                  <a:t> </a:t>
                </a:r>
              </a:p>
            </p:txBody>
          </p:sp>
        </mc:Fallback>
      </mc:AlternateContent>
      <p:grpSp>
        <p:nvGrpSpPr>
          <p:cNvPr id="8" name="Group 7"/>
          <p:cNvGrpSpPr/>
          <p:nvPr/>
        </p:nvGrpSpPr>
        <p:grpSpPr>
          <a:xfrm>
            <a:off x="2245854" y="1939774"/>
            <a:ext cx="8267207" cy="656641"/>
            <a:chOff x="721854" y="2240557"/>
            <a:chExt cx="8267206" cy="656639"/>
          </a:xfrm>
        </p:grpSpPr>
        <p:sp>
          <p:nvSpPr>
            <p:cNvPr id="9" name="TextBox 8"/>
            <p:cNvSpPr txBox="1"/>
            <p:nvPr/>
          </p:nvSpPr>
          <p:spPr>
            <a:xfrm>
              <a:off x="721854" y="2543251"/>
              <a:ext cx="1178065"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[12]</a:t>
              </a:r>
            </a:p>
          </p:txBody>
        </p:sp>
        <p:sp>
          <p:nvSpPr>
            <p:cNvPr id="10" name="TextBox 9"/>
            <p:cNvSpPr txBox="1"/>
            <p:nvPr/>
          </p:nvSpPr>
          <p:spPr>
            <a:xfrm>
              <a:off x="1899919" y="2543251"/>
              <a:ext cx="1386840"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[10:5]</a:t>
              </a:r>
            </a:p>
          </p:txBody>
        </p:sp>
        <p:sp>
          <p:nvSpPr>
            <p:cNvPr id="11" name="TextBox 10"/>
            <p:cNvSpPr txBox="1"/>
            <p:nvPr/>
          </p:nvSpPr>
          <p:spPr>
            <a:xfrm>
              <a:off x="3278986" y="2543250"/>
              <a:ext cx="69850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rs2</a:t>
              </a:r>
            </a:p>
          </p:txBody>
        </p:sp>
        <p:sp>
          <p:nvSpPr>
            <p:cNvPr id="12" name="TextBox 11"/>
            <p:cNvSpPr txBox="1"/>
            <p:nvPr/>
          </p:nvSpPr>
          <p:spPr>
            <a:xfrm>
              <a:off x="3977487" y="2543254"/>
              <a:ext cx="69850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13" name="TextBox 12"/>
            <p:cNvSpPr txBox="1"/>
            <p:nvPr/>
          </p:nvSpPr>
          <p:spPr>
            <a:xfrm>
              <a:off x="4675987" y="2543252"/>
              <a:ext cx="86868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14" name="TextBox 13"/>
            <p:cNvSpPr txBox="1"/>
            <p:nvPr/>
          </p:nvSpPr>
          <p:spPr>
            <a:xfrm>
              <a:off x="5544667" y="2543251"/>
              <a:ext cx="1242060"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[4:1]</a:t>
              </a:r>
            </a:p>
          </p:txBody>
        </p:sp>
        <p:sp>
          <p:nvSpPr>
            <p:cNvPr id="15" name="TextBox 14"/>
            <p:cNvSpPr txBox="1"/>
            <p:nvPr/>
          </p:nvSpPr>
          <p:spPr>
            <a:xfrm>
              <a:off x="6786728" y="2543249"/>
              <a:ext cx="1153312"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a:t>
              </a:r>
            </a:p>
          </p:txBody>
        </p:sp>
        <p:sp>
          <p:nvSpPr>
            <p:cNvPr id="16" name="TextBox 15"/>
            <p:cNvSpPr txBox="1"/>
            <p:nvPr/>
          </p:nvSpPr>
          <p:spPr>
            <a:xfrm>
              <a:off x="7940040" y="2543249"/>
              <a:ext cx="104902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7" name="TextBox 16"/>
            <p:cNvSpPr txBox="1"/>
            <p:nvPr/>
          </p:nvSpPr>
          <p:spPr>
            <a:xfrm>
              <a:off x="1157640" y="2240557"/>
              <a:ext cx="306494" cy="353942"/>
            </a:xfrm>
            <a:prstGeom prst="rect">
              <a:avLst/>
            </a:prstGeom>
            <a:noFill/>
          </p:spPr>
          <p:txBody>
            <a:bodyPr wrap="none" rtlCol="0">
              <a:spAutoFit/>
            </a:bodyPr>
            <a:lstStyle/>
            <a:p>
              <a:pPr algn="ctr"/>
              <a:r>
                <a:rPr lang="en-US" sz="1700" dirty="0"/>
                <a:t>1</a:t>
              </a:r>
            </a:p>
          </p:txBody>
        </p:sp>
        <p:sp>
          <p:nvSpPr>
            <p:cNvPr id="18" name="TextBox 17"/>
            <p:cNvSpPr txBox="1"/>
            <p:nvPr/>
          </p:nvSpPr>
          <p:spPr>
            <a:xfrm>
              <a:off x="2440093" y="2240557"/>
              <a:ext cx="306494" cy="353942"/>
            </a:xfrm>
            <a:prstGeom prst="rect">
              <a:avLst/>
            </a:prstGeom>
            <a:noFill/>
          </p:spPr>
          <p:txBody>
            <a:bodyPr wrap="none" rtlCol="0">
              <a:spAutoFit/>
            </a:bodyPr>
            <a:lstStyle/>
            <a:p>
              <a:pPr algn="ctr"/>
              <a:r>
                <a:rPr lang="en-US" sz="1700" dirty="0"/>
                <a:t>6</a:t>
              </a:r>
            </a:p>
          </p:txBody>
        </p:sp>
        <p:sp>
          <p:nvSpPr>
            <p:cNvPr id="19" name="TextBox 18"/>
            <p:cNvSpPr txBox="1"/>
            <p:nvPr/>
          </p:nvSpPr>
          <p:spPr>
            <a:xfrm>
              <a:off x="3474989" y="2240557"/>
              <a:ext cx="306494" cy="353942"/>
            </a:xfrm>
            <a:prstGeom prst="rect">
              <a:avLst/>
            </a:prstGeom>
            <a:noFill/>
          </p:spPr>
          <p:txBody>
            <a:bodyPr wrap="none" rtlCol="0">
              <a:spAutoFit/>
            </a:bodyPr>
            <a:lstStyle/>
            <a:p>
              <a:pPr algn="ctr"/>
              <a:r>
                <a:rPr lang="en-US" sz="1700" dirty="0"/>
                <a:t>5</a:t>
              </a:r>
            </a:p>
          </p:txBody>
        </p:sp>
        <p:sp>
          <p:nvSpPr>
            <p:cNvPr id="20" name="TextBox 19"/>
            <p:cNvSpPr txBox="1"/>
            <p:nvPr/>
          </p:nvSpPr>
          <p:spPr>
            <a:xfrm>
              <a:off x="4173490" y="2240557"/>
              <a:ext cx="306494" cy="353942"/>
            </a:xfrm>
            <a:prstGeom prst="rect">
              <a:avLst/>
            </a:prstGeom>
            <a:noFill/>
          </p:spPr>
          <p:txBody>
            <a:bodyPr wrap="none" rtlCol="0">
              <a:spAutoFit/>
            </a:bodyPr>
            <a:lstStyle/>
            <a:p>
              <a:pPr algn="ctr"/>
              <a:r>
                <a:rPr lang="en-US" sz="1700" dirty="0"/>
                <a:t>5</a:t>
              </a:r>
            </a:p>
          </p:txBody>
        </p:sp>
        <p:sp>
          <p:nvSpPr>
            <p:cNvPr id="21" name="TextBox 20"/>
            <p:cNvSpPr txBox="1"/>
            <p:nvPr/>
          </p:nvSpPr>
          <p:spPr>
            <a:xfrm>
              <a:off x="4957081" y="2240557"/>
              <a:ext cx="306494" cy="353942"/>
            </a:xfrm>
            <a:prstGeom prst="rect">
              <a:avLst/>
            </a:prstGeom>
            <a:noFill/>
          </p:spPr>
          <p:txBody>
            <a:bodyPr wrap="none" rtlCol="0">
              <a:spAutoFit/>
            </a:bodyPr>
            <a:lstStyle/>
            <a:p>
              <a:pPr algn="ctr"/>
              <a:r>
                <a:rPr lang="en-US" sz="1700" dirty="0"/>
                <a:t>3</a:t>
              </a:r>
            </a:p>
          </p:txBody>
        </p:sp>
        <p:sp>
          <p:nvSpPr>
            <p:cNvPr id="22" name="TextBox 21"/>
            <p:cNvSpPr txBox="1"/>
            <p:nvPr/>
          </p:nvSpPr>
          <p:spPr>
            <a:xfrm>
              <a:off x="6012450" y="2240557"/>
              <a:ext cx="306494" cy="353942"/>
            </a:xfrm>
            <a:prstGeom prst="rect">
              <a:avLst/>
            </a:prstGeom>
            <a:noFill/>
          </p:spPr>
          <p:txBody>
            <a:bodyPr wrap="none" rtlCol="0">
              <a:spAutoFit/>
            </a:bodyPr>
            <a:lstStyle/>
            <a:p>
              <a:pPr algn="ctr"/>
              <a:r>
                <a:rPr lang="en-US" sz="1700" dirty="0"/>
                <a:t>4</a:t>
              </a:r>
            </a:p>
          </p:txBody>
        </p:sp>
        <p:sp>
          <p:nvSpPr>
            <p:cNvPr id="23" name="TextBox 22"/>
            <p:cNvSpPr txBox="1"/>
            <p:nvPr/>
          </p:nvSpPr>
          <p:spPr>
            <a:xfrm>
              <a:off x="7210138" y="2240557"/>
              <a:ext cx="306494" cy="353942"/>
            </a:xfrm>
            <a:prstGeom prst="rect">
              <a:avLst/>
            </a:prstGeom>
            <a:noFill/>
          </p:spPr>
          <p:txBody>
            <a:bodyPr wrap="none" rtlCol="0">
              <a:spAutoFit/>
            </a:bodyPr>
            <a:lstStyle/>
            <a:p>
              <a:pPr algn="ctr"/>
              <a:r>
                <a:rPr lang="en-US" sz="1700" dirty="0"/>
                <a:t>1</a:t>
              </a:r>
            </a:p>
          </p:txBody>
        </p:sp>
        <p:sp>
          <p:nvSpPr>
            <p:cNvPr id="24" name="TextBox 23"/>
            <p:cNvSpPr txBox="1"/>
            <p:nvPr/>
          </p:nvSpPr>
          <p:spPr>
            <a:xfrm>
              <a:off x="8311303" y="2240557"/>
              <a:ext cx="306494" cy="353942"/>
            </a:xfrm>
            <a:prstGeom prst="rect">
              <a:avLst/>
            </a:prstGeom>
            <a:noFill/>
          </p:spPr>
          <p:txBody>
            <a:bodyPr wrap="none" rtlCol="0">
              <a:spAutoFit/>
            </a:bodyPr>
            <a:lstStyle/>
            <a:p>
              <a:pPr algn="ctr"/>
              <a:r>
                <a:rPr lang="en-US" sz="1700" dirty="0"/>
                <a:t>7</a:t>
              </a:r>
            </a:p>
          </p:txBody>
        </p:sp>
      </p:grpSp>
      <p:sp>
        <p:nvSpPr>
          <p:cNvPr id="4" name="Date Placeholder 3"/>
          <p:cNvSpPr>
            <a:spLocks noGrp="1"/>
          </p:cNvSpPr>
          <p:nvPr>
            <p:ph type="dt" sz="half" idx="10"/>
          </p:nvPr>
        </p:nvSpPr>
        <p:spPr/>
        <p:txBody>
          <a:bodyPr/>
          <a:lstStyle/>
          <a:p>
            <a:pPr>
              <a:defRPr/>
            </a:pPr>
            <a:r>
              <a:rPr lang="en-US"/>
              <a:t>September 27, 2017</a:t>
            </a:r>
            <a:endParaRPr lang="en-US" dirty="0"/>
          </a:p>
        </p:txBody>
      </p:sp>
      <p:sp>
        <p:nvSpPr>
          <p:cNvPr id="25" name="Footer Placeholder 24"/>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26" name="Slide Number Placeholder 25"/>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57</a:t>
            </a:fld>
            <a:endParaRPr lang="en-US" dirty="0"/>
          </a:p>
        </p:txBody>
      </p:sp>
      <p:sp>
        <p:nvSpPr>
          <p:cNvPr id="27" name="TextBox 26">
            <a:extLst>
              <a:ext uri="{FF2B5EF4-FFF2-40B4-BE49-F238E27FC236}">
                <a16:creationId xmlns:a16="http://schemas.microsoft.com/office/drawing/2014/main" id="{DEFCC0D9-58BD-49CD-A4CD-C3510C979C22}"/>
              </a:ext>
            </a:extLst>
          </p:cNvPr>
          <p:cNvSpPr txBox="1"/>
          <p:nvPr/>
        </p:nvSpPr>
        <p:spPr>
          <a:xfrm>
            <a:off x="540914" y="1250001"/>
            <a:ext cx="3890809" cy="1733488"/>
          </a:xfrm>
          <a:prstGeom prst="rect">
            <a:avLst/>
          </a:prstGeom>
          <a:solidFill>
            <a:srgbClr val="FFFF00"/>
          </a:solidFill>
          <a:ln>
            <a:solidFill>
              <a:srgbClr val="FF0000"/>
            </a:solidFill>
          </a:ln>
        </p:spPr>
        <p:txBody>
          <a:bodyPr wrap="none" rtlCol="0" anchor="ctr" anchorCtr="1">
            <a:spAutoFit/>
          </a:bodyPr>
          <a:lstStyle/>
          <a:p>
            <a:r>
              <a:rPr lang="en-US" sz="2133" dirty="0">
                <a:ea typeface="標楷體" pitchFamily="65" charset="-120"/>
                <a:cs typeface="Calibri" panose="020F0502020204030204" pitchFamily="34" charset="0"/>
              </a:rPr>
              <a:t>We have BLT, BGE, but </a:t>
            </a:r>
          </a:p>
          <a:p>
            <a:r>
              <a:rPr lang="en-US" sz="2133" dirty="0">
                <a:ea typeface="標楷體" pitchFamily="65" charset="-120"/>
                <a:cs typeface="Calibri" panose="020F0502020204030204" pitchFamily="34" charset="0"/>
              </a:rPr>
              <a:t>Why there are no</a:t>
            </a:r>
          </a:p>
          <a:p>
            <a:r>
              <a:rPr lang="en-US" sz="2133" dirty="0">
                <a:ea typeface="標楷體" pitchFamily="65" charset="-120"/>
                <a:cs typeface="Calibri" panose="020F0502020204030204" pitchFamily="34" charset="0"/>
              </a:rPr>
              <a:t>BLE</a:t>
            </a:r>
          </a:p>
          <a:p>
            <a:r>
              <a:rPr lang="en-US" sz="2133" dirty="0">
                <a:ea typeface="標楷體" pitchFamily="65" charset="-120"/>
                <a:cs typeface="Calibri" panose="020F0502020204030204" pitchFamily="34" charset="0"/>
              </a:rPr>
              <a:t>BGT instructions?</a:t>
            </a:r>
          </a:p>
          <a:p>
            <a:r>
              <a:rPr lang="en-US" sz="2133" dirty="0">
                <a:ea typeface="標楷體" pitchFamily="65" charset="-120"/>
                <a:cs typeface="Calibri" panose="020F0502020204030204" pitchFamily="34" charset="0"/>
              </a:rPr>
              <a:t>Does this break the regularity?</a:t>
            </a:r>
          </a:p>
        </p:txBody>
      </p:sp>
      <p:sp>
        <p:nvSpPr>
          <p:cNvPr id="29" name="TextBox 28">
            <a:extLst>
              <a:ext uri="{FF2B5EF4-FFF2-40B4-BE49-F238E27FC236}">
                <a16:creationId xmlns:a16="http://schemas.microsoft.com/office/drawing/2014/main" id="{0BF3F3CF-45E0-4F60-98B8-0E39832BE816}"/>
              </a:ext>
            </a:extLst>
          </p:cNvPr>
          <p:cNvSpPr txBox="1"/>
          <p:nvPr/>
        </p:nvSpPr>
        <p:spPr>
          <a:xfrm>
            <a:off x="6375247" y="1250001"/>
            <a:ext cx="5325497" cy="3046411"/>
          </a:xfrm>
          <a:prstGeom prst="rect">
            <a:avLst/>
          </a:prstGeom>
          <a:solidFill>
            <a:srgbClr val="FFFF00"/>
          </a:solidFill>
          <a:ln>
            <a:solidFill>
              <a:srgbClr val="FF0000"/>
            </a:solidFill>
          </a:ln>
        </p:spPr>
        <p:txBody>
          <a:bodyPr wrap="none" rtlCol="0" anchor="ctr" anchorCtr="1">
            <a:spAutoFit/>
          </a:bodyPr>
          <a:lstStyle/>
          <a:p>
            <a:r>
              <a:rPr lang="en-US" sz="2133" dirty="0">
                <a:ea typeface="標楷體" pitchFamily="65" charset="-120"/>
                <a:cs typeface="Calibri" panose="020F0502020204030204" pitchFamily="34" charset="0"/>
              </a:rPr>
              <a:t>Checking 0 &lt;= x &lt; y (is x in bound) usually</a:t>
            </a:r>
          </a:p>
          <a:p>
            <a:r>
              <a:rPr lang="en-US" sz="2133" dirty="0">
                <a:ea typeface="標楷體" pitchFamily="65" charset="-120"/>
                <a:cs typeface="Calibri" panose="020F0502020204030204" pitchFamily="34" charset="0"/>
              </a:rPr>
              <a:t>takes two instructions:</a:t>
            </a:r>
          </a:p>
          <a:p>
            <a:endParaRPr lang="en-US" sz="2133" dirty="0">
              <a:ea typeface="標楷體" pitchFamily="65" charset="-120"/>
              <a:cs typeface="Calibri" panose="020F0502020204030204" pitchFamily="34" charset="0"/>
            </a:endParaRPr>
          </a:p>
          <a:p>
            <a:r>
              <a:rPr lang="en-US" sz="2133" dirty="0">
                <a:ea typeface="標楷體" pitchFamily="65" charset="-120"/>
                <a:cs typeface="Calibri" panose="020F0502020204030204" pitchFamily="34" charset="0"/>
              </a:rPr>
              <a:t>If (x &lt;= 0) ||  (x &gt; y)</a:t>
            </a:r>
          </a:p>
          <a:p>
            <a:endParaRPr lang="en-US" sz="2133" dirty="0">
              <a:ea typeface="標楷體" pitchFamily="65" charset="-120"/>
              <a:cs typeface="Calibri" panose="020F0502020204030204" pitchFamily="34" charset="0"/>
            </a:endParaRPr>
          </a:p>
          <a:p>
            <a:r>
              <a:rPr lang="en-US" sz="2133" dirty="0">
                <a:ea typeface="標楷體" pitchFamily="65" charset="-120"/>
                <a:cs typeface="Calibri" panose="020F0502020204030204" pitchFamily="34" charset="0"/>
              </a:rPr>
              <a:t>However, if you treat x and y as unsigned</a:t>
            </a:r>
          </a:p>
          <a:p>
            <a:r>
              <a:rPr lang="en-US" sz="2133" dirty="0">
                <a:ea typeface="標楷體" pitchFamily="65" charset="-120"/>
                <a:cs typeface="Calibri" panose="020F0502020204030204" pitchFamily="34" charset="0"/>
              </a:rPr>
              <a:t>one check would be sufficient</a:t>
            </a:r>
          </a:p>
          <a:p>
            <a:endParaRPr lang="en-US" sz="2133" dirty="0">
              <a:ea typeface="標楷體" pitchFamily="65" charset="-120"/>
              <a:cs typeface="Calibri" panose="020F0502020204030204" pitchFamily="34" charset="0"/>
            </a:endParaRPr>
          </a:p>
          <a:p>
            <a:r>
              <a:rPr lang="en-US" sz="2133" dirty="0">
                <a:ea typeface="標楷體" pitchFamily="65" charset="-120"/>
                <a:cs typeface="Calibri" panose="020F0502020204030204" pitchFamily="34" charset="0"/>
              </a:rPr>
              <a:t>BGEU X, Y</a:t>
            </a:r>
          </a:p>
        </p:txBody>
      </p:sp>
      <p:sp>
        <p:nvSpPr>
          <p:cNvPr id="30" name="TextBox 29">
            <a:extLst>
              <a:ext uri="{FF2B5EF4-FFF2-40B4-BE49-F238E27FC236}">
                <a16:creationId xmlns:a16="http://schemas.microsoft.com/office/drawing/2014/main" id="{F2AE47F4-9813-4631-A404-98F3C023B092}"/>
              </a:ext>
            </a:extLst>
          </p:cNvPr>
          <p:cNvSpPr txBox="1"/>
          <p:nvPr/>
        </p:nvSpPr>
        <p:spPr>
          <a:xfrm>
            <a:off x="542742" y="3874512"/>
            <a:ext cx="5050261" cy="1323439"/>
          </a:xfrm>
          <a:prstGeom prst="rect">
            <a:avLst/>
          </a:prstGeom>
          <a:solidFill>
            <a:srgbClr val="FFFF00"/>
          </a:solidFill>
          <a:ln>
            <a:solidFill>
              <a:srgbClr val="FF0000"/>
            </a:solidFill>
          </a:ln>
        </p:spPr>
        <p:txBody>
          <a:bodyPr wrap="square" rtlCol="0" anchor="ctr" anchorCtr="1">
            <a:spAutoFit/>
          </a:bodyPr>
          <a:lstStyle/>
          <a:p>
            <a:r>
              <a:rPr lang="en-US" sz="2000" dirty="0">
                <a:ea typeface="標楷體" pitchFamily="65" charset="-120"/>
                <a:cs typeface="Calibri" panose="020F0502020204030204" pitchFamily="34" charset="0"/>
              </a:rPr>
              <a:t>To implement BGT, you may simply swap the operands of the BLT instruction:</a:t>
            </a:r>
          </a:p>
          <a:p>
            <a:r>
              <a:rPr lang="en-US" sz="2000" dirty="0">
                <a:ea typeface="標楷體" pitchFamily="65" charset="-120"/>
                <a:cs typeface="Calibri" panose="020F0502020204030204" pitchFamily="34" charset="0"/>
              </a:rPr>
              <a:t>BLT X1,X2, label  </a:t>
            </a:r>
            <a:r>
              <a:rPr lang="en-US" sz="2000" dirty="0">
                <a:ea typeface="標楷體" pitchFamily="65" charset="-120"/>
                <a:cs typeface="Calibri" panose="020F0502020204030204" pitchFamily="34" charset="0"/>
                <a:sym typeface="Wingdings" panose="05000000000000000000" pitchFamily="2" charset="2"/>
              </a:rPr>
              <a:t> BGT X2,X1, label</a:t>
            </a:r>
          </a:p>
          <a:p>
            <a:r>
              <a:rPr lang="en-US" sz="2000" dirty="0">
                <a:ea typeface="標楷體" pitchFamily="65" charset="-120"/>
                <a:cs typeface="Calibri" panose="020F0502020204030204" pitchFamily="34" charset="0"/>
                <a:sym typeface="Wingdings" panose="05000000000000000000" pitchFamily="2" charset="2"/>
              </a:rPr>
              <a:t>BGE X1,X2, label  BLE X2,X1, label</a:t>
            </a:r>
            <a:endParaRPr lang="en-US" sz="2000" dirty="0">
              <a:ea typeface="標楷體" pitchFamily="65" charset="-120"/>
              <a:cs typeface="Calibri" panose="020F0502020204030204" pitchFamily="34" charset="0"/>
            </a:endParaRPr>
          </a:p>
        </p:txBody>
      </p:sp>
    </p:spTree>
    <p:extLst>
      <p:ext uri="{BB962C8B-B14F-4D97-AF65-F5344CB8AC3E}">
        <p14:creationId xmlns:p14="http://schemas.microsoft.com/office/powerpoint/2010/main" val="3931923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9" grpId="0" animBg="1"/>
      <p:bldP spid="30"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Instructions to Read and Write CSR</a:t>
            </a:r>
          </a:p>
        </p:txBody>
      </p:sp>
      <p:sp>
        <p:nvSpPr>
          <p:cNvPr id="3" name="Content Placeholder 2"/>
          <p:cNvSpPr>
            <a:spLocks noGrp="1"/>
          </p:cNvSpPr>
          <p:nvPr>
            <p:ph idx="1"/>
          </p:nvPr>
        </p:nvSpPr>
        <p:spPr>
          <a:xfrm>
            <a:off x="2179321" y="1516808"/>
            <a:ext cx="8387081" cy="4883993"/>
          </a:xfrm>
        </p:spPr>
        <p:txBody>
          <a:bodyPr/>
          <a:lstStyle/>
          <a:p>
            <a:pPr marL="0" indent="0">
              <a:buNone/>
            </a:pPr>
            <a:endParaRPr lang="en-US" sz="2000" dirty="0"/>
          </a:p>
          <a:p>
            <a:pPr marL="0" indent="0">
              <a:buNone/>
            </a:pPr>
            <a:endParaRPr lang="en-US" sz="2000" dirty="0"/>
          </a:p>
          <a:p>
            <a:endParaRPr lang="en-US" sz="2400" dirty="0"/>
          </a:p>
          <a:p>
            <a:pPr lvl="1"/>
            <a:r>
              <a:rPr lang="en-US" sz="2133" dirty="0"/>
              <a:t>opcode = SYSTEM</a:t>
            </a:r>
          </a:p>
          <a:p>
            <a:pPr lvl="1"/>
            <a:r>
              <a:rPr lang="en-US" sz="2133" dirty="0"/>
              <a:t>CSRW rs1, </a:t>
            </a:r>
            <a:r>
              <a:rPr lang="en-US" sz="2133" dirty="0" err="1"/>
              <a:t>csr</a:t>
            </a:r>
            <a:r>
              <a:rPr lang="en-US" sz="2133" dirty="0"/>
              <a:t> (funct3 = CSRRW, </a:t>
            </a:r>
            <a:r>
              <a:rPr lang="en-US" sz="2133" dirty="0" err="1"/>
              <a:t>rd</a:t>
            </a:r>
            <a:r>
              <a:rPr lang="en-US" sz="2133" dirty="0"/>
              <a:t> = x0): </a:t>
            </a:r>
            <a:r>
              <a:rPr lang="en-US" sz="2133" dirty="0" err="1"/>
              <a:t>csr</a:t>
            </a:r>
            <a:r>
              <a:rPr lang="en-US" sz="2133" dirty="0"/>
              <a:t> </a:t>
            </a:r>
            <a:r>
              <a:rPr lang="en-US" sz="2133" dirty="0">
                <a:sym typeface="Wingdings" panose="05000000000000000000" pitchFamily="2" charset="2"/>
              </a:rPr>
              <a:t> rs1</a:t>
            </a:r>
          </a:p>
          <a:p>
            <a:pPr lvl="1"/>
            <a:r>
              <a:rPr lang="en-US" sz="2133" dirty="0">
                <a:sym typeface="Wingdings" panose="05000000000000000000" pitchFamily="2" charset="2"/>
              </a:rPr>
              <a:t>CSRR  </a:t>
            </a:r>
            <a:r>
              <a:rPr lang="en-US" sz="2133" dirty="0" err="1">
                <a:sym typeface="Wingdings" panose="05000000000000000000" pitchFamily="2" charset="2"/>
              </a:rPr>
              <a:t>csr</a:t>
            </a:r>
            <a:r>
              <a:rPr lang="en-US" sz="2133" dirty="0">
                <a:sym typeface="Wingdings" panose="05000000000000000000" pitchFamily="2" charset="2"/>
              </a:rPr>
              <a:t>, </a:t>
            </a:r>
            <a:r>
              <a:rPr lang="en-US" sz="2133" dirty="0" err="1">
                <a:sym typeface="Wingdings" panose="05000000000000000000" pitchFamily="2" charset="2"/>
              </a:rPr>
              <a:t>rd</a:t>
            </a:r>
            <a:r>
              <a:rPr lang="en-US" sz="2133" dirty="0">
                <a:sym typeface="Wingdings" panose="05000000000000000000" pitchFamily="2" charset="2"/>
              </a:rPr>
              <a:t>  (funct3 = CSRRS, rs1 = x0): </a:t>
            </a:r>
            <a:r>
              <a:rPr lang="en-US" sz="2133" dirty="0" err="1">
                <a:sym typeface="Wingdings" panose="05000000000000000000" pitchFamily="2" charset="2"/>
              </a:rPr>
              <a:t>rd</a:t>
            </a:r>
            <a:r>
              <a:rPr lang="en-US" sz="2133" dirty="0">
                <a:sym typeface="Wingdings" panose="05000000000000000000" pitchFamily="2" charset="2"/>
              </a:rPr>
              <a:t>  </a:t>
            </a:r>
            <a:r>
              <a:rPr lang="en-US" sz="2133" dirty="0" err="1">
                <a:sym typeface="Wingdings" panose="05000000000000000000" pitchFamily="2" charset="2"/>
              </a:rPr>
              <a:t>csr</a:t>
            </a:r>
            <a:endParaRPr lang="en-US" sz="2133" dirty="0">
              <a:sym typeface="Wingdings" panose="05000000000000000000" pitchFamily="2" charset="2"/>
            </a:endParaRPr>
          </a:p>
        </p:txBody>
      </p:sp>
      <p:grpSp>
        <p:nvGrpSpPr>
          <p:cNvPr id="8" name="Group 7"/>
          <p:cNvGrpSpPr/>
          <p:nvPr/>
        </p:nvGrpSpPr>
        <p:grpSpPr>
          <a:xfrm>
            <a:off x="2298590" y="1667157"/>
            <a:ext cx="8078703" cy="646103"/>
            <a:chOff x="723900" y="3317566"/>
            <a:chExt cx="8078703" cy="646103"/>
          </a:xfrm>
        </p:grpSpPr>
        <p:sp>
          <p:nvSpPr>
            <p:cNvPr id="9" name="TextBox 8"/>
            <p:cNvSpPr txBox="1"/>
            <p:nvPr/>
          </p:nvSpPr>
          <p:spPr>
            <a:xfrm>
              <a:off x="723900" y="3609726"/>
              <a:ext cx="2968096"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CSR</a:t>
              </a:r>
            </a:p>
          </p:txBody>
        </p:sp>
        <p:sp>
          <p:nvSpPr>
            <p:cNvPr id="10" name="TextBox 9"/>
            <p:cNvSpPr txBox="1"/>
            <p:nvPr/>
          </p:nvSpPr>
          <p:spPr>
            <a:xfrm>
              <a:off x="4922042" y="3609726"/>
              <a:ext cx="91201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11" name="TextBox 10"/>
            <p:cNvSpPr txBox="1"/>
            <p:nvPr/>
          </p:nvSpPr>
          <p:spPr>
            <a:xfrm>
              <a:off x="3694111" y="3609726"/>
              <a:ext cx="122793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12" name="TextBox 11"/>
            <p:cNvSpPr txBox="1"/>
            <p:nvPr/>
          </p:nvSpPr>
          <p:spPr>
            <a:xfrm>
              <a:off x="5834060" y="3609726"/>
              <a:ext cx="12262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13" name="TextBox 12"/>
            <p:cNvSpPr txBox="1"/>
            <p:nvPr/>
          </p:nvSpPr>
          <p:spPr>
            <a:xfrm>
              <a:off x="7060322" y="3609726"/>
              <a:ext cx="174228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4" name="TextBox 13"/>
            <p:cNvSpPr txBox="1"/>
            <p:nvPr/>
          </p:nvSpPr>
          <p:spPr>
            <a:xfrm>
              <a:off x="1993787" y="3317566"/>
              <a:ext cx="428322" cy="353943"/>
            </a:xfrm>
            <a:prstGeom prst="rect">
              <a:avLst/>
            </a:prstGeom>
            <a:noFill/>
          </p:spPr>
          <p:txBody>
            <a:bodyPr wrap="none" rtlCol="0">
              <a:spAutoFit/>
            </a:bodyPr>
            <a:lstStyle/>
            <a:p>
              <a:pPr algn="ctr"/>
              <a:r>
                <a:rPr lang="en-US" sz="1700" dirty="0"/>
                <a:t>12</a:t>
              </a:r>
            </a:p>
          </p:txBody>
        </p:sp>
        <p:sp>
          <p:nvSpPr>
            <p:cNvPr id="15" name="TextBox 14"/>
            <p:cNvSpPr txBox="1"/>
            <p:nvPr/>
          </p:nvSpPr>
          <p:spPr>
            <a:xfrm>
              <a:off x="4154830" y="3317566"/>
              <a:ext cx="306494" cy="353943"/>
            </a:xfrm>
            <a:prstGeom prst="rect">
              <a:avLst/>
            </a:prstGeom>
            <a:noFill/>
          </p:spPr>
          <p:txBody>
            <a:bodyPr wrap="none" rtlCol="0">
              <a:spAutoFit/>
            </a:bodyPr>
            <a:lstStyle/>
            <a:p>
              <a:pPr algn="ctr"/>
              <a:r>
                <a:rPr lang="en-US" sz="1700" dirty="0"/>
                <a:t>5</a:t>
              </a:r>
            </a:p>
          </p:txBody>
        </p:sp>
        <p:sp>
          <p:nvSpPr>
            <p:cNvPr id="16" name="TextBox 15"/>
            <p:cNvSpPr txBox="1"/>
            <p:nvPr/>
          </p:nvSpPr>
          <p:spPr>
            <a:xfrm>
              <a:off x="5220834" y="3317566"/>
              <a:ext cx="306494" cy="353943"/>
            </a:xfrm>
            <a:prstGeom prst="rect">
              <a:avLst/>
            </a:prstGeom>
            <a:noFill/>
          </p:spPr>
          <p:txBody>
            <a:bodyPr wrap="none" rtlCol="0">
              <a:spAutoFit/>
            </a:bodyPr>
            <a:lstStyle/>
            <a:p>
              <a:pPr algn="ctr"/>
              <a:r>
                <a:rPr lang="en-US" sz="1700" dirty="0"/>
                <a:t>3</a:t>
              </a:r>
            </a:p>
          </p:txBody>
        </p:sp>
        <p:sp>
          <p:nvSpPr>
            <p:cNvPr id="17" name="TextBox 16"/>
            <p:cNvSpPr txBox="1"/>
            <p:nvPr/>
          </p:nvSpPr>
          <p:spPr>
            <a:xfrm>
              <a:off x="6296894" y="3317566"/>
              <a:ext cx="306494" cy="353943"/>
            </a:xfrm>
            <a:prstGeom prst="rect">
              <a:avLst/>
            </a:prstGeom>
            <a:noFill/>
          </p:spPr>
          <p:txBody>
            <a:bodyPr wrap="none" rtlCol="0">
              <a:spAutoFit/>
            </a:bodyPr>
            <a:lstStyle/>
            <a:p>
              <a:pPr algn="ctr"/>
              <a:r>
                <a:rPr lang="en-US" sz="1700" dirty="0"/>
                <a:t>5</a:t>
              </a:r>
            </a:p>
          </p:txBody>
        </p:sp>
        <p:sp>
          <p:nvSpPr>
            <p:cNvPr id="18" name="TextBox 17"/>
            <p:cNvSpPr txBox="1"/>
            <p:nvPr/>
          </p:nvSpPr>
          <p:spPr>
            <a:xfrm>
              <a:off x="7778215" y="3317566"/>
              <a:ext cx="306494" cy="353943"/>
            </a:xfrm>
            <a:prstGeom prst="rect">
              <a:avLst/>
            </a:prstGeom>
            <a:noFill/>
          </p:spPr>
          <p:txBody>
            <a:bodyPr wrap="none" rtlCol="0">
              <a:spAutoFit/>
            </a:bodyPr>
            <a:lstStyle/>
            <a:p>
              <a:pPr algn="ctr"/>
              <a:r>
                <a:rPr lang="en-US" sz="1700" dirty="0"/>
                <a:t>7</a:t>
              </a:r>
            </a:p>
          </p:txBody>
        </p:sp>
      </p:grpSp>
      <p:sp>
        <p:nvSpPr>
          <p:cNvPr id="4" name="Date Placeholder 3"/>
          <p:cNvSpPr>
            <a:spLocks noGrp="1"/>
          </p:cNvSpPr>
          <p:nvPr>
            <p:ph type="dt" sz="half" idx="10"/>
          </p:nvPr>
        </p:nvSpPr>
        <p:spPr/>
        <p:txBody>
          <a:bodyPr/>
          <a:lstStyle/>
          <a:p>
            <a:pPr>
              <a:defRPr/>
            </a:pPr>
            <a:r>
              <a:rPr lang="en-US"/>
              <a:t>September 27, 2017</a:t>
            </a:r>
            <a:endParaRPr lang="en-US" dirty="0"/>
          </a:p>
        </p:txBody>
      </p:sp>
      <p:sp>
        <p:nvSpPr>
          <p:cNvPr id="5" name="Footer Placeholder 4"/>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7" name="Slide Number Placeholder 6"/>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58</a:t>
            </a:fld>
            <a:endParaRPr lang="en-US" dirty="0"/>
          </a:p>
        </p:txBody>
      </p:sp>
    </p:spTree>
    <p:extLst>
      <p:ext uri="{BB962C8B-B14F-4D97-AF65-F5344CB8AC3E}">
        <p14:creationId xmlns:p14="http://schemas.microsoft.com/office/powerpoint/2010/main" val="22398272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7EFE806-B147-47DC-BEC9-42301BA37B18}"/>
              </a:ext>
            </a:extLst>
          </p:cNvPr>
          <p:cNvSpPr>
            <a:spLocks noGrp="1"/>
          </p:cNvSpPr>
          <p:nvPr>
            <p:ph type="sldNum" sz="quarter" idx="10"/>
          </p:nvPr>
        </p:nvSpPr>
        <p:spPr/>
        <p:txBody>
          <a:bodyPr/>
          <a:lstStyle/>
          <a:p>
            <a:fld id="{D9B6BDF2-6896-4B98-8776-C18582F63BA5}" type="slidenum">
              <a:rPr lang="zh-TW" altLang="en-US" smtClean="0"/>
              <a:t>59</a:t>
            </a:fld>
            <a:endParaRPr lang="zh-TW" altLang="en-US"/>
          </a:p>
        </p:txBody>
      </p:sp>
      <p:pic>
        <p:nvPicPr>
          <p:cNvPr id="6" name="Picture 5">
            <a:extLst>
              <a:ext uri="{FF2B5EF4-FFF2-40B4-BE49-F238E27FC236}">
                <a16:creationId xmlns:a16="http://schemas.microsoft.com/office/drawing/2014/main" id="{1359EBE9-8A1A-4A52-8511-6B7C42EC36EA}"/>
              </a:ext>
            </a:extLst>
          </p:cNvPr>
          <p:cNvPicPr>
            <a:picLocks noChangeAspect="1"/>
          </p:cNvPicPr>
          <p:nvPr/>
        </p:nvPicPr>
        <p:blipFill>
          <a:blip r:embed="rId2"/>
          <a:stretch>
            <a:fillRect/>
          </a:stretch>
        </p:blipFill>
        <p:spPr>
          <a:xfrm>
            <a:off x="0" y="1619738"/>
            <a:ext cx="12192000" cy="3618524"/>
          </a:xfrm>
          <a:prstGeom prst="rect">
            <a:avLst/>
          </a:prstGeom>
        </p:spPr>
      </p:pic>
      <p:sp>
        <p:nvSpPr>
          <p:cNvPr id="7" name="Title 1">
            <a:extLst>
              <a:ext uri="{FF2B5EF4-FFF2-40B4-BE49-F238E27FC236}">
                <a16:creationId xmlns:a16="http://schemas.microsoft.com/office/drawing/2014/main" id="{285707FA-5F2C-49A0-9A7A-64F2A6DE3979}"/>
              </a:ext>
            </a:extLst>
          </p:cNvPr>
          <p:cNvSpPr>
            <a:spLocks noGrp="1"/>
          </p:cNvSpPr>
          <p:nvPr>
            <p:ph type="title"/>
          </p:nvPr>
        </p:nvSpPr>
        <p:spPr>
          <a:xfrm>
            <a:off x="1095023" y="106092"/>
            <a:ext cx="10555111" cy="1143000"/>
          </a:xfrm>
        </p:spPr>
        <p:txBody>
          <a:bodyPr/>
          <a:lstStyle/>
          <a:p>
            <a:r>
              <a:rPr lang="en-US" dirty="0"/>
              <a:t>Summary of RISC-V Instruction Format</a:t>
            </a:r>
          </a:p>
        </p:txBody>
      </p:sp>
    </p:spTree>
    <p:extLst>
      <p:ext uri="{BB962C8B-B14F-4D97-AF65-F5344CB8AC3E}">
        <p14:creationId xmlns:p14="http://schemas.microsoft.com/office/powerpoint/2010/main" val="104118730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Pop Quiz</a:t>
            </a:r>
          </a:p>
        </p:txBody>
      </p:sp>
      <p:sp>
        <p:nvSpPr>
          <p:cNvPr id="3" name="Content Placeholder 2"/>
          <p:cNvSpPr>
            <a:spLocks noGrp="1"/>
          </p:cNvSpPr>
          <p:nvPr>
            <p:ph idx="1"/>
          </p:nvPr>
        </p:nvSpPr>
        <p:spPr>
          <a:xfrm>
            <a:off x="214009" y="1209675"/>
            <a:ext cx="11738808" cy="4909022"/>
          </a:xfrm>
        </p:spPr>
        <p:txBody>
          <a:bodyPr/>
          <a:lstStyle/>
          <a:p>
            <a:pPr marL="0" indent="0">
              <a:buNone/>
            </a:pPr>
            <a:r>
              <a:rPr lang="en-US" sz="2800" dirty="0">
                <a:latin typeface="Times New Roman" panose="02020603050405020304" pitchFamily="18" charset="0"/>
                <a:cs typeface="Times New Roman" panose="02020603050405020304" pitchFamily="18" charset="0"/>
              </a:rPr>
              <a:t>1) What immediate values does the RISC-V instructions support?</a:t>
            </a:r>
          </a:p>
          <a:p>
            <a:pPr marL="457176" lvl="1" indent="0">
              <a:buNone/>
            </a:pPr>
            <a:endParaRPr lang="en-US" sz="2800" dirty="0">
              <a:latin typeface="Times New Roman" panose="02020603050405020304" pitchFamily="18" charset="0"/>
              <a:cs typeface="Times New Roman" panose="02020603050405020304" pitchFamily="18" charset="0"/>
            </a:endParaRPr>
          </a:p>
          <a:p>
            <a:pPr marL="914376" lvl="1" indent="-457200">
              <a:buAutoNum type="alphaLcParenR"/>
            </a:pPr>
            <a:r>
              <a:rPr lang="en-US" sz="2800" dirty="0">
                <a:latin typeface="Times New Roman" panose="02020603050405020304" pitchFamily="18" charset="0"/>
                <a:cs typeface="Times New Roman" panose="02020603050405020304" pitchFamily="18" charset="0"/>
              </a:rPr>
              <a:t>32-bits</a:t>
            </a:r>
          </a:p>
          <a:p>
            <a:pPr marL="914376" lvl="1" indent="-457200">
              <a:buAutoNum type="alphaLcParenR"/>
            </a:pPr>
            <a:r>
              <a:rPr lang="en-US" sz="2800" dirty="0">
                <a:latin typeface="Times New Roman" panose="02020603050405020304" pitchFamily="18" charset="0"/>
                <a:cs typeface="Times New Roman" panose="02020603050405020304" pitchFamily="18" charset="0"/>
              </a:rPr>
              <a:t>12-bits</a:t>
            </a:r>
          </a:p>
          <a:p>
            <a:pPr marL="914376" lvl="1" indent="-457200">
              <a:buAutoNum type="alphaLcParenR"/>
            </a:pPr>
            <a:r>
              <a:rPr lang="en-US" sz="2800" dirty="0">
                <a:latin typeface="Times New Roman" panose="02020603050405020304" pitchFamily="18" charset="0"/>
                <a:cs typeface="Times New Roman" panose="02020603050405020304" pitchFamily="18" charset="0"/>
              </a:rPr>
              <a:t>20-bits</a:t>
            </a:r>
          </a:p>
          <a:p>
            <a:pPr marL="914376" lvl="1" indent="-457200">
              <a:buAutoNum type="alphaLcParenR"/>
            </a:pPr>
            <a:r>
              <a:rPr lang="en-US" sz="2800" dirty="0">
                <a:latin typeface="Times New Roman" panose="02020603050405020304" pitchFamily="18" charset="0"/>
                <a:cs typeface="Times New Roman" panose="02020603050405020304" pitchFamily="18" charset="0"/>
              </a:rPr>
              <a:t>64-bits</a:t>
            </a:r>
          </a:p>
          <a:p>
            <a:pPr marL="914376" lvl="1" indent="-457200">
              <a:buAutoNum type="alphaLcParenR"/>
            </a:pPr>
            <a:endParaRPr lang="en-US" sz="2800" dirty="0">
              <a:latin typeface="Times New Roman" panose="02020603050405020304" pitchFamily="18" charset="0"/>
              <a:cs typeface="Times New Roman" panose="02020603050405020304" pitchFamily="18" charset="0"/>
            </a:endParaRPr>
          </a:p>
          <a:p>
            <a:pPr marL="914376" lvl="1" indent="-457200">
              <a:buAutoNum type="alphaLcParenR"/>
            </a:pPr>
            <a:endParaRPr lang="en-US" sz="2800" dirty="0">
              <a:latin typeface="Times New Roman" panose="02020603050405020304" pitchFamily="18" charset="0"/>
              <a:cs typeface="Times New Roman" panose="02020603050405020304" pitchFamily="18" charset="0"/>
            </a:endParaRPr>
          </a:p>
          <a:p>
            <a:pPr marL="914376" lvl="1" indent="-457200">
              <a:buAutoNum type="alphaLcParenR"/>
            </a:pPr>
            <a:endParaRPr lang="en-US" sz="2800" dirty="0">
              <a:latin typeface="Times New Roman" panose="02020603050405020304" pitchFamily="18" charset="0"/>
              <a:cs typeface="Times New Roman" panose="02020603050405020304" pitchFamily="18" charset="0"/>
            </a:endParaRPr>
          </a:p>
        </p:txBody>
      </p:sp>
      <p:sp>
        <p:nvSpPr>
          <p:cNvPr id="7" name="Date Placeholder 6"/>
          <p:cNvSpPr>
            <a:spLocks noGrp="1"/>
          </p:cNvSpPr>
          <p:nvPr>
            <p:ph type="dt" sz="half" idx="10"/>
          </p:nvPr>
        </p:nvSpPr>
        <p:spPr/>
        <p:txBody>
          <a:bodyPr/>
          <a:lstStyle/>
          <a:p>
            <a:pPr>
              <a:defRPr/>
            </a:pPr>
            <a:r>
              <a:rPr lang="en-US" dirty="0"/>
              <a:t>Feb  17, 2025</a:t>
            </a:r>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60</a:t>
            </a:fld>
            <a:endParaRPr lang="en-US" dirty="0"/>
          </a:p>
        </p:txBody>
      </p:sp>
      <p:sp>
        <p:nvSpPr>
          <p:cNvPr id="10" name="TextBox 9">
            <a:extLst>
              <a:ext uri="{FF2B5EF4-FFF2-40B4-BE49-F238E27FC236}">
                <a16:creationId xmlns:a16="http://schemas.microsoft.com/office/drawing/2014/main" id="{595C2B26-B7CF-4E20-BAE1-91C24BA4E906}"/>
              </a:ext>
            </a:extLst>
          </p:cNvPr>
          <p:cNvSpPr txBox="1"/>
          <p:nvPr/>
        </p:nvSpPr>
        <p:spPr>
          <a:xfrm>
            <a:off x="7836695" y="5232827"/>
            <a:ext cx="1895071" cy="461665"/>
          </a:xfrm>
          <a:prstGeom prst="rect">
            <a:avLst/>
          </a:prstGeom>
          <a:noFill/>
        </p:spPr>
        <p:txBody>
          <a:bodyPr wrap="none" rtlCol="0" anchor="ctr" anchorCtr="1">
            <a:spAutoFit/>
          </a:bodyPr>
          <a:lstStyle/>
          <a:p>
            <a:r>
              <a:rPr lang="en-US" sz="2400" dirty="0">
                <a:ea typeface="標楷體" pitchFamily="65" charset="-120"/>
                <a:cs typeface="Calibri" panose="020F07020304040A0204" pitchFamily="34" charset="0"/>
              </a:rPr>
              <a:t>Answer: B,C</a:t>
            </a:r>
          </a:p>
        </p:txBody>
      </p:sp>
    </p:spTree>
    <p:extLst>
      <p:ext uri="{BB962C8B-B14F-4D97-AF65-F5344CB8AC3E}">
        <p14:creationId xmlns:p14="http://schemas.microsoft.com/office/powerpoint/2010/main" val="2865816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Pop Quiz</a:t>
            </a:r>
          </a:p>
        </p:txBody>
      </p:sp>
      <p:sp>
        <p:nvSpPr>
          <p:cNvPr id="3" name="Content Placeholder 2"/>
          <p:cNvSpPr>
            <a:spLocks noGrp="1"/>
          </p:cNvSpPr>
          <p:nvPr>
            <p:ph idx="1"/>
          </p:nvPr>
        </p:nvSpPr>
        <p:spPr>
          <a:xfrm>
            <a:off x="214009" y="1209675"/>
            <a:ext cx="11738808" cy="4909022"/>
          </a:xfrm>
        </p:spPr>
        <p:txBody>
          <a:bodyPr/>
          <a:lstStyle/>
          <a:p>
            <a:pPr marL="0" indent="0">
              <a:buNone/>
            </a:pPr>
            <a:r>
              <a:rPr lang="en-US" sz="2800" dirty="0">
                <a:latin typeface="Times New Roman" panose="02020603050405020304" pitchFamily="18" charset="0"/>
                <a:cs typeface="Times New Roman" panose="02020603050405020304" pitchFamily="18" charset="0"/>
              </a:rPr>
              <a:t>2) How do we set the register X2 to 0?</a:t>
            </a:r>
          </a:p>
          <a:p>
            <a:pPr marL="457176" lvl="1" indent="0">
              <a:buNone/>
            </a:pPr>
            <a:endParaRPr lang="en-US" sz="2800" dirty="0">
              <a:latin typeface="Times New Roman" panose="02020603050405020304" pitchFamily="18" charset="0"/>
              <a:cs typeface="Times New Roman" panose="02020603050405020304" pitchFamily="18" charset="0"/>
            </a:endParaRPr>
          </a:p>
          <a:p>
            <a:pPr marL="914376" lvl="1" indent="-457200">
              <a:buAutoNum type="alphaLcParenR"/>
            </a:pPr>
            <a:r>
              <a:rPr lang="en-US" sz="2800" dirty="0">
                <a:latin typeface="Times New Roman" panose="02020603050405020304" pitchFamily="18" charset="0"/>
                <a:cs typeface="Times New Roman" panose="02020603050405020304" pitchFamily="18" charset="0"/>
              </a:rPr>
              <a:t>ADD	X2,X0,X0</a:t>
            </a:r>
          </a:p>
          <a:p>
            <a:pPr marL="914376" lvl="1" indent="-457200">
              <a:buAutoNum type="alphaLcParenR"/>
            </a:pPr>
            <a:r>
              <a:rPr lang="en-US" sz="2800" dirty="0" err="1">
                <a:latin typeface="Times New Roman" panose="02020603050405020304" pitchFamily="18" charset="0"/>
                <a:cs typeface="Times New Roman" panose="02020603050405020304" pitchFamily="18" charset="0"/>
              </a:rPr>
              <a:t>ADDi</a:t>
            </a:r>
            <a:r>
              <a:rPr lang="en-US" sz="2800" dirty="0">
                <a:latin typeface="Times New Roman" panose="02020603050405020304" pitchFamily="18" charset="0"/>
                <a:cs typeface="Times New Roman" panose="02020603050405020304" pitchFamily="18" charset="0"/>
              </a:rPr>
              <a:t> X2,X2,0</a:t>
            </a:r>
          </a:p>
          <a:p>
            <a:pPr marL="914376" lvl="1" indent="-457200">
              <a:buAutoNum type="alphaLcParenR"/>
            </a:pPr>
            <a:r>
              <a:rPr lang="en-US" sz="2800" dirty="0">
                <a:latin typeface="Times New Roman" panose="02020603050405020304" pitchFamily="18" charset="0"/>
                <a:cs typeface="Times New Roman" panose="02020603050405020304" pitchFamily="18" charset="0"/>
              </a:rPr>
              <a:t>XOR	X2,X2,X2</a:t>
            </a:r>
          </a:p>
          <a:p>
            <a:pPr marL="914376" lvl="1" indent="-457200">
              <a:buAutoNum type="alphaLcParenR"/>
            </a:pPr>
            <a:r>
              <a:rPr lang="en-US" sz="2800" dirty="0">
                <a:latin typeface="Times New Roman" panose="02020603050405020304" pitchFamily="18" charset="0"/>
                <a:cs typeface="Times New Roman" panose="02020603050405020304" pitchFamily="18" charset="0"/>
              </a:rPr>
              <a:t>OR	X2,X2,X2</a:t>
            </a:r>
          </a:p>
          <a:p>
            <a:pPr marL="914376" lvl="1" indent="-457200">
              <a:buAutoNum type="alphaLcParenR"/>
            </a:pPr>
            <a:endParaRPr lang="en-US" sz="2800" dirty="0">
              <a:latin typeface="Times New Roman" panose="02020603050405020304" pitchFamily="18" charset="0"/>
              <a:cs typeface="Times New Roman" panose="02020603050405020304" pitchFamily="18" charset="0"/>
            </a:endParaRPr>
          </a:p>
          <a:p>
            <a:pPr marL="914376" lvl="1" indent="-457200">
              <a:buAutoNum type="alphaLcParenR"/>
            </a:pPr>
            <a:endParaRPr lang="en-US" sz="2800" dirty="0">
              <a:latin typeface="Times New Roman" panose="02020603050405020304" pitchFamily="18" charset="0"/>
              <a:cs typeface="Times New Roman" panose="02020603050405020304" pitchFamily="18" charset="0"/>
            </a:endParaRPr>
          </a:p>
          <a:p>
            <a:pPr marL="914376" lvl="1" indent="-457200">
              <a:buAutoNum type="alphaLcParenR"/>
            </a:pPr>
            <a:endParaRPr lang="en-US" sz="2800" dirty="0">
              <a:latin typeface="Times New Roman" panose="02020603050405020304" pitchFamily="18" charset="0"/>
              <a:cs typeface="Times New Roman" panose="02020603050405020304" pitchFamily="18" charset="0"/>
            </a:endParaRPr>
          </a:p>
        </p:txBody>
      </p:sp>
      <p:sp>
        <p:nvSpPr>
          <p:cNvPr id="7" name="Date Placeholder 6"/>
          <p:cNvSpPr>
            <a:spLocks noGrp="1"/>
          </p:cNvSpPr>
          <p:nvPr>
            <p:ph type="dt" sz="half" idx="10"/>
          </p:nvPr>
        </p:nvSpPr>
        <p:spPr/>
        <p:txBody>
          <a:bodyPr/>
          <a:lstStyle/>
          <a:p>
            <a:pPr>
              <a:defRPr/>
            </a:pPr>
            <a:r>
              <a:rPr lang="en-US" dirty="0"/>
              <a:t>Feb  17, 2025</a:t>
            </a:r>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61</a:t>
            </a:fld>
            <a:endParaRPr lang="en-US" dirty="0"/>
          </a:p>
        </p:txBody>
      </p:sp>
      <p:sp>
        <p:nvSpPr>
          <p:cNvPr id="10" name="TextBox 9">
            <a:extLst>
              <a:ext uri="{FF2B5EF4-FFF2-40B4-BE49-F238E27FC236}">
                <a16:creationId xmlns:a16="http://schemas.microsoft.com/office/drawing/2014/main" id="{595C2B26-B7CF-4E20-BAE1-91C24BA4E906}"/>
              </a:ext>
            </a:extLst>
          </p:cNvPr>
          <p:cNvSpPr txBox="1"/>
          <p:nvPr/>
        </p:nvSpPr>
        <p:spPr>
          <a:xfrm>
            <a:off x="7836695" y="5232827"/>
            <a:ext cx="1878078" cy="461665"/>
          </a:xfrm>
          <a:prstGeom prst="rect">
            <a:avLst/>
          </a:prstGeom>
          <a:noFill/>
        </p:spPr>
        <p:txBody>
          <a:bodyPr wrap="none" rtlCol="0" anchor="ctr" anchorCtr="1">
            <a:spAutoFit/>
          </a:bodyPr>
          <a:lstStyle/>
          <a:p>
            <a:r>
              <a:rPr lang="en-US" sz="2400" dirty="0">
                <a:ea typeface="標楷體" pitchFamily="65" charset="-120"/>
                <a:cs typeface="Calibri" panose="020F07020304040A0204" pitchFamily="34" charset="0"/>
              </a:rPr>
              <a:t>Answer: A,C</a:t>
            </a:r>
          </a:p>
        </p:txBody>
      </p:sp>
    </p:spTree>
    <p:extLst>
      <p:ext uri="{BB962C8B-B14F-4D97-AF65-F5344CB8AC3E}">
        <p14:creationId xmlns:p14="http://schemas.microsoft.com/office/powerpoint/2010/main" val="1704250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Pop Quiz</a:t>
            </a:r>
          </a:p>
        </p:txBody>
      </p:sp>
      <p:sp>
        <p:nvSpPr>
          <p:cNvPr id="3" name="Content Placeholder 2"/>
          <p:cNvSpPr>
            <a:spLocks noGrp="1"/>
          </p:cNvSpPr>
          <p:nvPr>
            <p:ph idx="1"/>
          </p:nvPr>
        </p:nvSpPr>
        <p:spPr>
          <a:xfrm>
            <a:off x="214009" y="1209675"/>
            <a:ext cx="11738808" cy="4909022"/>
          </a:xfrm>
        </p:spPr>
        <p:txBody>
          <a:bodyPr/>
          <a:lstStyle/>
          <a:p>
            <a:pPr marL="0" indent="0">
              <a:buNone/>
            </a:pPr>
            <a:r>
              <a:rPr lang="en-US" sz="2800" dirty="0">
                <a:latin typeface="Times New Roman" panose="02020603050405020304" pitchFamily="18" charset="0"/>
                <a:cs typeface="Times New Roman" panose="02020603050405020304" pitchFamily="18" charset="0"/>
              </a:rPr>
              <a:t>3) What instructions in the RISC-V core do not have the destination “</a:t>
            </a:r>
            <a:r>
              <a:rPr lang="en-US" sz="2800" dirty="0" err="1">
                <a:latin typeface="Times New Roman" panose="02020603050405020304" pitchFamily="18" charset="0"/>
                <a:cs typeface="Times New Roman" panose="02020603050405020304" pitchFamily="18" charset="0"/>
              </a:rPr>
              <a:t>rd</a:t>
            </a:r>
            <a:r>
              <a:rPr lang="en-US" sz="2800" dirty="0">
                <a:latin typeface="Times New Roman" panose="02020603050405020304" pitchFamily="18" charset="0"/>
                <a:cs typeface="Times New Roman" panose="02020603050405020304" pitchFamily="18" charset="0"/>
              </a:rPr>
              <a:t>”?</a:t>
            </a:r>
          </a:p>
          <a:p>
            <a:pPr marL="457176" lvl="1" indent="0">
              <a:buNone/>
            </a:pPr>
            <a:endParaRPr lang="en-US" sz="2800" dirty="0">
              <a:latin typeface="Times New Roman" panose="02020603050405020304" pitchFamily="18" charset="0"/>
              <a:cs typeface="Times New Roman" panose="02020603050405020304" pitchFamily="18" charset="0"/>
            </a:endParaRPr>
          </a:p>
          <a:p>
            <a:pPr marL="914376" lvl="1" indent="-457200">
              <a:buAutoNum type="alphaLcParenR"/>
            </a:pPr>
            <a:r>
              <a:rPr lang="en-US" sz="2800" dirty="0">
                <a:latin typeface="Times New Roman" panose="02020603050405020304" pitchFamily="18" charset="0"/>
                <a:cs typeface="Times New Roman" panose="02020603050405020304" pitchFamily="18" charset="0"/>
              </a:rPr>
              <a:t>R-type instruction</a:t>
            </a:r>
          </a:p>
          <a:p>
            <a:pPr marL="914376" lvl="1" indent="-457200">
              <a:buAutoNum type="alphaLcParenR"/>
            </a:pPr>
            <a:r>
              <a:rPr lang="en-US" sz="2800" dirty="0">
                <a:latin typeface="Times New Roman" panose="02020603050405020304" pitchFamily="18" charset="0"/>
                <a:cs typeface="Times New Roman" panose="02020603050405020304" pitchFamily="18" charset="0"/>
              </a:rPr>
              <a:t>Branch instructions</a:t>
            </a:r>
          </a:p>
          <a:p>
            <a:pPr marL="914376" lvl="1" indent="-457200">
              <a:buAutoNum type="alphaLcParenR"/>
            </a:pPr>
            <a:r>
              <a:rPr lang="en-US" sz="2800" dirty="0">
                <a:latin typeface="Times New Roman" panose="02020603050405020304" pitchFamily="18" charset="0"/>
                <a:cs typeface="Times New Roman" panose="02020603050405020304" pitchFamily="18" charset="0"/>
              </a:rPr>
              <a:t>Store instructions</a:t>
            </a:r>
          </a:p>
          <a:p>
            <a:pPr marL="914376" lvl="1" indent="-457200">
              <a:buAutoNum type="alphaLcParenR"/>
            </a:pPr>
            <a:r>
              <a:rPr lang="en-US" sz="2800" dirty="0">
                <a:latin typeface="Times New Roman" panose="02020603050405020304" pitchFamily="18" charset="0"/>
                <a:cs typeface="Times New Roman" panose="02020603050405020304" pitchFamily="18" charset="0"/>
              </a:rPr>
              <a:t>Jump instructions</a:t>
            </a:r>
          </a:p>
          <a:p>
            <a:pPr marL="914376" lvl="1" indent="-457200">
              <a:buAutoNum type="alphaLcParenR"/>
            </a:pPr>
            <a:endParaRPr lang="en-US" sz="2800" dirty="0">
              <a:latin typeface="Times New Roman" panose="02020603050405020304" pitchFamily="18" charset="0"/>
              <a:cs typeface="Times New Roman" panose="02020603050405020304" pitchFamily="18" charset="0"/>
            </a:endParaRPr>
          </a:p>
        </p:txBody>
      </p:sp>
      <p:sp>
        <p:nvSpPr>
          <p:cNvPr id="7" name="Date Placeholder 6"/>
          <p:cNvSpPr>
            <a:spLocks noGrp="1"/>
          </p:cNvSpPr>
          <p:nvPr>
            <p:ph type="dt" sz="half" idx="10"/>
          </p:nvPr>
        </p:nvSpPr>
        <p:spPr/>
        <p:txBody>
          <a:bodyPr/>
          <a:lstStyle/>
          <a:p>
            <a:pPr>
              <a:defRPr/>
            </a:pPr>
            <a:r>
              <a:rPr lang="en-US" dirty="0"/>
              <a:t>Feb  17, 2025</a:t>
            </a:r>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62</a:t>
            </a:fld>
            <a:endParaRPr lang="en-US" dirty="0"/>
          </a:p>
        </p:txBody>
      </p:sp>
      <p:sp>
        <p:nvSpPr>
          <p:cNvPr id="10" name="TextBox 9">
            <a:extLst>
              <a:ext uri="{FF2B5EF4-FFF2-40B4-BE49-F238E27FC236}">
                <a16:creationId xmlns:a16="http://schemas.microsoft.com/office/drawing/2014/main" id="{595C2B26-B7CF-4E20-BAE1-91C24BA4E906}"/>
              </a:ext>
            </a:extLst>
          </p:cNvPr>
          <p:cNvSpPr txBox="1"/>
          <p:nvPr/>
        </p:nvSpPr>
        <p:spPr>
          <a:xfrm>
            <a:off x="7836695" y="5232827"/>
            <a:ext cx="1895071" cy="461665"/>
          </a:xfrm>
          <a:prstGeom prst="rect">
            <a:avLst/>
          </a:prstGeom>
          <a:noFill/>
        </p:spPr>
        <p:txBody>
          <a:bodyPr wrap="none" rtlCol="0" anchor="ctr" anchorCtr="1">
            <a:spAutoFit/>
          </a:bodyPr>
          <a:lstStyle/>
          <a:p>
            <a:r>
              <a:rPr lang="en-US" sz="2400" dirty="0">
                <a:ea typeface="標楷體" pitchFamily="65" charset="-120"/>
                <a:cs typeface="Calibri" panose="020F07020304040A0204" pitchFamily="34" charset="0"/>
              </a:rPr>
              <a:t>Answer: B,C</a:t>
            </a:r>
          </a:p>
        </p:txBody>
      </p:sp>
    </p:spTree>
    <p:extLst>
      <p:ext uri="{BB962C8B-B14F-4D97-AF65-F5344CB8AC3E}">
        <p14:creationId xmlns:p14="http://schemas.microsoft.com/office/powerpoint/2010/main" val="858313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Pop Quiz</a:t>
            </a:r>
          </a:p>
        </p:txBody>
      </p:sp>
      <p:sp>
        <p:nvSpPr>
          <p:cNvPr id="3" name="Content Placeholder 2"/>
          <p:cNvSpPr>
            <a:spLocks noGrp="1"/>
          </p:cNvSpPr>
          <p:nvPr>
            <p:ph idx="1"/>
          </p:nvPr>
        </p:nvSpPr>
        <p:spPr>
          <a:xfrm>
            <a:off x="214009" y="1209675"/>
            <a:ext cx="11738808" cy="4909022"/>
          </a:xfrm>
        </p:spPr>
        <p:txBody>
          <a:bodyPr/>
          <a:lstStyle/>
          <a:p>
            <a:pPr marL="0" indent="0">
              <a:buNone/>
            </a:pPr>
            <a:r>
              <a:rPr lang="en-US" sz="2800" dirty="0">
                <a:latin typeface="Times New Roman" panose="02020603050405020304" pitchFamily="18" charset="0"/>
                <a:cs typeface="Times New Roman" panose="02020603050405020304" pitchFamily="18" charset="0"/>
              </a:rPr>
              <a:t>4) What is the RV32I architecture?</a:t>
            </a:r>
          </a:p>
          <a:p>
            <a:pPr marL="457176" lvl="1" indent="0">
              <a:buNone/>
            </a:pPr>
            <a:endParaRPr lang="en-US" sz="2800" dirty="0">
              <a:latin typeface="Times New Roman" panose="02020603050405020304" pitchFamily="18" charset="0"/>
              <a:cs typeface="Times New Roman" panose="02020603050405020304" pitchFamily="18" charset="0"/>
            </a:endParaRPr>
          </a:p>
          <a:p>
            <a:pPr marL="914376" lvl="1" indent="-457200">
              <a:buAutoNum type="alphaLcParenR"/>
            </a:pPr>
            <a:r>
              <a:rPr lang="en-US" sz="2800" dirty="0">
                <a:latin typeface="Times New Roman" panose="02020603050405020304" pitchFamily="18" charset="0"/>
                <a:cs typeface="Times New Roman" panose="02020603050405020304" pitchFamily="18" charset="0"/>
              </a:rPr>
              <a:t>It is a load/store architecture</a:t>
            </a:r>
          </a:p>
          <a:p>
            <a:pPr marL="914376" lvl="1" indent="-457200">
              <a:buAutoNum type="alphaLcParenR"/>
            </a:pPr>
            <a:r>
              <a:rPr lang="en-US" sz="2800" dirty="0">
                <a:latin typeface="Times New Roman" panose="02020603050405020304" pitchFamily="18" charset="0"/>
                <a:cs typeface="Times New Roman" panose="02020603050405020304" pitchFamily="18" charset="0"/>
              </a:rPr>
              <a:t>It is a 3-operand ISA</a:t>
            </a:r>
          </a:p>
          <a:p>
            <a:pPr marL="914376" lvl="1" indent="-457200">
              <a:buAutoNum type="alphaLcParenR"/>
            </a:pPr>
            <a:r>
              <a:rPr lang="en-US" sz="2800" dirty="0">
                <a:latin typeface="Times New Roman" panose="02020603050405020304" pitchFamily="18" charset="0"/>
                <a:cs typeface="Times New Roman" panose="02020603050405020304" pitchFamily="18" charset="0"/>
              </a:rPr>
              <a:t>It is a RISC machine</a:t>
            </a:r>
          </a:p>
          <a:p>
            <a:pPr marL="914376" lvl="1" indent="-457200">
              <a:buAutoNum type="alphaLcParenR"/>
            </a:pPr>
            <a:r>
              <a:rPr lang="en-US" sz="2800" dirty="0">
                <a:latin typeface="Times New Roman" panose="02020603050405020304" pitchFamily="18" charset="0"/>
                <a:cs typeface="Times New Roman" panose="02020603050405020304" pitchFamily="18" charset="0"/>
              </a:rPr>
              <a:t>It is designed for small-scale machines such as embedded devices.</a:t>
            </a:r>
          </a:p>
          <a:p>
            <a:pPr marL="914376" lvl="1" indent="-457200">
              <a:buAutoNum type="alphaLcParenR"/>
            </a:pPr>
            <a:endParaRPr lang="en-US" sz="2800" dirty="0">
              <a:latin typeface="Times New Roman" panose="02020603050405020304" pitchFamily="18" charset="0"/>
              <a:cs typeface="Times New Roman" panose="02020603050405020304" pitchFamily="18" charset="0"/>
            </a:endParaRPr>
          </a:p>
        </p:txBody>
      </p:sp>
      <p:sp>
        <p:nvSpPr>
          <p:cNvPr id="7" name="Date Placeholder 6"/>
          <p:cNvSpPr>
            <a:spLocks noGrp="1"/>
          </p:cNvSpPr>
          <p:nvPr>
            <p:ph type="dt" sz="half" idx="10"/>
          </p:nvPr>
        </p:nvSpPr>
        <p:spPr/>
        <p:txBody>
          <a:bodyPr/>
          <a:lstStyle/>
          <a:p>
            <a:pPr>
              <a:defRPr/>
            </a:pPr>
            <a:r>
              <a:rPr lang="en-US" dirty="0"/>
              <a:t>Feb  17, 2025</a:t>
            </a:r>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63</a:t>
            </a:fld>
            <a:endParaRPr lang="en-US" dirty="0"/>
          </a:p>
        </p:txBody>
      </p:sp>
      <p:sp>
        <p:nvSpPr>
          <p:cNvPr id="10" name="TextBox 9">
            <a:extLst>
              <a:ext uri="{FF2B5EF4-FFF2-40B4-BE49-F238E27FC236}">
                <a16:creationId xmlns:a16="http://schemas.microsoft.com/office/drawing/2014/main" id="{595C2B26-B7CF-4E20-BAE1-91C24BA4E906}"/>
              </a:ext>
            </a:extLst>
          </p:cNvPr>
          <p:cNvSpPr txBox="1"/>
          <p:nvPr/>
        </p:nvSpPr>
        <p:spPr>
          <a:xfrm>
            <a:off x="7836695" y="5232827"/>
            <a:ext cx="2168222" cy="461665"/>
          </a:xfrm>
          <a:prstGeom prst="rect">
            <a:avLst/>
          </a:prstGeom>
          <a:noFill/>
        </p:spPr>
        <p:txBody>
          <a:bodyPr wrap="none" rtlCol="0" anchor="ctr" anchorCtr="1">
            <a:spAutoFit/>
          </a:bodyPr>
          <a:lstStyle/>
          <a:p>
            <a:r>
              <a:rPr lang="en-US" sz="2400" dirty="0">
                <a:ea typeface="標楷體" pitchFamily="65" charset="-120"/>
                <a:cs typeface="Calibri" panose="020F07020304040A0204" pitchFamily="34" charset="0"/>
              </a:rPr>
              <a:t>Answer: A,B,C</a:t>
            </a:r>
          </a:p>
        </p:txBody>
      </p:sp>
    </p:spTree>
    <p:extLst>
      <p:ext uri="{BB962C8B-B14F-4D97-AF65-F5344CB8AC3E}">
        <p14:creationId xmlns:p14="http://schemas.microsoft.com/office/powerpoint/2010/main" val="3521985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Pop Quiz</a:t>
            </a:r>
          </a:p>
        </p:txBody>
      </p:sp>
      <p:sp>
        <p:nvSpPr>
          <p:cNvPr id="3" name="Content Placeholder 2"/>
          <p:cNvSpPr>
            <a:spLocks noGrp="1"/>
          </p:cNvSpPr>
          <p:nvPr>
            <p:ph idx="1"/>
          </p:nvPr>
        </p:nvSpPr>
        <p:spPr>
          <a:xfrm>
            <a:off x="214009" y="1209675"/>
            <a:ext cx="11738808" cy="4909022"/>
          </a:xfrm>
        </p:spPr>
        <p:txBody>
          <a:bodyPr/>
          <a:lstStyle/>
          <a:p>
            <a:pPr marL="0" indent="0">
              <a:buNone/>
            </a:pPr>
            <a:r>
              <a:rPr lang="en-US" sz="2800" dirty="0">
                <a:latin typeface="Times New Roman" panose="02020603050405020304" pitchFamily="18" charset="0"/>
                <a:cs typeface="Times New Roman" panose="02020603050405020304" pitchFamily="18" charset="0"/>
              </a:rPr>
              <a:t>5) What is the meaning of “32” in RV32I ?</a:t>
            </a:r>
          </a:p>
          <a:p>
            <a:pPr marL="457176" lvl="1" indent="0">
              <a:buNone/>
            </a:pPr>
            <a:endParaRPr lang="en-US" sz="2800" dirty="0">
              <a:latin typeface="Times New Roman" panose="02020603050405020304" pitchFamily="18" charset="0"/>
              <a:cs typeface="Times New Roman" panose="02020603050405020304" pitchFamily="18" charset="0"/>
            </a:endParaRPr>
          </a:p>
          <a:p>
            <a:pPr marL="914376" lvl="1" indent="-457200">
              <a:buAutoNum type="alphaLcParenR"/>
            </a:pPr>
            <a:r>
              <a:rPr lang="en-US" sz="2800" dirty="0">
                <a:latin typeface="Times New Roman" panose="02020603050405020304" pitchFamily="18" charset="0"/>
                <a:cs typeface="Times New Roman" panose="02020603050405020304" pitchFamily="18" charset="0"/>
              </a:rPr>
              <a:t>Its address capability is 32bits</a:t>
            </a:r>
          </a:p>
          <a:p>
            <a:pPr marL="914376" lvl="1" indent="-457200">
              <a:buAutoNum type="alphaLcParenR"/>
            </a:pPr>
            <a:r>
              <a:rPr lang="en-US" sz="2800" dirty="0">
                <a:latin typeface="Times New Roman" panose="02020603050405020304" pitchFamily="18" charset="0"/>
                <a:cs typeface="Times New Roman" panose="02020603050405020304" pitchFamily="18" charset="0"/>
              </a:rPr>
              <a:t>It has 32 registers</a:t>
            </a:r>
          </a:p>
          <a:p>
            <a:pPr marL="914376" lvl="1" indent="-457200">
              <a:buAutoNum type="alphaLcParenR"/>
            </a:pPr>
            <a:r>
              <a:rPr lang="en-US" sz="2800" dirty="0">
                <a:latin typeface="Times New Roman" panose="02020603050405020304" pitchFamily="18" charset="0"/>
                <a:cs typeface="Times New Roman" panose="02020603050405020304" pitchFamily="18" charset="0"/>
              </a:rPr>
              <a:t>Its instructions are 32-bit long.</a:t>
            </a:r>
          </a:p>
          <a:p>
            <a:pPr marL="914376" lvl="1" indent="-457200">
              <a:buAutoNum type="alphaLcParenR"/>
            </a:pPr>
            <a:r>
              <a:rPr lang="en-US" sz="2800" dirty="0">
                <a:latin typeface="Times New Roman" panose="02020603050405020304" pitchFamily="18" charset="0"/>
                <a:cs typeface="Times New Roman" panose="02020603050405020304" pitchFamily="18" charset="0"/>
              </a:rPr>
              <a:t>Its core has 32 instructions</a:t>
            </a:r>
          </a:p>
          <a:p>
            <a:pPr marL="914376" lvl="1" indent="-457200">
              <a:buAutoNum type="alphaLcParenR"/>
            </a:pPr>
            <a:endParaRPr lang="en-US" sz="2800" dirty="0">
              <a:latin typeface="Times New Roman" panose="02020603050405020304" pitchFamily="18" charset="0"/>
              <a:cs typeface="Times New Roman" panose="02020603050405020304" pitchFamily="18" charset="0"/>
            </a:endParaRPr>
          </a:p>
        </p:txBody>
      </p:sp>
      <p:sp>
        <p:nvSpPr>
          <p:cNvPr id="7" name="Date Placeholder 6"/>
          <p:cNvSpPr>
            <a:spLocks noGrp="1"/>
          </p:cNvSpPr>
          <p:nvPr>
            <p:ph type="dt" sz="half" idx="10"/>
          </p:nvPr>
        </p:nvSpPr>
        <p:spPr/>
        <p:txBody>
          <a:bodyPr/>
          <a:lstStyle/>
          <a:p>
            <a:pPr>
              <a:defRPr/>
            </a:pPr>
            <a:r>
              <a:rPr lang="en-US" dirty="0"/>
              <a:t>Feb  17, 2025</a:t>
            </a:r>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64</a:t>
            </a:fld>
            <a:endParaRPr lang="en-US" dirty="0"/>
          </a:p>
        </p:txBody>
      </p:sp>
      <p:sp>
        <p:nvSpPr>
          <p:cNvPr id="10" name="TextBox 9">
            <a:extLst>
              <a:ext uri="{FF2B5EF4-FFF2-40B4-BE49-F238E27FC236}">
                <a16:creationId xmlns:a16="http://schemas.microsoft.com/office/drawing/2014/main" id="{595C2B26-B7CF-4E20-BAE1-91C24BA4E906}"/>
              </a:ext>
            </a:extLst>
          </p:cNvPr>
          <p:cNvSpPr txBox="1"/>
          <p:nvPr/>
        </p:nvSpPr>
        <p:spPr>
          <a:xfrm>
            <a:off x="7836695" y="5232827"/>
            <a:ext cx="1570302" cy="461665"/>
          </a:xfrm>
          <a:prstGeom prst="rect">
            <a:avLst/>
          </a:prstGeom>
          <a:noFill/>
        </p:spPr>
        <p:txBody>
          <a:bodyPr wrap="none" rtlCol="0" anchor="ctr" anchorCtr="1">
            <a:spAutoFit/>
          </a:bodyPr>
          <a:lstStyle/>
          <a:p>
            <a:r>
              <a:rPr lang="en-US" sz="2400" dirty="0">
                <a:ea typeface="標楷體" pitchFamily="65" charset="-120"/>
                <a:cs typeface="Calibri" panose="020F07020304040A0204" pitchFamily="34" charset="0"/>
              </a:rPr>
              <a:t>Answer: A</a:t>
            </a:r>
          </a:p>
        </p:txBody>
      </p:sp>
    </p:spTree>
    <p:extLst>
      <p:ext uri="{BB962C8B-B14F-4D97-AF65-F5344CB8AC3E}">
        <p14:creationId xmlns:p14="http://schemas.microsoft.com/office/powerpoint/2010/main" val="494766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Pop Quiz</a:t>
            </a:r>
          </a:p>
        </p:txBody>
      </p:sp>
      <p:sp>
        <p:nvSpPr>
          <p:cNvPr id="3" name="Content Placeholder 2"/>
          <p:cNvSpPr>
            <a:spLocks noGrp="1"/>
          </p:cNvSpPr>
          <p:nvPr>
            <p:ph idx="1"/>
          </p:nvPr>
        </p:nvSpPr>
        <p:spPr>
          <a:xfrm>
            <a:off x="214009" y="1209675"/>
            <a:ext cx="11738808" cy="4909022"/>
          </a:xfrm>
        </p:spPr>
        <p:txBody>
          <a:bodyPr/>
          <a:lstStyle/>
          <a:p>
            <a:pPr marL="0" indent="0">
              <a:buNone/>
            </a:pPr>
            <a:r>
              <a:rPr lang="en-US" sz="2800" dirty="0">
                <a:latin typeface="Times New Roman" panose="02020603050405020304" pitchFamily="18" charset="0"/>
                <a:cs typeface="Times New Roman" panose="02020603050405020304" pitchFamily="18" charset="0"/>
              </a:rPr>
              <a:t>6) With Moore’s Law, which of the following are likely to increase in ISA?</a:t>
            </a:r>
          </a:p>
          <a:p>
            <a:pPr marL="457176" lvl="1" indent="0">
              <a:buNone/>
            </a:pPr>
            <a:endParaRPr lang="en-US" sz="2800" dirty="0">
              <a:latin typeface="Times New Roman" panose="02020603050405020304" pitchFamily="18" charset="0"/>
              <a:cs typeface="Times New Roman" panose="02020603050405020304" pitchFamily="18" charset="0"/>
            </a:endParaRPr>
          </a:p>
          <a:p>
            <a:pPr marL="914376" lvl="1" indent="-457200">
              <a:buAutoNum type="alphaLcParenR"/>
            </a:pPr>
            <a:r>
              <a:rPr lang="en-US" sz="2800" dirty="0">
                <a:latin typeface="Times New Roman" panose="02020603050405020304" pitchFamily="18" charset="0"/>
                <a:cs typeface="Times New Roman" panose="02020603050405020304" pitchFamily="18" charset="0"/>
              </a:rPr>
              <a:t>The instruction length</a:t>
            </a:r>
          </a:p>
          <a:p>
            <a:pPr marL="914376" lvl="1" indent="-457200">
              <a:buAutoNum type="alphaLcParenR"/>
            </a:pPr>
            <a:r>
              <a:rPr lang="en-US" sz="2800" dirty="0">
                <a:latin typeface="Times New Roman" panose="02020603050405020304" pitchFamily="18" charset="0"/>
                <a:cs typeface="Times New Roman" panose="02020603050405020304" pitchFamily="18" charset="0"/>
              </a:rPr>
              <a:t>The number of GPR </a:t>
            </a:r>
          </a:p>
          <a:p>
            <a:pPr marL="914376" lvl="1" indent="-457200">
              <a:buAutoNum type="alphaLcParenR"/>
            </a:pPr>
            <a:r>
              <a:rPr lang="en-US" sz="2800" dirty="0">
                <a:latin typeface="Times New Roman" panose="02020603050405020304" pitchFamily="18" charset="0"/>
                <a:cs typeface="Times New Roman" panose="02020603050405020304" pitchFamily="18" charset="0"/>
              </a:rPr>
              <a:t>The number of addressing mode</a:t>
            </a:r>
          </a:p>
          <a:p>
            <a:pPr marL="914376" lvl="1" indent="-457200">
              <a:buAutoNum type="alphaLcParenR"/>
            </a:pPr>
            <a:r>
              <a:rPr lang="en-US" sz="2800" dirty="0">
                <a:latin typeface="Times New Roman" panose="02020603050405020304" pitchFamily="18" charset="0"/>
                <a:cs typeface="Times New Roman" panose="02020603050405020304" pitchFamily="18" charset="0"/>
              </a:rPr>
              <a:t>None of above</a:t>
            </a:r>
          </a:p>
          <a:p>
            <a:pPr marL="914376" lvl="1" indent="-457200">
              <a:buAutoNum type="alphaLcParenR"/>
            </a:pPr>
            <a:endParaRPr lang="en-US" sz="2800" dirty="0">
              <a:latin typeface="Times New Roman" panose="02020603050405020304" pitchFamily="18" charset="0"/>
              <a:cs typeface="Times New Roman" panose="02020603050405020304" pitchFamily="18" charset="0"/>
            </a:endParaRPr>
          </a:p>
        </p:txBody>
      </p:sp>
      <p:sp>
        <p:nvSpPr>
          <p:cNvPr id="7" name="Date Placeholder 6"/>
          <p:cNvSpPr>
            <a:spLocks noGrp="1"/>
          </p:cNvSpPr>
          <p:nvPr>
            <p:ph type="dt" sz="half" idx="10"/>
          </p:nvPr>
        </p:nvSpPr>
        <p:spPr/>
        <p:txBody>
          <a:bodyPr/>
          <a:lstStyle/>
          <a:p>
            <a:pPr>
              <a:defRPr/>
            </a:pPr>
            <a:r>
              <a:rPr lang="en-US" dirty="0"/>
              <a:t>Feb  17, 2025</a:t>
            </a:r>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65</a:t>
            </a:fld>
            <a:endParaRPr lang="en-US" dirty="0"/>
          </a:p>
        </p:txBody>
      </p:sp>
      <p:sp>
        <p:nvSpPr>
          <p:cNvPr id="10" name="TextBox 9">
            <a:extLst>
              <a:ext uri="{FF2B5EF4-FFF2-40B4-BE49-F238E27FC236}">
                <a16:creationId xmlns:a16="http://schemas.microsoft.com/office/drawing/2014/main" id="{595C2B26-B7CF-4E20-BAE1-91C24BA4E906}"/>
              </a:ext>
            </a:extLst>
          </p:cNvPr>
          <p:cNvSpPr txBox="1"/>
          <p:nvPr/>
        </p:nvSpPr>
        <p:spPr>
          <a:xfrm>
            <a:off x="7836695" y="5232827"/>
            <a:ext cx="1604927" cy="461665"/>
          </a:xfrm>
          <a:prstGeom prst="rect">
            <a:avLst/>
          </a:prstGeom>
          <a:noFill/>
        </p:spPr>
        <p:txBody>
          <a:bodyPr wrap="none" rtlCol="0" anchor="ctr" anchorCtr="1">
            <a:spAutoFit/>
          </a:bodyPr>
          <a:lstStyle/>
          <a:p>
            <a:r>
              <a:rPr lang="en-US" sz="2400" dirty="0">
                <a:ea typeface="標楷體" pitchFamily="65" charset="-120"/>
                <a:cs typeface="Calibri" panose="020F07020304040A0204" pitchFamily="34" charset="0"/>
              </a:rPr>
              <a:t>Answer: D</a:t>
            </a:r>
          </a:p>
        </p:txBody>
      </p:sp>
    </p:spTree>
    <p:extLst>
      <p:ext uri="{BB962C8B-B14F-4D97-AF65-F5344CB8AC3E}">
        <p14:creationId xmlns:p14="http://schemas.microsoft.com/office/powerpoint/2010/main" val="2277851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Pop Quiz</a:t>
            </a:r>
          </a:p>
        </p:txBody>
      </p:sp>
      <p:sp>
        <p:nvSpPr>
          <p:cNvPr id="3" name="Content Placeholder 2"/>
          <p:cNvSpPr>
            <a:spLocks noGrp="1"/>
          </p:cNvSpPr>
          <p:nvPr>
            <p:ph idx="1"/>
          </p:nvPr>
        </p:nvSpPr>
        <p:spPr>
          <a:xfrm>
            <a:off x="214009" y="1209675"/>
            <a:ext cx="11738808" cy="4909022"/>
          </a:xfrm>
        </p:spPr>
        <p:txBody>
          <a:bodyPr/>
          <a:lstStyle/>
          <a:p>
            <a:pPr marL="0" indent="0">
              <a:buNone/>
            </a:pPr>
            <a:r>
              <a:rPr lang="en-US" sz="2800" dirty="0">
                <a:latin typeface="Times New Roman" panose="02020603050405020304" pitchFamily="18" charset="0"/>
                <a:cs typeface="Times New Roman" panose="02020603050405020304" pitchFamily="18" charset="0"/>
              </a:rPr>
              <a:t>7) On RV32I, how far can the branch/jump instructions go to?</a:t>
            </a:r>
          </a:p>
          <a:p>
            <a:pPr marL="457176" lvl="1" indent="0">
              <a:buNone/>
            </a:pPr>
            <a:endParaRPr lang="en-US" sz="28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2667"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	a) ± </a:t>
            </a:r>
            <a:r>
              <a:rPr kumimoji="0" lang="en-US" sz="18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rPr>
              <a:t>4KB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kern="1200" dirty="0">
                <a:solidFill>
                  <a:prstClr val="black"/>
                </a:solidFill>
                <a:latin typeface="Arial"/>
                <a:cs typeface="Calibri" pitchFamily="34" charset="0"/>
              </a:rPr>
              <a:t>	b</a:t>
            </a:r>
            <a:r>
              <a:rPr kumimoji="1" lang="en-US" sz="2667"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 ± </a:t>
            </a:r>
            <a:r>
              <a:rPr kumimoji="0" lang="en-US" sz="1800" kern="1200" dirty="0">
                <a:solidFill>
                  <a:prstClr val="black"/>
                </a:solidFill>
                <a:latin typeface="Arial"/>
                <a:cs typeface="Calibri" pitchFamily="34" charset="0"/>
              </a:rPr>
              <a:t>1M</a:t>
            </a:r>
            <a:r>
              <a:rPr kumimoji="0" lang="en-US" sz="18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rPr>
              <a:t>B</a:t>
            </a:r>
            <a:endPar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標楷體" pitchFamily="65" charset="-12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kern="1200" dirty="0">
                <a:solidFill>
                  <a:prstClr val="black"/>
                </a:solidFill>
                <a:latin typeface="Times New Roman" panose="02020603050405020304" pitchFamily="18" charset="0"/>
                <a:cs typeface="Times New Roman" panose="02020603050405020304" pitchFamily="18" charset="0"/>
              </a:rPr>
              <a:t>	c) </a:t>
            </a:r>
            <a:r>
              <a:rPr kumimoji="1" lang="en-US" sz="2667"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 </a:t>
            </a:r>
            <a:r>
              <a:rPr kumimoji="0" lang="en-US" sz="1800" kern="1200" dirty="0">
                <a:solidFill>
                  <a:prstClr val="black"/>
                </a:solidFill>
                <a:latin typeface="Arial"/>
                <a:cs typeface="Calibri" pitchFamily="34" charset="0"/>
              </a:rPr>
              <a:t>4G</a:t>
            </a:r>
            <a:r>
              <a:rPr kumimoji="0" lang="en-US" sz="18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rPr>
              <a:t>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kern="1200" dirty="0">
                <a:solidFill>
                  <a:prstClr val="black"/>
                </a:solidFill>
                <a:latin typeface="Arial"/>
                <a:cs typeface="Calibri" pitchFamily="34" charset="0"/>
              </a:rPr>
              <a:t>	d)   4GB</a:t>
            </a:r>
          </a:p>
        </p:txBody>
      </p:sp>
      <p:sp>
        <p:nvSpPr>
          <p:cNvPr id="7" name="Date Placeholder 6"/>
          <p:cNvSpPr>
            <a:spLocks noGrp="1"/>
          </p:cNvSpPr>
          <p:nvPr>
            <p:ph type="dt" sz="half" idx="10"/>
          </p:nvPr>
        </p:nvSpPr>
        <p:spPr/>
        <p:txBody>
          <a:bodyPr/>
          <a:lstStyle/>
          <a:p>
            <a:pPr>
              <a:defRPr/>
            </a:pPr>
            <a:r>
              <a:rPr lang="en-US" dirty="0"/>
              <a:t>Feb  17, 2025</a:t>
            </a:r>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66</a:t>
            </a:fld>
            <a:endParaRPr lang="en-US" dirty="0"/>
          </a:p>
        </p:txBody>
      </p:sp>
      <p:sp>
        <p:nvSpPr>
          <p:cNvPr id="10" name="TextBox 9">
            <a:extLst>
              <a:ext uri="{FF2B5EF4-FFF2-40B4-BE49-F238E27FC236}">
                <a16:creationId xmlns:a16="http://schemas.microsoft.com/office/drawing/2014/main" id="{595C2B26-B7CF-4E20-BAE1-91C24BA4E906}"/>
              </a:ext>
            </a:extLst>
          </p:cNvPr>
          <p:cNvSpPr txBox="1"/>
          <p:nvPr/>
        </p:nvSpPr>
        <p:spPr>
          <a:xfrm>
            <a:off x="7836695" y="5232827"/>
            <a:ext cx="1604927" cy="461665"/>
          </a:xfrm>
          <a:prstGeom prst="rect">
            <a:avLst/>
          </a:prstGeom>
          <a:noFill/>
        </p:spPr>
        <p:txBody>
          <a:bodyPr wrap="none" rtlCol="0" anchor="ctr" anchorCtr="1">
            <a:spAutoFit/>
          </a:bodyPr>
          <a:lstStyle/>
          <a:p>
            <a:r>
              <a:rPr lang="en-US" sz="2400" dirty="0">
                <a:ea typeface="標楷體" pitchFamily="65" charset="-120"/>
                <a:cs typeface="Calibri" panose="020F07020304040A0204" pitchFamily="34" charset="0"/>
              </a:rPr>
              <a:t>Answer: D</a:t>
            </a:r>
          </a:p>
        </p:txBody>
      </p:sp>
    </p:spTree>
    <p:extLst>
      <p:ext uri="{BB962C8B-B14F-4D97-AF65-F5344CB8AC3E}">
        <p14:creationId xmlns:p14="http://schemas.microsoft.com/office/powerpoint/2010/main" val="2393483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Assembly Code </a:t>
            </a:r>
            <a:r>
              <a:rPr lang="en-US" i="1" dirty="0"/>
              <a:t>vs.</a:t>
            </a:r>
            <a:r>
              <a:rPr lang="en-US" dirty="0"/>
              <a:t> Binary</a:t>
            </a:r>
          </a:p>
        </p:txBody>
      </p:sp>
      <p:sp>
        <p:nvSpPr>
          <p:cNvPr id="3" name="Content Placeholder 2"/>
          <p:cNvSpPr>
            <a:spLocks noGrp="1"/>
          </p:cNvSpPr>
          <p:nvPr>
            <p:ph idx="1"/>
          </p:nvPr>
        </p:nvSpPr>
        <p:spPr>
          <a:xfrm>
            <a:off x="200025" y="980621"/>
            <a:ext cx="11752791" cy="5220153"/>
          </a:xfrm>
        </p:spPr>
        <p:txBody>
          <a:bodyPr/>
          <a:lstStyle/>
          <a:p>
            <a:pPr>
              <a:spcBef>
                <a:spcPts val="300"/>
              </a:spcBef>
            </a:pPr>
            <a:r>
              <a:rPr lang="en-US" sz="2400" dirty="0"/>
              <a:t>Its too tedious to write programs in binary</a:t>
            </a:r>
          </a:p>
          <a:p>
            <a:pPr>
              <a:spcBef>
                <a:spcPts val="300"/>
              </a:spcBef>
            </a:pPr>
            <a:r>
              <a:rPr lang="en-US" sz="2400" dirty="0"/>
              <a:t>To simplify writing programs, assemblers provide:</a:t>
            </a:r>
          </a:p>
          <a:p>
            <a:pPr lvl="1">
              <a:spcBef>
                <a:spcPts val="300"/>
              </a:spcBef>
            </a:pPr>
            <a:r>
              <a:rPr lang="en-US" sz="2400" dirty="0">
                <a:solidFill>
                  <a:srgbClr val="FF0000"/>
                </a:solidFill>
              </a:rPr>
              <a:t>mnemonics for instructions</a:t>
            </a:r>
          </a:p>
          <a:p>
            <a:pPr lvl="2">
              <a:spcBef>
                <a:spcPts val="300"/>
              </a:spcBef>
            </a:pPr>
            <a:r>
              <a:rPr lang="en-US" sz="1867" dirty="0"/>
              <a:t>add x1, x2, x3</a:t>
            </a:r>
          </a:p>
          <a:p>
            <a:pPr lvl="1">
              <a:spcBef>
                <a:spcPts val="300"/>
              </a:spcBef>
            </a:pPr>
            <a:r>
              <a:rPr lang="en-US" sz="2400" b="1" dirty="0">
                <a:solidFill>
                  <a:srgbClr val="FF0000"/>
                </a:solidFill>
              </a:rPr>
              <a:t>pseudo instructions</a:t>
            </a:r>
          </a:p>
          <a:p>
            <a:pPr lvl="2">
              <a:spcBef>
                <a:spcPts val="300"/>
              </a:spcBef>
            </a:pPr>
            <a:r>
              <a:rPr lang="en-US" sz="1867" dirty="0"/>
              <a:t>mov x1, x2 // short for add x1, x2, x0</a:t>
            </a:r>
          </a:p>
          <a:p>
            <a:pPr lvl="2">
              <a:spcBef>
                <a:spcPts val="300"/>
              </a:spcBef>
            </a:pPr>
            <a:r>
              <a:rPr lang="en-US" sz="1867" dirty="0"/>
              <a:t>J label         // </a:t>
            </a:r>
            <a:r>
              <a:rPr lang="en-US" sz="1867" dirty="0" err="1"/>
              <a:t>jal</a:t>
            </a:r>
            <a:r>
              <a:rPr lang="en-US" sz="1867" dirty="0"/>
              <a:t> r0, label</a:t>
            </a:r>
          </a:p>
          <a:p>
            <a:pPr lvl="2">
              <a:spcBef>
                <a:spcPts val="300"/>
              </a:spcBef>
            </a:pPr>
            <a:r>
              <a:rPr lang="en-US" sz="1867" dirty="0"/>
              <a:t>li x1, 6175 // short for </a:t>
            </a:r>
            <a:r>
              <a:rPr lang="en-US" sz="1867" dirty="0" err="1"/>
              <a:t>lui</a:t>
            </a:r>
            <a:r>
              <a:rPr lang="en-US" sz="1867" dirty="0"/>
              <a:t> x1, 2 ; </a:t>
            </a:r>
            <a:r>
              <a:rPr lang="en-US" sz="1867" dirty="0" err="1"/>
              <a:t>addi</a:t>
            </a:r>
            <a:r>
              <a:rPr lang="en-US" sz="1867" dirty="0"/>
              <a:t> x1, x1, -2017 (exact sequence depends </a:t>
            </a:r>
          </a:p>
          <a:p>
            <a:pPr marL="914377" lvl="2" indent="0">
              <a:spcBef>
                <a:spcPts val="300"/>
              </a:spcBef>
              <a:buNone/>
            </a:pPr>
            <a:r>
              <a:rPr lang="en-US" sz="1867" dirty="0"/>
              <a:t>	on immediate value). </a:t>
            </a:r>
            <a:r>
              <a:rPr lang="en-US" sz="1600" i="1" dirty="0"/>
              <a:t>Note that 6175 is 0x0181F; the upper 20 bits are 00001, and the lower 12 bits are 81F, with the sign bit on. So the upper bits will add one to it, and become “Lui x1, 2”</a:t>
            </a:r>
            <a:endParaRPr lang="en-US" sz="1600" b="1" i="1" dirty="0"/>
          </a:p>
          <a:p>
            <a:pPr lvl="1">
              <a:spcBef>
                <a:spcPts val="300"/>
              </a:spcBef>
            </a:pPr>
            <a:r>
              <a:rPr lang="en-US" sz="2400" dirty="0">
                <a:solidFill>
                  <a:srgbClr val="FF0000"/>
                </a:solidFill>
              </a:rPr>
              <a:t>symbols for program locations and data</a:t>
            </a:r>
          </a:p>
          <a:p>
            <a:pPr lvl="2">
              <a:spcBef>
                <a:spcPts val="300"/>
              </a:spcBef>
            </a:pPr>
            <a:r>
              <a:rPr lang="en-US" sz="1867" dirty="0" err="1"/>
              <a:t>bnz</a:t>
            </a:r>
            <a:r>
              <a:rPr lang="en-US" sz="1867" dirty="0"/>
              <a:t> x1, </a:t>
            </a:r>
            <a:r>
              <a:rPr lang="en-US" sz="1867" dirty="0" err="1"/>
              <a:t>loop_begin</a:t>
            </a:r>
            <a:endParaRPr lang="en-US" sz="1867" dirty="0"/>
          </a:p>
          <a:p>
            <a:pPr lvl="2">
              <a:spcBef>
                <a:spcPts val="300"/>
              </a:spcBef>
            </a:pPr>
            <a:r>
              <a:rPr lang="en-US" sz="1867" dirty="0" err="1"/>
              <a:t>lw</a:t>
            </a:r>
            <a:r>
              <a:rPr lang="en-US" sz="1867" dirty="0"/>
              <a:t> x1, flag</a:t>
            </a:r>
          </a:p>
          <a:p>
            <a:pPr lvl="2">
              <a:spcBef>
                <a:spcPts val="300"/>
              </a:spcBef>
            </a:pPr>
            <a:r>
              <a:rPr lang="en-US" sz="1867" dirty="0"/>
              <a:t>J label</a:t>
            </a:r>
          </a:p>
          <a:p>
            <a:pPr>
              <a:spcBef>
                <a:spcPts val="300"/>
              </a:spcBef>
            </a:pPr>
            <a:r>
              <a:rPr lang="en-US" sz="2400" b="1" dirty="0"/>
              <a:t>Assemblers</a:t>
            </a:r>
            <a:r>
              <a:rPr lang="en-US" sz="2400" dirty="0"/>
              <a:t> translate assembly programs into machine code for the processor to execute</a:t>
            </a:r>
          </a:p>
        </p:txBody>
      </p:sp>
      <p:sp>
        <p:nvSpPr>
          <p:cNvPr id="7" name="Date Placeholder 6"/>
          <p:cNvSpPr>
            <a:spLocks noGrp="1"/>
          </p:cNvSpPr>
          <p:nvPr>
            <p:ph type="dt" sz="half" idx="10"/>
          </p:nvPr>
        </p:nvSpPr>
        <p:spPr/>
        <p:txBody>
          <a:bodyPr/>
          <a:lstStyle/>
          <a:p>
            <a:pPr>
              <a:defRPr/>
            </a:pPr>
            <a:r>
              <a:rPr lang="en-US" dirty="0"/>
              <a:t>September 27, 2025</a:t>
            </a:r>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67</a:t>
            </a:fld>
            <a:endParaRPr lang="en-US" dirty="0"/>
          </a:p>
        </p:txBody>
      </p:sp>
    </p:spTree>
    <p:extLst>
      <p:ext uri="{BB962C8B-B14F-4D97-AF65-F5344CB8AC3E}">
        <p14:creationId xmlns:p14="http://schemas.microsoft.com/office/powerpoint/2010/main" val="3028755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GCD in C</a:t>
            </a:r>
          </a:p>
        </p:txBody>
      </p:sp>
      <p:sp>
        <p:nvSpPr>
          <p:cNvPr id="3" name="Content Placeholder 2"/>
          <p:cNvSpPr>
            <a:spLocks noGrp="1"/>
          </p:cNvSpPr>
          <p:nvPr>
            <p:ph idx="1"/>
          </p:nvPr>
        </p:nvSpPr>
        <p:spPr>
          <a:xfrm>
            <a:off x="2675468" y="1020570"/>
            <a:ext cx="5336419" cy="5162516"/>
          </a:xfrm>
          <a:solidFill>
            <a:schemeClr val="accent1">
              <a:lumMod val="40000"/>
              <a:lumOff val="60000"/>
            </a:schemeClr>
          </a:solidFill>
        </p:spPr>
        <p:txBody>
          <a:bodyPr/>
          <a:lstStyle/>
          <a:p>
            <a:pPr marL="0" indent="0">
              <a:spcBef>
                <a:spcPts val="300"/>
              </a:spcBef>
              <a:buNone/>
            </a:pPr>
            <a:r>
              <a:rPr lang="en-US" sz="2000" dirty="0">
                <a:latin typeface="Courier New" panose="02070309020205020404" pitchFamily="49" charset="0"/>
                <a:cs typeface="Courier New" panose="02070309020205020404" pitchFamily="49" charset="0"/>
              </a:rPr>
              <a:t>// require: a &gt;= 0 &amp;&amp; b &gt; 0</a:t>
            </a:r>
          </a:p>
          <a:p>
            <a:pPr marL="0" indent="0">
              <a:spcBef>
                <a:spcPts val="300"/>
              </a:spcBef>
              <a:buNone/>
            </a:pPr>
            <a:r>
              <a:rPr lang="en-US" sz="2000" dirty="0" err="1">
                <a:latin typeface="Courier New" panose="02070309020205020404" pitchFamily="49" charset="0"/>
                <a:cs typeface="Courier New" panose="02070309020205020404" pitchFamily="49" charset="0"/>
              </a:rPr>
              <a:t>int</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gcd</a:t>
            </a:r>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int</a:t>
            </a:r>
            <a:r>
              <a:rPr lang="en-US" sz="2000" dirty="0">
                <a:latin typeface="Courier New" panose="02070309020205020404" pitchFamily="49" charset="0"/>
                <a:cs typeface="Courier New" panose="02070309020205020404" pitchFamily="49" charset="0"/>
              </a:rPr>
              <a:t> a, </a:t>
            </a:r>
            <a:r>
              <a:rPr lang="en-US" sz="2000" dirty="0" err="1">
                <a:latin typeface="Courier New" panose="02070309020205020404" pitchFamily="49" charset="0"/>
                <a:cs typeface="Courier New" panose="02070309020205020404" pitchFamily="49" charset="0"/>
              </a:rPr>
              <a:t>int</a:t>
            </a:r>
            <a:r>
              <a:rPr lang="en-US" sz="2000" dirty="0">
                <a:latin typeface="Courier New" panose="02070309020205020404" pitchFamily="49" charset="0"/>
                <a:cs typeface="Courier New" panose="02070309020205020404" pitchFamily="49" charset="0"/>
              </a:rPr>
              <a:t> b) {</a:t>
            </a:r>
          </a:p>
          <a:p>
            <a:pPr marL="0" indent="0">
              <a:spcBef>
                <a:spcPts val="300"/>
              </a:spcBef>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int</a:t>
            </a:r>
            <a:r>
              <a:rPr lang="en-US" sz="2000" dirty="0">
                <a:latin typeface="Courier New" panose="02070309020205020404" pitchFamily="49" charset="0"/>
                <a:cs typeface="Courier New" panose="02070309020205020404" pitchFamily="49" charset="0"/>
              </a:rPr>
              <a:t> t;</a:t>
            </a:r>
          </a:p>
          <a:p>
            <a:pPr marL="0" indent="0">
              <a:spcBef>
                <a:spcPts val="300"/>
              </a:spcBef>
              <a:buNone/>
            </a:pPr>
            <a:r>
              <a:rPr lang="en-US" sz="2000" dirty="0">
                <a:latin typeface="Courier New" panose="02070309020205020404" pitchFamily="49" charset="0"/>
                <a:cs typeface="Courier New" panose="02070309020205020404" pitchFamily="49" charset="0"/>
              </a:rPr>
              <a:t>  while(a != 0) {</a:t>
            </a:r>
          </a:p>
          <a:p>
            <a:pPr marL="0" indent="0">
              <a:spcBef>
                <a:spcPts val="300"/>
              </a:spcBef>
              <a:buNone/>
            </a:pPr>
            <a:r>
              <a:rPr lang="en-US" sz="2000" dirty="0">
                <a:latin typeface="Courier New" panose="02070309020205020404" pitchFamily="49" charset="0"/>
                <a:cs typeface="Courier New" panose="02070309020205020404" pitchFamily="49" charset="0"/>
              </a:rPr>
              <a:t>    if(a &gt;= b) {</a:t>
            </a:r>
          </a:p>
          <a:p>
            <a:pPr marL="0" indent="0">
              <a:spcBef>
                <a:spcPts val="300"/>
              </a:spcBef>
              <a:buNone/>
            </a:pPr>
            <a:r>
              <a:rPr lang="en-US" sz="2000" dirty="0">
                <a:latin typeface="Courier New" panose="02070309020205020404" pitchFamily="49" charset="0"/>
                <a:cs typeface="Courier New" panose="02070309020205020404" pitchFamily="49" charset="0"/>
              </a:rPr>
              <a:t>      a = a - b;</a:t>
            </a:r>
          </a:p>
          <a:p>
            <a:pPr marL="0" indent="0">
              <a:spcBef>
                <a:spcPts val="300"/>
              </a:spcBef>
              <a:buNone/>
            </a:pPr>
            <a:r>
              <a:rPr lang="en-US" sz="2000" dirty="0">
                <a:latin typeface="Courier New" panose="02070309020205020404" pitchFamily="49" charset="0"/>
                <a:cs typeface="Courier New" panose="02070309020205020404" pitchFamily="49" charset="0"/>
              </a:rPr>
              <a:t>    }</a:t>
            </a:r>
          </a:p>
          <a:p>
            <a:pPr marL="0" indent="0">
              <a:spcBef>
                <a:spcPts val="300"/>
              </a:spcBef>
              <a:buNone/>
            </a:pPr>
            <a:r>
              <a:rPr lang="en-US" sz="2000" dirty="0">
                <a:latin typeface="Courier New" panose="02070309020205020404" pitchFamily="49" charset="0"/>
                <a:cs typeface="Courier New" panose="02070309020205020404" pitchFamily="49" charset="0"/>
              </a:rPr>
              <a:t>    else {</a:t>
            </a:r>
          </a:p>
          <a:p>
            <a:pPr marL="0" indent="0">
              <a:spcBef>
                <a:spcPts val="300"/>
              </a:spcBef>
              <a:buNone/>
            </a:pPr>
            <a:r>
              <a:rPr lang="en-US" sz="2000" dirty="0">
                <a:latin typeface="Courier New" panose="02070309020205020404" pitchFamily="49" charset="0"/>
                <a:cs typeface="Courier New" panose="02070309020205020404" pitchFamily="49" charset="0"/>
              </a:rPr>
              <a:t>      t = a; </a:t>
            </a:r>
          </a:p>
          <a:p>
            <a:pPr marL="0" indent="0">
              <a:spcBef>
                <a:spcPts val="300"/>
              </a:spcBef>
              <a:buNone/>
            </a:pPr>
            <a:r>
              <a:rPr lang="en-US" sz="2000" dirty="0">
                <a:latin typeface="Courier New" panose="02070309020205020404" pitchFamily="49" charset="0"/>
                <a:cs typeface="Courier New" panose="02070309020205020404" pitchFamily="49" charset="0"/>
              </a:rPr>
              <a:t>	a = b; </a:t>
            </a:r>
          </a:p>
          <a:p>
            <a:pPr marL="0" indent="0">
              <a:spcBef>
                <a:spcPts val="300"/>
              </a:spcBef>
              <a:buNone/>
            </a:pPr>
            <a:r>
              <a:rPr lang="en-US" sz="2000" dirty="0">
                <a:latin typeface="Courier New" panose="02070309020205020404" pitchFamily="49" charset="0"/>
                <a:cs typeface="Courier New" panose="02070309020205020404" pitchFamily="49" charset="0"/>
              </a:rPr>
              <a:t>	b = t;</a:t>
            </a:r>
          </a:p>
          <a:p>
            <a:pPr marL="0" indent="0">
              <a:spcBef>
                <a:spcPts val="300"/>
              </a:spcBef>
              <a:buNone/>
            </a:pPr>
            <a:r>
              <a:rPr lang="en-US" sz="2000" dirty="0">
                <a:latin typeface="Courier New" panose="02070309020205020404" pitchFamily="49" charset="0"/>
                <a:cs typeface="Courier New" panose="02070309020205020404" pitchFamily="49" charset="0"/>
              </a:rPr>
              <a:t>    }</a:t>
            </a:r>
          </a:p>
          <a:p>
            <a:pPr marL="0" indent="0">
              <a:spcBef>
                <a:spcPts val="300"/>
              </a:spcBef>
              <a:buNone/>
            </a:pPr>
            <a:r>
              <a:rPr lang="en-US" sz="2000" dirty="0">
                <a:latin typeface="Courier New" panose="02070309020205020404" pitchFamily="49" charset="0"/>
                <a:cs typeface="Courier New" panose="02070309020205020404" pitchFamily="49" charset="0"/>
              </a:rPr>
              <a:t>  }</a:t>
            </a:r>
          </a:p>
          <a:p>
            <a:pPr marL="0" indent="0">
              <a:spcBef>
                <a:spcPts val="300"/>
              </a:spcBef>
              <a:buNone/>
            </a:pPr>
            <a:r>
              <a:rPr lang="en-US" sz="2000" dirty="0">
                <a:latin typeface="Courier New" panose="02070309020205020404" pitchFamily="49" charset="0"/>
                <a:cs typeface="Courier New" panose="02070309020205020404" pitchFamily="49" charset="0"/>
              </a:rPr>
              <a:t>  return b;</a:t>
            </a:r>
          </a:p>
          <a:p>
            <a:pPr marL="0" indent="0">
              <a:spcBef>
                <a:spcPts val="300"/>
              </a:spcBef>
              <a:buNone/>
            </a:pPr>
            <a:r>
              <a:rPr lang="en-US" sz="2000" dirty="0">
                <a:latin typeface="Courier New" panose="02070309020205020404" pitchFamily="49" charset="0"/>
                <a:cs typeface="Courier New" panose="02070309020205020404" pitchFamily="49" charset="0"/>
              </a:rPr>
              <a:t>}</a:t>
            </a:r>
          </a:p>
        </p:txBody>
      </p:sp>
      <p:sp>
        <p:nvSpPr>
          <p:cNvPr id="4" name="Date Placeholder 3"/>
          <p:cNvSpPr>
            <a:spLocks noGrp="1"/>
          </p:cNvSpPr>
          <p:nvPr>
            <p:ph type="dt" sz="half" idx="10"/>
          </p:nvPr>
        </p:nvSpPr>
        <p:spPr/>
        <p:txBody>
          <a:bodyPr/>
          <a:lstStyle/>
          <a:p>
            <a:pPr>
              <a:defRPr/>
            </a:pPr>
            <a:r>
              <a:rPr lang="en-US" dirty="0"/>
              <a:t>September 27, 2025</a:t>
            </a:r>
          </a:p>
        </p:txBody>
      </p:sp>
      <p:sp>
        <p:nvSpPr>
          <p:cNvPr id="5" name="Footer Placeholder 4"/>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7" name="Slide Number Placeholder 6"/>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68</a:t>
            </a:fld>
            <a:endParaRPr lang="en-US" dirty="0"/>
          </a:p>
        </p:txBody>
      </p:sp>
      <p:sp>
        <p:nvSpPr>
          <p:cNvPr id="6" name="TextBox 5">
            <a:extLst>
              <a:ext uri="{FF2B5EF4-FFF2-40B4-BE49-F238E27FC236}">
                <a16:creationId xmlns:a16="http://schemas.microsoft.com/office/drawing/2014/main" id="{B58E4A8D-40A7-422D-AAAE-DDDB9D9035B3}"/>
              </a:ext>
            </a:extLst>
          </p:cNvPr>
          <p:cNvSpPr txBox="1"/>
          <p:nvPr/>
        </p:nvSpPr>
        <p:spPr>
          <a:xfrm>
            <a:off x="8239328" y="1396122"/>
            <a:ext cx="2056973" cy="2862322"/>
          </a:xfrm>
          <a:prstGeom prst="rect">
            <a:avLst/>
          </a:prstGeom>
          <a:noFill/>
        </p:spPr>
        <p:txBody>
          <a:bodyPr wrap="none" rtlCol="0" anchor="ctr" anchorCtr="1">
            <a:spAutoFit/>
          </a:bodyPr>
          <a:lstStyle/>
          <a:p>
            <a:r>
              <a:rPr lang="en-US" dirty="0">
                <a:ea typeface="標楷體" pitchFamily="65" charset="-120"/>
                <a:cs typeface="Calibri" pitchFamily="34" charset="0"/>
              </a:rPr>
              <a:t>Example:</a:t>
            </a:r>
          </a:p>
          <a:p>
            <a:r>
              <a:rPr lang="en-US" dirty="0">
                <a:ea typeface="標楷體" pitchFamily="65" charset="-120"/>
                <a:cs typeface="Calibri" pitchFamily="34" charset="0"/>
              </a:rPr>
              <a:t>Assume a=12 b=4</a:t>
            </a:r>
          </a:p>
          <a:p>
            <a:r>
              <a:rPr lang="en-US" dirty="0">
                <a:ea typeface="標楷體" pitchFamily="65" charset="-120"/>
                <a:cs typeface="Calibri" pitchFamily="34" charset="0"/>
              </a:rPr>
              <a:t>a&gt;=b</a:t>
            </a:r>
          </a:p>
          <a:p>
            <a:r>
              <a:rPr lang="en-US" dirty="0">
                <a:ea typeface="標楷體" pitchFamily="65" charset="-120"/>
                <a:cs typeface="Calibri" pitchFamily="34" charset="0"/>
              </a:rPr>
              <a:t>a=a-b = 12-4 = 8</a:t>
            </a:r>
          </a:p>
          <a:p>
            <a:r>
              <a:rPr lang="en-US" dirty="0">
                <a:ea typeface="標楷體" pitchFamily="65" charset="-120"/>
                <a:cs typeface="Calibri" pitchFamily="34" charset="0"/>
              </a:rPr>
              <a:t>a&gt;=b</a:t>
            </a:r>
          </a:p>
          <a:p>
            <a:r>
              <a:rPr lang="en-US" dirty="0">
                <a:ea typeface="標楷體" pitchFamily="65" charset="-120"/>
                <a:cs typeface="Calibri" pitchFamily="34" charset="0"/>
              </a:rPr>
              <a:t>a=a-b=8-4=4</a:t>
            </a:r>
          </a:p>
          <a:p>
            <a:r>
              <a:rPr lang="en-US" dirty="0">
                <a:ea typeface="標楷體" pitchFamily="65" charset="-120"/>
                <a:cs typeface="Calibri" pitchFamily="34" charset="0"/>
              </a:rPr>
              <a:t>a&gt;=b</a:t>
            </a:r>
          </a:p>
          <a:p>
            <a:r>
              <a:rPr lang="en-US" dirty="0">
                <a:ea typeface="標楷體" pitchFamily="65" charset="-120"/>
                <a:cs typeface="Calibri" pitchFamily="34" charset="0"/>
              </a:rPr>
              <a:t>a=a-b=4-4= 0</a:t>
            </a:r>
          </a:p>
          <a:p>
            <a:r>
              <a:rPr lang="en-US" dirty="0">
                <a:ea typeface="標楷體" pitchFamily="65" charset="-120"/>
                <a:cs typeface="Calibri" pitchFamily="34" charset="0"/>
              </a:rPr>
              <a:t>a==0</a:t>
            </a:r>
          </a:p>
          <a:p>
            <a:r>
              <a:rPr lang="en-US" dirty="0">
                <a:ea typeface="標楷體" pitchFamily="65" charset="-120"/>
                <a:cs typeface="Calibri" pitchFamily="34" charset="0"/>
              </a:rPr>
              <a:t>return b</a:t>
            </a:r>
          </a:p>
        </p:txBody>
      </p:sp>
    </p:spTree>
    <p:extLst>
      <p:ext uri="{BB962C8B-B14F-4D97-AF65-F5344CB8AC3E}">
        <p14:creationId xmlns:p14="http://schemas.microsoft.com/office/powerpoint/2010/main" val="1814110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GCD in RV Assembly Language</a:t>
            </a:r>
          </a:p>
        </p:txBody>
      </p:sp>
      <p:sp>
        <p:nvSpPr>
          <p:cNvPr id="3" name="Content Placeholder 2"/>
          <p:cNvSpPr>
            <a:spLocks noGrp="1"/>
          </p:cNvSpPr>
          <p:nvPr>
            <p:ph idx="1"/>
          </p:nvPr>
        </p:nvSpPr>
        <p:spPr>
          <a:xfrm>
            <a:off x="194310" y="1221372"/>
            <a:ext cx="8444571" cy="4692747"/>
          </a:xfrm>
          <a:solidFill>
            <a:schemeClr val="accent2">
              <a:lumMod val="40000"/>
              <a:lumOff val="60000"/>
            </a:schemeClr>
          </a:solidFill>
        </p:spPr>
        <p:txBody>
          <a:bodyPr/>
          <a:lstStyle/>
          <a:p>
            <a:pPr marL="0" indent="0">
              <a:buNone/>
            </a:pPr>
            <a:r>
              <a:rPr lang="en-US" sz="2000" dirty="0">
                <a:latin typeface="Courier New" panose="02070309020205020404" pitchFamily="49" charset="0"/>
                <a:cs typeface="Courier New" panose="02070309020205020404" pitchFamily="49" charset="0"/>
              </a:rPr>
              <a:t>// a: a0, b: a1, t: x5</a:t>
            </a:r>
          </a:p>
          <a:p>
            <a:pPr marL="0" indent="0">
              <a:buNone/>
            </a:pPr>
            <a:r>
              <a:rPr lang="en-US" sz="2000" dirty="0">
                <a:latin typeface="Courier New" panose="02070309020205020404" pitchFamily="49" charset="0"/>
                <a:cs typeface="Courier New" panose="02070309020205020404" pitchFamily="49" charset="0"/>
              </a:rPr>
              <a:t>begin:</a:t>
            </a:r>
          </a:p>
          <a:p>
            <a:pPr marL="0" indent="0">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beq</a:t>
            </a:r>
            <a:r>
              <a:rPr lang="en-US" sz="2000" dirty="0">
                <a:latin typeface="Courier New" panose="02070309020205020404" pitchFamily="49" charset="0"/>
                <a:cs typeface="Courier New" panose="02070309020205020404" pitchFamily="49" charset="0"/>
              </a:rPr>
              <a:t> a0, x0, done // if(a == 0) </a:t>
            </a:r>
            <a:r>
              <a:rPr lang="en-US" sz="2000" dirty="0" err="1">
                <a:latin typeface="Courier New" panose="02070309020205020404" pitchFamily="49" charset="0"/>
                <a:cs typeface="Courier New" panose="02070309020205020404" pitchFamily="49" charset="0"/>
              </a:rPr>
              <a:t>goto</a:t>
            </a:r>
            <a:r>
              <a:rPr lang="en-US" sz="2000" dirty="0">
                <a:latin typeface="Courier New" panose="02070309020205020404" pitchFamily="49" charset="0"/>
                <a:cs typeface="Courier New" panose="02070309020205020404" pitchFamily="49" charset="0"/>
              </a:rPr>
              <a:t> done</a:t>
            </a:r>
          </a:p>
          <a:p>
            <a:pPr marL="0" indent="0">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blt</a:t>
            </a:r>
            <a:r>
              <a:rPr lang="en-US" sz="2000" dirty="0">
                <a:latin typeface="Courier New" panose="02070309020205020404" pitchFamily="49" charset="0"/>
                <a:cs typeface="Courier New" panose="02070309020205020404" pitchFamily="49" charset="0"/>
              </a:rPr>
              <a:t> a0, a1, </a:t>
            </a:r>
            <a:r>
              <a:rPr lang="en-US" sz="2000" dirty="0" err="1">
                <a:latin typeface="Courier New" panose="02070309020205020404" pitchFamily="49" charset="0"/>
                <a:cs typeface="Courier New" panose="02070309020205020404" pitchFamily="49" charset="0"/>
              </a:rPr>
              <a:t>b_bigger</a:t>
            </a:r>
            <a:r>
              <a:rPr lang="en-US" sz="2000" dirty="0">
                <a:latin typeface="Courier New" panose="02070309020205020404" pitchFamily="49" charset="0"/>
                <a:cs typeface="Courier New" panose="02070309020205020404" pitchFamily="49" charset="0"/>
              </a:rPr>
              <a:t> // if(a &lt; b) </a:t>
            </a:r>
            <a:r>
              <a:rPr lang="en-US" sz="2000" dirty="0" err="1">
                <a:latin typeface="Courier New" panose="02070309020205020404" pitchFamily="49" charset="0"/>
                <a:cs typeface="Courier New" panose="02070309020205020404" pitchFamily="49" charset="0"/>
              </a:rPr>
              <a:t>goto</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b_bigger</a:t>
            </a:r>
            <a:endParaRPr lang="en-US" sz="2000" dirty="0">
              <a:latin typeface="Courier New" panose="02070309020205020404" pitchFamily="49" charset="0"/>
              <a:cs typeface="Courier New" panose="02070309020205020404" pitchFamily="49" charset="0"/>
            </a:endParaRPr>
          </a:p>
          <a:p>
            <a:pPr marL="0" indent="0">
              <a:buNone/>
            </a:pPr>
            <a:r>
              <a:rPr lang="en-US" sz="2000" dirty="0">
                <a:latin typeface="Courier New" panose="02070309020205020404" pitchFamily="49" charset="0"/>
                <a:cs typeface="Courier New" panose="02070309020205020404" pitchFamily="49" charset="0"/>
              </a:rPr>
              <a:t>  sub a0, a0, a1 // a = a - b</a:t>
            </a:r>
          </a:p>
          <a:p>
            <a:pPr marL="0" indent="0">
              <a:buNone/>
            </a:pPr>
            <a:r>
              <a:rPr lang="en-US" sz="2000" dirty="0">
                <a:latin typeface="Courier New" panose="02070309020205020404" pitchFamily="49" charset="0"/>
                <a:cs typeface="Courier New" panose="02070309020205020404" pitchFamily="49" charset="0"/>
              </a:rPr>
              <a:t>  j begin // </a:t>
            </a:r>
            <a:r>
              <a:rPr lang="en-US" sz="1800" i="1" dirty="0">
                <a:latin typeface="Courier New" panose="02070309020205020404" pitchFamily="49" charset="0"/>
                <a:cs typeface="Courier New" panose="02070309020205020404" pitchFamily="49" charset="0"/>
              </a:rPr>
              <a:t>was a jump </a:t>
            </a:r>
            <a:r>
              <a:rPr lang="en-US" sz="1800" i="1" dirty="0" err="1">
                <a:latin typeface="Courier New" panose="02070309020205020404" pitchFamily="49" charset="0"/>
                <a:cs typeface="Courier New" panose="02070309020205020404" pitchFamily="49" charset="0"/>
              </a:rPr>
              <a:t>inst</a:t>
            </a:r>
            <a:r>
              <a:rPr lang="en-US" sz="1800" i="1" dirty="0">
                <a:latin typeface="Courier New" panose="02070309020205020404" pitchFamily="49" charset="0"/>
                <a:cs typeface="Courier New" panose="02070309020205020404" pitchFamily="49" charset="0"/>
              </a:rPr>
              <a:t> to skip over else part</a:t>
            </a:r>
          </a:p>
          <a:p>
            <a:pPr marL="0" indent="0">
              <a:buNone/>
            </a:pPr>
            <a:r>
              <a:rPr lang="en-US" sz="2000" dirty="0" err="1">
                <a:latin typeface="Courier New" panose="02070309020205020404" pitchFamily="49" charset="0"/>
                <a:cs typeface="Courier New" panose="02070309020205020404" pitchFamily="49" charset="0"/>
              </a:rPr>
              <a:t>b_bigger</a:t>
            </a:r>
            <a:r>
              <a:rPr lang="en-US" sz="2000" dirty="0">
                <a:latin typeface="Courier New" panose="02070309020205020404" pitchFamily="49" charset="0"/>
                <a:cs typeface="Courier New" panose="02070309020205020404" pitchFamily="49" charset="0"/>
              </a:rPr>
              <a:t>:</a:t>
            </a:r>
          </a:p>
          <a:p>
            <a:pPr marL="0" indent="0">
              <a:buNone/>
            </a:pPr>
            <a:r>
              <a:rPr lang="en-US" sz="2000" dirty="0">
                <a:latin typeface="Courier New" panose="02070309020205020404" pitchFamily="49" charset="0"/>
                <a:cs typeface="Courier New" panose="02070309020205020404" pitchFamily="49" charset="0"/>
              </a:rPr>
              <a:t>  add x5, a0,x0 // x5 = a </a:t>
            </a:r>
          </a:p>
          <a:p>
            <a:pPr marL="0" indent="0">
              <a:buNone/>
            </a:pPr>
            <a:r>
              <a:rPr lang="en-US" sz="2000" dirty="0">
                <a:latin typeface="Courier New" panose="02070309020205020404" pitchFamily="49" charset="0"/>
                <a:cs typeface="Courier New" panose="02070309020205020404" pitchFamily="49" charset="0"/>
              </a:rPr>
              <a:t>  add a0, a1,x0 // a = b</a:t>
            </a:r>
          </a:p>
          <a:p>
            <a:pPr marL="0" indent="0">
              <a:buNone/>
            </a:pPr>
            <a:r>
              <a:rPr lang="en-US" sz="2000" dirty="0">
                <a:latin typeface="Courier New" panose="02070309020205020404" pitchFamily="49" charset="0"/>
                <a:cs typeface="Courier New" panose="02070309020205020404" pitchFamily="49" charset="0"/>
              </a:rPr>
              <a:t>  add a1, x5,x0 // b = x5</a:t>
            </a:r>
          </a:p>
          <a:p>
            <a:pPr marL="0" indent="0">
              <a:buNone/>
            </a:pPr>
            <a:r>
              <a:rPr lang="en-US" sz="2000" dirty="0">
                <a:latin typeface="Courier New" panose="02070309020205020404" pitchFamily="49" charset="0"/>
                <a:cs typeface="Courier New" panose="02070309020205020404" pitchFamily="49" charset="0"/>
              </a:rPr>
              <a:t>  j begin // </a:t>
            </a:r>
            <a:r>
              <a:rPr lang="en-US" sz="2000" dirty="0" err="1">
                <a:latin typeface="Courier New" panose="02070309020205020404" pitchFamily="49" charset="0"/>
                <a:cs typeface="Courier New" panose="02070309020205020404" pitchFamily="49" charset="0"/>
              </a:rPr>
              <a:t>goto</a:t>
            </a:r>
            <a:r>
              <a:rPr lang="en-US" sz="2000" dirty="0">
                <a:latin typeface="Courier New" panose="02070309020205020404" pitchFamily="49" charset="0"/>
                <a:cs typeface="Courier New" panose="02070309020205020404" pitchFamily="49" charset="0"/>
              </a:rPr>
              <a:t> begin</a:t>
            </a:r>
          </a:p>
          <a:p>
            <a:pPr marL="0" indent="0">
              <a:buNone/>
            </a:pPr>
            <a:r>
              <a:rPr lang="en-US" sz="2000" dirty="0">
                <a:latin typeface="Courier New" panose="02070309020205020404" pitchFamily="49" charset="0"/>
                <a:cs typeface="Courier New" panose="02070309020205020404" pitchFamily="49" charset="0"/>
              </a:rPr>
              <a:t>done:  // now a1 contains the </a:t>
            </a:r>
            <a:r>
              <a:rPr lang="en-US" sz="2000" dirty="0" err="1">
                <a:latin typeface="Courier New" panose="02070309020205020404" pitchFamily="49" charset="0"/>
                <a:cs typeface="Courier New" panose="02070309020205020404" pitchFamily="49" charset="0"/>
              </a:rPr>
              <a:t>gcd</a:t>
            </a:r>
            <a:endParaRPr lang="en-US" sz="2000" dirty="0">
              <a:latin typeface="Courier New" panose="02070309020205020404" pitchFamily="49" charset="0"/>
              <a:cs typeface="Courier New" panose="02070309020205020404" pitchFamily="49" charset="0"/>
            </a:endParaRPr>
          </a:p>
          <a:p>
            <a:pPr marL="0" indent="0">
              <a:buNone/>
            </a:pPr>
            <a:r>
              <a:rPr lang="en-US" sz="2000" dirty="0">
                <a:latin typeface="Courier New" panose="02070309020205020404" pitchFamily="49" charset="0"/>
                <a:cs typeface="Courier New" panose="02070309020205020404" pitchFamily="49" charset="0"/>
              </a:rPr>
              <a:t>  mov	a0, a1</a:t>
            </a:r>
          </a:p>
        </p:txBody>
      </p:sp>
      <p:sp>
        <p:nvSpPr>
          <p:cNvPr id="4" name="Date Placeholder 3"/>
          <p:cNvSpPr>
            <a:spLocks noGrp="1"/>
          </p:cNvSpPr>
          <p:nvPr>
            <p:ph type="dt" sz="half" idx="10"/>
          </p:nvPr>
        </p:nvSpPr>
        <p:spPr/>
        <p:txBody>
          <a:bodyPr/>
          <a:lstStyle/>
          <a:p>
            <a:pPr>
              <a:defRPr/>
            </a:pPr>
            <a:r>
              <a:rPr lang="en-US" dirty="0"/>
              <a:t>September 27, 2025</a:t>
            </a:r>
          </a:p>
        </p:txBody>
      </p:sp>
      <p:sp>
        <p:nvSpPr>
          <p:cNvPr id="5" name="Footer Placeholder 4"/>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7" name="Slide Number Placeholder 6"/>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69</a:t>
            </a:fld>
            <a:endParaRPr lang="en-US" dirty="0"/>
          </a:p>
        </p:txBody>
      </p:sp>
      <p:sp>
        <p:nvSpPr>
          <p:cNvPr id="10" name="TextBox 9">
            <a:extLst>
              <a:ext uri="{FF2B5EF4-FFF2-40B4-BE49-F238E27FC236}">
                <a16:creationId xmlns:a16="http://schemas.microsoft.com/office/drawing/2014/main" id="{7DFA68B1-7112-4EBA-AE35-DB1A7A40F838}"/>
              </a:ext>
            </a:extLst>
          </p:cNvPr>
          <p:cNvSpPr txBox="1"/>
          <p:nvPr/>
        </p:nvSpPr>
        <p:spPr>
          <a:xfrm>
            <a:off x="8647440" y="1262202"/>
            <a:ext cx="3544560" cy="1754326"/>
          </a:xfrm>
          <a:prstGeom prst="rect">
            <a:avLst/>
          </a:prstGeom>
          <a:noFill/>
        </p:spPr>
        <p:txBody>
          <a:bodyPr wrap="none" rtlCol="0" anchor="ctr" anchorCtr="1">
            <a:spAutoFit/>
          </a:bodyPr>
          <a:lstStyle/>
          <a:p>
            <a:r>
              <a:rPr lang="en-US" dirty="0">
                <a:ea typeface="標楷體" pitchFamily="65" charset="-120"/>
                <a:cs typeface="Calibri" pitchFamily="34" charset="0"/>
              </a:rPr>
              <a:t>a and b are passed in as</a:t>
            </a:r>
          </a:p>
          <a:p>
            <a:r>
              <a:rPr lang="en-US" dirty="0">
                <a:ea typeface="標楷體" pitchFamily="65" charset="-120"/>
                <a:cs typeface="Calibri" pitchFamily="34" charset="0"/>
              </a:rPr>
              <a:t>a0, and a1. </a:t>
            </a:r>
          </a:p>
          <a:p>
            <a:r>
              <a:rPr lang="en-US" dirty="0">
                <a:ea typeface="標楷體" pitchFamily="65" charset="-120"/>
                <a:cs typeface="Calibri" pitchFamily="34" charset="0"/>
              </a:rPr>
              <a:t>Int t is a local variable. It may be </a:t>
            </a:r>
          </a:p>
          <a:p>
            <a:r>
              <a:rPr lang="en-US" dirty="0">
                <a:ea typeface="標楷體" pitchFamily="65" charset="-120"/>
                <a:cs typeface="Calibri" pitchFamily="34" charset="0"/>
              </a:rPr>
              <a:t>Allocated to a temporary register</a:t>
            </a:r>
          </a:p>
          <a:p>
            <a:r>
              <a:rPr lang="en-US" dirty="0">
                <a:ea typeface="標楷體" pitchFamily="65" charset="-120"/>
                <a:cs typeface="Calibri" pitchFamily="34" charset="0"/>
              </a:rPr>
              <a:t>t0 (which is x5 in RV32I</a:t>
            </a:r>
          </a:p>
          <a:p>
            <a:r>
              <a:rPr lang="en-US" dirty="0">
                <a:ea typeface="標楷體" pitchFamily="65" charset="-120"/>
                <a:cs typeface="Calibri" pitchFamily="34" charset="0"/>
              </a:rPr>
              <a:t>according to the ABI)</a:t>
            </a:r>
          </a:p>
        </p:txBody>
      </p:sp>
      <p:sp>
        <p:nvSpPr>
          <p:cNvPr id="8" name="Oval 7">
            <a:extLst>
              <a:ext uri="{FF2B5EF4-FFF2-40B4-BE49-F238E27FC236}">
                <a16:creationId xmlns:a16="http://schemas.microsoft.com/office/drawing/2014/main" id="{ACDEB8B5-E82F-46BC-B316-D6B2BF71FB98}"/>
              </a:ext>
            </a:extLst>
          </p:cNvPr>
          <p:cNvSpPr/>
          <p:nvPr/>
        </p:nvSpPr>
        <p:spPr bwMode="auto">
          <a:xfrm>
            <a:off x="-126460" y="3037858"/>
            <a:ext cx="9056451" cy="456507"/>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1" name="TextBox 10">
            <a:extLst>
              <a:ext uri="{FF2B5EF4-FFF2-40B4-BE49-F238E27FC236}">
                <a16:creationId xmlns:a16="http://schemas.microsoft.com/office/drawing/2014/main" id="{3E88E788-4908-41E4-998E-A594D32DA0D5}"/>
              </a:ext>
            </a:extLst>
          </p:cNvPr>
          <p:cNvSpPr txBox="1"/>
          <p:nvPr/>
        </p:nvSpPr>
        <p:spPr>
          <a:xfrm>
            <a:off x="8929991" y="3975385"/>
            <a:ext cx="2082621" cy="369332"/>
          </a:xfrm>
          <a:prstGeom prst="rect">
            <a:avLst/>
          </a:prstGeom>
          <a:noFill/>
        </p:spPr>
        <p:txBody>
          <a:bodyPr wrap="none" rtlCol="0" anchor="ctr" anchorCtr="1">
            <a:spAutoFit/>
          </a:bodyPr>
          <a:lstStyle/>
          <a:p>
            <a:r>
              <a:rPr lang="en-US" dirty="0">
                <a:highlight>
                  <a:srgbClr val="FFFF00"/>
                </a:highlight>
                <a:ea typeface="標楷體" pitchFamily="65" charset="-120"/>
                <a:cs typeface="Calibri" pitchFamily="34" charset="0"/>
              </a:rPr>
              <a:t>Pseudo instruction</a:t>
            </a:r>
          </a:p>
        </p:txBody>
      </p:sp>
      <p:cxnSp>
        <p:nvCxnSpPr>
          <p:cNvPr id="13" name="Straight Arrow Connector 12">
            <a:extLst>
              <a:ext uri="{FF2B5EF4-FFF2-40B4-BE49-F238E27FC236}">
                <a16:creationId xmlns:a16="http://schemas.microsoft.com/office/drawing/2014/main" id="{069D8023-3896-406C-8911-3AA8D746E7A4}"/>
              </a:ext>
            </a:extLst>
          </p:cNvPr>
          <p:cNvCxnSpPr>
            <a:stCxn id="11" idx="1"/>
            <a:endCxn id="8" idx="6"/>
          </p:cNvCxnSpPr>
          <p:nvPr/>
        </p:nvCxnSpPr>
        <p:spPr bwMode="auto">
          <a:xfrm flipV="1">
            <a:off x="8929991" y="3266112"/>
            <a:ext cx="0" cy="893939"/>
          </a:xfrm>
          <a:prstGeom prst="straightConnector1">
            <a:avLst/>
          </a:prstGeom>
          <a:noFill/>
          <a:ln w="15875" cap="flat" cmpd="sng" algn="ctr">
            <a:solidFill>
              <a:srgbClr val="FF0000"/>
            </a:solidFill>
            <a:prstDash val="solid"/>
            <a:round/>
            <a:headEnd type="none" w="med" len="med"/>
            <a:tailEnd type="triangle"/>
          </a:ln>
          <a:effectLst/>
        </p:spPr>
      </p:cxnSp>
      <p:cxnSp>
        <p:nvCxnSpPr>
          <p:cNvPr id="15" name="Straight Arrow Connector 14">
            <a:extLst>
              <a:ext uri="{FF2B5EF4-FFF2-40B4-BE49-F238E27FC236}">
                <a16:creationId xmlns:a16="http://schemas.microsoft.com/office/drawing/2014/main" id="{97E70883-9C2A-4559-8BCF-AED26310C86B}"/>
              </a:ext>
            </a:extLst>
          </p:cNvPr>
          <p:cNvCxnSpPr>
            <a:stCxn id="11" idx="1"/>
          </p:cNvCxnSpPr>
          <p:nvPr/>
        </p:nvCxnSpPr>
        <p:spPr bwMode="auto">
          <a:xfrm flipH="1">
            <a:off x="3905250" y="4160051"/>
            <a:ext cx="5024741" cy="935824"/>
          </a:xfrm>
          <a:prstGeom prst="straightConnector1">
            <a:avLst/>
          </a:prstGeom>
          <a:noFill/>
          <a:ln w="15875" cap="flat" cmpd="sng" algn="ctr">
            <a:solidFill>
              <a:srgbClr val="FF0000"/>
            </a:solidFill>
            <a:prstDash val="solid"/>
            <a:round/>
            <a:headEnd type="none" w="med" len="med"/>
            <a:tailEnd type="triangle"/>
          </a:ln>
          <a:effectLst/>
        </p:spPr>
      </p:cxnSp>
      <p:cxnSp>
        <p:nvCxnSpPr>
          <p:cNvPr id="16" name="Straight Arrow Connector 15">
            <a:extLst>
              <a:ext uri="{FF2B5EF4-FFF2-40B4-BE49-F238E27FC236}">
                <a16:creationId xmlns:a16="http://schemas.microsoft.com/office/drawing/2014/main" id="{AA73B5AE-77BA-4839-89A8-4424B478CAAB}"/>
              </a:ext>
            </a:extLst>
          </p:cNvPr>
          <p:cNvCxnSpPr>
            <a:cxnSpLocks/>
            <a:stCxn id="11" idx="1"/>
          </p:cNvCxnSpPr>
          <p:nvPr/>
        </p:nvCxnSpPr>
        <p:spPr bwMode="auto">
          <a:xfrm flipH="1">
            <a:off x="2228851" y="4160051"/>
            <a:ext cx="6701140" cy="1661735"/>
          </a:xfrm>
          <a:prstGeom prst="straightConnector1">
            <a:avLst/>
          </a:prstGeom>
          <a:noFill/>
          <a:ln w="1587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3305621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8" grpId="0" animBg="1"/>
      <p:bldP spid="11"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Binary Interface (ABI)</a:t>
            </a:r>
          </a:p>
        </p:txBody>
      </p:sp>
      <p:sp>
        <p:nvSpPr>
          <p:cNvPr id="3" name="Content Placeholder 2"/>
          <p:cNvSpPr>
            <a:spLocks noGrp="1"/>
          </p:cNvSpPr>
          <p:nvPr>
            <p:ph idx="1"/>
          </p:nvPr>
        </p:nvSpPr>
        <p:spPr>
          <a:xfrm>
            <a:off x="1335617" y="1130615"/>
            <a:ext cx="8795355" cy="4815101"/>
          </a:xfrm>
        </p:spPr>
        <p:txBody>
          <a:bodyPr/>
          <a:lstStyle/>
          <a:p>
            <a:r>
              <a:rPr lang="en-US" sz="2400" dirty="0"/>
              <a:t>Calling convention in ABI defines specifies rules for register usage in passing arguments and results for function calls</a:t>
            </a:r>
          </a:p>
          <a:p>
            <a:pPr lvl="1"/>
            <a:r>
              <a:rPr lang="en-US" sz="2000" dirty="0" err="1"/>
              <a:t>Callee</a:t>
            </a:r>
            <a:r>
              <a:rPr lang="en-US" sz="2000" dirty="0"/>
              <a:t>-saved registers vs Caller-saved registers</a:t>
            </a:r>
          </a:p>
          <a:p>
            <a:r>
              <a:rPr lang="en-US" sz="2400" dirty="0"/>
              <a:t>Assigns aliases for registers x1-x31</a:t>
            </a:r>
          </a:p>
          <a:p>
            <a:pPr lvl="1"/>
            <a:r>
              <a:rPr lang="en-US" sz="2000" dirty="0"/>
              <a:t>a0 to a7 – function argument registers (caller-saved)</a:t>
            </a:r>
          </a:p>
          <a:p>
            <a:pPr lvl="1"/>
            <a:r>
              <a:rPr lang="en-US" sz="2000" dirty="0"/>
              <a:t>a0 and a1 – function return value registers</a:t>
            </a:r>
          </a:p>
          <a:p>
            <a:pPr lvl="1"/>
            <a:r>
              <a:rPr lang="en-US" sz="2000" dirty="0"/>
              <a:t>s0 to s11 – Saved registers (</a:t>
            </a:r>
            <a:r>
              <a:rPr lang="en-US" sz="2000" dirty="0" err="1"/>
              <a:t>callee</a:t>
            </a:r>
            <a:r>
              <a:rPr lang="en-US" sz="2000" dirty="0"/>
              <a:t>-saved)</a:t>
            </a:r>
          </a:p>
          <a:p>
            <a:pPr lvl="1"/>
            <a:r>
              <a:rPr lang="en-US" sz="2000" dirty="0"/>
              <a:t>t0 to t6 – temporary registers (caller-saved)</a:t>
            </a:r>
          </a:p>
          <a:p>
            <a:pPr lvl="1"/>
            <a:r>
              <a:rPr lang="en-US" sz="2000" dirty="0" err="1"/>
              <a:t>ra</a:t>
            </a:r>
            <a:r>
              <a:rPr lang="en-US" sz="2000" dirty="0"/>
              <a:t> – return address (caller-saved)</a:t>
            </a:r>
          </a:p>
          <a:p>
            <a:pPr lvl="1"/>
            <a:r>
              <a:rPr lang="en-US" sz="2000" dirty="0" err="1"/>
              <a:t>sp</a:t>
            </a:r>
            <a:r>
              <a:rPr lang="en-US" sz="2000" dirty="0"/>
              <a:t> – stack pointer (</a:t>
            </a:r>
            <a:r>
              <a:rPr lang="en-US" sz="2000" dirty="0" err="1"/>
              <a:t>callee</a:t>
            </a:r>
            <a:r>
              <a:rPr lang="en-US" sz="2000" dirty="0"/>
              <a:t>-saved)</a:t>
            </a:r>
          </a:p>
          <a:p>
            <a:pPr lvl="1"/>
            <a:r>
              <a:rPr lang="en-US" sz="2000" dirty="0" err="1"/>
              <a:t>gp</a:t>
            </a:r>
            <a:r>
              <a:rPr lang="en-US" sz="2000" dirty="0"/>
              <a:t> (global pointer), and </a:t>
            </a:r>
            <a:r>
              <a:rPr lang="en-US" sz="2000" dirty="0" err="1"/>
              <a:t>tp</a:t>
            </a:r>
            <a:r>
              <a:rPr lang="en-US" sz="2000" dirty="0"/>
              <a:t> (thread pointer) point to specific locations in memory used by the program for global and thread-local variables respectively</a:t>
            </a:r>
          </a:p>
        </p:txBody>
      </p:sp>
      <p:sp>
        <p:nvSpPr>
          <p:cNvPr id="7" name="Date Placeholder 6"/>
          <p:cNvSpPr>
            <a:spLocks noGrp="1"/>
          </p:cNvSpPr>
          <p:nvPr>
            <p:ph type="dt" sz="half" idx="10"/>
          </p:nvPr>
        </p:nvSpPr>
        <p:spPr/>
        <p:txBody>
          <a:bodyPr/>
          <a:lstStyle/>
          <a:p>
            <a:pPr>
              <a:defRPr/>
            </a:pPr>
            <a:r>
              <a:rPr lang="en-US"/>
              <a:t>September 27, 2017</a:t>
            </a:r>
            <a:endParaRPr lang="en-US" dirty="0"/>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70</a:t>
            </a:fld>
            <a:endParaRPr lang="en-US" dirty="0"/>
          </a:p>
        </p:txBody>
      </p:sp>
    </p:spTree>
    <p:extLst>
      <p:ext uri="{BB962C8B-B14F-4D97-AF65-F5344CB8AC3E}">
        <p14:creationId xmlns:p14="http://schemas.microsoft.com/office/powerpoint/2010/main" val="1649552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Mapping between Physical Reg to ABI Reg</a:t>
            </a:r>
          </a:p>
        </p:txBody>
      </p:sp>
      <p:sp>
        <p:nvSpPr>
          <p:cNvPr id="7" name="Date Placeholder 6"/>
          <p:cNvSpPr>
            <a:spLocks noGrp="1"/>
          </p:cNvSpPr>
          <p:nvPr>
            <p:ph type="dt" sz="half" idx="10"/>
          </p:nvPr>
        </p:nvSpPr>
        <p:spPr/>
        <p:txBody>
          <a:bodyPr/>
          <a:lstStyle/>
          <a:p>
            <a:pPr>
              <a:defRPr/>
            </a:pPr>
            <a:r>
              <a:rPr lang="en-US"/>
              <a:t>September 27, 2017</a:t>
            </a:r>
            <a:endParaRPr lang="en-US" dirty="0"/>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71</a:t>
            </a:fld>
            <a:endParaRPr lang="en-US" dirty="0"/>
          </a:p>
        </p:txBody>
      </p:sp>
      <p:graphicFrame>
        <p:nvGraphicFramePr>
          <p:cNvPr id="6" name="Table 9">
            <a:extLst>
              <a:ext uri="{FF2B5EF4-FFF2-40B4-BE49-F238E27FC236}">
                <a16:creationId xmlns:a16="http://schemas.microsoft.com/office/drawing/2014/main" id="{E53A32D8-7626-4428-9889-215DEA7EAD8E}"/>
              </a:ext>
            </a:extLst>
          </p:cNvPr>
          <p:cNvGraphicFramePr>
            <a:graphicFrameLocks noGrp="1"/>
          </p:cNvGraphicFramePr>
          <p:nvPr>
            <p:extLst>
              <p:ext uri="{D42A27DB-BD31-4B8C-83A1-F6EECF244321}">
                <p14:modId xmlns:p14="http://schemas.microsoft.com/office/powerpoint/2010/main" val="3590367389"/>
              </p:ext>
            </p:extLst>
          </p:nvPr>
        </p:nvGraphicFramePr>
        <p:xfrm>
          <a:off x="1485900" y="1158241"/>
          <a:ext cx="8835389" cy="4967853"/>
        </p:xfrm>
        <a:graphic>
          <a:graphicData uri="http://schemas.openxmlformats.org/drawingml/2006/table">
            <a:tbl>
              <a:tblPr firstRow="1" bandRow="1">
                <a:tableStyleId>{5C22544A-7EE6-4342-B048-85BDC9FD1C3A}</a:tableStyleId>
              </a:tblPr>
              <a:tblGrid>
                <a:gridCol w="3358467">
                  <a:extLst>
                    <a:ext uri="{9D8B030D-6E8A-4147-A177-3AD203B41FA5}">
                      <a16:colId xmlns:a16="http://schemas.microsoft.com/office/drawing/2014/main" val="2102270064"/>
                    </a:ext>
                  </a:extLst>
                </a:gridCol>
                <a:gridCol w="2738461">
                  <a:extLst>
                    <a:ext uri="{9D8B030D-6E8A-4147-A177-3AD203B41FA5}">
                      <a16:colId xmlns:a16="http://schemas.microsoft.com/office/drawing/2014/main" val="1917935184"/>
                    </a:ext>
                  </a:extLst>
                </a:gridCol>
                <a:gridCol w="2738461">
                  <a:extLst>
                    <a:ext uri="{9D8B030D-6E8A-4147-A177-3AD203B41FA5}">
                      <a16:colId xmlns:a16="http://schemas.microsoft.com/office/drawing/2014/main" val="3267213686"/>
                    </a:ext>
                  </a:extLst>
                </a:gridCol>
              </a:tblGrid>
              <a:tr h="825136">
                <a:tc>
                  <a:txBody>
                    <a:bodyPr/>
                    <a:lstStyle/>
                    <a:p>
                      <a:r>
                        <a:rPr lang="en-US" sz="2400" dirty="0"/>
                        <a:t>Names</a:t>
                      </a:r>
                    </a:p>
                  </a:txBody>
                  <a:tcPr marL="121920" marR="121920" marT="60960" marB="60960"/>
                </a:tc>
                <a:tc>
                  <a:txBody>
                    <a:bodyPr/>
                    <a:lstStyle/>
                    <a:p>
                      <a:r>
                        <a:rPr lang="en-US" sz="2400" dirty="0"/>
                        <a:t>RISC-V registers</a:t>
                      </a:r>
                    </a:p>
                  </a:txBody>
                  <a:tcPr marL="121920" marR="121920" marT="60960" marB="60960"/>
                </a:tc>
                <a:tc>
                  <a:txBody>
                    <a:bodyPr/>
                    <a:lstStyle/>
                    <a:p>
                      <a:r>
                        <a:rPr lang="en-US" sz="2400" dirty="0"/>
                        <a:t>ABI register name</a:t>
                      </a:r>
                    </a:p>
                  </a:txBody>
                  <a:tcPr marL="121920" marR="121920" marT="60960" marB="60960"/>
                </a:tc>
                <a:extLst>
                  <a:ext uri="{0D108BD9-81ED-4DB2-BD59-A6C34878D82A}">
                    <a16:rowId xmlns:a16="http://schemas.microsoft.com/office/drawing/2014/main" val="3214105056"/>
                  </a:ext>
                </a:extLst>
              </a:tr>
              <a:tr h="471506">
                <a:tc>
                  <a:txBody>
                    <a:bodyPr/>
                    <a:lstStyle/>
                    <a:p>
                      <a:r>
                        <a:rPr lang="en-US" sz="2400" dirty="0"/>
                        <a:t>Zero register </a:t>
                      </a:r>
                    </a:p>
                  </a:txBody>
                  <a:tcPr marL="121920" marR="121920" marT="60960" marB="60960"/>
                </a:tc>
                <a:tc>
                  <a:txBody>
                    <a:bodyPr/>
                    <a:lstStyle/>
                    <a:p>
                      <a:r>
                        <a:rPr lang="en-US" sz="2400" dirty="0"/>
                        <a:t>X0</a:t>
                      </a:r>
                    </a:p>
                  </a:txBody>
                  <a:tcPr marL="121920" marR="121920" marT="60960" marB="60960"/>
                </a:tc>
                <a:tc>
                  <a:txBody>
                    <a:bodyPr/>
                    <a:lstStyle/>
                    <a:p>
                      <a:endParaRPr lang="en-US" sz="2400" dirty="0"/>
                    </a:p>
                  </a:txBody>
                  <a:tcPr marL="121920" marR="121920" marT="60960" marB="60960"/>
                </a:tc>
                <a:extLst>
                  <a:ext uri="{0D108BD9-81ED-4DB2-BD59-A6C34878D82A}">
                    <a16:rowId xmlns:a16="http://schemas.microsoft.com/office/drawing/2014/main" val="2285642056"/>
                  </a:ext>
                </a:extLst>
              </a:tr>
              <a:tr h="471506">
                <a:tc>
                  <a:txBody>
                    <a:bodyPr/>
                    <a:lstStyle/>
                    <a:p>
                      <a:r>
                        <a:rPr lang="en-US" sz="2400" dirty="0"/>
                        <a:t>Return Address</a:t>
                      </a:r>
                    </a:p>
                  </a:txBody>
                  <a:tcPr marL="121920" marR="121920" marT="60960" marB="60960"/>
                </a:tc>
                <a:tc>
                  <a:txBody>
                    <a:bodyPr/>
                    <a:lstStyle/>
                    <a:p>
                      <a:r>
                        <a:rPr lang="en-US" sz="2400" dirty="0"/>
                        <a:t>X1</a:t>
                      </a:r>
                    </a:p>
                  </a:txBody>
                  <a:tcPr marL="121920" marR="121920" marT="60960" marB="60960"/>
                </a:tc>
                <a:tc>
                  <a:txBody>
                    <a:bodyPr/>
                    <a:lstStyle/>
                    <a:p>
                      <a:r>
                        <a:rPr lang="en-US" sz="2400" dirty="0"/>
                        <a:t>ra</a:t>
                      </a:r>
                    </a:p>
                  </a:txBody>
                  <a:tcPr marL="121920" marR="121920" marT="60960" marB="60960"/>
                </a:tc>
                <a:extLst>
                  <a:ext uri="{0D108BD9-81ED-4DB2-BD59-A6C34878D82A}">
                    <a16:rowId xmlns:a16="http://schemas.microsoft.com/office/drawing/2014/main" val="3602459823"/>
                  </a:ext>
                </a:extLst>
              </a:tr>
              <a:tr h="471506">
                <a:tc>
                  <a:txBody>
                    <a:bodyPr/>
                    <a:lstStyle/>
                    <a:p>
                      <a:r>
                        <a:rPr lang="en-US" sz="2400" dirty="0"/>
                        <a:t>Stack pointer</a:t>
                      </a:r>
                    </a:p>
                  </a:txBody>
                  <a:tcPr marL="121920" marR="121920" marT="60960" marB="60960"/>
                </a:tc>
                <a:tc>
                  <a:txBody>
                    <a:bodyPr/>
                    <a:lstStyle/>
                    <a:p>
                      <a:r>
                        <a:rPr lang="en-US" sz="2400" dirty="0"/>
                        <a:t>X2</a:t>
                      </a:r>
                    </a:p>
                  </a:txBody>
                  <a:tcPr marL="121920" marR="121920" marT="60960" marB="60960"/>
                </a:tc>
                <a:tc>
                  <a:txBody>
                    <a:bodyPr/>
                    <a:lstStyle/>
                    <a:p>
                      <a:r>
                        <a:rPr lang="en-US" sz="2400" dirty="0" err="1"/>
                        <a:t>sp</a:t>
                      </a:r>
                      <a:endParaRPr lang="en-US" sz="2400" dirty="0"/>
                    </a:p>
                  </a:txBody>
                  <a:tcPr marL="121920" marR="121920" marT="60960" marB="60960"/>
                </a:tc>
                <a:extLst>
                  <a:ext uri="{0D108BD9-81ED-4DB2-BD59-A6C34878D82A}">
                    <a16:rowId xmlns:a16="http://schemas.microsoft.com/office/drawing/2014/main" val="2359337686"/>
                  </a:ext>
                </a:extLst>
              </a:tr>
              <a:tr h="471506">
                <a:tc>
                  <a:txBody>
                    <a:bodyPr/>
                    <a:lstStyle/>
                    <a:p>
                      <a:r>
                        <a:rPr lang="en-US" sz="2400" dirty="0"/>
                        <a:t>Global pointer</a:t>
                      </a:r>
                    </a:p>
                  </a:txBody>
                  <a:tcPr marL="121920" marR="121920" marT="60960" marB="60960"/>
                </a:tc>
                <a:tc>
                  <a:txBody>
                    <a:bodyPr/>
                    <a:lstStyle/>
                    <a:p>
                      <a:r>
                        <a:rPr lang="en-US" sz="2400" dirty="0"/>
                        <a:t>X3</a:t>
                      </a:r>
                    </a:p>
                  </a:txBody>
                  <a:tcPr marL="121920" marR="121920" marT="60960" marB="60960"/>
                </a:tc>
                <a:tc>
                  <a:txBody>
                    <a:bodyPr/>
                    <a:lstStyle/>
                    <a:p>
                      <a:r>
                        <a:rPr lang="en-US" sz="2400" dirty="0" err="1"/>
                        <a:t>gp</a:t>
                      </a:r>
                      <a:endParaRPr lang="en-US" sz="2400" dirty="0"/>
                    </a:p>
                  </a:txBody>
                  <a:tcPr marL="121920" marR="121920" marT="60960" marB="60960"/>
                </a:tc>
                <a:extLst>
                  <a:ext uri="{0D108BD9-81ED-4DB2-BD59-A6C34878D82A}">
                    <a16:rowId xmlns:a16="http://schemas.microsoft.com/office/drawing/2014/main" val="3756952032"/>
                  </a:ext>
                </a:extLst>
              </a:tr>
              <a:tr h="471506">
                <a:tc>
                  <a:txBody>
                    <a:bodyPr/>
                    <a:lstStyle/>
                    <a:p>
                      <a:r>
                        <a:rPr lang="en-US" sz="2400" dirty="0"/>
                        <a:t>Thread pointer</a:t>
                      </a:r>
                    </a:p>
                  </a:txBody>
                  <a:tcPr marL="121920" marR="121920" marT="60960" marB="60960"/>
                </a:tc>
                <a:tc>
                  <a:txBody>
                    <a:bodyPr/>
                    <a:lstStyle/>
                    <a:p>
                      <a:r>
                        <a:rPr lang="en-US" sz="2400" dirty="0"/>
                        <a:t>X4</a:t>
                      </a:r>
                    </a:p>
                  </a:txBody>
                  <a:tcPr marL="121920" marR="121920" marT="60960" marB="60960"/>
                </a:tc>
                <a:tc>
                  <a:txBody>
                    <a:bodyPr/>
                    <a:lstStyle/>
                    <a:p>
                      <a:r>
                        <a:rPr lang="en-US" sz="2400" dirty="0" err="1"/>
                        <a:t>tp</a:t>
                      </a:r>
                      <a:endParaRPr lang="en-US" sz="2400" dirty="0"/>
                    </a:p>
                  </a:txBody>
                  <a:tcPr marL="121920" marR="121920" marT="60960" marB="60960"/>
                </a:tc>
                <a:extLst>
                  <a:ext uri="{0D108BD9-81ED-4DB2-BD59-A6C34878D82A}">
                    <a16:rowId xmlns:a16="http://schemas.microsoft.com/office/drawing/2014/main" val="2984917401"/>
                  </a:ext>
                </a:extLst>
              </a:tr>
              <a:tr h="471506">
                <a:tc>
                  <a:txBody>
                    <a:bodyPr/>
                    <a:lstStyle/>
                    <a:p>
                      <a:r>
                        <a:rPr lang="en-US" sz="2400" dirty="0"/>
                        <a:t>Temporary</a:t>
                      </a:r>
                    </a:p>
                  </a:txBody>
                  <a:tcPr marL="121920" marR="121920" marT="60960" marB="60960"/>
                </a:tc>
                <a:tc>
                  <a:txBody>
                    <a:bodyPr/>
                    <a:lstStyle/>
                    <a:p>
                      <a:r>
                        <a:rPr lang="en-US" sz="2400" dirty="0"/>
                        <a:t>X5-X7, X28-X31</a:t>
                      </a:r>
                    </a:p>
                  </a:txBody>
                  <a:tcPr marL="121920" marR="121920" marT="60960" marB="60960"/>
                </a:tc>
                <a:tc>
                  <a:txBody>
                    <a:bodyPr/>
                    <a:lstStyle/>
                    <a:p>
                      <a:r>
                        <a:rPr lang="en-US" sz="2400" dirty="0"/>
                        <a:t>t0-t6</a:t>
                      </a:r>
                    </a:p>
                  </a:txBody>
                  <a:tcPr marL="121920" marR="121920" marT="60960" marB="60960"/>
                </a:tc>
                <a:extLst>
                  <a:ext uri="{0D108BD9-81ED-4DB2-BD59-A6C34878D82A}">
                    <a16:rowId xmlns:a16="http://schemas.microsoft.com/office/drawing/2014/main" val="1787943509"/>
                  </a:ext>
                </a:extLst>
              </a:tr>
              <a:tr h="498064">
                <a:tc>
                  <a:txBody>
                    <a:bodyPr/>
                    <a:lstStyle/>
                    <a:p>
                      <a:r>
                        <a:rPr lang="en-US" sz="2400" dirty="0"/>
                        <a:t>Saved registers</a:t>
                      </a:r>
                    </a:p>
                  </a:txBody>
                  <a:tcPr marL="121920" marR="121920" marT="60960" marB="60960"/>
                </a:tc>
                <a:tc>
                  <a:txBody>
                    <a:bodyPr/>
                    <a:lstStyle/>
                    <a:p>
                      <a:r>
                        <a:rPr lang="en-US" sz="2400" dirty="0"/>
                        <a:t>X8-X9, X18-X27</a:t>
                      </a:r>
                    </a:p>
                  </a:txBody>
                  <a:tcPr marL="121920" marR="121920" marT="60960" marB="60960"/>
                </a:tc>
                <a:tc>
                  <a:txBody>
                    <a:bodyPr/>
                    <a:lstStyle/>
                    <a:p>
                      <a:r>
                        <a:rPr lang="en-US" sz="2400" dirty="0"/>
                        <a:t>s0-s11</a:t>
                      </a:r>
                    </a:p>
                  </a:txBody>
                  <a:tcPr marL="121920" marR="121920" marT="60960" marB="60960"/>
                </a:tc>
                <a:extLst>
                  <a:ext uri="{0D108BD9-81ED-4DB2-BD59-A6C34878D82A}">
                    <a16:rowId xmlns:a16="http://schemas.microsoft.com/office/drawing/2014/main" val="3829943340"/>
                  </a:ext>
                </a:extLst>
              </a:tr>
              <a:tr h="690269">
                <a:tc>
                  <a:txBody>
                    <a:bodyPr/>
                    <a:lstStyle/>
                    <a:p>
                      <a:r>
                        <a:rPr lang="en-US" sz="2400" dirty="0"/>
                        <a:t>Function arguments</a:t>
                      </a:r>
                    </a:p>
                  </a:txBody>
                  <a:tcPr marL="121920" marR="121920" marT="60960" marB="60960"/>
                </a:tc>
                <a:tc>
                  <a:txBody>
                    <a:bodyPr/>
                    <a:lstStyle/>
                    <a:p>
                      <a:r>
                        <a:rPr lang="en-US" sz="2400" dirty="0"/>
                        <a:t>X10-X17</a:t>
                      </a:r>
                    </a:p>
                  </a:txBody>
                  <a:tcPr marL="121920" marR="121920" marT="60960" marB="60960"/>
                </a:tc>
                <a:tc>
                  <a:txBody>
                    <a:bodyPr/>
                    <a:lstStyle/>
                    <a:p>
                      <a:r>
                        <a:rPr lang="en-US" sz="2400" dirty="0"/>
                        <a:t>a0-a7</a:t>
                      </a:r>
                    </a:p>
                  </a:txBody>
                  <a:tcPr marL="121920" marR="121920" marT="60960" marB="60960"/>
                </a:tc>
                <a:extLst>
                  <a:ext uri="{0D108BD9-81ED-4DB2-BD59-A6C34878D82A}">
                    <a16:rowId xmlns:a16="http://schemas.microsoft.com/office/drawing/2014/main" val="1256411330"/>
                  </a:ext>
                </a:extLst>
              </a:tr>
            </a:tbl>
          </a:graphicData>
        </a:graphic>
      </p:graphicFrame>
    </p:spTree>
    <p:extLst>
      <p:ext uri="{BB962C8B-B14F-4D97-AF65-F5344CB8AC3E}">
        <p14:creationId xmlns:p14="http://schemas.microsoft.com/office/powerpoint/2010/main" val="27571621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Mapping between Physical Reg to ABI Reg</a:t>
            </a:r>
          </a:p>
        </p:txBody>
      </p:sp>
      <p:sp>
        <p:nvSpPr>
          <p:cNvPr id="7" name="Date Placeholder 6"/>
          <p:cNvSpPr>
            <a:spLocks noGrp="1"/>
          </p:cNvSpPr>
          <p:nvPr>
            <p:ph type="dt" sz="half" idx="10"/>
          </p:nvPr>
        </p:nvSpPr>
        <p:spPr/>
        <p:txBody>
          <a:bodyPr/>
          <a:lstStyle/>
          <a:p>
            <a:pPr>
              <a:defRPr/>
            </a:pPr>
            <a:r>
              <a:rPr lang="en-US"/>
              <a:t>September 27, 2017</a:t>
            </a:r>
            <a:endParaRPr lang="en-US" dirty="0"/>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72</a:t>
            </a:fld>
            <a:endParaRPr lang="en-US" dirty="0"/>
          </a:p>
        </p:txBody>
      </p:sp>
      <p:graphicFrame>
        <p:nvGraphicFramePr>
          <p:cNvPr id="6" name="Table 9">
            <a:extLst>
              <a:ext uri="{FF2B5EF4-FFF2-40B4-BE49-F238E27FC236}">
                <a16:creationId xmlns:a16="http://schemas.microsoft.com/office/drawing/2014/main" id="{E53A32D8-7626-4428-9889-215DEA7EAD8E}"/>
              </a:ext>
            </a:extLst>
          </p:cNvPr>
          <p:cNvGraphicFramePr>
            <a:graphicFrameLocks noGrp="1"/>
          </p:cNvGraphicFramePr>
          <p:nvPr>
            <p:extLst>
              <p:ext uri="{D42A27DB-BD31-4B8C-83A1-F6EECF244321}">
                <p14:modId xmlns:p14="http://schemas.microsoft.com/office/powerpoint/2010/main" val="1991933404"/>
              </p:ext>
            </p:extLst>
          </p:nvPr>
        </p:nvGraphicFramePr>
        <p:xfrm>
          <a:off x="2133601" y="1203960"/>
          <a:ext cx="8381999" cy="5168729"/>
        </p:xfrm>
        <a:graphic>
          <a:graphicData uri="http://schemas.openxmlformats.org/drawingml/2006/table">
            <a:tbl>
              <a:tblPr firstRow="1" bandRow="1">
                <a:tableStyleId>{5C22544A-7EE6-4342-B048-85BDC9FD1C3A}</a:tableStyleId>
              </a:tblPr>
              <a:tblGrid>
                <a:gridCol w="3078479">
                  <a:extLst>
                    <a:ext uri="{9D8B030D-6E8A-4147-A177-3AD203B41FA5}">
                      <a16:colId xmlns:a16="http://schemas.microsoft.com/office/drawing/2014/main" val="2102270064"/>
                    </a:ext>
                  </a:extLst>
                </a:gridCol>
                <a:gridCol w="2823210">
                  <a:extLst>
                    <a:ext uri="{9D8B030D-6E8A-4147-A177-3AD203B41FA5}">
                      <a16:colId xmlns:a16="http://schemas.microsoft.com/office/drawing/2014/main" val="1917935184"/>
                    </a:ext>
                  </a:extLst>
                </a:gridCol>
                <a:gridCol w="2480310">
                  <a:extLst>
                    <a:ext uri="{9D8B030D-6E8A-4147-A177-3AD203B41FA5}">
                      <a16:colId xmlns:a16="http://schemas.microsoft.com/office/drawing/2014/main" val="3267213686"/>
                    </a:ext>
                  </a:extLst>
                </a:gridCol>
              </a:tblGrid>
              <a:tr h="853779">
                <a:tc>
                  <a:txBody>
                    <a:bodyPr/>
                    <a:lstStyle/>
                    <a:p>
                      <a:r>
                        <a:rPr lang="en-US" sz="2400" dirty="0"/>
                        <a:t>Names</a:t>
                      </a:r>
                    </a:p>
                  </a:txBody>
                  <a:tcPr marL="121920" marR="121920" marT="60960" marB="60960"/>
                </a:tc>
                <a:tc>
                  <a:txBody>
                    <a:bodyPr/>
                    <a:lstStyle/>
                    <a:p>
                      <a:r>
                        <a:rPr lang="en-US" sz="2400" dirty="0"/>
                        <a:t>RISC-V registers</a:t>
                      </a:r>
                    </a:p>
                  </a:txBody>
                  <a:tcPr marL="121920" marR="121920" marT="60960" marB="60960"/>
                </a:tc>
                <a:tc>
                  <a:txBody>
                    <a:bodyPr/>
                    <a:lstStyle/>
                    <a:p>
                      <a:r>
                        <a:rPr lang="en-US" sz="2400" dirty="0"/>
                        <a:t>ABI register name</a:t>
                      </a:r>
                    </a:p>
                  </a:txBody>
                  <a:tcPr marL="121920" marR="121920" marT="60960" marB="60960"/>
                </a:tc>
                <a:extLst>
                  <a:ext uri="{0D108BD9-81ED-4DB2-BD59-A6C34878D82A}">
                    <a16:rowId xmlns:a16="http://schemas.microsoft.com/office/drawing/2014/main" val="3214105056"/>
                  </a:ext>
                </a:extLst>
              </a:tr>
              <a:tr h="494453">
                <a:tc>
                  <a:txBody>
                    <a:bodyPr/>
                    <a:lstStyle/>
                    <a:p>
                      <a:r>
                        <a:rPr lang="en-US" sz="2400" dirty="0"/>
                        <a:t>Zero register </a:t>
                      </a:r>
                    </a:p>
                  </a:txBody>
                  <a:tcPr marL="121920" marR="121920" marT="60960" marB="60960"/>
                </a:tc>
                <a:tc>
                  <a:txBody>
                    <a:bodyPr/>
                    <a:lstStyle/>
                    <a:p>
                      <a:r>
                        <a:rPr lang="en-US" sz="2400" dirty="0"/>
                        <a:t>X0</a:t>
                      </a:r>
                    </a:p>
                  </a:txBody>
                  <a:tcPr marL="121920" marR="121920" marT="60960" marB="60960"/>
                </a:tc>
                <a:tc>
                  <a:txBody>
                    <a:bodyPr/>
                    <a:lstStyle/>
                    <a:p>
                      <a:endParaRPr lang="en-US" sz="2400" dirty="0"/>
                    </a:p>
                  </a:txBody>
                  <a:tcPr marL="121920" marR="121920" marT="60960" marB="60960"/>
                </a:tc>
                <a:extLst>
                  <a:ext uri="{0D108BD9-81ED-4DB2-BD59-A6C34878D82A}">
                    <a16:rowId xmlns:a16="http://schemas.microsoft.com/office/drawing/2014/main" val="2285642056"/>
                  </a:ext>
                </a:extLst>
              </a:tr>
              <a:tr h="494453">
                <a:tc>
                  <a:txBody>
                    <a:bodyPr/>
                    <a:lstStyle/>
                    <a:p>
                      <a:r>
                        <a:rPr lang="en-US" sz="2400" dirty="0"/>
                        <a:t>Return Address</a:t>
                      </a:r>
                    </a:p>
                  </a:txBody>
                  <a:tcPr marL="121920" marR="121920" marT="60960" marB="60960"/>
                </a:tc>
                <a:tc>
                  <a:txBody>
                    <a:bodyPr/>
                    <a:lstStyle/>
                    <a:p>
                      <a:r>
                        <a:rPr lang="en-US" sz="2400" dirty="0"/>
                        <a:t>X1</a:t>
                      </a:r>
                    </a:p>
                  </a:txBody>
                  <a:tcPr marL="121920" marR="121920" marT="60960" marB="60960"/>
                </a:tc>
                <a:tc>
                  <a:txBody>
                    <a:bodyPr/>
                    <a:lstStyle/>
                    <a:p>
                      <a:r>
                        <a:rPr lang="en-US" sz="2400" dirty="0"/>
                        <a:t>ra</a:t>
                      </a:r>
                    </a:p>
                  </a:txBody>
                  <a:tcPr marL="121920" marR="121920" marT="60960" marB="60960"/>
                </a:tc>
                <a:extLst>
                  <a:ext uri="{0D108BD9-81ED-4DB2-BD59-A6C34878D82A}">
                    <a16:rowId xmlns:a16="http://schemas.microsoft.com/office/drawing/2014/main" val="3602459823"/>
                  </a:ext>
                </a:extLst>
              </a:tr>
              <a:tr h="494453">
                <a:tc>
                  <a:txBody>
                    <a:bodyPr/>
                    <a:lstStyle/>
                    <a:p>
                      <a:r>
                        <a:rPr lang="en-US" sz="2400" dirty="0"/>
                        <a:t>Stack pointer</a:t>
                      </a:r>
                    </a:p>
                  </a:txBody>
                  <a:tcPr marL="121920" marR="121920" marT="60960" marB="60960"/>
                </a:tc>
                <a:tc>
                  <a:txBody>
                    <a:bodyPr/>
                    <a:lstStyle/>
                    <a:p>
                      <a:r>
                        <a:rPr lang="en-US" sz="2400" dirty="0"/>
                        <a:t>X2</a:t>
                      </a:r>
                    </a:p>
                  </a:txBody>
                  <a:tcPr marL="121920" marR="121920" marT="60960" marB="60960"/>
                </a:tc>
                <a:tc>
                  <a:txBody>
                    <a:bodyPr/>
                    <a:lstStyle/>
                    <a:p>
                      <a:r>
                        <a:rPr lang="en-US" sz="2400" dirty="0" err="1"/>
                        <a:t>sp</a:t>
                      </a:r>
                      <a:endParaRPr lang="en-US" sz="2400" dirty="0"/>
                    </a:p>
                  </a:txBody>
                  <a:tcPr marL="121920" marR="121920" marT="60960" marB="60960"/>
                </a:tc>
                <a:extLst>
                  <a:ext uri="{0D108BD9-81ED-4DB2-BD59-A6C34878D82A}">
                    <a16:rowId xmlns:a16="http://schemas.microsoft.com/office/drawing/2014/main" val="2359337686"/>
                  </a:ext>
                </a:extLst>
              </a:tr>
              <a:tr h="494453">
                <a:tc>
                  <a:txBody>
                    <a:bodyPr/>
                    <a:lstStyle/>
                    <a:p>
                      <a:r>
                        <a:rPr lang="en-US" sz="2400" dirty="0"/>
                        <a:t>Global pointer</a:t>
                      </a:r>
                    </a:p>
                  </a:txBody>
                  <a:tcPr marL="121920" marR="121920" marT="60960" marB="60960"/>
                </a:tc>
                <a:tc>
                  <a:txBody>
                    <a:bodyPr/>
                    <a:lstStyle/>
                    <a:p>
                      <a:r>
                        <a:rPr lang="en-US" sz="2400" dirty="0"/>
                        <a:t>X3</a:t>
                      </a:r>
                    </a:p>
                  </a:txBody>
                  <a:tcPr marL="121920" marR="121920" marT="60960" marB="60960"/>
                </a:tc>
                <a:tc>
                  <a:txBody>
                    <a:bodyPr/>
                    <a:lstStyle/>
                    <a:p>
                      <a:r>
                        <a:rPr lang="en-US" sz="2400" dirty="0" err="1"/>
                        <a:t>gp</a:t>
                      </a:r>
                      <a:endParaRPr lang="en-US" sz="2400" dirty="0"/>
                    </a:p>
                  </a:txBody>
                  <a:tcPr marL="121920" marR="121920" marT="60960" marB="60960"/>
                </a:tc>
                <a:extLst>
                  <a:ext uri="{0D108BD9-81ED-4DB2-BD59-A6C34878D82A}">
                    <a16:rowId xmlns:a16="http://schemas.microsoft.com/office/drawing/2014/main" val="3756952032"/>
                  </a:ext>
                </a:extLst>
              </a:tr>
              <a:tr h="494453">
                <a:tc>
                  <a:txBody>
                    <a:bodyPr/>
                    <a:lstStyle/>
                    <a:p>
                      <a:r>
                        <a:rPr lang="en-US" sz="2400" dirty="0"/>
                        <a:t>Thread pointer</a:t>
                      </a:r>
                    </a:p>
                  </a:txBody>
                  <a:tcPr marL="121920" marR="121920" marT="60960" marB="60960"/>
                </a:tc>
                <a:tc>
                  <a:txBody>
                    <a:bodyPr/>
                    <a:lstStyle/>
                    <a:p>
                      <a:r>
                        <a:rPr lang="en-US" sz="2400" dirty="0"/>
                        <a:t>X4</a:t>
                      </a:r>
                    </a:p>
                  </a:txBody>
                  <a:tcPr marL="121920" marR="121920" marT="60960" marB="60960"/>
                </a:tc>
                <a:tc>
                  <a:txBody>
                    <a:bodyPr/>
                    <a:lstStyle/>
                    <a:p>
                      <a:r>
                        <a:rPr lang="en-US" sz="2400" dirty="0" err="1"/>
                        <a:t>tp</a:t>
                      </a:r>
                      <a:endParaRPr lang="en-US" sz="2400" dirty="0"/>
                    </a:p>
                  </a:txBody>
                  <a:tcPr marL="121920" marR="121920" marT="60960" marB="60960"/>
                </a:tc>
                <a:extLst>
                  <a:ext uri="{0D108BD9-81ED-4DB2-BD59-A6C34878D82A}">
                    <a16:rowId xmlns:a16="http://schemas.microsoft.com/office/drawing/2014/main" val="2984917401"/>
                  </a:ext>
                </a:extLst>
              </a:tr>
              <a:tr h="494453">
                <a:tc>
                  <a:txBody>
                    <a:bodyPr/>
                    <a:lstStyle/>
                    <a:p>
                      <a:r>
                        <a:rPr lang="en-US" sz="2400" dirty="0"/>
                        <a:t>Temporary</a:t>
                      </a:r>
                    </a:p>
                  </a:txBody>
                  <a:tcPr marL="121920" marR="121920" marT="60960" marB="60960"/>
                </a:tc>
                <a:tc>
                  <a:txBody>
                    <a:bodyPr/>
                    <a:lstStyle/>
                    <a:p>
                      <a:r>
                        <a:rPr lang="en-US" sz="2400" dirty="0"/>
                        <a:t>X5-X7, X28-X31</a:t>
                      </a:r>
                    </a:p>
                  </a:txBody>
                  <a:tcPr marL="121920" marR="121920" marT="60960" marB="60960"/>
                </a:tc>
                <a:tc>
                  <a:txBody>
                    <a:bodyPr/>
                    <a:lstStyle/>
                    <a:p>
                      <a:r>
                        <a:rPr lang="en-US" sz="2400" dirty="0">
                          <a:solidFill>
                            <a:srgbClr val="FF0000"/>
                          </a:solidFill>
                        </a:rPr>
                        <a:t>t0-t6</a:t>
                      </a:r>
                    </a:p>
                  </a:txBody>
                  <a:tcPr marL="121920" marR="121920" marT="60960" marB="60960"/>
                </a:tc>
                <a:extLst>
                  <a:ext uri="{0D108BD9-81ED-4DB2-BD59-A6C34878D82A}">
                    <a16:rowId xmlns:a16="http://schemas.microsoft.com/office/drawing/2014/main" val="1787943509"/>
                  </a:ext>
                </a:extLst>
              </a:tr>
              <a:tr h="494453">
                <a:tc>
                  <a:txBody>
                    <a:bodyPr/>
                    <a:lstStyle/>
                    <a:p>
                      <a:r>
                        <a:rPr lang="en-US" sz="2400" dirty="0"/>
                        <a:t>Saved registers</a:t>
                      </a:r>
                    </a:p>
                  </a:txBody>
                  <a:tcPr marL="121920" marR="121920" marT="60960" marB="60960"/>
                </a:tc>
                <a:tc>
                  <a:txBody>
                    <a:bodyPr/>
                    <a:lstStyle/>
                    <a:p>
                      <a:r>
                        <a:rPr lang="en-US" sz="2400" dirty="0">
                          <a:solidFill>
                            <a:srgbClr val="00B050"/>
                          </a:solidFill>
                        </a:rPr>
                        <a:t>X8-X9, X18-X27</a:t>
                      </a:r>
                    </a:p>
                  </a:txBody>
                  <a:tcPr marL="121920" marR="121920" marT="60960" marB="60960"/>
                </a:tc>
                <a:tc>
                  <a:txBody>
                    <a:bodyPr/>
                    <a:lstStyle/>
                    <a:p>
                      <a:r>
                        <a:rPr lang="en-US" sz="2400" dirty="0"/>
                        <a:t>s0-s11</a:t>
                      </a:r>
                    </a:p>
                  </a:txBody>
                  <a:tcPr marL="121920" marR="121920" marT="60960" marB="60960"/>
                </a:tc>
                <a:extLst>
                  <a:ext uri="{0D108BD9-81ED-4DB2-BD59-A6C34878D82A}">
                    <a16:rowId xmlns:a16="http://schemas.microsoft.com/office/drawing/2014/main" val="3829943340"/>
                  </a:ext>
                </a:extLst>
              </a:tr>
              <a:tr h="853779">
                <a:tc>
                  <a:txBody>
                    <a:bodyPr/>
                    <a:lstStyle/>
                    <a:p>
                      <a:r>
                        <a:rPr lang="en-US" sz="2400" dirty="0"/>
                        <a:t>Function arguments</a:t>
                      </a:r>
                    </a:p>
                  </a:txBody>
                  <a:tcPr marL="121920" marR="121920" marT="60960" marB="60960"/>
                </a:tc>
                <a:tc>
                  <a:txBody>
                    <a:bodyPr/>
                    <a:lstStyle/>
                    <a:p>
                      <a:r>
                        <a:rPr lang="en-US" sz="2400" dirty="0"/>
                        <a:t>X10-X17</a:t>
                      </a:r>
                    </a:p>
                  </a:txBody>
                  <a:tcPr marL="121920" marR="121920" marT="60960" marB="60960"/>
                </a:tc>
                <a:tc>
                  <a:txBody>
                    <a:bodyPr/>
                    <a:lstStyle/>
                    <a:p>
                      <a:r>
                        <a:rPr lang="en-US" sz="2400" dirty="0">
                          <a:solidFill>
                            <a:srgbClr val="FF0000"/>
                          </a:solidFill>
                        </a:rPr>
                        <a:t>a0-a7</a:t>
                      </a:r>
                    </a:p>
                  </a:txBody>
                  <a:tcPr marL="121920" marR="121920" marT="60960" marB="60960"/>
                </a:tc>
                <a:extLst>
                  <a:ext uri="{0D108BD9-81ED-4DB2-BD59-A6C34878D82A}">
                    <a16:rowId xmlns:a16="http://schemas.microsoft.com/office/drawing/2014/main" val="1256411330"/>
                  </a:ext>
                </a:extLst>
              </a:tr>
            </a:tbl>
          </a:graphicData>
        </a:graphic>
      </p:graphicFrame>
      <p:sp>
        <p:nvSpPr>
          <p:cNvPr id="3" name="TextBox 2">
            <a:extLst>
              <a:ext uri="{FF2B5EF4-FFF2-40B4-BE49-F238E27FC236}">
                <a16:creationId xmlns:a16="http://schemas.microsoft.com/office/drawing/2014/main" id="{754D7C50-3072-4421-9ADF-0A7E555A34E2}"/>
              </a:ext>
            </a:extLst>
          </p:cNvPr>
          <p:cNvSpPr txBox="1"/>
          <p:nvPr/>
        </p:nvSpPr>
        <p:spPr>
          <a:xfrm>
            <a:off x="10406897" y="4174521"/>
            <a:ext cx="1726755" cy="461665"/>
          </a:xfrm>
          <a:prstGeom prst="rect">
            <a:avLst/>
          </a:prstGeom>
          <a:noFill/>
        </p:spPr>
        <p:txBody>
          <a:bodyPr wrap="none" rtlCol="0" anchor="ctr" anchorCtr="1">
            <a:spAutoFit/>
          </a:bodyPr>
          <a:lstStyle/>
          <a:p>
            <a:r>
              <a:rPr lang="en-US" sz="2400" dirty="0">
                <a:solidFill>
                  <a:srgbClr val="FF0000"/>
                </a:solidFill>
                <a:ea typeface="標楷體" pitchFamily="65" charset="-120"/>
                <a:cs typeface="Calibri" panose="020F0502020204030204" pitchFamily="34" charset="0"/>
              </a:rPr>
              <a:t>Caller save</a:t>
            </a:r>
          </a:p>
        </p:txBody>
      </p:sp>
      <p:cxnSp>
        <p:nvCxnSpPr>
          <p:cNvPr id="5" name="Straight Arrow Connector 4">
            <a:extLst>
              <a:ext uri="{FF2B5EF4-FFF2-40B4-BE49-F238E27FC236}">
                <a16:creationId xmlns:a16="http://schemas.microsoft.com/office/drawing/2014/main" id="{CBA5FE2F-3022-4381-B3DB-57E7959DF167}"/>
              </a:ext>
            </a:extLst>
          </p:cNvPr>
          <p:cNvCxnSpPr>
            <a:cxnSpLocks/>
            <a:stCxn id="3" idx="1"/>
          </p:cNvCxnSpPr>
          <p:nvPr/>
        </p:nvCxnSpPr>
        <p:spPr bwMode="auto">
          <a:xfrm flipH="1">
            <a:off x="8846820" y="4405354"/>
            <a:ext cx="1560077" cy="349526"/>
          </a:xfrm>
          <a:prstGeom prst="straightConnector1">
            <a:avLst/>
          </a:prstGeom>
          <a:noFill/>
          <a:ln w="15875" cap="flat" cmpd="sng" algn="ctr">
            <a:solidFill>
              <a:srgbClr val="FF0000"/>
            </a:solidFill>
            <a:prstDash val="solid"/>
            <a:round/>
            <a:headEnd type="none" w="med" len="med"/>
            <a:tailEnd type="triangle"/>
          </a:ln>
        </p:spPr>
      </p:cxnSp>
      <p:cxnSp>
        <p:nvCxnSpPr>
          <p:cNvPr id="11" name="Straight Arrow Connector 10">
            <a:extLst>
              <a:ext uri="{FF2B5EF4-FFF2-40B4-BE49-F238E27FC236}">
                <a16:creationId xmlns:a16="http://schemas.microsoft.com/office/drawing/2014/main" id="{DC222273-83AE-4CA9-A535-E710FC43031F}"/>
              </a:ext>
            </a:extLst>
          </p:cNvPr>
          <p:cNvCxnSpPr>
            <a:cxnSpLocks/>
            <a:stCxn id="3" idx="1"/>
          </p:cNvCxnSpPr>
          <p:nvPr/>
        </p:nvCxnSpPr>
        <p:spPr bwMode="auto">
          <a:xfrm flipH="1">
            <a:off x="8961120" y="4405354"/>
            <a:ext cx="1445777" cy="1389656"/>
          </a:xfrm>
          <a:prstGeom prst="straightConnector1">
            <a:avLst/>
          </a:prstGeom>
          <a:noFill/>
          <a:ln w="15875" cap="flat" cmpd="sng" algn="ctr">
            <a:solidFill>
              <a:srgbClr val="FF0000"/>
            </a:solidFill>
            <a:prstDash val="solid"/>
            <a:round/>
            <a:headEnd type="none" w="med" len="med"/>
            <a:tailEnd type="triangle"/>
          </a:ln>
        </p:spPr>
      </p:cxnSp>
      <p:sp>
        <p:nvSpPr>
          <p:cNvPr id="12" name="TextBox 11">
            <a:extLst>
              <a:ext uri="{FF2B5EF4-FFF2-40B4-BE49-F238E27FC236}">
                <a16:creationId xmlns:a16="http://schemas.microsoft.com/office/drawing/2014/main" id="{864D7CA0-73C8-4EF1-927F-4AC9DAC8D461}"/>
              </a:ext>
            </a:extLst>
          </p:cNvPr>
          <p:cNvSpPr txBox="1"/>
          <p:nvPr/>
        </p:nvSpPr>
        <p:spPr>
          <a:xfrm>
            <a:off x="0" y="3913840"/>
            <a:ext cx="1795684" cy="461665"/>
          </a:xfrm>
          <a:prstGeom prst="rect">
            <a:avLst/>
          </a:prstGeom>
          <a:noFill/>
        </p:spPr>
        <p:txBody>
          <a:bodyPr wrap="none" rtlCol="0" anchor="ctr" anchorCtr="1">
            <a:spAutoFit/>
          </a:bodyPr>
          <a:lstStyle/>
          <a:p>
            <a:r>
              <a:rPr lang="en-US" sz="2400" dirty="0">
                <a:solidFill>
                  <a:srgbClr val="00B050"/>
                </a:solidFill>
                <a:ea typeface="標楷體" pitchFamily="65" charset="-120"/>
                <a:cs typeface="Calibri" panose="020F0502020204030204" pitchFamily="34" charset="0"/>
              </a:rPr>
              <a:t>Callee save</a:t>
            </a:r>
          </a:p>
        </p:txBody>
      </p:sp>
      <p:cxnSp>
        <p:nvCxnSpPr>
          <p:cNvPr id="14" name="Straight Arrow Connector 13">
            <a:extLst>
              <a:ext uri="{FF2B5EF4-FFF2-40B4-BE49-F238E27FC236}">
                <a16:creationId xmlns:a16="http://schemas.microsoft.com/office/drawing/2014/main" id="{99DFA532-A6C4-4BF0-BAF1-B2F54EFB96FA}"/>
              </a:ext>
            </a:extLst>
          </p:cNvPr>
          <p:cNvCxnSpPr>
            <a:cxnSpLocks/>
          </p:cNvCxnSpPr>
          <p:nvPr/>
        </p:nvCxnSpPr>
        <p:spPr bwMode="auto">
          <a:xfrm>
            <a:off x="1948084" y="4297073"/>
            <a:ext cx="6262466" cy="922627"/>
          </a:xfrm>
          <a:prstGeom prst="straightConnector1">
            <a:avLst/>
          </a:prstGeom>
          <a:noFill/>
          <a:ln w="15875" cap="flat" cmpd="sng" algn="ctr">
            <a:solidFill>
              <a:srgbClr val="FF0000"/>
            </a:solidFill>
            <a:prstDash val="solid"/>
            <a:round/>
            <a:headEnd type="none" w="med" len="med"/>
            <a:tailEnd type="triangle"/>
          </a:ln>
        </p:spPr>
      </p:cxnSp>
      <p:cxnSp>
        <p:nvCxnSpPr>
          <p:cNvPr id="13" name="Straight Arrow Connector 12">
            <a:extLst>
              <a:ext uri="{FF2B5EF4-FFF2-40B4-BE49-F238E27FC236}">
                <a16:creationId xmlns:a16="http://schemas.microsoft.com/office/drawing/2014/main" id="{280FD3A5-6F5E-42DA-9ECA-93678E1293BF}"/>
              </a:ext>
            </a:extLst>
          </p:cNvPr>
          <p:cNvCxnSpPr>
            <a:cxnSpLocks/>
          </p:cNvCxnSpPr>
          <p:nvPr/>
        </p:nvCxnSpPr>
        <p:spPr bwMode="auto">
          <a:xfrm>
            <a:off x="1948084" y="4297073"/>
            <a:ext cx="3542126" cy="1090267"/>
          </a:xfrm>
          <a:prstGeom prst="straightConnector1">
            <a:avLst/>
          </a:prstGeom>
          <a:noFill/>
          <a:ln w="15875" cap="flat" cmpd="sng" algn="ctr">
            <a:solidFill>
              <a:srgbClr val="FF0000"/>
            </a:solidFill>
            <a:prstDash val="solid"/>
            <a:round/>
            <a:headEnd type="none" w="med" len="med"/>
            <a:tailEnd type="triangle"/>
          </a:ln>
        </p:spPr>
      </p:cxnSp>
    </p:spTree>
    <p:extLst>
      <p:ext uri="{BB962C8B-B14F-4D97-AF65-F5344CB8AC3E}">
        <p14:creationId xmlns:p14="http://schemas.microsoft.com/office/powerpoint/2010/main" val="149641394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Calling GCD (Using the ABI)</a:t>
            </a:r>
          </a:p>
        </p:txBody>
      </p:sp>
      <p:sp>
        <p:nvSpPr>
          <p:cNvPr id="3" name="Content Placeholder 2"/>
          <p:cNvSpPr>
            <a:spLocks noGrp="1"/>
          </p:cNvSpPr>
          <p:nvPr>
            <p:ph idx="1"/>
          </p:nvPr>
        </p:nvSpPr>
        <p:spPr>
          <a:xfrm>
            <a:off x="1407588" y="1356964"/>
            <a:ext cx="10160000" cy="4628857"/>
          </a:xfrm>
          <a:solidFill>
            <a:schemeClr val="accent2">
              <a:lumMod val="40000"/>
              <a:lumOff val="60000"/>
            </a:schemeClr>
          </a:solidFill>
        </p:spPr>
        <p:txBody>
          <a:bodyPr/>
          <a:lstStyle/>
          <a:p>
            <a:pPr marL="0" indent="0">
              <a:spcBef>
                <a:spcPts val="300"/>
              </a:spcBef>
              <a:buNone/>
            </a:pPr>
            <a:r>
              <a:rPr lang="en-US" sz="2000" dirty="0">
                <a:latin typeface="Courier New" panose="02070309020205020404" pitchFamily="49" charset="0"/>
                <a:cs typeface="Courier New" panose="02070309020205020404" pitchFamily="49" charset="0"/>
              </a:rPr>
              <a:t>  // assume we want to do the </a:t>
            </a:r>
            <a:r>
              <a:rPr lang="en-US" sz="2000" dirty="0" err="1">
                <a:latin typeface="Courier New" panose="02070309020205020404" pitchFamily="49" charset="0"/>
                <a:cs typeface="Courier New" panose="02070309020205020404" pitchFamily="49" charset="0"/>
              </a:rPr>
              <a:t>gcd</a:t>
            </a:r>
            <a:r>
              <a:rPr lang="en-US" sz="2000" dirty="0">
                <a:latin typeface="Courier New" panose="02070309020205020404" pitchFamily="49" charset="0"/>
                <a:cs typeface="Courier New" panose="02070309020205020404" pitchFamily="49" charset="0"/>
              </a:rPr>
              <a:t> of s0 and s1</a:t>
            </a:r>
          </a:p>
          <a:p>
            <a:pPr marL="0" indent="0">
              <a:spcBef>
                <a:spcPts val="300"/>
              </a:spcBef>
              <a:buNone/>
            </a:pPr>
            <a:r>
              <a:rPr lang="en-US" sz="2000" dirty="0">
                <a:latin typeface="Courier New" panose="02070309020205020404" pitchFamily="49" charset="0"/>
                <a:cs typeface="Courier New" panose="02070309020205020404" pitchFamily="49" charset="0"/>
              </a:rPr>
              <a:t>  // and put the result in s2</a:t>
            </a:r>
          </a:p>
          <a:p>
            <a:pPr marL="0" indent="0">
              <a:spcBef>
                <a:spcPts val="300"/>
              </a:spcBef>
              <a:buNone/>
            </a:pPr>
            <a:r>
              <a:rPr lang="en-US" sz="2000" dirty="0">
                <a:latin typeface="Courier New" panose="02070309020205020404" pitchFamily="49" charset="0"/>
                <a:cs typeface="Courier New" panose="02070309020205020404" pitchFamily="49" charset="0"/>
              </a:rPr>
              <a:t>  mv a0, s0</a:t>
            </a:r>
          </a:p>
          <a:p>
            <a:pPr marL="0" indent="0">
              <a:spcBef>
                <a:spcPts val="300"/>
              </a:spcBef>
              <a:buNone/>
            </a:pPr>
            <a:r>
              <a:rPr lang="en-US" sz="2000" dirty="0">
                <a:latin typeface="Courier New" panose="02070309020205020404" pitchFamily="49" charset="0"/>
                <a:cs typeface="Courier New" panose="02070309020205020404" pitchFamily="49" charset="0"/>
              </a:rPr>
              <a:t>  mv a1, s1</a:t>
            </a:r>
          </a:p>
          <a:p>
            <a:pPr marL="0" indent="0">
              <a:spcBef>
                <a:spcPts val="300"/>
              </a:spcBef>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addi</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sp</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sp</a:t>
            </a:r>
            <a:r>
              <a:rPr lang="en-US" sz="2000" dirty="0">
                <a:latin typeface="Courier New" panose="02070309020205020404" pitchFamily="49" charset="0"/>
                <a:cs typeface="Courier New" panose="02070309020205020404" pitchFamily="49" charset="0"/>
              </a:rPr>
              <a:t>, -8 // allocate stack space for saving registers </a:t>
            </a:r>
          </a:p>
          <a:p>
            <a:pPr marL="0" indent="0">
              <a:spcBef>
                <a:spcPts val="300"/>
              </a:spcBef>
              <a:buNone/>
            </a:pPr>
            <a:r>
              <a:rPr lang="en-US" sz="2000" dirty="0">
                <a:latin typeface="Courier New" panose="02070309020205020404" pitchFamily="49" charset="0"/>
                <a:cs typeface="Courier New" panose="02070309020205020404" pitchFamily="49" charset="0"/>
              </a:rPr>
              <a:t>			in the stack as needed by the caller</a:t>
            </a:r>
          </a:p>
          <a:p>
            <a:pPr marL="0" indent="0">
              <a:spcBef>
                <a:spcPts val="300"/>
              </a:spcBef>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sw</a:t>
            </a:r>
            <a:r>
              <a:rPr lang="en-US" sz="2000" dirty="0">
                <a:latin typeface="Courier New" panose="02070309020205020404" pitchFamily="49" charset="0"/>
                <a:cs typeface="Courier New" panose="02070309020205020404" pitchFamily="49" charset="0"/>
              </a:rPr>
              <a:t> t0, 4(</a:t>
            </a:r>
            <a:r>
              <a:rPr lang="en-US" sz="2000" dirty="0" err="1">
                <a:latin typeface="Courier New" panose="02070309020205020404" pitchFamily="49" charset="0"/>
                <a:cs typeface="Courier New" panose="02070309020205020404" pitchFamily="49" charset="0"/>
              </a:rPr>
              <a:t>sp</a:t>
            </a:r>
            <a:r>
              <a:rPr lang="en-US" sz="2000" dirty="0">
                <a:latin typeface="Courier New" panose="02070309020205020404" pitchFamily="49" charset="0"/>
                <a:cs typeface="Courier New" panose="02070309020205020404" pitchFamily="49" charset="0"/>
              </a:rPr>
              <a:t>)</a:t>
            </a:r>
          </a:p>
          <a:p>
            <a:pPr marL="0" indent="0">
              <a:spcBef>
                <a:spcPts val="300"/>
              </a:spcBef>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sw</a:t>
            </a:r>
            <a:r>
              <a:rPr lang="en-US" sz="2000" dirty="0">
                <a:latin typeface="Courier New" panose="02070309020205020404" pitchFamily="49" charset="0"/>
                <a:cs typeface="Courier New" panose="02070309020205020404" pitchFamily="49" charset="0"/>
              </a:rPr>
              <a:t> t1, 0(</a:t>
            </a:r>
            <a:r>
              <a:rPr lang="en-US" sz="2000" dirty="0" err="1">
                <a:latin typeface="Courier New" panose="02070309020205020404" pitchFamily="49" charset="0"/>
                <a:cs typeface="Courier New" panose="02070309020205020404" pitchFamily="49" charset="0"/>
              </a:rPr>
              <a:t>sp</a:t>
            </a:r>
            <a:r>
              <a:rPr lang="en-US" sz="2000" dirty="0">
                <a:latin typeface="Courier New" panose="02070309020205020404" pitchFamily="49" charset="0"/>
                <a:cs typeface="Courier New" panose="02070309020205020404" pitchFamily="49" charset="0"/>
              </a:rPr>
              <a:t>)</a:t>
            </a:r>
          </a:p>
          <a:p>
            <a:pPr marL="0" indent="0">
              <a:spcBef>
                <a:spcPts val="300"/>
              </a:spcBef>
              <a:buNone/>
            </a:pPr>
            <a:r>
              <a:rPr lang="en-US" sz="2000"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jal</a:t>
            </a:r>
            <a:r>
              <a:rPr lang="en-US" sz="2400" b="1"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gcd</a:t>
            </a:r>
            <a:r>
              <a:rPr lang="en-US" sz="2400" b="1" dirty="0">
                <a:latin typeface="Courier New" panose="02070309020205020404" pitchFamily="49" charset="0"/>
                <a:cs typeface="Courier New" panose="02070309020205020404" pitchFamily="49" charset="0"/>
              </a:rPr>
              <a:t> // call the </a:t>
            </a:r>
            <a:r>
              <a:rPr lang="en-US" sz="2400" b="1" dirty="0" err="1">
                <a:latin typeface="Courier New" panose="02070309020205020404" pitchFamily="49" charset="0"/>
                <a:cs typeface="Courier New" panose="02070309020205020404" pitchFamily="49" charset="0"/>
              </a:rPr>
              <a:t>gcd</a:t>
            </a:r>
            <a:r>
              <a:rPr lang="en-US" sz="2400" b="1" dirty="0">
                <a:latin typeface="Courier New" panose="02070309020205020404" pitchFamily="49" charset="0"/>
                <a:cs typeface="Courier New" panose="02070309020205020404" pitchFamily="49" charset="0"/>
              </a:rPr>
              <a:t> function</a:t>
            </a:r>
          </a:p>
          <a:p>
            <a:pPr marL="0" indent="0">
              <a:spcBef>
                <a:spcPts val="300"/>
              </a:spcBef>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lw</a:t>
            </a:r>
            <a:r>
              <a:rPr lang="en-US" sz="2000" dirty="0">
                <a:latin typeface="Courier New" panose="02070309020205020404" pitchFamily="49" charset="0"/>
                <a:cs typeface="Courier New" panose="02070309020205020404" pitchFamily="49" charset="0"/>
              </a:rPr>
              <a:t> t0, 4(</a:t>
            </a:r>
            <a:r>
              <a:rPr lang="en-US" sz="2000" dirty="0" err="1">
                <a:latin typeface="Courier New" panose="02070309020205020404" pitchFamily="49" charset="0"/>
                <a:cs typeface="Courier New" panose="02070309020205020404" pitchFamily="49" charset="0"/>
              </a:rPr>
              <a:t>sp</a:t>
            </a:r>
            <a:r>
              <a:rPr lang="en-US" sz="2000" dirty="0">
                <a:latin typeface="Courier New" panose="02070309020205020404" pitchFamily="49" charset="0"/>
                <a:cs typeface="Courier New" panose="02070309020205020404" pitchFamily="49" charset="0"/>
              </a:rPr>
              <a:t>) // restoring caller-saved registers</a:t>
            </a:r>
          </a:p>
          <a:p>
            <a:pPr marL="0" indent="0">
              <a:spcBef>
                <a:spcPts val="300"/>
              </a:spcBef>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lw</a:t>
            </a:r>
            <a:r>
              <a:rPr lang="en-US" sz="2000" dirty="0">
                <a:latin typeface="Courier New" panose="02070309020205020404" pitchFamily="49" charset="0"/>
                <a:cs typeface="Courier New" panose="02070309020205020404" pitchFamily="49" charset="0"/>
              </a:rPr>
              <a:t> t1, 0(</a:t>
            </a:r>
            <a:r>
              <a:rPr lang="en-US" sz="2000" dirty="0" err="1">
                <a:latin typeface="Courier New" panose="02070309020205020404" pitchFamily="49" charset="0"/>
                <a:cs typeface="Courier New" panose="02070309020205020404" pitchFamily="49" charset="0"/>
              </a:rPr>
              <a:t>sp</a:t>
            </a:r>
            <a:r>
              <a:rPr lang="en-US" sz="2000" dirty="0">
                <a:latin typeface="Courier New" panose="02070309020205020404" pitchFamily="49" charset="0"/>
                <a:cs typeface="Courier New" panose="02070309020205020404" pitchFamily="49" charset="0"/>
              </a:rPr>
              <a:t>)</a:t>
            </a:r>
          </a:p>
          <a:p>
            <a:pPr marL="0" indent="0">
              <a:spcBef>
                <a:spcPts val="300"/>
              </a:spcBef>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addi</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sp</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sp</a:t>
            </a:r>
            <a:r>
              <a:rPr lang="en-US" sz="2000" dirty="0">
                <a:latin typeface="Courier New" panose="02070309020205020404" pitchFamily="49" charset="0"/>
                <a:cs typeface="Courier New" panose="02070309020205020404" pitchFamily="49" charset="0"/>
              </a:rPr>
              <a:t>, 8 // pop off the stack space</a:t>
            </a:r>
          </a:p>
          <a:p>
            <a:pPr marL="0" indent="0">
              <a:spcBef>
                <a:spcPts val="300"/>
              </a:spcBef>
              <a:buNone/>
            </a:pPr>
            <a:r>
              <a:rPr lang="en-US" sz="2000" dirty="0">
                <a:latin typeface="Courier New" panose="02070309020205020404" pitchFamily="49" charset="0"/>
                <a:cs typeface="Courier New" panose="02070309020205020404" pitchFamily="49" charset="0"/>
              </a:rPr>
              <a:t>  mv s2, a0</a:t>
            </a:r>
          </a:p>
        </p:txBody>
      </p:sp>
      <p:sp>
        <p:nvSpPr>
          <p:cNvPr id="4" name="Date Placeholder 3"/>
          <p:cNvSpPr>
            <a:spLocks noGrp="1"/>
          </p:cNvSpPr>
          <p:nvPr>
            <p:ph type="dt" sz="half" idx="10"/>
          </p:nvPr>
        </p:nvSpPr>
        <p:spPr/>
        <p:txBody>
          <a:bodyPr/>
          <a:lstStyle/>
          <a:p>
            <a:pPr>
              <a:defRPr/>
            </a:pPr>
            <a:r>
              <a:rPr lang="en-US"/>
              <a:t>September 27, 2017</a:t>
            </a:r>
            <a:endParaRPr lang="en-US" dirty="0"/>
          </a:p>
        </p:txBody>
      </p:sp>
      <p:sp>
        <p:nvSpPr>
          <p:cNvPr id="5" name="Footer Placeholder 4"/>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7" name="Slide Number Placeholder 6"/>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73</a:t>
            </a:fld>
            <a:endParaRPr lang="en-US" dirty="0"/>
          </a:p>
        </p:txBody>
      </p:sp>
      <p:sp>
        <p:nvSpPr>
          <p:cNvPr id="12" name="TextBox 11"/>
          <p:cNvSpPr txBox="1"/>
          <p:nvPr/>
        </p:nvSpPr>
        <p:spPr>
          <a:xfrm>
            <a:off x="3514726" y="2182998"/>
            <a:ext cx="4979248" cy="420564"/>
          </a:xfrm>
          <a:prstGeom prst="rect">
            <a:avLst/>
          </a:prstGeom>
          <a:noFill/>
        </p:spPr>
        <p:txBody>
          <a:bodyPr wrap="none" rtlCol="0">
            <a:spAutoFit/>
          </a:bodyPr>
          <a:lstStyle/>
          <a:p>
            <a:r>
              <a:rPr lang="en-US" sz="2133" b="1" dirty="0">
                <a:latin typeface="Comic Sans MS" panose="030F0702030302020204" pitchFamily="66" charset="0"/>
              </a:rPr>
              <a:t>preparing arguments in a0, a1, etc.</a:t>
            </a:r>
          </a:p>
        </p:txBody>
      </p:sp>
      <p:sp>
        <p:nvSpPr>
          <p:cNvPr id="13" name="TextBox 12"/>
          <p:cNvSpPr txBox="1"/>
          <p:nvPr/>
        </p:nvSpPr>
        <p:spPr>
          <a:xfrm>
            <a:off x="3820037" y="3560289"/>
            <a:ext cx="2286203" cy="420564"/>
          </a:xfrm>
          <a:prstGeom prst="rect">
            <a:avLst/>
          </a:prstGeom>
          <a:noFill/>
        </p:spPr>
        <p:txBody>
          <a:bodyPr wrap="none" rtlCol="0">
            <a:spAutoFit/>
          </a:bodyPr>
          <a:lstStyle/>
          <a:p>
            <a:r>
              <a:rPr lang="en-US" sz="2133" b="1" dirty="0">
                <a:latin typeface="Comic Sans MS" panose="030F0702030302020204" pitchFamily="66" charset="0"/>
              </a:rPr>
              <a:t>Temporary save</a:t>
            </a:r>
          </a:p>
        </p:txBody>
      </p:sp>
      <p:sp>
        <p:nvSpPr>
          <p:cNvPr id="9" name="TextBox 8">
            <a:extLst>
              <a:ext uri="{FF2B5EF4-FFF2-40B4-BE49-F238E27FC236}">
                <a16:creationId xmlns:a16="http://schemas.microsoft.com/office/drawing/2014/main" id="{01CE6419-DE09-4804-B8F1-64FE71FD407F}"/>
              </a:ext>
            </a:extLst>
          </p:cNvPr>
          <p:cNvSpPr txBox="1"/>
          <p:nvPr/>
        </p:nvSpPr>
        <p:spPr>
          <a:xfrm>
            <a:off x="5543551" y="4788282"/>
            <a:ext cx="2688557" cy="420564"/>
          </a:xfrm>
          <a:prstGeom prst="rect">
            <a:avLst/>
          </a:prstGeom>
          <a:noFill/>
        </p:spPr>
        <p:txBody>
          <a:bodyPr wrap="none" rtlCol="0">
            <a:spAutoFit/>
          </a:bodyPr>
          <a:lstStyle/>
          <a:p>
            <a:r>
              <a:rPr lang="en-US" sz="2133" b="1" dirty="0">
                <a:latin typeface="Comic Sans MS" panose="030F0702030302020204" pitchFamily="66" charset="0"/>
              </a:rPr>
              <a:t>Temporary restore</a:t>
            </a:r>
          </a:p>
        </p:txBody>
      </p:sp>
    </p:spTree>
    <p:extLst>
      <p:ext uri="{BB962C8B-B14F-4D97-AF65-F5344CB8AC3E}">
        <p14:creationId xmlns:p14="http://schemas.microsoft.com/office/powerpoint/2010/main" val="3776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9"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GCD in RISC-V Assembler</a:t>
            </a:r>
            <a:br>
              <a:rPr lang="en-US" dirty="0"/>
            </a:br>
            <a:r>
              <a:rPr lang="en-US" sz="2400" dirty="0"/>
              <a:t>Using the ABI</a:t>
            </a:r>
            <a:endParaRPr lang="en-US" sz="3600" dirty="0"/>
          </a:p>
        </p:txBody>
      </p:sp>
      <p:sp>
        <p:nvSpPr>
          <p:cNvPr id="3" name="Content Placeholder 2"/>
          <p:cNvSpPr>
            <a:spLocks noGrp="1"/>
          </p:cNvSpPr>
          <p:nvPr>
            <p:ph idx="1"/>
          </p:nvPr>
        </p:nvSpPr>
        <p:spPr>
          <a:xfrm>
            <a:off x="2105026" y="1533819"/>
            <a:ext cx="8161607" cy="4847932"/>
          </a:xfrm>
          <a:solidFill>
            <a:schemeClr val="accent2">
              <a:lumMod val="40000"/>
              <a:lumOff val="60000"/>
            </a:schemeClr>
          </a:solidFill>
        </p:spPr>
        <p:txBody>
          <a:bodyPr/>
          <a:lstStyle/>
          <a:p>
            <a:pPr marL="0" indent="0">
              <a:spcBef>
                <a:spcPts val="300"/>
              </a:spcBef>
              <a:buNone/>
            </a:pPr>
            <a:r>
              <a:rPr lang="en-US" sz="2000" dirty="0">
                <a:latin typeface="Courier New" panose="02070309020205020404" pitchFamily="49" charset="0"/>
                <a:cs typeface="Courier New" panose="02070309020205020404" pitchFamily="49" charset="0"/>
              </a:rPr>
              <a:t>// a: a0, b: a1, t: t0</a:t>
            </a:r>
          </a:p>
          <a:p>
            <a:pPr marL="0" indent="0">
              <a:spcBef>
                <a:spcPts val="300"/>
              </a:spcBef>
              <a:buNone/>
            </a:pPr>
            <a:r>
              <a:rPr lang="en-US" sz="2000" dirty="0" err="1">
                <a:latin typeface="Courier New" panose="02070309020205020404" pitchFamily="49" charset="0"/>
                <a:cs typeface="Courier New" panose="02070309020205020404" pitchFamily="49" charset="0"/>
              </a:rPr>
              <a:t>gcd</a:t>
            </a:r>
            <a:r>
              <a:rPr lang="en-US" sz="2000" dirty="0">
                <a:latin typeface="Courier New" panose="02070309020205020404" pitchFamily="49" charset="0"/>
                <a:cs typeface="Courier New" panose="02070309020205020404" pitchFamily="49" charset="0"/>
              </a:rPr>
              <a:t>:</a:t>
            </a:r>
          </a:p>
          <a:p>
            <a:pPr marL="0" indent="0">
              <a:spcBef>
                <a:spcPts val="300"/>
              </a:spcBef>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beqz</a:t>
            </a:r>
            <a:r>
              <a:rPr lang="en-US" sz="2000" dirty="0">
                <a:latin typeface="Courier New" panose="02070309020205020404" pitchFamily="49" charset="0"/>
                <a:cs typeface="Courier New" panose="02070309020205020404" pitchFamily="49" charset="0"/>
              </a:rPr>
              <a:t> a0, done</a:t>
            </a:r>
          </a:p>
          <a:p>
            <a:pPr marL="0" indent="0">
              <a:spcBef>
                <a:spcPts val="300"/>
              </a:spcBef>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blt</a:t>
            </a:r>
            <a:r>
              <a:rPr lang="en-US" sz="2000" dirty="0">
                <a:latin typeface="Courier New" panose="02070309020205020404" pitchFamily="49" charset="0"/>
                <a:cs typeface="Courier New" panose="02070309020205020404" pitchFamily="49" charset="0"/>
              </a:rPr>
              <a:t> a0, a1, </a:t>
            </a:r>
            <a:r>
              <a:rPr lang="en-US" sz="2000" dirty="0" err="1">
                <a:latin typeface="Courier New" panose="02070309020205020404" pitchFamily="49" charset="0"/>
                <a:cs typeface="Courier New" panose="02070309020205020404" pitchFamily="49" charset="0"/>
              </a:rPr>
              <a:t>b_bigger</a:t>
            </a:r>
            <a:endParaRPr lang="en-US" sz="2000" dirty="0">
              <a:latin typeface="Courier New" panose="02070309020205020404" pitchFamily="49" charset="0"/>
              <a:cs typeface="Courier New" panose="02070309020205020404" pitchFamily="49" charset="0"/>
            </a:endParaRPr>
          </a:p>
          <a:p>
            <a:pPr marL="0" indent="0">
              <a:spcBef>
                <a:spcPts val="300"/>
              </a:spcBef>
              <a:buNone/>
            </a:pPr>
            <a:r>
              <a:rPr lang="en-US" sz="2000" dirty="0">
                <a:latin typeface="Courier New" panose="02070309020205020404" pitchFamily="49" charset="0"/>
                <a:cs typeface="Courier New" panose="02070309020205020404" pitchFamily="49" charset="0"/>
              </a:rPr>
              <a:t>  sub a0, a0, a1</a:t>
            </a:r>
          </a:p>
          <a:p>
            <a:pPr marL="0" indent="0">
              <a:spcBef>
                <a:spcPts val="300"/>
              </a:spcBef>
              <a:buNone/>
            </a:pPr>
            <a:r>
              <a:rPr lang="en-US" sz="2000" dirty="0">
                <a:latin typeface="Courier New" panose="02070309020205020404" pitchFamily="49" charset="0"/>
                <a:cs typeface="Courier New" panose="02070309020205020404" pitchFamily="49" charset="0"/>
              </a:rPr>
              <a:t>  j </a:t>
            </a:r>
            <a:r>
              <a:rPr lang="en-US" sz="2000" dirty="0" err="1">
                <a:latin typeface="Courier New" panose="02070309020205020404" pitchFamily="49" charset="0"/>
                <a:cs typeface="Courier New" panose="02070309020205020404" pitchFamily="49" charset="0"/>
              </a:rPr>
              <a:t>gcd</a:t>
            </a:r>
            <a:endParaRPr lang="en-US" sz="2000" dirty="0">
              <a:latin typeface="Courier New" panose="02070309020205020404" pitchFamily="49" charset="0"/>
              <a:cs typeface="Courier New" panose="02070309020205020404" pitchFamily="49" charset="0"/>
            </a:endParaRPr>
          </a:p>
          <a:p>
            <a:pPr marL="0" indent="0">
              <a:spcBef>
                <a:spcPts val="300"/>
              </a:spcBef>
              <a:buNone/>
            </a:pPr>
            <a:r>
              <a:rPr lang="en-US" sz="2000" dirty="0" err="1">
                <a:latin typeface="Courier New" panose="02070309020205020404" pitchFamily="49" charset="0"/>
                <a:cs typeface="Courier New" panose="02070309020205020404" pitchFamily="49" charset="0"/>
              </a:rPr>
              <a:t>b_bigger</a:t>
            </a:r>
            <a:r>
              <a:rPr lang="en-US" sz="2000" dirty="0">
                <a:latin typeface="Courier New" panose="02070309020205020404" pitchFamily="49" charset="0"/>
                <a:cs typeface="Courier New" panose="02070309020205020404" pitchFamily="49" charset="0"/>
              </a:rPr>
              <a:t>:</a:t>
            </a:r>
          </a:p>
          <a:p>
            <a:pPr marL="0" indent="0">
              <a:spcBef>
                <a:spcPts val="300"/>
              </a:spcBef>
              <a:buNone/>
            </a:pPr>
            <a:r>
              <a:rPr lang="en-US" sz="2000" dirty="0">
                <a:latin typeface="Courier New" panose="02070309020205020404" pitchFamily="49" charset="0"/>
                <a:cs typeface="Courier New" panose="02070309020205020404" pitchFamily="49" charset="0"/>
              </a:rPr>
              <a:t>  mv t0, a0 </a:t>
            </a:r>
          </a:p>
          <a:p>
            <a:pPr marL="0" indent="0">
              <a:spcBef>
                <a:spcPts val="300"/>
              </a:spcBef>
              <a:buNone/>
            </a:pPr>
            <a:r>
              <a:rPr lang="en-US" sz="2000" dirty="0">
                <a:latin typeface="Courier New" panose="02070309020205020404" pitchFamily="49" charset="0"/>
                <a:cs typeface="Courier New" panose="02070309020205020404" pitchFamily="49" charset="0"/>
              </a:rPr>
              <a:t>  mv a0, a1</a:t>
            </a:r>
          </a:p>
          <a:p>
            <a:pPr marL="0" indent="0">
              <a:spcBef>
                <a:spcPts val="300"/>
              </a:spcBef>
              <a:buNone/>
            </a:pPr>
            <a:r>
              <a:rPr lang="en-US" sz="2000" dirty="0">
                <a:latin typeface="Courier New" panose="02070309020205020404" pitchFamily="49" charset="0"/>
                <a:cs typeface="Courier New" panose="02070309020205020404" pitchFamily="49" charset="0"/>
              </a:rPr>
              <a:t>  mv a1, t0</a:t>
            </a:r>
          </a:p>
          <a:p>
            <a:pPr marL="0" indent="0">
              <a:spcBef>
                <a:spcPts val="300"/>
              </a:spcBef>
              <a:buNone/>
            </a:pPr>
            <a:r>
              <a:rPr lang="en-US" sz="2000" dirty="0">
                <a:latin typeface="Courier New" panose="02070309020205020404" pitchFamily="49" charset="0"/>
                <a:cs typeface="Courier New" panose="02070309020205020404" pitchFamily="49" charset="0"/>
              </a:rPr>
              <a:t>  j </a:t>
            </a:r>
            <a:r>
              <a:rPr lang="en-US" sz="2000" dirty="0" err="1">
                <a:latin typeface="Courier New" panose="02070309020205020404" pitchFamily="49" charset="0"/>
                <a:cs typeface="Courier New" panose="02070309020205020404" pitchFamily="49" charset="0"/>
              </a:rPr>
              <a:t>gcd</a:t>
            </a:r>
            <a:endParaRPr lang="en-US" sz="2000" dirty="0">
              <a:latin typeface="Courier New" panose="02070309020205020404" pitchFamily="49" charset="0"/>
              <a:cs typeface="Courier New" panose="02070309020205020404" pitchFamily="49" charset="0"/>
            </a:endParaRPr>
          </a:p>
          <a:p>
            <a:pPr marL="0" indent="0">
              <a:spcBef>
                <a:spcPts val="300"/>
              </a:spcBef>
              <a:buNone/>
            </a:pPr>
            <a:r>
              <a:rPr lang="en-US" sz="2000" dirty="0">
                <a:latin typeface="Courier New" panose="02070309020205020404" pitchFamily="49" charset="0"/>
                <a:cs typeface="Courier New" panose="02070309020205020404" pitchFamily="49" charset="0"/>
              </a:rPr>
              <a:t>done:  // now a1 contains the </a:t>
            </a:r>
            <a:r>
              <a:rPr lang="en-US" sz="2000" dirty="0" err="1">
                <a:latin typeface="Courier New" panose="02070309020205020404" pitchFamily="49" charset="0"/>
                <a:cs typeface="Courier New" panose="02070309020205020404" pitchFamily="49" charset="0"/>
              </a:rPr>
              <a:t>gcd</a:t>
            </a:r>
            <a:endParaRPr lang="en-US" sz="2000" dirty="0">
              <a:latin typeface="Courier New" panose="02070309020205020404" pitchFamily="49" charset="0"/>
              <a:cs typeface="Courier New" panose="02070309020205020404" pitchFamily="49" charset="0"/>
            </a:endParaRPr>
          </a:p>
          <a:p>
            <a:pPr marL="0" indent="0">
              <a:spcBef>
                <a:spcPts val="300"/>
              </a:spcBef>
              <a:buNone/>
            </a:pPr>
            <a:r>
              <a:rPr lang="en-US" sz="2000" dirty="0">
                <a:latin typeface="Courier New" panose="02070309020205020404" pitchFamily="49" charset="0"/>
                <a:cs typeface="Courier New" panose="02070309020205020404" pitchFamily="49" charset="0"/>
              </a:rPr>
              <a:t>  mv a0, a1 // move to a0 for returning</a:t>
            </a:r>
          </a:p>
          <a:p>
            <a:pPr marL="0" indent="0">
              <a:spcBef>
                <a:spcPts val="300"/>
              </a:spcBef>
              <a:buNone/>
            </a:pPr>
            <a:r>
              <a:rPr lang="en-US" sz="2000" dirty="0">
                <a:latin typeface="Courier New" panose="02070309020205020404" pitchFamily="49" charset="0"/>
                <a:cs typeface="Courier New" panose="02070309020205020404" pitchFamily="49" charset="0"/>
              </a:rPr>
              <a:t>  ret // </a:t>
            </a:r>
            <a:r>
              <a:rPr lang="en-US" sz="2000" dirty="0" err="1">
                <a:latin typeface="Courier New" panose="02070309020205020404" pitchFamily="49" charset="0"/>
                <a:cs typeface="Courier New" panose="02070309020205020404" pitchFamily="49" charset="0"/>
              </a:rPr>
              <a:t>jr</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ra</a:t>
            </a:r>
            <a:endParaRPr lang="en-US" sz="2000" dirty="0">
              <a:latin typeface="Courier New" panose="02070309020205020404" pitchFamily="49" charset="0"/>
              <a:cs typeface="Courier New" panose="02070309020205020404" pitchFamily="49" charset="0"/>
            </a:endParaRPr>
          </a:p>
        </p:txBody>
      </p:sp>
      <p:sp>
        <p:nvSpPr>
          <p:cNvPr id="4" name="Date Placeholder 3"/>
          <p:cNvSpPr>
            <a:spLocks noGrp="1"/>
          </p:cNvSpPr>
          <p:nvPr>
            <p:ph type="dt" sz="half" idx="10"/>
          </p:nvPr>
        </p:nvSpPr>
        <p:spPr/>
        <p:txBody>
          <a:bodyPr/>
          <a:lstStyle/>
          <a:p>
            <a:pPr>
              <a:defRPr/>
            </a:pPr>
            <a:r>
              <a:rPr lang="en-US"/>
              <a:t>September 27, 2017</a:t>
            </a:r>
            <a:endParaRPr lang="en-US" dirty="0"/>
          </a:p>
        </p:txBody>
      </p:sp>
      <p:sp>
        <p:nvSpPr>
          <p:cNvPr id="5" name="Footer Placeholder 4"/>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7" name="Slide Number Placeholder 6"/>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74</a:t>
            </a:fld>
            <a:endParaRPr lang="en-US" dirty="0"/>
          </a:p>
        </p:txBody>
      </p:sp>
      <p:sp>
        <p:nvSpPr>
          <p:cNvPr id="14" name="TextBox 13"/>
          <p:cNvSpPr txBox="1"/>
          <p:nvPr/>
        </p:nvSpPr>
        <p:spPr>
          <a:xfrm>
            <a:off x="3571876" y="1876425"/>
            <a:ext cx="1191352" cy="369332"/>
          </a:xfrm>
          <a:prstGeom prst="rect">
            <a:avLst/>
          </a:prstGeom>
          <a:noFill/>
        </p:spPr>
        <p:txBody>
          <a:bodyPr wrap="none" rtlCol="0">
            <a:spAutoFit/>
          </a:bodyPr>
          <a:lstStyle/>
          <a:p>
            <a:r>
              <a:rPr lang="en-US" dirty="0">
                <a:latin typeface="Comic Sans MS" panose="030F0702030302020204" pitchFamily="66" charset="0"/>
              </a:rPr>
              <a:t>argument</a:t>
            </a:r>
          </a:p>
        </p:txBody>
      </p:sp>
      <p:sp>
        <p:nvSpPr>
          <p:cNvPr id="15" name="TextBox 14"/>
          <p:cNvSpPr txBox="1"/>
          <p:nvPr/>
        </p:nvSpPr>
        <p:spPr>
          <a:xfrm>
            <a:off x="3762377" y="3590925"/>
            <a:ext cx="1305165" cy="369332"/>
          </a:xfrm>
          <a:prstGeom prst="rect">
            <a:avLst/>
          </a:prstGeom>
          <a:noFill/>
        </p:spPr>
        <p:txBody>
          <a:bodyPr wrap="none" rtlCol="0">
            <a:spAutoFit/>
          </a:bodyPr>
          <a:lstStyle/>
          <a:p>
            <a:r>
              <a:rPr lang="en-US" dirty="0">
                <a:latin typeface="Comic Sans MS" panose="030F0702030302020204" pitchFamily="66" charset="0"/>
              </a:rPr>
              <a:t>temporary</a:t>
            </a:r>
          </a:p>
        </p:txBody>
      </p:sp>
      <p:sp>
        <p:nvSpPr>
          <p:cNvPr id="16" name="TextBox 15"/>
          <p:cNvSpPr txBox="1"/>
          <p:nvPr/>
        </p:nvSpPr>
        <p:spPr>
          <a:xfrm>
            <a:off x="8315326" y="5448302"/>
            <a:ext cx="2543175" cy="923330"/>
          </a:xfrm>
          <a:prstGeom prst="rect">
            <a:avLst/>
          </a:prstGeom>
          <a:noFill/>
        </p:spPr>
        <p:txBody>
          <a:bodyPr wrap="square" rtlCol="0">
            <a:spAutoFit/>
          </a:bodyPr>
          <a:lstStyle/>
          <a:p>
            <a:r>
              <a:rPr lang="en-US" dirty="0">
                <a:latin typeface="Comic Sans MS" panose="030F0702030302020204" pitchFamily="66" charset="0"/>
              </a:rPr>
              <a:t>ABI dictates that the result must come back in a0</a:t>
            </a:r>
          </a:p>
        </p:txBody>
      </p:sp>
      <p:sp>
        <p:nvSpPr>
          <p:cNvPr id="9" name="Content Placeholder 2"/>
          <p:cNvSpPr txBox="1">
            <a:spLocks/>
          </p:cNvSpPr>
          <p:nvPr/>
        </p:nvSpPr>
        <p:spPr bwMode="auto">
          <a:xfrm>
            <a:off x="6734175" y="990893"/>
            <a:ext cx="4267653" cy="4343107"/>
          </a:xfrm>
          <a:prstGeom prst="rect">
            <a:avLst/>
          </a:prstGeom>
          <a:solidFill>
            <a:schemeClr val="bg1"/>
          </a:solidFill>
          <a:ln w="9525">
            <a:solidFill>
              <a:srgbClr val="FF0000"/>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SzPct val="110000"/>
              <a:buFont typeface="Wingdings" pitchFamily="2" charset="2"/>
              <a:buBlip>
                <a:blip r:embed="rId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hlink"/>
              </a:buClr>
              <a:buSzPct val="95000"/>
              <a:buFont typeface="Wingdings" pitchFamily="2" charset="2"/>
              <a:buChar char="w"/>
              <a:defRPr sz="2400">
                <a:solidFill>
                  <a:schemeClr val="tx1"/>
                </a:solidFill>
                <a:latin typeface="+mn-lt"/>
              </a:defRPr>
            </a:lvl3pPr>
            <a:lvl4pPr marL="1600200" indent="-228600" algn="l" rtl="0" eaLnBrk="0" fontAlgn="base" hangingPunct="0">
              <a:spcBef>
                <a:spcPct val="20000"/>
              </a:spcBef>
              <a:spcAft>
                <a:spcPct val="0"/>
              </a:spcAft>
              <a:buClr>
                <a:schemeClr val="tx1"/>
              </a:buClr>
              <a:buSzPct val="6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9pPr>
          </a:lstStyle>
          <a:p>
            <a:pPr marL="0" indent="0">
              <a:buNone/>
            </a:pPr>
            <a:r>
              <a:rPr lang="en-US" sz="2000" kern="0" dirty="0">
                <a:latin typeface="Courier New" panose="02070309020205020404" pitchFamily="49" charset="0"/>
                <a:cs typeface="Courier New" panose="02070309020205020404" pitchFamily="49" charset="0"/>
              </a:rPr>
              <a:t>// a: x10, b: x11, t: x5</a:t>
            </a:r>
          </a:p>
          <a:p>
            <a:pPr marL="0" indent="0">
              <a:buNone/>
            </a:pPr>
            <a:r>
              <a:rPr lang="en-US" sz="2000" kern="0" dirty="0">
                <a:latin typeface="Courier New" panose="02070309020205020404" pitchFamily="49" charset="0"/>
                <a:cs typeface="Courier New" panose="02070309020205020404" pitchFamily="49" charset="0"/>
              </a:rPr>
              <a:t>begin:</a:t>
            </a:r>
          </a:p>
          <a:p>
            <a:pPr marL="0" indent="0">
              <a:buNone/>
            </a:pPr>
            <a:r>
              <a:rPr lang="en-US" sz="2000" kern="0" dirty="0">
                <a:latin typeface="Courier New" panose="02070309020205020404" pitchFamily="49" charset="0"/>
                <a:cs typeface="Courier New" panose="02070309020205020404" pitchFamily="49" charset="0"/>
              </a:rPr>
              <a:t>  </a:t>
            </a:r>
            <a:r>
              <a:rPr lang="en-US" sz="2000" kern="0" dirty="0" err="1">
                <a:latin typeface="Courier New" panose="02070309020205020404" pitchFamily="49" charset="0"/>
                <a:cs typeface="Courier New" panose="02070309020205020404" pitchFamily="49" charset="0"/>
              </a:rPr>
              <a:t>beqz</a:t>
            </a:r>
            <a:r>
              <a:rPr lang="en-US" sz="2000" kern="0" dirty="0">
                <a:latin typeface="Courier New" panose="02070309020205020404" pitchFamily="49" charset="0"/>
                <a:cs typeface="Courier New" panose="02070309020205020404" pitchFamily="49" charset="0"/>
              </a:rPr>
              <a:t> x10, done </a:t>
            </a:r>
          </a:p>
          <a:p>
            <a:pPr marL="0" indent="0">
              <a:buNone/>
            </a:pPr>
            <a:r>
              <a:rPr lang="en-US" sz="2000" kern="0" dirty="0">
                <a:latin typeface="Courier New" panose="02070309020205020404" pitchFamily="49" charset="0"/>
                <a:cs typeface="Courier New" panose="02070309020205020404" pitchFamily="49" charset="0"/>
              </a:rPr>
              <a:t>  </a:t>
            </a:r>
            <a:r>
              <a:rPr lang="en-US" sz="2000" kern="0" dirty="0" err="1">
                <a:latin typeface="Courier New" panose="02070309020205020404" pitchFamily="49" charset="0"/>
                <a:cs typeface="Courier New" panose="02070309020205020404" pitchFamily="49" charset="0"/>
              </a:rPr>
              <a:t>blt</a:t>
            </a:r>
            <a:r>
              <a:rPr lang="en-US" sz="2000" kern="0" dirty="0">
                <a:latin typeface="Courier New" panose="02070309020205020404" pitchFamily="49" charset="0"/>
                <a:cs typeface="Courier New" panose="02070309020205020404" pitchFamily="49" charset="0"/>
              </a:rPr>
              <a:t> x10, x11, </a:t>
            </a:r>
            <a:r>
              <a:rPr lang="en-US" sz="2000" kern="0" dirty="0" err="1">
                <a:latin typeface="Courier New" panose="02070309020205020404" pitchFamily="49" charset="0"/>
                <a:cs typeface="Courier New" panose="02070309020205020404" pitchFamily="49" charset="0"/>
              </a:rPr>
              <a:t>b_bigger</a:t>
            </a:r>
            <a:endParaRPr lang="en-US" sz="2000" kern="0" dirty="0">
              <a:latin typeface="Courier New" panose="02070309020205020404" pitchFamily="49" charset="0"/>
              <a:cs typeface="Courier New" panose="02070309020205020404" pitchFamily="49" charset="0"/>
            </a:endParaRPr>
          </a:p>
          <a:p>
            <a:pPr marL="0" indent="0">
              <a:buNone/>
            </a:pPr>
            <a:r>
              <a:rPr lang="en-US" sz="2000" kern="0" dirty="0">
                <a:latin typeface="Courier New" panose="02070309020205020404" pitchFamily="49" charset="0"/>
                <a:cs typeface="Courier New" panose="02070309020205020404" pitchFamily="49" charset="0"/>
              </a:rPr>
              <a:t>  sub x10, x10, x11</a:t>
            </a:r>
          </a:p>
          <a:p>
            <a:pPr marL="0" indent="0">
              <a:buNone/>
            </a:pPr>
            <a:r>
              <a:rPr lang="en-US" sz="2000" kern="0" dirty="0">
                <a:latin typeface="Courier New" panose="02070309020205020404" pitchFamily="49" charset="0"/>
                <a:cs typeface="Courier New" panose="02070309020205020404" pitchFamily="49" charset="0"/>
              </a:rPr>
              <a:t>  j begin</a:t>
            </a:r>
          </a:p>
          <a:p>
            <a:pPr marL="0" indent="0">
              <a:buNone/>
            </a:pPr>
            <a:r>
              <a:rPr lang="en-US" sz="2000" kern="0" dirty="0" err="1">
                <a:latin typeface="Courier New" panose="02070309020205020404" pitchFamily="49" charset="0"/>
                <a:cs typeface="Courier New" panose="02070309020205020404" pitchFamily="49" charset="0"/>
              </a:rPr>
              <a:t>b_bigger</a:t>
            </a:r>
            <a:r>
              <a:rPr lang="en-US" sz="2000" kern="0" dirty="0">
                <a:latin typeface="Courier New" panose="02070309020205020404" pitchFamily="49" charset="0"/>
                <a:cs typeface="Courier New" panose="02070309020205020404" pitchFamily="49" charset="0"/>
              </a:rPr>
              <a:t>:</a:t>
            </a:r>
          </a:p>
          <a:p>
            <a:pPr marL="0" indent="0">
              <a:buNone/>
            </a:pPr>
            <a:r>
              <a:rPr lang="en-US" sz="2000" kern="0" dirty="0">
                <a:latin typeface="Courier New" panose="02070309020205020404" pitchFamily="49" charset="0"/>
                <a:cs typeface="Courier New" panose="02070309020205020404" pitchFamily="49" charset="0"/>
              </a:rPr>
              <a:t>  mv x5, x10</a:t>
            </a:r>
          </a:p>
          <a:p>
            <a:pPr marL="0" indent="0">
              <a:buNone/>
            </a:pPr>
            <a:r>
              <a:rPr lang="en-US" sz="2000" kern="0" dirty="0">
                <a:latin typeface="Courier New" panose="02070309020205020404" pitchFamily="49" charset="0"/>
                <a:cs typeface="Courier New" panose="02070309020205020404" pitchFamily="49" charset="0"/>
              </a:rPr>
              <a:t>  mv x10, x11</a:t>
            </a:r>
          </a:p>
          <a:p>
            <a:pPr marL="0" indent="0">
              <a:buNone/>
            </a:pPr>
            <a:r>
              <a:rPr lang="en-US" sz="2000" kern="0" dirty="0">
                <a:latin typeface="Courier New" panose="02070309020205020404" pitchFamily="49" charset="0"/>
                <a:cs typeface="Courier New" panose="02070309020205020404" pitchFamily="49" charset="0"/>
              </a:rPr>
              <a:t>  mv x11, x5</a:t>
            </a:r>
          </a:p>
          <a:p>
            <a:pPr marL="0" indent="0">
              <a:buNone/>
            </a:pPr>
            <a:r>
              <a:rPr lang="en-US" sz="2000" kern="0" dirty="0">
                <a:latin typeface="Courier New" panose="02070309020205020404" pitchFamily="49" charset="0"/>
                <a:cs typeface="Courier New" panose="02070309020205020404" pitchFamily="49" charset="0"/>
              </a:rPr>
              <a:t>  j begin</a:t>
            </a:r>
          </a:p>
          <a:p>
            <a:pPr marL="0" indent="0">
              <a:buNone/>
            </a:pPr>
            <a:r>
              <a:rPr lang="en-US" sz="2000" kern="0" dirty="0">
                <a:latin typeface="Courier New" panose="02070309020205020404" pitchFamily="49" charset="0"/>
                <a:cs typeface="Courier New" panose="02070309020205020404" pitchFamily="49" charset="0"/>
              </a:rPr>
              <a:t>done:</a:t>
            </a:r>
          </a:p>
        </p:txBody>
      </p:sp>
    </p:spTree>
    <p:extLst>
      <p:ext uri="{BB962C8B-B14F-4D97-AF65-F5344CB8AC3E}">
        <p14:creationId xmlns:p14="http://schemas.microsoft.com/office/powerpoint/2010/main" val="1822119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Multiply</a:t>
            </a:r>
          </a:p>
        </p:txBody>
      </p:sp>
      <p:sp>
        <p:nvSpPr>
          <p:cNvPr id="3" name="Content Placeholder 2"/>
          <p:cNvSpPr>
            <a:spLocks noGrp="1"/>
          </p:cNvSpPr>
          <p:nvPr>
            <p:ph idx="1"/>
          </p:nvPr>
        </p:nvSpPr>
        <p:spPr>
          <a:xfrm>
            <a:off x="1631049" y="1390653"/>
            <a:ext cx="8913125" cy="5133975"/>
          </a:xfrm>
        </p:spPr>
        <p:txBody>
          <a:bodyPr/>
          <a:lstStyle/>
          <a:p>
            <a:pPr>
              <a:spcBef>
                <a:spcPts val="300"/>
              </a:spcBef>
            </a:pPr>
            <a:r>
              <a:rPr lang="en-US" sz="2800" dirty="0" err="1"/>
              <a:t>mul</a:t>
            </a:r>
            <a:r>
              <a:rPr lang="en-US" sz="2800" dirty="0"/>
              <a:t> x1, x2, x3 is an instruction in the ‘M’ extension (x1 := x2 * x3)</a:t>
            </a:r>
          </a:p>
          <a:p>
            <a:pPr lvl="1">
              <a:spcBef>
                <a:spcPts val="300"/>
              </a:spcBef>
            </a:pPr>
            <a:r>
              <a:rPr lang="en-US" sz="2800" dirty="0"/>
              <a:t>If ‘M’ is </a:t>
            </a:r>
            <a:r>
              <a:rPr lang="en-US" sz="2800" b="1" dirty="0"/>
              <a:t>NOT</a:t>
            </a:r>
            <a:r>
              <a:rPr lang="en-US" sz="2800" dirty="0"/>
              <a:t> implemented, this is an illegal instruction</a:t>
            </a:r>
          </a:p>
          <a:p>
            <a:pPr>
              <a:spcBef>
                <a:spcPts val="300"/>
              </a:spcBef>
            </a:pPr>
            <a:r>
              <a:rPr lang="en-US" sz="2800" dirty="0"/>
              <a:t>What happens if we run code from an RV32IM machine on an RV32I machine?</a:t>
            </a:r>
          </a:p>
          <a:p>
            <a:pPr lvl="1">
              <a:spcBef>
                <a:spcPts val="300"/>
              </a:spcBef>
            </a:pPr>
            <a:r>
              <a:rPr lang="en-US" sz="2800" dirty="0" err="1"/>
              <a:t>mul</a:t>
            </a:r>
            <a:r>
              <a:rPr lang="en-US" sz="2800" dirty="0"/>
              <a:t> causes an illegal instruction exception</a:t>
            </a:r>
          </a:p>
          <a:p>
            <a:pPr>
              <a:spcBef>
                <a:spcPts val="300"/>
              </a:spcBef>
            </a:pPr>
            <a:r>
              <a:rPr lang="en-US" sz="2800" dirty="0"/>
              <a:t>An exception handler can take over and abort the program or emulate the instruction</a:t>
            </a:r>
          </a:p>
        </p:txBody>
      </p:sp>
      <p:sp>
        <p:nvSpPr>
          <p:cNvPr id="7" name="Date Placeholder 6"/>
          <p:cNvSpPr>
            <a:spLocks noGrp="1"/>
          </p:cNvSpPr>
          <p:nvPr>
            <p:ph type="dt" sz="half" idx="10"/>
          </p:nvPr>
        </p:nvSpPr>
        <p:spPr/>
        <p:txBody>
          <a:bodyPr/>
          <a:lstStyle/>
          <a:p>
            <a:pPr>
              <a:defRPr/>
            </a:pPr>
            <a:r>
              <a:rPr lang="en-US"/>
              <a:t>September 27, 2017</a:t>
            </a:r>
            <a:endParaRPr lang="en-US" dirty="0"/>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75</a:t>
            </a:fld>
            <a:endParaRPr lang="en-US" dirty="0"/>
          </a:p>
        </p:txBody>
      </p:sp>
    </p:spTree>
    <p:extLst>
      <p:ext uri="{BB962C8B-B14F-4D97-AF65-F5344CB8AC3E}">
        <p14:creationId xmlns:p14="http://schemas.microsoft.com/office/powerpoint/2010/main" val="3908394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Exception handling </a:t>
            </a:r>
          </a:p>
        </p:txBody>
      </p:sp>
      <p:sp>
        <p:nvSpPr>
          <p:cNvPr id="3" name="Content Placeholder 2"/>
          <p:cNvSpPr>
            <a:spLocks noGrp="1"/>
          </p:cNvSpPr>
          <p:nvPr>
            <p:ph idx="1"/>
          </p:nvPr>
        </p:nvSpPr>
        <p:spPr>
          <a:xfrm>
            <a:off x="846668" y="1550158"/>
            <a:ext cx="10137421" cy="4879217"/>
          </a:xfrm>
        </p:spPr>
        <p:txBody>
          <a:bodyPr/>
          <a:lstStyle/>
          <a:p>
            <a:pPr>
              <a:spcBef>
                <a:spcPts val="300"/>
              </a:spcBef>
            </a:pPr>
            <a:r>
              <a:rPr lang="en-US" sz="2667" dirty="0"/>
              <a:t>When an exception is caused</a:t>
            </a:r>
          </a:p>
          <a:p>
            <a:pPr lvl="1">
              <a:spcBef>
                <a:spcPts val="300"/>
              </a:spcBef>
            </a:pPr>
            <a:r>
              <a:rPr lang="en-US" sz="2400" dirty="0"/>
              <a:t>Hardware saves the information about the exception in CSRs:</a:t>
            </a:r>
          </a:p>
          <a:p>
            <a:pPr lvl="2">
              <a:spcBef>
                <a:spcPts val="300"/>
              </a:spcBef>
            </a:pPr>
            <a:r>
              <a:rPr lang="en-US" sz="2133" dirty="0" err="1"/>
              <a:t>mepc</a:t>
            </a:r>
            <a:r>
              <a:rPr lang="en-US" sz="2133" dirty="0"/>
              <a:t> – exception PC</a:t>
            </a:r>
          </a:p>
          <a:p>
            <a:pPr lvl="2">
              <a:spcBef>
                <a:spcPts val="300"/>
              </a:spcBef>
            </a:pPr>
            <a:r>
              <a:rPr lang="en-US" sz="2133" dirty="0" err="1"/>
              <a:t>mcause</a:t>
            </a:r>
            <a:r>
              <a:rPr lang="en-US" sz="2133" dirty="0"/>
              <a:t> – cause of the exception</a:t>
            </a:r>
          </a:p>
          <a:p>
            <a:pPr lvl="2">
              <a:spcBef>
                <a:spcPts val="300"/>
              </a:spcBef>
            </a:pPr>
            <a:r>
              <a:rPr lang="en-US" sz="2133" dirty="0" err="1"/>
              <a:t>mstatus.mpp</a:t>
            </a:r>
            <a:r>
              <a:rPr lang="en-US" sz="2133" dirty="0"/>
              <a:t> – privilege mode of exception</a:t>
            </a:r>
          </a:p>
          <a:p>
            <a:pPr lvl="1">
              <a:spcBef>
                <a:spcPts val="300"/>
              </a:spcBef>
            </a:pPr>
            <a:r>
              <a:rPr lang="en-US" sz="2400" dirty="0"/>
              <a:t>Processor jumps to the address of the trap handler (stored in the </a:t>
            </a:r>
            <a:r>
              <a:rPr lang="en-US" sz="2400" dirty="0" err="1"/>
              <a:t>mtvec</a:t>
            </a:r>
            <a:r>
              <a:rPr lang="en-US" sz="2400" dirty="0"/>
              <a:t> CSR) and increases the privilege level</a:t>
            </a:r>
          </a:p>
          <a:p>
            <a:pPr>
              <a:spcBef>
                <a:spcPts val="300"/>
              </a:spcBef>
            </a:pPr>
            <a:r>
              <a:rPr lang="en-US" sz="2667" dirty="0"/>
              <a:t>An exception handler, a software program, takes over and performs the necessary action</a:t>
            </a:r>
          </a:p>
        </p:txBody>
      </p:sp>
      <p:sp>
        <p:nvSpPr>
          <p:cNvPr id="7" name="Date Placeholder 6"/>
          <p:cNvSpPr>
            <a:spLocks noGrp="1"/>
          </p:cNvSpPr>
          <p:nvPr>
            <p:ph type="dt" sz="half" idx="10"/>
          </p:nvPr>
        </p:nvSpPr>
        <p:spPr/>
        <p:txBody>
          <a:bodyPr/>
          <a:lstStyle/>
          <a:p>
            <a:pPr>
              <a:defRPr/>
            </a:pPr>
            <a:r>
              <a:rPr lang="en-US"/>
              <a:t>September 27, 2017</a:t>
            </a:r>
            <a:endParaRPr lang="en-US" dirty="0"/>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76</a:t>
            </a:fld>
            <a:endParaRPr lang="en-US" dirty="0"/>
          </a:p>
        </p:txBody>
      </p:sp>
    </p:spTree>
    <p:extLst>
      <p:ext uri="{BB962C8B-B14F-4D97-AF65-F5344CB8AC3E}">
        <p14:creationId xmlns:p14="http://schemas.microsoft.com/office/powerpoint/2010/main" val="978130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for interrupt handling</a:t>
            </a:r>
          </a:p>
        </p:txBody>
      </p:sp>
      <p:sp>
        <p:nvSpPr>
          <p:cNvPr id="3" name="Content Placeholder 2"/>
          <p:cNvSpPr>
            <a:spLocks noGrp="1"/>
          </p:cNvSpPr>
          <p:nvPr>
            <p:ph idx="1"/>
          </p:nvPr>
        </p:nvSpPr>
        <p:spPr>
          <a:xfrm>
            <a:off x="980325" y="1396376"/>
            <a:ext cx="7138225" cy="4570229"/>
          </a:xfrm>
        </p:spPr>
        <p:txBody>
          <a:bodyPr/>
          <a:lstStyle/>
          <a:p>
            <a:r>
              <a:rPr lang="en-US" sz="2400" dirty="0"/>
              <a:t>Hardware transfers control to the common software interrupt handler (CH) which:</a:t>
            </a:r>
          </a:p>
          <a:p>
            <a:pPr marL="914377" lvl="1" indent="-457189">
              <a:buFont typeface="+mj-lt"/>
              <a:buAutoNum type="arabicPeriod"/>
            </a:pPr>
            <a:r>
              <a:rPr lang="en-US" sz="2000" dirty="0"/>
              <a:t>Saves all GPRs into the memory pointed by </a:t>
            </a:r>
            <a:r>
              <a:rPr lang="en-US" sz="2000" dirty="0" err="1">
                <a:latin typeface="Courier New" panose="02070309020205020404" pitchFamily="49" charset="0"/>
                <a:cs typeface="Courier New" panose="02070309020205020404" pitchFamily="49" charset="0"/>
              </a:rPr>
              <a:t>mscratch</a:t>
            </a:r>
            <a:endParaRPr lang="en-US" sz="2000" dirty="0">
              <a:latin typeface="Courier New" panose="02070309020205020404" pitchFamily="49" charset="0"/>
              <a:cs typeface="Courier New" panose="02070309020205020404" pitchFamily="49" charset="0"/>
            </a:endParaRPr>
          </a:p>
          <a:p>
            <a:pPr marL="914377" lvl="1" indent="-457189">
              <a:buFont typeface="+mj-lt"/>
              <a:buAutoNum type="arabicPeriod"/>
            </a:pPr>
            <a:r>
              <a:rPr lang="en-US" sz="2000" dirty="0"/>
              <a:t>Passes </a:t>
            </a:r>
            <a:r>
              <a:rPr lang="en-US" sz="2000" dirty="0" err="1">
                <a:latin typeface="Courier New" panose="02070309020205020404" pitchFamily="49" charset="0"/>
                <a:cs typeface="Courier New" panose="02070309020205020404" pitchFamily="49" charset="0"/>
              </a:rPr>
              <a:t>mcause</a:t>
            </a:r>
            <a:r>
              <a:rPr lang="en-US" sz="2000" dirty="0"/>
              <a:t>, </a:t>
            </a:r>
            <a:r>
              <a:rPr lang="en-US" sz="2000" dirty="0" err="1">
                <a:latin typeface="Courier New" panose="02070309020205020404" pitchFamily="49" charset="0"/>
                <a:cs typeface="Courier New" panose="02070309020205020404" pitchFamily="49" charset="0"/>
              </a:rPr>
              <a:t>mepc</a:t>
            </a:r>
            <a:r>
              <a:rPr lang="en-US" sz="2000" dirty="0"/>
              <a:t>, stack pointer to the IH (a C function) to handle the specific interrupt</a:t>
            </a:r>
          </a:p>
          <a:p>
            <a:pPr marL="914377" lvl="1" indent="-457189">
              <a:buFont typeface="+mj-lt"/>
              <a:buAutoNum type="arabicPeriod"/>
            </a:pPr>
            <a:r>
              <a:rPr lang="en-US" sz="2000" dirty="0"/>
              <a:t>On the return from the IH, first determine which instruction to return to, and modify </a:t>
            </a:r>
            <a:r>
              <a:rPr lang="en-US" sz="2000" dirty="0" err="1">
                <a:latin typeface="Courier New" panose="02070309020205020404" pitchFamily="49" charset="0"/>
                <a:cs typeface="Courier New" panose="02070309020205020404" pitchFamily="49" charset="0"/>
              </a:rPr>
              <a:t>mepc</a:t>
            </a:r>
            <a:r>
              <a:rPr lang="en-US" sz="2000" dirty="0">
                <a:latin typeface="Courier New" panose="02070309020205020404" pitchFamily="49" charset="0"/>
                <a:cs typeface="Courier New" panose="02070309020205020404" pitchFamily="49" charset="0"/>
              </a:rPr>
              <a:t> (+4 or +2)</a:t>
            </a:r>
          </a:p>
          <a:p>
            <a:pPr marL="914377" lvl="1" indent="-457189">
              <a:buFont typeface="+mj-lt"/>
              <a:buAutoNum type="arabicPeriod"/>
            </a:pPr>
            <a:r>
              <a:rPr lang="en-US" sz="2000" dirty="0"/>
              <a:t>Loads all GPRs from the memory</a:t>
            </a:r>
          </a:p>
          <a:p>
            <a:pPr marL="914377" lvl="1" indent="-457189">
              <a:buFont typeface="+mj-lt"/>
              <a:buAutoNum type="arabicPeriod"/>
            </a:pPr>
            <a:r>
              <a:rPr lang="en-US" sz="2000" dirty="0"/>
              <a:t>Execute ERET, which does:</a:t>
            </a:r>
          </a:p>
          <a:p>
            <a:pPr lvl="2"/>
            <a:r>
              <a:rPr lang="en-US" sz="1800" dirty="0"/>
              <a:t>set pc to </a:t>
            </a:r>
            <a:r>
              <a:rPr lang="en-US" sz="1800" dirty="0" err="1">
                <a:latin typeface="Courier New" panose="02070309020205020404" pitchFamily="49" charset="0"/>
                <a:cs typeface="Courier New" panose="02070309020205020404" pitchFamily="49" charset="0"/>
              </a:rPr>
              <a:t>mepc</a:t>
            </a:r>
            <a:endParaRPr lang="en-US" sz="1800" dirty="0">
              <a:latin typeface="Courier New" panose="02070309020205020404" pitchFamily="49" charset="0"/>
              <a:cs typeface="Courier New" panose="02070309020205020404" pitchFamily="49" charset="0"/>
            </a:endParaRPr>
          </a:p>
          <a:p>
            <a:pPr lvl="2"/>
            <a:r>
              <a:rPr lang="en-US" sz="1800" dirty="0"/>
              <a:t>pop </a:t>
            </a:r>
            <a:r>
              <a:rPr lang="en-US" sz="1800" dirty="0" err="1">
                <a:latin typeface="Courier New" panose="02070309020205020404" pitchFamily="49" charset="0"/>
                <a:cs typeface="Courier New" panose="02070309020205020404" pitchFamily="49" charset="0"/>
              </a:rPr>
              <a:t>mstatus</a:t>
            </a:r>
            <a:r>
              <a:rPr lang="en-US" sz="1800" dirty="0"/>
              <a:t> (mode, enable) stack</a:t>
            </a:r>
          </a:p>
          <a:p>
            <a:pPr marL="1257269" lvl="2" indent="-342891">
              <a:buFont typeface="+mj-lt"/>
              <a:buAutoNum type="arabicPeriod"/>
            </a:pPr>
            <a:endParaRPr lang="en-US" sz="1600" dirty="0"/>
          </a:p>
          <a:p>
            <a:pPr lvl="1"/>
            <a:endParaRPr lang="en-US" sz="2000" dirty="0"/>
          </a:p>
        </p:txBody>
      </p:sp>
      <p:sp>
        <p:nvSpPr>
          <p:cNvPr id="6" name="Rectangle 5"/>
          <p:cNvSpPr/>
          <p:nvPr/>
        </p:nvSpPr>
        <p:spPr bwMode="auto">
          <a:xfrm>
            <a:off x="9917503" y="3536832"/>
            <a:ext cx="457200" cy="603849"/>
          </a:xfrm>
          <a:prstGeom prst="rect">
            <a:avLst/>
          </a:prstGeom>
          <a:solidFill>
            <a:schemeClr val="accent1">
              <a:lumMod val="40000"/>
              <a:lumOff val="60000"/>
            </a:schemeClr>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377" fontAlgn="base">
              <a:lnSpc>
                <a:spcPct val="90000"/>
              </a:lnSpc>
              <a:spcBef>
                <a:spcPct val="25000"/>
              </a:spcBef>
              <a:spcAft>
                <a:spcPct val="0"/>
              </a:spcAft>
              <a:buClr>
                <a:schemeClr val="bg1"/>
              </a:buClr>
              <a:buSzPct val="100000"/>
            </a:pPr>
            <a:r>
              <a:rPr lang="en-US" dirty="0"/>
              <a:t>IH</a:t>
            </a:r>
            <a:endParaRPr lang="en-US" dirty="0">
              <a:latin typeface="Verdana" pitchFamily="34" charset="0"/>
            </a:endParaRPr>
          </a:p>
        </p:txBody>
      </p:sp>
      <p:sp>
        <p:nvSpPr>
          <p:cNvPr id="9" name="Rectangle 8"/>
          <p:cNvSpPr/>
          <p:nvPr/>
        </p:nvSpPr>
        <p:spPr bwMode="auto">
          <a:xfrm>
            <a:off x="9917503" y="5362756"/>
            <a:ext cx="457200" cy="603849"/>
          </a:xfrm>
          <a:prstGeom prst="rect">
            <a:avLst/>
          </a:prstGeom>
          <a:solidFill>
            <a:schemeClr val="accent1">
              <a:lumMod val="40000"/>
              <a:lumOff val="60000"/>
            </a:schemeClr>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377" fontAlgn="base">
              <a:lnSpc>
                <a:spcPct val="90000"/>
              </a:lnSpc>
              <a:spcBef>
                <a:spcPct val="25000"/>
              </a:spcBef>
              <a:spcAft>
                <a:spcPct val="0"/>
              </a:spcAft>
              <a:buClr>
                <a:schemeClr val="bg1"/>
              </a:buClr>
              <a:buSzPct val="100000"/>
            </a:pPr>
            <a:r>
              <a:rPr lang="en-US" dirty="0"/>
              <a:t>IH</a:t>
            </a:r>
            <a:endParaRPr lang="en-US" dirty="0">
              <a:latin typeface="Verdana" pitchFamily="34" charset="0"/>
            </a:endParaRPr>
          </a:p>
        </p:txBody>
      </p:sp>
      <p:sp>
        <p:nvSpPr>
          <p:cNvPr id="10" name="Rectangle 9"/>
          <p:cNvSpPr/>
          <p:nvPr/>
        </p:nvSpPr>
        <p:spPr bwMode="auto">
          <a:xfrm>
            <a:off x="9917503" y="4454106"/>
            <a:ext cx="457200" cy="603849"/>
          </a:xfrm>
          <a:prstGeom prst="rect">
            <a:avLst/>
          </a:prstGeom>
          <a:solidFill>
            <a:schemeClr val="accent1">
              <a:lumMod val="40000"/>
              <a:lumOff val="60000"/>
            </a:schemeClr>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377" fontAlgn="base">
              <a:lnSpc>
                <a:spcPct val="90000"/>
              </a:lnSpc>
              <a:spcBef>
                <a:spcPct val="25000"/>
              </a:spcBef>
              <a:spcAft>
                <a:spcPct val="0"/>
              </a:spcAft>
              <a:buClr>
                <a:schemeClr val="bg1"/>
              </a:buClr>
              <a:buSzPct val="100000"/>
            </a:pPr>
            <a:r>
              <a:rPr lang="en-US" dirty="0"/>
              <a:t>IH</a:t>
            </a:r>
            <a:endParaRPr lang="en-US" dirty="0">
              <a:latin typeface="Verdana" pitchFamily="34" charset="0"/>
            </a:endParaRPr>
          </a:p>
        </p:txBody>
      </p:sp>
      <p:sp>
        <p:nvSpPr>
          <p:cNvPr id="11" name="Rectangle 10"/>
          <p:cNvSpPr/>
          <p:nvPr/>
        </p:nvSpPr>
        <p:spPr bwMode="auto">
          <a:xfrm>
            <a:off x="8413629" y="4094671"/>
            <a:ext cx="623979" cy="1995579"/>
          </a:xfrm>
          <a:prstGeom prst="rect">
            <a:avLst/>
          </a:prstGeom>
          <a:solidFill>
            <a:schemeClr val="accent2">
              <a:lumMod val="40000"/>
              <a:lumOff val="60000"/>
            </a:schemeClr>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377" fontAlgn="base">
              <a:lnSpc>
                <a:spcPct val="90000"/>
              </a:lnSpc>
              <a:spcBef>
                <a:spcPct val="25000"/>
              </a:spcBef>
              <a:spcAft>
                <a:spcPct val="0"/>
              </a:spcAft>
              <a:buClr>
                <a:schemeClr val="bg1"/>
              </a:buClr>
              <a:buSzPct val="100000"/>
            </a:pPr>
            <a:r>
              <a:rPr lang="en-US" dirty="0"/>
              <a:t>CH</a:t>
            </a:r>
          </a:p>
          <a:p>
            <a:pPr algn="ctr" defTabSz="914377" fontAlgn="base">
              <a:lnSpc>
                <a:spcPct val="90000"/>
              </a:lnSpc>
              <a:spcBef>
                <a:spcPct val="25000"/>
              </a:spcBef>
              <a:spcAft>
                <a:spcPct val="0"/>
              </a:spcAft>
              <a:buClr>
                <a:schemeClr val="bg1"/>
              </a:buClr>
              <a:buSzPct val="100000"/>
            </a:pPr>
            <a:r>
              <a:rPr lang="en-US" dirty="0">
                <a:latin typeface="Verdana" pitchFamily="34" charset="0"/>
              </a:rPr>
              <a:t>1</a:t>
            </a:r>
          </a:p>
          <a:p>
            <a:pPr algn="ctr" defTabSz="914377" fontAlgn="base">
              <a:lnSpc>
                <a:spcPct val="90000"/>
              </a:lnSpc>
              <a:spcBef>
                <a:spcPct val="25000"/>
              </a:spcBef>
              <a:spcAft>
                <a:spcPct val="0"/>
              </a:spcAft>
              <a:buClr>
                <a:schemeClr val="bg1"/>
              </a:buClr>
              <a:buSzPct val="100000"/>
            </a:pPr>
            <a:r>
              <a:rPr lang="en-US" dirty="0"/>
              <a:t>2</a:t>
            </a:r>
          </a:p>
          <a:p>
            <a:pPr algn="ctr" defTabSz="914377" fontAlgn="base">
              <a:lnSpc>
                <a:spcPct val="90000"/>
              </a:lnSpc>
              <a:spcBef>
                <a:spcPct val="25000"/>
              </a:spcBef>
              <a:spcAft>
                <a:spcPct val="0"/>
              </a:spcAft>
              <a:buClr>
                <a:schemeClr val="bg1"/>
              </a:buClr>
              <a:buSzPct val="100000"/>
            </a:pPr>
            <a:r>
              <a:rPr lang="en-US" dirty="0">
                <a:latin typeface="Verdana" pitchFamily="34" charset="0"/>
              </a:rPr>
              <a:t>3</a:t>
            </a:r>
          </a:p>
          <a:p>
            <a:pPr algn="ctr" defTabSz="914377" fontAlgn="base">
              <a:lnSpc>
                <a:spcPct val="90000"/>
              </a:lnSpc>
              <a:spcBef>
                <a:spcPct val="25000"/>
              </a:spcBef>
              <a:spcAft>
                <a:spcPct val="0"/>
              </a:spcAft>
              <a:buClr>
                <a:schemeClr val="bg1"/>
              </a:buClr>
              <a:buSzPct val="100000"/>
            </a:pPr>
            <a:r>
              <a:rPr lang="en-US" dirty="0"/>
              <a:t>4</a:t>
            </a:r>
          </a:p>
          <a:p>
            <a:pPr algn="ctr" defTabSz="914377" fontAlgn="base">
              <a:lnSpc>
                <a:spcPct val="90000"/>
              </a:lnSpc>
              <a:spcBef>
                <a:spcPct val="25000"/>
              </a:spcBef>
              <a:spcAft>
                <a:spcPct val="0"/>
              </a:spcAft>
              <a:buClr>
                <a:schemeClr val="bg1"/>
              </a:buClr>
              <a:buSzPct val="100000"/>
            </a:pPr>
            <a:r>
              <a:rPr lang="en-US" dirty="0">
                <a:latin typeface="Verdana" pitchFamily="34" charset="0"/>
              </a:rPr>
              <a:t>5</a:t>
            </a:r>
          </a:p>
        </p:txBody>
      </p:sp>
      <p:sp>
        <p:nvSpPr>
          <p:cNvPr id="13" name="Freeform 12"/>
          <p:cNvSpPr/>
          <p:nvPr/>
        </p:nvSpPr>
        <p:spPr bwMode="auto">
          <a:xfrm>
            <a:off x="8890959" y="4865299"/>
            <a:ext cx="1066712" cy="533533"/>
          </a:xfrm>
          <a:custGeom>
            <a:avLst/>
            <a:gdLst>
              <a:gd name="connsiteX0" fmla="*/ 0 w 1066712"/>
              <a:gd name="connsiteY0" fmla="*/ 0 h 533533"/>
              <a:gd name="connsiteX1" fmla="*/ 707367 w 1066712"/>
              <a:gd name="connsiteY1" fmla="*/ 120770 h 533533"/>
              <a:gd name="connsiteX2" fmla="*/ 1035170 w 1066712"/>
              <a:gd name="connsiteY2" fmla="*/ 491706 h 533533"/>
              <a:gd name="connsiteX3" fmla="*/ 1035170 w 1066712"/>
              <a:gd name="connsiteY3" fmla="*/ 508959 h 533533"/>
            </a:gdLst>
            <a:ahLst/>
            <a:cxnLst>
              <a:cxn ang="0">
                <a:pos x="connsiteX0" y="connsiteY0"/>
              </a:cxn>
              <a:cxn ang="0">
                <a:pos x="connsiteX1" y="connsiteY1"/>
              </a:cxn>
              <a:cxn ang="0">
                <a:pos x="connsiteX2" y="connsiteY2"/>
              </a:cxn>
              <a:cxn ang="0">
                <a:pos x="connsiteX3" y="connsiteY3"/>
              </a:cxn>
            </a:cxnLst>
            <a:rect l="l" t="t" r="r" b="b"/>
            <a:pathLst>
              <a:path w="1066712" h="533533">
                <a:moveTo>
                  <a:pt x="0" y="0"/>
                </a:moveTo>
                <a:cubicBezTo>
                  <a:pt x="267419" y="19409"/>
                  <a:pt x="534839" y="38819"/>
                  <a:pt x="707367" y="120770"/>
                </a:cubicBezTo>
                <a:cubicBezTo>
                  <a:pt x="879895" y="202721"/>
                  <a:pt x="980536" y="427008"/>
                  <a:pt x="1035170" y="491706"/>
                </a:cubicBezTo>
                <a:cubicBezTo>
                  <a:pt x="1089804" y="556404"/>
                  <a:pt x="1062487" y="532681"/>
                  <a:pt x="1035170" y="508959"/>
                </a:cubicBezTo>
              </a:path>
            </a:pathLst>
          </a:custGeom>
          <a:noFill/>
          <a:ln w="9525" cap="flat" cmpd="sng" algn="ctr">
            <a:solidFill>
              <a:srgbClr val="FF0000"/>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defTabSz="914377" fontAlgn="base">
              <a:lnSpc>
                <a:spcPct val="90000"/>
              </a:lnSpc>
              <a:spcBef>
                <a:spcPct val="25000"/>
              </a:spcBef>
              <a:spcAft>
                <a:spcPct val="0"/>
              </a:spcAft>
              <a:buClr>
                <a:schemeClr val="bg1"/>
              </a:buClr>
              <a:buSzPct val="100000"/>
              <a:buFont typeface="Wingdings" pitchFamily="2" charset="2"/>
              <a:buChar char="•"/>
            </a:pPr>
            <a:endParaRPr lang="en-US" sz="2000">
              <a:latin typeface="Verdana" pitchFamily="34" charset="0"/>
            </a:endParaRPr>
          </a:p>
        </p:txBody>
      </p:sp>
      <p:sp>
        <p:nvSpPr>
          <p:cNvPr id="14" name="Freeform 13"/>
          <p:cNvSpPr/>
          <p:nvPr/>
        </p:nvSpPr>
        <p:spPr bwMode="auto">
          <a:xfrm flipH="1" flipV="1">
            <a:off x="8741433" y="5262114"/>
            <a:ext cx="1167443" cy="655607"/>
          </a:xfrm>
          <a:custGeom>
            <a:avLst/>
            <a:gdLst>
              <a:gd name="connsiteX0" fmla="*/ 0 w 1066712"/>
              <a:gd name="connsiteY0" fmla="*/ 0 h 533533"/>
              <a:gd name="connsiteX1" fmla="*/ 707367 w 1066712"/>
              <a:gd name="connsiteY1" fmla="*/ 120770 h 533533"/>
              <a:gd name="connsiteX2" fmla="*/ 1035170 w 1066712"/>
              <a:gd name="connsiteY2" fmla="*/ 491706 h 533533"/>
              <a:gd name="connsiteX3" fmla="*/ 1035170 w 1066712"/>
              <a:gd name="connsiteY3" fmla="*/ 508959 h 533533"/>
            </a:gdLst>
            <a:ahLst/>
            <a:cxnLst>
              <a:cxn ang="0">
                <a:pos x="connsiteX0" y="connsiteY0"/>
              </a:cxn>
              <a:cxn ang="0">
                <a:pos x="connsiteX1" y="connsiteY1"/>
              </a:cxn>
              <a:cxn ang="0">
                <a:pos x="connsiteX2" y="connsiteY2"/>
              </a:cxn>
              <a:cxn ang="0">
                <a:pos x="connsiteX3" y="connsiteY3"/>
              </a:cxn>
            </a:cxnLst>
            <a:rect l="l" t="t" r="r" b="b"/>
            <a:pathLst>
              <a:path w="1066712" h="533533">
                <a:moveTo>
                  <a:pt x="0" y="0"/>
                </a:moveTo>
                <a:cubicBezTo>
                  <a:pt x="267419" y="19409"/>
                  <a:pt x="534839" y="38819"/>
                  <a:pt x="707367" y="120770"/>
                </a:cubicBezTo>
                <a:cubicBezTo>
                  <a:pt x="879895" y="202721"/>
                  <a:pt x="980536" y="427008"/>
                  <a:pt x="1035170" y="491706"/>
                </a:cubicBezTo>
                <a:cubicBezTo>
                  <a:pt x="1089804" y="556404"/>
                  <a:pt x="1062487" y="532681"/>
                  <a:pt x="1035170" y="508959"/>
                </a:cubicBezTo>
              </a:path>
            </a:pathLst>
          </a:custGeom>
          <a:noFill/>
          <a:ln w="9525" cap="flat" cmpd="sng" algn="ctr">
            <a:solidFill>
              <a:srgbClr val="FF0000"/>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defTabSz="914377" fontAlgn="base">
              <a:lnSpc>
                <a:spcPct val="90000"/>
              </a:lnSpc>
              <a:spcBef>
                <a:spcPct val="25000"/>
              </a:spcBef>
              <a:spcAft>
                <a:spcPct val="0"/>
              </a:spcAft>
              <a:buClr>
                <a:schemeClr val="bg1"/>
              </a:buClr>
              <a:buSzPct val="100000"/>
              <a:buFont typeface="Wingdings" pitchFamily="2" charset="2"/>
              <a:buChar char="•"/>
            </a:pPr>
            <a:endParaRPr lang="en-US" sz="2000">
              <a:latin typeface="Verdana" pitchFamily="34" charset="0"/>
            </a:endParaRPr>
          </a:p>
        </p:txBody>
      </p:sp>
      <p:sp>
        <p:nvSpPr>
          <p:cNvPr id="15" name="Rectangle 14"/>
          <p:cNvSpPr/>
          <p:nvPr/>
        </p:nvSpPr>
        <p:spPr bwMode="auto">
          <a:xfrm>
            <a:off x="9848492" y="1768417"/>
            <a:ext cx="560717" cy="1535503"/>
          </a:xfrm>
          <a:prstGeom prst="rect">
            <a:avLst/>
          </a:prstGeom>
          <a:solidFill>
            <a:schemeClr val="tx1">
              <a:lumMod val="40000"/>
              <a:lumOff val="60000"/>
            </a:schemeClr>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377" fontAlgn="base">
              <a:lnSpc>
                <a:spcPct val="90000"/>
              </a:lnSpc>
              <a:spcBef>
                <a:spcPct val="25000"/>
              </a:spcBef>
              <a:spcAft>
                <a:spcPct val="0"/>
              </a:spcAft>
              <a:buClr>
                <a:schemeClr val="bg1"/>
              </a:buClr>
              <a:buSzPct val="100000"/>
              <a:buFont typeface="Wingdings" pitchFamily="2" charset="2"/>
              <a:buChar char="•"/>
            </a:pPr>
            <a:endParaRPr lang="en-US" sz="2000">
              <a:latin typeface="Verdana" pitchFamily="34" charset="0"/>
            </a:endParaRPr>
          </a:p>
        </p:txBody>
      </p:sp>
      <p:cxnSp>
        <p:nvCxnSpPr>
          <p:cNvPr id="17" name="Straight Connector 16"/>
          <p:cNvCxnSpPr/>
          <p:nvPr/>
        </p:nvCxnSpPr>
        <p:spPr bwMode="auto">
          <a:xfrm>
            <a:off x="9857118" y="2182483"/>
            <a:ext cx="569343" cy="0"/>
          </a:xfrm>
          <a:prstGeom prst="line">
            <a:avLst/>
          </a:prstGeom>
          <a:noFill/>
          <a:ln w="9525" cap="flat" cmpd="sng" algn="ctr">
            <a:solidFill>
              <a:srgbClr val="FF0000"/>
            </a:solidFill>
            <a:prstDash val="solid"/>
            <a:round/>
            <a:headEnd type="none" w="med" len="med"/>
            <a:tailEnd type="none" w="med" len="med"/>
          </a:ln>
          <a:effectLst/>
        </p:spPr>
      </p:cxnSp>
      <p:cxnSp>
        <p:nvCxnSpPr>
          <p:cNvPr id="18" name="Straight Connector 17"/>
          <p:cNvCxnSpPr/>
          <p:nvPr/>
        </p:nvCxnSpPr>
        <p:spPr bwMode="auto">
          <a:xfrm>
            <a:off x="9857118" y="2458525"/>
            <a:ext cx="569343" cy="0"/>
          </a:xfrm>
          <a:prstGeom prst="line">
            <a:avLst/>
          </a:prstGeom>
          <a:noFill/>
          <a:ln w="9525" cap="flat" cmpd="sng" algn="ctr">
            <a:solidFill>
              <a:srgbClr val="FF0000"/>
            </a:solidFill>
            <a:prstDash val="solid"/>
            <a:round/>
            <a:headEnd type="none" w="med" len="med"/>
            <a:tailEnd type="none" w="med" len="med"/>
          </a:ln>
          <a:effectLst/>
        </p:spPr>
      </p:cxnSp>
      <p:sp>
        <p:nvSpPr>
          <p:cNvPr id="20" name="TextBox 19"/>
          <p:cNvSpPr txBox="1"/>
          <p:nvPr/>
        </p:nvSpPr>
        <p:spPr>
          <a:xfrm>
            <a:off x="9857117" y="2173857"/>
            <a:ext cx="574196" cy="307777"/>
          </a:xfrm>
          <a:prstGeom prst="rect">
            <a:avLst/>
          </a:prstGeom>
          <a:noFill/>
        </p:spPr>
        <p:txBody>
          <a:bodyPr wrap="none" rtlCol="0">
            <a:spAutoFit/>
          </a:bodyPr>
          <a:lstStyle/>
          <a:p>
            <a:r>
              <a:rPr lang="en-US" sz="1400" dirty="0"/>
              <a:t>GPR</a:t>
            </a:r>
          </a:p>
        </p:txBody>
      </p:sp>
      <p:sp>
        <p:nvSpPr>
          <p:cNvPr id="23" name="Freeform 22"/>
          <p:cNvSpPr/>
          <p:nvPr/>
        </p:nvSpPr>
        <p:spPr bwMode="auto">
          <a:xfrm>
            <a:off x="8890959" y="2320507"/>
            <a:ext cx="931653" cy="2225615"/>
          </a:xfrm>
          <a:custGeom>
            <a:avLst/>
            <a:gdLst>
              <a:gd name="connsiteX0" fmla="*/ 0 w 931653"/>
              <a:gd name="connsiteY0" fmla="*/ 2225615 h 2225615"/>
              <a:gd name="connsiteX1" fmla="*/ 474453 w 931653"/>
              <a:gd name="connsiteY1" fmla="*/ 1613139 h 2225615"/>
              <a:gd name="connsiteX2" fmla="*/ 534838 w 931653"/>
              <a:gd name="connsiteY2" fmla="*/ 336430 h 2225615"/>
              <a:gd name="connsiteX3" fmla="*/ 931653 w 931653"/>
              <a:gd name="connsiteY3" fmla="*/ 0 h 2225615"/>
            </a:gdLst>
            <a:ahLst/>
            <a:cxnLst>
              <a:cxn ang="0">
                <a:pos x="connsiteX0" y="connsiteY0"/>
              </a:cxn>
              <a:cxn ang="0">
                <a:pos x="connsiteX1" y="connsiteY1"/>
              </a:cxn>
              <a:cxn ang="0">
                <a:pos x="connsiteX2" y="connsiteY2"/>
              </a:cxn>
              <a:cxn ang="0">
                <a:pos x="connsiteX3" y="connsiteY3"/>
              </a:cxn>
            </a:cxnLst>
            <a:rect l="l" t="t" r="r" b="b"/>
            <a:pathLst>
              <a:path w="931653" h="2225615">
                <a:moveTo>
                  <a:pt x="0" y="2225615"/>
                </a:moveTo>
                <a:cubicBezTo>
                  <a:pt x="192656" y="2076809"/>
                  <a:pt x="385313" y="1928003"/>
                  <a:pt x="474453" y="1613139"/>
                </a:cubicBezTo>
                <a:cubicBezTo>
                  <a:pt x="563593" y="1298275"/>
                  <a:pt x="458638" y="605286"/>
                  <a:pt x="534838" y="336430"/>
                </a:cubicBezTo>
                <a:cubicBezTo>
                  <a:pt x="611038" y="67573"/>
                  <a:pt x="771345" y="33786"/>
                  <a:pt x="931653" y="0"/>
                </a:cubicBezTo>
              </a:path>
            </a:pathLst>
          </a:custGeom>
          <a:noFill/>
          <a:ln w="9525" cap="flat" cmpd="sng" algn="ctr">
            <a:solidFill>
              <a:srgbClr val="FF0000"/>
            </a:solidFill>
            <a:prstDash val="dash"/>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defTabSz="914377" fontAlgn="base">
              <a:lnSpc>
                <a:spcPct val="90000"/>
              </a:lnSpc>
              <a:spcBef>
                <a:spcPct val="25000"/>
              </a:spcBef>
              <a:spcAft>
                <a:spcPct val="0"/>
              </a:spcAft>
              <a:buClr>
                <a:schemeClr val="bg1"/>
              </a:buClr>
              <a:buSzPct val="100000"/>
              <a:buFont typeface="Wingdings" pitchFamily="2" charset="2"/>
              <a:buChar char="•"/>
            </a:pPr>
            <a:endParaRPr lang="en-US" sz="2000">
              <a:latin typeface="Verdana" pitchFamily="34" charset="0"/>
            </a:endParaRPr>
          </a:p>
        </p:txBody>
      </p:sp>
      <p:sp>
        <p:nvSpPr>
          <p:cNvPr id="24" name="Freeform 23"/>
          <p:cNvSpPr/>
          <p:nvPr/>
        </p:nvSpPr>
        <p:spPr bwMode="auto">
          <a:xfrm>
            <a:off x="8856454" y="2406771"/>
            <a:ext cx="940279" cy="3131388"/>
          </a:xfrm>
          <a:custGeom>
            <a:avLst/>
            <a:gdLst>
              <a:gd name="connsiteX0" fmla="*/ 940279 w 940279"/>
              <a:gd name="connsiteY0" fmla="*/ 0 h 3131388"/>
              <a:gd name="connsiteX1" fmla="*/ 664234 w 940279"/>
              <a:gd name="connsiteY1" fmla="*/ 301924 h 3131388"/>
              <a:gd name="connsiteX2" fmla="*/ 646981 w 940279"/>
              <a:gd name="connsiteY2" fmla="*/ 1207698 h 3131388"/>
              <a:gd name="connsiteX3" fmla="*/ 629728 w 940279"/>
              <a:gd name="connsiteY3" fmla="*/ 2639683 h 3131388"/>
              <a:gd name="connsiteX4" fmla="*/ 0 w 940279"/>
              <a:gd name="connsiteY4" fmla="*/ 3131388 h 3131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0279" h="3131388">
                <a:moveTo>
                  <a:pt x="940279" y="0"/>
                </a:moveTo>
                <a:cubicBezTo>
                  <a:pt x="826698" y="50320"/>
                  <a:pt x="713117" y="100641"/>
                  <a:pt x="664234" y="301924"/>
                </a:cubicBezTo>
                <a:cubicBezTo>
                  <a:pt x="615351" y="503207"/>
                  <a:pt x="652732" y="818072"/>
                  <a:pt x="646981" y="1207698"/>
                </a:cubicBezTo>
                <a:cubicBezTo>
                  <a:pt x="641230" y="1597324"/>
                  <a:pt x="737558" y="2319068"/>
                  <a:pt x="629728" y="2639683"/>
                </a:cubicBezTo>
                <a:cubicBezTo>
                  <a:pt x="521898" y="2960298"/>
                  <a:pt x="260949" y="3045843"/>
                  <a:pt x="0" y="3131388"/>
                </a:cubicBezTo>
              </a:path>
            </a:pathLst>
          </a:custGeom>
          <a:noFill/>
          <a:ln w="9525" cap="flat" cmpd="sng" algn="ctr">
            <a:solidFill>
              <a:srgbClr val="FF0000"/>
            </a:solidFill>
            <a:prstDash val="dash"/>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defTabSz="914377" fontAlgn="base">
              <a:lnSpc>
                <a:spcPct val="90000"/>
              </a:lnSpc>
              <a:spcBef>
                <a:spcPct val="25000"/>
              </a:spcBef>
              <a:spcAft>
                <a:spcPct val="0"/>
              </a:spcAft>
              <a:buClr>
                <a:schemeClr val="bg1"/>
              </a:buClr>
              <a:buSzPct val="100000"/>
              <a:buFont typeface="Wingdings" pitchFamily="2" charset="2"/>
              <a:buChar char="•"/>
            </a:pPr>
            <a:endParaRPr lang="en-US" sz="2000">
              <a:latin typeface="Verdana" pitchFamily="34" charset="0"/>
            </a:endParaRPr>
          </a:p>
        </p:txBody>
      </p:sp>
      <p:sp>
        <p:nvSpPr>
          <p:cNvPr id="7" name="Date Placeholder 6"/>
          <p:cNvSpPr>
            <a:spLocks noGrp="1"/>
          </p:cNvSpPr>
          <p:nvPr>
            <p:ph type="dt" sz="half" idx="10"/>
          </p:nvPr>
        </p:nvSpPr>
        <p:spPr/>
        <p:txBody>
          <a:bodyPr/>
          <a:lstStyle/>
          <a:p>
            <a:pPr>
              <a:defRPr/>
            </a:pPr>
            <a:r>
              <a:rPr lang="en-US"/>
              <a:t>September 27, 2017</a:t>
            </a:r>
            <a:endParaRPr lang="en-US" dirty="0"/>
          </a:p>
        </p:txBody>
      </p:sp>
      <p:sp>
        <p:nvSpPr>
          <p:cNvPr id="12" name="Footer Placeholder 11"/>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16" name="Slide Number Placeholder 15"/>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77</a:t>
            </a:fld>
            <a:endParaRPr lang="en-US" dirty="0"/>
          </a:p>
        </p:txBody>
      </p:sp>
    </p:spTree>
    <p:extLst>
      <p:ext uri="{BB962C8B-B14F-4D97-AF65-F5344CB8AC3E}">
        <p14:creationId xmlns:p14="http://schemas.microsoft.com/office/powerpoint/2010/main" val="556712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23" grpId="0" animBg="1"/>
      <p:bldP spid="24"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Instruction Set Design Issues</a:t>
            </a:r>
          </a:p>
        </p:txBody>
      </p:sp>
      <p:sp>
        <p:nvSpPr>
          <p:cNvPr id="3" name="Content Placeholder 2"/>
          <p:cNvSpPr>
            <a:spLocks noGrp="1"/>
          </p:cNvSpPr>
          <p:nvPr>
            <p:ph idx="1"/>
          </p:nvPr>
        </p:nvSpPr>
        <p:spPr>
          <a:xfrm>
            <a:off x="223736" y="1049919"/>
            <a:ext cx="11729081" cy="5190861"/>
          </a:xfrm>
        </p:spPr>
        <p:txBody>
          <a:bodyPr>
            <a:noAutofit/>
          </a:bodyPr>
          <a:lstStyle/>
          <a:p>
            <a:r>
              <a:rPr lang="en-US" sz="2800" b="1" dirty="0">
                <a:solidFill>
                  <a:schemeClr val="accent1"/>
                </a:solidFill>
              </a:rPr>
              <a:t>Some questions for you to keep in mind. We will revisit them </a:t>
            </a:r>
          </a:p>
          <a:p>
            <a:pPr marL="0" indent="0">
              <a:buNone/>
            </a:pPr>
            <a:r>
              <a:rPr lang="en-US" sz="2800" b="1" dirty="0">
                <a:solidFill>
                  <a:schemeClr val="accent1"/>
                </a:solidFill>
              </a:rPr>
              <a:t>	after Chapter 4 (Data Path implementation)</a:t>
            </a:r>
          </a:p>
          <a:p>
            <a:pPr lvl="1"/>
            <a:r>
              <a:rPr lang="en-US" sz="2800" b="1" dirty="0">
                <a:solidFill>
                  <a:schemeClr val="accent1"/>
                </a:solidFill>
              </a:rPr>
              <a:t>Should we have 1024 general-purpose registers in the ISA?</a:t>
            </a:r>
          </a:p>
          <a:p>
            <a:pPr lvl="1"/>
            <a:r>
              <a:rPr lang="en-US" sz="2800" b="1" dirty="0">
                <a:solidFill>
                  <a:schemeClr val="accent1"/>
                </a:solidFill>
              </a:rPr>
              <a:t>Should we use Compare and Branch or Condition-Code-based branches?</a:t>
            </a:r>
          </a:p>
          <a:p>
            <a:pPr lvl="1"/>
            <a:r>
              <a:rPr lang="en-US" sz="2800" b="1" dirty="0">
                <a:solidFill>
                  <a:schemeClr val="accent1"/>
                </a:solidFill>
              </a:rPr>
              <a:t>Should we support fast procedure calls with a single instruction?</a:t>
            </a:r>
          </a:p>
          <a:p>
            <a:pPr lvl="1"/>
            <a:r>
              <a:rPr lang="en-US" sz="2800" b="1" dirty="0">
                <a:solidFill>
                  <a:schemeClr val="accent1"/>
                </a:solidFill>
              </a:rPr>
              <a:t>Should we support 3-operand or 4-operand instruction formats?</a:t>
            </a:r>
          </a:p>
          <a:p>
            <a:pPr lvl="1"/>
            <a:r>
              <a:rPr lang="en-US" sz="2800" b="1" dirty="0">
                <a:solidFill>
                  <a:schemeClr val="accent1"/>
                </a:solidFill>
              </a:rPr>
              <a:t>Should we adopt register pairs to handle wider data requirements?</a:t>
            </a:r>
          </a:p>
          <a:p>
            <a:pPr lvl="1"/>
            <a:r>
              <a:rPr lang="en-US" sz="2800" b="1" dirty="0">
                <a:solidFill>
                  <a:schemeClr val="accent1"/>
                </a:solidFill>
              </a:rPr>
              <a:t>Should we support post-increment memory loads?</a:t>
            </a:r>
          </a:p>
          <a:p>
            <a:pPr lvl="1"/>
            <a:r>
              <a:rPr lang="en-US" sz="2800" b="1" dirty="0">
                <a:solidFill>
                  <a:schemeClr val="accent1"/>
                </a:solidFill>
              </a:rPr>
              <a:t>Should we support a dedicated bit for static branch prediction?</a:t>
            </a:r>
          </a:p>
          <a:p>
            <a:pPr lvl="1"/>
            <a:r>
              <a:rPr lang="en-US" sz="2800" b="1" dirty="0">
                <a:solidFill>
                  <a:schemeClr val="accent1"/>
                </a:solidFill>
              </a:rPr>
              <a:t>…..</a:t>
            </a:r>
          </a:p>
          <a:p>
            <a:pPr lvl="1"/>
            <a:endParaRPr lang="en-US" sz="2400" b="1" dirty="0">
              <a:solidFill>
                <a:schemeClr val="accent1"/>
              </a:solidFill>
            </a:endParaRPr>
          </a:p>
          <a:p>
            <a:pPr lvl="1"/>
            <a:endParaRPr lang="en-US" sz="2400" b="1" dirty="0">
              <a:solidFill>
                <a:schemeClr val="accent1"/>
              </a:solidFill>
            </a:endParaRPr>
          </a:p>
          <a:p>
            <a:pPr lvl="1"/>
            <a:endParaRPr lang="en-US" sz="2400" b="1" dirty="0">
              <a:solidFill>
                <a:schemeClr val="accent1"/>
              </a:solidFill>
            </a:endParaRPr>
          </a:p>
        </p:txBody>
      </p:sp>
      <p:sp>
        <p:nvSpPr>
          <p:cNvPr id="6" name="灯片编号占位符 5"/>
          <p:cNvSpPr>
            <a:spLocks noGrp="1"/>
          </p:cNvSpPr>
          <p:nvPr>
            <p:ph type="sldNum" sz="quarter" idx="10"/>
          </p:nvPr>
        </p:nvSpPr>
        <p:spPr/>
        <p:txBody>
          <a:bodyPr/>
          <a:lstStyle/>
          <a:p>
            <a:fld id="{D9B6BDF2-6896-4B98-8776-C18582F63BA5}" type="slidenum">
              <a:rPr lang="zh-TW" altLang="en-US" smtClean="0"/>
              <a:t>78</a:t>
            </a:fld>
            <a:endParaRPr lang="zh-TW" altLang="en-US"/>
          </a:p>
        </p:txBody>
      </p:sp>
    </p:spTree>
    <p:extLst>
      <p:ext uri="{BB962C8B-B14F-4D97-AF65-F5344CB8AC3E}">
        <p14:creationId xmlns:p14="http://schemas.microsoft.com/office/powerpoint/2010/main" val="257833779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759DE-CEA9-46B6-BCF1-900A22DA320E}"/>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223E8F55-ADF9-45B3-960F-9BC2226BA521}"/>
              </a:ext>
            </a:extLst>
          </p:cNvPr>
          <p:cNvSpPr>
            <a:spLocks noGrp="1"/>
          </p:cNvSpPr>
          <p:nvPr>
            <p:ph type="body" idx="1"/>
          </p:nvPr>
        </p:nvSpPr>
        <p:spPr>
          <a:xfrm>
            <a:off x="1048809" y="1701003"/>
            <a:ext cx="10363200" cy="1500187"/>
          </a:xfrm>
        </p:spPr>
        <p:txBody>
          <a:bodyPr/>
          <a:lstStyle/>
          <a:p>
            <a:pPr algn="ctr"/>
            <a:r>
              <a:rPr lang="en-US" sz="5400" dirty="0"/>
              <a:t>Backup Slides</a:t>
            </a:r>
          </a:p>
        </p:txBody>
      </p:sp>
      <p:sp>
        <p:nvSpPr>
          <p:cNvPr id="4" name="Slide Number Placeholder 3">
            <a:extLst>
              <a:ext uri="{FF2B5EF4-FFF2-40B4-BE49-F238E27FC236}">
                <a16:creationId xmlns:a16="http://schemas.microsoft.com/office/drawing/2014/main" id="{288F5823-628D-4602-89D4-F80826C8196A}"/>
              </a:ext>
            </a:extLst>
          </p:cNvPr>
          <p:cNvSpPr>
            <a:spLocks noGrp="1"/>
          </p:cNvSpPr>
          <p:nvPr>
            <p:ph type="sldNum" sz="quarter" idx="10"/>
          </p:nvPr>
        </p:nvSpPr>
        <p:spPr/>
        <p:txBody>
          <a:bodyPr/>
          <a:lstStyle/>
          <a:p>
            <a:fld id="{D9B6BDF2-6896-4B98-8776-C18582F63BA5}" type="slidenum">
              <a:rPr lang="zh-TW" altLang="en-US" smtClean="0"/>
              <a:pPr/>
              <a:t>79</a:t>
            </a:fld>
            <a:endParaRPr lang="zh-TW" altLang="en-US"/>
          </a:p>
        </p:txBody>
      </p:sp>
    </p:spTree>
    <p:extLst>
      <p:ext uri="{BB962C8B-B14F-4D97-AF65-F5344CB8AC3E}">
        <p14:creationId xmlns:p14="http://schemas.microsoft.com/office/powerpoint/2010/main" val="237717525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1900" y="-90071"/>
            <a:ext cx="8706089" cy="1143000"/>
          </a:xfrm>
        </p:spPr>
        <p:txBody>
          <a:bodyPr/>
          <a:lstStyle/>
          <a:p>
            <a:r>
              <a:rPr lang="en-US" dirty="0"/>
              <a:t>Branch Instruction</a:t>
            </a:r>
            <a:endParaRPr lang="en-US" sz="4000" i="1" dirty="0"/>
          </a:p>
        </p:txBody>
      </p:sp>
      <p:grpSp>
        <p:nvGrpSpPr>
          <p:cNvPr id="24" name="Group 23"/>
          <p:cNvGrpSpPr/>
          <p:nvPr/>
        </p:nvGrpSpPr>
        <p:grpSpPr>
          <a:xfrm>
            <a:off x="1801899" y="1052931"/>
            <a:ext cx="8267207" cy="656641"/>
            <a:chOff x="721854" y="2240557"/>
            <a:chExt cx="8267206" cy="656639"/>
          </a:xfrm>
        </p:grpSpPr>
        <p:sp>
          <p:nvSpPr>
            <p:cNvPr id="8" name="TextBox 7"/>
            <p:cNvSpPr txBox="1"/>
            <p:nvPr/>
          </p:nvSpPr>
          <p:spPr>
            <a:xfrm>
              <a:off x="721854" y="2543251"/>
              <a:ext cx="1178065"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[12]</a:t>
              </a:r>
            </a:p>
          </p:txBody>
        </p:sp>
        <p:sp>
          <p:nvSpPr>
            <p:cNvPr id="9" name="TextBox 8"/>
            <p:cNvSpPr txBox="1"/>
            <p:nvPr/>
          </p:nvSpPr>
          <p:spPr>
            <a:xfrm>
              <a:off x="1899919" y="2543251"/>
              <a:ext cx="1386840"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[10:5]</a:t>
              </a:r>
            </a:p>
          </p:txBody>
        </p:sp>
        <p:sp>
          <p:nvSpPr>
            <p:cNvPr id="10" name="TextBox 9"/>
            <p:cNvSpPr txBox="1"/>
            <p:nvPr/>
          </p:nvSpPr>
          <p:spPr>
            <a:xfrm>
              <a:off x="3278986" y="2543250"/>
              <a:ext cx="69850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rs2</a:t>
              </a:r>
            </a:p>
          </p:txBody>
        </p:sp>
        <p:sp>
          <p:nvSpPr>
            <p:cNvPr id="11" name="TextBox 10"/>
            <p:cNvSpPr txBox="1"/>
            <p:nvPr/>
          </p:nvSpPr>
          <p:spPr>
            <a:xfrm>
              <a:off x="3977487" y="2543254"/>
              <a:ext cx="69850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12" name="TextBox 11"/>
            <p:cNvSpPr txBox="1"/>
            <p:nvPr/>
          </p:nvSpPr>
          <p:spPr>
            <a:xfrm>
              <a:off x="4675987" y="2543252"/>
              <a:ext cx="86868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13" name="TextBox 12"/>
            <p:cNvSpPr txBox="1"/>
            <p:nvPr/>
          </p:nvSpPr>
          <p:spPr>
            <a:xfrm>
              <a:off x="5544667" y="2543251"/>
              <a:ext cx="1242060"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[4:1]</a:t>
              </a:r>
            </a:p>
          </p:txBody>
        </p:sp>
        <p:sp>
          <p:nvSpPr>
            <p:cNvPr id="14" name="TextBox 13"/>
            <p:cNvSpPr txBox="1"/>
            <p:nvPr/>
          </p:nvSpPr>
          <p:spPr>
            <a:xfrm>
              <a:off x="6786728" y="2543249"/>
              <a:ext cx="1153312"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a:t>
              </a:r>
            </a:p>
          </p:txBody>
        </p:sp>
        <p:sp>
          <p:nvSpPr>
            <p:cNvPr id="15" name="TextBox 14"/>
            <p:cNvSpPr txBox="1"/>
            <p:nvPr/>
          </p:nvSpPr>
          <p:spPr>
            <a:xfrm>
              <a:off x="7940040" y="2543249"/>
              <a:ext cx="104902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6" name="TextBox 15"/>
            <p:cNvSpPr txBox="1"/>
            <p:nvPr/>
          </p:nvSpPr>
          <p:spPr>
            <a:xfrm>
              <a:off x="1157640" y="2240557"/>
              <a:ext cx="306494" cy="353942"/>
            </a:xfrm>
            <a:prstGeom prst="rect">
              <a:avLst/>
            </a:prstGeom>
            <a:noFill/>
          </p:spPr>
          <p:txBody>
            <a:bodyPr wrap="none" rtlCol="0">
              <a:spAutoFit/>
            </a:bodyPr>
            <a:lstStyle/>
            <a:p>
              <a:pPr algn="ctr"/>
              <a:r>
                <a:rPr lang="en-US" sz="1700" dirty="0"/>
                <a:t>1</a:t>
              </a:r>
            </a:p>
          </p:txBody>
        </p:sp>
        <p:sp>
          <p:nvSpPr>
            <p:cNvPr id="17" name="TextBox 16"/>
            <p:cNvSpPr txBox="1"/>
            <p:nvPr/>
          </p:nvSpPr>
          <p:spPr>
            <a:xfrm>
              <a:off x="2440093" y="2240557"/>
              <a:ext cx="306494" cy="353942"/>
            </a:xfrm>
            <a:prstGeom prst="rect">
              <a:avLst/>
            </a:prstGeom>
            <a:noFill/>
          </p:spPr>
          <p:txBody>
            <a:bodyPr wrap="none" rtlCol="0">
              <a:spAutoFit/>
            </a:bodyPr>
            <a:lstStyle/>
            <a:p>
              <a:pPr algn="ctr"/>
              <a:r>
                <a:rPr lang="en-US" sz="1700" dirty="0"/>
                <a:t>6</a:t>
              </a:r>
            </a:p>
          </p:txBody>
        </p:sp>
        <p:sp>
          <p:nvSpPr>
            <p:cNvPr id="18" name="TextBox 17"/>
            <p:cNvSpPr txBox="1"/>
            <p:nvPr/>
          </p:nvSpPr>
          <p:spPr>
            <a:xfrm>
              <a:off x="3474989" y="2240557"/>
              <a:ext cx="306494" cy="353942"/>
            </a:xfrm>
            <a:prstGeom prst="rect">
              <a:avLst/>
            </a:prstGeom>
            <a:noFill/>
          </p:spPr>
          <p:txBody>
            <a:bodyPr wrap="none" rtlCol="0">
              <a:spAutoFit/>
            </a:bodyPr>
            <a:lstStyle/>
            <a:p>
              <a:pPr algn="ctr"/>
              <a:r>
                <a:rPr lang="en-US" sz="1700" dirty="0"/>
                <a:t>5</a:t>
              </a:r>
            </a:p>
          </p:txBody>
        </p:sp>
        <p:sp>
          <p:nvSpPr>
            <p:cNvPr id="19" name="TextBox 18"/>
            <p:cNvSpPr txBox="1"/>
            <p:nvPr/>
          </p:nvSpPr>
          <p:spPr>
            <a:xfrm>
              <a:off x="4173490" y="2240557"/>
              <a:ext cx="306494" cy="353942"/>
            </a:xfrm>
            <a:prstGeom prst="rect">
              <a:avLst/>
            </a:prstGeom>
            <a:noFill/>
          </p:spPr>
          <p:txBody>
            <a:bodyPr wrap="none" rtlCol="0">
              <a:spAutoFit/>
            </a:bodyPr>
            <a:lstStyle/>
            <a:p>
              <a:pPr algn="ctr"/>
              <a:r>
                <a:rPr lang="en-US" sz="1700" dirty="0"/>
                <a:t>5</a:t>
              </a:r>
            </a:p>
          </p:txBody>
        </p:sp>
        <p:sp>
          <p:nvSpPr>
            <p:cNvPr id="20" name="TextBox 19"/>
            <p:cNvSpPr txBox="1"/>
            <p:nvPr/>
          </p:nvSpPr>
          <p:spPr>
            <a:xfrm>
              <a:off x="4957081" y="2240557"/>
              <a:ext cx="306494" cy="353942"/>
            </a:xfrm>
            <a:prstGeom prst="rect">
              <a:avLst/>
            </a:prstGeom>
            <a:noFill/>
          </p:spPr>
          <p:txBody>
            <a:bodyPr wrap="none" rtlCol="0">
              <a:spAutoFit/>
            </a:bodyPr>
            <a:lstStyle/>
            <a:p>
              <a:pPr algn="ctr"/>
              <a:r>
                <a:rPr lang="en-US" sz="1700" dirty="0"/>
                <a:t>3</a:t>
              </a:r>
            </a:p>
          </p:txBody>
        </p:sp>
        <p:sp>
          <p:nvSpPr>
            <p:cNvPr id="21" name="TextBox 20"/>
            <p:cNvSpPr txBox="1"/>
            <p:nvPr/>
          </p:nvSpPr>
          <p:spPr>
            <a:xfrm>
              <a:off x="6012450" y="2240557"/>
              <a:ext cx="306494" cy="353942"/>
            </a:xfrm>
            <a:prstGeom prst="rect">
              <a:avLst/>
            </a:prstGeom>
            <a:noFill/>
          </p:spPr>
          <p:txBody>
            <a:bodyPr wrap="none" rtlCol="0">
              <a:spAutoFit/>
            </a:bodyPr>
            <a:lstStyle/>
            <a:p>
              <a:pPr algn="ctr"/>
              <a:r>
                <a:rPr lang="en-US" sz="1700" dirty="0"/>
                <a:t>4</a:t>
              </a:r>
            </a:p>
          </p:txBody>
        </p:sp>
        <p:sp>
          <p:nvSpPr>
            <p:cNvPr id="22" name="TextBox 21"/>
            <p:cNvSpPr txBox="1"/>
            <p:nvPr/>
          </p:nvSpPr>
          <p:spPr>
            <a:xfrm>
              <a:off x="7210138" y="2240557"/>
              <a:ext cx="306494" cy="353942"/>
            </a:xfrm>
            <a:prstGeom prst="rect">
              <a:avLst/>
            </a:prstGeom>
            <a:noFill/>
          </p:spPr>
          <p:txBody>
            <a:bodyPr wrap="none" rtlCol="0">
              <a:spAutoFit/>
            </a:bodyPr>
            <a:lstStyle/>
            <a:p>
              <a:pPr algn="ctr"/>
              <a:r>
                <a:rPr lang="en-US" sz="1700" dirty="0"/>
                <a:t>1</a:t>
              </a:r>
            </a:p>
          </p:txBody>
        </p:sp>
        <p:sp>
          <p:nvSpPr>
            <p:cNvPr id="23" name="TextBox 22"/>
            <p:cNvSpPr txBox="1"/>
            <p:nvPr/>
          </p:nvSpPr>
          <p:spPr>
            <a:xfrm>
              <a:off x="8311303" y="2240557"/>
              <a:ext cx="306494" cy="353942"/>
            </a:xfrm>
            <a:prstGeom prst="rect">
              <a:avLst/>
            </a:prstGeom>
            <a:noFill/>
          </p:spPr>
          <p:txBody>
            <a:bodyPr wrap="none" rtlCol="0">
              <a:spAutoFit/>
            </a:bodyPr>
            <a:lstStyle/>
            <a:p>
              <a:pPr algn="ctr"/>
              <a:r>
                <a:rPr lang="en-US" sz="1700" dirty="0"/>
                <a:t>7</a:t>
              </a:r>
            </a:p>
          </p:txBody>
        </p:sp>
      </p:grpSp>
      <p:sp>
        <p:nvSpPr>
          <p:cNvPr id="25" name="TextBox 24"/>
          <p:cNvSpPr txBox="1"/>
          <p:nvPr/>
        </p:nvSpPr>
        <p:spPr>
          <a:xfrm>
            <a:off x="1801899" y="1861270"/>
            <a:ext cx="8587247" cy="369332"/>
          </a:xfrm>
          <a:prstGeom prst="rect">
            <a:avLst/>
          </a:prstGeom>
          <a:noFill/>
        </p:spPr>
        <p:txBody>
          <a:bodyPr wrap="square" rtlCol="0">
            <a:spAutoFit/>
          </a:bodyPr>
          <a:lstStyle/>
          <a:p>
            <a:r>
              <a:rPr lang="en-US" dirty="0"/>
              <a:t>B-</a:t>
            </a:r>
            <a:r>
              <a:rPr lang="en-US" dirty="0" err="1"/>
              <a:t>imm</a:t>
            </a:r>
            <a:r>
              <a:rPr lang="en-US" dirty="0"/>
              <a:t> = </a:t>
            </a:r>
            <a:r>
              <a:rPr lang="en-US" dirty="0" err="1"/>
              <a:t>signExtend</a:t>
            </a:r>
            <a:r>
              <a:rPr lang="en-US" dirty="0"/>
              <a:t>({</a:t>
            </a:r>
            <a:r>
              <a:rPr lang="en-US" dirty="0" err="1">
                <a:solidFill>
                  <a:srgbClr val="0000FF"/>
                </a:solidFill>
              </a:rPr>
              <a:t>inst</a:t>
            </a:r>
            <a:r>
              <a:rPr lang="en-US" dirty="0">
                <a:solidFill>
                  <a:srgbClr val="0000FF"/>
                </a:solidFill>
              </a:rPr>
              <a:t>[31], </a:t>
            </a:r>
            <a:r>
              <a:rPr lang="en-US" dirty="0" err="1"/>
              <a:t>inst</a:t>
            </a:r>
            <a:r>
              <a:rPr lang="en-US" dirty="0"/>
              <a:t>[7</a:t>
            </a:r>
            <a:r>
              <a:rPr lang="en-US" dirty="0">
                <a:solidFill>
                  <a:srgbClr val="00B050"/>
                </a:solidFill>
              </a:rPr>
              <a:t>], </a:t>
            </a:r>
            <a:r>
              <a:rPr lang="en-US" dirty="0" err="1">
                <a:solidFill>
                  <a:srgbClr val="00B050"/>
                </a:solidFill>
              </a:rPr>
              <a:t>inst</a:t>
            </a:r>
            <a:r>
              <a:rPr lang="en-US" dirty="0">
                <a:solidFill>
                  <a:srgbClr val="00B050"/>
                </a:solidFill>
              </a:rPr>
              <a:t>[30:25], </a:t>
            </a:r>
            <a:r>
              <a:rPr lang="en-US" dirty="0" err="1">
                <a:solidFill>
                  <a:srgbClr val="FF0000"/>
                </a:solidFill>
              </a:rPr>
              <a:t>inst</a:t>
            </a:r>
            <a:r>
              <a:rPr lang="en-US" dirty="0">
                <a:solidFill>
                  <a:srgbClr val="FF0000"/>
                </a:solidFill>
              </a:rPr>
              <a:t>[11:8], </a:t>
            </a:r>
            <a:r>
              <a:rPr lang="en-US" dirty="0"/>
              <a:t>1’b0})</a:t>
            </a:r>
          </a:p>
        </p:txBody>
      </p:sp>
      <p:sp>
        <p:nvSpPr>
          <p:cNvPr id="4" name="Date Placeholder 3"/>
          <p:cNvSpPr>
            <a:spLocks noGrp="1"/>
          </p:cNvSpPr>
          <p:nvPr>
            <p:ph type="dt" sz="half" idx="10"/>
          </p:nvPr>
        </p:nvSpPr>
        <p:spPr/>
        <p:txBody>
          <a:bodyPr/>
          <a:lstStyle/>
          <a:p>
            <a:pPr>
              <a:defRPr/>
            </a:pPr>
            <a:r>
              <a:rPr lang="en-US"/>
              <a:t>September 27, 2017</a:t>
            </a:r>
            <a:endParaRPr lang="en-US" dirty="0"/>
          </a:p>
        </p:txBody>
      </p:sp>
      <p:sp>
        <p:nvSpPr>
          <p:cNvPr id="27" name="Footer Placeholder 26"/>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28" name="Slide Number Placeholder 27"/>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80</a:t>
            </a:fld>
            <a:endParaRPr lang="en-US" dirty="0"/>
          </a:p>
        </p:txBody>
      </p:sp>
      <p:sp>
        <p:nvSpPr>
          <p:cNvPr id="51" name="Content Placeholder 2">
            <a:extLst>
              <a:ext uri="{FF2B5EF4-FFF2-40B4-BE49-F238E27FC236}">
                <a16:creationId xmlns:a16="http://schemas.microsoft.com/office/drawing/2014/main" id="{A769BBBB-579E-4630-B9B6-08A737BAAE3B}"/>
              </a:ext>
            </a:extLst>
          </p:cNvPr>
          <p:cNvSpPr>
            <a:spLocks noGrp="1"/>
          </p:cNvSpPr>
          <p:nvPr>
            <p:ph idx="1"/>
          </p:nvPr>
        </p:nvSpPr>
        <p:spPr>
          <a:xfrm>
            <a:off x="1686412" y="2289024"/>
            <a:ext cx="3654845" cy="3802744"/>
          </a:xfrm>
        </p:spPr>
        <p:txBody>
          <a:bodyPr/>
          <a:lstStyle/>
          <a:p>
            <a:pPr marL="0" indent="0">
              <a:buNone/>
            </a:pPr>
            <a:r>
              <a:rPr lang="en-US" sz="2400" dirty="0"/>
              <a:t>Loop: 	</a:t>
            </a:r>
            <a:r>
              <a:rPr lang="en-US" sz="2400" dirty="0" err="1"/>
              <a:t>beq</a:t>
            </a:r>
            <a:r>
              <a:rPr lang="en-US" sz="2400" dirty="0"/>
              <a:t> x19,x10,end</a:t>
            </a:r>
          </a:p>
          <a:p>
            <a:pPr marL="0" indent="0">
              <a:buNone/>
            </a:pPr>
            <a:r>
              <a:rPr lang="en-US" sz="2400" dirty="0"/>
              <a:t>	add x19,x18,x10</a:t>
            </a:r>
          </a:p>
          <a:p>
            <a:pPr marL="0" indent="0">
              <a:buNone/>
            </a:pPr>
            <a:r>
              <a:rPr lang="en-US" sz="2400" dirty="0"/>
              <a:t>	</a:t>
            </a:r>
            <a:r>
              <a:rPr lang="en-US" sz="2400" dirty="0" err="1"/>
              <a:t>addi</a:t>
            </a:r>
            <a:r>
              <a:rPr lang="en-US" sz="2400" dirty="0"/>
              <a:t> x19,x19,-1</a:t>
            </a:r>
          </a:p>
          <a:p>
            <a:pPr marL="0" indent="0">
              <a:buNone/>
            </a:pPr>
            <a:r>
              <a:rPr lang="en-US" sz="2400" dirty="0"/>
              <a:t>	j        loop</a:t>
            </a:r>
          </a:p>
          <a:p>
            <a:pPr marL="0" indent="0">
              <a:buNone/>
            </a:pPr>
            <a:r>
              <a:rPr lang="en-US" sz="2400" dirty="0"/>
              <a:t>end:	//branch target</a:t>
            </a:r>
          </a:p>
          <a:p>
            <a:pPr marL="0" indent="0">
              <a:buNone/>
            </a:pPr>
            <a:endParaRPr lang="en-US" sz="2400" dirty="0"/>
          </a:p>
        </p:txBody>
      </p:sp>
      <p:sp>
        <p:nvSpPr>
          <p:cNvPr id="55" name="Content Placeholder 2">
            <a:extLst>
              <a:ext uri="{FF2B5EF4-FFF2-40B4-BE49-F238E27FC236}">
                <a16:creationId xmlns:a16="http://schemas.microsoft.com/office/drawing/2014/main" id="{13830773-F363-4869-AF1F-05C64C1D8C11}"/>
              </a:ext>
            </a:extLst>
          </p:cNvPr>
          <p:cNvSpPr txBox="1">
            <a:spLocks/>
          </p:cNvSpPr>
          <p:nvPr/>
        </p:nvSpPr>
        <p:spPr bwMode="auto">
          <a:xfrm>
            <a:off x="5426134" y="2580651"/>
            <a:ext cx="3654845" cy="489068"/>
          </a:xfrm>
          <a:prstGeom prst="rect">
            <a:avLst/>
          </a:prstGeom>
          <a:noFill/>
          <a:ln w="9525">
            <a:noFill/>
            <a:miter lim="800000"/>
          </a:ln>
        </p:spPr>
        <p:txBody>
          <a:bodyPr vert="horz" wrap="square" lIns="121920" tIns="60960" rIns="121920" bIns="6096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50202020403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20204" pitchFamily="34" charset="0"/>
              <a:buChar char="–"/>
              <a:defRPr kumimoji="1" sz="2000">
                <a:solidFill>
                  <a:schemeClr val="tx1"/>
                </a:solidFill>
                <a:latin typeface="Calibri" panose="020F050202020403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502020204030204" pitchFamily="34" charset="0"/>
                <a:ea typeface="標楷體" pitchFamily="65" charset="-120"/>
                <a:cs typeface="Calibri" panose="020F050202020403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502020204030204" pitchFamily="34" charset="0"/>
                <a:ea typeface="標楷體" pitchFamily="65" charset="-120"/>
                <a:cs typeface="Calibri" panose="020F0502020204030204" pitchFamily="34" charset="0"/>
              </a:defRPr>
            </a:lvl4pPr>
            <a:lvl5pPr marL="1543050" indent="-171450" algn="l" rtl="0" eaLnBrk="1" fontAlgn="base" hangingPunct="1">
              <a:spcBef>
                <a:spcPct val="20000"/>
              </a:spcBef>
              <a:spcAft>
                <a:spcPct val="0"/>
              </a:spcAft>
              <a:buChar char="»"/>
              <a:defRPr kumimoji="1" sz="1400">
                <a:solidFill>
                  <a:schemeClr val="tx1"/>
                </a:solidFill>
                <a:latin typeface="Calibri" panose="020F0502020204030204" pitchFamily="34" charset="0"/>
                <a:ea typeface="標楷體" pitchFamily="65" charset="-120"/>
                <a:cs typeface="Calibri" panose="020F050202020403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marL="0" indent="0">
              <a:buNone/>
            </a:pPr>
            <a:r>
              <a:rPr lang="en-US" kern="0" dirty="0"/>
              <a:t>What is the branch offset?</a:t>
            </a:r>
          </a:p>
          <a:p>
            <a:pPr marL="0" indent="0">
              <a:buNone/>
            </a:pPr>
            <a:endParaRPr lang="en-US" kern="0" dirty="0"/>
          </a:p>
        </p:txBody>
      </p:sp>
      <p:sp>
        <p:nvSpPr>
          <p:cNvPr id="57" name="Content Placeholder 2">
            <a:extLst>
              <a:ext uri="{FF2B5EF4-FFF2-40B4-BE49-F238E27FC236}">
                <a16:creationId xmlns:a16="http://schemas.microsoft.com/office/drawing/2014/main" id="{5ACC780F-6D43-4CA5-8454-6BD713489F4C}"/>
              </a:ext>
            </a:extLst>
          </p:cNvPr>
          <p:cNvSpPr txBox="1">
            <a:spLocks/>
          </p:cNvSpPr>
          <p:nvPr/>
        </p:nvSpPr>
        <p:spPr bwMode="auto">
          <a:xfrm>
            <a:off x="5453172" y="3184466"/>
            <a:ext cx="3654845" cy="489068"/>
          </a:xfrm>
          <a:prstGeom prst="rect">
            <a:avLst/>
          </a:prstGeom>
          <a:noFill/>
          <a:ln w="9525">
            <a:noFill/>
            <a:miter lim="800000"/>
          </a:ln>
        </p:spPr>
        <p:txBody>
          <a:bodyPr vert="horz" wrap="square" lIns="121920" tIns="60960" rIns="121920" bIns="6096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50202020403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20204" pitchFamily="34" charset="0"/>
              <a:buChar char="–"/>
              <a:defRPr kumimoji="1" sz="2000">
                <a:solidFill>
                  <a:schemeClr val="tx1"/>
                </a:solidFill>
                <a:latin typeface="Calibri" panose="020F050202020403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502020204030204" pitchFamily="34" charset="0"/>
                <a:ea typeface="標楷體" pitchFamily="65" charset="-120"/>
                <a:cs typeface="Calibri" panose="020F050202020403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502020204030204" pitchFamily="34" charset="0"/>
                <a:ea typeface="標楷體" pitchFamily="65" charset="-120"/>
                <a:cs typeface="Calibri" panose="020F0502020204030204" pitchFamily="34" charset="0"/>
              </a:defRPr>
            </a:lvl4pPr>
            <a:lvl5pPr marL="1543050" indent="-171450" algn="l" rtl="0" eaLnBrk="1" fontAlgn="base" hangingPunct="1">
              <a:spcBef>
                <a:spcPct val="20000"/>
              </a:spcBef>
              <a:spcAft>
                <a:spcPct val="0"/>
              </a:spcAft>
              <a:buChar char="»"/>
              <a:defRPr kumimoji="1" sz="1400">
                <a:solidFill>
                  <a:schemeClr val="tx1"/>
                </a:solidFill>
                <a:latin typeface="Calibri" panose="020F0502020204030204" pitchFamily="34" charset="0"/>
                <a:ea typeface="標楷體" pitchFamily="65" charset="-120"/>
                <a:cs typeface="Calibri" panose="020F050202020403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marL="0" indent="0">
              <a:buNone/>
            </a:pPr>
            <a:r>
              <a:rPr lang="en-US" kern="0" dirty="0"/>
              <a:t>16</a:t>
            </a:r>
          </a:p>
        </p:txBody>
      </p:sp>
      <p:sp>
        <p:nvSpPr>
          <p:cNvPr id="62" name="Content Placeholder 2">
            <a:extLst>
              <a:ext uri="{FF2B5EF4-FFF2-40B4-BE49-F238E27FC236}">
                <a16:creationId xmlns:a16="http://schemas.microsoft.com/office/drawing/2014/main" id="{A537618B-E396-48C5-BDBB-2391F7EEA941}"/>
              </a:ext>
            </a:extLst>
          </p:cNvPr>
          <p:cNvSpPr txBox="1">
            <a:spLocks/>
          </p:cNvSpPr>
          <p:nvPr/>
        </p:nvSpPr>
        <p:spPr bwMode="auto">
          <a:xfrm>
            <a:off x="5487302" y="3847687"/>
            <a:ext cx="3654845" cy="489068"/>
          </a:xfrm>
          <a:prstGeom prst="rect">
            <a:avLst/>
          </a:prstGeom>
          <a:noFill/>
          <a:ln w="9525">
            <a:noFill/>
            <a:miter lim="800000"/>
          </a:ln>
        </p:spPr>
        <p:txBody>
          <a:bodyPr vert="horz" wrap="square" lIns="121920" tIns="60960" rIns="121920" bIns="6096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50202020403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20204" pitchFamily="34" charset="0"/>
              <a:buChar char="–"/>
              <a:defRPr kumimoji="1" sz="2000">
                <a:solidFill>
                  <a:schemeClr val="tx1"/>
                </a:solidFill>
                <a:latin typeface="Calibri" panose="020F050202020403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502020204030204" pitchFamily="34" charset="0"/>
                <a:ea typeface="標楷體" pitchFamily="65" charset="-120"/>
                <a:cs typeface="Calibri" panose="020F050202020403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502020204030204" pitchFamily="34" charset="0"/>
                <a:ea typeface="標楷體" pitchFamily="65" charset="-120"/>
                <a:cs typeface="Calibri" panose="020F0502020204030204" pitchFamily="34" charset="0"/>
              </a:defRPr>
            </a:lvl4pPr>
            <a:lvl5pPr marL="1543050" indent="-171450" algn="l" rtl="0" eaLnBrk="1" fontAlgn="base" hangingPunct="1">
              <a:spcBef>
                <a:spcPct val="20000"/>
              </a:spcBef>
              <a:spcAft>
                <a:spcPct val="0"/>
              </a:spcAft>
              <a:buChar char="»"/>
              <a:defRPr kumimoji="1" sz="1400">
                <a:solidFill>
                  <a:schemeClr val="tx1"/>
                </a:solidFill>
                <a:latin typeface="Calibri" panose="020F0502020204030204" pitchFamily="34" charset="0"/>
                <a:ea typeface="標楷體" pitchFamily="65" charset="-120"/>
                <a:cs typeface="Calibri" panose="020F050202020403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marL="0" indent="0">
              <a:buNone/>
            </a:pPr>
            <a:r>
              <a:rPr lang="en-US" kern="0" dirty="0"/>
              <a:t>How to encode it ?</a:t>
            </a:r>
          </a:p>
          <a:p>
            <a:pPr marL="0" indent="0">
              <a:buNone/>
            </a:pPr>
            <a:endParaRPr lang="en-US" kern="0" dirty="0"/>
          </a:p>
        </p:txBody>
      </p:sp>
      <p:sp>
        <p:nvSpPr>
          <p:cNvPr id="63" name="Content Placeholder 2">
            <a:extLst>
              <a:ext uri="{FF2B5EF4-FFF2-40B4-BE49-F238E27FC236}">
                <a16:creationId xmlns:a16="http://schemas.microsoft.com/office/drawing/2014/main" id="{134AF2A1-9671-45BF-A989-2DC8F731214C}"/>
              </a:ext>
            </a:extLst>
          </p:cNvPr>
          <p:cNvSpPr txBox="1">
            <a:spLocks/>
          </p:cNvSpPr>
          <p:nvPr/>
        </p:nvSpPr>
        <p:spPr bwMode="auto">
          <a:xfrm>
            <a:off x="5477449" y="4617575"/>
            <a:ext cx="3953964" cy="489068"/>
          </a:xfrm>
          <a:prstGeom prst="rect">
            <a:avLst/>
          </a:prstGeom>
          <a:noFill/>
          <a:ln w="9525">
            <a:noFill/>
            <a:miter lim="800000"/>
          </a:ln>
        </p:spPr>
        <p:txBody>
          <a:bodyPr vert="horz" wrap="square" lIns="121920" tIns="60960" rIns="121920" bIns="6096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50202020403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20204" pitchFamily="34" charset="0"/>
              <a:buChar char="–"/>
              <a:defRPr kumimoji="1" sz="2000">
                <a:solidFill>
                  <a:schemeClr val="tx1"/>
                </a:solidFill>
                <a:latin typeface="Calibri" panose="020F050202020403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502020204030204" pitchFamily="34" charset="0"/>
                <a:ea typeface="標楷體" pitchFamily="65" charset="-120"/>
                <a:cs typeface="Calibri" panose="020F050202020403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502020204030204" pitchFamily="34" charset="0"/>
                <a:ea typeface="標楷體" pitchFamily="65" charset="-120"/>
                <a:cs typeface="Calibri" panose="020F0502020204030204" pitchFamily="34" charset="0"/>
              </a:defRPr>
            </a:lvl4pPr>
            <a:lvl5pPr marL="1543050" indent="-171450" algn="l" rtl="0" eaLnBrk="1" fontAlgn="base" hangingPunct="1">
              <a:spcBef>
                <a:spcPct val="20000"/>
              </a:spcBef>
              <a:spcAft>
                <a:spcPct val="0"/>
              </a:spcAft>
              <a:buChar char="»"/>
              <a:defRPr kumimoji="1" sz="1400">
                <a:solidFill>
                  <a:schemeClr val="tx1"/>
                </a:solidFill>
                <a:latin typeface="Calibri" panose="020F0502020204030204" pitchFamily="34" charset="0"/>
                <a:ea typeface="標楷體" pitchFamily="65" charset="-120"/>
                <a:cs typeface="Calibri" panose="020F050202020403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marL="0" indent="0">
              <a:buNone/>
            </a:pPr>
            <a:r>
              <a:rPr lang="en-US" kern="0" dirty="0"/>
              <a:t>Intuitively: </a:t>
            </a:r>
            <a:r>
              <a:rPr lang="en-US" kern="0" dirty="0">
                <a:solidFill>
                  <a:srgbClr val="0000FF"/>
                </a:solidFill>
              </a:rPr>
              <a:t>0</a:t>
            </a:r>
            <a:r>
              <a:rPr lang="en-US" kern="0" dirty="0"/>
              <a:t>0</a:t>
            </a:r>
            <a:r>
              <a:rPr lang="en-US" kern="0" dirty="0">
                <a:solidFill>
                  <a:srgbClr val="00B050"/>
                </a:solidFill>
              </a:rPr>
              <a:t>000000</a:t>
            </a:r>
            <a:r>
              <a:rPr lang="en-US" kern="0" dirty="0">
                <a:solidFill>
                  <a:srgbClr val="FF0000"/>
                </a:solidFill>
              </a:rPr>
              <a:t>1000 </a:t>
            </a:r>
            <a:r>
              <a:rPr lang="en-US" kern="0" dirty="0">
                <a:solidFill>
                  <a:schemeClr val="tx2"/>
                </a:solidFill>
              </a:rPr>
              <a:t>0</a:t>
            </a:r>
          </a:p>
        </p:txBody>
      </p:sp>
      <p:grpSp>
        <p:nvGrpSpPr>
          <p:cNvPr id="71" name="Group 70">
            <a:extLst>
              <a:ext uri="{FF2B5EF4-FFF2-40B4-BE49-F238E27FC236}">
                <a16:creationId xmlns:a16="http://schemas.microsoft.com/office/drawing/2014/main" id="{B99933DA-35EE-4947-A5B9-4CA3EA15F1C3}"/>
              </a:ext>
            </a:extLst>
          </p:cNvPr>
          <p:cNvGrpSpPr/>
          <p:nvPr/>
        </p:nvGrpSpPr>
        <p:grpSpPr>
          <a:xfrm>
            <a:off x="1872743" y="5173902"/>
            <a:ext cx="8267207" cy="656639"/>
            <a:chOff x="721854" y="2240557"/>
            <a:chExt cx="8267206" cy="656637"/>
          </a:xfrm>
        </p:grpSpPr>
        <p:sp>
          <p:nvSpPr>
            <p:cNvPr id="72" name="TextBox 71">
              <a:extLst>
                <a:ext uri="{FF2B5EF4-FFF2-40B4-BE49-F238E27FC236}">
                  <a16:creationId xmlns:a16="http://schemas.microsoft.com/office/drawing/2014/main" id="{3CF17D0E-31E3-41CD-BA00-B3E049A40CE4}"/>
                </a:ext>
              </a:extLst>
            </p:cNvPr>
            <p:cNvSpPr txBox="1"/>
            <p:nvPr/>
          </p:nvSpPr>
          <p:spPr>
            <a:xfrm>
              <a:off x="721854" y="2543251"/>
              <a:ext cx="1178065" cy="353942"/>
            </a:xfrm>
            <a:prstGeom prst="rect">
              <a:avLst/>
            </a:prstGeom>
            <a:noFill/>
            <a:ln w="12700">
              <a:solidFill>
                <a:schemeClr val="tx1"/>
              </a:solidFill>
            </a:ln>
          </p:spPr>
          <p:txBody>
            <a:bodyPr wrap="square" rtlCol="0">
              <a:spAutoFit/>
            </a:bodyPr>
            <a:lstStyle/>
            <a:p>
              <a:pPr algn="ctr"/>
              <a:r>
                <a:rPr lang="en-US" sz="1700" dirty="0">
                  <a:solidFill>
                    <a:srgbClr val="0000FF"/>
                  </a:solidFill>
                </a:rPr>
                <a:t>0</a:t>
              </a:r>
            </a:p>
          </p:txBody>
        </p:sp>
        <p:sp>
          <p:nvSpPr>
            <p:cNvPr id="73" name="TextBox 72">
              <a:extLst>
                <a:ext uri="{FF2B5EF4-FFF2-40B4-BE49-F238E27FC236}">
                  <a16:creationId xmlns:a16="http://schemas.microsoft.com/office/drawing/2014/main" id="{C41B95B8-966E-41A0-8854-FC5C58BCF622}"/>
                </a:ext>
              </a:extLst>
            </p:cNvPr>
            <p:cNvSpPr txBox="1"/>
            <p:nvPr/>
          </p:nvSpPr>
          <p:spPr>
            <a:xfrm>
              <a:off x="1899919" y="2543251"/>
              <a:ext cx="1386840" cy="353942"/>
            </a:xfrm>
            <a:prstGeom prst="rect">
              <a:avLst/>
            </a:prstGeom>
            <a:noFill/>
            <a:ln w="12700">
              <a:solidFill>
                <a:schemeClr val="tx1"/>
              </a:solidFill>
            </a:ln>
          </p:spPr>
          <p:txBody>
            <a:bodyPr wrap="square" rtlCol="0">
              <a:spAutoFit/>
            </a:bodyPr>
            <a:lstStyle/>
            <a:p>
              <a:pPr algn="ctr"/>
              <a:r>
                <a:rPr lang="en-US" sz="1700" dirty="0">
                  <a:solidFill>
                    <a:srgbClr val="00B050"/>
                  </a:solidFill>
                </a:rPr>
                <a:t>000000</a:t>
              </a:r>
            </a:p>
          </p:txBody>
        </p:sp>
        <p:sp>
          <p:nvSpPr>
            <p:cNvPr id="74" name="TextBox 73">
              <a:extLst>
                <a:ext uri="{FF2B5EF4-FFF2-40B4-BE49-F238E27FC236}">
                  <a16:creationId xmlns:a16="http://schemas.microsoft.com/office/drawing/2014/main" id="{3487ADE4-56E5-49FB-877C-334DDA0B01F3}"/>
                </a:ext>
              </a:extLst>
            </p:cNvPr>
            <p:cNvSpPr txBox="1"/>
            <p:nvPr/>
          </p:nvSpPr>
          <p:spPr>
            <a:xfrm>
              <a:off x="3278986" y="2543250"/>
              <a:ext cx="69850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rs2</a:t>
              </a:r>
            </a:p>
          </p:txBody>
        </p:sp>
        <p:sp>
          <p:nvSpPr>
            <p:cNvPr id="75" name="TextBox 74">
              <a:extLst>
                <a:ext uri="{FF2B5EF4-FFF2-40B4-BE49-F238E27FC236}">
                  <a16:creationId xmlns:a16="http://schemas.microsoft.com/office/drawing/2014/main" id="{E4E0F4A7-8BE0-412A-AB8A-F54EA0D46A39}"/>
                </a:ext>
              </a:extLst>
            </p:cNvPr>
            <p:cNvSpPr txBox="1"/>
            <p:nvPr/>
          </p:nvSpPr>
          <p:spPr>
            <a:xfrm>
              <a:off x="3977487" y="2543252"/>
              <a:ext cx="69850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76" name="TextBox 75">
              <a:extLst>
                <a:ext uri="{FF2B5EF4-FFF2-40B4-BE49-F238E27FC236}">
                  <a16:creationId xmlns:a16="http://schemas.microsoft.com/office/drawing/2014/main" id="{2DC83C32-35E6-46F3-9527-80BA3552DF51}"/>
                </a:ext>
              </a:extLst>
            </p:cNvPr>
            <p:cNvSpPr txBox="1"/>
            <p:nvPr/>
          </p:nvSpPr>
          <p:spPr>
            <a:xfrm>
              <a:off x="4675987" y="2543252"/>
              <a:ext cx="86868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77" name="TextBox 76">
              <a:extLst>
                <a:ext uri="{FF2B5EF4-FFF2-40B4-BE49-F238E27FC236}">
                  <a16:creationId xmlns:a16="http://schemas.microsoft.com/office/drawing/2014/main" id="{9C1D2FF5-D9A8-4396-A645-5D423CDBBA85}"/>
                </a:ext>
              </a:extLst>
            </p:cNvPr>
            <p:cNvSpPr txBox="1"/>
            <p:nvPr/>
          </p:nvSpPr>
          <p:spPr>
            <a:xfrm>
              <a:off x="5544667" y="2543251"/>
              <a:ext cx="1242060" cy="353942"/>
            </a:xfrm>
            <a:prstGeom prst="rect">
              <a:avLst/>
            </a:prstGeom>
            <a:noFill/>
            <a:ln w="12700">
              <a:solidFill>
                <a:schemeClr val="tx1"/>
              </a:solidFill>
            </a:ln>
          </p:spPr>
          <p:txBody>
            <a:bodyPr wrap="square" rtlCol="0">
              <a:spAutoFit/>
            </a:bodyPr>
            <a:lstStyle/>
            <a:p>
              <a:pPr algn="ctr"/>
              <a:r>
                <a:rPr lang="en-US" sz="1700" dirty="0">
                  <a:solidFill>
                    <a:srgbClr val="FF0000"/>
                  </a:solidFill>
                </a:rPr>
                <a:t>1000</a:t>
              </a:r>
            </a:p>
          </p:txBody>
        </p:sp>
        <p:sp>
          <p:nvSpPr>
            <p:cNvPr id="78" name="TextBox 77">
              <a:extLst>
                <a:ext uri="{FF2B5EF4-FFF2-40B4-BE49-F238E27FC236}">
                  <a16:creationId xmlns:a16="http://schemas.microsoft.com/office/drawing/2014/main" id="{4392F1E1-F24C-4C9C-B67C-621ABB96A831}"/>
                </a:ext>
              </a:extLst>
            </p:cNvPr>
            <p:cNvSpPr txBox="1"/>
            <p:nvPr/>
          </p:nvSpPr>
          <p:spPr>
            <a:xfrm>
              <a:off x="6786728" y="2543249"/>
              <a:ext cx="1153312"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0</a:t>
              </a:r>
            </a:p>
          </p:txBody>
        </p:sp>
        <p:sp>
          <p:nvSpPr>
            <p:cNvPr id="79" name="TextBox 78">
              <a:extLst>
                <a:ext uri="{FF2B5EF4-FFF2-40B4-BE49-F238E27FC236}">
                  <a16:creationId xmlns:a16="http://schemas.microsoft.com/office/drawing/2014/main" id="{FC7C212A-3D31-4EDA-8EAB-5CBA90CC3D7E}"/>
                </a:ext>
              </a:extLst>
            </p:cNvPr>
            <p:cNvSpPr txBox="1"/>
            <p:nvPr/>
          </p:nvSpPr>
          <p:spPr>
            <a:xfrm>
              <a:off x="7940040" y="2543249"/>
              <a:ext cx="104902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80" name="TextBox 79">
              <a:extLst>
                <a:ext uri="{FF2B5EF4-FFF2-40B4-BE49-F238E27FC236}">
                  <a16:creationId xmlns:a16="http://schemas.microsoft.com/office/drawing/2014/main" id="{5774B951-2449-472C-97D5-BE40D29EA3F3}"/>
                </a:ext>
              </a:extLst>
            </p:cNvPr>
            <p:cNvSpPr txBox="1"/>
            <p:nvPr/>
          </p:nvSpPr>
          <p:spPr>
            <a:xfrm>
              <a:off x="1157640" y="2240557"/>
              <a:ext cx="306494" cy="353942"/>
            </a:xfrm>
            <a:prstGeom prst="rect">
              <a:avLst/>
            </a:prstGeom>
            <a:noFill/>
          </p:spPr>
          <p:txBody>
            <a:bodyPr wrap="none" rtlCol="0">
              <a:spAutoFit/>
            </a:bodyPr>
            <a:lstStyle/>
            <a:p>
              <a:pPr algn="ctr"/>
              <a:r>
                <a:rPr lang="en-US" sz="1700" dirty="0"/>
                <a:t>1</a:t>
              </a:r>
            </a:p>
          </p:txBody>
        </p:sp>
        <p:sp>
          <p:nvSpPr>
            <p:cNvPr id="81" name="TextBox 80">
              <a:extLst>
                <a:ext uri="{FF2B5EF4-FFF2-40B4-BE49-F238E27FC236}">
                  <a16:creationId xmlns:a16="http://schemas.microsoft.com/office/drawing/2014/main" id="{F9827F30-7A43-4795-926B-5FB9F30C5E8A}"/>
                </a:ext>
              </a:extLst>
            </p:cNvPr>
            <p:cNvSpPr txBox="1"/>
            <p:nvPr/>
          </p:nvSpPr>
          <p:spPr>
            <a:xfrm>
              <a:off x="2440093" y="2240557"/>
              <a:ext cx="306494" cy="353942"/>
            </a:xfrm>
            <a:prstGeom prst="rect">
              <a:avLst/>
            </a:prstGeom>
            <a:noFill/>
          </p:spPr>
          <p:txBody>
            <a:bodyPr wrap="none" rtlCol="0">
              <a:spAutoFit/>
            </a:bodyPr>
            <a:lstStyle/>
            <a:p>
              <a:pPr algn="ctr"/>
              <a:r>
                <a:rPr lang="en-US" sz="1700" dirty="0"/>
                <a:t>6</a:t>
              </a:r>
            </a:p>
          </p:txBody>
        </p:sp>
        <p:sp>
          <p:nvSpPr>
            <p:cNvPr id="82" name="TextBox 81">
              <a:extLst>
                <a:ext uri="{FF2B5EF4-FFF2-40B4-BE49-F238E27FC236}">
                  <a16:creationId xmlns:a16="http://schemas.microsoft.com/office/drawing/2014/main" id="{182003EC-777C-470D-A5E4-780F1837B19A}"/>
                </a:ext>
              </a:extLst>
            </p:cNvPr>
            <p:cNvSpPr txBox="1"/>
            <p:nvPr/>
          </p:nvSpPr>
          <p:spPr>
            <a:xfrm>
              <a:off x="3474989" y="2240557"/>
              <a:ext cx="306494" cy="353942"/>
            </a:xfrm>
            <a:prstGeom prst="rect">
              <a:avLst/>
            </a:prstGeom>
            <a:noFill/>
          </p:spPr>
          <p:txBody>
            <a:bodyPr wrap="none" rtlCol="0">
              <a:spAutoFit/>
            </a:bodyPr>
            <a:lstStyle/>
            <a:p>
              <a:pPr algn="ctr"/>
              <a:r>
                <a:rPr lang="en-US" sz="1700" dirty="0"/>
                <a:t>5</a:t>
              </a:r>
            </a:p>
          </p:txBody>
        </p:sp>
        <p:sp>
          <p:nvSpPr>
            <p:cNvPr id="83" name="TextBox 82">
              <a:extLst>
                <a:ext uri="{FF2B5EF4-FFF2-40B4-BE49-F238E27FC236}">
                  <a16:creationId xmlns:a16="http://schemas.microsoft.com/office/drawing/2014/main" id="{A8E917C5-DA15-4A29-BDB1-5C1427C943D5}"/>
                </a:ext>
              </a:extLst>
            </p:cNvPr>
            <p:cNvSpPr txBox="1"/>
            <p:nvPr/>
          </p:nvSpPr>
          <p:spPr>
            <a:xfrm>
              <a:off x="4173490" y="2240557"/>
              <a:ext cx="306494" cy="353942"/>
            </a:xfrm>
            <a:prstGeom prst="rect">
              <a:avLst/>
            </a:prstGeom>
            <a:noFill/>
          </p:spPr>
          <p:txBody>
            <a:bodyPr wrap="none" rtlCol="0">
              <a:spAutoFit/>
            </a:bodyPr>
            <a:lstStyle/>
            <a:p>
              <a:pPr algn="ctr"/>
              <a:r>
                <a:rPr lang="en-US" sz="1700" dirty="0"/>
                <a:t>5</a:t>
              </a:r>
            </a:p>
          </p:txBody>
        </p:sp>
        <p:sp>
          <p:nvSpPr>
            <p:cNvPr id="84" name="TextBox 83">
              <a:extLst>
                <a:ext uri="{FF2B5EF4-FFF2-40B4-BE49-F238E27FC236}">
                  <a16:creationId xmlns:a16="http://schemas.microsoft.com/office/drawing/2014/main" id="{B8CA98A9-AA0F-4265-B9FC-895EBEBD550C}"/>
                </a:ext>
              </a:extLst>
            </p:cNvPr>
            <p:cNvSpPr txBox="1"/>
            <p:nvPr/>
          </p:nvSpPr>
          <p:spPr>
            <a:xfrm>
              <a:off x="4957081" y="2240557"/>
              <a:ext cx="306494" cy="353942"/>
            </a:xfrm>
            <a:prstGeom prst="rect">
              <a:avLst/>
            </a:prstGeom>
            <a:noFill/>
          </p:spPr>
          <p:txBody>
            <a:bodyPr wrap="none" rtlCol="0">
              <a:spAutoFit/>
            </a:bodyPr>
            <a:lstStyle/>
            <a:p>
              <a:pPr algn="ctr"/>
              <a:r>
                <a:rPr lang="en-US" sz="1700" dirty="0"/>
                <a:t>3</a:t>
              </a:r>
            </a:p>
          </p:txBody>
        </p:sp>
        <p:sp>
          <p:nvSpPr>
            <p:cNvPr id="85" name="TextBox 84">
              <a:extLst>
                <a:ext uri="{FF2B5EF4-FFF2-40B4-BE49-F238E27FC236}">
                  <a16:creationId xmlns:a16="http://schemas.microsoft.com/office/drawing/2014/main" id="{48F814D8-726A-422A-979D-DABB30028C4B}"/>
                </a:ext>
              </a:extLst>
            </p:cNvPr>
            <p:cNvSpPr txBox="1"/>
            <p:nvPr/>
          </p:nvSpPr>
          <p:spPr>
            <a:xfrm>
              <a:off x="6012450" y="2240557"/>
              <a:ext cx="306494" cy="353942"/>
            </a:xfrm>
            <a:prstGeom prst="rect">
              <a:avLst/>
            </a:prstGeom>
            <a:noFill/>
          </p:spPr>
          <p:txBody>
            <a:bodyPr wrap="none" rtlCol="0">
              <a:spAutoFit/>
            </a:bodyPr>
            <a:lstStyle/>
            <a:p>
              <a:pPr algn="ctr"/>
              <a:r>
                <a:rPr lang="en-US" sz="1700" dirty="0"/>
                <a:t>4</a:t>
              </a:r>
            </a:p>
          </p:txBody>
        </p:sp>
        <p:sp>
          <p:nvSpPr>
            <p:cNvPr id="86" name="TextBox 85">
              <a:extLst>
                <a:ext uri="{FF2B5EF4-FFF2-40B4-BE49-F238E27FC236}">
                  <a16:creationId xmlns:a16="http://schemas.microsoft.com/office/drawing/2014/main" id="{80A2D1F6-5155-4750-9931-088E5E126EEB}"/>
                </a:ext>
              </a:extLst>
            </p:cNvPr>
            <p:cNvSpPr txBox="1"/>
            <p:nvPr/>
          </p:nvSpPr>
          <p:spPr>
            <a:xfrm>
              <a:off x="7210138" y="2240557"/>
              <a:ext cx="306494" cy="353942"/>
            </a:xfrm>
            <a:prstGeom prst="rect">
              <a:avLst/>
            </a:prstGeom>
            <a:noFill/>
          </p:spPr>
          <p:txBody>
            <a:bodyPr wrap="none" rtlCol="0">
              <a:spAutoFit/>
            </a:bodyPr>
            <a:lstStyle/>
            <a:p>
              <a:pPr algn="ctr"/>
              <a:r>
                <a:rPr lang="en-US" sz="1700" dirty="0"/>
                <a:t>1</a:t>
              </a:r>
            </a:p>
          </p:txBody>
        </p:sp>
        <p:sp>
          <p:nvSpPr>
            <p:cNvPr id="87" name="TextBox 86">
              <a:extLst>
                <a:ext uri="{FF2B5EF4-FFF2-40B4-BE49-F238E27FC236}">
                  <a16:creationId xmlns:a16="http://schemas.microsoft.com/office/drawing/2014/main" id="{F3B722C2-5E10-468D-9DAA-30004CE9289E}"/>
                </a:ext>
              </a:extLst>
            </p:cNvPr>
            <p:cNvSpPr txBox="1"/>
            <p:nvPr/>
          </p:nvSpPr>
          <p:spPr>
            <a:xfrm>
              <a:off x="8311303" y="2240557"/>
              <a:ext cx="306494" cy="353942"/>
            </a:xfrm>
            <a:prstGeom prst="rect">
              <a:avLst/>
            </a:prstGeom>
            <a:noFill/>
          </p:spPr>
          <p:txBody>
            <a:bodyPr wrap="none" rtlCol="0">
              <a:spAutoFit/>
            </a:bodyPr>
            <a:lstStyle/>
            <a:p>
              <a:pPr algn="ctr"/>
              <a:r>
                <a:rPr lang="en-US" sz="1700" dirty="0"/>
                <a:t>7</a:t>
              </a:r>
            </a:p>
          </p:txBody>
        </p:sp>
      </p:grpSp>
      <p:cxnSp>
        <p:nvCxnSpPr>
          <p:cNvPr id="5" name="Straight Arrow Connector 4">
            <a:extLst>
              <a:ext uri="{FF2B5EF4-FFF2-40B4-BE49-F238E27FC236}">
                <a16:creationId xmlns:a16="http://schemas.microsoft.com/office/drawing/2014/main" id="{95479ECD-6FCA-41DB-AE22-DEC92C0BBD52}"/>
              </a:ext>
            </a:extLst>
          </p:cNvPr>
          <p:cNvCxnSpPr>
            <a:cxnSpLocks/>
          </p:cNvCxnSpPr>
          <p:nvPr/>
        </p:nvCxnSpPr>
        <p:spPr bwMode="auto">
          <a:xfrm>
            <a:off x="8037690" y="2189750"/>
            <a:ext cx="962356" cy="2525895"/>
          </a:xfrm>
          <a:prstGeom prst="straightConnector1">
            <a:avLst/>
          </a:prstGeom>
          <a:noFill/>
          <a:ln w="15875" cap="flat" cmpd="sng" algn="ctr">
            <a:solidFill>
              <a:srgbClr val="FF0000"/>
            </a:solidFill>
            <a:prstDash val="solid"/>
            <a:round/>
            <a:headEnd type="stealth" w="lg" len="lg"/>
            <a:tailEnd type="none"/>
          </a:ln>
        </p:spPr>
      </p:cxnSp>
      <p:cxnSp>
        <p:nvCxnSpPr>
          <p:cNvPr id="30" name="Straight Arrow Connector 29">
            <a:extLst>
              <a:ext uri="{FF2B5EF4-FFF2-40B4-BE49-F238E27FC236}">
                <a16:creationId xmlns:a16="http://schemas.microsoft.com/office/drawing/2014/main" id="{18CDD176-00F2-43BF-95BC-93768C7C71AA}"/>
              </a:ext>
            </a:extLst>
          </p:cNvPr>
          <p:cNvCxnSpPr>
            <a:cxnSpLocks/>
          </p:cNvCxnSpPr>
          <p:nvPr/>
        </p:nvCxnSpPr>
        <p:spPr bwMode="auto">
          <a:xfrm>
            <a:off x="4413874" y="2189750"/>
            <a:ext cx="2547695" cy="2525895"/>
          </a:xfrm>
          <a:prstGeom prst="straightConnector1">
            <a:avLst/>
          </a:prstGeom>
          <a:noFill/>
          <a:ln w="15875" cap="flat" cmpd="sng" algn="ctr">
            <a:solidFill>
              <a:srgbClr val="FF0000"/>
            </a:solidFill>
            <a:prstDash val="solid"/>
            <a:round/>
            <a:headEnd type="stealth" w="lg" len="lg"/>
            <a:tailEnd type="none"/>
          </a:ln>
        </p:spPr>
      </p:cxnSp>
      <p:cxnSp>
        <p:nvCxnSpPr>
          <p:cNvPr id="88" name="Straight Arrow Connector 87">
            <a:extLst>
              <a:ext uri="{FF2B5EF4-FFF2-40B4-BE49-F238E27FC236}">
                <a16:creationId xmlns:a16="http://schemas.microsoft.com/office/drawing/2014/main" id="{6A79CDE1-8486-4D14-BAB8-D3E00D49E7CA}"/>
              </a:ext>
            </a:extLst>
          </p:cNvPr>
          <p:cNvCxnSpPr>
            <a:cxnSpLocks/>
          </p:cNvCxnSpPr>
          <p:nvPr/>
        </p:nvCxnSpPr>
        <p:spPr bwMode="auto">
          <a:xfrm>
            <a:off x="5268799" y="2189750"/>
            <a:ext cx="1960055" cy="2525895"/>
          </a:xfrm>
          <a:prstGeom prst="straightConnector1">
            <a:avLst/>
          </a:prstGeom>
          <a:noFill/>
          <a:ln w="15875" cap="flat" cmpd="sng" algn="ctr">
            <a:solidFill>
              <a:srgbClr val="FF0000"/>
            </a:solidFill>
            <a:prstDash val="solid"/>
            <a:round/>
            <a:headEnd type="stealth" w="lg" len="lg"/>
            <a:tailEnd type="none"/>
          </a:ln>
        </p:spPr>
      </p:cxnSp>
      <p:cxnSp>
        <p:nvCxnSpPr>
          <p:cNvPr id="89" name="Straight Arrow Connector 88">
            <a:extLst>
              <a:ext uri="{FF2B5EF4-FFF2-40B4-BE49-F238E27FC236}">
                <a16:creationId xmlns:a16="http://schemas.microsoft.com/office/drawing/2014/main" id="{7D2412D2-CDAC-414A-95C4-F5808CA0C146}"/>
              </a:ext>
            </a:extLst>
          </p:cNvPr>
          <p:cNvCxnSpPr>
            <a:cxnSpLocks/>
          </p:cNvCxnSpPr>
          <p:nvPr/>
        </p:nvCxnSpPr>
        <p:spPr bwMode="auto">
          <a:xfrm flipH="1">
            <a:off x="2461777" y="4927912"/>
            <a:ext cx="4518412" cy="630707"/>
          </a:xfrm>
          <a:prstGeom prst="straightConnector1">
            <a:avLst/>
          </a:prstGeom>
          <a:noFill/>
          <a:ln w="15875" cap="flat" cmpd="sng" algn="ctr">
            <a:solidFill>
              <a:srgbClr val="FF0000"/>
            </a:solidFill>
            <a:prstDash val="solid"/>
            <a:round/>
            <a:headEnd type="stealth" w="lg" len="lg"/>
            <a:tailEnd type="none"/>
          </a:ln>
        </p:spPr>
      </p:cxnSp>
      <p:cxnSp>
        <p:nvCxnSpPr>
          <p:cNvPr id="90" name="Straight Arrow Connector 89">
            <a:extLst>
              <a:ext uri="{FF2B5EF4-FFF2-40B4-BE49-F238E27FC236}">
                <a16:creationId xmlns:a16="http://schemas.microsoft.com/office/drawing/2014/main" id="{E6EFF826-911F-4826-B4D8-B617F75F08F8}"/>
              </a:ext>
            </a:extLst>
          </p:cNvPr>
          <p:cNvCxnSpPr>
            <a:cxnSpLocks/>
            <a:endCxn id="86" idx="2"/>
          </p:cNvCxnSpPr>
          <p:nvPr/>
        </p:nvCxnSpPr>
        <p:spPr bwMode="auto">
          <a:xfrm>
            <a:off x="7253557" y="4996464"/>
            <a:ext cx="1260718" cy="531381"/>
          </a:xfrm>
          <a:prstGeom prst="straightConnector1">
            <a:avLst/>
          </a:prstGeom>
          <a:noFill/>
          <a:ln w="15875" cap="flat" cmpd="sng" algn="ctr">
            <a:solidFill>
              <a:srgbClr val="FF0000"/>
            </a:solidFill>
            <a:prstDash val="solid"/>
            <a:round/>
            <a:headEnd type="stealth" w="lg" len="lg"/>
            <a:tailEnd type="none"/>
          </a:ln>
        </p:spPr>
      </p:cxnSp>
      <p:cxnSp>
        <p:nvCxnSpPr>
          <p:cNvPr id="91" name="Straight Arrow Connector 90">
            <a:extLst>
              <a:ext uri="{FF2B5EF4-FFF2-40B4-BE49-F238E27FC236}">
                <a16:creationId xmlns:a16="http://schemas.microsoft.com/office/drawing/2014/main" id="{D60F3E91-63A6-4A34-993A-EAD82459418A}"/>
              </a:ext>
            </a:extLst>
          </p:cNvPr>
          <p:cNvCxnSpPr>
            <a:cxnSpLocks/>
          </p:cNvCxnSpPr>
          <p:nvPr/>
        </p:nvCxnSpPr>
        <p:spPr bwMode="auto">
          <a:xfrm>
            <a:off x="6400078" y="2238601"/>
            <a:ext cx="1347745" cy="2504688"/>
          </a:xfrm>
          <a:prstGeom prst="straightConnector1">
            <a:avLst/>
          </a:prstGeom>
          <a:noFill/>
          <a:ln w="15875" cap="flat" cmpd="sng" algn="ctr">
            <a:solidFill>
              <a:srgbClr val="FF0000"/>
            </a:solidFill>
            <a:prstDash val="solid"/>
            <a:round/>
            <a:headEnd type="stealth" w="lg" len="lg"/>
            <a:tailEnd type="none"/>
          </a:ln>
        </p:spPr>
      </p:cxnSp>
      <p:cxnSp>
        <p:nvCxnSpPr>
          <p:cNvPr id="92" name="Straight Arrow Connector 91">
            <a:extLst>
              <a:ext uri="{FF2B5EF4-FFF2-40B4-BE49-F238E27FC236}">
                <a16:creationId xmlns:a16="http://schemas.microsoft.com/office/drawing/2014/main" id="{1999A030-D063-4A43-AE6A-8C74E6488399}"/>
              </a:ext>
            </a:extLst>
          </p:cNvPr>
          <p:cNvCxnSpPr>
            <a:cxnSpLocks/>
          </p:cNvCxnSpPr>
          <p:nvPr/>
        </p:nvCxnSpPr>
        <p:spPr bwMode="auto">
          <a:xfrm>
            <a:off x="7394079" y="2195930"/>
            <a:ext cx="1049351" cy="2508081"/>
          </a:xfrm>
          <a:prstGeom prst="straightConnector1">
            <a:avLst/>
          </a:prstGeom>
          <a:noFill/>
          <a:ln w="15875" cap="flat" cmpd="sng" algn="ctr">
            <a:solidFill>
              <a:srgbClr val="FF0000"/>
            </a:solidFill>
            <a:prstDash val="solid"/>
            <a:round/>
            <a:headEnd type="stealth" w="lg" len="lg"/>
            <a:tailEnd type="none"/>
          </a:ln>
        </p:spPr>
      </p:cxnSp>
      <p:cxnSp>
        <p:nvCxnSpPr>
          <p:cNvPr id="93" name="Straight Arrow Connector 92">
            <a:extLst>
              <a:ext uri="{FF2B5EF4-FFF2-40B4-BE49-F238E27FC236}">
                <a16:creationId xmlns:a16="http://schemas.microsoft.com/office/drawing/2014/main" id="{42ECBAEF-9F6A-4053-BE16-A2CA03F89DCA}"/>
              </a:ext>
            </a:extLst>
          </p:cNvPr>
          <p:cNvCxnSpPr>
            <a:cxnSpLocks/>
          </p:cNvCxnSpPr>
          <p:nvPr/>
        </p:nvCxnSpPr>
        <p:spPr bwMode="auto">
          <a:xfrm flipH="1">
            <a:off x="3928255" y="4961630"/>
            <a:ext cx="3668877" cy="514957"/>
          </a:xfrm>
          <a:prstGeom prst="straightConnector1">
            <a:avLst/>
          </a:prstGeom>
          <a:noFill/>
          <a:ln w="15875" cap="flat" cmpd="sng" algn="ctr">
            <a:solidFill>
              <a:srgbClr val="FF0000"/>
            </a:solidFill>
            <a:prstDash val="solid"/>
            <a:round/>
            <a:headEnd type="stealth" w="lg" len="lg"/>
            <a:tailEnd type="none"/>
          </a:ln>
        </p:spPr>
      </p:cxnSp>
      <p:cxnSp>
        <p:nvCxnSpPr>
          <p:cNvPr id="97" name="Straight Arrow Connector 96">
            <a:extLst>
              <a:ext uri="{FF2B5EF4-FFF2-40B4-BE49-F238E27FC236}">
                <a16:creationId xmlns:a16="http://schemas.microsoft.com/office/drawing/2014/main" id="{853FAD50-FBF2-4A81-809E-F7E75A1A11E5}"/>
              </a:ext>
            </a:extLst>
          </p:cNvPr>
          <p:cNvCxnSpPr>
            <a:cxnSpLocks/>
          </p:cNvCxnSpPr>
          <p:nvPr/>
        </p:nvCxnSpPr>
        <p:spPr bwMode="auto">
          <a:xfrm flipH="1">
            <a:off x="7447189" y="4996463"/>
            <a:ext cx="1096849" cy="525325"/>
          </a:xfrm>
          <a:prstGeom prst="straightConnector1">
            <a:avLst/>
          </a:prstGeom>
          <a:noFill/>
          <a:ln w="15875" cap="flat" cmpd="sng" algn="ctr">
            <a:solidFill>
              <a:srgbClr val="FF0000"/>
            </a:solidFill>
            <a:prstDash val="solid"/>
            <a:round/>
            <a:headEnd type="stealth" w="lg" len="lg"/>
            <a:tailEnd type="none"/>
          </a:ln>
        </p:spPr>
      </p:cxnSp>
    </p:spTree>
    <p:extLst>
      <p:ext uri="{BB962C8B-B14F-4D97-AF65-F5344CB8AC3E}">
        <p14:creationId xmlns:p14="http://schemas.microsoft.com/office/powerpoint/2010/main" val="2832650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9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P spid="57" grpId="0"/>
      <p:bldP spid="62" grpId="0"/>
      <p:bldP spid="63"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8700" y="-90071"/>
            <a:ext cx="10924117" cy="1143000"/>
          </a:xfrm>
        </p:spPr>
        <p:txBody>
          <a:bodyPr/>
          <a:lstStyle/>
          <a:p>
            <a:r>
              <a:rPr lang="en-US" sz="4400" dirty="0"/>
              <a:t>Different Immediate Encoding in S and B</a:t>
            </a:r>
            <a:r>
              <a:rPr lang="en-US" sz="4400" i="1" dirty="0"/>
              <a:t> </a:t>
            </a:r>
          </a:p>
        </p:txBody>
      </p:sp>
      <p:grpSp>
        <p:nvGrpSpPr>
          <p:cNvPr id="24" name="Group 23"/>
          <p:cNvGrpSpPr/>
          <p:nvPr/>
        </p:nvGrpSpPr>
        <p:grpSpPr>
          <a:xfrm>
            <a:off x="3030624" y="1109435"/>
            <a:ext cx="8267207" cy="656641"/>
            <a:chOff x="721854" y="2240557"/>
            <a:chExt cx="8267206" cy="656639"/>
          </a:xfrm>
        </p:grpSpPr>
        <p:sp>
          <p:nvSpPr>
            <p:cNvPr id="8" name="TextBox 7"/>
            <p:cNvSpPr txBox="1"/>
            <p:nvPr/>
          </p:nvSpPr>
          <p:spPr>
            <a:xfrm>
              <a:off x="721854" y="2543251"/>
              <a:ext cx="1178065"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[12]</a:t>
              </a:r>
            </a:p>
          </p:txBody>
        </p:sp>
        <p:sp>
          <p:nvSpPr>
            <p:cNvPr id="9" name="TextBox 8"/>
            <p:cNvSpPr txBox="1"/>
            <p:nvPr/>
          </p:nvSpPr>
          <p:spPr>
            <a:xfrm>
              <a:off x="1899919" y="2543251"/>
              <a:ext cx="1386840"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[10:5]</a:t>
              </a:r>
            </a:p>
          </p:txBody>
        </p:sp>
        <p:sp>
          <p:nvSpPr>
            <p:cNvPr id="10" name="TextBox 9"/>
            <p:cNvSpPr txBox="1"/>
            <p:nvPr/>
          </p:nvSpPr>
          <p:spPr>
            <a:xfrm>
              <a:off x="3278986" y="2543250"/>
              <a:ext cx="69850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rs2</a:t>
              </a:r>
            </a:p>
          </p:txBody>
        </p:sp>
        <p:sp>
          <p:nvSpPr>
            <p:cNvPr id="11" name="TextBox 10"/>
            <p:cNvSpPr txBox="1"/>
            <p:nvPr/>
          </p:nvSpPr>
          <p:spPr>
            <a:xfrm>
              <a:off x="3977487" y="2543254"/>
              <a:ext cx="69850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12" name="TextBox 11"/>
            <p:cNvSpPr txBox="1"/>
            <p:nvPr/>
          </p:nvSpPr>
          <p:spPr>
            <a:xfrm>
              <a:off x="4675987" y="2543252"/>
              <a:ext cx="86868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13" name="TextBox 12"/>
            <p:cNvSpPr txBox="1"/>
            <p:nvPr/>
          </p:nvSpPr>
          <p:spPr>
            <a:xfrm>
              <a:off x="5544667" y="2543251"/>
              <a:ext cx="1242060"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[4:1]</a:t>
              </a:r>
            </a:p>
          </p:txBody>
        </p:sp>
        <p:sp>
          <p:nvSpPr>
            <p:cNvPr id="14" name="TextBox 13"/>
            <p:cNvSpPr txBox="1"/>
            <p:nvPr/>
          </p:nvSpPr>
          <p:spPr>
            <a:xfrm>
              <a:off x="6786728" y="2543249"/>
              <a:ext cx="1153312"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a:t>
              </a:r>
            </a:p>
          </p:txBody>
        </p:sp>
        <p:sp>
          <p:nvSpPr>
            <p:cNvPr id="15" name="TextBox 14"/>
            <p:cNvSpPr txBox="1"/>
            <p:nvPr/>
          </p:nvSpPr>
          <p:spPr>
            <a:xfrm>
              <a:off x="7940040" y="2543249"/>
              <a:ext cx="104902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6" name="TextBox 15"/>
            <p:cNvSpPr txBox="1"/>
            <p:nvPr/>
          </p:nvSpPr>
          <p:spPr>
            <a:xfrm>
              <a:off x="1157640" y="2240557"/>
              <a:ext cx="306494" cy="353942"/>
            </a:xfrm>
            <a:prstGeom prst="rect">
              <a:avLst/>
            </a:prstGeom>
            <a:noFill/>
          </p:spPr>
          <p:txBody>
            <a:bodyPr wrap="none" rtlCol="0">
              <a:spAutoFit/>
            </a:bodyPr>
            <a:lstStyle/>
            <a:p>
              <a:pPr algn="ctr"/>
              <a:r>
                <a:rPr lang="en-US" sz="1700" dirty="0"/>
                <a:t>1</a:t>
              </a:r>
            </a:p>
          </p:txBody>
        </p:sp>
        <p:sp>
          <p:nvSpPr>
            <p:cNvPr id="17" name="TextBox 16"/>
            <p:cNvSpPr txBox="1"/>
            <p:nvPr/>
          </p:nvSpPr>
          <p:spPr>
            <a:xfrm>
              <a:off x="2440093" y="2240557"/>
              <a:ext cx="306494" cy="353942"/>
            </a:xfrm>
            <a:prstGeom prst="rect">
              <a:avLst/>
            </a:prstGeom>
            <a:noFill/>
          </p:spPr>
          <p:txBody>
            <a:bodyPr wrap="none" rtlCol="0">
              <a:spAutoFit/>
            </a:bodyPr>
            <a:lstStyle/>
            <a:p>
              <a:pPr algn="ctr"/>
              <a:r>
                <a:rPr lang="en-US" sz="1700" dirty="0"/>
                <a:t>6</a:t>
              </a:r>
            </a:p>
          </p:txBody>
        </p:sp>
        <p:sp>
          <p:nvSpPr>
            <p:cNvPr id="18" name="TextBox 17"/>
            <p:cNvSpPr txBox="1"/>
            <p:nvPr/>
          </p:nvSpPr>
          <p:spPr>
            <a:xfrm>
              <a:off x="3474989" y="2240557"/>
              <a:ext cx="306494" cy="353942"/>
            </a:xfrm>
            <a:prstGeom prst="rect">
              <a:avLst/>
            </a:prstGeom>
            <a:noFill/>
          </p:spPr>
          <p:txBody>
            <a:bodyPr wrap="none" rtlCol="0">
              <a:spAutoFit/>
            </a:bodyPr>
            <a:lstStyle/>
            <a:p>
              <a:pPr algn="ctr"/>
              <a:r>
                <a:rPr lang="en-US" sz="1700" dirty="0"/>
                <a:t>5</a:t>
              </a:r>
            </a:p>
          </p:txBody>
        </p:sp>
        <p:sp>
          <p:nvSpPr>
            <p:cNvPr id="19" name="TextBox 18"/>
            <p:cNvSpPr txBox="1"/>
            <p:nvPr/>
          </p:nvSpPr>
          <p:spPr>
            <a:xfrm>
              <a:off x="4173490" y="2240557"/>
              <a:ext cx="306494" cy="353942"/>
            </a:xfrm>
            <a:prstGeom prst="rect">
              <a:avLst/>
            </a:prstGeom>
            <a:noFill/>
          </p:spPr>
          <p:txBody>
            <a:bodyPr wrap="none" rtlCol="0">
              <a:spAutoFit/>
            </a:bodyPr>
            <a:lstStyle/>
            <a:p>
              <a:pPr algn="ctr"/>
              <a:r>
                <a:rPr lang="en-US" sz="1700" dirty="0"/>
                <a:t>5</a:t>
              </a:r>
            </a:p>
          </p:txBody>
        </p:sp>
        <p:sp>
          <p:nvSpPr>
            <p:cNvPr id="20" name="TextBox 19"/>
            <p:cNvSpPr txBox="1"/>
            <p:nvPr/>
          </p:nvSpPr>
          <p:spPr>
            <a:xfrm>
              <a:off x="4957081" y="2240557"/>
              <a:ext cx="306494" cy="353942"/>
            </a:xfrm>
            <a:prstGeom prst="rect">
              <a:avLst/>
            </a:prstGeom>
            <a:noFill/>
          </p:spPr>
          <p:txBody>
            <a:bodyPr wrap="none" rtlCol="0">
              <a:spAutoFit/>
            </a:bodyPr>
            <a:lstStyle/>
            <a:p>
              <a:pPr algn="ctr"/>
              <a:r>
                <a:rPr lang="en-US" sz="1700" dirty="0"/>
                <a:t>3</a:t>
              </a:r>
            </a:p>
          </p:txBody>
        </p:sp>
        <p:sp>
          <p:nvSpPr>
            <p:cNvPr id="21" name="TextBox 20"/>
            <p:cNvSpPr txBox="1"/>
            <p:nvPr/>
          </p:nvSpPr>
          <p:spPr>
            <a:xfrm>
              <a:off x="6012450" y="2240557"/>
              <a:ext cx="306494" cy="353942"/>
            </a:xfrm>
            <a:prstGeom prst="rect">
              <a:avLst/>
            </a:prstGeom>
            <a:noFill/>
          </p:spPr>
          <p:txBody>
            <a:bodyPr wrap="none" rtlCol="0">
              <a:spAutoFit/>
            </a:bodyPr>
            <a:lstStyle/>
            <a:p>
              <a:pPr algn="ctr"/>
              <a:r>
                <a:rPr lang="en-US" sz="1700" dirty="0"/>
                <a:t>4</a:t>
              </a:r>
            </a:p>
          </p:txBody>
        </p:sp>
        <p:sp>
          <p:nvSpPr>
            <p:cNvPr id="22" name="TextBox 21"/>
            <p:cNvSpPr txBox="1"/>
            <p:nvPr/>
          </p:nvSpPr>
          <p:spPr>
            <a:xfrm>
              <a:off x="7210138" y="2240557"/>
              <a:ext cx="306494" cy="353942"/>
            </a:xfrm>
            <a:prstGeom prst="rect">
              <a:avLst/>
            </a:prstGeom>
            <a:noFill/>
          </p:spPr>
          <p:txBody>
            <a:bodyPr wrap="none" rtlCol="0">
              <a:spAutoFit/>
            </a:bodyPr>
            <a:lstStyle/>
            <a:p>
              <a:pPr algn="ctr"/>
              <a:r>
                <a:rPr lang="en-US" sz="1700" dirty="0"/>
                <a:t>1</a:t>
              </a:r>
            </a:p>
          </p:txBody>
        </p:sp>
        <p:sp>
          <p:nvSpPr>
            <p:cNvPr id="23" name="TextBox 22"/>
            <p:cNvSpPr txBox="1"/>
            <p:nvPr/>
          </p:nvSpPr>
          <p:spPr>
            <a:xfrm>
              <a:off x="8311303" y="2240557"/>
              <a:ext cx="306494" cy="353942"/>
            </a:xfrm>
            <a:prstGeom prst="rect">
              <a:avLst/>
            </a:prstGeom>
            <a:noFill/>
          </p:spPr>
          <p:txBody>
            <a:bodyPr wrap="none" rtlCol="0">
              <a:spAutoFit/>
            </a:bodyPr>
            <a:lstStyle/>
            <a:p>
              <a:pPr algn="ctr"/>
              <a:r>
                <a:rPr lang="en-US" sz="1700" dirty="0"/>
                <a:t>7</a:t>
              </a:r>
            </a:p>
          </p:txBody>
        </p:sp>
      </p:grpSp>
      <p:sp>
        <p:nvSpPr>
          <p:cNvPr id="4" name="Date Placeholder 3"/>
          <p:cNvSpPr>
            <a:spLocks noGrp="1"/>
          </p:cNvSpPr>
          <p:nvPr>
            <p:ph type="dt" sz="half" idx="10"/>
          </p:nvPr>
        </p:nvSpPr>
        <p:spPr/>
        <p:txBody>
          <a:bodyPr/>
          <a:lstStyle/>
          <a:p>
            <a:pPr>
              <a:defRPr/>
            </a:pPr>
            <a:r>
              <a:rPr lang="en-US"/>
              <a:t>September 27, 2017</a:t>
            </a:r>
            <a:endParaRPr lang="en-US" dirty="0"/>
          </a:p>
        </p:txBody>
      </p:sp>
      <p:sp>
        <p:nvSpPr>
          <p:cNvPr id="27" name="Footer Placeholder 26"/>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28" name="Slide Number Placeholder 27"/>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81</a:t>
            </a:fld>
            <a:endParaRPr lang="en-US" dirty="0"/>
          </a:p>
        </p:txBody>
      </p:sp>
      <p:sp>
        <p:nvSpPr>
          <p:cNvPr id="6" name="Content Placeholder 5">
            <a:extLst>
              <a:ext uri="{FF2B5EF4-FFF2-40B4-BE49-F238E27FC236}">
                <a16:creationId xmlns:a16="http://schemas.microsoft.com/office/drawing/2014/main" id="{318F9773-8339-4670-8F1D-E6CBD9CFB4F7}"/>
              </a:ext>
            </a:extLst>
          </p:cNvPr>
          <p:cNvSpPr>
            <a:spLocks noGrp="1"/>
          </p:cNvSpPr>
          <p:nvPr>
            <p:ph idx="1"/>
          </p:nvPr>
        </p:nvSpPr>
        <p:spPr/>
        <p:txBody>
          <a:bodyPr/>
          <a:lstStyle/>
          <a:p>
            <a:r>
              <a:rPr lang="en-US" dirty="0"/>
              <a:t>B</a:t>
            </a:r>
          </a:p>
          <a:p>
            <a:r>
              <a:rPr lang="en-US" dirty="0"/>
              <a:t>S </a:t>
            </a:r>
          </a:p>
        </p:txBody>
      </p:sp>
      <p:grpSp>
        <p:nvGrpSpPr>
          <p:cNvPr id="58" name="Group 57">
            <a:extLst>
              <a:ext uri="{FF2B5EF4-FFF2-40B4-BE49-F238E27FC236}">
                <a16:creationId xmlns:a16="http://schemas.microsoft.com/office/drawing/2014/main" id="{047417E9-451B-4FB9-BB8A-7F4B9A03EF7C}"/>
              </a:ext>
            </a:extLst>
          </p:cNvPr>
          <p:cNvGrpSpPr/>
          <p:nvPr/>
        </p:nvGrpSpPr>
        <p:grpSpPr>
          <a:xfrm>
            <a:off x="3030624" y="1766071"/>
            <a:ext cx="8267207" cy="687853"/>
            <a:chOff x="896574" y="2082543"/>
            <a:chExt cx="7906465" cy="687853"/>
          </a:xfrm>
        </p:grpSpPr>
        <p:sp>
          <p:nvSpPr>
            <p:cNvPr id="59" name="TextBox 58">
              <a:extLst>
                <a:ext uri="{FF2B5EF4-FFF2-40B4-BE49-F238E27FC236}">
                  <a16:creationId xmlns:a16="http://schemas.microsoft.com/office/drawing/2014/main" id="{7B3DFBA3-E51B-43CC-91A8-21B24D4C7B9C}"/>
                </a:ext>
              </a:extLst>
            </p:cNvPr>
            <p:cNvSpPr txBox="1"/>
            <p:nvPr/>
          </p:nvSpPr>
          <p:spPr>
            <a:xfrm>
              <a:off x="896574" y="2416453"/>
              <a:ext cx="2422603"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[12:6]</a:t>
              </a:r>
            </a:p>
          </p:txBody>
        </p:sp>
        <p:sp>
          <p:nvSpPr>
            <p:cNvPr id="60" name="TextBox 59">
              <a:extLst>
                <a:ext uri="{FF2B5EF4-FFF2-40B4-BE49-F238E27FC236}">
                  <a16:creationId xmlns:a16="http://schemas.microsoft.com/office/drawing/2014/main" id="{F9CD8B83-E7A6-43FF-A736-CAEAB682AF35}"/>
                </a:ext>
              </a:extLst>
            </p:cNvPr>
            <p:cNvSpPr txBox="1"/>
            <p:nvPr/>
          </p:nvSpPr>
          <p:spPr>
            <a:xfrm>
              <a:off x="3335784" y="2412254"/>
              <a:ext cx="668022"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rs2</a:t>
              </a:r>
            </a:p>
          </p:txBody>
        </p:sp>
        <p:sp>
          <p:nvSpPr>
            <p:cNvPr id="61" name="TextBox 60">
              <a:extLst>
                <a:ext uri="{FF2B5EF4-FFF2-40B4-BE49-F238E27FC236}">
                  <a16:creationId xmlns:a16="http://schemas.microsoft.com/office/drawing/2014/main" id="{B7A12797-4BE3-4A34-AC4E-94C4BD7F569C}"/>
                </a:ext>
              </a:extLst>
            </p:cNvPr>
            <p:cNvSpPr txBox="1"/>
            <p:nvPr/>
          </p:nvSpPr>
          <p:spPr>
            <a:xfrm>
              <a:off x="4678168" y="2412254"/>
              <a:ext cx="856586"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64" name="TextBox 63">
              <a:extLst>
                <a:ext uri="{FF2B5EF4-FFF2-40B4-BE49-F238E27FC236}">
                  <a16:creationId xmlns:a16="http://schemas.microsoft.com/office/drawing/2014/main" id="{1E08ED7A-3E35-4A59-89F3-153DC0E66B8C}"/>
                </a:ext>
              </a:extLst>
            </p:cNvPr>
            <p:cNvSpPr txBox="1"/>
            <p:nvPr/>
          </p:nvSpPr>
          <p:spPr>
            <a:xfrm>
              <a:off x="4020412" y="2412254"/>
              <a:ext cx="66802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65" name="TextBox 64">
              <a:extLst>
                <a:ext uri="{FF2B5EF4-FFF2-40B4-BE49-F238E27FC236}">
                  <a16:creationId xmlns:a16="http://schemas.microsoft.com/office/drawing/2014/main" id="{CC01FFCD-138C-40AE-B0B7-4FA9A152B1AA}"/>
                </a:ext>
              </a:extLst>
            </p:cNvPr>
            <p:cNvSpPr txBox="1"/>
            <p:nvPr/>
          </p:nvSpPr>
          <p:spPr>
            <a:xfrm>
              <a:off x="5520640" y="2412254"/>
              <a:ext cx="2262548"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[5:1]</a:t>
              </a:r>
            </a:p>
          </p:txBody>
        </p:sp>
        <p:sp>
          <p:nvSpPr>
            <p:cNvPr id="66" name="TextBox 65">
              <a:extLst>
                <a:ext uri="{FF2B5EF4-FFF2-40B4-BE49-F238E27FC236}">
                  <a16:creationId xmlns:a16="http://schemas.microsoft.com/office/drawing/2014/main" id="{0B5CD066-6BAC-4C15-A735-802CBF6E34E8}"/>
                </a:ext>
              </a:extLst>
            </p:cNvPr>
            <p:cNvSpPr txBox="1"/>
            <p:nvPr/>
          </p:nvSpPr>
          <p:spPr>
            <a:xfrm>
              <a:off x="7799793" y="2416453"/>
              <a:ext cx="1003246"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67" name="TextBox 66">
              <a:extLst>
                <a:ext uri="{FF2B5EF4-FFF2-40B4-BE49-F238E27FC236}">
                  <a16:creationId xmlns:a16="http://schemas.microsoft.com/office/drawing/2014/main" id="{3191C31F-235B-4504-A19D-E41DA8275E72}"/>
                </a:ext>
              </a:extLst>
            </p:cNvPr>
            <p:cNvSpPr txBox="1"/>
            <p:nvPr/>
          </p:nvSpPr>
          <p:spPr>
            <a:xfrm>
              <a:off x="1534819" y="2124293"/>
              <a:ext cx="293120" cy="353943"/>
            </a:xfrm>
            <a:prstGeom prst="rect">
              <a:avLst/>
            </a:prstGeom>
            <a:noFill/>
          </p:spPr>
          <p:txBody>
            <a:bodyPr wrap="none" rtlCol="0">
              <a:spAutoFit/>
            </a:bodyPr>
            <a:lstStyle/>
            <a:p>
              <a:pPr algn="ctr"/>
              <a:r>
                <a:rPr lang="en-US" sz="1700" dirty="0"/>
                <a:t>7</a:t>
              </a:r>
            </a:p>
          </p:txBody>
        </p:sp>
        <p:sp>
          <p:nvSpPr>
            <p:cNvPr id="68" name="TextBox 67">
              <a:extLst>
                <a:ext uri="{FF2B5EF4-FFF2-40B4-BE49-F238E27FC236}">
                  <a16:creationId xmlns:a16="http://schemas.microsoft.com/office/drawing/2014/main" id="{EF4A3364-779F-41FD-AB92-99BDABDF764F}"/>
                </a:ext>
              </a:extLst>
            </p:cNvPr>
            <p:cNvSpPr txBox="1"/>
            <p:nvPr/>
          </p:nvSpPr>
          <p:spPr>
            <a:xfrm>
              <a:off x="3498511" y="2082543"/>
              <a:ext cx="293120" cy="353943"/>
            </a:xfrm>
            <a:prstGeom prst="rect">
              <a:avLst/>
            </a:prstGeom>
            <a:noFill/>
          </p:spPr>
          <p:txBody>
            <a:bodyPr wrap="none" rtlCol="0">
              <a:spAutoFit/>
            </a:bodyPr>
            <a:lstStyle/>
            <a:p>
              <a:pPr algn="ctr"/>
              <a:r>
                <a:rPr lang="en-US" sz="1700" dirty="0"/>
                <a:t>5</a:t>
              </a:r>
            </a:p>
          </p:txBody>
        </p:sp>
        <p:sp>
          <p:nvSpPr>
            <p:cNvPr id="69" name="TextBox 68">
              <a:extLst>
                <a:ext uri="{FF2B5EF4-FFF2-40B4-BE49-F238E27FC236}">
                  <a16:creationId xmlns:a16="http://schemas.microsoft.com/office/drawing/2014/main" id="{4145B9BD-E7C2-4FF5-9BA2-86C0F847B57F}"/>
                </a:ext>
              </a:extLst>
            </p:cNvPr>
            <p:cNvSpPr txBox="1"/>
            <p:nvPr/>
          </p:nvSpPr>
          <p:spPr>
            <a:xfrm>
              <a:off x="4161517" y="2124293"/>
              <a:ext cx="293120" cy="353943"/>
            </a:xfrm>
            <a:prstGeom prst="rect">
              <a:avLst/>
            </a:prstGeom>
            <a:noFill/>
          </p:spPr>
          <p:txBody>
            <a:bodyPr wrap="none" rtlCol="0">
              <a:spAutoFit/>
            </a:bodyPr>
            <a:lstStyle/>
            <a:p>
              <a:pPr algn="ctr"/>
              <a:r>
                <a:rPr lang="en-US" sz="1700" dirty="0"/>
                <a:t>5</a:t>
              </a:r>
            </a:p>
          </p:txBody>
        </p:sp>
        <p:sp>
          <p:nvSpPr>
            <p:cNvPr id="70" name="TextBox 69">
              <a:extLst>
                <a:ext uri="{FF2B5EF4-FFF2-40B4-BE49-F238E27FC236}">
                  <a16:creationId xmlns:a16="http://schemas.microsoft.com/office/drawing/2014/main" id="{781ECEFE-8046-4F7D-9308-8EFE9EAD90E9}"/>
                </a:ext>
              </a:extLst>
            </p:cNvPr>
            <p:cNvSpPr txBox="1"/>
            <p:nvPr/>
          </p:nvSpPr>
          <p:spPr>
            <a:xfrm>
              <a:off x="5227520" y="2124293"/>
              <a:ext cx="293120" cy="353943"/>
            </a:xfrm>
            <a:prstGeom prst="rect">
              <a:avLst/>
            </a:prstGeom>
            <a:noFill/>
          </p:spPr>
          <p:txBody>
            <a:bodyPr wrap="none" rtlCol="0">
              <a:spAutoFit/>
            </a:bodyPr>
            <a:lstStyle/>
            <a:p>
              <a:pPr algn="ctr"/>
              <a:r>
                <a:rPr lang="en-US" sz="1700" dirty="0"/>
                <a:t>3</a:t>
              </a:r>
            </a:p>
          </p:txBody>
        </p:sp>
        <p:sp>
          <p:nvSpPr>
            <p:cNvPr id="94" name="TextBox 93">
              <a:extLst>
                <a:ext uri="{FF2B5EF4-FFF2-40B4-BE49-F238E27FC236}">
                  <a16:creationId xmlns:a16="http://schemas.microsoft.com/office/drawing/2014/main" id="{EB16A4FD-2D27-4CB0-94C3-39543CCF9E95}"/>
                </a:ext>
              </a:extLst>
            </p:cNvPr>
            <p:cNvSpPr txBox="1"/>
            <p:nvPr/>
          </p:nvSpPr>
          <p:spPr>
            <a:xfrm>
              <a:off x="6303580" y="2124293"/>
              <a:ext cx="293120" cy="353943"/>
            </a:xfrm>
            <a:prstGeom prst="rect">
              <a:avLst/>
            </a:prstGeom>
            <a:noFill/>
          </p:spPr>
          <p:txBody>
            <a:bodyPr wrap="none" rtlCol="0">
              <a:spAutoFit/>
            </a:bodyPr>
            <a:lstStyle/>
            <a:p>
              <a:pPr algn="ctr"/>
              <a:r>
                <a:rPr lang="en-US" sz="1700" dirty="0"/>
                <a:t>5</a:t>
              </a:r>
            </a:p>
          </p:txBody>
        </p:sp>
        <p:sp>
          <p:nvSpPr>
            <p:cNvPr id="95" name="TextBox 94">
              <a:extLst>
                <a:ext uri="{FF2B5EF4-FFF2-40B4-BE49-F238E27FC236}">
                  <a16:creationId xmlns:a16="http://schemas.microsoft.com/office/drawing/2014/main" id="{C7253AC4-E04D-46BC-A89E-A3D82FFD1803}"/>
                </a:ext>
              </a:extLst>
            </p:cNvPr>
            <p:cNvSpPr txBox="1"/>
            <p:nvPr/>
          </p:nvSpPr>
          <p:spPr>
            <a:xfrm>
              <a:off x="8159983" y="2124293"/>
              <a:ext cx="293120" cy="353943"/>
            </a:xfrm>
            <a:prstGeom prst="rect">
              <a:avLst/>
            </a:prstGeom>
            <a:noFill/>
          </p:spPr>
          <p:txBody>
            <a:bodyPr wrap="none" rtlCol="0">
              <a:spAutoFit/>
            </a:bodyPr>
            <a:lstStyle/>
            <a:p>
              <a:pPr algn="ctr"/>
              <a:r>
                <a:rPr lang="en-US" sz="1700" dirty="0"/>
                <a:t>7</a:t>
              </a:r>
            </a:p>
          </p:txBody>
        </p:sp>
      </p:grpSp>
      <p:sp>
        <p:nvSpPr>
          <p:cNvPr id="96" name="TextBox 95">
            <a:extLst>
              <a:ext uri="{FF2B5EF4-FFF2-40B4-BE49-F238E27FC236}">
                <a16:creationId xmlns:a16="http://schemas.microsoft.com/office/drawing/2014/main" id="{2303F660-AF8D-45CD-8A11-6A9C0476F0D4}"/>
              </a:ext>
            </a:extLst>
          </p:cNvPr>
          <p:cNvSpPr txBox="1"/>
          <p:nvPr/>
        </p:nvSpPr>
        <p:spPr>
          <a:xfrm>
            <a:off x="497488" y="3883712"/>
            <a:ext cx="1036038"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[12]</a:t>
            </a:r>
          </a:p>
        </p:txBody>
      </p:sp>
      <p:sp>
        <p:nvSpPr>
          <p:cNvPr id="98" name="TextBox 97">
            <a:extLst>
              <a:ext uri="{FF2B5EF4-FFF2-40B4-BE49-F238E27FC236}">
                <a16:creationId xmlns:a16="http://schemas.microsoft.com/office/drawing/2014/main" id="{AA94BD5E-13AB-4DB2-9A82-CB69D9D7762E}"/>
              </a:ext>
            </a:extLst>
          </p:cNvPr>
          <p:cNvSpPr txBox="1"/>
          <p:nvPr/>
        </p:nvSpPr>
        <p:spPr>
          <a:xfrm>
            <a:off x="1645638" y="3890749"/>
            <a:ext cx="1036038"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a:t>
            </a:r>
          </a:p>
        </p:txBody>
      </p:sp>
      <p:sp>
        <p:nvSpPr>
          <p:cNvPr id="99" name="TextBox 98">
            <a:extLst>
              <a:ext uri="{FF2B5EF4-FFF2-40B4-BE49-F238E27FC236}">
                <a16:creationId xmlns:a16="http://schemas.microsoft.com/office/drawing/2014/main" id="{7AFE021A-72B8-483D-B323-B27881BFA3D0}"/>
              </a:ext>
            </a:extLst>
          </p:cNvPr>
          <p:cNvSpPr txBox="1"/>
          <p:nvPr/>
        </p:nvSpPr>
        <p:spPr>
          <a:xfrm>
            <a:off x="2815198" y="3883711"/>
            <a:ext cx="3242573"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[10:5]</a:t>
            </a:r>
          </a:p>
        </p:txBody>
      </p:sp>
      <p:sp>
        <p:nvSpPr>
          <p:cNvPr id="100" name="TextBox 99">
            <a:extLst>
              <a:ext uri="{FF2B5EF4-FFF2-40B4-BE49-F238E27FC236}">
                <a16:creationId xmlns:a16="http://schemas.microsoft.com/office/drawing/2014/main" id="{3112F1D0-160A-4F98-8FFE-4D7E95266FB0}"/>
              </a:ext>
            </a:extLst>
          </p:cNvPr>
          <p:cNvSpPr txBox="1"/>
          <p:nvPr/>
        </p:nvSpPr>
        <p:spPr>
          <a:xfrm>
            <a:off x="6134230" y="3881613"/>
            <a:ext cx="1895346"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[4:1]</a:t>
            </a:r>
          </a:p>
        </p:txBody>
      </p:sp>
      <p:sp>
        <p:nvSpPr>
          <p:cNvPr id="101" name="TextBox 100">
            <a:extLst>
              <a:ext uri="{FF2B5EF4-FFF2-40B4-BE49-F238E27FC236}">
                <a16:creationId xmlns:a16="http://schemas.microsoft.com/office/drawing/2014/main" id="{A2AD8936-3A46-4EE0-8C18-3A6F91FDBE6D}"/>
              </a:ext>
            </a:extLst>
          </p:cNvPr>
          <p:cNvSpPr txBox="1"/>
          <p:nvPr/>
        </p:nvSpPr>
        <p:spPr>
          <a:xfrm>
            <a:off x="8092945" y="3844582"/>
            <a:ext cx="591385" cy="400110"/>
          </a:xfrm>
          <a:prstGeom prst="rect">
            <a:avLst/>
          </a:prstGeom>
          <a:noFill/>
          <a:ln w="12700">
            <a:solidFill>
              <a:schemeClr val="tx1"/>
            </a:solidFill>
          </a:ln>
        </p:spPr>
        <p:txBody>
          <a:bodyPr wrap="square" rtlCol="0">
            <a:spAutoFit/>
          </a:bodyPr>
          <a:lstStyle/>
          <a:p>
            <a:pPr algn="ctr"/>
            <a:r>
              <a:rPr lang="en-US" sz="2000" b="1" dirty="0">
                <a:solidFill>
                  <a:srgbClr val="56127A"/>
                </a:solidFill>
              </a:rPr>
              <a:t>0</a:t>
            </a:r>
          </a:p>
        </p:txBody>
      </p:sp>
      <p:sp>
        <p:nvSpPr>
          <p:cNvPr id="102" name="TextBox 101">
            <a:extLst>
              <a:ext uri="{FF2B5EF4-FFF2-40B4-BE49-F238E27FC236}">
                <a16:creationId xmlns:a16="http://schemas.microsoft.com/office/drawing/2014/main" id="{7ED882AF-2CB2-431F-BBA8-62806BD90482}"/>
              </a:ext>
            </a:extLst>
          </p:cNvPr>
          <p:cNvSpPr txBox="1"/>
          <p:nvPr/>
        </p:nvSpPr>
        <p:spPr>
          <a:xfrm>
            <a:off x="497488" y="4501678"/>
            <a:ext cx="1036038"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[12]</a:t>
            </a:r>
          </a:p>
        </p:txBody>
      </p:sp>
      <p:sp>
        <p:nvSpPr>
          <p:cNvPr id="104" name="TextBox 103">
            <a:extLst>
              <a:ext uri="{FF2B5EF4-FFF2-40B4-BE49-F238E27FC236}">
                <a16:creationId xmlns:a16="http://schemas.microsoft.com/office/drawing/2014/main" id="{9644D58F-8CC5-48AD-93D7-01F185E3756C}"/>
              </a:ext>
            </a:extLst>
          </p:cNvPr>
          <p:cNvSpPr txBox="1"/>
          <p:nvPr/>
        </p:nvSpPr>
        <p:spPr>
          <a:xfrm>
            <a:off x="2815198" y="4501677"/>
            <a:ext cx="3242573"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[11:6]</a:t>
            </a:r>
          </a:p>
        </p:txBody>
      </p:sp>
      <p:sp>
        <p:nvSpPr>
          <p:cNvPr id="105" name="TextBox 104">
            <a:extLst>
              <a:ext uri="{FF2B5EF4-FFF2-40B4-BE49-F238E27FC236}">
                <a16:creationId xmlns:a16="http://schemas.microsoft.com/office/drawing/2014/main" id="{8C2B14AC-6A16-498E-8AD4-19E9F23B64F2}"/>
              </a:ext>
            </a:extLst>
          </p:cNvPr>
          <p:cNvSpPr txBox="1"/>
          <p:nvPr/>
        </p:nvSpPr>
        <p:spPr>
          <a:xfrm>
            <a:off x="6134229" y="4499579"/>
            <a:ext cx="255010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[5:1]</a:t>
            </a:r>
          </a:p>
        </p:txBody>
      </p:sp>
      <p:sp>
        <p:nvSpPr>
          <p:cNvPr id="26" name="Oval 25">
            <a:extLst>
              <a:ext uri="{FF2B5EF4-FFF2-40B4-BE49-F238E27FC236}">
                <a16:creationId xmlns:a16="http://schemas.microsoft.com/office/drawing/2014/main" id="{F3134A10-7A57-48A1-A11D-8E85782C6631}"/>
              </a:ext>
            </a:extLst>
          </p:cNvPr>
          <p:cNvSpPr/>
          <p:nvPr/>
        </p:nvSpPr>
        <p:spPr bwMode="auto">
          <a:xfrm>
            <a:off x="9718549" y="1340890"/>
            <a:ext cx="490992" cy="1192760"/>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cxnSp>
        <p:nvCxnSpPr>
          <p:cNvPr id="31" name="Straight Arrow Connector 30">
            <a:extLst>
              <a:ext uri="{FF2B5EF4-FFF2-40B4-BE49-F238E27FC236}">
                <a16:creationId xmlns:a16="http://schemas.microsoft.com/office/drawing/2014/main" id="{D4FB1C23-9E6D-4C50-B6F1-14DB9F19A095}"/>
              </a:ext>
            </a:extLst>
          </p:cNvPr>
          <p:cNvCxnSpPr>
            <a:cxnSpLocks/>
          </p:cNvCxnSpPr>
          <p:nvPr/>
        </p:nvCxnSpPr>
        <p:spPr bwMode="auto">
          <a:xfrm flipH="1">
            <a:off x="2343151" y="1550836"/>
            <a:ext cx="7482252" cy="2330777"/>
          </a:xfrm>
          <a:prstGeom prst="straightConnector1">
            <a:avLst/>
          </a:prstGeom>
          <a:noFill/>
          <a:ln w="15875" cap="flat" cmpd="sng" algn="ctr">
            <a:solidFill>
              <a:srgbClr val="FF0000"/>
            </a:solidFill>
            <a:prstDash val="solid"/>
            <a:round/>
            <a:headEnd type="none" w="med" len="med"/>
            <a:tailEnd type="triangle"/>
          </a:ln>
          <a:effectLst/>
        </p:spPr>
      </p:cxnSp>
      <p:cxnSp>
        <p:nvCxnSpPr>
          <p:cNvPr id="107" name="Straight Arrow Connector 106">
            <a:extLst>
              <a:ext uri="{FF2B5EF4-FFF2-40B4-BE49-F238E27FC236}">
                <a16:creationId xmlns:a16="http://schemas.microsoft.com/office/drawing/2014/main" id="{E1E7806A-10F0-4DC5-9BA4-130F5EBDBFC7}"/>
              </a:ext>
            </a:extLst>
          </p:cNvPr>
          <p:cNvCxnSpPr>
            <a:cxnSpLocks/>
            <a:stCxn id="26" idx="4"/>
          </p:cNvCxnSpPr>
          <p:nvPr/>
        </p:nvCxnSpPr>
        <p:spPr bwMode="auto">
          <a:xfrm flipH="1">
            <a:off x="8515351" y="2533650"/>
            <a:ext cx="1448694" cy="1975065"/>
          </a:xfrm>
          <a:prstGeom prst="straightConnector1">
            <a:avLst/>
          </a:prstGeom>
          <a:noFill/>
          <a:ln w="15875" cap="flat" cmpd="sng" algn="ctr">
            <a:solidFill>
              <a:srgbClr val="FF0000"/>
            </a:solidFill>
            <a:prstDash val="solid"/>
            <a:round/>
            <a:headEnd type="none" w="med" len="med"/>
            <a:tailEnd type="triangle"/>
          </a:ln>
          <a:effectLst/>
        </p:spPr>
      </p:cxnSp>
      <p:sp>
        <p:nvSpPr>
          <p:cNvPr id="108" name="Oval 107">
            <a:extLst>
              <a:ext uri="{FF2B5EF4-FFF2-40B4-BE49-F238E27FC236}">
                <a16:creationId xmlns:a16="http://schemas.microsoft.com/office/drawing/2014/main" id="{3D12E8B2-9F4C-4C69-A97C-C702B291EA70}"/>
              </a:ext>
            </a:extLst>
          </p:cNvPr>
          <p:cNvSpPr/>
          <p:nvPr/>
        </p:nvSpPr>
        <p:spPr bwMode="auto">
          <a:xfrm>
            <a:off x="3051249" y="1412128"/>
            <a:ext cx="490992" cy="1192760"/>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cxnSp>
        <p:nvCxnSpPr>
          <p:cNvPr id="109" name="Straight Arrow Connector 108">
            <a:extLst>
              <a:ext uri="{FF2B5EF4-FFF2-40B4-BE49-F238E27FC236}">
                <a16:creationId xmlns:a16="http://schemas.microsoft.com/office/drawing/2014/main" id="{B89E5703-303F-4900-86E5-0E94D15DE98B}"/>
              </a:ext>
            </a:extLst>
          </p:cNvPr>
          <p:cNvCxnSpPr>
            <a:cxnSpLocks/>
            <a:stCxn id="108" idx="1"/>
            <a:endCxn id="96" idx="0"/>
          </p:cNvCxnSpPr>
          <p:nvPr/>
        </p:nvCxnSpPr>
        <p:spPr bwMode="auto">
          <a:xfrm flipH="1">
            <a:off x="1015507" y="1586804"/>
            <a:ext cx="2107646" cy="2296908"/>
          </a:xfrm>
          <a:prstGeom prst="straightConnector1">
            <a:avLst/>
          </a:prstGeom>
          <a:noFill/>
          <a:ln w="15875" cap="flat" cmpd="sng" algn="ctr">
            <a:solidFill>
              <a:srgbClr val="FF0000"/>
            </a:solidFill>
            <a:prstDash val="solid"/>
            <a:round/>
            <a:headEnd type="none" w="med" len="med"/>
            <a:tailEnd type="triangle"/>
          </a:ln>
          <a:effectLst/>
        </p:spPr>
      </p:cxnSp>
      <p:cxnSp>
        <p:nvCxnSpPr>
          <p:cNvPr id="110" name="Straight Arrow Connector 109">
            <a:extLst>
              <a:ext uri="{FF2B5EF4-FFF2-40B4-BE49-F238E27FC236}">
                <a16:creationId xmlns:a16="http://schemas.microsoft.com/office/drawing/2014/main" id="{67EFB03C-AA68-4880-9339-1B633B6BF5A6}"/>
              </a:ext>
            </a:extLst>
          </p:cNvPr>
          <p:cNvCxnSpPr>
            <a:cxnSpLocks/>
          </p:cNvCxnSpPr>
          <p:nvPr/>
        </p:nvCxnSpPr>
        <p:spPr bwMode="auto">
          <a:xfrm flipH="1">
            <a:off x="1457007" y="2585929"/>
            <a:ext cx="1818453" cy="1922786"/>
          </a:xfrm>
          <a:prstGeom prst="straightConnector1">
            <a:avLst/>
          </a:prstGeom>
          <a:noFill/>
          <a:ln w="15875" cap="flat" cmpd="sng" algn="ctr">
            <a:solidFill>
              <a:srgbClr val="FF0000"/>
            </a:solidFill>
            <a:prstDash val="solid"/>
            <a:round/>
            <a:headEnd type="none" w="med" len="med"/>
            <a:tailEnd type="triangle"/>
          </a:ln>
          <a:effectLst/>
        </p:spPr>
      </p:cxnSp>
      <p:sp>
        <p:nvSpPr>
          <p:cNvPr id="39" name="TextBox 38">
            <a:extLst>
              <a:ext uri="{FF2B5EF4-FFF2-40B4-BE49-F238E27FC236}">
                <a16:creationId xmlns:a16="http://schemas.microsoft.com/office/drawing/2014/main" id="{460958E3-B612-4E96-B518-CC779867A447}"/>
              </a:ext>
            </a:extLst>
          </p:cNvPr>
          <p:cNvSpPr txBox="1"/>
          <p:nvPr/>
        </p:nvSpPr>
        <p:spPr>
          <a:xfrm>
            <a:off x="9190985" y="3702428"/>
            <a:ext cx="2403222" cy="646331"/>
          </a:xfrm>
          <a:prstGeom prst="rect">
            <a:avLst/>
          </a:prstGeom>
          <a:noFill/>
        </p:spPr>
        <p:txBody>
          <a:bodyPr wrap="none" rtlCol="0" anchor="ctr" anchorCtr="1">
            <a:spAutoFit/>
          </a:bodyPr>
          <a:lstStyle/>
          <a:p>
            <a:r>
              <a:rPr lang="en-US" dirty="0">
                <a:ea typeface="標楷體" pitchFamily="65" charset="-120"/>
                <a:cs typeface="Calibri" pitchFamily="34" charset="0"/>
              </a:rPr>
              <a:t>Address to instruction</a:t>
            </a:r>
          </a:p>
          <a:p>
            <a:r>
              <a:rPr lang="en-US" dirty="0">
                <a:ea typeface="標楷體" pitchFamily="65" charset="-120"/>
                <a:cs typeface="Calibri" pitchFamily="34" charset="0"/>
              </a:rPr>
              <a:t>(in 16 bits)</a:t>
            </a:r>
          </a:p>
        </p:txBody>
      </p:sp>
      <p:sp>
        <p:nvSpPr>
          <p:cNvPr id="111" name="TextBox 110">
            <a:extLst>
              <a:ext uri="{FF2B5EF4-FFF2-40B4-BE49-F238E27FC236}">
                <a16:creationId xmlns:a16="http://schemas.microsoft.com/office/drawing/2014/main" id="{B047CE57-FC25-46CB-A5D2-F8135F54630D}"/>
              </a:ext>
            </a:extLst>
          </p:cNvPr>
          <p:cNvSpPr txBox="1"/>
          <p:nvPr/>
        </p:nvSpPr>
        <p:spPr>
          <a:xfrm>
            <a:off x="9190985" y="4464210"/>
            <a:ext cx="1800493" cy="646331"/>
          </a:xfrm>
          <a:prstGeom prst="rect">
            <a:avLst/>
          </a:prstGeom>
          <a:noFill/>
        </p:spPr>
        <p:txBody>
          <a:bodyPr wrap="none" rtlCol="0" anchor="ctr" anchorCtr="1">
            <a:spAutoFit/>
          </a:bodyPr>
          <a:lstStyle/>
          <a:p>
            <a:r>
              <a:rPr lang="en-US" dirty="0">
                <a:ea typeface="標楷體" pitchFamily="65" charset="-120"/>
                <a:cs typeface="Calibri" pitchFamily="34" charset="0"/>
              </a:rPr>
              <a:t>Address to data</a:t>
            </a:r>
          </a:p>
          <a:p>
            <a:r>
              <a:rPr lang="en-US" dirty="0">
                <a:ea typeface="標楷體" pitchFamily="65" charset="-120"/>
                <a:cs typeface="Calibri" pitchFamily="34" charset="0"/>
              </a:rPr>
              <a:t>(in 8 bits)</a:t>
            </a:r>
          </a:p>
        </p:txBody>
      </p:sp>
      <p:sp>
        <p:nvSpPr>
          <p:cNvPr id="3" name="TextBox 2">
            <a:extLst>
              <a:ext uri="{FF2B5EF4-FFF2-40B4-BE49-F238E27FC236}">
                <a16:creationId xmlns:a16="http://schemas.microsoft.com/office/drawing/2014/main" id="{B7570CA5-50DE-442C-80E8-C00C927099DB}"/>
              </a:ext>
            </a:extLst>
          </p:cNvPr>
          <p:cNvSpPr txBox="1"/>
          <p:nvPr/>
        </p:nvSpPr>
        <p:spPr>
          <a:xfrm>
            <a:off x="422725" y="5150576"/>
            <a:ext cx="1646605" cy="369332"/>
          </a:xfrm>
          <a:prstGeom prst="rect">
            <a:avLst/>
          </a:prstGeom>
          <a:noFill/>
        </p:spPr>
        <p:txBody>
          <a:bodyPr wrap="none" rtlCol="0" anchor="ctr" anchorCtr="1">
            <a:spAutoFit/>
          </a:bodyPr>
          <a:lstStyle/>
          <a:p>
            <a:r>
              <a:rPr lang="en-US" dirty="0">
                <a:ea typeface="標楷體" pitchFamily="65" charset="-120"/>
                <a:cs typeface="Calibri" pitchFamily="34" charset="0"/>
              </a:rPr>
              <a:t>Sign bit: same</a:t>
            </a:r>
          </a:p>
        </p:txBody>
      </p:sp>
      <p:sp>
        <p:nvSpPr>
          <p:cNvPr id="54" name="TextBox 53">
            <a:extLst>
              <a:ext uri="{FF2B5EF4-FFF2-40B4-BE49-F238E27FC236}">
                <a16:creationId xmlns:a16="http://schemas.microsoft.com/office/drawing/2014/main" id="{8D06D024-E995-468E-B9EA-B37D814A881E}"/>
              </a:ext>
            </a:extLst>
          </p:cNvPr>
          <p:cNvSpPr txBox="1"/>
          <p:nvPr/>
        </p:nvSpPr>
        <p:spPr>
          <a:xfrm>
            <a:off x="422725" y="5545485"/>
            <a:ext cx="1838965" cy="369332"/>
          </a:xfrm>
          <a:prstGeom prst="rect">
            <a:avLst/>
          </a:prstGeom>
          <a:noFill/>
        </p:spPr>
        <p:txBody>
          <a:bodyPr wrap="none" rtlCol="0" anchor="ctr" anchorCtr="1">
            <a:spAutoFit/>
          </a:bodyPr>
          <a:lstStyle/>
          <a:p>
            <a:r>
              <a:rPr lang="en-US" dirty="0" err="1">
                <a:ea typeface="標楷體" pitchFamily="65" charset="-120"/>
                <a:cs typeface="Calibri" pitchFamily="34" charset="0"/>
              </a:rPr>
              <a:t>Imm</a:t>
            </a:r>
            <a:r>
              <a:rPr lang="en-US" dirty="0">
                <a:ea typeface="標楷體" pitchFamily="65" charset="-120"/>
                <a:cs typeface="Calibri" pitchFamily="34" charset="0"/>
              </a:rPr>
              <a:t>[10:1] same</a:t>
            </a:r>
          </a:p>
        </p:txBody>
      </p:sp>
      <p:sp>
        <p:nvSpPr>
          <p:cNvPr id="55" name="TextBox 54">
            <a:extLst>
              <a:ext uri="{FF2B5EF4-FFF2-40B4-BE49-F238E27FC236}">
                <a16:creationId xmlns:a16="http://schemas.microsoft.com/office/drawing/2014/main" id="{CE7C8DC3-6F0E-4070-806D-0BFBB4E5713D}"/>
              </a:ext>
            </a:extLst>
          </p:cNvPr>
          <p:cNvSpPr txBox="1"/>
          <p:nvPr/>
        </p:nvSpPr>
        <p:spPr>
          <a:xfrm>
            <a:off x="2642741" y="5119704"/>
            <a:ext cx="6194837" cy="369332"/>
          </a:xfrm>
          <a:prstGeom prst="rect">
            <a:avLst/>
          </a:prstGeom>
          <a:noFill/>
        </p:spPr>
        <p:txBody>
          <a:bodyPr wrap="none" rtlCol="0" anchor="ctr" anchorCtr="1">
            <a:spAutoFit/>
          </a:bodyPr>
          <a:lstStyle/>
          <a:p>
            <a:r>
              <a:rPr lang="en-US" dirty="0" err="1">
                <a:ea typeface="標楷體" pitchFamily="65" charset="-120"/>
                <a:cs typeface="Calibri" pitchFamily="34" charset="0"/>
              </a:rPr>
              <a:t>Imm</a:t>
            </a:r>
            <a:r>
              <a:rPr lang="en-US" dirty="0">
                <a:ea typeface="標楷體" pitchFamily="65" charset="-120"/>
                <a:cs typeface="Calibri" pitchFamily="34" charset="0"/>
              </a:rPr>
              <a:t>[11] for B comes from </a:t>
            </a:r>
            <a:r>
              <a:rPr lang="en-US" dirty="0" err="1">
                <a:ea typeface="標楷體" pitchFamily="65" charset="-120"/>
                <a:cs typeface="Calibri" pitchFamily="34" charset="0"/>
              </a:rPr>
              <a:t>inst</a:t>
            </a:r>
            <a:r>
              <a:rPr lang="en-US" dirty="0">
                <a:ea typeface="標楷體" pitchFamily="65" charset="-120"/>
                <a:cs typeface="Calibri" pitchFamily="34" charset="0"/>
              </a:rPr>
              <a:t>[7], for S comes from </a:t>
            </a:r>
            <a:r>
              <a:rPr lang="en-US" dirty="0" err="1">
                <a:ea typeface="標楷體" pitchFamily="65" charset="-120"/>
                <a:cs typeface="Calibri" pitchFamily="34" charset="0"/>
              </a:rPr>
              <a:t>inst</a:t>
            </a:r>
            <a:r>
              <a:rPr lang="en-US" dirty="0">
                <a:ea typeface="標楷體" pitchFamily="65" charset="-120"/>
                <a:cs typeface="Calibri" pitchFamily="34" charset="0"/>
              </a:rPr>
              <a:t>[30]</a:t>
            </a:r>
          </a:p>
        </p:txBody>
      </p:sp>
      <p:sp>
        <p:nvSpPr>
          <p:cNvPr id="56" name="TextBox 55">
            <a:extLst>
              <a:ext uri="{FF2B5EF4-FFF2-40B4-BE49-F238E27FC236}">
                <a16:creationId xmlns:a16="http://schemas.microsoft.com/office/drawing/2014/main" id="{44D57D39-0218-4E91-B4C1-3074661225DC}"/>
              </a:ext>
            </a:extLst>
          </p:cNvPr>
          <p:cNvSpPr txBox="1"/>
          <p:nvPr/>
        </p:nvSpPr>
        <p:spPr>
          <a:xfrm>
            <a:off x="2623820" y="5549564"/>
            <a:ext cx="5198859" cy="369332"/>
          </a:xfrm>
          <a:prstGeom prst="rect">
            <a:avLst/>
          </a:prstGeom>
          <a:noFill/>
        </p:spPr>
        <p:txBody>
          <a:bodyPr wrap="none" rtlCol="0" anchor="ctr" anchorCtr="1">
            <a:spAutoFit/>
          </a:bodyPr>
          <a:lstStyle/>
          <a:p>
            <a:r>
              <a:rPr lang="en-US" dirty="0" err="1">
                <a:ea typeface="標楷體" pitchFamily="65" charset="-120"/>
                <a:cs typeface="Calibri" pitchFamily="34" charset="0"/>
              </a:rPr>
              <a:t>Imm</a:t>
            </a:r>
            <a:r>
              <a:rPr lang="en-US" dirty="0">
                <a:ea typeface="標楷體" pitchFamily="65" charset="-120"/>
                <a:cs typeface="Calibri" pitchFamily="34" charset="0"/>
              </a:rPr>
              <a:t>[0] for B is always 0, for S comes from </a:t>
            </a:r>
            <a:r>
              <a:rPr lang="en-US" dirty="0" err="1">
                <a:ea typeface="標楷體" pitchFamily="65" charset="-120"/>
                <a:cs typeface="Calibri" pitchFamily="34" charset="0"/>
              </a:rPr>
              <a:t>inst</a:t>
            </a:r>
            <a:r>
              <a:rPr lang="en-US" dirty="0">
                <a:ea typeface="標楷體" pitchFamily="65" charset="-120"/>
                <a:cs typeface="Calibri" pitchFamily="34" charset="0"/>
              </a:rPr>
              <a:t>[7]</a:t>
            </a:r>
          </a:p>
        </p:txBody>
      </p:sp>
    </p:spTree>
    <p:extLst>
      <p:ext uri="{BB962C8B-B14F-4D97-AF65-F5344CB8AC3E}">
        <p14:creationId xmlns:p14="http://schemas.microsoft.com/office/powerpoint/2010/main" val="1368389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108"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7167" y="-185288"/>
            <a:ext cx="10924117" cy="1143000"/>
          </a:xfrm>
        </p:spPr>
        <p:txBody>
          <a:bodyPr/>
          <a:lstStyle/>
          <a:p>
            <a:r>
              <a:rPr lang="en-US" sz="4000" dirty="0"/>
              <a:t>Why Different Immediate Encoding in U and J</a:t>
            </a:r>
            <a:r>
              <a:rPr lang="en-US" sz="4000" i="1" dirty="0"/>
              <a:t> </a:t>
            </a:r>
          </a:p>
        </p:txBody>
      </p:sp>
      <p:sp>
        <p:nvSpPr>
          <p:cNvPr id="4" name="Date Placeholder 3"/>
          <p:cNvSpPr>
            <a:spLocks noGrp="1"/>
          </p:cNvSpPr>
          <p:nvPr>
            <p:ph type="dt" sz="half" idx="10"/>
          </p:nvPr>
        </p:nvSpPr>
        <p:spPr/>
        <p:txBody>
          <a:bodyPr/>
          <a:lstStyle/>
          <a:p>
            <a:pPr>
              <a:defRPr/>
            </a:pPr>
            <a:r>
              <a:rPr lang="en-US"/>
              <a:t>September 27, 2017</a:t>
            </a:r>
            <a:endParaRPr lang="en-US" dirty="0"/>
          </a:p>
        </p:txBody>
      </p:sp>
      <p:sp>
        <p:nvSpPr>
          <p:cNvPr id="27" name="Footer Placeholder 26"/>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28" name="Slide Number Placeholder 27"/>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82</a:t>
            </a:fld>
            <a:endParaRPr lang="en-US" dirty="0"/>
          </a:p>
        </p:txBody>
      </p:sp>
      <p:sp>
        <p:nvSpPr>
          <p:cNvPr id="6" name="Content Placeholder 5">
            <a:extLst>
              <a:ext uri="{FF2B5EF4-FFF2-40B4-BE49-F238E27FC236}">
                <a16:creationId xmlns:a16="http://schemas.microsoft.com/office/drawing/2014/main" id="{318F9773-8339-4670-8F1D-E6CBD9CFB4F7}"/>
              </a:ext>
            </a:extLst>
          </p:cNvPr>
          <p:cNvSpPr>
            <a:spLocks noGrp="1"/>
          </p:cNvSpPr>
          <p:nvPr>
            <p:ph idx="1"/>
          </p:nvPr>
        </p:nvSpPr>
        <p:spPr>
          <a:xfrm>
            <a:off x="109129" y="1073256"/>
            <a:ext cx="10972800" cy="4895851"/>
          </a:xfrm>
        </p:spPr>
        <p:txBody>
          <a:bodyPr/>
          <a:lstStyle/>
          <a:p>
            <a:r>
              <a:rPr lang="en-US" dirty="0"/>
              <a:t>U</a:t>
            </a:r>
          </a:p>
          <a:p>
            <a:r>
              <a:rPr lang="en-US" dirty="0"/>
              <a:t>J </a:t>
            </a:r>
          </a:p>
        </p:txBody>
      </p:sp>
      <p:sp>
        <p:nvSpPr>
          <p:cNvPr id="96" name="TextBox 95">
            <a:extLst>
              <a:ext uri="{FF2B5EF4-FFF2-40B4-BE49-F238E27FC236}">
                <a16:creationId xmlns:a16="http://schemas.microsoft.com/office/drawing/2014/main" id="{2303F660-AF8D-45CD-8A11-6A9C0476F0D4}"/>
              </a:ext>
            </a:extLst>
          </p:cNvPr>
          <p:cNvSpPr txBox="1"/>
          <p:nvPr/>
        </p:nvSpPr>
        <p:spPr>
          <a:xfrm>
            <a:off x="497487" y="3790950"/>
            <a:ext cx="8186843" cy="353943"/>
          </a:xfrm>
          <a:prstGeom prst="rect">
            <a:avLst/>
          </a:prstGeom>
          <a:solidFill>
            <a:srgbClr val="92D050"/>
          </a:solid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[31:12]</a:t>
            </a:r>
          </a:p>
        </p:txBody>
      </p:sp>
      <p:cxnSp>
        <p:nvCxnSpPr>
          <p:cNvPr id="107" name="Straight Arrow Connector 106">
            <a:extLst>
              <a:ext uri="{FF2B5EF4-FFF2-40B4-BE49-F238E27FC236}">
                <a16:creationId xmlns:a16="http://schemas.microsoft.com/office/drawing/2014/main" id="{E1E7806A-10F0-4DC5-9BA4-130F5EBDBFC7}"/>
              </a:ext>
            </a:extLst>
          </p:cNvPr>
          <p:cNvCxnSpPr>
            <a:cxnSpLocks/>
          </p:cNvCxnSpPr>
          <p:nvPr/>
        </p:nvCxnSpPr>
        <p:spPr bwMode="auto">
          <a:xfrm flipH="1">
            <a:off x="8684330" y="1598396"/>
            <a:ext cx="157254" cy="2188766"/>
          </a:xfrm>
          <a:prstGeom prst="straightConnector1">
            <a:avLst/>
          </a:prstGeom>
          <a:noFill/>
          <a:ln w="15875" cap="flat" cmpd="sng" algn="ctr">
            <a:solidFill>
              <a:srgbClr val="FF0000"/>
            </a:solidFill>
            <a:prstDash val="solid"/>
            <a:round/>
            <a:headEnd type="none" w="med" len="med"/>
            <a:tailEnd type="triangle"/>
          </a:ln>
          <a:effectLst/>
        </p:spPr>
      </p:cxnSp>
      <p:grpSp>
        <p:nvGrpSpPr>
          <p:cNvPr id="53" name="Group 52">
            <a:extLst>
              <a:ext uri="{FF2B5EF4-FFF2-40B4-BE49-F238E27FC236}">
                <a16:creationId xmlns:a16="http://schemas.microsoft.com/office/drawing/2014/main" id="{01B650A3-FCCA-4DD1-A694-1EEA396A651C}"/>
              </a:ext>
            </a:extLst>
          </p:cNvPr>
          <p:cNvGrpSpPr/>
          <p:nvPr/>
        </p:nvGrpSpPr>
        <p:grpSpPr>
          <a:xfrm>
            <a:off x="2738697" y="965751"/>
            <a:ext cx="8267207" cy="642123"/>
            <a:chOff x="721854" y="4278336"/>
            <a:chExt cx="8267206" cy="642123"/>
          </a:xfrm>
        </p:grpSpPr>
        <p:sp>
          <p:nvSpPr>
            <p:cNvPr id="54" name="TextBox 53">
              <a:extLst>
                <a:ext uri="{FF2B5EF4-FFF2-40B4-BE49-F238E27FC236}">
                  <a16:creationId xmlns:a16="http://schemas.microsoft.com/office/drawing/2014/main" id="{2F7A2CAB-B6D9-49F3-B7FE-8D3942106B6D}"/>
                </a:ext>
              </a:extLst>
            </p:cNvPr>
            <p:cNvSpPr txBox="1"/>
            <p:nvPr/>
          </p:nvSpPr>
          <p:spPr>
            <a:xfrm>
              <a:off x="6786728" y="4566516"/>
              <a:ext cx="1153312"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55" name="TextBox 54">
              <a:extLst>
                <a:ext uri="{FF2B5EF4-FFF2-40B4-BE49-F238E27FC236}">
                  <a16:creationId xmlns:a16="http://schemas.microsoft.com/office/drawing/2014/main" id="{E176D73F-FCC7-4EAA-8CC9-A4B15AA3BB92}"/>
                </a:ext>
              </a:extLst>
            </p:cNvPr>
            <p:cNvSpPr txBox="1"/>
            <p:nvPr/>
          </p:nvSpPr>
          <p:spPr>
            <a:xfrm>
              <a:off x="7940040" y="4566516"/>
              <a:ext cx="1049020"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56" name="TextBox 55">
              <a:extLst>
                <a:ext uri="{FF2B5EF4-FFF2-40B4-BE49-F238E27FC236}">
                  <a16:creationId xmlns:a16="http://schemas.microsoft.com/office/drawing/2014/main" id="{AC6B0720-10F5-47D5-BC01-E9215AA5AEBC}"/>
                </a:ext>
              </a:extLst>
            </p:cNvPr>
            <p:cNvSpPr txBox="1"/>
            <p:nvPr/>
          </p:nvSpPr>
          <p:spPr>
            <a:xfrm>
              <a:off x="7210138" y="4278336"/>
              <a:ext cx="306494" cy="353943"/>
            </a:xfrm>
            <a:prstGeom prst="rect">
              <a:avLst/>
            </a:prstGeom>
            <a:noFill/>
          </p:spPr>
          <p:txBody>
            <a:bodyPr wrap="none" rtlCol="0">
              <a:spAutoFit/>
            </a:bodyPr>
            <a:lstStyle/>
            <a:p>
              <a:pPr algn="ctr"/>
              <a:r>
                <a:rPr lang="en-US" sz="1700" dirty="0"/>
                <a:t>5</a:t>
              </a:r>
            </a:p>
          </p:txBody>
        </p:sp>
        <p:sp>
          <p:nvSpPr>
            <p:cNvPr id="57" name="TextBox 56">
              <a:extLst>
                <a:ext uri="{FF2B5EF4-FFF2-40B4-BE49-F238E27FC236}">
                  <a16:creationId xmlns:a16="http://schemas.microsoft.com/office/drawing/2014/main" id="{FF1248BC-7294-4C9E-93BA-17F84E5B346D}"/>
                </a:ext>
              </a:extLst>
            </p:cNvPr>
            <p:cNvSpPr txBox="1"/>
            <p:nvPr/>
          </p:nvSpPr>
          <p:spPr>
            <a:xfrm>
              <a:off x="8311303" y="4278336"/>
              <a:ext cx="306494" cy="353943"/>
            </a:xfrm>
            <a:prstGeom prst="rect">
              <a:avLst/>
            </a:prstGeom>
            <a:noFill/>
          </p:spPr>
          <p:txBody>
            <a:bodyPr wrap="none" rtlCol="0">
              <a:spAutoFit/>
            </a:bodyPr>
            <a:lstStyle/>
            <a:p>
              <a:pPr algn="ctr"/>
              <a:r>
                <a:rPr lang="en-US" sz="1700" dirty="0"/>
                <a:t>7</a:t>
              </a:r>
            </a:p>
          </p:txBody>
        </p:sp>
        <p:sp>
          <p:nvSpPr>
            <p:cNvPr id="62" name="TextBox 61">
              <a:extLst>
                <a:ext uri="{FF2B5EF4-FFF2-40B4-BE49-F238E27FC236}">
                  <a16:creationId xmlns:a16="http://schemas.microsoft.com/office/drawing/2014/main" id="{73DE0E3C-0E57-4505-AD00-BB3247C684DF}"/>
                </a:ext>
              </a:extLst>
            </p:cNvPr>
            <p:cNvSpPr txBox="1"/>
            <p:nvPr/>
          </p:nvSpPr>
          <p:spPr>
            <a:xfrm>
              <a:off x="721854" y="4566516"/>
              <a:ext cx="6064873"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     </a:t>
              </a:r>
              <a:r>
                <a:rPr lang="en-US" sz="1700" dirty="0" err="1">
                  <a:solidFill>
                    <a:srgbClr val="56127A"/>
                  </a:solidFill>
                </a:rPr>
                <a:t>imm</a:t>
              </a:r>
              <a:r>
                <a:rPr lang="en-US" sz="1700" dirty="0">
                  <a:solidFill>
                    <a:srgbClr val="56127A"/>
                  </a:solidFill>
                </a:rPr>
                <a:t>[31:20]                                                 </a:t>
              </a:r>
              <a:r>
                <a:rPr lang="en-US" sz="1700" dirty="0" err="1">
                  <a:solidFill>
                    <a:srgbClr val="56127A"/>
                  </a:solidFill>
                  <a:highlight>
                    <a:srgbClr val="FFFF00"/>
                  </a:highlight>
                </a:rPr>
                <a:t>imm</a:t>
              </a:r>
              <a:r>
                <a:rPr lang="en-US" sz="1700" dirty="0">
                  <a:solidFill>
                    <a:srgbClr val="56127A"/>
                  </a:solidFill>
                  <a:highlight>
                    <a:srgbClr val="FFFF00"/>
                  </a:highlight>
                </a:rPr>
                <a:t>[19:12]</a:t>
              </a:r>
            </a:p>
          </p:txBody>
        </p:sp>
        <p:sp>
          <p:nvSpPr>
            <p:cNvPr id="63" name="TextBox 62">
              <a:extLst>
                <a:ext uri="{FF2B5EF4-FFF2-40B4-BE49-F238E27FC236}">
                  <a16:creationId xmlns:a16="http://schemas.microsoft.com/office/drawing/2014/main" id="{325E66C0-B366-4652-8952-2BD7EC775345}"/>
                </a:ext>
              </a:extLst>
            </p:cNvPr>
            <p:cNvSpPr txBox="1"/>
            <p:nvPr/>
          </p:nvSpPr>
          <p:spPr>
            <a:xfrm>
              <a:off x="3540129" y="4278336"/>
              <a:ext cx="428322" cy="353943"/>
            </a:xfrm>
            <a:prstGeom prst="rect">
              <a:avLst/>
            </a:prstGeom>
            <a:noFill/>
          </p:spPr>
          <p:txBody>
            <a:bodyPr wrap="none" rtlCol="0">
              <a:spAutoFit/>
            </a:bodyPr>
            <a:lstStyle/>
            <a:p>
              <a:pPr algn="ctr"/>
              <a:r>
                <a:rPr lang="en-US" sz="1700" dirty="0"/>
                <a:t>20</a:t>
              </a:r>
            </a:p>
          </p:txBody>
        </p:sp>
      </p:grpSp>
      <p:cxnSp>
        <p:nvCxnSpPr>
          <p:cNvPr id="29" name="Straight Arrow Connector 28">
            <a:extLst>
              <a:ext uri="{FF2B5EF4-FFF2-40B4-BE49-F238E27FC236}">
                <a16:creationId xmlns:a16="http://schemas.microsoft.com/office/drawing/2014/main" id="{37275147-50FA-4283-B906-5582DA2583B9}"/>
              </a:ext>
            </a:extLst>
          </p:cNvPr>
          <p:cNvCxnSpPr>
            <a:stCxn id="62" idx="1"/>
          </p:cNvCxnSpPr>
          <p:nvPr/>
        </p:nvCxnSpPr>
        <p:spPr bwMode="auto">
          <a:xfrm flipH="1">
            <a:off x="497487" y="1430903"/>
            <a:ext cx="2241210" cy="2360047"/>
          </a:xfrm>
          <a:prstGeom prst="straightConnector1">
            <a:avLst/>
          </a:prstGeom>
          <a:noFill/>
          <a:ln w="15875" cap="flat" cmpd="sng" algn="ctr">
            <a:solidFill>
              <a:srgbClr val="FF0000"/>
            </a:solidFill>
            <a:prstDash val="solid"/>
            <a:round/>
            <a:headEnd type="none" w="med" len="med"/>
            <a:tailEnd type="triangle"/>
          </a:ln>
          <a:effectLst/>
        </p:spPr>
      </p:cxnSp>
      <p:sp>
        <p:nvSpPr>
          <p:cNvPr id="71" name="TextBox 70">
            <a:extLst>
              <a:ext uri="{FF2B5EF4-FFF2-40B4-BE49-F238E27FC236}">
                <a16:creationId xmlns:a16="http://schemas.microsoft.com/office/drawing/2014/main" id="{3D85B6A5-F9BD-41FE-AC23-270281DD5860}"/>
              </a:ext>
            </a:extLst>
          </p:cNvPr>
          <p:cNvSpPr txBox="1"/>
          <p:nvPr/>
        </p:nvSpPr>
        <p:spPr>
          <a:xfrm>
            <a:off x="8722659" y="3787162"/>
            <a:ext cx="255010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[11:1]</a:t>
            </a:r>
          </a:p>
        </p:txBody>
      </p:sp>
      <p:grpSp>
        <p:nvGrpSpPr>
          <p:cNvPr id="72" name="Group 71">
            <a:extLst>
              <a:ext uri="{FF2B5EF4-FFF2-40B4-BE49-F238E27FC236}">
                <a16:creationId xmlns:a16="http://schemas.microsoft.com/office/drawing/2014/main" id="{9BDB2954-46EE-4297-AC2E-6C82733FFCA5}"/>
              </a:ext>
            </a:extLst>
          </p:cNvPr>
          <p:cNvGrpSpPr/>
          <p:nvPr/>
        </p:nvGrpSpPr>
        <p:grpSpPr>
          <a:xfrm>
            <a:off x="2743769" y="1875215"/>
            <a:ext cx="8262135" cy="667543"/>
            <a:chOff x="721854" y="5395393"/>
            <a:chExt cx="8262135" cy="667543"/>
          </a:xfrm>
        </p:grpSpPr>
        <p:sp>
          <p:nvSpPr>
            <p:cNvPr id="73" name="TextBox 72">
              <a:extLst>
                <a:ext uri="{FF2B5EF4-FFF2-40B4-BE49-F238E27FC236}">
                  <a16:creationId xmlns:a16="http://schemas.microsoft.com/office/drawing/2014/main" id="{EE3AB75E-B85E-401C-9967-4964E3264C64}"/>
                </a:ext>
              </a:extLst>
            </p:cNvPr>
            <p:cNvSpPr txBox="1"/>
            <p:nvPr/>
          </p:nvSpPr>
          <p:spPr>
            <a:xfrm>
              <a:off x="721854" y="5708993"/>
              <a:ext cx="1178065"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[20]</a:t>
              </a:r>
            </a:p>
          </p:txBody>
        </p:sp>
        <p:sp>
          <p:nvSpPr>
            <p:cNvPr id="74" name="TextBox 73">
              <a:extLst>
                <a:ext uri="{FF2B5EF4-FFF2-40B4-BE49-F238E27FC236}">
                  <a16:creationId xmlns:a16="http://schemas.microsoft.com/office/drawing/2014/main" id="{D54A8212-A166-4F69-8E3D-711F6367CAD5}"/>
                </a:ext>
              </a:extLst>
            </p:cNvPr>
            <p:cNvSpPr txBox="1"/>
            <p:nvPr/>
          </p:nvSpPr>
          <p:spPr>
            <a:xfrm>
              <a:off x="1899919" y="5708993"/>
              <a:ext cx="20845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[10:1]</a:t>
              </a:r>
            </a:p>
          </p:txBody>
        </p:sp>
        <p:sp>
          <p:nvSpPr>
            <p:cNvPr id="75" name="TextBox 74">
              <a:extLst>
                <a:ext uri="{FF2B5EF4-FFF2-40B4-BE49-F238E27FC236}">
                  <a16:creationId xmlns:a16="http://schemas.microsoft.com/office/drawing/2014/main" id="{099D39C7-6C53-48A3-9007-BFDB200843AF}"/>
                </a:ext>
              </a:extLst>
            </p:cNvPr>
            <p:cNvSpPr txBox="1"/>
            <p:nvPr/>
          </p:nvSpPr>
          <p:spPr>
            <a:xfrm>
              <a:off x="6786728" y="5708992"/>
              <a:ext cx="114824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76" name="TextBox 75">
              <a:extLst>
                <a:ext uri="{FF2B5EF4-FFF2-40B4-BE49-F238E27FC236}">
                  <a16:creationId xmlns:a16="http://schemas.microsoft.com/office/drawing/2014/main" id="{2C076C2F-E86E-4F8F-9E28-2D7EDB99C61A}"/>
                </a:ext>
              </a:extLst>
            </p:cNvPr>
            <p:cNvSpPr txBox="1"/>
            <p:nvPr/>
          </p:nvSpPr>
          <p:spPr>
            <a:xfrm>
              <a:off x="5137793" y="5708992"/>
              <a:ext cx="1647204" cy="353943"/>
            </a:xfrm>
            <a:prstGeom prst="rect">
              <a:avLst/>
            </a:prstGeom>
            <a:noFill/>
            <a:ln w="12700">
              <a:solidFill>
                <a:schemeClr val="tx1"/>
              </a:solidFill>
            </a:ln>
          </p:spPr>
          <p:txBody>
            <a:bodyPr wrap="square" rtlCol="0">
              <a:spAutoFit/>
            </a:bodyPr>
            <a:lstStyle/>
            <a:p>
              <a:pPr algn="ctr"/>
              <a:r>
                <a:rPr lang="en-US" sz="1700" dirty="0" err="1">
                  <a:solidFill>
                    <a:srgbClr val="56127A"/>
                  </a:solidFill>
                  <a:highlight>
                    <a:srgbClr val="FFFF00"/>
                  </a:highlight>
                </a:rPr>
                <a:t>imm</a:t>
              </a:r>
              <a:r>
                <a:rPr lang="en-US" sz="1700" dirty="0">
                  <a:solidFill>
                    <a:srgbClr val="56127A"/>
                  </a:solidFill>
                  <a:highlight>
                    <a:srgbClr val="FFFF00"/>
                  </a:highlight>
                </a:rPr>
                <a:t>[19:12]</a:t>
              </a:r>
            </a:p>
          </p:txBody>
        </p:sp>
        <p:sp>
          <p:nvSpPr>
            <p:cNvPr id="77" name="TextBox 76">
              <a:extLst>
                <a:ext uri="{FF2B5EF4-FFF2-40B4-BE49-F238E27FC236}">
                  <a16:creationId xmlns:a16="http://schemas.microsoft.com/office/drawing/2014/main" id="{8B054265-A4EF-4EA0-990D-30FF853A45C4}"/>
                </a:ext>
              </a:extLst>
            </p:cNvPr>
            <p:cNvSpPr txBox="1"/>
            <p:nvPr/>
          </p:nvSpPr>
          <p:spPr>
            <a:xfrm>
              <a:off x="3984481" y="5708992"/>
              <a:ext cx="1153312"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a:t>
              </a:r>
            </a:p>
          </p:txBody>
        </p:sp>
        <p:sp>
          <p:nvSpPr>
            <p:cNvPr id="78" name="TextBox 77">
              <a:extLst>
                <a:ext uri="{FF2B5EF4-FFF2-40B4-BE49-F238E27FC236}">
                  <a16:creationId xmlns:a16="http://schemas.microsoft.com/office/drawing/2014/main" id="{22020CE2-E8F6-4F94-90D9-663FFD3458D9}"/>
                </a:ext>
              </a:extLst>
            </p:cNvPr>
            <p:cNvSpPr txBox="1"/>
            <p:nvPr/>
          </p:nvSpPr>
          <p:spPr>
            <a:xfrm>
              <a:off x="7934969" y="5708992"/>
              <a:ext cx="1049020"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79" name="TextBox 78">
              <a:extLst>
                <a:ext uri="{FF2B5EF4-FFF2-40B4-BE49-F238E27FC236}">
                  <a16:creationId xmlns:a16="http://schemas.microsoft.com/office/drawing/2014/main" id="{262D860B-EC55-4178-8B2F-FF40C40ABF43}"/>
                </a:ext>
              </a:extLst>
            </p:cNvPr>
            <p:cNvSpPr txBox="1"/>
            <p:nvPr/>
          </p:nvSpPr>
          <p:spPr>
            <a:xfrm>
              <a:off x="1157640" y="5395393"/>
              <a:ext cx="306494" cy="353943"/>
            </a:xfrm>
            <a:prstGeom prst="rect">
              <a:avLst/>
            </a:prstGeom>
            <a:noFill/>
          </p:spPr>
          <p:txBody>
            <a:bodyPr wrap="none" rtlCol="0">
              <a:spAutoFit/>
            </a:bodyPr>
            <a:lstStyle/>
            <a:p>
              <a:pPr algn="ctr"/>
              <a:r>
                <a:rPr lang="en-US" sz="1700" dirty="0"/>
                <a:t>1</a:t>
              </a:r>
            </a:p>
          </p:txBody>
        </p:sp>
        <p:sp>
          <p:nvSpPr>
            <p:cNvPr id="80" name="TextBox 79">
              <a:extLst>
                <a:ext uri="{FF2B5EF4-FFF2-40B4-BE49-F238E27FC236}">
                  <a16:creationId xmlns:a16="http://schemas.microsoft.com/office/drawing/2014/main" id="{CAC9CC46-CC84-4929-8F75-FA58C62390C8}"/>
                </a:ext>
              </a:extLst>
            </p:cNvPr>
            <p:cNvSpPr txBox="1"/>
            <p:nvPr/>
          </p:nvSpPr>
          <p:spPr>
            <a:xfrm>
              <a:off x="2728038" y="5395393"/>
              <a:ext cx="428322" cy="353943"/>
            </a:xfrm>
            <a:prstGeom prst="rect">
              <a:avLst/>
            </a:prstGeom>
            <a:noFill/>
          </p:spPr>
          <p:txBody>
            <a:bodyPr wrap="none" rtlCol="0">
              <a:spAutoFit/>
            </a:bodyPr>
            <a:lstStyle/>
            <a:p>
              <a:pPr algn="ctr"/>
              <a:r>
                <a:rPr lang="en-US" sz="1700" dirty="0"/>
                <a:t>10</a:t>
              </a:r>
            </a:p>
          </p:txBody>
        </p:sp>
        <p:sp>
          <p:nvSpPr>
            <p:cNvPr id="81" name="TextBox 80">
              <a:extLst>
                <a:ext uri="{FF2B5EF4-FFF2-40B4-BE49-F238E27FC236}">
                  <a16:creationId xmlns:a16="http://schemas.microsoft.com/office/drawing/2014/main" id="{5B7481B6-6097-49E2-9D4C-C795B8FB5FD9}"/>
                </a:ext>
              </a:extLst>
            </p:cNvPr>
            <p:cNvSpPr txBox="1"/>
            <p:nvPr/>
          </p:nvSpPr>
          <p:spPr>
            <a:xfrm>
              <a:off x="4410425" y="5395393"/>
              <a:ext cx="306494" cy="353943"/>
            </a:xfrm>
            <a:prstGeom prst="rect">
              <a:avLst/>
            </a:prstGeom>
            <a:noFill/>
          </p:spPr>
          <p:txBody>
            <a:bodyPr wrap="none" rtlCol="0">
              <a:spAutoFit/>
            </a:bodyPr>
            <a:lstStyle/>
            <a:p>
              <a:pPr algn="ctr"/>
              <a:r>
                <a:rPr lang="en-US" sz="1700" dirty="0"/>
                <a:t>1</a:t>
              </a:r>
            </a:p>
          </p:txBody>
        </p:sp>
        <p:sp>
          <p:nvSpPr>
            <p:cNvPr id="82" name="TextBox 81">
              <a:extLst>
                <a:ext uri="{FF2B5EF4-FFF2-40B4-BE49-F238E27FC236}">
                  <a16:creationId xmlns:a16="http://schemas.microsoft.com/office/drawing/2014/main" id="{EB27EC34-EAEF-4E54-BF0D-E5CFA9C9F2E0}"/>
                </a:ext>
              </a:extLst>
            </p:cNvPr>
            <p:cNvSpPr txBox="1"/>
            <p:nvPr/>
          </p:nvSpPr>
          <p:spPr>
            <a:xfrm>
              <a:off x="5806479" y="5395393"/>
              <a:ext cx="306494" cy="353943"/>
            </a:xfrm>
            <a:prstGeom prst="rect">
              <a:avLst/>
            </a:prstGeom>
            <a:noFill/>
          </p:spPr>
          <p:txBody>
            <a:bodyPr wrap="none" rtlCol="0">
              <a:spAutoFit/>
            </a:bodyPr>
            <a:lstStyle/>
            <a:p>
              <a:pPr algn="ctr"/>
              <a:r>
                <a:rPr lang="en-US" sz="1700" dirty="0"/>
                <a:t>8</a:t>
              </a:r>
            </a:p>
          </p:txBody>
        </p:sp>
        <p:sp>
          <p:nvSpPr>
            <p:cNvPr id="83" name="TextBox 82">
              <a:extLst>
                <a:ext uri="{FF2B5EF4-FFF2-40B4-BE49-F238E27FC236}">
                  <a16:creationId xmlns:a16="http://schemas.microsoft.com/office/drawing/2014/main" id="{8D7A1015-0610-4747-B4A7-E296BF84D497}"/>
                </a:ext>
              </a:extLst>
            </p:cNvPr>
            <p:cNvSpPr txBox="1"/>
            <p:nvPr/>
          </p:nvSpPr>
          <p:spPr>
            <a:xfrm>
              <a:off x="7202532" y="5395393"/>
              <a:ext cx="306494" cy="353943"/>
            </a:xfrm>
            <a:prstGeom prst="rect">
              <a:avLst/>
            </a:prstGeom>
            <a:noFill/>
          </p:spPr>
          <p:txBody>
            <a:bodyPr wrap="none" rtlCol="0">
              <a:spAutoFit/>
            </a:bodyPr>
            <a:lstStyle/>
            <a:p>
              <a:pPr algn="ctr"/>
              <a:r>
                <a:rPr lang="en-US" sz="1700" dirty="0"/>
                <a:t>5</a:t>
              </a:r>
            </a:p>
          </p:txBody>
        </p:sp>
        <p:sp>
          <p:nvSpPr>
            <p:cNvPr id="84" name="TextBox 83">
              <a:extLst>
                <a:ext uri="{FF2B5EF4-FFF2-40B4-BE49-F238E27FC236}">
                  <a16:creationId xmlns:a16="http://schemas.microsoft.com/office/drawing/2014/main" id="{B5FCBBC4-C278-4836-8BC1-E5E818250109}"/>
                </a:ext>
              </a:extLst>
            </p:cNvPr>
            <p:cNvSpPr txBox="1"/>
            <p:nvPr/>
          </p:nvSpPr>
          <p:spPr>
            <a:xfrm>
              <a:off x="8306232" y="5395393"/>
              <a:ext cx="306494" cy="353943"/>
            </a:xfrm>
            <a:prstGeom prst="rect">
              <a:avLst/>
            </a:prstGeom>
            <a:noFill/>
          </p:spPr>
          <p:txBody>
            <a:bodyPr wrap="none" rtlCol="0">
              <a:spAutoFit/>
            </a:bodyPr>
            <a:lstStyle/>
            <a:p>
              <a:pPr algn="ctr"/>
              <a:r>
                <a:rPr lang="en-US" sz="1700" dirty="0"/>
                <a:t>7</a:t>
              </a:r>
            </a:p>
          </p:txBody>
        </p:sp>
      </p:grpSp>
      <p:sp>
        <p:nvSpPr>
          <p:cNvPr id="85" name="TextBox 84">
            <a:extLst>
              <a:ext uri="{FF2B5EF4-FFF2-40B4-BE49-F238E27FC236}">
                <a16:creationId xmlns:a16="http://schemas.microsoft.com/office/drawing/2014/main" id="{C7B11DE2-2F17-4E55-AED4-419335DD7EEE}"/>
              </a:ext>
            </a:extLst>
          </p:cNvPr>
          <p:cNvSpPr txBox="1"/>
          <p:nvPr/>
        </p:nvSpPr>
        <p:spPr>
          <a:xfrm>
            <a:off x="4629151" y="4766092"/>
            <a:ext cx="4055180" cy="353943"/>
          </a:xfrm>
          <a:prstGeom prst="rect">
            <a:avLst/>
          </a:prstGeom>
          <a:solidFill>
            <a:srgbClr val="92D050"/>
          </a:solidFill>
          <a:ln w="12700">
            <a:solidFill>
              <a:schemeClr val="tx1"/>
            </a:solidFill>
          </a:ln>
        </p:spPr>
        <p:txBody>
          <a:bodyPr wrap="square" rtlCol="0">
            <a:spAutoFit/>
          </a:bodyPr>
          <a:lstStyle/>
          <a:p>
            <a:pPr algn="ctr"/>
            <a:endParaRPr lang="en-US" sz="1700" dirty="0">
              <a:solidFill>
                <a:srgbClr val="56127A"/>
              </a:solidFill>
            </a:endParaRPr>
          </a:p>
        </p:txBody>
      </p:sp>
      <p:sp>
        <p:nvSpPr>
          <p:cNvPr id="86" name="TextBox 85">
            <a:extLst>
              <a:ext uri="{FF2B5EF4-FFF2-40B4-BE49-F238E27FC236}">
                <a16:creationId xmlns:a16="http://schemas.microsoft.com/office/drawing/2014/main" id="{D76AE1D4-B6C4-45F2-92D5-46E8CACC716D}"/>
              </a:ext>
            </a:extLst>
          </p:cNvPr>
          <p:cNvSpPr txBox="1"/>
          <p:nvPr/>
        </p:nvSpPr>
        <p:spPr>
          <a:xfrm>
            <a:off x="8722659" y="4762304"/>
            <a:ext cx="2550101" cy="353943"/>
          </a:xfrm>
          <a:prstGeom prst="rect">
            <a:avLst/>
          </a:prstGeom>
          <a:solidFill>
            <a:srgbClr val="92D050"/>
          </a:solid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[11:1]</a:t>
            </a:r>
          </a:p>
        </p:txBody>
      </p:sp>
      <p:sp>
        <p:nvSpPr>
          <p:cNvPr id="33" name="TextBox 32">
            <a:extLst>
              <a:ext uri="{FF2B5EF4-FFF2-40B4-BE49-F238E27FC236}">
                <a16:creationId xmlns:a16="http://schemas.microsoft.com/office/drawing/2014/main" id="{DDB1D972-E8B9-49F8-9182-8A9E5DF57BE9}"/>
              </a:ext>
            </a:extLst>
          </p:cNvPr>
          <p:cNvSpPr txBox="1"/>
          <p:nvPr/>
        </p:nvSpPr>
        <p:spPr>
          <a:xfrm>
            <a:off x="109129" y="3725607"/>
            <a:ext cx="407484" cy="461665"/>
          </a:xfrm>
          <a:prstGeom prst="rect">
            <a:avLst/>
          </a:prstGeom>
          <a:noFill/>
        </p:spPr>
        <p:txBody>
          <a:bodyPr wrap="none" rtlCol="0" anchor="ctr" anchorCtr="1">
            <a:spAutoFit/>
          </a:bodyPr>
          <a:lstStyle/>
          <a:p>
            <a:r>
              <a:rPr lang="en-US" sz="2400" dirty="0">
                <a:ea typeface="標楷體" pitchFamily="65" charset="-120"/>
                <a:cs typeface="Calibri" pitchFamily="34" charset="0"/>
              </a:rPr>
              <a:t>U</a:t>
            </a:r>
          </a:p>
        </p:txBody>
      </p:sp>
      <p:sp>
        <p:nvSpPr>
          <p:cNvPr id="87" name="TextBox 86">
            <a:extLst>
              <a:ext uri="{FF2B5EF4-FFF2-40B4-BE49-F238E27FC236}">
                <a16:creationId xmlns:a16="http://schemas.microsoft.com/office/drawing/2014/main" id="{4779D097-C3EB-4816-AF10-22643E68213A}"/>
              </a:ext>
            </a:extLst>
          </p:cNvPr>
          <p:cNvSpPr txBox="1"/>
          <p:nvPr/>
        </p:nvSpPr>
        <p:spPr>
          <a:xfrm>
            <a:off x="83046" y="4762304"/>
            <a:ext cx="338554" cy="461665"/>
          </a:xfrm>
          <a:prstGeom prst="rect">
            <a:avLst/>
          </a:prstGeom>
          <a:noFill/>
        </p:spPr>
        <p:txBody>
          <a:bodyPr wrap="none" rtlCol="0" anchor="ctr" anchorCtr="1">
            <a:spAutoFit/>
          </a:bodyPr>
          <a:lstStyle/>
          <a:p>
            <a:r>
              <a:rPr lang="en-US" sz="2400" dirty="0">
                <a:ea typeface="標楷體" pitchFamily="65" charset="-120"/>
                <a:cs typeface="Calibri" pitchFamily="34" charset="0"/>
              </a:rPr>
              <a:t>J</a:t>
            </a:r>
          </a:p>
        </p:txBody>
      </p:sp>
      <p:sp>
        <p:nvSpPr>
          <p:cNvPr id="88" name="TextBox 87">
            <a:extLst>
              <a:ext uri="{FF2B5EF4-FFF2-40B4-BE49-F238E27FC236}">
                <a16:creationId xmlns:a16="http://schemas.microsoft.com/office/drawing/2014/main" id="{51534CC4-F7E9-4E73-A8C9-AF34CBAE8187}"/>
              </a:ext>
            </a:extLst>
          </p:cNvPr>
          <p:cNvSpPr txBox="1"/>
          <p:nvPr/>
        </p:nvSpPr>
        <p:spPr>
          <a:xfrm>
            <a:off x="545526" y="4754108"/>
            <a:ext cx="4055180" cy="353943"/>
          </a:xfrm>
          <a:prstGeom prst="rect">
            <a:avLst/>
          </a:prstGeom>
          <a:noFill/>
          <a:ln w="12700">
            <a:solidFill>
              <a:schemeClr val="tx1"/>
            </a:solidFill>
          </a:ln>
        </p:spPr>
        <p:txBody>
          <a:bodyPr wrap="square" rtlCol="0">
            <a:spAutoFit/>
          </a:bodyPr>
          <a:lstStyle/>
          <a:p>
            <a:pPr algn="ctr"/>
            <a:endParaRPr lang="en-US" sz="1700" dirty="0">
              <a:solidFill>
                <a:srgbClr val="56127A"/>
              </a:solidFill>
            </a:endParaRPr>
          </a:p>
        </p:txBody>
      </p:sp>
      <p:cxnSp>
        <p:nvCxnSpPr>
          <p:cNvPr id="35" name="Straight Arrow Connector 34">
            <a:extLst>
              <a:ext uri="{FF2B5EF4-FFF2-40B4-BE49-F238E27FC236}">
                <a16:creationId xmlns:a16="http://schemas.microsoft.com/office/drawing/2014/main" id="{AB6A062F-B118-48B7-8BC7-0C99CE658C9F}"/>
              </a:ext>
            </a:extLst>
          </p:cNvPr>
          <p:cNvCxnSpPr>
            <a:cxnSpLocks/>
          </p:cNvCxnSpPr>
          <p:nvPr/>
        </p:nvCxnSpPr>
        <p:spPr bwMode="auto">
          <a:xfrm>
            <a:off x="3921834" y="2610926"/>
            <a:ext cx="5198893" cy="2137921"/>
          </a:xfrm>
          <a:prstGeom prst="straightConnector1">
            <a:avLst/>
          </a:prstGeom>
          <a:noFill/>
          <a:ln w="15875" cap="flat" cmpd="sng" algn="ctr">
            <a:solidFill>
              <a:srgbClr val="FF0000"/>
            </a:solidFill>
            <a:prstDash val="solid"/>
            <a:round/>
            <a:headEnd type="none" w="med" len="med"/>
            <a:tailEnd type="triangle"/>
          </a:ln>
          <a:effectLst/>
        </p:spPr>
      </p:cxnSp>
      <p:cxnSp>
        <p:nvCxnSpPr>
          <p:cNvPr id="89" name="Straight Arrow Connector 88">
            <a:extLst>
              <a:ext uri="{FF2B5EF4-FFF2-40B4-BE49-F238E27FC236}">
                <a16:creationId xmlns:a16="http://schemas.microsoft.com/office/drawing/2014/main" id="{30ACC627-64DC-4F2A-B8C9-858CFDF8F83C}"/>
              </a:ext>
            </a:extLst>
          </p:cNvPr>
          <p:cNvCxnSpPr>
            <a:cxnSpLocks/>
          </p:cNvCxnSpPr>
          <p:nvPr/>
        </p:nvCxnSpPr>
        <p:spPr bwMode="auto">
          <a:xfrm>
            <a:off x="5985294" y="2542757"/>
            <a:ext cx="5325795" cy="2219547"/>
          </a:xfrm>
          <a:prstGeom prst="straightConnector1">
            <a:avLst/>
          </a:prstGeom>
          <a:noFill/>
          <a:ln w="15875" cap="flat" cmpd="sng" algn="ctr">
            <a:solidFill>
              <a:srgbClr val="FF0000"/>
            </a:solidFill>
            <a:prstDash val="solid"/>
            <a:round/>
            <a:headEnd type="none" w="med" len="med"/>
            <a:tailEnd type="triangle"/>
          </a:ln>
          <a:effectLst/>
        </p:spPr>
      </p:cxnSp>
      <p:cxnSp>
        <p:nvCxnSpPr>
          <p:cNvPr id="40" name="Straight Arrow Connector 39">
            <a:extLst>
              <a:ext uri="{FF2B5EF4-FFF2-40B4-BE49-F238E27FC236}">
                <a16:creationId xmlns:a16="http://schemas.microsoft.com/office/drawing/2014/main" id="{4205B364-00BE-4B94-B188-136A2F923063}"/>
              </a:ext>
            </a:extLst>
          </p:cNvPr>
          <p:cNvCxnSpPr>
            <a:stCxn id="77" idx="2"/>
          </p:cNvCxnSpPr>
          <p:nvPr/>
        </p:nvCxnSpPr>
        <p:spPr bwMode="auto">
          <a:xfrm>
            <a:off x="6583052" y="2542757"/>
            <a:ext cx="2258532" cy="2223335"/>
          </a:xfrm>
          <a:prstGeom prst="straightConnector1">
            <a:avLst/>
          </a:prstGeom>
          <a:noFill/>
          <a:ln w="15875" cap="flat" cmpd="sng" algn="ctr">
            <a:solidFill>
              <a:srgbClr val="FF0000"/>
            </a:solidFill>
            <a:prstDash val="solid"/>
            <a:round/>
            <a:headEnd type="none" w="med" len="med"/>
            <a:tailEnd type="triangle"/>
          </a:ln>
          <a:effectLst/>
        </p:spPr>
      </p:cxnSp>
      <p:cxnSp>
        <p:nvCxnSpPr>
          <p:cNvPr id="42" name="Straight Connector 41">
            <a:extLst>
              <a:ext uri="{FF2B5EF4-FFF2-40B4-BE49-F238E27FC236}">
                <a16:creationId xmlns:a16="http://schemas.microsoft.com/office/drawing/2014/main" id="{CABFA1DC-A828-4879-89AB-744D2E242043}"/>
              </a:ext>
            </a:extLst>
          </p:cNvPr>
          <p:cNvCxnSpPr>
            <a:cxnSpLocks/>
          </p:cNvCxnSpPr>
          <p:nvPr/>
        </p:nvCxnSpPr>
        <p:spPr bwMode="auto">
          <a:xfrm>
            <a:off x="7138605" y="1280423"/>
            <a:ext cx="1" cy="361536"/>
          </a:xfrm>
          <a:prstGeom prst="line">
            <a:avLst/>
          </a:prstGeom>
          <a:noFill/>
          <a:ln w="15875"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94865242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Interrupt Handler</a:t>
            </a:r>
          </a:p>
        </p:txBody>
      </p:sp>
      <p:sp>
        <p:nvSpPr>
          <p:cNvPr id="7" name="TextBox 6"/>
          <p:cNvSpPr txBox="1"/>
          <p:nvPr/>
        </p:nvSpPr>
        <p:spPr>
          <a:xfrm>
            <a:off x="2156567" y="1505206"/>
            <a:ext cx="7491153" cy="3416320"/>
          </a:xfrm>
          <a:prstGeom prst="rect">
            <a:avLst/>
          </a:prstGeom>
          <a:solidFill>
            <a:schemeClr val="accent2">
              <a:lumMod val="40000"/>
              <a:lumOff val="60000"/>
            </a:schemeClr>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ourier New" panose="02070309020205020404" pitchFamily="49" charset="0"/>
                <a:ea typeface="新細明體"/>
                <a:cs typeface="Courier New" panose="02070309020205020404" pitchFamily="49" charset="0"/>
              </a:rPr>
              <a:t>common_handler</a:t>
            </a: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 entry point for exception handler</a:t>
            </a:r>
            <a:b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b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 get the pointer to HW-thread local stack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a:t>
            </a:r>
            <a:r>
              <a:rPr kumimoji="0" lang="en-US" sz="1800" b="0" i="0" u="none" strike="noStrike" kern="1200" cap="none" spc="0" normalizeH="0" baseline="0" noProof="0" dirty="0" err="1">
                <a:ln>
                  <a:noFill/>
                </a:ln>
                <a:solidFill>
                  <a:prstClr val="black"/>
                </a:solidFill>
                <a:effectLst/>
                <a:uLnTx/>
                <a:uFillTx/>
                <a:latin typeface="Courier New" panose="02070309020205020404" pitchFamily="49" charset="0"/>
                <a:ea typeface="新細明體"/>
                <a:cs typeface="Courier New" panose="02070309020205020404" pitchFamily="49" charset="0"/>
              </a:rPr>
              <a:t>csrrw</a:t>
            </a: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a:t>
            </a:r>
            <a:r>
              <a:rPr kumimoji="0" lang="en-US" sz="1800" b="0" i="0" u="none" strike="noStrike" kern="1200" cap="none" spc="0" normalizeH="0" baseline="0" noProof="0" dirty="0" err="1">
                <a:ln>
                  <a:noFill/>
                </a:ln>
                <a:solidFill>
                  <a:prstClr val="black"/>
                </a:solidFill>
                <a:effectLst/>
                <a:uLnTx/>
                <a:uFillTx/>
                <a:latin typeface="Courier New" panose="02070309020205020404" pitchFamily="49" charset="0"/>
                <a:ea typeface="新細明體"/>
                <a:cs typeface="Courier New" panose="02070309020205020404" pitchFamily="49" charset="0"/>
              </a:rPr>
              <a:t>sp</a:t>
            </a: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a:t>
            </a:r>
            <a:r>
              <a:rPr kumimoji="0" lang="en-US" sz="1800" b="0" i="0" u="none" strike="noStrike" kern="1200" cap="none" spc="0" normalizeH="0" baseline="0" noProof="0" dirty="0" err="1">
                <a:ln>
                  <a:noFill/>
                </a:ln>
                <a:solidFill>
                  <a:prstClr val="black"/>
                </a:solidFill>
                <a:effectLst/>
                <a:uLnTx/>
                <a:uFillTx/>
                <a:latin typeface="Courier New" panose="02070309020205020404" pitchFamily="49" charset="0"/>
                <a:ea typeface="新細明體"/>
                <a:cs typeface="Courier New" panose="02070309020205020404" pitchFamily="49" charset="0"/>
              </a:rPr>
              <a:t>mscratch</a:t>
            </a: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a:t>
            </a:r>
            <a:r>
              <a:rPr kumimoji="0" lang="en-US" sz="1800" b="0" i="0" u="none" strike="noStrike" kern="1200" cap="none" spc="0" normalizeH="0" baseline="0" noProof="0" dirty="0" err="1">
                <a:ln>
                  <a:noFill/>
                </a:ln>
                <a:solidFill>
                  <a:prstClr val="black"/>
                </a:solidFill>
                <a:effectLst/>
                <a:uLnTx/>
                <a:uFillTx/>
                <a:latin typeface="Courier New" panose="02070309020205020404" pitchFamily="49" charset="0"/>
                <a:ea typeface="新細明體"/>
                <a:cs typeface="Courier New" panose="02070309020205020404" pitchFamily="49" charset="0"/>
              </a:rPr>
              <a:t>sp</a:t>
            </a: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 swap </a:t>
            </a:r>
            <a:r>
              <a:rPr kumimoji="0" lang="en-US" sz="1800" b="0" i="0" u="none" strike="noStrike" kern="1200" cap="none" spc="0" normalizeH="0" baseline="0" noProof="0" dirty="0" err="1">
                <a:ln>
                  <a:noFill/>
                </a:ln>
                <a:solidFill>
                  <a:prstClr val="black"/>
                </a:solidFill>
                <a:effectLst/>
                <a:uLnTx/>
                <a:uFillTx/>
                <a:latin typeface="Courier New" panose="02070309020205020404" pitchFamily="49" charset="0"/>
                <a:ea typeface="新細明體"/>
                <a:cs typeface="Courier New" panose="02070309020205020404" pitchFamily="49" charset="0"/>
              </a:rPr>
              <a:t>sp</a:t>
            </a: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and </a:t>
            </a:r>
            <a:r>
              <a:rPr kumimoji="0" lang="en-US" sz="1800" b="0" i="0" u="none" strike="noStrike" kern="1200" cap="none" spc="0" normalizeH="0" baseline="0" noProof="0" dirty="0" err="1">
                <a:ln>
                  <a:noFill/>
                </a:ln>
                <a:solidFill>
                  <a:prstClr val="black"/>
                </a:solidFill>
                <a:effectLst/>
                <a:uLnTx/>
                <a:uFillTx/>
                <a:latin typeface="Courier New" panose="02070309020205020404" pitchFamily="49" charset="0"/>
                <a:ea typeface="新細明體"/>
                <a:cs typeface="Courier New" panose="02070309020205020404" pitchFamily="49" charset="0"/>
              </a:rPr>
              <a:t>mscratch</a:t>
            </a:r>
            <a:endPar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 save x1, x3 ~ x31 to stack (x2 is </a:t>
            </a:r>
            <a:r>
              <a:rPr kumimoji="0" lang="en-US" sz="1800" b="0" i="0" u="none" strike="noStrike" kern="1200" cap="none" spc="0" normalizeH="0" baseline="0" noProof="0" dirty="0" err="1">
                <a:ln>
                  <a:noFill/>
                </a:ln>
                <a:solidFill>
                  <a:prstClr val="black"/>
                </a:solidFill>
                <a:effectLst/>
                <a:uLnTx/>
                <a:uFillTx/>
                <a:latin typeface="Courier New" panose="02070309020205020404" pitchFamily="49" charset="0"/>
                <a:ea typeface="新細明體"/>
                <a:cs typeface="Courier New" panose="02070309020205020404" pitchFamily="49" charset="0"/>
              </a:rPr>
              <a:t>sp</a:t>
            </a: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save later)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a:t>
            </a:r>
            <a:r>
              <a:rPr kumimoji="0" lang="en-US" sz="1800" b="0" i="0" u="none" strike="noStrike" kern="1200" cap="none" spc="0" normalizeH="0" baseline="0" noProof="0" dirty="0" err="1">
                <a:ln>
                  <a:noFill/>
                </a:ln>
                <a:solidFill>
                  <a:prstClr val="black"/>
                </a:solidFill>
                <a:effectLst/>
                <a:uLnTx/>
                <a:uFillTx/>
                <a:latin typeface="Courier New" panose="02070309020205020404" pitchFamily="49" charset="0"/>
                <a:ea typeface="新細明體"/>
                <a:cs typeface="Courier New" panose="02070309020205020404" pitchFamily="49" charset="0"/>
              </a:rPr>
              <a:t>addi</a:t>
            </a: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a:t>
            </a:r>
            <a:r>
              <a:rPr kumimoji="0" lang="en-US" sz="1800" b="0" i="0" u="none" strike="noStrike" kern="1200" cap="none" spc="0" normalizeH="0" baseline="0" noProof="0" dirty="0" err="1">
                <a:ln>
                  <a:noFill/>
                </a:ln>
                <a:solidFill>
                  <a:prstClr val="black"/>
                </a:solidFill>
                <a:effectLst/>
                <a:uLnTx/>
                <a:uFillTx/>
                <a:latin typeface="Courier New" panose="02070309020205020404" pitchFamily="49" charset="0"/>
                <a:ea typeface="新細明體"/>
                <a:cs typeface="Courier New" panose="02070309020205020404" pitchFamily="49" charset="0"/>
              </a:rPr>
              <a:t>sp</a:t>
            </a: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a:t>
            </a:r>
            <a:r>
              <a:rPr kumimoji="0" lang="en-US" sz="1800" b="0" i="0" u="none" strike="noStrike" kern="1200" cap="none" spc="0" normalizeH="0" baseline="0" noProof="0" dirty="0" err="1">
                <a:ln>
                  <a:noFill/>
                </a:ln>
                <a:solidFill>
                  <a:prstClr val="black"/>
                </a:solidFill>
                <a:effectLst/>
                <a:uLnTx/>
                <a:uFillTx/>
                <a:latin typeface="Courier New" panose="02070309020205020404" pitchFamily="49" charset="0"/>
                <a:ea typeface="新細明體"/>
                <a:cs typeface="Courier New" panose="02070309020205020404" pitchFamily="49" charset="0"/>
              </a:rPr>
              <a:t>sp</a:t>
            </a: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-128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a:t>
            </a:r>
            <a:r>
              <a:rPr kumimoji="0" lang="en-US" sz="1800" b="0" i="0" u="none" strike="noStrike" kern="1200" cap="none" spc="0" normalizeH="0" baseline="0" noProof="0" dirty="0" err="1">
                <a:ln>
                  <a:noFill/>
                </a:ln>
                <a:solidFill>
                  <a:prstClr val="black"/>
                </a:solidFill>
                <a:effectLst/>
                <a:uLnTx/>
                <a:uFillTx/>
                <a:latin typeface="Courier New" panose="02070309020205020404" pitchFamily="49" charset="0"/>
                <a:ea typeface="新細明體"/>
                <a:cs typeface="Courier New" panose="02070309020205020404" pitchFamily="49" charset="0"/>
              </a:rPr>
              <a:t>sw</a:t>
            </a: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x1, 4(</a:t>
            </a:r>
            <a:r>
              <a:rPr kumimoji="0" lang="en-US" sz="1800" b="0" i="0" u="none" strike="noStrike" kern="1200" cap="none" spc="0" normalizeH="0" baseline="0" noProof="0" dirty="0" err="1">
                <a:ln>
                  <a:noFill/>
                </a:ln>
                <a:solidFill>
                  <a:prstClr val="black"/>
                </a:solidFill>
                <a:effectLst/>
                <a:uLnTx/>
                <a:uFillTx/>
                <a:latin typeface="Courier New" panose="02070309020205020404" pitchFamily="49" charset="0"/>
                <a:ea typeface="新細明體"/>
                <a:cs typeface="Courier New" panose="02070309020205020404" pitchFamily="49" charset="0"/>
              </a:rPr>
              <a:t>sp</a:t>
            </a: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a:t>
            </a:r>
            <a:r>
              <a:rPr kumimoji="0" lang="en-US" sz="1800" b="0" i="0" u="none" strike="noStrike" kern="1200" cap="none" spc="0" normalizeH="0" baseline="0" noProof="0" dirty="0" err="1">
                <a:ln>
                  <a:noFill/>
                </a:ln>
                <a:solidFill>
                  <a:prstClr val="black"/>
                </a:solidFill>
                <a:effectLst/>
                <a:uLnTx/>
                <a:uFillTx/>
                <a:latin typeface="Courier New" panose="02070309020205020404" pitchFamily="49" charset="0"/>
                <a:ea typeface="新細明體"/>
                <a:cs typeface="Courier New" panose="02070309020205020404" pitchFamily="49" charset="0"/>
              </a:rPr>
              <a:t>sw</a:t>
            </a: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x3, 12(</a:t>
            </a:r>
            <a:r>
              <a:rPr kumimoji="0" lang="en-US" sz="1800" b="0" i="0" u="none" strike="noStrike" kern="1200" cap="none" spc="0" normalizeH="0" baseline="0" noProof="0" dirty="0" err="1">
                <a:ln>
                  <a:noFill/>
                </a:ln>
                <a:solidFill>
                  <a:prstClr val="black"/>
                </a:solidFill>
                <a:effectLst/>
                <a:uLnTx/>
                <a:uFillTx/>
                <a:latin typeface="Courier New" panose="02070309020205020404" pitchFamily="49" charset="0"/>
                <a:ea typeface="新細明體"/>
                <a:cs typeface="Courier New" panose="02070309020205020404" pitchFamily="49" charset="0"/>
              </a:rPr>
              <a:t>sp</a:t>
            </a: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a:t>
            </a:r>
            <a:r>
              <a:rPr kumimoji="0" lang="en-US" sz="1800" b="0" i="0" u="none" strike="noStrike" kern="1200" cap="none" spc="0" normalizeH="0" baseline="0" noProof="0" dirty="0" err="1">
                <a:ln>
                  <a:noFill/>
                </a:ln>
                <a:solidFill>
                  <a:prstClr val="black"/>
                </a:solidFill>
                <a:effectLst/>
                <a:uLnTx/>
                <a:uFillTx/>
                <a:latin typeface="Courier New" panose="02070309020205020404" pitchFamily="49" charset="0"/>
                <a:ea typeface="新細明體"/>
                <a:cs typeface="Courier New" panose="02070309020205020404" pitchFamily="49" charset="0"/>
              </a:rPr>
              <a:t>sw</a:t>
            </a: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x31, 124(</a:t>
            </a:r>
            <a:r>
              <a:rPr kumimoji="0" lang="en-US" sz="1800" b="0" i="0" u="none" strike="noStrike" kern="1200" cap="none" spc="0" normalizeH="0" baseline="0" noProof="0" dirty="0" err="1">
                <a:ln>
                  <a:noFill/>
                </a:ln>
                <a:solidFill>
                  <a:prstClr val="black"/>
                </a:solidFill>
                <a:effectLst/>
                <a:uLnTx/>
                <a:uFillTx/>
                <a:latin typeface="Courier New" panose="02070309020205020404" pitchFamily="49" charset="0"/>
                <a:ea typeface="新細明體"/>
                <a:cs typeface="Courier New" panose="02070309020205020404" pitchFamily="49" charset="0"/>
              </a:rPr>
              <a:t>sp</a:t>
            </a: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 save original </a:t>
            </a:r>
            <a:r>
              <a:rPr kumimoji="0" lang="en-US" sz="1800" b="0" i="0" u="none" strike="noStrike" kern="1200" cap="none" spc="0" normalizeH="0" baseline="0" noProof="0" dirty="0" err="1">
                <a:ln>
                  <a:noFill/>
                </a:ln>
                <a:solidFill>
                  <a:prstClr val="black"/>
                </a:solidFill>
                <a:effectLst/>
                <a:uLnTx/>
                <a:uFillTx/>
                <a:latin typeface="Courier New" panose="02070309020205020404" pitchFamily="49" charset="0"/>
                <a:ea typeface="新細明體"/>
                <a:cs typeface="Courier New" panose="02070309020205020404" pitchFamily="49" charset="0"/>
              </a:rPr>
              <a:t>sp</a:t>
            </a: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(now in </a:t>
            </a:r>
            <a:r>
              <a:rPr kumimoji="0" lang="en-US" sz="1800" b="0" i="0" u="none" strike="noStrike" kern="1200" cap="none" spc="0" normalizeH="0" baseline="0" noProof="0" dirty="0" err="1">
                <a:ln>
                  <a:noFill/>
                </a:ln>
                <a:solidFill>
                  <a:prstClr val="black"/>
                </a:solidFill>
                <a:effectLst/>
                <a:uLnTx/>
                <a:uFillTx/>
                <a:latin typeface="Courier New" panose="02070309020205020404" pitchFamily="49" charset="0"/>
                <a:ea typeface="新細明體"/>
                <a:cs typeface="Courier New" panose="02070309020205020404" pitchFamily="49" charset="0"/>
              </a:rPr>
              <a:t>mscratch</a:t>
            </a: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to stack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a:t>
            </a:r>
            <a:r>
              <a:rPr kumimoji="0" lang="en-US" sz="1800" b="0" i="0" u="none" strike="noStrike" kern="1200" cap="none" spc="0" normalizeH="0" baseline="0" noProof="0" dirty="0" err="1">
                <a:ln>
                  <a:noFill/>
                </a:ln>
                <a:solidFill>
                  <a:prstClr val="black"/>
                </a:solidFill>
                <a:effectLst/>
                <a:uLnTx/>
                <a:uFillTx/>
                <a:latin typeface="Courier New" panose="02070309020205020404" pitchFamily="49" charset="0"/>
                <a:ea typeface="新細明體"/>
                <a:cs typeface="Courier New" panose="02070309020205020404" pitchFamily="49" charset="0"/>
              </a:rPr>
              <a:t>csrr</a:t>
            </a: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s0, </a:t>
            </a:r>
            <a:r>
              <a:rPr kumimoji="0" lang="en-US" sz="1800" b="0" i="0" u="none" strike="noStrike" kern="1200" cap="none" spc="0" normalizeH="0" baseline="0" noProof="0" dirty="0" err="1">
                <a:ln>
                  <a:noFill/>
                </a:ln>
                <a:solidFill>
                  <a:prstClr val="black"/>
                </a:solidFill>
                <a:effectLst/>
                <a:uLnTx/>
                <a:uFillTx/>
                <a:latin typeface="Courier New" panose="02070309020205020404" pitchFamily="49" charset="0"/>
                <a:ea typeface="新細明體"/>
                <a:cs typeface="Courier New" panose="02070309020205020404" pitchFamily="49" charset="0"/>
              </a:rPr>
              <a:t>mscratch</a:t>
            </a: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 store </a:t>
            </a:r>
            <a:r>
              <a:rPr kumimoji="0" lang="en-US" sz="1800" b="0" i="0" u="none" strike="noStrike" kern="1200" cap="none" spc="0" normalizeH="0" baseline="0" noProof="0" dirty="0" err="1">
                <a:ln>
                  <a:noFill/>
                </a:ln>
                <a:solidFill>
                  <a:prstClr val="black"/>
                </a:solidFill>
                <a:effectLst/>
                <a:uLnTx/>
                <a:uFillTx/>
                <a:latin typeface="Courier New" panose="02070309020205020404" pitchFamily="49" charset="0"/>
                <a:ea typeface="新細明體"/>
                <a:cs typeface="Courier New" panose="02070309020205020404" pitchFamily="49" charset="0"/>
              </a:rPr>
              <a:t>mscratch</a:t>
            </a: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to s0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a:t>
            </a:r>
            <a:r>
              <a:rPr kumimoji="0" lang="en-US" sz="1800" b="0" i="0" u="none" strike="noStrike" kern="1200" cap="none" spc="0" normalizeH="0" baseline="0" noProof="0" dirty="0" err="1">
                <a:ln>
                  <a:noFill/>
                </a:ln>
                <a:solidFill>
                  <a:prstClr val="black"/>
                </a:solidFill>
                <a:effectLst/>
                <a:uLnTx/>
                <a:uFillTx/>
                <a:latin typeface="Courier New" panose="02070309020205020404" pitchFamily="49" charset="0"/>
                <a:ea typeface="新細明體"/>
                <a:cs typeface="Courier New" panose="02070309020205020404" pitchFamily="49" charset="0"/>
              </a:rPr>
              <a:t>sw</a:t>
            </a: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s0, 8(</a:t>
            </a:r>
            <a:r>
              <a:rPr kumimoji="0" lang="en-US" sz="1800" b="0" i="0" u="none" strike="noStrike" kern="1200" cap="none" spc="0" normalizeH="0" baseline="0" noProof="0" dirty="0" err="1">
                <a:ln>
                  <a:noFill/>
                </a:ln>
                <a:solidFill>
                  <a:prstClr val="black"/>
                </a:solidFill>
                <a:effectLst/>
                <a:uLnTx/>
                <a:uFillTx/>
                <a:latin typeface="Courier New" panose="02070309020205020404" pitchFamily="49" charset="0"/>
                <a:ea typeface="新細明體"/>
                <a:cs typeface="Courier New" panose="02070309020205020404" pitchFamily="49" charset="0"/>
              </a:rPr>
              <a:t>sp</a:t>
            </a: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a:t>
            </a:r>
          </a:p>
        </p:txBody>
      </p:sp>
      <p:sp>
        <p:nvSpPr>
          <p:cNvPr id="3" name="Date Placeholder 2"/>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pitchFamily="34" charset="0"/>
                <a:ea typeface="新細明體" pitchFamily="18" charset="-120"/>
                <a:cs typeface="+mn-cs"/>
              </a:rPr>
              <a:t>September 27, 2017</a:t>
            </a:r>
            <a:endParaRPr kumimoji="0" lang="en-US" sz="1200" b="0" i="0" u="none" strike="noStrike" kern="1200" cap="none" spc="0" normalizeH="0" baseline="0" noProof="0" dirty="0">
              <a:ln>
                <a:noFill/>
              </a:ln>
              <a:solidFill>
                <a:prstClr val="white"/>
              </a:solidFill>
              <a:effectLst/>
              <a:uLnTx/>
              <a:uFillTx/>
              <a:latin typeface="Arial" pitchFamily="34" charset="0"/>
              <a:ea typeface="新細明體" pitchFamily="18" charset="-120"/>
              <a:cs typeface="+mn-cs"/>
            </a:endParaRPr>
          </a:p>
        </p:txBody>
      </p:sp>
      <p:sp>
        <p:nvSpPr>
          <p:cNvPr id="6" name="Footer Placeholder 5"/>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Arial"/>
                <a:ea typeface="新細明體"/>
                <a:cs typeface="+mn-cs"/>
              </a:rPr>
              <a:t>http://csg.csail.mit.edu/6.175</a:t>
            </a:r>
            <a:endParaRPr kumimoji="0" lang="en-US" sz="1600" b="0" i="0" u="none" strike="noStrike" kern="1200" cap="none" spc="0" normalizeH="0" baseline="0" noProof="0" dirty="0">
              <a:ln>
                <a:noFill/>
              </a:ln>
              <a:solidFill>
                <a:prstClr val="black"/>
              </a:solidFill>
              <a:effectLst/>
              <a:uLnTx/>
              <a:uFillTx/>
              <a:latin typeface="Arial"/>
              <a:ea typeface="新細明體"/>
              <a:cs typeface="+mn-cs"/>
            </a:endParaRPr>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Arial"/>
                <a:ea typeface="新細明體"/>
                <a:cs typeface="+mn-cs"/>
              </a:rPr>
              <a:t>L09-</a:t>
            </a:r>
            <a:fld id="{D02EE386-C9BD-4FB7-9577-6096B5320EC4}" type="slidenum">
              <a:rPr kumimoji="0" lang="en-US" sz="1600" b="0" i="0" u="none" strike="noStrike" kern="1200" cap="none" spc="0" normalizeH="0" baseline="0" noProof="0" smtClean="0">
                <a:ln>
                  <a:noFill/>
                </a:ln>
                <a:solidFill>
                  <a:prstClr val="black"/>
                </a:solidFill>
                <a:effectLst/>
                <a:uLnTx/>
                <a:uFillTx/>
                <a:latin typeface="Arial"/>
                <a:ea typeface="新細明體"/>
                <a:cs typeface="+mn-cs"/>
              </a:rPr>
              <a:pPr marL="0" marR="0" lvl="0" indent="0" algn="r" defTabSz="914400" rtl="0" eaLnBrk="1" fontAlgn="base" latinLnBrk="0" hangingPunct="1">
                <a:lnSpc>
                  <a:spcPct val="100000"/>
                </a:lnSpc>
                <a:spcBef>
                  <a:spcPct val="0"/>
                </a:spcBef>
                <a:spcAft>
                  <a:spcPct val="0"/>
                </a:spcAft>
                <a:buClrTx/>
                <a:buSzTx/>
                <a:buFontTx/>
                <a:buNone/>
                <a:tabLst/>
                <a:defRPr/>
              </a:pPr>
              <a:t>83</a:t>
            </a:fld>
            <a:endParaRPr kumimoji="0" lang="en-US" sz="1600" b="0" i="0" u="none" strike="noStrike" kern="1200" cap="none" spc="0" normalizeH="0" baseline="0" noProof="0" dirty="0">
              <a:ln>
                <a:noFill/>
              </a:ln>
              <a:solidFill>
                <a:prstClr val="black"/>
              </a:solidFill>
              <a:effectLst/>
              <a:uLnTx/>
              <a:uFillTx/>
              <a:latin typeface="Arial"/>
              <a:ea typeface="新細明體"/>
              <a:cs typeface="+mn-cs"/>
            </a:endParaRPr>
          </a:p>
        </p:txBody>
      </p:sp>
    </p:spTree>
    <p:extLst>
      <p:ext uri="{BB962C8B-B14F-4D97-AF65-F5344CB8AC3E}">
        <p14:creationId xmlns:p14="http://schemas.microsoft.com/office/powerpoint/2010/main" val="79757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24776" y="-164841"/>
            <a:ext cx="8162925" cy="1143000"/>
          </a:xfrm>
        </p:spPr>
        <p:txBody>
          <a:bodyPr/>
          <a:lstStyle/>
          <a:p>
            <a:r>
              <a:rPr lang="en-US" dirty="0"/>
              <a:t>Illegal Instruction IH (in C)</a:t>
            </a:r>
            <a:endParaRPr lang="en-US" i="1" dirty="0"/>
          </a:p>
        </p:txBody>
      </p:sp>
      <p:sp>
        <p:nvSpPr>
          <p:cNvPr id="7" name="TextBox 6"/>
          <p:cNvSpPr txBox="1"/>
          <p:nvPr/>
        </p:nvSpPr>
        <p:spPr>
          <a:xfrm>
            <a:off x="948268" y="1268730"/>
            <a:ext cx="10161692" cy="3979872"/>
          </a:xfrm>
          <a:prstGeom prst="rect">
            <a:avLst/>
          </a:prstGeom>
          <a:solidFill>
            <a:schemeClr val="accent2">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long</a:t>
            </a:r>
            <a:r>
              <a:rPr kumimoji="0" lang="en-US" sz="2133"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a:t>
            </a:r>
            <a:r>
              <a:rPr kumimoji="0" lang="en-US" sz="2133" b="0" i="0" u="none" strike="noStrike" kern="1200" cap="none" spc="0" normalizeH="0" baseline="0" noProof="0" dirty="0" err="1">
                <a:ln>
                  <a:noFill/>
                </a:ln>
                <a:solidFill>
                  <a:prstClr val="black"/>
                </a:solidFill>
                <a:effectLst/>
                <a:uLnTx/>
                <a:uFillTx/>
                <a:latin typeface="Courier New" panose="02070309020205020404" pitchFamily="49" charset="0"/>
                <a:ea typeface="新細明體"/>
                <a:cs typeface="Courier New" panose="02070309020205020404" pitchFamily="49" charset="0"/>
              </a:rPr>
              <a:t>illegal_inst_ih</a:t>
            </a:r>
            <a:r>
              <a:rPr kumimoji="0" lang="en-US" sz="2133"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a:t>
            </a:r>
            <a:r>
              <a:rPr kumimoji="0" lang="en-US" sz="2133" b="1"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long</a:t>
            </a:r>
            <a:r>
              <a:rPr kumimoji="0" lang="en-US" sz="2133"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cause, </a:t>
            </a:r>
            <a:r>
              <a:rPr kumimoji="0" lang="en-US" sz="2133" b="1"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long</a:t>
            </a:r>
            <a:r>
              <a:rPr kumimoji="0" lang="en-US" sz="2133"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a:t>
            </a:r>
            <a:r>
              <a:rPr kumimoji="0" lang="en-US" sz="2133" b="0" i="0" u="none" strike="noStrike" kern="1200" cap="none" spc="0" normalizeH="0" baseline="0" noProof="0" dirty="0" err="1">
                <a:ln>
                  <a:noFill/>
                </a:ln>
                <a:solidFill>
                  <a:prstClr val="black"/>
                </a:solidFill>
                <a:effectLst/>
                <a:uLnTx/>
                <a:uFillTx/>
                <a:latin typeface="Courier New" panose="02070309020205020404" pitchFamily="49" charset="0"/>
                <a:ea typeface="新細明體"/>
                <a:cs typeface="Courier New" panose="02070309020205020404" pitchFamily="49" charset="0"/>
              </a:rPr>
              <a:t>epc</a:t>
            </a:r>
            <a:r>
              <a:rPr kumimoji="0" lang="en-US" sz="2133"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a:t>
            </a:r>
            <a:r>
              <a:rPr kumimoji="0" lang="en-US" sz="2133" b="1"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long</a:t>
            </a:r>
            <a:r>
              <a:rPr kumimoji="0" lang="en-US" sz="2133"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a:t>
            </a:r>
            <a:r>
              <a:rPr kumimoji="0" lang="en-US" sz="2133" b="0" i="0" u="none" strike="noStrike" kern="1200" cap="none" spc="0" normalizeH="0" baseline="0" noProof="0" dirty="0" err="1">
                <a:ln>
                  <a:noFill/>
                </a:ln>
                <a:solidFill>
                  <a:prstClr val="black"/>
                </a:solidFill>
                <a:effectLst/>
                <a:uLnTx/>
                <a:uFillTx/>
                <a:latin typeface="Courier New" panose="02070309020205020404" pitchFamily="49" charset="0"/>
                <a:ea typeface="新細明體"/>
                <a:cs typeface="Courier New" panose="02070309020205020404" pitchFamily="49" charset="0"/>
              </a:rPr>
              <a:t>regs</a:t>
            </a:r>
            <a:r>
              <a:rPr kumimoji="0" lang="en-US" sz="2133"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33"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a:t>
            </a:r>
            <a:r>
              <a:rPr kumimoji="0" lang="en-US" sz="2133" b="1"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uint32_t</a:t>
            </a:r>
            <a:r>
              <a:rPr kumimoji="0" lang="en-US" sz="2133"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a:t>
            </a:r>
            <a:r>
              <a:rPr kumimoji="0" lang="en-US" sz="2133" b="0" i="0" u="none" strike="noStrike" kern="1200" cap="none" spc="0" normalizeH="0" baseline="0" noProof="0" dirty="0" err="1">
                <a:ln>
                  <a:noFill/>
                </a:ln>
                <a:solidFill>
                  <a:prstClr val="black"/>
                </a:solidFill>
                <a:effectLst/>
                <a:uLnTx/>
                <a:uFillTx/>
                <a:latin typeface="Courier New" panose="02070309020205020404" pitchFamily="49" charset="0"/>
                <a:ea typeface="新細明體"/>
                <a:cs typeface="Courier New" panose="02070309020205020404" pitchFamily="49" charset="0"/>
              </a:rPr>
              <a:t>inst</a:t>
            </a:r>
            <a:r>
              <a:rPr kumimoji="0" lang="en-US" sz="2133"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 *((</a:t>
            </a:r>
            <a:r>
              <a:rPr kumimoji="0" lang="en-US" sz="2133" b="1"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uint32_t</a:t>
            </a:r>
            <a:r>
              <a:rPr kumimoji="0" lang="en-US" sz="2133"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a:t>
            </a:r>
            <a:r>
              <a:rPr kumimoji="0" lang="en-US" sz="2133" b="0" i="0" u="none" strike="noStrike" kern="1200" cap="none" spc="0" normalizeH="0" baseline="0" noProof="0" dirty="0" err="1">
                <a:ln>
                  <a:noFill/>
                </a:ln>
                <a:solidFill>
                  <a:prstClr val="black"/>
                </a:solidFill>
                <a:effectLst/>
                <a:uLnTx/>
                <a:uFillTx/>
                <a:latin typeface="Courier New" panose="02070309020205020404" pitchFamily="49" charset="0"/>
                <a:ea typeface="新細明體"/>
                <a:cs typeface="Courier New" panose="02070309020205020404" pitchFamily="49" charset="0"/>
              </a:rPr>
              <a:t>epc</a:t>
            </a:r>
            <a:r>
              <a:rPr kumimoji="0" lang="en-US" sz="2133"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 fetch </a:t>
            </a:r>
            <a:r>
              <a:rPr kumimoji="0" lang="en-US" sz="2133" b="0" i="0" u="none" strike="noStrike" kern="1200" cap="none" spc="0" normalizeH="0" baseline="0" noProof="0" dirty="0" err="1">
                <a:ln>
                  <a:noFill/>
                </a:ln>
                <a:solidFill>
                  <a:prstClr val="black"/>
                </a:solidFill>
                <a:effectLst/>
                <a:uLnTx/>
                <a:uFillTx/>
                <a:latin typeface="Courier New" panose="02070309020205020404" pitchFamily="49" charset="0"/>
                <a:ea typeface="新細明體"/>
                <a:cs typeface="Courier New" panose="02070309020205020404" pitchFamily="49" charset="0"/>
              </a:rPr>
              <a:t>inst</a:t>
            </a:r>
            <a:endParaRPr kumimoji="0" lang="en-US" sz="2133"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33"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 check opcode &amp; function codes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33"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if((</a:t>
            </a:r>
            <a:r>
              <a:rPr kumimoji="0" lang="en-US" sz="2133" b="0" i="0" u="none" strike="noStrike" kern="1200" cap="none" spc="0" normalizeH="0" baseline="0" noProof="0" dirty="0" err="1">
                <a:ln>
                  <a:noFill/>
                </a:ln>
                <a:solidFill>
                  <a:prstClr val="black"/>
                </a:solidFill>
                <a:effectLst/>
                <a:uLnTx/>
                <a:uFillTx/>
                <a:latin typeface="Courier New" panose="02070309020205020404" pitchFamily="49" charset="0"/>
                <a:ea typeface="新細明體"/>
                <a:cs typeface="Courier New" panose="02070309020205020404" pitchFamily="49" charset="0"/>
              </a:rPr>
              <a:t>inst</a:t>
            </a:r>
            <a:r>
              <a:rPr kumimoji="0" lang="en-US" sz="2133"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&amp; MASK_MUL) == MATCH_MUL)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33"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 is MUL, extract </a:t>
            </a:r>
            <a:r>
              <a:rPr kumimoji="0" lang="en-US" sz="2133" b="0" i="0" u="none" strike="noStrike" kern="1200" cap="none" spc="0" normalizeH="0" baseline="0" noProof="0" dirty="0" err="1">
                <a:ln>
                  <a:noFill/>
                </a:ln>
                <a:solidFill>
                  <a:prstClr val="black"/>
                </a:solidFill>
                <a:effectLst/>
                <a:uLnTx/>
                <a:uFillTx/>
                <a:latin typeface="Courier New" panose="02070309020205020404" pitchFamily="49" charset="0"/>
                <a:ea typeface="新細明體"/>
                <a:cs typeface="Courier New" panose="02070309020205020404" pitchFamily="49" charset="0"/>
              </a:rPr>
              <a:t>rd</a:t>
            </a:r>
            <a:r>
              <a:rPr kumimoji="0" lang="en-US" sz="2133"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rs1, rs2 fields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33"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a:t>
            </a:r>
            <a:r>
              <a:rPr kumimoji="0" lang="en-US" sz="2133" b="0" i="0" u="none" strike="noStrike" kern="1200" cap="none" spc="0" normalizeH="0" baseline="0" noProof="0" dirty="0" err="1">
                <a:ln>
                  <a:noFill/>
                </a:ln>
                <a:solidFill>
                  <a:prstClr val="black"/>
                </a:solidFill>
                <a:effectLst/>
                <a:uLnTx/>
                <a:uFillTx/>
                <a:latin typeface="Courier New" panose="02070309020205020404" pitchFamily="49" charset="0"/>
                <a:ea typeface="新細明體"/>
                <a:cs typeface="Courier New" panose="02070309020205020404" pitchFamily="49" charset="0"/>
              </a:rPr>
              <a:t>int</a:t>
            </a:r>
            <a:r>
              <a:rPr kumimoji="0" lang="en-US" sz="2133"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a:t>
            </a:r>
            <a:r>
              <a:rPr kumimoji="0" lang="en-US" sz="2133" b="0" i="0" u="none" strike="noStrike" kern="1200" cap="none" spc="0" normalizeH="0" baseline="0" noProof="0" dirty="0" err="1">
                <a:ln>
                  <a:noFill/>
                </a:ln>
                <a:solidFill>
                  <a:prstClr val="black"/>
                </a:solidFill>
                <a:effectLst/>
                <a:uLnTx/>
                <a:uFillTx/>
                <a:latin typeface="Courier New" panose="02070309020205020404" pitchFamily="49" charset="0"/>
                <a:ea typeface="新細明體"/>
                <a:cs typeface="Courier New" panose="02070309020205020404" pitchFamily="49" charset="0"/>
              </a:rPr>
              <a:t>rd</a:t>
            </a:r>
            <a:r>
              <a:rPr kumimoji="0" lang="en-US" sz="2133"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 (</a:t>
            </a:r>
            <a:r>
              <a:rPr kumimoji="0" lang="en-US" sz="2133" b="0" i="0" u="none" strike="noStrike" kern="1200" cap="none" spc="0" normalizeH="0" baseline="0" noProof="0" dirty="0" err="1">
                <a:ln>
                  <a:noFill/>
                </a:ln>
                <a:solidFill>
                  <a:prstClr val="black"/>
                </a:solidFill>
                <a:effectLst/>
                <a:uLnTx/>
                <a:uFillTx/>
                <a:latin typeface="Courier New" panose="02070309020205020404" pitchFamily="49" charset="0"/>
                <a:ea typeface="新細明體"/>
                <a:cs typeface="Courier New" panose="02070309020205020404" pitchFamily="49" charset="0"/>
              </a:rPr>
              <a:t>inst</a:t>
            </a:r>
            <a:r>
              <a:rPr kumimoji="0" lang="en-US" sz="2133"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&gt;&gt; 7) &amp; 0x01F;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33"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a:t>
            </a:r>
            <a:r>
              <a:rPr kumimoji="0" lang="en-US" sz="2133" b="0" i="0" u="none" strike="noStrike" kern="1200" cap="none" spc="0" normalizeH="0" baseline="0" noProof="0" dirty="0" err="1">
                <a:ln>
                  <a:noFill/>
                </a:ln>
                <a:solidFill>
                  <a:prstClr val="black"/>
                </a:solidFill>
                <a:effectLst/>
                <a:uLnTx/>
                <a:uFillTx/>
                <a:latin typeface="Courier New" panose="02070309020205020404" pitchFamily="49" charset="0"/>
                <a:ea typeface="新細明體"/>
                <a:cs typeface="Courier New" panose="02070309020205020404" pitchFamily="49" charset="0"/>
              </a:rPr>
              <a:t>int</a:t>
            </a:r>
            <a:r>
              <a:rPr kumimoji="0" lang="en-US" sz="2133"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rs1 = ...; </a:t>
            </a:r>
            <a:r>
              <a:rPr kumimoji="0" lang="en-US" sz="2133" b="0" i="0" u="none" strike="noStrike" kern="1200" cap="none" spc="0" normalizeH="0" baseline="0" noProof="0" dirty="0" err="1">
                <a:ln>
                  <a:noFill/>
                </a:ln>
                <a:solidFill>
                  <a:prstClr val="black"/>
                </a:solidFill>
                <a:effectLst/>
                <a:uLnTx/>
                <a:uFillTx/>
                <a:latin typeface="Courier New" panose="02070309020205020404" pitchFamily="49" charset="0"/>
                <a:ea typeface="新細明體"/>
                <a:cs typeface="Courier New" panose="02070309020205020404" pitchFamily="49" charset="0"/>
              </a:rPr>
              <a:t>int</a:t>
            </a:r>
            <a:r>
              <a:rPr kumimoji="0" lang="en-US" sz="2133"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rs2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33"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 emulate </a:t>
            </a:r>
            <a:r>
              <a:rPr kumimoji="0" lang="en-US" sz="2133" b="0" i="0" u="none" strike="noStrike" kern="1200" cap="none" spc="0" normalizeH="0" baseline="0" noProof="0" dirty="0" err="1">
                <a:ln>
                  <a:noFill/>
                </a:ln>
                <a:solidFill>
                  <a:prstClr val="black"/>
                </a:solidFill>
                <a:effectLst/>
                <a:uLnTx/>
                <a:uFillTx/>
                <a:latin typeface="Courier New" panose="02070309020205020404" pitchFamily="49" charset="0"/>
                <a:ea typeface="新細明體"/>
                <a:cs typeface="Courier New" panose="02070309020205020404" pitchFamily="49" charset="0"/>
              </a:rPr>
              <a:t>regs</a:t>
            </a:r>
            <a:r>
              <a:rPr kumimoji="0" lang="en-US" sz="2133"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a:t>
            </a:r>
            <a:r>
              <a:rPr kumimoji="0" lang="en-US" sz="2133" b="0" i="0" u="none" strike="noStrike" kern="1200" cap="none" spc="0" normalizeH="0" baseline="0" noProof="0" dirty="0" err="1">
                <a:ln>
                  <a:noFill/>
                </a:ln>
                <a:solidFill>
                  <a:prstClr val="black"/>
                </a:solidFill>
                <a:effectLst/>
                <a:uLnTx/>
                <a:uFillTx/>
                <a:latin typeface="Courier New" panose="02070309020205020404" pitchFamily="49" charset="0"/>
                <a:ea typeface="新細明體"/>
                <a:cs typeface="Courier New" panose="02070309020205020404" pitchFamily="49" charset="0"/>
              </a:rPr>
              <a:t>rd</a:t>
            </a:r>
            <a:r>
              <a:rPr kumimoji="0" lang="en-US" sz="2133"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 </a:t>
            </a:r>
            <a:r>
              <a:rPr kumimoji="0" lang="en-US" sz="2133" b="0" i="0" u="none" strike="noStrike" kern="1200" cap="none" spc="0" normalizeH="0" baseline="0" noProof="0" dirty="0" err="1">
                <a:ln>
                  <a:noFill/>
                </a:ln>
                <a:solidFill>
                  <a:prstClr val="black"/>
                </a:solidFill>
                <a:effectLst/>
                <a:uLnTx/>
                <a:uFillTx/>
                <a:latin typeface="Courier New" panose="02070309020205020404" pitchFamily="49" charset="0"/>
                <a:ea typeface="新細明體"/>
                <a:cs typeface="Courier New" panose="02070309020205020404" pitchFamily="49" charset="0"/>
              </a:rPr>
              <a:t>regs</a:t>
            </a:r>
            <a:r>
              <a:rPr kumimoji="0" lang="en-US" sz="2133"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[rs1] * </a:t>
            </a:r>
            <a:r>
              <a:rPr kumimoji="0" lang="en-US" sz="2133" b="0" i="0" u="none" strike="noStrike" kern="1200" cap="none" spc="0" normalizeH="0" baseline="0" noProof="0" dirty="0" err="1">
                <a:ln>
                  <a:noFill/>
                </a:ln>
                <a:solidFill>
                  <a:prstClr val="black"/>
                </a:solidFill>
                <a:effectLst/>
                <a:uLnTx/>
                <a:uFillTx/>
                <a:latin typeface="Courier New" panose="02070309020205020404" pitchFamily="49" charset="0"/>
                <a:ea typeface="新細明體"/>
                <a:cs typeface="Courier New" panose="02070309020205020404" pitchFamily="49" charset="0"/>
              </a:rPr>
              <a:t>regs</a:t>
            </a:r>
            <a:r>
              <a:rPr kumimoji="0" lang="en-US" sz="2133"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[rs2]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33"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a:t>
            </a:r>
            <a:r>
              <a:rPr kumimoji="0" lang="en-US" sz="2133" b="0" i="0" u="none" strike="noStrike" kern="1200" cap="none" spc="0" normalizeH="0" baseline="0" noProof="0" dirty="0" err="1">
                <a:ln>
                  <a:noFill/>
                </a:ln>
                <a:solidFill>
                  <a:prstClr val="black"/>
                </a:solidFill>
                <a:effectLst/>
                <a:uLnTx/>
                <a:uFillTx/>
                <a:latin typeface="Courier New" panose="02070309020205020404" pitchFamily="49" charset="0"/>
                <a:ea typeface="新細明體"/>
                <a:cs typeface="Courier New" panose="02070309020205020404" pitchFamily="49" charset="0"/>
              </a:rPr>
              <a:t>emulate_multiply</a:t>
            </a:r>
            <a:r>
              <a:rPr kumimoji="0" lang="en-US" sz="2133"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a:t>
            </a:r>
            <a:r>
              <a:rPr kumimoji="0" lang="en-US" sz="2133" b="0" i="0" u="none" strike="noStrike" kern="1200" cap="none" spc="0" normalizeH="0" baseline="0" noProof="0" dirty="0" err="1">
                <a:ln>
                  <a:noFill/>
                </a:ln>
                <a:solidFill>
                  <a:prstClr val="black"/>
                </a:solidFill>
                <a:effectLst/>
                <a:uLnTx/>
                <a:uFillTx/>
                <a:latin typeface="Courier New" panose="02070309020205020404" pitchFamily="49" charset="0"/>
                <a:ea typeface="新細明體"/>
                <a:cs typeface="Courier New" panose="02070309020205020404" pitchFamily="49" charset="0"/>
              </a:rPr>
              <a:t>rd</a:t>
            </a:r>
            <a:r>
              <a:rPr kumimoji="0" lang="en-US" sz="2133"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rs1, rs2, </a:t>
            </a:r>
            <a:r>
              <a:rPr kumimoji="0" lang="en-US" sz="2133" b="0" i="0" u="none" strike="noStrike" kern="1200" cap="none" spc="0" normalizeH="0" baseline="0" noProof="0" dirty="0" err="1">
                <a:ln>
                  <a:noFill/>
                </a:ln>
                <a:solidFill>
                  <a:prstClr val="black"/>
                </a:solidFill>
                <a:effectLst/>
                <a:uLnTx/>
                <a:uFillTx/>
                <a:latin typeface="Courier New" panose="02070309020205020404" pitchFamily="49" charset="0"/>
                <a:ea typeface="新細明體"/>
                <a:cs typeface="Courier New" panose="02070309020205020404" pitchFamily="49" charset="0"/>
              </a:rPr>
              <a:t>regs</a:t>
            </a:r>
            <a:r>
              <a:rPr kumimoji="0" lang="en-US" sz="2133"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return</a:t>
            </a:r>
            <a:r>
              <a:rPr kumimoji="0" lang="en-US" sz="2133"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a:t>
            </a:r>
            <a:r>
              <a:rPr kumimoji="0" lang="en-US" sz="2133" b="0" i="0" u="none" strike="noStrike" kern="1200" cap="none" spc="0" normalizeH="0" baseline="0" noProof="0" dirty="0" err="1">
                <a:ln>
                  <a:noFill/>
                </a:ln>
                <a:solidFill>
                  <a:prstClr val="black"/>
                </a:solidFill>
                <a:effectLst/>
                <a:uLnTx/>
                <a:uFillTx/>
                <a:latin typeface="Courier New" panose="02070309020205020404" pitchFamily="49" charset="0"/>
                <a:ea typeface="新細明體"/>
                <a:cs typeface="Courier New" panose="02070309020205020404" pitchFamily="49" charset="0"/>
              </a:rPr>
              <a:t>epc</a:t>
            </a:r>
            <a:r>
              <a:rPr kumimoji="0" lang="en-US" sz="2133"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+ 4; // done, resume at epc+4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33"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 </a:t>
            </a:r>
            <a:r>
              <a:rPr kumimoji="0" lang="en-US" sz="2133" b="1"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else</a:t>
            </a:r>
            <a:r>
              <a:rPr kumimoji="0" lang="en-US" sz="2133"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 abort();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新細明體"/>
                <a:cs typeface="Courier New" panose="02070309020205020404" pitchFamily="49" charset="0"/>
              </a:rPr>
              <a:t>}</a:t>
            </a:r>
          </a:p>
        </p:txBody>
      </p:sp>
      <p:sp>
        <p:nvSpPr>
          <p:cNvPr id="3" name="Date Placeholder 2"/>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pitchFamily="34" charset="0"/>
                <a:ea typeface="新細明體" pitchFamily="18" charset="-120"/>
                <a:cs typeface="+mn-cs"/>
              </a:rPr>
              <a:t>September 27, 2017</a:t>
            </a:r>
            <a:endParaRPr kumimoji="0" lang="en-US" sz="1200" b="0" i="0" u="none" strike="noStrike" kern="1200" cap="none" spc="0" normalizeH="0" baseline="0" noProof="0" dirty="0">
              <a:ln>
                <a:noFill/>
              </a:ln>
              <a:solidFill>
                <a:prstClr val="white"/>
              </a:solidFill>
              <a:effectLst/>
              <a:uLnTx/>
              <a:uFillTx/>
              <a:latin typeface="Arial" pitchFamily="34" charset="0"/>
              <a:ea typeface="新細明體" pitchFamily="18" charset="-120"/>
              <a:cs typeface="+mn-cs"/>
            </a:endParaRPr>
          </a:p>
        </p:txBody>
      </p:sp>
      <p:sp>
        <p:nvSpPr>
          <p:cNvPr id="6" name="Footer Placeholder 5"/>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Arial"/>
                <a:ea typeface="新細明體"/>
                <a:cs typeface="+mn-cs"/>
              </a:rPr>
              <a:t>http://csg.csail.mit.edu/6.175</a:t>
            </a:r>
            <a:endParaRPr kumimoji="0" lang="en-US" sz="1600" b="0" i="0" u="none" strike="noStrike" kern="1200" cap="none" spc="0" normalizeH="0" baseline="0" noProof="0" dirty="0">
              <a:ln>
                <a:noFill/>
              </a:ln>
              <a:solidFill>
                <a:prstClr val="black"/>
              </a:solidFill>
              <a:effectLst/>
              <a:uLnTx/>
              <a:uFillTx/>
              <a:latin typeface="Arial"/>
              <a:ea typeface="新細明體"/>
              <a:cs typeface="+mn-cs"/>
            </a:endParaRPr>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Arial"/>
                <a:ea typeface="新細明體"/>
                <a:cs typeface="+mn-cs"/>
              </a:rPr>
              <a:t>L09-</a:t>
            </a:r>
            <a:fld id="{D02EE386-C9BD-4FB7-9577-6096B5320EC4}" type="slidenum">
              <a:rPr kumimoji="0" lang="en-US" sz="1600" b="0" i="0" u="none" strike="noStrike" kern="1200" cap="none" spc="0" normalizeH="0" baseline="0" noProof="0" smtClean="0">
                <a:ln>
                  <a:noFill/>
                </a:ln>
                <a:solidFill>
                  <a:prstClr val="black"/>
                </a:solidFill>
                <a:effectLst/>
                <a:uLnTx/>
                <a:uFillTx/>
                <a:latin typeface="Arial"/>
                <a:ea typeface="新細明體"/>
                <a:cs typeface="+mn-cs"/>
              </a:rPr>
              <a:pPr marL="0" marR="0" lvl="0" indent="0" algn="r" defTabSz="914400" rtl="0" eaLnBrk="1" fontAlgn="base" latinLnBrk="0" hangingPunct="1">
                <a:lnSpc>
                  <a:spcPct val="100000"/>
                </a:lnSpc>
                <a:spcBef>
                  <a:spcPct val="0"/>
                </a:spcBef>
                <a:spcAft>
                  <a:spcPct val="0"/>
                </a:spcAft>
                <a:buClrTx/>
                <a:buSzTx/>
                <a:buFontTx/>
                <a:buNone/>
                <a:tabLst/>
                <a:defRPr/>
              </a:pPr>
              <a:t>84</a:t>
            </a:fld>
            <a:endParaRPr kumimoji="0" lang="en-US" sz="1600" b="0" i="0" u="none" strike="noStrike" kern="1200" cap="none" spc="0" normalizeH="0" baseline="0" noProof="0" dirty="0">
              <a:ln>
                <a:noFill/>
              </a:ln>
              <a:solidFill>
                <a:prstClr val="black"/>
              </a:solidFill>
              <a:effectLst/>
              <a:uLnTx/>
              <a:uFillTx/>
              <a:latin typeface="Arial"/>
              <a:ea typeface="新細明體"/>
              <a:cs typeface="+mn-cs"/>
            </a:endParaRPr>
          </a:p>
        </p:txBody>
      </p:sp>
    </p:spTree>
    <p:extLst>
      <p:ext uri="{BB962C8B-B14F-4D97-AF65-F5344CB8AC3E}">
        <p14:creationId xmlns:p14="http://schemas.microsoft.com/office/powerpoint/2010/main" val="2463060168"/>
      </p:ext>
    </p:extLst>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自訂設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83190</TotalTime>
  <Words>11916</Words>
  <Application>Microsoft Office PowerPoint</Application>
  <PresentationFormat>Widescreen</PresentationFormat>
  <Paragraphs>1826</Paragraphs>
  <Slides>84</Slides>
  <Notes>44</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84</vt:i4>
      </vt:variant>
    </vt:vector>
  </HeadingPairs>
  <TitlesOfParts>
    <vt:vector size="99" baseType="lpstr">
      <vt:lpstr>MS Sans Serif</vt:lpstr>
      <vt:lpstr>ui-sans-serif</vt:lpstr>
      <vt:lpstr>华文楷体</vt:lpstr>
      <vt:lpstr>Arial</vt:lpstr>
      <vt:lpstr>Calibri</vt:lpstr>
      <vt:lpstr>Calibri Light</vt:lpstr>
      <vt:lpstr>Cambria Math</vt:lpstr>
      <vt:lpstr>Comic Sans MS</vt:lpstr>
      <vt:lpstr>Courier New</vt:lpstr>
      <vt:lpstr>Fira Code</vt:lpstr>
      <vt:lpstr>Times New Roman</vt:lpstr>
      <vt:lpstr>Verdana</vt:lpstr>
      <vt:lpstr>Wingdings</vt:lpstr>
      <vt:lpstr>NTHU UniCloud</vt:lpstr>
      <vt:lpstr>自訂設計</vt:lpstr>
      <vt:lpstr>CSC3060 – Computer Architecture  RISC-V Instruction Set Architecture  </vt:lpstr>
      <vt:lpstr>Assembly Language Instructions</vt:lpstr>
      <vt:lpstr>CISC vs. RISC </vt:lpstr>
      <vt:lpstr>RISC – Reduced Instruction Set Computer</vt:lpstr>
      <vt:lpstr>Recent Trends not Exactly RISC</vt:lpstr>
      <vt:lpstr>CISC vs. RISC</vt:lpstr>
      <vt:lpstr>CISC vs. RISC</vt:lpstr>
      <vt:lpstr>CISC vs. RISC</vt:lpstr>
      <vt:lpstr>Some RISC Design Principles</vt:lpstr>
      <vt:lpstr>RISC-V</vt:lpstr>
      <vt:lpstr>RV32I Instructions</vt:lpstr>
      <vt:lpstr>RV32I Register State (Architecture State)</vt:lpstr>
      <vt:lpstr>RV32I Register State (Architecture State)</vt:lpstr>
      <vt:lpstr>RV32I Register State (Architecture State)</vt:lpstr>
      <vt:lpstr>RV Architecture States (user level)</vt:lpstr>
      <vt:lpstr>X0 is always zero</vt:lpstr>
      <vt:lpstr>Instruction Types (based on functionality)</vt:lpstr>
      <vt:lpstr>RV32I Instructions</vt:lpstr>
      <vt:lpstr>Instruction Types (based on encoding format)</vt:lpstr>
      <vt:lpstr>Instruction Formats (R-type)</vt:lpstr>
      <vt:lpstr>ALU Instructions (R) </vt:lpstr>
      <vt:lpstr>Registers – Is the More the Better</vt:lpstr>
      <vt:lpstr>Instruction Formats (I-type)</vt:lpstr>
      <vt:lpstr>ALU  Instructions (I)</vt:lpstr>
      <vt:lpstr>Load Instructions (I)</vt:lpstr>
      <vt:lpstr>Load Instructions (I)</vt:lpstr>
      <vt:lpstr>Instruction Formats (S-type)</vt:lpstr>
      <vt:lpstr>Store Instructions (S)</vt:lpstr>
      <vt:lpstr>Store Instructions (S)</vt:lpstr>
      <vt:lpstr>Data Alignment </vt:lpstr>
      <vt:lpstr>Data Alignment </vt:lpstr>
      <vt:lpstr>Data Alignment Avoids Boundary Crossing</vt:lpstr>
      <vt:lpstr>Aligned Data do not Cross Lines/Pages  </vt:lpstr>
      <vt:lpstr>Stack / Frame Alignments</vt:lpstr>
      <vt:lpstr>Compiler Reordering</vt:lpstr>
      <vt:lpstr>Three Operand Instruction Format </vt:lpstr>
      <vt:lpstr>Fused-Multiply-Add (FMA) instruction</vt:lpstr>
      <vt:lpstr>Logical/Shift Operations in RISC-V</vt:lpstr>
      <vt:lpstr>SRL (logic) or SRA (arithmetic) ?</vt:lpstr>
      <vt:lpstr>Masked Operations</vt:lpstr>
      <vt:lpstr>Branch Instructions (SB)</vt:lpstr>
      <vt:lpstr>PC-relative Addressing</vt:lpstr>
      <vt:lpstr>Scaling Branch Offsets</vt:lpstr>
      <vt:lpstr>What if the branch target is &gt; 〖"±" 2〗^10  </vt:lpstr>
      <vt:lpstr>LUI and AUIPC Instructions</vt:lpstr>
      <vt:lpstr>How to load a 32b const into a register?</vt:lpstr>
      <vt:lpstr>Corner case (when the 12b is &gt; 0x800)</vt:lpstr>
      <vt:lpstr>PowerPoint Presentation</vt:lpstr>
      <vt:lpstr>PowerPoint Presentation</vt:lpstr>
      <vt:lpstr>PowerPoint Presentation</vt:lpstr>
      <vt:lpstr>PowerPoint Presentation</vt:lpstr>
      <vt:lpstr>PowerPoint Presentation</vt:lpstr>
      <vt:lpstr>Jump Instructions</vt:lpstr>
      <vt:lpstr>PowerPoint Presentation</vt:lpstr>
      <vt:lpstr>PowerPoint Presentation</vt:lpstr>
      <vt:lpstr>PowerPoint Presentation</vt:lpstr>
      <vt:lpstr>More About Branches </vt:lpstr>
      <vt:lpstr>Instructions to Read and Write CSR</vt:lpstr>
      <vt:lpstr>Summary of RISC-V Instruction Format</vt:lpstr>
      <vt:lpstr>Pop Quiz</vt:lpstr>
      <vt:lpstr>Pop Quiz</vt:lpstr>
      <vt:lpstr>Pop Quiz</vt:lpstr>
      <vt:lpstr>Pop Quiz</vt:lpstr>
      <vt:lpstr>Pop Quiz</vt:lpstr>
      <vt:lpstr>Pop Quiz</vt:lpstr>
      <vt:lpstr>Pop Quiz</vt:lpstr>
      <vt:lpstr>Assembly Code vs. Binary</vt:lpstr>
      <vt:lpstr>GCD in C</vt:lpstr>
      <vt:lpstr>GCD in RV Assembly Language</vt:lpstr>
      <vt:lpstr>Application Binary Interface (ABI)</vt:lpstr>
      <vt:lpstr>Mapping between Physical Reg to ABI Reg</vt:lpstr>
      <vt:lpstr>Mapping between Physical Reg to ABI Reg</vt:lpstr>
      <vt:lpstr>Calling GCD (Using the ABI)</vt:lpstr>
      <vt:lpstr>GCD in RISC-V Assembler Using the ABI</vt:lpstr>
      <vt:lpstr>Multiply</vt:lpstr>
      <vt:lpstr>Exception handling </vt:lpstr>
      <vt:lpstr>Software for interrupt handling</vt:lpstr>
      <vt:lpstr>Instruction Set Design Issues</vt:lpstr>
      <vt:lpstr>PowerPoint Presentation</vt:lpstr>
      <vt:lpstr>Branch Instruction</vt:lpstr>
      <vt:lpstr>Different Immediate Encoding in S and B </vt:lpstr>
      <vt:lpstr>Why Different Immediate Encoding in U and J </vt:lpstr>
      <vt:lpstr>Common Interrupt Handler</vt:lpstr>
      <vt:lpstr>Illegal Instruction IH (in 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香港中文大学(深圳)数据科学院 School of Data Science</dc:title>
  <dc:creator>Windows 使用者</dc:creator>
  <cp:lastModifiedBy>Prof. HSU Wei-Chung (SDS)</cp:lastModifiedBy>
  <cp:revision>378</cp:revision>
  <dcterms:created xsi:type="dcterms:W3CDTF">2020-07-15T11:13:39Z</dcterms:created>
  <dcterms:modified xsi:type="dcterms:W3CDTF">2026-03-02T07:17:53Z</dcterms:modified>
</cp:coreProperties>
</file>