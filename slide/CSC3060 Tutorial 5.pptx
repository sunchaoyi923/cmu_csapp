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5E1"/>
    <a:srgbClr val="DBEAFE"/>
    <a:srgbClr val="60A5FA"/>
    <a:srgbClr val="4ADE7F"/>
    <a:srgbClr val="BDF3D0"/>
    <a:srgbClr val="DCF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52648" y="19075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CSC3060 Project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55368" y="2337308"/>
            <a:ext cx="7680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Cache Simulator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18408" y="3068828"/>
            <a:ext cx="4754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169768" y="3343148"/>
            <a:ext cx="5852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Liangsen Wang</a:t>
            </a:r>
            <a:endParaRPr lang="en-US" sz="1400" dirty="0">
              <a:solidFill>
                <a:srgbClr val="334155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 algn="ctr">
              <a:buNone/>
            </a:pPr>
            <a:r>
              <a:rPr lang="en-US" sz="1400" dirty="0"/>
              <a:t>224040364@link.cuhk.edu.cn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09848" y="416610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Tutorial 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tasks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PROJECT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students must finish in this project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This tutorial mainly helps </a:t>
            </a: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build the mental model for Task 1 and Task 2.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685800" y="1783080"/>
            <a:ext cx="3520440" cy="24714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685800" y="1783080"/>
            <a:ext cx="352044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850392" y="1929384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1: single-level cache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850392" y="2221992"/>
            <a:ext cx="319125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Implement the L1 -&gt; Main Memory simulator.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Core files: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memory_hierarchy.cpp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repl_policy.cpp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need correct address mapping, hit/miss handling, dirty write-back, and LRU.</a:t>
            </a:r>
            <a:endParaRPr lang="en-US" sz="1200" dirty="0"/>
          </a:p>
        </p:txBody>
      </p:sp>
      <p:sp>
        <p:nvSpPr>
          <p:cNvPr id="13" name="Shape 11"/>
          <p:cNvSpPr/>
          <p:nvPr>
            <p:custDataLst>
              <p:tags r:id="rId5"/>
            </p:custDataLst>
          </p:nvPr>
        </p:nvSpPr>
        <p:spPr>
          <a:xfrm>
            <a:off x="4343400" y="1783080"/>
            <a:ext cx="3520440" cy="245300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4343400" y="1783080"/>
            <a:ext cx="3520440" cy="54864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4507992" y="1929384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2: multi-level cache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4507992" y="2221992"/>
            <a:ext cx="319125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Add an L2 cache below L1.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Core file: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main.cpp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reuse the same CacheLevel logic and only change how the hierarchy is connected.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8001000" y="1783080"/>
            <a:ext cx="3520440" cy="24714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8001000" y="1783080"/>
            <a:ext cx="3520440" cy="54864"/>
          </a:xfrm>
          <a:prstGeom prst="roundRect">
            <a:avLst>
              <a:gd name="adj" fmla="val 13333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8165592" y="1929384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3: optimization</a:t>
            </a:r>
            <a:endParaRPr lang="en-US" sz="14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8165592" y="2221992"/>
            <a:ext cx="319125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Try different replacement policies and prefetchers.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Core files: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repl_policy.cpp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prefetcher.cpp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memory_hierarchy.cpp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This comes after you trust the basic access flow.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Cache object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CACHE AS AN OBJECT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a cache level looks like in this project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understand CacheLevel before thinking about hits, misses, or LRU.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3246120" cy="1389888"/>
          </a:xfrm>
          <a:prstGeom prst="roundRect">
            <a:avLst>
              <a:gd name="adj" fmla="val 394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83080"/>
            <a:ext cx="32461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37944"/>
            <a:ext cx="29535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memory_hierarchy.h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30552"/>
            <a:ext cx="2916936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CacheLevel : public MemoryObject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CacheConfig config;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MemoryObject* next_level;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ReplacementPolicy* policy;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Prefetcher* prefetcher;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vector&lt;vector&lt;CacheLine&gt;&gt; sets;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8745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929384"/>
            <a:ext cx="18653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CacheLevel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0520" y="30632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311810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config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87568" y="306324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18104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next_level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30632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2944" y="3118104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policy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79408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3118104"/>
            <a:ext cx="14538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prefetcher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680192" y="306324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53344" y="3118104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4902835" y="2520315"/>
            <a:ext cx="681355" cy="537845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77840" y="2514600"/>
            <a:ext cx="978408" cy="5486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77840" y="2514600"/>
            <a:ext cx="2587752" cy="5486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77840" y="2514600"/>
            <a:ext cx="3995928" cy="5486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77840" y="2514600"/>
            <a:ext cx="5605272" cy="5486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325880" y="4032250"/>
            <a:ext cx="3246120" cy="18986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753" y="4032250"/>
            <a:ext cx="324612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345" y="4178554"/>
            <a:ext cx="2916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1 focus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90345" y="4471035"/>
            <a:ext cx="2917190" cy="1400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mainly work inside memory_hierarchy.cpp: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get_index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get_tag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reconstruct_addr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write_back_victim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CacheLevel::access</a:t>
            </a:r>
            <a:endParaRPr lang="en-US" sz="1200" dirty="0">
              <a:solidFill>
                <a:srgbClr val="334155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>
              <a:buNone/>
            </a:pPr>
            <a:r>
              <a:rPr lang="en-US" sz="1200" dirty="0"/>
              <a:t>……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4023360"/>
            <a:ext cx="3566160" cy="190627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3905" y="4169664"/>
            <a:ext cx="3236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is already abstracted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13905" y="4462272"/>
            <a:ext cx="323697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Replacement logic is delegated to repl_policy.cpp.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Lower-level access is delegated through next_level.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Prefetching is separated into prefetcher.cpp.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Cache 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CACHE LINE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is stored in one line and why it matters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connect each field in defs.h to a behavior they will implement or observe.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83080"/>
            <a:ext cx="30175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37944"/>
            <a:ext cx="2724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defs.h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30552"/>
            <a:ext cx="268833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CacheLine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uint64_t tag;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bool valid;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bool dirty;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uint64_t last_access;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rrpv;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bool is_prefetched;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266065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715514"/>
            <a:ext cx="10881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266065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2715514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66065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4ADE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715514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66065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2715514"/>
            <a:ext cx="14996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last_access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266065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715514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rrpv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12680" y="266065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5832" y="2715514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is_prefetched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96385" y="3666490"/>
            <a:ext cx="2240280" cy="1518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96512" y="3666490"/>
            <a:ext cx="224028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1104" y="3812794"/>
            <a:ext cx="1911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1 fields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61104" y="4105402"/>
            <a:ext cx="191109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tag + valid: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find hit or miss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dirty: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write-back on eviction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666490"/>
            <a:ext cx="2240280" cy="1518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666490"/>
            <a:ext cx="2240280" cy="54864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3812794"/>
            <a:ext cx="1911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LRU field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02552" y="4105402"/>
            <a:ext cx="191109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last_access: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updated on hit/miss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used by getVictim()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79535" y="3666490"/>
            <a:ext cx="2468880" cy="154559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381279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Later fields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0" y="4105402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rrpv and is_prefetched matter more in Task 3.</a:t>
            </a:r>
            <a:endParaRPr lang="en-US" sz="1200" dirty="0">
              <a:solidFill>
                <a:srgbClr val="334155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do not need them to finish Task 1.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935" y="3794760"/>
            <a:ext cx="3017520" cy="222313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941064"/>
            <a:ext cx="2688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How to read the line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233672"/>
            <a:ext cx="2688336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cache line is not just data bytes. The simulator stores metadata beside the block: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which block is 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whether the block is valid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whether it has been modified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metadata for replacement and prefetch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43400" y="54952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16552" y="55501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89320" y="54952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55501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1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35240" y="54952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55501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2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281160" y="54952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54312" y="55501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...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972800" y="5495290"/>
            <a:ext cx="640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45952" y="5550154"/>
            <a:ext cx="4937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set0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16425" y="6693662"/>
            <a:ext cx="6949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cache is a 2D array: sets × ways. Each entry is one CacheLine.</a:t>
            </a:r>
            <a:endParaRPr lang="en-US" sz="1100" dirty="0"/>
          </a:p>
        </p:txBody>
      </p:sp>
      <p:sp>
        <p:nvSpPr>
          <p:cNvPr id="50" name="Shape 11"/>
          <p:cNvSpPr/>
          <p:nvPr/>
        </p:nvSpPr>
        <p:spPr>
          <a:xfrm>
            <a:off x="4214495" y="1691005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1" name="Text 12"/>
          <p:cNvSpPr/>
          <p:nvPr/>
        </p:nvSpPr>
        <p:spPr>
          <a:xfrm>
            <a:off x="4287647" y="1745869"/>
            <a:ext cx="10881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200" dirty="0"/>
          </a:p>
        </p:txBody>
      </p:sp>
      <p:sp>
        <p:nvSpPr>
          <p:cNvPr id="52" name="Shape 13"/>
          <p:cNvSpPr/>
          <p:nvPr/>
        </p:nvSpPr>
        <p:spPr>
          <a:xfrm>
            <a:off x="5494655" y="1691005"/>
            <a:ext cx="91440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3" name="Text 14"/>
          <p:cNvSpPr/>
          <p:nvPr/>
        </p:nvSpPr>
        <p:spPr>
          <a:xfrm>
            <a:off x="5567807" y="1745869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Status Bits</a:t>
            </a:r>
            <a:endParaRPr lang="en-US" sz="1200" dirty="0">
              <a:solidFill>
                <a:srgbClr val="0F172A"/>
              </a:solidFill>
              <a:latin typeface="Segoe UI Semibold" panose="020B0702040204020203" pitchFamily="34" charset="0"/>
              <a:ea typeface="Segoe UI Semibold" panose="020B0702040204020203" pitchFamily="34" charset="-122"/>
              <a:cs typeface="Segoe UI Semibold" panose="020B0702040204020203" pitchFamily="34" charset="-120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6454775" y="1691005"/>
            <a:ext cx="3557905" cy="658495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16"/>
          <p:cNvSpPr/>
          <p:nvPr/>
        </p:nvSpPr>
        <p:spPr>
          <a:xfrm>
            <a:off x="7827137" y="1783334"/>
            <a:ext cx="7680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Data Block</a:t>
            </a:r>
            <a:endParaRPr lang="en-US" sz="1200" dirty="0">
              <a:solidFill>
                <a:srgbClr val="0F172A"/>
              </a:solidFill>
              <a:latin typeface="Segoe UI Semibold" panose="020B0702040204020203" pitchFamily="34" charset="0"/>
              <a:ea typeface="Segoe UI Semibold" panose="020B0702040204020203" pitchFamily="34" charset="-122"/>
              <a:cs typeface="Segoe UI Semibold" panose="020B0702040204020203" pitchFamily="34" charset="-120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10066655" y="1691005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22"/>
          <p:cNvSpPr/>
          <p:nvPr/>
        </p:nvSpPr>
        <p:spPr>
          <a:xfrm>
            <a:off x="10139807" y="1745869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Replacement Bits</a:t>
            </a:r>
            <a:endParaRPr lang="en-US" sz="1200" dirty="0">
              <a:solidFill>
                <a:srgbClr val="0F172A"/>
              </a:solidFill>
              <a:latin typeface="Segoe UI Semibold" panose="020B0702040204020203" pitchFamily="34" charset="0"/>
              <a:ea typeface="Segoe UI Semibold" panose="020B0702040204020203" pitchFamily="34" charset="-122"/>
              <a:cs typeface="Segoe UI Semibold" panose="020B0702040204020203" pitchFamily="34" charset="-12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41820" y="2323465"/>
            <a:ext cx="190182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2A2F45"/>
                </a:solidFill>
                <a:latin typeface="PingFang SC"/>
                <a:ea typeface="PingFang SC"/>
              </a:rPr>
              <a:t>Real hardware</a:t>
            </a:r>
            <a:endParaRPr lang="en-US" altLang="zh-CN" sz="1600" b="0" i="0">
              <a:solidFill>
                <a:srgbClr val="2A2F45"/>
              </a:solidFill>
              <a:latin typeface="PingFang SC"/>
              <a:ea typeface="PingFang SC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031990" y="3337560"/>
            <a:ext cx="190182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2A2F45"/>
                </a:solidFill>
                <a:latin typeface="PingFang SC"/>
                <a:ea typeface="PingFang SC"/>
              </a:rPr>
              <a:t>This project</a:t>
            </a:r>
            <a:endParaRPr lang="en-US" altLang="zh-CN" sz="1600" b="0" i="0">
              <a:solidFill>
                <a:srgbClr val="2A2F45"/>
              </a:solidFill>
              <a:latin typeface="PingFang SC"/>
              <a:ea typeface="PingFang SC"/>
            </a:endParaRPr>
          </a:p>
        </p:txBody>
      </p:sp>
      <p:sp>
        <p:nvSpPr>
          <p:cNvPr id="74" name="Shape 37"/>
          <p:cNvSpPr/>
          <p:nvPr/>
        </p:nvSpPr>
        <p:spPr>
          <a:xfrm>
            <a:off x="4343400" y="60794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38"/>
          <p:cNvSpPr/>
          <p:nvPr/>
        </p:nvSpPr>
        <p:spPr>
          <a:xfrm>
            <a:off x="4416552" y="61343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0</a:t>
            </a:r>
            <a:endParaRPr lang="en-US" sz="1150" dirty="0"/>
          </a:p>
        </p:txBody>
      </p:sp>
      <p:sp>
        <p:nvSpPr>
          <p:cNvPr id="76" name="Shape 39"/>
          <p:cNvSpPr/>
          <p:nvPr/>
        </p:nvSpPr>
        <p:spPr>
          <a:xfrm>
            <a:off x="5989320" y="60794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40"/>
          <p:cNvSpPr/>
          <p:nvPr/>
        </p:nvSpPr>
        <p:spPr>
          <a:xfrm>
            <a:off x="6062472" y="61343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1</a:t>
            </a:r>
            <a:endParaRPr lang="en-US" sz="1150" dirty="0"/>
          </a:p>
        </p:txBody>
      </p:sp>
      <p:sp>
        <p:nvSpPr>
          <p:cNvPr id="78" name="Shape 41"/>
          <p:cNvSpPr/>
          <p:nvPr/>
        </p:nvSpPr>
        <p:spPr>
          <a:xfrm>
            <a:off x="7635240" y="60794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42"/>
          <p:cNvSpPr/>
          <p:nvPr/>
        </p:nvSpPr>
        <p:spPr>
          <a:xfrm>
            <a:off x="7708392" y="61343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2</a:t>
            </a:r>
            <a:endParaRPr lang="en-US" sz="1150" dirty="0"/>
          </a:p>
        </p:txBody>
      </p:sp>
      <p:sp>
        <p:nvSpPr>
          <p:cNvPr id="80" name="Shape 43"/>
          <p:cNvSpPr/>
          <p:nvPr/>
        </p:nvSpPr>
        <p:spPr>
          <a:xfrm>
            <a:off x="9281160" y="607949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44"/>
          <p:cNvSpPr/>
          <p:nvPr/>
        </p:nvSpPr>
        <p:spPr>
          <a:xfrm>
            <a:off x="9354312" y="6134354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...</a:t>
            </a:r>
            <a:endParaRPr lang="en-US" sz="1150" dirty="0"/>
          </a:p>
        </p:txBody>
      </p:sp>
      <p:sp>
        <p:nvSpPr>
          <p:cNvPr id="82" name="Shape 45"/>
          <p:cNvSpPr/>
          <p:nvPr/>
        </p:nvSpPr>
        <p:spPr>
          <a:xfrm>
            <a:off x="10972800" y="6079490"/>
            <a:ext cx="640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46"/>
          <p:cNvSpPr/>
          <p:nvPr/>
        </p:nvSpPr>
        <p:spPr>
          <a:xfrm>
            <a:off x="11045952" y="6134354"/>
            <a:ext cx="4937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set1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Set associative cache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SETS, WAYS, AND ADDRESS BITS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375"/>
            <a:ext cx="11275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How an address picks one set and compares tags inside that set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This is the bridge from theory to get_index(...) and get_tag(...).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563624"/>
            <a:ext cx="6400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physical address 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3328416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51376" y="1783080"/>
            <a:ext cx="1536192" cy="512064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7568" y="1783080"/>
            <a:ext cx="1536192" cy="51206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47672"/>
            <a:ext cx="332841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51376" y="1947672"/>
            <a:ext cx="153619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1947672"/>
            <a:ext cx="153619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offset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78308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783080"/>
            <a:ext cx="361188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1929384"/>
            <a:ext cx="3282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82712" y="2221992"/>
            <a:ext cx="328269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memory_hierarchy.cpp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get_index(addr)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get_tag(addr)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reconstruct_addr(tag, index)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310128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364992"/>
            <a:ext cx="11795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selected set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14600" y="3310128"/>
            <a:ext cx="1188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3364992"/>
            <a:ext cx="10424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3310128"/>
            <a:ext cx="1188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3364992"/>
            <a:ext cx="10424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66360" y="3310128"/>
            <a:ext cx="1188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3364992"/>
            <a:ext cx="10424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3310128"/>
            <a:ext cx="1188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364992"/>
            <a:ext cx="10424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14600" y="4023360"/>
            <a:ext cx="118872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4078224"/>
            <a:ext cx="1042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0" y="4023360"/>
            <a:ext cx="118872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4078224"/>
            <a:ext cx="1042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66360" y="4023360"/>
            <a:ext cx="1188720" cy="932688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9512" y="4078224"/>
            <a:ext cx="1042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4023360"/>
            <a:ext cx="1188720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4078224"/>
            <a:ext cx="1042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96112" y="5230368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Index chooses one set. Then the cache scans every way in that set and compares the stored tag.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18120" y="3749040"/>
            <a:ext cx="3611880" cy="236029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2712" y="3895344"/>
            <a:ext cx="3282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Formulas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82585" y="4187825"/>
            <a:ext cx="328295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total_bytes = size_kb * 1024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num_sets = total_bytes / (block_size * associativity)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offset_bits = log2(block_size)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index_bits = log2(num_sets)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index = (addr &gt;&gt; offset_bits) &amp; (num_sets - 1)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tag = addr &gt;&gt; (offset_bits + index_bits)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Access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CACHE ACCESS 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375"/>
            <a:ext cx="1115441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CacheLevel::access(...) should do from start to finish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be able to narrate this flow before they write the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2148840" cy="512064"/>
          </a:xfrm>
          <a:prstGeom prst="roundRect">
            <a:avLst>
              <a:gd name="adj" fmla="val 10714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83664"/>
            <a:ext cx="20025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1. addr -&gt; index/tag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2148840" cy="512064"/>
          </a:xfrm>
          <a:prstGeom prst="roundRect">
            <a:avLst>
              <a:gd name="adj" fmla="val 10714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706624"/>
            <a:ext cx="20025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2. select one 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2148840" cy="512064"/>
          </a:xfrm>
          <a:prstGeom prst="roundRect">
            <a:avLst>
              <a:gd name="adj" fmla="val 10714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529584"/>
            <a:ext cx="20025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3. scan ways for hit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2148840" cy="512064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52544"/>
            <a:ext cx="20025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4. hit or miss branch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120640"/>
            <a:ext cx="2148840" cy="512064"/>
          </a:xfrm>
          <a:prstGeom prst="roundRect">
            <a:avLst>
              <a:gd name="adj" fmla="val 10714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175504"/>
            <a:ext cx="20025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5. update stats + metadata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93392" y="234086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93392" y="316382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93392" y="398678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93392" y="480974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66160" y="1783080"/>
            <a:ext cx="3794760" cy="4480560"/>
          </a:xfrm>
          <a:prstGeom prst="roundRect">
            <a:avLst>
              <a:gd name="adj" fmla="val 144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1783080"/>
            <a:ext cx="37947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1837944"/>
            <a:ext cx="35021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1 core location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30752" y="2130552"/>
            <a:ext cx="3465576" cy="402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CacheLevel::access(uint64_t addr,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char 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uint64_t cycle)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lat = config.latency;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compute index/tag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find hit in selected 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hit path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miss path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lat;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1783080"/>
            <a:ext cx="376732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1783080"/>
            <a:ext cx="3767328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1929384"/>
            <a:ext cx="3438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Code locations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45552" y="2221992"/>
            <a:ext cx="3438144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memory_hierarchy.cpp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get_index(...)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get_tag(...)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CacheLevel::access(...)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write_back_victim(...)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3886200"/>
            <a:ext cx="376732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4032504"/>
            <a:ext cx="3438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Important design idea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45552" y="4325112"/>
            <a:ext cx="3438144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same access(...) function works for both Task 1 and Task 2. The only difference is what next_level points to.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Hit path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HAPPENS ON A HIT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The demand access stays inside the current cache level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hit is simple, but y</a:t>
            </a: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 still need to update the right metadata.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66544"/>
            <a:ext cx="12710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selected set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51760" y="201168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066544"/>
            <a:ext cx="12710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60520" y="201168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066544"/>
            <a:ext cx="12710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201168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2066544"/>
            <a:ext cx="12710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2743200"/>
            <a:ext cx="141732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2798064"/>
            <a:ext cx="1271016" cy="10332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tag=A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valid=1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dirty=0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2743200"/>
            <a:ext cx="1417320" cy="1143000"/>
          </a:xfrm>
          <a:prstGeom prst="roundRect">
            <a:avLst>
              <a:gd name="adj" fmla="val 4800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2798064"/>
            <a:ext cx="1271016" cy="10332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tag=B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valid=1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dirty=0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743200"/>
            <a:ext cx="141732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798064"/>
            <a:ext cx="1271016" cy="10332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tag=C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valid=1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dirty=1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33672" y="4096512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Request tag =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178308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1783080"/>
            <a:ext cx="3794760" cy="54864"/>
          </a:xfrm>
          <a:prstGeom prst="roundRect">
            <a:avLst>
              <a:gd name="adj" fmla="val 133333"/>
            </a:avLst>
          </a:prstGeom>
          <a:solidFill>
            <a:srgbClr val="BBF7D0"/>
          </a:solidFill>
          <a:ln w="12700">
            <a:solidFill>
              <a:srgbClr val="BBF7D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1929384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Hit behavior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45552" y="2221992"/>
            <a:ext cx="3465576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hits++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policy-&gt;onHit(set, way, cycle)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if write, set dirty =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no lower-level access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5. return cache hit latency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384048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3986784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Where in code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45552" y="4279392"/>
            <a:ext cx="3465576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memory_hierarchy.cpp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inside CacheLevel::access(...)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after set[index] is selected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find the matching valid tag, then update the line in place.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Miss path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HAPPENS ON A MISS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375"/>
            <a:ext cx="1129347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You should follow the miss path in exactly this order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Most bugs happen here: wrong victim choice, missing write-back, or wrong fill behavior.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83664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miss detected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706624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invalid line exists?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29584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if not, choose victim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352544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dirty victim? write 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12064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175504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fetch demand block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94360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998464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install line + onMiss()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234086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28800" y="316382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28800" y="398678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828800" y="480974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828800" y="563270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46525" y="2331720"/>
            <a:ext cx="15544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9677" y="2386584"/>
            <a:ext cx="140817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write_back_victim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49645" y="2340610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2797" y="2395474"/>
            <a:ext cx="12710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has next_level?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61325" y="2340610"/>
            <a:ext cx="1463040" cy="694944"/>
          </a:xfrm>
          <a:prstGeom prst="roundRect">
            <a:avLst>
              <a:gd name="adj" fmla="val 7895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4477" y="2395474"/>
            <a:ext cx="13167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increment counter</a:t>
            </a:r>
            <a:endParaRPr lang="en-US" sz="1150" dirty="0">
              <a:solidFill>
                <a:srgbClr val="0F172A"/>
              </a:solidFill>
              <a:latin typeface="Segoe UI Semibold" panose="020B0702040204020203" pitchFamily="34" charset="0"/>
              <a:ea typeface="Segoe UI Semibold" panose="020B0702040204020203" pitchFamily="34" charset="-122"/>
              <a:cs typeface="Segoe UI Semibold" panose="020B0702040204020203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reconstruct evicted block address</a:t>
            </a:r>
            <a:endParaRPr lang="en-US" sz="1150" dirty="0">
              <a:solidFill>
                <a:srgbClr val="0F172A"/>
              </a:solidFill>
              <a:latin typeface="Segoe UI Semibold" panose="020B0702040204020203" pitchFamily="34" charset="0"/>
              <a:ea typeface="Segoe UI Semibold" panose="020B0702040204020203" pitchFamily="34" charset="-122"/>
              <a:cs typeface="Segoe UI Semibold" panose="020B0702040204020203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01005" y="2679192"/>
            <a:ext cx="5486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66965" y="2688082"/>
            <a:ext cx="59436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0" y="3749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0" y="3749040"/>
            <a:ext cx="352044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3895344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Code locations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22192" y="4187952"/>
            <a:ext cx="3191256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memory_hierarchy.cpp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CacheLevel::access(...)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write_back_victim(...)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reconstruct_addr(...)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52360" y="37490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3749040"/>
            <a:ext cx="3977640" cy="54864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2" y="3895344"/>
            <a:ext cx="3648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Important miss detail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16952" y="4187952"/>
            <a:ext cx="3648456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 a write miss with write-allocate, you still fetch the block first and install the new line with dirty = true.</a:t>
            </a:r>
            <a:endParaRPr lang="en-US" sz="1200" dirty="0"/>
          </a:p>
        </p:txBody>
      </p:sp>
      <p:cxnSp>
        <p:nvCxnSpPr>
          <p:cNvPr id="45" name="肘形连接符 44"/>
          <p:cNvCxnSpPr>
            <a:stCxn id="15" idx="3"/>
            <a:endCxn id="29" idx="1"/>
          </p:cNvCxnSpPr>
          <p:nvPr/>
        </p:nvCxnSpPr>
        <p:spPr>
          <a:xfrm flipV="1">
            <a:off x="2834640" y="2679065"/>
            <a:ext cx="1184910" cy="18745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Shape 34"/>
          <p:cNvSpPr/>
          <p:nvPr/>
        </p:nvSpPr>
        <p:spPr>
          <a:xfrm>
            <a:off x="9524365" y="2651887"/>
            <a:ext cx="59436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7" name="Shape 7"/>
          <p:cNvSpPr/>
          <p:nvPr/>
        </p:nvSpPr>
        <p:spPr>
          <a:xfrm>
            <a:off x="10139680" y="2340610"/>
            <a:ext cx="1701165" cy="697865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8"/>
          <p:cNvSpPr/>
          <p:nvPr/>
        </p:nvSpPr>
        <p:spPr>
          <a:xfrm>
            <a:off x="10154920" y="2399030"/>
            <a:ext cx="1628775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Send a write access to the next level</a:t>
            </a:r>
            <a:endParaRPr lang="en-US" sz="1150" dirty="0">
              <a:solidFill>
                <a:srgbClr val="0F172A"/>
              </a:solidFill>
              <a:latin typeface="Segoe UI Semibold" panose="020B0702040204020203" pitchFamily="34" charset="0"/>
              <a:ea typeface="Segoe UI Semibold" panose="020B0702040204020203" pitchFamily="34" charset="-122"/>
              <a:cs typeface="Segoe UI Semibold" panose="020B0702040204020203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LRU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LRU REPLACEMENT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375"/>
            <a:ext cx="10927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The first replacement policy you should understand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interface is small: onHit, onMiss, and getVictim.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3246120" cy="4389120"/>
          </a:xfrm>
          <a:prstGeom prst="roundRect">
            <a:avLst>
              <a:gd name="adj" fmla="val 169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83080"/>
            <a:ext cx="32461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37944"/>
            <a:ext cx="29535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repl_policy.cpp TODOs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30552"/>
            <a:ext cx="2916936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LRUPolicy::onHit(...)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mark line as most recently used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LRUPolicy::onMiss(...)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inserted line becomes MRU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LRUPolicy::getVictim(...)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choose the least recently used way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066544"/>
            <a:ext cx="1362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last=10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1508760" cy="566928"/>
          </a:xfrm>
          <a:prstGeom prst="roundRect">
            <a:avLst>
              <a:gd name="adj" fmla="val 9677"/>
            </a:avLst>
          </a:prstGeom>
          <a:noFill/>
          <a:ln w="12700">
            <a:solidFill>
              <a:srgbClr val="CBD5E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DBEAFE"/>
                </a:solidFill>
              </a14:hiddenFill>
            </a:ext>
          </a:extLst>
        </p:spPr>
      </p:sp>
      <p:sp>
        <p:nvSpPr>
          <p:cNvPr id="16" name="Text 14"/>
          <p:cNvSpPr/>
          <p:nvPr/>
        </p:nvSpPr>
        <p:spPr>
          <a:xfrm>
            <a:off x="6153912" y="2066544"/>
            <a:ext cx="1362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last=40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0116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2066544"/>
            <a:ext cx="1362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last=22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4040" y="201168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37192" y="2066544"/>
            <a:ext cx="1362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way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last=31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788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smallest last_access = least recently used = victim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32918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291840"/>
            <a:ext cx="2240280" cy="54864"/>
          </a:xfrm>
          <a:prstGeom prst="roundRect">
            <a:avLst>
              <a:gd name="adj" fmla="val 133333"/>
            </a:avLst>
          </a:prstGeom>
          <a:solidFill>
            <a:srgbClr val="BBF7D0"/>
          </a:solidFill>
          <a:ln w="12700">
            <a:solidFill>
              <a:srgbClr val="BBF7D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438144"/>
            <a:ext cx="1911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onHit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53712" y="3730752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set[way].last_access = cycle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This line just became the most recently used 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32918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291840"/>
            <a:ext cx="224028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3438144"/>
            <a:ext cx="1911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onMiss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76872" y="3730752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set[way].last_access = cycle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newly inserted line also starts as most recently used.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35440" y="32918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3291840"/>
            <a:ext cx="2240280" cy="54864"/>
          </a:xfrm>
          <a:prstGeom prst="roundRect">
            <a:avLst>
              <a:gd name="adj" fmla="val 133333"/>
            </a:avLst>
          </a:prstGeom>
          <a:solidFill>
            <a:srgbClr val="FDE68A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0032" y="3438144"/>
            <a:ext cx="1911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getVictim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00032" y="3730752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Scan the set and return the way with the smallest timestamp.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Task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2: MULTI-LEVEL CACHE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changes when L2 is enabled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see Task 2 as a hierarchy change, not a new cache algorithm.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2082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93522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98678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Memory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36192" y="3447288"/>
            <a:ext cx="0" cy="4846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86200" y="19659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9352" y="202082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28803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293522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37947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9352" y="384962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L2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47091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4764024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Memory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07992" y="3447288"/>
            <a:ext cx="0" cy="34747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07992" y="4361688"/>
            <a:ext cx="0" cy="34747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17830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1783080"/>
            <a:ext cx="2743200" cy="54864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1929384"/>
            <a:ext cx="24140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main.cpp TODO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16752" y="2221992"/>
            <a:ext cx="241401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build L2 config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create the L2 object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connect L2 -&gt; memory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change L1 next_level from memory to L2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15400" y="178308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1783080"/>
            <a:ext cx="25146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61704" y="1837944"/>
            <a:ext cx="222199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Task 2 location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79992" y="2130552"/>
            <a:ext cx="2185416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(enable_l2)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CacheConfig l2_cfg;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create L2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MemoryObject* l1_next = ...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406908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4069080"/>
            <a:ext cx="5577840" cy="54864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4215384"/>
            <a:ext cx="52486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What should stay unchanged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16752" y="4507992"/>
            <a:ext cx="5248656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hit path, miss path, write-back logic, and LRU logic inside CacheLevel::access(...) should not need to be rewritten for Task 2. The recursive interface already handles the hierarchy.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"/>
            <a:ext cx="12191695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CSC3060 Project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464040" y="9144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Implementation order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73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RECOMMENDED IMPLEMENTATION ORDER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A workflow you can follow after reading the slides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goal is that you can now map every step to a file and a function.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83664"/>
            <a:ext cx="20939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1. open main.cpp + memory_hierarchy.h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269748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752344"/>
            <a:ext cx="20939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2. implement get_index / get_tag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56616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621024"/>
            <a:ext cx="20939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3. implement reconstruct_addr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489704"/>
            <a:ext cx="20939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4. finish access() hit path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530352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5358384"/>
            <a:ext cx="20939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5. finish access() miss path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6172200"/>
            <a:ext cx="22402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6227064"/>
            <a:ext cx="209397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6. implement LRU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993392" y="2359152"/>
            <a:ext cx="0" cy="3383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93392" y="3227832"/>
            <a:ext cx="0" cy="3383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93392" y="4096512"/>
            <a:ext cx="0" cy="3383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93392" y="4965192"/>
            <a:ext cx="0" cy="3383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993392" y="5833872"/>
            <a:ext cx="0" cy="33832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40480" y="18288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828800"/>
            <a:ext cx="3429000" cy="54864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1975104"/>
            <a:ext cx="30998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Then move to Task 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05072" y="2267712"/>
            <a:ext cx="309981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create L2 in main.cpp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route L1 next_level to L2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print L2 stats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compare L1-only and L1+L2 runs on the same trace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0" y="182880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1975104"/>
            <a:ext cx="3602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62672" y="2267712"/>
            <a:ext cx="360273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./cache_sim trace_sanity.txt 32 8 64 1 100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./cache_sim trace_sanity.txt 16 4 64 1 100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./cache_sim trace_sanity.txt 32 4 32 1 100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./cache_sim trace_sanity.txt 32 8 64 1 100 --enable-l2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40480" y="4297680"/>
            <a:ext cx="7589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05072" y="4443984"/>
            <a:ext cx="7260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Segoe UI Semibold" panose="020B0702040204020203" pitchFamily="34" charset="0"/>
                <a:ea typeface="Segoe UI Semibold" panose="020B0702040204020203" pitchFamily="34" charset="-122"/>
                <a:cs typeface="Segoe UI Semibold" panose="020B0702040204020203" pitchFamily="34" charset="-120"/>
              </a:rPr>
              <a:t>Main takeaway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05072" y="4736592"/>
            <a:ext cx="726033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You should now be able to read the project in this order: structure -&gt; cache data -&gt; set mapping -&gt; access flow -&gt; LRU -&gt; L2 hookup. If they follow that order, the project becomes much more manageable.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2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3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4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5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6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7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8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9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10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11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ags/tag12.xml><?xml version="1.0" encoding="utf-8"?>
<p:tagLst xmlns:p="http://schemas.openxmlformats.org/presentationml/2006/main">
  <p:tag name="KSO_WM_DIAGRAM_VIRTUALLY_FRAME" val="{&quot;height&quot;:194.6,&quot;left&quot;:54,&quot;top&quot;:140.4,&quot;width&quot;:85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7394</Words>
  <Application>WPS 演示</Application>
  <PresentationFormat>On-screen Show (16:9)</PresentationFormat>
  <Paragraphs>550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Segoe UI</vt:lpstr>
      <vt:lpstr>Segoe UI</vt:lpstr>
      <vt:lpstr>Segoe UI</vt:lpstr>
      <vt:lpstr>Segoe UI Semibold</vt:lpstr>
      <vt:lpstr>Segoe UI Semibold</vt:lpstr>
      <vt:lpstr>Segoe UI Semibold</vt:lpstr>
      <vt:lpstr>Consolas</vt:lpstr>
      <vt:lpstr>Consolas</vt:lpstr>
      <vt:lpstr>Consolas</vt:lpstr>
      <vt:lpstr>PingFang SC</vt:lpstr>
      <vt:lpstr>Segoe Print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 SZ CSC3060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CSC3060 Project 4 Tutorial 1</dc:title>
  <dc:creator>OpenAI Codex</dc:creator>
  <dc:subject>Project 4 Tutorial 1</dc:subject>
  <cp:lastModifiedBy>WPS_849564478</cp:lastModifiedBy>
  <cp:revision>85</cp:revision>
  <dcterms:created xsi:type="dcterms:W3CDTF">2026-03-23T10:50:00Z</dcterms:created>
  <dcterms:modified xsi:type="dcterms:W3CDTF">2026-03-31T05:13:51Z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5BA94D02740F44469B459745365F8A7D_12</vt:lpwstr>
  </property>
</Properties>
</file>