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8"/>
  </p:notesMasterIdLst>
  <p:handoutMasterIdLst>
    <p:handoutMasterId r:id="rId29"/>
  </p:handoutMasterIdLst>
  <p:sldIdLst>
    <p:sldId id="295" r:id="rId2"/>
    <p:sldId id="378" r:id="rId3"/>
    <p:sldId id="404" r:id="rId4"/>
    <p:sldId id="405" r:id="rId5"/>
    <p:sldId id="403" r:id="rId6"/>
    <p:sldId id="406" r:id="rId7"/>
    <p:sldId id="407" r:id="rId8"/>
    <p:sldId id="401" r:id="rId9"/>
    <p:sldId id="412" r:id="rId10"/>
    <p:sldId id="408" r:id="rId11"/>
    <p:sldId id="409" r:id="rId12"/>
    <p:sldId id="414" r:id="rId13"/>
    <p:sldId id="410" r:id="rId14"/>
    <p:sldId id="411" r:id="rId15"/>
    <p:sldId id="379" r:id="rId16"/>
    <p:sldId id="380" r:id="rId17"/>
    <p:sldId id="381" r:id="rId18"/>
    <p:sldId id="382" r:id="rId19"/>
    <p:sldId id="383" r:id="rId20"/>
    <p:sldId id="384" r:id="rId21"/>
    <p:sldId id="394" r:id="rId22"/>
    <p:sldId id="386" r:id="rId23"/>
    <p:sldId id="388" r:id="rId24"/>
    <p:sldId id="399" r:id="rId25"/>
    <p:sldId id="400" r:id="rId26"/>
    <p:sldId id="413" r:id="rId2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907">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3632"/>
    <a:srgbClr val="4F81BD"/>
    <a:srgbClr val="46ACC8"/>
    <a:srgbClr val="633869"/>
    <a:srgbClr val="0000FF"/>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3" autoAdjust="0"/>
    <p:restoredTop sz="96197"/>
  </p:normalViewPr>
  <p:slideViewPr>
    <p:cSldViewPr snapToGrid="0">
      <p:cViewPr varScale="1">
        <p:scale>
          <a:sx n="134" d="100"/>
          <a:sy n="134" d="100"/>
        </p:scale>
        <p:origin x="810" y="96"/>
      </p:cViewPr>
      <p:guideLst>
        <p:guide orient="horz" pos="2160"/>
        <p:guide pos="2907"/>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of. Wang Fangxin (SSE)" userId="ce1f3ee1-525b-4f0b-8f12-bc5b2dd7d371" providerId="ADAL" clId="{072444D5-B6E1-794C-B782-80CEB355B39B}"/>
    <pc:docChg chg="undo custSel addSld modSld">
      <pc:chgData name="Prof. Wang Fangxin (SSE)" userId="ce1f3ee1-525b-4f0b-8f12-bc5b2dd7d371" providerId="ADAL" clId="{072444D5-B6E1-794C-B782-80CEB355B39B}" dt="2023-01-04T10:36:32.720" v="702" actId="20577"/>
      <pc:docMkLst>
        <pc:docMk/>
      </pc:docMkLst>
      <pc:sldChg chg="modSp mod">
        <pc:chgData name="Prof. Wang Fangxin (SSE)" userId="ce1f3ee1-525b-4f0b-8f12-bc5b2dd7d371" providerId="ADAL" clId="{072444D5-B6E1-794C-B782-80CEB355B39B}" dt="2023-01-04T10:36:26.792" v="695" actId="20577"/>
        <pc:sldMkLst>
          <pc:docMk/>
          <pc:sldMk cId="0" sldId="296"/>
        </pc:sldMkLst>
        <pc:spChg chg="mod">
          <ac:chgData name="Prof. Wang Fangxin (SSE)" userId="ce1f3ee1-525b-4f0b-8f12-bc5b2dd7d371" providerId="ADAL" clId="{072444D5-B6E1-794C-B782-80CEB355B39B}" dt="2023-01-04T10:36:06.733" v="685" actId="20577"/>
          <ac:spMkLst>
            <pc:docMk/>
            <pc:sldMk cId="0" sldId="296"/>
            <ac:spMk id="3" creationId="{00000000-0000-0000-0000-000000000000}"/>
          </ac:spMkLst>
        </pc:spChg>
        <pc:spChg chg="mod">
          <ac:chgData name="Prof. Wang Fangxin (SSE)" userId="ce1f3ee1-525b-4f0b-8f12-bc5b2dd7d371" providerId="ADAL" clId="{072444D5-B6E1-794C-B782-80CEB355B39B}" dt="2023-01-04T10:36:26.792" v="695" actId="20577"/>
          <ac:spMkLst>
            <pc:docMk/>
            <pc:sldMk cId="0" sldId="296"/>
            <ac:spMk id="6" creationId="{00000000-0000-0000-0000-000000000000}"/>
          </ac:spMkLst>
        </pc:spChg>
      </pc:sldChg>
      <pc:sldChg chg="modSp mod">
        <pc:chgData name="Prof. Wang Fangxin (SSE)" userId="ce1f3ee1-525b-4f0b-8f12-bc5b2dd7d371" providerId="ADAL" clId="{072444D5-B6E1-794C-B782-80CEB355B39B}" dt="2023-01-04T10:27:49.456" v="356" actId="20577"/>
        <pc:sldMkLst>
          <pc:docMk/>
          <pc:sldMk cId="0" sldId="299"/>
        </pc:sldMkLst>
        <pc:spChg chg="mod">
          <ac:chgData name="Prof. Wang Fangxin (SSE)" userId="ce1f3ee1-525b-4f0b-8f12-bc5b2dd7d371" providerId="ADAL" clId="{072444D5-B6E1-794C-B782-80CEB355B39B}" dt="2023-01-04T10:27:49.456" v="356" actId="20577"/>
          <ac:spMkLst>
            <pc:docMk/>
            <pc:sldMk cId="0" sldId="299"/>
            <ac:spMk id="3" creationId="{00000000-0000-0000-0000-000000000000}"/>
          </ac:spMkLst>
        </pc:spChg>
      </pc:sldChg>
      <pc:sldChg chg="modSp mod">
        <pc:chgData name="Prof. Wang Fangxin (SSE)" userId="ce1f3ee1-525b-4f0b-8f12-bc5b2dd7d371" providerId="ADAL" clId="{072444D5-B6E1-794C-B782-80CEB355B39B}" dt="2023-01-04T10:24:58.830" v="335" actId="20577"/>
        <pc:sldMkLst>
          <pc:docMk/>
          <pc:sldMk cId="0" sldId="391"/>
        </pc:sldMkLst>
        <pc:spChg chg="mod">
          <ac:chgData name="Prof. Wang Fangxin (SSE)" userId="ce1f3ee1-525b-4f0b-8f12-bc5b2dd7d371" providerId="ADAL" clId="{072444D5-B6E1-794C-B782-80CEB355B39B}" dt="2023-01-04T10:24:58.830" v="335" actId="20577"/>
          <ac:spMkLst>
            <pc:docMk/>
            <pc:sldMk cId="0" sldId="391"/>
            <ac:spMk id="6" creationId="{00000000-0000-0000-0000-000000000000}"/>
          </ac:spMkLst>
        </pc:spChg>
      </pc:sldChg>
      <pc:sldChg chg="modSp add mod">
        <pc:chgData name="Prof. Wang Fangxin (SSE)" userId="ce1f3ee1-525b-4f0b-8f12-bc5b2dd7d371" providerId="ADAL" clId="{072444D5-B6E1-794C-B782-80CEB355B39B}" dt="2023-01-04T10:36:32.720" v="702" actId="20577"/>
        <pc:sldMkLst>
          <pc:docMk/>
          <pc:sldMk cId="2341894575" sldId="447"/>
        </pc:sldMkLst>
        <pc:spChg chg="mod">
          <ac:chgData name="Prof. Wang Fangxin (SSE)" userId="ce1f3ee1-525b-4f0b-8f12-bc5b2dd7d371" providerId="ADAL" clId="{072444D5-B6E1-794C-B782-80CEB355B39B}" dt="2023-01-04T10:32:31.287" v="384" actId="20577"/>
          <ac:spMkLst>
            <pc:docMk/>
            <pc:sldMk cId="2341894575" sldId="447"/>
            <ac:spMk id="3" creationId="{00000000-0000-0000-0000-000000000000}"/>
          </ac:spMkLst>
        </pc:spChg>
        <pc:spChg chg="mod">
          <ac:chgData name="Prof. Wang Fangxin (SSE)" userId="ce1f3ee1-525b-4f0b-8f12-bc5b2dd7d371" providerId="ADAL" clId="{072444D5-B6E1-794C-B782-80CEB355B39B}" dt="2023-01-04T10:36:32.720" v="702" actId="20577"/>
          <ac:spMkLst>
            <pc:docMk/>
            <pc:sldMk cId="2341894575" sldId="447"/>
            <ac:spMk id="6" creationId="{00000000-0000-0000-0000-000000000000}"/>
          </ac:spMkLst>
        </pc:spChg>
      </pc:sldChg>
    </pc:docChg>
  </pc:docChgLst>
  <pc:docChgLst>
    <pc:chgData name="Prof. Wang Fangxin (SSE)" userId="ce1f3ee1-525b-4f0b-8f12-bc5b2dd7d371" providerId="ADAL" clId="{56731C7C-97E0-41C3-86F4-ADF8CE8A2053}"/>
    <pc:docChg chg="undo custSel delSld modSld sldOrd">
      <pc:chgData name="Prof. Wang Fangxin (SSE)" userId="ce1f3ee1-525b-4f0b-8f12-bc5b2dd7d371" providerId="ADAL" clId="{56731C7C-97E0-41C3-86F4-ADF8CE8A2053}" dt="2022-01-10T06:59:30.151" v="590" actId="2696"/>
      <pc:docMkLst>
        <pc:docMk/>
      </pc:docMkLst>
      <pc:sldChg chg="modSp">
        <pc:chgData name="Prof. Wang Fangxin (SSE)" userId="ce1f3ee1-525b-4f0b-8f12-bc5b2dd7d371" providerId="ADAL" clId="{56731C7C-97E0-41C3-86F4-ADF8CE8A2053}" dt="2022-01-10T06:28:47.372" v="1" actId="27636"/>
        <pc:sldMkLst>
          <pc:docMk/>
          <pc:sldMk cId="0" sldId="262"/>
        </pc:sldMkLst>
        <pc:spChg chg="mod">
          <ac:chgData name="Prof. Wang Fangxin (SSE)" userId="ce1f3ee1-525b-4f0b-8f12-bc5b2dd7d371" providerId="ADAL" clId="{56731C7C-97E0-41C3-86F4-ADF8CE8A2053}" dt="2022-01-10T06:28:47.372" v="1" actId="27636"/>
          <ac:spMkLst>
            <pc:docMk/>
            <pc:sldMk cId="0" sldId="262"/>
            <ac:spMk id="3" creationId="{00000000-0000-0000-0000-000000000000}"/>
          </ac:spMkLst>
        </pc:spChg>
      </pc:sldChg>
      <pc:sldChg chg="del">
        <pc:chgData name="Prof. Wang Fangxin (SSE)" userId="ce1f3ee1-525b-4f0b-8f12-bc5b2dd7d371" providerId="ADAL" clId="{56731C7C-97E0-41C3-86F4-ADF8CE8A2053}" dt="2022-01-10T06:59:30.151" v="590" actId="2696"/>
        <pc:sldMkLst>
          <pc:docMk/>
          <pc:sldMk cId="0" sldId="272"/>
        </pc:sldMkLst>
      </pc:sldChg>
      <pc:sldChg chg="addSp modSp">
        <pc:chgData name="Prof. Wang Fangxin (SSE)" userId="ce1f3ee1-525b-4f0b-8f12-bc5b2dd7d371" providerId="ADAL" clId="{56731C7C-97E0-41C3-86F4-ADF8CE8A2053}" dt="2022-01-10T06:30:29.070" v="33" actId="1076"/>
        <pc:sldMkLst>
          <pc:docMk/>
          <pc:sldMk cId="0" sldId="295"/>
        </pc:sldMkLst>
        <pc:spChg chg="add mod">
          <ac:chgData name="Prof. Wang Fangxin (SSE)" userId="ce1f3ee1-525b-4f0b-8f12-bc5b2dd7d371" providerId="ADAL" clId="{56731C7C-97E0-41C3-86F4-ADF8CE8A2053}" dt="2022-01-10T06:30:29.070" v="33" actId="1076"/>
          <ac:spMkLst>
            <pc:docMk/>
            <pc:sldMk cId="0" sldId="295"/>
            <ac:spMk id="4" creationId="{5E4FC43E-652B-47EE-A940-42294AB0E172}"/>
          </ac:spMkLst>
        </pc:spChg>
      </pc:sldChg>
      <pc:sldChg chg="modSp">
        <pc:chgData name="Prof. Wang Fangxin (SSE)" userId="ce1f3ee1-525b-4f0b-8f12-bc5b2dd7d371" providerId="ADAL" clId="{56731C7C-97E0-41C3-86F4-ADF8CE8A2053}" dt="2022-01-10T06:51:11.053" v="586" actId="404"/>
        <pc:sldMkLst>
          <pc:docMk/>
          <pc:sldMk cId="0" sldId="296"/>
        </pc:sldMkLst>
        <pc:spChg chg="mod">
          <ac:chgData name="Prof. Wang Fangxin (SSE)" userId="ce1f3ee1-525b-4f0b-8f12-bc5b2dd7d371" providerId="ADAL" clId="{56731C7C-97E0-41C3-86F4-ADF8CE8A2053}" dt="2022-01-10T06:51:11.053" v="586" actId="404"/>
          <ac:spMkLst>
            <pc:docMk/>
            <pc:sldMk cId="0" sldId="296"/>
            <ac:spMk id="3" creationId="{00000000-0000-0000-0000-000000000000}"/>
          </ac:spMkLst>
        </pc:spChg>
      </pc:sldChg>
      <pc:sldChg chg="modSp">
        <pc:chgData name="Prof. Wang Fangxin (SSE)" userId="ce1f3ee1-525b-4f0b-8f12-bc5b2dd7d371" providerId="ADAL" clId="{56731C7C-97E0-41C3-86F4-ADF8CE8A2053}" dt="2022-01-10T06:44:19.141" v="478" actId="207"/>
        <pc:sldMkLst>
          <pc:docMk/>
          <pc:sldMk cId="0" sldId="299"/>
        </pc:sldMkLst>
        <pc:spChg chg="mod">
          <ac:chgData name="Prof. Wang Fangxin (SSE)" userId="ce1f3ee1-525b-4f0b-8f12-bc5b2dd7d371" providerId="ADAL" clId="{56731C7C-97E0-41C3-86F4-ADF8CE8A2053}" dt="2022-01-10T06:44:19.141" v="478" actId="207"/>
          <ac:spMkLst>
            <pc:docMk/>
            <pc:sldMk cId="0" sldId="299"/>
            <ac:spMk id="3" creationId="{00000000-0000-0000-0000-000000000000}"/>
          </ac:spMkLst>
        </pc:spChg>
      </pc:sldChg>
      <pc:sldChg chg="modSp ord">
        <pc:chgData name="Prof. Wang Fangxin (SSE)" userId="ce1f3ee1-525b-4f0b-8f12-bc5b2dd7d371" providerId="ADAL" clId="{56731C7C-97E0-41C3-86F4-ADF8CE8A2053}" dt="2022-01-10T06:48:53.068" v="570" actId="207"/>
        <pc:sldMkLst>
          <pc:docMk/>
          <pc:sldMk cId="0" sldId="301"/>
        </pc:sldMkLst>
        <pc:spChg chg="mod">
          <ac:chgData name="Prof. Wang Fangxin (SSE)" userId="ce1f3ee1-525b-4f0b-8f12-bc5b2dd7d371" providerId="ADAL" clId="{56731C7C-97E0-41C3-86F4-ADF8CE8A2053}" dt="2022-01-10T06:48:53.068" v="570" actId="207"/>
          <ac:spMkLst>
            <pc:docMk/>
            <pc:sldMk cId="0" sldId="301"/>
            <ac:spMk id="3" creationId="{00000000-0000-0000-0000-000000000000}"/>
          </ac:spMkLst>
        </pc:spChg>
      </pc:sldChg>
      <pc:sldChg chg="modSp">
        <pc:chgData name="Prof. Wang Fangxin (SSE)" userId="ce1f3ee1-525b-4f0b-8f12-bc5b2dd7d371" providerId="ADAL" clId="{56731C7C-97E0-41C3-86F4-ADF8CE8A2053}" dt="2022-01-10T06:51:17.850" v="588" actId="404"/>
        <pc:sldMkLst>
          <pc:docMk/>
          <pc:sldMk cId="0" sldId="391"/>
        </pc:sldMkLst>
        <pc:spChg chg="mod">
          <ac:chgData name="Prof. Wang Fangxin (SSE)" userId="ce1f3ee1-525b-4f0b-8f12-bc5b2dd7d371" providerId="ADAL" clId="{56731C7C-97E0-41C3-86F4-ADF8CE8A2053}" dt="2022-01-10T06:51:17.850" v="588" actId="404"/>
          <ac:spMkLst>
            <pc:docMk/>
            <pc:sldMk cId="0" sldId="391"/>
            <ac:spMk id="6" creationId="{00000000-0000-0000-0000-000000000000}"/>
          </ac:spMkLst>
        </pc:spChg>
      </pc:sldChg>
      <pc:sldChg chg="modSp del">
        <pc:chgData name="Prof. Wang Fangxin (SSE)" userId="ce1f3ee1-525b-4f0b-8f12-bc5b2dd7d371" providerId="ADAL" clId="{56731C7C-97E0-41C3-86F4-ADF8CE8A2053}" dt="2022-01-10T06:51:27.305" v="589" actId="2696"/>
        <pc:sldMkLst>
          <pc:docMk/>
          <pc:sldMk cId="0" sldId="392"/>
        </pc:sldMkLst>
        <pc:spChg chg="mod">
          <ac:chgData name="Prof. Wang Fangxin (SSE)" userId="ce1f3ee1-525b-4f0b-8f12-bc5b2dd7d371" providerId="ADAL" clId="{56731C7C-97E0-41C3-86F4-ADF8CE8A2053}" dt="2022-01-10T06:41:58.169" v="400" actId="20577"/>
          <ac:spMkLst>
            <pc:docMk/>
            <pc:sldMk cId="0" sldId="392"/>
            <ac:spMk id="6" creationId="{00000000-0000-0000-0000-000000000000}"/>
          </ac:spMkLst>
        </pc:spChg>
      </pc:sldChg>
      <pc:sldChg chg="modSp">
        <pc:chgData name="Prof. Wang Fangxin (SSE)" userId="ce1f3ee1-525b-4f0b-8f12-bc5b2dd7d371" providerId="ADAL" clId="{56731C7C-97E0-41C3-86F4-ADF8CE8A2053}" dt="2022-01-10T06:45:25" v="501" actId="20577"/>
        <pc:sldMkLst>
          <pc:docMk/>
          <pc:sldMk cId="0" sldId="445"/>
        </pc:sldMkLst>
        <pc:spChg chg="mod">
          <ac:chgData name="Prof. Wang Fangxin (SSE)" userId="ce1f3ee1-525b-4f0b-8f12-bc5b2dd7d371" providerId="ADAL" clId="{56731C7C-97E0-41C3-86F4-ADF8CE8A2053}" dt="2022-01-10T06:45:25" v="501" actId="20577"/>
          <ac:spMkLst>
            <pc:docMk/>
            <pc:sldMk cId="0" sldId="445"/>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t>2026/2/28</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t>‹#›</a:t>
            </a:fld>
            <a:endParaRPr lang="zh-TW"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t>2026/2/28</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t>‹#›</a:t>
            </a:fld>
            <a:endParaRPr lang="zh-TW"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 is different from regulation, which is often enforced by ….</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a:t>
            </a:fld>
            <a:endParaRPr lang="zh-TW" altLang="en-US"/>
          </a:p>
        </p:txBody>
      </p:sp>
    </p:spTree>
    <p:extLst>
      <p:ext uri="{BB962C8B-B14F-4D97-AF65-F5344CB8AC3E}">
        <p14:creationId xmlns:p14="http://schemas.microsoft.com/office/powerpoint/2010/main" val="1527600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1pPr>
              <a:buClr>
                <a:srgbClr val="8064A2"/>
              </a:buClr>
              <a:defRPr sz="2400"/>
            </a:lvl1pPr>
            <a:lvl2pPr>
              <a:buClr>
                <a:srgbClr val="8064A2"/>
              </a:buClr>
              <a:defRPr sz="2000"/>
            </a:lvl2pPr>
            <a:lvl3pPr>
              <a:defRPr sz="1800">
                <a:latin typeface="Calibri" panose="020F07020304040A0204" pitchFamily="34" charset="0"/>
                <a:ea typeface="標楷體" pitchFamily="65" charset="-120"/>
                <a:cs typeface="Calibri" panose="020F07020304040A0204" pitchFamily="34" charset="0"/>
              </a:defRPr>
            </a:lvl3pPr>
            <a:lvl4pPr>
              <a:defRPr sz="1600">
                <a:latin typeface="Calibri" panose="020F07020304040A0204" pitchFamily="34" charset="0"/>
                <a:ea typeface="標楷體" pitchFamily="65" charset="-120"/>
                <a:cs typeface="Calibri" panose="020F07020304040A0204" pitchFamily="34" charset="0"/>
              </a:defRPr>
            </a:lvl4pPr>
            <a:lvl5pPr>
              <a:defRPr sz="1200">
                <a:latin typeface="Calibri" panose="020F07020304040A0204" pitchFamily="34" charset="0"/>
                <a:ea typeface="標楷體" pitchFamily="65" charset="-120"/>
                <a:cs typeface="Calibri" panose="020F07020304040A0204"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ltLang="zh-TW" dirty="0"/>
              <a:t>Click to edit Master text styles</a:t>
            </a:r>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hasCustomPrompt="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900" indent="0" algn="ctr">
              <a:buNone/>
              <a:defRPr/>
            </a:lvl2pPr>
            <a:lvl3pPr marL="685800" indent="0" algn="ctr">
              <a:buNone/>
              <a:defRPr/>
            </a:lvl3pPr>
            <a:lvl4pPr marL="1028700" indent="0" algn="ctr">
              <a:buNone/>
              <a:defRPr/>
            </a:lvl4pPr>
            <a:lvl5pPr marL="1371600" indent="0" algn="ctr">
              <a:buNone/>
              <a:defRPr/>
            </a:lvl5pPr>
            <a:lvl6pPr marL="1714500" indent="0" algn="ctr">
              <a:buNone/>
              <a:defRPr/>
            </a:lvl6pPr>
            <a:lvl7pPr marL="2057400" indent="0" algn="ctr">
              <a:buNone/>
              <a:defRPr/>
            </a:lvl7pPr>
            <a:lvl8pPr marL="2400300" indent="0" algn="ctr">
              <a:buNone/>
              <a:defRPr/>
            </a:lvl8pPr>
            <a:lvl9pPr marL="2743200"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969010" y="108585"/>
            <a:ext cx="7706995" cy="518795"/>
          </a:xfrm>
          <a:prstGeom prst="rect">
            <a:avLst/>
          </a:prstGeom>
          <a:noFill/>
          <a:ln w="9525">
            <a:noFill/>
            <a:miter lim="800000"/>
          </a:ln>
        </p:spPr>
        <p:txBody>
          <a:bodyPr vert="horz" wrap="square" lIns="91440" tIns="45720" rIns="91440" bIns="45720" numCol="1" anchor="ctr" anchorCtr="0" compatLnSpc="1"/>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ln>
        </p:spPr>
        <p:txBody>
          <a:bodyPr vert="horz" wrap="square" lIns="91440" tIns="45720" rIns="91440" bIns="45720" numCol="1" anchor="t" anchorCtr="0" compatLnSpc="1"/>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rPr>
              <a:t>National Tsing Hua University ® copyright OIA</a:t>
            </a:r>
            <a:endParaRPr lang="zh-TW" alt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ln>
          <a:effectLst/>
        </p:spPr>
        <p:txBody>
          <a:bodyPr vert="horz" wrap="square" lIns="91440" tIns="45720" rIns="91440" bIns="45720" numCol="1" anchor="t" anchorCtr="0" compatLnSpc="1"/>
          <a:lstStyle>
            <a:lvl1pPr algn="r">
              <a:defRPr sz="900">
                <a:solidFill>
                  <a:schemeClr val="bg1"/>
                </a:solidFill>
                <a:latin typeface="Arial" panose="020B0604020202090204" pitchFamily="34" charset="0"/>
                <a:ea typeface="新細明體" panose="02020500000000000000" pitchFamily="18" charset="-120"/>
              </a:defRPr>
            </a:lvl1pPr>
          </a:lstStyle>
          <a:p>
            <a:fld id="{D9B6BDF2-6896-4B98-8776-C18582F63BA5}" type="slidenum">
              <a:rPr lang="zh-TW" altLang="en-US" smtClean="0"/>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pic>
        <p:nvPicPr>
          <p:cNvPr id="13" name="圖片 12"/>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88062" y="4681942"/>
            <a:ext cx="2030503" cy="40043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1" fontAlgn="base" hangingPunct="1">
        <a:spcBef>
          <a:spcPct val="0"/>
        </a:spcBef>
        <a:spcAft>
          <a:spcPct val="0"/>
        </a:spcAft>
        <a:defRPr kumimoji="1" sz="3200" b="1">
          <a:solidFill>
            <a:schemeClr val="tx2"/>
          </a:solidFill>
          <a:latin typeface="Calibri" panose="020F07020304040A0204"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5pPr>
      <a:lvl6pPr marL="342900" algn="l" rtl="0" eaLnBrk="1" fontAlgn="base" hangingPunct="1">
        <a:spcBef>
          <a:spcPct val="0"/>
        </a:spcBef>
        <a:spcAft>
          <a:spcPct val="0"/>
        </a:spcAft>
        <a:defRPr kumimoji="1" sz="2250" b="1">
          <a:solidFill>
            <a:schemeClr val="tx2"/>
          </a:solidFill>
          <a:latin typeface="MS Sans Serif"/>
          <a:ea typeface="MS Sans Serif"/>
          <a:cs typeface="MS Sans Serif"/>
        </a:defRPr>
      </a:lvl6pPr>
      <a:lvl7pPr marL="685800" algn="l" rtl="0" eaLnBrk="1" fontAlgn="base" hangingPunct="1">
        <a:spcBef>
          <a:spcPct val="0"/>
        </a:spcBef>
        <a:spcAft>
          <a:spcPct val="0"/>
        </a:spcAft>
        <a:defRPr kumimoji="1" sz="2250" b="1">
          <a:solidFill>
            <a:schemeClr val="tx2"/>
          </a:solidFill>
          <a:latin typeface="MS Sans Serif"/>
          <a:ea typeface="MS Sans Serif"/>
          <a:cs typeface="MS Sans Serif"/>
        </a:defRPr>
      </a:lvl7pPr>
      <a:lvl8pPr marL="1028700" algn="l" rtl="0" eaLnBrk="1" fontAlgn="base" hangingPunct="1">
        <a:spcBef>
          <a:spcPct val="0"/>
        </a:spcBef>
        <a:spcAft>
          <a:spcPct val="0"/>
        </a:spcAft>
        <a:defRPr kumimoji="1" sz="2250" b="1">
          <a:solidFill>
            <a:schemeClr val="tx2"/>
          </a:solidFill>
          <a:latin typeface="MS Sans Serif"/>
          <a:ea typeface="MS Sans Serif"/>
          <a:cs typeface="MS Sans Serif"/>
        </a:defRPr>
      </a:lvl8pPr>
      <a:lvl9pPr marL="1371600" algn="l" rtl="0" eaLnBrk="1" fontAlgn="base" hangingPunct="1">
        <a:spcBef>
          <a:spcPct val="0"/>
        </a:spcBef>
        <a:spcAft>
          <a:spcPct val="0"/>
        </a:spcAft>
        <a:defRPr kumimoji="1" sz="2250" b="1">
          <a:solidFill>
            <a:schemeClr val="tx2"/>
          </a:solidFill>
          <a:latin typeface="MS Sans Serif"/>
          <a:ea typeface="MS Sans Serif"/>
          <a:cs typeface="MS Sans Serif"/>
        </a:defRPr>
      </a:lvl9pPr>
    </p:titleStyle>
    <p:body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165" rtl="0" eaLnBrk="1" latinLnBrk="0" hangingPunct="1">
        <a:defRPr sz="1350" kern="1200">
          <a:solidFill>
            <a:schemeClr val="tx1"/>
          </a:solidFill>
          <a:latin typeface="+mn-lt"/>
          <a:ea typeface="+mn-ea"/>
          <a:cs typeface="+mn-cs"/>
        </a:defRPr>
      </a:lvl1pPr>
      <a:lvl2pPr marL="342900" algn="l" defTabSz="685165" rtl="0" eaLnBrk="1" latinLnBrk="0" hangingPunct="1">
        <a:defRPr sz="1350" kern="1200">
          <a:solidFill>
            <a:schemeClr val="tx1"/>
          </a:solidFill>
          <a:latin typeface="+mn-lt"/>
          <a:ea typeface="+mn-ea"/>
          <a:cs typeface="+mn-cs"/>
        </a:defRPr>
      </a:lvl2pPr>
      <a:lvl3pPr marL="685800" algn="l" defTabSz="685165" rtl="0" eaLnBrk="1" latinLnBrk="0" hangingPunct="1">
        <a:defRPr sz="1350" kern="1200">
          <a:solidFill>
            <a:schemeClr val="tx1"/>
          </a:solidFill>
          <a:latin typeface="+mn-lt"/>
          <a:ea typeface="+mn-ea"/>
          <a:cs typeface="+mn-cs"/>
        </a:defRPr>
      </a:lvl3pPr>
      <a:lvl4pPr marL="1028700" algn="l" defTabSz="685165" rtl="0" eaLnBrk="1" latinLnBrk="0" hangingPunct="1">
        <a:defRPr sz="1350" kern="1200">
          <a:solidFill>
            <a:schemeClr val="tx1"/>
          </a:solidFill>
          <a:latin typeface="+mn-lt"/>
          <a:ea typeface="+mn-ea"/>
          <a:cs typeface="+mn-cs"/>
        </a:defRPr>
      </a:lvl4pPr>
      <a:lvl5pPr marL="1371600" algn="l" defTabSz="685165" rtl="0" eaLnBrk="1" latinLnBrk="0" hangingPunct="1">
        <a:defRPr sz="1350" kern="1200">
          <a:solidFill>
            <a:schemeClr val="tx1"/>
          </a:solidFill>
          <a:latin typeface="+mn-lt"/>
          <a:ea typeface="+mn-ea"/>
          <a:cs typeface="+mn-cs"/>
        </a:defRPr>
      </a:lvl5pPr>
      <a:lvl6pPr marL="1714500" algn="l" defTabSz="685165" rtl="0" eaLnBrk="1" latinLnBrk="0" hangingPunct="1">
        <a:defRPr sz="1350" kern="1200">
          <a:solidFill>
            <a:schemeClr val="tx1"/>
          </a:solidFill>
          <a:latin typeface="+mn-lt"/>
          <a:ea typeface="+mn-ea"/>
          <a:cs typeface="+mn-cs"/>
        </a:defRPr>
      </a:lvl6pPr>
      <a:lvl7pPr marL="2057400" algn="l" defTabSz="685165" rtl="0" eaLnBrk="1" latinLnBrk="0" hangingPunct="1">
        <a:defRPr sz="1350" kern="1200">
          <a:solidFill>
            <a:schemeClr val="tx1"/>
          </a:solidFill>
          <a:latin typeface="+mn-lt"/>
          <a:ea typeface="+mn-ea"/>
          <a:cs typeface="+mn-cs"/>
        </a:defRPr>
      </a:lvl7pPr>
      <a:lvl8pPr marL="2400300" algn="l" defTabSz="685165" rtl="0" eaLnBrk="1" latinLnBrk="0" hangingPunct="1">
        <a:defRPr sz="1350" kern="1200">
          <a:solidFill>
            <a:schemeClr val="tx1"/>
          </a:solidFill>
          <a:latin typeface="+mn-lt"/>
          <a:ea typeface="+mn-ea"/>
          <a:cs typeface="+mn-cs"/>
        </a:defRPr>
      </a:lvl8pPr>
      <a:lvl9pPr marL="2743200" algn="l" defTabSz="685165"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826534"/>
            <a:ext cx="7772400" cy="1307066"/>
          </a:xfrm>
        </p:spPr>
        <p:txBody>
          <a:bodyPr/>
          <a:lstStyle/>
          <a:p>
            <a:pPr algn="ctr"/>
            <a:r>
              <a:rPr lang="en-US" altLang="zh-TW" sz="3600" dirty="0"/>
              <a:t>CSC3060 – Computer Architecture</a:t>
            </a:r>
            <a:br>
              <a:rPr lang="en-US" altLang="zh-TW" sz="3600" dirty="0">
                <a:effectLst>
                  <a:outerShdw blurRad="38100" dist="38100" dir="2700000" algn="tl">
                    <a:srgbClr val="000000">
                      <a:alpha val="43137"/>
                    </a:srgbClr>
                  </a:outerShdw>
                </a:effectLst>
              </a:rPr>
            </a:br>
            <a:endParaRPr lang="en-US" altLang="zh-TW"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BFE23FD5-DC69-48D8-B031-A351352C176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52ED0F7-8C0C-4170-9202-4E7BA6DED58D}"/>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2AD37BA-DF3D-4AB0-8E54-1AC9919634A4}" type="slidenum">
              <a:rPr lang="zh-TW" altLang="en-US" sz="900"/>
              <a:pPr>
                <a:spcBef>
                  <a:spcPct val="0"/>
                </a:spcBef>
                <a:buClrTx/>
                <a:buSzTx/>
                <a:buFontTx/>
                <a:buNone/>
              </a:pPr>
              <a:t>2</a:t>
            </a:fld>
            <a:endParaRPr lang="en-US" altLang="zh-TW" sz="900"/>
          </a:p>
        </p:txBody>
      </p:sp>
      <p:sp>
        <p:nvSpPr>
          <p:cNvPr id="6" name="Rectangle 2">
            <a:extLst>
              <a:ext uri="{FF2B5EF4-FFF2-40B4-BE49-F238E27FC236}">
                <a16:creationId xmlns:a16="http://schemas.microsoft.com/office/drawing/2014/main" id="{4FC5CF1D-7894-45F0-BF03-427F3AC23102}"/>
              </a:ext>
            </a:extLst>
          </p:cNvPr>
          <p:cNvSpPr txBox="1">
            <a:spLocks noChangeArrowheads="1"/>
          </p:cNvSpPr>
          <p:nvPr/>
        </p:nvSpPr>
        <p:spPr bwMode="auto">
          <a:xfrm>
            <a:off x="1543050" y="514350"/>
            <a:ext cx="5829300" cy="30289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br>
              <a:rPr lang="en-US" altLang="zh-TW" sz="3300" dirty="0">
                <a:ea typeface="新細明體" pitchFamily="18" charset="-120"/>
              </a:rPr>
            </a:br>
            <a:r>
              <a:rPr lang="en-US" altLang="zh-TW" sz="3300" dirty="0">
                <a:effectLst/>
                <a:ea typeface="新細明體" pitchFamily="18" charset="-120"/>
              </a:rPr>
              <a:t>Calling Convention </a:t>
            </a:r>
          </a:p>
          <a:p>
            <a:pPr eaLnBrk="1" hangingPunct="1">
              <a:defRPr/>
            </a:pPr>
            <a:r>
              <a:rPr lang="en-US" altLang="zh-TW" sz="3300" dirty="0">
                <a:effectLst/>
                <a:ea typeface="新細明體" pitchFamily="18" charset="-120"/>
              </a:rPr>
              <a:t>and</a:t>
            </a:r>
          </a:p>
          <a:p>
            <a:pPr eaLnBrk="1" hangingPunct="1">
              <a:defRPr/>
            </a:pPr>
            <a:r>
              <a:rPr lang="en-US" altLang="zh-TW" sz="3300" dirty="0">
                <a:effectLst/>
                <a:ea typeface="新細明體" pitchFamily="18" charset="-120"/>
              </a:rPr>
              <a:t>Caller/Callee Save Registers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3</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742301" y="117004"/>
            <a:ext cx="7859844"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dirty="0">
                <a:ea typeface="新細明體" panose="02020500000000000000" pitchFamily="18" charset="-120"/>
              </a:rPr>
              <a:t>Steps In the execution of a procedure/function call</a:t>
            </a:r>
            <a:endParaRPr lang="zh-TW" altLang="en-US" sz="2700" dirty="0">
              <a:ea typeface="新細明體" panose="02020500000000000000" pitchFamily="18" charset="-120"/>
            </a:endParaRPr>
          </a:p>
        </p:txBody>
      </p:sp>
      <p:sp>
        <p:nvSpPr>
          <p:cNvPr id="6" name="Rectangle 2">
            <a:extLst>
              <a:ext uri="{FF2B5EF4-FFF2-40B4-BE49-F238E27FC236}">
                <a16:creationId xmlns:a16="http://schemas.microsoft.com/office/drawing/2014/main" id="{854444F6-FA75-4D61-9F0E-B0AE002D5634}"/>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lvl="1" algn="l" eaLnBrk="1" hangingPunct="1">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Put parameters on the stack</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Save the return address</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Transfer control to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Push a frame (activation record) onto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Save the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Do the work in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Put the return values on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Restore saved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Return control to the point of origin</a:t>
            </a:r>
          </a:p>
          <a:p>
            <a:pPr marL="685800" lvl="1" indent="-342900" algn="l" eaLnBrk="1" hangingPunct="1">
              <a:buFont typeface="Wingdings" panose="05000000000000000000" pitchFamily="2" charset="2"/>
              <a:buChar char="§"/>
              <a:defRPr/>
            </a:pPr>
            <a:endParaRPr lang="en-US" altLang="zh-TW" sz="2100" dirty="0">
              <a:effectLst/>
              <a:latin typeface="Times New Roman" panose="02020603050405020304" pitchFamily="18" charset="0"/>
              <a:ea typeface="新細明體" pitchFamily="18" charset="-120"/>
              <a:cs typeface="Times New Roman" panose="02020603050405020304" pitchFamily="18" charset="0"/>
            </a:endParaRPr>
          </a:p>
        </p:txBody>
      </p:sp>
      <p:sp>
        <p:nvSpPr>
          <p:cNvPr id="2" name="TextBox 1">
            <a:extLst>
              <a:ext uri="{FF2B5EF4-FFF2-40B4-BE49-F238E27FC236}">
                <a16:creationId xmlns:a16="http://schemas.microsoft.com/office/drawing/2014/main" id="{F38D2F79-A391-4523-A4AE-A0156495DBA1}"/>
              </a:ext>
            </a:extLst>
          </p:cNvPr>
          <p:cNvSpPr txBox="1"/>
          <p:nvPr/>
        </p:nvSpPr>
        <p:spPr>
          <a:xfrm>
            <a:off x="7722394" y="1260009"/>
            <a:ext cx="503086" cy="523220"/>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A </a:t>
            </a:r>
          </a:p>
        </p:txBody>
      </p:sp>
      <p:sp>
        <p:nvSpPr>
          <p:cNvPr id="7" name="TextBox 6">
            <a:extLst>
              <a:ext uri="{FF2B5EF4-FFF2-40B4-BE49-F238E27FC236}">
                <a16:creationId xmlns:a16="http://schemas.microsoft.com/office/drawing/2014/main" id="{0189F372-F299-42F9-B715-ACBA4EA04946}"/>
              </a:ext>
            </a:extLst>
          </p:cNvPr>
          <p:cNvSpPr txBox="1"/>
          <p:nvPr/>
        </p:nvSpPr>
        <p:spPr>
          <a:xfrm>
            <a:off x="7722394" y="2957512"/>
            <a:ext cx="522900" cy="523220"/>
          </a:xfrm>
          <a:prstGeom prst="rect">
            <a:avLst/>
          </a:prstGeom>
          <a:solidFill>
            <a:srgbClr val="92D05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B </a:t>
            </a:r>
          </a:p>
        </p:txBody>
      </p:sp>
      <p:sp>
        <p:nvSpPr>
          <p:cNvPr id="3" name="TextBox 2">
            <a:extLst>
              <a:ext uri="{FF2B5EF4-FFF2-40B4-BE49-F238E27FC236}">
                <a16:creationId xmlns:a16="http://schemas.microsoft.com/office/drawing/2014/main" id="{8737CA93-8EEF-40C0-8530-EB09B182A26C}"/>
              </a:ext>
            </a:extLst>
          </p:cNvPr>
          <p:cNvSpPr txBox="1"/>
          <p:nvPr/>
        </p:nvSpPr>
        <p:spPr>
          <a:xfrm>
            <a:off x="7516737" y="2069456"/>
            <a:ext cx="914400" cy="461665"/>
          </a:xfrm>
          <a:prstGeom prst="rect">
            <a:avLst/>
          </a:prstGeom>
          <a:noFill/>
        </p:spPr>
        <p:txBody>
          <a:bodyPr wrap="square" rtlCol="0" anchor="ctr" anchorCtr="1">
            <a:spAutoFit/>
          </a:bodyPr>
          <a:lstStyle/>
          <a:p>
            <a:r>
              <a:rPr lang="en-US" sz="2400" dirty="0">
                <a:ea typeface="標楷體" pitchFamily="65" charset="-120"/>
                <a:cs typeface="Calibri" panose="020F07020304040A0204" pitchFamily="34" charset="0"/>
              </a:rPr>
              <a:t>calls</a:t>
            </a:r>
          </a:p>
        </p:txBody>
      </p:sp>
      <p:cxnSp>
        <p:nvCxnSpPr>
          <p:cNvPr id="5" name="Straight Arrow Connector 4">
            <a:extLst>
              <a:ext uri="{FF2B5EF4-FFF2-40B4-BE49-F238E27FC236}">
                <a16:creationId xmlns:a16="http://schemas.microsoft.com/office/drawing/2014/main" id="{FD7F9820-2E22-4231-8F85-5632419ED6A4}"/>
              </a:ext>
            </a:extLst>
          </p:cNvPr>
          <p:cNvCxnSpPr>
            <a:endCxn id="7" idx="0"/>
          </p:cNvCxnSpPr>
          <p:nvPr/>
        </p:nvCxnSpPr>
        <p:spPr bwMode="auto">
          <a:xfrm>
            <a:off x="7973937" y="1799118"/>
            <a:ext cx="9907" cy="1158394"/>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D06F35BC-0C26-49AC-8F36-C4906BBD47C3}"/>
              </a:ext>
            </a:extLst>
          </p:cNvPr>
          <p:cNvSpPr txBox="1"/>
          <p:nvPr/>
        </p:nvSpPr>
        <p:spPr>
          <a:xfrm>
            <a:off x="6870705" y="1372345"/>
            <a:ext cx="787395"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2" name="TextBox 11">
            <a:extLst>
              <a:ext uri="{FF2B5EF4-FFF2-40B4-BE49-F238E27FC236}">
                <a16:creationId xmlns:a16="http://schemas.microsoft.com/office/drawing/2014/main" id="{85E92C91-08CB-42A6-ACFC-2A9D5E038E0A}"/>
              </a:ext>
            </a:extLst>
          </p:cNvPr>
          <p:cNvSpPr txBox="1"/>
          <p:nvPr/>
        </p:nvSpPr>
        <p:spPr>
          <a:xfrm>
            <a:off x="6850064" y="3063360"/>
            <a:ext cx="838691"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Callee</a:t>
            </a:r>
          </a:p>
        </p:txBody>
      </p:sp>
    </p:spTree>
    <p:extLst>
      <p:ext uri="{BB962C8B-B14F-4D97-AF65-F5344CB8AC3E}">
        <p14:creationId xmlns:p14="http://schemas.microsoft.com/office/powerpoint/2010/main" val="11233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4</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812800" y="92344"/>
            <a:ext cx="771621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400" dirty="0">
                <a:ea typeface="新細明體" panose="02020500000000000000" pitchFamily="18" charset="-120"/>
              </a:rPr>
              <a:t>Stack Allocation Before/During/After the Procedure Call</a:t>
            </a:r>
            <a:endParaRPr lang="zh-TW" altLang="en-US" sz="2400" dirty="0">
              <a:ea typeface="新細明體" panose="02020500000000000000" pitchFamily="18" charset="-120"/>
            </a:endParaRPr>
          </a:p>
        </p:txBody>
      </p:sp>
      <p:sp>
        <p:nvSpPr>
          <p:cNvPr id="2" name="Rectangle 1">
            <a:extLst>
              <a:ext uri="{FF2B5EF4-FFF2-40B4-BE49-F238E27FC236}">
                <a16:creationId xmlns:a16="http://schemas.microsoft.com/office/drawing/2014/main" id="{BF446FFE-61C4-472B-8A31-F5F43F49A558}"/>
              </a:ext>
            </a:extLst>
          </p:cNvPr>
          <p:cNvSpPr/>
          <p:nvPr/>
        </p:nvSpPr>
        <p:spPr bwMode="auto">
          <a:xfrm>
            <a:off x="1262743" y="979714"/>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4" name="Rectangle 3">
            <a:extLst>
              <a:ext uri="{FF2B5EF4-FFF2-40B4-BE49-F238E27FC236}">
                <a16:creationId xmlns:a16="http://schemas.microsoft.com/office/drawing/2014/main" id="{15CBD2CA-F0CD-492C-ABAB-223401B4CAF9}"/>
              </a:ext>
            </a:extLst>
          </p:cNvPr>
          <p:cNvSpPr/>
          <p:nvPr/>
        </p:nvSpPr>
        <p:spPr bwMode="auto">
          <a:xfrm>
            <a:off x="1262743" y="979714"/>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7" name="Straight Arrow Connector 6">
            <a:extLst>
              <a:ext uri="{FF2B5EF4-FFF2-40B4-BE49-F238E27FC236}">
                <a16:creationId xmlns:a16="http://schemas.microsoft.com/office/drawing/2014/main" id="{13923998-524B-48C2-BE97-4FF2AE00137A}"/>
              </a:ext>
            </a:extLst>
          </p:cNvPr>
          <p:cNvCxnSpPr/>
          <p:nvPr/>
        </p:nvCxnSpPr>
        <p:spPr bwMode="auto">
          <a:xfrm>
            <a:off x="812800" y="979714"/>
            <a:ext cx="377371" cy="0"/>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B2C55107-71B0-44C5-9960-502853A20F2F}"/>
              </a:ext>
            </a:extLst>
          </p:cNvPr>
          <p:cNvSpPr txBox="1"/>
          <p:nvPr/>
        </p:nvSpPr>
        <p:spPr>
          <a:xfrm>
            <a:off x="394868" y="795048"/>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2" name="Straight Arrow Connector 11">
            <a:extLst>
              <a:ext uri="{FF2B5EF4-FFF2-40B4-BE49-F238E27FC236}">
                <a16:creationId xmlns:a16="http://schemas.microsoft.com/office/drawing/2014/main" id="{BC114549-9AB2-4513-B8DE-F8ABABFF3D16}"/>
              </a:ext>
            </a:extLst>
          </p:cNvPr>
          <p:cNvCxnSpPr/>
          <p:nvPr/>
        </p:nvCxnSpPr>
        <p:spPr bwMode="auto">
          <a:xfrm>
            <a:off x="785491" y="1766953"/>
            <a:ext cx="377371" cy="0"/>
          </a:xfrm>
          <a:prstGeom prst="straightConnector1">
            <a:avLst/>
          </a:prstGeom>
          <a:noFill/>
          <a:ln w="15875" cap="flat" cmpd="sng" algn="ctr">
            <a:solidFill>
              <a:srgbClr val="FF0000"/>
            </a:solidFill>
            <a:prstDash val="solid"/>
            <a:round/>
            <a:headEnd type="none" w="med" len="med"/>
            <a:tailEnd type="triangle"/>
          </a:ln>
        </p:spPr>
      </p:cxnSp>
      <p:sp>
        <p:nvSpPr>
          <p:cNvPr id="13" name="TextBox 12">
            <a:extLst>
              <a:ext uri="{FF2B5EF4-FFF2-40B4-BE49-F238E27FC236}">
                <a16:creationId xmlns:a16="http://schemas.microsoft.com/office/drawing/2014/main" id="{BD98A6F6-53D0-487F-B187-886BB54F723C}"/>
              </a:ext>
            </a:extLst>
          </p:cNvPr>
          <p:cNvSpPr txBox="1"/>
          <p:nvPr/>
        </p:nvSpPr>
        <p:spPr>
          <a:xfrm>
            <a:off x="367559" y="1582287"/>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9" name="TextBox 8">
            <a:extLst>
              <a:ext uri="{FF2B5EF4-FFF2-40B4-BE49-F238E27FC236}">
                <a16:creationId xmlns:a16="http://schemas.microsoft.com/office/drawing/2014/main" id="{D0F7EBCB-43B6-447B-8B5A-13F6E7E89FDA}"/>
              </a:ext>
            </a:extLst>
          </p:cNvPr>
          <p:cNvSpPr txBox="1"/>
          <p:nvPr/>
        </p:nvSpPr>
        <p:spPr>
          <a:xfrm>
            <a:off x="1161144" y="4219084"/>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Before Call B()</a:t>
            </a:r>
          </a:p>
        </p:txBody>
      </p:sp>
      <p:sp>
        <p:nvSpPr>
          <p:cNvPr id="15" name="Rectangle 14">
            <a:extLst>
              <a:ext uri="{FF2B5EF4-FFF2-40B4-BE49-F238E27FC236}">
                <a16:creationId xmlns:a16="http://schemas.microsoft.com/office/drawing/2014/main" id="{7269FDFA-6293-4754-948F-BB8BBBEABE30}"/>
              </a:ext>
            </a:extLst>
          </p:cNvPr>
          <p:cNvSpPr/>
          <p:nvPr/>
        </p:nvSpPr>
        <p:spPr bwMode="auto">
          <a:xfrm>
            <a:off x="7421075" y="1011980"/>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6" name="Rectangle 15">
            <a:extLst>
              <a:ext uri="{FF2B5EF4-FFF2-40B4-BE49-F238E27FC236}">
                <a16:creationId xmlns:a16="http://schemas.microsoft.com/office/drawing/2014/main" id="{AC5FB44F-5D61-42D0-97A1-3DA128C5347B}"/>
              </a:ext>
            </a:extLst>
          </p:cNvPr>
          <p:cNvSpPr/>
          <p:nvPr/>
        </p:nvSpPr>
        <p:spPr bwMode="auto">
          <a:xfrm>
            <a:off x="7421075" y="1011980"/>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17" name="Straight Arrow Connector 16">
            <a:extLst>
              <a:ext uri="{FF2B5EF4-FFF2-40B4-BE49-F238E27FC236}">
                <a16:creationId xmlns:a16="http://schemas.microsoft.com/office/drawing/2014/main" id="{D86F662D-F28B-484B-B6F2-0409453A93C6}"/>
              </a:ext>
            </a:extLst>
          </p:cNvPr>
          <p:cNvCxnSpPr/>
          <p:nvPr/>
        </p:nvCxnSpPr>
        <p:spPr bwMode="auto">
          <a:xfrm>
            <a:off x="6971132" y="1011980"/>
            <a:ext cx="377371" cy="0"/>
          </a:xfrm>
          <a:prstGeom prst="straightConnector1">
            <a:avLst/>
          </a:prstGeom>
          <a:noFill/>
          <a:ln w="15875" cap="flat" cmpd="sng" algn="ctr">
            <a:solidFill>
              <a:srgbClr val="FF0000"/>
            </a:solidFill>
            <a:prstDash val="solid"/>
            <a:round/>
            <a:headEnd type="none" w="med" len="med"/>
            <a:tailEnd type="triangle"/>
          </a:ln>
        </p:spPr>
      </p:cxnSp>
      <p:sp>
        <p:nvSpPr>
          <p:cNvPr id="18" name="TextBox 17">
            <a:extLst>
              <a:ext uri="{FF2B5EF4-FFF2-40B4-BE49-F238E27FC236}">
                <a16:creationId xmlns:a16="http://schemas.microsoft.com/office/drawing/2014/main" id="{6E629479-9EBD-47D1-AA3F-3EFD426104E0}"/>
              </a:ext>
            </a:extLst>
          </p:cNvPr>
          <p:cNvSpPr txBox="1"/>
          <p:nvPr/>
        </p:nvSpPr>
        <p:spPr>
          <a:xfrm>
            <a:off x="6553200" y="827314"/>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9" name="Straight Arrow Connector 18">
            <a:extLst>
              <a:ext uri="{FF2B5EF4-FFF2-40B4-BE49-F238E27FC236}">
                <a16:creationId xmlns:a16="http://schemas.microsoft.com/office/drawing/2014/main" id="{A75801B5-DDCD-46C0-ABDC-8E59BCFA1302}"/>
              </a:ext>
            </a:extLst>
          </p:cNvPr>
          <p:cNvCxnSpPr/>
          <p:nvPr/>
        </p:nvCxnSpPr>
        <p:spPr bwMode="auto">
          <a:xfrm>
            <a:off x="6971132" y="1782357"/>
            <a:ext cx="377371" cy="0"/>
          </a:xfrm>
          <a:prstGeom prst="straightConnector1">
            <a:avLst/>
          </a:prstGeom>
          <a:noFill/>
          <a:ln w="15875" cap="flat" cmpd="sng" algn="ctr">
            <a:solidFill>
              <a:srgbClr val="FF0000"/>
            </a:solidFill>
            <a:prstDash val="solid"/>
            <a:round/>
            <a:headEnd type="none" w="med" len="med"/>
            <a:tailEnd type="triangle"/>
          </a:ln>
        </p:spPr>
      </p:cxnSp>
      <p:sp>
        <p:nvSpPr>
          <p:cNvPr id="20" name="TextBox 19">
            <a:extLst>
              <a:ext uri="{FF2B5EF4-FFF2-40B4-BE49-F238E27FC236}">
                <a16:creationId xmlns:a16="http://schemas.microsoft.com/office/drawing/2014/main" id="{62BAF624-7944-483A-B3D3-6C38080F19F6}"/>
              </a:ext>
            </a:extLst>
          </p:cNvPr>
          <p:cNvSpPr txBox="1"/>
          <p:nvPr/>
        </p:nvSpPr>
        <p:spPr>
          <a:xfrm>
            <a:off x="6553200" y="1597691"/>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1" name="TextBox 20">
            <a:extLst>
              <a:ext uri="{FF2B5EF4-FFF2-40B4-BE49-F238E27FC236}">
                <a16:creationId xmlns:a16="http://schemas.microsoft.com/office/drawing/2014/main" id="{A2674AAB-4EDB-48D1-814B-8852048A053D}"/>
              </a:ext>
            </a:extLst>
          </p:cNvPr>
          <p:cNvSpPr txBox="1"/>
          <p:nvPr/>
        </p:nvSpPr>
        <p:spPr>
          <a:xfrm>
            <a:off x="7319476" y="4251350"/>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After Call B()</a:t>
            </a:r>
          </a:p>
        </p:txBody>
      </p:sp>
      <p:sp>
        <p:nvSpPr>
          <p:cNvPr id="22" name="Rectangle 21">
            <a:extLst>
              <a:ext uri="{FF2B5EF4-FFF2-40B4-BE49-F238E27FC236}">
                <a16:creationId xmlns:a16="http://schemas.microsoft.com/office/drawing/2014/main" id="{0E45109E-D7F0-4F7D-B2F1-A66179FD731B}"/>
              </a:ext>
            </a:extLst>
          </p:cNvPr>
          <p:cNvSpPr/>
          <p:nvPr/>
        </p:nvSpPr>
        <p:spPr bwMode="auto">
          <a:xfrm>
            <a:off x="4208401" y="919276"/>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23" name="Rectangle 22">
            <a:extLst>
              <a:ext uri="{FF2B5EF4-FFF2-40B4-BE49-F238E27FC236}">
                <a16:creationId xmlns:a16="http://schemas.microsoft.com/office/drawing/2014/main" id="{D208A829-6D31-469C-8EE6-C4B91B50EFBA}"/>
              </a:ext>
            </a:extLst>
          </p:cNvPr>
          <p:cNvSpPr/>
          <p:nvPr/>
        </p:nvSpPr>
        <p:spPr bwMode="auto">
          <a:xfrm>
            <a:off x="4219932" y="1729694"/>
            <a:ext cx="1328057" cy="2088344"/>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24" name="Straight Arrow Connector 23">
            <a:extLst>
              <a:ext uri="{FF2B5EF4-FFF2-40B4-BE49-F238E27FC236}">
                <a16:creationId xmlns:a16="http://schemas.microsoft.com/office/drawing/2014/main" id="{53B38615-732D-48A8-B76A-6FEE0729FFEA}"/>
              </a:ext>
            </a:extLst>
          </p:cNvPr>
          <p:cNvCxnSpPr/>
          <p:nvPr/>
        </p:nvCxnSpPr>
        <p:spPr bwMode="auto">
          <a:xfrm>
            <a:off x="3831030" y="1902787"/>
            <a:ext cx="377371" cy="0"/>
          </a:xfrm>
          <a:prstGeom prst="straightConnector1">
            <a:avLst/>
          </a:prstGeom>
          <a:noFill/>
          <a:ln w="15875" cap="flat" cmpd="sng" algn="ctr">
            <a:solidFill>
              <a:srgbClr val="FF0000"/>
            </a:solidFill>
            <a:prstDash val="solid"/>
            <a:round/>
            <a:headEnd type="none" w="med" len="med"/>
            <a:tailEnd type="triangle"/>
          </a:ln>
        </p:spPr>
      </p:cxnSp>
      <p:sp>
        <p:nvSpPr>
          <p:cNvPr id="25" name="TextBox 24">
            <a:extLst>
              <a:ext uri="{FF2B5EF4-FFF2-40B4-BE49-F238E27FC236}">
                <a16:creationId xmlns:a16="http://schemas.microsoft.com/office/drawing/2014/main" id="{0D0BE29A-BA8B-4015-AB42-6A734241AAC4}"/>
              </a:ext>
            </a:extLst>
          </p:cNvPr>
          <p:cNvSpPr txBox="1"/>
          <p:nvPr/>
        </p:nvSpPr>
        <p:spPr>
          <a:xfrm>
            <a:off x="3415036" y="1539692"/>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26" name="Straight Arrow Connector 25">
            <a:extLst>
              <a:ext uri="{FF2B5EF4-FFF2-40B4-BE49-F238E27FC236}">
                <a16:creationId xmlns:a16="http://schemas.microsoft.com/office/drawing/2014/main" id="{5D39C08C-C0A0-4C7A-9921-3643C403D32A}"/>
              </a:ext>
            </a:extLst>
          </p:cNvPr>
          <p:cNvCxnSpPr/>
          <p:nvPr/>
        </p:nvCxnSpPr>
        <p:spPr bwMode="auto">
          <a:xfrm>
            <a:off x="3758458" y="3818038"/>
            <a:ext cx="377371" cy="0"/>
          </a:xfrm>
          <a:prstGeom prst="straightConnector1">
            <a:avLst/>
          </a:prstGeom>
          <a:noFill/>
          <a:ln w="15875" cap="flat" cmpd="sng" algn="ctr">
            <a:solidFill>
              <a:srgbClr val="FF0000"/>
            </a:solidFill>
            <a:prstDash val="solid"/>
            <a:round/>
            <a:headEnd type="none" w="med" len="med"/>
            <a:tailEnd type="triangle"/>
          </a:ln>
        </p:spPr>
      </p:cxnSp>
      <p:sp>
        <p:nvSpPr>
          <p:cNvPr id="27" name="TextBox 26">
            <a:extLst>
              <a:ext uri="{FF2B5EF4-FFF2-40B4-BE49-F238E27FC236}">
                <a16:creationId xmlns:a16="http://schemas.microsoft.com/office/drawing/2014/main" id="{9B4E3F75-48B9-4B62-A8D8-C0A627115B17}"/>
              </a:ext>
            </a:extLst>
          </p:cNvPr>
          <p:cNvSpPr txBox="1"/>
          <p:nvPr/>
        </p:nvSpPr>
        <p:spPr>
          <a:xfrm>
            <a:off x="3340526" y="3633372"/>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8" name="TextBox 27">
            <a:extLst>
              <a:ext uri="{FF2B5EF4-FFF2-40B4-BE49-F238E27FC236}">
                <a16:creationId xmlns:a16="http://schemas.microsoft.com/office/drawing/2014/main" id="{AE993838-D91D-45AE-AD17-7CDDDD1F5FF5}"/>
              </a:ext>
            </a:extLst>
          </p:cNvPr>
          <p:cNvSpPr txBox="1"/>
          <p:nvPr/>
        </p:nvSpPr>
        <p:spPr>
          <a:xfrm>
            <a:off x="4106802" y="4158646"/>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During Call B()</a:t>
            </a:r>
          </a:p>
        </p:txBody>
      </p:sp>
      <p:sp>
        <p:nvSpPr>
          <p:cNvPr id="10" name="TextBox 9">
            <a:extLst>
              <a:ext uri="{FF2B5EF4-FFF2-40B4-BE49-F238E27FC236}">
                <a16:creationId xmlns:a16="http://schemas.microsoft.com/office/drawing/2014/main" id="{67FD121F-2739-475E-90BD-141D71F11189}"/>
              </a:ext>
            </a:extLst>
          </p:cNvPr>
          <p:cNvSpPr txBox="1"/>
          <p:nvPr/>
        </p:nvSpPr>
        <p:spPr>
          <a:xfrm>
            <a:off x="1279888" y="132839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0" name="TextBox 29">
            <a:extLst>
              <a:ext uri="{FF2B5EF4-FFF2-40B4-BE49-F238E27FC236}">
                <a16:creationId xmlns:a16="http://schemas.microsoft.com/office/drawing/2014/main" id="{2F42C9F1-0252-4786-A76E-93CFBF8D2E2C}"/>
              </a:ext>
            </a:extLst>
          </p:cNvPr>
          <p:cNvSpPr txBox="1"/>
          <p:nvPr/>
        </p:nvSpPr>
        <p:spPr>
          <a:xfrm>
            <a:off x="1287756" y="1144896"/>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1" name="TextBox 30">
            <a:extLst>
              <a:ext uri="{FF2B5EF4-FFF2-40B4-BE49-F238E27FC236}">
                <a16:creationId xmlns:a16="http://schemas.microsoft.com/office/drawing/2014/main" id="{4259E648-9F80-4777-8AA0-D8324A0E0638}"/>
              </a:ext>
            </a:extLst>
          </p:cNvPr>
          <p:cNvSpPr txBox="1"/>
          <p:nvPr/>
        </p:nvSpPr>
        <p:spPr>
          <a:xfrm>
            <a:off x="1297153" y="1513533"/>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4" name="TextBox 33">
            <a:extLst>
              <a:ext uri="{FF2B5EF4-FFF2-40B4-BE49-F238E27FC236}">
                <a16:creationId xmlns:a16="http://schemas.microsoft.com/office/drawing/2014/main" id="{774B7351-342A-4613-A490-624EC81838FF}"/>
              </a:ext>
            </a:extLst>
          </p:cNvPr>
          <p:cNvSpPr txBox="1"/>
          <p:nvPr/>
        </p:nvSpPr>
        <p:spPr>
          <a:xfrm>
            <a:off x="4284766" y="116617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5" name="TextBox 34">
            <a:extLst>
              <a:ext uri="{FF2B5EF4-FFF2-40B4-BE49-F238E27FC236}">
                <a16:creationId xmlns:a16="http://schemas.microsoft.com/office/drawing/2014/main" id="{C5045D87-64AC-41E2-B3C7-7B5C4B3DE1EB}"/>
              </a:ext>
            </a:extLst>
          </p:cNvPr>
          <p:cNvSpPr txBox="1"/>
          <p:nvPr/>
        </p:nvSpPr>
        <p:spPr>
          <a:xfrm>
            <a:off x="4273235" y="96518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6" name="TextBox 35">
            <a:extLst>
              <a:ext uri="{FF2B5EF4-FFF2-40B4-BE49-F238E27FC236}">
                <a16:creationId xmlns:a16="http://schemas.microsoft.com/office/drawing/2014/main" id="{64F1D29F-9027-485B-B929-0CD59CC54B5A}"/>
              </a:ext>
            </a:extLst>
          </p:cNvPr>
          <p:cNvSpPr txBox="1"/>
          <p:nvPr/>
        </p:nvSpPr>
        <p:spPr>
          <a:xfrm>
            <a:off x="4280890" y="1381224"/>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7" name="TextBox 36">
            <a:extLst>
              <a:ext uri="{FF2B5EF4-FFF2-40B4-BE49-F238E27FC236}">
                <a16:creationId xmlns:a16="http://schemas.microsoft.com/office/drawing/2014/main" id="{5A815AEA-AC78-4324-878E-751C0F18977E}"/>
              </a:ext>
            </a:extLst>
          </p:cNvPr>
          <p:cNvSpPr txBox="1"/>
          <p:nvPr/>
        </p:nvSpPr>
        <p:spPr>
          <a:xfrm>
            <a:off x="4159117" y="1870000"/>
            <a:ext cx="1481496"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local variables</a:t>
            </a:r>
          </a:p>
        </p:txBody>
      </p:sp>
      <p:sp>
        <p:nvSpPr>
          <p:cNvPr id="38" name="TextBox 37">
            <a:extLst>
              <a:ext uri="{FF2B5EF4-FFF2-40B4-BE49-F238E27FC236}">
                <a16:creationId xmlns:a16="http://schemas.microsoft.com/office/drawing/2014/main" id="{17C93DB6-41E7-4FCC-9423-4F6BEF593D10}"/>
              </a:ext>
            </a:extLst>
          </p:cNvPr>
          <p:cNvSpPr txBox="1"/>
          <p:nvPr/>
        </p:nvSpPr>
        <p:spPr>
          <a:xfrm>
            <a:off x="4434582" y="1638496"/>
            <a:ext cx="686406" cy="338554"/>
          </a:xfrm>
          <a:prstGeom prst="rect">
            <a:avLst/>
          </a:prstGeom>
          <a:noFill/>
        </p:spPr>
        <p:txBody>
          <a:bodyPr wrap="none" rtlCol="0" anchor="ctr" anchorCtr="1">
            <a:spAutoFit/>
          </a:bodyPr>
          <a:lstStyle/>
          <a:p>
            <a:r>
              <a:rPr lang="en-US" sz="1600" dirty="0">
                <a:solidFill>
                  <a:srgbClr val="FF0000"/>
                </a:solidFill>
                <a:ea typeface="標楷體" pitchFamily="65" charset="-120"/>
                <a:cs typeface="Calibri" panose="020F07020304040A0204" pitchFamily="34" charset="0"/>
              </a:rPr>
              <a:t>old </a:t>
            </a:r>
            <a:r>
              <a:rPr lang="en-US" sz="1600" dirty="0" err="1">
                <a:solidFill>
                  <a:srgbClr val="FF0000"/>
                </a:solidFill>
                <a:ea typeface="標楷體" pitchFamily="65" charset="-120"/>
                <a:cs typeface="Calibri" panose="020F07020304040A0204" pitchFamily="34" charset="0"/>
              </a:rPr>
              <a:t>fp</a:t>
            </a:r>
            <a:endParaRPr lang="en-US" sz="1600" dirty="0">
              <a:solidFill>
                <a:srgbClr val="FF0000"/>
              </a:solidFill>
              <a:ea typeface="標楷體" pitchFamily="65" charset="-120"/>
              <a:cs typeface="Calibri" panose="020F07020304040A0204" pitchFamily="34" charset="0"/>
            </a:endParaRPr>
          </a:p>
        </p:txBody>
      </p:sp>
      <p:cxnSp>
        <p:nvCxnSpPr>
          <p:cNvPr id="14" name="Straight Connector 13">
            <a:extLst>
              <a:ext uri="{FF2B5EF4-FFF2-40B4-BE49-F238E27FC236}">
                <a16:creationId xmlns:a16="http://schemas.microsoft.com/office/drawing/2014/main" id="{F320C9A3-AB33-4A8C-B157-8BF393AA02C0}"/>
              </a:ext>
            </a:extLst>
          </p:cNvPr>
          <p:cNvCxnSpPr>
            <a:stCxn id="22" idx="1"/>
          </p:cNvCxnSpPr>
          <p:nvPr/>
        </p:nvCxnSpPr>
        <p:spPr bwMode="auto">
          <a:xfrm flipV="1">
            <a:off x="4208401" y="2523104"/>
            <a:ext cx="1339588" cy="1"/>
          </a:xfrm>
          <a:prstGeom prst="line">
            <a:avLst/>
          </a:prstGeom>
          <a:noFill/>
          <a:ln w="28575" cap="flat" cmpd="sng" algn="ctr">
            <a:solidFill>
              <a:srgbClr val="FF0000"/>
            </a:solidFill>
            <a:prstDash val="solid"/>
            <a:round/>
            <a:headEnd type="none" w="med" len="med"/>
            <a:tailEnd type="none" w="med" len="med"/>
          </a:ln>
        </p:spPr>
      </p:cxnSp>
      <p:sp>
        <p:nvSpPr>
          <p:cNvPr id="41" name="TextBox 40">
            <a:extLst>
              <a:ext uri="{FF2B5EF4-FFF2-40B4-BE49-F238E27FC236}">
                <a16:creationId xmlns:a16="http://schemas.microsoft.com/office/drawing/2014/main" id="{C6B98193-AA24-4F9E-AAEE-9769B9F0F5F8}"/>
              </a:ext>
            </a:extLst>
          </p:cNvPr>
          <p:cNvSpPr txBox="1"/>
          <p:nvPr/>
        </p:nvSpPr>
        <p:spPr>
          <a:xfrm>
            <a:off x="4135829" y="2734169"/>
            <a:ext cx="149592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Save registers</a:t>
            </a:r>
          </a:p>
        </p:txBody>
      </p:sp>
      <p:cxnSp>
        <p:nvCxnSpPr>
          <p:cNvPr id="42" name="Straight Connector 41">
            <a:extLst>
              <a:ext uri="{FF2B5EF4-FFF2-40B4-BE49-F238E27FC236}">
                <a16:creationId xmlns:a16="http://schemas.microsoft.com/office/drawing/2014/main" id="{AAB22D75-DE22-405C-BB06-F698E3277AD9}"/>
              </a:ext>
            </a:extLst>
          </p:cNvPr>
          <p:cNvCxnSpPr/>
          <p:nvPr/>
        </p:nvCxnSpPr>
        <p:spPr bwMode="auto">
          <a:xfrm flipV="1">
            <a:off x="4208401" y="3413330"/>
            <a:ext cx="1339588" cy="1"/>
          </a:xfrm>
          <a:prstGeom prst="line">
            <a:avLst/>
          </a:prstGeom>
          <a:noFill/>
          <a:ln w="28575" cap="flat" cmpd="sng" algn="ctr">
            <a:solidFill>
              <a:srgbClr val="FF0000"/>
            </a:solidFill>
            <a:prstDash val="solid"/>
            <a:round/>
            <a:headEnd type="none" w="med" len="med"/>
            <a:tailEnd type="none" w="med" len="med"/>
          </a:ln>
        </p:spPr>
      </p:cxnSp>
      <p:sp>
        <p:nvSpPr>
          <p:cNvPr id="43" name="TextBox 42">
            <a:extLst>
              <a:ext uri="{FF2B5EF4-FFF2-40B4-BE49-F238E27FC236}">
                <a16:creationId xmlns:a16="http://schemas.microsoft.com/office/drawing/2014/main" id="{1B1D46B3-4984-4410-8313-DE4013A3E149}"/>
              </a:ext>
            </a:extLst>
          </p:cNvPr>
          <p:cNvSpPr txBox="1"/>
          <p:nvPr/>
        </p:nvSpPr>
        <p:spPr>
          <a:xfrm>
            <a:off x="4114659" y="3509440"/>
            <a:ext cx="157607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dynamic arrays</a:t>
            </a:r>
          </a:p>
        </p:txBody>
      </p:sp>
    </p:spTree>
    <p:extLst>
      <p:ext uri="{BB962C8B-B14F-4D97-AF65-F5344CB8AC3E}">
        <p14:creationId xmlns:p14="http://schemas.microsoft.com/office/powerpoint/2010/main" val="2666390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5</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Frame Allocation</a:t>
            </a:r>
          </a:p>
        </p:txBody>
      </p:sp>
      <p:sp>
        <p:nvSpPr>
          <p:cNvPr id="6" name="Rectangle 2">
            <a:extLst>
              <a:ext uri="{FF2B5EF4-FFF2-40B4-BE49-F238E27FC236}">
                <a16:creationId xmlns:a16="http://schemas.microsoft.com/office/drawing/2014/main" id="{74E55A50-2122-44DA-A392-6450509BB35B}"/>
              </a:ext>
            </a:extLst>
          </p:cNvPr>
          <p:cNvSpPr>
            <a:spLocks noChangeArrowheads="1"/>
          </p:cNvSpPr>
          <p:nvPr/>
        </p:nvSpPr>
        <p:spPr bwMode="auto">
          <a:xfrm>
            <a:off x="3341008" y="776436"/>
            <a:ext cx="2114550" cy="3771900"/>
          </a:xfrm>
          <a:prstGeom prst="rect">
            <a:avLst/>
          </a:prstGeom>
          <a:solidFill>
            <a:schemeClr val="accent1"/>
          </a:solidFill>
          <a:ln w="12700">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defTabSz="685800" eaLnBrk="0" fontAlgn="base" hangingPunct="0">
              <a:spcBef>
                <a:spcPct val="0"/>
              </a:spcBef>
              <a:spcAft>
                <a:spcPct val="0"/>
              </a:spcAft>
              <a:buClrTx/>
              <a:buSzTx/>
              <a:buNone/>
            </a:pPr>
            <a:endParaRPr lang="zh-TW" altLang="en-US" sz="1350">
              <a:solidFill>
                <a:srgbClr val="FFFFFF"/>
              </a:solidFill>
              <a:ea typeface="新細明體" panose="02020500000000000000" pitchFamily="18" charset="-120"/>
            </a:endParaRPr>
          </a:p>
        </p:txBody>
      </p:sp>
      <p:sp>
        <p:nvSpPr>
          <p:cNvPr id="7" name="Line 3">
            <a:extLst>
              <a:ext uri="{FF2B5EF4-FFF2-40B4-BE49-F238E27FC236}">
                <a16:creationId xmlns:a16="http://schemas.microsoft.com/office/drawing/2014/main" id="{1ADF8854-A268-43C3-98FC-715FA49BB72A}"/>
              </a:ext>
            </a:extLst>
          </p:cNvPr>
          <p:cNvSpPr>
            <a:spLocks noChangeShapeType="1"/>
          </p:cNvSpPr>
          <p:nvPr/>
        </p:nvSpPr>
        <p:spPr bwMode="auto">
          <a:xfrm>
            <a:off x="3341008" y="249093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8" name="Line 4">
            <a:extLst>
              <a:ext uri="{FF2B5EF4-FFF2-40B4-BE49-F238E27FC236}">
                <a16:creationId xmlns:a16="http://schemas.microsoft.com/office/drawing/2014/main" id="{684F33CC-DAA1-449B-8206-93B929DA9C8D}"/>
              </a:ext>
            </a:extLst>
          </p:cNvPr>
          <p:cNvSpPr>
            <a:spLocks noChangeShapeType="1"/>
          </p:cNvSpPr>
          <p:nvPr/>
        </p:nvSpPr>
        <p:spPr bwMode="auto">
          <a:xfrm>
            <a:off x="3341008" y="289098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9" name="Line 5">
            <a:extLst>
              <a:ext uri="{FF2B5EF4-FFF2-40B4-BE49-F238E27FC236}">
                <a16:creationId xmlns:a16="http://schemas.microsoft.com/office/drawing/2014/main" id="{7224976B-7C47-4BDC-9C52-57D4BDEF1680}"/>
              </a:ext>
            </a:extLst>
          </p:cNvPr>
          <p:cNvSpPr>
            <a:spLocks noChangeShapeType="1"/>
          </p:cNvSpPr>
          <p:nvPr/>
        </p:nvSpPr>
        <p:spPr bwMode="auto">
          <a:xfrm>
            <a:off x="3341008" y="32910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0" name="Line 6">
            <a:extLst>
              <a:ext uri="{FF2B5EF4-FFF2-40B4-BE49-F238E27FC236}">
                <a16:creationId xmlns:a16="http://schemas.microsoft.com/office/drawing/2014/main" id="{52728759-FB8D-4024-8074-F0D46A4037F6}"/>
              </a:ext>
            </a:extLst>
          </p:cNvPr>
          <p:cNvSpPr>
            <a:spLocks noChangeShapeType="1"/>
          </p:cNvSpPr>
          <p:nvPr/>
        </p:nvSpPr>
        <p:spPr bwMode="auto">
          <a:xfrm>
            <a:off x="3341008" y="20908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1" name="Line 7">
            <a:extLst>
              <a:ext uri="{FF2B5EF4-FFF2-40B4-BE49-F238E27FC236}">
                <a16:creationId xmlns:a16="http://schemas.microsoft.com/office/drawing/2014/main" id="{40BF936A-09B5-4B7D-8F04-A8FD2BD251D3}"/>
              </a:ext>
            </a:extLst>
          </p:cNvPr>
          <p:cNvSpPr>
            <a:spLocks noChangeShapeType="1"/>
          </p:cNvSpPr>
          <p:nvPr/>
        </p:nvSpPr>
        <p:spPr bwMode="auto">
          <a:xfrm>
            <a:off x="3341008" y="17479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3" name="Line 8">
            <a:extLst>
              <a:ext uri="{FF2B5EF4-FFF2-40B4-BE49-F238E27FC236}">
                <a16:creationId xmlns:a16="http://schemas.microsoft.com/office/drawing/2014/main" id="{957BA69A-15B8-429B-9DE5-9A659AC5E986}"/>
              </a:ext>
            </a:extLst>
          </p:cNvPr>
          <p:cNvSpPr>
            <a:spLocks noChangeShapeType="1"/>
          </p:cNvSpPr>
          <p:nvPr/>
        </p:nvSpPr>
        <p:spPr bwMode="auto">
          <a:xfrm>
            <a:off x="3341008" y="14050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4" name="Line 9">
            <a:extLst>
              <a:ext uri="{FF2B5EF4-FFF2-40B4-BE49-F238E27FC236}">
                <a16:creationId xmlns:a16="http://schemas.microsoft.com/office/drawing/2014/main" id="{10311DE7-1DD2-4108-B757-7A959D2AFF94}"/>
              </a:ext>
            </a:extLst>
          </p:cNvPr>
          <p:cNvSpPr>
            <a:spLocks noChangeShapeType="1"/>
          </p:cNvSpPr>
          <p:nvPr/>
        </p:nvSpPr>
        <p:spPr bwMode="auto">
          <a:xfrm>
            <a:off x="3341008" y="35767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5" name="Text Box 10">
            <a:extLst>
              <a:ext uri="{FF2B5EF4-FFF2-40B4-BE49-F238E27FC236}">
                <a16:creationId xmlns:a16="http://schemas.microsoft.com/office/drawing/2014/main" id="{8CFEE223-17B9-4358-8167-551E6D414FFE}"/>
              </a:ext>
            </a:extLst>
          </p:cNvPr>
          <p:cNvSpPr txBox="1">
            <a:spLocks noChangeArrowheads="1"/>
          </p:cNvSpPr>
          <p:nvPr/>
        </p:nvSpPr>
        <p:spPr bwMode="auto">
          <a:xfrm>
            <a:off x="2256637" y="2474268"/>
            <a:ext cx="4411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fp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6" name="Line 11">
            <a:extLst>
              <a:ext uri="{FF2B5EF4-FFF2-40B4-BE49-F238E27FC236}">
                <a16:creationId xmlns:a16="http://schemas.microsoft.com/office/drawing/2014/main" id="{0E205A3A-FE49-4D85-A339-DAC066EF7E2F}"/>
              </a:ext>
            </a:extLst>
          </p:cNvPr>
          <p:cNvSpPr>
            <a:spLocks noChangeShapeType="1"/>
          </p:cNvSpPr>
          <p:nvPr/>
        </p:nvSpPr>
        <p:spPr bwMode="auto">
          <a:xfrm>
            <a:off x="2712358" y="2719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7" name="Line 12">
            <a:extLst>
              <a:ext uri="{FF2B5EF4-FFF2-40B4-BE49-F238E27FC236}">
                <a16:creationId xmlns:a16="http://schemas.microsoft.com/office/drawing/2014/main" id="{D4D5D4FC-921E-48A4-B2D0-CAB230793AF4}"/>
              </a:ext>
            </a:extLst>
          </p:cNvPr>
          <p:cNvSpPr>
            <a:spLocks noChangeShapeType="1"/>
          </p:cNvSpPr>
          <p:nvPr/>
        </p:nvSpPr>
        <p:spPr bwMode="auto">
          <a:xfrm>
            <a:off x="3341008" y="3862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8" name="Text Box 13">
            <a:extLst>
              <a:ext uri="{FF2B5EF4-FFF2-40B4-BE49-F238E27FC236}">
                <a16:creationId xmlns:a16="http://schemas.microsoft.com/office/drawing/2014/main" id="{E422CB82-E2A1-43A2-989F-2BEA4970C058}"/>
              </a:ext>
            </a:extLst>
          </p:cNvPr>
          <p:cNvSpPr txBox="1">
            <a:spLocks noChangeArrowheads="1"/>
          </p:cNvSpPr>
          <p:nvPr/>
        </p:nvSpPr>
        <p:spPr bwMode="auto">
          <a:xfrm>
            <a:off x="2254369" y="4131618"/>
            <a:ext cx="45878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sp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9" name="Line 14">
            <a:extLst>
              <a:ext uri="{FF2B5EF4-FFF2-40B4-BE49-F238E27FC236}">
                <a16:creationId xmlns:a16="http://schemas.microsoft.com/office/drawing/2014/main" id="{07FC4438-DED1-400A-BCD3-73D3980F0EAE}"/>
              </a:ext>
            </a:extLst>
          </p:cNvPr>
          <p:cNvSpPr>
            <a:spLocks noChangeShapeType="1"/>
          </p:cNvSpPr>
          <p:nvPr/>
        </p:nvSpPr>
        <p:spPr bwMode="auto">
          <a:xfrm>
            <a:off x="2826658" y="4434036"/>
            <a:ext cx="5143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0" name="Line 15">
            <a:extLst>
              <a:ext uri="{FF2B5EF4-FFF2-40B4-BE49-F238E27FC236}">
                <a16:creationId xmlns:a16="http://schemas.microsoft.com/office/drawing/2014/main" id="{28B713A6-A33D-45B0-9B84-E3BBF6F2FF25}"/>
              </a:ext>
            </a:extLst>
          </p:cNvPr>
          <p:cNvSpPr>
            <a:spLocks noChangeShapeType="1"/>
          </p:cNvSpPr>
          <p:nvPr/>
        </p:nvSpPr>
        <p:spPr bwMode="auto">
          <a:xfrm>
            <a:off x="3341008" y="4370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1" name="Text Box 16">
            <a:extLst>
              <a:ext uri="{FF2B5EF4-FFF2-40B4-BE49-F238E27FC236}">
                <a16:creationId xmlns:a16="http://schemas.microsoft.com/office/drawing/2014/main" id="{139FCA93-8E50-4309-94E5-C0844516E620}"/>
              </a:ext>
            </a:extLst>
          </p:cNvPr>
          <p:cNvSpPr txBox="1">
            <a:spLocks noChangeArrowheads="1"/>
          </p:cNvSpPr>
          <p:nvPr/>
        </p:nvSpPr>
        <p:spPr bwMode="auto">
          <a:xfrm>
            <a:off x="3846486" y="3805387"/>
            <a:ext cx="10631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saved reg</a:t>
            </a:r>
          </a:p>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or temps</a:t>
            </a:r>
          </a:p>
        </p:txBody>
      </p:sp>
      <p:sp>
        <p:nvSpPr>
          <p:cNvPr id="22" name="Text Box 17">
            <a:extLst>
              <a:ext uri="{FF2B5EF4-FFF2-40B4-BE49-F238E27FC236}">
                <a16:creationId xmlns:a16="http://schemas.microsoft.com/office/drawing/2014/main" id="{2C5C6F00-920A-4A4A-984A-C69F6031D311}"/>
              </a:ext>
            </a:extLst>
          </p:cNvPr>
          <p:cNvSpPr txBox="1">
            <a:spLocks noChangeArrowheads="1"/>
          </p:cNvSpPr>
          <p:nvPr/>
        </p:nvSpPr>
        <p:spPr bwMode="auto">
          <a:xfrm>
            <a:off x="3943548" y="2548086"/>
            <a:ext cx="7296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old fp</a:t>
            </a:r>
          </a:p>
        </p:txBody>
      </p:sp>
      <p:sp>
        <p:nvSpPr>
          <p:cNvPr id="23" name="Text Box 18">
            <a:extLst>
              <a:ext uri="{FF2B5EF4-FFF2-40B4-BE49-F238E27FC236}">
                <a16:creationId xmlns:a16="http://schemas.microsoft.com/office/drawing/2014/main" id="{A3DD3872-3EF0-4C5D-8F2F-BA809CB67560}"/>
              </a:ext>
            </a:extLst>
          </p:cNvPr>
          <p:cNvSpPr txBox="1">
            <a:spLocks noChangeArrowheads="1"/>
          </p:cNvSpPr>
          <p:nvPr/>
        </p:nvSpPr>
        <p:spPr bwMode="auto">
          <a:xfrm>
            <a:off x="3682515" y="2148036"/>
            <a:ext cx="148630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return address</a:t>
            </a:r>
          </a:p>
        </p:txBody>
      </p:sp>
      <p:sp>
        <p:nvSpPr>
          <p:cNvPr id="24" name="Text Box 19">
            <a:extLst>
              <a:ext uri="{FF2B5EF4-FFF2-40B4-BE49-F238E27FC236}">
                <a16:creationId xmlns:a16="http://schemas.microsoft.com/office/drawing/2014/main" id="{0609E3A1-552B-4555-BCA6-28067BD2200A}"/>
              </a:ext>
            </a:extLst>
          </p:cNvPr>
          <p:cNvSpPr txBox="1">
            <a:spLocks noChangeArrowheads="1"/>
          </p:cNvSpPr>
          <p:nvPr/>
        </p:nvSpPr>
        <p:spPr bwMode="auto">
          <a:xfrm>
            <a:off x="3842147" y="1747986"/>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1</a:t>
            </a:r>
          </a:p>
        </p:txBody>
      </p:sp>
      <p:sp>
        <p:nvSpPr>
          <p:cNvPr id="25" name="Text Box 20">
            <a:extLst>
              <a:ext uri="{FF2B5EF4-FFF2-40B4-BE49-F238E27FC236}">
                <a16:creationId xmlns:a16="http://schemas.microsoft.com/office/drawing/2014/main" id="{D23F1EFE-3351-476D-9761-326C4A2B02B8}"/>
              </a:ext>
            </a:extLst>
          </p:cNvPr>
          <p:cNvSpPr txBox="1">
            <a:spLocks noChangeArrowheads="1"/>
          </p:cNvSpPr>
          <p:nvPr/>
        </p:nvSpPr>
        <p:spPr bwMode="auto">
          <a:xfrm>
            <a:off x="3842147" y="1333037"/>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2</a:t>
            </a:r>
          </a:p>
        </p:txBody>
      </p:sp>
      <p:sp>
        <p:nvSpPr>
          <p:cNvPr id="26" name="Text Box 21">
            <a:extLst>
              <a:ext uri="{FF2B5EF4-FFF2-40B4-BE49-F238E27FC236}">
                <a16:creationId xmlns:a16="http://schemas.microsoft.com/office/drawing/2014/main" id="{6ACF8969-6C9F-49DB-982E-EEF488E6C1F5}"/>
              </a:ext>
            </a:extLst>
          </p:cNvPr>
          <p:cNvSpPr txBox="1">
            <a:spLocks noChangeArrowheads="1"/>
          </p:cNvSpPr>
          <p:nvPr/>
        </p:nvSpPr>
        <p:spPr bwMode="auto">
          <a:xfrm>
            <a:off x="6142414" y="2890986"/>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7" name="Line 22">
            <a:extLst>
              <a:ext uri="{FF2B5EF4-FFF2-40B4-BE49-F238E27FC236}">
                <a16:creationId xmlns:a16="http://schemas.microsoft.com/office/drawing/2014/main" id="{55A46CCB-9649-4039-A929-337668D5FBC2}"/>
              </a:ext>
            </a:extLst>
          </p:cNvPr>
          <p:cNvSpPr>
            <a:spLocks noChangeShapeType="1"/>
          </p:cNvSpPr>
          <p:nvPr/>
        </p:nvSpPr>
        <p:spPr bwMode="auto">
          <a:xfrm flipH="1">
            <a:off x="5455558" y="3062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8" name="Text Box 23">
            <a:extLst>
              <a:ext uri="{FF2B5EF4-FFF2-40B4-BE49-F238E27FC236}">
                <a16:creationId xmlns:a16="http://schemas.microsoft.com/office/drawing/2014/main" id="{A4BA8AA3-AD5A-4C00-8162-515A85CDD75A}"/>
              </a:ext>
            </a:extLst>
          </p:cNvPr>
          <p:cNvSpPr txBox="1">
            <a:spLocks noChangeArrowheads="1"/>
          </p:cNvSpPr>
          <p:nvPr/>
        </p:nvSpPr>
        <p:spPr bwMode="auto">
          <a:xfrm>
            <a:off x="6173115" y="214803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9" name="Line 24">
            <a:extLst>
              <a:ext uri="{FF2B5EF4-FFF2-40B4-BE49-F238E27FC236}">
                <a16:creationId xmlns:a16="http://schemas.microsoft.com/office/drawing/2014/main" id="{BC3D1693-7D64-492E-95E6-2DBC8DA9727F}"/>
              </a:ext>
            </a:extLst>
          </p:cNvPr>
          <p:cNvSpPr>
            <a:spLocks noChangeShapeType="1"/>
          </p:cNvSpPr>
          <p:nvPr/>
        </p:nvSpPr>
        <p:spPr bwMode="auto">
          <a:xfrm flipH="1" flipV="1">
            <a:off x="5403656" y="2307282"/>
            <a:ext cx="737702" cy="12204"/>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0" name="Text Box 25">
            <a:extLst>
              <a:ext uri="{FF2B5EF4-FFF2-40B4-BE49-F238E27FC236}">
                <a16:creationId xmlns:a16="http://schemas.microsoft.com/office/drawing/2014/main" id="{5D4D5FDB-D467-4439-8179-0267CEFEA48D}"/>
              </a:ext>
            </a:extLst>
          </p:cNvPr>
          <p:cNvSpPr txBox="1">
            <a:spLocks noChangeArrowheads="1"/>
          </p:cNvSpPr>
          <p:nvPr/>
        </p:nvSpPr>
        <p:spPr bwMode="auto">
          <a:xfrm>
            <a:off x="6130472" y="3314338"/>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1" name="Line 26">
            <a:extLst>
              <a:ext uri="{FF2B5EF4-FFF2-40B4-BE49-F238E27FC236}">
                <a16:creationId xmlns:a16="http://schemas.microsoft.com/office/drawing/2014/main" id="{BEFE3B7E-B065-4516-8CFF-952AA66F2B6F}"/>
              </a:ext>
            </a:extLst>
          </p:cNvPr>
          <p:cNvSpPr>
            <a:spLocks noChangeShapeType="1"/>
          </p:cNvSpPr>
          <p:nvPr/>
        </p:nvSpPr>
        <p:spPr bwMode="auto">
          <a:xfrm flipH="1">
            <a:off x="5455558" y="346248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2" name="Text Box 27">
            <a:extLst>
              <a:ext uri="{FF2B5EF4-FFF2-40B4-BE49-F238E27FC236}">
                <a16:creationId xmlns:a16="http://schemas.microsoft.com/office/drawing/2014/main" id="{AF426A2C-DD96-4AFC-B21E-BD912D3A5538}"/>
              </a:ext>
            </a:extLst>
          </p:cNvPr>
          <p:cNvSpPr txBox="1">
            <a:spLocks noChangeArrowheads="1"/>
          </p:cNvSpPr>
          <p:nvPr/>
        </p:nvSpPr>
        <p:spPr bwMode="auto">
          <a:xfrm>
            <a:off x="6115965" y="174798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3" name="Line 28">
            <a:extLst>
              <a:ext uri="{FF2B5EF4-FFF2-40B4-BE49-F238E27FC236}">
                <a16:creationId xmlns:a16="http://schemas.microsoft.com/office/drawing/2014/main" id="{2EFA1294-86D4-4CB6-8AD7-36FBECA8BDF0}"/>
              </a:ext>
            </a:extLst>
          </p:cNvPr>
          <p:cNvSpPr>
            <a:spLocks noChangeShapeType="1"/>
          </p:cNvSpPr>
          <p:nvPr/>
        </p:nvSpPr>
        <p:spPr bwMode="auto">
          <a:xfrm flipH="1">
            <a:off x="5455558" y="1919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4" name="Text Box 29">
            <a:extLst>
              <a:ext uri="{FF2B5EF4-FFF2-40B4-BE49-F238E27FC236}">
                <a16:creationId xmlns:a16="http://schemas.microsoft.com/office/drawing/2014/main" id="{1D8D7CFD-3CDD-4703-955A-60EE64EAB085}"/>
              </a:ext>
            </a:extLst>
          </p:cNvPr>
          <p:cNvSpPr txBox="1">
            <a:spLocks noChangeArrowheads="1"/>
          </p:cNvSpPr>
          <p:nvPr/>
        </p:nvSpPr>
        <p:spPr bwMode="auto">
          <a:xfrm>
            <a:off x="6058257" y="1405086"/>
            <a:ext cx="73770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fp+12</a:t>
            </a:r>
          </a:p>
        </p:txBody>
      </p:sp>
      <p:sp>
        <p:nvSpPr>
          <p:cNvPr id="35" name="Line 30">
            <a:extLst>
              <a:ext uri="{FF2B5EF4-FFF2-40B4-BE49-F238E27FC236}">
                <a16:creationId xmlns:a16="http://schemas.microsoft.com/office/drawing/2014/main" id="{C28E4D05-ABC5-4380-B87E-AC4424879318}"/>
              </a:ext>
            </a:extLst>
          </p:cNvPr>
          <p:cNvSpPr>
            <a:spLocks noChangeShapeType="1"/>
          </p:cNvSpPr>
          <p:nvPr/>
        </p:nvSpPr>
        <p:spPr bwMode="auto">
          <a:xfrm flipH="1">
            <a:off x="5455558" y="1576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6" name="Text Box 31">
            <a:extLst>
              <a:ext uri="{FF2B5EF4-FFF2-40B4-BE49-F238E27FC236}">
                <a16:creationId xmlns:a16="http://schemas.microsoft.com/office/drawing/2014/main" id="{7EE953DA-7A7B-49F8-BA14-D180A67254AE}"/>
              </a:ext>
            </a:extLst>
          </p:cNvPr>
          <p:cNvSpPr txBox="1">
            <a:spLocks noChangeArrowheads="1"/>
          </p:cNvSpPr>
          <p:nvPr/>
        </p:nvSpPr>
        <p:spPr bwMode="auto">
          <a:xfrm>
            <a:off x="3885430" y="29481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1</a:t>
            </a:r>
          </a:p>
        </p:txBody>
      </p:sp>
      <p:sp>
        <p:nvSpPr>
          <p:cNvPr id="37" name="Text Box 32">
            <a:extLst>
              <a:ext uri="{FF2B5EF4-FFF2-40B4-BE49-F238E27FC236}">
                <a16:creationId xmlns:a16="http://schemas.microsoft.com/office/drawing/2014/main" id="{D1681DBB-7F17-4825-82D0-EAB9726D88E2}"/>
              </a:ext>
            </a:extLst>
          </p:cNvPr>
          <p:cNvSpPr txBox="1">
            <a:spLocks noChangeArrowheads="1"/>
          </p:cNvSpPr>
          <p:nvPr/>
        </p:nvSpPr>
        <p:spPr bwMode="auto">
          <a:xfrm>
            <a:off x="3942580" y="32910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2</a:t>
            </a:r>
          </a:p>
        </p:txBody>
      </p:sp>
      <p:sp>
        <p:nvSpPr>
          <p:cNvPr id="38" name="Text Box 34">
            <a:extLst>
              <a:ext uri="{FF2B5EF4-FFF2-40B4-BE49-F238E27FC236}">
                <a16:creationId xmlns:a16="http://schemas.microsoft.com/office/drawing/2014/main" id="{23D2551C-E0E2-4AAD-A875-6ACD8B0478B8}"/>
              </a:ext>
            </a:extLst>
          </p:cNvPr>
          <p:cNvSpPr txBox="1">
            <a:spLocks noChangeArrowheads="1"/>
          </p:cNvSpPr>
          <p:nvPr/>
        </p:nvSpPr>
        <p:spPr bwMode="auto">
          <a:xfrm>
            <a:off x="1485586" y="947886"/>
            <a:ext cx="83548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100" dirty="0">
                <a:solidFill>
                  <a:srgbClr val="FF0000"/>
                </a:solidFill>
                <a:latin typeface="Times New Roman" panose="02020603050405020304" pitchFamily="18" charset="0"/>
                <a:ea typeface="新細明體" panose="02020500000000000000" pitchFamily="18" charset="-120"/>
              </a:rPr>
              <a:t>old </a:t>
            </a:r>
            <a:r>
              <a:rPr lang="en-US" altLang="zh-TW" sz="2100" dirty="0" err="1">
                <a:solidFill>
                  <a:srgbClr val="FF0000"/>
                </a:solidFill>
                <a:latin typeface="Times New Roman" panose="02020603050405020304" pitchFamily="18" charset="0"/>
                <a:ea typeface="新細明體" panose="02020500000000000000" pitchFamily="18" charset="-120"/>
              </a:rPr>
              <a:t>sp</a:t>
            </a:r>
            <a:endParaRPr lang="en-US" altLang="zh-TW" sz="2100" dirty="0">
              <a:solidFill>
                <a:srgbClr val="FF0000"/>
              </a:solidFill>
              <a:latin typeface="Times New Roman" panose="02020603050405020304" pitchFamily="18" charset="0"/>
              <a:ea typeface="新細明體" panose="02020500000000000000" pitchFamily="18" charset="-120"/>
            </a:endParaRPr>
          </a:p>
        </p:txBody>
      </p:sp>
      <p:sp>
        <p:nvSpPr>
          <p:cNvPr id="39" name="Line 35">
            <a:extLst>
              <a:ext uri="{FF2B5EF4-FFF2-40B4-BE49-F238E27FC236}">
                <a16:creationId xmlns:a16="http://schemas.microsoft.com/office/drawing/2014/main" id="{A3EE8739-7609-498D-9137-C6E72F7148B1}"/>
              </a:ext>
            </a:extLst>
          </p:cNvPr>
          <p:cNvSpPr>
            <a:spLocks noChangeShapeType="1"/>
          </p:cNvSpPr>
          <p:nvPr/>
        </p:nvSpPr>
        <p:spPr bwMode="auto">
          <a:xfrm>
            <a:off x="2312308" y="1119336"/>
            <a:ext cx="9715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 name="Rectangle 1">
            <a:extLst>
              <a:ext uri="{FF2B5EF4-FFF2-40B4-BE49-F238E27FC236}">
                <a16:creationId xmlns:a16="http://schemas.microsoft.com/office/drawing/2014/main" id="{F915003B-809B-4694-B63B-F292182045BB}"/>
              </a:ext>
            </a:extLst>
          </p:cNvPr>
          <p:cNvSpPr/>
          <p:nvPr/>
        </p:nvSpPr>
        <p:spPr bwMode="auto">
          <a:xfrm>
            <a:off x="2971800" y="2490936"/>
            <a:ext cx="2831194" cy="2057400"/>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3"/>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4"/>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6</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199" y="0"/>
            <a:ext cx="7728857"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200" dirty="0">
                <a:effectLst/>
                <a:ea typeface="新細明體" pitchFamily="18" charset="-120"/>
              </a:rPr>
              <a:t>How is Procedure Call Supported in RV</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783770"/>
            <a:ext cx="8055428" cy="3731079"/>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Lots of stack accesses during the procedure call</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Parameter passing</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address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Save/Restore registers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value</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RISC-V relies on a software </a:t>
            </a:r>
            <a:r>
              <a:rPr lang="en-US" altLang="zh-TW" sz="2400" i="1" dirty="0">
                <a:solidFill>
                  <a:srgbClr val="FF0000"/>
                </a:solidFill>
                <a:effectLst/>
                <a:latin typeface="Times New Roman" panose="02020603050405020304" pitchFamily="18" charset="0"/>
                <a:ea typeface="新細明體" pitchFamily="18" charset="-120"/>
                <a:cs typeface="Times New Roman" panose="02020603050405020304" pitchFamily="18" charset="0"/>
              </a:rPr>
              <a:t>calling convention </a:t>
            </a:r>
            <a:r>
              <a:rPr lang="en-US" altLang="zh-TW" sz="2000" dirty="0">
                <a:effectLst/>
                <a:latin typeface="Times New Roman" panose="02020603050405020304" pitchFamily="18" charset="0"/>
                <a:ea typeface="新細明體" pitchFamily="18" charset="-120"/>
                <a:cs typeface="Times New Roman" panose="02020603050405020304" pitchFamily="18" charset="0"/>
              </a:rPr>
              <a:t>to make efficient use of registers to replace stack references</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Software convention is a set of established practices or guidelines software developers follow. If you adhere to the calling convention, your code can work with other software components such as external libraries, APIs, and middleware. </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 If your code is self-sufficient, no need to follow the convention.</a:t>
            </a:r>
          </a:p>
        </p:txBody>
      </p:sp>
    </p:spTree>
    <p:extLst>
      <p:ext uri="{BB962C8B-B14F-4D97-AF65-F5344CB8AC3E}">
        <p14:creationId xmlns:p14="http://schemas.microsoft.com/office/powerpoint/2010/main" val="384317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7</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Calling Convention</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is an implementation scheme for how subroutines receive parameters, how they return results. How to set up for a function call and how to clean up the environment afterward.</a:t>
            </a:r>
          </a:p>
          <a:p>
            <a:pPr algn="l" eaLnBrk="1" hangingPunct="1">
              <a:defRPr/>
            </a:pPr>
            <a:endParaRPr lang="en-US" altLang="zh-TW" sz="1800" dirty="0">
              <a:effectLst/>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involves</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Parameters, return values/addresses </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 passing</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Stack set up and clean up</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Save/restore previous frame pointer</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Caller/</a:t>
            </a:r>
            <a:r>
              <a:rPr lang="en-US" altLang="zh-TW" sz="1800" dirty="0" err="1">
                <a:effectLst/>
                <a:ea typeface="新細明體" pitchFamily="18" charset="-120"/>
              </a:rPr>
              <a:t>Callee</a:t>
            </a:r>
            <a:r>
              <a:rPr lang="en-US" altLang="zh-TW" sz="1800" dirty="0">
                <a:effectLst/>
                <a:ea typeface="新細明體" pitchFamily="18" charset="-120"/>
              </a:rPr>
              <a:t> save registers</a:t>
            </a:r>
          </a:p>
          <a:p>
            <a:pPr marL="685800" lvl="1" indent="-342900" algn="l" eaLnBrk="1" hangingPunct="1">
              <a:buFont typeface="Wingdings" panose="05000000000000000000" pitchFamily="2" charset="2"/>
              <a:buChar char="§"/>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endParaRPr lang="en-US" altLang="zh-TW" sz="2100" dirty="0">
              <a:ea typeface="新細明體" pitchFamily="18" charset="-120"/>
            </a:endParaRPr>
          </a:p>
        </p:txBody>
      </p:sp>
    </p:spTree>
    <p:extLst>
      <p:ext uri="{BB962C8B-B14F-4D97-AF65-F5344CB8AC3E}">
        <p14:creationId xmlns:p14="http://schemas.microsoft.com/office/powerpoint/2010/main" val="3924666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8</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523694643"/>
              </p:ext>
            </p:extLst>
          </p:nvPr>
        </p:nvGraphicFramePr>
        <p:xfrm>
          <a:off x="2457450" y="514350"/>
          <a:ext cx="4114800" cy="4046940"/>
        </p:xfrm>
        <a:graphic>
          <a:graphicData uri="http://schemas.openxmlformats.org/drawingml/2006/table">
            <a:tbl>
              <a:tblPr/>
              <a:tblGrid>
                <a:gridCol w="2057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Register Number</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cxnSp>
        <p:nvCxnSpPr>
          <p:cNvPr id="4" name="Straight Arrow Connector 3">
            <a:extLst>
              <a:ext uri="{FF2B5EF4-FFF2-40B4-BE49-F238E27FC236}">
                <a16:creationId xmlns:a16="http://schemas.microsoft.com/office/drawing/2014/main" id="{1A10491C-6F0E-4759-B05E-A66729B80E11}"/>
              </a:ext>
            </a:extLst>
          </p:cNvPr>
          <p:cNvCxnSpPr/>
          <p:nvPr/>
        </p:nvCxnSpPr>
        <p:spPr bwMode="auto">
          <a:xfrm>
            <a:off x="1574800" y="1255486"/>
            <a:ext cx="1255486" cy="0"/>
          </a:xfrm>
          <a:prstGeom prst="straightConnector1">
            <a:avLst/>
          </a:prstGeom>
          <a:noFill/>
          <a:ln w="38100" cap="flat" cmpd="sng" algn="ctr">
            <a:solidFill>
              <a:srgbClr val="FF0000"/>
            </a:solidFill>
            <a:prstDash val="solid"/>
            <a:round/>
            <a:headEnd type="none" w="med" len="med"/>
            <a:tailEnd type="triangle"/>
          </a:ln>
        </p:spPr>
      </p:cxnSp>
      <p:cxnSp>
        <p:nvCxnSpPr>
          <p:cNvPr id="8" name="Straight Arrow Connector 7">
            <a:extLst>
              <a:ext uri="{FF2B5EF4-FFF2-40B4-BE49-F238E27FC236}">
                <a16:creationId xmlns:a16="http://schemas.microsoft.com/office/drawing/2014/main" id="{357E6135-011E-414F-9470-59A461A609E3}"/>
              </a:ext>
            </a:extLst>
          </p:cNvPr>
          <p:cNvCxnSpPr/>
          <p:nvPr/>
        </p:nvCxnSpPr>
        <p:spPr bwMode="auto">
          <a:xfrm>
            <a:off x="1509486" y="3468915"/>
            <a:ext cx="1255486" cy="0"/>
          </a:xfrm>
          <a:prstGeom prst="straightConnector1">
            <a:avLst/>
          </a:prstGeom>
          <a:noFill/>
          <a:ln w="38100" cap="flat" cmpd="sng" algn="ctr">
            <a:solidFill>
              <a:srgbClr val="FF0000"/>
            </a:solidFill>
            <a:prstDash val="solid"/>
            <a:round/>
            <a:headEnd type="none" w="med" len="med"/>
            <a:tailEnd type="triangle"/>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9</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3408218022"/>
              </p:ext>
            </p:extLst>
          </p:nvPr>
        </p:nvGraphicFramePr>
        <p:xfrm>
          <a:off x="457200" y="636979"/>
          <a:ext cx="6679407" cy="4046940"/>
        </p:xfrm>
        <a:graphic>
          <a:graphicData uri="http://schemas.openxmlformats.org/drawingml/2006/table">
            <a:tbl>
              <a:tblPr/>
              <a:tblGrid>
                <a:gridCol w="2226469">
                  <a:extLst>
                    <a:ext uri="{9D8B030D-6E8A-4147-A177-3AD203B41FA5}">
                      <a16:colId xmlns:a16="http://schemas.microsoft.com/office/drawing/2014/main" val="20000"/>
                    </a:ext>
                  </a:extLst>
                </a:gridCol>
                <a:gridCol w="2226469">
                  <a:extLst>
                    <a:ext uri="{9D8B030D-6E8A-4147-A177-3AD203B41FA5}">
                      <a16:colId xmlns:a16="http://schemas.microsoft.com/office/drawing/2014/main" val="3963888598"/>
                    </a:ext>
                  </a:extLst>
                </a:gridCol>
                <a:gridCol w="2226469">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RV Registers</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ABI registers </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ra</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gp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a0-a7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t0-t6</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s0-s11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spTree>
    <p:extLst>
      <p:ext uri="{BB962C8B-B14F-4D97-AF65-F5344CB8AC3E}">
        <p14:creationId xmlns:p14="http://schemas.microsoft.com/office/powerpoint/2010/main" val="252936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10</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Caller-saved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These registers are expected to be preserved by the caller (the function making the call) if their values need to be retained across the function call.</a:t>
            </a:r>
          </a:p>
          <a:p>
            <a:pPr algn="l" eaLnBrk="1" hangingPunct="1">
              <a:defRPr/>
            </a:pPr>
            <a:r>
              <a:rPr lang="en-US" altLang="zh-TW" sz="2000" dirty="0">
                <a:effectLst/>
                <a:ea typeface="新細明體" pitchFamily="18" charset="-120"/>
              </a:rPr>
              <a:t>The callee (the called function) can modify these registers without any obligation to restore their original values.</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caller-saved registers are typically:</a:t>
            </a:r>
          </a:p>
          <a:p>
            <a:pPr algn="l" eaLnBrk="1" hangingPunct="1">
              <a:defRPr/>
            </a:pPr>
            <a:r>
              <a:rPr lang="en-US" altLang="zh-TW" sz="2000" dirty="0">
                <a:effectLst/>
                <a:ea typeface="新細明體" pitchFamily="18" charset="-120"/>
              </a:rPr>
              <a:t>	t0-t6 (temporary registers) </a:t>
            </a:r>
            <a:r>
              <a:rPr lang="en-US" altLang="zh-TW" sz="2000" dirty="0">
                <a:effectLst/>
                <a:ea typeface="新細明體" pitchFamily="18" charset="-120"/>
                <a:sym typeface="Wingdings" panose="05000000000000000000" pitchFamily="2" charset="2"/>
              </a:rPr>
              <a:t> </a:t>
            </a:r>
            <a:r>
              <a:rPr lang="en-US" altLang="zh-TW" sz="2000" dirty="0">
                <a:effectLst/>
                <a:ea typeface="新細明體" pitchFamily="18" charset="-120"/>
              </a:rPr>
              <a:t>x5-x7,x28-x31 </a:t>
            </a:r>
          </a:p>
          <a:p>
            <a:pPr algn="l" eaLnBrk="1" hangingPunct="1">
              <a:defRPr/>
            </a:pPr>
            <a:r>
              <a:rPr lang="en-US" altLang="zh-TW" sz="2000" dirty="0">
                <a:effectLst/>
                <a:ea typeface="新細明體" pitchFamily="18" charset="-120"/>
              </a:rPr>
              <a:t>	a0-a7 (argument/return value registers) </a:t>
            </a:r>
            <a:r>
              <a:rPr lang="en-US" altLang="zh-TW" sz="2000" dirty="0">
                <a:effectLst/>
                <a:ea typeface="新細明體" pitchFamily="18" charset="-120"/>
                <a:sym typeface="Wingdings" panose="05000000000000000000" pitchFamily="2" charset="2"/>
              </a:rPr>
              <a:t> x10-x17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ra (return address register) </a:t>
            </a:r>
            <a:r>
              <a:rPr lang="en-US" altLang="zh-TW" sz="2000" dirty="0">
                <a:effectLst/>
                <a:ea typeface="新細明體" pitchFamily="18" charset="-120"/>
                <a:sym typeface="Wingdings" panose="05000000000000000000" pitchFamily="2" charset="2"/>
              </a:rPr>
              <a:t></a:t>
            </a:r>
            <a:r>
              <a:rPr lang="en-US" altLang="zh-TW" sz="2000" dirty="0">
                <a:effectLst/>
                <a:ea typeface="新細明體" pitchFamily="18" charset="-120"/>
              </a:rPr>
              <a:t> x1</a:t>
            </a:r>
          </a:p>
        </p:txBody>
      </p:sp>
    </p:spTree>
    <p:extLst>
      <p:ext uri="{BB962C8B-B14F-4D97-AF65-F5344CB8AC3E}">
        <p14:creationId xmlns:p14="http://schemas.microsoft.com/office/powerpoint/2010/main" val="4141430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11</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Callee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Callee-saved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 callee expects these registers to be preserved if modified during the function execution.</a:t>
            </a:r>
          </a:p>
          <a:p>
            <a:pPr algn="l" eaLnBrk="1" hangingPunct="1">
              <a:defRPr/>
            </a:pPr>
            <a:r>
              <a:rPr lang="en-US" altLang="zh-TW" sz="2000" dirty="0">
                <a:effectLst/>
                <a:ea typeface="新細明體" pitchFamily="18" charset="-120"/>
              </a:rPr>
              <a:t>The callee must save the original values of these registers upon entry (typically by pushing them onto the stack) and restore them before returning to the caller.</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callee-saved registers are typically:</a:t>
            </a:r>
          </a:p>
          <a:p>
            <a:pPr algn="l" eaLnBrk="1" hangingPunct="1">
              <a:defRPr/>
            </a:pPr>
            <a:r>
              <a:rPr lang="en-US" altLang="zh-TW" sz="2000" dirty="0">
                <a:effectLst/>
                <a:ea typeface="新細明體" pitchFamily="18" charset="-120"/>
              </a:rPr>
              <a:t>	s0-s11 (saved registers)	</a:t>
            </a:r>
            <a:r>
              <a:rPr lang="en-US" altLang="zh-TW" sz="2000" dirty="0">
                <a:effectLst/>
                <a:ea typeface="新細明體" pitchFamily="18" charset="-120"/>
                <a:sym typeface="Wingdings" panose="05000000000000000000" pitchFamily="2" charset="2"/>
              </a:rPr>
              <a:t> x8-x9, x18-x27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a:t>
            </a:r>
            <a:r>
              <a:rPr lang="en-US" altLang="zh-TW" sz="2000" dirty="0" err="1">
                <a:effectLst/>
                <a:ea typeface="新細明體" pitchFamily="18" charset="-120"/>
              </a:rPr>
              <a:t>sp</a:t>
            </a:r>
            <a:r>
              <a:rPr lang="en-US" altLang="zh-TW" sz="2000" dirty="0">
                <a:effectLst/>
                <a:ea typeface="新細明體" pitchFamily="18" charset="-120"/>
              </a:rPr>
              <a:t> (stack pointer) </a:t>
            </a:r>
            <a:r>
              <a:rPr lang="en-US" altLang="zh-TW" sz="2000" dirty="0">
                <a:effectLst/>
                <a:ea typeface="新細明體" pitchFamily="18" charset="-120"/>
                <a:sym typeface="Wingdings" panose="05000000000000000000" pitchFamily="2" charset="2"/>
              </a:rPr>
              <a:t> x2</a:t>
            </a:r>
            <a:endParaRPr lang="en-US" altLang="zh-TW" sz="2000" dirty="0">
              <a:effectLst/>
              <a:ea typeface="新細明體" pitchFamily="18" charset="-120"/>
            </a:endParaRPr>
          </a:p>
        </p:txBody>
      </p:sp>
    </p:spTree>
    <p:extLst>
      <p:ext uri="{BB962C8B-B14F-4D97-AF65-F5344CB8AC3E}">
        <p14:creationId xmlns:p14="http://schemas.microsoft.com/office/powerpoint/2010/main" val="2060949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12</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What registers must be saved?</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9030" y="850106"/>
            <a:ext cx="8461828" cy="3769519"/>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000" dirty="0">
                <a:effectLst/>
                <a:ea typeface="新細明體" pitchFamily="18" charset="-120"/>
              </a:rPr>
              <a:t>int </a:t>
            </a:r>
            <a:r>
              <a:rPr lang="en-US" altLang="zh-TW" sz="2000" dirty="0" err="1">
                <a:effectLst/>
                <a:ea typeface="新細明體" pitchFamily="18" charset="-120"/>
              </a:rPr>
              <a:t>funct_A</a:t>
            </a:r>
            <a:r>
              <a:rPr lang="en-US" altLang="zh-TW" sz="2000" dirty="0">
                <a:effectLst/>
                <a:ea typeface="新細明體" pitchFamily="18" charset="-120"/>
              </a:rPr>
              <a:t>(int a, int b;) {</a:t>
            </a:r>
          </a:p>
          <a:p>
            <a:pPr algn="l" eaLnBrk="1" hangingPunct="1">
              <a:defRPr/>
            </a:pPr>
            <a:r>
              <a:rPr lang="en-US" altLang="zh-TW" sz="2000" dirty="0">
                <a:effectLst/>
                <a:ea typeface="新細明體" pitchFamily="18" charset="-120"/>
              </a:rPr>
              <a:t>	int </a:t>
            </a:r>
            <a:r>
              <a:rPr lang="en-US" altLang="zh-TW" sz="2000" dirty="0" err="1">
                <a:effectLst/>
                <a:ea typeface="新細明體" pitchFamily="18" charset="-120"/>
              </a:rPr>
              <a:t>x,y</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x = </a:t>
            </a:r>
            <a:r>
              <a:rPr lang="en-US" altLang="zh-TW" sz="2000" dirty="0" err="1">
                <a:effectLst/>
                <a:ea typeface="新細明體" pitchFamily="18" charset="-120"/>
              </a:rPr>
              <a:t>funct_B</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y = </a:t>
            </a:r>
            <a:r>
              <a:rPr lang="en-US" altLang="zh-TW" sz="2000" dirty="0" err="1">
                <a:effectLst/>
                <a:ea typeface="新細明體" pitchFamily="18" charset="-120"/>
              </a:rPr>
              <a:t>funct_C</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a = x + y;</a:t>
            </a:r>
          </a:p>
          <a:p>
            <a:pPr algn="l" eaLnBrk="1" hangingPunct="1">
              <a:defRPr/>
            </a:pPr>
            <a:r>
              <a:rPr lang="en-US" altLang="zh-TW" sz="2000" dirty="0">
                <a:effectLst/>
                <a:ea typeface="新細明體" pitchFamily="18" charset="-120"/>
              </a:rPr>
              <a:t>	….}</a:t>
            </a:r>
          </a:p>
          <a:p>
            <a:pPr algn="l" eaLnBrk="1" hangingPunct="1">
              <a:defRPr/>
            </a:pPr>
            <a:r>
              <a:rPr lang="en-US" altLang="zh-TW" sz="1800" dirty="0">
                <a:effectLst/>
                <a:ea typeface="新細明體" pitchFamily="18" charset="-120"/>
              </a:rPr>
              <a:t>The local variable </a:t>
            </a:r>
            <a:r>
              <a:rPr lang="en-US" altLang="zh-TW" sz="1800" b="1" i="1" dirty="0">
                <a:effectLst/>
                <a:ea typeface="新細明體" pitchFamily="18" charset="-120"/>
              </a:rPr>
              <a:t>x</a:t>
            </a:r>
            <a:r>
              <a:rPr lang="en-US" altLang="zh-TW" sz="1800" dirty="0">
                <a:effectLst/>
                <a:ea typeface="新細明體" pitchFamily="18" charset="-120"/>
              </a:rPr>
              <a:t> may be allocated to a register. If it is assigned to a register in the range of t0-t6, it must be saved and restored during a call to the function </a:t>
            </a:r>
            <a:r>
              <a:rPr lang="en-US" altLang="zh-TW" sz="1800" dirty="0" err="1">
                <a:effectLst/>
                <a:ea typeface="新細明體" pitchFamily="18" charset="-120"/>
              </a:rPr>
              <a:t>funct_C</a:t>
            </a:r>
            <a:r>
              <a:rPr lang="en-US" altLang="zh-TW" sz="1800" dirty="0">
                <a:effectLst/>
                <a:ea typeface="新細明體" pitchFamily="18" charset="-120"/>
              </a:rPr>
              <a:t>(), since these are classified as "caller-save" registers. Conversely, if the register is within the range of s0-s11, it is considered a "callee-saved" register. In this case, there is no need to save or restore it across the call to </a:t>
            </a:r>
            <a:r>
              <a:rPr lang="en-US" altLang="zh-TW" sz="1800" dirty="0" err="1">
                <a:effectLst/>
                <a:ea typeface="新細明體" pitchFamily="18" charset="-120"/>
              </a:rPr>
              <a:t>funct_C</a:t>
            </a:r>
            <a:r>
              <a:rPr lang="en-US" altLang="zh-TW" sz="1800" dirty="0">
                <a:effectLst/>
                <a:ea typeface="新細明體" pitchFamily="18" charset="-120"/>
              </a:rPr>
              <a:t>() because the function will take care of saving and restoring it.</a:t>
            </a:r>
            <a:r>
              <a:rPr lang="en-US" altLang="zh-TW" sz="2000" dirty="0">
                <a:effectLst/>
                <a:ea typeface="新細明體" pitchFamily="18" charset="-120"/>
              </a:rPr>
              <a:t>	</a:t>
            </a:r>
          </a:p>
        </p:txBody>
      </p:sp>
    </p:spTree>
    <p:extLst>
      <p:ext uri="{BB962C8B-B14F-4D97-AF65-F5344CB8AC3E}">
        <p14:creationId xmlns:p14="http://schemas.microsoft.com/office/powerpoint/2010/main" val="1876463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13</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Ideal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13873"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3880758"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997860" y="1006929"/>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9" name="TextBox 8">
            <a:extLst>
              <a:ext uri="{FF2B5EF4-FFF2-40B4-BE49-F238E27FC236}">
                <a16:creationId xmlns:a16="http://schemas.microsoft.com/office/drawing/2014/main" id="{C4389AF8-7627-4BA7-BCB7-83998F1DCEEE}"/>
              </a:ext>
            </a:extLst>
          </p:cNvPr>
          <p:cNvSpPr txBox="1"/>
          <p:nvPr/>
        </p:nvSpPr>
        <p:spPr>
          <a:xfrm>
            <a:off x="4457709" y="998129"/>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2685797" y="2406258"/>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405065" y="1432868"/>
            <a:ext cx="2146742" cy="1200329"/>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callee</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(x8-x9,x18-x27)</a:t>
            </a:r>
          </a:p>
        </p:txBody>
      </p:sp>
      <p:sp>
        <p:nvSpPr>
          <p:cNvPr id="13" name="TextBox 12">
            <a:extLst>
              <a:ext uri="{FF2B5EF4-FFF2-40B4-BE49-F238E27FC236}">
                <a16:creationId xmlns:a16="http://schemas.microsoft.com/office/drawing/2014/main" id="{4417DAD6-057A-4033-955D-4C1611951EAB}"/>
              </a:ext>
            </a:extLst>
          </p:cNvPr>
          <p:cNvSpPr txBox="1"/>
          <p:nvPr/>
        </p:nvSpPr>
        <p:spPr>
          <a:xfrm>
            <a:off x="3829330" y="2808922"/>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3940684" y="1413487"/>
            <a:ext cx="2095445" cy="1477328"/>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caller</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(x5-x7,x28-x31)</a:t>
            </a:r>
          </a:p>
          <a:p>
            <a:r>
              <a:rPr lang="en-US" dirty="0">
                <a:ea typeface="標楷體" pitchFamily="65" charset="-120"/>
                <a:cs typeface="Calibri" panose="020F07020304040A0204" pitchFamily="34" charset="0"/>
              </a:rPr>
              <a:t>x10-x17)</a:t>
            </a:r>
          </a:p>
        </p:txBody>
      </p:sp>
      <p:sp>
        <p:nvSpPr>
          <p:cNvPr id="15" name="TextBox 14">
            <a:extLst>
              <a:ext uri="{FF2B5EF4-FFF2-40B4-BE49-F238E27FC236}">
                <a16:creationId xmlns:a16="http://schemas.microsoft.com/office/drawing/2014/main" id="{3556CAA4-16B1-4B0A-9644-029C8448F2F8}"/>
              </a:ext>
            </a:extLst>
          </p:cNvPr>
          <p:cNvSpPr txBox="1"/>
          <p:nvPr/>
        </p:nvSpPr>
        <p:spPr>
          <a:xfrm>
            <a:off x="313873" y="2898783"/>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8" name="Rectangle 7">
            <a:extLst>
              <a:ext uri="{FF2B5EF4-FFF2-40B4-BE49-F238E27FC236}">
                <a16:creationId xmlns:a16="http://schemas.microsoft.com/office/drawing/2014/main" id="{D0798374-FC54-4AB7-95D9-4344EB4ACD39}"/>
              </a:ext>
            </a:extLst>
          </p:cNvPr>
          <p:cNvSpPr/>
          <p:nvPr/>
        </p:nvSpPr>
        <p:spPr bwMode="auto">
          <a:xfrm>
            <a:off x="6966857" y="1124857"/>
            <a:ext cx="1057737" cy="3147053"/>
          </a:xfrm>
          <a:prstGeom prst="rect">
            <a:avLst/>
          </a:prstGeom>
          <a:solidFill>
            <a:schemeClr val="tx2">
              <a:lumMod val="60000"/>
              <a:lumOff val="4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r>
              <a:rPr kumimoji="1" lang="en-US" b="1" dirty="0">
                <a:latin typeface="Arial" panose="020B0604020202090204" pitchFamily="34" charset="0"/>
                <a:ea typeface="新細明體" panose="02020500000000000000" pitchFamily="18" charset="-120"/>
              </a:rPr>
              <a:t>Callee</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
        <p:nvSpPr>
          <p:cNvPr id="16" name="Rectangle 15">
            <a:extLst>
              <a:ext uri="{FF2B5EF4-FFF2-40B4-BE49-F238E27FC236}">
                <a16:creationId xmlns:a16="http://schemas.microsoft.com/office/drawing/2014/main" id="{6CBF37F3-0D85-480E-8D31-DE3F1760A750}"/>
              </a:ext>
            </a:extLst>
          </p:cNvPr>
          <p:cNvSpPr/>
          <p:nvPr/>
        </p:nvSpPr>
        <p:spPr bwMode="auto">
          <a:xfrm>
            <a:off x="6966857" y="1124857"/>
            <a:ext cx="1057737" cy="1618343"/>
          </a:xfrm>
          <a:prstGeom prst="rect">
            <a:avLst/>
          </a:prstGeom>
          <a:solidFill>
            <a:schemeClr val="accent2"/>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Caller </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Tree>
    <p:extLst>
      <p:ext uri="{BB962C8B-B14F-4D97-AF65-F5344CB8AC3E}">
        <p14:creationId xmlns:p14="http://schemas.microsoft.com/office/powerpoint/2010/main" val="1968842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14</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Real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437658" y="1333065"/>
            <a:ext cx="2445745"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6947582"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3797236" y="1026559"/>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Caller/Callee</a:t>
            </a:r>
          </a:p>
        </p:txBody>
      </p:sp>
      <p:sp>
        <p:nvSpPr>
          <p:cNvPr id="9" name="TextBox 8">
            <a:extLst>
              <a:ext uri="{FF2B5EF4-FFF2-40B4-BE49-F238E27FC236}">
                <a16:creationId xmlns:a16="http://schemas.microsoft.com/office/drawing/2014/main" id="{C4389AF8-7627-4BA7-BCB7-83998F1DCEEE}"/>
              </a:ext>
            </a:extLst>
          </p:cNvPr>
          <p:cNvSpPr txBox="1"/>
          <p:nvPr/>
        </p:nvSpPr>
        <p:spPr>
          <a:xfrm>
            <a:off x="7524533" y="1024908"/>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5943460" y="2422760"/>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3672345" y="1631966"/>
            <a:ext cx="1736373"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What registers </a:t>
            </a:r>
          </a:p>
          <a:p>
            <a:r>
              <a:rPr lang="en-US" dirty="0">
                <a:ea typeface="標楷體" pitchFamily="65" charset="-120"/>
                <a:cs typeface="Calibri" panose="020F07020304040A0204" pitchFamily="34" charset="0"/>
              </a:rPr>
              <a:t>to use?</a:t>
            </a:r>
          </a:p>
        </p:txBody>
      </p:sp>
      <p:sp>
        <p:nvSpPr>
          <p:cNvPr id="13" name="TextBox 12">
            <a:extLst>
              <a:ext uri="{FF2B5EF4-FFF2-40B4-BE49-F238E27FC236}">
                <a16:creationId xmlns:a16="http://schemas.microsoft.com/office/drawing/2014/main" id="{4417DAD6-057A-4033-955D-4C1611951EAB}"/>
              </a:ext>
            </a:extLst>
          </p:cNvPr>
          <p:cNvSpPr txBox="1"/>
          <p:nvPr/>
        </p:nvSpPr>
        <p:spPr>
          <a:xfrm>
            <a:off x="6896154" y="2835701"/>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7048555" y="1741746"/>
            <a:ext cx="2095445"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caller-save </a:t>
            </a:r>
          </a:p>
          <a:p>
            <a:r>
              <a:rPr lang="en-US" dirty="0">
                <a:ea typeface="標楷體" pitchFamily="65" charset="-120"/>
                <a:cs typeface="Calibri" panose="020F07020304040A0204" pitchFamily="34" charset="0"/>
              </a:rPr>
              <a:t>registers</a:t>
            </a:r>
          </a:p>
        </p:txBody>
      </p:sp>
      <p:sp>
        <p:nvSpPr>
          <p:cNvPr id="15" name="TextBox 14">
            <a:extLst>
              <a:ext uri="{FF2B5EF4-FFF2-40B4-BE49-F238E27FC236}">
                <a16:creationId xmlns:a16="http://schemas.microsoft.com/office/drawing/2014/main" id="{3556CAA4-16B1-4B0A-9644-029C8448F2F8}"/>
              </a:ext>
            </a:extLst>
          </p:cNvPr>
          <p:cNvSpPr txBox="1"/>
          <p:nvPr/>
        </p:nvSpPr>
        <p:spPr>
          <a:xfrm>
            <a:off x="258994" y="3158866"/>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16" name="Rectangle 15">
            <a:extLst>
              <a:ext uri="{FF2B5EF4-FFF2-40B4-BE49-F238E27FC236}">
                <a16:creationId xmlns:a16="http://schemas.microsoft.com/office/drawing/2014/main" id="{921F647D-0945-4348-9C3E-B1A78623182D}"/>
              </a:ext>
            </a:extLst>
          </p:cNvPr>
          <p:cNvSpPr/>
          <p:nvPr/>
        </p:nvSpPr>
        <p:spPr bwMode="auto">
          <a:xfrm>
            <a:off x="151585"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7" name="Arrow: Right 16">
            <a:extLst>
              <a:ext uri="{FF2B5EF4-FFF2-40B4-BE49-F238E27FC236}">
                <a16:creationId xmlns:a16="http://schemas.microsoft.com/office/drawing/2014/main" id="{FD8CA84E-8C86-4130-BCBA-5BC7E7B2B54F}"/>
              </a:ext>
            </a:extLst>
          </p:cNvPr>
          <p:cNvSpPr/>
          <p:nvPr/>
        </p:nvSpPr>
        <p:spPr bwMode="auto">
          <a:xfrm>
            <a:off x="2407822" y="2406675"/>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8" name="TextBox 17">
            <a:extLst>
              <a:ext uri="{FF2B5EF4-FFF2-40B4-BE49-F238E27FC236}">
                <a16:creationId xmlns:a16="http://schemas.microsoft.com/office/drawing/2014/main" id="{70691F12-8228-4214-9149-949F8F12F655}"/>
              </a:ext>
            </a:extLst>
          </p:cNvPr>
          <p:cNvSpPr txBox="1"/>
          <p:nvPr/>
        </p:nvSpPr>
        <p:spPr>
          <a:xfrm>
            <a:off x="780776" y="957307"/>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9" name="TextBox 18">
            <a:extLst>
              <a:ext uri="{FF2B5EF4-FFF2-40B4-BE49-F238E27FC236}">
                <a16:creationId xmlns:a16="http://schemas.microsoft.com/office/drawing/2014/main" id="{A60E45DB-D340-433B-8966-3BEF046DD1B2}"/>
              </a:ext>
            </a:extLst>
          </p:cNvPr>
          <p:cNvSpPr txBox="1"/>
          <p:nvPr/>
        </p:nvSpPr>
        <p:spPr>
          <a:xfrm>
            <a:off x="284683" y="1691072"/>
            <a:ext cx="2146742"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callee-save </a:t>
            </a:r>
          </a:p>
          <a:p>
            <a:r>
              <a:rPr lang="en-US" dirty="0">
                <a:ea typeface="標楷體" pitchFamily="65" charset="-120"/>
                <a:cs typeface="Calibri" panose="020F07020304040A0204" pitchFamily="34" charset="0"/>
              </a:rPr>
              <a:t>registers</a:t>
            </a:r>
          </a:p>
        </p:txBody>
      </p:sp>
      <p:sp>
        <p:nvSpPr>
          <p:cNvPr id="20" name="TextBox 19">
            <a:extLst>
              <a:ext uri="{FF2B5EF4-FFF2-40B4-BE49-F238E27FC236}">
                <a16:creationId xmlns:a16="http://schemas.microsoft.com/office/drawing/2014/main" id="{11A41FD9-2102-44C7-A394-41F7AC581CA5}"/>
              </a:ext>
            </a:extLst>
          </p:cNvPr>
          <p:cNvSpPr txBox="1"/>
          <p:nvPr/>
        </p:nvSpPr>
        <p:spPr>
          <a:xfrm>
            <a:off x="3427052" y="2925562"/>
            <a:ext cx="2630848" cy="830997"/>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anose="020F07020304040A0204" pitchFamily="34" charset="0"/>
              </a:rPr>
              <a:t>I am both a caller </a:t>
            </a:r>
          </a:p>
          <a:p>
            <a:r>
              <a:rPr lang="en-US" sz="2400" dirty="0">
                <a:solidFill>
                  <a:srgbClr val="FF0000"/>
                </a:solidFill>
                <a:ea typeface="標楷體" pitchFamily="65" charset="-120"/>
                <a:cs typeface="Calibri" panose="020F07020304040A0204" pitchFamily="34" charset="0"/>
              </a:rPr>
              <a:t>and a callee !!</a:t>
            </a:r>
          </a:p>
        </p:txBody>
      </p:sp>
    </p:spTree>
    <p:extLst>
      <p:ext uri="{BB962C8B-B14F-4D97-AF65-F5344CB8AC3E}">
        <p14:creationId xmlns:p14="http://schemas.microsoft.com/office/powerpoint/2010/main" val="394653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4A346468-CED1-4052-997C-D88D559563BD}"/>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7E5E027-8D63-40F2-899D-28FDFF2CEF9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4903B64-5EF8-458D-AC8A-D6D9C08D3A19}" type="slidenum">
              <a:rPr lang="zh-TW" altLang="en-US" sz="900"/>
              <a:pPr>
                <a:spcBef>
                  <a:spcPct val="0"/>
                </a:spcBef>
                <a:buClrTx/>
                <a:buSzTx/>
                <a:buFontTx/>
                <a:buNone/>
              </a:pPr>
              <a:t>15</a:t>
            </a:fld>
            <a:endParaRPr lang="en-US" altLang="zh-TW" sz="900"/>
          </a:p>
        </p:txBody>
      </p:sp>
      <p:sp>
        <p:nvSpPr>
          <p:cNvPr id="5" name="Rectangle 2">
            <a:extLst>
              <a:ext uri="{FF2B5EF4-FFF2-40B4-BE49-F238E27FC236}">
                <a16:creationId xmlns:a16="http://schemas.microsoft.com/office/drawing/2014/main" id="{43A40E32-8896-4412-A101-335B61CA85B7}"/>
              </a:ext>
            </a:extLst>
          </p:cNvPr>
          <p:cNvSpPr txBox="1">
            <a:spLocks noChangeArrowheads="1"/>
          </p:cNvSpPr>
          <p:nvPr/>
        </p:nvSpPr>
        <p:spPr bwMode="auto">
          <a:xfrm>
            <a:off x="1657350" y="30956"/>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7413" name="文字方塊 1">
            <a:extLst>
              <a:ext uri="{FF2B5EF4-FFF2-40B4-BE49-F238E27FC236}">
                <a16:creationId xmlns:a16="http://schemas.microsoft.com/office/drawing/2014/main" id="{F378D116-E693-4A5D-B1BB-CC1F29C1099E}"/>
              </a:ext>
            </a:extLst>
          </p:cNvPr>
          <p:cNvSpPr txBox="1">
            <a:spLocks noChangeArrowheads="1"/>
          </p:cNvSpPr>
          <p:nvPr/>
        </p:nvSpPr>
        <p:spPr bwMode="auto">
          <a:xfrm>
            <a:off x="2871107" y="84602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Function A ()</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$T1 = a*b;</a:t>
            </a:r>
          </a:p>
          <a:p>
            <a:pPr>
              <a:spcBef>
                <a:spcPct val="0"/>
              </a:spcBef>
              <a:buClrTx/>
              <a:buSzTx/>
              <a:buFontTx/>
              <a:buNone/>
            </a:pPr>
            <a:r>
              <a:rPr lang="en-US" altLang="zh-TW" sz="2100" b="1" dirty="0">
                <a:solidFill>
                  <a:srgbClr val="2929FF"/>
                </a:solidFill>
                <a:ea typeface="新細明體" panose="02020500000000000000" pitchFamily="18" charset="-120"/>
              </a:rPr>
              <a:t>$S2=B(1,2,3);</a:t>
            </a:r>
          </a:p>
          <a:p>
            <a:pPr>
              <a:spcBef>
                <a:spcPct val="0"/>
              </a:spcBef>
              <a:buClrTx/>
              <a:buSzTx/>
              <a:buFontTx/>
              <a:buNone/>
            </a:pPr>
            <a:r>
              <a:rPr lang="en-US" altLang="zh-TW" sz="2100" b="1" dirty="0">
                <a:solidFill>
                  <a:srgbClr val="2929FF"/>
                </a:solidFill>
                <a:ea typeface="新細明體" panose="02020500000000000000" pitchFamily="18" charset="-120"/>
              </a:rPr>
              <a:t>c = $T1+$S2;</a:t>
            </a:r>
          </a:p>
          <a:p>
            <a:pPr>
              <a:spcBef>
                <a:spcPct val="0"/>
              </a:spcBef>
              <a:buClrTx/>
              <a:buSzTx/>
              <a:buFontTx/>
              <a:buNone/>
            </a:pPr>
            <a:r>
              <a:rPr lang="en-US" altLang="zh-TW" sz="2100" b="1" dirty="0">
                <a:solidFill>
                  <a:srgbClr val="2929FF"/>
                </a:solidFill>
                <a:ea typeface="新細明體" panose="02020500000000000000" pitchFamily="18" charset="-120"/>
              </a:rPr>
              <a:t>…</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return</a:t>
            </a:r>
            <a:endParaRPr lang="zh-TW" altLang="en-US" sz="2100" b="1" dirty="0">
              <a:solidFill>
                <a:srgbClr val="2929FF"/>
              </a:solidFill>
              <a:ea typeface="新細明體" panose="02020500000000000000" pitchFamily="18" charset="-120"/>
            </a:endParaRPr>
          </a:p>
        </p:txBody>
      </p:sp>
      <p:sp>
        <p:nvSpPr>
          <p:cNvPr id="17414" name="Rectangle 1">
            <a:extLst>
              <a:ext uri="{FF2B5EF4-FFF2-40B4-BE49-F238E27FC236}">
                <a16:creationId xmlns:a16="http://schemas.microsoft.com/office/drawing/2014/main" id="{760ABDA6-42A6-4B3F-A1F8-C7184D2E1CB7}"/>
              </a:ext>
            </a:extLst>
          </p:cNvPr>
          <p:cNvSpPr>
            <a:spLocks noChangeArrowheads="1"/>
          </p:cNvSpPr>
          <p:nvPr/>
        </p:nvSpPr>
        <p:spPr bwMode="auto">
          <a:xfrm>
            <a:off x="1190030" y="3615362"/>
            <a:ext cx="6658570" cy="857250"/>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is caller, and B() is callee. </a:t>
            </a:r>
          </a:p>
          <a:p>
            <a:pPr>
              <a:spcBef>
                <a:spcPct val="0"/>
              </a:spcBef>
              <a:buClrTx/>
              <a:buSzTx/>
              <a:buFontTx/>
              <a:buNone/>
            </a:pPr>
            <a:r>
              <a:rPr lang="en-US" altLang="en-US" sz="1350" dirty="0"/>
              <a:t>A wants the value in $T1 to be unchanged after the call of B(). </a:t>
            </a:r>
          </a:p>
          <a:p>
            <a:pPr>
              <a:spcBef>
                <a:spcPct val="0"/>
              </a:spcBef>
              <a:buClrTx/>
              <a:buSzTx/>
              <a:buFontTx/>
              <a:buNone/>
            </a:pPr>
            <a:r>
              <a:rPr lang="en-US" altLang="en-US" sz="1350" dirty="0"/>
              <a:t>So A must saves $T1 before the call to B() and restores $T1 when B() returns.</a:t>
            </a:r>
          </a:p>
        </p:txBody>
      </p:sp>
      <p:cxnSp>
        <p:nvCxnSpPr>
          <p:cNvPr id="3" name="Straight Arrow Connector 2">
            <a:extLst>
              <a:ext uri="{FF2B5EF4-FFF2-40B4-BE49-F238E27FC236}">
                <a16:creationId xmlns:a16="http://schemas.microsoft.com/office/drawing/2014/main" id="{BCF318FB-B524-4E98-8E93-0137C9F44F12}"/>
              </a:ext>
            </a:extLst>
          </p:cNvPr>
          <p:cNvCxnSpPr/>
          <p:nvPr/>
        </p:nvCxnSpPr>
        <p:spPr bwMode="auto">
          <a:xfrm>
            <a:off x="3265714" y="1734457"/>
            <a:ext cx="362857" cy="522514"/>
          </a:xfrm>
          <a:prstGeom prst="straightConnector1">
            <a:avLst/>
          </a:prstGeom>
          <a:noFill/>
          <a:ln w="38100" cap="flat" cmpd="sng" algn="ctr">
            <a:solidFill>
              <a:srgbClr val="FF0000"/>
            </a:solidFill>
            <a:prstDash val="solid"/>
            <a:round/>
            <a:headEnd type="none" w="med" len="med"/>
            <a:tailEnd type="triangle"/>
          </a:ln>
        </p:spPr>
      </p:cxnSp>
      <p:sp>
        <p:nvSpPr>
          <p:cNvPr id="2" name="TextBox 1">
            <a:extLst>
              <a:ext uri="{FF2B5EF4-FFF2-40B4-BE49-F238E27FC236}">
                <a16:creationId xmlns:a16="http://schemas.microsoft.com/office/drawing/2014/main" id="{95DF59CB-BE22-4880-A4FF-D7086A8924E3}"/>
              </a:ext>
            </a:extLst>
          </p:cNvPr>
          <p:cNvSpPr txBox="1"/>
          <p:nvPr/>
        </p:nvSpPr>
        <p:spPr>
          <a:xfrm>
            <a:off x="5829513" y="1933805"/>
            <a:ext cx="2056973"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Example:</a:t>
            </a:r>
          </a:p>
          <a:p>
            <a:r>
              <a:rPr lang="en-US" dirty="0">
                <a:ea typeface="標楷體" pitchFamily="65" charset="-120"/>
                <a:cs typeface="Calibri" panose="020F07020304040A0204" pitchFamily="34" charset="0"/>
              </a:rPr>
              <a:t>x = a*b + B(1,2,3);</a:t>
            </a:r>
          </a:p>
        </p:txBody>
      </p:sp>
      <p:sp>
        <p:nvSpPr>
          <p:cNvPr id="9" name="TextBox 8">
            <a:extLst>
              <a:ext uri="{FF2B5EF4-FFF2-40B4-BE49-F238E27FC236}">
                <a16:creationId xmlns:a16="http://schemas.microsoft.com/office/drawing/2014/main" id="{8DD29998-337F-4216-8AB6-7203E22F33E7}"/>
              </a:ext>
            </a:extLst>
          </p:cNvPr>
          <p:cNvSpPr txBox="1"/>
          <p:nvPr/>
        </p:nvSpPr>
        <p:spPr>
          <a:xfrm>
            <a:off x="5917619" y="2841686"/>
            <a:ext cx="2775119"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Can we change the order</a:t>
            </a:r>
          </a:p>
          <a:p>
            <a:r>
              <a:rPr lang="en-US" dirty="0">
                <a:ea typeface="標楷體" pitchFamily="65" charset="-120"/>
                <a:cs typeface="Calibri" panose="020F07020304040A0204" pitchFamily="34" charset="0"/>
              </a:rPr>
              <a:t>x = B(1,2,3) + a*b;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ADF0A7F-1211-48D5-901E-E1C028A3124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53163B23-2E78-4FB2-A30D-8C8A82AE1DC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9DE4601-7801-4FEB-9D3A-51B749719137}" type="slidenum">
              <a:rPr lang="zh-TW" altLang="en-US" sz="900"/>
              <a:pPr>
                <a:spcBef>
                  <a:spcPct val="0"/>
                </a:spcBef>
                <a:buClrTx/>
                <a:buSzTx/>
                <a:buFontTx/>
                <a:buNone/>
              </a:pPr>
              <a:t>16</a:t>
            </a:fld>
            <a:endParaRPr lang="en-US" altLang="zh-TW" sz="900"/>
          </a:p>
        </p:txBody>
      </p:sp>
      <p:sp>
        <p:nvSpPr>
          <p:cNvPr id="5" name="Rectangle 2">
            <a:extLst>
              <a:ext uri="{FF2B5EF4-FFF2-40B4-BE49-F238E27FC236}">
                <a16:creationId xmlns:a16="http://schemas.microsoft.com/office/drawing/2014/main" id="{E211A441-7E25-42A5-B98C-60AFC080D64B}"/>
              </a:ext>
            </a:extLst>
          </p:cNvPr>
          <p:cNvSpPr txBox="1">
            <a:spLocks noChangeArrowheads="1"/>
          </p:cNvSpPr>
          <p:nvPr/>
        </p:nvSpPr>
        <p:spPr bwMode="auto">
          <a:xfrm>
            <a:off x="1600824" y="38213"/>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8437" name="文字方塊 1">
            <a:extLst>
              <a:ext uri="{FF2B5EF4-FFF2-40B4-BE49-F238E27FC236}">
                <a16:creationId xmlns:a16="http://schemas.microsoft.com/office/drawing/2014/main" id="{95FE474A-A4A7-4283-8458-AF4671058259}"/>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$T1+$S2;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18438" name="直線單箭頭接點 3">
            <a:extLst>
              <a:ext uri="{FF2B5EF4-FFF2-40B4-BE49-F238E27FC236}">
                <a16:creationId xmlns:a16="http://schemas.microsoft.com/office/drawing/2014/main" id="{2259912D-43B6-469E-B9F2-DEE32E4D5AB0}"/>
              </a:ext>
            </a:extLst>
          </p:cNvPr>
          <p:cNvCxnSpPr>
            <a:cxnSpLocks noChangeShapeType="1"/>
          </p:cNvCxnSpPr>
          <p:nvPr/>
        </p:nvCxnSpPr>
        <p:spPr bwMode="auto">
          <a:xfrm flipH="1">
            <a:off x="3714750" y="22288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E322FCAC-88D5-4766-B00E-67CAB2BA4694}"/>
              </a:ext>
            </a:extLst>
          </p:cNvPr>
          <p:cNvSpPr txBox="1"/>
          <p:nvPr/>
        </p:nvSpPr>
        <p:spPr>
          <a:xfrm>
            <a:off x="6115050" y="2044184"/>
            <a:ext cx="1288143"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 $T1</a:t>
            </a:r>
            <a:endParaRPr lang="zh-TW" altLang="en-US" b="1" dirty="0">
              <a:solidFill>
                <a:srgbClr val="FF0000"/>
              </a:solidFill>
              <a:latin typeface="標楷體" pitchFamily="65" charset="-120"/>
              <a:ea typeface="標楷體" pitchFamily="65" charset="-120"/>
            </a:endParaRPr>
          </a:p>
        </p:txBody>
      </p:sp>
      <p:cxnSp>
        <p:nvCxnSpPr>
          <p:cNvPr id="18440" name="直線單箭頭接點 9">
            <a:extLst>
              <a:ext uri="{FF2B5EF4-FFF2-40B4-BE49-F238E27FC236}">
                <a16:creationId xmlns:a16="http://schemas.microsoft.com/office/drawing/2014/main" id="{17BF2EBD-031D-4A9C-925E-84F568C0B67C}"/>
              </a:ext>
            </a:extLst>
          </p:cNvPr>
          <p:cNvCxnSpPr>
            <a:cxnSpLocks noChangeShapeType="1"/>
          </p:cNvCxnSpPr>
          <p:nvPr/>
        </p:nvCxnSpPr>
        <p:spPr bwMode="auto">
          <a:xfrm flipH="1">
            <a:off x="3714750" y="2584847"/>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11" name="文字方塊 10">
            <a:extLst>
              <a:ext uri="{FF2B5EF4-FFF2-40B4-BE49-F238E27FC236}">
                <a16:creationId xmlns:a16="http://schemas.microsoft.com/office/drawing/2014/main" id="{60CB0F8C-9678-45A1-B65E-730E6CAB33C2}"/>
              </a:ext>
            </a:extLst>
          </p:cNvPr>
          <p:cNvSpPr txBox="1"/>
          <p:nvPr/>
        </p:nvSpPr>
        <p:spPr>
          <a:xfrm>
            <a:off x="6115050" y="2505849"/>
            <a:ext cx="1657350" cy="369332"/>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$T1</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565F339-5669-443A-B8F4-FCFF53EAE0A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DAC1063-D200-427C-A6B7-C84228E13F7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E390B63F-127F-49F9-90F7-A2D94225D28D}" type="slidenum">
              <a:rPr lang="zh-TW" altLang="en-US" sz="900"/>
              <a:pPr>
                <a:spcBef>
                  <a:spcPct val="0"/>
                </a:spcBef>
                <a:buClrTx/>
                <a:buSzTx/>
                <a:buFontTx/>
                <a:buNone/>
              </a:pPr>
              <a:t>17</a:t>
            </a:fld>
            <a:endParaRPr lang="en-US" altLang="zh-TW" sz="900"/>
          </a:p>
        </p:txBody>
      </p:sp>
      <p:sp>
        <p:nvSpPr>
          <p:cNvPr id="5" name="Rectangle 2">
            <a:extLst>
              <a:ext uri="{FF2B5EF4-FFF2-40B4-BE49-F238E27FC236}">
                <a16:creationId xmlns:a16="http://schemas.microsoft.com/office/drawing/2014/main" id="{6B1684E7-CC35-4400-93A7-081788F981BC}"/>
              </a:ext>
            </a:extLst>
          </p:cNvPr>
          <p:cNvSpPr txBox="1">
            <a:spLocks noChangeArrowheads="1"/>
          </p:cNvSpPr>
          <p:nvPr/>
        </p:nvSpPr>
        <p:spPr bwMode="auto">
          <a:xfrm>
            <a:off x="1590080" y="-85725"/>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19461" name="文字方塊 1">
            <a:extLst>
              <a:ext uri="{FF2B5EF4-FFF2-40B4-BE49-F238E27FC236}">
                <a16:creationId xmlns:a16="http://schemas.microsoft.com/office/drawing/2014/main" id="{B953A289-EA84-4232-9DDA-F3D038BE8272}"/>
              </a:ext>
            </a:extLst>
          </p:cNvPr>
          <p:cNvSpPr txBox="1">
            <a:spLocks noChangeArrowheads="1"/>
          </p:cNvSpPr>
          <p:nvPr/>
        </p:nvSpPr>
        <p:spPr bwMode="auto">
          <a:xfrm>
            <a:off x="2892879" y="77333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19462" name="Rectangle 5">
            <a:extLst>
              <a:ext uri="{FF2B5EF4-FFF2-40B4-BE49-F238E27FC236}">
                <a16:creationId xmlns:a16="http://schemas.microsoft.com/office/drawing/2014/main" id="{F8552473-79D4-4743-8D76-3DBBE0CBEADE}"/>
              </a:ext>
            </a:extLst>
          </p:cNvPr>
          <p:cNvSpPr>
            <a:spLocks noChangeArrowheads="1"/>
          </p:cNvSpPr>
          <p:nvPr/>
        </p:nvSpPr>
        <p:spPr bwMode="auto">
          <a:xfrm>
            <a:off x="979714" y="3522664"/>
            <a:ext cx="7213600" cy="888206"/>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modifies reg $S1, and $S2. For some routines that call A(), reg $S1 and $S2 will be changed after A() returns. So reg $S1 and $S2 must be saved/restored at procedure entry and return points. Since $S1/$S2 are callee saved registers, it is A()’s responsibility to save and restore them.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1769077F-3A99-4E07-9083-D72F690C87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11CC9DF-E87D-4B47-A8C5-546D0C797D54}"/>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7824C79B-2AB1-433B-8569-9A8E1F7891CD}" type="slidenum">
              <a:rPr lang="zh-TW" altLang="en-US" sz="900"/>
              <a:pPr>
                <a:spcBef>
                  <a:spcPct val="0"/>
                </a:spcBef>
                <a:buClrTx/>
                <a:buSzTx/>
                <a:buFontTx/>
                <a:buNone/>
              </a:pPr>
              <a:t>18</a:t>
            </a:fld>
            <a:endParaRPr lang="en-US" altLang="zh-TW" sz="900"/>
          </a:p>
        </p:txBody>
      </p:sp>
      <p:sp>
        <p:nvSpPr>
          <p:cNvPr id="5" name="Rectangle 2">
            <a:extLst>
              <a:ext uri="{FF2B5EF4-FFF2-40B4-BE49-F238E27FC236}">
                <a16:creationId xmlns:a16="http://schemas.microsoft.com/office/drawing/2014/main" id="{6CEF6730-1B8E-495A-9532-732AFAC9564E}"/>
              </a:ext>
            </a:extLst>
          </p:cNvPr>
          <p:cNvSpPr txBox="1">
            <a:spLocks noChangeArrowheads="1"/>
          </p:cNvSpPr>
          <p:nvPr/>
        </p:nvSpPr>
        <p:spPr bwMode="auto">
          <a:xfrm>
            <a:off x="1600824" y="-49410"/>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0485" name="文字方塊 1">
            <a:extLst>
              <a:ext uri="{FF2B5EF4-FFF2-40B4-BE49-F238E27FC236}">
                <a16:creationId xmlns:a16="http://schemas.microsoft.com/office/drawing/2014/main" id="{8CCBED47-B493-4C3A-B885-C226B8BBB14E}"/>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20486" name="直線單箭頭接點 5">
            <a:extLst>
              <a:ext uri="{FF2B5EF4-FFF2-40B4-BE49-F238E27FC236}">
                <a16:creationId xmlns:a16="http://schemas.microsoft.com/office/drawing/2014/main" id="{1D0F07B9-4F0B-4789-9588-CEFA26458BEF}"/>
              </a:ext>
            </a:extLst>
          </p:cNvPr>
          <p:cNvCxnSpPr>
            <a:cxnSpLocks noChangeShapeType="1"/>
          </p:cNvCxnSpPr>
          <p:nvPr/>
        </p:nvCxnSpPr>
        <p:spPr bwMode="auto">
          <a:xfrm flipH="1">
            <a:off x="3714750" y="16573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586A9D8D-F34E-4AA9-A737-4EBB9963903B}"/>
              </a:ext>
            </a:extLst>
          </p:cNvPr>
          <p:cNvSpPr txBox="1"/>
          <p:nvPr/>
        </p:nvSpPr>
        <p:spPr>
          <a:xfrm>
            <a:off x="6115050" y="1428750"/>
            <a:ext cx="16002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Save $S1,$S2</a:t>
            </a:r>
            <a:endParaRPr lang="zh-TW" altLang="en-US" b="1" dirty="0">
              <a:solidFill>
                <a:srgbClr val="FF0000"/>
              </a:solidFill>
              <a:latin typeface="標楷體" pitchFamily="65" charset="-120"/>
              <a:ea typeface="標楷體" pitchFamily="65" charset="-120"/>
            </a:endParaRPr>
          </a:p>
        </p:txBody>
      </p:sp>
      <p:cxnSp>
        <p:nvCxnSpPr>
          <p:cNvPr id="20488" name="直線單箭頭接點 7">
            <a:extLst>
              <a:ext uri="{FF2B5EF4-FFF2-40B4-BE49-F238E27FC236}">
                <a16:creationId xmlns:a16="http://schemas.microsoft.com/office/drawing/2014/main" id="{51E542EE-18E2-4D93-A5DD-8A8026936367}"/>
              </a:ext>
            </a:extLst>
          </p:cNvPr>
          <p:cNvCxnSpPr>
            <a:cxnSpLocks noChangeShapeType="1"/>
          </p:cNvCxnSpPr>
          <p:nvPr/>
        </p:nvCxnSpPr>
        <p:spPr bwMode="auto">
          <a:xfrm flipH="1">
            <a:off x="3543300" y="354330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9" name="文字方塊 8">
            <a:extLst>
              <a:ext uri="{FF2B5EF4-FFF2-40B4-BE49-F238E27FC236}">
                <a16:creationId xmlns:a16="http://schemas.microsoft.com/office/drawing/2014/main" id="{1A8A5DA6-B933-427F-9158-8E41F2C6C2C8}"/>
              </a:ext>
            </a:extLst>
          </p:cNvPr>
          <p:cNvSpPr txBox="1"/>
          <p:nvPr/>
        </p:nvSpPr>
        <p:spPr>
          <a:xfrm>
            <a:off x="5943600" y="3356372"/>
            <a:ext cx="19431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$S1,$S2</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8CD71FA4-84EA-4CBF-AD1B-931467F2BA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4F0F2C9-889D-423C-A1D2-64D7B7FA23E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9389F92A-FD44-48C1-9216-29ABA0F58B75}" type="slidenum">
              <a:rPr lang="zh-TW" altLang="en-US" sz="900"/>
              <a:pPr>
                <a:spcBef>
                  <a:spcPct val="0"/>
                </a:spcBef>
                <a:buClrTx/>
                <a:buSzTx/>
                <a:buFontTx/>
                <a:buNone/>
              </a:pPr>
              <a:t>19</a:t>
            </a:fld>
            <a:endParaRPr lang="en-US" altLang="zh-TW" sz="900"/>
          </a:p>
        </p:txBody>
      </p:sp>
      <p:sp>
        <p:nvSpPr>
          <p:cNvPr id="5" name="Rectangle 2">
            <a:extLst>
              <a:ext uri="{FF2B5EF4-FFF2-40B4-BE49-F238E27FC236}">
                <a16:creationId xmlns:a16="http://schemas.microsoft.com/office/drawing/2014/main" id="{2656FF83-0DE7-4106-8C1A-1C6E22D85762}"/>
              </a:ext>
            </a:extLst>
          </p:cNvPr>
          <p:cNvSpPr txBox="1">
            <a:spLocks noChangeArrowheads="1"/>
          </p:cNvSpPr>
          <p:nvPr/>
        </p:nvSpPr>
        <p:spPr bwMode="auto">
          <a:xfrm>
            <a:off x="1271587" y="-3056"/>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or </a:t>
            </a: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1509" name="文字方塊 1">
            <a:extLst>
              <a:ext uri="{FF2B5EF4-FFF2-40B4-BE49-F238E27FC236}">
                <a16:creationId xmlns:a16="http://schemas.microsoft.com/office/drawing/2014/main" id="{6EEF7126-1D1C-42F4-835B-5933427F90FD}"/>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1510" name="文字方塊 5">
            <a:extLst>
              <a:ext uri="{FF2B5EF4-FFF2-40B4-BE49-F238E27FC236}">
                <a16:creationId xmlns:a16="http://schemas.microsoft.com/office/drawing/2014/main" id="{A830E75C-3653-4381-88C2-215DC11ABBBA}"/>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Caller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$T1;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cxnSp>
        <p:nvCxnSpPr>
          <p:cNvPr id="4" name="直線單箭頭接點 3">
            <a:extLst>
              <a:ext uri="{FF2B5EF4-FFF2-40B4-BE49-F238E27FC236}">
                <a16:creationId xmlns:a16="http://schemas.microsoft.com/office/drawing/2014/main" id="{58C44741-2BBE-4C9F-A391-BFA9E5760CA5}"/>
              </a:ext>
            </a:extLst>
          </p:cNvPr>
          <p:cNvCxnSpPr>
            <a:cxnSpLocks noChangeShapeType="1"/>
          </p:cNvCxnSpPr>
          <p:nvPr/>
        </p:nvCxnSpPr>
        <p:spPr bwMode="auto">
          <a:xfrm flipH="1">
            <a:off x="4572000" y="19431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0" name="文字方塊 9">
            <a:extLst>
              <a:ext uri="{FF2B5EF4-FFF2-40B4-BE49-F238E27FC236}">
                <a16:creationId xmlns:a16="http://schemas.microsoft.com/office/drawing/2014/main" id="{977AF4D7-2AA9-48AD-8AD8-6F740BFA3A0A}"/>
              </a:ext>
            </a:extLst>
          </p:cNvPr>
          <p:cNvSpPr txBox="1"/>
          <p:nvPr/>
        </p:nvSpPr>
        <p:spPr>
          <a:xfrm>
            <a:off x="5772150" y="1678343"/>
            <a:ext cx="948928"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1" name="直線單箭頭接點 10">
            <a:extLst>
              <a:ext uri="{FF2B5EF4-FFF2-40B4-BE49-F238E27FC236}">
                <a16:creationId xmlns:a16="http://schemas.microsoft.com/office/drawing/2014/main" id="{D9495EB9-E28E-440C-B039-27D1D4D009C8}"/>
              </a:ext>
            </a:extLst>
          </p:cNvPr>
          <p:cNvCxnSpPr>
            <a:cxnSpLocks noChangeShapeType="1"/>
          </p:cNvCxnSpPr>
          <p:nvPr/>
        </p:nvCxnSpPr>
        <p:spPr bwMode="auto">
          <a:xfrm flipH="1">
            <a:off x="4692254" y="255984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2" name="文字方塊 11">
            <a:extLst>
              <a:ext uri="{FF2B5EF4-FFF2-40B4-BE49-F238E27FC236}">
                <a16:creationId xmlns:a16="http://schemas.microsoft.com/office/drawing/2014/main" id="{0240863A-2AAF-47D3-9FD1-9F307C7E234F}"/>
              </a:ext>
            </a:extLst>
          </p:cNvPr>
          <p:cNvSpPr txBox="1"/>
          <p:nvPr/>
        </p:nvSpPr>
        <p:spPr>
          <a:xfrm>
            <a:off x="5915025" y="2400300"/>
            <a:ext cx="942975"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3" name="直線單箭頭接點 12">
            <a:extLst>
              <a:ext uri="{FF2B5EF4-FFF2-40B4-BE49-F238E27FC236}">
                <a16:creationId xmlns:a16="http://schemas.microsoft.com/office/drawing/2014/main" id="{D7934009-7DB7-4555-804D-903D22B66779}"/>
              </a:ext>
            </a:extLst>
          </p:cNvPr>
          <p:cNvCxnSpPr>
            <a:cxnSpLocks noChangeShapeType="1"/>
          </p:cNvCxnSpPr>
          <p:nvPr/>
        </p:nvCxnSpPr>
        <p:spPr bwMode="auto">
          <a:xfrm flipH="1">
            <a:off x="4692254" y="32004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4" name="文字方塊 13">
            <a:extLst>
              <a:ext uri="{FF2B5EF4-FFF2-40B4-BE49-F238E27FC236}">
                <a16:creationId xmlns:a16="http://schemas.microsoft.com/office/drawing/2014/main" id="{D2097CAC-7815-4457-BAEA-A4EBD74CC29A}"/>
              </a:ext>
            </a:extLst>
          </p:cNvPr>
          <p:cNvSpPr txBox="1"/>
          <p:nvPr/>
        </p:nvSpPr>
        <p:spPr>
          <a:xfrm>
            <a:off x="5915025" y="3025100"/>
            <a:ext cx="851296"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5" name="直線單箭頭接點 14">
            <a:extLst>
              <a:ext uri="{FF2B5EF4-FFF2-40B4-BE49-F238E27FC236}">
                <a16:creationId xmlns:a16="http://schemas.microsoft.com/office/drawing/2014/main" id="{DC848DAB-3D8D-432B-B4B0-8193D57B6420}"/>
              </a:ext>
            </a:extLst>
          </p:cNvPr>
          <p:cNvCxnSpPr>
            <a:cxnSpLocks noChangeShapeType="1"/>
          </p:cNvCxnSpPr>
          <p:nvPr/>
        </p:nvCxnSpPr>
        <p:spPr bwMode="auto">
          <a:xfrm flipH="1" flipV="1">
            <a:off x="4792266" y="2312194"/>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16" name="文字方塊 15">
            <a:extLst>
              <a:ext uri="{FF2B5EF4-FFF2-40B4-BE49-F238E27FC236}">
                <a16:creationId xmlns:a16="http://schemas.microsoft.com/office/drawing/2014/main" id="{75F65BA3-9857-4AEC-9FD9-22894707240A}"/>
              </a:ext>
            </a:extLst>
          </p:cNvPr>
          <p:cNvSpPr txBox="1"/>
          <p:nvPr/>
        </p:nvSpPr>
        <p:spPr>
          <a:xfrm>
            <a:off x="3462933" y="2151205"/>
            <a:ext cx="1343025"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0" name="直線單箭頭接點 19">
            <a:extLst>
              <a:ext uri="{FF2B5EF4-FFF2-40B4-BE49-F238E27FC236}">
                <a16:creationId xmlns:a16="http://schemas.microsoft.com/office/drawing/2014/main" id="{D6DE84E3-B604-4432-9ACC-78A9671A35FB}"/>
              </a:ext>
            </a:extLst>
          </p:cNvPr>
          <p:cNvCxnSpPr>
            <a:cxnSpLocks noChangeShapeType="1"/>
          </p:cNvCxnSpPr>
          <p:nvPr/>
        </p:nvCxnSpPr>
        <p:spPr bwMode="auto">
          <a:xfrm flipH="1" flipV="1">
            <a:off x="4663679" y="2971801"/>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1" name="文字方塊 20">
            <a:extLst>
              <a:ext uri="{FF2B5EF4-FFF2-40B4-BE49-F238E27FC236}">
                <a16:creationId xmlns:a16="http://schemas.microsoft.com/office/drawing/2014/main" id="{9FDE1F69-C2F3-46DE-BB49-EA77A711B76D}"/>
              </a:ext>
            </a:extLst>
          </p:cNvPr>
          <p:cNvSpPr txBox="1"/>
          <p:nvPr/>
        </p:nvSpPr>
        <p:spPr>
          <a:xfrm>
            <a:off x="3432403" y="2793465"/>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5" name="直線單箭頭接點 24">
            <a:extLst>
              <a:ext uri="{FF2B5EF4-FFF2-40B4-BE49-F238E27FC236}">
                <a16:creationId xmlns:a16="http://schemas.microsoft.com/office/drawing/2014/main" id="{50394938-F03B-498D-A8E5-AD15FCCDDC73}"/>
              </a:ext>
            </a:extLst>
          </p:cNvPr>
          <p:cNvCxnSpPr>
            <a:cxnSpLocks noChangeShapeType="1"/>
          </p:cNvCxnSpPr>
          <p:nvPr/>
        </p:nvCxnSpPr>
        <p:spPr bwMode="auto">
          <a:xfrm flipH="1" flipV="1">
            <a:off x="4563666" y="3542110"/>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6" name="文字方塊 25">
            <a:extLst>
              <a:ext uri="{FF2B5EF4-FFF2-40B4-BE49-F238E27FC236}">
                <a16:creationId xmlns:a16="http://schemas.microsoft.com/office/drawing/2014/main" id="{1F70AE19-90BF-4F65-BEFF-ECA9191B4939}"/>
              </a:ext>
            </a:extLst>
          </p:cNvPr>
          <p:cNvSpPr txBox="1"/>
          <p:nvPr/>
        </p:nvSpPr>
        <p:spPr>
          <a:xfrm>
            <a:off x="3365104" y="3460314"/>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
        <p:nvSpPr>
          <p:cNvPr id="21523" name="矩形 16">
            <a:extLst>
              <a:ext uri="{FF2B5EF4-FFF2-40B4-BE49-F238E27FC236}">
                <a16:creationId xmlns:a16="http://schemas.microsoft.com/office/drawing/2014/main" id="{E8258CC0-4FBC-41B4-B2EB-0CE7678DA68A}"/>
              </a:ext>
            </a:extLst>
          </p:cNvPr>
          <p:cNvSpPr>
            <a:spLocks noChangeArrowheads="1"/>
          </p:cNvSpPr>
          <p:nvPr/>
        </p:nvSpPr>
        <p:spPr bwMode="auto">
          <a:xfrm>
            <a:off x="4416028" y="2433637"/>
            <a:ext cx="357790"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zh-TW" altLang="en-US" sz="1350">
                <a:ea typeface="新細明體" panose="02020500000000000000" pitchFamily="18" charset="-120"/>
              </a:rPr>
              <a:t>＂</a:t>
            </a:r>
          </a:p>
        </p:txBody>
      </p:sp>
      <p:sp>
        <p:nvSpPr>
          <p:cNvPr id="28" name="文字方塊 27">
            <a:extLst>
              <a:ext uri="{FF2B5EF4-FFF2-40B4-BE49-F238E27FC236}">
                <a16:creationId xmlns:a16="http://schemas.microsoft.com/office/drawing/2014/main" id="{EA9DD2EF-38C6-4B2B-9C2D-2CAE533D81A7}"/>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6</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21" grpId="0" animBg="1"/>
      <p:bldP spid="26"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618BFF2C-1921-4DCC-B977-A14D32FF91A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80BE8DCD-C298-4BB5-B18B-8D11963B5ED3}"/>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9495F97-7C63-4C91-8ACE-9D134A42DCC3}" type="slidenum">
              <a:rPr lang="zh-TW" altLang="en-US" sz="900"/>
              <a:pPr>
                <a:spcBef>
                  <a:spcPct val="0"/>
                </a:spcBef>
                <a:buClrTx/>
                <a:buSzTx/>
                <a:buFontTx/>
                <a:buNone/>
              </a:pPr>
              <a:t>20</a:t>
            </a:fld>
            <a:endParaRPr lang="en-US" altLang="zh-TW" sz="900"/>
          </a:p>
        </p:txBody>
      </p:sp>
      <p:sp>
        <p:nvSpPr>
          <p:cNvPr id="5" name="Rectangle 2">
            <a:extLst>
              <a:ext uri="{FF2B5EF4-FFF2-40B4-BE49-F238E27FC236}">
                <a16:creationId xmlns:a16="http://schemas.microsoft.com/office/drawing/2014/main" id="{B4D9A743-A276-4823-91D7-5F494DBAD675}"/>
              </a:ext>
            </a:extLst>
          </p:cNvPr>
          <p:cNvSpPr txBox="1">
            <a:spLocks noChangeArrowheads="1"/>
          </p:cNvSpPr>
          <p:nvPr/>
        </p:nvSpPr>
        <p:spPr bwMode="auto">
          <a:xfrm>
            <a:off x="1028700" y="-97899"/>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Caller or </a:t>
            </a:r>
            <a:r>
              <a:rPr lang="en-US" altLang="zh-TW" sz="3300" dirty="0" err="1">
                <a:ea typeface="新細明體" pitchFamily="18" charset="-120"/>
              </a:rPr>
              <a:t>Callee</a:t>
            </a:r>
            <a:r>
              <a:rPr lang="en-US" altLang="zh-TW" sz="3300" dirty="0">
                <a:ea typeface="新細明體" pitchFamily="18" charset="-120"/>
              </a:rPr>
              <a:t> Save Registers?</a:t>
            </a:r>
          </a:p>
        </p:txBody>
      </p:sp>
      <p:sp>
        <p:nvSpPr>
          <p:cNvPr id="22533" name="文字方塊 1">
            <a:extLst>
              <a:ext uri="{FF2B5EF4-FFF2-40B4-BE49-F238E27FC236}">
                <a16:creationId xmlns:a16="http://schemas.microsoft.com/office/drawing/2014/main" id="{6F950AA0-B392-4D82-ACC0-2F162061F147}"/>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2534" name="文字方塊 5">
            <a:extLst>
              <a:ext uri="{FF2B5EF4-FFF2-40B4-BE49-F238E27FC236}">
                <a16:creationId xmlns:a16="http://schemas.microsoft.com/office/drawing/2014/main" id="{712C950D-E1E4-449F-A413-EA672F67D7C2}"/>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Callee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$S1;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sp>
        <p:nvSpPr>
          <p:cNvPr id="28" name="文字方塊 27">
            <a:extLst>
              <a:ext uri="{FF2B5EF4-FFF2-40B4-BE49-F238E27FC236}">
                <a16:creationId xmlns:a16="http://schemas.microsoft.com/office/drawing/2014/main" id="{D4059AE9-866F-414B-898D-A71BE36C00DF}"/>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2</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cxnSp>
        <p:nvCxnSpPr>
          <p:cNvPr id="22" name="直線單箭頭接點 21">
            <a:extLst>
              <a:ext uri="{FF2B5EF4-FFF2-40B4-BE49-F238E27FC236}">
                <a16:creationId xmlns:a16="http://schemas.microsoft.com/office/drawing/2014/main" id="{666226FC-D735-4317-A0D3-66659FCFE130}"/>
              </a:ext>
            </a:extLst>
          </p:cNvPr>
          <p:cNvCxnSpPr>
            <a:cxnSpLocks noChangeShapeType="1"/>
          </p:cNvCxnSpPr>
          <p:nvPr/>
        </p:nvCxnSpPr>
        <p:spPr bwMode="auto">
          <a:xfrm flipH="1">
            <a:off x="4710113" y="135969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23" name="文字方塊 22">
            <a:extLst>
              <a:ext uri="{FF2B5EF4-FFF2-40B4-BE49-F238E27FC236}">
                <a16:creationId xmlns:a16="http://schemas.microsoft.com/office/drawing/2014/main" id="{88C09C3A-BA39-4AD0-AF52-45753D3393D9}"/>
              </a:ext>
            </a:extLst>
          </p:cNvPr>
          <p:cNvSpPr txBox="1"/>
          <p:nvPr/>
        </p:nvSpPr>
        <p:spPr>
          <a:xfrm>
            <a:off x="5932885" y="1085850"/>
            <a:ext cx="12001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8442" name="直線單箭頭接點 23">
            <a:extLst>
              <a:ext uri="{FF2B5EF4-FFF2-40B4-BE49-F238E27FC236}">
                <a16:creationId xmlns:a16="http://schemas.microsoft.com/office/drawing/2014/main" id="{E097560D-5331-4A95-826D-EA5FE11CE297}"/>
              </a:ext>
            </a:extLst>
          </p:cNvPr>
          <p:cNvCxnSpPr>
            <a:cxnSpLocks noChangeShapeType="1"/>
          </p:cNvCxnSpPr>
          <p:nvPr/>
        </p:nvCxnSpPr>
        <p:spPr bwMode="auto">
          <a:xfrm flipH="1">
            <a:off x="4514850" y="3954066"/>
            <a:ext cx="1418035"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27" name="文字方塊 26">
            <a:extLst>
              <a:ext uri="{FF2B5EF4-FFF2-40B4-BE49-F238E27FC236}">
                <a16:creationId xmlns:a16="http://schemas.microsoft.com/office/drawing/2014/main" id="{DEDB6B29-EF80-4D78-9822-B5E249A6624F}"/>
              </a:ext>
            </a:extLst>
          </p:cNvPr>
          <p:cNvSpPr txBox="1"/>
          <p:nvPr/>
        </p:nvSpPr>
        <p:spPr>
          <a:xfrm>
            <a:off x="5924550" y="3757613"/>
            <a:ext cx="15049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84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3" grpId="0" animBg="1"/>
      <p:bldP spid="2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EAB38BC-6BCD-40E7-9CD1-F8294912157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B79A701A-A59B-4BD6-9725-1E7D4DD112EF}"/>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3E70EB4-9767-4DA3-9A4C-D00C1BE58B5A}" type="slidenum">
              <a:rPr lang="zh-TW" altLang="en-US" sz="900"/>
              <a:pPr>
                <a:spcBef>
                  <a:spcPct val="0"/>
                </a:spcBef>
                <a:buClrTx/>
                <a:buSzTx/>
                <a:buFontTx/>
                <a:buNone/>
              </a:pPr>
              <a:t>21</a:t>
            </a:fld>
            <a:endParaRPr lang="en-US" altLang="zh-TW" sz="900"/>
          </a:p>
        </p:txBody>
      </p:sp>
      <p:sp>
        <p:nvSpPr>
          <p:cNvPr id="5" name="Rectangle 2">
            <a:extLst>
              <a:ext uri="{FF2B5EF4-FFF2-40B4-BE49-F238E27FC236}">
                <a16:creationId xmlns:a16="http://schemas.microsoft.com/office/drawing/2014/main" id="{6CFB8C36-579D-45A0-919B-AB8639A4ACCF}"/>
              </a:ext>
            </a:extLst>
          </p:cNvPr>
          <p:cNvSpPr txBox="1">
            <a:spLocks noChangeArrowheads="1"/>
          </p:cNvSpPr>
          <p:nvPr/>
        </p:nvSpPr>
        <p:spPr bwMode="auto">
          <a:xfrm>
            <a:off x="457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0545B9B4-4C8B-497D-8425-632DAD4A4E1E}"/>
              </a:ext>
            </a:extLst>
          </p:cNvPr>
          <p:cNvSpPr txBox="1">
            <a:spLocks noChangeArrowheads="1"/>
          </p:cNvSpPr>
          <p:nvPr/>
        </p:nvSpPr>
        <p:spPr bwMode="auto">
          <a:xfrm>
            <a:off x="1601391" y="1142999"/>
            <a:ext cx="6171009" cy="2558143"/>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effectLst/>
                <a:ea typeface="新細明體" pitchFamily="18" charset="-120"/>
              </a:rPr>
              <a:t>Callee registers are allocated to CSEs (Common Sub-Expressions)</a:t>
            </a:r>
          </a:p>
          <a:p>
            <a:pPr algn="l" eaLnBrk="1" hangingPunct="1">
              <a:defRPr/>
            </a:pPr>
            <a:r>
              <a:rPr lang="en-US" altLang="zh-TW" sz="2100" dirty="0">
                <a:solidFill>
                  <a:srgbClr val="FF0000"/>
                </a:solidFill>
                <a:effectLst/>
                <a:ea typeface="新細明體" pitchFamily="18" charset="-120"/>
              </a:rPr>
              <a:t>Why?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22</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solidFill>
                  <a:srgbClr val="FF0000"/>
                </a:solidFill>
                <a:effectLst/>
                <a:ea typeface="新細明體" pitchFamily="18" charset="-120"/>
              </a:rPr>
              <a:t>	temporaries are short-lived</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CSEs</a:t>
            </a:r>
          </a:p>
          <a:p>
            <a:pPr algn="l" eaLnBrk="1" hangingPunct="1">
              <a:defRPr/>
            </a:pPr>
            <a:r>
              <a:rPr lang="en-US" altLang="zh-TW" sz="2100" dirty="0">
                <a:solidFill>
                  <a:srgbClr val="FF0000"/>
                </a:solidFill>
                <a:effectLst/>
                <a:ea typeface="新細明體" pitchFamily="18" charset="-120"/>
              </a:rPr>
              <a:t>Why? </a:t>
            </a:r>
          </a:p>
          <a:p>
            <a:pPr algn="l" eaLnBrk="1" hangingPunct="1">
              <a:defRPr/>
            </a:pPr>
            <a:r>
              <a:rPr lang="en-US" altLang="zh-TW" sz="2100" dirty="0">
                <a:solidFill>
                  <a:srgbClr val="FF0000"/>
                </a:solidFill>
                <a:effectLst/>
                <a:ea typeface="新細明體" pitchFamily="18" charset="-120"/>
              </a:rPr>
              <a:t>	local variables and CSEs are tend to live longer (may be as long as the procedure invocation)</a:t>
            </a:r>
          </a:p>
          <a:p>
            <a:pPr algn="l" eaLnBrk="1" hangingPunct="1">
              <a:defRPr/>
            </a:pPr>
            <a:endParaRPr lang="en-US" altLang="zh-TW" sz="2100" dirty="0">
              <a:ea typeface="新細明體" pitchFamily="18" charset="-12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9D520E15-9772-4659-9E24-D9F711C39DEE}"/>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6E26EF94-3BC9-4148-924C-230ED3DAB1BB}"/>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00D6FF9-8B90-49DB-A8CA-6C40DA66615C}" type="slidenum">
              <a:rPr lang="zh-TW" altLang="en-US" sz="900"/>
              <a:pPr>
                <a:spcBef>
                  <a:spcPct val="0"/>
                </a:spcBef>
                <a:buClrTx/>
                <a:buSzTx/>
                <a:buFontTx/>
                <a:buNone/>
              </a:pPr>
              <a:t>23</a:t>
            </a:fld>
            <a:endParaRPr lang="en-US" altLang="zh-TW" sz="900"/>
          </a:p>
        </p:txBody>
      </p:sp>
      <p:sp>
        <p:nvSpPr>
          <p:cNvPr id="5" name="Rectangle 2">
            <a:extLst>
              <a:ext uri="{FF2B5EF4-FFF2-40B4-BE49-F238E27FC236}">
                <a16:creationId xmlns:a16="http://schemas.microsoft.com/office/drawing/2014/main" id="{DA1B1416-5DFC-444B-A699-0809972EC8C9}"/>
              </a:ext>
            </a:extLst>
          </p:cNvPr>
          <p:cNvSpPr txBox="1">
            <a:spLocks noChangeArrowheads="1"/>
          </p:cNvSpPr>
          <p:nvPr/>
        </p:nvSpPr>
        <p:spPr bwMode="auto">
          <a:xfrm>
            <a:off x="976710" y="-15239"/>
            <a:ext cx="582930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 Simple Test</a:t>
            </a:r>
          </a:p>
        </p:txBody>
      </p:sp>
      <p:sp>
        <p:nvSpPr>
          <p:cNvPr id="25605" name="文字方塊 1">
            <a:extLst>
              <a:ext uri="{FF2B5EF4-FFF2-40B4-BE49-F238E27FC236}">
                <a16:creationId xmlns:a16="http://schemas.microsoft.com/office/drawing/2014/main" id="{A6C7D38A-3C6C-4300-83E5-D2D8C0C50313}"/>
              </a:ext>
            </a:extLst>
          </p:cNvPr>
          <p:cNvSpPr txBox="1">
            <a:spLocks noChangeArrowheads="1"/>
          </p:cNvSpPr>
          <p:nvPr/>
        </p:nvSpPr>
        <p:spPr bwMode="auto">
          <a:xfrm>
            <a:off x="1761388" y="775143"/>
            <a:ext cx="4800600" cy="300082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lw $8 -4($fp)</a:t>
            </a:r>
          </a:p>
          <a:p>
            <a:pPr>
              <a:spcBef>
                <a:spcPct val="0"/>
              </a:spcBef>
              <a:buClrTx/>
              <a:buSzTx/>
              <a:buFontTx/>
              <a:buNone/>
            </a:pPr>
            <a:r>
              <a:rPr lang="en-US" altLang="zh-TW" sz="2100" b="1">
                <a:solidFill>
                  <a:srgbClr val="2929FF"/>
                </a:solidFill>
                <a:ea typeface="新細明體" panose="02020500000000000000" pitchFamily="18" charset="-120"/>
              </a:rPr>
              <a:t>lw $9 -8($fp)</a:t>
            </a:r>
          </a:p>
          <a:p>
            <a:pPr>
              <a:spcBef>
                <a:spcPct val="0"/>
              </a:spcBef>
              <a:buClrTx/>
              <a:buSzTx/>
              <a:buFontTx/>
              <a:buNone/>
            </a:pPr>
            <a:r>
              <a:rPr lang="en-US" altLang="zh-TW" sz="2100" b="1">
                <a:solidFill>
                  <a:srgbClr val="2929FF"/>
                </a:solidFill>
                <a:ea typeface="新細明體" panose="02020500000000000000" pitchFamily="18" charset="-120"/>
              </a:rPr>
              <a:t>add $10, $8,$9</a:t>
            </a:r>
          </a:p>
          <a:p>
            <a:pPr>
              <a:spcBef>
                <a:spcPct val="0"/>
              </a:spcBef>
              <a:buClrTx/>
              <a:buSzTx/>
              <a:buFontTx/>
              <a:buNone/>
            </a:pPr>
            <a:r>
              <a:rPr lang="en-US" altLang="zh-TW" sz="2100" b="1">
                <a:solidFill>
                  <a:srgbClr val="2929FF"/>
                </a:solidFill>
                <a:ea typeface="新細明體" panose="02020500000000000000" pitchFamily="18" charset="-120"/>
              </a:rPr>
              <a:t>sw $10, -12($fp)</a:t>
            </a:r>
          </a:p>
          <a:p>
            <a:pPr>
              <a:spcBef>
                <a:spcPct val="0"/>
              </a:spcBef>
              <a:buClrTx/>
              <a:buSzTx/>
              <a:buFontTx/>
              <a:buNone/>
            </a:pPr>
            <a:r>
              <a:rPr lang="en-US" altLang="zh-TW" sz="2100" b="1">
                <a:solidFill>
                  <a:srgbClr val="2929FF"/>
                </a:solidFill>
                <a:ea typeface="新細明體" panose="02020500000000000000" pitchFamily="18" charset="-120"/>
              </a:rPr>
              <a:t>$v0 =  B(1,2,3); /* function call */</a:t>
            </a:r>
          </a:p>
          <a:p>
            <a:pPr>
              <a:spcBef>
                <a:spcPct val="0"/>
              </a:spcBef>
              <a:buClrTx/>
              <a:buSzTx/>
              <a:buFontTx/>
              <a:buNone/>
            </a:pPr>
            <a:r>
              <a:rPr lang="en-US" altLang="zh-TW" sz="2100" b="1">
                <a:solidFill>
                  <a:srgbClr val="2929FF"/>
                </a:solidFill>
                <a:ea typeface="新細明體" panose="02020500000000000000" pitchFamily="18" charset="-120"/>
              </a:rPr>
              <a:t>add $v0, $v0, $v0</a:t>
            </a: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5606" name="文字方塊 2">
            <a:extLst>
              <a:ext uri="{FF2B5EF4-FFF2-40B4-BE49-F238E27FC236}">
                <a16:creationId xmlns:a16="http://schemas.microsoft.com/office/drawing/2014/main" id="{4CF9573D-C534-45A6-A6DF-6DBEFD0BB646}"/>
              </a:ext>
            </a:extLst>
          </p:cNvPr>
          <p:cNvSpPr txBox="1">
            <a:spLocks noChangeArrowheads="1"/>
          </p:cNvSpPr>
          <p:nvPr/>
        </p:nvSpPr>
        <p:spPr bwMode="auto">
          <a:xfrm>
            <a:off x="1230993" y="3825851"/>
            <a:ext cx="628890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ea typeface="新細明體" panose="02020500000000000000" pitchFamily="18" charset="-120"/>
              </a:rPr>
              <a:t>What registers must be saved/restored across the call to B?</a:t>
            </a:r>
            <a:endParaRPr lang="zh-TW" altLang="en-US" sz="1800" dirty="0">
              <a:ea typeface="新細明體" panose="02020500000000000000" pitchFamily="18" charset="-120"/>
            </a:endParaRPr>
          </a:p>
        </p:txBody>
      </p:sp>
      <p:sp>
        <p:nvSpPr>
          <p:cNvPr id="21511" name="文字方塊 6">
            <a:extLst>
              <a:ext uri="{FF2B5EF4-FFF2-40B4-BE49-F238E27FC236}">
                <a16:creationId xmlns:a16="http://schemas.microsoft.com/office/drawing/2014/main" id="{730D935F-2E0B-41E6-8DAC-ADB6EEC1E7CD}"/>
              </a:ext>
            </a:extLst>
          </p:cNvPr>
          <p:cNvSpPr txBox="1">
            <a:spLocks noChangeArrowheads="1"/>
          </p:cNvSpPr>
          <p:nvPr/>
        </p:nvSpPr>
        <p:spPr bwMode="auto">
          <a:xfrm>
            <a:off x="1624106" y="4124578"/>
            <a:ext cx="463460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solidFill>
                  <a:srgbClr val="FF0000"/>
                </a:solidFill>
                <a:ea typeface="新細明體" panose="02020500000000000000" pitchFamily="18" charset="-120"/>
              </a:rPr>
              <a:t>None – no values live across function call B</a:t>
            </a:r>
            <a:endParaRPr lang="zh-TW" altLang="en-US" sz="1800" dirty="0">
              <a:solidFill>
                <a:srgbClr val="FF0000"/>
              </a:solidFill>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A1142D37-70BB-43B7-9D2E-F2BACC22611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77F1EF9B-355A-433B-AAAC-AACDBB1083F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17BB1F4-EC33-4225-84E4-15154EEB5410}" type="slidenum">
              <a:rPr lang="zh-TW" altLang="en-US" sz="900"/>
              <a:pPr>
                <a:spcBef>
                  <a:spcPct val="0"/>
                </a:spcBef>
                <a:buClrTx/>
                <a:buSzTx/>
                <a:buFontTx/>
                <a:buNone/>
              </a:pPr>
              <a:t>24</a:t>
            </a:fld>
            <a:endParaRPr lang="en-US" altLang="zh-TW" sz="900"/>
          </a:p>
        </p:txBody>
      </p:sp>
      <p:sp>
        <p:nvSpPr>
          <p:cNvPr id="5" name="Rectangle 2">
            <a:extLst>
              <a:ext uri="{FF2B5EF4-FFF2-40B4-BE49-F238E27FC236}">
                <a16:creationId xmlns:a16="http://schemas.microsoft.com/office/drawing/2014/main" id="{4196B512-F19B-403E-AC97-CF2D152B2D65}"/>
              </a:ext>
            </a:extLst>
          </p:cNvPr>
          <p:cNvSpPr txBox="1">
            <a:spLocks noChangeArrowheads="1"/>
          </p:cNvSpPr>
          <p:nvPr/>
        </p:nvSpPr>
        <p:spPr bwMode="auto">
          <a:xfrm>
            <a:off x="1237060" y="-19645"/>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Test</a:t>
            </a:r>
          </a:p>
        </p:txBody>
      </p:sp>
      <p:sp>
        <p:nvSpPr>
          <p:cNvPr id="26629" name="文字方塊 1">
            <a:extLst>
              <a:ext uri="{FF2B5EF4-FFF2-40B4-BE49-F238E27FC236}">
                <a16:creationId xmlns:a16="http://schemas.microsoft.com/office/drawing/2014/main" id="{A0BA56A7-662A-4B6B-A0A1-CA8FE8CEB02A}"/>
              </a:ext>
            </a:extLst>
          </p:cNvPr>
          <p:cNvSpPr txBox="1">
            <a:spLocks noChangeArrowheads="1"/>
          </p:cNvSpPr>
          <p:nvPr/>
        </p:nvSpPr>
        <p:spPr bwMode="auto">
          <a:xfrm>
            <a:off x="1428750" y="1333500"/>
            <a:ext cx="4800600" cy="235449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Suppose Function A () is a leaf routine: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A leaf routine calls no others</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8B0F75B9-F184-4E09-BC94-F9C9F48191C9}"/>
              </a:ext>
            </a:extLst>
          </p:cNvPr>
          <p:cNvSpPr txBox="1">
            <a:spLocks noChangeArrowheads="1"/>
          </p:cNvSpPr>
          <p:nvPr/>
        </p:nvSpPr>
        <p:spPr bwMode="auto">
          <a:xfrm>
            <a:off x="1476375" y="3886200"/>
            <a:ext cx="655089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a:ea typeface="新細明體" panose="02020500000000000000" pitchFamily="18" charset="-120"/>
              </a:rPr>
              <a:t>Function A should use Caller Save registers as many </a:t>
            </a:r>
          </a:p>
          <a:p>
            <a:pPr>
              <a:spcBef>
                <a:spcPct val="0"/>
              </a:spcBef>
              <a:buClrTx/>
              <a:buSzTx/>
              <a:buFontTx/>
              <a:buNone/>
            </a:pPr>
            <a:r>
              <a:rPr lang="en-US" altLang="zh-TW" sz="2100">
                <a:ea typeface="新細明體" panose="02020500000000000000" pitchFamily="18" charset="-120"/>
              </a:rPr>
              <a:t>as possible – no need to save/restore any regs.</a:t>
            </a:r>
            <a:endParaRPr lang="zh-TW" altLang="en-US" sz="2100">
              <a:ea typeface="新細明體" panose="02020500000000000000" pitchFamily="18" charset="-120"/>
            </a:endParaRPr>
          </a:p>
        </p:txBody>
      </p:sp>
      <p:pic>
        <p:nvPicPr>
          <p:cNvPr id="26631" name="Picture 1">
            <a:extLst>
              <a:ext uri="{FF2B5EF4-FFF2-40B4-BE49-F238E27FC236}">
                <a16:creationId xmlns:a16="http://schemas.microsoft.com/office/drawing/2014/main" id="{402FED40-511A-4376-A465-46F1BAF9991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288258" y="1333500"/>
            <a:ext cx="2125265" cy="235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0DA5DBAA-219D-42A1-972E-E2FE303B106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0B38CB38-3B00-4B59-A7E2-27DE6992127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BF47F74-EAB5-4A6C-ADFB-D2465F2E9767}" type="slidenum">
              <a:rPr lang="zh-TW" altLang="en-US" sz="900"/>
              <a:pPr>
                <a:spcBef>
                  <a:spcPct val="0"/>
                </a:spcBef>
                <a:buClrTx/>
                <a:buSzTx/>
                <a:buFontTx/>
                <a:buNone/>
              </a:pPr>
              <a:t>25</a:t>
            </a:fld>
            <a:endParaRPr lang="en-US" altLang="zh-TW" sz="900"/>
          </a:p>
        </p:txBody>
      </p:sp>
      <p:sp>
        <p:nvSpPr>
          <p:cNvPr id="5" name="Rectangle 2">
            <a:extLst>
              <a:ext uri="{FF2B5EF4-FFF2-40B4-BE49-F238E27FC236}">
                <a16:creationId xmlns:a16="http://schemas.microsoft.com/office/drawing/2014/main" id="{BB73B651-2936-4B66-842E-9B5B1AC1701C}"/>
              </a:ext>
            </a:extLst>
          </p:cNvPr>
          <p:cNvSpPr txBox="1">
            <a:spLocks noChangeArrowheads="1"/>
          </p:cNvSpPr>
          <p:nvPr/>
        </p:nvSpPr>
        <p:spPr bwMode="auto">
          <a:xfrm>
            <a:off x="1615339" y="0"/>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Variation</a:t>
            </a:r>
          </a:p>
        </p:txBody>
      </p:sp>
      <p:sp>
        <p:nvSpPr>
          <p:cNvPr id="27653" name="文字方塊 1">
            <a:extLst>
              <a:ext uri="{FF2B5EF4-FFF2-40B4-BE49-F238E27FC236}">
                <a16:creationId xmlns:a16="http://schemas.microsoft.com/office/drawing/2014/main" id="{D4F29042-A29F-476B-8B1C-A6225F41F491}"/>
              </a:ext>
            </a:extLst>
          </p:cNvPr>
          <p:cNvSpPr txBox="1">
            <a:spLocks noChangeArrowheads="1"/>
          </p:cNvSpPr>
          <p:nvPr/>
        </p:nvSpPr>
        <p:spPr bwMode="auto">
          <a:xfrm>
            <a:off x="1143000" y="962026"/>
            <a:ext cx="48006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Suppose Function A () is a non-leaf routine: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A() calls B(),C(),D(), in the ELSE part</a:t>
            </a:r>
          </a:p>
          <a:p>
            <a:pPr>
              <a:spcBef>
                <a:spcPct val="0"/>
              </a:spcBef>
              <a:buClrTx/>
              <a:buSzTx/>
              <a:buFontTx/>
              <a:buNone/>
            </a:pPr>
            <a:r>
              <a:rPr lang="en-US" altLang="zh-TW" sz="2100" b="1" dirty="0">
                <a:solidFill>
                  <a:srgbClr val="2929FF"/>
                </a:solidFill>
                <a:ea typeface="新細明體" panose="02020500000000000000" pitchFamily="18" charset="-120"/>
              </a:rPr>
              <a:t>but else is rarely true.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dirty="0">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30DE3814-0E3E-4CE6-97CD-B8092D51BC6B}"/>
              </a:ext>
            </a:extLst>
          </p:cNvPr>
          <p:cNvSpPr txBox="1">
            <a:spLocks noChangeArrowheads="1"/>
          </p:cNvSpPr>
          <p:nvPr/>
        </p:nvSpPr>
        <p:spPr bwMode="auto">
          <a:xfrm>
            <a:off x="1009924" y="3812142"/>
            <a:ext cx="584807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dirty="0">
                <a:ea typeface="新細明體" panose="02020500000000000000" pitchFamily="18" charset="-120"/>
              </a:rPr>
              <a:t>Function A should use Caller Save registers </a:t>
            </a:r>
          </a:p>
          <a:p>
            <a:pPr>
              <a:spcBef>
                <a:spcPct val="0"/>
              </a:spcBef>
              <a:buClrTx/>
              <a:buSzTx/>
              <a:buFontTx/>
              <a:buNone/>
            </a:pPr>
            <a:r>
              <a:rPr lang="en-US" altLang="zh-TW" sz="2100" dirty="0">
                <a:ea typeface="新細明體" panose="02020500000000000000" pitchFamily="18" charset="-120"/>
              </a:rPr>
              <a:t>because save/restore occur in infrequent paths.</a:t>
            </a:r>
            <a:endParaRPr lang="zh-TW" altLang="en-US" sz="2100" dirty="0">
              <a:ea typeface="新細明體" panose="02020500000000000000" pitchFamily="18" charset="-120"/>
            </a:endParaRPr>
          </a:p>
        </p:txBody>
      </p:sp>
      <p:pic>
        <p:nvPicPr>
          <p:cNvPr id="27655" name="Picture 1">
            <a:extLst>
              <a:ext uri="{FF2B5EF4-FFF2-40B4-BE49-F238E27FC236}">
                <a16:creationId xmlns:a16="http://schemas.microsoft.com/office/drawing/2014/main" id="{1F3778C0-C178-4242-B437-9C1DEB4758C3}"/>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057900" y="976194"/>
            <a:ext cx="2125265"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26</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Summary</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endParaRPr lang="en-US" altLang="zh-TW" sz="2100" dirty="0">
              <a:ea typeface="新細明體" pitchFamily="18" charset="-120"/>
            </a:endParaRPr>
          </a:p>
        </p:txBody>
      </p:sp>
      <p:sp>
        <p:nvSpPr>
          <p:cNvPr id="6" name="Rectangle 2">
            <a:extLst>
              <a:ext uri="{FF2B5EF4-FFF2-40B4-BE49-F238E27FC236}">
                <a16:creationId xmlns:a16="http://schemas.microsoft.com/office/drawing/2014/main" id="{7A29AC88-1BF4-471C-8215-00A2F821D6A9}"/>
              </a:ext>
            </a:extLst>
          </p:cNvPr>
          <p:cNvSpPr txBox="1">
            <a:spLocks noChangeArrowheads="1"/>
          </p:cNvSpPr>
          <p:nvPr/>
        </p:nvSpPr>
        <p:spPr bwMode="auto">
          <a:xfrm>
            <a:off x="0" y="685800"/>
            <a:ext cx="9029700"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228600"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Core principle: Ensure functions can interoperate efficiently and correctly</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Registers: defines how to pass arguments, return values, and preserve data</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Stacks: local variables and register saving </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Argument passing (a0-a7/X10-X17), a0 and a1 also used for returned value.</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Return address (ra/X1)</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Temporary registers (t0-t6/X5-X7, X28-X31):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caller-saved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Saved registers (s0-s11/X8-X9, X18-X27):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callee-saved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Leaf routines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Use argument registers and caller-saved registers</a:t>
            </a:r>
          </a:p>
        </p:txBody>
      </p:sp>
    </p:spTree>
    <p:extLst>
      <p:ext uri="{BB962C8B-B14F-4D97-AF65-F5344CB8AC3E}">
        <p14:creationId xmlns:p14="http://schemas.microsoft.com/office/powerpoint/2010/main" val="2769385263"/>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lnDef>
    <a:txDef>
      <a:spPr>
        <a:noFill/>
      </a:spPr>
      <a:bodyPr wrap="none" rtlCol="0" anchor="ctr" anchorCtr="1">
        <a:spAutoFit/>
      </a:bodyPr>
      <a:lstStyle>
        <a:defPPr>
          <a:defRPr dirty="0" smtClean="0">
            <a:ea typeface="標楷體" pitchFamily="65" charset="-120"/>
            <a:cs typeface="Calibri" panose="020F07020304040A0204"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9449</TotalTime>
  <Words>1872</Words>
  <Application>Microsoft Office PowerPoint</Application>
  <PresentationFormat>On-screen Show (16:9)</PresentationFormat>
  <Paragraphs>410</Paragraphs>
  <Slides>26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標楷體</vt:lpstr>
      <vt:lpstr>MS Sans Serif</vt:lpstr>
      <vt:lpstr>Arial</vt:lpstr>
      <vt:lpstr>Calibri</vt:lpstr>
      <vt:lpstr>Times New Roman</vt:lpstr>
      <vt:lpstr>Wingdings</vt:lpstr>
      <vt:lpstr>NTHU UniCloud</vt:lpstr>
      <vt:lpstr>CSC3060 – Computer Architecture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HSU Wei-Chung (SDS)</cp:lastModifiedBy>
  <cp:revision>343</cp:revision>
  <dcterms:created xsi:type="dcterms:W3CDTF">2021-01-11T16:17:04Z</dcterms:created>
  <dcterms:modified xsi:type="dcterms:W3CDTF">2026-02-28T07:43:38Z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2052-3.0.0.4824</vt:lpwstr>
  </property>
</Properties>
</file>